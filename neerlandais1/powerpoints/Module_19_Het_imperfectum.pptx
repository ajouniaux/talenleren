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68ead3ed-8d8d-63c6-cd44-a9bb59b0bd2c}">
          <p14:sldIdLst>
            <p14:sldId id="256"/>
          </p14:sldIdLst>
        </p14:section>
        <p14:section name="Découvrir" id="{5bc5caa1-8e35-a0b4-7006-219c106e20e1}">
          <p14:sldIdLst>
            <p14:sldId id="257"/>
            <p14:sldId id="258"/>
          </p14:sldIdLst>
        </p14:section>
        <p14:section name="Comprendre" id="{d624422b-a3d5-d119-c3a7-79da368985b4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1128be63-4853-77d1-e37d-e6a2d88908f0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222d8afa-80f8-4b13-c877-5ed5f2725391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raconter le passé, les souvenirs.
Apportez (ou projetez) une photo d'enfance. Question d'entrée : « Où habitiez-vous quand vous étiez petit·e ? » Notez les verbes français à l'imparfait.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C'est le dernier temps du parcours. Avec le présent, le passé composé et le futur, les apprenants peuvent tout raconter.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la forme par le contraste autrefois / maintenant.
Faites relever les terminaisons : -de et -te. Demandez : « Pourquoi woonde mais werkte ? » → réponse diapo 5 (SoFT KetCHuP).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l'imperfectum des verbes réguliers.
Plus simple que le présent : deux formes seulement. Les ajustements du radical (M3) s'appliquent : wonen → woon, maken → maak, bellen → 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-te ou -de avec SoFT KetCHuP.
Si on connaît le participe, on connaît l'imparfait. reizen, leven : on regarde l'infinitif (z, v), comme au M15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correctement les radicaux en t et en d.
À l'oral, wachtte se prononce comme un seul t : la double lettre n'existe qu'à l'écrit (comme le dt du M4). zetten : radical zet (M3) + te = zette.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imperfectums irréguliers les plus utiles.
Au pluriel, la voyelle s'allonge (syllabe ouverte, M1) : at (court) → aten (long). las → lazen (s → z, M4 à l'envers). was → waren est irrégulier. Attention : begon → begonnen, had → hadden (la voyelle reste courte, la consonne double). Faites lire chaque famille à voix haute, en rythme.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l'imperfectum des verbes les plus fréquents, même à l'oral.
Ces verbes sont presque toujours à l'imperfectum, même en conversation : Ik was ziek est plus naturel que Ik ben ziek geweest (correct aussi, M15). wou (familier, très courant en Flandre) = wilde.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imperfectum et perfectum.
Règle pratique : une histoire commence souvent au perfectum (Ik heb gisteren iets grappigs meegemaakt.), puis continue à l'imperfectum. À l'oral, en cas de doute : perfectum pour un fait, imperfectum pour le décor. vertrok (vertrekken) : irrégulier à reconnaître.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la correspondance automatique imparfait = imperfectum, passé composé = perfectum.
Le nom vient de la grammaire latine, mais l'imperfectum couvre aussi le passé simple des récits (« il entra, il s'assit » → hij kwam binnen, hij ging zitten). Il n'y a pas de correspondance 1 = 1 : regardez le verbe (zijn, hebben, modaux) et la fonction (décor, habitude, récit).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toen, als et wanneer ; placer le verbe après toen (M9).
toen est un mot-crochet (M9) : verbe à la fin, puis « verbe, verbe ». Attention : toen en tête d'une phrase principale veut dire « alors, à ce moment-là » (Toen ging ik naar huis), avec inversion.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les événements d'un récit à l'imperfectum.
Mots du récit : eerst, toen, daarna, plots, gelukkig, jammer genoeg, uiteindelijk. liep (lopen) : irrégulier à reconnaître. Faites raconter la même histoire à la 3e personne (Karim stond op…).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l'imperfectum des verbes réguliers, au singulier et au pluriel.
Faites justifier -te / -de par SoFT KetCHuP. reisde : piège z (diapo 5). wachtte : double t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l'imperfectum des verbes réguliers, au singulier et au pluriel.
Faites justifier -te / -de par SoFT KetCHuP. reisde : piège z (diapo 5). wachtte : double t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le choix -te / -de et la double lettre (jeu de rapidité).
Les apprenants lèvent un carton TE ou DE, puis épellent le mot. wachtte, praatte et antwoordde : la double lettre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Automatiser le choix -te / -de et la double lettre (jeu de rapidité).
Les apprenants lèvent un carton TE ou DE, puis épellent le mot. wachtte, praatte et antwoordde : la double lettre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irréguliers fréquents.
Après la correction, faites donner le pluriel : waren, hadden, gingen, kwamen, zagen, aten, namen, schreven, dronken, stonden.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Mémoriser les irréguliers fréquents.
Après la correction, faites donner le pluriel : waren, hadden, gingen, kwamen, zagen, aten, namen, schreven, dronken, stonden.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le présent en imperfectum, avec l'inversion.
Vroeger en tête → inversion (M3). Prolongez à l'oral : En jij? Wat deed je vroeger? (doen → deed).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le présent en imperfectum, avec l'inversion.
Vroeger en tête → inversion (M3). Prolongez à l'oral : En jij? Wat deed je vroeger? (doen → deed).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récit.
Leurres : nam ik de tram, werd (worden → werd, irrégulier), wachtte (double t correct). Erreurs : inversion (M3), irréguliers (diapo 7), pluriel (waren), « verbe, verbe » après toen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récit.
Leurres : nam ik de tram, werd (worden → werd, irrégulier), wachtte (double t correct). Erreurs : inversion (M3), irréguliers (diapo 7), pluriel (waren), « verbe, verbe » après toen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Raconter une histoire à l'imperfectum avec les mots du récit.
rampzalig = catastrophique. morsen = renverser (un liquide). Chaque équipe lit son histoire ; la classe vote pour la plus vivante. Exigez au moins 2 irréguliers.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parler de son parcours dans un entretien.
Rappel M8 : un entretien se fait avec u. verantwoordelijk zijn voor = être responsable de. Inversez les rôles avec le parcours réel des apprenants.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les blocs 1 à 4.
Réponses :
1. werkte · woonden.
2. was · had · ging.
3. Toen ik klein was, speelde ik voetbal.
Bilan : faites relire la frise des 19 modules et choisir un module à retravailler. Bloc 5 : les possessifs et démonstratifs (M20), l'adjectif (M21), les relatifs (M22), er / daar / waar (M23) et les particules modales (M24,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19 · Het imperfectum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19 · Het imperfectum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19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Het imperfectum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L’imparfait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Toen ik klein was, woonde ik in Namen.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rot="-240000">
            <a:off x="6675120" y="868680"/>
            <a:ext cx="3108960" cy="2514600"/>
          </a:xfrm>
          <a:prstGeom prst="roundRect">
            <a:avLst>
              <a:gd name="adj" fmla="val 72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rot="-240000">
            <a:off x="6839712" y="1024128"/>
            <a:ext cx="2779776" cy="2011680"/>
          </a:xfrm>
          <a:prstGeom prst="rect">
            <a:avLst/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143000"/>
            <a:ext cx="1188720" cy="1188720"/>
          </a:xfrm>
          <a:prstGeom prst="rect">
            <a:avLst/>
          </a:prstGeom>
        </p:spPr>
      </p:pic>
      <p:pic>
        <p:nvPicPr>
          <p:cNvPr id="8" name="Image 1" descr="chi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600200"/>
            <a:ext cx="1188720" cy="1188720"/>
          </a:xfrm>
          <a:prstGeom prst="rect">
            <a:avLst/>
          </a:prstGeom>
        </p:spPr>
      </p:pic>
      <p:sp>
        <p:nvSpPr>
          <p:cNvPr id="9" name="tag"/>
          <p:cNvSpPr/>
          <p:nvPr/>
        </p:nvSpPr>
        <p:spPr>
          <a:xfrm>
            <a:off x="10012680" y="1188720"/>
            <a:ext cx="130987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vroeger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355080" y="3657600"/>
            <a:ext cx="530352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6355080" y="365760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Toen ik klein </a:t>
            </a:r>
            <a:r>
              <a:rPr lang="en-US" sz="30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was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…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forme l’imparfait : </a:t>
            </a:r>
            <a:r>
              <a:rPr lang="en-US" sz="2000" i="1" dirty="0">
                <a:solidFill>
                  <a:schemeClr val="tx1"/>
                </a:solidFill>
              </a:rPr>
              <a:t>werkte, woonde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Mémoriser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J’utilise les irréguliers fréquents : </a:t>
            </a:r>
            <a:r>
              <a:rPr lang="en-US" sz="2000" i="1" dirty="0">
                <a:solidFill>
                  <a:schemeClr val="tx1"/>
                </a:solidFill>
              </a:rPr>
              <a:t>was, had, ging, kwam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O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Raconter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raconte mes souvenirs et mon ancien travail.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dernier temps du parcours : avec le présent, le passé composé et le futur, on peut tout raconter.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tag"/>
          <p:cNvSpPr/>
          <p:nvPr/>
        </p:nvSpPr>
        <p:spPr>
          <a:xfrm>
            <a:off x="548640" y="155448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VROEGER</a:t>
            </a:r>
            <a:endParaRPr lang="en-US" sz="1300" dirty="0"/>
          </a:p>
        </p:txBody>
      </p:sp>
      <p:sp>
        <p:nvSpPr>
          <p:cNvPr id="6" name="tag"/>
          <p:cNvSpPr/>
          <p:nvPr/>
        </p:nvSpPr>
        <p:spPr>
          <a:xfrm>
            <a:off x="6355080" y="1554480"/>
            <a:ext cx="599542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NU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8" name="Image 0" descr="derelict 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594360" cy="594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01168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woon</a:t>
            </a:r>
            <a:r>
              <a:rPr lang="en-US" sz="1800" b="1" i="1" dirty="0">
                <a:solidFill>
                  <a:schemeClr val="accent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Karim in Namen.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852160" y="2441448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355080" y="2011680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12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48840"/>
            <a:ext cx="594360" cy="5943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23760" y="201168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woont</a:t>
            </a:r>
            <a:r>
              <a:rPr lang="en-US" sz="1800" i="1" dirty="0">
                <a:solidFill>
                  <a:schemeClr val="tx1"/>
                </a:solidFill>
              </a:rPr>
              <a:t> hij in Brussel.</a:t>
            </a:r>
            <a:endParaRPr lang="en-US" sz="1800" dirty="0"/>
          </a:p>
        </p:txBody>
      </p:sp>
      <p:sp>
        <p:nvSpPr>
          <p:cNvPr id="14" name="Shape 9"/>
          <p:cNvSpPr/>
          <p:nvPr/>
        </p:nvSpPr>
        <p:spPr>
          <a:xfrm>
            <a:off x="548640" y="3035808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15" name="Image 2" descr="soccer ba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72968"/>
            <a:ext cx="594360" cy="594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417320" y="3035808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speel</a:t>
            </a:r>
            <a:r>
              <a:rPr lang="en-US" sz="1800" b="1" i="1" dirty="0">
                <a:solidFill>
                  <a:schemeClr val="accent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hij voetbal.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852160" y="3465576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Shape 12"/>
          <p:cNvSpPr/>
          <p:nvPr/>
        </p:nvSpPr>
        <p:spPr>
          <a:xfrm>
            <a:off x="6355080" y="3035808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19" name="Image 3" descr="tenni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3172968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223760" y="303580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speelt</a:t>
            </a:r>
            <a:r>
              <a:rPr lang="en-US" sz="1800" i="1" dirty="0">
                <a:solidFill>
                  <a:schemeClr val="tx1"/>
                </a:solidFill>
              </a:rPr>
              <a:t> hij tennis.</a:t>
            </a:r>
            <a:endParaRPr lang="en-US" sz="1800" dirty="0"/>
          </a:p>
        </p:txBody>
      </p:sp>
      <p:sp>
        <p:nvSpPr>
          <p:cNvPr id="21" name="Shape 14"/>
          <p:cNvSpPr/>
          <p:nvPr/>
        </p:nvSpPr>
        <p:spPr>
          <a:xfrm>
            <a:off x="548640" y="4059936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22" name="Image 4" descr="ba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197096"/>
            <a:ext cx="594360" cy="5943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417320" y="4059936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werk</a:t>
            </a:r>
            <a:r>
              <a:rPr lang="en-US" sz="1800" b="1" i="1" dirty="0">
                <a:solidFill>
                  <a:schemeClr val="accent1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hij bij een bank.</a:t>
            </a:r>
            <a:endParaRPr lang="en-US" sz="1800" dirty="0"/>
          </a:p>
        </p:txBody>
      </p:sp>
      <p:sp>
        <p:nvSpPr>
          <p:cNvPr id="24" name="Shape 16"/>
          <p:cNvSpPr/>
          <p:nvPr/>
        </p:nvSpPr>
        <p:spPr>
          <a:xfrm>
            <a:off x="5852160" y="4489704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Shape 17"/>
          <p:cNvSpPr/>
          <p:nvPr/>
        </p:nvSpPr>
        <p:spPr>
          <a:xfrm>
            <a:off x="6355080" y="4059936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26" name="Image 5" descr="office build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4197096"/>
            <a:ext cx="594360" cy="59436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223760" y="405993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werkt</a:t>
            </a:r>
            <a:r>
              <a:rPr lang="en-US" sz="1800" i="1" dirty="0">
                <a:solidFill>
                  <a:schemeClr val="tx1"/>
                </a:solidFill>
              </a:rPr>
              <a:t> hij bij Peeters &amp; Co.</a:t>
            </a:r>
            <a:endParaRPr lang="en-US" sz="1800" dirty="0"/>
          </a:p>
        </p:txBody>
      </p:sp>
      <p:sp>
        <p:nvSpPr>
          <p:cNvPr id="28" name="Shape 19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9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Que remarquez-vous ? </a:t>
            </a:r>
            <a:r>
              <a:rPr lang="en-US" sz="1900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1"/>
                </a:solidFill>
              </a:rPr>
              <a:t>de</a:t>
            </a:r>
            <a:r>
              <a:rPr lang="en-US" sz="1900" i="1" dirty="0">
                <a:solidFill>
                  <a:schemeClr val="tx1"/>
                </a:solidFill>
              </a:rPr>
              <a:t> · speel</a:t>
            </a:r>
            <a:r>
              <a:rPr lang="en-US" sz="1900" b="1" i="1" dirty="0">
                <a:solidFill>
                  <a:schemeClr val="accent1"/>
                </a:solidFill>
              </a:rPr>
              <a:t>de</a:t>
            </a:r>
            <a:r>
              <a:rPr lang="en-US" sz="1900" i="1" dirty="0">
                <a:solidFill>
                  <a:schemeClr val="tx1"/>
                </a:solidFill>
              </a:rPr>
              <a:t> · werk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Pourquoi </a:t>
            </a:r>
            <a:r>
              <a:rPr lang="en-US" sz="1900" i="1" dirty="0">
                <a:solidFill>
                  <a:schemeClr val="tx1"/>
                </a:solidFill>
              </a:rPr>
              <a:t>-de</a:t>
            </a:r>
            <a:r>
              <a:rPr lang="en-US" sz="1900" dirty="0">
                <a:solidFill>
                  <a:schemeClr val="tx1"/>
                </a:solidFill>
              </a:rPr>
              <a:t> ici et </a:t>
            </a:r>
            <a:r>
              <a:rPr lang="en-US" sz="1900" i="1" dirty="0">
                <a:solidFill>
                  <a:schemeClr val="tx1"/>
                </a:solidFill>
              </a:rPr>
              <a:t>-te</a:t>
            </a:r>
            <a:r>
              <a:rPr lang="en-US" sz="1900" dirty="0">
                <a:solidFill>
                  <a:schemeClr val="tx1"/>
                </a:solidFill>
              </a:rPr>
              <a:t> là 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Radical + te ou 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infinitif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343400" y="1572768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739" y="1678107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① le radical (M3)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8138160" y="1572768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Pl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499" y="1678107"/>
            <a:ext cx="228234" cy="22823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② + te / de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017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4864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54864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werken</a:t>
            </a:r>
            <a:endParaRPr lang="en-US" sz="2600" dirty="0"/>
          </a:p>
        </p:txBody>
      </p:sp>
      <p:sp>
        <p:nvSpPr>
          <p:cNvPr id="15" name="Shape 10"/>
          <p:cNvSpPr/>
          <p:nvPr/>
        </p:nvSpPr>
        <p:spPr>
          <a:xfrm>
            <a:off x="408736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34340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434340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2600" dirty="0"/>
          </a:p>
        </p:txBody>
      </p:sp>
      <p:sp>
        <p:nvSpPr>
          <p:cNvPr id="18" name="Shape 13"/>
          <p:cNvSpPr/>
          <p:nvPr/>
        </p:nvSpPr>
        <p:spPr>
          <a:xfrm>
            <a:off x="788212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813816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EDF6F0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0" y="2176272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2600" dirty="0"/>
          </a:p>
        </p:txBody>
      </p:sp>
      <p:sp>
        <p:nvSpPr>
          <p:cNvPr id="21" name="Text 16"/>
          <p:cNvSpPr txBox="1"/>
          <p:nvPr/>
        </p:nvSpPr>
        <p:spPr>
          <a:xfrm>
            <a:off x="9966960" y="217627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wij werk</a:t>
            </a:r>
            <a:r>
              <a:rPr lang="en-US" sz="1600" b="1" i="1" dirty="0">
                <a:solidFill>
                  <a:schemeClr val="accent1"/>
                </a:solidFill>
              </a:rPr>
              <a:t>ten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548640" y="4160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4864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54864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wonen</a:t>
            </a:r>
            <a:endParaRPr lang="en-US" sz="2600" dirty="0"/>
          </a:p>
        </p:txBody>
      </p:sp>
      <p:sp>
        <p:nvSpPr>
          <p:cNvPr id="25" name="Shape 20"/>
          <p:cNvSpPr/>
          <p:nvPr/>
        </p:nvSpPr>
        <p:spPr>
          <a:xfrm>
            <a:off x="408736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6" name="Shape 21"/>
          <p:cNvSpPr/>
          <p:nvPr/>
        </p:nvSpPr>
        <p:spPr>
          <a:xfrm>
            <a:off x="434340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434340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woon</a:t>
            </a:r>
            <a:endParaRPr lang="en-US" sz="2600" dirty="0"/>
          </a:p>
        </p:txBody>
      </p:sp>
      <p:sp>
        <p:nvSpPr>
          <p:cNvPr id="28" name="Shape 23"/>
          <p:cNvSpPr/>
          <p:nvPr/>
        </p:nvSpPr>
        <p:spPr>
          <a:xfrm>
            <a:off x="788212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9" name="Shape 24"/>
          <p:cNvSpPr/>
          <p:nvPr/>
        </p:nvSpPr>
        <p:spPr>
          <a:xfrm>
            <a:off x="813816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EDF6F0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5"/>
          <p:cNvSpPr txBox="1"/>
          <p:nvPr/>
        </p:nvSpPr>
        <p:spPr>
          <a:xfrm>
            <a:off x="8229600" y="3319272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woon</a:t>
            </a: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2600" dirty="0"/>
          </a:p>
        </p:txBody>
      </p:sp>
      <p:sp>
        <p:nvSpPr>
          <p:cNvPr id="31" name="Text 26"/>
          <p:cNvSpPr txBox="1"/>
          <p:nvPr/>
        </p:nvSpPr>
        <p:spPr>
          <a:xfrm>
            <a:off x="9966960" y="331927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wij woon</a:t>
            </a:r>
            <a:r>
              <a:rPr lang="en-US" sz="1600" b="1" i="1" dirty="0">
                <a:solidFill>
                  <a:schemeClr val="accent2"/>
                </a:solidFill>
              </a:rPr>
              <a:t>den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548640" y="4526280"/>
            <a:ext cx="541324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31520" y="4553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SINGULIER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731520" y="4873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ik · jij · u · hij · zij</a:t>
            </a:r>
            <a:endParaRPr lang="en-US" sz="1500" dirty="0"/>
          </a:p>
        </p:txBody>
      </p:sp>
      <p:sp>
        <p:nvSpPr>
          <p:cNvPr id="35" name="Text 30"/>
          <p:cNvSpPr txBox="1"/>
          <p:nvPr/>
        </p:nvSpPr>
        <p:spPr>
          <a:xfrm>
            <a:off x="2880360" y="45262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</a:t>
            </a:r>
            <a:r>
              <a:rPr lang="en-US" sz="2000" b="1" i="1" dirty="0">
                <a:solidFill>
                  <a:schemeClr val="accent1"/>
                </a:solidFill>
              </a:rPr>
              <a:t>te</a:t>
            </a:r>
            <a:r>
              <a:rPr lang="en-US" sz="2000" b="1" i="1" dirty="0">
                <a:solidFill>
                  <a:schemeClr val="tx1"/>
                </a:solidFill>
              </a:rPr>
              <a:t> · woon</a:t>
            </a:r>
            <a:r>
              <a:rPr lang="en-US" sz="2000" b="1" i="1" dirty="0">
                <a:solidFill>
                  <a:schemeClr val="accent2"/>
                </a:solidFill>
              </a:rPr>
              <a:t>de</a:t>
            </a:r>
            <a:endParaRPr lang="en-US" sz="2000" dirty="0"/>
          </a:p>
        </p:txBody>
      </p:sp>
      <p:sp>
        <p:nvSpPr>
          <p:cNvPr id="36" name="Shape 31"/>
          <p:cNvSpPr/>
          <p:nvPr/>
        </p:nvSpPr>
        <p:spPr>
          <a:xfrm>
            <a:off x="6227064" y="4526280"/>
            <a:ext cx="541324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409944" y="4553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PLURIEL</a:t>
            </a:r>
            <a:endParaRPr lang="en-US" sz="1200" dirty="0"/>
          </a:p>
        </p:txBody>
      </p:sp>
      <p:sp>
        <p:nvSpPr>
          <p:cNvPr id="38" name="Text 33"/>
          <p:cNvSpPr txBox="1"/>
          <p:nvPr/>
        </p:nvSpPr>
        <p:spPr>
          <a:xfrm>
            <a:off x="6409944" y="4873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wij · jullie · zij</a:t>
            </a:r>
            <a:endParaRPr lang="en-US" sz="1500" dirty="0"/>
          </a:p>
        </p:txBody>
      </p:sp>
      <p:sp>
        <p:nvSpPr>
          <p:cNvPr id="39" name="Text 34"/>
          <p:cNvSpPr txBox="1"/>
          <p:nvPr/>
        </p:nvSpPr>
        <p:spPr>
          <a:xfrm>
            <a:off x="8558784" y="45262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</a:t>
            </a:r>
            <a:r>
              <a:rPr lang="en-US" sz="2000" b="1" i="1" dirty="0">
                <a:solidFill>
                  <a:schemeClr val="accent1"/>
                </a:solidFill>
              </a:rPr>
              <a:t>ten</a:t>
            </a:r>
            <a:r>
              <a:rPr lang="en-US" sz="2000" b="1" i="1" dirty="0">
                <a:solidFill>
                  <a:schemeClr val="tx1"/>
                </a:solidFill>
              </a:rPr>
              <a:t> · woon</a:t>
            </a:r>
            <a:r>
              <a:rPr lang="en-US" sz="2000" b="1" i="1" dirty="0">
                <a:solidFill>
                  <a:schemeClr val="accent2"/>
                </a:solidFill>
              </a:rPr>
              <a:t>den</a:t>
            </a:r>
            <a:endParaRPr lang="en-US" sz="2000" dirty="0"/>
          </a:p>
        </p:txBody>
      </p:sp>
      <p:sp>
        <p:nvSpPr>
          <p:cNvPr id="40" name="Shape 35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Plus simple que le présent : </a:t>
            </a:r>
            <a:r>
              <a:rPr lang="en-US" sz="1800" b="1" dirty="0">
                <a:solidFill>
                  <a:schemeClr val="bg1"/>
                </a:solidFill>
              </a:rPr>
              <a:t>deux formes seulement</a:t>
            </a:r>
            <a:r>
              <a:rPr lang="en-US" sz="1800" dirty="0">
                <a:solidFill>
                  <a:schemeClr val="bg1"/>
                </a:solidFill>
              </a:rPr>
              <a:t> (singulier / pluriel).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 ou de ? Le même test qu’au M15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760720" cy="1005840"/>
          </a:xfrm>
          <a:prstGeom prst="roundRect">
            <a:avLst>
              <a:gd name="adj" fmla="val 18182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0876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4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6583680" y="1508760"/>
            <a:ext cx="505663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66560" y="15087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participe → imparfait : </a:t>
            </a:r>
            <a:r>
              <a:rPr lang="en-US" sz="1700" b="1" dirty="0">
                <a:solidFill>
                  <a:schemeClr val="tx1"/>
                </a:solidFill>
              </a:rPr>
              <a:t>même lettre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gewerk</a:t>
            </a:r>
            <a:r>
              <a:rPr lang="en-US" sz="1700" b="1" i="1" dirty="0">
                <a:solidFill>
                  <a:schemeClr val="accent1"/>
                </a:solidFill>
              </a:rPr>
              <a:t>t</a:t>
            </a:r>
            <a:r>
              <a:rPr lang="en-US" sz="1700" i="1" dirty="0">
                <a:solidFill>
                  <a:schemeClr val="tx1"/>
                </a:solidFill>
              </a:rPr>
              <a:t> → werk</a:t>
            </a:r>
            <a:r>
              <a:rPr lang="en-US" sz="1700" b="1" i="1" dirty="0">
                <a:solidFill>
                  <a:schemeClr val="accent1"/>
                </a:solidFill>
              </a:rPr>
              <a:t>te</a:t>
            </a:r>
            <a:r>
              <a:rPr lang="en-US" sz="1700" i="1" dirty="0">
                <a:solidFill>
                  <a:schemeClr val="tx1"/>
                </a:solidFill>
              </a:rPr>
              <a:t> · gewoon</a:t>
            </a:r>
            <a:r>
              <a:rPr lang="en-US" sz="1700" b="1" i="1" dirty="0">
                <a:solidFill>
                  <a:schemeClr val="accent2"/>
                </a:solidFill>
              </a:rPr>
              <a:t>d</a:t>
            </a:r>
            <a:r>
              <a:rPr lang="en-US" sz="1700" i="1" dirty="0">
                <a:solidFill>
                  <a:schemeClr val="tx1"/>
                </a:solidFill>
              </a:rPr>
              <a:t> → woon</a:t>
            </a:r>
            <a:r>
              <a:rPr lang="en-US" sz="1700" b="1" i="1" dirty="0">
                <a:solidFill>
                  <a:schemeClr val="accent2"/>
                </a:solidFill>
              </a:rPr>
              <a:t>de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2743200"/>
            <a:ext cx="5413248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274320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74320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 te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858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38587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43799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stoppen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3017520" y="4379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stop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914400" y="4901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koken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3017520" y="49011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kook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6227064" y="2743200"/>
            <a:ext cx="5413248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227064" y="274320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27064" y="274320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 de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6592824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bellen</a:t>
            </a:r>
            <a:endParaRPr lang="en-US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8695944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bel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5" name="Text 22"/>
          <p:cNvSpPr txBox="1"/>
          <p:nvPr/>
        </p:nvSpPr>
        <p:spPr>
          <a:xfrm>
            <a:off x="6592824" y="3858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leren</a:t>
            </a:r>
            <a:endParaRPr lang="en-US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8695944" y="38587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leer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6592824" y="43799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8695944" y="4379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6592824" y="4901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leven</a:t>
            </a:r>
            <a:endParaRPr lang="en-US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8695944" y="49011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leef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31" name="Shape 28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reizen, leven</a:t>
            </a:r>
            <a:r>
              <a:rPr lang="en-US" sz="1700" dirty="0">
                <a:solidFill>
                  <a:schemeClr val="bg1"/>
                </a:solidFill>
              </a:rPr>
              <a:t> : on regarde l’infinitif (</a:t>
            </a:r>
            <a:r>
              <a:rPr lang="en-US" sz="1700" i="1" dirty="0">
                <a:solidFill>
                  <a:schemeClr val="bg1"/>
                </a:solidFill>
              </a:rPr>
              <a:t>z, v</a:t>
            </a:r>
            <a:r>
              <a:rPr lang="en-US" sz="1700" dirty="0">
                <a:solidFill>
                  <a:schemeClr val="bg1"/>
                </a:solidFill>
              </a:rPr>
              <a:t>), comme au M15 → </a:t>
            </a:r>
            <a:r>
              <a:rPr lang="en-US" sz="1700" i="1" dirty="0">
                <a:solidFill>
                  <a:schemeClr val="bg1"/>
                </a:solidFill>
              </a:rPr>
              <a:t>reis</a:t>
            </a:r>
            <a:r>
              <a:rPr lang="en-US" sz="1700" b="1" i="1" dirty="0">
                <a:solidFill>
                  <a:schemeClr val="bg1"/>
                </a:solidFill>
              </a:rPr>
              <a:t>de</a:t>
            </a:r>
            <a:r>
              <a:rPr lang="en-US" sz="1700" i="1" dirty="0">
                <a:solidFill>
                  <a:schemeClr val="bg1"/>
                </a:solidFill>
              </a:rPr>
              <a:t>, leef</a:t>
            </a:r>
            <a:r>
              <a:rPr lang="en-US" sz="1700" b="1" i="1" dirty="0">
                <a:solidFill>
                  <a:schemeClr val="bg1"/>
                </a:solidFill>
              </a:rPr>
              <a:t>de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la double lettre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29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wachten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77240" y="237744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37744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wacht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975104" y="237744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975104" y="23774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2651760" y="237744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3063240" y="237744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6324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wach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2029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praten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17920" y="237744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17920" y="237744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praat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7415784" y="237744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15784" y="23774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8092440" y="237744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8503920" y="237744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0392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praa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33101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antwoorden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77240" y="3657600"/>
            <a:ext cx="1609344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3657600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antwoord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2441448" y="365760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441448" y="365760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de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3118104" y="365760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3529584" y="365760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529584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antwoor</a:t>
            </a:r>
            <a:r>
              <a:rPr lang="en-US" sz="2200" b="1" i="1" dirty="0">
                <a:solidFill>
                  <a:schemeClr val="accent2"/>
                </a:solidFill>
              </a:rPr>
              <a:t>dd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6217920" y="33101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zetten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217920" y="3657600"/>
            <a:ext cx="832104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217920" y="3657600"/>
            <a:ext cx="832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zet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7104888" y="365760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104888" y="365760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7781544" y="365760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8193024" y="365760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193024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ze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39" name="Text 36"/>
          <p:cNvSpPr txBox="1"/>
          <p:nvPr/>
        </p:nvSpPr>
        <p:spPr>
          <a:xfrm>
            <a:off x="777240" y="4846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✗ </a:t>
            </a:r>
            <a:r>
              <a:rPr lang="en-US" sz="1800" i="1" strike="sngStrike" dirty="0">
                <a:solidFill>
                  <a:schemeClr val="accent6"/>
                </a:solidFill>
              </a:rPr>
              <a:t>wachte, antwoorde</a:t>
            </a:r>
            <a:r>
              <a:rPr lang="en-US" sz="1800" dirty="0">
                <a:solidFill>
                  <a:schemeClr val="tx1"/>
                </a:solidFill>
              </a:rPr>
              <a:t> → ✓ </a:t>
            </a:r>
            <a:r>
              <a:rPr lang="en-US" sz="1800" b="1" i="1" dirty="0">
                <a:solidFill>
                  <a:schemeClr val="tx1"/>
                </a:solidFill>
              </a:rPr>
              <a:t>wachtte, antwoordde</a:t>
            </a:r>
            <a:r>
              <a:rPr lang="en-US" sz="1800" dirty="0">
                <a:solidFill>
                  <a:schemeClr val="tx1"/>
                </a:solidFill>
              </a:rPr>
              <a:t> · </a:t>
            </a:r>
            <a:r>
              <a:rPr lang="en-US" sz="1800" i="1" dirty="0">
                <a:solidFill>
                  <a:schemeClr val="tx1"/>
                </a:solidFill>
              </a:rPr>
              <a:t>zetten</a:t>
            </a:r>
            <a:r>
              <a:rPr lang="en-US" sz="1800" dirty="0">
                <a:solidFill>
                  <a:schemeClr val="tx1"/>
                </a:solidFill>
              </a:rPr>
              <a:t> : radical </a:t>
            </a:r>
            <a:r>
              <a:rPr lang="en-US" sz="1800" i="1" dirty="0">
                <a:solidFill>
                  <a:schemeClr val="tx1"/>
                </a:solidFill>
              </a:rPr>
              <a:t>zet</a:t>
            </a:r>
            <a:r>
              <a:rPr lang="en-US" sz="1800" dirty="0">
                <a:solidFill>
                  <a:schemeClr val="tx1"/>
                </a:solidFill>
              </a:rPr>
              <a:t> (M3) + </a:t>
            </a:r>
            <a:r>
              <a:rPr lang="en-US" sz="1800" i="1" dirty="0">
                <a:solidFill>
                  <a:schemeClr val="tx1"/>
                </a:solidFill>
              </a:rPr>
              <a:t>te</a:t>
            </a:r>
            <a:endParaRPr lang="en-US" sz="1800" dirty="0"/>
          </a:p>
        </p:txBody>
      </p:sp>
      <p:sp>
        <p:nvSpPr>
          <p:cNvPr id="40" name="Shape 37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l’oral, </a:t>
            </a:r>
            <a:r>
              <a:rPr lang="en-US" sz="1700" i="1" dirty="0">
                <a:solidFill>
                  <a:schemeClr val="bg1"/>
                </a:solidFill>
              </a:rPr>
              <a:t>wachtte</a:t>
            </a:r>
            <a:r>
              <a:rPr lang="en-US" sz="1700" dirty="0">
                <a:solidFill>
                  <a:schemeClr val="bg1"/>
                </a:solidFill>
              </a:rPr>
              <a:t> = un seul </a:t>
            </a:r>
            <a:r>
              <a:rPr lang="en-US" sz="1700" i="1" dirty="0">
                <a:solidFill>
                  <a:schemeClr val="bg1"/>
                </a:solidFill>
              </a:rPr>
              <a:t>t</a:t>
            </a:r>
            <a:r>
              <a:rPr lang="en-US" sz="1700" dirty="0">
                <a:solidFill>
                  <a:schemeClr val="bg1"/>
                </a:solidFill>
              </a:rPr>
              <a:t> : la double lettre n’existe qu’à l’écrit (comme </a:t>
            </a:r>
            <a:r>
              <a:rPr lang="en-US" sz="1700" i="1" dirty="0">
                <a:solidFill>
                  <a:schemeClr val="bg1"/>
                </a:solidFill>
              </a:rPr>
              <a:t>dt</a:t>
            </a:r>
            <a:r>
              <a:rPr lang="en-US" sz="1700" dirty="0">
                <a:solidFill>
                  <a:schemeClr val="bg1"/>
                </a:solidFill>
              </a:rPr>
              <a:t>, M4).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irréguliers fréquents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a »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66544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eten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240280" y="2066544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at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08207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geven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240280" y="2308207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gaf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549870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lezen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240280" y="2549870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las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2791533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nemen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240280" y="2791533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nam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033195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spreken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240280" y="3033195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sprak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274858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komen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240280" y="3274858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kwam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3516521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zien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240280" y="3516521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zag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322064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22064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04944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ee »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4550664" y="233629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schrijven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6013704" y="233629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schreef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4550664" y="27203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blijven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6013704" y="2720340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bleef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4550664" y="31043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krijgen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013704" y="310438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kreeg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8095488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8095488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78368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o »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8324088" y="233629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drinken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9787128" y="233629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dronk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8324088" y="27203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beginnen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9787128" y="2720340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begon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8324088" y="31043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vinden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9787128" y="310438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vond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548640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48640" y="397764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31520" y="39776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positions (M17)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777240" y="45674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zitten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2240280" y="456742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zat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777240" y="49514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liggen</a:t>
            </a:r>
            <a:endParaRPr lang="en-US" sz="1600" dirty="0"/>
          </a:p>
        </p:txBody>
      </p:sp>
      <p:sp>
        <p:nvSpPr>
          <p:cNvPr id="46" name="Text 43"/>
          <p:cNvSpPr txBox="1"/>
          <p:nvPr/>
        </p:nvSpPr>
        <p:spPr>
          <a:xfrm>
            <a:off x="2240280" y="4951476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lag</a:t>
            </a:r>
            <a:endParaRPr lang="en-US" sz="1600" dirty="0"/>
          </a:p>
        </p:txBody>
      </p:sp>
      <p:sp>
        <p:nvSpPr>
          <p:cNvPr id="47" name="Text 44"/>
          <p:cNvSpPr txBox="1"/>
          <p:nvPr/>
        </p:nvSpPr>
        <p:spPr>
          <a:xfrm>
            <a:off x="777240" y="533552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staan</a:t>
            </a:r>
            <a:endParaRPr lang="en-US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2240280" y="5335524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stond</a:t>
            </a:r>
            <a:endParaRPr lang="en-US" sz="1600" dirty="0"/>
          </a:p>
        </p:txBody>
      </p:sp>
      <p:sp>
        <p:nvSpPr>
          <p:cNvPr id="49" name="Text 46"/>
          <p:cNvSpPr txBox="1"/>
          <p:nvPr/>
        </p:nvSpPr>
        <p:spPr>
          <a:xfrm>
            <a:off x="777240" y="57195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hangen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2240280" y="571957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hing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4322064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4322064" y="397764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04944" y="39776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incontournables</a:t>
            </a:r>
            <a:endParaRPr lang="en-US" sz="1600" dirty="0"/>
          </a:p>
        </p:txBody>
      </p:sp>
      <p:sp>
        <p:nvSpPr>
          <p:cNvPr id="54" name="Text 51"/>
          <p:cNvSpPr txBox="1"/>
          <p:nvPr/>
        </p:nvSpPr>
        <p:spPr>
          <a:xfrm>
            <a:off x="4550664" y="45674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zijn</a:t>
            </a:r>
            <a:endParaRPr lang="en-US" sz="1600" dirty="0"/>
          </a:p>
        </p:txBody>
      </p:sp>
      <p:sp>
        <p:nvSpPr>
          <p:cNvPr id="55" name="Text 52"/>
          <p:cNvSpPr txBox="1"/>
          <p:nvPr/>
        </p:nvSpPr>
        <p:spPr>
          <a:xfrm>
            <a:off x="6013704" y="456742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was / waren</a:t>
            </a:r>
            <a:endParaRPr lang="en-US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550664" y="49514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hebben</a:t>
            </a:r>
            <a:endParaRPr lang="en-US" sz="1600" dirty="0"/>
          </a:p>
        </p:txBody>
      </p:sp>
      <p:sp>
        <p:nvSpPr>
          <p:cNvPr id="57" name="Text 54"/>
          <p:cNvSpPr txBox="1"/>
          <p:nvPr/>
        </p:nvSpPr>
        <p:spPr>
          <a:xfrm>
            <a:off x="6013704" y="4951476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had</a:t>
            </a:r>
            <a:endParaRPr lang="en-US" sz="1600" dirty="0"/>
          </a:p>
        </p:txBody>
      </p:sp>
      <p:sp>
        <p:nvSpPr>
          <p:cNvPr id="58" name="Text 55"/>
          <p:cNvSpPr txBox="1"/>
          <p:nvPr/>
        </p:nvSpPr>
        <p:spPr>
          <a:xfrm>
            <a:off x="4550664" y="533552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gaan</a:t>
            </a:r>
            <a:endParaRPr lang="en-US" sz="1600" dirty="0"/>
          </a:p>
        </p:txBody>
      </p:sp>
      <p:sp>
        <p:nvSpPr>
          <p:cNvPr id="59" name="Text 56"/>
          <p:cNvSpPr txBox="1"/>
          <p:nvPr/>
        </p:nvSpPr>
        <p:spPr>
          <a:xfrm>
            <a:off x="6013704" y="5335524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ging</a:t>
            </a:r>
            <a:endParaRPr lang="en-US" sz="1600" dirty="0"/>
          </a:p>
        </p:txBody>
      </p:sp>
      <p:sp>
        <p:nvSpPr>
          <p:cNvPr id="60" name="Text 57"/>
          <p:cNvSpPr txBox="1"/>
          <p:nvPr/>
        </p:nvSpPr>
        <p:spPr>
          <a:xfrm>
            <a:off x="4550664" y="57195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doen</a:t>
            </a:r>
            <a:endParaRPr lang="en-US" sz="1600" dirty="0"/>
          </a:p>
        </p:txBody>
      </p:sp>
      <p:sp>
        <p:nvSpPr>
          <p:cNvPr id="61" name="Text 58"/>
          <p:cNvSpPr txBox="1"/>
          <p:nvPr/>
        </p:nvSpPr>
        <p:spPr>
          <a:xfrm>
            <a:off x="6013704" y="571957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deed</a:t>
            </a:r>
            <a:endParaRPr lang="en-US" sz="1600" dirty="0"/>
          </a:p>
        </p:txBody>
      </p:sp>
      <p:sp>
        <p:nvSpPr>
          <p:cNvPr id="62" name="Shape 59"/>
          <p:cNvSpPr/>
          <p:nvPr/>
        </p:nvSpPr>
        <p:spPr>
          <a:xfrm>
            <a:off x="8095488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63" name="Image 0" descr="light 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8368" y="4160520"/>
            <a:ext cx="548640" cy="548640"/>
          </a:xfrm>
          <a:prstGeom prst="rect">
            <a:avLst/>
          </a:prstGeom>
        </p:spPr>
      </p:pic>
      <p:sp>
        <p:nvSpPr>
          <p:cNvPr id="64" name="Text 60"/>
          <p:cNvSpPr txBox="1"/>
          <p:nvPr/>
        </p:nvSpPr>
        <p:spPr>
          <a:xfrm>
            <a:off x="8918448" y="4069080"/>
            <a:ext cx="25847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Pluriel</a:t>
            </a:r>
            <a:r>
              <a:rPr lang="en-US" sz="1400" dirty="0">
                <a:solidFill>
                  <a:schemeClr val="tx1"/>
                </a:solidFill>
              </a:rPr>
              <a:t> : + </a:t>
            </a:r>
            <a:r>
              <a:rPr lang="en-US" sz="1400" i="1" dirty="0">
                <a:solidFill>
                  <a:schemeClr val="tx1"/>
                </a:solidFill>
              </a:rPr>
              <a:t>en</a:t>
            </a:r>
            <a:r>
              <a:rPr lang="en-US" sz="1400" dirty="0">
                <a:solidFill>
                  <a:schemeClr val="tx1"/>
                </a:solidFill>
              </a:rPr>
              <a:t>, syllabes du M1 :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at → </a:t>
            </a:r>
            <a:r>
              <a:rPr lang="en-US" sz="1400" b="1" i="1" dirty="0">
                <a:solidFill>
                  <a:schemeClr val="tx1"/>
                </a:solidFill>
              </a:rPr>
              <a:t>aten</a:t>
            </a:r>
            <a:r>
              <a:rPr lang="en-US" sz="1400" i="1" dirty="0">
                <a:solidFill>
                  <a:schemeClr val="tx1"/>
                </a:solidFill>
              </a:rPr>
              <a:t> · las → </a:t>
            </a:r>
            <a:r>
              <a:rPr lang="en-US" sz="1400" b="1" i="1" dirty="0">
                <a:solidFill>
                  <a:schemeClr val="tx1"/>
                </a:solidFill>
              </a:rPr>
              <a:t>lazen</a:t>
            </a:r>
            <a:r>
              <a:rPr lang="en-US" sz="1400" i="1" dirty="0">
                <a:solidFill>
                  <a:schemeClr val="tx1"/>
                </a:solidFill>
              </a:rPr>
              <a:t> · kwam → </a:t>
            </a:r>
            <a:r>
              <a:rPr lang="en-US" sz="1400" b="1" i="1" dirty="0">
                <a:solidFill>
                  <a:schemeClr val="tx1"/>
                </a:solidFill>
              </a:rPr>
              <a:t>kwamen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voyelle courte : </a:t>
            </a:r>
            <a:r>
              <a:rPr lang="en-US" sz="1400" i="1" dirty="0">
                <a:solidFill>
                  <a:schemeClr val="tx1"/>
                </a:solidFill>
              </a:rPr>
              <a:t>begon → </a:t>
            </a:r>
            <a:r>
              <a:rPr lang="en-US" sz="1400" b="1" i="1" dirty="0">
                <a:solidFill>
                  <a:schemeClr val="tx1"/>
                </a:solidFill>
              </a:rPr>
              <a:t>begonnen</a:t>
            </a:r>
            <a:r>
              <a:rPr lang="en-US" sz="1400" i="1" dirty="0">
                <a:solidFill>
                  <a:schemeClr val="tx1"/>
                </a:solidFill>
              </a:rPr>
              <a:t> · had → </a:t>
            </a:r>
            <a:r>
              <a:rPr lang="en-US" sz="1400" b="1" i="1" dirty="0">
                <a:solidFill>
                  <a:schemeClr val="tx1"/>
                </a:solidFill>
              </a:rPr>
              <a:t>hadden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was → </a:t>
            </a:r>
            <a:r>
              <a:rPr lang="en-US" sz="1400" b="1" i="1" dirty="0">
                <a:solidFill>
                  <a:schemeClr val="tx1"/>
                </a:solidFill>
              </a:rPr>
              <a:t>waren</a:t>
            </a:r>
            <a:r>
              <a:rPr lang="en-US" sz="1400" dirty="0">
                <a:solidFill>
                  <a:schemeClr val="tx1"/>
                </a:solidFill>
              </a:rPr>
              <a:t> (irrégulier)</a:t>
            </a:r>
            <a:endParaRPr lang="en-US" sz="1400" dirty="0"/>
          </a:p>
        </p:txBody>
      </p:sp>
      <p:pic>
        <p:nvPicPr>
          <p:cNvPr id="65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zijn, hebben et les modaux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8521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9202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infinitif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singulier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pluriel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zijn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was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waren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hebben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had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hadden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kunnen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kon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konden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moeten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moest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moesten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willen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wilde (wou)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wilden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mogen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mocht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mochten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766560" y="1554480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931152" y="1554480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was</a:t>
            </a:r>
            <a:r>
              <a:rPr lang="en-US" sz="2000" i="1" dirty="0">
                <a:solidFill>
                  <a:schemeClr val="tx1"/>
                </a:solidFill>
              </a:rPr>
              <a:t> ziek.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6766560" y="2450592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931152" y="2450592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had</a:t>
            </a:r>
            <a:r>
              <a:rPr lang="en-US" sz="2000" i="1" dirty="0">
                <a:solidFill>
                  <a:schemeClr val="tx1"/>
                </a:solidFill>
              </a:rPr>
              <a:t> geen tijd.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6766560" y="3346704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931152" y="3346704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moest</a:t>
            </a:r>
            <a:r>
              <a:rPr lang="en-US" sz="2000" i="1" dirty="0">
                <a:solidFill>
                  <a:schemeClr val="tx1"/>
                </a:solidFill>
              </a:rPr>
              <a:t> werken.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766560" y="4242816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931152" y="4242816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kon</a:t>
            </a:r>
            <a:r>
              <a:rPr lang="en-US" sz="2000" i="1" dirty="0">
                <a:solidFill>
                  <a:schemeClr val="tx1"/>
                </a:solidFill>
              </a:rPr>
              <a:t> niet komen.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Ces verbes sont presque toujours à l’imperfectum, </a:t>
            </a:r>
            <a:r>
              <a:rPr lang="en-US" sz="1700" b="1" dirty="0">
                <a:solidFill>
                  <a:schemeClr val="bg1"/>
                </a:solidFill>
              </a:rPr>
              <a:t>même à l’oral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Ik was ziek</a:t>
            </a:r>
            <a:r>
              <a:rPr lang="en-US" sz="1700" dirty="0">
                <a:solidFill>
                  <a:schemeClr val="bg1"/>
                </a:solidFill>
              </a:rPr>
              <a:t> plutôt que </a:t>
            </a:r>
            <a:r>
              <a:rPr lang="en-US" sz="1700" i="1" dirty="0">
                <a:solidFill>
                  <a:schemeClr val="bg1"/>
                </a:solidFill>
              </a:rPr>
              <a:t>Ik ben ziek geweest</a:t>
            </a:r>
            <a:r>
              <a:rPr lang="en-US" sz="1700" dirty="0">
                <a:solidFill>
                  <a:schemeClr val="bg1"/>
                </a:solidFill>
              </a:rPr>
              <a:t> (correct aussi, M15).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Quand utiliser l’imperfectum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ramed pic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54480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description, décor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</a:t>
            </a:r>
            <a:r>
              <a:rPr lang="en-US" sz="1800" b="1" i="1" dirty="0">
                <a:solidFill>
                  <a:schemeClr val="tx1"/>
                </a:solidFill>
              </a:rPr>
              <a:t>was</a:t>
            </a:r>
            <a:r>
              <a:rPr lang="en-US" sz="1800" i="1" dirty="0">
                <a:solidFill>
                  <a:schemeClr val="tx1"/>
                </a:solidFill>
              </a:rPr>
              <a:t> koud en het </a:t>
            </a:r>
            <a:r>
              <a:rPr lang="en-US" sz="1800" b="1" i="1" dirty="0">
                <a:solidFill>
                  <a:schemeClr val="tx1"/>
                </a:solidFill>
              </a:rPr>
              <a:t>regende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322064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epeat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69164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327904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habitude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4550664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nam</a:t>
            </a:r>
            <a:r>
              <a:rPr lang="en-US" sz="1800" i="1" dirty="0">
                <a:solidFill>
                  <a:schemeClr val="tx1"/>
                </a:solidFill>
              </a:rPr>
              <a:t> ik elke dag de trein.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8095488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clapper 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69164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101328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récit, suite d’événements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8324088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stond</a:t>
            </a:r>
            <a:r>
              <a:rPr lang="en-US" sz="1800" i="1" dirty="0">
                <a:solidFill>
                  <a:schemeClr val="tx1"/>
                </a:solidFill>
              </a:rPr>
              <a:t> op, ik </a:t>
            </a:r>
            <a:r>
              <a:rPr lang="en-US" sz="1800" b="1" i="1" dirty="0">
                <a:solidFill>
                  <a:schemeClr val="tx1"/>
                </a:solidFill>
              </a:rPr>
              <a:t>dronk</a:t>
            </a:r>
            <a:r>
              <a:rPr lang="en-US" sz="1800" i="1" dirty="0">
                <a:solidFill>
                  <a:schemeClr val="tx1"/>
                </a:solidFill>
              </a:rPr>
              <a:t> een koffie en ik </a:t>
            </a:r>
            <a:r>
              <a:rPr lang="en-US" sz="1800" b="1" i="1" dirty="0">
                <a:solidFill>
                  <a:schemeClr val="tx1"/>
                </a:solidFill>
              </a:rPr>
              <a:t>vertrok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48640" y="411480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18" name="tag"/>
          <p:cNvSpPr/>
          <p:nvPr/>
        </p:nvSpPr>
        <p:spPr>
          <a:xfrm>
            <a:off x="777240" y="4224528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PERFECTUM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777240" y="45720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un fait ponctuel, un résultat, une question :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heb</a:t>
            </a:r>
            <a:r>
              <a:rPr lang="en-US" sz="1700" i="1" dirty="0">
                <a:solidFill>
                  <a:schemeClr val="tx1"/>
                </a:solidFill>
              </a:rPr>
              <a:t> mijn sleutel </a:t>
            </a:r>
            <a:r>
              <a:rPr lang="en-US" sz="1700" b="1" i="1" dirty="0">
                <a:solidFill>
                  <a:schemeClr val="tx1"/>
                </a:solidFill>
              </a:rPr>
              <a:t>verloren</a:t>
            </a:r>
            <a:r>
              <a:rPr lang="en-US" sz="1700" i="1" dirty="0">
                <a:solidFill>
                  <a:schemeClr val="tx1"/>
                </a:solidFill>
              </a:rPr>
              <a:t>! · Wat </a:t>
            </a:r>
            <a:r>
              <a:rPr lang="en-US" sz="1700" b="1" i="1" dirty="0">
                <a:solidFill>
                  <a:schemeClr val="tx1"/>
                </a:solidFill>
              </a:rPr>
              <a:t>heb</a:t>
            </a:r>
            <a:r>
              <a:rPr lang="en-US" sz="1700" i="1" dirty="0">
                <a:solidFill>
                  <a:schemeClr val="tx1"/>
                </a:solidFill>
              </a:rPr>
              <a:t> je gisteren </a:t>
            </a:r>
            <a:r>
              <a:rPr lang="en-US" sz="1700" b="1" i="1" dirty="0">
                <a:solidFill>
                  <a:schemeClr val="tx1"/>
                </a:solidFill>
              </a:rPr>
              <a:t>gedaan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5321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Une histoire commence souvent au perfectum (</a:t>
            </a:r>
            <a:r>
              <a:rPr lang="en-US" sz="1600" i="1" dirty="0">
                <a:solidFill>
                  <a:schemeClr val="accent5"/>
                </a:solidFill>
              </a:rPr>
              <a:t>Ik heb gisteren iets grappigs meegemaakt.</a:t>
            </a:r>
            <a:r>
              <a:rPr lang="en-US" sz="1600" i="1" dirty="0">
                <a:solidFill>
                  <a:schemeClr val="accent5"/>
                </a:solidFill>
              </a:rPr>
              <a:t>), puis continue à l’imperfectum.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imparfait » ≠ imperfectum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031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Quand j’étais petit, je jouais au foot. »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983480" y="2468880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5349240" y="2157984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2157984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Toen ik klein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tx1"/>
                </a:solidFill>
              </a:rPr>
              <a:t>speelde</a:t>
            </a:r>
            <a:r>
              <a:rPr lang="en-US" sz="1600" i="1" dirty="0">
                <a:solidFill>
                  <a:schemeClr val="tx1"/>
                </a:solidFill>
              </a:rPr>
              <a:t> ik voetbal.</a:t>
            </a:r>
            <a:endParaRPr lang="en-US" sz="1600" dirty="0"/>
          </a:p>
        </p:txBody>
      </p:sp>
      <p:sp>
        <p:nvSpPr>
          <p:cNvPr id="11" name="tag"/>
          <p:cNvSpPr/>
          <p:nvPr/>
        </p:nvSpPr>
        <p:spPr>
          <a:xfrm>
            <a:off x="9601200" y="2304288"/>
            <a:ext cx="1552651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94436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Hier, j’ai travaillé jusqu’à 18 h. »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983480" y="3310128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5349240" y="2999232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0" y="2999232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Gisteren </a:t>
            </a:r>
            <a:r>
              <a:rPr lang="en-US" sz="1600" b="1" i="1" dirty="0">
                <a:solidFill>
                  <a:schemeClr val="tx1"/>
                </a:solidFill>
              </a:rPr>
              <a:t>heb</a:t>
            </a:r>
            <a:r>
              <a:rPr lang="en-US" sz="1600" i="1" dirty="0">
                <a:solidFill>
                  <a:schemeClr val="tx1"/>
                </a:solidFill>
              </a:rPr>
              <a:t> ik tot 18 uur </a:t>
            </a:r>
            <a:r>
              <a:rPr lang="en-US" sz="1600" b="1" i="1" dirty="0">
                <a:solidFill>
                  <a:schemeClr val="tx1"/>
                </a:solidFill>
              </a:rPr>
              <a:t>gewerkt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16" name="tag"/>
          <p:cNvSpPr/>
          <p:nvPr/>
        </p:nvSpPr>
        <p:spPr>
          <a:xfrm>
            <a:off x="9601200" y="3145536"/>
            <a:ext cx="1336853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perfectum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78561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J’ai été malade. »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983480" y="4151376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5349240" y="3840480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0" y="3840480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 ziek.</a:t>
            </a:r>
            <a:endParaRPr lang="en-US" sz="1600" dirty="0"/>
          </a:p>
        </p:txBody>
      </p:sp>
      <p:sp>
        <p:nvSpPr>
          <p:cNvPr id="21" name="tag"/>
          <p:cNvSpPr/>
          <p:nvPr/>
        </p:nvSpPr>
        <p:spPr>
          <a:xfrm>
            <a:off x="9601200" y="3986784"/>
            <a:ext cx="176845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 !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62686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J’ai dû travailler. »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983480" y="4992624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5349240" y="4681728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0" y="4681728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moest</a:t>
            </a:r>
            <a:r>
              <a:rPr lang="en-US" sz="1600" i="1" dirty="0">
                <a:solidFill>
                  <a:schemeClr val="tx1"/>
                </a:solidFill>
              </a:rPr>
              <a:t> werken.</a:t>
            </a:r>
            <a:endParaRPr lang="en-US" sz="1600" dirty="0"/>
          </a:p>
        </p:txBody>
      </p:sp>
      <p:sp>
        <p:nvSpPr>
          <p:cNvPr id="26" name="tag"/>
          <p:cNvSpPr/>
          <p:nvPr/>
        </p:nvSpPr>
        <p:spPr>
          <a:xfrm>
            <a:off x="9601200" y="4828032"/>
            <a:ext cx="176845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 !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Pas de correspondance 1 = 1 : regardez le </a:t>
            </a:r>
            <a:r>
              <a:rPr lang="en-US" sz="1700" b="1" dirty="0">
                <a:solidFill>
                  <a:schemeClr val="bg1"/>
                </a:solidFill>
              </a:rPr>
              <a:t>verbe</a:t>
            </a:r>
            <a:r>
              <a:rPr lang="en-US" sz="1700" dirty="0">
                <a:solidFill>
                  <a:schemeClr val="bg1"/>
                </a:solidFill>
              </a:rPr>
              <a:t> et la </a:t>
            </a:r>
            <a:r>
              <a:rPr lang="en-US" sz="1700" b="1" dirty="0">
                <a:solidFill>
                  <a:schemeClr val="bg1"/>
                </a:solidFill>
              </a:rPr>
              <a:t>fonction</a:t>
            </a:r>
            <a:r>
              <a:rPr lang="en-US" sz="1700" dirty="0">
                <a:solidFill>
                  <a:schemeClr val="bg1"/>
                </a:solidFill>
              </a:rPr>
              <a:t> (décor, habitude, récit).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quand » au passé = toen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1051560" cy="658368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72768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Toen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691640" y="1572768"/>
            <a:ext cx="210312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91640" y="157276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in Namen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3886200" y="1572768"/>
            <a:ext cx="146304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886200" y="157276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woonde,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5440680" y="1572768"/>
            <a:ext cx="91440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40680" y="1572768"/>
            <a:ext cx="914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nam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6446520" y="1572768"/>
            <a:ext cx="329184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6520" y="157276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elke dag de trein.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3886200" y="2286000"/>
            <a:ext cx="2468880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86200" y="22860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 (M9)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31520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toen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une fois, une période du passé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ik klein </a:t>
            </a:r>
            <a:r>
              <a:rPr lang="en-US" sz="1700" b="1" i="1" dirty="0">
                <a:solidFill>
                  <a:schemeClr val="tx1"/>
                </a:solidFill>
              </a:rPr>
              <a:t>was</a:t>
            </a:r>
            <a:r>
              <a:rPr lang="en-US" sz="1700" i="1" dirty="0">
                <a:solidFill>
                  <a:schemeClr val="tx1"/>
                </a:solidFill>
              </a:rPr>
              <a:t>, …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4322064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504944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chaque fois que (habitude) · futur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504944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Als</a:t>
            </a:r>
            <a:r>
              <a:rPr lang="en-US" sz="1700" i="1" dirty="0">
                <a:solidFill>
                  <a:schemeClr val="tx1"/>
                </a:solidFill>
              </a:rPr>
              <a:t> het </a:t>
            </a:r>
            <a:r>
              <a:rPr lang="en-US" sz="1700" b="1" i="1" dirty="0">
                <a:solidFill>
                  <a:schemeClr val="tx1"/>
                </a:solidFill>
              </a:rPr>
              <a:t>regende</a:t>
            </a:r>
            <a:r>
              <a:rPr lang="en-US" sz="1700" i="1" dirty="0">
                <a:solidFill>
                  <a:schemeClr val="tx1"/>
                </a:solidFill>
              </a:rPr>
              <a:t>, nam ik de bus.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095488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8278368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wanneer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question : quand ?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278368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Wanneer</a:t>
            </a:r>
            <a:r>
              <a:rPr lang="en-US" sz="1700" i="1" dirty="0">
                <a:solidFill>
                  <a:schemeClr val="tx1"/>
                </a:solidFill>
              </a:rPr>
              <a:t> ben je aangekomen?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4526280"/>
            <a:ext cx="11091672" cy="1737360"/>
          </a:xfrm>
          <a:prstGeom prst="roundRect">
            <a:avLst>
              <a:gd name="adj" fmla="val 4211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30" name="tag"/>
          <p:cNvSpPr/>
          <p:nvPr/>
        </p:nvSpPr>
        <p:spPr>
          <a:xfrm>
            <a:off x="731520" y="46908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22960" y="5029200"/>
            <a:ext cx="1054303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Quand j’étais petit… » → </a:t>
            </a:r>
            <a:r>
              <a:rPr lang="en-US" sz="1700" i="1" strike="sngStrike" dirty="0">
                <a:solidFill>
                  <a:schemeClr val="accent6"/>
                </a:solidFill>
              </a:rPr>
              <a:t>Als ik klein was…</a:t>
            </a:r>
            <a:endParaRPr lang="en-US" sz="1700" dirty="0"/>
          </a:p>
        </p:txBody>
      </p:sp>
      <p:pic>
        <p:nvPicPr>
          <p:cNvPr id="32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490972"/>
            <a:ext cx="237744" cy="237744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77240" y="5719572"/>
            <a:ext cx="10634472" cy="443484"/>
          </a:xfrm>
          <a:prstGeom prst="roundRect">
            <a:avLst>
              <a:gd name="adj" fmla="val 16495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14400" y="5719572"/>
            <a:ext cx="10360152" cy="4434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ik klein was…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toen</a:t>
            </a:r>
            <a:r>
              <a:rPr lang="en-US" sz="1700" dirty="0">
                <a:solidFill>
                  <a:schemeClr val="tx1"/>
                </a:solidFill>
              </a:rPr>
              <a:t> en tête de principale = « alors » : </a:t>
            </a:r>
            <a:r>
              <a:rPr lang="en-US" sz="1700" i="1" dirty="0">
                <a:solidFill>
                  <a:schemeClr val="tx1"/>
                </a:solidFill>
              </a:rPr>
              <a:t>Toen ging ik naar huis.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Raconter une histoire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58368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pic>
        <p:nvPicPr>
          <p:cNvPr id="9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159" y="1874520"/>
            <a:ext cx="1188720" cy="11887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Op mijn eerste werkdag </a:t>
            </a:r>
            <a:r>
              <a:rPr lang="en-US" sz="1700" b="1" i="1" dirty="0">
                <a:solidFill>
                  <a:schemeClr val="accent6"/>
                </a:solidFill>
              </a:rPr>
              <a:t>stond</a:t>
            </a:r>
            <a:r>
              <a:rPr lang="en-US" sz="1700" i="1" dirty="0">
                <a:solidFill>
                  <a:schemeClr val="tx1"/>
                </a:solidFill>
              </a:rPr>
              <a:t> ik om 6 uur </a:t>
            </a:r>
            <a:r>
              <a:rPr lang="en-US" sz="1700" b="1" i="1" dirty="0">
                <a:solidFill>
                  <a:schemeClr val="accent1"/>
                </a:solidFill>
              </a:rPr>
              <a:t>op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3367278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477006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0158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550158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pic>
        <p:nvPicPr>
          <p:cNvPr id="15" name="Image 1" descr="t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797" y="1874520"/>
            <a:ext cx="1188720" cy="11887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504438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Eerst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nam</a:t>
            </a:r>
            <a:r>
              <a:rPr lang="en-US" sz="1700" i="1" dirty="0">
                <a:solidFill>
                  <a:schemeClr val="tx1"/>
                </a:solidFill>
              </a:rPr>
              <a:t> ik de trein, maar de trein </a:t>
            </a:r>
            <a:r>
              <a:rPr lang="en-US" sz="1700" b="1" i="1" dirty="0">
                <a:solidFill>
                  <a:schemeClr val="accent6"/>
                </a:solidFill>
              </a:rPr>
              <a:t>had</a:t>
            </a:r>
            <a:r>
              <a:rPr lang="en-US" sz="1700" i="1" dirty="0">
                <a:solidFill>
                  <a:schemeClr val="tx1"/>
                </a:solidFill>
              </a:rPr>
              <a:t> vertraging.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185916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295644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368796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68796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pic>
        <p:nvPicPr>
          <p:cNvPr id="21" name="Image 2" descr="person run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9435" y="1874520"/>
            <a:ext cx="1188720" cy="11887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323076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liep</a:t>
            </a:r>
            <a:r>
              <a:rPr lang="en-US" sz="1700" i="1" dirty="0">
                <a:solidFill>
                  <a:schemeClr val="tx1"/>
                </a:solidFill>
              </a:rPr>
              <a:t> ik naar het kantoor.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9004554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114282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9187434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9187434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pic>
        <p:nvPicPr>
          <p:cNvPr id="27" name="Image 3" descr="wo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8073" y="1874520"/>
            <a:ext cx="1188720" cy="1188720"/>
          </a:xfrm>
          <a:prstGeom prst="rect">
            <a:avLst/>
          </a:prstGeom>
        </p:spPr>
      </p:pic>
      <p:pic>
        <p:nvPicPr>
          <p:cNvPr id="28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072" y="2514600"/>
            <a:ext cx="548640" cy="54864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141714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Gelukkig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wachtte</a:t>
            </a:r>
            <a:r>
              <a:rPr lang="en-US" sz="1700" i="1" dirty="0">
                <a:solidFill>
                  <a:schemeClr val="tx1"/>
                </a:solidFill>
              </a:rPr>
              <a:t> Sofie al op me, met een koffie!</a:t>
            </a:r>
            <a:endParaRPr lang="en-US" sz="1700" dirty="0"/>
          </a:p>
        </p:txBody>
      </p:sp>
      <p:sp>
        <p:nvSpPr>
          <p:cNvPr id="30" name="Shape 22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22960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Mots du récit : </a:t>
            </a:r>
            <a:r>
              <a:rPr lang="en-US" sz="1700" i="1" dirty="0">
                <a:solidFill>
                  <a:schemeClr val="bg1"/>
                </a:solidFill>
              </a:rPr>
              <a:t>eerst, toen, daarna, plots, gelukkig, jammer genoeg, uiteindelijk</a:t>
            </a:r>
            <a:r>
              <a:rPr lang="en-US" sz="1700" dirty="0">
                <a:solidFill>
                  <a:schemeClr val="bg1"/>
                </a:solidFill>
              </a:rPr>
              <a:t> · particule au bout : </a:t>
            </a:r>
            <a:r>
              <a:rPr lang="en-US" sz="1700" i="1" dirty="0">
                <a:solidFill>
                  <a:schemeClr val="bg1"/>
                </a:solidFill>
              </a:rPr>
              <a:t>ik stond … op</a:t>
            </a:r>
            <a:r>
              <a:rPr lang="en-US" sz="1700" dirty="0">
                <a:solidFill>
                  <a:schemeClr val="bg1"/>
                </a:solidFill>
              </a:rPr>
              <a:t> (M11)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 l’imperfectum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Former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radical + </a:t>
            </a:r>
            <a:r>
              <a:rPr lang="en-US" sz="1800" b="1" i="1" dirty="0">
                <a:solidFill>
                  <a:schemeClr val="accent1"/>
                </a:solidFill>
              </a:rPr>
              <a:t>te(n)</a:t>
            </a:r>
            <a:r>
              <a:rPr lang="en-US" sz="1800" dirty="0">
                <a:solidFill>
                  <a:schemeClr val="tx1"/>
                </a:solidFill>
              </a:rPr>
              <a:t> (SoFT KetCHuP)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ou </a:t>
            </a:r>
            <a:r>
              <a:rPr lang="en-US" sz="1800" b="1" i="1" dirty="0">
                <a:solidFill>
                  <a:schemeClr val="accent2"/>
                </a:solidFill>
              </a:rPr>
              <a:t>de(n)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werkte(n) · woonde(n)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double lettre : </a:t>
            </a:r>
            <a:r>
              <a:rPr lang="en-US" sz="1800" i="1" dirty="0">
                <a:solidFill>
                  <a:schemeClr val="tx1"/>
                </a:solidFill>
              </a:rPr>
              <a:t>wachtte, antwoordde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04944" y="1719072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007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18176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Irréguliers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523232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was / waren · had · ging · kwam · zag · deed · nam · zat · lag · stond…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pluriel : syllabes du M1 (</a:t>
            </a:r>
            <a:r>
              <a:rPr lang="en-US" sz="1800" i="1" dirty="0">
                <a:solidFill>
                  <a:schemeClr val="tx1"/>
                </a:solidFill>
              </a:rPr>
              <a:t>aten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78368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O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431" y="185513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91600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Utiliser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96656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décor · habitude · récit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zijn, hebben</a:t>
            </a:r>
            <a:r>
              <a:rPr lang="en-US" sz="1800" dirty="0">
                <a:solidFill>
                  <a:schemeClr val="tx1"/>
                </a:solidFill>
              </a:rPr>
              <a:t>, modaux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perfectum : un fait ponctuel, une question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8064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machine à imparfait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 ou de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Cl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memory des irréguliers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Histo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Vroeger en nu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Imag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L’histoire en images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Ti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L’entretien d’embauche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imparfait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le tableau : ik (singulier) et wij (pluriel).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32918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19324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infinitif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3977640" y="1932432"/>
            <a:ext cx="37490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977640" y="19324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ik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7863840" y="1932432"/>
            <a:ext cx="3776472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863840" y="1932432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wij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48640" y="24170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4170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3977640" y="241706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863840" y="241706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29047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29047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wonen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3977640" y="290474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863840" y="290474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3924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1520" y="33924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24" name="Shape 20"/>
          <p:cNvSpPr/>
          <p:nvPr/>
        </p:nvSpPr>
        <p:spPr>
          <a:xfrm>
            <a:off x="3977640" y="339242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863840" y="339242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388010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1520" y="388010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spelen</a:t>
            </a:r>
            <a:endParaRPr lang="en-US" sz="1900" dirty="0"/>
          </a:p>
        </p:txBody>
      </p:sp>
      <p:sp>
        <p:nvSpPr>
          <p:cNvPr id="28" name="Shape 24"/>
          <p:cNvSpPr/>
          <p:nvPr/>
        </p:nvSpPr>
        <p:spPr>
          <a:xfrm>
            <a:off x="3977640" y="388010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863840" y="388010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48640" y="436778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1520" y="436778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32" name="Shape 28"/>
          <p:cNvSpPr/>
          <p:nvPr/>
        </p:nvSpPr>
        <p:spPr>
          <a:xfrm>
            <a:off x="3977640" y="436778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863840" y="436778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548640" y="48554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1520" y="48554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36" name="Shape 32"/>
          <p:cNvSpPr/>
          <p:nvPr/>
        </p:nvSpPr>
        <p:spPr>
          <a:xfrm>
            <a:off x="3977640" y="485546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7863840" y="485546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3431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31520" y="53431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wachten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3977640" y="534314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863840" y="534314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48640" y="58308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31520" y="58308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luisteren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3977640" y="583082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7863840" y="583082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imparfait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le tableau : ik (singulier) et wij (pluriel).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32918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9324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infinitif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977640" y="1932432"/>
            <a:ext cx="37490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977640" y="19324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ik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863840" y="1932432"/>
            <a:ext cx="3776472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1932432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wij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548640" y="24170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4170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3977640" y="241706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160520" y="241706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werk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7863840" y="241706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046720" y="241706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werk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548640" y="29047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29047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wonen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3977640" y="290474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160520" y="290474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5" name="Shape 21"/>
          <p:cNvSpPr/>
          <p:nvPr/>
        </p:nvSpPr>
        <p:spPr>
          <a:xfrm>
            <a:off x="7863840" y="290474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046720" y="290474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27" name="Shape 23"/>
          <p:cNvSpPr/>
          <p:nvPr/>
        </p:nvSpPr>
        <p:spPr>
          <a:xfrm>
            <a:off x="548640" y="33924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" y="33924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3977640" y="339242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160520" y="339242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31" name="Shape 27"/>
          <p:cNvSpPr/>
          <p:nvPr/>
        </p:nvSpPr>
        <p:spPr>
          <a:xfrm>
            <a:off x="7863840" y="339242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046720" y="339242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48640" y="388010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31520" y="388010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spelen</a:t>
            </a:r>
            <a:endParaRPr lang="en-US" sz="1900" dirty="0"/>
          </a:p>
        </p:txBody>
      </p:sp>
      <p:sp>
        <p:nvSpPr>
          <p:cNvPr id="35" name="Shape 31"/>
          <p:cNvSpPr/>
          <p:nvPr/>
        </p:nvSpPr>
        <p:spPr>
          <a:xfrm>
            <a:off x="3977640" y="388010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160520" y="388010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speel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7863840" y="388010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046720" y="388010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speel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39" name="Shape 35"/>
          <p:cNvSpPr/>
          <p:nvPr/>
        </p:nvSpPr>
        <p:spPr>
          <a:xfrm>
            <a:off x="548640" y="436778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436778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3977640" y="436778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160520" y="436778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43" name="Shape 39"/>
          <p:cNvSpPr/>
          <p:nvPr/>
        </p:nvSpPr>
        <p:spPr>
          <a:xfrm>
            <a:off x="7863840" y="436778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8046720" y="436778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548640" y="48554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31520" y="48554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3977640" y="485546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4160520" y="485546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49" name="Shape 45"/>
          <p:cNvSpPr/>
          <p:nvPr/>
        </p:nvSpPr>
        <p:spPr>
          <a:xfrm>
            <a:off x="7863840" y="485546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8046720" y="485546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51" name="Shape 47"/>
          <p:cNvSpPr/>
          <p:nvPr/>
        </p:nvSpPr>
        <p:spPr>
          <a:xfrm>
            <a:off x="548640" y="53431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731520" y="53431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wachten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3977640" y="534314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4160520" y="534314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wacht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55" name="Shape 51"/>
          <p:cNvSpPr/>
          <p:nvPr/>
        </p:nvSpPr>
        <p:spPr>
          <a:xfrm>
            <a:off x="7863840" y="534314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8046720" y="534314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wacht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57" name="Shape 53"/>
          <p:cNvSpPr/>
          <p:nvPr/>
        </p:nvSpPr>
        <p:spPr>
          <a:xfrm>
            <a:off x="548640" y="58308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31520" y="58308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luisteren</a:t>
            </a:r>
            <a:endParaRPr lang="en-US" sz="1900" dirty="0"/>
          </a:p>
        </p:txBody>
      </p:sp>
      <p:sp>
        <p:nvSpPr>
          <p:cNvPr id="59" name="Shape 55"/>
          <p:cNvSpPr/>
          <p:nvPr/>
        </p:nvSpPr>
        <p:spPr>
          <a:xfrm>
            <a:off x="3977640" y="583082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4160520" y="583082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luister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61" name="Shape 57"/>
          <p:cNvSpPr/>
          <p:nvPr/>
        </p:nvSpPr>
        <p:spPr>
          <a:xfrm>
            <a:off x="7863840" y="583082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8046720" y="583082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luister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te ou de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Levez le carton TE ou DE, puis épelez le mot. Attention à la double lettre !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1932432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3000" dirty="0"/>
          </a:p>
        </p:txBody>
      </p:sp>
      <p:sp>
        <p:nvSpPr>
          <p:cNvPr id="9" name="Shape 5"/>
          <p:cNvSpPr/>
          <p:nvPr/>
        </p:nvSpPr>
        <p:spPr>
          <a:xfrm>
            <a:off x="548640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94360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werk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2807208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2852928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bel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065776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5111496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fiets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5" name="Shape 11"/>
          <p:cNvSpPr/>
          <p:nvPr/>
        </p:nvSpPr>
        <p:spPr>
          <a:xfrm>
            <a:off x="7324344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370064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leer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9582912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9628632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wacht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9" name="Shape 15"/>
          <p:cNvSpPr/>
          <p:nvPr/>
        </p:nvSpPr>
        <p:spPr>
          <a:xfrm>
            <a:off x="548640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594360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antwoord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2807208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2852928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reis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3" name="Shape 19"/>
          <p:cNvSpPr/>
          <p:nvPr/>
        </p:nvSpPr>
        <p:spPr>
          <a:xfrm>
            <a:off x="5065776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5111496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kook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7324344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7370064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leef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7" name="Shape 23"/>
          <p:cNvSpPr/>
          <p:nvPr/>
        </p:nvSpPr>
        <p:spPr>
          <a:xfrm>
            <a:off x="9582912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9628632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praat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9" name="Shape 25"/>
          <p:cNvSpPr/>
          <p:nvPr/>
        </p:nvSpPr>
        <p:spPr>
          <a:xfrm>
            <a:off x="2377440" y="5178552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2377440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3600" dirty="0"/>
          </a:p>
        </p:txBody>
      </p:sp>
      <p:sp>
        <p:nvSpPr>
          <p:cNvPr id="31" name="Shape 27"/>
          <p:cNvSpPr/>
          <p:nvPr/>
        </p:nvSpPr>
        <p:spPr>
          <a:xfrm>
            <a:off x="8714232" y="5178552"/>
            <a:ext cx="1097280" cy="109728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714232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te ou de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Levez le carton TE ou DE, puis épelez le mot. Attention à la double lettre !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932432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3000" dirty="0"/>
          </a:p>
        </p:txBody>
      </p:sp>
      <p:sp>
        <p:nvSpPr>
          <p:cNvPr id="10" name="Shape 6"/>
          <p:cNvSpPr/>
          <p:nvPr/>
        </p:nvSpPr>
        <p:spPr>
          <a:xfrm>
            <a:off x="548640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594360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werk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12" name="Shape 8"/>
          <p:cNvSpPr/>
          <p:nvPr/>
        </p:nvSpPr>
        <p:spPr>
          <a:xfrm>
            <a:off x="2807208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2852928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bel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065776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5111496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fiets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16" name="Shape 12"/>
          <p:cNvSpPr/>
          <p:nvPr/>
        </p:nvSpPr>
        <p:spPr>
          <a:xfrm>
            <a:off x="7324344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370064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leer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18" name="Shape 14"/>
          <p:cNvSpPr/>
          <p:nvPr/>
        </p:nvSpPr>
        <p:spPr>
          <a:xfrm>
            <a:off x="9582912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9628632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wacht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548640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594360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antwoord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>
            <a:off x="2807208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2852928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reis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4" name="Shape 20"/>
          <p:cNvSpPr/>
          <p:nvPr/>
        </p:nvSpPr>
        <p:spPr>
          <a:xfrm>
            <a:off x="5065776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5111496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kook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26" name="Shape 22"/>
          <p:cNvSpPr/>
          <p:nvPr/>
        </p:nvSpPr>
        <p:spPr>
          <a:xfrm>
            <a:off x="7324344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7370064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leef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8" name="Shape 24"/>
          <p:cNvSpPr/>
          <p:nvPr/>
        </p:nvSpPr>
        <p:spPr>
          <a:xfrm>
            <a:off x="9582912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9628632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praat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30" name="Shape 26"/>
          <p:cNvSpPr/>
          <p:nvPr/>
        </p:nvSpPr>
        <p:spPr>
          <a:xfrm>
            <a:off x="2377440" y="5178552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2377440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3600" dirty="0"/>
          </a:p>
        </p:txBody>
      </p:sp>
      <p:sp>
        <p:nvSpPr>
          <p:cNvPr id="32" name="Shape 28"/>
          <p:cNvSpPr/>
          <p:nvPr/>
        </p:nvSpPr>
        <p:spPr>
          <a:xfrm>
            <a:off x="8714232" y="5178552"/>
            <a:ext cx="1097280" cy="109728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714232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3600" dirty="0"/>
          </a:p>
        </p:txBody>
      </p:sp>
      <p:sp>
        <p:nvSpPr>
          <p:cNvPr id="34" name="Text 30"/>
          <p:cNvSpPr txBox="1"/>
          <p:nvPr/>
        </p:nvSpPr>
        <p:spPr>
          <a:xfrm>
            <a:off x="3657600" y="5178552"/>
            <a:ext cx="4873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accent5"/>
                </a:solidFill>
              </a:rPr>
              <a:t>Double lettre : </a:t>
            </a:r>
            <a:r>
              <a:rPr lang="en-US" sz="1600" i="1" dirty="0">
                <a:solidFill>
                  <a:schemeClr val="accent5"/>
                </a:solidFill>
              </a:rPr>
              <a:t>wachtte, praatte, antwoordde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accent5"/>
                </a:solidFill>
              </a:rPr>
              <a:t>reisde, leefde</a:t>
            </a:r>
            <a:r>
              <a:rPr lang="en-US" sz="1600" i="1" dirty="0">
                <a:solidFill>
                  <a:schemeClr val="accent5"/>
                </a:solidFill>
              </a:rPr>
              <a:t> : </a:t>
            </a:r>
            <a:r>
              <a:rPr lang="en-US" sz="1600" i="1" dirty="0">
                <a:solidFill>
                  <a:schemeClr val="accent5"/>
                </a:solidFill>
              </a:rPr>
              <a:t>z, v</a:t>
            </a:r>
            <a:r>
              <a:rPr lang="en-US" sz="1600" i="1" dirty="0">
                <a:solidFill>
                  <a:schemeClr val="accent5"/>
                </a:solidFill>
              </a:rPr>
              <a:t> à l’infinitif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memory des irréguliers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infinitif à son imperfectum (singulier).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7815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  zijn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241401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41401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  hebben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48640" y="284988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284988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 gaan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48640" y="328574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28574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  komen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372160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72160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  zien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48640" y="415747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415747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eten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48640" y="459333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459333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nemen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48640" y="502920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502920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  schrijven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546506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546506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  drinken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548640" y="590092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85800" y="590092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  staan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532120" y="197815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69280" y="197815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  at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532120" y="241401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669280" y="241401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  kwam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532120" y="284988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669280" y="284988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  was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5532120" y="328574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669280" y="328574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  dronk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5532120" y="372160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69280" y="372160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  stond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5532120" y="415747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669280" y="415747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  had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5532120" y="459333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669280" y="459333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  schreef</a:t>
            </a:r>
            <a:endParaRPr lang="en-US" sz="1600" dirty="0"/>
          </a:p>
        </p:txBody>
      </p:sp>
      <p:sp>
        <p:nvSpPr>
          <p:cNvPr id="42" name="Shape 38"/>
          <p:cNvSpPr/>
          <p:nvPr/>
        </p:nvSpPr>
        <p:spPr>
          <a:xfrm>
            <a:off x="5532120" y="502920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669280" y="502920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  ging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5532120" y="546506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669280" y="546506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  zag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5532120" y="590092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669280" y="590092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  nam</a:t>
            </a:r>
            <a:endParaRPr lang="en-US" sz="1600" dirty="0"/>
          </a:p>
        </p:txBody>
      </p:sp>
      <p:pic>
        <p:nvPicPr>
          <p:cNvPr id="48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029712"/>
            <a:ext cx="2011680" cy="2011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memory des irréguliers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infinitif à son imperfectum (singulier).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2880360" y="2150364"/>
            <a:ext cx="2606040" cy="871728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880360" y="2586228"/>
            <a:ext cx="2606040" cy="1743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2880360" y="3022092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2880360" y="2586228"/>
            <a:ext cx="2606040" cy="871728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2880360" y="3893820"/>
            <a:ext cx="2606040" cy="1743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2880360" y="2150364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880360" y="4765548"/>
            <a:ext cx="2606040" cy="1307592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 flipV="1">
            <a:off x="2880360" y="4765548"/>
            <a:ext cx="2606040" cy="43586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 flipV="1">
            <a:off x="2880360" y="3457956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 flipV="1">
            <a:off x="2880360" y="3893820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548640" y="197815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197815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  zijn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8640" y="241401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241401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  hebben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548640" y="284988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284988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 gaan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548640" y="328574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328574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  komen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548640" y="372160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85800" y="372160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  zien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548640" y="415747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5800" y="415747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eten</a:t>
            </a:r>
            <a:endParaRPr lang="en-US" sz="1600" dirty="0"/>
          </a:p>
        </p:txBody>
      </p:sp>
      <p:sp>
        <p:nvSpPr>
          <p:cNvPr id="31" name="Shape 27"/>
          <p:cNvSpPr/>
          <p:nvPr/>
        </p:nvSpPr>
        <p:spPr>
          <a:xfrm>
            <a:off x="548640" y="459333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459333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nemen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548640" y="502920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5800" y="502920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  schrijven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548640" y="546506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546506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  drinken</a:t>
            </a:r>
            <a:endParaRPr lang="en-US" sz="1600" dirty="0"/>
          </a:p>
        </p:txBody>
      </p:sp>
      <p:sp>
        <p:nvSpPr>
          <p:cNvPr id="37" name="Shape 33"/>
          <p:cNvSpPr/>
          <p:nvPr/>
        </p:nvSpPr>
        <p:spPr>
          <a:xfrm>
            <a:off x="548640" y="590092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5800" y="590092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  staan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5532120" y="197815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669280" y="197815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  at</a:t>
            </a:r>
            <a:endParaRPr lang="en-US" sz="1600" dirty="0"/>
          </a:p>
        </p:txBody>
      </p:sp>
      <p:sp>
        <p:nvSpPr>
          <p:cNvPr id="41" name="Shape 37"/>
          <p:cNvSpPr/>
          <p:nvPr/>
        </p:nvSpPr>
        <p:spPr>
          <a:xfrm>
            <a:off x="5532120" y="241401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669280" y="241401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  kwam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5532120" y="284988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669280" y="284988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  was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5532120" y="328574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669280" y="328574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  dronk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5532120" y="372160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669280" y="372160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  stond</a:t>
            </a:r>
            <a:endParaRPr lang="en-US" sz="1600" dirty="0"/>
          </a:p>
        </p:txBody>
      </p:sp>
      <p:sp>
        <p:nvSpPr>
          <p:cNvPr id="49" name="Shape 45"/>
          <p:cNvSpPr/>
          <p:nvPr/>
        </p:nvSpPr>
        <p:spPr>
          <a:xfrm>
            <a:off x="5532120" y="415747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669280" y="415747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  had</a:t>
            </a:r>
            <a:endParaRPr lang="en-US" sz="1600" dirty="0"/>
          </a:p>
        </p:txBody>
      </p:sp>
      <p:sp>
        <p:nvSpPr>
          <p:cNvPr id="51" name="Shape 47"/>
          <p:cNvSpPr/>
          <p:nvPr/>
        </p:nvSpPr>
        <p:spPr>
          <a:xfrm>
            <a:off x="5532120" y="459333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669280" y="459333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  schreef</a:t>
            </a:r>
            <a:endParaRPr lang="en-US" sz="1600" dirty="0"/>
          </a:p>
        </p:txBody>
      </p:sp>
      <p:sp>
        <p:nvSpPr>
          <p:cNvPr id="53" name="Shape 49"/>
          <p:cNvSpPr/>
          <p:nvPr/>
        </p:nvSpPr>
        <p:spPr>
          <a:xfrm>
            <a:off x="5532120" y="502920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669280" y="502920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  ging</a:t>
            </a:r>
            <a:endParaRPr lang="en-US" sz="1600" dirty="0"/>
          </a:p>
        </p:txBody>
      </p:sp>
      <p:sp>
        <p:nvSpPr>
          <p:cNvPr id="55" name="Shape 51"/>
          <p:cNvSpPr/>
          <p:nvPr/>
        </p:nvSpPr>
        <p:spPr>
          <a:xfrm>
            <a:off x="5532120" y="546506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669280" y="546506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  zag</a:t>
            </a:r>
            <a:endParaRPr lang="en-US" sz="1600" dirty="0"/>
          </a:p>
        </p:txBody>
      </p:sp>
      <p:sp>
        <p:nvSpPr>
          <p:cNvPr id="57" name="Shape 53"/>
          <p:cNvSpPr/>
          <p:nvPr/>
        </p:nvSpPr>
        <p:spPr>
          <a:xfrm>
            <a:off x="5532120" y="590092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669280" y="590092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  nam</a:t>
            </a:r>
            <a:endParaRPr lang="en-US" sz="1600" dirty="0"/>
          </a:p>
        </p:txBody>
      </p:sp>
      <p:sp>
        <p:nvSpPr>
          <p:cNvPr id="59" name="Shape 55"/>
          <p:cNvSpPr/>
          <p:nvPr/>
        </p:nvSpPr>
        <p:spPr>
          <a:xfrm>
            <a:off x="7863840" y="1932432"/>
            <a:ext cx="3776472" cy="4358640"/>
          </a:xfrm>
          <a:prstGeom prst="roundRect">
            <a:avLst>
              <a:gd name="adj" fmla="val 1937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8046720" y="20238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PLURIEL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8046720" y="2389632"/>
            <a:ext cx="3429000" cy="3718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waren · hadden · gingen · kwamen · zagen · aten · namen · schreven · dronken · stonden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Racontez le passé avec vroeger + l’indice. Attention à l’inversion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woon ik in Brussel.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303520" y="22956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5257800" y="19324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Namen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werk ik bij Peeters &amp; Co.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303520" y="302209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5257800" y="265887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bank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ga ik met de fiets naar het werk.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5303520" y="374853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5257800" y="338531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de auto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drink ik thee.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303520" y="447497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5257800" y="411175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koffie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heb ik een hond.</a:t>
            </a:r>
            <a:endParaRPr lang="en-US" sz="1700" dirty="0"/>
          </a:p>
        </p:txBody>
      </p:sp>
      <p:sp>
        <p:nvSpPr>
          <p:cNvPr id="40" name="Shape 36"/>
          <p:cNvSpPr/>
          <p:nvPr/>
        </p:nvSpPr>
        <p:spPr>
          <a:xfrm>
            <a:off x="5303520" y="520141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5257800" y="483819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kat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ben ik rustig.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303520" y="59278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5257800" y="55646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zenuwachtig</a:t>
            </a:r>
            <a:endParaRPr lang="en-US" sz="1200" dirty="0"/>
          </a:p>
        </p:txBody>
      </p:sp>
      <p:sp>
        <p:nvSpPr>
          <p:cNvPr id="49" name="Shape 45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Racontez le passé avec vroeger + l’indice. Attention à l’inversion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woon ik in Brussel.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303520" y="22956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257800" y="19324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Namen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0" y="19781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woonde ik in Namen.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werk ik bij Peeters &amp; Co.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303520" y="302209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5257800" y="265887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bank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583680" y="270459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werkte ik bij een bank.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ga ik met de fiets naar het werk.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303520" y="374853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5257800" y="338531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de auto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583680" y="343103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ging ik met de auto naar het werk.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drink ik thee.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303520" y="447497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5257800" y="411175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koffie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583680" y="415747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dronk ik koffie.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heb ik een hond.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5303520" y="520141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5257800" y="483819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kat</a:t>
            </a:r>
            <a:endParaRPr lang="en-US" sz="1200" dirty="0"/>
          </a:p>
        </p:txBody>
      </p:sp>
      <p:sp>
        <p:nvSpPr>
          <p:cNvPr id="47" name="Shape 43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583680" y="488391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had ik een kat.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ben ik rustig.</a:t>
            </a:r>
            <a:endParaRPr lang="en-US" sz="1700" dirty="0"/>
          </a:p>
        </p:txBody>
      </p:sp>
      <p:sp>
        <p:nvSpPr>
          <p:cNvPr id="53" name="Shape 49"/>
          <p:cNvSpPr/>
          <p:nvPr/>
        </p:nvSpPr>
        <p:spPr>
          <a:xfrm>
            <a:off x="5303520" y="59278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5257800" y="55646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zenuwachtig</a:t>
            </a:r>
            <a:endParaRPr lang="en-US" sz="1200" dirty="0"/>
          </a:p>
        </p:txBody>
      </p:sp>
      <p:sp>
        <p:nvSpPr>
          <p:cNvPr id="55" name="Shape 51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583680" y="56103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was ik zenuwachtig.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raconte son ancien travail.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vorige job — Sofie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Vroeger ik werkte</a:t>
            </a:r>
            <a:r>
              <a:rPr lang="en-US" sz="2100" i="1" dirty="0">
                <a:solidFill>
                  <a:schemeClr val="tx1"/>
                </a:solidFill>
              </a:rPr>
              <a:t> in een school in Gent. Ik </a:t>
            </a:r>
            <a:r>
              <a:rPr lang="en-US" sz="2100" i="1" dirty="0">
                <a:solidFill>
                  <a:schemeClr val="tx1"/>
                </a:solidFill>
              </a:rPr>
              <a:t>geefde</a:t>
            </a:r>
            <a:r>
              <a:rPr lang="en-US" sz="2100" i="1" dirty="0">
                <a:solidFill>
                  <a:schemeClr val="tx1"/>
                </a:solidFill>
              </a:rPr>
              <a:t> Engelse les. Elke dag nam ik de tram. De leerlingen </a:t>
            </a:r>
            <a:r>
              <a:rPr lang="en-US" sz="2100" i="1" dirty="0">
                <a:solidFill>
                  <a:schemeClr val="tx1"/>
                </a:solidFill>
              </a:rPr>
              <a:t>was</a:t>
            </a:r>
            <a:r>
              <a:rPr lang="en-US" sz="2100" i="1" dirty="0">
                <a:solidFill>
                  <a:schemeClr val="tx1"/>
                </a:solidFill>
              </a:rPr>
              <a:t> leuk, maar ik had weinig tijd. Toen ik dertig werd, </a:t>
            </a:r>
            <a:r>
              <a:rPr lang="en-US" sz="2100" i="1" dirty="0">
                <a:solidFill>
                  <a:schemeClr val="tx1"/>
                </a:solidFill>
              </a:rPr>
              <a:t>ik wilde</a:t>
            </a:r>
            <a:r>
              <a:rPr lang="en-US" sz="2100" i="1" dirty="0">
                <a:solidFill>
                  <a:schemeClr val="tx1"/>
                </a:solidFill>
              </a:rPr>
              <a:t> iets nieuws doen. Ik wachtte lang op een nieuwe job. Gelukkig </a:t>
            </a:r>
            <a:r>
              <a:rPr lang="en-US" sz="2100" i="1" dirty="0">
                <a:solidFill>
                  <a:schemeClr val="tx1"/>
                </a:solidFill>
              </a:rPr>
              <a:t>vondde</a:t>
            </a:r>
            <a:r>
              <a:rPr lang="en-US" sz="2100" i="1" dirty="0">
                <a:solidFill>
                  <a:schemeClr val="tx1"/>
                </a:solidFill>
              </a:rPr>
              <a:t> ik een job bij Peeters &amp; Co!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raconte son ancien travail.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vorige job — Sofie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Vroeger ik werkte</a:t>
            </a:r>
            <a:r>
              <a:rPr lang="en-US" sz="2100" b="1" i="1" dirty="0">
                <a:solidFill>
                  <a:schemeClr val="accent3"/>
                </a:solidFill>
              </a:rPr>
              <a:t> Vroeger werkte ik</a:t>
            </a:r>
            <a:r>
              <a:rPr lang="en-US" sz="2100" i="1" dirty="0">
                <a:solidFill>
                  <a:schemeClr val="tx1"/>
                </a:solidFill>
              </a:rPr>
              <a:t> in een school in Gent. Ik </a:t>
            </a:r>
            <a:r>
              <a:rPr lang="en-US" sz="2100" i="1" strike="sngStrike" dirty="0">
                <a:solidFill>
                  <a:schemeClr val="accent6"/>
                </a:solidFill>
              </a:rPr>
              <a:t>geefde</a:t>
            </a:r>
            <a:r>
              <a:rPr lang="en-US" sz="2100" b="1" i="1" dirty="0">
                <a:solidFill>
                  <a:schemeClr val="accent3"/>
                </a:solidFill>
              </a:rPr>
              <a:t> gaf</a:t>
            </a:r>
            <a:r>
              <a:rPr lang="en-US" sz="2100" i="1" dirty="0">
                <a:solidFill>
                  <a:schemeClr val="tx1"/>
                </a:solidFill>
              </a:rPr>
              <a:t> Engelse les. Elke dag nam ik de tram. De leerlingen </a:t>
            </a:r>
            <a:r>
              <a:rPr lang="en-US" sz="2100" i="1" strike="sngStrike" dirty="0">
                <a:solidFill>
                  <a:schemeClr val="accent6"/>
                </a:solidFill>
              </a:rPr>
              <a:t>was</a:t>
            </a:r>
            <a:r>
              <a:rPr lang="en-US" sz="2100" b="1" i="1" dirty="0">
                <a:solidFill>
                  <a:schemeClr val="accent3"/>
                </a:solidFill>
              </a:rPr>
              <a:t> waren</a:t>
            </a:r>
            <a:r>
              <a:rPr lang="en-US" sz="2100" i="1" dirty="0">
                <a:solidFill>
                  <a:schemeClr val="tx1"/>
                </a:solidFill>
              </a:rPr>
              <a:t> leuk, maar ik had weinig tijd. Toen ik dertig werd, </a:t>
            </a:r>
            <a:r>
              <a:rPr lang="en-US" sz="2100" i="1" strike="sngStrike" dirty="0">
                <a:solidFill>
                  <a:schemeClr val="accent6"/>
                </a:solidFill>
              </a:rPr>
              <a:t>ik wilde</a:t>
            </a:r>
            <a:r>
              <a:rPr lang="en-US" sz="2100" b="1" i="1" dirty="0">
                <a:solidFill>
                  <a:schemeClr val="accent3"/>
                </a:solidFill>
              </a:rPr>
              <a:t> wilde ik</a:t>
            </a:r>
            <a:r>
              <a:rPr lang="en-US" sz="2100" i="1" dirty="0">
                <a:solidFill>
                  <a:schemeClr val="tx1"/>
                </a:solidFill>
              </a:rPr>
              <a:t> iets nieuws doen. Ik wachtte lang op een nieuwe job. Gelukkig </a:t>
            </a:r>
            <a:r>
              <a:rPr lang="en-US" sz="2100" i="1" strike="sngStrike" dirty="0">
                <a:solidFill>
                  <a:schemeClr val="accent6"/>
                </a:solidFill>
              </a:rPr>
              <a:t>vondde</a:t>
            </a:r>
            <a:r>
              <a:rPr lang="en-US" sz="2100" b="1" i="1" dirty="0">
                <a:solidFill>
                  <a:schemeClr val="accent3"/>
                </a:solidFill>
              </a:rPr>
              <a:t> vond</a:t>
            </a:r>
            <a:r>
              <a:rPr lang="en-US" sz="2100" i="1" dirty="0">
                <a:solidFill>
                  <a:schemeClr val="tx1"/>
                </a:solidFill>
              </a:rPr>
              <a:t> ik een job bij Peeters &amp; Co!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nam ik de tram · werd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worden</a:t>
            </a:r>
            <a:r>
              <a:rPr lang="en-US" sz="1400" i="1" dirty="0">
                <a:solidFill>
                  <a:schemeClr val="accent5"/>
                </a:solidFill>
              </a:rPr>
              <a:t>) · </a:t>
            </a:r>
            <a:r>
              <a:rPr lang="en-US" sz="1400" i="1" dirty="0">
                <a:solidFill>
                  <a:schemeClr val="accent5"/>
                </a:solidFill>
              </a:rPr>
              <a:t>wachtte</a:t>
            </a:r>
            <a:r>
              <a:rPr lang="en-US" sz="1400" i="1" dirty="0">
                <a:solidFill>
                  <a:schemeClr val="accent5"/>
                </a:solidFill>
              </a:rPr>
              <a:t> (double </a:t>
            </a:r>
            <a:r>
              <a:rPr lang="en-US" sz="1400" i="1" dirty="0">
                <a:solidFill>
                  <a:schemeClr val="accent5"/>
                </a:solidFill>
              </a:rPr>
              <a:t>t</a:t>
            </a:r>
            <a:r>
              <a:rPr lang="en-US" sz="1400" i="1" dirty="0">
                <a:solidFill>
                  <a:schemeClr val="accent5"/>
                </a:solidFill>
              </a:rPr>
              <a:t>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L’histoire en images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8132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6"/>
                </a:solidFill>
              </a:rPr>
              <a:t>Een rampzalige maandag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0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2400300"/>
            <a:ext cx="1188720" cy="11887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834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944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944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4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4700" y="2400300"/>
            <a:ext cx="1188720" cy="118872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120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230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230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18" name="Image 2" descr="b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0" y="2400300"/>
            <a:ext cx="1188720" cy="118872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48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58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58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22" name="Image 3" descr="hot bever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4503420"/>
            <a:ext cx="1188720" cy="1188720"/>
          </a:xfrm>
          <a:prstGeom prst="rect">
            <a:avLst/>
          </a:prstGeom>
        </p:spPr>
      </p:pic>
      <p:pic>
        <p:nvPicPr>
          <p:cNvPr id="23" name="Image 4" descr="Ti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5486400"/>
            <a:ext cx="365760" cy="365760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2834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2944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2944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27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4700" y="4503420"/>
            <a:ext cx="1188720" cy="1188720"/>
          </a:xfrm>
          <a:prstGeom prst="rect">
            <a:avLst/>
          </a:prstGeom>
        </p:spPr>
      </p:pic>
      <p:pic>
        <p:nvPicPr>
          <p:cNvPr id="28" name="Image 6" descr="Tim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251960"/>
            <a:ext cx="411480" cy="411480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5120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0" name="Shape 20"/>
          <p:cNvSpPr/>
          <p:nvPr/>
        </p:nvSpPr>
        <p:spPr>
          <a:xfrm>
            <a:off x="5230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5230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32" name="Image 7" descr="party popp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00700" y="4503420"/>
            <a:ext cx="1188720" cy="1188720"/>
          </a:xfrm>
          <a:prstGeom prst="rect">
            <a:avLst/>
          </a:prstGeom>
        </p:spPr>
      </p:pic>
      <p:pic>
        <p:nvPicPr>
          <p:cNvPr id="33" name="Image 8" descr="stopwatc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600200"/>
            <a:ext cx="731520" cy="73152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8321040" y="1554480"/>
            <a:ext cx="3319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Par équipes, racontez la journée de Karim en </a:t>
            </a:r>
            <a:r>
              <a:rPr lang="en-US" sz="1500" b="1" dirty="0">
                <a:solidFill>
                  <a:schemeClr val="tx1"/>
                </a:solidFill>
              </a:rPr>
              <a:t>6 phrases</a:t>
            </a:r>
            <a:r>
              <a:rPr lang="en-US" sz="1500" dirty="0">
                <a:solidFill>
                  <a:schemeClr val="tx1"/>
                </a:solidFill>
              </a:rPr>
              <a:t>, avec </a:t>
            </a:r>
            <a:r>
              <a:rPr lang="en-US" sz="1500" i="1" dirty="0">
                <a:solidFill>
                  <a:schemeClr val="tx1"/>
                </a:solidFill>
              </a:rPr>
              <a:t>eerst, toen, daarna, plots, gelukkig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35" name="Shape 23"/>
          <p:cNvSpPr/>
          <p:nvPr/>
        </p:nvSpPr>
        <p:spPr>
          <a:xfrm>
            <a:off x="7498080" y="2926080"/>
            <a:ext cx="4142232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24"/>
          <p:cNvSpPr txBox="1"/>
          <p:nvPr/>
        </p:nvSpPr>
        <p:spPr>
          <a:xfrm>
            <a:off x="7680960" y="2999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VERBES</a:t>
            </a:r>
            <a:endParaRPr lang="en-US" sz="1200" dirty="0"/>
          </a:p>
        </p:txBody>
      </p:sp>
      <p:sp>
        <p:nvSpPr>
          <p:cNvPr id="37" name="Text 25"/>
          <p:cNvSpPr txBox="1"/>
          <p:nvPr/>
        </p:nvSpPr>
        <p:spPr>
          <a:xfrm>
            <a:off x="7680960" y="329184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niet horen → hoorde niet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regenen → regende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missen → miste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morsen → morste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vergeten → vergat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zijn → was</a:t>
            </a:r>
            <a:endParaRPr lang="en-US" sz="1500" dirty="0"/>
          </a:p>
        </p:txBody>
      </p:sp>
      <p:sp>
        <p:nvSpPr>
          <p:cNvPr id="38" name="Shape 26"/>
          <p:cNvSpPr/>
          <p:nvPr/>
        </p:nvSpPr>
        <p:spPr>
          <a:xfrm>
            <a:off x="7498080" y="5440680"/>
            <a:ext cx="4142232" cy="822960"/>
          </a:xfrm>
          <a:prstGeom prst="roundRect">
            <a:avLst>
              <a:gd name="adj" fmla="val 8889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9" name="Text 27"/>
          <p:cNvSpPr txBox="1"/>
          <p:nvPr/>
        </p:nvSpPr>
        <p:spPr>
          <a:xfrm>
            <a:off x="7635240" y="54406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Fin : </a:t>
            </a:r>
            <a:r>
              <a:rPr lang="en-US" sz="1500" i="1" dirty="0">
                <a:solidFill>
                  <a:schemeClr val="tx1"/>
                </a:solidFill>
              </a:rPr>
              <a:t>Gelukkig </a:t>
            </a:r>
            <a:r>
              <a:rPr lang="en-US" sz="1500" b="1" i="1" dirty="0">
                <a:solidFill>
                  <a:schemeClr val="tx1"/>
                </a:solidFill>
              </a:rPr>
              <a:t>was</a:t>
            </a:r>
            <a:r>
              <a:rPr lang="en-US" sz="1500" i="1" dirty="0">
                <a:solidFill>
                  <a:schemeClr val="tx1"/>
                </a:solidFill>
              </a:rPr>
              <a:t> de vergadering geannuleerd!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L’entretien d’embauche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Lotte Claes postule chez Peeters &amp; Co. Sofie (RH) l’interroge sur ses emplois précédents. On se vouvoie (</a:t>
            </a:r>
            <a:r>
              <a:rPr lang="en-US" sz="1700" i="1" dirty="0">
                <a:solidFill>
                  <a:schemeClr val="tx1"/>
                </a:solidFill>
              </a:rPr>
              <a:t>u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posez les questions : </a:t>
            </a:r>
            <a:r>
              <a:rPr lang="en-US" sz="1700" i="1" dirty="0">
                <a:solidFill>
                  <a:schemeClr val="tx1"/>
                </a:solidFill>
              </a:rPr>
              <a:t>Waar werkte u vroeger? Wat deed u daar? Hoe lang werkte u daar? Wat vond u leuk?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répondez à l’imperfectum à l’aide du CV.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werkte bij… · Ik was verantwoordelijk voor… · Ik moest elke dag… · Ik had veel contact met klanten. · Het was een leuke job, maar…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CURRICULUM VITAE</a:t>
            </a:r>
            <a:endParaRPr lang="en-US" sz="1300" dirty="0"/>
          </a:p>
        </p:txBody>
      </p:sp>
      <p:pic>
        <p:nvPicPr>
          <p:cNvPr id="22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121408"/>
            <a:ext cx="822960" cy="82296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171432" y="21214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Lotte Claes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Gent · 29 jaar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257032" y="3081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WERKERVARING</a:t>
            </a:r>
            <a:endParaRPr lang="en-US" sz="1100" dirty="0"/>
          </a:p>
        </p:txBody>
      </p:sp>
      <p:sp>
        <p:nvSpPr>
          <p:cNvPr id="25" name="tag"/>
          <p:cNvSpPr/>
          <p:nvPr/>
        </p:nvSpPr>
        <p:spPr>
          <a:xfrm>
            <a:off x="8257032" y="3401568"/>
            <a:ext cx="1365656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2019–2022</a:t>
            </a:r>
            <a:endParaRPr lang="en-US" sz="1100" dirty="0"/>
          </a:p>
        </p:txBody>
      </p:sp>
      <p:pic>
        <p:nvPicPr>
          <p:cNvPr id="26" name="Image 1" descr="bellhop 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4512" y="3401568"/>
            <a:ext cx="502920" cy="5029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257032" y="37673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receptioniste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Hotel Zonneveld, Gent</a:t>
            </a:r>
            <a:endParaRPr lang="en-US" sz="1400" dirty="0"/>
          </a:p>
        </p:txBody>
      </p:sp>
      <p:sp>
        <p:nvSpPr>
          <p:cNvPr id="28" name="tag"/>
          <p:cNvSpPr/>
          <p:nvPr/>
        </p:nvSpPr>
        <p:spPr>
          <a:xfrm>
            <a:off x="8257032" y="4727448"/>
            <a:ext cx="1365656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2022–2025</a:t>
            </a:r>
            <a:endParaRPr lang="en-US" sz="1100" dirty="0"/>
          </a:p>
        </p:txBody>
      </p:sp>
      <p:pic>
        <p:nvPicPr>
          <p:cNvPr id="29" name="Image 2" descr="brea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4727448"/>
            <a:ext cx="502920" cy="50292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257032" y="509320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assistente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Bakkerij Smet, Brussel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4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L’imperfectum de </a:t>
            </a:r>
            <a:r>
              <a:rPr lang="en-US" sz="2000" i="1" dirty="0">
                <a:solidFill>
                  <a:schemeClr val="tx1"/>
                </a:solidFill>
              </a:rPr>
              <a:t>werken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ik</a:t>
            </a:r>
            <a:r>
              <a:rPr lang="en-US" sz="2000" dirty="0">
                <a:solidFill>
                  <a:schemeClr val="tx1"/>
                </a:solidFill>
              </a:rPr>
              <a:t>) et de </a:t>
            </a:r>
            <a:r>
              <a:rPr lang="en-US" sz="2000" i="1" dirty="0">
                <a:solidFill>
                  <a:schemeClr val="tx1"/>
                </a:solidFill>
              </a:rPr>
              <a:t>wonen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wij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zijn, hebben, gaan</a:t>
            </a:r>
            <a:r>
              <a:rPr lang="en-US" sz="2000" dirty="0">
                <a:solidFill>
                  <a:schemeClr val="tx1"/>
                </a:solidFill>
              </a:rPr>
              <a:t> à l’imperfectum (</a:t>
            </a:r>
            <a:r>
              <a:rPr lang="en-US" sz="2000" i="1" dirty="0">
                <a:solidFill>
                  <a:schemeClr val="tx1"/>
                </a:solidFill>
              </a:rPr>
              <a:t>ik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Quand j’étais petit, je jouais au foot.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Mémoriser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Raconter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4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5, M20 </a:t>
            </a:r>
            <a:r>
              <a:rPr lang="en-US" sz="1800" i="1" dirty="0">
                <a:solidFill>
                  <a:schemeClr val="bg1"/>
                </a:solidFill>
              </a:rPr>
              <a:t>Van wie is dit?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72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4 · 19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M1–M5</a:t>
            </a:r>
            <a:endParaRPr lang="en-US" sz="1000" dirty="0"/>
          </a:p>
        </p:txBody>
      </p:sp>
      <p:sp>
        <p:nvSpPr>
          <p:cNvPr id="39" name="Shape 26"/>
          <p:cNvSpPr/>
          <p:nvPr/>
        </p:nvSpPr>
        <p:spPr>
          <a:xfrm>
            <a:off x="8055864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8055864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M6–M10</a:t>
            </a:r>
            <a:endParaRPr lang="en-US" sz="1000" dirty="0"/>
          </a:p>
        </p:txBody>
      </p:sp>
      <p:sp>
        <p:nvSpPr>
          <p:cNvPr id="41" name="Shape 28"/>
          <p:cNvSpPr/>
          <p:nvPr/>
        </p:nvSpPr>
        <p:spPr>
          <a:xfrm>
            <a:off x="9162288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9162288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M11–M15</a:t>
            </a:r>
            <a:endParaRPr lang="en-US" sz="1000" dirty="0"/>
          </a:p>
        </p:txBody>
      </p:sp>
      <p:sp>
        <p:nvSpPr>
          <p:cNvPr id="43" name="Shape 30"/>
          <p:cNvSpPr/>
          <p:nvPr/>
        </p:nvSpPr>
        <p:spPr>
          <a:xfrm>
            <a:off x="10268712" y="4919472"/>
            <a:ext cx="841248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10268712" y="4919472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M16–M19</a:t>
            </a:r>
            <a:endParaRPr lang="en-US" sz="1000" dirty="0"/>
          </a:p>
        </p:txBody>
      </p:sp>
      <p:pic>
        <p:nvPicPr>
          <p:cNvPr id="45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19 — Het imperfectum — L’imparfait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2026-10-05T15:46:46Z</dcterms:created>
  <dcterms:modified xsi:type="dcterms:W3CDTF">2026-10-05T15:46:46Z</dcterms:modified>
</cp:coreProperties>
</file>