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95a81af-3792-8e50-8fa7-e35f96ad2b24}">
          <p14:sldIdLst>
            <p14:sldId id="256"/>
          </p14:sldIdLst>
        </p14:section>
        <p14:section name="Découvrir" id="{eb28f0e7-2b40-8fcc-d23e-8e86c6b4b303}">
          <p14:sldIdLst>
            <p14:sldId id="257"/>
            <p14:sldId id="258"/>
            <p14:sldId id="259"/>
            <p14:sldId id="260"/>
            <p14:sldId id="261"/>
          </p14:sldIdLst>
        </p14:section>
        <p14:section name="Les cinq familles" id="{7f2454d6-deec-4328-94fb-4252f3b4e7ac}">
          <p14:sldIdLst>
            <p14:sldId id="262"/>
            <p14:sldId id="263"/>
            <p14:sldId id="264"/>
            <p14:sldId id="265"/>
            <p14:sldId id="266"/>
          </p14:sldIdLst>
        </p14:section>
        <p14:section name="Les pièges" id="{726058eb-7fb8-c616-2976-6ad767bd5383}">
          <p14:sldIdLst>
            <p14:sldId id="267"/>
            <p14:sldId id="268"/>
            <p14:sldId id="269"/>
            <p14:sldId id="270"/>
            <p14:sldId id="271"/>
            <p14:sldId id="272"/>
          </p14:sldIdLst>
        </p14:section>
        <p14:section name="JIJ NU ! — Oefeningen" id="{f30b428e-90cd-22e6-ab9e-4e415c7c6ed6}">
          <p14:sldIdLst>
            <p14:sldId id="273"/>
            <p14:sldId id="274"/>
            <p14:sldId id="275"/>
            <p14:sldId id="276"/>
            <p14:sldId id="277"/>
            <p14:sldId id="278"/>
            <p14:sldId id="279"/>
            <p14:sldId id="280"/>
            <p14:sldId id="281"/>
            <p14:sldId id="282"/>
            <p14:sldId id="283"/>
            <p14:sldId id="284"/>
            <p14:sldId id="285"/>
          </p14:sldIdLst>
        </p14:section>
        <p14:section name="Clôture" id="{42054f32-af65-64ac-9e95-06d9a50fb288}">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au passé composé, deux infinitifs au lieu d'un participe.
Demandez : « Comment dit-on j'ai dû travailler ? » Laissez proposer gemoeten : c'est l'erreur logique, et c'est tout le sujet de la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3 objectifs.
Le double infinitif est très fréquent à l'oral : pour raconter (Ik heb moeten wachten), s'excuser (Ik heb niet kunnen komen) et regretter (Ik had moeten bellen).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chercher la forme du passé et provoquer l'hypothèse gemoeten.
Par deux, les apprenant·es proposent une forme. Notez les propositions au tableau (souvent gemoeten, gekund, gegaan). Réponses (diapo 4) : Gisteren heb ik ook moeten werken. · Gisteren heb ik ook niet kunnen komen. · Gisteren ben ik ook gaan zwemmen.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et nommer le procédé (schéma D1).
Le français garde le participe (dû, pu, voulu, fait réparer) ; le néerlandais le remplace par l'infinitif. L'allemand fait pareil (ich habe arbeiten müssen — attention, ordre inverse : arbeiten müssen / moeten werken), ce qui peut aider les germanophones de la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les verbes : la locomotive et les wagons (schéma D2).
Faites « construire le train » avec des cartes : un·e apprenant·e tient heb, deux autres moeten et werken, les autres le reste de la phrase. Passez ensuite à la subordonnée : la locomotive rejoint les wagons. Dans la subordonnée, on entend parfois en Flandre omdat ik moeten werken heb ; enseignez l'ordre standard heb moeten werken.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les cinq familles (schéma D3).
Pour ④, le te du présent (ik zit te lezen, M17) disparaît au passé : voir diapo 10. helpen et leren peuvent aussi prendre le double infinitif (Ik heb hem helpen verhuizen), mais ce n'est pas obligatoire.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 passé composé des modaux suivis d'un infinitif.
niet et les compléments se placent devant le train : Ik heb het niet kunnen vinden. Ik ben naar huis moeten gaan est correct aussi (standard en Belgique, plus rare aux Pays-Bas) : enseignez hebben comme règle générale, acceptez zijn quand le dernier verbe se conjugue avec zijn. mogen + infinitif = avoir le droit, pouvoir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laten + infinitif au passé : faire faire, laisser faire.
Très utile au travail et dans la vie quotidienne : Ik heb het laten nakijken (je l'ai fait vérifier), Ik heb een offerte laten maken. laten seul garde son participe : Ik heb het zo gelaten (diapo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 double infinitif avec gaan, komen, blijven et l'auxiliaire zijn.
Rappel M18 : Ik ga zwemmen (futur proche ou activité). Au passé : Ik ben gaan zwemmen, jamais ~~Ik ben gegaan zwemmen~~. Attention : We zijn uit eten gegaan (expression figée) est correct. blijven slapen = passer la nuit chez quelqu'un ; blijven eten = rester manger.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Passer de zitten te + infinitif (M17) au double infinitif, sans te.
Ces verbes donnent l'idée de durée, « être en train de » : Ik heb de hele avond zitten studeren. La forme avec te au passé (~~heb zitten te lezen~~) est une faute fréquente, même chez les néerlandophones ; l'exercice 4 la reprend.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 double infinitif avec les verbes de perception (B1).
Sans infinitif, le participe revient : Ik heb hem gezien. · Ik heb het gehoord. Avec helpen et leren, les deux formes existent : Ik heb hem helpen verhuizen / Ik heb hem geholpen met verhuizen ; Ik heb leren zwemmen / Ik heb zwemmen geleerd / Ik heb geleerd te zwemmen.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l'auxiliaire hebben ou zijn (schéma D4).
Moyen mnémotechnique : « le premier wagon choisit sa locomotive ». Piège classique : moeten gaan → heb, gaan zwemmen → ben. Nuance : quand le dernier verbe se conjugue avec zijn (gaan, komen), zijn est aussi correct après un modal (Ik ben naar huis moeten gaan), surtout en Belgique.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le modal seul (participe) et le modal suivi d'un infinitif (double infinitif).
Le test : y a-t-il un autre infinitif au bout de la phrase ? Oui → double infinitif ; non → participe. gemoeten existe mais s'emploie très peu (Dat heeft hij niet gemoeten).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 pas étendre le double infinitif aux verbes construits avec te.
On entend aussi Ik heb je proberen te bellen ou Het is beginnen te regenen : ces formes sont correctes (aussi à l'écrit), à condition que l'objet soit devant (je proberen te bellen) ; Het is beginnen regenen (sans te) n'est pas standard. Quelques verbes avec te prennent le double infinitif : weten te (obligatoire : Hij heeft weten te ontsnappen), durven, hoeven (Dat had je niet hoeven te doen), et facultativement beginnen, proberen. Pour la classe, la règle simple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la particule et le train dans la subordonnée.
Lien avec M11 et le complément sur les particules (diapo 28). Les deux ordres de la particule sont courants en Belgique comme aux Pays-Bas.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Exprimer un regret ou un reproche : had moeten = aurais dû, had kunnen = aurais pu.
had est le prétérit de hebben ; had + double infinitif est un plus-que-parfait, qui a ici le sens du conditionnel passé français (aurais dû). Lien avec M29 (Als ik tijd had…). Formules utiles : Ik had het kunnen weten. · Dat had ik moeten zeggen. · Je had me kunnen bellen!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Invitez à photographier la diapo.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Transformer une phrase au présent en passé composé avec double infinitif.
Faites nommer la famille de chaque verbe pilote (diapo 6) et vérifier l'auxiliaire (diapo 12). N° 5 : sans 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Transformer une phrase au présent en passé composé avec double infinitif.
Faites nommer la famille de chaque verbe pilote (diapo 6) et vérifier l'auxiliaire (diapo 12). N° 5 : sans 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l'auxiliaire d'après le premier verbe du train.
N° 8 : moeten décide → heb ; ben est aussi correct en Belgique. N° 7 : ze peut être singulier (heeft) ou pluriel (hebben) : acceptez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l'auxiliaire d'après le premier verbe du train.
N° 8 : moeten décide → heb ; ben est aussi correct en Belgique. N° 7 : ze peut être singulier (heeft) ou pluriel (hebben) : acceptez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participe et infinitif : seul, avec te, avec un infinitif.
Faites justifier : seul (1, 3) → participe ; avec te (4, 8) → participe ; avec un infinitif (2, 5, 6, 7) → double infinitif. N° 4 : Ik heb je proberen te bellen (je devant) est aussi correct, mais pas Ik heb proberen je te bellen.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entre participe et infinitif : seul, avec te, avec un infinitif.
Faites justifier : seul (1, 3) → participe ; avec te (4, 8) → participe ; avec un infinitif (2, 5, 6, 7) → double infinitif. N° 4 : Ik heb je proberen te bellen (je devant) est aussi correct, mais pas Ik heb proberen je te bellen.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dans un message d'excuse authentique.
Leurres corrects : laten repareren, gaan zwemmen, had je moeten bellen, dat had ik beloofd. in panne staan (être en panne) est belge ; aux Pays-Bas : kapot zijn, pech hebben.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dans un message d'excuse authentique.
Leurres corrects : laten repareren, gaan zwemmen, had je moeten bellen, dat had ik beloofd. in panne staan (être en panne) est belge ; aux Pays-Bas : kapot zijn, pech hebben.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Réagir avec had moeten / had kunnen.
N° 2 : aussi een paraplu mee moeten nemen. N° 5 : aussi had moeten thuisblijven. Selon le sens, acceptez l'autre modal : n° 2 kunnen meenemen, n° 3 had me moeten bellen, n° 4 hadden moeten winnen, n° 6 had … kunnen vergelijken. Faites jouer chaque réplique avec le ton du reproche ou du regret.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Réagir avec had moeten / had kunnen.
N° 2 : aussi een paraplu mee moeten nemen. N° 5 : aussi had moeten thuisblijven. Selon le sens, acceptez l'autre modal : n° 2 kunnen meenemen, n° 3 had me moeten bellen, n° 4 hadden moeten winnen, n° 6 had … kunnen vergelijken. Faites jouer chaque réplique avec le ton du reproche ou du regret.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librement des phrases au passé avec double infinitif, de façon ludique.
Imprimez les cartes ou projetez la diapo et tirez au dé. L'exemple moeten laten repareren a trois infinitifs : c'est correct (B1+), l'ordre suit le sens (moeten → laten → repareren).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expliquer un retard et raconter son week-end avec au moins 5 doubles infinitifs.
Comptez les doubles infinitifs de B (objectif : 5) et vérifiez l'auxiliaire. Puis inversez les rôles avec un week-end inventé. tegen woensdag = d'ici mercredi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Ik heb moeten werken.
2. Ik ben gaan zwemmen.
3. Ik had het moeten zeggen.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 A2–B1 · Le double infinitif</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 A2–B1 · Le double infinitif</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2.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2.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2.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2.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slideLayout" Target="../slideLayouts/slideLayout2.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slideLayout" Target="../slideLayouts/slideLayout2.xml"/><Relationship Id="rId1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74137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COMPLÉMENT · A2–B1</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Ik heb moeten werken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 double infinitif</a:t>
            </a:r>
            <a:endParaRPr lang="en-US" sz="2000" dirty="0"/>
          </a:p>
          <a:p>
            <a:pPr algn="l" indent="0" marL="0">
              <a:buNone/>
            </a:pPr>
            <a:r>
              <a:rPr lang="en-US" sz="2000" b="1" dirty="0">
                <a:solidFill>
                  <a:srgbClr val="FFFFFF"/>
                </a:solidFill>
              </a:rPr>
              <a:t>gemoeten ? Non : moeten !</a:t>
            </a:r>
            <a:endParaRPr lang="en-US" sz="2000" dirty="0"/>
          </a:p>
        </p:txBody>
      </p:sp>
      <p:sp>
        <p:nvSpPr>
          <p:cNvPr id="5" name="Shape 3"/>
          <p:cNvSpPr/>
          <p:nvPr/>
        </p:nvSpPr>
        <p:spPr>
          <a:xfrm>
            <a:off x="6583680" y="1097280"/>
            <a:ext cx="5257800" cy="3749040"/>
          </a:xfrm>
          <a:prstGeom prst="roundRect">
            <a:avLst>
              <a:gd name="adj" fmla="val 3902"/>
            </a:avLst>
          </a:prstGeom>
          <a:solidFill>
            <a:srgbClr val="FFFFFF"/>
          </a:solidFill>
          <a:ln w="12700">
            <a:solidFill>
              <a:srgbClr val="FFFFFF">
                <a:alpha val="0"/>
              </a:srgbClr>
            </a:solidFill>
            <a:prstDash val="solid"/>
          </a:ln>
        </p:spPr>
      </p:sp>
      <p:pic>
        <p:nvPicPr>
          <p:cNvPr id="6" name="Image 0" descr="locomotive">    </p:cNvPr>
          <p:cNvPicPr>
            <a:picLocks noChangeAspect="1"/>
          </p:cNvPicPr>
          <p:nvPr/>
        </p:nvPicPr>
        <p:blipFill>
          <a:blip r:embed="rId1"/>
          <a:stretch>
            <a:fillRect/>
          </a:stretch>
        </p:blipFill>
        <p:spPr>
          <a:xfrm>
            <a:off x="7223760" y="1234440"/>
            <a:ext cx="914400" cy="914400"/>
          </a:xfrm>
          <a:prstGeom prst="rect">
            <a:avLst/>
          </a:prstGeom>
        </p:spPr>
      </p:pic>
      <p:pic>
        <p:nvPicPr>
          <p:cNvPr id="7" name="Image 1" descr="railway car">    </p:cNvPr>
          <p:cNvPicPr>
            <a:picLocks noChangeAspect="1"/>
          </p:cNvPicPr>
          <p:nvPr/>
        </p:nvPicPr>
        <p:blipFill>
          <a:blip r:embed="rId2"/>
          <a:stretch>
            <a:fillRect/>
          </a:stretch>
        </p:blipFill>
        <p:spPr>
          <a:xfrm>
            <a:off x="8183880" y="1234440"/>
            <a:ext cx="914400" cy="914400"/>
          </a:xfrm>
          <a:prstGeom prst="rect">
            <a:avLst/>
          </a:prstGeom>
        </p:spPr>
      </p:pic>
      <p:pic>
        <p:nvPicPr>
          <p:cNvPr id="8" name="Image 2" descr="railway car">    </p:cNvPr>
          <p:cNvPicPr>
            <a:picLocks noChangeAspect="1"/>
          </p:cNvPicPr>
          <p:nvPr/>
        </p:nvPicPr>
        <p:blipFill>
          <a:blip r:embed="rId3"/>
          <a:stretch>
            <a:fillRect/>
          </a:stretch>
        </p:blipFill>
        <p:spPr>
          <a:xfrm>
            <a:off x="9144000" y="1234440"/>
            <a:ext cx="914400" cy="914400"/>
          </a:xfrm>
          <a:prstGeom prst="rect">
            <a:avLst/>
          </a:prstGeom>
        </p:spPr>
      </p:pic>
      <p:sp>
        <p:nvSpPr>
          <p:cNvPr id="9" name="Text 4"/>
          <p:cNvSpPr txBox="1"/>
          <p:nvPr/>
        </p:nvSpPr>
        <p:spPr>
          <a:xfrm>
            <a:off x="6675120" y="2423160"/>
            <a:ext cx="502920" cy="566928"/>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10" name="Shape 5"/>
          <p:cNvSpPr/>
          <p:nvPr/>
        </p:nvSpPr>
        <p:spPr>
          <a:xfrm>
            <a:off x="7223760" y="2423160"/>
            <a:ext cx="563636" cy="566928"/>
          </a:xfrm>
          <a:prstGeom prst="roundRect">
            <a:avLst>
              <a:gd name="adj" fmla="val 16223"/>
            </a:avLst>
          </a:prstGeom>
          <a:solidFill>
            <a:schemeClr val="bg1"/>
          </a:solidFill>
          <a:ln w="15875">
            <a:solidFill>
              <a:srgbClr val="D5DCE6"/>
            </a:solidFill>
            <a:prstDash val="solid"/>
          </a:ln>
        </p:spPr>
      </p:sp>
      <p:sp>
        <p:nvSpPr>
          <p:cNvPr id="11" name="Text 6"/>
          <p:cNvSpPr txBox="1"/>
          <p:nvPr/>
        </p:nvSpPr>
        <p:spPr>
          <a:xfrm>
            <a:off x="7223760" y="2423160"/>
            <a:ext cx="563636" cy="566928"/>
          </a:xfrm>
          <a:prstGeom prst="rect">
            <a:avLst/>
          </a:prstGeom>
          <a:noFill/>
          <a:ln/>
        </p:spPr>
        <p:txBody>
          <a:bodyPr wrap="square" lIns="0" tIns="0" rIns="0" bIns="0" rtlCol="0" anchor="ctr"/>
          <a:lstStyle/>
          <a:p>
            <a:pPr algn="ctr" indent="0" marL="0">
              <a:buNone/>
            </a:pPr>
            <a:r>
              <a:rPr lang="en-US" sz="1900" dirty="0">
                <a:solidFill>
                  <a:schemeClr val="tx1"/>
                </a:solidFill>
              </a:rPr>
              <a:t>Ik</a:t>
            </a:r>
            <a:endParaRPr lang="en-US" sz="1900" dirty="0"/>
          </a:p>
        </p:txBody>
      </p:sp>
      <p:sp>
        <p:nvSpPr>
          <p:cNvPr id="12" name="Shape 7"/>
          <p:cNvSpPr/>
          <p:nvPr/>
        </p:nvSpPr>
        <p:spPr>
          <a:xfrm>
            <a:off x="7869692" y="2423160"/>
            <a:ext cx="856200" cy="566928"/>
          </a:xfrm>
          <a:prstGeom prst="roundRect">
            <a:avLst>
              <a:gd name="adj" fmla="val 16129"/>
            </a:avLst>
          </a:prstGeom>
          <a:solidFill>
            <a:schemeClr val="tx2"/>
          </a:solidFill>
          <a:ln w="12700">
            <a:solidFill>
              <a:srgbClr val="FFFFFF">
                <a:alpha val="0"/>
              </a:srgbClr>
            </a:solidFill>
            <a:prstDash val="solid"/>
          </a:ln>
        </p:spPr>
      </p:sp>
      <p:sp>
        <p:nvSpPr>
          <p:cNvPr id="13" name="Text 8"/>
          <p:cNvSpPr txBox="1"/>
          <p:nvPr/>
        </p:nvSpPr>
        <p:spPr>
          <a:xfrm>
            <a:off x="7869692" y="2423160"/>
            <a:ext cx="856200" cy="566928"/>
          </a:xfrm>
          <a:prstGeom prst="rect">
            <a:avLst/>
          </a:prstGeom>
          <a:noFill/>
          <a:ln/>
        </p:spPr>
        <p:txBody>
          <a:bodyPr wrap="square" lIns="0" tIns="0" rIns="0" bIns="0" rtlCol="0" anchor="ctr"/>
          <a:lstStyle/>
          <a:p>
            <a:pPr algn="ctr" indent="0" marL="0">
              <a:buNone/>
            </a:pPr>
            <a:r>
              <a:rPr lang="en-US" sz="1900" b="1" dirty="0">
                <a:solidFill>
                  <a:schemeClr val="bg1"/>
                </a:solidFill>
              </a:rPr>
              <a:t>heb</a:t>
            </a:r>
            <a:endParaRPr lang="en-US" sz="1900" dirty="0"/>
          </a:p>
        </p:txBody>
      </p:sp>
      <p:sp>
        <p:nvSpPr>
          <p:cNvPr id="14" name="Shape 9"/>
          <p:cNvSpPr/>
          <p:nvPr/>
        </p:nvSpPr>
        <p:spPr>
          <a:xfrm>
            <a:off x="8808188" y="2423160"/>
            <a:ext cx="1376721" cy="566928"/>
          </a:xfrm>
          <a:prstGeom prst="roundRect">
            <a:avLst>
              <a:gd name="adj" fmla="val 16129"/>
            </a:avLst>
          </a:prstGeom>
          <a:solidFill>
            <a:srgbClr val="FFFFFF"/>
          </a:solidFill>
          <a:ln w="15875">
            <a:solidFill>
              <a:srgbClr val="4A5A70"/>
            </a:solidFill>
            <a:prstDash val="dash"/>
          </a:ln>
        </p:spPr>
      </p:sp>
      <p:sp>
        <p:nvSpPr>
          <p:cNvPr id="15" name="Text 10"/>
          <p:cNvSpPr txBox="1"/>
          <p:nvPr/>
        </p:nvSpPr>
        <p:spPr>
          <a:xfrm>
            <a:off x="8808188" y="2423160"/>
            <a:ext cx="1376721" cy="566928"/>
          </a:xfrm>
          <a:prstGeom prst="rect">
            <a:avLst/>
          </a:prstGeom>
          <a:noFill/>
          <a:ln/>
        </p:spPr>
        <p:txBody>
          <a:bodyPr wrap="square" lIns="0" tIns="0" rIns="0" bIns="0" rtlCol="0" anchor="ctr"/>
          <a:lstStyle/>
          <a:p>
            <a:pPr algn="ctr" indent="0" marL="0">
              <a:buNone/>
            </a:pPr>
            <a:r>
              <a:rPr lang="en-US" sz="1900" strike="sngStrike" dirty="0">
                <a:solidFill>
                  <a:schemeClr val="accent6"/>
                </a:solidFill>
              </a:rPr>
              <a:t>gemoeten</a:t>
            </a:r>
            <a:endParaRPr lang="en-US" sz="1900" dirty="0"/>
          </a:p>
        </p:txBody>
      </p:sp>
      <p:sp>
        <p:nvSpPr>
          <p:cNvPr id="16" name="Text 11"/>
          <p:cNvSpPr txBox="1"/>
          <p:nvPr/>
        </p:nvSpPr>
        <p:spPr>
          <a:xfrm>
            <a:off x="6675120" y="3474720"/>
            <a:ext cx="502920" cy="566928"/>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17" name="Shape 12"/>
          <p:cNvSpPr/>
          <p:nvPr/>
        </p:nvSpPr>
        <p:spPr>
          <a:xfrm>
            <a:off x="7223760" y="3474720"/>
            <a:ext cx="563636" cy="566928"/>
          </a:xfrm>
          <a:prstGeom prst="roundRect">
            <a:avLst>
              <a:gd name="adj" fmla="val 16223"/>
            </a:avLst>
          </a:prstGeom>
          <a:solidFill>
            <a:schemeClr val="bg1"/>
          </a:solidFill>
          <a:ln w="15875">
            <a:solidFill>
              <a:srgbClr val="D5DCE6"/>
            </a:solidFill>
            <a:prstDash val="solid"/>
          </a:ln>
        </p:spPr>
      </p:sp>
      <p:sp>
        <p:nvSpPr>
          <p:cNvPr id="18" name="Text 13"/>
          <p:cNvSpPr txBox="1"/>
          <p:nvPr/>
        </p:nvSpPr>
        <p:spPr>
          <a:xfrm>
            <a:off x="7223760" y="3474720"/>
            <a:ext cx="563636" cy="566928"/>
          </a:xfrm>
          <a:prstGeom prst="rect">
            <a:avLst/>
          </a:prstGeom>
          <a:noFill/>
          <a:ln/>
        </p:spPr>
        <p:txBody>
          <a:bodyPr wrap="square" lIns="0" tIns="0" rIns="0" bIns="0" rtlCol="0" anchor="ctr"/>
          <a:lstStyle/>
          <a:p>
            <a:pPr algn="ctr" indent="0" marL="0">
              <a:buNone/>
            </a:pPr>
            <a:r>
              <a:rPr lang="en-US" sz="1900" dirty="0">
                <a:solidFill>
                  <a:schemeClr val="tx1"/>
                </a:solidFill>
              </a:rPr>
              <a:t>Ik</a:t>
            </a:r>
            <a:endParaRPr lang="en-US" sz="1900" dirty="0"/>
          </a:p>
        </p:txBody>
      </p:sp>
      <p:sp>
        <p:nvSpPr>
          <p:cNvPr id="19" name="Shape 14"/>
          <p:cNvSpPr/>
          <p:nvPr/>
        </p:nvSpPr>
        <p:spPr>
          <a:xfrm>
            <a:off x="7869692" y="3474720"/>
            <a:ext cx="856200" cy="566928"/>
          </a:xfrm>
          <a:prstGeom prst="roundRect">
            <a:avLst>
              <a:gd name="adj" fmla="val 16129"/>
            </a:avLst>
          </a:prstGeom>
          <a:solidFill>
            <a:schemeClr val="tx2"/>
          </a:solidFill>
          <a:ln w="12700">
            <a:solidFill>
              <a:srgbClr val="FFFFFF">
                <a:alpha val="0"/>
              </a:srgbClr>
            </a:solidFill>
            <a:prstDash val="solid"/>
          </a:ln>
        </p:spPr>
      </p:sp>
      <p:sp>
        <p:nvSpPr>
          <p:cNvPr id="20" name="Text 15"/>
          <p:cNvSpPr txBox="1"/>
          <p:nvPr/>
        </p:nvSpPr>
        <p:spPr>
          <a:xfrm>
            <a:off x="7869692" y="3474720"/>
            <a:ext cx="856200" cy="566928"/>
          </a:xfrm>
          <a:prstGeom prst="rect">
            <a:avLst/>
          </a:prstGeom>
          <a:noFill/>
          <a:ln/>
        </p:spPr>
        <p:txBody>
          <a:bodyPr wrap="square" lIns="0" tIns="0" rIns="0" bIns="0" rtlCol="0" anchor="ctr"/>
          <a:lstStyle/>
          <a:p>
            <a:pPr algn="ctr" indent="0" marL="0">
              <a:buNone/>
            </a:pPr>
            <a:r>
              <a:rPr lang="en-US" sz="1900" b="1" dirty="0">
                <a:solidFill>
                  <a:schemeClr val="bg1"/>
                </a:solidFill>
              </a:rPr>
              <a:t>heb</a:t>
            </a:r>
            <a:endParaRPr lang="en-US" sz="1900" dirty="0"/>
          </a:p>
        </p:txBody>
      </p:sp>
      <p:sp>
        <p:nvSpPr>
          <p:cNvPr id="21" name="Shape 16"/>
          <p:cNvSpPr/>
          <p:nvPr/>
        </p:nvSpPr>
        <p:spPr>
          <a:xfrm>
            <a:off x="8808188" y="3474720"/>
            <a:ext cx="1311528" cy="566928"/>
          </a:xfrm>
          <a:prstGeom prst="roundRect">
            <a:avLst>
              <a:gd name="adj" fmla="val 16129"/>
            </a:avLst>
          </a:prstGeom>
          <a:solidFill>
            <a:schemeClr val="accent1"/>
          </a:solidFill>
          <a:ln w="12700">
            <a:solidFill>
              <a:srgbClr val="FFFFFF">
                <a:alpha val="0"/>
              </a:srgbClr>
            </a:solidFill>
            <a:prstDash val="solid"/>
          </a:ln>
        </p:spPr>
      </p:sp>
      <p:sp>
        <p:nvSpPr>
          <p:cNvPr id="22" name="Text 17"/>
          <p:cNvSpPr txBox="1"/>
          <p:nvPr/>
        </p:nvSpPr>
        <p:spPr>
          <a:xfrm>
            <a:off x="8808188" y="3474720"/>
            <a:ext cx="1311528" cy="566928"/>
          </a:xfrm>
          <a:prstGeom prst="rect">
            <a:avLst/>
          </a:prstGeom>
          <a:noFill/>
          <a:ln/>
        </p:spPr>
        <p:txBody>
          <a:bodyPr wrap="square" lIns="0" tIns="0" rIns="0" bIns="0" rtlCol="0" anchor="ctr"/>
          <a:lstStyle/>
          <a:p>
            <a:pPr algn="ctr" indent="0" marL="0">
              <a:buNone/>
            </a:pPr>
            <a:r>
              <a:rPr lang="en-US" sz="1900" b="1" dirty="0">
                <a:solidFill>
                  <a:schemeClr val="bg1"/>
                </a:solidFill>
              </a:rPr>
              <a:t>moeten</a:t>
            </a:r>
            <a:endParaRPr lang="en-US" sz="1900" dirty="0"/>
          </a:p>
        </p:txBody>
      </p:sp>
      <p:sp>
        <p:nvSpPr>
          <p:cNvPr id="23" name="Shape 18"/>
          <p:cNvSpPr/>
          <p:nvPr/>
        </p:nvSpPr>
        <p:spPr>
          <a:xfrm>
            <a:off x="10202012" y="3474720"/>
            <a:ext cx="1463303" cy="566928"/>
          </a:xfrm>
          <a:prstGeom prst="roundRect">
            <a:avLst>
              <a:gd name="adj" fmla="val 16129"/>
            </a:avLst>
          </a:prstGeom>
          <a:solidFill>
            <a:srgbClr val="FBEDEB"/>
          </a:solidFill>
          <a:ln w="25400">
            <a:solidFill>
              <a:srgbClr val="B83227"/>
            </a:solidFill>
            <a:prstDash val="solid"/>
          </a:ln>
        </p:spPr>
      </p:sp>
      <p:sp>
        <p:nvSpPr>
          <p:cNvPr id="24" name="Text 19"/>
          <p:cNvSpPr txBox="1"/>
          <p:nvPr/>
        </p:nvSpPr>
        <p:spPr>
          <a:xfrm>
            <a:off x="10202012" y="3474720"/>
            <a:ext cx="1463303" cy="566928"/>
          </a:xfrm>
          <a:prstGeom prst="rect">
            <a:avLst/>
          </a:prstGeom>
          <a:noFill/>
          <a:ln/>
        </p:spPr>
        <p:txBody>
          <a:bodyPr wrap="square" lIns="0" tIns="0" rIns="0" bIns="0" rtlCol="0" anchor="ctr"/>
          <a:lstStyle/>
          <a:p>
            <a:pPr algn="ctr" indent="0" marL="0">
              <a:buNone/>
            </a:pPr>
            <a:r>
              <a:rPr lang="en-US" sz="1900" b="1" dirty="0">
                <a:solidFill>
                  <a:schemeClr val="accent6"/>
                </a:solidFill>
              </a:rPr>
              <a:t>werken.</a:t>
            </a:r>
            <a:endParaRPr lang="en-US" sz="1900" dirty="0"/>
          </a:p>
        </p:txBody>
      </p:sp>
      <p:sp>
        <p:nvSpPr>
          <p:cNvPr id="25" name="Shape 20"/>
          <p:cNvSpPr/>
          <p:nvPr/>
        </p:nvSpPr>
        <p:spPr>
          <a:xfrm>
            <a:off x="7132320" y="4197096"/>
            <a:ext cx="4624435" cy="45720"/>
          </a:xfrm>
          <a:prstGeom prst="rect">
            <a:avLst/>
          </a:prstGeom>
          <a:solidFill>
            <a:srgbClr val="8A96A8"/>
          </a:solidFill>
          <a:ln w="12700">
            <a:solidFill>
              <a:srgbClr val="FFFFFF">
                <a:alpha val="0"/>
              </a:srgbClr>
            </a:solidFill>
            <a:prstDash val="solid"/>
          </a:ln>
        </p:spPr>
      </p:sp>
      <p:sp>
        <p:nvSpPr>
          <p:cNvPr id="26" name="Shape 21"/>
          <p:cNvSpPr/>
          <p:nvPr/>
        </p:nvSpPr>
        <p:spPr>
          <a:xfrm>
            <a:off x="7984904" y="4050792"/>
            <a:ext cx="146304" cy="146304"/>
          </a:xfrm>
          <a:prstGeom prst="ellipse">
            <a:avLst/>
          </a:prstGeom>
          <a:solidFill>
            <a:srgbClr val="1B2333"/>
          </a:solidFill>
          <a:ln w="12700">
            <a:solidFill>
              <a:srgbClr val="FFFFFF">
                <a:alpha val="0"/>
              </a:srgbClr>
            </a:solidFill>
            <a:prstDash val="solid"/>
          </a:ln>
        </p:spPr>
      </p:sp>
      <p:sp>
        <p:nvSpPr>
          <p:cNvPr id="27" name="Shape 22"/>
          <p:cNvSpPr/>
          <p:nvPr/>
        </p:nvSpPr>
        <p:spPr>
          <a:xfrm>
            <a:off x="8464376" y="4050792"/>
            <a:ext cx="146304" cy="146304"/>
          </a:xfrm>
          <a:prstGeom prst="ellipse">
            <a:avLst/>
          </a:prstGeom>
          <a:solidFill>
            <a:srgbClr val="1B2333"/>
          </a:solidFill>
          <a:ln w="12700">
            <a:solidFill>
              <a:srgbClr val="FFFFFF">
                <a:alpha val="0"/>
              </a:srgbClr>
            </a:solidFill>
            <a:prstDash val="solid"/>
          </a:ln>
        </p:spPr>
      </p:sp>
      <p:sp>
        <p:nvSpPr>
          <p:cNvPr id="28" name="Shape 23"/>
          <p:cNvSpPr/>
          <p:nvPr/>
        </p:nvSpPr>
        <p:spPr>
          <a:xfrm>
            <a:off x="7979420" y="3273552"/>
            <a:ext cx="146304" cy="219456"/>
          </a:xfrm>
          <a:prstGeom prst="rect">
            <a:avLst/>
          </a:prstGeom>
          <a:solidFill>
            <a:schemeClr val="tx2"/>
          </a:solidFill>
          <a:ln w="12700">
            <a:solidFill>
              <a:srgbClr val="FFFFFF">
                <a:alpha val="0"/>
              </a:srgbClr>
            </a:solidFill>
            <a:prstDash val="solid"/>
          </a:ln>
        </p:spPr>
      </p:sp>
      <p:sp>
        <p:nvSpPr>
          <p:cNvPr id="29" name="Shape 24"/>
          <p:cNvSpPr/>
          <p:nvPr/>
        </p:nvSpPr>
        <p:spPr>
          <a:xfrm>
            <a:off x="8725892" y="3899916"/>
            <a:ext cx="82296" cy="914"/>
          </a:xfrm>
          <a:prstGeom prst="line">
            <a:avLst/>
          </a:prstGeom>
          <a:noFill/>
          <a:ln w="31750">
            <a:solidFill>
              <a:srgbClr val="1B2333"/>
            </a:solidFill>
            <a:prstDash val="solid"/>
          </a:ln>
        </p:spPr>
      </p:sp>
      <p:sp>
        <p:nvSpPr>
          <p:cNvPr id="30" name="Shape 25"/>
          <p:cNvSpPr/>
          <p:nvPr/>
        </p:nvSpPr>
        <p:spPr>
          <a:xfrm>
            <a:off x="9023572" y="4050792"/>
            <a:ext cx="146304" cy="146304"/>
          </a:xfrm>
          <a:prstGeom prst="ellipse">
            <a:avLst/>
          </a:prstGeom>
          <a:solidFill>
            <a:srgbClr val="1B2333"/>
          </a:solidFill>
          <a:ln w="12700">
            <a:solidFill>
              <a:srgbClr val="FFFFFF">
                <a:alpha val="0"/>
              </a:srgbClr>
            </a:solidFill>
            <a:prstDash val="solid"/>
          </a:ln>
        </p:spPr>
      </p:sp>
      <p:sp>
        <p:nvSpPr>
          <p:cNvPr id="31" name="Shape 26"/>
          <p:cNvSpPr/>
          <p:nvPr/>
        </p:nvSpPr>
        <p:spPr>
          <a:xfrm>
            <a:off x="9758028" y="4050792"/>
            <a:ext cx="146304" cy="146304"/>
          </a:xfrm>
          <a:prstGeom prst="ellipse">
            <a:avLst/>
          </a:prstGeom>
          <a:solidFill>
            <a:srgbClr val="1B2333"/>
          </a:solidFill>
          <a:ln w="12700">
            <a:solidFill>
              <a:srgbClr val="FFFFFF">
                <a:alpha val="0"/>
              </a:srgbClr>
            </a:solidFill>
            <a:prstDash val="solid"/>
          </a:ln>
        </p:spPr>
      </p:sp>
      <p:sp>
        <p:nvSpPr>
          <p:cNvPr id="32" name="Shape 27"/>
          <p:cNvSpPr/>
          <p:nvPr/>
        </p:nvSpPr>
        <p:spPr>
          <a:xfrm>
            <a:off x="10119716" y="3899916"/>
            <a:ext cx="82296" cy="914"/>
          </a:xfrm>
          <a:prstGeom prst="line">
            <a:avLst/>
          </a:prstGeom>
          <a:noFill/>
          <a:ln w="31750">
            <a:solidFill>
              <a:srgbClr val="1B2333"/>
            </a:solidFill>
            <a:prstDash val="solid"/>
          </a:ln>
        </p:spPr>
      </p:sp>
      <p:sp>
        <p:nvSpPr>
          <p:cNvPr id="33" name="Shape 28"/>
          <p:cNvSpPr/>
          <p:nvPr/>
        </p:nvSpPr>
        <p:spPr>
          <a:xfrm>
            <a:off x="10450787" y="4050792"/>
            <a:ext cx="146304" cy="146304"/>
          </a:xfrm>
          <a:prstGeom prst="ellipse">
            <a:avLst/>
          </a:prstGeom>
          <a:solidFill>
            <a:srgbClr val="1B2333"/>
          </a:solidFill>
          <a:ln w="12700">
            <a:solidFill>
              <a:srgbClr val="FFFFFF">
                <a:alpha val="0"/>
              </a:srgbClr>
            </a:solidFill>
            <a:prstDash val="solid"/>
          </a:ln>
        </p:spPr>
      </p:sp>
      <p:sp>
        <p:nvSpPr>
          <p:cNvPr id="34" name="Shape 29"/>
          <p:cNvSpPr/>
          <p:nvPr/>
        </p:nvSpPr>
        <p:spPr>
          <a:xfrm>
            <a:off x="11270237" y="4050792"/>
            <a:ext cx="146304" cy="146304"/>
          </a:xfrm>
          <a:prstGeom prst="ellipse">
            <a:avLst/>
          </a:prstGeom>
          <a:solidFill>
            <a:srgbClr val="1B2333"/>
          </a:solidFill>
          <a:ln w="12700">
            <a:solidFill>
              <a:srgbClr val="FFFFFF">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Ey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Reconnaître</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reconnais le double infinitif : Ik heb moeten werken.</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Cogs">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Former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raconte au passé avec moeten, kunnen, laten, gaan…</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Comments">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Utiliser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m’excuse et j’exprime un regret : Ik had moeten bellen.</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Un verbe + un infinitif au présent → deux infinitifs au passé composé.</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Vandaag… gisteren?</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08760"/>
            <a:ext cx="3544824" cy="3977640"/>
          </a:xfrm>
          <a:prstGeom prst="roundRect">
            <a:avLst>
              <a:gd name="adj" fmla="val 3095"/>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pic>
        <p:nvPicPr>
          <p:cNvPr id="6" name="Image 0" descr="briefcase">    </p:cNvPr>
          <p:cNvPicPr>
            <a:picLocks noChangeAspect="1"/>
          </p:cNvPicPr>
          <p:nvPr/>
        </p:nvPicPr>
        <p:blipFill>
          <a:blip r:embed="rId1"/>
          <a:stretch>
            <a:fillRect/>
          </a:stretch>
        </p:blipFill>
        <p:spPr>
          <a:xfrm>
            <a:off x="1726692" y="1691640"/>
            <a:ext cx="1188720" cy="1188720"/>
          </a:xfrm>
          <a:prstGeom prst="rect">
            <a:avLst/>
          </a:prstGeom>
        </p:spPr>
      </p:pic>
      <p:sp>
        <p:nvSpPr>
          <p:cNvPr id="7" name="Text 3"/>
          <p:cNvSpPr txBox="1"/>
          <p:nvPr/>
        </p:nvSpPr>
        <p:spPr>
          <a:xfrm>
            <a:off x="731520" y="3017520"/>
            <a:ext cx="3179064" cy="548640"/>
          </a:xfrm>
          <a:prstGeom prst="rect">
            <a:avLst/>
          </a:prstGeom>
          <a:noFill/>
          <a:ln/>
        </p:spPr>
        <p:txBody>
          <a:bodyPr wrap="square" lIns="0" tIns="0" rIns="0" bIns="0" rtlCol="0" anchor="ctr"/>
          <a:lstStyle/>
          <a:p>
            <a:pPr algn="ctr" indent="0" marL="0">
              <a:buNone/>
            </a:pPr>
            <a:r>
              <a:rPr lang="en-US" sz="1900" i="1" dirty="0">
                <a:solidFill>
                  <a:schemeClr val="tx1"/>
                </a:solidFill>
              </a:rPr>
              <a:t>Vandaag </a:t>
            </a:r>
            <a:r>
              <a:rPr lang="en-US" sz="1900" b="1" i="1" dirty="0">
                <a:solidFill>
                  <a:schemeClr val="tx1"/>
                </a:solidFill>
              </a:rPr>
              <a:t>moet</a:t>
            </a:r>
            <a:r>
              <a:rPr lang="en-US" sz="1900" i="1" dirty="0">
                <a:solidFill>
                  <a:schemeClr val="tx1"/>
                </a:solidFill>
              </a:rPr>
              <a:t> ik werken.</a:t>
            </a:r>
            <a:endParaRPr lang="en-US" sz="1900" dirty="0"/>
          </a:p>
        </p:txBody>
      </p:sp>
      <p:sp>
        <p:nvSpPr>
          <p:cNvPr id="8" name="Text 4"/>
          <p:cNvSpPr txBox="1"/>
          <p:nvPr/>
        </p:nvSpPr>
        <p:spPr>
          <a:xfrm>
            <a:off x="548640" y="3566160"/>
            <a:ext cx="3544824" cy="411480"/>
          </a:xfrm>
          <a:prstGeom prst="rect">
            <a:avLst/>
          </a:prstGeom>
          <a:noFill/>
          <a:ln/>
        </p:spPr>
        <p:txBody>
          <a:bodyPr wrap="square" lIns="0" tIns="0" rIns="0" bIns="0" rtlCol="0" anchor="ctr"/>
          <a:lstStyle/>
          <a:p>
            <a:pPr algn="ctr" indent="0" marL="0">
              <a:buNone/>
            </a:pPr>
            <a:r>
              <a:rPr lang="en-US" sz="2000" dirty="0">
                <a:solidFill>
                  <a:schemeClr val="accent5"/>
                </a:solidFill>
              </a:rPr>
              <a:t>⬇</a:t>
            </a:r>
            <a:endParaRPr lang="en-US" sz="2000" dirty="0"/>
          </a:p>
        </p:txBody>
      </p:sp>
      <p:sp>
        <p:nvSpPr>
          <p:cNvPr id="9" name="Text 5"/>
          <p:cNvSpPr txBox="1"/>
          <p:nvPr/>
        </p:nvSpPr>
        <p:spPr>
          <a:xfrm>
            <a:off x="731520" y="3977640"/>
            <a:ext cx="3179064" cy="502920"/>
          </a:xfrm>
          <a:prstGeom prst="rect">
            <a:avLst/>
          </a:prstGeom>
          <a:noFill/>
          <a:ln/>
        </p:spPr>
        <p:txBody>
          <a:bodyPr wrap="square" lIns="0" tIns="0" rIns="0" bIns="0" rtlCol="0" anchor="ctr"/>
          <a:lstStyle/>
          <a:p>
            <a:pPr algn="ctr" indent="0" marL="0">
              <a:buNone/>
            </a:pPr>
            <a:r>
              <a:rPr lang="en-US" sz="1900" i="1" dirty="0">
                <a:solidFill>
                  <a:schemeClr val="tx1"/>
                </a:solidFill>
              </a:rPr>
              <a:t>Gisteren </a:t>
            </a:r>
            <a:r>
              <a:rPr lang="en-US" sz="1900" b="1" i="1" dirty="0">
                <a:solidFill>
                  <a:schemeClr val="tx1"/>
                </a:solidFill>
              </a:rPr>
              <a:t>heb</a:t>
            </a:r>
            <a:r>
              <a:rPr lang="en-US" sz="1900" i="1" dirty="0">
                <a:solidFill>
                  <a:schemeClr val="tx1"/>
                </a:solidFill>
              </a:rPr>
              <a:t> ik ook…</a:t>
            </a:r>
            <a:endParaRPr lang="en-US" sz="1900" dirty="0"/>
          </a:p>
        </p:txBody>
      </p:sp>
      <p:sp>
        <p:nvSpPr>
          <p:cNvPr id="10" name="Shape 6"/>
          <p:cNvSpPr/>
          <p:nvPr/>
        </p:nvSpPr>
        <p:spPr>
          <a:xfrm>
            <a:off x="1005840" y="4617720"/>
            <a:ext cx="2630424" cy="640080"/>
          </a:xfrm>
          <a:prstGeom prst="roundRect">
            <a:avLst>
              <a:gd name="adj" fmla="val 17143"/>
            </a:avLst>
          </a:prstGeom>
          <a:solidFill>
            <a:srgbClr val="FFFFFF"/>
          </a:solidFill>
          <a:ln w="22225">
            <a:solidFill>
              <a:srgbClr val="D9700F"/>
            </a:solidFill>
            <a:prstDash val="dash"/>
          </a:ln>
        </p:spPr>
      </p:sp>
      <p:sp>
        <p:nvSpPr>
          <p:cNvPr id="11" name="Text 7"/>
          <p:cNvSpPr txBox="1"/>
          <p:nvPr/>
        </p:nvSpPr>
        <p:spPr>
          <a:xfrm>
            <a:off x="1005840" y="4617720"/>
            <a:ext cx="2630424" cy="640080"/>
          </a:xfrm>
          <a:prstGeom prst="rect">
            <a:avLst/>
          </a:prstGeom>
          <a:noFill/>
          <a:ln/>
        </p:spPr>
        <p:txBody>
          <a:bodyPr wrap="square" lIns="0" tIns="0" rIns="0" bIns="0" rtlCol="0" anchor="ctr"/>
          <a:lstStyle/>
          <a:p>
            <a:pPr algn="ctr" indent="0" marL="0">
              <a:buNone/>
            </a:pPr>
            <a:r>
              <a:rPr lang="en-US" sz="2200" b="1" dirty="0">
                <a:solidFill>
                  <a:schemeClr val="accent1"/>
                </a:solidFill>
              </a:rPr>
              <a:t>… ?</a:t>
            </a:r>
            <a:endParaRPr lang="en-US" sz="2200" dirty="0"/>
          </a:p>
        </p:txBody>
      </p:sp>
      <p:sp>
        <p:nvSpPr>
          <p:cNvPr id="12" name="Shape 8"/>
          <p:cNvSpPr/>
          <p:nvPr/>
        </p:nvSpPr>
        <p:spPr>
          <a:xfrm>
            <a:off x="4322064" y="1508760"/>
            <a:ext cx="3544824" cy="3977640"/>
          </a:xfrm>
          <a:prstGeom prst="roundRect">
            <a:avLst>
              <a:gd name="adj" fmla="val 3095"/>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pic>
        <p:nvPicPr>
          <p:cNvPr id="13" name="Image 1" descr="no entry">    </p:cNvPr>
          <p:cNvPicPr>
            <a:picLocks noChangeAspect="1"/>
          </p:cNvPicPr>
          <p:nvPr/>
        </p:nvPicPr>
        <p:blipFill>
          <a:blip r:embed="rId2"/>
          <a:stretch>
            <a:fillRect/>
          </a:stretch>
        </p:blipFill>
        <p:spPr>
          <a:xfrm>
            <a:off x="5500116" y="1691640"/>
            <a:ext cx="1188720" cy="1188720"/>
          </a:xfrm>
          <a:prstGeom prst="rect">
            <a:avLst/>
          </a:prstGeom>
        </p:spPr>
      </p:pic>
      <p:sp>
        <p:nvSpPr>
          <p:cNvPr id="14" name="Text 9"/>
          <p:cNvSpPr txBox="1"/>
          <p:nvPr/>
        </p:nvSpPr>
        <p:spPr>
          <a:xfrm>
            <a:off x="4504944" y="3017520"/>
            <a:ext cx="3179064" cy="548640"/>
          </a:xfrm>
          <a:prstGeom prst="rect">
            <a:avLst/>
          </a:prstGeom>
          <a:noFill/>
          <a:ln/>
        </p:spPr>
        <p:txBody>
          <a:bodyPr wrap="square" lIns="0" tIns="0" rIns="0" bIns="0" rtlCol="0" anchor="ctr"/>
          <a:lstStyle/>
          <a:p>
            <a:pPr algn="ctr" indent="0" marL="0">
              <a:buNone/>
            </a:pPr>
            <a:r>
              <a:rPr lang="en-US" sz="1900" i="1" dirty="0">
                <a:solidFill>
                  <a:schemeClr val="tx1"/>
                </a:solidFill>
              </a:rPr>
              <a:t>Vandaag </a:t>
            </a:r>
            <a:r>
              <a:rPr lang="en-US" sz="1900" b="1" i="1" dirty="0">
                <a:solidFill>
                  <a:schemeClr val="tx1"/>
                </a:solidFill>
              </a:rPr>
              <a:t>kan</a:t>
            </a:r>
            <a:r>
              <a:rPr lang="en-US" sz="1900" i="1" dirty="0">
                <a:solidFill>
                  <a:schemeClr val="tx1"/>
                </a:solidFill>
              </a:rPr>
              <a:t> ik niet komen.</a:t>
            </a:r>
            <a:endParaRPr lang="en-US" sz="1900" dirty="0"/>
          </a:p>
        </p:txBody>
      </p:sp>
      <p:sp>
        <p:nvSpPr>
          <p:cNvPr id="15" name="Text 10"/>
          <p:cNvSpPr txBox="1"/>
          <p:nvPr/>
        </p:nvSpPr>
        <p:spPr>
          <a:xfrm>
            <a:off x="4322064" y="3566160"/>
            <a:ext cx="3544824" cy="411480"/>
          </a:xfrm>
          <a:prstGeom prst="rect">
            <a:avLst/>
          </a:prstGeom>
          <a:noFill/>
          <a:ln/>
        </p:spPr>
        <p:txBody>
          <a:bodyPr wrap="square" lIns="0" tIns="0" rIns="0" bIns="0" rtlCol="0" anchor="ctr"/>
          <a:lstStyle/>
          <a:p>
            <a:pPr algn="ctr" indent="0" marL="0">
              <a:buNone/>
            </a:pPr>
            <a:r>
              <a:rPr lang="en-US" sz="2000" dirty="0">
                <a:solidFill>
                  <a:schemeClr val="accent5"/>
                </a:solidFill>
              </a:rPr>
              <a:t>⬇</a:t>
            </a:r>
            <a:endParaRPr lang="en-US" sz="2000" dirty="0"/>
          </a:p>
        </p:txBody>
      </p:sp>
      <p:sp>
        <p:nvSpPr>
          <p:cNvPr id="16" name="Text 11"/>
          <p:cNvSpPr txBox="1"/>
          <p:nvPr/>
        </p:nvSpPr>
        <p:spPr>
          <a:xfrm>
            <a:off x="4504944" y="3977640"/>
            <a:ext cx="3179064" cy="502920"/>
          </a:xfrm>
          <a:prstGeom prst="rect">
            <a:avLst/>
          </a:prstGeom>
          <a:noFill/>
          <a:ln/>
        </p:spPr>
        <p:txBody>
          <a:bodyPr wrap="square" lIns="0" tIns="0" rIns="0" bIns="0" rtlCol="0" anchor="ctr"/>
          <a:lstStyle/>
          <a:p>
            <a:pPr algn="ctr" indent="0" marL="0">
              <a:buNone/>
            </a:pPr>
            <a:r>
              <a:rPr lang="en-US" sz="1900" i="1" dirty="0">
                <a:solidFill>
                  <a:schemeClr val="tx1"/>
                </a:solidFill>
              </a:rPr>
              <a:t>Gisteren </a:t>
            </a:r>
            <a:r>
              <a:rPr lang="en-US" sz="1900" b="1" i="1" dirty="0">
                <a:solidFill>
                  <a:schemeClr val="tx1"/>
                </a:solidFill>
              </a:rPr>
              <a:t>heb</a:t>
            </a:r>
            <a:r>
              <a:rPr lang="en-US" sz="1900" i="1" dirty="0">
                <a:solidFill>
                  <a:schemeClr val="tx1"/>
                </a:solidFill>
              </a:rPr>
              <a:t> ik ook niet…</a:t>
            </a:r>
            <a:endParaRPr lang="en-US" sz="1900" dirty="0"/>
          </a:p>
        </p:txBody>
      </p:sp>
      <p:sp>
        <p:nvSpPr>
          <p:cNvPr id="17" name="Shape 12"/>
          <p:cNvSpPr/>
          <p:nvPr/>
        </p:nvSpPr>
        <p:spPr>
          <a:xfrm>
            <a:off x="4779264" y="4617720"/>
            <a:ext cx="2630424" cy="640080"/>
          </a:xfrm>
          <a:prstGeom prst="roundRect">
            <a:avLst>
              <a:gd name="adj" fmla="val 17143"/>
            </a:avLst>
          </a:prstGeom>
          <a:solidFill>
            <a:srgbClr val="FFFFFF"/>
          </a:solidFill>
          <a:ln w="22225">
            <a:solidFill>
              <a:srgbClr val="D9700F"/>
            </a:solidFill>
            <a:prstDash val="dash"/>
          </a:ln>
        </p:spPr>
      </p:sp>
      <p:sp>
        <p:nvSpPr>
          <p:cNvPr id="18" name="Text 13"/>
          <p:cNvSpPr txBox="1"/>
          <p:nvPr/>
        </p:nvSpPr>
        <p:spPr>
          <a:xfrm>
            <a:off x="4779264" y="4617720"/>
            <a:ext cx="2630424" cy="640080"/>
          </a:xfrm>
          <a:prstGeom prst="rect">
            <a:avLst/>
          </a:prstGeom>
          <a:noFill/>
          <a:ln/>
        </p:spPr>
        <p:txBody>
          <a:bodyPr wrap="square" lIns="0" tIns="0" rIns="0" bIns="0" rtlCol="0" anchor="ctr"/>
          <a:lstStyle/>
          <a:p>
            <a:pPr algn="ctr" indent="0" marL="0">
              <a:buNone/>
            </a:pPr>
            <a:r>
              <a:rPr lang="en-US" sz="2200" b="1" dirty="0">
                <a:solidFill>
                  <a:schemeClr val="accent1"/>
                </a:solidFill>
              </a:rPr>
              <a:t>… ?</a:t>
            </a:r>
            <a:endParaRPr lang="en-US" sz="2200" dirty="0"/>
          </a:p>
        </p:txBody>
      </p:sp>
      <p:sp>
        <p:nvSpPr>
          <p:cNvPr id="19" name="Shape 14"/>
          <p:cNvSpPr/>
          <p:nvPr/>
        </p:nvSpPr>
        <p:spPr>
          <a:xfrm>
            <a:off x="8095488" y="1508760"/>
            <a:ext cx="3544824" cy="3977640"/>
          </a:xfrm>
          <a:prstGeom prst="roundRect">
            <a:avLst>
              <a:gd name="adj" fmla="val 3095"/>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pic>
        <p:nvPicPr>
          <p:cNvPr id="20" name="Image 2" descr="person swimming">    </p:cNvPr>
          <p:cNvPicPr>
            <a:picLocks noChangeAspect="1"/>
          </p:cNvPicPr>
          <p:nvPr/>
        </p:nvPicPr>
        <p:blipFill>
          <a:blip r:embed="rId3"/>
          <a:stretch>
            <a:fillRect/>
          </a:stretch>
        </p:blipFill>
        <p:spPr>
          <a:xfrm>
            <a:off x="9273540" y="1691640"/>
            <a:ext cx="1188720" cy="1188720"/>
          </a:xfrm>
          <a:prstGeom prst="rect">
            <a:avLst/>
          </a:prstGeom>
        </p:spPr>
      </p:pic>
      <p:sp>
        <p:nvSpPr>
          <p:cNvPr id="21" name="Text 15"/>
          <p:cNvSpPr txBox="1"/>
          <p:nvPr/>
        </p:nvSpPr>
        <p:spPr>
          <a:xfrm>
            <a:off x="8278368" y="3017520"/>
            <a:ext cx="3179064" cy="548640"/>
          </a:xfrm>
          <a:prstGeom prst="rect">
            <a:avLst/>
          </a:prstGeom>
          <a:noFill/>
          <a:ln/>
        </p:spPr>
        <p:txBody>
          <a:bodyPr wrap="square" lIns="0" tIns="0" rIns="0" bIns="0" rtlCol="0" anchor="ctr"/>
          <a:lstStyle/>
          <a:p>
            <a:pPr algn="ctr" indent="0" marL="0">
              <a:buNone/>
            </a:pPr>
            <a:r>
              <a:rPr lang="en-US" sz="1900" i="1" dirty="0">
                <a:solidFill>
                  <a:schemeClr val="tx1"/>
                </a:solidFill>
              </a:rPr>
              <a:t>Vandaag </a:t>
            </a:r>
            <a:r>
              <a:rPr lang="en-US" sz="1900" b="1" i="1" dirty="0">
                <a:solidFill>
                  <a:schemeClr val="tx1"/>
                </a:solidFill>
              </a:rPr>
              <a:t>ga</a:t>
            </a:r>
            <a:r>
              <a:rPr lang="en-US" sz="1900" i="1" dirty="0">
                <a:solidFill>
                  <a:schemeClr val="tx1"/>
                </a:solidFill>
              </a:rPr>
              <a:t> ik zwemmen.</a:t>
            </a:r>
            <a:endParaRPr lang="en-US" sz="1900" dirty="0"/>
          </a:p>
        </p:txBody>
      </p:sp>
      <p:sp>
        <p:nvSpPr>
          <p:cNvPr id="22" name="Text 16"/>
          <p:cNvSpPr txBox="1"/>
          <p:nvPr/>
        </p:nvSpPr>
        <p:spPr>
          <a:xfrm>
            <a:off x="8095488" y="3566160"/>
            <a:ext cx="3544824" cy="411480"/>
          </a:xfrm>
          <a:prstGeom prst="rect">
            <a:avLst/>
          </a:prstGeom>
          <a:noFill/>
          <a:ln/>
        </p:spPr>
        <p:txBody>
          <a:bodyPr wrap="square" lIns="0" tIns="0" rIns="0" bIns="0" rtlCol="0" anchor="ctr"/>
          <a:lstStyle/>
          <a:p>
            <a:pPr algn="ctr" indent="0" marL="0">
              <a:buNone/>
            </a:pPr>
            <a:r>
              <a:rPr lang="en-US" sz="2000" dirty="0">
                <a:solidFill>
                  <a:schemeClr val="accent5"/>
                </a:solidFill>
              </a:rPr>
              <a:t>⬇</a:t>
            </a:r>
            <a:endParaRPr lang="en-US" sz="2000" dirty="0"/>
          </a:p>
        </p:txBody>
      </p:sp>
      <p:sp>
        <p:nvSpPr>
          <p:cNvPr id="23" name="Text 17"/>
          <p:cNvSpPr txBox="1"/>
          <p:nvPr/>
        </p:nvSpPr>
        <p:spPr>
          <a:xfrm>
            <a:off x="8278368" y="3977640"/>
            <a:ext cx="3179064" cy="502920"/>
          </a:xfrm>
          <a:prstGeom prst="rect">
            <a:avLst/>
          </a:prstGeom>
          <a:noFill/>
          <a:ln/>
        </p:spPr>
        <p:txBody>
          <a:bodyPr wrap="square" lIns="0" tIns="0" rIns="0" bIns="0" rtlCol="0" anchor="ctr"/>
          <a:lstStyle/>
          <a:p>
            <a:pPr algn="ctr" indent="0" marL="0">
              <a:buNone/>
            </a:pPr>
            <a:r>
              <a:rPr lang="en-US" sz="1900" i="1" dirty="0">
                <a:solidFill>
                  <a:schemeClr val="tx1"/>
                </a:solidFill>
              </a:rPr>
              <a:t>Gisteren </a:t>
            </a:r>
            <a:r>
              <a:rPr lang="en-US" sz="1900" b="1" i="1" dirty="0">
                <a:solidFill>
                  <a:schemeClr val="tx1"/>
                </a:solidFill>
              </a:rPr>
              <a:t>ben</a:t>
            </a:r>
            <a:r>
              <a:rPr lang="en-US" sz="1900" i="1" dirty="0">
                <a:solidFill>
                  <a:schemeClr val="tx1"/>
                </a:solidFill>
              </a:rPr>
              <a:t> ik ook…</a:t>
            </a:r>
            <a:endParaRPr lang="en-US" sz="1900" dirty="0"/>
          </a:p>
        </p:txBody>
      </p:sp>
      <p:sp>
        <p:nvSpPr>
          <p:cNvPr id="24" name="Shape 18"/>
          <p:cNvSpPr/>
          <p:nvPr/>
        </p:nvSpPr>
        <p:spPr>
          <a:xfrm>
            <a:off x="8552688" y="4617720"/>
            <a:ext cx="2630424" cy="640080"/>
          </a:xfrm>
          <a:prstGeom prst="roundRect">
            <a:avLst>
              <a:gd name="adj" fmla="val 17143"/>
            </a:avLst>
          </a:prstGeom>
          <a:solidFill>
            <a:srgbClr val="FFFFFF"/>
          </a:solidFill>
          <a:ln w="22225">
            <a:solidFill>
              <a:srgbClr val="D9700F"/>
            </a:solidFill>
            <a:prstDash val="dash"/>
          </a:ln>
        </p:spPr>
      </p:sp>
      <p:sp>
        <p:nvSpPr>
          <p:cNvPr id="25" name="Text 19"/>
          <p:cNvSpPr txBox="1"/>
          <p:nvPr/>
        </p:nvSpPr>
        <p:spPr>
          <a:xfrm>
            <a:off x="8552688" y="4617720"/>
            <a:ext cx="2630424" cy="640080"/>
          </a:xfrm>
          <a:prstGeom prst="rect">
            <a:avLst/>
          </a:prstGeom>
          <a:noFill/>
          <a:ln/>
        </p:spPr>
        <p:txBody>
          <a:bodyPr wrap="square" lIns="0" tIns="0" rIns="0" bIns="0" rtlCol="0" anchor="ctr"/>
          <a:lstStyle/>
          <a:p>
            <a:pPr algn="ctr" indent="0" marL="0">
              <a:buNone/>
            </a:pPr>
            <a:r>
              <a:rPr lang="en-US" sz="2200" b="1" dirty="0">
                <a:solidFill>
                  <a:schemeClr val="accent1"/>
                </a:solidFill>
              </a:rPr>
              <a:t>… ?</a:t>
            </a:r>
            <a:endParaRPr lang="en-US" sz="2200" dirty="0"/>
          </a:p>
        </p:txBody>
      </p:sp>
      <p:sp>
        <p:nvSpPr>
          <p:cNvPr id="26" name="Shape 20"/>
          <p:cNvSpPr/>
          <p:nvPr/>
        </p:nvSpPr>
        <p:spPr>
          <a:xfrm>
            <a:off x="548640" y="5623560"/>
            <a:ext cx="11091672" cy="594360"/>
          </a:xfrm>
          <a:prstGeom prst="roundRect">
            <a:avLst>
              <a:gd name="adj" fmla="val 12308"/>
            </a:avLst>
          </a:prstGeom>
          <a:solidFill>
            <a:schemeClr val="accent1">
              <a:alpha val="15000"/>
            </a:schemeClr>
          </a:solidFill>
          <a:ln w="15875">
            <a:solidFill>
              <a:srgbClr val="D9700F"/>
            </a:solidFill>
            <a:prstDash val="solid"/>
          </a:ln>
        </p:spPr>
      </p:sp>
      <p:pic>
        <p:nvPicPr>
          <p:cNvPr id="27" name="Image 3" descr="thinking face">    </p:cNvPr>
          <p:cNvPicPr>
            <a:picLocks noChangeAspect="1"/>
          </p:cNvPicPr>
          <p:nvPr/>
        </p:nvPicPr>
        <p:blipFill>
          <a:blip r:embed="rId4"/>
          <a:stretch>
            <a:fillRect/>
          </a:stretch>
        </p:blipFill>
        <p:spPr>
          <a:xfrm>
            <a:off x="685800" y="5669280"/>
            <a:ext cx="502920" cy="502920"/>
          </a:xfrm>
          <a:prstGeom prst="rect">
            <a:avLst/>
          </a:prstGeom>
        </p:spPr>
      </p:pic>
      <p:sp>
        <p:nvSpPr>
          <p:cNvPr id="28" name="Text 21"/>
          <p:cNvSpPr txBox="1"/>
          <p:nvPr/>
        </p:nvSpPr>
        <p:spPr>
          <a:xfrm>
            <a:off x="1325880" y="5623560"/>
            <a:ext cx="10149840" cy="594360"/>
          </a:xfrm>
          <a:prstGeom prst="rect">
            <a:avLst/>
          </a:prstGeom>
          <a:noFill/>
          <a:ln/>
        </p:spPr>
        <p:txBody>
          <a:bodyPr wrap="square" lIns="0" tIns="0" rIns="0" bIns="0" rtlCol="0" anchor="ctr"/>
          <a:lstStyle/>
          <a:p>
            <a:pPr algn="l" indent="0" marL="0">
              <a:buNone/>
            </a:pPr>
            <a:r>
              <a:rPr lang="en-US" sz="1700" dirty="0">
                <a:solidFill>
                  <a:schemeClr val="tx1"/>
                </a:solidFill>
              </a:rPr>
              <a:t>En français : </a:t>
            </a:r>
            <a:r>
              <a:rPr lang="en-US" sz="1700" i="1" dirty="0">
                <a:solidFill>
                  <a:schemeClr val="tx1"/>
                </a:solidFill>
              </a:rPr>
              <a:t>j’ai </a:t>
            </a:r>
            <a:r>
              <a:rPr lang="en-US" sz="1700" b="1" i="1" dirty="0">
                <a:solidFill>
                  <a:schemeClr val="tx1"/>
                </a:solidFill>
              </a:rPr>
              <a:t>dû</a:t>
            </a:r>
            <a:r>
              <a:rPr lang="en-US" sz="1700" i="1" dirty="0">
                <a:solidFill>
                  <a:schemeClr val="tx1"/>
                </a:solidFill>
              </a:rPr>
              <a:t> travailler</a:t>
            </a:r>
            <a:r>
              <a:rPr lang="en-US" sz="1700" dirty="0">
                <a:solidFill>
                  <a:schemeClr val="tx1"/>
                </a:solidFill>
              </a:rPr>
              <a:t> (un participe). Et en néerlandais : </a:t>
            </a:r>
            <a:r>
              <a:rPr lang="en-US" sz="1700" i="1" dirty="0">
                <a:solidFill>
                  <a:schemeClr val="tx1"/>
                </a:solidFill>
              </a:rPr>
              <a:t>ik heb </a:t>
            </a:r>
            <a:r>
              <a:rPr lang="en-US" sz="1700" b="1" i="1" dirty="0">
                <a:solidFill>
                  <a:schemeClr val="tx1"/>
                </a:solidFill>
              </a:rPr>
              <a:t>gemoeten</a:t>
            </a:r>
            <a:r>
              <a:rPr lang="en-US" sz="1700" i="1" dirty="0">
                <a:solidFill>
                  <a:schemeClr val="tx1"/>
                </a:solidFill>
              </a:rPr>
              <a:t> werken</a:t>
            </a: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L’infinitif remplace le participe</a:t>
            </a:r>
            <a:endParaRPr lang="en-US" sz="3000" dirty="0"/>
          </a:p>
        </p:txBody>
      </p:sp>
      <p:sp>
        <p:nvSpPr>
          <p:cNvPr id="3" name="tag"/>
          <p:cNvSpPr/>
          <p:nvPr/>
        </p:nvSpPr>
        <p:spPr>
          <a:xfrm>
            <a:off x="548640" y="237744"/>
            <a:ext cx="155265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LE PRINCIPE</a:t>
            </a:r>
            <a:endParaRPr lang="en-US" sz="1200" dirty="0"/>
          </a:p>
        </p:txBody>
      </p:sp>
      <p:sp>
        <p:nvSpPr>
          <p:cNvPr id="5" name="Shape 2"/>
          <p:cNvSpPr/>
          <p:nvPr/>
        </p:nvSpPr>
        <p:spPr>
          <a:xfrm>
            <a:off x="548640" y="1719072"/>
            <a:ext cx="182880" cy="362102"/>
          </a:xfrm>
          <a:prstGeom prst="rect">
            <a:avLst/>
          </a:prstGeom>
          <a:solidFill>
            <a:srgbClr val="1F4FA3"/>
          </a:solidFill>
          <a:ln w="12700">
            <a:solidFill>
              <a:srgbClr val="FFFFFF">
                <a:alpha val="0"/>
              </a:srgbClr>
            </a:solidFill>
            <a:prstDash val="solid"/>
          </a:ln>
        </p:spPr>
      </p:sp>
      <p:sp>
        <p:nvSpPr>
          <p:cNvPr id="6" name="Shape 3"/>
          <p:cNvSpPr/>
          <p:nvPr/>
        </p:nvSpPr>
        <p:spPr>
          <a:xfrm>
            <a:off x="731520" y="1719072"/>
            <a:ext cx="182880" cy="362102"/>
          </a:xfrm>
          <a:prstGeom prst="rect">
            <a:avLst/>
          </a:prstGeom>
          <a:solidFill>
            <a:srgbClr val="FFFFFF"/>
          </a:solidFill>
          <a:ln w="12700">
            <a:solidFill>
              <a:srgbClr val="FFFFFF">
                <a:alpha val="0"/>
              </a:srgbClr>
            </a:solidFill>
            <a:prstDash val="solid"/>
          </a:ln>
        </p:spPr>
      </p:sp>
      <p:sp>
        <p:nvSpPr>
          <p:cNvPr id="7" name="Shape 4"/>
          <p:cNvSpPr/>
          <p:nvPr/>
        </p:nvSpPr>
        <p:spPr>
          <a:xfrm>
            <a:off x="914400" y="1719072"/>
            <a:ext cx="182880" cy="362102"/>
          </a:xfrm>
          <a:prstGeom prst="rect">
            <a:avLst/>
          </a:prstGeom>
          <a:solidFill>
            <a:srgbClr val="E2232A"/>
          </a:solidFill>
          <a:ln w="12700">
            <a:solidFill>
              <a:srgbClr val="FFFFFF">
                <a:alpha val="0"/>
              </a:srgbClr>
            </a:solidFill>
            <a:prstDash val="solid"/>
          </a:ln>
        </p:spPr>
      </p:sp>
      <p:sp>
        <p:nvSpPr>
          <p:cNvPr id="8" name="Shape 5"/>
          <p:cNvSpPr/>
          <p:nvPr/>
        </p:nvSpPr>
        <p:spPr>
          <a:xfrm>
            <a:off x="548640" y="1719072"/>
            <a:ext cx="548640" cy="362102"/>
          </a:xfrm>
          <a:prstGeom prst="rect">
            <a:avLst/>
          </a:prstGeom>
          <a:noFill/>
          <a:ln w="9525">
            <a:solidFill>
              <a:srgbClr val="B8C2CF"/>
            </a:solidFill>
            <a:prstDash val="solid"/>
          </a:ln>
        </p:spPr>
      </p:sp>
      <p:sp>
        <p:nvSpPr>
          <p:cNvPr id="9" name="Shape 6"/>
          <p:cNvSpPr/>
          <p:nvPr/>
        </p:nvSpPr>
        <p:spPr>
          <a:xfrm>
            <a:off x="1280160" y="1600200"/>
            <a:ext cx="1167740" cy="603504"/>
          </a:xfrm>
          <a:prstGeom prst="roundRect">
            <a:avLst>
              <a:gd name="adj" fmla="val 15152"/>
            </a:avLst>
          </a:prstGeom>
          <a:solidFill>
            <a:schemeClr val="tx2"/>
          </a:solidFill>
          <a:ln w="12700">
            <a:solidFill>
              <a:srgbClr val="FFFFFF">
                <a:alpha val="0"/>
              </a:srgbClr>
            </a:solidFill>
            <a:prstDash val="solid"/>
          </a:ln>
        </p:spPr>
      </p:sp>
      <p:sp>
        <p:nvSpPr>
          <p:cNvPr id="10" name="Text 7"/>
          <p:cNvSpPr txBox="1"/>
          <p:nvPr/>
        </p:nvSpPr>
        <p:spPr>
          <a:xfrm>
            <a:off x="1280160" y="1600200"/>
            <a:ext cx="1167740" cy="603504"/>
          </a:xfrm>
          <a:prstGeom prst="rect">
            <a:avLst/>
          </a:prstGeom>
          <a:noFill/>
          <a:ln/>
        </p:spPr>
        <p:txBody>
          <a:bodyPr wrap="square" lIns="0" tIns="0" rIns="0" bIns="0" rtlCol="0" anchor="ctr"/>
          <a:lstStyle/>
          <a:p>
            <a:pPr algn="ctr" indent="0" marL="0">
              <a:buNone/>
            </a:pPr>
            <a:r>
              <a:rPr lang="en-US" sz="2400" b="1" dirty="0">
                <a:solidFill>
                  <a:schemeClr val="bg1"/>
                </a:solidFill>
              </a:rPr>
              <a:t>J’ai</a:t>
            </a:r>
            <a:endParaRPr lang="en-US" sz="2400" dirty="0"/>
          </a:p>
        </p:txBody>
      </p:sp>
      <p:sp>
        <p:nvSpPr>
          <p:cNvPr id="11" name="Shape 8"/>
          <p:cNvSpPr/>
          <p:nvPr/>
        </p:nvSpPr>
        <p:spPr>
          <a:xfrm>
            <a:off x="2530196" y="1600200"/>
            <a:ext cx="784306" cy="603504"/>
          </a:xfrm>
          <a:prstGeom prst="roundRect">
            <a:avLst>
              <a:gd name="adj" fmla="val 15152"/>
            </a:avLst>
          </a:prstGeom>
          <a:solidFill>
            <a:schemeClr val="accent1"/>
          </a:solidFill>
          <a:ln w="12700">
            <a:solidFill>
              <a:srgbClr val="FFFFFF">
                <a:alpha val="0"/>
              </a:srgbClr>
            </a:solidFill>
            <a:prstDash val="solid"/>
          </a:ln>
        </p:spPr>
      </p:sp>
      <p:sp>
        <p:nvSpPr>
          <p:cNvPr id="12" name="Text 9"/>
          <p:cNvSpPr txBox="1"/>
          <p:nvPr/>
        </p:nvSpPr>
        <p:spPr>
          <a:xfrm>
            <a:off x="2530196" y="1600200"/>
            <a:ext cx="784306" cy="603504"/>
          </a:xfrm>
          <a:prstGeom prst="rect">
            <a:avLst/>
          </a:prstGeom>
          <a:noFill/>
          <a:ln/>
        </p:spPr>
        <p:txBody>
          <a:bodyPr wrap="square" lIns="0" tIns="0" rIns="0" bIns="0" rtlCol="0" anchor="ctr"/>
          <a:lstStyle/>
          <a:p>
            <a:pPr algn="ctr" indent="0" marL="0">
              <a:buNone/>
            </a:pPr>
            <a:r>
              <a:rPr lang="en-US" sz="2400" b="1" dirty="0">
                <a:solidFill>
                  <a:schemeClr val="bg1"/>
                </a:solidFill>
              </a:rPr>
              <a:t>dû</a:t>
            </a:r>
            <a:endParaRPr lang="en-US" sz="2400" dirty="0"/>
          </a:p>
        </p:txBody>
      </p:sp>
      <p:sp>
        <p:nvSpPr>
          <p:cNvPr id="13" name="Shape 10"/>
          <p:cNvSpPr/>
          <p:nvPr/>
        </p:nvSpPr>
        <p:spPr>
          <a:xfrm>
            <a:off x="3396798" y="1600200"/>
            <a:ext cx="2509757" cy="603504"/>
          </a:xfrm>
          <a:prstGeom prst="roundRect">
            <a:avLst>
              <a:gd name="adj" fmla="val 15152"/>
            </a:avLst>
          </a:prstGeom>
          <a:solidFill>
            <a:srgbClr val="FBEDEB"/>
          </a:solidFill>
          <a:ln w="25400">
            <a:solidFill>
              <a:srgbClr val="B83227"/>
            </a:solidFill>
            <a:prstDash val="solid"/>
          </a:ln>
        </p:spPr>
      </p:sp>
      <p:sp>
        <p:nvSpPr>
          <p:cNvPr id="14" name="Text 11"/>
          <p:cNvSpPr txBox="1"/>
          <p:nvPr/>
        </p:nvSpPr>
        <p:spPr>
          <a:xfrm>
            <a:off x="3396798" y="1600200"/>
            <a:ext cx="2509757" cy="603504"/>
          </a:xfrm>
          <a:prstGeom prst="rect">
            <a:avLst/>
          </a:prstGeom>
          <a:noFill/>
          <a:ln/>
        </p:spPr>
        <p:txBody>
          <a:bodyPr wrap="square" lIns="0" tIns="0" rIns="0" bIns="0" rtlCol="0" anchor="ctr"/>
          <a:lstStyle/>
          <a:p>
            <a:pPr algn="ctr" indent="0" marL="0">
              <a:buNone/>
            </a:pPr>
            <a:r>
              <a:rPr lang="en-US" sz="2400" b="1" dirty="0">
                <a:solidFill>
                  <a:schemeClr val="accent6"/>
                </a:solidFill>
              </a:rPr>
              <a:t>travailler.</a:t>
            </a:r>
            <a:endParaRPr lang="en-US" sz="2400" dirty="0"/>
          </a:p>
        </p:txBody>
      </p:sp>
      <p:sp>
        <p:nvSpPr>
          <p:cNvPr id="15" name="Text 12"/>
          <p:cNvSpPr txBox="1"/>
          <p:nvPr/>
        </p:nvSpPr>
        <p:spPr>
          <a:xfrm>
            <a:off x="6089436" y="1600200"/>
            <a:ext cx="2103120" cy="603504"/>
          </a:xfrm>
          <a:prstGeom prst="rect">
            <a:avLst/>
          </a:prstGeom>
          <a:noFill/>
          <a:ln/>
        </p:spPr>
        <p:txBody>
          <a:bodyPr wrap="square" lIns="0" tIns="0" rIns="0" bIns="0" rtlCol="0" anchor="ctr"/>
          <a:lstStyle/>
          <a:p>
            <a:pPr algn="l" indent="0" marL="0">
              <a:buNone/>
            </a:pPr>
            <a:r>
              <a:rPr lang="en-US" sz="1600" dirty="0">
                <a:solidFill>
                  <a:schemeClr val="accent5"/>
                </a:solidFill>
              </a:rPr>
              <a:t>← un participe</a:t>
            </a:r>
            <a:endParaRPr lang="en-US" sz="1600" dirty="0"/>
          </a:p>
        </p:txBody>
      </p:sp>
      <p:sp>
        <p:nvSpPr>
          <p:cNvPr id="16" name="Shape 13"/>
          <p:cNvSpPr/>
          <p:nvPr/>
        </p:nvSpPr>
        <p:spPr>
          <a:xfrm>
            <a:off x="548640" y="2816352"/>
            <a:ext cx="548640" cy="120701"/>
          </a:xfrm>
          <a:prstGeom prst="rect">
            <a:avLst/>
          </a:prstGeom>
          <a:solidFill>
            <a:srgbClr val="B32033"/>
          </a:solidFill>
          <a:ln w="12700">
            <a:solidFill>
              <a:srgbClr val="FFFFFF">
                <a:alpha val="0"/>
              </a:srgbClr>
            </a:solidFill>
            <a:prstDash val="solid"/>
          </a:ln>
        </p:spPr>
      </p:sp>
      <p:sp>
        <p:nvSpPr>
          <p:cNvPr id="17" name="Shape 14"/>
          <p:cNvSpPr/>
          <p:nvPr/>
        </p:nvSpPr>
        <p:spPr>
          <a:xfrm>
            <a:off x="548640" y="2937053"/>
            <a:ext cx="548640" cy="120701"/>
          </a:xfrm>
          <a:prstGeom prst="rect">
            <a:avLst/>
          </a:prstGeom>
          <a:solidFill>
            <a:srgbClr val="FFFFFF"/>
          </a:solidFill>
          <a:ln w="12700">
            <a:solidFill>
              <a:srgbClr val="FFFFFF">
                <a:alpha val="0"/>
              </a:srgbClr>
            </a:solidFill>
            <a:prstDash val="solid"/>
          </a:ln>
        </p:spPr>
      </p:sp>
      <p:sp>
        <p:nvSpPr>
          <p:cNvPr id="18" name="Shape 15"/>
          <p:cNvSpPr/>
          <p:nvPr/>
        </p:nvSpPr>
        <p:spPr>
          <a:xfrm>
            <a:off x="548640" y="3057754"/>
            <a:ext cx="548640" cy="120701"/>
          </a:xfrm>
          <a:prstGeom prst="rect">
            <a:avLst/>
          </a:prstGeom>
          <a:solidFill>
            <a:srgbClr val="22408C"/>
          </a:solidFill>
          <a:ln w="12700">
            <a:solidFill>
              <a:srgbClr val="FFFFFF">
                <a:alpha val="0"/>
              </a:srgbClr>
            </a:solidFill>
            <a:prstDash val="solid"/>
          </a:ln>
        </p:spPr>
      </p:sp>
      <p:sp>
        <p:nvSpPr>
          <p:cNvPr id="19" name="Shape 16"/>
          <p:cNvSpPr/>
          <p:nvPr/>
        </p:nvSpPr>
        <p:spPr>
          <a:xfrm>
            <a:off x="548640" y="2816352"/>
            <a:ext cx="548640" cy="362102"/>
          </a:xfrm>
          <a:prstGeom prst="rect">
            <a:avLst/>
          </a:prstGeom>
          <a:noFill/>
          <a:ln w="9525">
            <a:solidFill>
              <a:srgbClr val="B8C2CF"/>
            </a:solidFill>
            <a:prstDash val="solid"/>
          </a:ln>
        </p:spPr>
      </p:sp>
      <p:sp>
        <p:nvSpPr>
          <p:cNvPr id="20" name="Shape 17"/>
          <p:cNvSpPr/>
          <p:nvPr/>
        </p:nvSpPr>
        <p:spPr>
          <a:xfrm>
            <a:off x="1280160" y="2697480"/>
            <a:ext cx="634959" cy="603504"/>
          </a:xfrm>
          <a:prstGeom prst="roundRect">
            <a:avLst>
              <a:gd name="adj" fmla="val 15152"/>
            </a:avLst>
          </a:prstGeom>
          <a:solidFill>
            <a:schemeClr val="bg1"/>
          </a:solidFill>
          <a:ln w="15875">
            <a:solidFill>
              <a:srgbClr val="D5DCE6"/>
            </a:solidFill>
            <a:prstDash val="solid"/>
          </a:ln>
        </p:spPr>
      </p:sp>
      <p:sp>
        <p:nvSpPr>
          <p:cNvPr id="21" name="Text 18"/>
          <p:cNvSpPr txBox="1"/>
          <p:nvPr/>
        </p:nvSpPr>
        <p:spPr>
          <a:xfrm>
            <a:off x="1280160" y="2697480"/>
            <a:ext cx="634959" cy="603504"/>
          </a:xfrm>
          <a:prstGeom prst="rect">
            <a:avLst/>
          </a:prstGeom>
          <a:noFill/>
          <a:ln/>
        </p:spPr>
        <p:txBody>
          <a:bodyPr wrap="square" lIns="0" tIns="0" rIns="0" bIns="0" rtlCol="0" anchor="ctr"/>
          <a:lstStyle/>
          <a:p>
            <a:pPr algn="ctr" indent="0" marL="0">
              <a:buNone/>
            </a:pPr>
            <a:r>
              <a:rPr lang="en-US" sz="2400" dirty="0">
                <a:solidFill>
                  <a:schemeClr val="tx1"/>
                </a:solidFill>
              </a:rPr>
              <a:t>Ik</a:t>
            </a:r>
            <a:endParaRPr lang="en-US" sz="2400" dirty="0"/>
          </a:p>
        </p:txBody>
      </p:sp>
      <p:sp>
        <p:nvSpPr>
          <p:cNvPr id="22" name="Shape 19"/>
          <p:cNvSpPr/>
          <p:nvPr/>
        </p:nvSpPr>
        <p:spPr>
          <a:xfrm>
            <a:off x="1997415" y="2697480"/>
            <a:ext cx="976023" cy="603504"/>
          </a:xfrm>
          <a:prstGeom prst="roundRect">
            <a:avLst>
              <a:gd name="adj" fmla="val 15152"/>
            </a:avLst>
          </a:prstGeom>
          <a:solidFill>
            <a:schemeClr val="tx2"/>
          </a:solidFill>
          <a:ln w="12700">
            <a:solidFill>
              <a:srgbClr val="FFFFFF">
                <a:alpha val="0"/>
              </a:srgbClr>
            </a:solidFill>
            <a:prstDash val="solid"/>
          </a:ln>
        </p:spPr>
      </p:sp>
      <p:sp>
        <p:nvSpPr>
          <p:cNvPr id="23" name="Text 20"/>
          <p:cNvSpPr txBox="1"/>
          <p:nvPr/>
        </p:nvSpPr>
        <p:spPr>
          <a:xfrm>
            <a:off x="1997415" y="2697480"/>
            <a:ext cx="976023" cy="603504"/>
          </a:xfrm>
          <a:prstGeom prst="rect">
            <a:avLst/>
          </a:prstGeom>
          <a:noFill/>
          <a:ln/>
        </p:spPr>
        <p:txBody>
          <a:bodyPr wrap="square" lIns="0" tIns="0" rIns="0" bIns="0" rtlCol="0" anchor="ctr"/>
          <a:lstStyle/>
          <a:p>
            <a:pPr algn="ctr" indent="0" marL="0">
              <a:buNone/>
            </a:pPr>
            <a:r>
              <a:rPr lang="en-US" sz="2400" b="1" dirty="0">
                <a:solidFill>
                  <a:schemeClr val="bg1"/>
                </a:solidFill>
              </a:rPr>
              <a:t>heb</a:t>
            </a:r>
            <a:endParaRPr lang="en-US" sz="2400" dirty="0"/>
          </a:p>
        </p:txBody>
      </p:sp>
      <p:sp>
        <p:nvSpPr>
          <p:cNvPr id="24" name="Shape 21"/>
          <p:cNvSpPr/>
          <p:nvPr/>
        </p:nvSpPr>
        <p:spPr>
          <a:xfrm>
            <a:off x="3055735" y="2697480"/>
            <a:ext cx="1662013" cy="603504"/>
          </a:xfrm>
          <a:prstGeom prst="roundRect">
            <a:avLst>
              <a:gd name="adj" fmla="val 15152"/>
            </a:avLst>
          </a:prstGeom>
          <a:solidFill>
            <a:srgbClr val="FFFFFF"/>
          </a:solidFill>
          <a:ln w="15875">
            <a:solidFill>
              <a:srgbClr val="4A5A70"/>
            </a:solidFill>
            <a:prstDash val="dash"/>
          </a:ln>
        </p:spPr>
      </p:sp>
      <p:sp>
        <p:nvSpPr>
          <p:cNvPr id="25" name="Text 22"/>
          <p:cNvSpPr txBox="1"/>
          <p:nvPr/>
        </p:nvSpPr>
        <p:spPr>
          <a:xfrm>
            <a:off x="3055735" y="2697480"/>
            <a:ext cx="1662013" cy="603504"/>
          </a:xfrm>
          <a:prstGeom prst="rect">
            <a:avLst/>
          </a:prstGeom>
          <a:noFill/>
          <a:ln/>
        </p:spPr>
        <p:txBody>
          <a:bodyPr wrap="square" lIns="0" tIns="0" rIns="0" bIns="0" rtlCol="0" anchor="ctr"/>
          <a:lstStyle/>
          <a:p>
            <a:pPr algn="ctr" indent="0" marL="0">
              <a:buNone/>
            </a:pPr>
            <a:r>
              <a:rPr lang="en-US" sz="2400" strike="sngStrike" dirty="0">
                <a:solidFill>
                  <a:schemeClr val="accent6"/>
                </a:solidFill>
              </a:rPr>
              <a:t>gemoeten</a:t>
            </a:r>
            <a:endParaRPr lang="en-US" sz="2400" dirty="0"/>
          </a:p>
        </p:txBody>
      </p:sp>
      <p:sp>
        <p:nvSpPr>
          <p:cNvPr id="26" name="Shape 23"/>
          <p:cNvSpPr/>
          <p:nvPr/>
        </p:nvSpPr>
        <p:spPr>
          <a:xfrm>
            <a:off x="4800044" y="2697480"/>
            <a:ext cx="1742890" cy="603504"/>
          </a:xfrm>
          <a:prstGeom prst="roundRect">
            <a:avLst>
              <a:gd name="adj" fmla="val 15152"/>
            </a:avLst>
          </a:prstGeom>
          <a:solidFill>
            <a:srgbClr val="FBEDEB"/>
          </a:solidFill>
          <a:ln w="25400">
            <a:solidFill>
              <a:srgbClr val="B83227"/>
            </a:solidFill>
            <a:prstDash val="solid"/>
          </a:ln>
        </p:spPr>
      </p:sp>
      <p:sp>
        <p:nvSpPr>
          <p:cNvPr id="27" name="Text 24"/>
          <p:cNvSpPr txBox="1"/>
          <p:nvPr/>
        </p:nvSpPr>
        <p:spPr>
          <a:xfrm>
            <a:off x="4800044" y="2697480"/>
            <a:ext cx="1742890" cy="603504"/>
          </a:xfrm>
          <a:prstGeom prst="rect">
            <a:avLst/>
          </a:prstGeom>
          <a:noFill/>
          <a:ln/>
        </p:spPr>
        <p:txBody>
          <a:bodyPr wrap="square" lIns="0" tIns="0" rIns="0" bIns="0" rtlCol="0" anchor="ctr"/>
          <a:lstStyle/>
          <a:p>
            <a:pPr algn="ctr" indent="0" marL="0">
              <a:buNone/>
            </a:pPr>
            <a:r>
              <a:rPr lang="en-US" sz="2400" b="1" dirty="0">
                <a:solidFill>
                  <a:schemeClr val="accent6"/>
                </a:solidFill>
              </a:rPr>
              <a:t>werken.</a:t>
            </a:r>
            <a:endParaRPr lang="en-US" sz="2400" dirty="0"/>
          </a:p>
        </p:txBody>
      </p:sp>
      <p:sp>
        <p:nvSpPr>
          <p:cNvPr id="28" name="Text 25"/>
          <p:cNvSpPr txBox="1"/>
          <p:nvPr/>
        </p:nvSpPr>
        <p:spPr>
          <a:xfrm>
            <a:off x="6680094" y="2697480"/>
            <a:ext cx="548640" cy="603504"/>
          </a:xfrm>
          <a:prstGeom prst="rect">
            <a:avLst/>
          </a:prstGeom>
          <a:noFill/>
          <a:ln/>
        </p:spPr>
        <p:txBody>
          <a:bodyPr wrap="square" lIns="0" tIns="0" rIns="0" bIns="0" rtlCol="0" anchor="ctr"/>
          <a:lstStyle/>
          <a:p>
            <a:pPr algn="l" indent="0" marL="0">
              <a:buNone/>
            </a:pPr>
            <a:r>
              <a:rPr lang="en-US" sz="3000" b="1" dirty="0">
                <a:solidFill>
                  <a:schemeClr val="accent6"/>
                </a:solidFill>
              </a:rPr>
              <a:t>✗</a:t>
            </a:r>
            <a:endParaRPr lang="en-US" sz="3000" dirty="0"/>
          </a:p>
        </p:txBody>
      </p:sp>
      <p:sp>
        <p:nvSpPr>
          <p:cNvPr id="29" name="Shape 26"/>
          <p:cNvSpPr/>
          <p:nvPr/>
        </p:nvSpPr>
        <p:spPr>
          <a:xfrm>
            <a:off x="3886741" y="3346704"/>
            <a:ext cx="914" cy="640080"/>
          </a:xfrm>
          <a:prstGeom prst="line">
            <a:avLst/>
          </a:prstGeom>
          <a:noFill/>
          <a:ln w="38100">
            <a:solidFill>
              <a:srgbClr val="D9700F"/>
            </a:solidFill>
            <a:prstDash val="solid"/>
            <a:tailEnd type="triangle"/>
          </a:ln>
        </p:spPr>
      </p:sp>
      <p:sp>
        <p:nvSpPr>
          <p:cNvPr id="30" name="Shape 27"/>
          <p:cNvSpPr/>
          <p:nvPr/>
        </p:nvSpPr>
        <p:spPr>
          <a:xfrm>
            <a:off x="1280160" y="4023360"/>
            <a:ext cx="634959" cy="603504"/>
          </a:xfrm>
          <a:prstGeom prst="roundRect">
            <a:avLst>
              <a:gd name="adj" fmla="val 15152"/>
            </a:avLst>
          </a:prstGeom>
          <a:solidFill>
            <a:schemeClr val="bg1"/>
          </a:solidFill>
          <a:ln w="15875">
            <a:solidFill>
              <a:srgbClr val="D5DCE6"/>
            </a:solidFill>
            <a:prstDash val="solid"/>
          </a:ln>
        </p:spPr>
      </p:sp>
      <p:sp>
        <p:nvSpPr>
          <p:cNvPr id="31" name="Text 28"/>
          <p:cNvSpPr txBox="1"/>
          <p:nvPr/>
        </p:nvSpPr>
        <p:spPr>
          <a:xfrm>
            <a:off x="1280160" y="4023360"/>
            <a:ext cx="634959" cy="603504"/>
          </a:xfrm>
          <a:prstGeom prst="rect">
            <a:avLst/>
          </a:prstGeom>
          <a:noFill/>
          <a:ln/>
        </p:spPr>
        <p:txBody>
          <a:bodyPr wrap="square" lIns="0" tIns="0" rIns="0" bIns="0" rtlCol="0" anchor="ctr"/>
          <a:lstStyle/>
          <a:p>
            <a:pPr algn="ctr" indent="0" marL="0">
              <a:buNone/>
            </a:pPr>
            <a:r>
              <a:rPr lang="en-US" sz="2400" dirty="0">
                <a:solidFill>
                  <a:schemeClr val="tx1"/>
                </a:solidFill>
              </a:rPr>
              <a:t>Ik</a:t>
            </a:r>
            <a:endParaRPr lang="en-US" sz="2400" dirty="0"/>
          </a:p>
        </p:txBody>
      </p:sp>
      <p:sp>
        <p:nvSpPr>
          <p:cNvPr id="32" name="Shape 29"/>
          <p:cNvSpPr/>
          <p:nvPr/>
        </p:nvSpPr>
        <p:spPr>
          <a:xfrm>
            <a:off x="1997415" y="4023360"/>
            <a:ext cx="976023" cy="603504"/>
          </a:xfrm>
          <a:prstGeom prst="roundRect">
            <a:avLst>
              <a:gd name="adj" fmla="val 15152"/>
            </a:avLst>
          </a:prstGeom>
          <a:solidFill>
            <a:schemeClr val="tx2"/>
          </a:solidFill>
          <a:ln w="12700">
            <a:solidFill>
              <a:srgbClr val="FFFFFF">
                <a:alpha val="0"/>
              </a:srgbClr>
            </a:solidFill>
            <a:prstDash val="solid"/>
          </a:ln>
        </p:spPr>
      </p:sp>
      <p:sp>
        <p:nvSpPr>
          <p:cNvPr id="33" name="Text 30"/>
          <p:cNvSpPr txBox="1"/>
          <p:nvPr/>
        </p:nvSpPr>
        <p:spPr>
          <a:xfrm>
            <a:off x="1997415" y="4023360"/>
            <a:ext cx="976023" cy="603504"/>
          </a:xfrm>
          <a:prstGeom prst="rect">
            <a:avLst/>
          </a:prstGeom>
          <a:noFill/>
          <a:ln/>
        </p:spPr>
        <p:txBody>
          <a:bodyPr wrap="square" lIns="0" tIns="0" rIns="0" bIns="0" rtlCol="0" anchor="ctr"/>
          <a:lstStyle/>
          <a:p>
            <a:pPr algn="ctr" indent="0" marL="0">
              <a:buNone/>
            </a:pPr>
            <a:r>
              <a:rPr lang="en-US" sz="2400" b="1" dirty="0">
                <a:solidFill>
                  <a:schemeClr val="bg1"/>
                </a:solidFill>
              </a:rPr>
              <a:t>heb</a:t>
            </a:r>
            <a:endParaRPr lang="en-US" sz="2400" dirty="0"/>
          </a:p>
        </p:txBody>
      </p:sp>
      <p:sp>
        <p:nvSpPr>
          <p:cNvPr id="34" name="Shape 31"/>
          <p:cNvSpPr/>
          <p:nvPr/>
        </p:nvSpPr>
        <p:spPr>
          <a:xfrm>
            <a:off x="3055735" y="4023360"/>
            <a:ext cx="1551174" cy="603504"/>
          </a:xfrm>
          <a:prstGeom prst="roundRect">
            <a:avLst>
              <a:gd name="adj" fmla="val 15152"/>
            </a:avLst>
          </a:prstGeom>
          <a:solidFill>
            <a:schemeClr val="accent1"/>
          </a:solidFill>
          <a:ln w="12700">
            <a:solidFill>
              <a:srgbClr val="FFFFFF">
                <a:alpha val="0"/>
              </a:srgbClr>
            </a:solidFill>
            <a:prstDash val="solid"/>
          </a:ln>
        </p:spPr>
      </p:sp>
      <p:sp>
        <p:nvSpPr>
          <p:cNvPr id="35" name="Text 32"/>
          <p:cNvSpPr txBox="1"/>
          <p:nvPr/>
        </p:nvSpPr>
        <p:spPr>
          <a:xfrm>
            <a:off x="3055735" y="4023360"/>
            <a:ext cx="1551174" cy="603504"/>
          </a:xfrm>
          <a:prstGeom prst="rect">
            <a:avLst/>
          </a:prstGeom>
          <a:noFill/>
          <a:ln/>
        </p:spPr>
        <p:txBody>
          <a:bodyPr wrap="square" lIns="0" tIns="0" rIns="0" bIns="0" rtlCol="0" anchor="ctr"/>
          <a:lstStyle/>
          <a:p>
            <a:pPr algn="ctr" indent="0" marL="0">
              <a:buNone/>
            </a:pPr>
            <a:r>
              <a:rPr lang="en-US" sz="2400" b="1" dirty="0">
                <a:solidFill>
                  <a:schemeClr val="bg1"/>
                </a:solidFill>
              </a:rPr>
              <a:t>moeten</a:t>
            </a:r>
            <a:endParaRPr lang="en-US" sz="2400" dirty="0"/>
          </a:p>
        </p:txBody>
      </p:sp>
      <p:sp>
        <p:nvSpPr>
          <p:cNvPr id="36" name="Shape 33"/>
          <p:cNvSpPr/>
          <p:nvPr/>
        </p:nvSpPr>
        <p:spPr>
          <a:xfrm>
            <a:off x="4689204" y="4023360"/>
            <a:ext cx="1742890" cy="603504"/>
          </a:xfrm>
          <a:prstGeom prst="roundRect">
            <a:avLst>
              <a:gd name="adj" fmla="val 15152"/>
            </a:avLst>
          </a:prstGeom>
          <a:solidFill>
            <a:srgbClr val="FBEDEB"/>
          </a:solidFill>
          <a:ln w="25400">
            <a:solidFill>
              <a:srgbClr val="B83227"/>
            </a:solidFill>
            <a:prstDash val="solid"/>
          </a:ln>
        </p:spPr>
      </p:sp>
      <p:sp>
        <p:nvSpPr>
          <p:cNvPr id="37" name="Text 34"/>
          <p:cNvSpPr txBox="1"/>
          <p:nvPr/>
        </p:nvSpPr>
        <p:spPr>
          <a:xfrm>
            <a:off x="4689204" y="4023360"/>
            <a:ext cx="1742890" cy="603504"/>
          </a:xfrm>
          <a:prstGeom prst="rect">
            <a:avLst/>
          </a:prstGeom>
          <a:noFill/>
          <a:ln/>
        </p:spPr>
        <p:txBody>
          <a:bodyPr wrap="square" lIns="0" tIns="0" rIns="0" bIns="0" rtlCol="0" anchor="ctr"/>
          <a:lstStyle/>
          <a:p>
            <a:pPr algn="ctr" indent="0" marL="0">
              <a:buNone/>
            </a:pPr>
            <a:r>
              <a:rPr lang="en-US" sz="2400" b="1" dirty="0">
                <a:solidFill>
                  <a:schemeClr val="accent6"/>
                </a:solidFill>
              </a:rPr>
              <a:t>werken.</a:t>
            </a:r>
            <a:endParaRPr lang="en-US" sz="2400" dirty="0"/>
          </a:p>
        </p:txBody>
      </p:sp>
      <p:sp>
        <p:nvSpPr>
          <p:cNvPr id="38" name="Shape 35"/>
          <p:cNvSpPr/>
          <p:nvPr/>
        </p:nvSpPr>
        <p:spPr>
          <a:xfrm>
            <a:off x="1188720" y="4782312"/>
            <a:ext cx="5334814" cy="45720"/>
          </a:xfrm>
          <a:prstGeom prst="rect">
            <a:avLst/>
          </a:prstGeom>
          <a:solidFill>
            <a:srgbClr val="8A96A8"/>
          </a:solidFill>
          <a:ln w="12700">
            <a:solidFill>
              <a:srgbClr val="FFFFFF">
                <a:alpha val="0"/>
              </a:srgbClr>
            </a:solidFill>
            <a:prstDash val="solid"/>
          </a:ln>
        </p:spPr>
      </p:sp>
      <p:sp>
        <p:nvSpPr>
          <p:cNvPr id="39" name="Shape 36"/>
          <p:cNvSpPr/>
          <p:nvPr/>
        </p:nvSpPr>
        <p:spPr>
          <a:xfrm>
            <a:off x="2138988" y="4636008"/>
            <a:ext cx="146304" cy="146304"/>
          </a:xfrm>
          <a:prstGeom prst="ellipse">
            <a:avLst/>
          </a:prstGeom>
          <a:solidFill>
            <a:srgbClr val="1B2333"/>
          </a:solidFill>
          <a:ln w="12700">
            <a:solidFill>
              <a:srgbClr val="FFFFFF">
                <a:alpha val="0"/>
              </a:srgbClr>
            </a:solidFill>
            <a:prstDash val="solid"/>
          </a:ln>
        </p:spPr>
      </p:sp>
      <p:sp>
        <p:nvSpPr>
          <p:cNvPr id="40" name="Shape 37"/>
          <p:cNvSpPr/>
          <p:nvPr/>
        </p:nvSpPr>
        <p:spPr>
          <a:xfrm>
            <a:off x="2685561" y="4636008"/>
            <a:ext cx="146304" cy="146304"/>
          </a:xfrm>
          <a:prstGeom prst="ellipse">
            <a:avLst/>
          </a:prstGeom>
          <a:solidFill>
            <a:srgbClr val="1B2333"/>
          </a:solidFill>
          <a:ln w="12700">
            <a:solidFill>
              <a:srgbClr val="FFFFFF">
                <a:alpha val="0"/>
              </a:srgbClr>
            </a:solidFill>
            <a:prstDash val="solid"/>
          </a:ln>
        </p:spPr>
      </p:sp>
      <p:sp>
        <p:nvSpPr>
          <p:cNvPr id="41" name="Shape 38"/>
          <p:cNvSpPr/>
          <p:nvPr/>
        </p:nvSpPr>
        <p:spPr>
          <a:xfrm>
            <a:off x="2107143" y="3822192"/>
            <a:ext cx="146304" cy="219456"/>
          </a:xfrm>
          <a:prstGeom prst="rect">
            <a:avLst/>
          </a:prstGeom>
          <a:solidFill>
            <a:schemeClr val="tx2"/>
          </a:solidFill>
          <a:ln w="12700">
            <a:solidFill>
              <a:srgbClr val="FFFFFF">
                <a:alpha val="0"/>
              </a:srgbClr>
            </a:solidFill>
            <a:prstDash val="solid"/>
          </a:ln>
        </p:spPr>
      </p:sp>
      <p:sp>
        <p:nvSpPr>
          <p:cNvPr id="42" name="Shape 39"/>
          <p:cNvSpPr/>
          <p:nvPr/>
        </p:nvSpPr>
        <p:spPr>
          <a:xfrm>
            <a:off x="2973439" y="4475988"/>
            <a:ext cx="82296" cy="914"/>
          </a:xfrm>
          <a:prstGeom prst="line">
            <a:avLst/>
          </a:prstGeom>
          <a:noFill/>
          <a:ln w="31750">
            <a:solidFill>
              <a:srgbClr val="1B2333"/>
            </a:solidFill>
            <a:prstDash val="solid"/>
          </a:ln>
        </p:spPr>
      </p:sp>
      <p:sp>
        <p:nvSpPr>
          <p:cNvPr id="43" name="Shape 40"/>
          <p:cNvSpPr/>
          <p:nvPr/>
        </p:nvSpPr>
        <p:spPr>
          <a:xfrm>
            <a:off x="3323841" y="4636008"/>
            <a:ext cx="146304" cy="146304"/>
          </a:xfrm>
          <a:prstGeom prst="ellipse">
            <a:avLst/>
          </a:prstGeom>
          <a:solidFill>
            <a:srgbClr val="1B2333"/>
          </a:solidFill>
          <a:ln w="12700">
            <a:solidFill>
              <a:srgbClr val="FFFFFF">
                <a:alpha val="0"/>
              </a:srgbClr>
            </a:solidFill>
            <a:prstDash val="solid"/>
          </a:ln>
        </p:spPr>
      </p:sp>
      <p:sp>
        <p:nvSpPr>
          <p:cNvPr id="44" name="Shape 41"/>
          <p:cNvSpPr/>
          <p:nvPr/>
        </p:nvSpPr>
        <p:spPr>
          <a:xfrm>
            <a:off x="4192498" y="4636008"/>
            <a:ext cx="146304" cy="146304"/>
          </a:xfrm>
          <a:prstGeom prst="ellipse">
            <a:avLst/>
          </a:prstGeom>
          <a:solidFill>
            <a:srgbClr val="1B2333"/>
          </a:solidFill>
          <a:ln w="12700">
            <a:solidFill>
              <a:srgbClr val="FFFFFF">
                <a:alpha val="0"/>
              </a:srgbClr>
            </a:solidFill>
            <a:prstDash val="solid"/>
          </a:ln>
        </p:spPr>
      </p:sp>
      <p:sp>
        <p:nvSpPr>
          <p:cNvPr id="45" name="Shape 42"/>
          <p:cNvSpPr/>
          <p:nvPr/>
        </p:nvSpPr>
        <p:spPr>
          <a:xfrm>
            <a:off x="4606908" y="4475988"/>
            <a:ext cx="82296" cy="914"/>
          </a:xfrm>
          <a:prstGeom prst="line">
            <a:avLst/>
          </a:prstGeom>
          <a:noFill/>
          <a:ln w="31750">
            <a:solidFill>
              <a:srgbClr val="1B2333"/>
            </a:solidFill>
            <a:prstDash val="solid"/>
          </a:ln>
        </p:spPr>
      </p:sp>
      <p:sp>
        <p:nvSpPr>
          <p:cNvPr id="46" name="Shape 43"/>
          <p:cNvSpPr/>
          <p:nvPr/>
        </p:nvSpPr>
        <p:spPr>
          <a:xfrm>
            <a:off x="4999488" y="4636008"/>
            <a:ext cx="146304" cy="146304"/>
          </a:xfrm>
          <a:prstGeom prst="ellipse">
            <a:avLst/>
          </a:prstGeom>
          <a:solidFill>
            <a:srgbClr val="1B2333"/>
          </a:solidFill>
          <a:ln w="12700">
            <a:solidFill>
              <a:srgbClr val="FFFFFF">
                <a:alpha val="0"/>
              </a:srgbClr>
            </a:solidFill>
            <a:prstDash val="solid"/>
          </a:ln>
        </p:spPr>
      </p:sp>
      <p:sp>
        <p:nvSpPr>
          <p:cNvPr id="47" name="Shape 44"/>
          <p:cNvSpPr/>
          <p:nvPr/>
        </p:nvSpPr>
        <p:spPr>
          <a:xfrm>
            <a:off x="5975507" y="4636008"/>
            <a:ext cx="146304" cy="146304"/>
          </a:xfrm>
          <a:prstGeom prst="ellipse">
            <a:avLst/>
          </a:prstGeom>
          <a:solidFill>
            <a:srgbClr val="1B2333"/>
          </a:solidFill>
          <a:ln w="12700">
            <a:solidFill>
              <a:srgbClr val="FFFFFF">
                <a:alpha val="0"/>
              </a:srgbClr>
            </a:solidFill>
            <a:prstDash val="solid"/>
          </a:ln>
        </p:spPr>
      </p:sp>
      <p:sp>
        <p:nvSpPr>
          <p:cNvPr id="48" name="Text 45"/>
          <p:cNvSpPr txBox="1"/>
          <p:nvPr/>
        </p:nvSpPr>
        <p:spPr>
          <a:xfrm>
            <a:off x="6569254" y="4023360"/>
            <a:ext cx="548640" cy="603504"/>
          </a:xfrm>
          <a:prstGeom prst="rect">
            <a:avLst/>
          </a:prstGeom>
          <a:noFill/>
          <a:ln/>
        </p:spPr>
        <p:txBody>
          <a:bodyPr wrap="square" lIns="0" tIns="0" rIns="0" bIns="0" rtlCol="0" anchor="ctr"/>
          <a:lstStyle/>
          <a:p>
            <a:pPr algn="l" indent="0" marL="0">
              <a:buNone/>
            </a:pPr>
            <a:r>
              <a:rPr lang="en-US" sz="3000" b="1" dirty="0">
                <a:solidFill>
                  <a:schemeClr val="accent3"/>
                </a:solidFill>
              </a:rPr>
              <a:t>✓</a:t>
            </a:r>
            <a:endParaRPr lang="en-US" sz="3000" dirty="0"/>
          </a:p>
        </p:txBody>
      </p:sp>
      <p:sp>
        <p:nvSpPr>
          <p:cNvPr id="49" name="Text 46"/>
          <p:cNvSpPr txBox="1"/>
          <p:nvPr/>
        </p:nvSpPr>
        <p:spPr>
          <a:xfrm>
            <a:off x="7117894" y="4023360"/>
            <a:ext cx="2377440" cy="603504"/>
          </a:xfrm>
          <a:prstGeom prst="rect">
            <a:avLst/>
          </a:prstGeom>
          <a:noFill/>
          <a:ln/>
        </p:spPr>
        <p:txBody>
          <a:bodyPr wrap="square" lIns="0" tIns="0" rIns="0" bIns="0" rtlCol="0" anchor="ctr"/>
          <a:lstStyle/>
          <a:p>
            <a:pPr algn="l" indent="0" marL="0">
              <a:buNone/>
            </a:pPr>
            <a:r>
              <a:rPr lang="en-US" sz="1800" b="1" dirty="0">
                <a:solidFill>
                  <a:schemeClr val="accent1"/>
                </a:solidFill>
              </a:rPr>
              <a:t>2 infinitifs !</a:t>
            </a:r>
            <a:endParaRPr lang="en-US" sz="1800" dirty="0"/>
          </a:p>
        </p:txBody>
      </p:sp>
      <p:sp>
        <p:nvSpPr>
          <p:cNvPr id="50" name="Shape 47"/>
          <p:cNvSpPr/>
          <p:nvPr/>
        </p:nvSpPr>
        <p:spPr>
          <a:xfrm>
            <a:off x="7955280" y="1508760"/>
            <a:ext cx="3685032" cy="2331720"/>
          </a:xfrm>
          <a:prstGeom prst="roundRect">
            <a:avLst>
              <a:gd name="adj" fmla="val 4706"/>
            </a:avLst>
          </a:prstGeom>
          <a:solidFill>
            <a:srgbClr val="FDF1E6"/>
          </a:solidFill>
          <a:ln w="22225">
            <a:solidFill>
              <a:srgbClr val="D9700F"/>
            </a:solidFill>
            <a:prstDash val="solid"/>
          </a:ln>
        </p:spPr>
      </p:sp>
      <p:sp>
        <p:nvSpPr>
          <p:cNvPr id="51" name="Text 48"/>
          <p:cNvSpPr txBox="1"/>
          <p:nvPr/>
        </p:nvSpPr>
        <p:spPr>
          <a:xfrm>
            <a:off x="8138160" y="1600200"/>
            <a:ext cx="3337560" cy="2148840"/>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Le nom du procédé</a:t>
            </a:r>
            <a:endParaRPr lang="en-US" sz="1500" dirty="0"/>
          </a:p>
          <a:p>
            <a:pPr algn="l" indent="0" marL="0">
              <a:spcAft>
                <a:spcPts val="200"/>
              </a:spcAft>
              <a:buNone/>
            </a:pPr>
            <a:r>
              <a:rPr lang="en-US" sz="1500" i="1" dirty="0">
                <a:solidFill>
                  <a:schemeClr val="tx1"/>
                </a:solidFill>
              </a:rPr>
              <a:t>de </a:t>
            </a:r>
            <a:r>
              <a:rPr lang="en-US" sz="1500" b="1" i="1" dirty="0">
                <a:solidFill>
                  <a:schemeClr val="tx1"/>
                </a:solidFill>
              </a:rPr>
              <a:t>dubbele infinitief</a:t>
            </a:r>
            <a:endParaRPr lang="en-US" sz="1500" dirty="0"/>
          </a:p>
          <a:p>
            <a:pPr algn="l" indent="0" marL="0">
              <a:spcAft>
                <a:spcPts val="200"/>
              </a:spcAft>
              <a:buNone/>
            </a:pPr>
            <a:r>
              <a:rPr lang="en-US" sz="1500" dirty="0">
                <a:solidFill>
                  <a:schemeClr val="tx1"/>
                </a:solidFill>
              </a:rPr>
              <a:t>le double infinitif</a:t>
            </a:r>
            <a:endParaRPr lang="en-US" sz="1500" dirty="0"/>
          </a:p>
          <a:p>
            <a:pPr algn="l" indent="0" marL="0">
              <a:spcAft>
                <a:spcPts val="200"/>
              </a:spcAft>
              <a:buNone/>
            </a:pPr>
            <a:endParaRPr lang="en-US" sz="1500" dirty="0"/>
          </a:p>
          <a:p>
            <a:pPr algn="l" indent="0" marL="0">
              <a:spcAft>
                <a:spcPts val="200"/>
              </a:spcAft>
              <a:buNone/>
            </a:pPr>
            <a:r>
              <a:rPr lang="en-US" sz="1500" dirty="0">
                <a:solidFill>
                  <a:schemeClr val="tx1"/>
                </a:solidFill>
              </a:rPr>
              <a:t>en grammaire : </a:t>
            </a:r>
            <a:r>
              <a:rPr lang="en-US" sz="1500" i="1" dirty="0">
                <a:solidFill>
                  <a:schemeClr val="tx1"/>
                </a:solidFill>
              </a:rPr>
              <a:t>infinitivus pro participio</a:t>
            </a:r>
            <a:r>
              <a:rPr lang="en-US" sz="1500" dirty="0">
                <a:solidFill>
                  <a:schemeClr val="tx1"/>
                </a:solidFill>
              </a:rPr>
              <a:t> (IPP) = « l’infinitif à la place du participe »</a:t>
            </a:r>
            <a:endParaRPr lang="en-US" sz="1500" dirty="0"/>
          </a:p>
        </p:txBody>
      </p:sp>
      <p:sp>
        <p:nvSpPr>
          <p:cNvPr id="52" name="Shape 49"/>
          <p:cNvSpPr/>
          <p:nvPr/>
        </p:nvSpPr>
        <p:spPr>
          <a:xfrm>
            <a:off x="548640" y="5257800"/>
            <a:ext cx="11091672" cy="868680"/>
          </a:xfrm>
          <a:prstGeom prst="roundRect">
            <a:avLst>
              <a:gd name="adj" fmla="val 8421"/>
            </a:avLst>
          </a:prstGeom>
          <a:solidFill>
            <a:schemeClr val="tx2"/>
          </a:solidFill>
          <a:ln w="12700">
            <a:solidFill>
              <a:srgbClr val="FFFFFF">
                <a:alpha val="0"/>
              </a:srgbClr>
            </a:solidFill>
            <a:prstDash val="solid"/>
          </a:ln>
        </p:spPr>
      </p:sp>
      <p:sp>
        <p:nvSpPr>
          <p:cNvPr id="53" name="Text 50"/>
          <p:cNvSpPr txBox="1"/>
          <p:nvPr/>
        </p:nvSpPr>
        <p:spPr>
          <a:xfrm>
            <a:off x="822960" y="5257800"/>
            <a:ext cx="10607040" cy="868680"/>
          </a:xfrm>
          <a:prstGeom prst="rect">
            <a:avLst/>
          </a:prstGeom>
          <a:noFill/>
          <a:ln/>
        </p:spPr>
        <p:txBody>
          <a:bodyPr wrap="square" lIns="0" tIns="0" rIns="0" bIns="0" rtlCol="0" anchor="ctr"/>
          <a:lstStyle/>
          <a:p>
            <a:pPr algn="l" indent="0" marL="0">
              <a:buNone/>
            </a:pPr>
            <a:r>
              <a:rPr lang="en-US" sz="1700" dirty="0">
                <a:solidFill>
                  <a:schemeClr val="bg1"/>
                </a:solidFill>
              </a:rPr>
              <a:t>Au passé composé, quand un verbe comme </a:t>
            </a:r>
            <a:r>
              <a:rPr lang="en-US" sz="1700" i="1" dirty="0">
                <a:solidFill>
                  <a:schemeClr val="bg1"/>
                </a:solidFill>
              </a:rPr>
              <a:t>moeten</a:t>
            </a:r>
            <a:r>
              <a:rPr lang="en-US" sz="1700" dirty="0">
                <a:solidFill>
                  <a:schemeClr val="bg1"/>
                </a:solidFill>
              </a:rPr>
              <a:t> est suivi d’un infinitif, il ne prend </a:t>
            </a:r>
            <a:r>
              <a:rPr lang="en-US" sz="1700" b="1" dirty="0">
                <a:solidFill>
                  <a:schemeClr val="bg1"/>
                </a:solidFill>
              </a:rPr>
              <a:t>pas</a:t>
            </a:r>
            <a:r>
              <a:rPr lang="en-US" sz="1700" dirty="0">
                <a:solidFill>
                  <a:schemeClr val="bg1"/>
                </a:solidFill>
              </a:rPr>
              <a:t> la forme </a:t>
            </a:r>
            <a:r>
              <a:rPr lang="en-US" sz="1700" i="1" dirty="0">
                <a:solidFill>
                  <a:schemeClr val="bg1"/>
                </a:solidFill>
              </a:rPr>
              <a:t>ge-…</a:t>
            </a:r>
            <a:r>
              <a:rPr lang="en-US" sz="1700" dirty="0">
                <a:solidFill>
                  <a:schemeClr val="bg1"/>
                </a:solidFill>
              </a:rPr>
              <a:t> : il reste </a:t>
            </a:r>
            <a:r>
              <a:rPr lang="en-US" sz="1700" b="1" dirty="0">
                <a:solidFill>
                  <a:schemeClr val="bg1"/>
                </a:solidFill>
              </a:rPr>
              <a:t>à l’infinitif</a:t>
            </a:r>
            <a:r>
              <a:rPr lang="en-US" sz="1700" dirty="0">
                <a:solidFill>
                  <a:schemeClr val="bg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train des verbes</a:t>
            </a:r>
            <a:endParaRPr lang="en-US" sz="3000" dirty="0"/>
          </a:p>
        </p:txBody>
      </p:sp>
      <p:sp>
        <p:nvSpPr>
          <p:cNvPr id="3" name="tag"/>
          <p:cNvSpPr/>
          <p:nvPr/>
        </p:nvSpPr>
        <p:spPr>
          <a:xfrm>
            <a:off x="548640" y="237744"/>
            <a:ext cx="155265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LE PRINCIPE</a:t>
            </a:r>
            <a:endParaRPr lang="en-US" sz="1200" dirty="0"/>
          </a:p>
        </p:txBody>
      </p:sp>
      <p:sp>
        <p:nvSpPr>
          <p:cNvPr id="5" name="Text 2"/>
          <p:cNvSpPr txBox="1"/>
          <p:nvPr/>
        </p:nvSpPr>
        <p:spPr>
          <a:xfrm>
            <a:off x="548640" y="1463040"/>
            <a:ext cx="10972800" cy="365760"/>
          </a:xfrm>
          <a:prstGeom prst="rect">
            <a:avLst/>
          </a:prstGeom>
          <a:noFill/>
          <a:ln/>
        </p:spPr>
        <p:txBody>
          <a:bodyPr wrap="square" lIns="0" tIns="0" rIns="0" bIns="0" rtlCol="0" anchor="t"/>
          <a:lstStyle/>
          <a:p>
            <a:pPr algn="l" indent="0" marL="0">
              <a:buNone/>
            </a:pPr>
            <a:r>
              <a:rPr lang="en-US" sz="1500" b="1" dirty="0">
                <a:solidFill>
                  <a:schemeClr val="tx2"/>
                </a:solidFill>
              </a:rPr>
              <a:t>PHRASE PRINCIPALE</a:t>
            </a:r>
            <a:r>
              <a:rPr lang="en-US" sz="1500" dirty="0">
                <a:solidFill>
                  <a:schemeClr val="tx2"/>
                </a:solidFill>
              </a:rPr>
              <a:t> : la locomotive en 2e place, les wagons au bout</a:t>
            </a:r>
            <a:endParaRPr lang="en-US" sz="1500" dirty="0"/>
          </a:p>
        </p:txBody>
      </p:sp>
      <p:sp>
        <p:nvSpPr>
          <p:cNvPr id="6" name="Shape 3"/>
          <p:cNvSpPr/>
          <p:nvPr/>
        </p:nvSpPr>
        <p:spPr>
          <a:xfrm>
            <a:off x="548640" y="2057400"/>
            <a:ext cx="663489" cy="713232"/>
          </a:xfrm>
          <a:prstGeom prst="roundRect">
            <a:avLst>
              <a:gd name="adj" fmla="val 13782"/>
            </a:avLst>
          </a:prstGeom>
          <a:solidFill>
            <a:schemeClr val="bg1"/>
          </a:solidFill>
          <a:ln w="15875">
            <a:solidFill>
              <a:srgbClr val="D5DCE6"/>
            </a:solidFill>
            <a:prstDash val="solid"/>
          </a:ln>
        </p:spPr>
      </p:sp>
      <p:sp>
        <p:nvSpPr>
          <p:cNvPr id="7" name="Text 4"/>
          <p:cNvSpPr txBox="1"/>
          <p:nvPr/>
        </p:nvSpPr>
        <p:spPr>
          <a:xfrm>
            <a:off x="548640" y="2057400"/>
            <a:ext cx="663489" cy="713232"/>
          </a:xfrm>
          <a:prstGeom prst="rect">
            <a:avLst/>
          </a:prstGeom>
          <a:noFill/>
          <a:ln/>
        </p:spPr>
        <p:txBody>
          <a:bodyPr wrap="square" lIns="0" tIns="0" rIns="0" bIns="0" rtlCol="0" anchor="ctr"/>
          <a:lstStyle/>
          <a:p>
            <a:pPr algn="ctr" indent="0" marL="0">
              <a:buNone/>
            </a:pPr>
            <a:r>
              <a:rPr lang="en-US" sz="2600" dirty="0">
                <a:solidFill>
                  <a:schemeClr val="tx1"/>
                </a:solidFill>
              </a:rPr>
              <a:t>Ik</a:t>
            </a:r>
            <a:endParaRPr lang="en-US" sz="2600" dirty="0"/>
          </a:p>
        </p:txBody>
      </p:sp>
      <p:sp>
        <p:nvSpPr>
          <p:cNvPr id="8" name="Shape 5"/>
          <p:cNvSpPr/>
          <p:nvPr/>
        </p:nvSpPr>
        <p:spPr>
          <a:xfrm>
            <a:off x="1294425" y="2057400"/>
            <a:ext cx="1023952" cy="713232"/>
          </a:xfrm>
          <a:prstGeom prst="roundRect">
            <a:avLst>
              <a:gd name="adj" fmla="val 12821"/>
            </a:avLst>
          </a:prstGeom>
          <a:solidFill>
            <a:schemeClr val="tx2"/>
          </a:solidFill>
          <a:ln w="12700">
            <a:solidFill>
              <a:srgbClr val="FFFFFF">
                <a:alpha val="0"/>
              </a:srgbClr>
            </a:solidFill>
            <a:prstDash val="solid"/>
          </a:ln>
        </p:spPr>
      </p:sp>
      <p:sp>
        <p:nvSpPr>
          <p:cNvPr id="9" name="Text 6"/>
          <p:cNvSpPr txBox="1"/>
          <p:nvPr/>
        </p:nvSpPr>
        <p:spPr>
          <a:xfrm>
            <a:off x="1294425" y="2057400"/>
            <a:ext cx="1023952" cy="713232"/>
          </a:xfrm>
          <a:prstGeom prst="rect">
            <a:avLst/>
          </a:prstGeom>
          <a:noFill/>
          <a:ln/>
        </p:spPr>
        <p:txBody>
          <a:bodyPr wrap="square" lIns="0" tIns="0" rIns="0" bIns="0" rtlCol="0" anchor="ctr"/>
          <a:lstStyle/>
          <a:p>
            <a:pPr algn="ctr" indent="0" marL="0">
              <a:buNone/>
            </a:pPr>
            <a:r>
              <a:rPr lang="en-US" sz="2600" b="1" dirty="0">
                <a:solidFill>
                  <a:schemeClr val="bg1"/>
                </a:solidFill>
              </a:rPr>
              <a:t>heb</a:t>
            </a:r>
            <a:endParaRPr lang="en-US" sz="2600" dirty="0"/>
          </a:p>
        </p:txBody>
      </p:sp>
      <p:sp>
        <p:nvSpPr>
          <p:cNvPr id="10" name="Shape 7"/>
          <p:cNvSpPr/>
          <p:nvPr/>
        </p:nvSpPr>
        <p:spPr>
          <a:xfrm>
            <a:off x="2400673" y="2057400"/>
            <a:ext cx="2703332" cy="713232"/>
          </a:xfrm>
          <a:prstGeom prst="roundRect">
            <a:avLst>
              <a:gd name="adj" fmla="val 12821"/>
            </a:avLst>
          </a:prstGeom>
          <a:solidFill>
            <a:schemeClr val="bg1"/>
          </a:solidFill>
          <a:ln w="15875">
            <a:solidFill>
              <a:srgbClr val="D5DCE6"/>
            </a:solidFill>
            <a:prstDash val="solid"/>
          </a:ln>
        </p:spPr>
      </p:sp>
      <p:sp>
        <p:nvSpPr>
          <p:cNvPr id="11" name="Text 8"/>
          <p:cNvSpPr txBox="1"/>
          <p:nvPr/>
        </p:nvSpPr>
        <p:spPr>
          <a:xfrm>
            <a:off x="2400673" y="2057400"/>
            <a:ext cx="2703332" cy="713232"/>
          </a:xfrm>
          <a:prstGeom prst="rect">
            <a:avLst/>
          </a:prstGeom>
          <a:noFill/>
          <a:ln/>
        </p:spPr>
        <p:txBody>
          <a:bodyPr wrap="square" lIns="0" tIns="0" rIns="0" bIns="0" rtlCol="0" anchor="ctr"/>
          <a:lstStyle/>
          <a:p>
            <a:pPr algn="ctr" indent="0" marL="0">
              <a:buNone/>
            </a:pPr>
            <a:r>
              <a:rPr lang="en-US" sz="2600" dirty="0">
                <a:solidFill>
                  <a:schemeClr val="tx1"/>
                </a:solidFill>
              </a:rPr>
              <a:t>gisteren lang</a:t>
            </a:r>
            <a:endParaRPr lang="en-US" sz="2600" dirty="0"/>
          </a:p>
        </p:txBody>
      </p:sp>
      <p:sp>
        <p:nvSpPr>
          <p:cNvPr id="12" name="Shape 9"/>
          <p:cNvSpPr/>
          <p:nvPr/>
        </p:nvSpPr>
        <p:spPr>
          <a:xfrm>
            <a:off x="5186301" y="2057400"/>
            <a:ext cx="1647032" cy="713232"/>
          </a:xfrm>
          <a:prstGeom prst="roundRect">
            <a:avLst>
              <a:gd name="adj" fmla="val 12821"/>
            </a:avLst>
          </a:prstGeom>
          <a:solidFill>
            <a:schemeClr val="accent1"/>
          </a:solidFill>
          <a:ln w="12700">
            <a:solidFill>
              <a:srgbClr val="FFFFFF">
                <a:alpha val="0"/>
              </a:srgbClr>
            </a:solidFill>
            <a:prstDash val="solid"/>
          </a:ln>
        </p:spPr>
      </p:sp>
      <p:sp>
        <p:nvSpPr>
          <p:cNvPr id="13" name="Text 10"/>
          <p:cNvSpPr txBox="1"/>
          <p:nvPr/>
        </p:nvSpPr>
        <p:spPr>
          <a:xfrm>
            <a:off x="5186301" y="2057400"/>
            <a:ext cx="1647032" cy="713232"/>
          </a:xfrm>
          <a:prstGeom prst="rect">
            <a:avLst/>
          </a:prstGeom>
          <a:noFill/>
          <a:ln/>
        </p:spPr>
        <p:txBody>
          <a:bodyPr wrap="square" lIns="0" tIns="0" rIns="0" bIns="0" rtlCol="0" anchor="ctr"/>
          <a:lstStyle/>
          <a:p>
            <a:pPr algn="ctr" indent="0" marL="0">
              <a:buNone/>
            </a:pPr>
            <a:r>
              <a:rPr lang="en-US" sz="2600" b="1" dirty="0">
                <a:solidFill>
                  <a:schemeClr val="bg1"/>
                </a:solidFill>
              </a:rPr>
              <a:t>moeten</a:t>
            </a:r>
            <a:endParaRPr lang="en-US" sz="2600" dirty="0"/>
          </a:p>
        </p:txBody>
      </p:sp>
      <p:sp>
        <p:nvSpPr>
          <p:cNvPr id="14" name="Shape 11"/>
          <p:cNvSpPr/>
          <p:nvPr/>
        </p:nvSpPr>
        <p:spPr>
          <a:xfrm>
            <a:off x="6915629" y="2057400"/>
            <a:ext cx="1854725" cy="713232"/>
          </a:xfrm>
          <a:prstGeom prst="roundRect">
            <a:avLst>
              <a:gd name="adj" fmla="val 12821"/>
            </a:avLst>
          </a:prstGeom>
          <a:solidFill>
            <a:srgbClr val="FBEDEB"/>
          </a:solidFill>
          <a:ln w="25400">
            <a:solidFill>
              <a:srgbClr val="B83227"/>
            </a:solidFill>
            <a:prstDash val="solid"/>
          </a:ln>
        </p:spPr>
      </p:sp>
      <p:sp>
        <p:nvSpPr>
          <p:cNvPr id="15" name="Text 12"/>
          <p:cNvSpPr txBox="1"/>
          <p:nvPr/>
        </p:nvSpPr>
        <p:spPr>
          <a:xfrm>
            <a:off x="6915629" y="2057400"/>
            <a:ext cx="1854725" cy="713232"/>
          </a:xfrm>
          <a:prstGeom prst="rect">
            <a:avLst/>
          </a:prstGeom>
          <a:noFill/>
          <a:ln/>
        </p:spPr>
        <p:txBody>
          <a:bodyPr wrap="square" lIns="0" tIns="0" rIns="0" bIns="0" rtlCol="0" anchor="ctr"/>
          <a:lstStyle/>
          <a:p>
            <a:pPr algn="ctr" indent="0" marL="0">
              <a:buNone/>
            </a:pPr>
            <a:r>
              <a:rPr lang="en-US" sz="2600" b="1" dirty="0">
                <a:solidFill>
                  <a:schemeClr val="accent6"/>
                </a:solidFill>
              </a:rPr>
              <a:t>werken.</a:t>
            </a:r>
            <a:endParaRPr lang="en-US" sz="2600" dirty="0"/>
          </a:p>
        </p:txBody>
      </p:sp>
      <p:sp>
        <p:nvSpPr>
          <p:cNvPr id="16" name="Shape 13"/>
          <p:cNvSpPr/>
          <p:nvPr/>
        </p:nvSpPr>
        <p:spPr>
          <a:xfrm>
            <a:off x="457200" y="2926080"/>
            <a:ext cx="8404594" cy="45720"/>
          </a:xfrm>
          <a:prstGeom prst="rect">
            <a:avLst/>
          </a:prstGeom>
          <a:solidFill>
            <a:srgbClr val="8A96A8"/>
          </a:solidFill>
          <a:ln w="12700">
            <a:solidFill>
              <a:srgbClr val="FFFFFF">
                <a:alpha val="0"/>
              </a:srgbClr>
            </a:solidFill>
            <a:prstDash val="solid"/>
          </a:ln>
        </p:spPr>
      </p:sp>
      <p:sp>
        <p:nvSpPr>
          <p:cNvPr id="17" name="Shape 14"/>
          <p:cNvSpPr/>
          <p:nvPr/>
        </p:nvSpPr>
        <p:spPr>
          <a:xfrm>
            <a:off x="1446542" y="2779776"/>
            <a:ext cx="146304" cy="146304"/>
          </a:xfrm>
          <a:prstGeom prst="ellipse">
            <a:avLst/>
          </a:prstGeom>
          <a:solidFill>
            <a:srgbClr val="1B2333"/>
          </a:solidFill>
          <a:ln w="12700">
            <a:solidFill>
              <a:srgbClr val="FFFFFF">
                <a:alpha val="0"/>
              </a:srgbClr>
            </a:solidFill>
            <a:prstDash val="solid"/>
          </a:ln>
        </p:spPr>
      </p:sp>
      <p:sp>
        <p:nvSpPr>
          <p:cNvPr id="18" name="Shape 15"/>
          <p:cNvSpPr/>
          <p:nvPr/>
        </p:nvSpPr>
        <p:spPr>
          <a:xfrm>
            <a:off x="2019956" y="2779776"/>
            <a:ext cx="146304" cy="146304"/>
          </a:xfrm>
          <a:prstGeom prst="ellipse">
            <a:avLst/>
          </a:prstGeom>
          <a:solidFill>
            <a:srgbClr val="1B2333"/>
          </a:solidFill>
          <a:ln w="12700">
            <a:solidFill>
              <a:srgbClr val="FFFFFF">
                <a:alpha val="0"/>
              </a:srgbClr>
            </a:solidFill>
            <a:prstDash val="solid"/>
          </a:ln>
        </p:spPr>
      </p:sp>
      <p:sp>
        <p:nvSpPr>
          <p:cNvPr id="19" name="Shape 16"/>
          <p:cNvSpPr/>
          <p:nvPr/>
        </p:nvSpPr>
        <p:spPr>
          <a:xfrm>
            <a:off x="1404153" y="1856232"/>
            <a:ext cx="146304" cy="219456"/>
          </a:xfrm>
          <a:prstGeom prst="rect">
            <a:avLst/>
          </a:prstGeom>
          <a:solidFill>
            <a:schemeClr val="tx2"/>
          </a:solidFill>
          <a:ln w="12700">
            <a:solidFill>
              <a:srgbClr val="FFFFFF">
                <a:alpha val="0"/>
              </a:srgbClr>
            </a:solidFill>
            <a:prstDash val="solid"/>
          </a:ln>
        </p:spPr>
      </p:sp>
      <p:sp>
        <p:nvSpPr>
          <p:cNvPr id="20" name="Shape 17"/>
          <p:cNvSpPr/>
          <p:nvPr/>
        </p:nvSpPr>
        <p:spPr>
          <a:xfrm>
            <a:off x="5475496" y="2779776"/>
            <a:ext cx="146304" cy="146304"/>
          </a:xfrm>
          <a:prstGeom prst="ellipse">
            <a:avLst/>
          </a:prstGeom>
          <a:solidFill>
            <a:srgbClr val="1B2333"/>
          </a:solidFill>
          <a:ln w="12700">
            <a:solidFill>
              <a:srgbClr val="FFFFFF">
                <a:alpha val="0"/>
              </a:srgbClr>
            </a:solidFill>
            <a:prstDash val="solid"/>
          </a:ln>
        </p:spPr>
      </p:sp>
      <p:sp>
        <p:nvSpPr>
          <p:cNvPr id="21" name="Shape 18"/>
          <p:cNvSpPr/>
          <p:nvPr/>
        </p:nvSpPr>
        <p:spPr>
          <a:xfrm>
            <a:off x="6397834" y="2779776"/>
            <a:ext cx="146304" cy="146304"/>
          </a:xfrm>
          <a:prstGeom prst="ellipse">
            <a:avLst/>
          </a:prstGeom>
          <a:solidFill>
            <a:srgbClr val="1B2333"/>
          </a:solidFill>
          <a:ln w="12700">
            <a:solidFill>
              <a:srgbClr val="FFFFFF">
                <a:alpha val="0"/>
              </a:srgbClr>
            </a:solidFill>
            <a:prstDash val="solid"/>
          </a:ln>
        </p:spPr>
      </p:sp>
      <p:sp>
        <p:nvSpPr>
          <p:cNvPr id="22" name="Shape 19"/>
          <p:cNvSpPr/>
          <p:nvPr/>
        </p:nvSpPr>
        <p:spPr>
          <a:xfrm>
            <a:off x="6833333" y="2592324"/>
            <a:ext cx="82296" cy="914"/>
          </a:xfrm>
          <a:prstGeom prst="line">
            <a:avLst/>
          </a:prstGeom>
          <a:noFill/>
          <a:ln w="31750">
            <a:solidFill>
              <a:srgbClr val="1B2333"/>
            </a:solidFill>
            <a:prstDash val="solid"/>
          </a:ln>
        </p:spPr>
      </p:sp>
      <p:sp>
        <p:nvSpPr>
          <p:cNvPr id="23" name="Shape 20"/>
          <p:cNvSpPr/>
          <p:nvPr/>
        </p:nvSpPr>
        <p:spPr>
          <a:xfrm>
            <a:off x="7250517" y="2779776"/>
            <a:ext cx="146304" cy="146304"/>
          </a:xfrm>
          <a:prstGeom prst="ellipse">
            <a:avLst/>
          </a:prstGeom>
          <a:solidFill>
            <a:srgbClr val="1B2333"/>
          </a:solidFill>
          <a:ln w="12700">
            <a:solidFill>
              <a:srgbClr val="FFFFFF">
                <a:alpha val="0"/>
              </a:srgbClr>
            </a:solidFill>
            <a:prstDash val="solid"/>
          </a:ln>
        </p:spPr>
      </p:sp>
      <p:sp>
        <p:nvSpPr>
          <p:cNvPr id="24" name="Shape 21"/>
          <p:cNvSpPr/>
          <p:nvPr/>
        </p:nvSpPr>
        <p:spPr>
          <a:xfrm>
            <a:off x="8289163" y="2779776"/>
            <a:ext cx="146304" cy="146304"/>
          </a:xfrm>
          <a:prstGeom prst="ellipse">
            <a:avLst/>
          </a:prstGeom>
          <a:solidFill>
            <a:srgbClr val="1B2333"/>
          </a:solidFill>
          <a:ln w="12700">
            <a:solidFill>
              <a:srgbClr val="FFFFFF">
                <a:alpha val="0"/>
              </a:srgbClr>
            </a:solidFill>
            <a:prstDash val="solid"/>
          </a:ln>
        </p:spPr>
      </p:sp>
      <p:sp>
        <p:nvSpPr>
          <p:cNvPr id="25" name="Text 22"/>
          <p:cNvSpPr txBox="1"/>
          <p:nvPr/>
        </p:nvSpPr>
        <p:spPr>
          <a:xfrm>
            <a:off x="1111545" y="3063240"/>
            <a:ext cx="1389712" cy="320040"/>
          </a:xfrm>
          <a:prstGeom prst="rect">
            <a:avLst/>
          </a:prstGeom>
          <a:noFill/>
          <a:ln/>
        </p:spPr>
        <p:txBody>
          <a:bodyPr wrap="square" lIns="0" tIns="0" rIns="0" bIns="0" rtlCol="0" anchor="t"/>
          <a:lstStyle/>
          <a:p>
            <a:pPr algn="ctr" indent="0" marL="0">
              <a:buNone/>
            </a:pPr>
            <a:r>
              <a:rPr lang="en-US" sz="1300" b="1" dirty="0">
                <a:solidFill>
                  <a:schemeClr val="tx2"/>
                </a:solidFill>
              </a:rPr>
              <a:t>locomotive</a:t>
            </a:r>
            <a:endParaRPr lang="en-US" sz="1300" dirty="0"/>
          </a:p>
        </p:txBody>
      </p:sp>
      <p:sp>
        <p:nvSpPr>
          <p:cNvPr id="26" name="Text 23"/>
          <p:cNvSpPr txBox="1"/>
          <p:nvPr/>
        </p:nvSpPr>
        <p:spPr>
          <a:xfrm>
            <a:off x="5003421" y="3063240"/>
            <a:ext cx="2012792" cy="320040"/>
          </a:xfrm>
          <a:prstGeom prst="rect">
            <a:avLst/>
          </a:prstGeom>
          <a:noFill/>
          <a:ln/>
        </p:spPr>
        <p:txBody>
          <a:bodyPr wrap="square" lIns="0" tIns="0" rIns="0" bIns="0" rtlCol="0" anchor="t"/>
          <a:lstStyle/>
          <a:p>
            <a:pPr algn="ctr" indent="0" marL="0">
              <a:buNone/>
            </a:pPr>
            <a:r>
              <a:rPr lang="en-US" sz="1300" b="1" dirty="0">
                <a:solidFill>
                  <a:schemeClr val="accent1"/>
                </a:solidFill>
              </a:rPr>
              <a:t>wagon 1</a:t>
            </a:r>
            <a:endParaRPr lang="en-US" sz="1300" dirty="0"/>
          </a:p>
        </p:txBody>
      </p:sp>
      <p:sp>
        <p:nvSpPr>
          <p:cNvPr id="27" name="Text 24"/>
          <p:cNvSpPr txBox="1"/>
          <p:nvPr/>
        </p:nvSpPr>
        <p:spPr>
          <a:xfrm>
            <a:off x="6732749" y="3063240"/>
            <a:ext cx="2220485" cy="320040"/>
          </a:xfrm>
          <a:prstGeom prst="rect">
            <a:avLst/>
          </a:prstGeom>
          <a:noFill/>
          <a:ln/>
        </p:spPr>
        <p:txBody>
          <a:bodyPr wrap="square" lIns="0" tIns="0" rIns="0" bIns="0" rtlCol="0" anchor="t"/>
          <a:lstStyle/>
          <a:p>
            <a:pPr algn="ctr" indent="0" marL="0">
              <a:buNone/>
            </a:pPr>
            <a:r>
              <a:rPr lang="en-US" sz="1300" b="1" dirty="0">
                <a:solidFill>
                  <a:schemeClr val="accent6"/>
                </a:solidFill>
              </a:rPr>
              <a:t>wagon 2</a:t>
            </a:r>
            <a:endParaRPr lang="en-US" sz="1300" dirty="0"/>
          </a:p>
        </p:txBody>
      </p:sp>
      <p:sp>
        <p:nvSpPr>
          <p:cNvPr id="28" name="Text 25"/>
          <p:cNvSpPr txBox="1"/>
          <p:nvPr/>
        </p:nvSpPr>
        <p:spPr>
          <a:xfrm>
            <a:off x="548640" y="3611880"/>
            <a:ext cx="10972800" cy="365760"/>
          </a:xfrm>
          <a:prstGeom prst="rect">
            <a:avLst/>
          </a:prstGeom>
          <a:noFill/>
          <a:ln/>
        </p:spPr>
        <p:txBody>
          <a:bodyPr wrap="square" lIns="0" tIns="0" rIns="0" bIns="0" rtlCol="0" anchor="t"/>
          <a:lstStyle/>
          <a:p>
            <a:pPr algn="l" indent="0" marL="0">
              <a:buNone/>
            </a:pPr>
            <a:r>
              <a:rPr lang="en-US" sz="1500" b="1" dirty="0">
                <a:solidFill>
                  <a:schemeClr val="tx2"/>
                </a:solidFill>
              </a:rPr>
              <a:t>SUBORDONNÉE</a:t>
            </a:r>
            <a:r>
              <a:rPr lang="en-US" sz="1500" dirty="0">
                <a:solidFill>
                  <a:schemeClr val="tx2"/>
                </a:solidFill>
              </a:rPr>
              <a:t> : tout le train va au bout, locomotive en tête</a:t>
            </a:r>
            <a:endParaRPr lang="en-US" sz="1500" dirty="0"/>
          </a:p>
        </p:txBody>
      </p:sp>
      <p:sp>
        <p:nvSpPr>
          <p:cNvPr id="29" name="Shape 26"/>
          <p:cNvSpPr/>
          <p:nvPr/>
        </p:nvSpPr>
        <p:spPr>
          <a:xfrm>
            <a:off x="548640" y="4206240"/>
            <a:ext cx="2332452" cy="713232"/>
          </a:xfrm>
          <a:prstGeom prst="roundRect">
            <a:avLst>
              <a:gd name="adj" fmla="val 12821"/>
            </a:avLst>
          </a:prstGeom>
          <a:solidFill>
            <a:schemeClr val="bg1"/>
          </a:solidFill>
          <a:ln w="15875">
            <a:solidFill>
              <a:srgbClr val="D5DCE6"/>
            </a:solidFill>
            <a:prstDash val="solid"/>
          </a:ln>
        </p:spPr>
      </p:sp>
      <p:sp>
        <p:nvSpPr>
          <p:cNvPr id="30" name="Text 27"/>
          <p:cNvSpPr txBox="1"/>
          <p:nvPr/>
        </p:nvSpPr>
        <p:spPr>
          <a:xfrm>
            <a:off x="548640" y="4206240"/>
            <a:ext cx="2332452" cy="713232"/>
          </a:xfrm>
          <a:prstGeom prst="rect">
            <a:avLst/>
          </a:prstGeom>
          <a:noFill/>
          <a:ln/>
        </p:spPr>
        <p:txBody>
          <a:bodyPr wrap="square" lIns="0" tIns="0" rIns="0" bIns="0" rtlCol="0" anchor="ctr"/>
          <a:lstStyle/>
          <a:p>
            <a:pPr algn="ctr" indent="0" marL="0">
              <a:buNone/>
            </a:pPr>
            <a:r>
              <a:rPr lang="en-US" sz="2600" dirty="0">
                <a:solidFill>
                  <a:schemeClr val="tx1"/>
                </a:solidFill>
              </a:rPr>
              <a:t>…, omdat ik</a:t>
            </a:r>
            <a:endParaRPr lang="en-US" sz="2600" dirty="0"/>
          </a:p>
        </p:txBody>
      </p:sp>
      <p:sp>
        <p:nvSpPr>
          <p:cNvPr id="31" name="Shape 28"/>
          <p:cNvSpPr/>
          <p:nvPr/>
        </p:nvSpPr>
        <p:spPr>
          <a:xfrm>
            <a:off x="2963388" y="4206240"/>
            <a:ext cx="2703332" cy="713232"/>
          </a:xfrm>
          <a:prstGeom prst="roundRect">
            <a:avLst>
              <a:gd name="adj" fmla="val 12821"/>
            </a:avLst>
          </a:prstGeom>
          <a:solidFill>
            <a:schemeClr val="bg1"/>
          </a:solidFill>
          <a:ln w="15875">
            <a:solidFill>
              <a:srgbClr val="D5DCE6"/>
            </a:solidFill>
            <a:prstDash val="solid"/>
          </a:ln>
        </p:spPr>
      </p:sp>
      <p:sp>
        <p:nvSpPr>
          <p:cNvPr id="32" name="Text 29"/>
          <p:cNvSpPr txBox="1"/>
          <p:nvPr/>
        </p:nvSpPr>
        <p:spPr>
          <a:xfrm>
            <a:off x="2963388" y="4206240"/>
            <a:ext cx="2703332" cy="713232"/>
          </a:xfrm>
          <a:prstGeom prst="rect">
            <a:avLst/>
          </a:prstGeom>
          <a:noFill/>
          <a:ln/>
        </p:spPr>
        <p:txBody>
          <a:bodyPr wrap="square" lIns="0" tIns="0" rIns="0" bIns="0" rtlCol="0" anchor="ctr"/>
          <a:lstStyle/>
          <a:p>
            <a:pPr algn="ctr" indent="0" marL="0">
              <a:buNone/>
            </a:pPr>
            <a:r>
              <a:rPr lang="en-US" sz="2600" dirty="0">
                <a:solidFill>
                  <a:schemeClr val="tx1"/>
                </a:solidFill>
              </a:rPr>
              <a:t>gisteren lang</a:t>
            </a:r>
            <a:endParaRPr lang="en-US" sz="2600" dirty="0"/>
          </a:p>
        </p:txBody>
      </p:sp>
      <p:sp>
        <p:nvSpPr>
          <p:cNvPr id="33" name="Shape 30"/>
          <p:cNvSpPr/>
          <p:nvPr/>
        </p:nvSpPr>
        <p:spPr>
          <a:xfrm>
            <a:off x="5749016" y="4206240"/>
            <a:ext cx="1023952" cy="713232"/>
          </a:xfrm>
          <a:prstGeom prst="roundRect">
            <a:avLst>
              <a:gd name="adj" fmla="val 12821"/>
            </a:avLst>
          </a:prstGeom>
          <a:solidFill>
            <a:schemeClr val="tx2"/>
          </a:solidFill>
          <a:ln w="12700">
            <a:solidFill>
              <a:srgbClr val="FFFFFF">
                <a:alpha val="0"/>
              </a:srgbClr>
            </a:solidFill>
            <a:prstDash val="solid"/>
          </a:ln>
        </p:spPr>
      </p:sp>
      <p:sp>
        <p:nvSpPr>
          <p:cNvPr id="34" name="Text 31"/>
          <p:cNvSpPr txBox="1"/>
          <p:nvPr/>
        </p:nvSpPr>
        <p:spPr>
          <a:xfrm>
            <a:off x="5749016" y="4206240"/>
            <a:ext cx="1023952" cy="713232"/>
          </a:xfrm>
          <a:prstGeom prst="rect">
            <a:avLst/>
          </a:prstGeom>
          <a:noFill/>
          <a:ln/>
        </p:spPr>
        <p:txBody>
          <a:bodyPr wrap="square" lIns="0" tIns="0" rIns="0" bIns="0" rtlCol="0" anchor="ctr"/>
          <a:lstStyle/>
          <a:p>
            <a:pPr algn="ctr" indent="0" marL="0">
              <a:buNone/>
            </a:pPr>
            <a:r>
              <a:rPr lang="en-US" sz="2600" b="1" dirty="0">
                <a:solidFill>
                  <a:schemeClr val="bg1"/>
                </a:solidFill>
              </a:rPr>
              <a:t>heb</a:t>
            </a:r>
            <a:endParaRPr lang="en-US" sz="2600" dirty="0"/>
          </a:p>
        </p:txBody>
      </p:sp>
      <p:sp>
        <p:nvSpPr>
          <p:cNvPr id="35" name="Shape 32"/>
          <p:cNvSpPr/>
          <p:nvPr/>
        </p:nvSpPr>
        <p:spPr>
          <a:xfrm>
            <a:off x="6855264" y="4206240"/>
            <a:ext cx="1647032" cy="713232"/>
          </a:xfrm>
          <a:prstGeom prst="roundRect">
            <a:avLst>
              <a:gd name="adj" fmla="val 12821"/>
            </a:avLst>
          </a:prstGeom>
          <a:solidFill>
            <a:schemeClr val="accent1"/>
          </a:solidFill>
          <a:ln w="12700">
            <a:solidFill>
              <a:srgbClr val="FFFFFF">
                <a:alpha val="0"/>
              </a:srgbClr>
            </a:solidFill>
            <a:prstDash val="solid"/>
          </a:ln>
        </p:spPr>
      </p:sp>
      <p:sp>
        <p:nvSpPr>
          <p:cNvPr id="36" name="Text 33"/>
          <p:cNvSpPr txBox="1"/>
          <p:nvPr/>
        </p:nvSpPr>
        <p:spPr>
          <a:xfrm>
            <a:off x="6855264" y="4206240"/>
            <a:ext cx="1647032" cy="713232"/>
          </a:xfrm>
          <a:prstGeom prst="rect">
            <a:avLst/>
          </a:prstGeom>
          <a:noFill/>
          <a:ln/>
        </p:spPr>
        <p:txBody>
          <a:bodyPr wrap="square" lIns="0" tIns="0" rIns="0" bIns="0" rtlCol="0" anchor="ctr"/>
          <a:lstStyle/>
          <a:p>
            <a:pPr algn="ctr" indent="0" marL="0">
              <a:buNone/>
            </a:pPr>
            <a:r>
              <a:rPr lang="en-US" sz="2600" b="1" dirty="0">
                <a:solidFill>
                  <a:schemeClr val="bg1"/>
                </a:solidFill>
              </a:rPr>
              <a:t>moeten</a:t>
            </a:r>
            <a:endParaRPr lang="en-US" sz="2600" dirty="0"/>
          </a:p>
        </p:txBody>
      </p:sp>
      <p:sp>
        <p:nvSpPr>
          <p:cNvPr id="37" name="Shape 34"/>
          <p:cNvSpPr/>
          <p:nvPr/>
        </p:nvSpPr>
        <p:spPr>
          <a:xfrm>
            <a:off x="8584592" y="4206240"/>
            <a:ext cx="1854725" cy="713232"/>
          </a:xfrm>
          <a:prstGeom prst="roundRect">
            <a:avLst>
              <a:gd name="adj" fmla="val 12821"/>
            </a:avLst>
          </a:prstGeom>
          <a:solidFill>
            <a:srgbClr val="FBEDEB"/>
          </a:solidFill>
          <a:ln w="25400">
            <a:solidFill>
              <a:srgbClr val="B83227"/>
            </a:solidFill>
            <a:prstDash val="solid"/>
          </a:ln>
        </p:spPr>
      </p:sp>
      <p:sp>
        <p:nvSpPr>
          <p:cNvPr id="38" name="Text 35"/>
          <p:cNvSpPr txBox="1"/>
          <p:nvPr/>
        </p:nvSpPr>
        <p:spPr>
          <a:xfrm>
            <a:off x="8584592" y="4206240"/>
            <a:ext cx="1854725" cy="713232"/>
          </a:xfrm>
          <a:prstGeom prst="rect">
            <a:avLst/>
          </a:prstGeom>
          <a:noFill/>
          <a:ln/>
        </p:spPr>
        <p:txBody>
          <a:bodyPr wrap="square" lIns="0" tIns="0" rIns="0" bIns="0" rtlCol="0" anchor="ctr"/>
          <a:lstStyle/>
          <a:p>
            <a:pPr algn="ctr" indent="0" marL="0">
              <a:buNone/>
            </a:pPr>
            <a:r>
              <a:rPr lang="en-US" sz="2600" b="1" dirty="0">
                <a:solidFill>
                  <a:schemeClr val="accent6"/>
                </a:solidFill>
              </a:rPr>
              <a:t>werken.</a:t>
            </a:r>
            <a:endParaRPr lang="en-US" sz="2600" dirty="0"/>
          </a:p>
        </p:txBody>
      </p:sp>
      <p:sp>
        <p:nvSpPr>
          <p:cNvPr id="39" name="Shape 36"/>
          <p:cNvSpPr/>
          <p:nvPr/>
        </p:nvSpPr>
        <p:spPr>
          <a:xfrm>
            <a:off x="457200" y="5074920"/>
            <a:ext cx="10073557" cy="45720"/>
          </a:xfrm>
          <a:prstGeom prst="rect">
            <a:avLst/>
          </a:prstGeom>
          <a:solidFill>
            <a:srgbClr val="8A96A8"/>
          </a:solidFill>
          <a:ln w="12700">
            <a:solidFill>
              <a:srgbClr val="FFFFFF">
                <a:alpha val="0"/>
              </a:srgbClr>
            </a:solidFill>
            <a:prstDash val="solid"/>
          </a:ln>
        </p:spPr>
      </p:sp>
      <p:sp>
        <p:nvSpPr>
          <p:cNvPr id="40" name="Shape 37"/>
          <p:cNvSpPr/>
          <p:nvPr/>
        </p:nvSpPr>
        <p:spPr>
          <a:xfrm>
            <a:off x="5901133" y="4928616"/>
            <a:ext cx="146304" cy="146304"/>
          </a:xfrm>
          <a:prstGeom prst="ellipse">
            <a:avLst/>
          </a:prstGeom>
          <a:solidFill>
            <a:srgbClr val="1B2333"/>
          </a:solidFill>
          <a:ln w="12700">
            <a:solidFill>
              <a:srgbClr val="FFFFFF">
                <a:alpha val="0"/>
              </a:srgbClr>
            </a:solidFill>
            <a:prstDash val="solid"/>
          </a:ln>
        </p:spPr>
      </p:sp>
      <p:sp>
        <p:nvSpPr>
          <p:cNvPr id="41" name="Shape 38"/>
          <p:cNvSpPr/>
          <p:nvPr/>
        </p:nvSpPr>
        <p:spPr>
          <a:xfrm>
            <a:off x="6474547" y="4928616"/>
            <a:ext cx="146304" cy="146304"/>
          </a:xfrm>
          <a:prstGeom prst="ellipse">
            <a:avLst/>
          </a:prstGeom>
          <a:solidFill>
            <a:srgbClr val="1B2333"/>
          </a:solidFill>
          <a:ln w="12700">
            <a:solidFill>
              <a:srgbClr val="FFFFFF">
                <a:alpha val="0"/>
              </a:srgbClr>
            </a:solidFill>
            <a:prstDash val="solid"/>
          </a:ln>
        </p:spPr>
      </p:sp>
      <p:sp>
        <p:nvSpPr>
          <p:cNvPr id="42" name="Shape 39"/>
          <p:cNvSpPr/>
          <p:nvPr/>
        </p:nvSpPr>
        <p:spPr>
          <a:xfrm>
            <a:off x="5858744" y="4005072"/>
            <a:ext cx="146304" cy="219456"/>
          </a:xfrm>
          <a:prstGeom prst="rect">
            <a:avLst/>
          </a:prstGeom>
          <a:solidFill>
            <a:schemeClr val="tx2"/>
          </a:solidFill>
          <a:ln w="12700">
            <a:solidFill>
              <a:srgbClr val="FFFFFF">
                <a:alpha val="0"/>
              </a:srgbClr>
            </a:solidFill>
            <a:prstDash val="solid"/>
          </a:ln>
        </p:spPr>
      </p:sp>
      <p:sp>
        <p:nvSpPr>
          <p:cNvPr id="43" name="Shape 40"/>
          <p:cNvSpPr/>
          <p:nvPr/>
        </p:nvSpPr>
        <p:spPr>
          <a:xfrm>
            <a:off x="6772968" y="4741164"/>
            <a:ext cx="82296" cy="914"/>
          </a:xfrm>
          <a:prstGeom prst="line">
            <a:avLst/>
          </a:prstGeom>
          <a:noFill/>
          <a:ln w="31750">
            <a:solidFill>
              <a:srgbClr val="1B2333"/>
            </a:solidFill>
            <a:prstDash val="solid"/>
          </a:ln>
        </p:spPr>
      </p:sp>
      <p:sp>
        <p:nvSpPr>
          <p:cNvPr id="44" name="Shape 41"/>
          <p:cNvSpPr/>
          <p:nvPr/>
        </p:nvSpPr>
        <p:spPr>
          <a:xfrm>
            <a:off x="7144459" y="4928616"/>
            <a:ext cx="146304" cy="146304"/>
          </a:xfrm>
          <a:prstGeom prst="ellipse">
            <a:avLst/>
          </a:prstGeom>
          <a:solidFill>
            <a:srgbClr val="1B2333"/>
          </a:solidFill>
          <a:ln w="12700">
            <a:solidFill>
              <a:srgbClr val="FFFFFF">
                <a:alpha val="0"/>
              </a:srgbClr>
            </a:solidFill>
            <a:prstDash val="solid"/>
          </a:ln>
        </p:spPr>
      </p:sp>
      <p:sp>
        <p:nvSpPr>
          <p:cNvPr id="45" name="Shape 42"/>
          <p:cNvSpPr/>
          <p:nvPr/>
        </p:nvSpPr>
        <p:spPr>
          <a:xfrm>
            <a:off x="8066797" y="4928616"/>
            <a:ext cx="146304" cy="146304"/>
          </a:xfrm>
          <a:prstGeom prst="ellipse">
            <a:avLst/>
          </a:prstGeom>
          <a:solidFill>
            <a:srgbClr val="1B2333"/>
          </a:solidFill>
          <a:ln w="12700">
            <a:solidFill>
              <a:srgbClr val="FFFFFF">
                <a:alpha val="0"/>
              </a:srgbClr>
            </a:solidFill>
            <a:prstDash val="solid"/>
          </a:ln>
        </p:spPr>
      </p:sp>
      <p:sp>
        <p:nvSpPr>
          <p:cNvPr id="46" name="Shape 43"/>
          <p:cNvSpPr/>
          <p:nvPr/>
        </p:nvSpPr>
        <p:spPr>
          <a:xfrm>
            <a:off x="8502296" y="4741164"/>
            <a:ext cx="82296" cy="914"/>
          </a:xfrm>
          <a:prstGeom prst="line">
            <a:avLst/>
          </a:prstGeom>
          <a:noFill/>
          <a:ln w="31750">
            <a:solidFill>
              <a:srgbClr val="1B2333"/>
            </a:solidFill>
            <a:prstDash val="solid"/>
          </a:ln>
        </p:spPr>
      </p:sp>
      <p:sp>
        <p:nvSpPr>
          <p:cNvPr id="47" name="Shape 44"/>
          <p:cNvSpPr/>
          <p:nvPr/>
        </p:nvSpPr>
        <p:spPr>
          <a:xfrm>
            <a:off x="8919480" y="4928616"/>
            <a:ext cx="146304" cy="146304"/>
          </a:xfrm>
          <a:prstGeom prst="ellipse">
            <a:avLst/>
          </a:prstGeom>
          <a:solidFill>
            <a:srgbClr val="1B2333"/>
          </a:solidFill>
          <a:ln w="12700">
            <a:solidFill>
              <a:srgbClr val="FFFFFF">
                <a:alpha val="0"/>
              </a:srgbClr>
            </a:solidFill>
            <a:prstDash val="solid"/>
          </a:ln>
        </p:spPr>
      </p:sp>
      <p:sp>
        <p:nvSpPr>
          <p:cNvPr id="48" name="Shape 45"/>
          <p:cNvSpPr/>
          <p:nvPr/>
        </p:nvSpPr>
        <p:spPr>
          <a:xfrm>
            <a:off x="9958126" y="4928616"/>
            <a:ext cx="146304" cy="146304"/>
          </a:xfrm>
          <a:prstGeom prst="ellipse">
            <a:avLst/>
          </a:prstGeom>
          <a:solidFill>
            <a:srgbClr val="1B2333"/>
          </a:solidFill>
          <a:ln w="12700">
            <a:solidFill>
              <a:srgbClr val="FFFFFF">
                <a:alpha val="0"/>
              </a:srgbClr>
            </a:solidFill>
            <a:prstDash val="solid"/>
          </a:ln>
        </p:spPr>
      </p:sp>
      <p:pic>
        <p:nvPicPr>
          <p:cNvPr id="49" name="Image 0" descr="locomotive">    </p:cNvPr>
          <p:cNvPicPr>
            <a:picLocks noChangeAspect="1"/>
          </p:cNvPicPr>
          <p:nvPr/>
        </p:nvPicPr>
        <p:blipFill>
          <a:blip r:embed="rId1"/>
          <a:stretch>
            <a:fillRect/>
          </a:stretch>
        </p:blipFill>
        <p:spPr>
          <a:xfrm>
            <a:off x="10332720" y="4069080"/>
            <a:ext cx="1097280" cy="1097280"/>
          </a:xfrm>
          <a:prstGeom prst="rect">
            <a:avLst/>
          </a:prstGeom>
        </p:spPr>
      </p:pic>
      <p:sp>
        <p:nvSpPr>
          <p:cNvPr id="50" name="Shape 46"/>
          <p:cNvSpPr/>
          <p:nvPr/>
        </p:nvSpPr>
        <p:spPr>
          <a:xfrm>
            <a:off x="548640" y="5486400"/>
            <a:ext cx="11091672" cy="731520"/>
          </a:xfrm>
          <a:prstGeom prst="roundRect">
            <a:avLst>
              <a:gd name="adj" fmla="val 10000"/>
            </a:avLst>
          </a:prstGeom>
          <a:solidFill>
            <a:schemeClr val="tx2"/>
          </a:solidFill>
          <a:ln w="12700">
            <a:solidFill>
              <a:srgbClr val="FFFFFF">
                <a:alpha val="0"/>
              </a:srgbClr>
            </a:solidFill>
            <a:prstDash val="solid"/>
          </a:ln>
        </p:spPr>
      </p:sp>
      <p:sp>
        <p:nvSpPr>
          <p:cNvPr id="51" name="Text 47"/>
          <p:cNvSpPr txBox="1"/>
          <p:nvPr/>
        </p:nvSpPr>
        <p:spPr>
          <a:xfrm>
            <a:off x="822960" y="5486400"/>
            <a:ext cx="10607040" cy="731520"/>
          </a:xfrm>
          <a:prstGeom prst="rect">
            <a:avLst/>
          </a:prstGeom>
          <a:noFill/>
          <a:ln/>
        </p:spPr>
        <p:txBody>
          <a:bodyPr wrap="square" lIns="0" tIns="0" rIns="0" bIns="0" rtlCol="0" anchor="ctr"/>
          <a:lstStyle/>
          <a:p>
            <a:pPr algn="l" indent="0" marL="0">
              <a:buNone/>
            </a:pPr>
            <a:r>
              <a:rPr lang="en-US" sz="1600" b="1" dirty="0">
                <a:solidFill>
                  <a:schemeClr val="bg1"/>
                </a:solidFill>
              </a:rPr>
              <a:t>locomotive</a:t>
            </a:r>
            <a:r>
              <a:rPr lang="en-US" sz="1600" dirty="0">
                <a:solidFill>
                  <a:schemeClr val="bg1"/>
                </a:solidFill>
              </a:rPr>
              <a:t> = le verbe conjugué · </a:t>
            </a:r>
            <a:r>
              <a:rPr lang="en-US" sz="1600" b="1" dirty="0">
                <a:solidFill>
                  <a:schemeClr val="bg1"/>
                </a:solidFill>
              </a:rPr>
              <a:t>wagon 1</a:t>
            </a:r>
            <a:r>
              <a:rPr lang="en-US" sz="1600" dirty="0">
                <a:solidFill>
                  <a:schemeClr val="bg1"/>
                </a:solidFill>
              </a:rPr>
              <a:t> = le verbe pilote (</a:t>
            </a:r>
            <a:r>
              <a:rPr lang="en-US" sz="1600" i="1" dirty="0">
                <a:solidFill>
                  <a:schemeClr val="bg1"/>
                </a:solidFill>
              </a:rPr>
              <a:t>moeten</a:t>
            </a:r>
            <a:r>
              <a:rPr lang="en-US" sz="1600" dirty="0">
                <a:solidFill>
                  <a:schemeClr val="bg1"/>
                </a:solidFill>
              </a:rPr>
              <a:t>) · </a:t>
            </a:r>
            <a:r>
              <a:rPr lang="en-US" sz="1600" b="1" dirty="0">
                <a:solidFill>
                  <a:schemeClr val="bg1"/>
                </a:solidFill>
              </a:rPr>
              <a:t>wagon 2</a:t>
            </a:r>
            <a:r>
              <a:rPr lang="en-US" sz="1600" dirty="0">
                <a:solidFill>
                  <a:schemeClr val="bg1"/>
                </a:solidFill>
              </a:rPr>
              <a:t> = l’action (</a:t>
            </a:r>
            <a:r>
              <a:rPr lang="en-US" sz="1600" i="1" dirty="0">
                <a:solidFill>
                  <a:schemeClr val="bg1"/>
                </a:solidFill>
              </a:rPr>
              <a:t>werken</a:t>
            </a:r>
            <a:r>
              <a:rPr lang="en-US" sz="1600" dirty="0">
                <a:solidFill>
                  <a:schemeClr val="bg1"/>
                </a:solidFill>
              </a:rPr>
              <a:t>). L’ordre des wagons ne change pas.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Quels verbes déclenchent le double infinitif ?</a:t>
            </a:r>
            <a:endParaRPr lang="en-US" sz="3000" dirty="0"/>
          </a:p>
        </p:txBody>
      </p:sp>
      <p:sp>
        <p:nvSpPr>
          <p:cNvPr id="3" name="tag"/>
          <p:cNvSpPr/>
          <p:nvPr/>
        </p:nvSpPr>
        <p:spPr>
          <a:xfrm>
            <a:off x="548640" y="237744"/>
            <a:ext cx="166055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LES FAMILLES</a:t>
            </a:r>
            <a:endParaRPr lang="en-US" sz="1200" dirty="0"/>
          </a:p>
        </p:txBody>
      </p:sp>
      <p:sp>
        <p:nvSpPr>
          <p:cNvPr id="5" name="Shape 2"/>
          <p:cNvSpPr/>
          <p:nvPr/>
        </p:nvSpPr>
        <p:spPr>
          <a:xfrm>
            <a:off x="548640" y="1508760"/>
            <a:ext cx="2086661" cy="3749040"/>
          </a:xfrm>
          <a:prstGeom prst="roundRect">
            <a:avLst>
              <a:gd name="adj" fmla="val 5259"/>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08760"/>
            <a:ext cx="2086661" cy="457200"/>
          </a:xfrm>
          <a:prstGeom prst="roundRect">
            <a:avLst>
              <a:gd name="adj" fmla="val 24000"/>
            </a:avLst>
          </a:prstGeom>
          <a:solidFill>
            <a:schemeClr val="accent2"/>
          </a:solidFill>
          <a:ln w="12700">
            <a:solidFill>
              <a:srgbClr val="FFFFFF">
                <a:alpha val="0"/>
              </a:srgbClr>
            </a:solidFill>
            <a:prstDash val="solid"/>
          </a:ln>
        </p:spPr>
      </p:sp>
      <p:sp>
        <p:nvSpPr>
          <p:cNvPr id="7" name="Text 4"/>
          <p:cNvSpPr txBox="1"/>
          <p:nvPr/>
        </p:nvSpPr>
        <p:spPr>
          <a:xfrm>
            <a:off x="548640" y="1508760"/>
            <a:ext cx="2086661"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pic>
        <p:nvPicPr>
          <p:cNvPr id="8" name="Image 0" descr="flexed biceps">    </p:cNvPr>
          <p:cNvPicPr>
            <a:picLocks noChangeAspect="1"/>
          </p:cNvPicPr>
          <p:nvPr/>
        </p:nvPicPr>
        <p:blipFill>
          <a:blip r:embed="rId1"/>
          <a:stretch>
            <a:fillRect/>
          </a:stretch>
        </p:blipFill>
        <p:spPr>
          <a:xfrm>
            <a:off x="677570" y="2103120"/>
            <a:ext cx="868680" cy="868680"/>
          </a:xfrm>
          <a:prstGeom prst="rect">
            <a:avLst/>
          </a:prstGeom>
        </p:spPr>
      </p:pic>
      <p:pic>
        <p:nvPicPr>
          <p:cNvPr id="9" name="Image 1" descr="red heart">    </p:cNvPr>
          <p:cNvPicPr>
            <a:picLocks noChangeAspect="1"/>
          </p:cNvPicPr>
          <p:nvPr/>
        </p:nvPicPr>
        <p:blipFill>
          <a:blip r:embed="rId2"/>
          <a:stretch>
            <a:fillRect/>
          </a:stretch>
        </p:blipFill>
        <p:spPr>
          <a:xfrm>
            <a:off x="1637690" y="2103120"/>
            <a:ext cx="868680" cy="868680"/>
          </a:xfrm>
          <a:prstGeom prst="rect">
            <a:avLst/>
          </a:prstGeom>
        </p:spPr>
      </p:pic>
      <p:sp>
        <p:nvSpPr>
          <p:cNvPr id="10" name="Text 5"/>
          <p:cNvSpPr txBox="1"/>
          <p:nvPr/>
        </p:nvSpPr>
        <p:spPr>
          <a:xfrm>
            <a:off x="640080" y="3063240"/>
            <a:ext cx="1903781" cy="685800"/>
          </a:xfrm>
          <a:prstGeom prst="rect">
            <a:avLst/>
          </a:prstGeom>
          <a:noFill/>
          <a:ln/>
        </p:spPr>
        <p:txBody>
          <a:bodyPr wrap="square" lIns="0" tIns="0" rIns="0" bIns="0" rtlCol="0" anchor="ctr"/>
          <a:lstStyle/>
          <a:p>
            <a:pPr algn="ctr" indent="0" marL="0">
              <a:buNone/>
            </a:pPr>
            <a:r>
              <a:rPr lang="en-US" sz="1700" b="1" dirty="0">
                <a:solidFill>
                  <a:schemeClr val="accent2"/>
                </a:solidFill>
              </a:rPr>
              <a:t>les modaux</a:t>
            </a:r>
            <a:endParaRPr lang="en-US" sz="1700" dirty="0"/>
          </a:p>
        </p:txBody>
      </p:sp>
      <p:sp>
        <p:nvSpPr>
          <p:cNvPr id="11" name="Text 6"/>
          <p:cNvSpPr txBox="1"/>
          <p:nvPr/>
        </p:nvSpPr>
        <p:spPr>
          <a:xfrm>
            <a:off x="658368" y="3840480"/>
            <a:ext cx="1867205" cy="1188720"/>
          </a:xfrm>
          <a:prstGeom prst="rect">
            <a:avLst/>
          </a:prstGeom>
          <a:noFill/>
          <a:ln/>
        </p:spPr>
        <p:txBody>
          <a:bodyPr wrap="square" lIns="0" tIns="0" rIns="0" bIns="0" rtlCol="0" anchor="ctr"/>
          <a:lstStyle/>
          <a:p>
            <a:pPr algn="ctr" indent="0" marL="0">
              <a:buNone/>
            </a:pPr>
            <a:r>
              <a:rPr lang="en-US" sz="1500" i="1" dirty="0">
                <a:solidFill>
                  <a:schemeClr val="tx1"/>
                </a:solidFill>
              </a:rPr>
              <a:t>Ik heb moeten werken.</a:t>
            </a:r>
            <a:endParaRPr lang="en-US" sz="1500" dirty="0"/>
          </a:p>
        </p:txBody>
      </p:sp>
      <p:sp>
        <p:nvSpPr>
          <p:cNvPr id="12" name="Shape 7"/>
          <p:cNvSpPr/>
          <p:nvPr/>
        </p:nvSpPr>
        <p:spPr>
          <a:xfrm>
            <a:off x="2799893" y="1508760"/>
            <a:ext cx="2086661" cy="3749040"/>
          </a:xfrm>
          <a:prstGeom prst="roundRect">
            <a:avLst>
              <a:gd name="adj" fmla="val 5259"/>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13" name="Shape 8"/>
          <p:cNvSpPr/>
          <p:nvPr/>
        </p:nvSpPr>
        <p:spPr>
          <a:xfrm>
            <a:off x="2799893" y="1508760"/>
            <a:ext cx="2086661" cy="457200"/>
          </a:xfrm>
          <a:prstGeom prst="roundRect">
            <a:avLst>
              <a:gd name="adj" fmla="val 24000"/>
            </a:avLst>
          </a:prstGeom>
          <a:solidFill>
            <a:schemeClr val="accent4"/>
          </a:solidFill>
          <a:ln w="12700">
            <a:solidFill>
              <a:srgbClr val="FFFFFF">
                <a:alpha val="0"/>
              </a:srgbClr>
            </a:solidFill>
            <a:prstDash val="solid"/>
          </a:ln>
        </p:spPr>
      </p:sp>
      <p:sp>
        <p:nvSpPr>
          <p:cNvPr id="14" name="Text 9"/>
          <p:cNvSpPr txBox="1"/>
          <p:nvPr/>
        </p:nvSpPr>
        <p:spPr>
          <a:xfrm>
            <a:off x="2799893" y="1508760"/>
            <a:ext cx="2086661"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pic>
        <p:nvPicPr>
          <p:cNvPr id="15" name="Image 2" descr="wrench">    </p:cNvPr>
          <p:cNvPicPr>
            <a:picLocks noChangeAspect="1"/>
          </p:cNvPicPr>
          <p:nvPr/>
        </p:nvPicPr>
        <p:blipFill>
          <a:blip r:embed="rId3"/>
          <a:stretch>
            <a:fillRect/>
          </a:stretch>
        </p:blipFill>
        <p:spPr>
          <a:xfrm>
            <a:off x="3408883" y="2103120"/>
            <a:ext cx="868680" cy="868680"/>
          </a:xfrm>
          <a:prstGeom prst="rect">
            <a:avLst/>
          </a:prstGeom>
        </p:spPr>
      </p:pic>
      <p:sp>
        <p:nvSpPr>
          <p:cNvPr id="16" name="Text 10"/>
          <p:cNvSpPr txBox="1"/>
          <p:nvPr/>
        </p:nvSpPr>
        <p:spPr>
          <a:xfrm>
            <a:off x="2891333" y="3063240"/>
            <a:ext cx="1903781" cy="685800"/>
          </a:xfrm>
          <a:prstGeom prst="rect">
            <a:avLst/>
          </a:prstGeom>
          <a:noFill/>
          <a:ln/>
        </p:spPr>
        <p:txBody>
          <a:bodyPr wrap="square" lIns="0" tIns="0" rIns="0" bIns="0" rtlCol="0" anchor="ctr"/>
          <a:lstStyle/>
          <a:p>
            <a:pPr algn="ctr" indent="0" marL="0">
              <a:buNone/>
            </a:pPr>
            <a:r>
              <a:rPr lang="en-US" sz="1700" b="1" dirty="0">
                <a:solidFill>
                  <a:schemeClr val="accent4"/>
                </a:solidFill>
              </a:rPr>
              <a:t>laten</a:t>
            </a:r>
            <a:endParaRPr lang="en-US" sz="1700" dirty="0"/>
          </a:p>
        </p:txBody>
      </p:sp>
      <p:sp>
        <p:nvSpPr>
          <p:cNvPr id="17" name="Text 11"/>
          <p:cNvSpPr txBox="1"/>
          <p:nvPr/>
        </p:nvSpPr>
        <p:spPr>
          <a:xfrm>
            <a:off x="2909621" y="3840480"/>
            <a:ext cx="1867205" cy="1188720"/>
          </a:xfrm>
          <a:prstGeom prst="rect">
            <a:avLst/>
          </a:prstGeom>
          <a:noFill/>
          <a:ln/>
        </p:spPr>
        <p:txBody>
          <a:bodyPr wrap="square" lIns="0" tIns="0" rIns="0" bIns="0" rtlCol="0" anchor="ctr"/>
          <a:lstStyle/>
          <a:p>
            <a:pPr algn="ctr" indent="0" marL="0">
              <a:buNone/>
            </a:pPr>
            <a:r>
              <a:rPr lang="en-US" sz="1500" i="1" dirty="0">
                <a:solidFill>
                  <a:schemeClr val="tx1"/>
                </a:solidFill>
              </a:rPr>
              <a:t>Ik heb mijn auto laten repareren.</a:t>
            </a:r>
            <a:endParaRPr lang="en-US" sz="1500" dirty="0"/>
          </a:p>
        </p:txBody>
      </p:sp>
      <p:sp>
        <p:nvSpPr>
          <p:cNvPr id="18" name="Shape 12"/>
          <p:cNvSpPr/>
          <p:nvPr/>
        </p:nvSpPr>
        <p:spPr>
          <a:xfrm>
            <a:off x="5051146" y="1508760"/>
            <a:ext cx="2086661" cy="3749040"/>
          </a:xfrm>
          <a:prstGeom prst="roundRect">
            <a:avLst>
              <a:gd name="adj" fmla="val 5259"/>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9" name="Shape 13"/>
          <p:cNvSpPr/>
          <p:nvPr/>
        </p:nvSpPr>
        <p:spPr>
          <a:xfrm>
            <a:off x="5051146" y="1508760"/>
            <a:ext cx="2086661" cy="457200"/>
          </a:xfrm>
          <a:prstGeom prst="roundRect">
            <a:avLst>
              <a:gd name="adj" fmla="val 24000"/>
            </a:avLst>
          </a:prstGeom>
          <a:solidFill>
            <a:schemeClr val="accent3"/>
          </a:solidFill>
          <a:ln w="12700">
            <a:solidFill>
              <a:srgbClr val="FFFFFF">
                <a:alpha val="0"/>
              </a:srgbClr>
            </a:solidFill>
            <a:prstDash val="solid"/>
          </a:ln>
        </p:spPr>
      </p:sp>
      <p:sp>
        <p:nvSpPr>
          <p:cNvPr id="20" name="Text 14"/>
          <p:cNvSpPr txBox="1"/>
          <p:nvPr/>
        </p:nvSpPr>
        <p:spPr>
          <a:xfrm>
            <a:off x="5051146" y="1508760"/>
            <a:ext cx="2086661"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pic>
        <p:nvPicPr>
          <p:cNvPr id="21" name="Image 3" descr="person walking">    </p:cNvPr>
          <p:cNvPicPr>
            <a:picLocks noChangeAspect="1"/>
          </p:cNvPicPr>
          <p:nvPr/>
        </p:nvPicPr>
        <p:blipFill>
          <a:blip r:embed="rId4"/>
          <a:stretch>
            <a:fillRect/>
          </a:stretch>
        </p:blipFill>
        <p:spPr>
          <a:xfrm>
            <a:off x="5660136" y="2103120"/>
            <a:ext cx="868680" cy="868680"/>
          </a:xfrm>
          <a:prstGeom prst="rect">
            <a:avLst/>
          </a:prstGeom>
        </p:spPr>
      </p:pic>
      <p:sp>
        <p:nvSpPr>
          <p:cNvPr id="22" name="Text 15"/>
          <p:cNvSpPr txBox="1"/>
          <p:nvPr/>
        </p:nvSpPr>
        <p:spPr>
          <a:xfrm>
            <a:off x="5142586" y="3063240"/>
            <a:ext cx="1903781" cy="685800"/>
          </a:xfrm>
          <a:prstGeom prst="rect">
            <a:avLst/>
          </a:prstGeom>
          <a:noFill/>
          <a:ln/>
        </p:spPr>
        <p:txBody>
          <a:bodyPr wrap="square" lIns="0" tIns="0" rIns="0" bIns="0" rtlCol="0" anchor="ctr"/>
          <a:lstStyle/>
          <a:p>
            <a:pPr algn="ctr" indent="0" marL="0">
              <a:buNone/>
            </a:pPr>
            <a:r>
              <a:rPr lang="en-US" sz="1700" b="1" dirty="0">
                <a:solidFill>
                  <a:schemeClr val="accent3"/>
                </a:solidFill>
              </a:rPr>
              <a:t>gaan · komen · blijven</a:t>
            </a:r>
            <a:endParaRPr lang="en-US" sz="1700" dirty="0"/>
          </a:p>
        </p:txBody>
      </p:sp>
      <p:sp>
        <p:nvSpPr>
          <p:cNvPr id="23" name="Text 16"/>
          <p:cNvSpPr txBox="1"/>
          <p:nvPr/>
        </p:nvSpPr>
        <p:spPr>
          <a:xfrm>
            <a:off x="5160874" y="3840480"/>
            <a:ext cx="1867205" cy="1188720"/>
          </a:xfrm>
          <a:prstGeom prst="rect">
            <a:avLst/>
          </a:prstGeom>
          <a:noFill/>
          <a:ln/>
        </p:spPr>
        <p:txBody>
          <a:bodyPr wrap="square" lIns="0" tIns="0" rIns="0" bIns="0" rtlCol="0" anchor="ctr"/>
          <a:lstStyle/>
          <a:p>
            <a:pPr algn="ctr" indent="0" marL="0">
              <a:buNone/>
            </a:pPr>
            <a:r>
              <a:rPr lang="en-US" sz="1500" i="1" dirty="0">
                <a:solidFill>
                  <a:schemeClr val="tx1"/>
                </a:solidFill>
              </a:rPr>
              <a:t>Ik ben gaan zwemmen.</a:t>
            </a:r>
            <a:endParaRPr lang="en-US" sz="1500" dirty="0"/>
          </a:p>
        </p:txBody>
      </p:sp>
      <p:sp>
        <p:nvSpPr>
          <p:cNvPr id="24" name="Shape 17"/>
          <p:cNvSpPr/>
          <p:nvPr/>
        </p:nvSpPr>
        <p:spPr>
          <a:xfrm>
            <a:off x="7302398" y="1508760"/>
            <a:ext cx="2086661" cy="3749040"/>
          </a:xfrm>
          <a:prstGeom prst="roundRect">
            <a:avLst>
              <a:gd name="adj" fmla="val 5259"/>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25" name="Shape 18"/>
          <p:cNvSpPr/>
          <p:nvPr/>
        </p:nvSpPr>
        <p:spPr>
          <a:xfrm>
            <a:off x="7302398" y="1508760"/>
            <a:ext cx="2086661" cy="457200"/>
          </a:xfrm>
          <a:prstGeom prst="roundRect">
            <a:avLst>
              <a:gd name="adj" fmla="val 24000"/>
            </a:avLst>
          </a:prstGeom>
          <a:solidFill>
            <a:srgbClr val="6E4A9E"/>
          </a:solidFill>
          <a:ln w="12700">
            <a:solidFill>
              <a:srgbClr val="FFFFFF">
                <a:alpha val="0"/>
              </a:srgbClr>
            </a:solidFill>
            <a:prstDash val="solid"/>
          </a:ln>
        </p:spPr>
      </p:sp>
      <p:sp>
        <p:nvSpPr>
          <p:cNvPr id="26" name="Text 19"/>
          <p:cNvSpPr txBox="1"/>
          <p:nvPr/>
        </p:nvSpPr>
        <p:spPr>
          <a:xfrm>
            <a:off x="7302398" y="1508760"/>
            <a:ext cx="2086661"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pic>
        <p:nvPicPr>
          <p:cNvPr id="27" name="Image 4" descr="chair">    </p:cNvPr>
          <p:cNvPicPr>
            <a:picLocks noChangeAspect="1"/>
          </p:cNvPicPr>
          <p:nvPr/>
        </p:nvPicPr>
        <p:blipFill>
          <a:blip r:embed="rId5"/>
          <a:stretch>
            <a:fillRect/>
          </a:stretch>
        </p:blipFill>
        <p:spPr>
          <a:xfrm>
            <a:off x="7911389" y="2103120"/>
            <a:ext cx="868680" cy="868680"/>
          </a:xfrm>
          <a:prstGeom prst="rect">
            <a:avLst/>
          </a:prstGeom>
        </p:spPr>
      </p:pic>
      <p:sp>
        <p:nvSpPr>
          <p:cNvPr id="28" name="Text 20"/>
          <p:cNvSpPr txBox="1"/>
          <p:nvPr/>
        </p:nvSpPr>
        <p:spPr>
          <a:xfrm>
            <a:off x="7393838" y="3063240"/>
            <a:ext cx="1903781" cy="685800"/>
          </a:xfrm>
          <a:prstGeom prst="rect">
            <a:avLst/>
          </a:prstGeom>
          <a:noFill/>
          <a:ln/>
        </p:spPr>
        <p:txBody>
          <a:bodyPr wrap="square" lIns="0" tIns="0" rIns="0" bIns="0" rtlCol="0" anchor="ctr"/>
          <a:lstStyle/>
          <a:p>
            <a:pPr algn="ctr" indent="0" marL="0">
              <a:buNone/>
            </a:pPr>
            <a:r>
              <a:rPr lang="en-US" sz="1700" b="1" dirty="0">
                <a:solidFill>
                  <a:srgbClr val="6E4A9E"/>
                </a:solidFill>
              </a:rPr>
              <a:t>zitten · staan · liggen · lopen</a:t>
            </a:r>
            <a:endParaRPr lang="en-US" sz="1700" dirty="0"/>
          </a:p>
        </p:txBody>
      </p:sp>
      <p:sp>
        <p:nvSpPr>
          <p:cNvPr id="29" name="Text 21"/>
          <p:cNvSpPr txBox="1"/>
          <p:nvPr/>
        </p:nvSpPr>
        <p:spPr>
          <a:xfrm>
            <a:off x="7412126" y="3840480"/>
            <a:ext cx="1867205" cy="1188720"/>
          </a:xfrm>
          <a:prstGeom prst="rect">
            <a:avLst/>
          </a:prstGeom>
          <a:noFill/>
          <a:ln/>
        </p:spPr>
        <p:txBody>
          <a:bodyPr wrap="square" lIns="0" tIns="0" rIns="0" bIns="0" rtlCol="0" anchor="ctr"/>
          <a:lstStyle/>
          <a:p>
            <a:pPr algn="ctr" indent="0" marL="0">
              <a:buNone/>
            </a:pPr>
            <a:r>
              <a:rPr lang="en-US" sz="1500" i="1" dirty="0">
                <a:solidFill>
                  <a:schemeClr val="tx1"/>
                </a:solidFill>
              </a:rPr>
              <a:t>Ik heb zitten lezen.</a:t>
            </a:r>
            <a:endParaRPr lang="en-US" sz="1500" dirty="0"/>
          </a:p>
        </p:txBody>
      </p:sp>
      <p:sp>
        <p:nvSpPr>
          <p:cNvPr id="30" name="Shape 22"/>
          <p:cNvSpPr/>
          <p:nvPr/>
        </p:nvSpPr>
        <p:spPr>
          <a:xfrm>
            <a:off x="9553651" y="1508760"/>
            <a:ext cx="2086661" cy="3749040"/>
          </a:xfrm>
          <a:prstGeom prst="roundRect">
            <a:avLst>
              <a:gd name="adj" fmla="val 5259"/>
            </a:avLst>
          </a:prstGeom>
          <a:solidFill>
            <a:srgbClr val="FFFFFF"/>
          </a:solidFill>
          <a:ln w="25400">
            <a:solidFill>
              <a:srgbClr val="0E7C86"/>
            </a:solidFill>
            <a:prstDash val="solid"/>
          </a:ln>
          <a:effectLst>
            <a:outerShdw sx="100000" sy="100000" kx="0" ky="0" algn="bl" rotWithShape="0" blurRad="101600" dist="25400" dir="3600000">
              <a:srgbClr val="000000">
                <a:alpha val="16000"/>
              </a:srgbClr>
            </a:outerShdw>
          </a:effectLst>
        </p:spPr>
      </p:sp>
      <p:sp>
        <p:nvSpPr>
          <p:cNvPr id="31" name="Shape 23"/>
          <p:cNvSpPr/>
          <p:nvPr/>
        </p:nvSpPr>
        <p:spPr>
          <a:xfrm>
            <a:off x="9553651" y="1508760"/>
            <a:ext cx="2086661" cy="457200"/>
          </a:xfrm>
          <a:prstGeom prst="roundRect">
            <a:avLst>
              <a:gd name="adj" fmla="val 24000"/>
            </a:avLst>
          </a:prstGeom>
          <a:solidFill>
            <a:srgbClr val="0E7C86"/>
          </a:solidFill>
          <a:ln w="12700">
            <a:solidFill>
              <a:srgbClr val="FFFFFF">
                <a:alpha val="0"/>
              </a:srgbClr>
            </a:solidFill>
            <a:prstDash val="solid"/>
          </a:ln>
        </p:spPr>
      </p:sp>
      <p:sp>
        <p:nvSpPr>
          <p:cNvPr id="32" name="Text 24"/>
          <p:cNvSpPr txBox="1"/>
          <p:nvPr/>
        </p:nvSpPr>
        <p:spPr>
          <a:xfrm>
            <a:off x="9553651" y="1508760"/>
            <a:ext cx="2086661"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pic>
        <p:nvPicPr>
          <p:cNvPr id="33" name="Image 5" descr="eyes">    </p:cNvPr>
          <p:cNvPicPr>
            <a:picLocks noChangeAspect="1"/>
          </p:cNvPicPr>
          <p:nvPr/>
        </p:nvPicPr>
        <p:blipFill>
          <a:blip r:embed="rId6"/>
          <a:stretch>
            <a:fillRect/>
          </a:stretch>
        </p:blipFill>
        <p:spPr>
          <a:xfrm>
            <a:off x="9682582" y="2103120"/>
            <a:ext cx="868680" cy="868680"/>
          </a:xfrm>
          <a:prstGeom prst="rect">
            <a:avLst/>
          </a:prstGeom>
        </p:spPr>
      </p:pic>
      <p:pic>
        <p:nvPicPr>
          <p:cNvPr id="34" name="Image 6" descr="ear">    </p:cNvPr>
          <p:cNvPicPr>
            <a:picLocks noChangeAspect="1"/>
          </p:cNvPicPr>
          <p:nvPr/>
        </p:nvPicPr>
        <p:blipFill>
          <a:blip r:embed="rId7"/>
          <a:stretch>
            <a:fillRect/>
          </a:stretch>
        </p:blipFill>
        <p:spPr>
          <a:xfrm>
            <a:off x="10642702" y="2103120"/>
            <a:ext cx="868680" cy="868680"/>
          </a:xfrm>
          <a:prstGeom prst="rect">
            <a:avLst/>
          </a:prstGeom>
        </p:spPr>
      </p:pic>
      <p:sp>
        <p:nvSpPr>
          <p:cNvPr id="35" name="Text 25"/>
          <p:cNvSpPr txBox="1"/>
          <p:nvPr/>
        </p:nvSpPr>
        <p:spPr>
          <a:xfrm>
            <a:off x="9645091" y="3063240"/>
            <a:ext cx="1903781" cy="685800"/>
          </a:xfrm>
          <a:prstGeom prst="rect">
            <a:avLst/>
          </a:prstGeom>
          <a:noFill/>
          <a:ln/>
        </p:spPr>
        <p:txBody>
          <a:bodyPr wrap="square" lIns="0" tIns="0" rIns="0" bIns="0" rtlCol="0" anchor="ctr"/>
          <a:lstStyle/>
          <a:p>
            <a:pPr algn="ctr" indent="0" marL="0">
              <a:buNone/>
            </a:pPr>
            <a:r>
              <a:rPr lang="en-US" sz="1700" b="1" dirty="0">
                <a:solidFill>
                  <a:srgbClr val="0E7C86"/>
                </a:solidFill>
              </a:rPr>
              <a:t>zien · horen · voelen</a:t>
            </a:r>
            <a:endParaRPr lang="en-US" sz="1700" dirty="0"/>
          </a:p>
        </p:txBody>
      </p:sp>
      <p:sp>
        <p:nvSpPr>
          <p:cNvPr id="36" name="Text 26"/>
          <p:cNvSpPr txBox="1"/>
          <p:nvPr/>
        </p:nvSpPr>
        <p:spPr>
          <a:xfrm>
            <a:off x="9663379" y="3840480"/>
            <a:ext cx="1867205" cy="1188720"/>
          </a:xfrm>
          <a:prstGeom prst="rect">
            <a:avLst/>
          </a:prstGeom>
          <a:noFill/>
          <a:ln/>
        </p:spPr>
        <p:txBody>
          <a:bodyPr wrap="square" lIns="0" tIns="0" rIns="0" bIns="0" rtlCol="0" anchor="ctr"/>
          <a:lstStyle/>
          <a:p>
            <a:pPr algn="ctr" indent="0" marL="0">
              <a:buNone/>
            </a:pPr>
            <a:r>
              <a:rPr lang="en-US" sz="1500" i="1" dirty="0">
                <a:solidFill>
                  <a:schemeClr val="tx1"/>
                </a:solidFill>
              </a:rPr>
              <a:t>Ik heb hem zien vertrekken.</a:t>
            </a:r>
            <a:endParaRPr lang="en-US" sz="1500" dirty="0"/>
          </a:p>
        </p:txBody>
      </p:sp>
      <p:sp>
        <p:nvSpPr>
          <p:cNvPr id="37" name="Shape 27"/>
          <p:cNvSpPr/>
          <p:nvPr/>
        </p:nvSpPr>
        <p:spPr>
          <a:xfrm>
            <a:off x="548640" y="5440680"/>
            <a:ext cx="11091672" cy="777240"/>
          </a:xfrm>
          <a:prstGeom prst="roundRect">
            <a:avLst>
              <a:gd name="adj" fmla="val 9412"/>
            </a:avLst>
          </a:prstGeom>
          <a:solidFill>
            <a:schemeClr val="tx2"/>
          </a:solidFill>
          <a:ln w="12700">
            <a:solidFill>
              <a:srgbClr val="FFFFFF">
                <a:alpha val="0"/>
              </a:srgbClr>
            </a:solidFill>
            <a:prstDash val="solid"/>
          </a:ln>
        </p:spPr>
      </p:sp>
      <p:sp>
        <p:nvSpPr>
          <p:cNvPr id="38" name="Text 28"/>
          <p:cNvSpPr txBox="1"/>
          <p:nvPr/>
        </p:nvSpPr>
        <p:spPr>
          <a:xfrm>
            <a:off x="822960" y="5440680"/>
            <a:ext cx="10607040" cy="777240"/>
          </a:xfrm>
          <a:prstGeom prst="rect">
            <a:avLst/>
          </a:prstGeom>
          <a:noFill/>
          <a:ln/>
        </p:spPr>
        <p:txBody>
          <a:bodyPr wrap="square" lIns="0" tIns="0" rIns="0" bIns="0" rtlCol="0" anchor="ctr"/>
          <a:lstStyle/>
          <a:p>
            <a:pPr algn="l" indent="0" marL="0">
              <a:buNone/>
            </a:pPr>
            <a:r>
              <a:rPr lang="en-US" sz="1500" dirty="0">
                <a:solidFill>
                  <a:schemeClr val="bg1"/>
                </a:solidFill>
              </a:rPr>
              <a:t>Au présent, ces verbes se construisent </a:t>
            </a:r>
            <a:r>
              <a:rPr lang="en-US" sz="1500" b="1" dirty="0">
                <a:solidFill>
                  <a:schemeClr val="bg1"/>
                </a:solidFill>
              </a:rPr>
              <a:t>sans te</a:t>
            </a:r>
            <a:r>
              <a:rPr lang="en-US" sz="1500" dirty="0">
                <a:solidFill>
                  <a:schemeClr val="bg1"/>
                </a:solidFill>
              </a:rPr>
              <a:t> : </a:t>
            </a:r>
            <a:r>
              <a:rPr lang="en-US" sz="1500" i="1" dirty="0">
                <a:solidFill>
                  <a:schemeClr val="bg1"/>
                </a:solidFill>
              </a:rPr>
              <a:t>ik moet werken · ik ga zwemmen · ik laat mijn auto repareren</a:t>
            </a:r>
            <a:r>
              <a:rPr lang="en-US" sz="1500" dirty="0">
                <a:solidFill>
                  <a:schemeClr val="bg1"/>
                </a:solidFill>
              </a:rPr>
              <a:t> (sauf </a:t>
            </a:r>
            <a:r>
              <a:rPr lang="en-US" sz="1500" i="1" dirty="0">
                <a:solidFill>
                  <a:schemeClr val="bg1"/>
                </a:solidFill>
              </a:rPr>
              <a:t>zitten · staan · liggen · lopen</a:t>
            </a:r>
            <a:r>
              <a:rPr lang="en-US" sz="1500" dirty="0">
                <a:solidFill>
                  <a:schemeClr val="bg1"/>
                </a:solidFill>
              </a:rPr>
              <a:t> : </a:t>
            </a:r>
            <a:r>
              <a:rPr lang="en-US" sz="1500" i="1" dirty="0">
                <a:solidFill>
                  <a:schemeClr val="bg1"/>
                </a:solidFill>
              </a:rPr>
              <a:t>ik zit </a:t>
            </a:r>
            <a:r>
              <a:rPr lang="en-US" sz="1500" b="1" i="1" dirty="0">
                <a:solidFill>
                  <a:schemeClr val="bg1"/>
                </a:solidFill>
              </a:rPr>
              <a:t>te</a:t>
            </a:r>
            <a:r>
              <a:rPr lang="en-US" sz="1500" i="1" dirty="0">
                <a:solidFill>
                  <a:schemeClr val="bg1"/>
                </a:solidFill>
              </a:rPr>
              <a:t> lezen</a:t>
            </a:r>
            <a:r>
              <a:rPr lang="en-US" sz="1500" dirty="0">
                <a:solidFill>
                  <a:schemeClr val="bg1"/>
                </a:solidFill>
              </a:rPr>
              <a:t>, et ce </a:t>
            </a:r>
            <a:r>
              <a:rPr lang="en-US" sz="1500" i="1" dirty="0">
                <a:solidFill>
                  <a:schemeClr val="bg1"/>
                </a:solidFill>
              </a:rPr>
              <a:t>te</a:t>
            </a:r>
            <a:r>
              <a:rPr lang="en-US" sz="1500" dirty="0">
                <a:solidFill>
                  <a:schemeClr val="bg1"/>
                </a:solidFill>
              </a:rPr>
              <a:t> disparaît au passé).</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modaux : moeten, kunnen, willen, mogen</a:t>
            </a:r>
            <a:endParaRPr lang="en-US" sz="3000" dirty="0"/>
          </a:p>
        </p:txBody>
      </p:sp>
      <p:sp>
        <p:nvSpPr>
          <p:cNvPr id="3" name="tag"/>
          <p:cNvSpPr/>
          <p:nvPr/>
        </p:nvSpPr>
        <p:spPr>
          <a:xfrm>
            <a:off x="548640" y="237744"/>
            <a:ext cx="176845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FAMILLE 1 / 5</a:t>
            </a:r>
            <a:endParaRPr lang="en-US" sz="1200" dirty="0"/>
          </a:p>
        </p:txBody>
      </p:sp>
      <p:sp>
        <p:nvSpPr>
          <p:cNvPr id="5" name="Shape 2"/>
          <p:cNvSpPr/>
          <p:nvPr/>
        </p:nvSpPr>
        <p:spPr>
          <a:xfrm>
            <a:off x="548640" y="1463040"/>
            <a:ext cx="5349240" cy="4069080"/>
          </a:xfrm>
          <a:prstGeom prst="roundRect">
            <a:avLst>
              <a:gd name="adj" fmla="val 2697"/>
            </a:avLst>
          </a:prstGeom>
          <a:solidFill>
            <a:schemeClr val="accent2">
              <a:alpha val="10000"/>
            </a:schemeClr>
          </a:solidFill>
          <a:ln w="19050">
            <a:solidFill>
              <a:srgbClr val="2A6FB0"/>
            </a:solidFill>
            <a:prstDash val="solid"/>
          </a:ln>
        </p:spPr>
      </p:sp>
      <p:sp>
        <p:nvSpPr>
          <p:cNvPr id="6" name="Text 3"/>
          <p:cNvSpPr txBox="1"/>
          <p:nvPr/>
        </p:nvSpPr>
        <p:spPr>
          <a:xfrm>
            <a:off x="731520" y="1554480"/>
            <a:ext cx="2743200" cy="320040"/>
          </a:xfrm>
          <a:prstGeom prst="rect">
            <a:avLst/>
          </a:prstGeom>
          <a:noFill/>
          <a:ln/>
        </p:spPr>
        <p:txBody>
          <a:bodyPr wrap="square" lIns="0" tIns="0" rIns="0" bIns="0" rtlCol="0" anchor="t"/>
          <a:lstStyle/>
          <a:p>
            <a:pPr algn="l" indent="0" marL="0">
              <a:buNone/>
            </a:pPr>
            <a:r>
              <a:rPr lang="en-US" sz="1200" b="1" spc="100" kern="0" dirty="0">
                <a:solidFill>
                  <a:schemeClr val="accent2"/>
                </a:solidFill>
              </a:rPr>
              <a:t>PRÉSENT</a:t>
            </a:r>
            <a:endParaRPr lang="en-US" sz="1200" dirty="0"/>
          </a:p>
        </p:txBody>
      </p:sp>
      <p:sp>
        <p:nvSpPr>
          <p:cNvPr id="7" name="Shape 4"/>
          <p:cNvSpPr/>
          <p:nvPr/>
        </p:nvSpPr>
        <p:spPr>
          <a:xfrm>
            <a:off x="731520" y="1920240"/>
            <a:ext cx="520842" cy="530352"/>
          </a:xfrm>
          <a:prstGeom prst="roundRect">
            <a:avLst>
              <a:gd name="adj" fmla="val 17556"/>
            </a:avLst>
          </a:prstGeom>
          <a:solidFill>
            <a:schemeClr val="bg1"/>
          </a:solidFill>
          <a:ln w="15875">
            <a:solidFill>
              <a:srgbClr val="D5DCE6"/>
            </a:solidFill>
            <a:prstDash val="solid"/>
          </a:ln>
        </p:spPr>
      </p:sp>
      <p:sp>
        <p:nvSpPr>
          <p:cNvPr id="8" name="Text 5"/>
          <p:cNvSpPr txBox="1"/>
          <p:nvPr/>
        </p:nvSpPr>
        <p:spPr>
          <a:xfrm>
            <a:off x="731520" y="192024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9" name="Shape 6"/>
          <p:cNvSpPr/>
          <p:nvPr/>
        </p:nvSpPr>
        <p:spPr>
          <a:xfrm>
            <a:off x="1334658" y="1920240"/>
            <a:ext cx="912118" cy="530352"/>
          </a:xfrm>
          <a:prstGeom prst="roundRect">
            <a:avLst>
              <a:gd name="adj" fmla="val 17241"/>
            </a:avLst>
          </a:prstGeom>
          <a:solidFill>
            <a:schemeClr val="tx2"/>
          </a:solidFill>
          <a:ln w="12700">
            <a:solidFill>
              <a:srgbClr val="FFFFFF">
                <a:alpha val="0"/>
              </a:srgbClr>
            </a:solidFill>
            <a:prstDash val="solid"/>
          </a:ln>
        </p:spPr>
      </p:sp>
      <p:sp>
        <p:nvSpPr>
          <p:cNvPr id="10" name="Text 7"/>
          <p:cNvSpPr txBox="1"/>
          <p:nvPr/>
        </p:nvSpPr>
        <p:spPr>
          <a:xfrm>
            <a:off x="1334658" y="1920240"/>
            <a:ext cx="912118" cy="530352"/>
          </a:xfrm>
          <a:prstGeom prst="rect">
            <a:avLst/>
          </a:prstGeom>
          <a:noFill/>
          <a:ln/>
        </p:spPr>
        <p:txBody>
          <a:bodyPr wrap="square" lIns="0" tIns="0" rIns="0" bIns="0" rtlCol="0" anchor="ctr"/>
          <a:lstStyle/>
          <a:p>
            <a:pPr algn="ctr" indent="0" marL="0">
              <a:buNone/>
            </a:pPr>
            <a:r>
              <a:rPr lang="en-US" sz="1600" b="1" dirty="0">
                <a:solidFill>
                  <a:schemeClr val="bg1"/>
                </a:solidFill>
              </a:rPr>
              <a:t>moet</a:t>
            </a:r>
            <a:endParaRPr lang="en-US" sz="1600" dirty="0"/>
          </a:p>
        </p:txBody>
      </p:sp>
      <p:sp>
        <p:nvSpPr>
          <p:cNvPr id="11" name="Shape 8"/>
          <p:cNvSpPr/>
          <p:nvPr/>
        </p:nvSpPr>
        <p:spPr>
          <a:xfrm>
            <a:off x="2329072" y="1920240"/>
            <a:ext cx="1295551" cy="530352"/>
          </a:xfrm>
          <a:prstGeom prst="roundRect">
            <a:avLst>
              <a:gd name="adj" fmla="val 17241"/>
            </a:avLst>
          </a:prstGeom>
          <a:solidFill>
            <a:srgbClr val="FBEDEB"/>
          </a:solidFill>
          <a:ln w="25400">
            <a:solidFill>
              <a:srgbClr val="B83227"/>
            </a:solidFill>
            <a:prstDash val="solid"/>
          </a:ln>
        </p:spPr>
      </p:sp>
      <p:sp>
        <p:nvSpPr>
          <p:cNvPr id="12" name="Text 9"/>
          <p:cNvSpPr txBox="1"/>
          <p:nvPr/>
        </p:nvSpPr>
        <p:spPr>
          <a:xfrm>
            <a:off x="2329072" y="1920240"/>
            <a:ext cx="1295551" cy="530352"/>
          </a:xfrm>
          <a:prstGeom prst="rect">
            <a:avLst/>
          </a:prstGeom>
          <a:noFill/>
          <a:ln/>
        </p:spPr>
        <p:txBody>
          <a:bodyPr wrap="square" lIns="0" tIns="0" rIns="0" bIns="0" rtlCol="0" anchor="ctr"/>
          <a:lstStyle/>
          <a:p>
            <a:pPr algn="ctr" indent="0" marL="0">
              <a:buNone/>
            </a:pPr>
            <a:r>
              <a:rPr lang="en-US" sz="1600" b="1" dirty="0">
                <a:solidFill>
                  <a:schemeClr val="accent6"/>
                </a:solidFill>
              </a:rPr>
              <a:t>werken.</a:t>
            </a:r>
            <a:endParaRPr lang="en-US" sz="1600" dirty="0"/>
          </a:p>
        </p:txBody>
      </p:sp>
      <p:sp>
        <p:nvSpPr>
          <p:cNvPr id="13" name="Text 10"/>
          <p:cNvSpPr txBox="1"/>
          <p:nvPr/>
        </p:nvSpPr>
        <p:spPr>
          <a:xfrm>
            <a:off x="731520" y="2514600"/>
            <a:ext cx="4983480" cy="457200"/>
          </a:xfrm>
          <a:prstGeom prst="rect">
            <a:avLst/>
          </a:prstGeom>
          <a:noFill/>
          <a:ln/>
        </p:spPr>
        <p:txBody>
          <a:bodyPr wrap="square" lIns="0" tIns="0" rIns="0" bIns="0" rtlCol="0" anchor="ctr"/>
          <a:lstStyle/>
          <a:p>
            <a:pPr algn="ctr" indent="0" marL="0">
              <a:buNone/>
            </a:pPr>
            <a:r>
              <a:rPr lang="en-US" sz="2200" dirty="0">
                <a:solidFill>
                  <a:schemeClr val="accent5"/>
                </a:solidFill>
              </a:rPr>
              <a:t>⬇</a:t>
            </a:r>
            <a:endParaRPr lang="en-US" sz="2200" dirty="0"/>
          </a:p>
        </p:txBody>
      </p:sp>
      <p:sp>
        <p:nvSpPr>
          <p:cNvPr id="14" name="Text 11"/>
          <p:cNvSpPr txBox="1"/>
          <p:nvPr/>
        </p:nvSpPr>
        <p:spPr>
          <a:xfrm>
            <a:off x="731520" y="2971800"/>
            <a:ext cx="3200400" cy="320040"/>
          </a:xfrm>
          <a:prstGeom prst="rect">
            <a:avLst/>
          </a:prstGeom>
          <a:noFill/>
          <a:ln/>
        </p:spPr>
        <p:txBody>
          <a:bodyPr wrap="square" lIns="0" tIns="0" rIns="0" bIns="0" rtlCol="0" anchor="t"/>
          <a:lstStyle/>
          <a:p>
            <a:pPr algn="l" indent="0" marL="0">
              <a:buNone/>
            </a:pPr>
            <a:r>
              <a:rPr lang="en-US" sz="1200" b="1" spc="100" kern="0" dirty="0">
                <a:solidFill>
                  <a:schemeClr val="accent2"/>
                </a:solidFill>
              </a:rPr>
              <a:t>PASSÉ COMPOSÉ</a:t>
            </a:r>
            <a:endParaRPr lang="en-US" sz="1200" dirty="0"/>
          </a:p>
        </p:txBody>
      </p:sp>
      <p:sp>
        <p:nvSpPr>
          <p:cNvPr id="15" name="Text 12"/>
          <p:cNvSpPr txBox="1"/>
          <p:nvPr/>
        </p:nvSpPr>
        <p:spPr>
          <a:xfrm>
            <a:off x="3383280" y="2971800"/>
            <a:ext cx="2331720" cy="320040"/>
          </a:xfrm>
          <a:prstGeom prst="rect">
            <a:avLst/>
          </a:prstGeom>
          <a:noFill/>
          <a:ln/>
        </p:spPr>
        <p:txBody>
          <a:bodyPr wrap="square" lIns="0" tIns="0" rIns="0" bIns="0" rtlCol="0" anchor="t"/>
          <a:lstStyle/>
          <a:p>
            <a:pPr algn="r" indent="0" marL="0">
              <a:buNone/>
            </a:pPr>
            <a:r>
              <a:rPr lang="en-US" sz="1300" dirty="0">
                <a:solidFill>
                  <a:schemeClr val="accent6"/>
                </a:solidFill>
              </a:rPr>
              <a:t>pas </a:t>
            </a:r>
            <a:r>
              <a:rPr lang="en-US" sz="1300" strike="sngStrike" dirty="0">
                <a:solidFill>
                  <a:schemeClr val="accent6"/>
                </a:solidFill>
              </a:rPr>
              <a:t>gemoeten</a:t>
            </a:r>
            <a:r>
              <a:rPr lang="en-US" sz="1300" dirty="0">
                <a:solidFill>
                  <a:schemeClr val="accent6"/>
                </a:solidFill>
              </a:rPr>
              <a:t> !</a:t>
            </a:r>
            <a:endParaRPr lang="en-US" sz="1300" dirty="0"/>
          </a:p>
        </p:txBody>
      </p:sp>
      <p:sp>
        <p:nvSpPr>
          <p:cNvPr id="16" name="Shape 13"/>
          <p:cNvSpPr/>
          <p:nvPr/>
        </p:nvSpPr>
        <p:spPr>
          <a:xfrm>
            <a:off x="731520" y="3429000"/>
            <a:ext cx="520842" cy="530352"/>
          </a:xfrm>
          <a:prstGeom prst="roundRect">
            <a:avLst>
              <a:gd name="adj" fmla="val 17556"/>
            </a:avLst>
          </a:prstGeom>
          <a:solidFill>
            <a:schemeClr val="bg1"/>
          </a:solidFill>
          <a:ln w="15875">
            <a:solidFill>
              <a:srgbClr val="D5DCE6"/>
            </a:solidFill>
            <a:prstDash val="solid"/>
          </a:ln>
        </p:spPr>
      </p:sp>
      <p:sp>
        <p:nvSpPr>
          <p:cNvPr id="17" name="Text 14"/>
          <p:cNvSpPr txBox="1"/>
          <p:nvPr/>
        </p:nvSpPr>
        <p:spPr>
          <a:xfrm>
            <a:off x="731520" y="342900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18" name="Shape 15"/>
          <p:cNvSpPr/>
          <p:nvPr/>
        </p:nvSpPr>
        <p:spPr>
          <a:xfrm>
            <a:off x="1334658" y="3429000"/>
            <a:ext cx="784306" cy="530352"/>
          </a:xfrm>
          <a:prstGeom prst="roundRect">
            <a:avLst>
              <a:gd name="adj" fmla="val 17241"/>
            </a:avLst>
          </a:prstGeom>
          <a:solidFill>
            <a:schemeClr val="tx2"/>
          </a:solidFill>
          <a:ln w="12700">
            <a:solidFill>
              <a:srgbClr val="FFFFFF">
                <a:alpha val="0"/>
              </a:srgbClr>
            </a:solidFill>
            <a:prstDash val="solid"/>
          </a:ln>
        </p:spPr>
      </p:sp>
      <p:sp>
        <p:nvSpPr>
          <p:cNvPr id="19" name="Text 16"/>
          <p:cNvSpPr txBox="1"/>
          <p:nvPr/>
        </p:nvSpPr>
        <p:spPr>
          <a:xfrm>
            <a:off x="1334658" y="3429000"/>
            <a:ext cx="784306" cy="530352"/>
          </a:xfrm>
          <a:prstGeom prst="rect">
            <a:avLst/>
          </a:prstGeom>
          <a:noFill/>
          <a:ln/>
        </p:spPr>
        <p:txBody>
          <a:bodyPr wrap="square" lIns="0" tIns="0" rIns="0" bIns="0" rtlCol="0" anchor="ctr"/>
          <a:lstStyle/>
          <a:p>
            <a:pPr algn="ctr" indent="0" marL="0">
              <a:buNone/>
            </a:pPr>
            <a:r>
              <a:rPr lang="en-US" sz="1600" b="1" dirty="0">
                <a:solidFill>
                  <a:schemeClr val="bg1"/>
                </a:solidFill>
              </a:rPr>
              <a:t>heb</a:t>
            </a:r>
            <a:endParaRPr lang="en-US" sz="1600" dirty="0"/>
          </a:p>
        </p:txBody>
      </p:sp>
      <p:sp>
        <p:nvSpPr>
          <p:cNvPr id="20" name="Shape 17"/>
          <p:cNvSpPr/>
          <p:nvPr/>
        </p:nvSpPr>
        <p:spPr>
          <a:xfrm>
            <a:off x="2201261" y="3429000"/>
            <a:ext cx="1167740" cy="530352"/>
          </a:xfrm>
          <a:prstGeom prst="roundRect">
            <a:avLst>
              <a:gd name="adj" fmla="val 17241"/>
            </a:avLst>
          </a:prstGeom>
          <a:solidFill>
            <a:schemeClr val="accent1"/>
          </a:solidFill>
          <a:ln w="12700">
            <a:solidFill>
              <a:srgbClr val="FFFFFF">
                <a:alpha val="0"/>
              </a:srgbClr>
            </a:solidFill>
            <a:prstDash val="solid"/>
          </a:ln>
        </p:spPr>
      </p:sp>
      <p:sp>
        <p:nvSpPr>
          <p:cNvPr id="21" name="Text 18"/>
          <p:cNvSpPr txBox="1"/>
          <p:nvPr/>
        </p:nvSpPr>
        <p:spPr>
          <a:xfrm>
            <a:off x="2201261" y="3429000"/>
            <a:ext cx="1167740" cy="530352"/>
          </a:xfrm>
          <a:prstGeom prst="rect">
            <a:avLst/>
          </a:prstGeom>
          <a:noFill/>
          <a:ln/>
        </p:spPr>
        <p:txBody>
          <a:bodyPr wrap="square" lIns="0" tIns="0" rIns="0" bIns="0" rtlCol="0" anchor="ctr"/>
          <a:lstStyle/>
          <a:p>
            <a:pPr algn="ctr" indent="0" marL="0">
              <a:buNone/>
            </a:pPr>
            <a:r>
              <a:rPr lang="en-US" sz="1600" b="1" dirty="0">
                <a:solidFill>
                  <a:schemeClr val="bg1"/>
                </a:solidFill>
              </a:rPr>
              <a:t>moeten</a:t>
            </a:r>
            <a:endParaRPr lang="en-US" sz="1600" dirty="0"/>
          </a:p>
        </p:txBody>
      </p:sp>
      <p:sp>
        <p:nvSpPr>
          <p:cNvPr id="22" name="Shape 19"/>
          <p:cNvSpPr/>
          <p:nvPr/>
        </p:nvSpPr>
        <p:spPr>
          <a:xfrm>
            <a:off x="3451297" y="3429000"/>
            <a:ext cx="1295551" cy="530352"/>
          </a:xfrm>
          <a:prstGeom prst="roundRect">
            <a:avLst>
              <a:gd name="adj" fmla="val 17241"/>
            </a:avLst>
          </a:prstGeom>
          <a:solidFill>
            <a:srgbClr val="FBEDEB"/>
          </a:solidFill>
          <a:ln w="25400">
            <a:solidFill>
              <a:srgbClr val="B83227"/>
            </a:solidFill>
            <a:prstDash val="solid"/>
          </a:ln>
        </p:spPr>
      </p:sp>
      <p:sp>
        <p:nvSpPr>
          <p:cNvPr id="23" name="Text 20"/>
          <p:cNvSpPr txBox="1"/>
          <p:nvPr/>
        </p:nvSpPr>
        <p:spPr>
          <a:xfrm>
            <a:off x="3451297" y="3429000"/>
            <a:ext cx="1295551" cy="530352"/>
          </a:xfrm>
          <a:prstGeom prst="rect">
            <a:avLst/>
          </a:prstGeom>
          <a:noFill/>
          <a:ln/>
        </p:spPr>
        <p:txBody>
          <a:bodyPr wrap="square" lIns="0" tIns="0" rIns="0" bIns="0" rtlCol="0" anchor="ctr"/>
          <a:lstStyle/>
          <a:p>
            <a:pPr algn="ctr" indent="0" marL="0">
              <a:buNone/>
            </a:pPr>
            <a:r>
              <a:rPr lang="en-US" sz="1600" b="1" dirty="0">
                <a:solidFill>
                  <a:schemeClr val="accent6"/>
                </a:solidFill>
              </a:rPr>
              <a:t>werken.</a:t>
            </a:r>
            <a:endParaRPr lang="en-US" sz="1600" dirty="0"/>
          </a:p>
        </p:txBody>
      </p:sp>
      <p:sp>
        <p:nvSpPr>
          <p:cNvPr id="24" name="Shape 21"/>
          <p:cNvSpPr/>
          <p:nvPr/>
        </p:nvSpPr>
        <p:spPr>
          <a:xfrm>
            <a:off x="640080" y="4114800"/>
            <a:ext cx="4198208" cy="45720"/>
          </a:xfrm>
          <a:prstGeom prst="rect">
            <a:avLst/>
          </a:prstGeom>
          <a:solidFill>
            <a:srgbClr val="8A96A8"/>
          </a:solidFill>
          <a:ln w="12700">
            <a:solidFill>
              <a:srgbClr val="FFFFFF">
                <a:alpha val="0"/>
              </a:srgbClr>
            </a:solidFill>
            <a:prstDash val="solid"/>
          </a:ln>
        </p:spPr>
      </p:sp>
      <p:sp>
        <p:nvSpPr>
          <p:cNvPr id="25" name="Shape 22"/>
          <p:cNvSpPr/>
          <p:nvPr/>
        </p:nvSpPr>
        <p:spPr>
          <a:xfrm>
            <a:off x="1434054" y="3968496"/>
            <a:ext cx="146304" cy="146304"/>
          </a:xfrm>
          <a:prstGeom prst="ellipse">
            <a:avLst/>
          </a:prstGeom>
          <a:solidFill>
            <a:srgbClr val="1B2333"/>
          </a:solidFill>
          <a:ln w="12700">
            <a:solidFill>
              <a:srgbClr val="FFFFFF">
                <a:alpha val="0"/>
              </a:srgbClr>
            </a:solidFill>
            <a:prstDash val="solid"/>
          </a:ln>
        </p:spPr>
      </p:sp>
      <p:sp>
        <p:nvSpPr>
          <p:cNvPr id="26" name="Shape 23"/>
          <p:cNvSpPr/>
          <p:nvPr/>
        </p:nvSpPr>
        <p:spPr>
          <a:xfrm>
            <a:off x="1873265" y="3968496"/>
            <a:ext cx="146304" cy="146304"/>
          </a:xfrm>
          <a:prstGeom prst="ellipse">
            <a:avLst/>
          </a:prstGeom>
          <a:solidFill>
            <a:srgbClr val="1B2333"/>
          </a:solidFill>
          <a:ln w="12700">
            <a:solidFill>
              <a:srgbClr val="FFFFFF">
                <a:alpha val="0"/>
              </a:srgbClr>
            </a:solidFill>
            <a:prstDash val="solid"/>
          </a:ln>
        </p:spPr>
      </p:sp>
      <p:sp>
        <p:nvSpPr>
          <p:cNvPr id="27" name="Shape 24"/>
          <p:cNvSpPr/>
          <p:nvPr/>
        </p:nvSpPr>
        <p:spPr>
          <a:xfrm>
            <a:off x="1444386" y="3227832"/>
            <a:ext cx="146304" cy="219456"/>
          </a:xfrm>
          <a:prstGeom prst="rect">
            <a:avLst/>
          </a:prstGeom>
          <a:solidFill>
            <a:schemeClr val="tx2"/>
          </a:solidFill>
          <a:ln w="12700">
            <a:solidFill>
              <a:srgbClr val="FFFFFF">
                <a:alpha val="0"/>
              </a:srgbClr>
            </a:solidFill>
            <a:prstDash val="solid"/>
          </a:ln>
        </p:spPr>
      </p:sp>
      <p:sp>
        <p:nvSpPr>
          <p:cNvPr id="28" name="Shape 25"/>
          <p:cNvSpPr/>
          <p:nvPr/>
        </p:nvSpPr>
        <p:spPr>
          <a:xfrm>
            <a:off x="2118965" y="3826764"/>
            <a:ext cx="82296" cy="914"/>
          </a:xfrm>
          <a:prstGeom prst="line">
            <a:avLst/>
          </a:prstGeom>
          <a:noFill/>
          <a:ln w="31750">
            <a:solidFill>
              <a:srgbClr val="1B2333"/>
            </a:solidFill>
            <a:prstDash val="solid"/>
          </a:ln>
        </p:spPr>
      </p:sp>
      <p:sp>
        <p:nvSpPr>
          <p:cNvPr id="29" name="Shape 26"/>
          <p:cNvSpPr/>
          <p:nvPr/>
        </p:nvSpPr>
        <p:spPr>
          <a:xfrm>
            <a:off x="2385012" y="3968496"/>
            <a:ext cx="146304" cy="146304"/>
          </a:xfrm>
          <a:prstGeom prst="ellipse">
            <a:avLst/>
          </a:prstGeom>
          <a:solidFill>
            <a:srgbClr val="1B2333"/>
          </a:solidFill>
          <a:ln w="12700">
            <a:solidFill>
              <a:srgbClr val="FFFFFF">
                <a:alpha val="0"/>
              </a:srgbClr>
            </a:solidFill>
            <a:prstDash val="solid"/>
          </a:ln>
        </p:spPr>
      </p:sp>
      <p:sp>
        <p:nvSpPr>
          <p:cNvPr id="30" name="Shape 27"/>
          <p:cNvSpPr/>
          <p:nvPr/>
        </p:nvSpPr>
        <p:spPr>
          <a:xfrm>
            <a:off x="3038946" y="3968496"/>
            <a:ext cx="146304" cy="146304"/>
          </a:xfrm>
          <a:prstGeom prst="ellipse">
            <a:avLst/>
          </a:prstGeom>
          <a:solidFill>
            <a:srgbClr val="1B2333"/>
          </a:solidFill>
          <a:ln w="12700">
            <a:solidFill>
              <a:srgbClr val="FFFFFF">
                <a:alpha val="0"/>
              </a:srgbClr>
            </a:solidFill>
            <a:prstDash val="solid"/>
          </a:ln>
        </p:spPr>
      </p:sp>
      <p:sp>
        <p:nvSpPr>
          <p:cNvPr id="31" name="Shape 28"/>
          <p:cNvSpPr/>
          <p:nvPr/>
        </p:nvSpPr>
        <p:spPr>
          <a:xfrm>
            <a:off x="3369001" y="3826764"/>
            <a:ext cx="82296" cy="914"/>
          </a:xfrm>
          <a:prstGeom prst="line">
            <a:avLst/>
          </a:prstGeom>
          <a:noFill/>
          <a:ln w="31750">
            <a:solidFill>
              <a:srgbClr val="1B2333"/>
            </a:solidFill>
            <a:prstDash val="solid"/>
          </a:ln>
        </p:spPr>
      </p:sp>
      <p:sp>
        <p:nvSpPr>
          <p:cNvPr id="32" name="Shape 29"/>
          <p:cNvSpPr/>
          <p:nvPr/>
        </p:nvSpPr>
        <p:spPr>
          <a:xfrm>
            <a:off x="3663166" y="3968496"/>
            <a:ext cx="146304" cy="146304"/>
          </a:xfrm>
          <a:prstGeom prst="ellipse">
            <a:avLst/>
          </a:prstGeom>
          <a:solidFill>
            <a:srgbClr val="1B2333"/>
          </a:solidFill>
          <a:ln w="12700">
            <a:solidFill>
              <a:srgbClr val="FFFFFF">
                <a:alpha val="0"/>
              </a:srgbClr>
            </a:solidFill>
            <a:prstDash val="solid"/>
          </a:ln>
        </p:spPr>
      </p:sp>
      <p:sp>
        <p:nvSpPr>
          <p:cNvPr id="33" name="Shape 30"/>
          <p:cNvSpPr/>
          <p:nvPr/>
        </p:nvSpPr>
        <p:spPr>
          <a:xfrm>
            <a:off x="4388675" y="3968496"/>
            <a:ext cx="146304" cy="146304"/>
          </a:xfrm>
          <a:prstGeom prst="ellipse">
            <a:avLst/>
          </a:prstGeom>
          <a:solidFill>
            <a:srgbClr val="1B2333"/>
          </a:solidFill>
          <a:ln w="12700">
            <a:solidFill>
              <a:srgbClr val="FFFFFF">
                <a:alpha val="0"/>
              </a:srgbClr>
            </a:solidFill>
            <a:prstDash val="solid"/>
          </a:ln>
        </p:spPr>
      </p:sp>
      <p:sp>
        <p:nvSpPr>
          <p:cNvPr id="34" name="Text 31"/>
          <p:cNvSpPr txBox="1"/>
          <p:nvPr/>
        </p:nvSpPr>
        <p:spPr>
          <a:xfrm>
            <a:off x="731520" y="4343400"/>
            <a:ext cx="5029200" cy="1097280"/>
          </a:xfrm>
          <a:prstGeom prst="rect">
            <a:avLst/>
          </a:prstGeom>
          <a:noFill/>
          <a:ln/>
        </p:spPr>
        <p:txBody>
          <a:bodyPr wrap="square" lIns="0" tIns="0" rIns="0" bIns="0" rtlCol="0" anchor="ctr"/>
          <a:lstStyle/>
          <a:p>
            <a:pPr algn="l" indent="0" marL="0">
              <a:buNone/>
            </a:pPr>
            <a:r>
              <a:rPr lang="en-US" sz="1400" dirty="0">
                <a:solidFill>
                  <a:schemeClr val="tx1"/>
                </a:solidFill>
              </a:rPr>
              <a:t>Auxiliaire : </a:t>
            </a:r>
            <a:r>
              <a:rPr lang="en-US" sz="1400" b="1" dirty="0">
                <a:solidFill>
                  <a:schemeClr val="tx1"/>
                </a:solidFill>
              </a:rPr>
              <a:t>hebben</a:t>
            </a:r>
            <a:r>
              <a:rPr lang="en-US" sz="1400" dirty="0">
                <a:solidFill>
                  <a:schemeClr val="tx1"/>
                </a:solidFill>
              </a:rPr>
              <a:t>, même avec un verbe de mouvement : </a:t>
            </a:r>
            <a:r>
              <a:rPr lang="en-US" sz="1400" i="1" dirty="0">
                <a:solidFill>
                  <a:schemeClr val="tx1"/>
                </a:solidFill>
              </a:rPr>
              <a:t>Ik </a:t>
            </a:r>
            <a:r>
              <a:rPr lang="en-US" sz="1400" b="1" i="1" dirty="0">
                <a:solidFill>
                  <a:schemeClr val="tx1"/>
                </a:solidFill>
              </a:rPr>
              <a:t>heb</a:t>
            </a:r>
            <a:r>
              <a:rPr lang="en-US" sz="1400" i="1" dirty="0">
                <a:solidFill>
                  <a:schemeClr val="tx1"/>
                </a:solidFill>
              </a:rPr>
              <a:t> naar huis moeten gaan.</a:t>
            </a:r>
            <a:r>
              <a:rPr lang="en-US" sz="1400" dirty="0">
                <a:solidFill>
                  <a:schemeClr val="tx1"/>
                </a:solidFill>
              </a:rPr>
              <a:t> (En Belgique, aussi : </a:t>
            </a:r>
            <a:r>
              <a:rPr lang="en-US" sz="1400" i="1" dirty="0">
                <a:solidFill>
                  <a:schemeClr val="tx1"/>
                </a:solidFill>
              </a:rPr>
              <a:t>Ik </a:t>
            </a:r>
            <a:r>
              <a:rPr lang="en-US" sz="1400" b="1" i="1" dirty="0">
                <a:solidFill>
                  <a:schemeClr val="tx1"/>
                </a:solidFill>
              </a:rPr>
              <a:t>ben</a:t>
            </a:r>
            <a:r>
              <a:rPr lang="en-US" sz="1400" i="1" dirty="0">
                <a:solidFill>
                  <a:schemeClr val="tx1"/>
                </a:solidFill>
              </a:rPr>
              <a:t> naar huis moeten gaan.</a:t>
            </a:r>
            <a:r>
              <a:rPr lang="en-US" sz="1400" dirty="0">
                <a:solidFill>
                  <a:schemeClr val="tx1"/>
                </a:solidFill>
              </a:rPr>
              <a:t>)</a:t>
            </a:r>
            <a:endParaRPr lang="en-US" sz="1400" dirty="0"/>
          </a:p>
        </p:txBody>
      </p:sp>
      <p:sp>
        <p:nvSpPr>
          <p:cNvPr id="35" name="Shape 32"/>
          <p:cNvSpPr/>
          <p:nvPr/>
        </p:nvSpPr>
        <p:spPr>
          <a:xfrm>
            <a:off x="6126480" y="1463040"/>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6" name="Shape 33"/>
          <p:cNvSpPr/>
          <p:nvPr/>
        </p:nvSpPr>
        <p:spPr>
          <a:xfrm>
            <a:off x="6126480" y="1463040"/>
            <a:ext cx="109728" cy="1106424"/>
          </a:xfrm>
          <a:prstGeom prst="rect">
            <a:avLst/>
          </a:prstGeom>
          <a:solidFill>
            <a:schemeClr val="accent2"/>
          </a:solidFill>
          <a:ln w="12700">
            <a:solidFill>
              <a:srgbClr val="FFFFFF">
                <a:alpha val="0"/>
              </a:srgbClr>
            </a:solidFill>
            <a:prstDash val="solid"/>
          </a:ln>
        </p:spPr>
      </p:sp>
      <p:pic>
        <p:nvPicPr>
          <p:cNvPr id="37" name="Image 0" descr="briefcase">    </p:cNvPr>
          <p:cNvPicPr>
            <a:picLocks noChangeAspect="1"/>
          </p:cNvPicPr>
          <p:nvPr/>
        </p:nvPicPr>
        <p:blipFill>
          <a:blip r:embed="rId1"/>
          <a:stretch>
            <a:fillRect/>
          </a:stretch>
        </p:blipFill>
        <p:spPr>
          <a:xfrm>
            <a:off x="6382512" y="1627632"/>
            <a:ext cx="777240" cy="777240"/>
          </a:xfrm>
          <a:prstGeom prst="rect">
            <a:avLst/>
          </a:prstGeom>
        </p:spPr>
      </p:pic>
      <p:sp>
        <p:nvSpPr>
          <p:cNvPr id="38" name="Text 34"/>
          <p:cNvSpPr txBox="1"/>
          <p:nvPr/>
        </p:nvSpPr>
        <p:spPr>
          <a:xfrm>
            <a:off x="7315200" y="1517904"/>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moet lang werken.</a:t>
            </a:r>
            <a:endParaRPr lang="en-US" sz="1400" dirty="0"/>
          </a:p>
        </p:txBody>
      </p:sp>
      <p:sp>
        <p:nvSpPr>
          <p:cNvPr id="39" name="Text 35"/>
          <p:cNvSpPr txBox="1"/>
          <p:nvPr/>
        </p:nvSpPr>
        <p:spPr>
          <a:xfrm>
            <a:off x="7315200" y="1794967"/>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lang </a:t>
            </a:r>
            <a:r>
              <a:rPr lang="en-US" sz="1800" b="1" i="1" dirty="0">
                <a:solidFill>
                  <a:srgbClr val="D9700F"/>
                </a:solidFill>
              </a:rPr>
              <a:t>moeten werken</a:t>
            </a:r>
            <a:r>
              <a:rPr lang="en-US" sz="1800" i="1" dirty="0">
                <a:solidFill>
                  <a:schemeClr val="tx1"/>
                </a:solidFill>
              </a:rPr>
              <a:t>.</a:t>
            </a:r>
            <a:endParaRPr lang="en-US" sz="1800" dirty="0"/>
          </a:p>
        </p:txBody>
      </p:sp>
      <p:sp>
        <p:nvSpPr>
          <p:cNvPr id="40" name="Text 36"/>
          <p:cNvSpPr txBox="1"/>
          <p:nvPr/>
        </p:nvSpPr>
        <p:spPr>
          <a:xfrm>
            <a:off x="7315200" y="2259665"/>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j’ai dû travailler longtemps</a:t>
            </a:r>
            <a:endParaRPr lang="en-US" sz="1300" dirty="0"/>
          </a:p>
        </p:txBody>
      </p:sp>
      <p:sp>
        <p:nvSpPr>
          <p:cNvPr id="41" name="Shape 37"/>
          <p:cNvSpPr/>
          <p:nvPr/>
        </p:nvSpPr>
        <p:spPr>
          <a:xfrm>
            <a:off x="6126480" y="2679192"/>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2" name="Shape 38"/>
          <p:cNvSpPr/>
          <p:nvPr/>
        </p:nvSpPr>
        <p:spPr>
          <a:xfrm>
            <a:off x="6126480" y="2679192"/>
            <a:ext cx="109728" cy="1106424"/>
          </a:xfrm>
          <a:prstGeom prst="rect">
            <a:avLst/>
          </a:prstGeom>
          <a:solidFill>
            <a:schemeClr val="accent2"/>
          </a:solidFill>
          <a:ln w="12700">
            <a:solidFill>
              <a:srgbClr val="FFFFFF">
                <a:alpha val="0"/>
              </a:srgbClr>
            </a:solidFill>
            <a:prstDash val="solid"/>
          </a:ln>
        </p:spPr>
      </p:sp>
      <p:pic>
        <p:nvPicPr>
          <p:cNvPr id="43" name="Image 1" descr="no entry">    </p:cNvPr>
          <p:cNvPicPr>
            <a:picLocks noChangeAspect="1"/>
          </p:cNvPicPr>
          <p:nvPr/>
        </p:nvPicPr>
        <p:blipFill>
          <a:blip r:embed="rId2"/>
          <a:stretch>
            <a:fillRect/>
          </a:stretch>
        </p:blipFill>
        <p:spPr>
          <a:xfrm>
            <a:off x="6382512" y="2843784"/>
            <a:ext cx="777240" cy="777240"/>
          </a:xfrm>
          <a:prstGeom prst="rect">
            <a:avLst/>
          </a:prstGeom>
        </p:spPr>
      </p:pic>
      <p:sp>
        <p:nvSpPr>
          <p:cNvPr id="44" name="Text 39"/>
          <p:cNvSpPr txBox="1"/>
          <p:nvPr/>
        </p:nvSpPr>
        <p:spPr>
          <a:xfrm>
            <a:off x="7315200" y="2734056"/>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kan niet komen.</a:t>
            </a:r>
            <a:endParaRPr lang="en-US" sz="1400" dirty="0"/>
          </a:p>
        </p:txBody>
      </p:sp>
      <p:sp>
        <p:nvSpPr>
          <p:cNvPr id="45" name="Text 40"/>
          <p:cNvSpPr txBox="1"/>
          <p:nvPr/>
        </p:nvSpPr>
        <p:spPr>
          <a:xfrm>
            <a:off x="7315200" y="3011119"/>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niet </a:t>
            </a:r>
            <a:r>
              <a:rPr lang="en-US" sz="1800" b="1" i="1" dirty="0">
                <a:solidFill>
                  <a:srgbClr val="D9700F"/>
                </a:solidFill>
              </a:rPr>
              <a:t>kunnen komen</a:t>
            </a:r>
            <a:r>
              <a:rPr lang="en-US" sz="1800" i="1" dirty="0">
                <a:solidFill>
                  <a:schemeClr val="tx1"/>
                </a:solidFill>
              </a:rPr>
              <a:t>.</a:t>
            </a:r>
            <a:endParaRPr lang="en-US" sz="1800" dirty="0"/>
          </a:p>
        </p:txBody>
      </p:sp>
      <p:sp>
        <p:nvSpPr>
          <p:cNvPr id="46" name="Text 41"/>
          <p:cNvSpPr txBox="1"/>
          <p:nvPr/>
        </p:nvSpPr>
        <p:spPr>
          <a:xfrm>
            <a:off x="7315200" y="3475817"/>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je n’ai pas pu venir</a:t>
            </a:r>
            <a:endParaRPr lang="en-US" sz="1300" dirty="0"/>
          </a:p>
        </p:txBody>
      </p:sp>
      <p:sp>
        <p:nvSpPr>
          <p:cNvPr id="47" name="Shape 42"/>
          <p:cNvSpPr/>
          <p:nvPr/>
        </p:nvSpPr>
        <p:spPr>
          <a:xfrm>
            <a:off x="6126480" y="3895344"/>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8" name="Shape 43"/>
          <p:cNvSpPr/>
          <p:nvPr/>
        </p:nvSpPr>
        <p:spPr>
          <a:xfrm>
            <a:off x="6126480" y="3895344"/>
            <a:ext cx="109728" cy="1106424"/>
          </a:xfrm>
          <a:prstGeom prst="rect">
            <a:avLst/>
          </a:prstGeom>
          <a:solidFill>
            <a:schemeClr val="accent2"/>
          </a:solidFill>
          <a:ln w="12700">
            <a:solidFill>
              <a:srgbClr val="FFFFFF">
                <a:alpha val="0"/>
              </a:srgbClr>
            </a:solidFill>
            <a:prstDash val="solid"/>
          </a:ln>
        </p:spPr>
      </p:sp>
      <p:pic>
        <p:nvPicPr>
          <p:cNvPr id="49" name="Image 2" descr="handshake">    </p:cNvPr>
          <p:cNvPicPr>
            <a:picLocks noChangeAspect="1"/>
          </p:cNvPicPr>
          <p:nvPr/>
        </p:nvPicPr>
        <p:blipFill>
          <a:blip r:embed="rId3"/>
          <a:stretch>
            <a:fillRect/>
          </a:stretch>
        </p:blipFill>
        <p:spPr>
          <a:xfrm>
            <a:off x="6382512" y="4059936"/>
            <a:ext cx="777240" cy="777240"/>
          </a:xfrm>
          <a:prstGeom prst="rect">
            <a:avLst/>
          </a:prstGeom>
        </p:spPr>
      </p:pic>
      <p:sp>
        <p:nvSpPr>
          <p:cNvPr id="50" name="Text 44"/>
          <p:cNvSpPr txBox="1"/>
          <p:nvPr/>
        </p:nvSpPr>
        <p:spPr>
          <a:xfrm>
            <a:off x="7315200" y="3950208"/>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wil helpen.</a:t>
            </a:r>
            <a:endParaRPr lang="en-US" sz="1400" dirty="0"/>
          </a:p>
        </p:txBody>
      </p:sp>
      <p:sp>
        <p:nvSpPr>
          <p:cNvPr id="51" name="Text 45"/>
          <p:cNvSpPr txBox="1"/>
          <p:nvPr/>
        </p:nvSpPr>
        <p:spPr>
          <a:xfrm>
            <a:off x="7315200" y="4227271"/>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a:t>
            </a:r>
            <a:r>
              <a:rPr lang="en-US" sz="1800" b="1" i="1" dirty="0">
                <a:solidFill>
                  <a:srgbClr val="D9700F"/>
                </a:solidFill>
              </a:rPr>
              <a:t>willen helpen</a:t>
            </a:r>
            <a:r>
              <a:rPr lang="en-US" sz="1800" i="1" dirty="0">
                <a:solidFill>
                  <a:schemeClr val="tx1"/>
                </a:solidFill>
              </a:rPr>
              <a:t>.</a:t>
            </a:r>
            <a:endParaRPr lang="en-US" sz="1800" dirty="0"/>
          </a:p>
        </p:txBody>
      </p:sp>
      <p:sp>
        <p:nvSpPr>
          <p:cNvPr id="52" name="Text 46"/>
          <p:cNvSpPr txBox="1"/>
          <p:nvPr/>
        </p:nvSpPr>
        <p:spPr>
          <a:xfrm>
            <a:off x="7315200" y="4691969"/>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j’ai voulu aider</a:t>
            </a:r>
            <a:endParaRPr lang="en-US" sz="1300" dirty="0"/>
          </a:p>
        </p:txBody>
      </p:sp>
      <p:sp>
        <p:nvSpPr>
          <p:cNvPr id="53" name="Shape 47"/>
          <p:cNvSpPr/>
          <p:nvPr/>
        </p:nvSpPr>
        <p:spPr>
          <a:xfrm>
            <a:off x="6126480" y="5111496"/>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4" name="Shape 48"/>
          <p:cNvSpPr/>
          <p:nvPr/>
        </p:nvSpPr>
        <p:spPr>
          <a:xfrm>
            <a:off x="6126480" y="5111496"/>
            <a:ext cx="109728" cy="1106424"/>
          </a:xfrm>
          <a:prstGeom prst="rect">
            <a:avLst/>
          </a:prstGeom>
          <a:solidFill>
            <a:schemeClr val="accent2"/>
          </a:solidFill>
          <a:ln w="12700">
            <a:solidFill>
              <a:srgbClr val="FFFFFF">
                <a:alpha val="0"/>
              </a:srgbClr>
            </a:solidFill>
            <a:prstDash val="solid"/>
          </a:ln>
        </p:spPr>
      </p:sp>
      <p:pic>
        <p:nvPicPr>
          <p:cNvPr id="55" name="Image 3" descr="door">    </p:cNvPr>
          <p:cNvPicPr>
            <a:picLocks noChangeAspect="1"/>
          </p:cNvPicPr>
          <p:nvPr/>
        </p:nvPicPr>
        <p:blipFill>
          <a:blip r:embed="rId4"/>
          <a:stretch>
            <a:fillRect/>
          </a:stretch>
        </p:blipFill>
        <p:spPr>
          <a:xfrm>
            <a:off x="6382512" y="5276088"/>
            <a:ext cx="777240" cy="777240"/>
          </a:xfrm>
          <a:prstGeom prst="rect">
            <a:avLst/>
          </a:prstGeom>
        </p:spPr>
      </p:pic>
      <p:sp>
        <p:nvSpPr>
          <p:cNvPr id="56" name="Text 49"/>
          <p:cNvSpPr txBox="1"/>
          <p:nvPr/>
        </p:nvSpPr>
        <p:spPr>
          <a:xfrm>
            <a:off x="7315200" y="5166360"/>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mag vroeg vertrekken.</a:t>
            </a:r>
            <a:endParaRPr lang="en-US" sz="1400" dirty="0"/>
          </a:p>
        </p:txBody>
      </p:sp>
      <p:sp>
        <p:nvSpPr>
          <p:cNvPr id="57" name="Text 50"/>
          <p:cNvSpPr txBox="1"/>
          <p:nvPr/>
        </p:nvSpPr>
        <p:spPr>
          <a:xfrm>
            <a:off x="7315200" y="5443423"/>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vroeg </a:t>
            </a:r>
            <a:r>
              <a:rPr lang="en-US" sz="1800" b="1" i="1" dirty="0">
                <a:solidFill>
                  <a:srgbClr val="D9700F"/>
                </a:solidFill>
              </a:rPr>
              <a:t>mogen vertrekken</a:t>
            </a:r>
            <a:r>
              <a:rPr lang="en-US" sz="1800" i="1" dirty="0">
                <a:solidFill>
                  <a:schemeClr val="tx1"/>
                </a:solidFill>
              </a:rPr>
              <a:t>.</a:t>
            </a:r>
            <a:endParaRPr lang="en-US" sz="1800" dirty="0"/>
          </a:p>
        </p:txBody>
      </p:sp>
      <p:sp>
        <p:nvSpPr>
          <p:cNvPr id="58" name="Text 51"/>
          <p:cNvSpPr txBox="1"/>
          <p:nvPr/>
        </p:nvSpPr>
        <p:spPr>
          <a:xfrm>
            <a:off x="7315200" y="5908121"/>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j’ai pu partir tôt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laten : faire faire</a:t>
            </a:r>
            <a:endParaRPr lang="en-US" sz="3000" dirty="0"/>
          </a:p>
        </p:txBody>
      </p:sp>
      <p:sp>
        <p:nvSpPr>
          <p:cNvPr id="3" name="tag"/>
          <p:cNvSpPr/>
          <p:nvPr/>
        </p:nvSpPr>
        <p:spPr>
          <a:xfrm>
            <a:off x="548640" y="237744"/>
            <a:ext cx="1768450"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FAMILLE 2 / 5</a:t>
            </a:r>
            <a:endParaRPr lang="en-US" sz="1200" dirty="0"/>
          </a:p>
        </p:txBody>
      </p:sp>
      <p:sp>
        <p:nvSpPr>
          <p:cNvPr id="5" name="Shape 2"/>
          <p:cNvSpPr/>
          <p:nvPr/>
        </p:nvSpPr>
        <p:spPr>
          <a:xfrm>
            <a:off x="548640" y="1463040"/>
            <a:ext cx="5349240" cy="4069080"/>
          </a:xfrm>
          <a:prstGeom prst="roundRect">
            <a:avLst>
              <a:gd name="adj" fmla="val 2697"/>
            </a:avLst>
          </a:prstGeom>
          <a:solidFill>
            <a:schemeClr val="accent4">
              <a:alpha val="10000"/>
            </a:schemeClr>
          </a:solidFill>
          <a:ln w="19050">
            <a:solidFill>
              <a:srgbClr val="B4236A"/>
            </a:solidFill>
            <a:prstDash val="solid"/>
          </a:ln>
        </p:spPr>
      </p:sp>
      <p:sp>
        <p:nvSpPr>
          <p:cNvPr id="6" name="Text 3"/>
          <p:cNvSpPr txBox="1"/>
          <p:nvPr/>
        </p:nvSpPr>
        <p:spPr>
          <a:xfrm>
            <a:off x="731520" y="1554480"/>
            <a:ext cx="2743200" cy="320040"/>
          </a:xfrm>
          <a:prstGeom prst="rect">
            <a:avLst/>
          </a:prstGeom>
          <a:noFill/>
          <a:ln/>
        </p:spPr>
        <p:txBody>
          <a:bodyPr wrap="square" lIns="0" tIns="0" rIns="0" bIns="0" rtlCol="0" anchor="t"/>
          <a:lstStyle/>
          <a:p>
            <a:pPr algn="l" indent="0" marL="0">
              <a:buNone/>
            </a:pPr>
            <a:r>
              <a:rPr lang="en-US" sz="1200" b="1" spc="100" kern="0" dirty="0">
                <a:solidFill>
                  <a:schemeClr val="accent4"/>
                </a:solidFill>
              </a:rPr>
              <a:t>PRÉSENT</a:t>
            </a:r>
            <a:endParaRPr lang="en-US" sz="1200" dirty="0"/>
          </a:p>
        </p:txBody>
      </p:sp>
      <p:sp>
        <p:nvSpPr>
          <p:cNvPr id="7" name="Shape 4"/>
          <p:cNvSpPr/>
          <p:nvPr/>
        </p:nvSpPr>
        <p:spPr>
          <a:xfrm>
            <a:off x="731520" y="1920240"/>
            <a:ext cx="520842" cy="530352"/>
          </a:xfrm>
          <a:prstGeom prst="roundRect">
            <a:avLst>
              <a:gd name="adj" fmla="val 17556"/>
            </a:avLst>
          </a:prstGeom>
          <a:solidFill>
            <a:schemeClr val="bg1"/>
          </a:solidFill>
          <a:ln w="15875">
            <a:solidFill>
              <a:srgbClr val="D5DCE6"/>
            </a:solidFill>
            <a:prstDash val="solid"/>
          </a:ln>
        </p:spPr>
      </p:sp>
      <p:sp>
        <p:nvSpPr>
          <p:cNvPr id="8" name="Text 5"/>
          <p:cNvSpPr txBox="1"/>
          <p:nvPr/>
        </p:nvSpPr>
        <p:spPr>
          <a:xfrm>
            <a:off x="731520" y="192024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9" name="Shape 6"/>
          <p:cNvSpPr/>
          <p:nvPr/>
        </p:nvSpPr>
        <p:spPr>
          <a:xfrm>
            <a:off x="1334658" y="1920240"/>
            <a:ext cx="912118" cy="530352"/>
          </a:xfrm>
          <a:prstGeom prst="roundRect">
            <a:avLst>
              <a:gd name="adj" fmla="val 17241"/>
            </a:avLst>
          </a:prstGeom>
          <a:solidFill>
            <a:schemeClr val="tx2"/>
          </a:solidFill>
          <a:ln w="12700">
            <a:solidFill>
              <a:srgbClr val="FFFFFF">
                <a:alpha val="0"/>
              </a:srgbClr>
            </a:solidFill>
            <a:prstDash val="solid"/>
          </a:ln>
        </p:spPr>
      </p:sp>
      <p:sp>
        <p:nvSpPr>
          <p:cNvPr id="10" name="Text 7"/>
          <p:cNvSpPr txBox="1"/>
          <p:nvPr/>
        </p:nvSpPr>
        <p:spPr>
          <a:xfrm>
            <a:off x="1334658" y="1920240"/>
            <a:ext cx="912118" cy="530352"/>
          </a:xfrm>
          <a:prstGeom prst="rect">
            <a:avLst/>
          </a:prstGeom>
          <a:noFill/>
          <a:ln/>
        </p:spPr>
        <p:txBody>
          <a:bodyPr wrap="square" lIns="0" tIns="0" rIns="0" bIns="0" rtlCol="0" anchor="ctr"/>
          <a:lstStyle/>
          <a:p>
            <a:pPr algn="ctr" indent="0" marL="0">
              <a:buNone/>
            </a:pPr>
            <a:r>
              <a:rPr lang="en-US" sz="1600" b="1" dirty="0">
                <a:solidFill>
                  <a:schemeClr val="bg1"/>
                </a:solidFill>
              </a:rPr>
              <a:t>laat</a:t>
            </a:r>
            <a:endParaRPr lang="en-US" sz="1600" dirty="0"/>
          </a:p>
        </p:txBody>
      </p:sp>
      <p:sp>
        <p:nvSpPr>
          <p:cNvPr id="11" name="Shape 8"/>
          <p:cNvSpPr/>
          <p:nvPr/>
        </p:nvSpPr>
        <p:spPr>
          <a:xfrm>
            <a:off x="2329072" y="1920240"/>
            <a:ext cx="634959" cy="530352"/>
          </a:xfrm>
          <a:prstGeom prst="roundRect">
            <a:avLst>
              <a:gd name="adj" fmla="val 17241"/>
            </a:avLst>
          </a:prstGeom>
          <a:solidFill>
            <a:schemeClr val="bg1"/>
          </a:solidFill>
          <a:ln w="15875">
            <a:solidFill>
              <a:srgbClr val="D5DCE6"/>
            </a:solidFill>
            <a:prstDash val="solid"/>
          </a:ln>
        </p:spPr>
      </p:sp>
      <p:sp>
        <p:nvSpPr>
          <p:cNvPr id="12" name="Text 9"/>
          <p:cNvSpPr txBox="1"/>
          <p:nvPr/>
        </p:nvSpPr>
        <p:spPr>
          <a:xfrm>
            <a:off x="2329072" y="1920240"/>
            <a:ext cx="634959" cy="530352"/>
          </a:xfrm>
          <a:prstGeom prst="rect">
            <a:avLst/>
          </a:prstGeom>
          <a:noFill/>
          <a:ln/>
        </p:spPr>
        <p:txBody>
          <a:bodyPr wrap="square" lIns="0" tIns="0" rIns="0" bIns="0" rtlCol="0" anchor="ctr"/>
          <a:lstStyle/>
          <a:p>
            <a:pPr algn="ctr" indent="0" marL="0">
              <a:buNone/>
            </a:pPr>
            <a:r>
              <a:rPr lang="en-US" sz="1600" dirty="0">
                <a:solidFill>
                  <a:schemeClr val="tx1"/>
                </a:solidFill>
              </a:rPr>
              <a:t>het</a:t>
            </a:r>
            <a:endParaRPr lang="en-US" sz="1600" dirty="0"/>
          </a:p>
        </p:txBody>
      </p:sp>
      <p:sp>
        <p:nvSpPr>
          <p:cNvPr id="13" name="Shape 10"/>
          <p:cNvSpPr/>
          <p:nvPr/>
        </p:nvSpPr>
        <p:spPr>
          <a:xfrm>
            <a:off x="3046327" y="1920240"/>
            <a:ext cx="1678985" cy="530352"/>
          </a:xfrm>
          <a:prstGeom prst="roundRect">
            <a:avLst>
              <a:gd name="adj" fmla="val 17241"/>
            </a:avLst>
          </a:prstGeom>
          <a:solidFill>
            <a:srgbClr val="FBEDEB"/>
          </a:solidFill>
          <a:ln w="25400">
            <a:solidFill>
              <a:srgbClr val="B83227"/>
            </a:solidFill>
            <a:prstDash val="solid"/>
          </a:ln>
        </p:spPr>
      </p:sp>
      <p:sp>
        <p:nvSpPr>
          <p:cNvPr id="14" name="Text 11"/>
          <p:cNvSpPr txBox="1"/>
          <p:nvPr/>
        </p:nvSpPr>
        <p:spPr>
          <a:xfrm>
            <a:off x="3046327" y="1920240"/>
            <a:ext cx="1678985" cy="530352"/>
          </a:xfrm>
          <a:prstGeom prst="rect">
            <a:avLst/>
          </a:prstGeom>
          <a:noFill/>
          <a:ln/>
        </p:spPr>
        <p:txBody>
          <a:bodyPr wrap="square" lIns="0" tIns="0" rIns="0" bIns="0" rtlCol="0" anchor="ctr"/>
          <a:lstStyle/>
          <a:p>
            <a:pPr algn="ctr" indent="0" marL="0">
              <a:buNone/>
            </a:pPr>
            <a:r>
              <a:rPr lang="en-US" sz="1600" b="1" dirty="0">
                <a:solidFill>
                  <a:schemeClr val="accent6"/>
                </a:solidFill>
              </a:rPr>
              <a:t>repareren.</a:t>
            </a:r>
            <a:endParaRPr lang="en-US" sz="1600" dirty="0"/>
          </a:p>
        </p:txBody>
      </p:sp>
      <p:sp>
        <p:nvSpPr>
          <p:cNvPr id="15" name="Text 12"/>
          <p:cNvSpPr txBox="1"/>
          <p:nvPr/>
        </p:nvSpPr>
        <p:spPr>
          <a:xfrm>
            <a:off x="731520" y="2514600"/>
            <a:ext cx="4983480" cy="457200"/>
          </a:xfrm>
          <a:prstGeom prst="rect">
            <a:avLst/>
          </a:prstGeom>
          <a:noFill/>
          <a:ln/>
        </p:spPr>
        <p:txBody>
          <a:bodyPr wrap="square" lIns="0" tIns="0" rIns="0" bIns="0" rtlCol="0" anchor="ctr"/>
          <a:lstStyle/>
          <a:p>
            <a:pPr algn="ctr" indent="0" marL="0">
              <a:buNone/>
            </a:pPr>
            <a:r>
              <a:rPr lang="en-US" sz="2200" dirty="0">
                <a:solidFill>
                  <a:schemeClr val="accent5"/>
                </a:solidFill>
              </a:rPr>
              <a:t>⬇</a:t>
            </a:r>
            <a:endParaRPr lang="en-US" sz="2200" dirty="0"/>
          </a:p>
        </p:txBody>
      </p:sp>
      <p:sp>
        <p:nvSpPr>
          <p:cNvPr id="16" name="Text 13"/>
          <p:cNvSpPr txBox="1"/>
          <p:nvPr/>
        </p:nvSpPr>
        <p:spPr>
          <a:xfrm>
            <a:off x="731520" y="2971800"/>
            <a:ext cx="3200400" cy="320040"/>
          </a:xfrm>
          <a:prstGeom prst="rect">
            <a:avLst/>
          </a:prstGeom>
          <a:noFill/>
          <a:ln/>
        </p:spPr>
        <p:txBody>
          <a:bodyPr wrap="square" lIns="0" tIns="0" rIns="0" bIns="0" rtlCol="0" anchor="t"/>
          <a:lstStyle/>
          <a:p>
            <a:pPr algn="l" indent="0" marL="0">
              <a:buNone/>
            </a:pPr>
            <a:r>
              <a:rPr lang="en-US" sz="1200" b="1" spc="100" kern="0" dirty="0">
                <a:solidFill>
                  <a:schemeClr val="accent4"/>
                </a:solidFill>
              </a:rPr>
              <a:t>PASSÉ COMPOSÉ</a:t>
            </a:r>
            <a:endParaRPr lang="en-US" sz="1200" dirty="0"/>
          </a:p>
        </p:txBody>
      </p:sp>
      <p:sp>
        <p:nvSpPr>
          <p:cNvPr id="17" name="Text 14"/>
          <p:cNvSpPr txBox="1"/>
          <p:nvPr/>
        </p:nvSpPr>
        <p:spPr>
          <a:xfrm>
            <a:off x="3383280" y="2971800"/>
            <a:ext cx="2331720" cy="320040"/>
          </a:xfrm>
          <a:prstGeom prst="rect">
            <a:avLst/>
          </a:prstGeom>
          <a:noFill/>
          <a:ln/>
        </p:spPr>
        <p:txBody>
          <a:bodyPr wrap="square" lIns="0" tIns="0" rIns="0" bIns="0" rtlCol="0" anchor="t"/>
          <a:lstStyle/>
          <a:p>
            <a:pPr algn="r" indent="0" marL="0">
              <a:buNone/>
            </a:pPr>
            <a:r>
              <a:rPr lang="en-US" sz="1300" dirty="0">
                <a:solidFill>
                  <a:schemeClr val="accent6"/>
                </a:solidFill>
              </a:rPr>
              <a:t>pas </a:t>
            </a:r>
            <a:r>
              <a:rPr lang="en-US" sz="1300" strike="sngStrike" dirty="0">
                <a:solidFill>
                  <a:schemeClr val="accent6"/>
                </a:solidFill>
              </a:rPr>
              <a:t>gelaten</a:t>
            </a:r>
            <a:r>
              <a:rPr lang="en-US" sz="1300" dirty="0">
                <a:solidFill>
                  <a:schemeClr val="accent6"/>
                </a:solidFill>
              </a:rPr>
              <a:t> !</a:t>
            </a:r>
            <a:endParaRPr lang="en-US" sz="1300" dirty="0"/>
          </a:p>
        </p:txBody>
      </p:sp>
      <p:sp>
        <p:nvSpPr>
          <p:cNvPr id="18" name="Shape 15"/>
          <p:cNvSpPr/>
          <p:nvPr/>
        </p:nvSpPr>
        <p:spPr>
          <a:xfrm>
            <a:off x="731520" y="3429000"/>
            <a:ext cx="520842" cy="530352"/>
          </a:xfrm>
          <a:prstGeom prst="roundRect">
            <a:avLst>
              <a:gd name="adj" fmla="val 17556"/>
            </a:avLst>
          </a:prstGeom>
          <a:solidFill>
            <a:schemeClr val="bg1"/>
          </a:solidFill>
          <a:ln w="15875">
            <a:solidFill>
              <a:srgbClr val="D5DCE6"/>
            </a:solidFill>
            <a:prstDash val="solid"/>
          </a:ln>
        </p:spPr>
      </p:sp>
      <p:sp>
        <p:nvSpPr>
          <p:cNvPr id="19" name="Text 16"/>
          <p:cNvSpPr txBox="1"/>
          <p:nvPr/>
        </p:nvSpPr>
        <p:spPr>
          <a:xfrm>
            <a:off x="731520" y="342900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20" name="Shape 17"/>
          <p:cNvSpPr/>
          <p:nvPr/>
        </p:nvSpPr>
        <p:spPr>
          <a:xfrm>
            <a:off x="1334658" y="3429000"/>
            <a:ext cx="784306" cy="530352"/>
          </a:xfrm>
          <a:prstGeom prst="roundRect">
            <a:avLst>
              <a:gd name="adj" fmla="val 17241"/>
            </a:avLst>
          </a:prstGeom>
          <a:solidFill>
            <a:schemeClr val="tx2"/>
          </a:solidFill>
          <a:ln w="12700">
            <a:solidFill>
              <a:srgbClr val="FFFFFF">
                <a:alpha val="0"/>
              </a:srgbClr>
            </a:solidFill>
            <a:prstDash val="solid"/>
          </a:ln>
        </p:spPr>
      </p:sp>
      <p:sp>
        <p:nvSpPr>
          <p:cNvPr id="21" name="Text 18"/>
          <p:cNvSpPr txBox="1"/>
          <p:nvPr/>
        </p:nvSpPr>
        <p:spPr>
          <a:xfrm>
            <a:off x="1334658" y="3429000"/>
            <a:ext cx="784306" cy="530352"/>
          </a:xfrm>
          <a:prstGeom prst="rect">
            <a:avLst/>
          </a:prstGeom>
          <a:noFill/>
          <a:ln/>
        </p:spPr>
        <p:txBody>
          <a:bodyPr wrap="square" lIns="0" tIns="0" rIns="0" bIns="0" rtlCol="0" anchor="ctr"/>
          <a:lstStyle/>
          <a:p>
            <a:pPr algn="ctr" indent="0" marL="0">
              <a:buNone/>
            </a:pPr>
            <a:r>
              <a:rPr lang="en-US" sz="1600" b="1" dirty="0">
                <a:solidFill>
                  <a:schemeClr val="bg1"/>
                </a:solidFill>
              </a:rPr>
              <a:t>heb</a:t>
            </a:r>
            <a:endParaRPr lang="en-US" sz="1600" dirty="0"/>
          </a:p>
        </p:txBody>
      </p:sp>
      <p:sp>
        <p:nvSpPr>
          <p:cNvPr id="22" name="Shape 19"/>
          <p:cNvSpPr/>
          <p:nvPr/>
        </p:nvSpPr>
        <p:spPr>
          <a:xfrm>
            <a:off x="2201261" y="3429000"/>
            <a:ext cx="634959" cy="530352"/>
          </a:xfrm>
          <a:prstGeom prst="roundRect">
            <a:avLst>
              <a:gd name="adj" fmla="val 17241"/>
            </a:avLst>
          </a:prstGeom>
          <a:solidFill>
            <a:schemeClr val="bg1"/>
          </a:solidFill>
          <a:ln w="15875">
            <a:solidFill>
              <a:srgbClr val="D5DCE6"/>
            </a:solidFill>
            <a:prstDash val="solid"/>
          </a:ln>
        </p:spPr>
      </p:sp>
      <p:sp>
        <p:nvSpPr>
          <p:cNvPr id="23" name="Text 20"/>
          <p:cNvSpPr txBox="1"/>
          <p:nvPr/>
        </p:nvSpPr>
        <p:spPr>
          <a:xfrm>
            <a:off x="2201261" y="3429000"/>
            <a:ext cx="634959" cy="530352"/>
          </a:xfrm>
          <a:prstGeom prst="rect">
            <a:avLst/>
          </a:prstGeom>
          <a:noFill/>
          <a:ln/>
        </p:spPr>
        <p:txBody>
          <a:bodyPr wrap="square" lIns="0" tIns="0" rIns="0" bIns="0" rtlCol="0" anchor="ctr"/>
          <a:lstStyle/>
          <a:p>
            <a:pPr algn="ctr" indent="0" marL="0">
              <a:buNone/>
            </a:pPr>
            <a:r>
              <a:rPr lang="en-US" sz="1600" dirty="0">
                <a:solidFill>
                  <a:schemeClr val="tx1"/>
                </a:solidFill>
              </a:rPr>
              <a:t>het</a:t>
            </a:r>
            <a:endParaRPr lang="en-US" sz="1600" dirty="0"/>
          </a:p>
        </p:txBody>
      </p:sp>
      <p:sp>
        <p:nvSpPr>
          <p:cNvPr id="24" name="Shape 21"/>
          <p:cNvSpPr/>
          <p:nvPr/>
        </p:nvSpPr>
        <p:spPr>
          <a:xfrm>
            <a:off x="2918516" y="3429000"/>
            <a:ext cx="1039929" cy="530352"/>
          </a:xfrm>
          <a:prstGeom prst="roundRect">
            <a:avLst>
              <a:gd name="adj" fmla="val 17241"/>
            </a:avLst>
          </a:prstGeom>
          <a:solidFill>
            <a:schemeClr val="accent1"/>
          </a:solidFill>
          <a:ln w="12700">
            <a:solidFill>
              <a:srgbClr val="FFFFFF">
                <a:alpha val="0"/>
              </a:srgbClr>
            </a:solidFill>
            <a:prstDash val="solid"/>
          </a:ln>
        </p:spPr>
      </p:sp>
      <p:sp>
        <p:nvSpPr>
          <p:cNvPr id="25" name="Text 22"/>
          <p:cNvSpPr txBox="1"/>
          <p:nvPr/>
        </p:nvSpPr>
        <p:spPr>
          <a:xfrm>
            <a:off x="2918516" y="3429000"/>
            <a:ext cx="1039929" cy="530352"/>
          </a:xfrm>
          <a:prstGeom prst="rect">
            <a:avLst/>
          </a:prstGeom>
          <a:noFill/>
          <a:ln/>
        </p:spPr>
        <p:txBody>
          <a:bodyPr wrap="square" lIns="0" tIns="0" rIns="0" bIns="0" rtlCol="0" anchor="ctr"/>
          <a:lstStyle/>
          <a:p>
            <a:pPr algn="ctr" indent="0" marL="0">
              <a:buNone/>
            </a:pPr>
            <a:r>
              <a:rPr lang="en-US" sz="1600" b="1" dirty="0">
                <a:solidFill>
                  <a:schemeClr val="bg1"/>
                </a:solidFill>
              </a:rPr>
              <a:t>laten</a:t>
            </a:r>
            <a:endParaRPr lang="en-US" sz="1600" dirty="0"/>
          </a:p>
        </p:txBody>
      </p:sp>
      <p:sp>
        <p:nvSpPr>
          <p:cNvPr id="26" name="Shape 23"/>
          <p:cNvSpPr/>
          <p:nvPr/>
        </p:nvSpPr>
        <p:spPr>
          <a:xfrm>
            <a:off x="4040741" y="3429000"/>
            <a:ext cx="1678985" cy="530352"/>
          </a:xfrm>
          <a:prstGeom prst="roundRect">
            <a:avLst>
              <a:gd name="adj" fmla="val 17241"/>
            </a:avLst>
          </a:prstGeom>
          <a:solidFill>
            <a:srgbClr val="FBEDEB"/>
          </a:solidFill>
          <a:ln w="25400">
            <a:solidFill>
              <a:srgbClr val="B83227"/>
            </a:solidFill>
            <a:prstDash val="solid"/>
          </a:ln>
        </p:spPr>
      </p:sp>
      <p:sp>
        <p:nvSpPr>
          <p:cNvPr id="27" name="Text 24"/>
          <p:cNvSpPr txBox="1"/>
          <p:nvPr/>
        </p:nvSpPr>
        <p:spPr>
          <a:xfrm>
            <a:off x="4040741" y="3429000"/>
            <a:ext cx="1678985" cy="530352"/>
          </a:xfrm>
          <a:prstGeom prst="rect">
            <a:avLst/>
          </a:prstGeom>
          <a:noFill/>
          <a:ln/>
        </p:spPr>
        <p:txBody>
          <a:bodyPr wrap="square" lIns="0" tIns="0" rIns="0" bIns="0" rtlCol="0" anchor="ctr"/>
          <a:lstStyle/>
          <a:p>
            <a:pPr algn="ctr" indent="0" marL="0">
              <a:buNone/>
            </a:pPr>
            <a:r>
              <a:rPr lang="en-US" sz="1600" b="1" dirty="0">
                <a:solidFill>
                  <a:schemeClr val="accent6"/>
                </a:solidFill>
              </a:rPr>
              <a:t>repareren.</a:t>
            </a:r>
            <a:endParaRPr lang="en-US" sz="1600" dirty="0"/>
          </a:p>
        </p:txBody>
      </p:sp>
      <p:sp>
        <p:nvSpPr>
          <p:cNvPr id="28" name="Shape 25"/>
          <p:cNvSpPr/>
          <p:nvPr/>
        </p:nvSpPr>
        <p:spPr>
          <a:xfrm>
            <a:off x="640080" y="4114800"/>
            <a:ext cx="5171086" cy="45720"/>
          </a:xfrm>
          <a:prstGeom prst="rect">
            <a:avLst/>
          </a:prstGeom>
          <a:solidFill>
            <a:srgbClr val="8A96A8"/>
          </a:solidFill>
          <a:ln w="12700">
            <a:solidFill>
              <a:srgbClr val="FFFFFF">
                <a:alpha val="0"/>
              </a:srgbClr>
            </a:solidFill>
            <a:prstDash val="solid"/>
          </a:ln>
        </p:spPr>
      </p:sp>
      <p:sp>
        <p:nvSpPr>
          <p:cNvPr id="29" name="Shape 26"/>
          <p:cNvSpPr/>
          <p:nvPr/>
        </p:nvSpPr>
        <p:spPr>
          <a:xfrm>
            <a:off x="1434054" y="3968496"/>
            <a:ext cx="146304" cy="146304"/>
          </a:xfrm>
          <a:prstGeom prst="ellipse">
            <a:avLst/>
          </a:prstGeom>
          <a:solidFill>
            <a:srgbClr val="1B2333"/>
          </a:solidFill>
          <a:ln w="12700">
            <a:solidFill>
              <a:srgbClr val="FFFFFF">
                <a:alpha val="0"/>
              </a:srgbClr>
            </a:solidFill>
            <a:prstDash val="solid"/>
          </a:ln>
        </p:spPr>
      </p:sp>
      <p:sp>
        <p:nvSpPr>
          <p:cNvPr id="30" name="Shape 27"/>
          <p:cNvSpPr/>
          <p:nvPr/>
        </p:nvSpPr>
        <p:spPr>
          <a:xfrm>
            <a:off x="1873265" y="3968496"/>
            <a:ext cx="146304" cy="146304"/>
          </a:xfrm>
          <a:prstGeom prst="ellipse">
            <a:avLst/>
          </a:prstGeom>
          <a:solidFill>
            <a:srgbClr val="1B2333"/>
          </a:solidFill>
          <a:ln w="12700">
            <a:solidFill>
              <a:srgbClr val="FFFFFF">
                <a:alpha val="0"/>
              </a:srgbClr>
            </a:solidFill>
            <a:prstDash val="solid"/>
          </a:ln>
        </p:spPr>
      </p:sp>
      <p:sp>
        <p:nvSpPr>
          <p:cNvPr id="31" name="Shape 28"/>
          <p:cNvSpPr/>
          <p:nvPr/>
        </p:nvSpPr>
        <p:spPr>
          <a:xfrm>
            <a:off x="1444386" y="3227832"/>
            <a:ext cx="146304" cy="219456"/>
          </a:xfrm>
          <a:prstGeom prst="rect">
            <a:avLst/>
          </a:prstGeom>
          <a:solidFill>
            <a:schemeClr val="tx2"/>
          </a:solidFill>
          <a:ln w="12700">
            <a:solidFill>
              <a:srgbClr val="FFFFFF">
                <a:alpha val="0"/>
              </a:srgbClr>
            </a:solidFill>
            <a:prstDash val="solid"/>
          </a:ln>
        </p:spPr>
      </p:sp>
      <p:sp>
        <p:nvSpPr>
          <p:cNvPr id="32" name="Shape 29"/>
          <p:cNvSpPr/>
          <p:nvPr/>
        </p:nvSpPr>
        <p:spPr>
          <a:xfrm>
            <a:off x="3074148" y="3968496"/>
            <a:ext cx="146304" cy="146304"/>
          </a:xfrm>
          <a:prstGeom prst="ellipse">
            <a:avLst/>
          </a:prstGeom>
          <a:solidFill>
            <a:srgbClr val="1B2333"/>
          </a:solidFill>
          <a:ln w="12700">
            <a:solidFill>
              <a:srgbClr val="FFFFFF">
                <a:alpha val="0"/>
              </a:srgbClr>
            </a:solidFill>
            <a:prstDash val="solid"/>
          </a:ln>
        </p:spPr>
      </p:sp>
      <p:sp>
        <p:nvSpPr>
          <p:cNvPr id="33" name="Shape 30"/>
          <p:cNvSpPr/>
          <p:nvPr/>
        </p:nvSpPr>
        <p:spPr>
          <a:xfrm>
            <a:off x="3656509" y="3968496"/>
            <a:ext cx="146304" cy="146304"/>
          </a:xfrm>
          <a:prstGeom prst="ellipse">
            <a:avLst/>
          </a:prstGeom>
          <a:solidFill>
            <a:srgbClr val="1B2333"/>
          </a:solidFill>
          <a:ln w="12700">
            <a:solidFill>
              <a:srgbClr val="FFFFFF">
                <a:alpha val="0"/>
              </a:srgbClr>
            </a:solidFill>
            <a:prstDash val="solid"/>
          </a:ln>
        </p:spPr>
      </p:sp>
      <p:sp>
        <p:nvSpPr>
          <p:cNvPr id="34" name="Shape 31"/>
          <p:cNvSpPr/>
          <p:nvPr/>
        </p:nvSpPr>
        <p:spPr>
          <a:xfrm>
            <a:off x="3958445" y="3826764"/>
            <a:ext cx="82296" cy="914"/>
          </a:xfrm>
          <a:prstGeom prst="line">
            <a:avLst/>
          </a:prstGeom>
          <a:noFill/>
          <a:ln w="31750">
            <a:solidFill>
              <a:srgbClr val="1B2333"/>
            </a:solidFill>
            <a:prstDash val="solid"/>
          </a:ln>
        </p:spPr>
      </p:sp>
      <p:sp>
        <p:nvSpPr>
          <p:cNvPr id="35" name="Shape 32"/>
          <p:cNvSpPr/>
          <p:nvPr/>
        </p:nvSpPr>
        <p:spPr>
          <a:xfrm>
            <a:off x="4336966" y="3968496"/>
            <a:ext cx="146304" cy="146304"/>
          </a:xfrm>
          <a:prstGeom prst="ellipse">
            <a:avLst/>
          </a:prstGeom>
          <a:solidFill>
            <a:srgbClr val="1B2333"/>
          </a:solidFill>
          <a:ln w="12700">
            <a:solidFill>
              <a:srgbClr val="FFFFFF">
                <a:alpha val="0"/>
              </a:srgbClr>
            </a:solidFill>
            <a:prstDash val="solid"/>
          </a:ln>
        </p:spPr>
      </p:sp>
      <p:sp>
        <p:nvSpPr>
          <p:cNvPr id="36" name="Shape 33"/>
          <p:cNvSpPr/>
          <p:nvPr/>
        </p:nvSpPr>
        <p:spPr>
          <a:xfrm>
            <a:off x="5277197" y="3968496"/>
            <a:ext cx="146304" cy="146304"/>
          </a:xfrm>
          <a:prstGeom prst="ellipse">
            <a:avLst/>
          </a:prstGeom>
          <a:solidFill>
            <a:srgbClr val="1B2333"/>
          </a:solidFill>
          <a:ln w="12700">
            <a:solidFill>
              <a:srgbClr val="FFFFFF">
                <a:alpha val="0"/>
              </a:srgbClr>
            </a:solidFill>
            <a:prstDash val="solid"/>
          </a:ln>
        </p:spPr>
      </p:sp>
      <p:sp>
        <p:nvSpPr>
          <p:cNvPr id="37" name="Text 34"/>
          <p:cNvSpPr txBox="1"/>
          <p:nvPr/>
        </p:nvSpPr>
        <p:spPr>
          <a:xfrm>
            <a:off x="731520" y="4343400"/>
            <a:ext cx="5029200" cy="1097280"/>
          </a:xfrm>
          <a:prstGeom prst="rect">
            <a:avLst/>
          </a:prstGeom>
          <a:noFill/>
          <a:ln/>
        </p:spPr>
        <p:txBody>
          <a:bodyPr wrap="square" lIns="0" tIns="0" rIns="0" bIns="0" rtlCol="0" anchor="ctr"/>
          <a:lstStyle/>
          <a:p>
            <a:pPr algn="l" indent="0" marL="0">
              <a:buNone/>
            </a:pPr>
            <a:r>
              <a:rPr lang="en-US" sz="1400" i="1" dirty="0">
                <a:solidFill>
                  <a:schemeClr val="tx1"/>
                </a:solidFill>
              </a:rPr>
              <a:t>laten</a:t>
            </a:r>
            <a:r>
              <a:rPr lang="en-US" sz="1400" dirty="0">
                <a:solidFill>
                  <a:schemeClr val="tx1"/>
                </a:solidFill>
              </a:rPr>
              <a:t> + infinitif = </a:t>
            </a:r>
            <a:r>
              <a:rPr lang="en-US" sz="1400" b="1" dirty="0">
                <a:solidFill>
                  <a:schemeClr val="tx1"/>
                </a:solidFill>
              </a:rPr>
              <a:t>faire faire</a:t>
            </a:r>
            <a:r>
              <a:rPr lang="en-US" sz="1400" dirty="0">
                <a:solidFill>
                  <a:schemeClr val="tx1"/>
                </a:solidFill>
              </a:rPr>
              <a:t> ou </a:t>
            </a:r>
            <a:r>
              <a:rPr lang="en-US" sz="1400" b="1" dirty="0">
                <a:solidFill>
                  <a:schemeClr val="tx1"/>
                </a:solidFill>
              </a:rPr>
              <a:t>laisser faire</a:t>
            </a:r>
            <a:r>
              <a:rPr lang="en-US" sz="1400" dirty="0">
                <a:solidFill>
                  <a:schemeClr val="tx1"/>
                </a:solidFill>
              </a:rPr>
              <a:t>. Au passé : </a:t>
            </a:r>
            <a:r>
              <a:rPr lang="en-US" sz="1400" i="1" dirty="0">
                <a:solidFill>
                  <a:schemeClr val="tx1"/>
                </a:solidFill>
              </a:rPr>
              <a:t>laten</a:t>
            </a:r>
            <a:r>
              <a:rPr lang="en-US" sz="1400" dirty="0">
                <a:solidFill>
                  <a:schemeClr val="tx1"/>
                </a:solidFill>
              </a:rPr>
              <a:t>, jamais </a:t>
            </a:r>
            <a:r>
              <a:rPr lang="en-US" sz="1400" i="1" dirty="0">
                <a:solidFill>
                  <a:schemeClr val="tx1"/>
                </a:solidFill>
              </a:rPr>
              <a:t>gelaten</a:t>
            </a:r>
            <a:r>
              <a:rPr lang="en-US" sz="1400" dirty="0">
                <a:solidFill>
                  <a:schemeClr val="tx1"/>
                </a:solidFill>
              </a:rPr>
              <a:t> devant un infinitif.</a:t>
            </a:r>
            <a:endParaRPr lang="en-US" sz="1400" dirty="0"/>
          </a:p>
        </p:txBody>
      </p:sp>
      <p:sp>
        <p:nvSpPr>
          <p:cNvPr id="38" name="Shape 35"/>
          <p:cNvSpPr/>
          <p:nvPr/>
        </p:nvSpPr>
        <p:spPr>
          <a:xfrm>
            <a:off x="6126480" y="1463040"/>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9" name="Shape 36"/>
          <p:cNvSpPr/>
          <p:nvPr/>
        </p:nvSpPr>
        <p:spPr>
          <a:xfrm>
            <a:off x="6126480" y="1463040"/>
            <a:ext cx="109728" cy="1106424"/>
          </a:xfrm>
          <a:prstGeom prst="rect">
            <a:avLst/>
          </a:prstGeom>
          <a:solidFill>
            <a:schemeClr val="accent4"/>
          </a:solidFill>
          <a:ln w="12700">
            <a:solidFill>
              <a:srgbClr val="FFFFFF">
                <a:alpha val="0"/>
              </a:srgbClr>
            </a:solidFill>
            <a:prstDash val="solid"/>
          </a:ln>
        </p:spPr>
      </p:sp>
      <p:pic>
        <p:nvPicPr>
          <p:cNvPr id="40" name="Image 0" descr="automobile">    </p:cNvPr>
          <p:cNvPicPr>
            <a:picLocks noChangeAspect="1"/>
          </p:cNvPicPr>
          <p:nvPr/>
        </p:nvPicPr>
        <p:blipFill>
          <a:blip r:embed="rId1"/>
          <a:stretch>
            <a:fillRect/>
          </a:stretch>
        </p:blipFill>
        <p:spPr>
          <a:xfrm>
            <a:off x="6382512" y="1627632"/>
            <a:ext cx="777240" cy="777240"/>
          </a:xfrm>
          <a:prstGeom prst="rect">
            <a:avLst/>
          </a:prstGeom>
        </p:spPr>
      </p:pic>
      <p:sp>
        <p:nvSpPr>
          <p:cNvPr id="41" name="Text 37"/>
          <p:cNvSpPr txBox="1"/>
          <p:nvPr/>
        </p:nvSpPr>
        <p:spPr>
          <a:xfrm>
            <a:off x="7315200" y="1517904"/>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laat mijn auto repareren.</a:t>
            </a:r>
            <a:endParaRPr lang="en-US" sz="1400" dirty="0"/>
          </a:p>
        </p:txBody>
      </p:sp>
      <p:sp>
        <p:nvSpPr>
          <p:cNvPr id="42" name="Text 38"/>
          <p:cNvSpPr txBox="1"/>
          <p:nvPr/>
        </p:nvSpPr>
        <p:spPr>
          <a:xfrm>
            <a:off x="7315200" y="1794967"/>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mijn auto </a:t>
            </a:r>
            <a:r>
              <a:rPr lang="en-US" sz="1800" b="1" i="1" dirty="0">
                <a:solidFill>
                  <a:srgbClr val="D9700F"/>
                </a:solidFill>
              </a:rPr>
              <a:t>laten repareren</a:t>
            </a:r>
            <a:r>
              <a:rPr lang="en-US" sz="1800" i="1" dirty="0">
                <a:solidFill>
                  <a:schemeClr val="tx1"/>
                </a:solidFill>
              </a:rPr>
              <a:t>.</a:t>
            </a:r>
            <a:endParaRPr lang="en-US" sz="1800" dirty="0"/>
          </a:p>
        </p:txBody>
      </p:sp>
      <p:sp>
        <p:nvSpPr>
          <p:cNvPr id="43" name="Text 39"/>
          <p:cNvSpPr txBox="1"/>
          <p:nvPr/>
        </p:nvSpPr>
        <p:spPr>
          <a:xfrm>
            <a:off x="7315200" y="2259665"/>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j’ai fait réparer ma voiture</a:t>
            </a:r>
            <a:endParaRPr lang="en-US" sz="1300" dirty="0"/>
          </a:p>
        </p:txBody>
      </p:sp>
      <p:sp>
        <p:nvSpPr>
          <p:cNvPr id="44" name="Shape 40"/>
          <p:cNvSpPr/>
          <p:nvPr/>
        </p:nvSpPr>
        <p:spPr>
          <a:xfrm>
            <a:off x="6126480" y="2679192"/>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5" name="Shape 41"/>
          <p:cNvSpPr/>
          <p:nvPr/>
        </p:nvSpPr>
        <p:spPr>
          <a:xfrm>
            <a:off x="6126480" y="2679192"/>
            <a:ext cx="109728" cy="1106424"/>
          </a:xfrm>
          <a:prstGeom prst="rect">
            <a:avLst/>
          </a:prstGeom>
          <a:solidFill>
            <a:schemeClr val="accent4"/>
          </a:solidFill>
          <a:ln w="12700">
            <a:solidFill>
              <a:srgbClr val="FFFFFF">
                <a:alpha val="0"/>
              </a:srgbClr>
            </a:solidFill>
            <a:prstDash val="solid"/>
          </a:ln>
        </p:spPr>
      </p:sp>
      <p:pic>
        <p:nvPicPr>
          <p:cNvPr id="46" name="Image 1" descr="person getting haircut">    </p:cNvPr>
          <p:cNvPicPr>
            <a:picLocks noChangeAspect="1"/>
          </p:cNvPicPr>
          <p:nvPr/>
        </p:nvPicPr>
        <p:blipFill>
          <a:blip r:embed="rId2"/>
          <a:stretch>
            <a:fillRect/>
          </a:stretch>
        </p:blipFill>
        <p:spPr>
          <a:xfrm>
            <a:off x="6382512" y="2843784"/>
            <a:ext cx="777240" cy="777240"/>
          </a:xfrm>
          <a:prstGeom prst="rect">
            <a:avLst/>
          </a:prstGeom>
        </p:spPr>
      </p:pic>
      <p:sp>
        <p:nvSpPr>
          <p:cNvPr id="47" name="Text 42"/>
          <p:cNvSpPr txBox="1"/>
          <p:nvPr/>
        </p:nvSpPr>
        <p:spPr>
          <a:xfrm>
            <a:off x="7315200" y="2734056"/>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Ze laat haar haar knippen.</a:t>
            </a:r>
            <a:endParaRPr lang="en-US" sz="1400" dirty="0"/>
          </a:p>
        </p:txBody>
      </p:sp>
      <p:sp>
        <p:nvSpPr>
          <p:cNvPr id="48" name="Text 43"/>
          <p:cNvSpPr txBox="1"/>
          <p:nvPr/>
        </p:nvSpPr>
        <p:spPr>
          <a:xfrm>
            <a:off x="7315200" y="3011119"/>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Ze heeft haar haar </a:t>
            </a:r>
            <a:r>
              <a:rPr lang="en-US" sz="1800" b="1" i="1" dirty="0">
                <a:solidFill>
                  <a:srgbClr val="D9700F"/>
                </a:solidFill>
              </a:rPr>
              <a:t>laten knippen</a:t>
            </a:r>
            <a:r>
              <a:rPr lang="en-US" sz="1800" i="1" dirty="0">
                <a:solidFill>
                  <a:schemeClr val="tx1"/>
                </a:solidFill>
              </a:rPr>
              <a:t>.</a:t>
            </a:r>
            <a:endParaRPr lang="en-US" sz="1800" dirty="0"/>
          </a:p>
        </p:txBody>
      </p:sp>
      <p:sp>
        <p:nvSpPr>
          <p:cNvPr id="49" name="Text 44"/>
          <p:cNvSpPr txBox="1"/>
          <p:nvPr/>
        </p:nvSpPr>
        <p:spPr>
          <a:xfrm>
            <a:off x="7315200" y="3475817"/>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elle s’est fait couper les cheveux</a:t>
            </a:r>
            <a:endParaRPr lang="en-US" sz="1300" dirty="0"/>
          </a:p>
        </p:txBody>
      </p:sp>
      <p:sp>
        <p:nvSpPr>
          <p:cNvPr id="50" name="Shape 45"/>
          <p:cNvSpPr/>
          <p:nvPr/>
        </p:nvSpPr>
        <p:spPr>
          <a:xfrm>
            <a:off x="6126480" y="3895344"/>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1" name="Shape 46"/>
          <p:cNvSpPr/>
          <p:nvPr/>
        </p:nvSpPr>
        <p:spPr>
          <a:xfrm>
            <a:off x="6126480" y="3895344"/>
            <a:ext cx="109728" cy="1106424"/>
          </a:xfrm>
          <a:prstGeom prst="rect">
            <a:avLst/>
          </a:prstGeom>
          <a:solidFill>
            <a:schemeClr val="accent4"/>
          </a:solidFill>
          <a:ln w="12700">
            <a:solidFill>
              <a:srgbClr val="FFFFFF">
                <a:alpha val="0"/>
              </a:srgbClr>
            </a:solidFill>
            <a:prstDash val="solid"/>
          </a:ln>
        </p:spPr>
      </p:sp>
      <p:pic>
        <p:nvPicPr>
          <p:cNvPr id="52" name="Image 2" descr="hourglass not done">    </p:cNvPr>
          <p:cNvPicPr>
            <a:picLocks noChangeAspect="1"/>
          </p:cNvPicPr>
          <p:nvPr/>
        </p:nvPicPr>
        <p:blipFill>
          <a:blip r:embed="rId3"/>
          <a:stretch>
            <a:fillRect/>
          </a:stretch>
        </p:blipFill>
        <p:spPr>
          <a:xfrm>
            <a:off x="6382512" y="4059936"/>
            <a:ext cx="777240" cy="777240"/>
          </a:xfrm>
          <a:prstGeom prst="rect">
            <a:avLst/>
          </a:prstGeom>
        </p:spPr>
      </p:pic>
      <p:sp>
        <p:nvSpPr>
          <p:cNvPr id="53" name="Text 47"/>
          <p:cNvSpPr txBox="1"/>
          <p:nvPr/>
        </p:nvSpPr>
        <p:spPr>
          <a:xfrm>
            <a:off x="7315200" y="3950208"/>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laat de klant wachten.</a:t>
            </a:r>
            <a:endParaRPr lang="en-US" sz="1400" dirty="0"/>
          </a:p>
        </p:txBody>
      </p:sp>
      <p:sp>
        <p:nvSpPr>
          <p:cNvPr id="54" name="Text 48"/>
          <p:cNvSpPr txBox="1"/>
          <p:nvPr/>
        </p:nvSpPr>
        <p:spPr>
          <a:xfrm>
            <a:off x="7315200" y="4227271"/>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de klant </a:t>
            </a:r>
            <a:r>
              <a:rPr lang="en-US" sz="1800" b="1" i="1" dirty="0">
                <a:solidFill>
                  <a:srgbClr val="D9700F"/>
                </a:solidFill>
              </a:rPr>
              <a:t>laten wachten</a:t>
            </a:r>
            <a:r>
              <a:rPr lang="en-US" sz="1800" i="1" dirty="0">
                <a:solidFill>
                  <a:schemeClr val="tx1"/>
                </a:solidFill>
              </a:rPr>
              <a:t>.</a:t>
            </a:r>
            <a:endParaRPr lang="en-US" sz="1800" dirty="0"/>
          </a:p>
        </p:txBody>
      </p:sp>
      <p:sp>
        <p:nvSpPr>
          <p:cNvPr id="55" name="Text 49"/>
          <p:cNvSpPr txBox="1"/>
          <p:nvPr/>
        </p:nvSpPr>
        <p:spPr>
          <a:xfrm>
            <a:off x="7315200" y="4691969"/>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j’ai fait attendre le client</a:t>
            </a:r>
            <a:endParaRPr lang="en-US" sz="1300" dirty="0"/>
          </a:p>
        </p:txBody>
      </p:sp>
      <p:sp>
        <p:nvSpPr>
          <p:cNvPr id="56" name="Shape 50"/>
          <p:cNvSpPr/>
          <p:nvPr/>
        </p:nvSpPr>
        <p:spPr>
          <a:xfrm>
            <a:off x="6126480" y="5111496"/>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7" name="Shape 51"/>
          <p:cNvSpPr/>
          <p:nvPr/>
        </p:nvSpPr>
        <p:spPr>
          <a:xfrm>
            <a:off x="6126480" y="5111496"/>
            <a:ext cx="109728" cy="1106424"/>
          </a:xfrm>
          <a:prstGeom prst="rect">
            <a:avLst/>
          </a:prstGeom>
          <a:solidFill>
            <a:schemeClr val="accent4"/>
          </a:solidFill>
          <a:ln w="12700">
            <a:solidFill>
              <a:srgbClr val="FFFFFF">
                <a:alpha val="0"/>
              </a:srgbClr>
            </a:solidFill>
            <a:prstDash val="solid"/>
          </a:ln>
        </p:spPr>
      </p:sp>
      <p:pic>
        <p:nvPicPr>
          <p:cNvPr id="58" name="Image 3" descr="mobile phone">    </p:cNvPr>
          <p:cNvPicPr>
            <a:picLocks noChangeAspect="1"/>
          </p:cNvPicPr>
          <p:nvPr/>
        </p:nvPicPr>
        <p:blipFill>
          <a:blip r:embed="rId4"/>
          <a:stretch>
            <a:fillRect/>
          </a:stretch>
        </p:blipFill>
        <p:spPr>
          <a:xfrm>
            <a:off x="6382512" y="5276088"/>
            <a:ext cx="777240" cy="777240"/>
          </a:xfrm>
          <a:prstGeom prst="rect">
            <a:avLst/>
          </a:prstGeom>
        </p:spPr>
      </p:pic>
      <p:sp>
        <p:nvSpPr>
          <p:cNvPr id="59" name="Text 52"/>
          <p:cNvSpPr txBox="1"/>
          <p:nvPr/>
        </p:nvSpPr>
        <p:spPr>
          <a:xfrm>
            <a:off x="7315200" y="5166360"/>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laat mijn gsm vallen.</a:t>
            </a:r>
            <a:endParaRPr lang="en-US" sz="1400" dirty="0"/>
          </a:p>
        </p:txBody>
      </p:sp>
      <p:sp>
        <p:nvSpPr>
          <p:cNvPr id="60" name="Text 53"/>
          <p:cNvSpPr txBox="1"/>
          <p:nvPr/>
        </p:nvSpPr>
        <p:spPr>
          <a:xfrm>
            <a:off x="7315200" y="5443423"/>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mijn gsm </a:t>
            </a:r>
            <a:r>
              <a:rPr lang="en-US" sz="1800" b="1" i="1" dirty="0">
                <a:solidFill>
                  <a:srgbClr val="D9700F"/>
                </a:solidFill>
              </a:rPr>
              <a:t>laten vallen</a:t>
            </a:r>
            <a:r>
              <a:rPr lang="en-US" sz="1800" i="1" dirty="0">
                <a:solidFill>
                  <a:schemeClr val="tx1"/>
                </a:solidFill>
              </a:rPr>
              <a:t>.</a:t>
            </a:r>
            <a:endParaRPr lang="en-US" sz="1800" dirty="0"/>
          </a:p>
        </p:txBody>
      </p:sp>
      <p:sp>
        <p:nvSpPr>
          <p:cNvPr id="61" name="Text 54"/>
          <p:cNvSpPr txBox="1"/>
          <p:nvPr/>
        </p:nvSpPr>
        <p:spPr>
          <a:xfrm>
            <a:off x="7315200" y="5908121"/>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j’ai laissé tomber mon GSM</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gaan, komen, blijven : avec zijn !</a:t>
            </a:r>
            <a:endParaRPr lang="en-US" sz="3000" dirty="0"/>
          </a:p>
        </p:txBody>
      </p:sp>
      <p:sp>
        <p:nvSpPr>
          <p:cNvPr id="3" name="tag"/>
          <p:cNvSpPr/>
          <p:nvPr/>
        </p:nvSpPr>
        <p:spPr>
          <a:xfrm>
            <a:off x="548640" y="237744"/>
            <a:ext cx="176845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FAMILLE 3 / 5</a:t>
            </a:r>
            <a:endParaRPr lang="en-US" sz="1200" dirty="0"/>
          </a:p>
        </p:txBody>
      </p:sp>
      <p:sp>
        <p:nvSpPr>
          <p:cNvPr id="5" name="Shape 2"/>
          <p:cNvSpPr/>
          <p:nvPr/>
        </p:nvSpPr>
        <p:spPr>
          <a:xfrm>
            <a:off x="548640" y="1463040"/>
            <a:ext cx="5349240" cy="4069080"/>
          </a:xfrm>
          <a:prstGeom prst="roundRect">
            <a:avLst>
              <a:gd name="adj" fmla="val 2697"/>
            </a:avLst>
          </a:prstGeom>
          <a:solidFill>
            <a:schemeClr val="accent3">
              <a:alpha val="10000"/>
            </a:schemeClr>
          </a:solidFill>
          <a:ln w="19050">
            <a:solidFill>
              <a:srgbClr val="2E7D4F"/>
            </a:solidFill>
            <a:prstDash val="solid"/>
          </a:ln>
        </p:spPr>
      </p:sp>
      <p:sp>
        <p:nvSpPr>
          <p:cNvPr id="6" name="Text 3"/>
          <p:cNvSpPr txBox="1"/>
          <p:nvPr/>
        </p:nvSpPr>
        <p:spPr>
          <a:xfrm>
            <a:off x="731520" y="1554480"/>
            <a:ext cx="2743200" cy="320040"/>
          </a:xfrm>
          <a:prstGeom prst="rect">
            <a:avLst/>
          </a:prstGeom>
          <a:noFill/>
          <a:ln/>
        </p:spPr>
        <p:txBody>
          <a:bodyPr wrap="square" lIns="0" tIns="0" rIns="0" bIns="0" rtlCol="0" anchor="t"/>
          <a:lstStyle/>
          <a:p>
            <a:pPr algn="l" indent="0" marL="0">
              <a:buNone/>
            </a:pPr>
            <a:r>
              <a:rPr lang="en-US" sz="1200" b="1" spc="100" kern="0" dirty="0">
                <a:solidFill>
                  <a:schemeClr val="accent3"/>
                </a:solidFill>
              </a:rPr>
              <a:t>PRÉSENT</a:t>
            </a:r>
            <a:endParaRPr lang="en-US" sz="1200" dirty="0"/>
          </a:p>
        </p:txBody>
      </p:sp>
      <p:sp>
        <p:nvSpPr>
          <p:cNvPr id="7" name="Shape 4"/>
          <p:cNvSpPr/>
          <p:nvPr/>
        </p:nvSpPr>
        <p:spPr>
          <a:xfrm>
            <a:off x="731520" y="1920240"/>
            <a:ext cx="520842" cy="530352"/>
          </a:xfrm>
          <a:prstGeom prst="roundRect">
            <a:avLst>
              <a:gd name="adj" fmla="val 17556"/>
            </a:avLst>
          </a:prstGeom>
          <a:solidFill>
            <a:schemeClr val="bg1"/>
          </a:solidFill>
          <a:ln w="15875">
            <a:solidFill>
              <a:srgbClr val="D5DCE6"/>
            </a:solidFill>
            <a:prstDash val="solid"/>
          </a:ln>
        </p:spPr>
      </p:sp>
      <p:sp>
        <p:nvSpPr>
          <p:cNvPr id="8" name="Text 5"/>
          <p:cNvSpPr txBox="1"/>
          <p:nvPr/>
        </p:nvSpPr>
        <p:spPr>
          <a:xfrm>
            <a:off x="731520" y="192024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9" name="Shape 6"/>
          <p:cNvSpPr/>
          <p:nvPr/>
        </p:nvSpPr>
        <p:spPr>
          <a:xfrm>
            <a:off x="1334658" y="1920240"/>
            <a:ext cx="656495" cy="530352"/>
          </a:xfrm>
          <a:prstGeom prst="roundRect">
            <a:avLst>
              <a:gd name="adj" fmla="val 17241"/>
            </a:avLst>
          </a:prstGeom>
          <a:solidFill>
            <a:schemeClr val="tx2"/>
          </a:solidFill>
          <a:ln w="12700">
            <a:solidFill>
              <a:srgbClr val="FFFFFF">
                <a:alpha val="0"/>
              </a:srgbClr>
            </a:solidFill>
            <a:prstDash val="solid"/>
          </a:ln>
        </p:spPr>
      </p:sp>
      <p:sp>
        <p:nvSpPr>
          <p:cNvPr id="10" name="Text 7"/>
          <p:cNvSpPr txBox="1"/>
          <p:nvPr/>
        </p:nvSpPr>
        <p:spPr>
          <a:xfrm>
            <a:off x="1334658" y="1920240"/>
            <a:ext cx="656495" cy="530352"/>
          </a:xfrm>
          <a:prstGeom prst="rect">
            <a:avLst/>
          </a:prstGeom>
          <a:noFill/>
          <a:ln/>
        </p:spPr>
        <p:txBody>
          <a:bodyPr wrap="square" lIns="0" tIns="0" rIns="0" bIns="0" rtlCol="0" anchor="ctr"/>
          <a:lstStyle/>
          <a:p>
            <a:pPr algn="ctr" indent="0" marL="0">
              <a:buNone/>
            </a:pPr>
            <a:r>
              <a:rPr lang="en-US" sz="1600" b="1" dirty="0">
                <a:solidFill>
                  <a:schemeClr val="bg1"/>
                </a:solidFill>
              </a:rPr>
              <a:t>ga</a:t>
            </a:r>
            <a:endParaRPr lang="en-US" sz="1600" dirty="0"/>
          </a:p>
        </p:txBody>
      </p:sp>
      <p:sp>
        <p:nvSpPr>
          <p:cNvPr id="11" name="Shape 8"/>
          <p:cNvSpPr/>
          <p:nvPr/>
        </p:nvSpPr>
        <p:spPr>
          <a:xfrm>
            <a:off x="2073450" y="1920240"/>
            <a:ext cx="1423362" cy="530352"/>
          </a:xfrm>
          <a:prstGeom prst="roundRect">
            <a:avLst>
              <a:gd name="adj" fmla="val 17241"/>
            </a:avLst>
          </a:prstGeom>
          <a:solidFill>
            <a:srgbClr val="FBEDEB"/>
          </a:solidFill>
          <a:ln w="25400">
            <a:solidFill>
              <a:srgbClr val="B83227"/>
            </a:solidFill>
            <a:prstDash val="solid"/>
          </a:ln>
        </p:spPr>
      </p:sp>
      <p:sp>
        <p:nvSpPr>
          <p:cNvPr id="12" name="Text 9"/>
          <p:cNvSpPr txBox="1"/>
          <p:nvPr/>
        </p:nvSpPr>
        <p:spPr>
          <a:xfrm>
            <a:off x="2073450" y="1920240"/>
            <a:ext cx="1423362" cy="530352"/>
          </a:xfrm>
          <a:prstGeom prst="rect">
            <a:avLst/>
          </a:prstGeom>
          <a:noFill/>
          <a:ln/>
        </p:spPr>
        <p:txBody>
          <a:bodyPr wrap="square" lIns="0" tIns="0" rIns="0" bIns="0" rtlCol="0" anchor="ctr"/>
          <a:lstStyle/>
          <a:p>
            <a:pPr algn="ctr" indent="0" marL="0">
              <a:buNone/>
            </a:pPr>
            <a:r>
              <a:rPr lang="en-US" sz="1600" b="1" dirty="0">
                <a:solidFill>
                  <a:schemeClr val="accent6"/>
                </a:solidFill>
              </a:rPr>
              <a:t>zwemmen.</a:t>
            </a:r>
            <a:endParaRPr lang="en-US" sz="1600" dirty="0"/>
          </a:p>
        </p:txBody>
      </p:sp>
      <p:sp>
        <p:nvSpPr>
          <p:cNvPr id="13" name="Text 10"/>
          <p:cNvSpPr txBox="1"/>
          <p:nvPr/>
        </p:nvSpPr>
        <p:spPr>
          <a:xfrm>
            <a:off x="731520" y="2514600"/>
            <a:ext cx="4983480" cy="457200"/>
          </a:xfrm>
          <a:prstGeom prst="rect">
            <a:avLst/>
          </a:prstGeom>
          <a:noFill/>
          <a:ln/>
        </p:spPr>
        <p:txBody>
          <a:bodyPr wrap="square" lIns="0" tIns="0" rIns="0" bIns="0" rtlCol="0" anchor="ctr"/>
          <a:lstStyle/>
          <a:p>
            <a:pPr algn="ctr" indent="0" marL="0">
              <a:buNone/>
            </a:pPr>
            <a:r>
              <a:rPr lang="en-US" sz="2200" dirty="0">
                <a:solidFill>
                  <a:schemeClr val="accent5"/>
                </a:solidFill>
              </a:rPr>
              <a:t>⬇</a:t>
            </a:r>
            <a:endParaRPr lang="en-US" sz="2200" dirty="0"/>
          </a:p>
        </p:txBody>
      </p:sp>
      <p:sp>
        <p:nvSpPr>
          <p:cNvPr id="14" name="Text 11"/>
          <p:cNvSpPr txBox="1"/>
          <p:nvPr/>
        </p:nvSpPr>
        <p:spPr>
          <a:xfrm>
            <a:off x="731520" y="2971800"/>
            <a:ext cx="3200400" cy="320040"/>
          </a:xfrm>
          <a:prstGeom prst="rect">
            <a:avLst/>
          </a:prstGeom>
          <a:noFill/>
          <a:ln/>
        </p:spPr>
        <p:txBody>
          <a:bodyPr wrap="square" lIns="0" tIns="0" rIns="0" bIns="0" rtlCol="0" anchor="t"/>
          <a:lstStyle/>
          <a:p>
            <a:pPr algn="l" indent="0" marL="0">
              <a:buNone/>
            </a:pPr>
            <a:r>
              <a:rPr lang="en-US" sz="1200" b="1" spc="100" kern="0" dirty="0">
                <a:solidFill>
                  <a:schemeClr val="accent3"/>
                </a:solidFill>
              </a:rPr>
              <a:t>PASSÉ COMPOSÉ</a:t>
            </a:r>
            <a:endParaRPr lang="en-US" sz="1200" dirty="0"/>
          </a:p>
        </p:txBody>
      </p:sp>
      <p:sp>
        <p:nvSpPr>
          <p:cNvPr id="15" name="Text 12"/>
          <p:cNvSpPr txBox="1"/>
          <p:nvPr/>
        </p:nvSpPr>
        <p:spPr>
          <a:xfrm>
            <a:off x="3383280" y="2971800"/>
            <a:ext cx="2331720" cy="320040"/>
          </a:xfrm>
          <a:prstGeom prst="rect">
            <a:avLst/>
          </a:prstGeom>
          <a:noFill/>
          <a:ln/>
        </p:spPr>
        <p:txBody>
          <a:bodyPr wrap="square" lIns="0" tIns="0" rIns="0" bIns="0" rtlCol="0" anchor="t"/>
          <a:lstStyle/>
          <a:p>
            <a:pPr algn="r" indent="0" marL="0">
              <a:buNone/>
            </a:pPr>
            <a:r>
              <a:rPr lang="en-US" sz="1300" dirty="0">
                <a:solidFill>
                  <a:schemeClr val="accent6"/>
                </a:solidFill>
              </a:rPr>
              <a:t>pas </a:t>
            </a:r>
            <a:r>
              <a:rPr lang="en-US" sz="1300" strike="sngStrike" dirty="0">
                <a:solidFill>
                  <a:schemeClr val="accent6"/>
                </a:solidFill>
              </a:rPr>
              <a:t>gegaan</a:t>
            </a:r>
            <a:r>
              <a:rPr lang="en-US" sz="1300" dirty="0">
                <a:solidFill>
                  <a:schemeClr val="accent6"/>
                </a:solidFill>
              </a:rPr>
              <a:t> !</a:t>
            </a:r>
            <a:endParaRPr lang="en-US" sz="1300" dirty="0"/>
          </a:p>
        </p:txBody>
      </p:sp>
      <p:sp>
        <p:nvSpPr>
          <p:cNvPr id="16" name="Shape 13"/>
          <p:cNvSpPr/>
          <p:nvPr/>
        </p:nvSpPr>
        <p:spPr>
          <a:xfrm>
            <a:off x="731520" y="3429000"/>
            <a:ext cx="520842" cy="530352"/>
          </a:xfrm>
          <a:prstGeom prst="roundRect">
            <a:avLst>
              <a:gd name="adj" fmla="val 17556"/>
            </a:avLst>
          </a:prstGeom>
          <a:solidFill>
            <a:schemeClr val="bg1"/>
          </a:solidFill>
          <a:ln w="15875">
            <a:solidFill>
              <a:srgbClr val="D5DCE6"/>
            </a:solidFill>
            <a:prstDash val="solid"/>
          </a:ln>
        </p:spPr>
      </p:sp>
      <p:sp>
        <p:nvSpPr>
          <p:cNvPr id="17" name="Text 14"/>
          <p:cNvSpPr txBox="1"/>
          <p:nvPr/>
        </p:nvSpPr>
        <p:spPr>
          <a:xfrm>
            <a:off x="731520" y="342900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18" name="Shape 15"/>
          <p:cNvSpPr/>
          <p:nvPr/>
        </p:nvSpPr>
        <p:spPr>
          <a:xfrm>
            <a:off x="1334658" y="3429000"/>
            <a:ext cx="784306" cy="530352"/>
          </a:xfrm>
          <a:prstGeom prst="roundRect">
            <a:avLst>
              <a:gd name="adj" fmla="val 17241"/>
            </a:avLst>
          </a:prstGeom>
          <a:solidFill>
            <a:schemeClr val="tx2"/>
          </a:solidFill>
          <a:ln w="12700">
            <a:solidFill>
              <a:srgbClr val="FFFFFF">
                <a:alpha val="0"/>
              </a:srgbClr>
            </a:solidFill>
            <a:prstDash val="solid"/>
          </a:ln>
        </p:spPr>
      </p:sp>
      <p:sp>
        <p:nvSpPr>
          <p:cNvPr id="19" name="Text 16"/>
          <p:cNvSpPr txBox="1"/>
          <p:nvPr/>
        </p:nvSpPr>
        <p:spPr>
          <a:xfrm>
            <a:off x="1334658" y="3429000"/>
            <a:ext cx="784306" cy="530352"/>
          </a:xfrm>
          <a:prstGeom prst="rect">
            <a:avLst/>
          </a:prstGeom>
          <a:noFill/>
          <a:ln/>
        </p:spPr>
        <p:txBody>
          <a:bodyPr wrap="square" lIns="0" tIns="0" rIns="0" bIns="0" rtlCol="0" anchor="ctr"/>
          <a:lstStyle/>
          <a:p>
            <a:pPr algn="ctr" indent="0" marL="0">
              <a:buNone/>
            </a:pPr>
            <a:r>
              <a:rPr lang="en-US" sz="1600" b="1" dirty="0">
                <a:solidFill>
                  <a:schemeClr val="bg1"/>
                </a:solidFill>
              </a:rPr>
              <a:t>ben</a:t>
            </a:r>
            <a:endParaRPr lang="en-US" sz="1600" dirty="0"/>
          </a:p>
        </p:txBody>
      </p:sp>
      <p:sp>
        <p:nvSpPr>
          <p:cNvPr id="20" name="Shape 17"/>
          <p:cNvSpPr/>
          <p:nvPr/>
        </p:nvSpPr>
        <p:spPr>
          <a:xfrm>
            <a:off x="2201261" y="3429000"/>
            <a:ext cx="912118" cy="530352"/>
          </a:xfrm>
          <a:prstGeom prst="roundRect">
            <a:avLst>
              <a:gd name="adj" fmla="val 17241"/>
            </a:avLst>
          </a:prstGeom>
          <a:solidFill>
            <a:schemeClr val="accent1"/>
          </a:solidFill>
          <a:ln w="12700">
            <a:solidFill>
              <a:srgbClr val="FFFFFF">
                <a:alpha val="0"/>
              </a:srgbClr>
            </a:solidFill>
            <a:prstDash val="solid"/>
          </a:ln>
        </p:spPr>
      </p:sp>
      <p:sp>
        <p:nvSpPr>
          <p:cNvPr id="21" name="Text 18"/>
          <p:cNvSpPr txBox="1"/>
          <p:nvPr/>
        </p:nvSpPr>
        <p:spPr>
          <a:xfrm>
            <a:off x="2201261" y="3429000"/>
            <a:ext cx="912118" cy="530352"/>
          </a:xfrm>
          <a:prstGeom prst="rect">
            <a:avLst/>
          </a:prstGeom>
          <a:noFill/>
          <a:ln/>
        </p:spPr>
        <p:txBody>
          <a:bodyPr wrap="square" lIns="0" tIns="0" rIns="0" bIns="0" rtlCol="0" anchor="ctr"/>
          <a:lstStyle/>
          <a:p>
            <a:pPr algn="ctr" indent="0" marL="0">
              <a:buNone/>
            </a:pPr>
            <a:r>
              <a:rPr lang="en-US" sz="1600" b="1" dirty="0">
                <a:solidFill>
                  <a:schemeClr val="bg1"/>
                </a:solidFill>
              </a:rPr>
              <a:t>gaan</a:t>
            </a:r>
            <a:endParaRPr lang="en-US" sz="1600" dirty="0"/>
          </a:p>
        </p:txBody>
      </p:sp>
      <p:sp>
        <p:nvSpPr>
          <p:cNvPr id="22" name="Shape 19"/>
          <p:cNvSpPr/>
          <p:nvPr/>
        </p:nvSpPr>
        <p:spPr>
          <a:xfrm>
            <a:off x="3195674" y="3429000"/>
            <a:ext cx="1423362" cy="530352"/>
          </a:xfrm>
          <a:prstGeom prst="roundRect">
            <a:avLst>
              <a:gd name="adj" fmla="val 17241"/>
            </a:avLst>
          </a:prstGeom>
          <a:solidFill>
            <a:srgbClr val="FBEDEB"/>
          </a:solidFill>
          <a:ln w="25400">
            <a:solidFill>
              <a:srgbClr val="B83227"/>
            </a:solidFill>
            <a:prstDash val="solid"/>
          </a:ln>
        </p:spPr>
      </p:sp>
      <p:sp>
        <p:nvSpPr>
          <p:cNvPr id="23" name="Text 20"/>
          <p:cNvSpPr txBox="1"/>
          <p:nvPr/>
        </p:nvSpPr>
        <p:spPr>
          <a:xfrm>
            <a:off x="3195674" y="3429000"/>
            <a:ext cx="1423362" cy="530352"/>
          </a:xfrm>
          <a:prstGeom prst="rect">
            <a:avLst/>
          </a:prstGeom>
          <a:noFill/>
          <a:ln/>
        </p:spPr>
        <p:txBody>
          <a:bodyPr wrap="square" lIns="0" tIns="0" rIns="0" bIns="0" rtlCol="0" anchor="ctr"/>
          <a:lstStyle/>
          <a:p>
            <a:pPr algn="ctr" indent="0" marL="0">
              <a:buNone/>
            </a:pPr>
            <a:r>
              <a:rPr lang="en-US" sz="1600" b="1" dirty="0">
                <a:solidFill>
                  <a:schemeClr val="accent6"/>
                </a:solidFill>
              </a:rPr>
              <a:t>zwemmen.</a:t>
            </a:r>
            <a:endParaRPr lang="en-US" sz="1600" dirty="0"/>
          </a:p>
        </p:txBody>
      </p:sp>
      <p:sp>
        <p:nvSpPr>
          <p:cNvPr id="24" name="Shape 21"/>
          <p:cNvSpPr/>
          <p:nvPr/>
        </p:nvSpPr>
        <p:spPr>
          <a:xfrm>
            <a:off x="640080" y="4114800"/>
            <a:ext cx="4070397" cy="45720"/>
          </a:xfrm>
          <a:prstGeom prst="rect">
            <a:avLst/>
          </a:prstGeom>
          <a:solidFill>
            <a:srgbClr val="8A96A8"/>
          </a:solidFill>
          <a:ln w="12700">
            <a:solidFill>
              <a:srgbClr val="FFFFFF">
                <a:alpha val="0"/>
              </a:srgbClr>
            </a:solidFill>
            <a:prstDash val="solid"/>
          </a:ln>
        </p:spPr>
      </p:sp>
      <p:sp>
        <p:nvSpPr>
          <p:cNvPr id="25" name="Shape 22"/>
          <p:cNvSpPr/>
          <p:nvPr/>
        </p:nvSpPr>
        <p:spPr>
          <a:xfrm>
            <a:off x="1434054" y="3968496"/>
            <a:ext cx="146304" cy="146304"/>
          </a:xfrm>
          <a:prstGeom prst="ellipse">
            <a:avLst/>
          </a:prstGeom>
          <a:solidFill>
            <a:srgbClr val="1B2333"/>
          </a:solidFill>
          <a:ln w="12700">
            <a:solidFill>
              <a:srgbClr val="FFFFFF">
                <a:alpha val="0"/>
              </a:srgbClr>
            </a:solidFill>
            <a:prstDash val="solid"/>
          </a:ln>
        </p:spPr>
      </p:sp>
      <p:sp>
        <p:nvSpPr>
          <p:cNvPr id="26" name="Shape 23"/>
          <p:cNvSpPr/>
          <p:nvPr/>
        </p:nvSpPr>
        <p:spPr>
          <a:xfrm>
            <a:off x="1873265" y="3968496"/>
            <a:ext cx="146304" cy="146304"/>
          </a:xfrm>
          <a:prstGeom prst="ellipse">
            <a:avLst/>
          </a:prstGeom>
          <a:solidFill>
            <a:srgbClr val="1B2333"/>
          </a:solidFill>
          <a:ln w="12700">
            <a:solidFill>
              <a:srgbClr val="FFFFFF">
                <a:alpha val="0"/>
              </a:srgbClr>
            </a:solidFill>
            <a:prstDash val="solid"/>
          </a:ln>
        </p:spPr>
      </p:sp>
      <p:sp>
        <p:nvSpPr>
          <p:cNvPr id="27" name="Shape 24"/>
          <p:cNvSpPr/>
          <p:nvPr/>
        </p:nvSpPr>
        <p:spPr>
          <a:xfrm>
            <a:off x="1444386" y="3227832"/>
            <a:ext cx="146304" cy="219456"/>
          </a:xfrm>
          <a:prstGeom prst="rect">
            <a:avLst/>
          </a:prstGeom>
          <a:solidFill>
            <a:schemeClr val="tx2"/>
          </a:solidFill>
          <a:ln w="12700">
            <a:solidFill>
              <a:srgbClr val="FFFFFF">
                <a:alpha val="0"/>
              </a:srgbClr>
            </a:solidFill>
            <a:prstDash val="solid"/>
          </a:ln>
        </p:spPr>
      </p:sp>
      <p:sp>
        <p:nvSpPr>
          <p:cNvPr id="28" name="Shape 25"/>
          <p:cNvSpPr/>
          <p:nvPr/>
        </p:nvSpPr>
        <p:spPr>
          <a:xfrm>
            <a:off x="2118965" y="3826764"/>
            <a:ext cx="82296" cy="914"/>
          </a:xfrm>
          <a:prstGeom prst="line">
            <a:avLst/>
          </a:prstGeom>
          <a:noFill/>
          <a:ln w="31750">
            <a:solidFill>
              <a:srgbClr val="1B2333"/>
            </a:solidFill>
            <a:prstDash val="solid"/>
          </a:ln>
        </p:spPr>
      </p:sp>
      <p:sp>
        <p:nvSpPr>
          <p:cNvPr id="29" name="Shape 26"/>
          <p:cNvSpPr/>
          <p:nvPr/>
        </p:nvSpPr>
        <p:spPr>
          <a:xfrm>
            <a:off x="2328775" y="3968496"/>
            <a:ext cx="146304" cy="146304"/>
          </a:xfrm>
          <a:prstGeom prst="ellipse">
            <a:avLst/>
          </a:prstGeom>
          <a:solidFill>
            <a:srgbClr val="1B2333"/>
          </a:solidFill>
          <a:ln w="12700">
            <a:solidFill>
              <a:srgbClr val="FFFFFF">
                <a:alpha val="0"/>
              </a:srgbClr>
            </a:solidFill>
            <a:prstDash val="solid"/>
          </a:ln>
        </p:spPr>
      </p:sp>
      <p:sp>
        <p:nvSpPr>
          <p:cNvPr id="30" name="Shape 27"/>
          <p:cNvSpPr/>
          <p:nvPr/>
        </p:nvSpPr>
        <p:spPr>
          <a:xfrm>
            <a:off x="2839560" y="3968496"/>
            <a:ext cx="146304" cy="146304"/>
          </a:xfrm>
          <a:prstGeom prst="ellipse">
            <a:avLst/>
          </a:prstGeom>
          <a:solidFill>
            <a:srgbClr val="1B2333"/>
          </a:solidFill>
          <a:ln w="12700">
            <a:solidFill>
              <a:srgbClr val="FFFFFF">
                <a:alpha val="0"/>
              </a:srgbClr>
            </a:solidFill>
            <a:prstDash val="solid"/>
          </a:ln>
        </p:spPr>
      </p:sp>
      <p:sp>
        <p:nvSpPr>
          <p:cNvPr id="31" name="Shape 28"/>
          <p:cNvSpPr/>
          <p:nvPr/>
        </p:nvSpPr>
        <p:spPr>
          <a:xfrm>
            <a:off x="3113378" y="3826764"/>
            <a:ext cx="82296" cy="914"/>
          </a:xfrm>
          <a:prstGeom prst="line">
            <a:avLst/>
          </a:prstGeom>
          <a:noFill/>
          <a:ln w="31750">
            <a:solidFill>
              <a:srgbClr val="1B2333"/>
            </a:solidFill>
            <a:prstDash val="solid"/>
          </a:ln>
        </p:spPr>
      </p:sp>
      <p:sp>
        <p:nvSpPr>
          <p:cNvPr id="32" name="Shape 29"/>
          <p:cNvSpPr/>
          <p:nvPr/>
        </p:nvSpPr>
        <p:spPr>
          <a:xfrm>
            <a:off x="3435662" y="3968496"/>
            <a:ext cx="146304" cy="146304"/>
          </a:xfrm>
          <a:prstGeom prst="ellipse">
            <a:avLst/>
          </a:prstGeom>
          <a:solidFill>
            <a:srgbClr val="1B2333"/>
          </a:solidFill>
          <a:ln w="12700">
            <a:solidFill>
              <a:srgbClr val="FFFFFF">
                <a:alpha val="0"/>
              </a:srgbClr>
            </a:solidFill>
            <a:prstDash val="solid"/>
          </a:ln>
        </p:spPr>
      </p:sp>
      <p:sp>
        <p:nvSpPr>
          <p:cNvPr id="33" name="Shape 30"/>
          <p:cNvSpPr/>
          <p:nvPr/>
        </p:nvSpPr>
        <p:spPr>
          <a:xfrm>
            <a:off x="4232745" y="3968496"/>
            <a:ext cx="146304" cy="146304"/>
          </a:xfrm>
          <a:prstGeom prst="ellipse">
            <a:avLst/>
          </a:prstGeom>
          <a:solidFill>
            <a:srgbClr val="1B2333"/>
          </a:solidFill>
          <a:ln w="12700">
            <a:solidFill>
              <a:srgbClr val="FFFFFF">
                <a:alpha val="0"/>
              </a:srgbClr>
            </a:solidFill>
            <a:prstDash val="solid"/>
          </a:ln>
        </p:spPr>
      </p:sp>
      <p:sp>
        <p:nvSpPr>
          <p:cNvPr id="34" name="Text 31"/>
          <p:cNvSpPr txBox="1"/>
          <p:nvPr/>
        </p:nvSpPr>
        <p:spPr>
          <a:xfrm>
            <a:off x="731520" y="4343400"/>
            <a:ext cx="5029200" cy="1097280"/>
          </a:xfrm>
          <a:prstGeom prst="rect">
            <a:avLst/>
          </a:prstGeom>
          <a:noFill/>
          <a:ln/>
        </p:spPr>
        <p:txBody>
          <a:bodyPr wrap="square" lIns="0" tIns="0" rIns="0" bIns="0" rtlCol="0" anchor="ctr"/>
          <a:lstStyle/>
          <a:p>
            <a:pPr algn="l" indent="0" marL="0">
              <a:buNone/>
            </a:pPr>
            <a:r>
              <a:rPr lang="en-US" sz="1400" dirty="0">
                <a:solidFill>
                  <a:schemeClr val="tx1"/>
                </a:solidFill>
              </a:rPr>
              <a:t>Auxiliaire : </a:t>
            </a:r>
            <a:r>
              <a:rPr lang="en-US" sz="1400" b="1" dirty="0">
                <a:solidFill>
                  <a:schemeClr val="tx1"/>
                </a:solidFill>
              </a:rPr>
              <a:t>zijn</a:t>
            </a:r>
            <a:r>
              <a:rPr lang="en-US" sz="1400" dirty="0">
                <a:solidFill>
                  <a:schemeClr val="tx1"/>
                </a:solidFill>
              </a:rPr>
              <a:t>, comme pour </a:t>
            </a:r>
            <a:r>
              <a:rPr lang="en-US" sz="1400" i="1" dirty="0">
                <a:solidFill>
                  <a:schemeClr val="tx1"/>
                </a:solidFill>
              </a:rPr>
              <a:t>gaan, komen, blijven</a:t>
            </a:r>
            <a:r>
              <a:rPr lang="en-US" sz="1400" dirty="0">
                <a:solidFill>
                  <a:schemeClr val="tx1"/>
                </a:solidFill>
              </a:rPr>
              <a:t> seuls : </a:t>
            </a:r>
            <a:r>
              <a:rPr lang="en-US" sz="1400" i="1" dirty="0">
                <a:solidFill>
                  <a:schemeClr val="tx1"/>
                </a:solidFill>
              </a:rPr>
              <a:t>ik ben gegaan → ik ben gaan zwemmen</a:t>
            </a:r>
            <a:r>
              <a:rPr lang="en-US" sz="1400" dirty="0">
                <a:solidFill>
                  <a:schemeClr val="tx1"/>
                </a:solidFill>
              </a:rPr>
              <a:t>.</a:t>
            </a:r>
            <a:endParaRPr lang="en-US" sz="1400" dirty="0"/>
          </a:p>
        </p:txBody>
      </p:sp>
      <p:sp>
        <p:nvSpPr>
          <p:cNvPr id="35" name="Shape 32"/>
          <p:cNvSpPr/>
          <p:nvPr/>
        </p:nvSpPr>
        <p:spPr>
          <a:xfrm>
            <a:off x="6126480" y="1463040"/>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6" name="Shape 33"/>
          <p:cNvSpPr/>
          <p:nvPr/>
        </p:nvSpPr>
        <p:spPr>
          <a:xfrm>
            <a:off x="6126480" y="1463040"/>
            <a:ext cx="109728" cy="1106424"/>
          </a:xfrm>
          <a:prstGeom prst="rect">
            <a:avLst/>
          </a:prstGeom>
          <a:solidFill>
            <a:schemeClr val="accent3"/>
          </a:solidFill>
          <a:ln w="12700">
            <a:solidFill>
              <a:srgbClr val="FFFFFF">
                <a:alpha val="0"/>
              </a:srgbClr>
            </a:solidFill>
            <a:prstDash val="solid"/>
          </a:ln>
        </p:spPr>
      </p:sp>
      <p:pic>
        <p:nvPicPr>
          <p:cNvPr id="37" name="Image 0" descr="person swimming">    </p:cNvPr>
          <p:cNvPicPr>
            <a:picLocks noChangeAspect="1"/>
          </p:cNvPicPr>
          <p:nvPr/>
        </p:nvPicPr>
        <p:blipFill>
          <a:blip r:embed="rId1"/>
          <a:stretch>
            <a:fillRect/>
          </a:stretch>
        </p:blipFill>
        <p:spPr>
          <a:xfrm>
            <a:off x="6382512" y="1627632"/>
            <a:ext cx="777240" cy="777240"/>
          </a:xfrm>
          <a:prstGeom prst="rect">
            <a:avLst/>
          </a:prstGeom>
        </p:spPr>
      </p:pic>
      <p:sp>
        <p:nvSpPr>
          <p:cNvPr id="38" name="Text 34"/>
          <p:cNvSpPr txBox="1"/>
          <p:nvPr/>
        </p:nvSpPr>
        <p:spPr>
          <a:xfrm>
            <a:off x="7315200" y="1517904"/>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ga zwemmen.</a:t>
            </a:r>
            <a:endParaRPr lang="en-US" sz="1400" dirty="0"/>
          </a:p>
        </p:txBody>
      </p:sp>
      <p:sp>
        <p:nvSpPr>
          <p:cNvPr id="39" name="Text 35"/>
          <p:cNvSpPr txBox="1"/>
          <p:nvPr/>
        </p:nvSpPr>
        <p:spPr>
          <a:xfrm>
            <a:off x="7315200" y="1794967"/>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ben </a:t>
            </a:r>
            <a:r>
              <a:rPr lang="en-US" sz="1800" b="1" i="1" dirty="0">
                <a:solidFill>
                  <a:srgbClr val="D9700F"/>
                </a:solidFill>
              </a:rPr>
              <a:t>gaan zwemmen</a:t>
            </a:r>
            <a:r>
              <a:rPr lang="en-US" sz="1800" i="1" dirty="0">
                <a:solidFill>
                  <a:schemeClr val="tx1"/>
                </a:solidFill>
              </a:rPr>
              <a:t>.</a:t>
            </a:r>
            <a:endParaRPr lang="en-US" sz="1800" dirty="0"/>
          </a:p>
        </p:txBody>
      </p:sp>
      <p:sp>
        <p:nvSpPr>
          <p:cNvPr id="40" name="Text 36"/>
          <p:cNvSpPr txBox="1"/>
          <p:nvPr/>
        </p:nvSpPr>
        <p:spPr>
          <a:xfrm>
            <a:off x="7315200" y="2259665"/>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je suis allé·e nager</a:t>
            </a:r>
            <a:endParaRPr lang="en-US" sz="1300" dirty="0"/>
          </a:p>
        </p:txBody>
      </p:sp>
      <p:sp>
        <p:nvSpPr>
          <p:cNvPr id="41" name="Shape 37"/>
          <p:cNvSpPr/>
          <p:nvPr/>
        </p:nvSpPr>
        <p:spPr>
          <a:xfrm>
            <a:off x="6126480" y="2679192"/>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2" name="Shape 38"/>
          <p:cNvSpPr/>
          <p:nvPr/>
        </p:nvSpPr>
        <p:spPr>
          <a:xfrm>
            <a:off x="6126480" y="2679192"/>
            <a:ext cx="109728" cy="1106424"/>
          </a:xfrm>
          <a:prstGeom prst="rect">
            <a:avLst/>
          </a:prstGeom>
          <a:solidFill>
            <a:schemeClr val="accent3"/>
          </a:solidFill>
          <a:ln w="12700">
            <a:solidFill>
              <a:srgbClr val="FFFFFF">
                <a:alpha val="0"/>
              </a:srgbClr>
            </a:solidFill>
            <a:prstDash val="solid"/>
          </a:ln>
        </p:spPr>
      </p:sp>
      <p:pic>
        <p:nvPicPr>
          <p:cNvPr id="43" name="Image 1" descr="fork and knife with plate">    </p:cNvPr>
          <p:cNvPicPr>
            <a:picLocks noChangeAspect="1"/>
          </p:cNvPicPr>
          <p:nvPr/>
        </p:nvPicPr>
        <p:blipFill>
          <a:blip r:embed="rId2"/>
          <a:stretch>
            <a:fillRect/>
          </a:stretch>
        </p:blipFill>
        <p:spPr>
          <a:xfrm>
            <a:off x="6382512" y="2843784"/>
            <a:ext cx="777240" cy="777240"/>
          </a:xfrm>
          <a:prstGeom prst="rect">
            <a:avLst/>
          </a:prstGeom>
        </p:spPr>
      </p:pic>
      <p:sp>
        <p:nvSpPr>
          <p:cNvPr id="44" name="Text 39"/>
          <p:cNvSpPr txBox="1"/>
          <p:nvPr/>
        </p:nvSpPr>
        <p:spPr>
          <a:xfrm>
            <a:off x="7315200" y="2734056"/>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Ze komen eten.</a:t>
            </a:r>
            <a:endParaRPr lang="en-US" sz="1400" dirty="0"/>
          </a:p>
        </p:txBody>
      </p:sp>
      <p:sp>
        <p:nvSpPr>
          <p:cNvPr id="45" name="Text 40"/>
          <p:cNvSpPr txBox="1"/>
          <p:nvPr/>
        </p:nvSpPr>
        <p:spPr>
          <a:xfrm>
            <a:off x="7315200" y="3011119"/>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Ze zijn </a:t>
            </a:r>
            <a:r>
              <a:rPr lang="en-US" sz="1800" b="1" i="1" dirty="0">
                <a:solidFill>
                  <a:srgbClr val="D9700F"/>
                </a:solidFill>
              </a:rPr>
              <a:t>komen eten</a:t>
            </a:r>
            <a:r>
              <a:rPr lang="en-US" sz="1800" i="1" dirty="0">
                <a:solidFill>
                  <a:schemeClr val="tx1"/>
                </a:solidFill>
              </a:rPr>
              <a:t>.</a:t>
            </a:r>
            <a:endParaRPr lang="en-US" sz="1800" dirty="0"/>
          </a:p>
        </p:txBody>
      </p:sp>
      <p:sp>
        <p:nvSpPr>
          <p:cNvPr id="46" name="Text 41"/>
          <p:cNvSpPr txBox="1"/>
          <p:nvPr/>
        </p:nvSpPr>
        <p:spPr>
          <a:xfrm>
            <a:off x="7315200" y="3475817"/>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ils / elles sont venu·es manger</a:t>
            </a:r>
            <a:endParaRPr lang="en-US" sz="1300" dirty="0"/>
          </a:p>
        </p:txBody>
      </p:sp>
      <p:sp>
        <p:nvSpPr>
          <p:cNvPr id="47" name="Shape 42"/>
          <p:cNvSpPr/>
          <p:nvPr/>
        </p:nvSpPr>
        <p:spPr>
          <a:xfrm>
            <a:off x="6126480" y="3895344"/>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8" name="Shape 43"/>
          <p:cNvSpPr/>
          <p:nvPr/>
        </p:nvSpPr>
        <p:spPr>
          <a:xfrm>
            <a:off x="6126480" y="3895344"/>
            <a:ext cx="109728" cy="1106424"/>
          </a:xfrm>
          <a:prstGeom prst="rect">
            <a:avLst/>
          </a:prstGeom>
          <a:solidFill>
            <a:schemeClr val="accent3"/>
          </a:solidFill>
          <a:ln w="12700">
            <a:solidFill>
              <a:srgbClr val="FFFFFF">
                <a:alpha val="0"/>
              </a:srgbClr>
            </a:solidFill>
            <a:prstDash val="solid"/>
          </a:ln>
        </p:spPr>
      </p:sp>
      <p:pic>
        <p:nvPicPr>
          <p:cNvPr id="49" name="Image 2" descr="bed">    </p:cNvPr>
          <p:cNvPicPr>
            <a:picLocks noChangeAspect="1"/>
          </p:cNvPicPr>
          <p:nvPr/>
        </p:nvPicPr>
        <p:blipFill>
          <a:blip r:embed="rId3"/>
          <a:stretch>
            <a:fillRect/>
          </a:stretch>
        </p:blipFill>
        <p:spPr>
          <a:xfrm>
            <a:off x="6382512" y="4059936"/>
            <a:ext cx="777240" cy="777240"/>
          </a:xfrm>
          <a:prstGeom prst="rect">
            <a:avLst/>
          </a:prstGeom>
        </p:spPr>
      </p:pic>
      <p:sp>
        <p:nvSpPr>
          <p:cNvPr id="50" name="Text 44"/>
          <p:cNvSpPr txBox="1"/>
          <p:nvPr/>
        </p:nvSpPr>
        <p:spPr>
          <a:xfrm>
            <a:off x="7315200" y="3950208"/>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Hij blijft slapen.</a:t>
            </a:r>
            <a:endParaRPr lang="en-US" sz="1400" dirty="0"/>
          </a:p>
        </p:txBody>
      </p:sp>
      <p:sp>
        <p:nvSpPr>
          <p:cNvPr id="51" name="Text 45"/>
          <p:cNvSpPr txBox="1"/>
          <p:nvPr/>
        </p:nvSpPr>
        <p:spPr>
          <a:xfrm>
            <a:off x="7315200" y="4227271"/>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Hij is </a:t>
            </a:r>
            <a:r>
              <a:rPr lang="en-US" sz="1800" b="1" i="1" dirty="0">
                <a:solidFill>
                  <a:srgbClr val="D9700F"/>
                </a:solidFill>
              </a:rPr>
              <a:t>blijven slapen</a:t>
            </a:r>
            <a:r>
              <a:rPr lang="en-US" sz="1800" i="1" dirty="0">
                <a:solidFill>
                  <a:schemeClr val="tx1"/>
                </a:solidFill>
              </a:rPr>
              <a:t>.</a:t>
            </a:r>
            <a:endParaRPr lang="en-US" sz="1800" dirty="0"/>
          </a:p>
        </p:txBody>
      </p:sp>
      <p:sp>
        <p:nvSpPr>
          <p:cNvPr id="52" name="Text 46"/>
          <p:cNvSpPr txBox="1"/>
          <p:nvPr/>
        </p:nvSpPr>
        <p:spPr>
          <a:xfrm>
            <a:off x="7315200" y="4691969"/>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il est resté dormir</a:t>
            </a:r>
            <a:endParaRPr lang="en-US" sz="1300" dirty="0"/>
          </a:p>
        </p:txBody>
      </p:sp>
      <p:sp>
        <p:nvSpPr>
          <p:cNvPr id="53" name="Shape 47"/>
          <p:cNvSpPr/>
          <p:nvPr/>
        </p:nvSpPr>
        <p:spPr>
          <a:xfrm>
            <a:off x="6126480" y="5111496"/>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4" name="Shape 48"/>
          <p:cNvSpPr/>
          <p:nvPr/>
        </p:nvSpPr>
        <p:spPr>
          <a:xfrm>
            <a:off x="6126480" y="5111496"/>
            <a:ext cx="109728" cy="1106424"/>
          </a:xfrm>
          <a:prstGeom prst="rect">
            <a:avLst/>
          </a:prstGeom>
          <a:solidFill>
            <a:schemeClr val="accent3"/>
          </a:solidFill>
          <a:ln w="12700">
            <a:solidFill>
              <a:srgbClr val="FFFFFF">
                <a:alpha val="0"/>
              </a:srgbClr>
            </a:solidFill>
            <a:prstDash val="solid"/>
          </a:ln>
        </p:spPr>
      </p:sp>
      <p:pic>
        <p:nvPicPr>
          <p:cNvPr id="55" name="Image 3" descr="shopping cart">    </p:cNvPr>
          <p:cNvPicPr>
            <a:picLocks noChangeAspect="1"/>
          </p:cNvPicPr>
          <p:nvPr/>
        </p:nvPicPr>
        <p:blipFill>
          <a:blip r:embed="rId4"/>
          <a:stretch>
            <a:fillRect/>
          </a:stretch>
        </p:blipFill>
        <p:spPr>
          <a:xfrm>
            <a:off x="6382512" y="5276088"/>
            <a:ext cx="777240" cy="777240"/>
          </a:xfrm>
          <a:prstGeom prst="rect">
            <a:avLst/>
          </a:prstGeom>
        </p:spPr>
      </p:pic>
      <p:sp>
        <p:nvSpPr>
          <p:cNvPr id="56" name="Text 49"/>
          <p:cNvSpPr txBox="1"/>
          <p:nvPr/>
        </p:nvSpPr>
        <p:spPr>
          <a:xfrm>
            <a:off x="7315200" y="5166360"/>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We gaan winkelen.</a:t>
            </a:r>
            <a:endParaRPr lang="en-US" sz="1400" dirty="0"/>
          </a:p>
        </p:txBody>
      </p:sp>
      <p:sp>
        <p:nvSpPr>
          <p:cNvPr id="57" name="Text 50"/>
          <p:cNvSpPr txBox="1"/>
          <p:nvPr/>
        </p:nvSpPr>
        <p:spPr>
          <a:xfrm>
            <a:off x="7315200" y="5443423"/>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We zijn </a:t>
            </a:r>
            <a:r>
              <a:rPr lang="en-US" sz="1800" b="1" i="1" dirty="0">
                <a:solidFill>
                  <a:srgbClr val="D9700F"/>
                </a:solidFill>
              </a:rPr>
              <a:t>gaan winkelen</a:t>
            </a:r>
            <a:r>
              <a:rPr lang="en-US" sz="1800" i="1" dirty="0">
                <a:solidFill>
                  <a:schemeClr val="tx1"/>
                </a:solidFill>
              </a:rPr>
              <a:t>.</a:t>
            </a:r>
            <a:endParaRPr lang="en-US" sz="1800" dirty="0"/>
          </a:p>
        </p:txBody>
      </p:sp>
      <p:sp>
        <p:nvSpPr>
          <p:cNvPr id="58" name="Text 51"/>
          <p:cNvSpPr txBox="1"/>
          <p:nvPr/>
        </p:nvSpPr>
        <p:spPr>
          <a:xfrm>
            <a:off x="7315200" y="5908121"/>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nous sommes allé·es faire du shopping</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zitten, staan, liggen, lopen : le te disparaît</a:t>
            </a:r>
            <a:endParaRPr lang="en-US" sz="3000" dirty="0"/>
          </a:p>
        </p:txBody>
      </p:sp>
      <p:sp>
        <p:nvSpPr>
          <p:cNvPr id="3" name="tag"/>
          <p:cNvSpPr/>
          <p:nvPr/>
        </p:nvSpPr>
        <p:spPr>
          <a:xfrm>
            <a:off x="548640" y="237744"/>
            <a:ext cx="176845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FAMILLE 4 / 5</a:t>
            </a:r>
            <a:endParaRPr lang="en-US" sz="1200" dirty="0"/>
          </a:p>
        </p:txBody>
      </p:sp>
      <p:sp>
        <p:nvSpPr>
          <p:cNvPr id="5" name="Shape 2"/>
          <p:cNvSpPr/>
          <p:nvPr/>
        </p:nvSpPr>
        <p:spPr>
          <a:xfrm>
            <a:off x="548640" y="1463040"/>
            <a:ext cx="5349240" cy="4069080"/>
          </a:xfrm>
          <a:prstGeom prst="roundRect">
            <a:avLst>
              <a:gd name="adj" fmla="val 2697"/>
            </a:avLst>
          </a:prstGeom>
          <a:solidFill>
            <a:srgbClr val="6E4A9E">
              <a:alpha val="10000"/>
            </a:srgbClr>
          </a:solidFill>
          <a:ln w="19050">
            <a:solidFill>
              <a:srgbClr val="6E4A9E"/>
            </a:solidFill>
            <a:prstDash val="solid"/>
          </a:ln>
        </p:spPr>
      </p:sp>
      <p:sp>
        <p:nvSpPr>
          <p:cNvPr id="6" name="Text 3"/>
          <p:cNvSpPr txBox="1"/>
          <p:nvPr/>
        </p:nvSpPr>
        <p:spPr>
          <a:xfrm>
            <a:off x="731520" y="1554480"/>
            <a:ext cx="2743200" cy="320040"/>
          </a:xfrm>
          <a:prstGeom prst="rect">
            <a:avLst/>
          </a:prstGeom>
          <a:noFill/>
          <a:ln/>
        </p:spPr>
        <p:txBody>
          <a:bodyPr wrap="square" lIns="0" tIns="0" rIns="0" bIns="0" rtlCol="0" anchor="t"/>
          <a:lstStyle/>
          <a:p>
            <a:pPr algn="l" indent="0" marL="0">
              <a:buNone/>
            </a:pPr>
            <a:r>
              <a:rPr lang="en-US" sz="1200" b="1" spc="100" kern="0" dirty="0">
                <a:solidFill>
                  <a:srgbClr val="6E4A9E"/>
                </a:solidFill>
              </a:rPr>
              <a:t>PRÉSENT</a:t>
            </a:r>
            <a:endParaRPr lang="en-US" sz="1200" dirty="0"/>
          </a:p>
        </p:txBody>
      </p:sp>
      <p:sp>
        <p:nvSpPr>
          <p:cNvPr id="7" name="Shape 4"/>
          <p:cNvSpPr/>
          <p:nvPr/>
        </p:nvSpPr>
        <p:spPr>
          <a:xfrm>
            <a:off x="731520" y="1920240"/>
            <a:ext cx="520842" cy="530352"/>
          </a:xfrm>
          <a:prstGeom prst="roundRect">
            <a:avLst>
              <a:gd name="adj" fmla="val 17556"/>
            </a:avLst>
          </a:prstGeom>
          <a:solidFill>
            <a:schemeClr val="bg1"/>
          </a:solidFill>
          <a:ln w="15875">
            <a:solidFill>
              <a:srgbClr val="D5DCE6"/>
            </a:solidFill>
            <a:prstDash val="solid"/>
          </a:ln>
        </p:spPr>
      </p:sp>
      <p:sp>
        <p:nvSpPr>
          <p:cNvPr id="8" name="Text 5"/>
          <p:cNvSpPr txBox="1"/>
          <p:nvPr/>
        </p:nvSpPr>
        <p:spPr>
          <a:xfrm>
            <a:off x="731520" y="192024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9" name="Shape 6"/>
          <p:cNvSpPr/>
          <p:nvPr/>
        </p:nvSpPr>
        <p:spPr>
          <a:xfrm>
            <a:off x="1334658" y="1920240"/>
            <a:ext cx="784306" cy="530352"/>
          </a:xfrm>
          <a:prstGeom prst="roundRect">
            <a:avLst>
              <a:gd name="adj" fmla="val 17241"/>
            </a:avLst>
          </a:prstGeom>
          <a:solidFill>
            <a:schemeClr val="tx2"/>
          </a:solidFill>
          <a:ln w="12700">
            <a:solidFill>
              <a:srgbClr val="FFFFFF">
                <a:alpha val="0"/>
              </a:srgbClr>
            </a:solidFill>
            <a:prstDash val="solid"/>
          </a:ln>
        </p:spPr>
      </p:sp>
      <p:sp>
        <p:nvSpPr>
          <p:cNvPr id="10" name="Text 7"/>
          <p:cNvSpPr txBox="1"/>
          <p:nvPr/>
        </p:nvSpPr>
        <p:spPr>
          <a:xfrm>
            <a:off x="1334658" y="1920240"/>
            <a:ext cx="784306" cy="530352"/>
          </a:xfrm>
          <a:prstGeom prst="rect">
            <a:avLst/>
          </a:prstGeom>
          <a:noFill/>
          <a:ln/>
        </p:spPr>
        <p:txBody>
          <a:bodyPr wrap="square" lIns="0" tIns="0" rIns="0" bIns="0" rtlCol="0" anchor="ctr"/>
          <a:lstStyle/>
          <a:p>
            <a:pPr algn="ctr" indent="0" marL="0">
              <a:buNone/>
            </a:pPr>
            <a:r>
              <a:rPr lang="en-US" sz="1600" b="1" dirty="0">
                <a:solidFill>
                  <a:schemeClr val="bg1"/>
                </a:solidFill>
              </a:rPr>
              <a:t>zit</a:t>
            </a:r>
            <a:endParaRPr lang="en-US" sz="1600" dirty="0"/>
          </a:p>
        </p:txBody>
      </p:sp>
      <p:sp>
        <p:nvSpPr>
          <p:cNvPr id="11" name="Text 8"/>
          <p:cNvSpPr txBox="1"/>
          <p:nvPr/>
        </p:nvSpPr>
        <p:spPr>
          <a:xfrm>
            <a:off x="2201261" y="1920240"/>
            <a:ext cx="656495" cy="530352"/>
          </a:xfrm>
          <a:prstGeom prst="rect">
            <a:avLst/>
          </a:prstGeom>
          <a:noFill/>
          <a:ln/>
        </p:spPr>
        <p:txBody>
          <a:bodyPr wrap="square" lIns="0" tIns="0" rIns="0" bIns="0" rtlCol="0" anchor="ctr"/>
          <a:lstStyle/>
          <a:p>
            <a:pPr algn="ctr" indent="0" marL="0">
              <a:buNone/>
            </a:pPr>
            <a:r>
              <a:rPr lang="en-US" sz="1600" b="1" dirty="0">
                <a:solidFill>
                  <a:schemeClr val="accent5"/>
                </a:solidFill>
              </a:rPr>
              <a:t>te</a:t>
            </a:r>
            <a:endParaRPr lang="en-US" sz="1600" dirty="0"/>
          </a:p>
        </p:txBody>
      </p:sp>
      <p:sp>
        <p:nvSpPr>
          <p:cNvPr id="12" name="Shape 9"/>
          <p:cNvSpPr/>
          <p:nvPr/>
        </p:nvSpPr>
        <p:spPr>
          <a:xfrm>
            <a:off x="2940052" y="1920240"/>
            <a:ext cx="1167740" cy="530352"/>
          </a:xfrm>
          <a:prstGeom prst="roundRect">
            <a:avLst>
              <a:gd name="adj" fmla="val 17241"/>
            </a:avLst>
          </a:prstGeom>
          <a:solidFill>
            <a:srgbClr val="FBEDEB"/>
          </a:solidFill>
          <a:ln w="25400">
            <a:solidFill>
              <a:srgbClr val="B83227"/>
            </a:solidFill>
            <a:prstDash val="solid"/>
          </a:ln>
        </p:spPr>
      </p:sp>
      <p:sp>
        <p:nvSpPr>
          <p:cNvPr id="13" name="Text 10"/>
          <p:cNvSpPr txBox="1"/>
          <p:nvPr/>
        </p:nvSpPr>
        <p:spPr>
          <a:xfrm>
            <a:off x="2940052" y="1920240"/>
            <a:ext cx="1167740" cy="530352"/>
          </a:xfrm>
          <a:prstGeom prst="rect">
            <a:avLst/>
          </a:prstGeom>
          <a:noFill/>
          <a:ln/>
        </p:spPr>
        <p:txBody>
          <a:bodyPr wrap="square" lIns="0" tIns="0" rIns="0" bIns="0" rtlCol="0" anchor="ctr"/>
          <a:lstStyle/>
          <a:p>
            <a:pPr algn="ctr" indent="0" marL="0">
              <a:buNone/>
            </a:pPr>
            <a:r>
              <a:rPr lang="en-US" sz="1600" b="1" dirty="0">
                <a:solidFill>
                  <a:schemeClr val="accent6"/>
                </a:solidFill>
              </a:rPr>
              <a:t>lezen.</a:t>
            </a:r>
            <a:endParaRPr lang="en-US" sz="1600" dirty="0"/>
          </a:p>
        </p:txBody>
      </p:sp>
      <p:sp>
        <p:nvSpPr>
          <p:cNvPr id="14" name="Text 11"/>
          <p:cNvSpPr txBox="1"/>
          <p:nvPr/>
        </p:nvSpPr>
        <p:spPr>
          <a:xfrm>
            <a:off x="731520" y="2514600"/>
            <a:ext cx="4983480" cy="457200"/>
          </a:xfrm>
          <a:prstGeom prst="rect">
            <a:avLst/>
          </a:prstGeom>
          <a:noFill/>
          <a:ln/>
        </p:spPr>
        <p:txBody>
          <a:bodyPr wrap="square" lIns="0" tIns="0" rIns="0" bIns="0" rtlCol="0" anchor="ctr"/>
          <a:lstStyle/>
          <a:p>
            <a:pPr algn="ctr" indent="0" marL="0">
              <a:buNone/>
            </a:pPr>
            <a:r>
              <a:rPr lang="en-US" sz="2200" dirty="0">
                <a:solidFill>
                  <a:schemeClr val="accent5"/>
                </a:solidFill>
              </a:rPr>
              <a:t>⬇</a:t>
            </a:r>
            <a:endParaRPr lang="en-US" sz="2200" dirty="0"/>
          </a:p>
        </p:txBody>
      </p:sp>
      <p:sp>
        <p:nvSpPr>
          <p:cNvPr id="15" name="Text 12"/>
          <p:cNvSpPr txBox="1"/>
          <p:nvPr/>
        </p:nvSpPr>
        <p:spPr>
          <a:xfrm>
            <a:off x="731520" y="2971800"/>
            <a:ext cx="3200400" cy="320040"/>
          </a:xfrm>
          <a:prstGeom prst="rect">
            <a:avLst/>
          </a:prstGeom>
          <a:noFill/>
          <a:ln/>
        </p:spPr>
        <p:txBody>
          <a:bodyPr wrap="square" lIns="0" tIns="0" rIns="0" bIns="0" rtlCol="0" anchor="t"/>
          <a:lstStyle/>
          <a:p>
            <a:pPr algn="l" indent="0" marL="0">
              <a:buNone/>
            </a:pPr>
            <a:r>
              <a:rPr lang="en-US" sz="1200" b="1" spc="100" kern="0" dirty="0">
                <a:solidFill>
                  <a:srgbClr val="6E4A9E"/>
                </a:solidFill>
              </a:rPr>
              <a:t>PASSÉ COMPOSÉ</a:t>
            </a:r>
            <a:endParaRPr lang="en-US" sz="1200" dirty="0"/>
          </a:p>
        </p:txBody>
      </p:sp>
      <p:sp>
        <p:nvSpPr>
          <p:cNvPr id="16" name="Text 13"/>
          <p:cNvSpPr txBox="1"/>
          <p:nvPr/>
        </p:nvSpPr>
        <p:spPr>
          <a:xfrm>
            <a:off x="3383280" y="2971800"/>
            <a:ext cx="2331720" cy="320040"/>
          </a:xfrm>
          <a:prstGeom prst="rect">
            <a:avLst/>
          </a:prstGeom>
          <a:noFill/>
          <a:ln/>
        </p:spPr>
        <p:txBody>
          <a:bodyPr wrap="square" lIns="0" tIns="0" rIns="0" bIns="0" rtlCol="0" anchor="t"/>
          <a:lstStyle/>
          <a:p>
            <a:pPr algn="r" indent="0" marL="0">
              <a:buNone/>
            </a:pPr>
            <a:r>
              <a:rPr lang="en-US" sz="1300" dirty="0">
                <a:solidFill>
                  <a:schemeClr val="accent6"/>
                </a:solidFill>
              </a:rPr>
              <a:t>pas </a:t>
            </a:r>
            <a:r>
              <a:rPr lang="en-US" sz="1300" strike="sngStrike" dirty="0">
                <a:solidFill>
                  <a:schemeClr val="accent6"/>
                </a:solidFill>
              </a:rPr>
              <a:t>gezeten</a:t>
            </a:r>
            <a:r>
              <a:rPr lang="en-US" sz="1300" dirty="0">
                <a:solidFill>
                  <a:schemeClr val="accent6"/>
                </a:solidFill>
              </a:rPr>
              <a:t> !</a:t>
            </a:r>
            <a:endParaRPr lang="en-US" sz="1300" dirty="0"/>
          </a:p>
        </p:txBody>
      </p:sp>
      <p:sp>
        <p:nvSpPr>
          <p:cNvPr id="17" name="Shape 14"/>
          <p:cNvSpPr/>
          <p:nvPr/>
        </p:nvSpPr>
        <p:spPr>
          <a:xfrm>
            <a:off x="731520" y="3429000"/>
            <a:ext cx="520842" cy="530352"/>
          </a:xfrm>
          <a:prstGeom prst="roundRect">
            <a:avLst>
              <a:gd name="adj" fmla="val 17556"/>
            </a:avLst>
          </a:prstGeom>
          <a:solidFill>
            <a:schemeClr val="bg1"/>
          </a:solidFill>
          <a:ln w="15875">
            <a:solidFill>
              <a:srgbClr val="D5DCE6"/>
            </a:solidFill>
            <a:prstDash val="solid"/>
          </a:ln>
        </p:spPr>
      </p:sp>
      <p:sp>
        <p:nvSpPr>
          <p:cNvPr id="18" name="Text 15"/>
          <p:cNvSpPr txBox="1"/>
          <p:nvPr/>
        </p:nvSpPr>
        <p:spPr>
          <a:xfrm>
            <a:off x="731520" y="342900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19" name="Shape 16"/>
          <p:cNvSpPr/>
          <p:nvPr/>
        </p:nvSpPr>
        <p:spPr>
          <a:xfrm>
            <a:off x="1334658" y="3429000"/>
            <a:ext cx="784306" cy="530352"/>
          </a:xfrm>
          <a:prstGeom prst="roundRect">
            <a:avLst>
              <a:gd name="adj" fmla="val 17241"/>
            </a:avLst>
          </a:prstGeom>
          <a:solidFill>
            <a:schemeClr val="tx2"/>
          </a:solidFill>
          <a:ln w="12700">
            <a:solidFill>
              <a:srgbClr val="FFFFFF">
                <a:alpha val="0"/>
              </a:srgbClr>
            </a:solidFill>
            <a:prstDash val="solid"/>
          </a:ln>
        </p:spPr>
      </p:sp>
      <p:sp>
        <p:nvSpPr>
          <p:cNvPr id="20" name="Text 17"/>
          <p:cNvSpPr txBox="1"/>
          <p:nvPr/>
        </p:nvSpPr>
        <p:spPr>
          <a:xfrm>
            <a:off x="1334658" y="3429000"/>
            <a:ext cx="784306" cy="530352"/>
          </a:xfrm>
          <a:prstGeom prst="rect">
            <a:avLst/>
          </a:prstGeom>
          <a:noFill/>
          <a:ln/>
        </p:spPr>
        <p:txBody>
          <a:bodyPr wrap="square" lIns="0" tIns="0" rIns="0" bIns="0" rtlCol="0" anchor="ctr"/>
          <a:lstStyle/>
          <a:p>
            <a:pPr algn="ctr" indent="0" marL="0">
              <a:buNone/>
            </a:pPr>
            <a:r>
              <a:rPr lang="en-US" sz="1600" b="1" dirty="0">
                <a:solidFill>
                  <a:schemeClr val="bg1"/>
                </a:solidFill>
              </a:rPr>
              <a:t>heb</a:t>
            </a:r>
            <a:endParaRPr lang="en-US" sz="1600" dirty="0"/>
          </a:p>
        </p:txBody>
      </p:sp>
      <p:sp>
        <p:nvSpPr>
          <p:cNvPr id="21" name="Shape 18"/>
          <p:cNvSpPr/>
          <p:nvPr/>
        </p:nvSpPr>
        <p:spPr>
          <a:xfrm>
            <a:off x="2201261" y="3429000"/>
            <a:ext cx="1167740" cy="530352"/>
          </a:xfrm>
          <a:prstGeom prst="roundRect">
            <a:avLst>
              <a:gd name="adj" fmla="val 17241"/>
            </a:avLst>
          </a:prstGeom>
          <a:solidFill>
            <a:schemeClr val="accent1"/>
          </a:solidFill>
          <a:ln w="12700">
            <a:solidFill>
              <a:srgbClr val="FFFFFF">
                <a:alpha val="0"/>
              </a:srgbClr>
            </a:solidFill>
            <a:prstDash val="solid"/>
          </a:ln>
        </p:spPr>
      </p:sp>
      <p:sp>
        <p:nvSpPr>
          <p:cNvPr id="22" name="Text 19"/>
          <p:cNvSpPr txBox="1"/>
          <p:nvPr/>
        </p:nvSpPr>
        <p:spPr>
          <a:xfrm>
            <a:off x="2201261" y="3429000"/>
            <a:ext cx="1167740" cy="530352"/>
          </a:xfrm>
          <a:prstGeom prst="rect">
            <a:avLst/>
          </a:prstGeom>
          <a:noFill/>
          <a:ln/>
        </p:spPr>
        <p:txBody>
          <a:bodyPr wrap="square" lIns="0" tIns="0" rIns="0" bIns="0" rtlCol="0" anchor="ctr"/>
          <a:lstStyle/>
          <a:p>
            <a:pPr algn="ctr" indent="0" marL="0">
              <a:buNone/>
            </a:pPr>
            <a:r>
              <a:rPr lang="en-US" sz="1600" b="1" dirty="0">
                <a:solidFill>
                  <a:schemeClr val="bg1"/>
                </a:solidFill>
              </a:rPr>
              <a:t>zitten</a:t>
            </a:r>
            <a:endParaRPr lang="en-US" sz="1600" dirty="0"/>
          </a:p>
        </p:txBody>
      </p:sp>
      <p:sp>
        <p:nvSpPr>
          <p:cNvPr id="23" name="Shape 20"/>
          <p:cNvSpPr/>
          <p:nvPr/>
        </p:nvSpPr>
        <p:spPr>
          <a:xfrm>
            <a:off x="3451297" y="3429000"/>
            <a:ext cx="1167740" cy="530352"/>
          </a:xfrm>
          <a:prstGeom prst="roundRect">
            <a:avLst>
              <a:gd name="adj" fmla="val 17241"/>
            </a:avLst>
          </a:prstGeom>
          <a:solidFill>
            <a:srgbClr val="FBEDEB"/>
          </a:solidFill>
          <a:ln w="25400">
            <a:solidFill>
              <a:srgbClr val="B83227"/>
            </a:solidFill>
            <a:prstDash val="solid"/>
          </a:ln>
        </p:spPr>
      </p:sp>
      <p:sp>
        <p:nvSpPr>
          <p:cNvPr id="24" name="Text 21"/>
          <p:cNvSpPr txBox="1"/>
          <p:nvPr/>
        </p:nvSpPr>
        <p:spPr>
          <a:xfrm>
            <a:off x="3451297" y="3429000"/>
            <a:ext cx="1167740" cy="530352"/>
          </a:xfrm>
          <a:prstGeom prst="rect">
            <a:avLst/>
          </a:prstGeom>
          <a:noFill/>
          <a:ln/>
        </p:spPr>
        <p:txBody>
          <a:bodyPr wrap="square" lIns="0" tIns="0" rIns="0" bIns="0" rtlCol="0" anchor="ctr"/>
          <a:lstStyle/>
          <a:p>
            <a:pPr algn="ctr" indent="0" marL="0">
              <a:buNone/>
            </a:pPr>
            <a:r>
              <a:rPr lang="en-US" sz="1600" b="1" dirty="0">
                <a:solidFill>
                  <a:schemeClr val="accent6"/>
                </a:solidFill>
              </a:rPr>
              <a:t>lezen.</a:t>
            </a:r>
            <a:endParaRPr lang="en-US" sz="1600" dirty="0"/>
          </a:p>
        </p:txBody>
      </p:sp>
      <p:sp>
        <p:nvSpPr>
          <p:cNvPr id="25" name="Shape 22"/>
          <p:cNvSpPr/>
          <p:nvPr/>
        </p:nvSpPr>
        <p:spPr>
          <a:xfrm>
            <a:off x="640080" y="4114800"/>
            <a:ext cx="4070397" cy="45720"/>
          </a:xfrm>
          <a:prstGeom prst="rect">
            <a:avLst/>
          </a:prstGeom>
          <a:solidFill>
            <a:srgbClr val="8A96A8"/>
          </a:solidFill>
          <a:ln w="12700">
            <a:solidFill>
              <a:srgbClr val="FFFFFF">
                <a:alpha val="0"/>
              </a:srgbClr>
            </a:solidFill>
            <a:prstDash val="solid"/>
          </a:ln>
        </p:spPr>
      </p:sp>
      <p:sp>
        <p:nvSpPr>
          <p:cNvPr id="26" name="Shape 23"/>
          <p:cNvSpPr/>
          <p:nvPr/>
        </p:nvSpPr>
        <p:spPr>
          <a:xfrm>
            <a:off x="1434054" y="3968496"/>
            <a:ext cx="146304" cy="146304"/>
          </a:xfrm>
          <a:prstGeom prst="ellipse">
            <a:avLst/>
          </a:prstGeom>
          <a:solidFill>
            <a:srgbClr val="1B2333"/>
          </a:solidFill>
          <a:ln w="12700">
            <a:solidFill>
              <a:srgbClr val="FFFFFF">
                <a:alpha val="0"/>
              </a:srgbClr>
            </a:solidFill>
            <a:prstDash val="solid"/>
          </a:ln>
        </p:spPr>
      </p:sp>
      <p:sp>
        <p:nvSpPr>
          <p:cNvPr id="27" name="Shape 24"/>
          <p:cNvSpPr/>
          <p:nvPr/>
        </p:nvSpPr>
        <p:spPr>
          <a:xfrm>
            <a:off x="1873265" y="3968496"/>
            <a:ext cx="146304" cy="146304"/>
          </a:xfrm>
          <a:prstGeom prst="ellipse">
            <a:avLst/>
          </a:prstGeom>
          <a:solidFill>
            <a:srgbClr val="1B2333"/>
          </a:solidFill>
          <a:ln w="12700">
            <a:solidFill>
              <a:srgbClr val="FFFFFF">
                <a:alpha val="0"/>
              </a:srgbClr>
            </a:solidFill>
            <a:prstDash val="solid"/>
          </a:ln>
        </p:spPr>
      </p:sp>
      <p:sp>
        <p:nvSpPr>
          <p:cNvPr id="28" name="Shape 25"/>
          <p:cNvSpPr/>
          <p:nvPr/>
        </p:nvSpPr>
        <p:spPr>
          <a:xfrm>
            <a:off x="1444386" y="3227832"/>
            <a:ext cx="146304" cy="219456"/>
          </a:xfrm>
          <a:prstGeom prst="rect">
            <a:avLst/>
          </a:prstGeom>
          <a:solidFill>
            <a:schemeClr val="tx2"/>
          </a:solidFill>
          <a:ln w="12700">
            <a:solidFill>
              <a:srgbClr val="FFFFFF">
                <a:alpha val="0"/>
              </a:srgbClr>
            </a:solidFill>
            <a:prstDash val="solid"/>
          </a:ln>
        </p:spPr>
      </p:sp>
      <p:sp>
        <p:nvSpPr>
          <p:cNvPr id="29" name="Shape 26"/>
          <p:cNvSpPr/>
          <p:nvPr/>
        </p:nvSpPr>
        <p:spPr>
          <a:xfrm>
            <a:off x="2118965" y="3826764"/>
            <a:ext cx="82296" cy="914"/>
          </a:xfrm>
          <a:prstGeom prst="line">
            <a:avLst/>
          </a:prstGeom>
          <a:noFill/>
          <a:ln w="31750">
            <a:solidFill>
              <a:srgbClr val="1B2333"/>
            </a:solidFill>
            <a:prstDash val="solid"/>
          </a:ln>
        </p:spPr>
      </p:sp>
      <p:sp>
        <p:nvSpPr>
          <p:cNvPr id="30" name="Shape 27"/>
          <p:cNvSpPr/>
          <p:nvPr/>
        </p:nvSpPr>
        <p:spPr>
          <a:xfrm>
            <a:off x="2385012" y="3968496"/>
            <a:ext cx="146304" cy="146304"/>
          </a:xfrm>
          <a:prstGeom prst="ellipse">
            <a:avLst/>
          </a:prstGeom>
          <a:solidFill>
            <a:srgbClr val="1B2333"/>
          </a:solidFill>
          <a:ln w="12700">
            <a:solidFill>
              <a:srgbClr val="FFFFFF">
                <a:alpha val="0"/>
              </a:srgbClr>
            </a:solidFill>
            <a:prstDash val="solid"/>
          </a:ln>
        </p:spPr>
      </p:sp>
      <p:sp>
        <p:nvSpPr>
          <p:cNvPr id="31" name="Shape 28"/>
          <p:cNvSpPr/>
          <p:nvPr/>
        </p:nvSpPr>
        <p:spPr>
          <a:xfrm>
            <a:off x="3038946" y="3968496"/>
            <a:ext cx="146304" cy="146304"/>
          </a:xfrm>
          <a:prstGeom prst="ellipse">
            <a:avLst/>
          </a:prstGeom>
          <a:solidFill>
            <a:srgbClr val="1B2333"/>
          </a:solidFill>
          <a:ln w="12700">
            <a:solidFill>
              <a:srgbClr val="FFFFFF">
                <a:alpha val="0"/>
              </a:srgbClr>
            </a:solidFill>
            <a:prstDash val="solid"/>
          </a:ln>
        </p:spPr>
      </p:sp>
      <p:sp>
        <p:nvSpPr>
          <p:cNvPr id="32" name="Shape 29"/>
          <p:cNvSpPr/>
          <p:nvPr/>
        </p:nvSpPr>
        <p:spPr>
          <a:xfrm>
            <a:off x="3369001" y="3826764"/>
            <a:ext cx="82296" cy="914"/>
          </a:xfrm>
          <a:prstGeom prst="line">
            <a:avLst/>
          </a:prstGeom>
          <a:noFill/>
          <a:ln w="31750">
            <a:solidFill>
              <a:srgbClr val="1B2333"/>
            </a:solidFill>
            <a:prstDash val="solid"/>
          </a:ln>
        </p:spPr>
      </p:sp>
      <p:sp>
        <p:nvSpPr>
          <p:cNvPr id="33" name="Shape 30"/>
          <p:cNvSpPr/>
          <p:nvPr/>
        </p:nvSpPr>
        <p:spPr>
          <a:xfrm>
            <a:off x="3635048" y="3968496"/>
            <a:ext cx="146304" cy="146304"/>
          </a:xfrm>
          <a:prstGeom prst="ellipse">
            <a:avLst/>
          </a:prstGeom>
          <a:solidFill>
            <a:srgbClr val="1B2333"/>
          </a:solidFill>
          <a:ln w="12700">
            <a:solidFill>
              <a:srgbClr val="FFFFFF">
                <a:alpha val="0"/>
              </a:srgbClr>
            </a:solidFill>
            <a:prstDash val="solid"/>
          </a:ln>
        </p:spPr>
      </p:sp>
      <p:sp>
        <p:nvSpPr>
          <p:cNvPr id="34" name="Shape 31"/>
          <p:cNvSpPr/>
          <p:nvPr/>
        </p:nvSpPr>
        <p:spPr>
          <a:xfrm>
            <a:off x="4288982" y="3968496"/>
            <a:ext cx="146304" cy="146304"/>
          </a:xfrm>
          <a:prstGeom prst="ellipse">
            <a:avLst/>
          </a:prstGeom>
          <a:solidFill>
            <a:srgbClr val="1B2333"/>
          </a:solidFill>
          <a:ln w="12700">
            <a:solidFill>
              <a:srgbClr val="FFFFFF">
                <a:alpha val="0"/>
              </a:srgbClr>
            </a:solidFill>
            <a:prstDash val="solid"/>
          </a:ln>
        </p:spPr>
      </p:sp>
      <p:sp>
        <p:nvSpPr>
          <p:cNvPr id="35" name="Text 32"/>
          <p:cNvSpPr txBox="1"/>
          <p:nvPr/>
        </p:nvSpPr>
        <p:spPr>
          <a:xfrm>
            <a:off x="731520" y="4343400"/>
            <a:ext cx="5029200" cy="1097280"/>
          </a:xfrm>
          <a:prstGeom prst="rect">
            <a:avLst/>
          </a:prstGeom>
          <a:noFill/>
          <a:ln/>
        </p:spPr>
        <p:txBody>
          <a:bodyPr wrap="square" lIns="0" tIns="0" rIns="0" bIns="0" rtlCol="0" anchor="ctr"/>
          <a:lstStyle/>
          <a:p>
            <a:pPr algn="l" indent="0" marL="0">
              <a:buNone/>
            </a:pPr>
            <a:r>
              <a:rPr lang="en-US" sz="1400" dirty="0">
                <a:solidFill>
                  <a:schemeClr val="tx1"/>
                </a:solidFill>
              </a:rPr>
              <a:t>Au présent : </a:t>
            </a:r>
            <a:r>
              <a:rPr lang="en-US" sz="1400" i="1" dirty="0">
                <a:solidFill>
                  <a:schemeClr val="tx1"/>
                </a:solidFill>
              </a:rPr>
              <a:t>zitten </a:t>
            </a:r>
            <a:r>
              <a:rPr lang="en-US" sz="1400" b="1" i="1" dirty="0">
                <a:solidFill>
                  <a:schemeClr val="tx1"/>
                </a:solidFill>
              </a:rPr>
              <a:t>te</a:t>
            </a:r>
            <a:r>
              <a:rPr lang="en-US" sz="1400" i="1" dirty="0">
                <a:solidFill>
                  <a:schemeClr val="tx1"/>
                </a:solidFill>
              </a:rPr>
              <a:t> lezen</a:t>
            </a:r>
            <a:r>
              <a:rPr lang="en-US" sz="1400" dirty="0">
                <a:solidFill>
                  <a:schemeClr val="tx1"/>
                </a:solidFill>
              </a:rPr>
              <a:t> (M17). Au passé : </a:t>
            </a:r>
            <a:r>
              <a:rPr lang="en-US" sz="1400" i="1" dirty="0">
                <a:solidFill>
                  <a:schemeClr val="tx1"/>
                </a:solidFill>
              </a:rPr>
              <a:t>heb zitten lezen</a:t>
            </a:r>
            <a:r>
              <a:rPr lang="en-US" sz="1400" dirty="0">
                <a:solidFill>
                  <a:schemeClr val="tx1"/>
                </a:solidFill>
              </a:rPr>
              <a:t>, </a:t>
            </a:r>
            <a:r>
              <a:rPr lang="en-US" sz="1400" b="1" dirty="0">
                <a:solidFill>
                  <a:schemeClr val="tx1"/>
                </a:solidFill>
              </a:rPr>
              <a:t>sans te</a:t>
            </a:r>
            <a:r>
              <a:rPr lang="en-US" sz="1400" dirty="0">
                <a:solidFill>
                  <a:schemeClr val="tx1"/>
                </a:solidFill>
              </a:rPr>
              <a:t>. Auxiliaire : </a:t>
            </a:r>
            <a:r>
              <a:rPr lang="en-US" sz="1400" b="1" dirty="0">
                <a:solidFill>
                  <a:schemeClr val="tx1"/>
                </a:solidFill>
              </a:rPr>
              <a:t>hebben</a:t>
            </a:r>
            <a:r>
              <a:rPr lang="en-US" sz="1400" dirty="0">
                <a:solidFill>
                  <a:schemeClr val="tx1"/>
                </a:solidFill>
              </a:rPr>
              <a:t>.</a:t>
            </a:r>
            <a:endParaRPr lang="en-US" sz="1400" dirty="0"/>
          </a:p>
        </p:txBody>
      </p:sp>
      <p:sp>
        <p:nvSpPr>
          <p:cNvPr id="36" name="Shape 33"/>
          <p:cNvSpPr/>
          <p:nvPr/>
        </p:nvSpPr>
        <p:spPr>
          <a:xfrm>
            <a:off x="6126480" y="1463040"/>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7" name="Shape 34"/>
          <p:cNvSpPr/>
          <p:nvPr/>
        </p:nvSpPr>
        <p:spPr>
          <a:xfrm>
            <a:off x="6126480" y="1463040"/>
            <a:ext cx="109728" cy="1106424"/>
          </a:xfrm>
          <a:prstGeom prst="rect">
            <a:avLst/>
          </a:prstGeom>
          <a:solidFill>
            <a:srgbClr val="6E4A9E"/>
          </a:solidFill>
          <a:ln w="12700">
            <a:solidFill>
              <a:srgbClr val="FFFFFF">
                <a:alpha val="0"/>
              </a:srgbClr>
            </a:solidFill>
            <a:prstDash val="solid"/>
          </a:ln>
        </p:spPr>
      </p:sp>
      <p:pic>
        <p:nvPicPr>
          <p:cNvPr id="38" name="Image 0" descr="books">    </p:cNvPr>
          <p:cNvPicPr>
            <a:picLocks noChangeAspect="1"/>
          </p:cNvPicPr>
          <p:nvPr/>
        </p:nvPicPr>
        <p:blipFill>
          <a:blip r:embed="rId1"/>
          <a:stretch>
            <a:fillRect/>
          </a:stretch>
        </p:blipFill>
        <p:spPr>
          <a:xfrm>
            <a:off x="6382512" y="1627632"/>
            <a:ext cx="777240" cy="777240"/>
          </a:xfrm>
          <a:prstGeom prst="rect">
            <a:avLst/>
          </a:prstGeom>
        </p:spPr>
      </p:pic>
      <p:sp>
        <p:nvSpPr>
          <p:cNvPr id="39" name="Text 35"/>
          <p:cNvSpPr txBox="1"/>
          <p:nvPr/>
        </p:nvSpPr>
        <p:spPr>
          <a:xfrm>
            <a:off x="7315200" y="1517904"/>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zit te lezen.</a:t>
            </a:r>
            <a:endParaRPr lang="en-US" sz="1400" dirty="0"/>
          </a:p>
        </p:txBody>
      </p:sp>
      <p:sp>
        <p:nvSpPr>
          <p:cNvPr id="40" name="Text 36"/>
          <p:cNvSpPr txBox="1"/>
          <p:nvPr/>
        </p:nvSpPr>
        <p:spPr>
          <a:xfrm>
            <a:off x="7315200" y="1794967"/>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a:t>
            </a:r>
            <a:r>
              <a:rPr lang="en-US" sz="1800" b="1" i="1" dirty="0">
                <a:solidFill>
                  <a:srgbClr val="D9700F"/>
                </a:solidFill>
              </a:rPr>
              <a:t>zitten lezen</a:t>
            </a:r>
            <a:r>
              <a:rPr lang="en-US" sz="1800" i="1" dirty="0">
                <a:solidFill>
                  <a:schemeClr val="tx1"/>
                </a:solidFill>
              </a:rPr>
              <a:t>.</a:t>
            </a:r>
            <a:endParaRPr lang="en-US" sz="1800" dirty="0"/>
          </a:p>
        </p:txBody>
      </p:sp>
      <p:sp>
        <p:nvSpPr>
          <p:cNvPr id="41" name="Text 37"/>
          <p:cNvSpPr txBox="1"/>
          <p:nvPr/>
        </p:nvSpPr>
        <p:spPr>
          <a:xfrm>
            <a:off x="7315200" y="2259665"/>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j’étais (assis·e) en train de lire</a:t>
            </a:r>
            <a:endParaRPr lang="en-US" sz="1300" dirty="0"/>
          </a:p>
        </p:txBody>
      </p:sp>
      <p:sp>
        <p:nvSpPr>
          <p:cNvPr id="42" name="Shape 38"/>
          <p:cNvSpPr/>
          <p:nvPr/>
        </p:nvSpPr>
        <p:spPr>
          <a:xfrm>
            <a:off x="6126480" y="2679192"/>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3" name="Shape 39"/>
          <p:cNvSpPr/>
          <p:nvPr/>
        </p:nvSpPr>
        <p:spPr>
          <a:xfrm>
            <a:off x="6126480" y="2679192"/>
            <a:ext cx="109728" cy="1106424"/>
          </a:xfrm>
          <a:prstGeom prst="rect">
            <a:avLst/>
          </a:prstGeom>
          <a:solidFill>
            <a:srgbClr val="6E4A9E"/>
          </a:solidFill>
          <a:ln w="12700">
            <a:solidFill>
              <a:srgbClr val="FFFFFF">
                <a:alpha val="0"/>
              </a:srgbClr>
            </a:solidFill>
            <a:prstDash val="solid"/>
          </a:ln>
        </p:spPr>
      </p:sp>
      <p:pic>
        <p:nvPicPr>
          <p:cNvPr id="44" name="Image 1" descr="cooking">    </p:cNvPr>
          <p:cNvPicPr>
            <a:picLocks noChangeAspect="1"/>
          </p:cNvPicPr>
          <p:nvPr/>
        </p:nvPicPr>
        <p:blipFill>
          <a:blip r:embed="rId2"/>
          <a:stretch>
            <a:fillRect/>
          </a:stretch>
        </p:blipFill>
        <p:spPr>
          <a:xfrm>
            <a:off x="6382512" y="2843784"/>
            <a:ext cx="777240" cy="777240"/>
          </a:xfrm>
          <a:prstGeom prst="rect">
            <a:avLst/>
          </a:prstGeom>
        </p:spPr>
      </p:pic>
      <p:sp>
        <p:nvSpPr>
          <p:cNvPr id="45" name="Text 40"/>
          <p:cNvSpPr txBox="1"/>
          <p:nvPr/>
        </p:nvSpPr>
        <p:spPr>
          <a:xfrm>
            <a:off x="7315200" y="2734056"/>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Ze staat te koken.</a:t>
            </a:r>
            <a:endParaRPr lang="en-US" sz="1400" dirty="0"/>
          </a:p>
        </p:txBody>
      </p:sp>
      <p:sp>
        <p:nvSpPr>
          <p:cNvPr id="46" name="Text 41"/>
          <p:cNvSpPr txBox="1"/>
          <p:nvPr/>
        </p:nvSpPr>
        <p:spPr>
          <a:xfrm>
            <a:off x="7315200" y="3011119"/>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Ze heeft </a:t>
            </a:r>
            <a:r>
              <a:rPr lang="en-US" sz="1800" b="1" i="1" dirty="0">
                <a:solidFill>
                  <a:srgbClr val="D9700F"/>
                </a:solidFill>
              </a:rPr>
              <a:t>staan koken</a:t>
            </a:r>
            <a:r>
              <a:rPr lang="en-US" sz="1800" i="1" dirty="0">
                <a:solidFill>
                  <a:schemeClr val="tx1"/>
                </a:solidFill>
              </a:rPr>
              <a:t>.</a:t>
            </a:r>
            <a:endParaRPr lang="en-US" sz="1800" dirty="0"/>
          </a:p>
        </p:txBody>
      </p:sp>
      <p:sp>
        <p:nvSpPr>
          <p:cNvPr id="47" name="Text 42"/>
          <p:cNvSpPr txBox="1"/>
          <p:nvPr/>
        </p:nvSpPr>
        <p:spPr>
          <a:xfrm>
            <a:off x="7315200" y="3475817"/>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elle était (debout) en train de cuisiner</a:t>
            </a:r>
            <a:endParaRPr lang="en-US" sz="1300" dirty="0"/>
          </a:p>
        </p:txBody>
      </p:sp>
      <p:sp>
        <p:nvSpPr>
          <p:cNvPr id="48" name="Shape 43"/>
          <p:cNvSpPr/>
          <p:nvPr/>
        </p:nvSpPr>
        <p:spPr>
          <a:xfrm>
            <a:off x="6126480" y="3895344"/>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9" name="Shape 44"/>
          <p:cNvSpPr/>
          <p:nvPr/>
        </p:nvSpPr>
        <p:spPr>
          <a:xfrm>
            <a:off x="6126480" y="3895344"/>
            <a:ext cx="109728" cy="1106424"/>
          </a:xfrm>
          <a:prstGeom prst="rect">
            <a:avLst/>
          </a:prstGeom>
          <a:solidFill>
            <a:srgbClr val="6E4A9E"/>
          </a:solidFill>
          <a:ln w="12700">
            <a:solidFill>
              <a:srgbClr val="FFFFFF">
                <a:alpha val="0"/>
              </a:srgbClr>
            </a:solidFill>
            <a:prstDash val="solid"/>
          </a:ln>
        </p:spPr>
      </p:sp>
      <p:pic>
        <p:nvPicPr>
          <p:cNvPr id="50" name="Image 2" descr="sleeping face">    </p:cNvPr>
          <p:cNvPicPr>
            <a:picLocks noChangeAspect="1"/>
          </p:cNvPicPr>
          <p:nvPr/>
        </p:nvPicPr>
        <p:blipFill>
          <a:blip r:embed="rId3"/>
          <a:stretch>
            <a:fillRect/>
          </a:stretch>
        </p:blipFill>
        <p:spPr>
          <a:xfrm>
            <a:off x="6382512" y="4059936"/>
            <a:ext cx="777240" cy="777240"/>
          </a:xfrm>
          <a:prstGeom prst="rect">
            <a:avLst/>
          </a:prstGeom>
        </p:spPr>
      </p:pic>
      <p:sp>
        <p:nvSpPr>
          <p:cNvPr id="51" name="Text 45"/>
          <p:cNvSpPr txBox="1"/>
          <p:nvPr/>
        </p:nvSpPr>
        <p:spPr>
          <a:xfrm>
            <a:off x="7315200" y="3950208"/>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Hij ligt te slapen.</a:t>
            </a:r>
            <a:endParaRPr lang="en-US" sz="1400" dirty="0"/>
          </a:p>
        </p:txBody>
      </p:sp>
      <p:sp>
        <p:nvSpPr>
          <p:cNvPr id="52" name="Text 46"/>
          <p:cNvSpPr txBox="1"/>
          <p:nvPr/>
        </p:nvSpPr>
        <p:spPr>
          <a:xfrm>
            <a:off x="7315200" y="4227271"/>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Hij heeft </a:t>
            </a:r>
            <a:r>
              <a:rPr lang="en-US" sz="1800" b="1" i="1" dirty="0">
                <a:solidFill>
                  <a:srgbClr val="D9700F"/>
                </a:solidFill>
              </a:rPr>
              <a:t>liggen slapen</a:t>
            </a:r>
            <a:r>
              <a:rPr lang="en-US" sz="1800" i="1" dirty="0">
                <a:solidFill>
                  <a:schemeClr val="tx1"/>
                </a:solidFill>
              </a:rPr>
              <a:t>.</a:t>
            </a:r>
            <a:endParaRPr lang="en-US" sz="1800" dirty="0"/>
          </a:p>
        </p:txBody>
      </p:sp>
      <p:sp>
        <p:nvSpPr>
          <p:cNvPr id="53" name="Text 47"/>
          <p:cNvSpPr txBox="1"/>
          <p:nvPr/>
        </p:nvSpPr>
        <p:spPr>
          <a:xfrm>
            <a:off x="7315200" y="4691969"/>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il était (couché) en train de dormir</a:t>
            </a:r>
            <a:endParaRPr lang="en-US" sz="1300" dirty="0"/>
          </a:p>
        </p:txBody>
      </p:sp>
      <p:sp>
        <p:nvSpPr>
          <p:cNvPr id="54" name="Shape 48"/>
          <p:cNvSpPr/>
          <p:nvPr/>
        </p:nvSpPr>
        <p:spPr>
          <a:xfrm>
            <a:off x="6126480" y="5111496"/>
            <a:ext cx="5513832" cy="1106424"/>
          </a:xfrm>
          <a:prstGeom prst="roundRect">
            <a:avLst>
              <a:gd name="adj" fmla="val 826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5" name="Shape 49"/>
          <p:cNvSpPr/>
          <p:nvPr/>
        </p:nvSpPr>
        <p:spPr>
          <a:xfrm>
            <a:off x="6126480" y="5111496"/>
            <a:ext cx="109728" cy="1106424"/>
          </a:xfrm>
          <a:prstGeom prst="rect">
            <a:avLst/>
          </a:prstGeom>
          <a:solidFill>
            <a:srgbClr val="6E4A9E"/>
          </a:solidFill>
          <a:ln w="12700">
            <a:solidFill>
              <a:srgbClr val="FFFFFF">
                <a:alpha val="0"/>
              </a:srgbClr>
            </a:solidFill>
            <a:prstDash val="solid"/>
          </a:ln>
        </p:spPr>
      </p:sp>
      <p:pic>
        <p:nvPicPr>
          <p:cNvPr id="56" name="Image 3" descr="magnifying glass tilted left">    </p:cNvPr>
          <p:cNvPicPr>
            <a:picLocks noChangeAspect="1"/>
          </p:cNvPicPr>
          <p:nvPr/>
        </p:nvPicPr>
        <p:blipFill>
          <a:blip r:embed="rId4"/>
          <a:stretch>
            <a:fillRect/>
          </a:stretch>
        </p:blipFill>
        <p:spPr>
          <a:xfrm>
            <a:off x="6382512" y="5276088"/>
            <a:ext cx="777240" cy="777240"/>
          </a:xfrm>
          <a:prstGeom prst="rect">
            <a:avLst/>
          </a:prstGeom>
        </p:spPr>
      </p:pic>
      <p:sp>
        <p:nvSpPr>
          <p:cNvPr id="57" name="Text 50"/>
          <p:cNvSpPr txBox="1"/>
          <p:nvPr/>
        </p:nvSpPr>
        <p:spPr>
          <a:xfrm>
            <a:off x="7315200" y="5166360"/>
            <a:ext cx="4187952" cy="331927"/>
          </a:xfrm>
          <a:prstGeom prst="rect">
            <a:avLst/>
          </a:prstGeom>
          <a:noFill/>
          <a:ln/>
        </p:spPr>
        <p:txBody>
          <a:bodyPr wrap="square" lIns="0" tIns="0" rIns="0" bIns="0" rtlCol="0" anchor="ctr"/>
          <a:lstStyle/>
          <a:p>
            <a:pPr algn="l" indent="0" marL="0">
              <a:buNone/>
            </a:pPr>
            <a:r>
              <a:rPr lang="en-US" sz="1400" i="1" dirty="0">
                <a:solidFill>
                  <a:schemeClr val="accent5"/>
                </a:solidFill>
              </a:rPr>
              <a:t>Ik loop te zoeken.</a:t>
            </a:r>
            <a:endParaRPr lang="en-US" sz="1400" dirty="0"/>
          </a:p>
        </p:txBody>
      </p:sp>
      <p:sp>
        <p:nvSpPr>
          <p:cNvPr id="58" name="Text 51"/>
          <p:cNvSpPr txBox="1"/>
          <p:nvPr/>
        </p:nvSpPr>
        <p:spPr>
          <a:xfrm>
            <a:off x="7315200" y="5443423"/>
            <a:ext cx="4187952" cy="464698"/>
          </a:xfrm>
          <a:prstGeom prst="rect">
            <a:avLst/>
          </a:prstGeom>
          <a:noFill/>
          <a:ln/>
        </p:spPr>
        <p:txBody>
          <a:bodyPr wrap="square" lIns="0" tIns="0" rIns="0" bIns="0" rtlCol="0" anchor="ctr"/>
          <a:lstStyle/>
          <a:p>
            <a:pPr algn="l" indent="0" marL="0">
              <a:buNone/>
            </a:pPr>
            <a:r>
              <a:rPr lang="en-US" sz="1800" i="1" dirty="0">
                <a:solidFill>
                  <a:schemeClr val="tx1"/>
                </a:solidFill>
              </a:rPr>
              <a:t>Ik heb de hele dag </a:t>
            </a:r>
            <a:r>
              <a:rPr lang="en-US" sz="1800" b="1" i="1" dirty="0">
                <a:solidFill>
                  <a:srgbClr val="D9700F"/>
                </a:solidFill>
              </a:rPr>
              <a:t>lopen zoeken</a:t>
            </a:r>
            <a:r>
              <a:rPr lang="en-US" sz="1800" i="1" dirty="0">
                <a:solidFill>
                  <a:schemeClr val="tx1"/>
                </a:solidFill>
              </a:rPr>
              <a:t>.</a:t>
            </a:r>
            <a:endParaRPr lang="en-US" sz="1800" dirty="0"/>
          </a:p>
        </p:txBody>
      </p:sp>
      <p:sp>
        <p:nvSpPr>
          <p:cNvPr id="59" name="Text 52"/>
          <p:cNvSpPr txBox="1"/>
          <p:nvPr/>
        </p:nvSpPr>
        <p:spPr>
          <a:xfrm>
            <a:off x="7315200" y="5908121"/>
            <a:ext cx="4187952" cy="287670"/>
          </a:xfrm>
          <a:prstGeom prst="rect">
            <a:avLst/>
          </a:prstGeom>
          <a:noFill/>
          <a:ln/>
        </p:spPr>
        <p:txBody>
          <a:bodyPr wrap="square" lIns="0" tIns="0" rIns="0" bIns="0" rtlCol="0" anchor="ctr"/>
          <a:lstStyle/>
          <a:p>
            <a:pPr algn="l" indent="0" marL="0">
              <a:buNone/>
            </a:pPr>
            <a:r>
              <a:rPr lang="en-US" sz="1300" i="1" dirty="0">
                <a:solidFill>
                  <a:schemeClr val="tx2"/>
                </a:solidFill>
              </a:rPr>
              <a:t>j’ai passé la journée à chercher</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zien, horen, voelen : la perception</a:t>
            </a:r>
            <a:endParaRPr lang="en-US" sz="3000" dirty="0"/>
          </a:p>
        </p:txBody>
      </p:sp>
      <p:sp>
        <p:nvSpPr>
          <p:cNvPr id="3" name="tag"/>
          <p:cNvSpPr/>
          <p:nvPr/>
        </p:nvSpPr>
        <p:spPr>
          <a:xfrm>
            <a:off x="548640" y="237744"/>
            <a:ext cx="1768450" cy="310896"/>
          </a:xfrm>
          <a:prstGeom prst="roundRect">
            <a:avLst>
              <a:gd name="adj" fmla="val 14706"/>
            </a:avLst>
          </a:prstGeom>
          <a:solidFill>
            <a:srgbClr val="0E7C86"/>
          </a:solidFill>
          <a:ln/>
        </p:spPr>
        <p:txBody>
          <a:bodyPr wrap="square" lIns="0" tIns="0" rIns="0" bIns="0" rtlCol="0" anchor="ctr"/>
          <a:lstStyle/>
          <a:p>
            <a:pPr algn="ctr" indent="0" marL="0">
              <a:buNone/>
            </a:pPr>
            <a:r>
              <a:rPr lang="en-US" sz="1200" b="1" spc="100" kern="0" dirty="0">
                <a:solidFill>
                  <a:srgbClr val="FFFFFF"/>
                </a:solidFill>
              </a:rPr>
              <a:t>FAMILLE 5 / 5</a:t>
            </a:r>
            <a:endParaRPr lang="en-US" sz="1200" dirty="0"/>
          </a:p>
        </p:txBody>
      </p:sp>
      <p:sp>
        <p:nvSpPr>
          <p:cNvPr id="5" name="Shape 2"/>
          <p:cNvSpPr/>
          <p:nvPr/>
        </p:nvSpPr>
        <p:spPr>
          <a:xfrm>
            <a:off x="548640" y="1463040"/>
            <a:ext cx="5349240" cy="4069080"/>
          </a:xfrm>
          <a:prstGeom prst="roundRect">
            <a:avLst>
              <a:gd name="adj" fmla="val 2697"/>
            </a:avLst>
          </a:prstGeom>
          <a:solidFill>
            <a:srgbClr val="0E7C86">
              <a:alpha val="10000"/>
            </a:srgbClr>
          </a:solidFill>
          <a:ln w="19050">
            <a:solidFill>
              <a:srgbClr val="0E7C86"/>
            </a:solidFill>
            <a:prstDash val="solid"/>
          </a:ln>
        </p:spPr>
      </p:sp>
      <p:sp>
        <p:nvSpPr>
          <p:cNvPr id="6" name="Text 3"/>
          <p:cNvSpPr txBox="1"/>
          <p:nvPr/>
        </p:nvSpPr>
        <p:spPr>
          <a:xfrm>
            <a:off x="731520" y="1554480"/>
            <a:ext cx="2743200" cy="320040"/>
          </a:xfrm>
          <a:prstGeom prst="rect">
            <a:avLst/>
          </a:prstGeom>
          <a:noFill/>
          <a:ln/>
        </p:spPr>
        <p:txBody>
          <a:bodyPr wrap="square" lIns="0" tIns="0" rIns="0" bIns="0" rtlCol="0" anchor="t"/>
          <a:lstStyle/>
          <a:p>
            <a:pPr algn="l" indent="0" marL="0">
              <a:buNone/>
            </a:pPr>
            <a:r>
              <a:rPr lang="en-US" sz="1200" b="1" spc="100" kern="0" dirty="0">
                <a:solidFill>
                  <a:srgbClr val="0E7C86"/>
                </a:solidFill>
              </a:rPr>
              <a:t>PRÉSENT</a:t>
            </a:r>
            <a:endParaRPr lang="en-US" sz="1200" dirty="0"/>
          </a:p>
        </p:txBody>
      </p:sp>
      <p:sp>
        <p:nvSpPr>
          <p:cNvPr id="7" name="Shape 4"/>
          <p:cNvSpPr/>
          <p:nvPr/>
        </p:nvSpPr>
        <p:spPr>
          <a:xfrm>
            <a:off x="731520" y="1920240"/>
            <a:ext cx="520842" cy="530352"/>
          </a:xfrm>
          <a:prstGeom prst="roundRect">
            <a:avLst>
              <a:gd name="adj" fmla="val 17556"/>
            </a:avLst>
          </a:prstGeom>
          <a:solidFill>
            <a:schemeClr val="bg1"/>
          </a:solidFill>
          <a:ln w="15875">
            <a:solidFill>
              <a:srgbClr val="D5DCE6"/>
            </a:solidFill>
            <a:prstDash val="solid"/>
          </a:ln>
        </p:spPr>
      </p:sp>
      <p:sp>
        <p:nvSpPr>
          <p:cNvPr id="8" name="Text 5"/>
          <p:cNvSpPr txBox="1"/>
          <p:nvPr/>
        </p:nvSpPr>
        <p:spPr>
          <a:xfrm>
            <a:off x="731520" y="192024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9" name="Shape 6"/>
          <p:cNvSpPr/>
          <p:nvPr/>
        </p:nvSpPr>
        <p:spPr>
          <a:xfrm>
            <a:off x="1334658" y="1920240"/>
            <a:ext cx="784306" cy="530352"/>
          </a:xfrm>
          <a:prstGeom prst="roundRect">
            <a:avLst>
              <a:gd name="adj" fmla="val 17241"/>
            </a:avLst>
          </a:prstGeom>
          <a:solidFill>
            <a:schemeClr val="tx2"/>
          </a:solidFill>
          <a:ln w="12700">
            <a:solidFill>
              <a:srgbClr val="FFFFFF">
                <a:alpha val="0"/>
              </a:srgbClr>
            </a:solidFill>
            <a:prstDash val="solid"/>
          </a:ln>
        </p:spPr>
      </p:sp>
      <p:sp>
        <p:nvSpPr>
          <p:cNvPr id="10" name="Text 7"/>
          <p:cNvSpPr txBox="1"/>
          <p:nvPr/>
        </p:nvSpPr>
        <p:spPr>
          <a:xfrm>
            <a:off x="1334658" y="1920240"/>
            <a:ext cx="784306" cy="530352"/>
          </a:xfrm>
          <a:prstGeom prst="rect">
            <a:avLst/>
          </a:prstGeom>
          <a:noFill/>
          <a:ln/>
        </p:spPr>
        <p:txBody>
          <a:bodyPr wrap="square" lIns="0" tIns="0" rIns="0" bIns="0" rtlCol="0" anchor="ctr"/>
          <a:lstStyle/>
          <a:p>
            <a:pPr algn="ctr" indent="0" marL="0">
              <a:buNone/>
            </a:pPr>
            <a:r>
              <a:rPr lang="en-US" sz="1600" b="1" dirty="0">
                <a:solidFill>
                  <a:schemeClr val="bg1"/>
                </a:solidFill>
              </a:rPr>
              <a:t>zie</a:t>
            </a:r>
            <a:endParaRPr lang="en-US" sz="1600" dirty="0"/>
          </a:p>
        </p:txBody>
      </p:sp>
      <p:sp>
        <p:nvSpPr>
          <p:cNvPr id="11" name="Shape 8"/>
          <p:cNvSpPr/>
          <p:nvPr/>
        </p:nvSpPr>
        <p:spPr>
          <a:xfrm>
            <a:off x="2201261" y="1920240"/>
            <a:ext cx="634959" cy="530352"/>
          </a:xfrm>
          <a:prstGeom prst="roundRect">
            <a:avLst>
              <a:gd name="adj" fmla="val 17241"/>
            </a:avLst>
          </a:prstGeom>
          <a:solidFill>
            <a:schemeClr val="bg1"/>
          </a:solidFill>
          <a:ln w="15875">
            <a:solidFill>
              <a:srgbClr val="D5DCE6"/>
            </a:solidFill>
            <a:prstDash val="solid"/>
          </a:ln>
        </p:spPr>
      </p:sp>
      <p:sp>
        <p:nvSpPr>
          <p:cNvPr id="12" name="Text 9"/>
          <p:cNvSpPr txBox="1"/>
          <p:nvPr/>
        </p:nvSpPr>
        <p:spPr>
          <a:xfrm>
            <a:off x="2201261" y="1920240"/>
            <a:ext cx="634959" cy="530352"/>
          </a:xfrm>
          <a:prstGeom prst="rect">
            <a:avLst/>
          </a:prstGeom>
          <a:noFill/>
          <a:ln/>
        </p:spPr>
        <p:txBody>
          <a:bodyPr wrap="square" lIns="0" tIns="0" rIns="0" bIns="0" rtlCol="0" anchor="ctr"/>
          <a:lstStyle/>
          <a:p>
            <a:pPr algn="ctr" indent="0" marL="0">
              <a:buNone/>
            </a:pPr>
            <a:r>
              <a:rPr lang="en-US" sz="1600" dirty="0">
                <a:solidFill>
                  <a:schemeClr val="tx1"/>
                </a:solidFill>
              </a:rPr>
              <a:t>hem</a:t>
            </a:r>
            <a:endParaRPr lang="en-US" sz="1600" dirty="0"/>
          </a:p>
        </p:txBody>
      </p:sp>
      <p:sp>
        <p:nvSpPr>
          <p:cNvPr id="13" name="Shape 10"/>
          <p:cNvSpPr/>
          <p:nvPr/>
        </p:nvSpPr>
        <p:spPr>
          <a:xfrm>
            <a:off x="2918516" y="1920240"/>
            <a:ext cx="1806796" cy="530352"/>
          </a:xfrm>
          <a:prstGeom prst="roundRect">
            <a:avLst>
              <a:gd name="adj" fmla="val 17241"/>
            </a:avLst>
          </a:prstGeom>
          <a:solidFill>
            <a:srgbClr val="FBEDEB"/>
          </a:solidFill>
          <a:ln w="25400">
            <a:solidFill>
              <a:srgbClr val="B83227"/>
            </a:solidFill>
            <a:prstDash val="solid"/>
          </a:ln>
        </p:spPr>
      </p:sp>
      <p:sp>
        <p:nvSpPr>
          <p:cNvPr id="14" name="Text 11"/>
          <p:cNvSpPr txBox="1"/>
          <p:nvPr/>
        </p:nvSpPr>
        <p:spPr>
          <a:xfrm>
            <a:off x="2918516" y="1920240"/>
            <a:ext cx="1806796" cy="530352"/>
          </a:xfrm>
          <a:prstGeom prst="rect">
            <a:avLst/>
          </a:prstGeom>
          <a:noFill/>
          <a:ln/>
        </p:spPr>
        <p:txBody>
          <a:bodyPr wrap="square" lIns="0" tIns="0" rIns="0" bIns="0" rtlCol="0" anchor="ctr"/>
          <a:lstStyle/>
          <a:p>
            <a:pPr algn="ctr" indent="0" marL="0">
              <a:buNone/>
            </a:pPr>
            <a:r>
              <a:rPr lang="en-US" sz="1600" b="1" dirty="0">
                <a:solidFill>
                  <a:schemeClr val="accent6"/>
                </a:solidFill>
              </a:rPr>
              <a:t>vertrekken.</a:t>
            </a:r>
            <a:endParaRPr lang="en-US" sz="1600" dirty="0"/>
          </a:p>
        </p:txBody>
      </p:sp>
      <p:sp>
        <p:nvSpPr>
          <p:cNvPr id="15" name="Text 12"/>
          <p:cNvSpPr txBox="1"/>
          <p:nvPr/>
        </p:nvSpPr>
        <p:spPr>
          <a:xfrm>
            <a:off x="731520" y="2514600"/>
            <a:ext cx="4983480" cy="457200"/>
          </a:xfrm>
          <a:prstGeom prst="rect">
            <a:avLst/>
          </a:prstGeom>
          <a:noFill/>
          <a:ln/>
        </p:spPr>
        <p:txBody>
          <a:bodyPr wrap="square" lIns="0" tIns="0" rIns="0" bIns="0" rtlCol="0" anchor="ctr"/>
          <a:lstStyle/>
          <a:p>
            <a:pPr algn="ctr" indent="0" marL="0">
              <a:buNone/>
            </a:pPr>
            <a:r>
              <a:rPr lang="en-US" sz="2200" dirty="0">
                <a:solidFill>
                  <a:schemeClr val="accent5"/>
                </a:solidFill>
              </a:rPr>
              <a:t>⬇</a:t>
            </a:r>
            <a:endParaRPr lang="en-US" sz="2200" dirty="0"/>
          </a:p>
        </p:txBody>
      </p:sp>
      <p:sp>
        <p:nvSpPr>
          <p:cNvPr id="16" name="Text 13"/>
          <p:cNvSpPr txBox="1"/>
          <p:nvPr/>
        </p:nvSpPr>
        <p:spPr>
          <a:xfrm>
            <a:off x="731520" y="2971800"/>
            <a:ext cx="3200400" cy="320040"/>
          </a:xfrm>
          <a:prstGeom prst="rect">
            <a:avLst/>
          </a:prstGeom>
          <a:noFill/>
          <a:ln/>
        </p:spPr>
        <p:txBody>
          <a:bodyPr wrap="square" lIns="0" tIns="0" rIns="0" bIns="0" rtlCol="0" anchor="t"/>
          <a:lstStyle/>
          <a:p>
            <a:pPr algn="l" indent="0" marL="0">
              <a:buNone/>
            </a:pPr>
            <a:r>
              <a:rPr lang="en-US" sz="1200" b="1" spc="100" kern="0" dirty="0">
                <a:solidFill>
                  <a:srgbClr val="0E7C86"/>
                </a:solidFill>
              </a:rPr>
              <a:t>PASSÉ COMPOSÉ</a:t>
            </a:r>
            <a:endParaRPr lang="en-US" sz="1200" dirty="0"/>
          </a:p>
        </p:txBody>
      </p:sp>
      <p:sp>
        <p:nvSpPr>
          <p:cNvPr id="17" name="Text 14"/>
          <p:cNvSpPr txBox="1"/>
          <p:nvPr/>
        </p:nvSpPr>
        <p:spPr>
          <a:xfrm>
            <a:off x="3383280" y="2971800"/>
            <a:ext cx="2331720" cy="320040"/>
          </a:xfrm>
          <a:prstGeom prst="rect">
            <a:avLst/>
          </a:prstGeom>
          <a:noFill/>
          <a:ln/>
        </p:spPr>
        <p:txBody>
          <a:bodyPr wrap="square" lIns="0" tIns="0" rIns="0" bIns="0" rtlCol="0" anchor="t"/>
          <a:lstStyle/>
          <a:p>
            <a:pPr algn="r" indent="0" marL="0">
              <a:buNone/>
            </a:pPr>
            <a:r>
              <a:rPr lang="en-US" sz="1300" dirty="0">
                <a:solidFill>
                  <a:schemeClr val="accent6"/>
                </a:solidFill>
              </a:rPr>
              <a:t>pas </a:t>
            </a:r>
            <a:r>
              <a:rPr lang="en-US" sz="1300" strike="sngStrike" dirty="0">
                <a:solidFill>
                  <a:schemeClr val="accent6"/>
                </a:solidFill>
              </a:rPr>
              <a:t>gezien</a:t>
            </a:r>
            <a:r>
              <a:rPr lang="en-US" sz="1300" dirty="0">
                <a:solidFill>
                  <a:schemeClr val="accent6"/>
                </a:solidFill>
              </a:rPr>
              <a:t> !</a:t>
            </a:r>
            <a:endParaRPr lang="en-US" sz="1300" dirty="0"/>
          </a:p>
        </p:txBody>
      </p:sp>
      <p:sp>
        <p:nvSpPr>
          <p:cNvPr id="18" name="Shape 15"/>
          <p:cNvSpPr/>
          <p:nvPr/>
        </p:nvSpPr>
        <p:spPr>
          <a:xfrm>
            <a:off x="731520" y="3429000"/>
            <a:ext cx="520842" cy="530352"/>
          </a:xfrm>
          <a:prstGeom prst="roundRect">
            <a:avLst>
              <a:gd name="adj" fmla="val 17556"/>
            </a:avLst>
          </a:prstGeom>
          <a:solidFill>
            <a:schemeClr val="bg1"/>
          </a:solidFill>
          <a:ln w="15875">
            <a:solidFill>
              <a:srgbClr val="D5DCE6"/>
            </a:solidFill>
            <a:prstDash val="solid"/>
          </a:ln>
        </p:spPr>
      </p:sp>
      <p:sp>
        <p:nvSpPr>
          <p:cNvPr id="19" name="Text 16"/>
          <p:cNvSpPr txBox="1"/>
          <p:nvPr/>
        </p:nvSpPr>
        <p:spPr>
          <a:xfrm>
            <a:off x="731520" y="3429000"/>
            <a:ext cx="520842" cy="530352"/>
          </a:xfrm>
          <a:prstGeom prst="rect">
            <a:avLst/>
          </a:prstGeom>
          <a:noFill/>
          <a:ln/>
        </p:spPr>
        <p:txBody>
          <a:bodyPr wrap="square" lIns="0" tIns="0" rIns="0" bIns="0" rtlCol="0" anchor="ctr"/>
          <a:lstStyle/>
          <a:p>
            <a:pPr algn="ctr" indent="0" marL="0">
              <a:buNone/>
            </a:pPr>
            <a:r>
              <a:rPr lang="en-US" sz="1600" dirty="0">
                <a:solidFill>
                  <a:schemeClr val="tx1"/>
                </a:solidFill>
              </a:rPr>
              <a:t>Ik</a:t>
            </a:r>
            <a:endParaRPr lang="en-US" sz="1600" dirty="0"/>
          </a:p>
        </p:txBody>
      </p:sp>
      <p:sp>
        <p:nvSpPr>
          <p:cNvPr id="20" name="Shape 17"/>
          <p:cNvSpPr/>
          <p:nvPr/>
        </p:nvSpPr>
        <p:spPr>
          <a:xfrm>
            <a:off x="1334658" y="3429000"/>
            <a:ext cx="784306" cy="530352"/>
          </a:xfrm>
          <a:prstGeom prst="roundRect">
            <a:avLst>
              <a:gd name="adj" fmla="val 17241"/>
            </a:avLst>
          </a:prstGeom>
          <a:solidFill>
            <a:schemeClr val="tx2"/>
          </a:solidFill>
          <a:ln w="12700">
            <a:solidFill>
              <a:srgbClr val="FFFFFF">
                <a:alpha val="0"/>
              </a:srgbClr>
            </a:solidFill>
            <a:prstDash val="solid"/>
          </a:ln>
        </p:spPr>
      </p:sp>
      <p:sp>
        <p:nvSpPr>
          <p:cNvPr id="21" name="Text 18"/>
          <p:cNvSpPr txBox="1"/>
          <p:nvPr/>
        </p:nvSpPr>
        <p:spPr>
          <a:xfrm>
            <a:off x="1334658" y="3429000"/>
            <a:ext cx="784306" cy="530352"/>
          </a:xfrm>
          <a:prstGeom prst="rect">
            <a:avLst/>
          </a:prstGeom>
          <a:noFill/>
          <a:ln/>
        </p:spPr>
        <p:txBody>
          <a:bodyPr wrap="square" lIns="0" tIns="0" rIns="0" bIns="0" rtlCol="0" anchor="ctr"/>
          <a:lstStyle/>
          <a:p>
            <a:pPr algn="ctr" indent="0" marL="0">
              <a:buNone/>
            </a:pPr>
            <a:r>
              <a:rPr lang="en-US" sz="1600" b="1" dirty="0">
                <a:solidFill>
                  <a:schemeClr val="bg1"/>
                </a:solidFill>
              </a:rPr>
              <a:t>heb</a:t>
            </a:r>
            <a:endParaRPr lang="en-US" sz="1600" dirty="0"/>
          </a:p>
        </p:txBody>
      </p:sp>
      <p:sp>
        <p:nvSpPr>
          <p:cNvPr id="22" name="Shape 19"/>
          <p:cNvSpPr/>
          <p:nvPr/>
        </p:nvSpPr>
        <p:spPr>
          <a:xfrm>
            <a:off x="2201261" y="3429000"/>
            <a:ext cx="634959" cy="530352"/>
          </a:xfrm>
          <a:prstGeom prst="roundRect">
            <a:avLst>
              <a:gd name="adj" fmla="val 17241"/>
            </a:avLst>
          </a:prstGeom>
          <a:solidFill>
            <a:schemeClr val="bg1"/>
          </a:solidFill>
          <a:ln w="15875">
            <a:solidFill>
              <a:srgbClr val="D5DCE6"/>
            </a:solidFill>
            <a:prstDash val="solid"/>
          </a:ln>
        </p:spPr>
      </p:sp>
      <p:sp>
        <p:nvSpPr>
          <p:cNvPr id="23" name="Text 20"/>
          <p:cNvSpPr txBox="1"/>
          <p:nvPr/>
        </p:nvSpPr>
        <p:spPr>
          <a:xfrm>
            <a:off x="2201261" y="3429000"/>
            <a:ext cx="634959" cy="530352"/>
          </a:xfrm>
          <a:prstGeom prst="rect">
            <a:avLst/>
          </a:prstGeom>
          <a:noFill/>
          <a:ln/>
        </p:spPr>
        <p:txBody>
          <a:bodyPr wrap="square" lIns="0" tIns="0" rIns="0" bIns="0" rtlCol="0" anchor="ctr"/>
          <a:lstStyle/>
          <a:p>
            <a:pPr algn="ctr" indent="0" marL="0">
              <a:buNone/>
            </a:pPr>
            <a:r>
              <a:rPr lang="en-US" sz="1600" dirty="0">
                <a:solidFill>
                  <a:schemeClr val="tx1"/>
                </a:solidFill>
              </a:rPr>
              <a:t>hem</a:t>
            </a:r>
            <a:endParaRPr lang="en-US" sz="1600" dirty="0"/>
          </a:p>
        </p:txBody>
      </p:sp>
      <p:sp>
        <p:nvSpPr>
          <p:cNvPr id="24" name="Shape 21"/>
          <p:cNvSpPr/>
          <p:nvPr/>
        </p:nvSpPr>
        <p:spPr>
          <a:xfrm>
            <a:off x="2918516" y="3429000"/>
            <a:ext cx="912118" cy="530352"/>
          </a:xfrm>
          <a:prstGeom prst="roundRect">
            <a:avLst>
              <a:gd name="adj" fmla="val 17241"/>
            </a:avLst>
          </a:prstGeom>
          <a:solidFill>
            <a:schemeClr val="accent1"/>
          </a:solidFill>
          <a:ln w="12700">
            <a:solidFill>
              <a:srgbClr val="FFFFFF">
                <a:alpha val="0"/>
              </a:srgbClr>
            </a:solidFill>
            <a:prstDash val="solid"/>
          </a:ln>
        </p:spPr>
      </p:sp>
      <p:sp>
        <p:nvSpPr>
          <p:cNvPr id="25" name="Text 22"/>
          <p:cNvSpPr txBox="1"/>
          <p:nvPr/>
        </p:nvSpPr>
        <p:spPr>
          <a:xfrm>
            <a:off x="2918516" y="3429000"/>
            <a:ext cx="912118" cy="530352"/>
          </a:xfrm>
          <a:prstGeom prst="rect">
            <a:avLst/>
          </a:prstGeom>
          <a:noFill/>
          <a:ln/>
        </p:spPr>
        <p:txBody>
          <a:bodyPr wrap="square" lIns="0" tIns="0" rIns="0" bIns="0" rtlCol="0" anchor="ctr"/>
          <a:lstStyle/>
          <a:p>
            <a:pPr algn="ctr" indent="0" marL="0">
              <a:buNone/>
            </a:pPr>
            <a:r>
              <a:rPr lang="en-US" sz="1600" b="1" dirty="0">
                <a:solidFill>
                  <a:schemeClr val="bg1"/>
                </a:solidFill>
              </a:rPr>
              <a:t>zien</a:t>
            </a:r>
            <a:endParaRPr lang="en-US" sz="1600" dirty="0"/>
          </a:p>
        </p:txBody>
      </p:sp>
      <p:sp>
        <p:nvSpPr>
          <p:cNvPr id="26" name="Shape 23"/>
          <p:cNvSpPr/>
          <p:nvPr/>
        </p:nvSpPr>
        <p:spPr>
          <a:xfrm>
            <a:off x="3912930" y="3429000"/>
            <a:ext cx="1806796" cy="530352"/>
          </a:xfrm>
          <a:prstGeom prst="roundRect">
            <a:avLst>
              <a:gd name="adj" fmla="val 17241"/>
            </a:avLst>
          </a:prstGeom>
          <a:solidFill>
            <a:srgbClr val="FBEDEB"/>
          </a:solidFill>
          <a:ln w="25400">
            <a:solidFill>
              <a:srgbClr val="B83227"/>
            </a:solidFill>
            <a:prstDash val="solid"/>
          </a:ln>
        </p:spPr>
      </p:sp>
      <p:sp>
        <p:nvSpPr>
          <p:cNvPr id="27" name="Text 24"/>
          <p:cNvSpPr txBox="1"/>
          <p:nvPr/>
        </p:nvSpPr>
        <p:spPr>
          <a:xfrm>
            <a:off x="3912930" y="3429000"/>
            <a:ext cx="1806796" cy="530352"/>
          </a:xfrm>
          <a:prstGeom prst="rect">
            <a:avLst/>
          </a:prstGeom>
          <a:noFill/>
          <a:ln/>
        </p:spPr>
        <p:txBody>
          <a:bodyPr wrap="square" lIns="0" tIns="0" rIns="0" bIns="0" rtlCol="0" anchor="ctr"/>
          <a:lstStyle/>
          <a:p>
            <a:pPr algn="ctr" indent="0" marL="0">
              <a:buNone/>
            </a:pPr>
            <a:r>
              <a:rPr lang="en-US" sz="1600" b="1" dirty="0">
                <a:solidFill>
                  <a:schemeClr val="accent6"/>
                </a:solidFill>
              </a:rPr>
              <a:t>vertrekken.</a:t>
            </a:r>
            <a:endParaRPr lang="en-US" sz="1600" dirty="0"/>
          </a:p>
        </p:txBody>
      </p:sp>
      <p:sp>
        <p:nvSpPr>
          <p:cNvPr id="28" name="Shape 25"/>
          <p:cNvSpPr/>
          <p:nvPr/>
        </p:nvSpPr>
        <p:spPr>
          <a:xfrm>
            <a:off x="640080" y="4114800"/>
            <a:ext cx="5171086" cy="45720"/>
          </a:xfrm>
          <a:prstGeom prst="rect">
            <a:avLst/>
          </a:prstGeom>
          <a:solidFill>
            <a:srgbClr val="8A96A8"/>
          </a:solidFill>
          <a:ln w="12700">
            <a:solidFill>
              <a:srgbClr val="FFFFFF">
                <a:alpha val="0"/>
              </a:srgbClr>
            </a:solidFill>
            <a:prstDash val="solid"/>
          </a:ln>
        </p:spPr>
      </p:sp>
      <p:sp>
        <p:nvSpPr>
          <p:cNvPr id="29" name="Shape 26"/>
          <p:cNvSpPr/>
          <p:nvPr/>
        </p:nvSpPr>
        <p:spPr>
          <a:xfrm>
            <a:off x="1434054" y="3968496"/>
            <a:ext cx="146304" cy="146304"/>
          </a:xfrm>
          <a:prstGeom prst="ellipse">
            <a:avLst/>
          </a:prstGeom>
          <a:solidFill>
            <a:srgbClr val="1B2333"/>
          </a:solidFill>
          <a:ln w="12700">
            <a:solidFill>
              <a:srgbClr val="FFFFFF">
                <a:alpha val="0"/>
              </a:srgbClr>
            </a:solidFill>
            <a:prstDash val="solid"/>
          </a:ln>
        </p:spPr>
      </p:sp>
      <p:sp>
        <p:nvSpPr>
          <p:cNvPr id="30" name="Shape 27"/>
          <p:cNvSpPr/>
          <p:nvPr/>
        </p:nvSpPr>
        <p:spPr>
          <a:xfrm>
            <a:off x="1873265" y="3968496"/>
            <a:ext cx="146304" cy="146304"/>
          </a:xfrm>
          <a:prstGeom prst="ellipse">
            <a:avLst/>
          </a:prstGeom>
          <a:solidFill>
            <a:srgbClr val="1B2333"/>
          </a:solidFill>
          <a:ln w="12700">
            <a:solidFill>
              <a:srgbClr val="FFFFFF">
                <a:alpha val="0"/>
              </a:srgbClr>
            </a:solidFill>
            <a:prstDash val="solid"/>
          </a:ln>
        </p:spPr>
      </p:sp>
      <p:sp>
        <p:nvSpPr>
          <p:cNvPr id="31" name="Shape 28"/>
          <p:cNvSpPr/>
          <p:nvPr/>
        </p:nvSpPr>
        <p:spPr>
          <a:xfrm>
            <a:off x="1444386" y="3227832"/>
            <a:ext cx="146304" cy="219456"/>
          </a:xfrm>
          <a:prstGeom prst="rect">
            <a:avLst/>
          </a:prstGeom>
          <a:solidFill>
            <a:schemeClr val="tx2"/>
          </a:solidFill>
          <a:ln w="12700">
            <a:solidFill>
              <a:srgbClr val="FFFFFF">
                <a:alpha val="0"/>
              </a:srgbClr>
            </a:solidFill>
            <a:prstDash val="solid"/>
          </a:ln>
        </p:spPr>
      </p:sp>
      <p:sp>
        <p:nvSpPr>
          <p:cNvPr id="32" name="Shape 29"/>
          <p:cNvSpPr/>
          <p:nvPr/>
        </p:nvSpPr>
        <p:spPr>
          <a:xfrm>
            <a:off x="3046030" y="3968496"/>
            <a:ext cx="146304" cy="146304"/>
          </a:xfrm>
          <a:prstGeom prst="ellipse">
            <a:avLst/>
          </a:prstGeom>
          <a:solidFill>
            <a:srgbClr val="1B2333"/>
          </a:solidFill>
          <a:ln w="12700">
            <a:solidFill>
              <a:srgbClr val="FFFFFF">
                <a:alpha val="0"/>
              </a:srgbClr>
            </a:solidFill>
            <a:prstDash val="solid"/>
          </a:ln>
        </p:spPr>
      </p:sp>
      <p:sp>
        <p:nvSpPr>
          <p:cNvPr id="33" name="Shape 30"/>
          <p:cNvSpPr/>
          <p:nvPr/>
        </p:nvSpPr>
        <p:spPr>
          <a:xfrm>
            <a:off x="3556816" y="3968496"/>
            <a:ext cx="146304" cy="146304"/>
          </a:xfrm>
          <a:prstGeom prst="ellipse">
            <a:avLst/>
          </a:prstGeom>
          <a:solidFill>
            <a:srgbClr val="1B2333"/>
          </a:solidFill>
          <a:ln w="12700">
            <a:solidFill>
              <a:srgbClr val="FFFFFF">
                <a:alpha val="0"/>
              </a:srgbClr>
            </a:solidFill>
            <a:prstDash val="solid"/>
          </a:ln>
        </p:spPr>
      </p:sp>
      <p:sp>
        <p:nvSpPr>
          <p:cNvPr id="34" name="Shape 31"/>
          <p:cNvSpPr/>
          <p:nvPr/>
        </p:nvSpPr>
        <p:spPr>
          <a:xfrm>
            <a:off x="3830634" y="3826764"/>
            <a:ext cx="82296" cy="914"/>
          </a:xfrm>
          <a:prstGeom prst="line">
            <a:avLst/>
          </a:prstGeom>
          <a:noFill/>
          <a:ln w="31750">
            <a:solidFill>
              <a:srgbClr val="1B2333"/>
            </a:solidFill>
            <a:prstDash val="solid"/>
          </a:ln>
        </p:spPr>
      </p:sp>
      <p:sp>
        <p:nvSpPr>
          <p:cNvPr id="35" name="Shape 32"/>
          <p:cNvSpPr/>
          <p:nvPr/>
        </p:nvSpPr>
        <p:spPr>
          <a:xfrm>
            <a:off x="4237273" y="3968496"/>
            <a:ext cx="146304" cy="146304"/>
          </a:xfrm>
          <a:prstGeom prst="ellipse">
            <a:avLst/>
          </a:prstGeom>
          <a:solidFill>
            <a:srgbClr val="1B2333"/>
          </a:solidFill>
          <a:ln w="12700">
            <a:solidFill>
              <a:srgbClr val="FFFFFF">
                <a:alpha val="0"/>
              </a:srgbClr>
            </a:solidFill>
            <a:prstDash val="solid"/>
          </a:ln>
        </p:spPr>
      </p:sp>
      <p:sp>
        <p:nvSpPr>
          <p:cNvPr id="36" name="Shape 33"/>
          <p:cNvSpPr/>
          <p:nvPr/>
        </p:nvSpPr>
        <p:spPr>
          <a:xfrm>
            <a:off x="5249079" y="3968496"/>
            <a:ext cx="146304" cy="146304"/>
          </a:xfrm>
          <a:prstGeom prst="ellipse">
            <a:avLst/>
          </a:prstGeom>
          <a:solidFill>
            <a:srgbClr val="1B2333"/>
          </a:solidFill>
          <a:ln w="12700">
            <a:solidFill>
              <a:srgbClr val="FFFFFF">
                <a:alpha val="0"/>
              </a:srgbClr>
            </a:solidFill>
            <a:prstDash val="solid"/>
          </a:ln>
        </p:spPr>
      </p:sp>
      <p:sp>
        <p:nvSpPr>
          <p:cNvPr id="37" name="Text 34"/>
          <p:cNvSpPr txBox="1"/>
          <p:nvPr/>
        </p:nvSpPr>
        <p:spPr>
          <a:xfrm>
            <a:off x="731520" y="4343400"/>
            <a:ext cx="5029200" cy="1097280"/>
          </a:xfrm>
          <a:prstGeom prst="rect">
            <a:avLst/>
          </a:prstGeom>
          <a:noFill/>
          <a:ln/>
        </p:spPr>
        <p:txBody>
          <a:bodyPr wrap="square" lIns="0" tIns="0" rIns="0" bIns="0" rtlCol="0" anchor="ctr"/>
          <a:lstStyle/>
          <a:p>
            <a:pPr algn="l" indent="0" marL="0">
              <a:buNone/>
            </a:pPr>
            <a:r>
              <a:rPr lang="en-US" sz="1400" dirty="0">
                <a:solidFill>
                  <a:schemeClr val="tx1"/>
                </a:solidFill>
              </a:rPr>
              <a:t>Même construction qu’en français, mais au passé : </a:t>
            </a:r>
            <a:r>
              <a:rPr lang="en-US" sz="1400" i="1" dirty="0">
                <a:solidFill>
                  <a:schemeClr val="tx1"/>
                </a:solidFill>
              </a:rPr>
              <a:t>je l’ai </a:t>
            </a:r>
            <a:r>
              <a:rPr lang="en-US" sz="1400" b="1" i="1" dirty="0">
                <a:solidFill>
                  <a:schemeClr val="tx1"/>
                </a:solidFill>
              </a:rPr>
              <a:t>vu</a:t>
            </a:r>
            <a:r>
              <a:rPr lang="en-US" sz="1400" i="1" dirty="0">
                <a:solidFill>
                  <a:schemeClr val="tx1"/>
                </a:solidFill>
              </a:rPr>
              <a:t> partir</a:t>
            </a:r>
            <a:r>
              <a:rPr lang="en-US" sz="1400" dirty="0">
                <a:solidFill>
                  <a:schemeClr val="tx1"/>
                </a:solidFill>
              </a:rPr>
              <a:t> → </a:t>
            </a:r>
            <a:r>
              <a:rPr lang="en-US" sz="1400" i="1" dirty="0">
                <a:solidFill>
                  <a:schemeClr val="tx1"/>
                </a:solidFill>
              </a:rPr>
              <a:t>ik heb hem </a:t>
            </a:r>
            <a:r>
              <a:rPr lang="en-US" sz="1400" b="1" i="1" dirty="0">
                <a:solidFill>
                  <a:schemeClr val="tx1"/>
                </a:solidFill>
              </a:rPr>
              <a:t>zien</a:t>
            </a:r>
            <a:r>
              <a:rPr lang="en-US" sz="1400" i="1" dirty="0">
                <a:solidFill>
                  <a:schemeClr val="tx1"/>
                </a:solidFill>
              </a:rPr>
              <a:t> vertrekken</a:t>
            </a:r>
            <a:r>
              <a:rPr lang="en-US" sz="1400" dirty="0">
                <a:solidFill>
                  <a:schemeClr val="tx1"/>
                </a:solidFill>
              </a:rPr>
              <a:t> (et pas </a:t>
            </a:r>
            <a:r>
              <a:rPr lang="en-US" sz="1400" i="1" dirty="0">
                <a:solidFill>
                  <a:schemeClr val="tx1"/>
                </a:solidFill>
              </a:rPr>
              <a:t>gezien</a:t>
            </a:r>
            <a:r>
              <a:rPr lang="en-US" sz="1400" dirty="0">
                <a:solidFill>
                  <a:schemeClr val="tx1"/>
                </a:solidFill>
              </a:rPr>
              <a:t>).</a:t>
            </a:r>
            <a:endParaRPr lang="en-US" sz="1400" dirty="0"/>
          </a:p>
        </p:txBody>
      </p:sp>
      <p:sp>
        <p:nvSpPr>
          <p:cNvPr id="38" name="Shape 35"/>
          <p:cNvSpPr/>
          <p:nvPr/>
        </p:nvSpPr>
        <p:spPr>
          <a:xfrm>
            <a:off x="6126480" y="1463040"/>
            <a:ext cx="5513832"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9" name="Shape 36"/>
          <p:cNvSpPr/>
          <p:nvPr/>
        </p:nvSpPr>
        <p:spPr>
          <a:xfrm>
            <a:off x="6126480" y="1463040"/>
            <a:ext cx="109728" cy="1143000"/>
          </a:xfrm>
          <a:prstGeom prst="rect">
            <a:avLst/>
          </a:prstGeom>
          <a:solidFill>
            <a:srgbClr val="0E7C86"/>
          </a:solidFill>
          <a:ln w="12700">
            <a:solidFill>
              <a:srgbClr val="FFFFFF">
                <a:alpha val="0"/>
              </a:srgbClr>
            </a:solidFill>
            <a:prstDash val="solid"/>
          </a:ln>
        </p:spPr>
      </p:sp>
      <p:pic>
        <p:nvPicPr>
          <p:cNvPr id="40" name="Image 0" descr="eyes">    </p:cNvPr>
          <p:cNvPicPr>
            <a:picLocks noChangeAspect="1"/>
          </p:cNvPicPr>
          <p:nvPr/>
        </p:nvPicPr>
        <p:blipFill>
          <a:blip r:embed="rId1"/>
          <a:stretch>
            <a:fillRect/>
          </a:stretch>
        </p:blipFill>
        <p:spPr>
          <a:xfrm>
            <a:off x="6382512" y="1645920"/>
            <a:ext cx="777240" cy="777240"/>
          </a:xfrm>
          <a:prstGeom prst="rect">
            <a:avLst/>
          </a:prstGeom>
        </p:spPr>
      </p:pic>
      <p:sp>
        <p:nvSpPr>
          <p:cNvPr id="41" name="Text 37"/>
          <p:cNvSpPr txBox="1"/>
          <p:nvPr/>
        </p:nvSpPr>
        <p:spPr>
          <a:xfrm>
            <a:off x="7315200" y="1517904"/>
            <a:ext cx="4187952" cy="342900"/>
          </a:xfrm>
          <a:prstGeom prst="rect">
            <a:avLst/>
          </a:prstGeom>
          <a:noFill/>
          <a:ln/>
        </p:spPr>
        <p:txBody>
          <a:bodyPr wrap="square" lIns="0" tIns="0" rIns="0" bIns="0" rtlCol="0" anchor="ctr"/>
          <a:lstStyle/>
          <a:p>
            <a:pPr algn="l" indent="0" marL="0">
              <a:buNone/>
            </a:pPr>
            <a:r>
              <a:rPr lang="en-US" sz="1400" i="1" dirty="0">
                <a:solidFill>
                  <a:schemeClr val="accent5"/>
                </a:solidFill>
              </a:rPr>
              <a:t>Ik zie hem vertrekken.</a:t>
            </a:r>
            <a:endParaRPr lang="en-US" sz="1400" dirty="0"/>
          </a:p>
        </p:txBody>
      </p:sp>
      <p:sp>
        <p:nvSpPr>
          <p:cNvPr id="42" name="Text 38"/>
          <p:cNvSpPr txBox="1"/>
          <p:nvPr/>
        </p:nvSpPr>
        <p:spPr>
          <a:xfrm>
            <a:off x="7315200" y="1805940"/>
            <a:ext cx="4187952" cy="480060"/>
          </a:xfrm>
          <a:prstGeom prst="rect">
            <a:avLst/>
          </a:prstGeom>
          <a:noFill/>
          <a:ln/>
        </p:spPr>
        <p:txBody>
          <a:bodyPr wrap="square" lIns="0" tIns="0" rIns="0" bIns="0" rtlCol="0" anchor="ctr"/>
          <a:lstStyle/>
          <a:p>
            <a:pPr algn="l" indent="0" marL="0">
              <a:buNone/>
            </a:pPr>
            <a:r>
              <a:rPr lang="en-US" sz="1800" i="1" dirty="0">
                <a:solidFill>
                  <a:schemeClr val="tx1"/>
                </a:solidFill>
              </a:rPr>
              <a:t>Ik heb hem </a:t>
            </a:r>
            <a:r>
              <a:rPr lang="en-US" sz="1800" b="1" i="1" dirty="0">
                <a:solidFill>
                  <a:srgbClr val="D9700F"/>
                </a:solidFill>
              </a:rPr>
              <a:t>zien vertrekken</a:t>
            </a:r>
            <a:r>
              <a:rPr lang="en-US" sz="1800" i="1" dirty="0">
                <a:solidFill>
                  <a:schemeClr val="tx1"/>
                </a:solidFill>
              </a:rPr>
              <a:t>.</a:t>
            </a:r>
            <a:endParaRPr lang="en-US" sz="1800" dirty="0"/>
          </a:p>
        </p:txBody>
      </p:sp>
      <p:sp>
        <p:nvSpPr>
          <p:cNvPr id="43" name="Text 39"/>
          <p:cNvSpPr txBox="1"/>
          <p:nvPr/>
        </p:nvSpPr>
        <p:spPr>
          <a:xfrm>
            <a:off x="7315200" y="2286000"/>
            <a:ext cx="4187952" cy="297180"/>
          </a:xfrm>
          <a:prstGeom prst="rect">
            <a:avLst/>
          </a:prstGeom>
          <a:noFill/>
          <a:ln/>
        </p:spPr>
        <p:txBody>
          <a:bodyPr wrap="square" lIns="0" tIns="0" rIns="0" bIns="0" rtlCol="0" anchor="ctr"/>
          <a:lstStyle/>
          <a:p>
            <a:pPr algn="l" indent="0" marL="0">
              <a:buNone/>
            </a:pPr>
            <a:r>
              <a:rPr lang="en-US" sz="1300" i="1" dirty="0">
                <a:solidFill>
                  <a:schemeClr val="tx2"/>
                </a:solidFill>
              </a:rPr>
              <a:t>je l’ai vu partir</a:t>
            </a:r>
            <a:endParaRPr lang="en-US" sz="1300" dirty="0"/>
          </a:p>
        </p:txBody>
      </p:sp>
      <p:sp>
        <p:nvSpPr>
          <p:cNvPr id="44" name="Shape 40"/>
          <p:cNvSpPr/>
          <p:nvPr/>
        </p:nvSpPr>
        <p:spPr>
          <a:xfrm>
            <a:off x="6126480" y="2715768"/>
            <a:ext cx="5513832"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5" name="Shape 41"/>
          <p:cNvSpPr/>
          <p:nvPr/>
        </p:nvSpPr>
        <p:spPr>
          <a:xfrm>
            <a:off x="6126480" y="2715768"/>
            <a:ext cx="109728" cy="1143000"/>
          </a:xfrm>
          <a:prstGeom prst="rect">
            <a:avLst/>
          </a:prstGeom>
          <a:solidFill>
            <a:srgbClr val="0E7C86"/>
          </a:solidFill>
          <a:ln w="12700">
            <a:solidFill>
              <a:srgbClr val="FFFFFF">
                <a:alpha val="0"/>
              </a:srgbClr>
            </a:solidFill>
            <a:prstDash val="solid"/>
          </a:ln>
        </p:spPr>
      </p:sp>
      <p:pic>
        <p:nvPicPr>
          <p:cNvPr id="46" name="Image 1" descr="woman singer">    </p:cNvPr>
          <p:cNvPicPr>
            <a:picLocks noChangeAspect="1"/>
          </p:cNvPicPr>
          <p:nvPr/>
        </p:nvPicPr>
        <p:blipFill>
          <a:blip r:embed="rId2"/>
          <a:stretch>
            <a:fillRect/>
          </a:stretch>
        </p:blipFill>
        <p:spPr>
          <a:xfrm>
            <a:off x="6382512" y="2898648"/>
            <a:ext cx="777240" cy="777240"/>
          </a:xfrm>
          <a:prstGeom prst="rect">
            <a:avLst/>
          </a:prstGeom>
        </p:spPr>
      </p:pic>
      <p:sp>
        <p:nvSpPr>
          <p:cNvPr id="47" name="Text 42"/>
          <p:cNvSpPr txBox="1"/>
          <p:nvPr/>
        </p:nvSpPr>
        <p:spPr>
          <a:xfrm>
            <a:off x="7315200" y="2770632"/>
            <a:ext cx="4187952" cy="342900"/>
          </a:xfrm>
          <a:prstGeom prst="rect">
            <a:avLst/>
          </a:prstGeom>
          <a:noFill/>
          <a:ln/>
        </p:spPr>
        <p:txBody>
          <a:bodyPr wrap="square" lIns="0" tIns="0" rIns="0" bIns="0" rtlCol="0" anchor="ctr"/>
          <a:lstStyle/>
          <a:p>
            <a:pPr algn="l" indent="0" marL="0">
              <a:buNone/>
            </a:pPr>
            <a:r>
              <a:rPr lang="en-US" sz="1400" i="1" dirty="0">
                <a:solidFill>
                  <a:schemeClr val="accent5"/>
                </a:solidFill>
              </a:rPr>
              <a:t>Ik hoor haar zingen.</a:t>
            </a:r>
            <a:endParaRPr lang="en-US" sz="1400" dirty="0"/>
          </a:p>
        </p:txBody>
      </p:sp>
      <p:sp>
        <p:nvSpPr>
          <p:cNvPr id="48" name="Text 43"/>
          <p:cNvSpPr txBox="1"/>
          <p:nvPr/>
        </p:nvSpPr>
        <p:spPr>
          <a:xfrm>
            <a:off x="7315200" y="3058668"/>
            <a:ext cx="4187952" cy="480060"/>
          </a:xfrm>
          <a:prstGeom prst="rect">
            <a:avLst/>
          </a:prstGeom>
          <a:noFill/>
          <a:ln/>
        </p:spPr>
        <p:txBody>
          <a:bodyPr wrap="square" lIns="0" tIns="0" rIns="0" bIns="0" rtlCol="0" anchor="ctr"/>
          <a:lstStyle/>
          <a:p>
            <a:pPr algn="l" indent="0" marL="0">
              <a:buNone/>
            </a:pPr>
            <a:r>
              <a:rPr lang="en-US" sz="1800" i="1" dirty="0">
                <a:solidFill>
                  <a:schemeClr val="tx1"/>
                </a:solidFill>
              </a:rPr>
              <a:t>Ik heb haar </a:t>
            </a:r>
            <a:r>
              <a:rPr lang="en-US" sz="1800" b="1" i="1" dirty="0">
                <a:solidFill>
                  <a:srgbClr val="D9700F"/>
                </a:solidFill>
              </a:rPr>
              <a:t>horen zingen</a:t>
            </a:r>
            <a:r>
              <a:rPr lang="en-US" sz="1800" i="1" dirty="0">
                <a:solidFill>
                  <a:schemeClr val="tx1"/>
                </a:solidFill>
              </a:rPr>
              <a:t>.</a:t>
            </a:r>
            <a:endParaRPr lang="en-US" sz="1800" dirty="0"/>
          </a:p>
        </p:txBody>
      </p:sp>
      <p:sp>
        <p:nvSpPr>
          <p:cNvPr id="49" name="Text 44"/>
          <p:cNvSpPr txBox="1"/>
          <p:nvPr/>
        </p:nvSpPr>
        <p:spPr>
          <a:xfrm>
            <a:off x="7315200" y="3538728"/>
            <a:ext cx="4187952" cy="297180"/>
          </a:xfrm>
          <a:prstGeom prst="rect">
            <a:avLst/>
          </a:prstGeom>
          <a:noFill/>
          <a:ln/>
        </p:spPr>
        <p:txBody>
          <a:bodyPr wrap="square" lIns="0" tIns="0" rIns="0" bIns="0" rtlCol="0" anchor="ctr"/>
          <a:lstStyle/>
          <a:p>
            <a:pPr algn="l" indent="0" marL="0">
              <a:buNone/>
            </a:pPr>
            <a:r>
              <a:rPr lang="en-US" sz="1300" i="1" dirty="0">
                <a:solidFill>
                  <a:schemeClr val="tx2"/>
                </a:solidFill>
              </a:rPr>
              <a:t>je l’ai entendue chanter</a:t>
            </a:r>
            <a:endParaRPr lang="en-US" sz="1300" dirty="0"/>
          </a:p>
        </p:txBody>
      </p:sp>
      <p:sp>
        <p:nvSpPr>
          <p:cNvPr id="50" name="Shape 45"/>
          <p:cNvSpPr/>
          <p:nvPr/>
        </p:nvSpPr>
        <p:spPr>
          <a:xfrm>
            <a:off x="6126480" y="3968496"/>
            <a:ext cx="5513832" cy="11430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1" name="Shape 46"/>
          <p:cNvSpPr/>
          <p:nvPr/>
        </p:nvSpPr>
        <p:spPr>
          <a:xfrm>
            <a:off x="6126480" y="3968496"/>
            <a:ext cx="109728" cy="1143000"/>
          </a:xfrm>
          <a:prstGeom prst="rect">
            <a:avLst/>
          </a:prstGeom>
          <a:solidFill>
            <a:srgbClr val="0E7C86"/>
          </a:solidFill>
          <a:ln w="12700">
            <a:solidFill>
              <a:srgbClr val="FFFFFF">
                <a:alpha val="0"/>
              </a:srgbClr>
            </a:solidFill>
            <a:prstDash val="solid"/>
          </a:ln>
        </p:spPr>
      </p:sp>
      <p:pic>
        <p:nvPicPr>
          <p:cNvPr id="52" name="Image 2" descr="vibration mode">    </p:cNvPr>
          <p:cNvPicPr>
            <a:picLocks noChangeAspect="1"/>
          </p:cNvPicPr>
          <p:nvPr/>
        </p:nvPicPr>
        <p:blipFill>
          <a:blip r:embed="rId3"/>
          <a:stretch>
            <a:fillRect/>
          </a:stretch>
        </p:blipFill>
        <p:spPr>
          <a:xfrm>
            <a:off x="6382512" y="4151376"/>
            <a:ext cx="777240" cy="777240"/>
          </a:xfrm>
          <a:prstGeom prst="rect">
            <a:avLst/>
          </a:prstGeom>
        </p:spPr>
      </p:pic>
      <p:sp>
        <p:nvSpPr>
          <p:cNvPr id="53" name="Text 47"/>
          <p:cNvSpPr txBox="1"/>
          <p:nvPr/>
        </p:nvSpPr>
        <p:spPr>
          <a:xfrm>
            <a:off x="7315200" y="4023360"/>
            <a:ext cx="4187952" cy="342900"/>
          </a:xfrm>
          <a:prstGeom prst="rect">
            <a:avLst/>
          </a:prstGeom>
          <a:noFill/>
          <a:ln/>
        </p:spPr>
        <p:txBody>
          <a:bodyPr wrap="square" lIns="0" tIns="0" rIns="0" bIns="0" rtlCol="0" anchor="ctr"/>
          <a:lstStyle/>
          <a:p>
            <a:pPr algn="l" indent="0" marL="0">
              <a:buNone/>
            </a:pPr>
            <a:r>
              <a:rPr lang="en-US" sz="1400" i="1" dirty="0">
                <a:solidFill>
                  <a:schemeClr val="accent5"/>
                </a:solidFill>
              </a:rPr>
              <a:t>Ik voel de grond trillen.</a:t>
            </a:r>
            <a:endParaRPr lang="en-US" sz="1400" dirty="0"/>
          </a:p>
        </p:txBody>
      </p:sp>
      <p:sp>
        <p:nvSpPr>
          <p:cNvPr id="54" name="Text 48"/>
          <p:cNvSpPr txBox="1"/>
          <p:nvPr/>
        </p:nvSpPr>
        <p:spPr>
          <a:xfrm>
            <a:off x="7315200" y="4311396"/>
            <a:ext cx="4187952" cy="480060"/>
          </a:xfrm>
          <a:prstGeom prst="rect">
            <a:avLst/>
          </a:prstGeom>
          <a:noFill/>
          <a:ln/>
        </p:spPr>
        <p:txBody>
          <a:bodyPr wrap="square" lIns="0" tIns="0" rIns="0" bIns="0" rtlCol="0" anchor="ctr"/>
          <a:lstStyle/>
          <a:p>
            <a:pPr algn="l" indent="0" marL="0">
              <a:buNone/>
            </a:pPr>
            <a:r>
              <a:rPr lang="en-US" sz="1800" i="1" dirty="0">
                <a:solidFill>
                  <a:schemeClr val="tx1"/>
                </a:solidFill>
              </a:rPr>
              <a:t>Ik heb de grond </a:t>
            </a:r>
            <a:r>
              <a:rPr lang="en-US" sz="1800" b="1" i="1" dirty="0">
                <a:solidFill>
                  <a:srgbClr val="D9700F"/>
                </a:solidFill>
              </a:rPr>
              <a:t>voelen trillen</a:t>
            </a:r>
            <a:r>
              <a:rPr lang="en-US" sz="1800" i="1" dirty="0">
                <a:solidFill>
                  <a:schemeClr val="tx1"/>
                </a:solidFill>
              </a:rPr>
              <a:t>.</a:t>
            </a:r>
            <a:endParaRPr lang="en-US" sz="1800" dirty="0"/>
          </a:p>
        </p:txBody>
      </p:sp>
      <p:sp>
        <p:nvSpPr>
          <p:cNvPr id="55" name="Text 49"/>
          <p:cNvSpPr txBox="1"/>
          <p:nvPr/>
        </p:nvSpPr>
        <p:spPr>
          <a:xfrm>
            <a:off x="7315200" y="4791456"/>
            <a:ext cx="4187952" cy="297180"/>
          </a:xfrm>
          <a:prstGeom prst="rect">
            <a:avLst/>
          </a:prstGeom>
          <a:noFill/>
          <a:ln/>
        </p:spPr>
        <p:txBody>
          <a:bodyPr wrap="square" lIns="0" tIns="0" rIns="0" bIns="0" rtlCol="0" anchor="ctr"/>
          <a:lstStyle/>
          <a:p>
            <a:pPr algn="l" indent="0" marL="0">
              <a:buNone/>
            </a:pPr>
            <a:r>
              <a:rPr lang="en-US" sz="1300" i="1" dirty="0">
                <a:solidFill>
                  <a:schemeClr val="tx2"/>
                </a:solidFill>
              </a:rPr>
              <a:t>j’ai senti le sol trembler</a:t>
            </a:r>
            <a:endParaRPr lang="en-US" sz="1300" dirty="0"/>
          </a:p>
        </p:txBody>
      </p:sp>
      <p:sp>
        <p:nvSpPr>
          <p:cNvPr id="56" name="Text 50"/>
          <p:cNvSpPr txBox="1"/>
          <p:nvPr/>
        </p:nvSpPr>
        <p:spPr>
          <a:xfrm>
            <a:off x="6126480" y="5312664"/>
            <a:ext cx="5513832" cy="548640"/>
          </a:xfrm>
          <a:prstGeom prst="rect">
            <a:avLst/>
          </a:prstGeom>
          <a:noFill/>
          <a:ln/>
        </p:spPr>
        <p:txBody>
          <a:bodyPr wrap="square" lIns="0" tIns="0" rIns="0" bIns="0" rtlCol="0" anchor="ctr"/>
          <a:lstStyle/>
          <a:p>
            <a:pPr algn="l" indent="0" marL="0">
              <a:buNone/>
            </a:pPr>
            <a:r>
              <a:rPr lang="en-US" sz="1400" dirty="0">
                <a:solidFill>
                  <a:schemeClr val="accent5"/>
                </a:solidFill>
              </a:rPr>
              <a:t>Plus rare, mais possible aussi avec </a:t>
            </a:r>
            <a:r>
              <a:rPr lang="en-US" sz="1400" i="1" dirty="0">
                <a:solidFill>
                  <a:schemeClr val="accent5"/>
                </a:solidFill>
              </a:rPr>
              <a:t>helpen</a:t>
            </a:r>
            <a:r>
              <a:rPr lang="en-US" sz="1400" dirty="0">
                <a:solidFill>
                  <a:schemeClr val="accent5"/>
                </a:solidFill>
              </a:rPr>
              <a:t> et </a:t>
            </a:r>
            <a:r>
              <a:rPr lang="en-US" sz="1400" i="1" dirty="0">
                <a:solidFill>
                  <a:schemeClr val="accent5"/>
                </a:solidFill>
              </a:rPr>
              <a:t>leren</a:t>
            </a:r>
            <a:r>
              <a:rPr lang="en-US" sz="1400" dirty="0">
                <a:solidFill>
                  <a:schemeClr val="accent5"/>
                </a:solidFill>
              </a:rPr>
              <a:t> : </a:t>
            </a:r>
            <a:r>
              <a:rPr lang="en-US" sz="1400" i="1" dirty="0">
                <a:solidFill>
                  <a:schemeClr val="accent5"/>
                </a:solidFill>
              </a:rPr>
              <a:t>Ik heb hem </a:t>
            </a:r>
            <a:r>
              <a:rPr lang="en-US" sz="1400" b="1" i="1" dirty="0">
                <a:solidFill>
                  <a:schemeClr val="accent5"/>
                </a:solidFill>
              </a:rPr>
              <a:t>helpen</a:t>
            </a:r>
            <a:r>
              <a:rPr lang="en-US" sz="1400" i="1" dirty="0">
                <a:solidFill>
                  <a:schemeClr val="accent5"/>
                </a:solidFill>
              </a:rPr>
              <a:t> verhuizen.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premier wagon choisit la locomotive</a:t>
            </a:r>
            <a:endParaRPr lang="en-US" sz="3000" dirty="0"/>
          </a:p>
        </p:txBody>
      </p:sp>
      <p:sp>
        <p:nvSpPr>
          <p:cNvPr id="3" name="tag"/>
          <p:cNvSpPr/>
          <p:nvPr/>
        </p:nvSpPr>
        <p:spPr>
          <a:xfrm>
            <a:off x="548640" y="237744"/>
            <a:ext cx="2092147"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HEBBEN OU ZIJN ?</a:t>
            </a:r>
            <a:endParaRPr lang="en-US" sz="1200" dirty="0"/>
          </a:p>
        </p:txBody>
      </p:sp>
      <p:sp>
        <p:nvSpPr>
          <p:cNvPr id="5" name="Shape 2"/>
          <p:cNvSpPr/>
          <p:nvPr/>
        </p:nvSpPr>
        <p:spPr>
          <a:xfrm>
            <a:off x="548640" y="1874520"/>
            <a:ext cx="634959" cy="658368"/>
          </a:xfrm>
          <a:prstGeom prst="roundRect">
            <a:avLst>
              <a:gd name="adj" fmla="val 14401"/>
            </a:avLst>
          </a:prstGeom>
          <a:solidFill>
            <a:schemeClr val="bg1"/>
          </a:solidFill>
          <a:ln w="15875">
            <a:solidFill>
              <a:srgbClr val="D5DCE6"/>
            </a:solidFill>
            <a:prstDash val="solid"/>
          </a:ln>
        </p:spPr>
      </p:sp>
      <p:sp>
        <p:nvSpPr>
          <p:cNvPr id="6" name="Text 3"/>
          <p:cNvSpPr txBox="1"/>
          <p:nvPr/>
        </p:nvSpPr>
        <p:spPr>
          <a:xfrm>
            <a:off x="548640" y="1874520"/>
            <a:ext cx="634959" cy="658368"/>
          </a:xfrm>
          <a:prstGeom prst="rect">
            <a:avLst/>
          </a:prstGeom>
          <a:noFill/>
          <a:ln/>
        </p:spPr>
        <p:txBody>
          <a:bodyPr wrap="square" lIns="0" tIns="0" rIns="0" bIns="0" rtlCol="0" anchor="ctr"/>
          <a:lstStyle/>
          <a:p>
            <a:pPr algn="ctr" indent="0" marL="0">
              <a:buNone/>
            </a:pPr>
            <a:r>
              <a:rPr lang="en-US" sz="2400" dirty="0">
                <a:solidFill>
                  <a:schemeClr val="tx1"/>
                </a:solidFill>
              </a:rPr>
              <a:t>Ik</a:t>
            </a:r>
            <a:endParaRPr lang="en-US" sz="2400" dirty="0"/>
          </a:p>
        </p:txBody>
      </p:sp>
      <p:sp>
        <p:nvSpPr>
          <p:cNvPr id="7" name="Shape 4"/>
          <p:cNvSpPr/>
          <p:nvPr/>
        </p:nvSpPr>
        <p:spPr>
          <a:xfrm>
            <a:off x="1265895" y="1874520"/>
            <a:ext cx="976023" cy="658368"/>
          </a:xfrm>
          <a:prstGeom prst="roundRect">
            <a:avLst>
              <a:gd name="adj" fmla="val 13889"/>
            </a:avLst>
          </a:prstGeom>
          <a:solidFill>
            <a:schemeClr val="tx2"/>
          </a:solidFill>
          <a:ln w="12700">
            <a:solidFill>
              <a:srgbClr val="FFFFFF">
                <a:alpha val="0"/>
              </a:srgbClr>
            </a:solidFill>
            <a:prstDash val="solid"/>
          </a:ln>
        </p:spPr>
      </p:sp>
      <p:sp>
        <p:nvSpPr>
          <p:cNvPr id="8" name="Text 5"/>
          <p:cNvSpPr txBox="1"/>
          <p:nvPr/>
        </p:nvSpPr>
        <p:spPr>
          <a:xfrm>
            <a:off x="1265895" y="1874520"/>
            <a:ext cx="976023" cy="658368"/>
          </a:xfrm>
          <a:prstGeom prst="rect">
            <a:avLst/>
          </a:prstGeom>
          <a:noFill/>
          <a:ln/>
        </p:spPr>
        <p:txBody>
          <a:bodyPr wrap="square" lIns="0" tIns="0" rIns="0" bIns="0" rtlCol="0" anchor="ctr"/>
          <a:lstStyle/>
          <a:p>
            <a:pPr algn="ctr" indent="0" marL="0">
              <a:buNone/>
            </a:pPr>
            <a:r>
              <a:rPr lang="en-US" sz="2400" b="1" dirty="0">
                <a:solidFill>
                  <a:schemeClr val="bg1"/>
                </a:solidFill>
              </a:rPr>
              <a:t>heb</a:t>
            </a:r>
            <a:endParaRPr lang="en-US" sz="2400" dirty="0"/>
          </a:p>
        </p:txBody>
      </p:sp>
      <p:sp>
        <p:nvSpPr>
          <p:cNvPr id="9" name="Shape 6"/>
          <p:cNvSpPr/>
          <p:nvPr/>
        </p:nvSpPr>
        <p:spPr>
          <a:xfrm>
            <a:off x="2324215" y="1874520"/>
            <a:ext cx="1833189" cy="658368"/>
          </a:xfrm>
          <a:prstGeom prst="roundRect">
            <a:avLst>
              <a:gd name="adj" fmla="val 13889"/>
            </a:avLst>
          </a:prstGeom>
          <a:solidFill>
            <a:schemeClr val="bg1"/>
          </a:solidFill>
          <a:ln w="15875">
            <a:solidFill>
              <a:srgbClr val="D5DCE6"/>
            </a:solidFill>
            <a:prstDash val="solid"/>
          </a:ln>
        </p:spPr>
      </p:sp>
      <p:sp>
        <p:nvSpPr>
          <p:cNvPr id="10" name="Text 7"/>
          <p:cNvSpPr txBox="1"/>
          <p:nvPr/>
        </p:nvSpPr>
        <p:spPr>
          <a:xfrm>
            <a:off x="2324215" y="1874520"/>
            <a:ext cx="1833189" cy="658368"/>
          </a:xfrm>
          <a:prstGeom prst="rect">
            <a:avLst/>
          </a:prstGeom>
          <a:noFill/>
          <a:ln/>
        </p:spPr>
        <p:txBody>
          <a:bodyPr wrap="square" lIns="0" tIns="0" rIns="0" bIns="0" rtlCol="0" anchor="ctr"/>
          <a:lstStyle/>
          <a:p>
            <a:pPr algn="ctr" indent="0" marL="0">
              <a:buNone/>
            </a:pPr>
            <a:r>
              <a:rPr lang="en-US" sz="2400" dirty="0">
                <a:solidFill>
                  <a:schemeClr val="tx1"/>
                </a:solidFill>
              </a:rPr>
              <a:t>naar huis</a:t>
            </a:r>
            <a:endParaRPr lang="en-US" sz="2400" dirty="0"/>
          </a:p>
        </p:txBody>
      </p:sp>
      <p:sp>
        <p:nvSpPr>
          <p:cNvPr id="11" name="Shape 8"/>
          <p:cNvSpPr/>
          <p:nvPr/>
        </p:nvSpPr>
        <p:spPr>
          <a:xfrm>
            <a:off x="4239700" y="1874520"/>
            <a:ext cx="1551174" cy="658368"/>
          </a:xfrm>
          <a:prstGeom prst="roundRect">
            <a:avLst>
              <a:gd name="adj" fmla="val 13889"/>
            </a:avLst>
          </a:prstGeom>
          <a:solidFill>
            <a:schemeClr val="accent1"/>
          </a:solidFill>
          <a:ln w="12700">
            <a:solidFill>
              <a:srgbClr val="FFFFFF">
                <a:alpha val="0"/>
              </a:srgbClr>
            </a:solidFill>
            <a:prstDash val="solid"/>
          </a:ln>
        </p:spPr>
      </p:sp>
      <p:sp>
        <p:nvSpPr>
          <p:cNvPr id="12" name="Text 9"/>
          <p:cNvSpPr txBox="1"/>
          <p:nvPr/>
        </p:nvSpPr>
        <p:spPr>
          <a:xfrm>
            <a:off x="4239700" y="1874520"/>
            <a:ext cx="1551174" cy="658368"/>
          </a:xfrm>
          <a:prstGeom prst="rect">
            <a:avLst/>
          </a:prstGeom>
          <a:noFill/>
          <a:ln/>
        </p:spPr>
        <p:txBody>
          <a:bodyPr wrap="square" lIns="0" tIns="0" rIns="0" bIns="0" rtlCol="0" anchor="ctr"/>
          <a:lstStyle/>
          <a:p>
            <a:pPr algn="ctr" indent="0" marL="0">
              <a:buNone/>
            </a:pPr>
            <a:r>
              <a:rPr lang="en-US" sz="2400" b="1" dirty="0">
                <a:solidFill>
                  <a:schemeClr val="bg1"/>
                </a:solidFill>
              </a:rPr>
              <a:t>moeten</a:t>
            </a:r>
            <a:endParaRPr lang="en-US" sz="2400" dirty="0"/>
          </a:p>
        </p:txBody>
      </p:sp>
      <p:sp>
        <p:nvSpPr>
          <p:cNvPr id="13" name="Shape 10"/>
          <p:cNvSpPr/>
          <p:nvPr/>
        </p:nvSpPr>
        <p:spPr>
          <a:xfrm>
            <a:off x="5873169" y="1874520"/>
            <a:ext cx="1359457" cy="658368"/>
          </a:xfrm>
          <a:prstGeom prst="roundRect">
            <a:avLst>
              <a:gd name="adj" fmla="val 13889"/>
            </a:avLst>
          </a:prstGeom>
          <a:solidFill>
            <a:srgbClr val="FBEDEB"/>
          </a:solidFill>
          <a:ln w="25400">
            <a:solidFill>
              <a:srgbClr val="B83227"/>
            </a:solidFill>
            <a:prstDash val="solid"/>
          </a:ln>
        </p:spPr>
      </p:sp>
      <p:sp>
        <p:nvSpPr>
          <p:cNvPr id="14" name="Text 11"/>
          <p:cNvSpPr txBox="1"/>
          <p:nvPr/>
        </p:nvSpPr>
        <p:spPr>
          <a:xfrm>
            <a:off x="5873169" y="1874520"/>
            <a:ext cx="1359457" cy="658368"/>
          </a:xfrm>
          <a:prstGeom prst="rect">
            <a:avLst/>
          </a:prstGeom>
          <a:noFill/>
          <a:ln/>
        </p:spPr>
        <p:txBody>
          <a:bodyPr wrap="square" lIns="0" tIns="0" rIns="0" bIns="0" rtlCol="0" anchor="ctr"/>
          <a:lstStyle/>
          <a:p>
            <a:pPr algn="ctr" indent="0" marL="0">
              <a:buNone/>
            </a:pPr>
            <a:r>
              <a:rPr lang="en-US" sz="2400" b="1" dirty="0">
                <a:solidFill>
                  <a:schemeClr val="accent6"/>
                </a:solidFill>
              </a:rPr>
              <a:t>gaan.</a:t>
            </a:r>
            <a:endParaRPr lang="en-US" sz="2400" dirty="0"/>
          </a:p>
        </p:txBody>
      </p:sp>
      <p:sp>
        <p:nvSpPr>
          <p:cNvPr id="15" name="Shape 12"/>
          <p:cNvSpPr/>
          <p:nvPr/>
        </p:nvSpPr>
        <p:spPr>
          <a:xfrm>
            <a:off x="457200" y="2688336"/>
            <a:ext cx="6866866" cy="45720"/>
          </a:xfrm>
          <a:prstGeom prst="rect">
            <a:avLst/>
          </a:prstGeom>
          <a:solidFill>
            <a:srgbClr val="8A96A8"/>
          </a:solidFill>
          <a:ln w="12700">
            <a:solidFill>
              <a:srgbClr val="FFFFFF">
                <a:alpha val="0"/>
              </a:srgbClr>
            </a:solidFill>
            <a:prstDash val="solid"/>
          </a:ln>
        </p:spPr>
      </p:sp>
      <p:sp>
        <p:nvSpPr>
          <p:cNvPr id="16" name="Shape 13"/>
          <p:cNvSpPr/>
          <p:nvPr/>
        </p:nvSpPr>
        <p:spPr>
          <a:xfrm>
            <a:off x="1407468" y="2542032"/>
            <a:ext cx="146304" cy="146304"/>
          </a:xfrm>
          <a:prstGeom prst="ellipse">
            <a:avLst/>
          </a:prstGeom>
          <a:solidFill>
            <a:srgbClr val="1B2333"/>
          </a:solidFill>
          <a:ln w="12700">
            <a:solidFill>
              <a:srgbClr val="FFFFFF">
                <a:alpha val="0"/>
              </a:srgbClr>
            </a:solidFill>
            <a:prstDash val="solid"/>
          </a:ln>
        </p:spPr>
      </p:sp>
      <p:sp>
        <p:nvSpPr>
          <p:cNvPr id="17" name="Shape 14"/>
          <p:cNvSpPr/>
          <p:nvPr/>
        </p:nvSpPr>
        <p:spPr>
          <a:xfrm>
            <a:off x="1954041" y="2542032"/>
            <a:ext cx="146304" cy="146304"/>
          </a:xfrm>
          <a:prstGeom prst="ellipse">
            <a:avLst/>
          </a:prstGeom>
          <a:solidFill>
            <a:srgbClr val="1B2333"/>
          </a:solidFill>
          <a:ln w="12700">
            <a:solidFill>
              <a:srgbClr val="FFFFFF">
                <a:alpha val="0"/>
              </a:srgbClr>
            </a:solidFill>
            <a:prstDash val="solid"/>
          </a:ln>
        </p:spPr>
      </p:sp>
      <p:sp>
        <p:nvSpPr>
          <p:cNvPr id="18" name="Shape 15"/>
          <p:cNvSpPr/>
          <p:nvPr/>
        </p:nvSpPr>
        <p:spPr>
          <a:xfrm>
            <a:off x="1375623" y="1673352"/>
            <a:ext cx="146304" cy="219456"/>
          </a:xfrm>
          <a:prstGeom prst="rect">
            <a:avLst/>
          </a:prstGeom>
          <a:solidFill>
            <a:schemeClr val="tx2"/>
          </a:solidFill>
          <a:ln w="12700">
            <a:solidFill>
              <a:srgbClr val="FFFFFF">
                <a:alpha val="0"/>
              </a:srgbClr>
            </a:solidFill>
            <a:prstDash val="solid"/>
          </a:ln>
        </p:spPr>
      </p:sp>
      <p:sp>
        <p:nvSpPr>
          <p:cNvPr id="19" name="Shape 16"/>
          <p:cNvSpPr/>
          <p:nvPr/>
        </p:nvSpPr>
        <p:spPr>
          <a:xfrm>
            <a:off x="4507806" y="2542032"/>
            <a:ext cx="146304" cy="146304"/>
          </a:xfrm>
          <a:prstGeom prst="ellipse">
            <a:avLst/>
          </a:prstGeom>
          <a:solidFill>
            <a:srgbClr val="1B2333"/>
          </a:solidFill>
          <a:ln w="12700">
            <a:solidFill>
              <a:srgbClr val="FFFFFF">
                <a:alpha val="0"/>
              </a:srgbClr>
            </a:solidFill>
            <a:prstDash val="solid"/>
          </a:ln>
        </p:spPr>
      </p:sp>
      <p:sp>
        <p:nvSpPr>
          <p:cNvPr id="20" name="Shape 17"/>
          <p:cNvSpPr/>
          <p:nvPr/>
        </p:nvSpPr>
        <p:spPr>
          <a:xfrm>
            <a:off x="5376463" y="2542032"/>
            <a:ext cx="146304" cy="146304"/>
          </a:xfrm>
          <a:prstGeom prst="ellipse">
            <a:avLst/>
          </a:prstGeom>
          <a:solidFill>
            <a:srgbClr val="1B2333"/>
          </a:solidFill>
          <a:ln w="12700">
            <a:solidFill>
              <a:srgbClr val="FFFFFF">
                <a:alpha val="0"/>
              </a:srgbClr>
            </a:solidFill>
            <a:prstDash val="solid"/>
          </a:ln>
        </p:spPr>
      </p:sp>
      <p:sp>
        <p:nvSpPr>
          <p:cNvPr id="21" name="Shape 18"/>
          <p:cNvSpPr/>
          <p:nvPr/>
        </p:nvSpPr>
        <p:spPr>
          <a:xfrm>
            <a:off x="5790873" y="2368296"/>
            <a:ext cx="82296" cy="914"/>
          </a:xfrm>
          <a:prstGeom prst="line">
            <a:avLst/>
          </a:prstGeom>
          <a:noFill/>
          <a:ln w="31750">
            <a:solidFill>
              <a:srgbClr val="1B2333"/>
            </a:solidFill>
            <a:prstDash val="solid"/>
          </a:ln>
        </p:spPr>
      </p:sp>
      <p:sp>
        <p:nvSpPr>
          <p:cNvPr id="22" name="Shape 19"/>
          <p:cNvSpPr/>
          <p:nvPr/>
        </p:nvSpPr>
        <p:spPr>
          <a:xfrm>
            <a:off x="6099098" y="2542032"/>
            <a:ext cx="146304" cy="146304"/>
          </a:xfrm>
          <a:prstGeom prst="ellipse">
            <a:avLst/>
          </a:prstGeom>
          <a:solidFill>
            <a:srgbClr val="1B2333"/>
          </a:solidFill>
          <a:ln w="12700">
            <a:solidFill>
              <a:srgbClr val="FFFFFF">
                <a:alpha val="0"/>
              </a:srgbClr>
            </a:solidFill>
            <a:prstDash val="solid"/>
          </a:ln>
        </p:spPr>
      </p:sp>
      <p:sp>
        <p:nvSpPr>
          <p:cNvPr id="23" name="Shape 20"/>
          <p:cNvSpPr/>
          <p:nvPr/>
        </p:nvSpPr>
        <p:spPr>
          <a:xfrm>
            <a:off x="6860394" y="2542032"/>
            <a:ext cx="146304" cy="146304"/>
          </a:xfrm>
          <a:prstGeom prst="ellipse">
            <a:avLst/>
          </a:prstGeom>
          <a:solidFill>
            <a:srgbClr val="1B2333"/>
          </a:solidFill>
          <a:ln w="12700">
            <a:solidFill>
              <a:srgbClr val="FFFFFF">
                <a:alpha val="0"/>
              </a:srgbClr>
            </a:solidFill>
            <a:prstDash val="solid"/>
          </a:ln>
        </p:spPr>
      </p:sp>
      <p:sp>
        <p:nvSpPr>
          <p:cNvPr id="24" name="Shape 21"/>
          <p:cNvSpPr/>
          <p:nvPr/>
        </p:nvSpPr>
        <p:spPr>
          <a:xfrm>
            <a:off x="1753907" y="1444752"/>
            <a:ext cx="3261380" cy="768096"/>
          </a:xfrm>
          <a:prstGeom prst="arc">
            <a:avLst>
              <a:gd name="adj1" fmla="val 10800000"/>
              <a:gd name="adj2" fmla="val 21600000"/>
            </a:avLst>
          </a:prstGeom>
          <a:solidFill>
            <a:srgbClr val="FFFFFF">
              <a:alpha val="0"/>
            </a:srgbClr>
          </a:solidFill>
          <a:ln w="38100">
            <a:solidFill>
              <a:srgbClr val="D9700F"/>
            </a:solidFill>
            <a:prstDash val="solid"/>
            <a:headEnd type="triangle"/>
          </a:ln>
        </p:spPr>
      </p:sp>
      <p:sp>
        <p:nvSpPr>
          <p:cNvPr id="25" name="Text 22"/>
          <p:cNvSpPr txBox="1"/>
          <p:nvPr/>
        </p:nvSpPr>
        <p:spPr>
          <a:xfrm>
            <a:off x="548640" y="2788920"/>
            <a:ext cx="5486400" cy="384048"/>
          </a:xfrm>
          <a:prstGeom prst="rect">
            <a:avLst/>
          </a:prstGeom>
          <a:noFill/>
          <a:ln/>
        </p:spPr>
        <p:txBody>
          <a:bodyPr wrap="square" lIns="0" tIns="0" rIns="0" bIns="0" rtlCol="0" anchor="t"/>
          <a:lstStyle/>
          <a:p>
            <a:pPr algn="l" indent="0" marL="0">
              <a:buNone/>
            </a:pPr>
            <a:r>
              <a:rPr lang="en-US" sz="1800" i="1" dirty="0">
                <a:solidFill>
                  <a:schemeClr val="tx2"/>
                </a:solidFill>
              </a:rPr>
              <a:t>moeten</a:t>
            </a:r>
            <a:r>
              <a:rPr lang="en-US" sz="1800" dirty="0">
                <a:solidFill>
                  <a:schemeClr val="tx2"/>
                </a:solidFill>
              </a:rPr>
              <a:t> → </a:t>
            </a:r>
            <a:r>
              <a:rPr lang="en-US" sz="1800" b="1" dirty="0">
                <a:solidFill>
                  <a:schemeClr val="tx2"/>
                </a:solidFill>
              </a:rPr>
              <a:t>hebben</a:t>
            </a:r>
            <a:endParaRPr lang="en-US" sz="1800" dirty="0"/>
          </a:p>
        </p:txBody>
      </p:sp>
      <p:sp>
        <p:nvSpPr>
          <p:cNvPr id="26" name="Shape 23"/>
          <p:cNvSpPr/>
          <p:nvPr/>
        </p:nvSpPr>
        <p:spPr>
          <a:xfrm>
            <a:off x="548640" y="3657600"/>
            <a:ext cx="634959" cy="658368"/>
          </a:xfrm>
          <a:prstGeom prst="roundRect">
            <a:avLst>
              <a:gd name="adj" fmla="val 14401"/>
            </a:avLst>
          </a:prstGeom>
          <a:solidFill>
            <a:schemeClr val="bg1"/>
          </a:solidFill>
          <a:ln w="15875">
            <a:solidFill>
              <a:srgbClr val="D5DCE6"/>
            </a:solidFill>
            <a:prstDash val="solid"/>
          </a:ln>
        </p:spPr>
      </p:sp>
      <p:sp>
        <p:nvSpPr>
          <p:cNvPr id="27" name="Text 24"/>
          <p:cNvSpPr txBox="1"/>
          <p:nvPr/>
        </p:nvSpPr>
        <p:spPr>
          <a:xfrm>
            <a:off x="548640" y="3657600"/>
            <a:ext cx="634959" cy="658368"/>
          </a:xfrm>
          <a:prstGeom prst="rect">
            <a:avLst/>
          </a:prstGeom>
          <a:noFill/>
          <a:ln/>
        </p:spPr>
        <p:txBody>
          <a:bodyPr wrap="square" lIns="0" tIns="0" rIns="0" bIns="0" rtlCol="0" anchor="ctr"/>
          <a:lstStyle/>
          <a:p>
            <a:pPr algn="ctr" indent="0" marL="0">
              <a:buNone/>
            </a:pPr>
            <a:r>
              <a:rPr lang="en-US" sz="2400" dirty="0">
                <a:solidFill>
                  <a:schemeClr val="tx1"/>
                </a:solidFill>
              </a:rPr>
              <a:t>Ik</a:t>
            </a:r>
            <a:endParaRPr lang="en-US" sz="2400" dirty="0"/>
          </a:p>
        </p:txBody>
      </p:sp>
      <p:sp>
        <p:nvSpPr>
          <p:cNvPr id="28" name="Shape 25"/>
          <p:cNvSpPr/>
          <p:nvPr/>
        </p:nvSpPr>
        <p:spPr>
          <a:xfrm>
            <a:off x="1265895" y="3657600"/>
            <a:ext cx="976023" cy="658368"/>
          </a:xfrm>
          <a:prstGeom prst="roundRect">
            <a:avLst>
              <a:gd name="adj" fmla="val 13889"/>
            </a:avLst>
          </a:prstGeom>
          <a:solidFill>
            <a:schemeClr val="tx2"/>
          </a:solidFill>
          <a:ln w="12700">
            <a:solidFill>
              <a:srgbClr val="FFFFFF">
                <a:alpha val="0"/>
              </a:srgbClr>
            </a:solidFill>
            <a:prstDash val="solid"/>
          </a:ln>
        </p:spPr>
      </p:sp>
      <p:sp>
        <p:nvSpPr>
          <p:cNvPr id="29" name="Text 26"/>
          <p:cNvSpPr txBox="1"/>
          <p:nvPr/>
        </p:nvSpPr>
        <p:spPr>
          <a:xfrm>
            <a:off x="1265895" y="3657600"/>
            <a:ext cx="976023" cy="658368"/>
          </a:xfrm>
          <a:prstGeom prst="rect">
            <a:avLst/>
          </a:prstGeom>
          <a:noFill/>
          <a:ln/>
        </p:spPr>
        <p:txBody>
          <a:bodyPr wrap="square" lIns="0" tIns="0" rIns="0" bIns="0" rtlCol="0" anchor="ctr"/>
          <a:lstStyle/>
          <a:p>
            <a:pPr algn="ctr" indent="0" marL="0">
              <a:buNone/>
            </a:pPr>
            <a:r>
              <a:rPr lang="en-US" sz="2400" b="1" dirty="0">
                <a:solidFill>
                  <a:schemeClr val="bg1"/>
                </a:solidFill>
              </a:rPr>
              <a:t>ben</a:t>
            </a:r>
            <a:endParaRPr lang="en-US" sz="2400" dirty="0"/>
          </a:p>
        </p:txBody>
      </p:sp>
      <p:sp>
        <p:nvSpPr>
          <p:cNvPr id="30" name="Shape 27"/>
          <p:cNvSpPr/>
          <p:nvPr/>
        </p:nvSpPr>
        <p:spPr>
          <a:xfrm>
            <a:off x="2324215" y="3657600"/>
            <a:ext cx="1167740" cy="658368"/>
          </a:xfrm>
          <a:prstGeom prst="roundRect">
            <a:avLst>
              <a:gd name="adj" fmla="val 13889"/>
            </a:avLst>
          </a:prstGeom>
          <a:solidFill>
            <a:schemeClr val="accent1"/>
          </a:solidFill>
          <a:ln w="12700">
            <a:solidFill>
              <a:srgbClr val="FFFFFF">
                <a:alpha val="0"/>
              </a:srgbClr>
            </a:solidFill>
            <a:prstDash val="solid"/>
          </a:ln>
        </p:spPr>
      </p:sp>
      <p:sp>
        <p:nvSpPr>
          <p:cNvPr id="31" name="Text 28"/>
          <p:cNvSpPr txBox="1"/>
          <p:nvPr/>
        </p:nvSpPr>
        <p:spPr>
          <a:xfrm>
            <a:off x="2324215" y="3657600"/>
            <a:ext cx="1167740" cy="658368"/>
          </a:xfrm>
          <a:prstGeom prst="rect">
            <a:avLst/>
          </a:prstGeom>
          <a:noFill/>
          <a:ln/>
        </p:spPr>
        <p:txBody>
          <a:bodyPr wrap="square" lIns="0" tIns="0" rIns="0" bIns="0" rtlCol="0" anchor="ctr"/>
          <a:lstStyle/>
          <a:p>
            <a:pPr algn="ctr" indent="0" marL="0">
              <a:buNone/>
            </a:pPr>
            <a:r>
              <a:rPr lang="en-US" sz="2400" b="1" dirty="0">
                <a:solidFill>
                  <a:schemeClr val="bg1"/>
                </a:solidFill>
              </a:rPr>
              <a:t>gaan</a:t>
            </a:r>
            <a:endParaRPr lang="en-US" sz="2400" dirty="0"/>
          </a:p>
        </p:txBody>
      </p:sp>
      <p:sp>
        <p:nvSpPr>
          <p:cNvPr id="32" name="Shape 29"/>
          <p:cNvSpPr/>
          <p:nvPr/>
        </p:nvSpPr>
        <p:spPr>
          <a:xfrm>
            <a:off x="3574251" y="3657600"/>
            <a:ext cx="1934607" cy="658368"/>
          </a:xfrm>
          <a:prstGeom prst="roundRect">
            <a:avLst>
              <a:gd name="adj" fmla="val 13889"/>
            </a:avLst>
          </a:prstGeom>
          <a:solidFill>
            <a:srgbClr val="FBEDEB"/>
          </a:solidFill>
          <a:ln w="25400">
            <a:solidFill>
              <a:srgbClr val="B83227"/>
            </a:solidFill>
            <a:prstDash val="solid"/>
          </a:ln>
        </p:spPr>
      </p:sp>
      <p:sp>
        <p:nvSpPr>
          <p:cNvPr id="33" name="Text 30"/>
          <p:cNvSpPr txBox="1"/>
          <p:nvPr/>
        </p:nvSpPr>
        <p:spPr>
          <a:xfrm>
            <a:off x="3574251" y="3657600"/>
            <a:ext cx="1934607" cy="658368"/>
          </a:xfrm>
          <a:prstGeom prst="rect">
            <a:avLst/>
          </a:prstGeom>
          <a:noFill/>
          <a:ln/>
        </p:spPr>
        <p:txBody>
          <a:bodyPr wrap="square" lIns="0" tIns="0" rIns="0" bIns="0" rtlCol="0" anchor="ctr"/>
          <a:lstStyle/>
          <a:p>
            <a:pPr algn="ctr" indent="0" marL="0">
              <a:buNone/>
            </a:pPr>
            <a:r>
              <a:rPr lang="en-US" sz="2400" b="1" dirty="0">
                <a:solidFill>
                  <a:schemeClr val="accent6"/>
                </a:solidFill>
              </a:rPr>
              <a:t>zwemmen.</a:t>
            </a:r>
            <a:endParaRPr lang="en-US" sz="2400" dirty="0"/>
          </a:p>
        </p:txBody>
      </p:sp>
      <p:sp>
        <p:nvSpPr>
          <p:cNvPr id="34" name="Shape 31"/>
          <p:cNvSpPr/>
          <p:nvPr/>
        </p:nvSpPr>
        <p:spPr>
          <a:xfrm>
            <a:off x="457200" y="4471416"/>
            <a:ext cx="5143098" cy="45720"/>
          </a:xfrm>
          <a:prstGeom prst="rect">
            <a:avLst/>
          </a:prstGeom>
          <a:solidFill>
            <a:srgbClr val="8A96A8"/>
          </a:solidFill>
          <a:ln w="12700">
            <a:solidFill>
              <a:srgbClr val="FFFFFF">
                <a:alpha val="0"/>
              </a:srgbClr>
            </a:solidFill>
            <a:prstDash val="solid"/>
          </a:ln>
        </p:spPr>
      </p:sp>
      <p:sp>
        <p:nvSpPr>
          <p:cNvPr id="35" name="Shape 32"/>
          <p:cNvSpPr/>
          <p:nvPr/>
        </p:nvSpPr>
        <p:spPr>
          <a:xfrm>
            <a:off x="1407468" y="4325112"/>
            <a:ext cx="146304" cy="146304"/>
          </a:xfrm>
          <a:prstGeom prst="ellipse">
            <a:avLst/>
          </a:prstGeom>
          <a:solidFill>
            <a:srgbClr val="1B2333"/>
          </a:solidFill>
          <a:ln w="12700">
            <a:solidFill>
              <a:srgbClr val="FFFFFF">
                <a:alpha val="0"/>
              </a:srgbClr>
            </a:solidFill>
            <a:prstDash val="solid"/>
          </a:ln>
        </p:spPr>
      </p:sp>
      <p:sp>
        <p:nvSpPr>
          <p:cNvPr id="36" name="Shape 33"/>
          <p:cNvSpPr/>
          <p:nvPr/>
        </p:nvSpPr>
        <p:spPr>
          <a:xfrm>
            <a:off x="1954041" y="4325112"/>
            <a:ext cx="146304" cy="146304"/>
          </a:xfrm>
          <a:prstGeom prst="ellipse">
            <a:avLst/>
          </a:prstGeom>
          <a:solidFill>
            <a:srgbClr val="1B2333"/>
          </a:solidFill>
          <a:ln w="12700">
            <a:solidFill>
              <a:srgbClr val="FFFFFF">
                <a:alpha val="0"/>
              </a:srgbClr>
            </a:solidFill>
            <a:prstDash val="solid"/>
          </a:ln>
        </p:spPr>
      </p:sp>
      <p:sp>
        <p:nvSpPr>
          <p:cNvPr id="37" name="Shape 34"/>
          <p:cNvSpPr/>
          <p:nvPr/>
        </p:nvSpPr>
        <p:spPr>
          <a:xfrm>
            <a:off x="1375623" y="3456432"/>
            <a:ext cx="146304" cy="219456"/>
          </a:xfrm>
          <a:prstGeom prst="rect">
            <a:avLst/>
          </a:prstGeom>
          <a:solidFill>
            <a:schemeClr val="tx2"/>
          </a:solidFill>
          <a:ln w="12700">
            <a:solidFill>
              <a:srgbClr val="FFFFFF">
                <a:alpha val="0"/>
              </a:srgbClr>
            </a:solidFill>
            <a:prstDash val="solid"/>
          </a:ln>
        </p:spPr>
      </p:sp>
      <p:sp>
        <p:nvSpPr>
          <p:cNvPr id="38" name="Shape 35"/>
          <p:cNvSpPr/>
          <p:nvPr/>
        </p:nvSpPr>
        <p:spPr>
          <a:xfrm>
            <a:off x="2241919" y="4151376"/>
            <a:ext cx="82296" cy="914"/>
          </a:xfrm>
          <a:prstGeom prst="line">
            <a:avLst/>
          </a:prstGeom>
          <a:noFill/>
          <a:ln w="31750">
            <a:solidFill>
              <a:srgbClr val="1B2333"/>
            </a:solidFill>
            <a:prstDash val="solid"/>
          </a:ln>
        </p:spPr>
      </p:sp>
      <p:sp>
        <p:nvSpPr>
          <p:cNvPr id="39" name="Shape 36"/>
          <p:cNvSpPr/>
          <p:nvPr/>
        </p:nvSpPr>
        <p:spPr>
          <a:xfrm>
            <a:off x="2507965" y="4325112"/>
            <a:ext cx="146304" cy="146304"/>
          </a:xfrm>
          <a:prstGeom prst="ellipse">
            <a:avLst/>
          </a:prstGeom>
          <a:solidFill>
            <a:srgbClr val="1B2333"/>
          </a:solidFill>
          <a:ln w="12700">
            <a:solidFill>
              <a:srgbClr val="FFFFFF">
                <a:alpha val="0"/>
              </a:srgbClr>
            </a:solidFill>
            <a:prstDash val="solid"/>
          </a:ln>
        </p:spPr>
      </p:sp>
      <p:sp>
        <p:nvSpPr>
          <p:cNvPr id="40" name="Shape 37"/>
          <p:cNvSpPr/>
          <p:nvPr/>
        </p:nvSpPr>
        <p:spPr>
          <a:xfrm>
            <a:off x="3161900" y="4325112"/>
            <a:ext cx="146304" cy="146304"/>
          </a:xfrm>
          <a:prstGeom prst="ellipse">
            <a:avLst/>
          </a:prstGeom>
          <a:solidFill>
            <a:srgbClr val="1B2333"/>
          </a:solidFill>
          <a:ln w="12700">
            <a:solidFill>
              <a:srgbClr val="FFFFFF">
                <a:alpha val="0"/>
              </a:srgbClr>
            </a:solidFill>
            <a:prstDash val="solid"/>
          </a:ln>
        </p:spPr>
      </p:sp>
      <p:sp>
        <p:nvSpPr>
          <p:cNvPr id="41" name="Shape 38"/>
          <p:cNvSpPr/>
          <p:nvPr/>
        </p:nvSpPr>
        <p:spPr>
          <a:xfrm>
            <a:off x="3491955" y="4151376"/>
            <a:ext cx="82296" cy="914"/>
          </a:xfrm>
          <a:prstGeom prst="line">
            <a:avLst/>
          </a:prstGeom>
          <a:noFill/>
          <a:ln w="31750">
            <a:solidFill>
              <a:srgbClr val="1B2333"/>
            </a:solidFill>
            <a:prstDash val="solid"/>
          </a:ln>
        </p:spPr>
      </p:sp>
      <p:sp>
        <p:nvSpPr>
          <p:cNvPr id="42" name="Shape 39"/>
          <p:cNvSpPr/>
          <p:nvPr/>
        </p:nvSpPr>
        <p:spPr>
          <a:xfrm>
            <a:off x="3926712" y="4325112"/>
            <a:ext cx="146304" cy="146304"/>
          </a:xfrm>
          <a:prstGeom prst="ellipse">
            <a:avLst/>
          </a:prstGeom>
          <a:solidFill>
            <a:srgbClr val="1B2333"/>
          </a:solidFill>
          <a:ln w="12700">
            <a:solidFill>
              <a:srgbClr val="FFFFFF">
                <a:alpha val="0"/>
              </a:srgbClr>
            </a:solidFill>
            <a:prstDash val="solid"/>
          </a:ln>
        </p:spPr>
      </p:sp>
      <p:sp>
        <p:nvSpPr>
          <p:cNvPr id="43" name="Shape 40"/>
          <p:cNvSpPr/>
          <p:nvPr/>
        </p:nvSpPr>
        <p:spPr>
          <a:xfrm>
            <a:off x="5010092" y="4325112"/>
            <a:ext cx="146304" cy="146304"/>
          </a:xfrm>
          <a:prstGeom prst="ellipse">
            <a:avLst/>
          </a:prstGeom>
          <a:solidFill>
            <a:srgbClr val="1B2333"/>
          </a:solidFill>
          <a:ln w="12700">
            <a:solidFill>
              <a:srgbClr val="FFFFFF">
                <a:alpha val="0"/>
              </a:srgbClr>
            </a:solidFill>
            <a:prstDash val="solid"/>
          </a:ln>
        </p:spPr>
      </p:sp>
      <p:sp>
        <p:nvSpPr>
          <p:cNvPr id="44" name="Shape 41"/>
          <p:cNvSpPr/>
          <p:nvPr/>
        </p:nvSpPr>
        <p:spPr>
          <a:xfrm>
            <a:off x="1753907" y="3227832"/>
            <a:ext cx="1154178" cy="768096"/>
          </a:xfrm>
          <a:prstGeom prst="arc">
            <a:avLst>
              <a:gd name="adj1" fmla="val 10800000"/>
              <a:gd name="adj2" fmla="val 21600000"/>
            </a:avLst>
          </a:prstGeom>
          <a:solidFill>
            <a:srgbClr val="FFFFFF">
              <a:alpha val="0"/>
            </a:srgbClr>
          </a:solidFill>
          <a:ln w="38100">
            <a:solidFill>
              <a:srgbClr val="D9700F"/>
            </a:solidFill>
            <a:prstDash val="solid"/>
            <a:headEnd type="triangle"/>
          </a:ln>
        </p:spPr>
      </p:sp>
      <p:sp>
        <p:nvSpPr>
          <p:cNvPr id="45" name="Text 42"/>
          <p:cNvSpPr txBox="1"/>
          <p:nvPr/>
        </p:nvSpPr>
        <p:spPr>
          <a:xfrm>
            <a:off x="548640" y="4572000"/>
            <a:ext cx="5486400" cy="384048"/>
          </a:xfrm>
          <a:prstGeom prst="rect">
            <a:avLst/>
          </a:prstGeom>
          <a:noFill/>
          <a:ln/>
        </p:spPr>
        <p:txBody>
          <a:bodyPr wrap="square" lIns="0" tIns="0" rIns="0" bIns="0" rtlCol="0" anchor="t"/>
          <a:lstStyle/>
          <a:p>
            <a:pPr algn="l" indent="0" marL="0">
              <a:buNone/>
            </a:pPr>
            <a:r>
              <a:rPr lang="en-US" sz="1800" i="1" dirty="0">
                <a:solidFill>
                  <a:schemeClr val="tx2"/>
                </a:solidFill>
              </a:rPr>
              <a:t>gaan</a:t>
            </a:r>
            <a:r>
              <a:rPr lang="en-US" sz="1800" dirty="0">
                <a:solidFill>
                  <a:schemeClr val="tx2"/>
                </a:solidFill>
              </a:rPr>
              <a:t> → </a:t>
            </a:r>
            <a:r>
              <a:rPr lang="en-US" sz="1800" b="1" dirty="0">
                <a:solidFill>
                  <a:schemeClr val="tx2"/>
                </a:solidFill>
              </a:rPr>
              <a:t>zijn</a:t>
            </a:r>
            <a:endParaRPr lang="en-US" sz="1800" dirty="0"/>
          </a:p>
        </p:txBody>
      </p:sp>
      <p:sp>
        <p:nvSpPr>
          <p:cNvPr id="46" name="Shape 43"/>
          <p:cNvSpPr/>
          <p:nvPr/>
        </p:nvSpPr>
        <p:spPr>
          <a:xfrm>
            <a:off x="8229600" y="1463040"/>
            <a:ext cx="3410712" cy="3108960"/>
          </a:xfrm>
          <a:prstGeom prst="roundRect">
            <a:avLst>
              <a:gd name="adj" fmla="val 3529"/>
            </a:avLst>
          </a:prstGeom>
          <a:solidFill>
            <a:schemeClr val="bg2"/>
          </a:solidFill>
          <a:ln w="12700">
            <a:solidFill>
              <a:srgbClr val="D5DCE6"/>
            </a:solidFill>
            <a:prstDash val="solid"/>
          </a:ln>
        </p:spPr>
      </p:sp>
      <p:sp>
        <p:nvSpPr>
          <p:cNvPr id="47" name="Text 44"/>
          <p:cNvSpPr txBox="1"/>
          <p:nvPr/>
        </p:nvSpPr>
        <p:spPr>
          <a:xfrm>
            <a:off x="8366760" y="1554480"/>
            <a:ext cx="3154680" cy="2926080"/>
          </a:xfrm>
          <a:prstGeom prst="rect">
            <a:avLst/>
          </a:prstGeom>
          <a:noFill/>
          <a:ln/>
        </p:spPr>
        <p:txBody>
          <a:bodyPr wrap="square" lIns="0" tIns="0" rIns="0" bIns="0" rtlCol="0" anchor="ctr"/>
          <a:lstStyle/>
          <a:p>
            <a:pPr algn="l" indent="0" marL="0">
              <a:spcAft>
                <a:spcPts val="300"/>
              </a:spcAft>
              <a:buNone/>
            </a:pPr>
            <a:r>
              <a:rPr lang="en-US" sz="1500" b="1" dirty="0">
                <a:solidFill>
                  <a:schemeClr val="tx1"/>
                </a:solidFill>
              </a:rPr>
              <a:t>HEBBEN</a:t>
            </a:r>
            <a:endParaRPr lang="en-US" sz="1500" dirty="0"/>
          </a:p>
          <a:p>
            <a:pPr algn="l" indent="0" marL="0">
              <a:spcAft>
                <a:spcPts val="300"/>
              </a:spcAft>
              <a:buNone/>
            </a:pPr>
            <a:r>
              <a:rPr lang="en-US" sz="1500" i="1" dirty="0">
                <a:solidFill>
                  <a:schemeClr val="tx1"/>
                </a:solidFill>
              </a:rPr>
              <a:t>moeten · kunnen · willen · mogen · laten · zitten · staan · liggen · lopen · zien · horen · voelen</a:t>
            </a:r>
            <a:endParaRPr lang="en-US" sz="1500" dirty="0"/>
          </a:p>
          <a:p>
            <a:pPr algn="l" indent="0" marL="0">
              <a:spcAft>
                <a:spcPts val="300"/>
              </a:spcAft>
              <a:buNone/>
            </a:pPr>
            <a:endParaRPr lang="en-US" sz="1500" dirty="0"/>
          </a:p>
          <a:p>
            <a:pPr algn="l" indent="0" marL="0">
              <a:spcAft>
                <a:spcPts val="300"/>
              </a:spcAft>
              <a:buNone/>
            </a:pPr>
            <a:r>
              <a:rPr lang="en-US" sz="1500" b="1" dirty="0">
                <a:solidFill>
                  <a:schemeClr val="tx1"/>
                </a:solidFill>
              </a:rPr>
              <a:t>ZIJN</a:t>
            </a:r>
            <a:endParaRPr lang="en-US" sz="1500" dirty="0"/>
          </a:p>
          <a:p>
            <a:pPr algn="l" indent="0" marL="0">
              <a:spcAft>
                <a:spcPts val="300"/>
              </a:spcAft>
              <a:buNone/>
            </a:pPr>
            <a:r>
              <a:rPr lang="en-US" sz="1500" i="1" dirty="0">
                <a:solidFill>
                  <a:schemeClr val="tx1"/>
                </a:solidFill>
              </a:rPr>
              <a:t>gaan · komen · blijven</a:t>
            </a:r>
            <a:endParaRPr lang="en-US" sz="1500" dirty="0"/>
          </a:p>
        </p:txBody>
      </p:sp>
      <p:sp>
        <p:nvSpPr>
          <p:cNvPr id="48" name="Shape 45"/>
          <p:cNvSpPr/>
          <p:nvPr/>
        </p:nvSpPr>
        <p:spPr>
          <a:xfrm>
            <a:off x="548640" y="5257800"/>
            <a:ext cx="11091672" cy="868680"/>
          </a:xfrm>
          <a:prstGeom prst="roundRect">
            <a:avLst>
              <a:gd name="adj" fmla="val 8421"/>
            </a:avLst>
          </a:prstGeom>
          <a:solidFill>
            <a:schemeClr val="tx2"/>
          </a:solidFill>
          <a:ln w="12700">
            <a:solidFill>
              <a:srgbClr val="FFFFFF">
                <a:alpha val="0"/>
              </a:srgbClr>
            </a:solidFill>
            <a:prstDash val="solid"/>
          </a:ln>
        </p:spPr>
      </p:sp>
      <p:sp>
        <p:nvSpPr>
          <p:cNvPr id="49" name="Text 46"/>
          <p:cNvSpPr txBox="1"/>
          <p:nvPr/>
        </p:nvSpPr>
        <p:spPr>
          <a:xfrm>
            <a:off x="822960" y="5257800"/>
            <a:ext cx="10607040" cy="868680"/>
          </a:xfrm>
          <a:prstGeom prst="rect">
            <a:avLst/>
          </a:prstGeom>
          <a:noFill/>
          <a:ln/>
        </p:spPr>
        <p:txBody>
          <a:bodyPr wrap="square" lIns="0" tIns="0" rIns="0" bIns="0" rtlCol="0" anchor="ctr"/>
          <a:lstStyle/>
          <a:p>
            <a:pPr algn="l" indent="0" marL="0">
              <a:spcAft>
                <a:spcPts val="600"/>
              </a:spcAft>
              <a:buNone/>
            </a:pPr>
            <a:r>
              <a:rPr lang="en-US" sz="1600" dirty="0">
                <a:solidFill>
                  <a:schemeClr val="bg1"/>
                </a:solidFill>
              </a:rPr>
              <a:t>Ce n’est pas l’action (</a:t>
            </a:r>
            <a:r>
              <a:rPr lang="en-US" sz="1600" i="1" dirty="0">
                <a:solidFill>
                  <a:schemeClr val="bg1"/>
                </a:solidFill>
              </a:rPr>
              <a:t>gaan</a:t>
            </a:r>
            <a:r>
              <a:rPr lang="en-US" sz="1600" dirty="0">
                <a:solidFill>
                  <a:schemeClr val="bg1"/>
                </a:solidFill>
              </a:rPr>
              <a:t>) qui décide, mais le </a:t>
            </a:r>
            <a:r>
              <a:rPr lang="en-US" sz="1600" b="1" dirty="0">
                <a:solidFill>
                  <a:schemeClr val="bg1"/>
                </a:solidFill>
              </a:rPr>
              <a:t>premier verbe</a:t>
            </a:r>
            <a:r>
              <a:rPr lang="en-US" sz="1600" dirty="0">
                <a:solidFill>
                  <a:schemeClr val="bg1"/>
                </a:solidFill>
              </a:rPr>
              <a:t> après l’auxiliaire : </a:t>
            </a:r>
            <a:r>
              <a:rPr lang="en-US" sz="1600" i="1" dirty="0">
                <a:solidFill>
                  <a:schemeClr val="bg1"/>
                </a:solidFill>
              </a:rPr>
              <a:t>moeten</a:t>
            </a:r>
            <a:r>
              <a:rPr lang="en-US" sz="1600" dirty="0">
                <a:solidFill>
                  <a:schemeClr val="bg1"/>
                </a:solidFill>
              </a:rPr>
              <a:t> → </a:t>
            </a:r>
            <a:r>
              <a:rPr lang="en-US" sz="1600" i="1" dirty="0">
                <a:solidFill>
                  <a:schemeClr val="bg1"/>
                </a:solidFill>
              </a:rPr>
              <a:t>hebben</a:t>
            </a:r>
            <a:r>
              <a:rPr lang="en-US" sz="1600" dirty="0">
                <a:solidFill>
                  <a:schemeClr val="bg1"/>
                </a:solidFill>
              </a:rPr>
              <a:t>.</a:t>
            </a:r>
            <a:endParaRPr lang="en-US" sz="1600" dirty="0"/>
          </a:p>
          <a:p>
            <a:pPr algn="l" indent="0" marL="0">
              <a:spcAft>
                <a:spcPts val="600"/>
              </a:spcAft>
              <a:buNone/>
            </a:pPr>
            <a:r>
              <a:rPr lang="en-US" sz="1600" dirty="0">
                <a:solidFill>
                  <a:schemeClr val="bg1"/>
                </a:solidFill>
              </a:rPr>
              <a:t>(En Belgique, </a:t>
            </a:r>
            <a:r>
              <a:rPr lang="en-US" sz="1600" i="1" dirty="0">
                <a:solidFill>
                  <a:schemeClr val="bg1"/>
                </a:solidFill>
              </a:rPr>
              <a:t>ben</a:t>
            </a:r>
            <a:r>
              <a:rPr lang="en-US" sz="1600" dirty="0">
                <a:solidFill>
                  <a:schemeClr val="bg1"/>
                </a:solidFill>
              </a:rPr>
              <a:t> est aussi admis : </a:t>
            </a:r>
            <a:r>
              <a:rPr lang="en-US" sz="1600" i="1" dirty="0">
                <a:solidFill>
                  <a:schemeClr val="bg1"/>
                </a:solidFill>
              </a:rPr>
              <a:t>Ik ben naar huis moeten gaan.</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Seul : participe · avec un infinitif : infinitif</a:t>
            </a:r>
            <a:endParaRPr lang="en-US" sz="3000" dirty="0"/>
          </a:p>
        </p:txBody>
      </p:sp>
      <p:sp>
        <p:nvSpPr>
          <p:cNvPr id="3" name="tag"/>
          <p:cNvSpPr/>
          <p:nvPr/>
        </p:nvSpPr>
        <p:spPr>
          <a:xfrm>
            <a:off x="548640" y="237744"/>
            <a:ext cx="101498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PIÈGE</a:t>
            </a:r>
            <a:endParaRPr lang="en-US" sz="1200" dirty="0"/>
          </a:p>
        </p:txBody>
      </p:sp>
      <p:sp>
        <p:nvSpPr>
          <p:cNvPr id="5" name="Shape 2"/>
          <p:cNvSpPr/>
          <p:nvPr/>
        </p:nvSpPr>
        <p:spPr>
          <a:xfrm>
            <a:off x="548640" y="1463040"/>
            <a:ext cx="5408676" cy="4206240"/>
          </a:xfrm>
          <a:prstGeom prst="roundRect">
            <a:avLst>
              <a:gd name="adj" fmla="val 2609"/>
            </a:avLst>
          </a:prstGeom>
          <a:solidFill>
            <a:srgbClr val="E6EBF2"/>
          </a:solidFill>
          <a:ln w="25400">
            <a:solidFill>
              <a:srgbClr val="4A5A70"/>
            </a:solidFill>
            <a:prstDash val="solid"/>
          </a:ln>
        </p:spPr>
      </p:sp>
      <p:pic>
        <p:nvPicPr>
          <p:cNvPr id="6" name="Image 0" descr="bust in silhouette">    </p:cNvPr>
          <p:cNvPicPr>
            <a:picLocks noChangeAspect="1"/>
          </p:cNvPicPr>
          <p:nvPr/>
        </p:nvPicPr>
        <p:blipFill>
          <a:blip r:embed="rId1"/>
          <a:stretch>
            <a:fillRect/>
          </a:stretch>
        </p:blipFill>
        <p:spPr>
          <a:xfrm>
            <a:off x="731520" y="1572768"/>
            <a:ext cx="731520" cy="731520"/>
          </a:xfrm>
          <a:prstGeom prst="rect">
            <a:avLst/>
          </a:prstGeom>
        </p:spPr>
      </p:pic>
      <p:sp>
        <p:nvSpPr>
          <p:cNvPr id="7" name="Text 3"/>
          <p:cNvSpPr txBox="1"/>
          <p:nvPr/>
        </p:nvSpPr>
        <p:spPr>
          <a:xfrm>
            <a:off x="1600200" y="1572768"/>
            <a:ext cx="4219956" cy="731520"/>
          </a:xfrm>
          <a:prstGeom prst="rect">
            <a:avLst/>
          </a:prstGeom>
          <a:noFill/>
          <a:ln/>
        </p:spPr>
        <p:txBody>
          <a:bodyPr wrap="square" lIns="0" tIns="0" rIns="0" bIns="0" rtlCol="0" anchor="ctr"/>
          <a:lstStyle/>
          <a:p>
            <a:pPr algn="l" indent="0" marL="0">
              <a:buNone/>
            </a:pPr>
            <a:r>
              <a:rPr lang="en-US" sz="1900" b="1" dirty="0">
                <a:solidFill>
                  <a:schemeClr val="accent5"/>
                </a:solidFill>
              </a:rPr>
              <a:t>SEUL → PARTICIPE (ge-)</a:t>
            </a:r>
            <a:endParaRPr lang="en-US" sz="1900" dirty="0"/>
          </a:p>
        </p:txBody>
      </p:sp>
      <p:sp>
        <p:nvSpPr>
          <p:cNvPr id="8" name="Shape 4"/>
          <p:cNvSpPr/>
          <p:nvPr/>
        </p:nvSpPr>
        <p:spPr>
          <a:xfrm>
            <a:off x="731520" y="2468880"/>
            <a:ext cx="5042916" cy="694944"/>
          </a:xfrm>
          <a:prstGeom prst="roundRect">
            <a:avLst>
              <a:gd name="adj" fmla="val 10526"/>
            </a:avLst>
          </a:prstGeom>
          <a:solidFill>
            <a:srgbClr val="FFFFFF"/>
          </a:solidFill>
          <a:ln w="12700">
            <a:solidFill>
              <a:srgbClr val="FFFFFF">
                <a:alpha val="0"/>
              </a:srgbClr>
            </a:solidFill>
            <a:prstDash val="solid"/>
          </a:ln>
        </p:spPr>
      </p:sp>
      <p:sp>
        <p:nvSpPr>
          <p:cNvPr id="9" name="Text 5"/>
          <p:cNvSpPr txBox="1"/>
          <p:nvPr/>
        </p:nvSpPr>
        <p:spPr>
          <a:xfrm>
            <a:off x="868680" y="2487168"/>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Ik heb het niet </a:t>
            </a:r>
            <a:r>
              <a:rPr lang="en-US" sz="1800" b="1" i="1" dirty="0">
                <a:solidFill>
                  <a:srgbClr val="4A5A70"/>
                </a:solidFill>
              </a:rPr>
              <a:t>gekund</a:t>
            </a:r>
            <a:r>
              <a:rPr lang="en-US" sz="1800" i="1" dirty="0">
                <a:solidFill>
                  <a:schemeClr val="tx1"/>
                </a:solidFill>
              </a:rPr>
              <a:t>.</a:t>
            </a:r>
            <a:endParaRPr lang="en-US" sz="1800" dirty="0"/>
          </a:p>
        </p:txBody>
      </p:sp>
      <p:sp>
        <p:nvSpPr>
          <p:cNvPr id="10" name="Text 6"/>
          <p:cNvSpPr txBox="1"/>
          <p:nvPr/>
        </p:nvSpPr>
        <p:spPr>
          <a:xfrm>
            <a:off x="868680" y="2852928"/>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je n’ai pas pu</a:t>
            </a:r>
            <a:endParaRPr lang="en-US" sz="1200" dirty="0"/>
          </a:p>
        </p:txBody>
      </p:sp>
      <p:sp>
        <p:nvSpPr>
          <p:cNvPr id="11" name="Shape 7"/>
          <p:cNvSpPr/>
          <p:nvPr/>
        </p:nvSpPr>
        <p:spPr>
          <a:xfrm>
            <a:off x="731520" y="3255264"/>
            <a:ext cx="5042916" cy="694944"/>
          </a:xfrm>
          <a:prstGeom prst="roundRect">
            <a:avLst>
              <a:gd name="adj" fmla="val 10526"/>
            </a:avLst>
          </a:prstGeom>
          <a:solidFill>
            <a:srgbClr val="FFFFFF"/>
          </a:solidFill>
          <a:ln w="12700">
            <a:solidFill>
              <a:srgbClr val="FFFFFF">
                <a:alpha val="0"/>
              </a:srgbClr>
            </a:solidFill>
            <a:prstDash val="solid"/>
          </a:ln>
        </p:spPr>
      </p:sp>
      <p:sp>
        <p:nvSpPr>
          <p:cNvPr id="12" name="Text 8"/>
          <p:cNvSpPr txBox="1"/>
          <p:nvPr/>
        </p:nvSpPr>
        <p:spPr>
          <a:xfrm>
            <a:off x="868680" y="3273552"/>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Dat heb ik altijd </a:t>
            </a:r>
            <a:r>
              <a:rPr lang="en-US" sz="1800" b="1" i="1" dirty="0">
                <a:solidFill>
                  <a:srgbClr val="4A5A70"/>
                </a:solidFill>
              </a:rPr>
              <a:t>gewild</a:t>
            </a:r>
            <a:r>
              <a:rPr lang="en-US" sz="1800" i="1" dirty="0">
                <a:solidFill>
                  <a:schemeClr val="tx1"/>
                </a:solidFill>
              </a:rPr>
              <a:t>.</a:t>
            </a:r>
            <a:endParaRPr lang="en-US" sz="1800" dirty="0"/>
          </a:p>
        </p:txBody>
      </p:sp>
      <p:sp>
        <p:nvSpPr>
          <p:cNvPr id="13" name="Text 9"/>
          <p:cNvSpPr txBox="1"/>
          <p:nvPr/>
        </p:nvSpPr>
        <p:spPr>
          <a:xfrm>
            <a:off x="868680" y="3639312"/>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je l’ai toujours voulu</a:t>
            </a:r>
            <a:endParaRPr lang="en-US" sz="1200" dirty="0"/>
          </a:p>
        </p:txBody>
      </p:sp>
      <p:sp>
        <p:nvSpPr>
          <p:cNvPr id="14" name="Shape 10"/>
          <p:cNvSpPr/>
          <p:nvPr/>
        </p:nvSpPr>
        <p:spPr>
          <a:xfrm>
            <a:off x="731520" y="4041648"/>
            <a:ext cx="5042916" cy="694944"/>
          </a:xfrm>
          <a:prstGeom prst="roundRect">
            <a:avLst>
              <a:gd name="adj" fmla="val 10526"/>
            </a:avLst>
          </a:prstGeom>
          <a:solidFill>
            <a:srgbClr val="FFFFFF"/>
          </a:solidFill>
          <a:ln w="12700">
            <a:solidFill>
              <a:srgbClr val="FFFFFF">
                <a:alpha val="0"/>
              </a:srgbClr>
            </a:solidFill>
            <a:prstDash val="solid"/>
          </a:ln>
        </p:spPr>
      </p:sp>
      <p:sp>
        <p:nvSpPr>
          <p:cNvPr id="15" name="Text 11"/>
          <p:cNvSpPr txBox="1"/>
          <p:nvPr/>
        </p:nvSpPr>
        <p:spPr>
          <a:xfrm>
            <a:off x="868680" y="4059936"/>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Ik heb hem altijd </a:t>
            </a:r>
            <a:r>
              <a:rPr lang="en-US" sz="1800" b="1" i="1" dirty="0">
                <a:solidFill>
                  <a:srgbClr val="4A5A70"/>
                </a:solidFill>
              </a:rPr>
              <a:t>gemogen</a:t>
            </a:r>
            <a:r>
              <a:rPr lang="en-US" sz="1800" i="1" dirty="0">
                <a:solidFill>
                  <a:schemeClr val="tx1"/>
                </a:solidFill>
              </a:rPr>
              <a:t>.</a:t>
            </a:r>
            <a:endParaRPr lang="en-US" sz="1800" dirty="0"/>
          </a:p>
        </p:txBody>
      </p:sp>
      <p:sp>
        <p:nvSpPr>
          <p:cNvPr id="16" name="Text 12"/>
          <p:cNvSpPr txBox="1"/>
          <p:nvPr/>
        </p:nvSpPr>
        <p:spPr>
          <a:xfrm>
            <a:off x="868680" y="4425696"/>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je l’ai toujours bien aimé</a:t>
            </a:r>
            <a:endParaRPr lang="en-US" sz="1200" dirty="0"/>
          </a:p>
        </p:txBody>
      </p:sp>
      <p:sp>
        <p:nvSpPr>
          <p:cNvPr id="17" name="Shape 13"/>
          <p:cNvSpPr/>
          <p:nvPr/>
        </p:nvSpPr>
        <p:spPr>
          <a:xfrm>
            <a:off x="731520" y="4828032"/>
            <a:ext cx="5042916" cy="694944"/>
          </a:xfrm>
          <a:prstGeom prst="roundRect">
            <a:avLst>
              <a:gd name="adj" fmla="val 10526"/>
            </a:avLst>
          </a:prstGeom>
          <a:solidFill>
            <a:srgbClr val="FFFFFF"/>
          </a:solidFill>
          <a:ln w="12700">
            <a:solidFill>
              <a:srgbClr val="FFFFFF">
                <a:alpha val="0"/>
              </a:srgbClr>
            </a:solidFill>
            <a:prstDash val="solid"/>
          </a:ln>
        </p:spPr>
      </p:sp>
      <p:sp>
        <p:nvSpPr>
          <p:cNvPr id="18" name="Text 14"/>
          <p:cNvSpPr txBox="1"/>
          <p:nvPr/>
        </p:nvSpPr>
        <p:spPr>
          <a:xfrm>
            <a:off x="868680" y="4846320"/>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Ik heb het zo </a:t>
            </a:r>
            <a:r>
              <a:rPr lang="en-US" sz="1800" b="1" i="1" dirty="0">
                <a:solidFill>
                  <a:srgbClr val="4A5A70"/>
                </a:solidFill>
              </a:rPr>
              <a:t>gelaten</a:t>
            </a:r>
            <a:r>
              <a:rPr lang="en-US" sz="1800" i="1" dirty="0">
                <a:solidFill>
                  <a:schemeClr val="tx1"/>
                </a:solidFill>
              </a:rPr>
              <a:t>.</a:t>
            </a:r>
            <a:endParaRPr lang="en-US" sz="1800" dirty="0"/>
          </a:p>
        </p:txBody>
      </p:sp>
      <p:sp>
        <p:nvSpPr>
          <p:cNvPr id="19" name="Text 15"/>
          <p:cNvSpPr txBox="1"/>
          <p:nvPr/>
        </p:nvSpPr>
        <p:spPr>
          <a:xfrm>
            <a:off x="868680" y="5212080"/>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je l’ai laissé comme ça</a:t>
            </a:r>
            <a:endParaRPr lang="en-US" sz="1200" dirty="0"/>
          </a:p>
        </p:txBody>
      </p:sp>
      <p:sp>
        <p:nvSpPr>
          <p:cNvPr id="20" name="Shape 16"/>
          <p:cNvSpPr/>
          <p:nvPr/>
        </p:nvSpPr>
        <p:spPr>
          <a:xfrm>
            <a:off x="6231636" y="1463040"/>
            <a:ext cx="5408676" cy="4206240"/>
          </a:xfrm>
          <a:prstGeom prst="roundRect">
            <a:avLst>
              <a:gd name="adj" fmla="val 2609"/>
            </a:avLst>
          </a:prstGeom>
          <a:solidFill>
            <a:srgbClr val="FDF1E6"/>
          </a:solidFill>
          <a:ln w="25400">
            <a:solidFill>
              <a:srgbClr val="D9700F"/>
            </a:solidFill>
            <a:prstDash val="solid"/>
          </a:ln>
        </p:spPr>
      </p:sp>
      <p:pic>
        <p:nvPicPr>
          <p:cNvPr id="21" name="Image 1" descr="busts in silhouette">    </p:cNvPr>
          <p:cNvPicPr>
            <a:picLocks noChangeAspect="1"/>
          </p:cNvPicPr>
          <p:nvPr/>
        </p:nvPicPr>
        <p:blipFill>
          <a:blip r:embed="rId2"/>
          <a:stretch>
            <a:fillRect/>
          </a:stretch>
        </p:blipFill>
        <p:spPr>
          <a:xfrm>
            <a:off x="6414516" y="1572768"/>
            <a:ext cx="731520" cy="731520"/>
          </a:xfrm>
          <a:prstGeom prst="rect">
            <a:avLst/>
          </a:prstGeom>
        </p:spPr>
      </p:pic>
      <p:sp>
        <p:nvSpPr>
          <p:cNvPr id="22" name="Text 17"/>
          <p:cNvSpPr txBox="1"/>
          <p:nvPr/>
        </p:nvSpPr>
        <p:spPr>
          <a:xfrm>
            <a:off x="7283196" y="1572768"/>
            <a:ext cx="4219956" cy="731520"/>
          </a:xfrm>
          <a:prstGeom prst="rect">
            <a:avLst/>
          </a:prstGeom>
          <a:noFill/>
          <a:ln/>
        </p:spPr>
        <p:txBody>
          <a:bodyPr wrap="square" lIns="0" tIns="0" rIns="0" bIns="0" rtlCol="0" anchor="ctr"/>
          <a:lstStyle/>
          <a:p>
            <a:pPr algn="l" indent="0" marL="0">
              <a:buNone/>
            </a:pPr>
            <a:r>
              <a:rPr lang="en-US" sz="1900" b="1" dirty="0">
                <a:solidFill>
                  <a:schemeClr val="accent1"/>
                </a:solidFill>
              </a:rPr>
              <a:t>+ INFINITIF → INFINITIF</a:t>
            </a:r>
            <a:endParaRPr lang="en-US" sz="1900" dirty="0"/>
          </a:p>
        </p:txBody>
      </p:sp>
      <p:sp>
        <p:nvSpPr>
          <p:cNvPr id="23" name="Shape 18"/>
          <p:cNvSpPr/>
          <p:nvPr/>
        </p:nvSpPr>
        <p:spPr>
          <a:xfrm>
            <a:off x="6414516" y="2468880"/>
            <a:ext cx="5042916" cy="694944"/>
          </a:xfrm>
          <a:prstGeom prst="roundRect">
            <a:avLst>
              <a:gd name="adj" fmla="val 10526"/>
            </a:avLst>
          </a:prstGeom>
          <a:solidFill>
            <a:srgbClr val="FFFFFF"/>
          </a:solidFill>
          <a:ln w="12700">
            <a:solidFill>
              <a:srgbClr val="FFFFFF">
                <a:alpha val="0"/>
              </a:srgbClr>
            </a:solidFill>
            <a:prstDash val="solid"/>
          </a:ln>
        </p:spPr>
      </p:sp>
      <p:sp>
        <p:nvSpPr>
          <p:cNvPr id="24" name="Text 19"/>
          <p:cNvSpPr txBox="1"/>
          <p:nvPr/>
        </p:nvSpPr>
        <p:spPr>
          <a:xfrm>
            <a:off x="6551676" y="2487168"/>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Ik heb het niet </a:t>
            </a:r>
            <a:r>
              <a:rPr lang="en-US" sz="1800" b="1" i="1" dirty="0">
                <a:solidFill>
                  <a:srgbClr val="D9700F"/>
                </a:solidFill>
              </a:rPr>
              <a:t>kunnen doen</a:t>
            </a:r>
            <a:r>
              <a:rPr lang="en-US" sz="1800" i="1" dirty="0">
                <a:solidFill>
                  <a:schemeClr val="tx1"/>
                </a:solidFill>
              </a:rPr>
              <a:t>.</a:t>
            </a:r>
            <a:endParaRPr lang="en-US" sz="1800" dirty="0"/>
          </a:p>
        </p:txBody>
      </p:sp>
      <p:sp>
        <p:nvSpPr>
          <p:cNvPr id="25" name="Text 20"/>
          <p:cNvSpPr txBox="1"/>
          <p:nvPr/>
        </p:nvSpPr>
        <p:spPr>
          <a:xfrm>
            <a:off x="6551676" y="2852928"/>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je n’ai pas pu le faire</a:t>
            </a:r>
            <a:endParaRPr lang="en-US" sz="1200" dirty="0"/>
          </a:p>
        </p:txBody>
      </p:sp>
      <p:sp>
        <p:nvSpPr>
          <p:cNvPr id="26" name="Shape 21"/>
          <p:cNvSpPr/>
          <p:nvPr/>
        </p:nvSpPr>
        <p:spPr>
          <a:xfrm>
            <a:off x="6414516" y="3255264"/>
            <a:ext cx="5042916" cy="694944"/>
          </a:xfrm>
          <a:prstGeom prst="roundRect">
            <a:avLst>
              <a:gd name="adj" fmla="val 10526"/>
            </a:avLst>
          </a:prstGeom>
          <a:solidFill>
            <a:srgbClr val="FFFFFF"/>
          </a:solidFill>
          <a:ln w="12700">
            <a:solidFill>
              <a:srgbClr val="FFFFFF">
                <a:alpha val="0"/>
              </a:srgbClr>
            </a:solidFill>
            <a:prstDash val="solid"/>
          </a:ln>
        </p:spPr>
      </p:sp>
      <p:sp>
        <p:nvSpPr>
          <p:cNvPr id="27" name="Text 22"/>
          <p:cNvSpPr txBox="1"/>
          <p:nvPr/>
        </p:nvSpPr>
        <p:spPr>
          <a:xfrm>
            <a:off x="6551676" y="3273552"/>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Dat heb ik altijd </a:t>
            </a:r>
            <a:r>
              <a:rPr lang="en-US" sz="1800" b="1" i="1" dirty="0">
                <a:solidFill>
                  <a:srgbClr val="D9700F"/>
                </a:solidFill>
              </a:rPr>
              <a:t>willen doen</a:t>
            </a:r>
            <a:r>
              <a:rPr lang="en-US" sz="1800" i="1" dirty="0">
                <a:solidFill>
                  <a:schemeClr val="tx1"/>
                </a:solidFill>
              </a:rPr>
              <a:t>.</a:t>
            </a:r>
            <a:endParaRPr lang="en-US" sz="1800" dirty="0"/>
          </a:p>
        </p:txBody>
      </p:sp>
      <p:sp>
        <p:nvSpPr>
          <p:cNvPr id="28" name="Text 23"/>
          <p:cNvSpPr txBox="1"/>
          <p:nvPr/>
        </p:nvSpPr>
        <p:spPr>
          <a:xfrm>
            <a:off x="6551676" y="3639312"/>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j’ai toujours voulu le faire</a:t>
            </a:r>
            <a:endParaRPr lang="en-US" sz="1200" dirty="0"/>
          </a:p>
        </p:txBody>
      </p:sp>
      <p:sp>
        <p:nvSpPr>
          <p:cNvPr id="29" name="Shape 24"/>
          <p:cNvSpPr/>
          <p:nvPr/>
        </p:nvSpPr>
        <p:spPr>
          <a:xfrm>
            <a:off x="6414516" y="4041648"/>
            <a:ext cx="5042916" cy="694944"/>
          </a:xfrm>
          <a:prstGeom prst="roundRect">
            <a:avLst>
              <a:gd name="adj" fmla="val 10526"/>
            </a:avLst>
          </a:prstGeom>
          <a:solidFill>
            <a:srgbClr val="FFFFFF"/>
          </a:solidFill>
          <a:ln w="12700">
            <a:solidFill>
              <a:srgbClr val="FFFFFF">
                <a:alpha val="0"/>
              </a:srgbClr>
            </a:solidFill>
            <a:prstDash val="solid"/>
          </a:ln>
        </p:spPr>
      </p:sp>
      <p:sp>
        <p:nvSpPr>
          <p:cNvPr id="30" name="Text 25"/>
          <p:cNvSpPr txBox="1"/>
          <p:nvPr/>
        </p:nvSpPr>
        <p:spPr>
          <a:xfrm>
            <a:off x="6551676" y="4059936"/>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Ik heb vroeg </a:t>
            </a:r>
            <a:r>
              <a:rPr lang="en-US" sz="1800" b="1" i="1" dirty="0">
                <a:solidFill>
                  <a:srgbClr val="D9700F"/>
                </a:solidFill>
              </a:rPr>
              <a:t>mogen vertrekken</a:t>
            </a:r>
            <a:r>
              <a:rPr lang="en-US" sz="1800" i="1" dirty="0">
                <a:solidFill>
                  <a:schemeClr val="tx1"/>
                </a:solidFill>
              </a:rPr>
              <a:t>.</a:t>
            </a:r>
            <a:endParaRPr lang="en-US" sz="1800" dirty="0"/>
          </a:p>
        </p:txBody>
      </p:sp>
      <p:sp>
        <p:nvSpPr>
          <p:cNvPr id="31" name="Text 26"/>
          <p:cNvSpPr txBox="1"/>
          <p:nvPr/>
        </p:nvSpPr>
        <p:spPr>
          <a:xfrm>
            <a:off x="6551676" y="4425696"/>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j’ai pu partir tôt</a:t>
            </a:r>
            <a:endParaRPr lang="en-US" sz="1200" dirty="0"/>
          </a:p>
        </p:txBody>
      </p:sp>
      <p:sp>
        <p:nvSpPr>
          <p:cNvPr id="32" name="Shape 27"/>
          <p:cNvSpPr/>
          <p:nvPr/>
        </p:nvSpPr>
        <p:spPr>
          <a:xfrm>
            <a:off x="6414516" y="4828032"/>
            <a:ext cx="5042916" cy="694944"/>
          </a:xfrm>
          <a:prstGeom prst="roundRect">
            <a:avLst>
              <a:gd name="adj" fmla="val 10526"/>
            </a:avLst>
          </a:prstGeom>
          <a:solidFill>
            <a:srgbClr val="FFFFFF"/>
          </a:solidFill>
          <a:ln w="12700">
            <a:solidFill>
              <a:srgbClr val="FFFFFF">
                <a:alpha val="0"/>
              </a:srgbClr>
            </a:solidFill>
            <a:prstDash val="solid"/>
          </a:ln>
        </p:spPr>
      </p:sp>
      <p:sp>
        <p:nvSpPr>
          <p:cNvPr id="33" name="Text 28"/>
          <p:cNvSpPr txBox="1"/>
          <p:nvPr/>
        </p:nvSpPr>
        <p:spPr>
          <a:xfrm>
            <a:off x="6551676" y="4846320"/>
            <a:ext cx="4768596" cy="384048"/>
          </a:xfrm>
          <a:prstGeom prst="rect">
            <a:avLst/>
          </a:prstGeom>
          <a:noFill/>
          <a:ln/>
        </p:spPr>
        <p:txBody>
          <a:bodyPr wrap="square" lIns="0" tIns="0" rIns="0" bIns="0" rtlCol="0" anchor="ctr"/>
          <a:lstStyle/>
          <a:p>
            <a:pPr algn="l" indent="0" marL="0">
              <a:buNone/>
            </a:pPr>
            <a:r>
              <a:rPr lang="en-US" sz="1800" i="1" dirty="0">
                <a:solidFill>
                  <a:schemeClr val="tx1"/>
                </a:solidFill>
              </a:rPr>
              <a:t>Ik heb het </a:t>
            </a:r>
            <a:r>
              <a:rPr lang="en-US" sz="1800" b="1" i="1" dirty="0">
                <a:solidFill>
                  <a:srgbClr val="D9700F"/>
                </a:solidFill>
              </a:rPr>
              <a:t>laten doen</a:t>
            </a:r>
            <a:r>
              <a:rPr lang="en-US" sz="1800" i="1" dirty="0">
                <a:solidFill>
                  <a:schemeClr val="tx1"/>
                </a:solidFill>
              </a:rPr>
              <a:t>.</a:t>
            </a:r>
            <a:endParaRPr lang="en-US" sz="1800" dirty="0"/>
          </a:p>
        </p:txBody>
      </p:sp>
      <p:sp>
        <p:nvSpPr>
          <p:cNvPr id="34" name="Text 29"/>
          <p:cNvSpPr txBox="1"/>
          <p:nvPr/>
        </p:nvSpPr>
        <p:spPr>
          <a:xfrm>
            <a:off x="6551676" y="5212080"/>
            <a:ext cx="4768596" cy="274320"/>
          </a:xfrm>
          <a:prstGeom prst="rect">
            <a:avLst/>
          </a:prstGeom>
          <a:noFill/>
          <a:ln/>
        </p:spPr>
        <p:txBody>
          <a:bodyPr wrap="square" lIns="0" tIns="0" rIns="0" bIns="0" rtlCol="0" anchor="ctr"/>
          <a:lstStyle/>
          <a:p>
            <a:pPr algn="l" indent="0" marL="0">
              <a:buNone/>
            </a:pPr>
            <a:r>
              <a:rPr lang="en-US" sz="1200" i="1" dirty="0">
                <a:solidFill>
                  <a:schemeClr val="accent5"/>
                </a:solidFill>
              </a:rPr>
              <a:t>je l’ai fait faire</a:t>
            </a:r>
            <a:endParaRPr lang="en-US" sz="1200" dirty="0"/>
          </a:p>
        </p:txBody>
      </p:sp>
      <p:sp>
        <p:nvSpPr>
          <p:cNvPr id="35" name="Text 30"/>
          <p:cNvSpPr txBox="1"/>
          <p:nvPr/>
        </p:nvSpPr>
        <p:spPr>
          <a:xfrm>
            <a:off x="548640" y="5806440"/>
            <a:ext cx="11091672" cy="365760"/>
          </a:xfrm>
          <a:prstGeom prst="rect">
            <a:avLst/>
          </a:prstGeom>
          <a:noFill/>
          <a:ln/>
        </p:spPr>
        <p:txBody>
          <a:bodyPr wrap="square" lIns="0" tIns="0" rIns="0" bIns="0" rtlCol="0" anchor="t"/>
          <a:lstStyle/>
          <a:p>
            <a:pPr algn="ctr" indent="0" marL="0">
              <a:buNone/>
            </a:pPr>
            <a:r>
              <a:rPr lang="en-US" sz="1500" i="1" dirty="0">
                <a:solidFill>
                  <a:schemeClr val="tx2"/>
                </a:solidFill>
              </a:rPr>
              <a:t>mogen</a:t>
            </a:r>
            <a:r>
              <a:rPr lang="en-US" sz="1500" dirty="0">
                <a:solidFill>
                  <a:schemeClr val="tx2"/>
                </a:solidFill>
              </a:rPr>
              <a:t> seul = </a:t>
            </a:r>
            <a:r>
              <a:rPr lang="en-US" sz="1500" b="1" dirty="0">
                <a:solidFill>
                  <a:schemeClr val="tx2"/>
                </a:solidFill>
              </a:rPr>
              <a:t>bien aimer</a:t>
            </a:r>
            <a:r>
              <a:rPr lang="en-US" sz="1500" dirty="0">
                <a:solidFill>
                  <a:schemeClr val="tx2"/>
                </a:solidFill>
              </a:rPr>
              <a:t> quelqu’un : </a:t>
            </a:r>
            <a:r>
              <a:rPr lang="en-US" sz="1500" i="1" dirty="0">
                <a:solidFill>
                  <a:schemeClr val="tx2"/>
                </a:solidFill>
              </a:rPr>
              <a:t>Ik mag hem.</a:t>
            </a:r>
            <a:r>
              <a:rPr lang="en-US" sz="1500" dirty="0">
                <a:solidFill>
                  <a:schemeClr val="tx2"/>
                </a:solidFill>
              </a:rPr>
              <a:t> → </a:t>
            </a:r>
            <a:r>
              <a:rPr lang="en-US" sz="1500" i="1" dirty="0">
                <a:solidFill>
                  <a:schemeClr val="tx2"/>
                </a:solidFill>
              </a:rPr>
              <a:t>Ik heb hem altijd </a:t>
            </a:r>
            <a:r>
              <a:rPr lang="en-US" sz="1500" b="1" i="1" dirty="0">
                <a:solidFill>
                  <a:schemeClr val="tx2"/>
                </a:solidFill>
              </a:rPr>
              <a:t>gemogen</a:t>
            </a:r>
            <a:r>
              <a:rPr lang="en-US" sz="1500" i="1" dirty="0">
                <a:solidFill>
                  <a:schemeClr val="tx2"/>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Avec te : on garde le participe</a:t>
            </a:r>
            <a:endParaRPr lang="en-US" sz="3000" dirty="0"/>
          </a:p>
        </p:txBody>
      </p:sp>
      <p:sp>
        <p:nvSpPr>
          <p:cNvPr id="3" name="tag"/>
          <p:cNvSpPr/>
          <p:nvPr/>
        </p:nvSpPr>
        <p:spPr>
          <a:xfrm>
            <a:off x="548640" y="237744"/>
            <a:ext cx="101498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PIÈGE</a:t>
            </a:r>
            <a:endParaRPr lang="en-US" sz="1200" dirty="0"/>
          </a:p>
        </p:txBody>
      </p:sp>
      <p:sp>
        <p:nvSpPr>
          <p:cNvPr id="5" name="Shape 2"/>
          <p:cNvSpPr/>
          <p:nvPr/>
        </p:nvSpPr>
        <p:spPr>
          <a:xfrm>
            <a:off x="548640" y="1463040"/>
            <a:ext cx="5408676" cy="4160520"/>
          </a:xfrm>
          <a:prstGeom prst="roundRect">
            <a:avLst>
              <a:gd name="adj" fmla="val 2637"/>
            </a:avLst>
          </a:prstGeom>
          <a:solidFill>
            <a:srgbClr val="E6EBF2"/>
          </a:solidFill>
          <a:ln w="25400">
            <a:solidFill>
              <a:srgbClr val="4A5A70"/>
            </a:solidFill>
            <a:prstDash val="solid"/>
          </a:ln>
        </p:spPr>
      </p:sp>
      <p:sp>
        <p:nvSpPr>
          <p:cNvPr id="6" name="Text 3"/>
          <p:cNvSpPr txBox="1"/>
          <p:nvPr/>
        </p:nvSpPr>
        <p:spPr>
          <a:xfrm>
            <a:off x="731520" y="1554480"/>
            <a:ext cx="5042916" cy="457200"/>
          </a:xfrm>
          <a:prstGeom prst="rect">
            <a:avLst/>
          </a:prstGeom>
          <a:noFill/>
          <a:ln/>
        </p:spPr>
        <p:txBody>
          <a:bodyPr wrap="square" lIns="0" tIns="0" rIns="0" bIns="0" rtlCol="0" anchor="ctr"/>
          <a:lstStyle/>
          <a:p>
            <a:pPr algn="l" indent="0" marL="0">
              <a:buNone/>
            </a:pPr>
            <a:r>
              <a:rPr lang="en-US" sz="1700" b="1" dirty="0">
                <a:solidFill>
                  <a:schemeClr val="tx2"/>
                </a:solidFill>
              </a:rPr>
              <a:t>VERBE + te + INFINITIF → PARTICIPE</a:t>
            </a:r>
            <a:endParaRPr lang="en-US" sz="1700" dirty="0"/>
          </a:p>
        </p:txBody>
      </p:sp>
      <p:sp>
        <p:nvSpPr>
          <p:cNvPr id="7" name="Shape 4"/>
          <p:cNvSpPr/>
          <p:nvPr/>
        </p:nvSpPr>
        <p:spPr>
          <a:xfrm>
            <a:off x="731520" y="2148840"/>
            <a:ext cx="5042916" cy="749808"/>
          </a:xfrm>
          <a:prstGeom prst="roundRect">
            <a:avLst>
              <a:gd name="adj" fmla="val 9756"/>
            </a:avLst>
          </a:prstGeom>
          <a:solidFill>
            <a:srgbClr val="FFFFFF"/>
          </a:solidFill>
          <a:ln w="12700">
            <a:solidFill>
              <a:srgbClr val="FFFFFF">
                <a:alpha val="0"/>
              </a:srgbClr>
            </a:solidFill>
            <a:prstDash val="solid"/>
          </a:ln>
        </p:spPr>
      </p:sp>
      <p:pic>
        <p:nvPicPr>
          <p:cNvPr id="8" name="Image 0" descr="handshake">    </p:cNvPr>
          <p:cNvPicPr>
            <a:picLocks noChangeAspect="1"/>
          </p:cNvPicPr>
          <p:nvPr/>
        </p:nvPicPr>
        <p:blipFill>
          <a:blip r:embed="rId1"/>
          <a:stretch>
            <a:fillRect/>
          </a:stretch>
        </p:blipFill>
        <p:spPr>
          <a:xfrm>
            <a:off x="841248" y="2221992"/>
            <a:ext cx="603504" cy="603504"/>
          </a:xfrm>
          <a:prstGeom prst="rect">
            <a:avLst/>
          </a:prstGeom>
        </p:spPr>
      </p:pic>
      <p:sp>
        <p:nvSpPr>
          <p:cNvPr id="9" name="Text 5"/>
          <p:cNvSpPr txBox="1"/>
          <p:nvPr/>
        </p:nvSpPr>
        <p:spPr>
          <a:xfrm>
            <a:off x="1600200" y="2167128"/>
            <a:ext cx="3945636" cy="438912"/>
          </a:xfrm>
          <a:prstGeom prst="rect">
            <a:avLst/>
          </a:prstGeom>
          <a:noFill/>
          <a:ln/>
        </p:spPr>
        <p:txBody>
          <a:bodyPr wrap="square" lIns="0" tIns="0" rIns="0" bIns="0" rtlCol="0" anchor="ctr"/>
          <a:lstStyle/>
          <a:p>
            <a:pPr algn="l" indent="0" marL="0">
              <a:buNone/>
            </a:pPr>
            <a:r>
              <a:rPr lang="en-US" sz="1700" i="1" dirty="0">
                <a:solidFill>
                  <a:schemeClr val="tx1"/>
                </a:solidFill>
              </a:rPr>
              <a:t>Ik heb </a:t>
            </a:r>
            <a:r>
              <a:rPr lang="en-US" sz="1700" b="1" i="1" dirty="0">
                <a:solidFill>
                  <a:srgbClr val="17375E"/>
                </a:solidFill>
              </a:rPr>
              <a:t>beloofd</a:t>
            </a:r>
            <a:r>
              <a:rPr lang="en-US" sz="1700" i="1" dirty="0">
                <a:solidFill>
                  <a:schemeClr val="tx1"/>
                </a:solidFill>
              </a:rPr>
              <a:t> te komen.</a:t>
            </a:r>
            <a:endParaRPr lang="en-US" sz="1800" dirty="0"/>
          </a:p>
        </p:txBody>
      </p:sp>
      <p:sp>
        <p:nvSpPr>
          <p:cNvPr id="10" name="Text 6"/>
          <p:cNvSpPr txBox="1"/>
          <p:nvPr/>
        </p:nvSpPr>
        <p:spPr>
          <a:xfrm>
            <a:off x="1600200" y="2587752"/>
            <a:ext cx="3945636" cy="274320"/>
          </a:xfrm>
          <a:prstGeom prst="rect">
            <a:avLst/>
          </a:prstGeom>
          <a:noFill/>
          <a:ln/>
        </p:spPr>
        <p:txBody>
          <a:bodyPr wrap="square" lIns="0" tIns="0" rIns="0" bIns="0" rtlCol="0" anchor="ctr"/>
          <a:lstStyle/>
          <a:p>
            <a:pPr algn="l" indent="0" marL="0">
              <a:buNone/>
            </a:pPr>
            <a:r>
              <a:rPr lang="en-US" sz="1200" i="1" dirty="0">
                <a:solidFill>
                  <a:schemeClr val="accent5"/>
                </a:solidFill>
              </a:rPr>
              <a:t>beloven</a:t>
            </a:r>
            <a:endParaRPr lang="en-US" sz="1200" dirty="0"/>
          </a:p>
        </p:txBody>
      </p:sp>
      <p:sp>
        <p:nvSpPr>
          <p:cNvPr id="11" name="Shape 7"/>
          <p:cNvSpPr/>
          <p:nvPr/>
        </p:nvSpPr>
        <p:spPr>
          <a:xfrm>
            <a:off x="731520" y="2999232"/>
            <a:ext cx="5042916" cy="749808"/>
          </a:xfrm>
          <a:prstGeom prst="roundRect">
            <a:avLst>
              <a:gd name="adj" fmla="val 9756"/>
            </a:avLst>
          </a:prstGeom>
          <a:solidFill>
            <a:srgbClr val="FFFFFF"/>
          </a:solidFill>
          <a:ln w="12700">
            <a:solidFill>
              <a:srgbClr val="FFFFFF">
                <a:alpha val="0"/>
              </a:srgbClr>
            </a:solidFill>
            <a:prstDash val="solid"/>
          </a:ln>
        </p:spPr>
      </p:sp>
      <p:pic>
        <p:nvPicPr>
          <p:cNvPr id="12" name="Image 1" descr="telephone receiver">    </p:cNvPr>
          <p:cNvPicPr>
            <a:picLocks noChangeAspect="1"/>
          </p:cNvPicPr>
          <p:nvPr/>
        </p:nvPicPr>
        <p:blipFill>
          <a:blip r:embed="rId2"/>
          <a:stretch>
            <a:fillRect/>
          </a:stretch>
        </p:blipFill>
        <p:spPr>
          <a:xfrm>
            <a:off x="841248" y="3072384"/>
            <a:ext cx="603504" cy="603504"/>
          </a:xfrm>
          <a:prstGeom prst="rect">
            <a:avLst/>
          </a:prstGeom>
        </p:spPr>
      </p:pic>
      <p:sp>
        <p:nvSpPr>
          <p:cNvPr id="13" name="Text 8"/>
          <p:cNvSpPr txBox="1"/>
          <p:nvPr/>
        </p:nvSpPr>
        <p:spPr>
          <a:xfrm>
            <a:off x="1600200" y="3017520"/>
            <a:ext cx="3945636" cy="438912"/>
          </a:xfrm>
          <a:prstGeom prst="rect">
            <a:avLst/>
          </a:prstGeom>
          <a:noFill/>
          <a:ln/>
        </p:spPr>
        <p:txBody>
          <a:bodyPr wrap="square" lIns="0" tIns="0" rIns="0" bIns="0" rtlCol="0" anchor="ctr"/>
          <a:lstStyle/>
          <a:p>
            <a:pPr algn="l" indent="0" marL="0">
              <a:buNone/>
            </a:pPr>
            <a:r>
              <a:rPr lang="en-US" sz="1700" i="1" dirty="0">
                <a:solidFill>
                  <a:schemeClr val="tx1"/>
                </a:solidFill>
              </a:rPr>
              <a:t>Ik heb </a:t>
            </a:r>
            <a:r>
              <a:rPr lang="en-US" sz="1700" b="1" i="1" dirty="0">
                <a:solidFill>
                  <a:srgbClr val="17375E"/>
                </a:solidFill>
              </a:rPr>
              <a:t>geprobeerd</a:t>
            </a:r>
            <a:r>
              <a:rPr lang="en-US" sz="1700" i="1" dirty="0">
                <a:solidFill>
                  <a:schemeClr val="tx1"/>
                </a:solidFill>
              </a:rPr>
              <a:t> je te bellen.</a:t>
            </a:r>
            <a:endParaRPr lang="en-US" sz="1800" dirty="0"/>
          </a:p>
        </p:txBody>
      </p:sp>
      <p:sp>
        <p:nvSpPr>
          <p:cNvPr id="14" name="Text 9"/>
          <p:cNvSpPr txBox="1"/>
          <p:nvPr/>
        </p:nvSpPr>
        <p:spPr>
          <a:xfrm>
            <a:off x="1600200" y="3438144"/>
            <a:ext cx="3945636" cy="274320"/>
          </a:xfrm>
          <a:prstGeom prst="rect">
            <a:avLst/>
          </a:prstGeom>
          <a:noFill/>
          <a:ln/>
        </p:spPr>
        <p:txBody>
          <a:bodyPr wrap="square" lIns="0" tIns="0" rIns="0" bIns="0" rtlCol="0" anchor="ctr"/>
          <a:lstStyle/>
          <a:p>
            <a:pPr algn="l" indent="0" marL="0">
              <a:buNone/>
            </a:pPr>
            <a:r>
              <a:rPr lang="en-US" sz="1200" i="1" dirty="0">
                <a:solidFill>
                  <a:schemeClr val="accent5"/>
                </a:solidFill>
              </a:rPr>
              <a:t>proberen</a:t>
            </a:r>
            <a:endParaRPr lang="en-US" sz="1200" dirty="0"/>
          </a:p>
        </p:txBody>
      </p:sp>
      <p:sp>
        <p:nvSpPr>
          <p:cNvPr id="15" name="Shape 10"/>
          <p:cNvSpPr/>
          <p:nvPr/>
        </p:nvSpPr>
        <p:spPr>
          <a:xfrm>
            <a:off x="731520" y="3849624"/>
            <a:ext cx="5042916" cy="749808"/>
          </a:xfrm>
          <a:prstGeom prst="roundRect">
            <a:avLst>
              <a:gd name="adj" fmla="val 9756"/>
            </a:avLst>
          </a:prstGeom>
          <a:solidFill>
            <a:srgbClr val="FFFFFF"/>
          </a:solidFill>
          <a:ln w="12700">
            <a:solidFill>
              <a:srgbClr val="FFFFFF">
                <a:alpha val="0"/>
              </a:srgbClr>
            </a:solidFill>
            <a:prstDash val="solid"/>
          </a:ln>
        </p:spPr>
      </p:sp>
      <p:pic>
        <p:nvPicPr>
          <p:cNvPr id="16" name="Image 2" descr="thinking face">    </p:cNvPr>
          <p:cNvPicPr>
            <a:picLocks noChangeAspect="1"/>
          </p:cNvPicPr>
          <p:nvPr/>
        </p:nvPicPr>
        <p:blipFill>
          <a:blip r:embed="rId3"/>
          <a:stretch>
            <a:fillRect/>
          </a:stretch>
        </p:blipFill>
        <p:spPr>
          <a:xfrm>
            <a:off x="841248" y="3922776"/>
            <a:ext cx="603504" cy="603504"/>
          </a:xfrm>
          <a:prstGeom prst="rect">
            <a:avLst/>
          </a:prstGeom>
        </p:spPr>
      </p:pic>
      <p:sp>
        <p:nvSpPr>
          <p:cNvPr id="17" name="Text 11"/>
          <p:cNvSpPr txBox="1"/>
          <p:nvPr/>
        </p:nvSpPr>
        <p:spPr>
          <a:xfrm>
            <a:off x="1600200" y="3867912"/>
            <a:ext cx="3945636" cy="438912"/>
          </a:xfrm>
          <a:prstGeom prst="rect">
            <a:avLst/>
          </a:prstGeom>
          <a:noFill/>
          <a:ln/>
        </p:spPr>
        <p:txBody>
          <a:bodyPr wrap="square" lIns="0" tIns="0" rIns="0" bIns="0" rtlCol="0" anchor="ctr"/>
          <a:lstStyle/>
          <a:p>
            <a:pPr algn="l" indent="0" marL="0">
              <a:buNone/>
            </a:pPr>
            <a:r>
              <a:rPr lang="en-US" sz="1700" i="1" dirty="0">
                <a:solidFill>
                  <a:schemeClr val="tx1"/>
                </a:solidFill>
              </a:rPr>
              <a:t>We hebben </a:t>
            </a:r>
            <a:r>
              <a:rPr lang="en-US" sz="1700" b="1" i="1" dirty="0">
                <a:solidFill>
                  <a:srgbClr val="17375E"/>
                </a:solidFill>
              </a:rPr>
              <a:t>besloten</a:t>
            </a:r>
            <a:r>
              <a:rPr lang="en-US" sz="1700" i="1" dirty="0">
                <a:solidFill>
                  <a:schemeClr val="tx1"/>
                </a:solidFill>
              </a:rPr>
              <a:t> te verhuizen.</a:t>
            </a:r>
            <a:endParaRPr lang="en-US" sz="1800" dirty="0"/>
          </a:p>
        </p:txBody>
      </p:sp>
      <p:sp>
        <p:nvSpPr>
          <p:cNvPr id="18" name="Text 12"/>
          <p:cNvSpPr txBox="1"/>
          <p:nvPr/>
        </p:nvSpPr>
        <p:spPr>
          <a:xfrm>
            <a:off x="1600200" y="4288536"/>
            <a:ext cx="3945636" cy="274320"/>
          </a:xfrm>
          <a:prstGeom prst="rect">
            <a:avLst/>
          </a:prstGeom>
          <a:noFill/>
          <a:ln/>
        </p:spPr>
        <p:txBody>
          <a:bodyPr wrap="square" lIns="0" tIns="0" rIns="0" bIns="0" rtlCol="0" anchor="ctr"/>
          <a:lstStyle/>
          <a:p>
            <a:pPr algn="l" indent="0" marL="0">
              <a:buNone/>
            </a:pPr>
            <a:r>
              <a:rPr lang="en-US" sz="1200" i="1" dirty="0">
                <a:solidFill>
                  <a:schemeClr val="accent5"/>
                </a:solidFill>
              </a:rPr>
              <a:t>beslissen</a:t>
            </a:r>
            <a:endParaRPr lang="en-US" sz="1200" dirty="0"/>
          </a:p>
        </p:txBody>
      </p:sp>
      <p:sp>
        <p:nvSpPr>
          <p:cNvPr id="19" name="Shape 13"/>
          <p:cNvSpPr/>
          <p:nvPr/>
        </p:nvSpPr>
        <p:spPr>
          <a:xfrm>
            <a:off x="731520" y="4700016"/>
            <a:ext cx="5042916" cy="749808"/>
          </a:xfrm>
          <a:prstGeom prst="roundRect">
            <a:avLst>
              <a:gd name="adj" fmla="val 9756"/>
            </a:avLst>
          </a:prstGeom>
          <a:solidFill>
            <a:srgbClr val="FFFFFF"/>
          </a:solidFill>
          <a:ln w="12700">
            <a:solidFill>
              <a:srgbClr val="FFFFFF">
                <a:alpha val="0"/>
              </a:srgbClr>
            </a:solidFill>
            <a:prstDash val="solid"/>
          </a:ln>
        </p:spPr>
      </p:sp>
      <p:pic>
        <p:nvPicPr>
          <p:cNvPr id="20" name="Image 3" descr="no entry">    </p:cNvPr>
          <p:cNvPicPr>
            <a:picLocks noChangeAspect="1"/>
          </p:cNvPicPr>
          <p:nvPr/>
        </p:nvPicPr>
        <p:blipFill>
          <a:blip r:embed="rId4"/>
          <a:stretch>
            <a:fillRect/>
          </a:stretch>
        </p:blipFill>
        <p:spPr>
          <a:xfrm>
            <a:off x="841248" y="4773168"/>
            <a:ext cx="603504" cy="603504"/>
          </a:xfrm>
          <a:prstGeom prst="rect">
            <a:avLst/>
          </a:prstGeom>
        </p:spPr>
      </p:pic>
      <p:sp>
        <p:nvSpPr>
          <p:cNvPr id="21" name="Text 14"/>
          <p:cNvSpPr txBox="1"/>
          <p:nvPr/>
        </p:nvSpPr>
        <p:spPr>
          <a:xfrm>
            <a:off x="1600200" y="4718304"/>
            <a:ext cx="3945636" cy="438912"/>
          </a:xfrm>
          <a:prstGeom prst="rect">
            <a:avLst/>
          </a:prstGeom>
          <a:noFill/>
          <a:ln/>
        </p:spPr>
        <p:txBody>
          <a:bodyPr wrap="square" lIns="0" tIns="0" rIns="0" bIns="0" rtlCol="0" anchor="ctr"/>
          <a:lstStyle/>
          <a:p>
            <a:pPr algn="l" indent="0" marL="0">
              <a:buNone/>
            </a:pPr>
            <a:r>
              <a:rPr lang="en-US" sz="1700" i="1" dirty="0">
                <a:solidFill>
                  <a:schemeClr val="tx1"/>
                </a:solidFill>
              </a:rPr>
              <a:t>Hij heeft </a:t>
            </a:r>
            <a:r>
              <a:rPr lang="en-US" sz="1700" b="1" i="1" dirty="0">
                <a:solidFill>
                  <a:srgbClr val="17375E"/>
                </a:solidFill>
              </a:rPr>
              <a:t>geweigerd</a:t>
            </a:r>
            <a:r>
              <a:rPr lang="en-US" sz="1700" i="1" dirty="0">
                <a:solidFill>
                  <a:schemeClr val="tx1"/>
                </a:solidFill>
              </a:rPr>
              <a:t> te betalen.</a:t>
            </a:r>
            <a:endParaRPr lang="en-US" sz="1800" dirty="0"/>
          </a:p>
        </p:txBody>
      </p:sp>
      <p:sp>
        <p:nvSpPr>
          <p:cNvPr id="22" name="Text 15"/>
          <p:cNvSpPr txBox="1"/>
          <p:nvPr/>
        </p:nvSpPr>
        <p:spPr>
          <a:xfrm>
            <a:off x="1600200" y="5138928"/>
            <a:ext cx="3945636" cy="274320"/>
          </a:xfrm>
          <a:prstGeom prst="rect">
            <a:avLst/>
          </a:prstGeom>
          <a:noFill/>
          <a:ln/>
        </p:spPr>
        <p:txBody>
          <a:bodyPr wrap="square" lIns="0" tIns="0" rIns="0" bIns="0" rtlCol="0" anchor="ctr"/>
          <a:lstStyle/>
          <a:p>
            <a:pPr algn="l" indent="0" marL="0">
              <a:buNone/>
            </a:pPr>
            <a:r>
              <a:rPr lang="en-US" sz="1200" i="1" dirty="0">
                <a:solidFill>
                  <a:schemeClr val="accent5"/>
                </a:solidFill>
              </a:rPr>
              <a:t>weigeren</a:t>
            </a:r>
            <a:endParaRPr lang="en-US" sz="1200" dirty="0"/>
          </a:p>
        </p:txBody>
      </p:sp>
      <p:sp>
        <p:nvSpPr>
          <p:cNvPr id="23" name="Shape 16"/>
          <p:cNvSpPr/>
          <p:nvPr/>
        </p:nvSpPr>
        <p:spPr>
          <a:xfrm>
            <a:off x="6231636" y="1463040"/>
            <a:ext cx="5408676" cy="4160520"/>
          </a:xfrm>
          <a:prstGeom prst="roundRect">
            <a:avLst>
              <a:gd name="adj" fmla="val 2637"/>
            </a:avLst>
          </a:prstGeom>
          <a:solidFill>
            <a:srgbClr val="F1ECF7"/>
          </a:solidFill>
          <a:ln w="25400">
            <a:solidFill>
              <a:srgbClr val="6E4A9E"/>
            </a:solidFill>
            <a:prstDash val="solid"/>
          </a:ln>
        </p:spPr>
      </p:sp>
      <p:sp>
        <p:nvSpPr>
          <p:cNvPr id="24" name="Text 17"/>
          <p:cNvSpPr txBox="1"/>
          <p:nvPr/>
        </p:nvSpPr>
        <p:spPr>
          <a:xfrm>
            <a:off x="6414516" y="1554480"/>
            <a:ext cx="5042916" cy="457200"/>
          </a:xfrm>
          <a:prstGeom prst="rect">
            <a:avLst/>
          </a:prstGeom>
          <a:noFill/>
          <a:ln/>
        </p:spPr>
        <p:txBody>
          <a:bodyPr wrap="square" lIns="0" tIns="0" rIns="0" bIns="0" rtlCol="0" anchor="ctr"/>
          <a:lstStyle/>
          <a:p>
            <a:pPr algn="l" indent="0" marL="0">
              <a:buNone/>
            </a:pPr>
            <a:r>
              <a:rPr lang="en-US" sz="1700" b="1" dirty="0">
                <a:solidFill>
                  <a:srgbClr val="6E4A9E"/>
                </a:solidFill>
              </a:rPr>
              <a:t>EXCEPTION : zitten · staan · liggen · lopen</a:t>
            </a:r>
            <a:endParaRPr lang="en-US" sz="1700" dirty="0"/>
          </a:p>
        </p:txBody>
      </p:sp>
      <p:sp>
        <p:nvSpPr>
          <p:cNvPr id="25" name="Shape 18"/>
          <p:cNvSpPr/>
          <p:nvPr/>
        </p:nvSpPr>
        <p:spPr>
          <a:xfrm>
            <a:off x="6505956" y="2240280"/>
            <a:ext cx="577901" cy="548640"/>
          </a:xfrm>
          <a:prstGeom prst="roundRect">
            <a:avLst>
              <a:gd name="adj" fmla="val 16667"/>
            </a:avLst>
          </a:prstGeom>
          <a:solidFill>
            <a:schemeClr val="bg1"/>
          </a:solidFill>
          <a:ln w="15875">
            <a:solidFill>
              <a:srgbClr val="D5DCE6"/>
            </a:solidFill>
            <a:prstDash val="solid"/>
          </a:ln>
        </p:spPr>
      </p:sp>
      <p:sp>
        <p:nvSpPr>
          <p:cNvPr id="26" name="Text 19"/>
          <p:cNvSpPr txBox="1"/>
          <p:nvPr/>
        </p:nvSpPr>
        <p:spPr>
          <a:xfrm>
            <a:off x="6505956" y="2240280"/>
            <a:ext cx="577901" cy="548640"/>
          </a:xfrm>
          <a:prstGeom prst="rect">
            <a:avLst/>
          </a:prstGeom>
          <a:noFill/>
          <a:ln/>
        </p:spPr>
        <p:txBody>
          <a:bodyPr wrap="square" lIns="0" tIns="0" rIns="0" bIns="0" rtlCol="0" anchor="ctr"/>
          <a:lstStyle/>
          <a:p>
            <a:pPr algn="ctr" indent="0" marL="0">
              <a:buNone/>
            </a:pPr>
            <a:r>
              <a:rPr lang="en-US" sz="2000" dirty="0">
                <a:solidFill>
                  <a:schemeClr val="tx1"/>
                </a:solidFill>
              </a:rPr>
              <a:t>Ik</a:t>
            </a:r>
            <a:endParaRPr lang="en-US" sz="2000" dirty="0"/>
          </a:p>
        </p:txBody>
      </p:sp>
      <p:sp>
        <p:nvSpPr>
          <p:cNvPr id="27" name="Shape 20"/>
          <p:cNvSpPr/>
          <p:nvPr/>
        </p:nvSpPr>
        <p:spPr>
          <a:xfrm>
            <a:off x="7166153" y="2240280"/>
            <a:ext cx="880165" cy="548640"/>
          </a:xfrm>
          <a:prstGeom prst="roundRect">
            <a:avLst>
              <a:gd name="adj" fmla="val 16667"/>
            </a:avLst>
          </a:prstGeom>
          <a:solidFill>
            <a:schemeClr val="tx2"/>
          </a:solidFill>
          <a:ln w="12700">
            <a:solidFill>
              <a:srgbClr val="FFFFFF">
                <a:alpha val="0"/>
              </a:srgbClr>
            </a:solidFill>
            <a:prstDash val="solid"/>
          </a:ln>
        </p:spPr>
      </p:sp>
      <p:sp>
        <p:nvSpPr>
          <p:cNvPr id="28" name="Text 21"/>
          <p:cNvSpPr txBox="1"/>
          <p:nvPr/>
        </p:nvSpPr>
        <p:spPr>
          <a:xfrm>
            <a:off x="7166153" y="2240280"/>
            <a:ext cx="880165" cy="548640"/>
          </a:xfrm>
          <a:prstGeom prst="rect">
            <a:avLst/>
          </a:prstGeom>
          <a:noFill/>
          <a:ln/>
        </p:spPr>
        <p:txBody>
          <a:bodyPr wrap="square" lIns="0" tIns="0" rIns="0" bIns="0" rtlCol="0" anchor="ctr"/>
          <a:lstStyle/>
          <a:p>
            <a:pPr algn="ctr" indent="0" marL="0">
              <a:buNone/>
            </a:pPr>
            <a:r>
              <a:rPr lang="en-US" sz="2000" b="1" dirty="0">
                <a:solidFill>
                  <a:schemeClr val="bg1"/>
                </a:solidFill>
              </a:rPr>
              <a:t>zit</a:t>
            </a:r>
            <a:endParaRPr lang="en-US" sz="2000" dirty="0"/>
          </a:p>
        </p:txBody>
      </p:sp>
      <p:sp>
        <p:nvSpPr>
          <p:cNvPr id="29" name="Text 22"/>
          <p:cNvSpPr txBox="1"/>
          <p:nvPr/>
        </p:nvSpPr>
        <p:spPr>
          <a:xfrm>
            <a:off x="8128614" y="2240280"/>
            <a:ext cx="720401" cy="548640"/>
          </a:xfrm>
          <a:prstGeom prst="rect">
            <a:avLst/>
          </a:prstGeom>
          <a:noFill/>
          <a:ln/>
        </p:spPr>
        <p:txBody>
          <a:bodyPr wrap="square" lIns="0" tIns="0" rIns="0" bIns="0" rtlCol="0" anchor="ctr"/>
          <a:lstStyle/>
          <a:p>
            <a:pPr algn="ctr" indent="0" marL="0">
              <a:buNone/>
            </a:pPr>
            <a:r>
              <a:rPr lang="en-US" sz="2000" b="1" dirty="0">
                <a:solidFill>
                  <a:schemeClr val="accent5"/>
                </a:solidFill>
              </a:rPr>
              <a:t>te</a:t>
            </a:r>
            <a:endParaRPr lang="en-US" sz="2000" dirty="0"/>
          </a:p>
        </p:txBody>
      </p:sp>
      <p:sp>
        <p:nvSpPr>
          <p:cNvPr id="30" name="Shape 23"/>
          <p:cNvSpPr/>
          <p:nvPr/>
        </p:nvSpPr>
        <p:spPr>
          <a:xfrm>
            <a:off x="8931311" y="2240280"/>
            <a:ext cx="1678985" cy="548640"/>
          </a:xfrm>
          <a:prstGeom prst="roundRect">
            <a:avLst>
              <a:gd name="adj" fmla="val 16667"/>
            </a:avLst>
          </a:prstGeom>
          <a:solidFill>
            <a:srgbClr val="FBEDEB"/>
          </a:solidFill>
          <a:ln w="25400">
            <a:solidFill>
              <a:srgbClr val="B83227"/>
            </a:solidFill>
            <a:prstDash val="solid"/>
          </a:ln>
        </p:spPr>
      </p:sp>
      <p:sp>
        <p:nvSpPr>
          <p:cNvPr id="31" name="Text 24"/>
          <p:cNvSpPr txBox="1"/>
          <p:nvPr/>
        </p:nvSpPr>
        <p:spPr>
          <a:xfrm>
            <a:off x="8931311" y="2240280"/>
            <a:ext cx="1678985" cy="548640"/>
          </a:xfrm>
          <a:prstGeom prst="rect">
            <a:avLst/>
          </a:prstGeom>
          <a:noFill/>
          <a:ln/>
        </p:spPr>
        <p:txBody>
          <a:bodyPr wrap="square" lIns="0" tIns="0" rIns="0" bIns="0" rtlCol="0" anchor="ctr"/>
          <a:lstStyle/>
          <a:p>
            <a:pPr algn="ctr" indent="0" marL="0">
              <a:buNone/>
            </a:pPr>
            <a:r>
              <a:rPr lang="en-US" sz="2000" b="1" dirty="0">
                <a:solidFill>
                  <a:schemeClr val="accent6"/>
                </a:solidFill>
              </a:rPr>
              <a:t>wachten.</a:t>
            </a:r>
            <a:endParaRPr lang="en-US" sz="2000" dirty="0"/>
          </a:p>
        </p:txBody>
      </p:sp>
      <p:sp>
        <p:nvSpPr>
          <p:cNvPr id="32" name="Text 25"/>
          <p:cNvSpPr txBox="1"/>
          <p:nvPr/>
        </p:nvSpPr>
        <p:spPr>
          <a:xfrm>
            <a:off x="6231636" y="2834640"/>
            <a:ext cx="5408676" cy="411480"/>
          </a:xfrm>
          <a:prstGeom prst="rect">
            <a:avLst/>
          </a:prstGeom>
          <a:noFill/>
          <a:ln/>
        </p:spPr>
        <p:txBody>
          <a:bodyPr wrap="square" lIns="0" tIns="0" rIns="0" bIns="0" rtlCol="0" anchor="ctr"/>
          <a:lstStyle/>
          <a:p>
            <a:pPr algn="ctr" indent="0" marL="0">
              <a:buNone/>
            </a:pPr>
            <a:r>
              <a:rPr lang="en-US" sz="2200" dirty="0">
                <a:solidFill>
                  <a:schemeClr val="accent5"/>
                </a:solidFill>
              </a:rPr>
              <a:t>⬇</a:t>
            </a:r>
            <a:endParaRPr lang="en-US" sz="2200" dirty="0"/>
          </a:p>
        </p:txBody>
      </p:sp>
      <p:sp>
        <p:nvSpPr>
          <p:cNvPr id="33" name="Shape 26"/>
          <p:cNvSpPr/>
          <p:nvPr/>
        </p:nvSpPr>
        <p:spPr>
          <a:xfrm>
            <a:off x="6505956" y="3291840"/>
            <a:ext cx="577901" cy="548640"/>
          </a:xfrm>
          <a:prstGeom prst="roundRect">
            <a:avLst>
              <a:gd name="adj" fmla="val 16667"/>
            </a:avLst>
          </a:prstGeom>
          <a:solidFill>
            <a:schemeClr val="bg1"/>
          </a:solidFill>
          <a:ln w="15875">
            <a:solidFill>
              <a:srgbClr val="D5DCE6"/>
            </a:solidFill>
            <a:prstDash val="solid"/>
          </a:ln>
        </p:spPr>
      </p:sp>
      <p:sp>
        <p:nvSpPr>
          <p:cNvPr id="34" name="Text 27"/>
          <p:cNvSpPr txBox="1"/>
          <p:nvPr/>
        </p:nvSpPr>
        <p:spPr>
          <a:xfrm>
            <a:off x="6505956" y="3291840"/>
            <a:ext cx="577901" cy="548640"/>
          </a:xfrm>
          <a:prstGeom prst="rect">
            <a:avLst/>
          </a:prstGeom>
          <a:noFill/>
          <a:ln/>
        </p:spPr>
        <p:txBody>
          <a:bodyPr wrap="square" lIns="0" tIns="0" rIns="0" bIns="0" rtlCol="0" anchor="ctr"/>
          <a:lstStyle/>
          <a:p>
            <a:pPr algn="ctr" indent="0" marL="0">
              <a:buNone/>
            </a:pPr>
            <a:r>
              <a:rPr lang="en-US" sz="2000" dirty="0">
                <a:solidFill>
                  <a:schemeClr val="tx1"/>
                </a:solidFill>
              </a:rPr>
              <a:t>Ik</a:t>
            </a:r>
            <a:endParaRPr lang="en-US" sz="2000" dirty="0"/>
          </a:p>
        </p:txBody>
      </p:sp>
      <p:sp>
        <p:nvSpPr>
          <p:cNvPr id="35" name="Shape 28"/>
          <p:cNvSpPr/>
          <p:nvPr/>
        </p:nvSpPr>
        <p:spPr>
          <a:xfrm>
            <a:off x="7166153" y="3291840"/>
            <a:ext cx="880165" cy="548640"/>
          </a:xfrm>
          <a:prstGeom prst="roundRect">
            <a:avLst>
              <a:gd name="adj" fmla="val 16667"/>
            </a:avLst>
          </a:prstGeom>
          <a:solidFill>
            <a:schemeClr val="tx2"/>
          </a:solidFill>
          <a:ln w="12700">
            <a:solidFill>
              <a:srgbClr val="FFFFFF">
                <a:alpha val="0"/>
              </a:srgbClr>
            </a:solidFill>
            <a:prstDash val="solid"/>
          </a:ln>
        </p:spPr>
      </p:sp>
      <p:sp>
        <p:nvSpPr>
          <p:cNvPr id="36" name="Text 29"/>
          <p:cNvSpPr txBox="1"/>
          <p:nvPr/>
        </p:nvSpPr>
        <p:spPr>
          <a:xfrm>
            <a:off x="7166153" y="3291840"/>
            <a:ext cx="880165" cy="548640"/>
          </a:xfrm>
          <a:prstGeom prst="rect">
            <a:avLst/>
          </a:prstGeom>
          <a:noFill/>
          <a:ln/>
        </p:spPr>
        <p:txBody>
          <a:bodyPr wrap="square" lIns="0" tIns="0" rIns="0" bIns="0" rtlCol="0" anchor="ctr"/>
          <a:lstStyle/>
          <a:p>
            <a:pPr algn="ctr" indent="0" marL="0">
              <a:buNone/>
            </a:pPr>
            <a:r>
              <a:rPr lang="en-US" sz="2000" b="1" dirty="0">
                <a:solidFill>
                  <a:schemeClr val="bg1"/>
                </a:solidFill>
              </a:rPr>
              <a:t>heb</a:t>
            </a:r>
            <a:endParaRPr lang="en-US" sz="2000" dirty="0"/>
          </a:p>
        </p:txBody>
      </p:sp>
      <p:sp>
        <p:nvSpPr>
          <p:cNvPr id="37" name="Shape 30"/>
          <p:cNvSpPr/>
          <p:nvPr/>
        </p:nvSpPr>
        <p:spPr>
          <a:xfrm>
            <a:off x="8128614" y="3291840"/>
            <a:ext cx="1359457" cy="548640"/>
          </a:xfrm>
          <a:prstGeom prst="roundRect">
            <a:avLst>
              <a:gd name="adj" fmla="val 16667"/>
            </a:avLst>
          </a:prstGeom>
          <a:solidFill>
            <a:schemeClr val="accent1"/>
          </a:solidFill>
          <a:ln w="12700">
            <a:solidFill>
              <a:srgbClr val="FFFFFF">
                <a:alpha val="0"/>
              </a:srgbClr>
            </a:solidFill>
            <a:prstDash val="solid"/>
          </a:ln>
        </p:spPr>
      </p:sp>
      <p:sp>
        <p:nvSpPr>
          <p:cNvPr id="38" name="Text 31"/>
          <p:cNvSpPr txBox="1"/>
          <p:nvPr/>
        </p:nvSpPr>
        <p:spPr>
          <a:xfrm>
            <a:off x="8128614" y="3291840"/>
            <a:ext cx="1359457" cy="548640"/>
          </a:xfrm>
          <a:prstGeom prst="rect">
            <a:avLst/>
          </a:prstGeom>
          <a:noFill/>
          <a:ln/>
        </p:spPr>
        <p:txBody>
          <a:bodyPr wrap="square" lIns="0" tIns="0" rIns="0" bIns="0" rtlCol="0" anchor="ctr"/>
          <a:lstStyle/>
          <a:p>
            <a:pPr algn="ctr" indent="0" marL="0">
              <a:buNone/>
            </a:pPr>
            <a:r>
              <a:rPr lang="en-US" sz="2000" b="1" dirty="0">
                <a:solidFill>
                  <a:schemeClr val="bg1"/>
                </a:solidFill>
              </a:rPr>
              <a:t>zitten</a:t>
            </a:r>
            <a:endParaRPr lang="en-US" sz="2000" dirty="0"/>
          </a:p>
        </p:txBody>
      </p:sp>
      <p:sp>
        <p:nvSpPr>
          <p:cNvPr id="39" name="Shape 32"/>
          <p:cNvSpPr/>
          <p:nvPr/>
        </p:nvSpPr>
        <p:spPr>
          <a:xfrm>
            <a:off x="9570366" y="3291840"/>
            <a:ext cx="1678985" cy="548640"/>
          </a:xfrm>
          <a:prstGeom prst="roundRect">
            <a:avLst>
              <a:gd name="adj" fmla="val 16667"/>
            </a:avLst>
          </a:prstGeom>
          <a:solidFill>
            <a:srgbClr val="FBEDEB"/>
          </a:solidFill>
          <a:ln w="25400">
            <a:solidFill>
              <a:srgbClr val="B83227"/>
            </a:solidFill>
            <a:prstDash val="solid"/>
          </a:ln>
        </p:spPr>
      </p:sp>
      <p:sp>
        <p:nvSpPr>
          <p:cNvPr id="40" name="Text 33"/>
          <p:cNvSpPr txBox="1"/>
          <p:nvPr/>
        </p:nvSpPr>
        <p:spPr>
          <a:xfrm>
            <a:off x="9570366" y="3291840"/>
            <a:ext cx="1678985" cy="548640"/>
          </a:xfrm>
          <a:prstGeom prst="rect">
            <a:avLst/>
          </a:prstGeom>
          <a:noFill/>
          <a:ln/>
        </p:spPr>
        <p:txBody>
          <a:bodyPr wrap="square" lIns="0" tIns="0" rIns="0" bIns="0" rtlCol="0" anchor="ctr"/>
          <a:lstStyle/>
          <a:p>
            <a:pPr algn="ctr" indent="0" marL="0">
              <a:buNone/>
            </a:pPr>
            <a:r>
              <a:rPr lang="en-US" sz="2000" b="1" dirty="0">
                <a:solidFill>
                  <a:schemeClr val="accent6"/>
                </a:solidFill>
              </a:rPr>
              <a:t>wachten.</a:t>
            </a:r>
            <a:endParaRPr lang="en-US" sz="2000" dirty="0"/>
          </a:p>
        </p:txBody>
      </p:sp>
      <p:sp>
        <p:nvSpPr>
          <p:cNvPr id="41" name="Shape 34"/>
          <p:cNvSpPr/>
          <p:nvPr/>
        </p:nvSpPr>
        <p:spPr>
          <a:xfrm>
            <a:off x="6414516" y="3995928"/>
            <a:ext cx="4926275" cy="45720"/>
          </a:xfrm>
          <a:prstGeom prst="rect">
            <a:avLst/>
          </a:prstGeom>
          <a:solidFill>
            <a:srgbClr val="8A96A8"/>
          </a:solidFill>
          <a:ln w="12700">
            <a:solidFill>
              <a:srgbClr val="FFFFFF">
                <a:alpha val="0"/>
              </a:srgbClr>
            </a:solidFill>
            <a:prstDash val="solid"/>
          </a:ln>
        </p:spPr>
      </p:sp>
      <p:sp>
        <p:nvSpPr>
          <p:cNvPr id="42" name="Shape 35"/>
          <p:cNvSpPr/>
          <p:nvPr/>
        </p:nvSpPr>
        <p:spPr>
          <a:xfrm>
            <a:off x="7286637" y="3849624"/>
            <a:ext cx="146304" cy="146304"/>
          </a:xfrm>
          <a:prstGeom prst="ellipse">
            <a:avLst/>
          </a:prstGeom>
          <a:solidFill>
            <a:srgbClr val="1B2333"/>
          </a:solidFill>
          <a:ln w="12700">
            <a:solidFill>
              <a:srgbClr val="FFFFFF">
                <a:alpha val="0"/>
              </a:srgbClr>
            </a:solidFill>
            <a:prstDash val="solid"/>
          </a:ln>
        </p:spPr>
      </p:sp>
      <p:sp>
        <p:nvSpPr>
          <p:cNvPr id="43" name="Shape 36"/>
          <p:cNvSpPr/>
          <p:nvPr/>
        </p:nvSpPr>
        <p:spPr>
          <a:xfrm>
            <a:off x="7779529" y="3849624"/>
            <a:ext cx="146304" cy="146304"/>
          </a:xfrm>
          <a:prstGeom prst="ellipse">
            <a:avLst/>
          </a:prstGeom>
          <a:solidFill>
            <a:srgbClr val="1B2333"/>
          </a:solidFill>
          <a:ln w="12700">
            <a:solidFill>
              <a:srgbClr val="FFFFFF">
                <a:alpha val="0"/>
              </a:srgbClr>
            </a:solidFill>
            <a:prstDash val="solid"/>
          </a:ln>
        </p:spPr>
      </p:sp>
      <p:sp>
        <p:nvSpPr>
          <p:cNvPr id="44" name="Shape 37"/>
          <p:cNvSpPr/>
          <p:nvPr/>
        </p:nvSpPr>
        <p:spPr>
          <a:xfrm>
            <a:off x="7275881" y="3090672"/>
            <a:ext cx="146304" cy="219456"/>
          </a:xfrm>
          <a:prstGeom prst="rect">
            <a:avLst/>
          </a:prstGeom>
          <a:solidFill>
            <a:schemeClr val="tx2"/>
          </a:solidFill>
          <a:ln w="12700">
            <a:solidFill>
              <a:srgbClr val="FFFFFF">
                <a:alpha val="0"/>
              </a:srgbClr>
            </a:solidFill>
            <a:prstDash val="solid"/>
          </a:ln>
        </p:spPr>
      </p:sp>
      <p:sp>
        <p:nvSpPr>
          <p:cNvPr id="45" name="Shape 38"/>
          <p:cNvSpPr/>
          <p:nvPr/>
        </p:nvSpPr>
        <p:spPr>
          <a:xfrm>
            <a:off x="8046318" y="3703320"/>
            <a:ext cx="82296" cy="914"/>
          </a:xfrm>
          <a:prstGeom prst="line">
            <a:avLst/>
          </a:prstGeom>
          <a:noFill/>
          <a:ln w="31750">
            <a:solidFill>
              <a:srgbClr val="1B2333"/>
            </a:solidFill>
            <a:prstDash val="solid"/>
          </a:ln>
        </p:spPr>
      </p:sp>
      <p:sp>
        <p:nvSpPr>
          <p:cNvPr id="46" name="Shape 39"/>
          <p:cNvSpPr/>
          <p:nvPr/>
        </p:nvSpPr>
        <p:spPr>
          <a:xfrm>
            <a:off x="8354542" y="3849624"/>
            <a:ext cx="146304" cy="146304"/>
          </a:xfrm>
          <a:prstGeom prst="ellipse">
            <a:avLst/>
          </a:prstGeom>
          <a:solidFill>
            <a:srgbClr val="1B2333"/>
          </a:solidFill>
          <a:ln w="12700">
            <a:solidFill>
              <a:srgbClr val="FFFFFF">
                <a:alpha val="0"/>
              </a:srgbClr>
            </a:solidFill>
            <a:prstDash val="solid"/>
          </a:ln>
        </p:spPr>
      </p:sp>
      <p:sp>
        <p:nvSpPr>
          <p:cNvPr id="47" name="Shape 40"/>
          <p:cNvSpPr/>
          <p:nvPr/>
        </p:nvSpPr>
        <p:spPr>
          <a:xfrm>
            <a:off x="9115838" y="3849624"/>
            <a:ext cx="146304" cy="146304"/>
          </a:xfrm>
          <a:prstGeom prst="ellipse">
            <a:avLst/>
          </a:prstGeom>
          <a:solidFill>
            <a:srgbClr val="1B2333"/>
          </a:solidFill>
          <a:ln w="12700">
            <a:solidFill>
              <a:srgbClr val="FFFFFF">
                <a:alpha val="0"/>
              </a:srgbClr>
            </a:solidFill>
            <a:prstDash val="solid"/>
          </a:ln>
        </p:spPr>
      </p:sp>
      <p:sp>
        <p:nvSpPr>
          <p:cNvPr id="48" name="Shape 41"/>
          <p:cNvSpPr/>
          <p:nvPr/>
        </p:nvSpPr>
        <p:spPr>
          <a:xfrm>
            <a:off x="9488070" y="3703320"/>
            <a:ext cx="82296" cy="914"/>
          </a:xfrm>
          <a:prstGeom prst="line">
            <a:avLst/>
          </a:prstGeom>
          <a:noFill/>
          <a:ln w="31750">
            <a:solidFill>
              <a:srgbClr val="1B2333"/>
            </a:solidFill>
            <a:prstDash val="solid"/>
          </a:ln>
        </p:spPr>
      </p:sp>
      <p:sp>
        <p:nvSpPr>
          <p:cNvPr id="49" name="Shape 42"/>
          <p:cNvSpPr/>
          <p:nvPr/>
        </p:nvSpPr>
        <p:spPr>
          <a:xfrm>
            <a:off x="9866591" y="3849624"/>
            <a:ext cx="146304" cy="146304"/>
          </a:xfrm>
          <a:prstGeom prst="ellipse">
            <a:avLst/>
          </a:prstGeom>
          <a:solidFill>
            <a:srgbClr val="1B2333"/>
          </a:solidFill>
          <a:ln w="12700">
            <a:solidFill>
              <a:srgbClr val="FFFFFF">
                <a:alpha val="0"/>
              </a:srgbClr>
            </a:solidFill>
            <a:prstDash val="solid"/>
          </a:ln>
        </p:spPr>
      </p:sp>
      <p:sp>
        <p:nvSpPr>
          <p:cNvPr id="50" name="Shape 43"/>
          <p:cNvSpPr/>
          <p:nvPr/>
        </p:nvSpPr>
        <p:spPr>
          <a:xfrm>
            <a:off x="10806823" y="3849624"/>
            <a:ext cx="146304" cy="146304"/>
          </a:xfrm>
          <a:prstGeom prst="ellipse">
            <a:avLst/>
          </a:prstGeom>
          <a:solidFill>
            <a:srgbClr val="1B2333"/>
          </a:solidFill>
          <a:ln w="12700">
            <a:solidFill>
              <a:srgbClr val="FFFFFF">
                <a:alpha val="0"/>
              </a:srgbClr>
            </a:solidFill>
            <a:prstDash val="solid"/>
          </a:ln>
        </p:spPr>
      </p:sp>
      <p:sp>
        <p:nvSpPr>
          <p:cNvPr id="51" name="Text 44"/>
          <p:cNvSpPr txBox="1"/>
          <p:nvPr/>
        </p:nvSpPr>
        <p:spPr>
          <a:xfrm>
            <a:off x="6505956" y="4160520"/>
            <a:ext cx="4860036" cy="365760"/>
          </a:xfrm>
          <a:prstGeom prst="rect">
            <a:avLst/>
          </a:prstGeom>
          <a:noFill/>
          <a:ln/>
        </p:spPr>
        <p:txBody>
          <a:bodyPr wrap="square" lIns="0" tIns="0" rIns="0" bIns="0" rtlCol="0" anchor="t"/>
          <a:lstStyle/>
          <a:p>
            <a:pPr algn="l" indent="0" marL="0">
              <a:buNone/>
            </a:pPr>
            <a:r>
              <a:rPr lang="en-US" sz="1500" b="1" dirty="0">
                <a:solidFill>
                  <a:srgbClr val="6E4A9E"/>
                </a:solidFill>
              </a:rPr>
              <a:t>le </a:t>
            </a:r>
            <a:r>
              <a:rPr lang="en-US" sz="1500" b="1" i="1" dirty="0">
                <a:solidFill>
                  <a:srgbClr val="6E4A9E"/>
                </a:solidFill>
              </a:rPr>
              <a:t>te</a:t>
            </a:r>
            <a:r>
              <a:rPr lang="en-US" sz="1500" b="1" dirty="0">
                <a:solidFill>
                  <a:srgbClr val="6E4A9E"/>
                </a:solidFill>
              </a:rPr>
              <a:t> disparaît, double infinitif</a:t>
            </a:r>
            <a:endParaRPr lang="en-US" sz="1500" dirty="0"/>
          </a:p>
        </p:txBody>
      </p:sp>
      <p:sp>
        <p:nvSpPr>
          <p:cNvPr id="52" name="Text 45"/>
          <p:cNvSpPr txBox="1"/>
          <p:nvPr/>
        </p:nvSpPr>
        <p:spPr>
          <a:xfrm>
            <a:off x="6505956" y="4572000"/>
            <a:ext cx="4860036" cy="411480"/>
          </a:xfrm>
          <a:prstGeom prst="rect">
            <a:avLst/>
          </a:prstGeom>
          <a:noFill/>
          <a:ln/>
        </p:spPr>
        <p:txBody>
          <a:bodyPr wrap="square" lIns="0" tIns="0" rIns="0" bIns="0" rtlCol="0" anchor="t"/>
          <a:lstStyle/>
          <a:p>
            <a:pPr algn="l" indent="0" marL="0">
              <a:buNone/>
            </a:pPr>
            <a:r>
              <a:rPr lang="en-US" sz="1700" i="1" dirty="0">
                <a:solidFill>
                  <a:schemeClr val="tx1"/>
                </a:solidFill>
              </a:rPr>
              <a:t>Ik heb een uur </a:t>
            </a:r>
            <a:r>
              <a:rPr lang="en-US" sz="1700" b="1" i="1" dirty="0">
                <a:solidFill>
                  <a:schemeClr val="tx1"/>
                </a:solidFill>
              </a:rPr>
              <a:t>zitten wachten</a:t>
            </a:r>
            <a:r>
              <a:rPr lang="en-US" sz="1700" i="1" dirty="0">
                <a:solidFill>
                  <a:schemeClr val="tx1"/>
                </a:solidFill>
              </a:rPr>
              <a:t>.</a:t>
            </a:r>
            <a:endParaRPr lang="en-US" sz="1700" dirty="0"/>
          </a:p>
        </p:txBody>
      </p:sp>
      <p:sp>
        <p:nvSpPr>
          <p:cNvPr id="53" name="Shape 46"/>
          <p:cNvSpPr/>
          <p:nvPr/>
        </p:nvSpPr>
        <p:spPr>
          <a:xfrm>
            <a:off x="548640" y="5760720"/>
            <a:ext cx="11091672" cy="502920"/>
          </a:xfrm>
          <a:prstGeom prst="roundRect">
            <a:avLst>
              <a:gd name="adj" fmla="val 14545"/>
            </a:avLst>
          </a:prstGeom>
          <a:solidFill>
            <a:schemeClr val="tx2"/>
          </a:solidFill>
          <a:ln w="12700">
            <a:solidFill>
              <a:srgbClr val="FFFFFF">
                <a:alpha val="0"/>
              </a:srgbClr>
            </a:solidFill>
            <a:prstDash val="solid"/>
          </a:ln>
        </p:spPr>
      </p:sp>
      <p:sp>
        <p:nvSpPr>
          <p:cNvPr id="54" name="Text 47"/>
          <p:cNvSpPr txBox="1"/>
          <p:nvPr/>
        </p:nvSpPr>
        <p:spPr>
          <a:xfrm>
            <a:off x="822960" y="576072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Règle simple : un </a:t>
            </a:r>
            <a:r>
              <a:rPr lang="en-US" sz="1600" i="1" dirty="0">
                <a:solidFill>
                  <a:schemeClr val="bg1"/>
                </a:solidFill>
              </a:rPr>
              <a:t>te</a:t>
            </a:r>
            <a:r>
              <a:rPr lang="en-US" sz="1600" dirty="0">
                <a:solidFill>
                  <a:schemeClr val="bg1"/>
                </a:solidFill>
              </a:rPr>
              <a:t> au présent → </a:t>
            </a:r>
            <a:r>
              <a:rPr lang="en-US" sz="1600" b="1" dirty="0">
                <a:solidFill>
                  <a:schemeClr val="bg1"/>
                </a:solidFill>
              </a:rPr>
              <a:t>participe</a:t>
            </a:r>
            <a:r>
              <a:rPr lang="en-US" sz="1600" dirty="0">
                <a:solidFill>
                  <a:schemeClr val="bg1"/>
                </a:solidFill>
              </a:rPr>
              <a:t> au passé (sauf </a:t>
            </a:r>
            <a:r>
              <a:rPr lang="en-US" sz="1600" i="1" dirty="0">
                <a:solidFill>
                  <a:schemeClr val="bg1"/>
                </a:solidFill>
              </a:rPr>
              <a:t>zitten, staan, liggen, lopen</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Avec un verbe séparable et dans la subordonnée</a:t>
            </a:r>
            <a:endParaRPr lang="en-US" sz="3000" dirty="0"/>
          </a:p>
        </p:txBody>
      </p:sp>
      <p:sp>
        <p:nvSpPr>
          <p:cNvPr id="3" name="tag"/>
          <p:cNvSpPr/>
          <p:nvPr/>
        </p:nvSpPr>
        <p:spPr>
          <a:xfrm>
            <a:off x="548640" y="237744"/>
            <a:ext cx="581558"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B1</a:t>
            </a:r>
            <a:endParaRPr lang="en-US" sz="1200" dirty="0"/>
          </a:p>
        </p:txBody>
      </p:sp>
      <p:sp>
        <p:nvSpPr>
          <p:cNvPr id="5" name="Text 2"/>
          <p:cNvSpPr txBox="1"/>
          <p:nvPr/>
        </p:nvSpPr>
        <p:spPr>
          <a:xfrm>
            <a:off x="548640" y="1463040"/>
            <a:ext cx="10972800" cy="365760"/>
          </a:xfrm>
          <a:prstGeom prst="rect">
            <a:avLst/>
          </a:prstGeom>
          <a:noFill/>
          <a:ln/>
        </p:spPr>
        <p:txBody>
          <a:bodyPr wrap="square" lIns="0" tIns="0" rIns="0" bIns="0" rtlCol="0" anchor="t"/>
          <a:lstStyle/>
          <a:p>
            <a:pPr algn="l" indent="0" marL="0">
              <a:buNone/>
            </a:pPr>
            <a:r>
              <a:rPr lang="en-US" sz="1500" b="1" dirty="0">
                <a:solidFill>
                  <a:schemeClr val="tx2"/>
                </a:solidFill>
              </a:rPr>
              <a:t>VERBE SÉPARABLE</a:t>
            </a:r>
            <a:r>
              <a:rPr lang="en-US" sz="1500" dirty="0">
                <a:solidFill>
                  <a:schemeClr val="tx2"/>
                </a:solidFill>
              </a:rPr>
              <a:t> : deux ordres corrects</a:t>
            </a:r>
            <a:endParaRPr lang="en-US" sz="1500" dirty="0"/>
          </a:p>
        </p:txBody>
      </p:sp>
      <p:sp>
        <p:nvSpPr>
          <p:cNvPr id="6" name="Shape 3"/>
          <p:cNvSpPr/>
          <p:nvPr/>
        </p:nvSpPr>
        <p:spPr>
          <a:xfrm>
            <a:off x="548640" y="1965960"/>
            <a:ext cx="1719072" cy="566928"/>
          </a:xfrm>
          <a:prstGeom prst="roundRect">
            <a:avLst>
              <a:gd name="adj" fmla="val 16129"/>
            </a:avLst>
          </a:prstGeom>
          <a:solidFill>
            <a:schemeClr val="bg1"/>
          </a:solidFill>
          <a:ln w="15875">
            <a:solidFill>
              <a:srgbClr val="D5DCE6"/>
            </a:solidFill>
            <a:prstDash val="solid"/>
          </a:ln>
        </p:spPr>
      </p:sp>
      <p:sp>
        <p:nvSpPr>
          <p:cNvPr id="7" name="Text 4"/>
          <p:cNvSpPr txBox="1"/>
          <p:nvPr/>
        </p:nvSpPr>
        <p:spPr>
          <a:xfrm>
            <a:off x="548640" y="1965960"/>
            <a:ext cx="1719072" cy="566928"/>
          </a:xfrm>
          <a:prstGeom prst="rect">
            <a:avLst/>
          </a:prstGeom>
          <a:noFill/>
          <a:ln/>
        </p:spPr>
        <p:txBody>
          <a:bodyPr wrap="square" lIns="0" tIns="0" rIns="0" bIns="0" rtlCol="0" anchor="ctr"/>
          <a:lstStyle/>
          <a:p>
            <a:pPr algn="ctr" indent="0" marL="0">
              <a:buNone/>
            </a:pPr>
            <a:r>
              <a:rPr lang="en-US" sz="2000" dirty="0">
                <a:solidFill>
                  <a:schemeClr val="tx1"/>
                </a:solidFill>
              </a:rPr>
              <a:t>Ik heb hem</a:t>
            </a:r>
            <a:endParaRPr lang="en-US" sz="2000" dirty="0"/>
          </a:p>
        </p:txBody>
      </p:sp>
      <p:sp>
        <p:nvSpPr>
          <p:cNvPr id="8" name="Shape 5"/>
          <p:cNvSpPr/>
          <p:nvPr/>
        </p:nvSpPr>
        <p:spPr>
          <a:xfrm>
            <a:off x="2350008" y="1965960"/>
            <a:ext cx="1359457" cy="566928"/>
          </a:xfrm>
          <a:prstGeom prst="roundRect">
            <a:avLst>
              <a:gd name="adj" fmla="val 16129"/>
            </a:avLst>
          </a:prstGeom>
          <a:solidFill>
            <a:schemeClr val="accent1"/>
          </a:solidFill>
          <a:ln w="12700">
            <a:solidFill>
              <a:srgbClr val="FFFFFF">
                <a:alpha val="0"/>
              </a:srgbClr>
            </a:solidFill>
            <a:prstDash val="solid"/>
          </a:ln>
        </p:spPr>
      </p:sp>
      <p:sp>
        <p:nvSpPr>
          <p:cNvPr id="9" name="Text 6"/>
          <p:cNvSpPr txBox="1"/>
          <p:nvPr/>
        </p:nvSpPr>
        <p:spPr>
          <a:xfrm>
            <a:off x="2350008" y="1965960"/>
            <a:ext cx="1359457" cy="566928"/>
          </a:xfrm>
          <a:prstGeom prst="rect">
            <a:avLst/>
          </a:prstGeom>
          <a:noFill/>
          <a:ln/>
        </p:spPr>
        <p:txBody>
          <a:bodyPr wrap="square" lIns="0" tIns="0" rIns="0" bIns="0" rtlCol="0" anchor="ctr"/>
          <a:lstStyle/>
          <a:p>
            <a:pPr algn="ctr" indent="0" marL="0">
              <a:buNone/>
            </a:pPr>
            <a:r>
              <a:rPr lang="en-US" sz="2000" b="1" dirty="0">
                <a:solidFill>
                  <a:schemeClr val="bg1"/>
                </a:solidFill>
              </a:rPr>
              <a:t>moeten</a:t>
            </a:r>
            <a:endParaRPr lang="en-US" sz="2000" dirty="0"/>
          </a:p>
        </p:txBody>
      </p:sp>
      <p:sp>
        <p:nvSpPr>
          <p:cNvPr id="10" name="Shape 7"/>
          <p:cNvSpPr/>
          <p:nvPr/>
        </p:nvSpPr>
        <p:spPr>
          <a:xfrm>
            <a:off x="3791761" y="1965960"/>
            <a:ext cx="1838749" cy="566928"/>
          </a:xfrm>
          <a:prstGeom prst="roundRect">
            <a:avLst>
              <a:gd name="adj" fmla="val 16129"/>
            </a:avLst>
          </a:prstGeom>
          <a:solidFill>
            <a:srgbClr val="FBEDEB"/>
          </a:solidFill>
          <a:ln w="25400">
            <a:solidFill>
              <a:srgbClr val="B83227"/>
            </a:solidFill>
            <a:prstDash val="solid"/>
          </a:ln>
        </p:spPr>
      </p:sp>
      <p:sp>
        <p:nvSpPr>
          <p:cNvPr id="11" name="Text 8"/>
          <p:cNvSpPr txBox="1"/>
          <p:nvPr/>
        </p:nvSpPr>
        <p:spPr>
          <a:xfrm>
            <a:off x="3791761" y="1965960"/>
            <a:ext cx="1838749" cy="566928"/>
          </a:xfrm>
          <a:prstGeom prst="rect">
            <a:avLst/>
          </a:prstGeom>
          <a:noFill/>
          <a:ln/>
        </p:spPr>
        <p:txBody>
          <a:bodyPr wrap="square" lIns="0" tIns="0" rIns="0" bIns="0" rtlCol="0" anchor="ctr"/>
          <a:lstStyle/>
          <a:p>
            <a:pPr algn="ctr" indent="0" marL="0">
              <a:buNone/>
            </a:pPr>
            <a:r>
              <a:rPr lang="en-US" sz="2000" b="1" dirty="0">
                <a:solidFill>
                  <a:schemeClr val="accent6"/>
                </a:solidFill>
              </a:rPr>
              <a:t>opbellen.</a:t>
            </a:r>
            <a:endParaRPr lang="en-US" sz="2000" dirty="0"/>
          </a:p>
        </p:txBody>
      </p:sp>
      <p:sp>
        <p:nvSpPr>
          <p:cNvPr id="12" name="Shape 9"/>
          <p:cNvSpPr/>
          <p:nvPr/>
        </p:nvSpPr>
        <p:spPr>
          <a:xfrm>
            <a:off x="457200" y="2688336"/>
            <a:ext cx="5264749" cy="45720"/>
          </a:xfrm>
          <a:prstGeom prst="rect">
            <a:avLst/>
          </a:prstGeom>
          <a:solidFill>
            <a:srgbClr val="8A96A8"/>
          </a:solidFill>
          <a:ln w="12700">
            <a:solidFill>
              <a:srgbClr val="FFFFFF">
                <a:alpha val="0"/>
              </a:srgbClr>
            </a:solidFill>
            <a:prstDash val="solid"/>
          </a:ln>
        </p:spPr>
      </p:sp>
      <p:sp>
        <p:nvSpPr>
          <p:cNvPr id="13" name="Shape 10"/>
          <p:cNvSpPr/>
          <p:nvPr/>
        </p:nvSpPr>
        <p:spPr>
          <a:xfrm>
            <a:off x="2575936" y="2542032"/>
            <a:ext cx="146304" cy="146304"/>
          </a:xfrm>
          <a:prstGeom prst="ellipse">
            <a:avLst/>
          </a:prstGeom>
          <a:solidFill>
            <a:srgbClr val="1B2333"/>
          </a:solidFill>
          <a:ln w="12700">
            <a:solidFill>
              <a:srgbClr val="FFFFFF">
                <a:alpha val="0"/>
              </a:srgbClr>
            </a:solidFill>
            <a:prstDash val="solid"/>
          </a:ln>
        </p:spPr>
      </p:sp>
      <p:sp>
        <p:nvSpPr>
          <p:cNvPr id="14" name="Shape 11"/>
          <p:cNvSpPr/>
          <p:nvPr/>
        </p:nvSpPr>
        <p:spPr>
          <a:xfrm>
            <a:off x="3337232" y="2542032"/>
            <a:ext cx="146304" cy="146304"/>
          </a:xfrm>
          <a:prstGeom prst="ellipse">
            <a:avLst/>
          </a:prstGeom>
          <a:solidFill>
            <a:srgbClr val="1B2333"/>
          </a:solidFill>
          <a:ln w="12700">
            <a:solidFill>
              <a:srgbClr val="FFFFFF">
                <a:alpha val="0"/>
              </a:srgbClr>
            </a:solidFill>
            <a:prstDash val="solid"/>
          </a:ln>
        </p:spPr>
      </p:sp>
      <p:sp>
        <p:nvSpPr>
          <p:cNvPr id="15" name="Shape 12"/>
          <p:cNvSpPr/>
          <p:nvPr/>
        </p:nvSpPr>
        <p:spPr>
          <a:xfrm>
            <a:off x="3709465" y="2391156"/>
            <a:ext cx="82296" cy="914"/>
          </a:xfrm>
          <a:prstGeom prst="line">
            <a:avLst/>
          </a:prstGeom>
          <a:noFill/>
          <a:ln w="31750">
            <a:solidFill>
              <a:srgbClr val="1B2333"/>
            </a:solidFill>
            <a:prstDash val="solid"/>
          </a:ln>
        </p:spPr>
      </p:sp>
      <p:sp>
        <p:nvSpPr>
          <p:cNvPr id="16" name="Shape 13"/>
          <p:cNvSpPr/>
          <p:nvPr/>
        </p:nvSpPr>
        <p:spPr>
          <a:xfrm>
            <a:off x="4123133" y="2542032"/>
            <a:ext cx="146304" cy="146304"/>
          </a:xfrm>
          <a:prstGeom prst="ellipse">
            <a:avLst/>
          </a:prstGeom>
          <a:solidFill>
            <a:srgbClr val="1B2333"/>
          </a:solidFill>
          <a:ln w="12700">
            <a:solidFill>
              <a:srgbClr val="FFFFFF">
                <a:alpha val="0"/>
              </a:srgbClr>
            </a:solidFill>
            <a:prstDash val="solid"/>
          </a:ln>
        </p:spPr>
      </p:sp>
      <p:sp>
        <p:nvSpPr>
          <p:cNvPr id="17" name="Shape 14"/>
          <p:cNvSpPr/>
          <p:nvPr/>
        </p:nvSpPr>
        <p:spPr>
          <a:xfrm>
            <a:off x="5152833" y="2542032"/>
            <a:ext cx="146304" cy="146304"/>
          </a:xfrm>
          <a:prstGeom prst="ellipse">
            <a:avLst/>
          </a:prstGeom>
          <a:solidFill>
            <a:srgbClr val="1B2333"/>
          </a:solidFill>
          <a:ln w="12700">
            <a:solidFill>
              <a:srgbClr val="FFFFFF">
                <a:alpha val="0"/>
              </a:srgbClr>
            </a:solidFill>
            <a:prstDash val="solid"/>
          </a:ln>
        </p:spPr>
      </p:sp>
      <p:sp>
        <p:nvSpPr>
          <p:cNvPr id="18" name="Text 15"/>
          <p:cNvSpPr txBox="1"/>
          <p:nvPr/>
        </p:nvSpPr>
        <p:spPr>
          <a:xfrm>
            <a:off x="5721949" y="1965960"/>
            <a:ext cx="457200" cy="566928"/>
          </a:xfrm>
          <a:prstGeom prst="rect">
            <a:avLst/>
          </a:prstGeom>
          <a:noFill/>
          <a:ln/>
        </p:spPr>
        <p:txBody>
          <a:bodyPr wrap="square" lIns="0" tIns="0" rIns="0" bIns="0" rtlCol="0" anchor="ctr"/>
          <a:lstStyle/>
          <a:p>
            <a:pPr algn="ctr" indent="0" marL="0">
              <a:buNone/>
            </a:pPr>
            <a:r>
              <a:rPr lang="en-US" sz="2600" b="1" dirty="0">
                <a:solidFill>
                  <a:schemeClr val="accent3"/>
                </a:solidFill>
              </a:rPr>
              <a:t>=</a:t>
            </a:r>
            <a:endParaRPr lang="en-US" sz="2600" dirty="0"/>
          </a:p>
        </p:txBody>
      </p:sp>
      <p:sp>
        <p:nvSpPr>
          <p:cNvPr id="19" name="Shape 16"/>
          <p:cNvSpPr/>
          <p:nvPr/>
        </p:nvSpPr>
        <p:spPr>
          <a:xfrm>
            <a:off x="6270589" y="1965960"/>
            <a:ext cx="1719072" cy="566928"/>
          </a:xfrm>
          <a:prstGeom prst="roundRect">
            <a:avLst>
              <a:gd name="adj" fmla="val 16129"/>
            </a:avLst>
          </a:prstGeom>
          <a:solidFill>
            <a:schemeClr val="bg1"/>
          </a:solidFill>
          <a:ln w="15875">
            <a:solidFill>
              <a:srgbClr val="D5DCE6"/>
            </a:solidFill>
            <a:prstDash val="solid"/>
          </a:ln>
        </p:spPr>
      </p:sp>
      <p:sp>
        <p:nvSpPr>
          <p:cNvPr id="20" name="Text 17"/>
          <p:cNvSpPr txBox="1"/>
          <p:nvPr/>
        </p:nvSpPr>
        <p:spPr>
          <a:xfrm>
            <a:off x="6270589" y="1965960"/>
            <a:ext cx="1719072" cy="566928"/>
          </a:xfrm>
          <a:prstGeom prst="rect">
            <a:avLst/>
          </a:prstGeom>
          <a:noFill/>
          <a:ln/>
        </p:spPr>
        <p:txBody>
          <a:bodyPr wrap="square" lIns="0" tIns="0" rIns="0" bIns="0" rtlCol="0" anchor="ctr"/>
          <a:lstStyle/>
          <a:p>
            <a:pPr algn="ctr" indent="0" marL="0">
              <a:buNone/>
            </a:pPr>
            <a:r>
              <a:rPr lang="en-US" sz="2000" dirty="0">
                <a:solidFill>
                  <a:schemeClr val="tx1"/>
                </a:solidFill>
              </a:rPr>
              <a:t>Ik heb hem</a:t>
            </a:r>
            <a:endParaRPr lang="en-US" sz="2000" dirty="0"/>
          </a:p>
        </p:txBody>
      </p:sp>
      <p:sp>
        <p:nvSpPr>
          <p:cNvPr id="21" name="Text 18"/>
          <p:cNvSpPr txBox="1"/>
          <p:nvPr/>
        </p:nvSpPr>
        <p:spPr>
          <a:xfrm>
            <a:off x="8071957" y="1965960"/>
            <a:ext cx="720401" cy="566928"/>
          </a:xfrm>
          <a:prstGeom prst="rect">
            <a:avLst/>
          </a:prstGeom>
          <a:noFill/>
          <a:ln/>
        </p:spPr>
        <p:txBody>
          <a:bodyPr wrap="square" lIns="0" tIns="0" rIns="0" bIns="0" rtlCol="0" anchor="ctr"/>
          <a:lstStyle/>
          <a:p>
            <a:pPr algn="ctr" indent="0" marL="0">
              <a:buNone/>
            </a:pPr>
            <a:r>
              <a:rPr lang="en-US" sz="2000" b="1" dirty="0">
                <a:solidFill>
                  <a:schemeClr val="accent5"/>
                </a:solidFill>
              </a:rPr>
              <a:t>op</a:t>
            </a:r>
            <a:endParaRPr lang="en-US" sz="2000" dirty="0"/>
          </a:p>
        </p:txBody>
      </p:sp>
      <p:sp>
        <p:nvSpPr>
          <p:cNvPr id="22" name="Shape 19"/>
          <p:cNvSpPr/>
          <p:nvPr/>
        </p:nvSpPr>
        <p:spPr>
          <a:xfrm>
            <a:off x="8874654" y="1965960"/>
            <a:ext cx="1359457" cy="566928"/>
          </a:xfrm>
          <a:prstGeom prst="roundRect">
            <a:avLst>
              <a:gd name="adj" fmla="val 16129"/>
            </a:avLst>
          </a:prstGeom>
          <a:solidFill>
            <a:schemeClr val="accent1"/>
          </a:solidFill>
          <a:ln w="12700">
            <a:solidFill>
              <a:srgbClr val="FFFFFF">
                <a:alpha val="0"/>
              </a:srgbClr>
            </a:solidFill>
            <a:prstDash val="solid"/>
          </a:ln>
        </p:spPr>
      </p:sp>
      <p:sp>
        <p:nvSpPr>
          <p:cNvPr id="23" name="Text 20"/>
          <p:cNvSpPr txBox="1"/>
          <p:nvPr/>
        </p:nvSpPr>
        <p:spPr>
          <a:xfrm>
            <a:off x="8874654" y="1965960"/>
            <a:ext cx="1359457" cy="566928"/>
          </a:xfrm>
          <a:prstGeom prst="rect">
            <a:avLst/>
          </a:prstGeom>
          <a:noFill/>
          <a:ln/>
        </p:spPr>
        <p:txBody>
          <a:bodyPr wrap="square" lIns="0" tIns="0" rIns="0" bIns="0" rtlCol="0" anchor="ctr"/>
          <a:lstStyle/>
          <a:p>
            <a:pPr algn="ctr" indent="0" marL="0">
              <a:buNone/>
            </a:pPr>
            <a:r>
              <a:rPr lang="en-US" sz="2000" b="1" dirty="0">
                <a:solidFill>
                  <a:schemeClr val="bg1"/>
                </a:solidFill>
              </a:rPr>
              <a:t>moeten</a:t>
            </a:r>
            <a:endParaRPr lang="en-US" sz="2000" dirty="0"/>
          </a:p>
        </p:txBody>
      </p:sp>
      <p:sp>
        <p:nvSpPr>
          <p:cNvPr id="24" name="Shape 21"/>
          <p:cNvSpPr/>
          <p:nvPr/>
        </p:nvSpPr>
        <p:spPr>
          <a:xfrm>
            <a:off x="10316407" y="1965960"/>
            <a:ext cx="1519221" cy="566928"/>
          </a:xfrm>
          <a:prstGeom prst="roundRect">
            <a:avLst>
              <a:gd name="adj" fmla="val 16129"/>
            </a:avLst>
          </a:prstGeom>
          <a:solidFill>
            <a:srgbClr val="FBEDEB"/>
          </a:solidFill>
          <a:ln w="25400">
            <a:solidFill>
              <a:srgbClr val="B83227"/>
            </a:solidFill>
            <a:prstDash val="solid"/>
          </a:ln>
        </p:spPr>
      </p:sp>
      <p:sp>
        <p:nvSpPr>
          <p:cNvPr id="25" name="Text 22"/>
          <p:cNvSpPr txBox="1"/>
          <p:nvPr/>
        </p:nvSpPr>
        <p:spPr>
          <a:xfrm>
            <a:off x="10316407" y="1965960"/>
            <a:ext cx="1519221" cy="566928"/>
          </a:xfrm>
          <a:prstGeom prst="rect">
            <a:avLst/>
          </a:prstGeom>
          <a:noFill/>
          <a:ln/>
        </p:spPr>
        <p:txBody>
          <a:bodyPr wrap="square" lIns="0" tIns="0" rIns="0" bIns="0" rtlCol="0" anchor="ctr"/>
          <a:lstStyle/>
          <a:p>
            <a:pPr algn="ctr" indent="0" marL="0">
              <a:buNone/>
            </a:pPr>
            <a:r>
              <a:rPr lang="en-US" sz="2000" b="1" dirty="0">
                <a:solidFill>
                  <a:schemeClr val="accent6"/>
                </a:solidFill>
              </a:rPr>
              <a:t>bellen.</a:t>
            </a:r>
            <a:endParaRPr lang="en-US" sz="2000" dirty="0"/>
          </a:p>
        </p:txBody>
      </p:sp>
      <p:sp>
        <p:nvSpPr>
          <p:cNvPr id="26" name="Text 23"/>
          <p:cNvSpPr txBox="1"/>
          <p:nvPr/>
        </p:nvSpPr>
        <p:spPr>
          <a:xfrm>
            <a:off x="548640" y="3063240"/>
            <a:ext cx="10972800" cy="365760"/>
          </a:xfrm>
          <a:prstGeom prst="rect">
            <a:avLst/>
          </a:prstGeom>
          <a:noFill/>
          <a:ln/>
        </p:spPr>
        <p:txBody>
          <a:bodyPr wrap="square" lIns="0" tIns="0" rIns="0" bIns="0" rtlCol="0" anchor="t"/>
          <a:lstStyle/>
          <a:p>
            <a:pPr algn="l" indent="0" marL="0">
              <a:buNone/>
            </a:pPr>
            <a:r>
              <a:rPr lang="en-US" sz="1500" b="1" dirty="0">
                <a:solidFill>
                  <a:schemeClr val="tx2"/>
                </a:solidFill>
              </a:rPr>
              <a:t>SUBORDONNÉE</a:t>
            </a:r>
            <a:r>
              <a:rPr lang="en-US" sz="1500" dirty="0">
                <a:solidFill>
                  <a:schemeClr val="tx2"/>
                </a:solidFill>
              </a:rPr>
              <a:t> : le verbe conjugué se place en tête du train</a:t>
            </a:r>
            <a:endParaRPr lang="en-US" sz="1500" dirty="0"/>
          </a:p>
        </p:txBody>
      </p:sp>
      <p:sp>
        <p:nvSpPr>
          <p:cNvPr id="27" name="Shape 24"/>
          <p:cNvSpPr/>
          <p:nvPr/>
        </p:nvSpPr>
        <p:spPr>
          <a:xfrm>
            <a:off x="548640" y="3566160"/>
            <a:ext cx="1940174" cy="566928"/>
          </a:xfrm>
          <a:prstGeom prst="roundRect">
            <a:avLst>
              <a:gd name="adj" fmla="val 16129"/>
            </a:avLst>
          </a:prstGeom>
          <a:solidFill>
            <a:schemeClr val="bg1"/>
          </a:solidFill>
          <a:ln w="15875">
            <a:solidFill>
              <a:srgbClr val="D5DCE6"/>
            </a:solidFill>
            <a:prstDash val="solid"/>
          </a:ln>
        </p:spPr>
      </p:sp>
      <p:sp>
        <p:nvSpPr>
          <p:cNvPr id="28" name="Text 25"/>
          <p:cNvSpPr txBox="1"/>
          <p:nvPr/>
        </p:nvSpPr>
        <p:spPr>
          <a:xfrm>
            <a:off x="548640" y="3566160"/>
            <a:ext cx="1940174" cy="566928"/>
          </a:xfrm>
          <a:prstGeom prst="rect">
            <a:avLst/>
          </a:prstGeom>
          <a:noFill/>
          <a:ln/>
        </p:spPr>
        <p:txBody>
          <a:bodyPr wrap="square" lIns="0" tIns="0" rIns="0" bIns="0" rtlCol="0" anchor="ctr"/>
          <a:lstStyle/>
          <a:p>
            <a:pPr algn="ctr" indent="0" marL="0">
              <a:buNone/>
            </a:pPr>
            <a:r>
              <a:rPr lang="en-US" sz="2100" dirty="0">
                <a:solidFill>
                  <a:schemeClr val="tx1"/>
                </a:solidFill>
              </a:rPr>
              <a:t>…, omdat ik</a:t>
            </a:r>
            <a:endParaRPr lang="en-US" sz="2100" dirty="0"/>
          </a:p>
        </p:txBody>
      </p:sp>
      <p:sp>
        <p:nvSpPr>
          <p:cNvPr id="29" name="Shape 26"/>
          <p:cNvSpPr/>
          <p:nvPr/>
        </p:nvSpPr>
        <p:spPr>
          <a:xfrm>
            <a:off x="2571110" y="3566160"/>
            <a:ext cx="891723" cy="566928"/>
          </a:xfrm>
          <a:prstGeom prst="roundRect">
            <a:avLst>
              <a:gd name="adj" fmla="val 16129"/>
            </a:avLst>
          </a:prstGeom>
          <a:solidFill>
            <a:schemeClr val="bg1"/>
          </a:solidFill>
          <a:ln w="15875">
            <a:solidFill>
              <a:srgbClr val="D5DCE6"/>
            </a:solidFill>
            <a:prstDash val="solid"/>
          </a:ln>
        </p:spPr>
      </p:sp>
      <p:sp>
        <p:nvSpPr>
          <p:cNvPr id="30" name="Text 27"/>
          <p:cNvSpPr txBox="1"/>
          <p:nvPr/>
        </p:nvSpPr>
        <p:spPr>
          <a:xfrm>
            <a:off x="2571110" y="3566160"/>
            <a:ext cx="891723" cy="566928"/>
          </a:xfrm>
          <a:prstGeom prst="rect">
            <a:avLst/>
          </a:prstGeom>
          <a:noFill/>
          <a:ln/>
        </p:spPr>
        <p:txBody>
          <a:bodyPr wrap="square" lIns="0" tIns="0" rIns="0" bIns="0" rtlCol="0" anchor="ctr"/>
          <a:lstStyle/>
          <a:p>
            <a:pPr algn="ctr" indent="0" marL="0">
              <a:buNone/>
            </a:pPr>
            <a:r>
              <a:rPr lang="en-US" sz="2100" dirty="0">
                <a:solidFill>
                  <a:schemeClr val="tx1"/>
                </a:solidFill>
              </a:rPr>
              <a:t>niet</a:t>
            </a:r>
            <a:endParaRPr lang="en-US" sz="2100" dirty="0"/>
          </a:p>
        </p:txBody>
      </p:sp>
      <p:sp>
        <p:nvSpPr>
          <p:cNvPr id="31" name="Shape 28"/>
          <p:cNvSpPr/>
          <p:nvPr/>
        </p:nvSpPr>
        <p:spPr>
          <a:xfrm>
            <a:off x="3545129" y="3566160"/>
            <a:ext cx="904129" cy="566928"/>
          </a:xfrm>
          <a:prstGeom prst="roundRect">
            <a:avLst>
              <a:gd name="adj" fmla="val 16129"/>
            </a:avLst>
          </a:prstGeom>
          <a:solidFill>
            <a:schemeClr val="tx2"/>
          </a:solidFill>
          <a:ln w="12700">
            <a:solidFill>
              <a:srgbClr val="FFFFFF">
                <a:alpha val="0"/>
              </a:srgbClr>
            </a:solidFill>
            <a:prstDash val="solid"/>
          </a:ln>
        </p:spPr>
      </p:sp>
      <p:sp>
        <p:nvSpPr>
          <p:cNvPr id="32" name="Text 29"/>
          <p:cNvSpPr txBox="1"/>
          <p:nvPr/>
        </p:nvSpPr>
        <p:spPr>
          <a:xfrm>
            <a:off x="3545129" y="3566160"/>
            <a:ext cx="904129" cy="566928"/>
          </a:xfrm>
          <a:prstGeom prst="rect">
            <a:avLst/>
          </a:prstGeom>
          <a:noFill/>
          <a:ln/>
        </p:spPr>
        <p:txBody>
          <a:bodyPr wrap="square" lIns="0" tIns="0" rIns="0" bIns="0" rtlCol="0" anchor="ctr"/>
          <a:lstStyle/>
          <a:p>
            <a:pPr algn="ctr" indent="0" marL="0">
              <a:buNone/>
            </a:pPr>
            <a:r>
              <a:rPr lang="en-US" sz="2100" b="1" dirty="0">
                <a:solidFill>
                  <a:schemeClr val="bg1"/>
                </a:solidFill>
              </a:rPr>
              <a:t>heb</a:t>
            </a:r>
            <a:endParaRPr lang="en-US" sz="2100" dirty="0"/>
          </a:p>
        </p:txBody>
      </p:sp>
      <p:sp>
        <p:nvSpPr>
          <p:cNvPr id="33" name="Shape 30"/>
          <p:cNvSpPr/>
          <p:nvPr/>
        </p:nvSpPr>
        <p:spPr>
          <a:xfrm>
            <a:off x="4531554" y="3566160"/>
            <a:ext cx="1407386" cy="566928"/>
          </a:xfrm>
          <a:prstGeom prst="roundRect">
            <a:avLst>
              <a:gd name="adj" fmla="val 16129"/>
            </a:avLst>
          </a:prstGeom>
          <a:solidFill>
            <a:schemeClr val="accent1"/>
          </a:solidFill>
          <a:ln w="12700">
            <a:solidFill>
              <a:srgbClr val="FFFFFF">
                <a:alpha val="0"/>
              </a:srgbClr>
            </a:solidFill>
            <a:prstDash val="solid"/>
          </a:ln>
        </p:spPr>
      </p:sp>
      <p:sp>
        <p:nvSpPr>
          <p:cNvPr id="34" name="Text 31"/>
          <p:cNvSpPr txBox="1"/>
          <p:nvPr/>
        </p:nvSpPr>
        <p:spPr>
          <a:xfrm>
            <a:off x="4531554" y="3566160"/>
            <a:ext cx="1407386" cy="566928"/>
          </a:xfrm>
          <a:prstGeom prst="rect">
            <a:avLst/>
          </a:prstGeom>
          <a:noFill/>
          <a:ln/>
        </p:spPr>
        <p:txBody>
          <a:bodyPr wrap="square" lIns="0" tIns="0" rIns="0" bIns="0" rtlCol="0" anchor="ctr"/>
          <a:lstStyle/>
          <a:p>
            <a:pPr algn="ctr" indent="0" marL="0">
              <a:buNone/>
            </a:pPr>
            <a:r>
              <a:rPr lang="en-US" sz="2100" b="1" dirty="0">
                <a:solidFill>
                  <a:schemeClr val="bg1"/>
                </a:solidFill>
              </a:rPr>
              <a:t>kunnen</a:t>
            </a:r>
            <a:endParaRPr lang="en-US" sz="2100" dirty="0"/>
          </a:p>
        </p:txBody>
      </p:sp>
      <p:sp>
        <p:nvSpPr>
          <p:cNvPr id="35" name="Shape 32"/>
          <p:cNvSpPr/>
          <p:nvPr/>
        </p:nvSpPr>
        <p:spPr>
          <a:xfrm>
            <a:off x="6021236" y="3566160"/>
            <a:ext cx="1407386" cy="566928"/>
          </a:xfrm>
          <a:prstGeom prst="roundRect">
            <a:avLst>
              <a:gd name="adj" fmla="val 16129"/>
            </a:avLst>
          </a:prstGeom>
          <a:solidFill>
            <a:srgbClr val="FBEDEB"/>
          </a:solidFill>
          <a:ln w="25400">
            <a:solidFill>
              <a:srgbClr val="B83227"/>
            </a:solidFill>
            <a:prstDash val="solid"/>
          </a:ln>
        </p:spPr>
      </p:sp>
      <p:sp>
        <p:nvSpPr>
          <p:cNvPr id="36" name="Text 33"/>
          <p:cNvSpPr txBox="1"/>
          <p:nvPr/>
        </p:nvSpPr>
        <p:spPr>
          <a:xfrm>
            <a:off x="6021236" y="3566160"/>
            <a:ext cx="1407386" cy="566928"/>
          </a:xfrm>
          <a:prstGeom prst="rect">
            <a:avLst/>
          </a:prstGeom>
          <a:noFill/>
          <a:ln/>
        </p:spPr>
        <p:txBody>
          <a:bodyPr wrap="square" lIns="0" tIns="0" rIns="0" bIns="0" rtlCol="0" anchor="ctr"/>
          <a:lstStyle/>
          <a:p>
            <a:pPr algn="ctr" indent="0" marL="0">
              <a:buNone/>
            </a:pPr>
            <a:r>
              <a:rPr lang="en-US" sz="2100" b="1" dirty="0">
                <a:solidFill>
                  <a:schemeClr val="accent6"/>
                </a:solidFill>
              </a:rPr>
              <a:t>komen.</a:t>
            </a:r>
            <a:endParaRPr lang="en-US" sz="2100" dirty="0"/>
          </a:p>
        </p:txBody>
      </p:sp>
      <p:sp>
        <p:nvSpPr>
          <p:cNvPr id="37" name="Shape 34"/>
          <p:cNvSpPr/>
          <p:nvPr/>
        </p:nvSpPr>
        <p:spPr>
          <a:xfrm>
            <a:off x="457200" y="4288536"/>
            <a:ext cx="7062862" cy="45720"/>
          </a:xfrm>
          <a:prstGeom prst="rect">
            <a:avLst/>
          </a:prstGeom>
          <a:solidFill>
            <a:srgbClr val="8A96A8"/>
          </a:solidFill>
          <a:ln w="12700">
            <a:solidFill>
              <a:srgbClr val="FFFFFF">
                <a:alpha val="0"/>
              </a:srgbClr>
            </a:solidFill>
            <a:prstDash val="solid"/>
          </a:ln>
        </p:spPr>
      </p:sp>
      <p:sp>
        <p:nvSpPr>
          <p:cNvPr id="38" name="Shape 35"/>
          <p:cNvSpPr/>
          <p:nvPr/>
        </p:nvSpPr>
        <p:spPr>
          <a:xfrm>
            <a:off x="3670885" y="4142232"/>
            <a:ext cx="146304" cy="146304"/>
          </a:xfrm>
          <a:prstGeom prst="ellipse">
            <a:avLst/>
          </a:prstGeom>
          <a:solidFill>
            <a:srgbClr val="1B2333"/>
          </a:solidFill>
          <a:ln w="12700">
            <a:solidFill>
              <a:srgbClr val="FFFFFF">
                <a:alpha val="0"/>
              </a:srgbClr>
            </a:solidFill>
            <a:prstDash val="solid"/>
          </a:ln>
        </p:spPr>
      </p:sp>
      <p:sp>
        <p:nvSpPr>
          <p:cNvPr id="39" name="Shape 36"/>
          <p:cNvSpPr/>
          <p:nvPr/>
        </p:nvSpPr>
        <p:spPr>
          <a:xfrm>
            <a:off x="4177198" y="4142232"/>
            <a:ext cx="146304" cy="146304"/>
          </a:xfrm>
          <a:prstGeom prst="ellipse">
            <a:avLst/>
          </a:prstGeom>
          <a:solidFill>
            <a:srgbClr val="1B2333"/>
          </a:solidFill>
          <a:ln w="12700">
            <a:solidFill>
              <a:srgbClr val="FFFFFF">
                <a:alpha val="0"/>
              </a:srgbClr>
            </a:solidFill>
            <a:prstDash val="solid"/>
          </a:ln>
        </p:spPr>
      </p:sp>
      <p:sp>
        <p:nvSpPr>
          <p:cNvPr id="40" name="Shape 37"/>
          <p:cNvSpPr/>
          <p:nvPr/>
        </p:nvSpPr>
        <p:spPr>
          <a:xfrm>
            <a:off x="3654857" y="3364992"/>
            <a:ext cx="146304" cy="219456"/>
          </a:xfrm>
          <a:prstGeom prst="rect">
            <a:avLst/>
          </a:prstGeom>
          <a:solidFill>
            <a:schemeClr val="tx2"/>
          </a:solidFill>
          <a:ln w="12700">
            <a:solidFill>
              <a:srgbClr val="FFFFFF">
                <a:alpha val="0"/>
              </a:srgbClr>
            </a:solidFill>
            <a:prstDash val="solid"/>
          </a:ln>
        </p:spPr>
      </p:sp>
      <p:sp>
        <p:nvSpPr>
          <p:cNvPr id="41" name="Shape 38"/>
          <p:cNvSpPr/>
          <p:nvPr/>
        </p:nvSpPr>
        <p:spPr>
          <a:xfrm>
            <a:off x="4449258" y="3991356"/>
            <a:ext cx="82296" cy="914"/>
          </a:xfrm>
          <a:prstGeom prst="line">
            <a:avLst/>
          </a:prstGeom>
          <a:noFill/>
          <a:ln w="31750">
            <a:solidFill>
              <a:srgbClr val="1B2333"/>
            </a:solidFill>
            <a:prstDash val="solid"/>
          </a:ln>
        </p:spPr>
      </p:sp>
      <p:sp>
        <p:nvSpPr>
          <p:cNvPr id="42" name="Shape 39"/>
          <p:cNvSpPr/>
          <p:nvPr/>
        </p:nvSpPr>
        <p:spPr>
          <a:xfrm>
            <a:off x="4768027" y="4142232"/>
            <a:ext cx="146304" cy="146304"/>
          </a:xfrm>
          <a:prstGeom prst="ellipse">
            <a:avLst/>
          </a:prstGeom>
          <a:solidFill>
            <a:srgbClr val="1B2333"/>
          </a:solidFill>
          <a:ln w="12700">
            <a:solidFill>
              <a:srgbClr val="FFFFFF">
                <a:alpha val="0"/>
              </a:srgbClr>
            </a:solidFill>
            <a:prstDash val="solid"/>
          </a:ln>
        </p:spPr>
      </p:sp>
      <p:sp>
        <p:nvSpPr>
          <p:cNvPr id="43" name="Shape 40"/>
          <p:cNvSpPr/>
          <p:nvPr/>
        </p:nvSpPr>
        <p:spPr>
          <a:xfrm>
            <a:off x="5556163" y="4142232"/>
            <a:ext cx="146304" cy="146304"/>
          </a:xfrm>
          <a:prstGeom prst="ellipse">
            <a:avLst/>
          </a:prstGeom>
          <a:solidFill>
            <a:srgbClr val="1B2333"/>
          </a:solidFill>
          <a:ln w="12700">
            <a:solidFill>
              <a:srgbClr val="FFFFFF">
                <a:alpha val="0"/>
              </a:srgbClr>
            </a:solidFill>
            <a:prstDash val="solid"/>
          </a:ln>
        </p:spPr>
      </p:sp>
      <p:sp>
        <p:nvSpPr>
          <p:cNvPr id="44" name="Shape 41"/>
          <p:cNvSpPr/>
          <p:nvPr/>
        </p:nvSpPr>
        <p:spPr>
          <a:xfrm>
            <a:off x="5938940" y="3991356"/>
            <a:ext cx="82296" cy="914"/>
          </a:xfrm>
          <a:prstGeom prst="line">
            <a:avLst/>
          </a:prstGeom>
          <a:noFill/>
          <a:ln w="31750">
            <a:solidFill>
              <a:srgbClr val="1B2333"/>
            </a:solidFill>
            <a:prstDash val="solid"/>
          </a:ln>
        </p:spPr>
      </p:sp>
      <p:sp>
        <p:nvSpPr>
          <p:cNvPr id="45" name="Shape 42"/>
          <p:cNvSpPr/>
          <p:nvPr/>
        </p:nvSpPr>
        <p:spPr>
          <a:xfrm>
            <a:off x="6257709" y="4142232"/>
            <a:ext cx="146304" cy="146304"/>
          </a:xfrm>
          <a:prstGeom prst="ellipse">
            <a:avLst/>
          </a:prstGeom>
          <a:solidFill>
            <a:srgbClr val="1B2333"/>
          </a:solidFill>
          <a:ln w="12700">
            <a:solidFill>
              <a:srgbClr val="FFFFFF">
                <a:alpha val="0"/>
              </a:srgbClr>
            </a:solidFill>
            <a:prstDash val="solid"/>
          </a:ln>
        </p:spPr>
      </p:sp>
      <p:sp>
        <p:nvSpPr>
          <p:cNvPr id="46" name="Shape 43"/>
          <p:cNvSpPr/>
          <p:nvPr/>
        </p:nvSpPr>
        <p:spPr>
          <a:xfrm>
            <a:off x="7045845" y="4142232"/>
            <a:ext cx="146304" cy="146304"/>
          </a:xfrm>
          <a:prstGeom prst="ellipse">
            <a:avLst/>
          </a:prstGeom>
          <a:solidFill>
            <a:srgbClr val="1B2333"/>
          </a:solidFill>
          <a:ln w="12700">
            <a:solidFill>
              <a:srgbClr val="FFFFFF">
                <a:alpha val="0"/>
              </a:srgbClr>
            </a:solidFill>
            <a:prstDash val="solid"/>
          </a:ln>
        </p:spPr>
      </p:sp>
      <p:sp>
        <p:nvSpPr>
          <p:cNvPr id="47" name="Shape 44"/>
          <p:cNvSpPr/>
          <p:nvPr/>
        </p:nvSpPr>
        <p:spPr>
          <a:xfrm>
            <a:off x="548640" y="4617720"/>
            <a:ext cx="1640616" cy="566928"/>
          </a:xfrm>
          <a:prstGeom prst="roundRect">
            <a:avLst>
              <a:gd name="adj" fmla="val 16129"/>
            </a:avLst>
          </a:prstGeom>
          <a:solidFill>
            <a:schemeClr val="bg1"/>
          </a:solidFill>
          <a:ln w="15875">
            <a:solidFill>
              <a:srgbClr val="D5DCE6"/>
            </a:solidFill>
            <a:prstDash val="solid"/>
          </a:ln>
        </p:spPr>
      </p:sp>
      <p:sp>
        <p:nvSpPr>
          <p:cNvPr id="48" name="Text 45"/>
          <p:cNvSpPr txBox="1"/>
          <p:nvPr/>
        </p:nvSpPr>
        <p:spPr>
          <a:xfrm>
            <a:off x="548640" y="4617720"/>
            <a:ext cx="1640616" cy="566928"/>
          </a:xfrm>
          <a:prstGeom prst="rect">
            <a:avLst/>
          </a:prstGeom>
          <a:noFill/>
          <a:ln/>
        </p:spPr>
        <p:txBody>
          <a:bodyPr wrap="square" lIns="0" tIns="0" rIns="0" bIns="0" rtlCol="0" anchor="ctr"/>
          <a:lstStyle/>
          <a:p>
            <a:pPr algn="ctr" indent="0" marL="0">
              <a:buNone/>
            </a:pPr>
            <a:r>
              <a:rPr lang="en-US" sz="2100" dirty="0">
                <a:solidFill>
                  <a:schemeClr val="tx1"/>
                </a:solidFill>
              </a:rPr>
              <a:t>…, dat ze</a:t>
            </a:r>
            <a:endParaRPr lang="en-US" sz="2100" dirty="0"/>
          </a:p>
        </p:txBody>
      </p:sp>
      <p:sp>
        <p:nvSpPr>
          <p:cNvPr id="49" name="Shape 46"/>
          <p:cNvSpPr/>
          <p:nvPr/>
        </p:nvSpPr>
        <p:spPr>
          <a:xfrm>
            <a:off x="2271552" y="4617720"/>
            <a:ext cx="736377" cy="566928"/>
          </a:xfrm>
          <a:prstGeom prst="roundRect">
            <a:avLst>
              <a:gd name="adj" fmla="val 16129"/>
            </a:avLst>
          </a:prstGeom>
          <a:solidFill>
            <a:schemeClr val="tx2"/>
          </a:solidFill>
          <a:ln w="12700">
            <a:solidFill>
              <a:srgbClr val="FFFFFF">
                <a:alpha val="0"/>
              </a:srgbClr>
            </a:solidFill>
            <a:prstDash val="solid"/>
          </a:ln>
        </p:spPr>
      </p:sp>
      <p:sp>
        <p:nvSpPr>
          <p:cNvPr id="50" name="Text 47"/>
          <p:cNvSpPr txBox="1"/>
          <p:nvPr/>
        </p:nvSpPr>
        <p:spPr>
          <a:xfrm>
            <a:off x="2271552" y="4617720"/>
            <a:ext cx="736377" cy="566928"/>
          </a:xfrm>
          <a:prstGeom prst="rect">
            <a:avLst/>
          </a:prstGeom>
          <a:noFill/>
          <a:ln/>
        </p:spPr>
        <p:txBody>
          <a:bodyPr wrap="square" lIns="0" tIns="0" rIns="0" bIns="0" rtlCol="0" anchor="ctr"/>
          <a:lstStyle/>
          <a:p>
            <a:pPr algn="ctr" indent="0" marL="0">
              <a:buNone/>
            </a:pPr>
            <a:r>
              <a:rPr lang="en-US" sz="2100" b="1" dirty="0">
                <a:solidFill>
                  <a:schemeClr val="bg1"/>
                </a:solidFill>
              </a:rPr>
              <a:t>is</a:t>
            </a:r>
            <a:endParaRPr lang="en-US" sz="2100" dirty="0"/>
          </a:p>
        </p:txBody>
      </p:sp>
      <p:sp>
        <p:nvSpPr>
          <p:cNvPr id="51" name="Shape 48"/>
          <p:cNvSpPr/>
          <p:nvPr/>
        </p:nvSpPr>
        <p:spPr>
          <a:xfrm>
            <a:off x="3090226" y="4617720"/>
            <a:ext cx="1575138" cy="566928"/>
          </a:xfrm>
          <a:prstGeom prst="roundRect">
            <a:avLst>
              <a:gd name="adj" fmla="val 16129"/>
            </a:avLst>
          </a:prstGeom>
          <a:solidFill>
            <a:schemeClr val="accent1"/>
          </a:solidFill>
          <a:ln w="12700">
            <a:solidFill>
              <a:srgbClr val="FFFFFF">
                <a:alpha val="0"/>
              </a:srgbClr>
            </a:solidFill>
            <a:prstDash val="solid"/>
          </a:ln>
        </p:spPr>
      </p:sp>
      <p:sp>
        <p:nvSpPr>
          <p:cNvPr id="52" name="Text 49"/>
          <p:cNvSpPr txBox="1"/>
          <p:nvPr/>
        </p:nvSpPr>
        <p:spPr>
          <a:xfrm>
            <a:off x="3090226" y="4617720"/>
            <a:ext cx="1575138" cy="566928"/>
          </a:xfrm>
          <a:prstGeom prst="rect">
            <a:avLst/>
          </a:prstGeom>
          <a:noFill/>
          <a:ln/>
        </p:spPr>
        <p:txBody>
          <a:bodyPr wrap="square" lIns="0" tIns="0" rIns="0" bIns="0" rtlCol="0" anchor="ctr"/>
          <a:lstStyle/>
          <a:p>
            <a:pPr algn="ctr" indent="0" marL="0">
              <a:buNone/>
            </a:pPr>
            <a:r>
              <a:rPr lang="en-US" sz="2100" b="1" dirty="0">
                <a:solidFill>
                  <a:schemeClr val="bg1"/>
                </a:solidFill>
              </a:rPr>
              <a:t>blijven</a:t>
            </a:r>
            <a:endParaRPr lang="en-US" sz="2100" dirty="0"/>
          </a:p>
        </p:txBody>
      </p:sp>
      <p:sp>
        <p:nvSpPr>
          <p:cNvPr id="53" name="Shape 50"/>
          <p:cNvSpPr/>
          <p:nvPr/>
        </p:nvSpPr>
        <p:spPr>
          <a:xfrm>
            <a:off x="4747660" y="4617720"/>
            <a:ext cx="1575138" cy="566928"/>
          </a:xfrm>
          <a:prstGeom prst="roundRect">
            <a:avLst>
              <a:gd name="adj" fmla="val 16129"/>
            </a:avLst>
          </a:prstGeom>
          <a:solidFill>
            <a:srgbClr val="FBEDEB"/>
          </a:solidFill>
          <a:ln w="25400">
            <a:solidFill>
              <a:srgbClr val="B83227"/>
            </a:solidFill>
            <a:prstDash val="solid"/>
          </a:ln>
        </p:spPr>
      </p:sp>
      <p:sp>
        <p:nvSpPr>
          <p:cNvPr id="54" name="Text 51"/>
          <p:cNvSpPr txBox="1"/>
          <p:nvPr/>
        </p:nvSpPr>
        <p:spPr>
          <a:xfrm>
            <a:off x="4747660" y="4617720"/>
            <a:ext cx="1575138" cy="566928"/>
          </a:xfrm>
          <a:prstGeom prst="rect">
            <a:avLst/>
          </a:prstGeom>
          <a:noFill/>
          <a:ln/>
        </p:spPr>
        <p:txBody>
          <a:bodyPr wrap="square" lIns="0" tIns="0" rIns="0" bIns="0" rtlCol="0" anchor="ctr"/>
          <a:lstStyle/>
          <a:p>
            <a:pPr algn="ctr" indent="0" marL="0">
              <a:buNone/>
            </a:pPr>
            <a:r>
              <a:rPr lang="en-US" sz="2100" b="1" dirty="0">
                <a:solidFill>
                  <a:schemeClr val="accent6"/>
                </a:solidFill>
              </a:rPr>
              <a:t>slapen.</a:t>
            </a:r>
            <a:endParaRPr lang="en-US" sz="2100" dirty="0"/>
          </a:p>
        </p:txBody>
      </p:sp>
      <p:sp>
        <p:nvSpPr>
          <p:cNvPr id="55" name="Shape 52"/>
          <p:cNvSpPr/>
          <p:nvPr/>
        </p:nvSpPr>
        <p:spPr>
          <a:xfrm>
            <a:off x="457200" y="5340096"/>
            <a:ext cx="5957038" cy="45720"/>
          </a:xfrm>
          <a:prstGeom prst="rect">
            <a:avLst/>
          </a:prstGeom>
          <a:solidFill>
            <a:srgbClr val="8A96A8"/>
          </a:solidFill>
          <a:ln w="12700">
            <a:solidFill>
              <a:srgbClr val="FFFFFF">
                <a:alpha val="0"/>
              </a:srgbClr>
            </a:solidFill>
            <a:prstDash val="solid"/>
          </a:ln>
        </p:spPr>
      </p:sp>
      <p:sp>
        <p:nvSpPr>
          <p:cNvPr id="56" name="Shape 53"/>
          <p:cNvSpPr/>
          <p:nvPr/>
        </p:nvSpPr>
        <p:spPr>
          <a:xfrm>
            <a:off x="2360403" y="5193792"/>
            <a:ext cx="146304" cy="146304"/>
          </a:xfrm>
          <a:prstGeom prst="ellipse">
            <a:avLst/>
          </a:prstGeom>
          <a:solidFill>
            <a:srgbClr val="1B2333"/>
          </a:solidFill>
          <a:ln w="12700">
            <a:solidFill>
              <a:srgbClr val="FFFFFF">
                <a:alpha val="0"/>
              </a:srgbClr>
            </a:solidFill>
            <a:prstDash val="solid"/>
          </a:ln>
        </p:spPr>
      </p:sp>
      <p:sp>
        <p:nvSpPr>
          <p:cNvPr id="57" name="Shape 54"/>
          <p:cNvSpPr/>
          <p:nvPr/>
        </p:nvSpPr>
        <p:spPr>
          <a:xfrm>
            <a:off x="2772775" y="5193792"/>
            <a:ext cx="146304" cy="146304"/>
          </a:xfrm>
          <a:prstGeom prst="ellipse">
            <a:avLst/>
          </a:prstGeom>
          <a:solidFill>
            <a:srgbClr val="1B2333"/>
          </a:solidFill>
          <a:ln w="12700">
            <a:solidFill>
              <a:srgbClr val="FFFFFF">
                <a:alpha val="0"/>
              </a:srgbClr>
            </a:solidFill>
            <a:prstDash val="solid"/>
          </a:ln>
        </p:spPr>
      </p:sp>
      <p:sp>
        <p:nvSpPr>
          <p:cNvPr id="58" name="Shape 55"/>
          <p:cNvSpPr/>
          <p:nvPr/>
        </p:nvSpPr>
        <p:spPr>
          <a:xfrm>
            <a:off x="2381280" y="4416552"/>
            <a:ext cx="146304" cy="219456"/>
          </a:xfrm>
          <a:prstGeom prst="rect">
            <a:avLst/>
          </a:prstGeom>
          <a:solidFill>
            <a:schemeClr val="tx2"/>
          </a:solidFill>
          <a:ln w="12700">
            <a:solidFill>
              <a:srgbClr val="FFFFFF">
                <a:alpha val="0"/>
              </a:srgbClr>
            </a:solidFill>
            <a:prstDash val="solid"/>
          </a:ln>
        </p:spPr>
      </p:sp>
      <p:sp>
        <p:nvSpPr>
          <p:cNvPr id="59" name="Shape 56"/>
          <p:cNvSpPr/>
          <p:nvPr/>
        </p:nvSpPr>
        <p:spPr>
          <a:xfrm>
            <a:off x="3007930" y="5042916"/>
            <a:ext cx="82296" cy="914"/>
          </a:xfrm>
          <a:prstGeom prst="line">
            <a:avLst/>
          </a:prstGeom>
          <a:noFill/>
          <a:ln w="31750">
            <a:solidFill>
              <a:srgbClr val="1B2333"/>
            </a:solidFill>
            <a:prstDash val="solid"/>
          </a:ln>
        </p:spPr>
      </p:sp>
      <p:sp>
        <p:nvSpPr>
          <p:cNvPr id="60" name="Shape 57"/>
          <p:cNvSpPr/>
          <p:nvPr/>
        </p:nvSpPr>
        <p:spPr>
          <a:xfrm>
            <a:off x="3363604" y="5193792"/>
            <a:ext cx="146304" cy="146304"/>
          </a:xfrm>
          <a:prstGeom prst="ellipse">
            <a:avLst/>
          </a:prstGeom>
          <a:solidFill>
            <a:srgbClr val="1B2333"/>
          </a:solidFill>
          <a:ln w="12700">
            <a:solidFill>
              <a:srgbClr val="FFFFFF">
                <a:alpha val="0"/>
              </a:srgbClr>
            </a:solidFill>
            <a:prstDash val="solid"/>
          </a:ln>
        </p:spPr>
      </p:sp>
      <p:sp>
        <p:nvSpPr>
          <p:cNvPr id="61" name="Shape 58"/>
          <p:cNvSpPr/>
          <p:nvPr/>
        </p:nvSpPr>
        <p:spPr>
          <a:xfrm>
            <a:off x="4245682" y="5193792"/>
            <a:ext cx="146304" cy="146304"/>
          </a:xfrm>
          <a:prstGeom prst="ellipse">
            <a:avLst/>
          </a:prstGeom>
          <a:solidFill>
            <a:srgbClr val="1B2333"/>
          </a:solidFill>
          <a:ln w="12700">
            <a:solidFill>
              <a:srgbClr val="FFFFFF">
                <a:alpha val="0"/>
              </a:srgbClr>
            </a:solidFill>
            <a:prstDash val="solid"/>
          </a:ln>
        </p:spPr>
      </p:sp>
      <p:sp>
        <p:nvSpPr>
          <p:cNvPr id="62" name="Shape 59"/>
          <p:cNvSpPr/>
          <p:nvPr/>
        </p:nvSpPr>
        <p:spPr>
          <a:xfrm>
            <a:off x="4665364" y="5042916"/>
            <a:ext cx="82296" cy="914"/>
          </a:xfrm>
          <a:prstGeom prst="line">
            <a:avLst/>
          </a:prstGeom>
          <a:noFill/>
          <a:ln w="31750">
            <a:solidFill>
              <a:srgbClr val="1B2333"/>
            </a:solidFill>
            <a:prstDash val="solid"/>
          </a:ln>
        </p:spPr>
      </p:sp>
      <p:sp>
        <p:nvSpPr>
          <p:cNvPr id="63" name="Shape 60"/>
          <p:cNvSpPr/>
          <p:nvPr/>
        </p:nvSpPr>
        <p:spPr>
          <a:xfrm>
            <a:off x="5021038" y="5193792"/>
            <a:ext cx="146304" cy="146304"/>
          </a:xfrm>
          <a:prstGeom prst="ellipse">
            <a:avLst/>
          </a:prstGeom>
          <a:solidFill>
            <a:srgbClr val="1B2333"/>
          </a:solidFill>
          <a:ln w="12700">
            <a:solidFill>
              <a:srgbClr val="FFFFFF">
                <a:alpha val="0"/>
              </a:srgbClr>
            </a:solidFill>
            <a:prstDash val="solid"/>
          </a:ln>
        </p:spPr>
      </p:sp>
      <p:sp>
        <p:nvSpPr>
          <p:cNvPr id="64" name="Shape 61"/>
          <p:cNvSpPr/>
          <p:nvPr/>
        </p:nvSpPr>
        <p:spPr>
          <a:xfrm>
            <a:off x="5903116" y="5193792"/>
            <a:ext cx="146304" cy="146304"/>
          </a:xfrm>
          <a:prstGeom prst="ellipse">
            <a:avLst/>
          </a:prstGeom>
          <a:solidFill>
            <a:srgbClr val="1B2333"/>
          </a:solidFill>
          <a:ln w="12700">
            <a:solidFill>
              <a:srgbClr val="FFFFFF">
                <a:alpha val="0"/>
              </a:srgbClr>
            </a:solidFill>
            <a:prstDash val="solid"/>
          </a:ln>
        </p:spPr>
      </p:sp>
      <p:sp>
        <p:nvSpPr>
          <p:cNvPr id="65" name="Text 62"/>
          <p:cNvSpPr txBox="1"/>
          <p:nvPr/>
        </p:nvSpPr>
        <p:spPr>
          <a:xfrm>
            <a:off x="548640" y="5440680"/>
            <a:ext cx="11091672" cy="365760"/>
          </a:xfrm>
          <a:prstGeom prst="rect">
            <a:avLst/>
          </a:prstGeom>
          <a:noFill/>
          <a:ln/>
        </p:spPr>
        <p:txBody>
          <a:bodyPr wrap="square" lIns="0" tIns="0" rIns="0" bIns="0" rtlCol="0" anchor="t"/>
          <a:lstStyle/>
          <a:p>
            <a:pPr algn="l" indent="0" marL="0">
              <a:buNone/>
            </a:pPr>
            <a:r>
              <a:rPr lang="en-US" sz="1500" i="1" dirty="0">
                <a:solidFill>
                  <a:schemeClr val="tx2"/>
                </a:solidFill>
              </a:rPr>
              <a:t>niet</a:t>
            </a:r>
            <a:r>
              <a:rPr lang="en-US" sz="1500" dirty="0">
                <a:solidFill>
                  <a:schemeClr val="tx2"/>
                </a:solidFill>
              </a:rPr>
              <a:t>, l’objet et les compléments restent </a:t>
            </a:r>
            <a:r>
              <a:rPr lang="en-US" sz="1500" b="1" dirty="0">
                <a:solidFill>
                  <a:schemeClr val="tx2"/>
                </a:solidFill>
              </a:rPr>
              <a:t>devant</a:t>
            </a:r>
            <a:r>
              <a:rPr lang="en-US" sz="1500" dirty="0">
                <a:solidFill>
                  <a:schemeClr val="tx2"/>
                </a:solidFill>
              </a:rPr>
              <a:t> le train.</a:t>
            </a:r>
            <a:endParaRPr lang="en-US" sz="1500" dirty="0"/>
          </a:p>
        </p:txBody>
      </p:sp>
      <p:sp>
        <p:nvSpPr>
          <p:cNvPr id="66" name="Text 63"/>
          <p:cNvSpPr txBox="1"/>
          <p:nvPr/>
        </p:nvSpPr>
        <p:spPr>
          <a:xfrm>
            <a:off x="548640" y="5833872"/>
            <a:ext cx="11091672" cy="365760"/>
          </a:xfrm>
          <a:prstGeom prst="rect">
            <a:avLst/>
          </a:prstGeom>
          <a:noFill/>
          <a:ln/>
        </p:spPr>
        <p:txBody>
          <a:bodyPr wrap="square" lIns="0" tIns="0" rIns="0" bIns="0" rtlCol="0" anchor="t"/>
          <a:lstStyle/>
          <a:p>
            <a:pPr algn="l" indent="0" marL="0">
              <a:buNone/>
            </a:pPr>
            <a:r>
              <a:rPr lang="en-US" sz="1500" dirty="0">
                <a:solidFill>
                  <a:schemeClr val="accent5"/>
                </a:solidFill>
              </a:rPr>
              <a:t>Même logique qu’avec </a:t>
            </a:r>
            <a:r>
              <a:rPr lang="en-US" sz="1500" i="1" dirty="0">
                <a:solidFill>
                  <a:schemeClr val="accent5"/>
                </a:solidFill>
              </a:rPr>
              <a:t>zal</a:t>
            </a:r>
            <a:r>
              <a:rPr lang="en-US" sz="1500" dirty="0">
                <a:solidFill>
                  <a:schemeClr val="accent5"/>
                </a:solidFill>
              </a:rPr>
              <a:t> : </a:t>
            </a:r>
            <a:r>
              <a:rPr lang="en-US" sz="1500" i="1" dirty="0">
                <a:solidFill>
                  <a:schemeClr val="accent5"/>
                </a:solidFill>
              </a:rPr>
              <a:t>…, dat ik je </a:t>
            </a:r>
            <a:r>
              <a:rPr lang="en-US" sz="1500" b="1" i="1" dirty="0">
                <a:solidFill>
                  <a:schemeClr val="accent5"/>
                </a:solidFill>
              </a:rPr>
              <a:t>zal opbellen</a:t>
            </a:r>
            <a:r>
              <a:rPr lang="en-US" sz="1500" dirty="0">
                <a:solidFill>
                  <a:schemeClr val="accent5"/>
                </a:solidFill>
              </a:rPr>
              <a:t> (M11) = </a:t>
            </a:r>
            <a:r>
              <a:rPr lang="en-US" sz="1500" i="1" dirty="0">
                <a:solidFill>
                  <a:schemeClr val="accent5"/>
                </a:solidFill>
              </a:rPr>
              <a:t>…, dat ik je </a:t>
            </a:r>
            <a:r>
              <a:rPr lang="en-US" sz="1500" b="1" i="1" dirty="0">
                <a:solidFill>
                  <a:schemeClr val="accent5"/>
                </a:solidFill>
              </a:rPr>
              <a:t>op zal bellen</a:t>
            </a:r>
            <a:r>
              <a:rPr lang="en-US" sz="1500"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regrets : had moeten, had kunnen</a:t>
            </a:r>
            <a:endParaRPr lang="en-US" sz="3000" dirty="0"/>
          </a:p>
        </p:txBody>
      </p:sp>
      <p:sp>
        <p:nvSpPr>
          <p:cNvPr id="3" name="tag"/>
          <p:cNvSpPr/>
          <p:nvPr/>
        </p:nvSpPr>
        <p:spPr>
          <a:xfrm>
            <a:off x="548640" y="237744"/>
            <a:ext cx="581558"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B1</a:t>
            </a:r>
            <a:endParaRPr lang="en-US" sz="1200" dirty="0"/>
          </a:p>
        </p:txBody>
      </p:sp>
      <p:sp>
        <p:nvSpPr>
          <p:cNvPr id="5" name="Shape 2"/>
          <p:cNvSpPr/>
          <p:nvPr/>
        </p:nvSpPr>
        <p:spPr>
          <a:xfrm>
            <a:off x="548640" y="1600200"/>
            <a:ext cx="880165" cy="603504"/>
          </a:xfrm>
          <a:prstGeom prst="roundRect">
            <a:avLst>
              <a:gd name="adj" fmla="val 15152"/>
            </a:avLst>
          </a:prstGeom>
          <a:solidFill>
            <a:schemeClr val="tx2"/>
          </a:solidFill>
          <a:ln w="12700">
            <a:solidFill>
              <a:srgbClr val="FFFFFF">
                <a:alpha val="0"/>
              </a:srgbClr>
            </a:solidFill>
            <a:prstDash val="solid"/>
          </a:ln>
        </p:spPr>
      </p:sp>
      <p:sp>
        <p:nvSpPr>
          <p:cNvPr id="6" name="Text 3"/>
          <p:cNvSpPr txBox="1"/>
          <p:nvPr/>
        </p:nvSpPr>
        <p:spPr>
          <a:xfrm>
            <a:off x="548640" y="1600200"/>
            <a:ext cx="880165" cy="603504"/>
          </a:xfrm>
          <a:prstGeom prst="rect">
            <a:avLst/>
          </a:prstGeom>
          <a:noFill/>
          <a:ln/>
        </p:spPr>
        <p:txBody>
          <a:bodyPr wrap="square" lIns="0" tIns="0" rIns="0" bIns="0" rtlCol="0" anchor="ctr"/>
          <a:lstStyle/>
          <a:p>
            <a:pPr algn="ctr" indent="0" marL="0">
              <a:buNone/>
            </a:pPr>
            <a:r>
              <a:rPr lang="en-US" sz="2000" b="1" dirty="0">
                <a:solidFill>
                  <a:schemeClr val="bg1"/>
                </a:solidFill>
              </a:rPr>
              <a:t>had</a:t>
            </a:r>
            <a:endParaRPr lang="en-US" sz="2000" dirty="0"/>
          </a:p>
        </p:txBody>
      </p:sp>
      <p:sp>
        <p:nvSpPr>
          <p:cNvPr id="7" name="Shape 4"/>
          <p:cNvSpPr/>
          <p:nvPr/>
        </p:nvSpPr>
        <p:spPr>
          <a:xfrm>
            <a:off x="1511101" y="1600200"/>
            <a:ext cx="1359457" cy="603504"/>
          </a:xfrm>
          <a:prstGeom prst="roundRect">
            <a:avLst>
              <a:gd name="adj" fmla="val 15152"/>
            </a:avLst>
          </a:prstGeom>
          <a:solidFill>
            <a:schemeClr val="accent1"/>
          </a:solidFill>
          <a:ln w="12700">
            <a:solidFill>
              <a:srgbClr val="FFFFFF">
                <a:alpha val="0"/>
              </a:srgbClr>
            </a:solidFill>
            <a:prstDash val="solid"/>
          </a:ln>
        </p:spPr>
      </p:sp>
      <p:sp>
        <p:nvSpPr>
          <p:cNvPr id="8" name="Text 5"/>
          <p:cNvSpPr txBox="1"/>
          <p:nvPr/>
        </p:nvSpPr>
        <p:spPr>
          <a:xfrm>
            <a:off x="1511101" y="1600200"/>
            <a:ext cx="1359457" cy="603504"/>
          </a:xfrm>
          <a:prstGeom prst="rect">
            <a:avLst/>
          </a:prstGeom>
          <a:noFill/>
          <a:ln/>
        </p:spPr>
        <p:txBody>
          <a:bodyPr wrap="square" lIns="0" tIns="0" rIns="0" bIns="0" rtlCol="0" anchor="ctr"/>
          <a:lstStyle/>
          <a:p>
            <a:pPr algn="ctr" indent="0" marL="0">
              <a:buNone/>
            </a:pPr>
            <a:r>
              <a:rPr lang="en-US" sz="2000" b="1" dirty="0">
                <a:solidFill>
                  <a:schemeClr val="bg1"/>
                </a:solidFill>
              </a:rPr>
              <a:t>moeten</a:t>
            </a:r>
            <a:endParaRPr lang="en-US" sz="2000" dirty="0"/>
          </a:p>
        </p:txBody>
      </p:sp>
      <p:sp>
        <p:nvSpPr>
          <p:cNvPr id="9" name="Shape 6"/>
          <p:cNvSpPr/>
          <p:nvPr/>
        </p:nvSpPr>
        <p:spPr>
          <a:xfrm>
            <a:off x="2952854" y="1600200"/>
            <a:ext cx="1148486" cy="603504"/>
          </a:xfrm>
          <a:prstGeom prst="roundRect">
            <a:avLst>
              <a:gd name="adj" fmla="val 15152"/>
            </a:avLst>
          </a:prstGeom>
          <a:solidFill>
            <a:schemeClr val="bg1"/>
          </a:solidFill>
          <a:ln w="15875">
            <a:solidFill>
              <a:srgbClr val="D5DCE6"/>
            </a:solidFill>
            <a:prstDash val="solid"/>
          </a:ln>
        </p:spPr>
      </p:sp>
      <p:sp>
        <p:nvSpPr>
          <p:cNvPr id="10" name="Text 7"/>
          <p:cNvSpPr txBox="1"/>
          <p:nvPr/>
        </p:nvSpPr>
        <p:spPr>
          <a:xfrm>
            <a:off x="2952854" y="1600200"/>
            <a:ext cx="1148486" cy="603504"/>
          </a:xfrm>
          <a:prstGeom prst="rect">
            <a:avLst/>
          </a:prstGeom>
          <a:noFill/>
          <a:ln/>
        </p:spPr>
        <p:txBody>
          <a:bodyPr wrap="square" lIns="0" tIns="0" rIns="0" bIns="0" rtlCol="0" anchor="ctr"/>
          <a:lstStyle/>
          <a:p>
            <a:pPr algn="ctr" indent="0" marL="0">
              <a:buNone/>
            </a:pPr>
            <a:r>
              <a:rPr lang="en-US" sz="2000" dirty="0">
                <a:solidFill>
                  <a:schemeClr val="tx1"/>
                </a:solidFill>
              </a:rPr>
              <a:t>+ inf.</a:t>
            </a:r>
            <a:endParaRPr lang="en-US" sz="2000" dirty="0"/>
          </a:p>
        </p:txBody>
      </p:sp>
      <p:sp>
        <p:nvSpPr>
          <p:cNvPr id="11" name="Text 8"/>
          <p:cNvSpPr txBox="1"/>
          <p:nvPr/>
        </p:nvSpPr>
        <p:spPr>
          <a:xfrm>
            <a:off x="4238500" y="1600200"/>
            <a:ext cx="1737360" cy="603504"/>
          </a:xfrm>
          <a:prstGeom prst="rect">
            <a:avLst/>
          </a:prstGeom>
          <a:noFill/>
          <a:ln/>
        </p:spPr>
        <p:txBody>
          <a:bodyPr wrap="square" lIns="0" tIns="0" rIns="0" bIns="0" rtlCol="0" anchor="ctr"/>
          <a:lstStyle/>
          <a:p>
            <a:pPr algn="l" indent="0" marL="0">
              <a:buNone/>
            </a:pPr>
            <a:r>
              <a:rPr lang="en-US" sz="1900" dirty="0">
                <a:solidFill>
                  <a:schemeClr val="tx2"/>
                </a:solidFill>
              </a:rPr>
              <a:t>= </a:t>
            </a:r>
            <a:r>
              <a:rPr lang="en-US" sz="1900" b="1" dirty="0">
                <a:solidFill>
                  <a:schemeClr val="tx2"/>
                </a:solidFill>
              </a:rPr>
              <a:t>aurais dû</a:t>
            </a:r>
            <a:endParaRPr lang="en-US" sz="1900" dirty="0"/>
          </a:p>
        </p:txBody>
      </p:sp>
      <p:sp>
        <p:nvSpPr>
          <p:cNvPr id="12" name="Shape 9"/>
          <p:cNvSpPr/>
          <p:nvPr/>
        </p:nvSpPr>
        <p:spPr>
          <a:xfrm>
            <a:off x="6263640" y="1600200"/>
            <a:ext cx="880165" cy="603504"/>
          </a:xfrm>
          <a:prstGeom prst="roundRect">
            <a:avLst>
              <a:gd name="adj" fmla="val 15152"/>
            </a:avLst>
          </a:prstGeom>
          <a:solidFill>
            <a:schemeClr val="tx2"/>
          </a:solidFill>
          <a:ln w="12700">
            <a:solidFill>
              <a:srgbClr val="FFFFFF">
                <a:alpha val="0"/>
              </a:srgbClr>
            </a:solidFill>
            <a:prstDash val="solid"/>
          </a:ln>
        </p:spPr>
      </p:sp>
      <p:sp>
        <p:nvSpPr>
          <p:cNvPr id="13" name="Text 10"/>
          <p:cNvSpPr txBox="1"/>
          <p:nvPr/>
        </p:nvSpPr>
        <p:spPr>
          <a:xfrm>
            <a:off x="6263640" y="1600200"/>
            <a:ext cx="880165" cy="603504"/>
          </a:xfrm>
          <a:prstGeom prst="rect">
            <a:avLst/>
          </a:prstGeom>
          <a:noFill/>
          <a:ln/>
        </p:spPr>
        <p:txBody>
          <a:bodyPr wrap="square" lIns="0" tIns="0" rIns="0" bIns="0" rtlCol="0" anchor="ctr"/>
          <a:lstStyle/>
          <a:p>
            <a:pPr algn="ctr" indent="0" marL="0">
              <a:buNone/>
            </a:pPr>
            <a:r>
              <a:rPr lang="en-US" sz="2000" b="1" dirty="0">
                <a:solidFill>
                  <a:schemeClr val="bg1"/>
                </a:solidFill>
              </a:rPr>
              <a:t>had</a:t>
            </a:r>
            <a:endParaRPr lang="en-US" sz="2000" dirty="0"/>
          </a:p>
        </p:txBody>
      </p:sp>
      <p:sp>
        <p:nvSpPr>
          <p:cNvPr id="14" name="Shape 11"/>
          <p:cNvSpPr/>
          <p:nvPr/>
        </p:nvSpPr>
        <p:spPr>
          <a:xfrm>
            <a:off x="7226101" y="1600200"/>
            <a:ext cx="1359457" cy="603504"/>
          </a:xfrm>
          <a:prstGeom prst="roundRect">
            <a:avLst>
              <a:gd name="adj" fmla="val 15152"/>
            </a:avLst>
          </a:prstGeom>
          <a:solidFill>
            <a:schemeClr val="accent1"/>
          </a:solidFill>
          <a:ln w="12700">
            <a:solidFill>
              <a:srgbClr val="FFFFFF">
                <a:alpha val="0"/>
              </a:srgbClr>
            </a:solidFill>
            <a:prstDash val="solid"/>
          </a:ln>
        </p:spPr>
      </p:sp>
      <p:sp>
        <p:nvSpPr>
          <p:cNvPr id="15" name="Text 12"/>
          <p:cNvSpPr txBox="1"/>
          <p:nvPr/>
        </p:nvSpPr>
        <p:spPr>
          <a:xfrm>
            <a:off x="7226101" y="1600200"/>
            <a:ext cx="1359457" cy="603504"/>
          </a:xfrm>
          <a:prstGeom prst="rect">
            <a:avLst/>
          </a:prstGeom>
          <a:noFill/>
          <a:ln/>
        </p:spPr>
        <p:txBody>
          <a:bodyPr wrap="square" lIns="0" tIns="0" rIns="0" bIns="0" rtlCol="0" anchor="ctr"/>
          <a:lstStyle/>
          <a:p>
            <a:pPr algn="ctr" indent="0" marL="0">
              <a:buNone/>
            </a:pPr>
            <a:r>
              <a:rPr lang="en-US" sz="2000" b="1" dirty="0">
                <a:solidFill>
                  <a:schemeClr val="bg1"/>
                </a:solidFill>
              </a:rPr>
              <a:t>kunnen</a:t>
            </a:r>
            <a:endParaRPr lang="en-US" sz="2000" dirty="0"/>
          </a:p>
        </p:txBody>
      </p:sp>
      <p:sp>
        <p:nvSpPr>
          <p:cNvPr id="16" name="Shape 13"/>
          <p:cNvSpPr/>
          <p:nvPr/>
        </p:nvSpPr>
        <p:spPr>
          <a:xfrm>
            <a:off x="8667854" y="1600200"/>
            <a:ext cx="1148486" cy="603504"/>
          </a:xfrm>
          <a:prstGeom prst="roundRect">
            <a:avLst>
              <a:gd name="adj" fmla="val 15152"/>
            </a:avLst>
          </a:prstGeom>
          <a:solidFill>
            <a:schemeClr val="bg1"/>
          </a:solidFill>
          <a:ln w="15875">
            <a:solidFill>
              <a:srgbClr val="D5DCE6"/>
            </a:solidFill>
            <a:prstDash val="solid"/>
          </a:ln>
        </p:spPr>
      </p:sp>
      <p:sp>
        <p:nvSpPr>
          <p:cNvPr id="17" name="Text 14"/>
          <p:cNvSpPr txBox="1"/>
          <p:nvPr/>
        </p:nvSpPr>
        <p:spPr>
          <a:xfrm>
            <a:off x="8667854" y="1600200"/>
            <a:ext cx="1148486" cy="603504"/>
          </a:xfrm>
          <a:prstGeom prst="rect">
            <a:avLst/>
          </a:prstGeom>
          <a:noFill/>
          <a:ln/>
        </p:spPr>
        <p:txBody>
          <a:bodyPr wrap="square" lIns="0" tIns="0" rIns="0" bIns="0" rtlCol="0" anchor="ctr"/>
          <a:lstStyle/>
          <a:p>
            <a:pPr algn="ctr" indent="0" marL="0">
              <a:buNone/>
            </a:pPr>
            <a:r>
              <a:rPr lang="en-US" sz="2000" dirty="0">
                <a:solidFill>
                  <a:schemeClr val="tx1"/>
                </a:solidFill>
              </a:rPr>
              <a:t>+ inf.</a:t>
            </a:r>
            <a:endParaRPr lang="en-US" sz="2000" dirty="0"/>
          </a:p>
        </p:txBody>
      </p:sp>
      <p:sp>
        <p:nvSpPr>
          <p:cNvPr id="18" name="Text 15"/>
          <p:cNvSpPr txBox="1"/>
          <p:nvPr/>
        </p:nvSpPr>
        <p:spPr>
          <a:xfrm>
            <a:off x="9953500" y="1600200"/>
            <a:ext cx="1737360" cy="603504"/>
          </a:xfrm>
          <a:prstGeom prst="rect">
            <a:avLst/>
          </a:prstGeom>
          <a:noFill/>
          <a:ln/>
        </p:spPr>
        <p:txBody>
          <a:bodyPr wrap="square" lIns="0" tIns="0" rIns="0" bIns="0" rtlCol="0" anchor="ctr"/>
          <a:lstStyle/>
          <a:p>
            <a:pPr algn="l" indent="0" marL="0">
              <a:buNone/>
            </a:pPr>
            <a:r>
              <a:rPr lang="en-US" sz="1900" dirty="0">
                <a:solidFill>
                  <a:schemeClr val="tx2"/>
                </a:solidFill>
              </a:rPr>
              <a:t>= </a:t>
            </a:r>
            <a:r>
              <a:rPr lang="en-US" sz="1900" b="1" dirty="0">
                <a:solidFill>
                  <a:schemeClr val="tx2"/>
                </a:solidFill>
              </a:rPr>
              <a:t>aurais pu</a:t>
            </a:r>
            <a:endParaRPr lang="en-US" sz="1900" dirty="0"/>
          </a:p>
        </p:txBody>
      </p:sp>
      <p:sp>
        <p:nvSpPr>
          <p:cNvPr id="19" name="Shape 16"/>
          <p:cNvSpPr/>
          <p:nvPr/>
        </p:nvSpPr>
        <p:spPr>
          <a:xfrm>
            <a:off x="548640" y="2468880"/>
            <a:ext cx="5431536" cy="1097280"/>
          </a:xfrm>
          <a:prstGeom prst="roundRect">
            <a:avLst>
              <a:gd name="adj" fmla="val 10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0" name="Image 0" descr="person facepalming">    </p:cNvPr>
          <p:cNvPicPr>
            <a:picLocks noChangeAspect="1"/>
          </p:cNvPicPr>
          <p:nvPr/>
        </p:nvPicPr>
        <p:blipFill>
          <a:blip r:embed="rId1"/>
          <a:stretch>
            <a:fillRect/>
          </a:stretch>
        </p:blipFill>
        <p:spPr>
          <a:xfrm>
            <a:off x="713232" y="2606040"/>
            <a:ext cx="822960" cy="822960"/>
          </a:xfrm>
          <a:prstGeom prst="rect">
            <a:avLst/>
          </a:prstGeom>
        </p:spPr>
      </p:pic>
      <p:sp>
        <p:nvSpPr>
          <p:cNvPr id="21" name="Text 17"/>
          <p:cNvSpPr txBox="1"/>
          <p:nvPr/>
        </p:nvSpPr>
        <p:spPr>
          <a:xfrm>
            <a:off x="1691640" y="2560320"/>
            <a:ext cx="4151376" cy="548640"/>
          </a:xfrm>
          <a:prstGeom prst="rect">
            <a:avLst/>
          </a:prstGeom>
          <a:noFill/>
          <a:ln/>
        </p:spPr>
        <p:txBody>
          <a:bodyPr wrap="square" lIns="0" tIns="0" rIns="0" bIns="0" rtlCol="0" anchor="ctr"/>
          <a:lstStyle/>
          <a:p>
            <a:pPr algn="l" indent="0" marL="0">
              <a:buNone/>
            </a:pPr>
            <a:r>
              <a:rPr lang="en-US" sz="1900" i="1" dirty="0">
                <a:solidFill>
                  <a:schemeClr val="tx1"/>
                </a:solidFill>
              </a:rPr>
              <a:t>Je had het </a:t>
            </a:r>
            <a:r>
              <a:rPr lang="en-US" sz="1900" b="1" i="1" dirty="0">
                <a:solidFill>
                  <a:srgbClr val="D9700F"/>
                </a:solidFill>
              </a:rPr>
              <a:t>moeten zeggen</a:t>
            </a:r>
            <a:r>
              <a:rPr lang="en-US" sz="1900" i="1" dirty="0">
                <a:solidFill>
                  <a:schemeClr val="tx1"/>
                </a:solidFill>
              </a:rPr>
              <a:t>!</a:t>
            </a:r>
            <a:endParaRPr lang="en-US" sz="1800" dirty="0"/>
          </a:p>
        </p:txBody>
      </p:sp>
      <p:sp>
        <p:nvSpPr>
          <p:cNvPr id="22" name="Text 18"/>
          <p:cNvSpPr txBox="1"/>
          <p:nvPr/>
        </p:nvSpPr>
        <p:spPr>
          <a:xfrm>
            <a:off x="1691640" y="3108960"/>
            <a:ext cx="4151376" cy="365760"/>
          </a:xfrm>
          <a:prstGeom prst="rect">
            <a:avLst/>
          </a:prstGeom>
          <a:noFill/>
          <a:ln/>
        </p:spPr>
        <p:txBody>
          <a:bodyPr wrap="square" lIns="0" tIns="0" rIns="0" bIns="0" rtlCol="0" anchor="ctr"/>
          <a:lstStyle/>
          <a:p>
            <a:pPr algn="l" indent="0" marL="0">
              <a:buNone/>
            </a:pPr>
            <a:r>
              <a:rPr lang="en-US" sz="1400" i="1" dirty="0">
                <a:solidFill>
                  <a:schemeClr val="tx2"/>
                </a:solidFill>
              </a:rPr>
              <a:t>tu aurais dû le dire</a:t>
            </a:r>
            <a:endParaRPr lang="en-US" sz="1400" dirty="0"/>
          </a:p>
        </p:txBody>
      </p:sp>
      <p:sp>
        <p:nvSpPr>
          <p:cNvPr id="23" name="Shape 19"/>
          <p:cNvSpPr/>
          <p:nvPr/>
        </p:nvSpPr>
        <p:spPr>
          <a:xfrm>
            <a:off x="6208776" y="2468880"/>
            <a:ext cx="5431536" cy="1097280"/>
          </a:xfrm>
          <a:prstGeom prst="roundRect">
            <a:avLst>
              <a:gd name="adj" fmla="val 10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4" name="Image 1" descr="trophy">    </p:cNvPr>
          <p:cNvPicPr>
            <a:picLocks noChangeAspect="1"/>
          </p:cNvPicPr>
          <p:nvPr/>
        </p:nvPicPr>
        <p:blipFill>
          <a:blip r:embed="rId2"/>
          <a:stretch>
            <a:fillRect/>
          </a:stretch>
        </p:blipFill>
        <p:spPr>
          <a:xfrm>
            <a:off x="6373368" y="2606040"/>
            <a:ext cx="822960" cy="822960"/>
          </a:xfrm>
          <a:prstGeom prst="rect">
            <a:avLst/>
          </a:prstGeom>
        </p:spPr>
      </p:pic>
      <p:sp>
        <p:nvSpPr>
          <p:cNvPr id="25" name="Text 20"/>
          <p:cNvSpPr txBox="1"/>
          <p:nvPr/>
        </p:nvSpPr>
        <p:spPr>
          <a:xfrm>
            <a:off x="7351776" y="2560320"/>
            <a:ext cx="4151376" cy="548640"/>
          </a:xfrm>
          <a:prstGeom prst="rect">
            <a:avLst/>
          </a:prstGeom>
          <a:noFill/>
          <a:ln/>
        </p:spPr>
        <p:txBody>
          <a:bodyPr wrap="square" lIns="0" tIns="0" rIns="0" bIns="0" rtlCol="0" anchor="ctr"/>
          <a:lstStyle/>
          <a:p>
            <a:pPr algn="l" indent="0" marL="0">
              <a:buNone/>
            </a:pPr>
            <a:r>
              <a:rPr lang="en-US" sz="1900" i="1" dirty="0">
                <a:solidFill>
                  <a:schemeClr val="tx1"/>
                </a:solidFill>
              </a:rPr>
              <a:t>Ik had </a:t>
            </a:r>
            <a:r>
              <a:rPr lang="en-US" sz="1900" b="1" i="1" dirty="0">
                <a:solidFill>
                  <a:srgbClr val="D9700F"/>
                </a:solidFill>
              </a:rPr>
              <a:t>kunnen winnen</a:t>
            </a:r>
            <a:r>
              <a:rPr lang="en-US" sz="1900" i="1" dirty="0">
                <a:solidFill>
                  <a:schemeClr val="tx1"/>
                </a:solidFill>
              </a:rPr>
              <a:t>.</a:t>
            </a:r>
            <a:endParaRPr lang="en-US" sz="1800" dirty="0"/>
          </a:p>
        </p:txBody>
      </p:sp>
      <p:sp>
        <p:nvSpPr>
          <p:cNvPr id="26" name="Text 21"/>
          <p:cNvSpPr txBox="1"/>
          <p:nvPr/>
        </p:nvSpPr>
        <p:spPr>
          <a:xfrm>
            <a:off x="7351776" y="3108960"/>
            <a:ext cx="4151376" cy="365760"/>
          </a:xfrm>
          <a:prstGeom prst="rect">
            <a:avLst/>
          </a:prstGeom>
          <a:noFill/>
          <a:ln/>
        </p:spPr>
        <p:txBody>
          <a:bodyPr wrap="square" lIns="0" tIns="0" rIns="0" bIns="0" rtlCol="0" anchor="ctr"/>
          <a:lstStyle/>
          <a:p>
            <a:pPr algn="l" indent="0" marL="0">
              <a:buNone/>
            </a:pPr>
            <a:r>
              <a:rPr lang="en-US" sz="1400" i="1" dirty="0">
                <a:solidFill>
                  <a:schemeClr val="tx2"/>
                </a:solidFill>
              </a:rPr>
              <a:t>j’aurais pu gagner</a:t>
            </a:r>
            <a:endParaRPr lang="en-US" sz="1400" dirty="0"/>
          </a:p>
        </p:txBody>
      </p:sp>
      <p:sp>
        <p:nvSpPr>
          <p:cNvPr id="27" name="Shape 22"/>
          <p:cNvSpPr/>
          <p:nvPr/>
        </p:nvSpPr>
        <p:spPr>
          <a:xfrm>
            <a:off x="548640" y="3703320"/>
            <a:ext cx="5431536" cy="1097280"/>
          </a:xfrm>
          <a:prstGeom prst="roundRect">
            <a:avLst>
              <a:gd name="adj" fmla="val 10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8" name="Image 2" descr="alarm clock">    </p:cNvPr>
          <p:cNvPicPr>
            <a:picLocks noChangeAspect="1"/>
          </p:cNvPicPr>
          <p:nvPr/>
        </p:nvPicPr>
        <p:blipFill>
          <a:blip r:embed="rId3"/>
          <a:stretch>
            <a:fillRect/>
          </a:stretch>
        </p:blipFill>
        <p:spPr>
          <a:xfrm>
            <a:off x="713232" y="3840480"/>
            <a:ext cx="822960" cy="822960"/>
          </a:xfrm>
          <a:prstGeom prst="rect">
            <a:avLst/>
          </a:prstGeom>
        </p:spPr>
      </p:pic>
      <p:sp>
        <p:nvSpPr>
          <p:cNvPr id="29" name="Text 23"/>
          <p:cNvSpPr txBox="1"/>
          <p:nvPr/>
        </p:nvSpPr>
        <p:spPr>
          <a:xfrm>
            <a:off x="1691640" y="3794760"/>
            <a:ext cx="4151376" cy="548640"/>
          </a:xfrm>
          <a:prstGeom prst="rect">
            <a:avLst/>
          </a:prstGeom>
          <a:noFill/>
          <a:ln/>
        </p:spPr>
        <p:txBody>
          <a:bodyPr wrap="square" lIns="0" tIns="0" rIns="0" bIns="0" rtlCol="0" anchor="ctr"/>
          <a:lstStyle/>
          <a:p>
            <a:pPr algn="l" indent="0" marL="0">
              <a:buNone/>
            </a:pPr>
            <a:r>
              <a:rPr lang="en-US" sz="1900" i="1" dirty="0">
                <a:solidFill>
                  <a:schemeClr val="tx1"/>
                </a:solidFill>
              </a:rPr>
              <a:t>We hadden eerder </a:t>
            </a:r>
            <a:r>
              <a:rPr lang="en-US" sz="1900" b="1" i="1" dirty="0">
                <a:solidFill>
                  <a:srgbClr val="D9700F"/>
                </a:solidFill>
              </a:rPr>
              <a:t>moeten vertrekken</a:t>
            </a:r>
            <a:r>
              <a:rPr lang="en-US" sz="1900" i="1" dirty="0">
                <a:solidFill>
                  <a:schemeClr val="tx1"/>
                </a:solidFill>
              </a:rPr>
              <a:t>.</a:t>
            </a:r>
            <a:endParaRPr lang="en-US" sz="1800" dirty="0"/>
          </a:p>
        </p:txBody>
      </p:sp>
      <p:sp>
        <p:nvSpPr>
          <p:cNvPr id="30" name="Text 24"/>
          <p:cNvSpPr txBox="1"/>
          <p:nvPr/>
        </p:nvSpPr>
        <p:spPr>
          <a:xfrm>
            <a:off x="1691640" y="4343400"/>
            <a:ext cx="4151376" cy="365760"/>
          </a:xfrm>
          <a:prstGeom prst="rect">
            <a:avLst/>
          </a:prstGeom>
          <a:noFill/>
          <a:ln/>
        </p:spPr>
        <p:txBody>
          <a:bodyPr wrap="square" lIns="0" tIns="0" rIns="0" bIns="0" rtlCol="0" anchor="ctr"/>
          <a:lstStyle/>
          <a:p>
            <a:pPr algn="l" indent="0" marL="0">
              <a:buNone/>
            </a:pPr>
            <a:r>
              <a:rPr lang="en-US" sz="1400" i="1" dirty="0">
                <a:solidFill>
                  <a:schemeClr val="tx2"/>
                </a:solidFill>
              </a:rPr>
              <a:t>nous aurions dû partir plus tôt</a:t>
            </a:r>
            <a:endParaRPr lang="en-US" sz="1400" dirty="0"/>
          </a:p>
        </p:txBody>
      </p:sp>
      <p:sp>
        <p:nvSpPr>
          <p:cNvPr id="31" name="Shape 25"/>
          <p:cNvSpPr/>
          <p:nvPr/>
        </p:nvSpPr>
        <p:spPr>
          <a:xfrm>
            <a:off x="6208776" y="3703320"/>
            <a:ext cx="5431536" cy="1097280"/>
          </a:xfrm>
          <a:prstGeom prst="roundRect">
            <a:avLst>
              <a:gd name="adj" fmla="val 10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2" name="Image 3" descr="no entry">    </p:cNvPr>
          <p:cNvPicPr>
            <a:picLocks noChangeAspect="1"/>
          </p:cNvPicPr>
          <p:nvPr/>
        </p:nvPicPr>
        <p:blipFill>
          <a:blip r:embed="rId4"/>
          <a:stretch>
            <a:fillRect/>
          </a:stretch>
        </p:blipFill>
        <p:spPr>
          <a:xfrm>
            <a:off x="6373368" y="3840480"/>
            <a:ext cx="822960" cy="822960"/>
          </a:xfrm>
          <a:prstGeom prst="rect">
            <a:avLst/>
          </a:prstGeom>
        </p:spPr>
      </p:pic>
      <p:sp>
        <p:nvSpPr>
          <p:cNvPr id="33" name="Text 26"/>
          <p:cNvSpPr txBox="1"/>
          <p:nvPr/>
        </p:nvSpPr>
        <p:spPr>
          <a:xfrm>
            <a:off x="7351776" y="3794760"/>
            <a:ext cx="4151376" cy="548640"/>
          </a:xfrm>
          <a:prstGeom prst="rect">
            <a:avLst/>
          </a:prstGeom>
          <a:noFill/>
          <a:ln/>
        </p:spPr>
        <p:txBody>
          <a:bodyPr wrap="square" lIns="0" tIns="0" rIns="0" bIns="0" rtlCol="0" anchor="ctr"/>
          <a:lstStyle/>
          <a:p>
            <a:pPr algn="l" indent="0" marL="0">
              <a:buNone/>
            </a:pPr>
            <a:r>
              <a:rPr lang="en-US" sz="1900" i="1" dirty="0">
                <a:solidFill>
                  <a:schemeClr val="tx1"/>
                </a:solidFill>
              </a:rPr>
              <a:t>Dat had je niet </a:t>
            </a:r>
            <a:r>
              <a:rPr lang="en-US" sz="1900" b="1" i="1" dirty="0">
                <a:solidFill>
                  <a:srgbClr val="D9700F"/>
                </a:solidFill>
              </a:rPr>
              <a:t>moeten doen</a:t>
            </a:r>
            <a:r>
              <a:rPr lang="en-US" sz="1900" i="1" dirty="0">
                <a:solidFill>
                  <a:schemeClr val="tx1"/>
                </a:solidFill>
              </a:rPr>
              <a:t>.</a:t>
            </a:r>
            <a:endParaRPr lang="en-US" sz="1800" dirty="0"/>
          </a:p>
        </p:txBody>
      </p:sp>
      <p:sp>
        <p:nvSpPr>
          <p:cNvPr id="34" name="Text 27"/>
          <p:cNvSpPr txBox="1"/>
          <p:nvPr/>
        </p:nvSpPr>
        <p:spPr>
          <a:xfrm>
            <a:off x="7351776" y="4343400"/>
            <a:ext cx="4151376" cy="365760"/>
          </a:xfrm>
          <a:prstGeom prst="rect">
            <a:avLst/>
          </a:prstGeom>
          <a:noFill/>
          <a:ln/>
        </p:spPr>
        <p:txBody>
          <a:bodyPr wrap="square" lIns="0" tIns="0" rIns="0" bIns="0" rtlCol="0" anchor="ctr"/>
          <a:lstStyle/>
          <a:p>
            <a:pPr algn="l" indent="0" marL="0">
              <a:buNone/>
            </a:pPr>
            <a:r>
              <a:rPr lang="en-US" sz="1400" i="1" dirty="0">
                <a:solidFill>
                  <a:schemeClr val="tx2"/>
                </a:solidFill>
              </a:rPr>
              <a:t>tu n’aurais pas dû faire ça</a:t>
            </a:r>
            <a:endParaRPr lang="en-US" sz="1400" dirty="0"/>
          </a:p>
        </p:txBody>
      </p:sp>
      <p:sp>
        <p:nvSpPr>
          <p:cNvPr id="35" name="Shape 28"/>
          <p:cNvSpPr/>
          <p:nvPr/>
        </p:nvSpPr>
        <p:spPr>
          <a:xfrm>
            <a:off x="548640" y="5623560"/>
            <a:ext cx="11091672" cy="594360"/>
          </a:xfrm>
          <a:prstGeom prst="roundRect">
            <a:avLst>
              <a:gd name="adj" fmla="val 12308"/>
            </a:avLst>
          </a:prstGeom>
          <a:solidFill>
            <a:schemeClr val="tx2"/>
          </a:solidFill>
          <a:ln w="12700">
            <a:solidFill>
              <a:srgbClr val="FFFFFF">
                <a:alpha val="0"/>
              </a:srgbClr>
            </a:solidFill>
            <a:prstDash val="solid"/>
          </a:ln>
        </p:spPr>
      </p:sp>
      <p:sp>
        <p:nvSpPr>
          <p:cNvPr id="36" name="Text 29"/>
          <p:cNvSpPr txBox="1"/>
          <p:nvPr/>
        </p:nvSpPr>
        <p:spPr>
          <a:xfrm>
            <a:off x="822960" y="5623560"/>
            <a:ext cx="10607040" cy="594360"/>
          </a:xfrm>
          <a:prstGeom prst="rect">
            <a:avLst/>
          </a:prstGeom>
          <a:noFill/>
          <a:ln/>
        </p:spPr>
        <p:txBody>
          <a:bodyPr wrap="square" lIns="0" tIns="0" rIns="0" bIns="0" rtlCol="0" anchor="ctr"/>
          <a:lstStyle/>
          <a:p>
            <a:pPr algn="l" indent="0" marL="0">
              <a:buNone/>
            </a:pPr>
            <a:r>
              <a:rPr lang="en-US" sz="1500" dirty="0">
                <a:solidFill>
                  <a:schemeClr val="bg1"/>
                </a:solidFill>
              </a:rPr>
              <a:t>Ne pas confondre : </a:t>
            </a:r>
            <a:r>
              <a:rPr lang="en-US" sz="1500" i="1" dirty="0">
                <a:solidFill>
                  <a:schemeClr val="bg1"/>
                </a:solidFill>
              </a:rPr>
              <a:t>Je </a:t>
            </a:r>
            <a:r>
              <a:rPr lang="en-US" sz="1500" b="1" i="1" dirty="0">
                <a:solidFill>
                  <a:schemeClr val="bg1"/>
                </a:solidFill>
              </a:rPr>
              <a:t>zou</a:t>
            </a:r>
            <a:r>
              <a:rPr lang="en-US" sz="1500" i="1" dirty="0">
                <a:solidFill>
                  <a:schemeClr val="bg1"/>
                </a:solidFill>
              </a:rPr>
              <a:t> meer moeten slapen</a:t>
            </a:r>
            <a:r>
              <a:rPr lang="en-US" sz="1500" dirty="0">
                <a:solidFill>
                  <a:schemeClr val="bg1"/>
                </a:solidFill>
              </a:rPr>
              <a:t> = tu </a:t>
            </a:r>
            <a:r>
              <a:rPr lang="en-US" sz="1500" b="1" dirty="0">
                <a:solidFill>
                  <a:schemeClr val="bg1"/>
                </a:solidFill>
              </a:rPr>
              <a:t>devrais</a:t>
            </a:r>
            <a:r>
              <a:rPr lang="en-US" sz="1500" dirty="0">
                <a:solidFill>
                  <a:schemeClr val="bg1"/>
                </a:solidFill>
              </a:rPr>
              <a:t> · </a:t>
            </a:r>
            <a:r>
              <a:rPr lang="en-US" sz="1500" i="1" dirty="0">
                <a:solidFill>
                  <a:schemeClr val="bg1"/>
                </a:solidFill>
              </a:rPr>
              <a:t>Je </a:t>
            </a:r>
            <a:r>
              <a:rPr lang="en-US" sz="1500" b="1" i="1" dirty="0">
                <a:solidFill>
                  <a:schemeClr val="bg1"/>
                </a:solidFill>
              </a:rPr>
              <a:t>had</a:t>
            </a:r>
            <a:r>
              <a:rPr lang="en-US" sz="1500" i="1" dirty="0">
                <a:solidFill>
                  <a:schemeClr val="bg1"/>
                </a:solidFill>
              </a:rPr>
              <a:t> meer moeten slapen</a:t>
            </a:r>
            <a:r>
              <a:rPr lang="en-US" sz="1500" dirty="0">
                <a:solidFill>
                  <a:schemeClr val="bg1"/>
                </a:solidFill>
              </a:rPr>
              <a:t> = tu </a:t>
            </a:r>
            <a:r>
              <a:rPr lang="en-US" sz="1500" b="1" dirty="0">
                <a:solidFill>
                  <a:schemeClr val="bg1"/>
                </a:solidFill>
              </a:rPr>
              <a:t>aurais dû</a:t>
            </a:r>
            <a:r>
              <a:rPr lang="en-US" sz="1500" dirty="0">
                <a:solidFill>
                  <a:schemeClr val="bg1"/>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le double infinitif</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463040"/>
            <a:ext cx="3575304" cy="2103120"/>
          </a:xfrm>
          <a:prstGeom prst="roundRect">
            <a:avLst>
              <a:gd name="adj" fmla="val 5217"/>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685800" y="1572768"/>
            <a:ext cx="457200" cy="457200"/>
          </a:xfrm>
          <a:prstGeom prst="rect">
            <a:avLst/>
          </a:prstGeom>
          <a:noFill/>
          <a:ln/>
        </p:spPr>
        <p:txBody>
          <a:bodyPr wrap="square" lIns="0" tIns="0" rIns="0" bIns="0" rtlCol="0" anchor="t"/>
          <a:lstStyle/>
          <a:p>
            <a:pPr algn="l" indent="0" marL="0">
              <a:buNone/>
            </a:pPr>
            <a:r>
              <a:rPr lang="en-US" sz="2400" b="1" dirty="0">
                <a:solidFill>
                  <a:schemeClr val="accent2"/>
                </a:solidFill>
              </a:rPr>
              <a:t>①</a:t>
            </a:r>
            <a:endParaRPr lang="en-US" sz="2400" dirty="0"/>
          </a:p>
        </p:txBody>
      </p:sp>
      <p:sp>
        <p:nvSpPr>
          <p:cNvPr id="7" name="Text 4"/>
          <p:cNvSpPr txBox="1"/>
          <p:nvPr/>
        </p:nvSpPr>
        <p:spPr>
          <a:xfrm>
            <a:off x="1188720" y="1572768"/>
            <a:ext cx="2798064" cy="548640"/>
          </a:xfrm>
          <a:prstGeom prst="rect">
            <a:avLst/>
          </a:prstGeom>
          <a:noFill/>
          <a:ln/>
        </p:spPr>
        <p:txBody>
          <a:bodyPr wrap="square" lIns="0" tIns="0" rIns="0" bIns="0" rtlCol="0" anchor="ctr"/>
          <a:lstStyle/>
          <a:p>
            <a:pPr algn="l" indent="0" marL="0">
              <a:buNone/>
            </a:pPr>
            <a:r>
              <a:rPr lang="en-US" sz="1700" b="1" dirty="0">
                <a:solidFill>
                  <a:schemeClr val="accent2"/>
                </a:solidFill>
              </a:rPr>
              <a:t>L’infinitif remplace le participe</a:t>
            </a:r>
            <a:endParaRPr lang="en-US" sz="1700" dirty="0"/>
          </a:p>
        </p:txBody>
      </p:sp>
      <p:sp>
        <p:nvSpPr>
          <p:cNvPr id="8" name="Text 5"/>
          <p:cNvSpPr txBox="1"/>
          <p:nvPr/>
        </p:nvSpPr>
        <p:spPr>
          <a:xfrm>
            <a:off x="731520" y="2240280"/>
            <a:ext cx="3209544" cy="1188720"/>
          </a:xfrm>
          <a:prstGeom prst="rect">
            <a:avLst/>
          </a:prstGeom>
          <a:noFill/>
          <a:ln/>
        </p:spPr>
        <p:txBody>
          <a:bodyPr wrap="square" lIns="0" tIns="0" rIns="0" bIns="0" rtlCol="0" anchor="ctr"/>
          <a:lstStyle/>
          <a:p>
            <a:pPr algn="l" indent="0" marL="0">
              <a:buNone/>
            </a:pPr>
            <a:r>
              <a:rPr lang="en-US" sz="1600" i="1" dirty="0">
                <a:solidFill>
                  <a:schemeClr val="tx1"/>
                </a:solidFill>
              </a:rPr>
              <a:t>Ik heb </a:t>
            </a:r>
            <a:r>
              <a:rPr lang="en-US" sz="1600" b="1" i="1" dirty="0">
                <a:solidFill>
                  <a:srgbClr val="D9700F"/>
                </a:solidFill>
              </a:rPr>
              <a:t>moeten werken</a:t>
            </a:r>
            <a:r>
              <a:rPr lang="en-US" sz="1600" i="1" dirty="0">
                <a:solidFill>
                  <a:schemeClr val="tx1"/>
                </a:solidFill>
              </a:rPr>
              <a:t>. (pas gemoeten)</a:t>
            </a:r>
            <a:endParaRPr lang="en-US" sz="1800" dirty="0"/>
          </a:p>
        </p:txBody>
      </p:sp>
      <p:sp>
        <p:nvSpPr>
          <p:cNvPr id="9" name="Shape 6"/>
          <p:cNvSpPr/>
          <p:nvPr/>
        </p:nvSpPr>
        <p:spPr>
          <a:xfrm>
            <a:off x="4306824" y="1463040"/>
            <a:ext cx="3575304" cy="2103120"/>
          </a:xfrm>
          <a:prstGeom prst="roundRect">
            <a:avLst>
              <a:gd name="adj" fmla="val 521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10" name="Text 7"/>
          <p:cNvSpPr txBox="1"/>
          <p:nvPr/>
        </p:nvSpPr>
        <p:spPr>
          <a:xfrm>
            <a:off x="4443984" y="1572768"/>
            <a:ext cx="457200" cy="457200"/>
          </a:xfrm>
          <a:prstGeom prst="rect">
            <a:avLst/>
          </a:prstGeom>
          <a:noFill/>
          <a:ln/>
        </p:spPr>
        <p:txBody>
          <a:bodyPr wrap="square" lIns="0" tIns="0" rIns="0" bIns="0" rtlCol="0" anchor="t"/>
          <a:lstStyle/>
          <a:p>
            <a:pPr algn="l" indent="0" marL="0">
              <a:buNone/>
            </a:pPr>
            <a:r>
              <a:rPr lang="en-US" sz="2400" b="1" dirty="0">
                <a:solidFill>
                  <a:schemeClr val="accent4"/>
                </a:solidFill>
              </a:rPr>
              <a:t>②</a:t>
            </a:r>
            <a:endParaRPr lang="en-US" sz="2400" dirty="0"/>
          </a:p>
        </p:txBody>
      </p:sp>
      <p:sp>
        <p:nvSpPr>
          <p:cNvPr id="11" name="Text 8"/>
          <p:cNvSpPr txBox="1"/>
          <p:nvPr/>
        </p:nvSpPr>
        <p:spPr>
          <a:xfrm>
            <a:off x="4946904" y="1572768"/>
            <a:ext cx="2798064" cy="548640"/>
          </a:xfrm>
          <a:prstGeom prst="rect">
            <a:avLst/>
          </a:prstGeom>
          <a:noFill/>
          <a:ln/>
        </p:spPr>
        <p:txBody>
          <a:bodyPr wrap="square" lIns="0" tIns="0" rIns="0" bIns="0" rtlCol="0" anchor="ctr"/>
          <a:lstStyle/>
          <a:p>
            <a:pPr algn="l" indent="0" marL="0">
              <a:buNone/>
            </a:pPr>
            <a:r>
              <a:rPr lang="en-US" sz="1700" b="1" dirty="0">
                <a:solidFill>
                  <a:schemeClr val="accent4"/>
                </a:solidFill>
              </a:rPr>
              <a:t>Cinq familles</a:t>
            </a:r>
            <a:endParaRPr lang="en-US" sz="1700" dirty="0"/>
          </a:p>
        </p:txBody>
      </p:sp>
      <p:sp>
        <p:nvSpPr>
          <p:cNvPr id="12" name="Text 9"/>
          <p:cNvSpPr txBox="1"/>
          <p:nvPr/>
        </p:nvSpPr>
        <p:spPr>
          <a:xfrm>
            <a:off x="4489704" y="2240280"/>
            <a:ext cx="3209544" cy="1188720"/>
          </a:xfrm>
          <a:prstGeom prst="rect">
            <a:avLst/>
          </a:prstGeom>
          <a:noFill/>
          <a:ln/>
        </p:spPr>
        <p:txBody>
          <a:bodyPr wrap="square" lIns="0" tIns="0" rIns="0" bIns="0" rtlCol="0" anchor="ctr"/>
          <a:lstStyle/>
          <a:p>
            <a:pPr algn="l" indent="0" marL="0">
              <a:buNone/>
            </a:pPr>
            <a:r>
              <a:rPr lang="en-US" sz="1600" i="1" dirty="0">
                <a:solidFill>
                  <a:schemeClr val="tx1"/>
                </a:solidFill>
              </a:rPr>
              <a:t>modaux · laten · gaan / komen / blijven · zitten / staan / liggen / lopen · zien / horen / voelen</a:t>
            </a:r>
            <a:endParaRPr lang="en-US" sz="1800" dirty="0"/>
          </a:p>
        </p:txBody>
      </p:sp>
      <p:sp>
        <p:nvSpPr>
          <p:cNvPr id="13" name="Shape 10"/>
          <p:cNvSpPr/>
          <p:nvPr/>
        </p:nvSpPr>
        <p:spPr>
          <a:xfrm>
            <a:off x="8065008" y="1463040"/>
            <a:ext cx="3575304" cy="2103120"/>
          </a:xfrm>
          <a:prstGeom prst="roundRect">
            <a:avLst>
              <a:gd name="adj" fmla="val 5217"/>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4" name="Text 11"/>
          <p:cNvSpPr txBox="1"/>
          <p:nvPr/>
        </p:nvSpPr>
        <p:spPr>
          <a:xfrm>
            <a:off x="8202168" y="1572768"/>
            <a:ext cx="457200" cy="457200"/>
          </a:xfrm>
          <a:prstGeom prst="rect">
            <a:avLst/>
          </a:prstGeom>
          <a:noFill/>
          <a:ln/>
        </p:spPr>
        <p:txBody>
          <a:bodyPr wrap="square" lIns="0" tIns="0" rIns="0" bIns="0" rtlCol="0" anchor="t"/>
          <a:lstStyle/>
          <a:p>
            <a:pPr algn="l" indent="0" marL="0">
              <a:buNone/>
            </a:pPr>
            <a:r>
              <a:rPr lang="en-US" sz="2400" b="1" dirty="0">
                <a:solidFill>
                  <a:schemeClr val="accent3"/>
                </a:solidFill>
              </a:rPr>
              <a:t>③</a:t>
            </a:r>
            <a:endParaRPr lang="en-US" sz="2400" dirty="0"/>
          </a:p>
        </p:txBody>
      </p:sp>
      <p:sp>
        <p:nvSpPr>
          <p:cNvPr id="15" name="Text 12"/>
          <p:cNvSpPr txBox="1"/>
          <p:nvPr/>
        </p:nvSpPr>
        <p:spPr>
          <a:xfrm>
            <a:off x="8705088" y="1572768"/>
            <a:ext cx="2798064" cy="548640"/>
          </a:xfrm>
          <a:prstGeom prst="rect">
            <a:avLst/>
          </a:prstGeom>
          <a:noFill/>
          <a:ln/>
        </p:spPr>
        <p:txBody>
          <a:bodyPr wrap="square" lIns="0" tIns="0" rIns="0" bIns="0" rtlCol="0" anchor="ctr"/>
          <a:lstStyle/>
          <a:p>
            <a:pPr algn="l" indent="0" marL="0">
              <a:buNone/>
            </a:pPr>
            <a:r>
              <a:rPr lang="en-US" sz="1700" b="1" dirty="0">
                <a:solidFill>
                  <a:schemeClr val="accent3"/>
                </a:solidFill>
              </a:rPr>
              <a:t>Le premier wagon choisit</a:t>
            </a:r>
            <a:endParaRPr lang="en-US" sz="1700" dirty="0"/>
          </a:p>
        </p:txBody>
      </p:sp>
      <p:sp>
        <p:nvSpPr>
          <p:cNvPr id="16" name="Text 13"/>
          <p:cNvSpPr txBox="1"/>
          <p:nvPr/>
        </p:nvSpPr>
        <p:spPr>
          <a:xfrm>
            <a:off x="8247888" y="2240280"/>
            <a:ext cx="3209544" cy="1188720"/>
          </a:xfrm>
          <a:prstGeom prst="rect">
            <a:avLst/>
          </a:prstGeom>
          <a:noFill/>
          <a:ln/>
        </p:spPr>
        <p:txBody>
          <a:bodyPr wrap="square" lIns="0" tIns="0" rIns="0" bIns="0" rtlCol="0" anchor="ctr"/>
          <a:lstStyle/>
          <a:p>
            <a:pPr algn="l" indent="0" marL="0">
              <a:buNone/>
            </a:pPr>
            <a:r>
              <a:rPr lang="en-US" sz="1600" i="1" dirty="0">
                <a:solidFill>
                  <a:schemeClr val="tx1"/>
                </a:solidFill>
              </a:rPr>
              <a:t>moeten → heb · gaan → ben</a:t>
            </a:r>
            <a:endParaRPr lang="en-US" sz="1800" dirty="0"/>
          </a:p>
        </p:txBody>
      </p:sp>
      <p:sp>
        <p:nvSpPr>
          <p:cNvPr id="17" name="Shape 14"/>
          <p:cNvSpPr/>
          <p:nvPr/>
        </p:nvSpPr>
        <p:spPr>
          <a:xfrm>
            <a:off x="548640" y="3703320"/>
            <a:ext cx="3575304" cy="2103120"/>
          </a:xfrm>
          <a:prstGeom prst="roundRect">
            <a:avLst>
              <a:gd name="adj" fmla="val 5217"/>
            </a:avLst>
          </a:prstGeom>
          <a:solidFill>
            <a:srgbClr val="FFFFFF"/>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685800" y="3813048"/>
            <a:ext cx="457200" cy="457200"/>
          </a:xfrm>
          <a:prstGeom prst="rect">
            <a:avLst/>
          </a:prstGeom>
          <a:noFill/>
          <a:ln/>
        </p:spPr>
        <p:txBody>
          <a:bodyPr wrap="square" lIns="0" tIns="0" rIns="0" bIns="0" rtlCol="0" anchor="t"/>
          <a:lstStyle/>
          <a:p>
            <a:pPr algn="l" indent="0" marL="0">
              <a:buNone/>
            </a:pPr>
            <a:r>
              <a:rPr lang="en-US" sz="2400" b="1" dirty="0">
                <a:solidFill>
                  <a:schemeClr val="accent5"/>
                </a:solidFill>
              </a:rPr>
              <a:t>④</a:t>
            </a:r>
            <a:endParaRPr lang="en-US" sz="2400" dirty="0"/>
          </a:p>
        </p:txBody>
      </p:sp>
      <p:sp>
        <p:nvSpPr>
          <p:cNvPr id="19" name="Text 16"/>
          <p:cNvSpPr txBox="1"/>
          <p:nvPr/>
        </p:nvSpPr>
        <p:spPr>
          <a:xfrm>
            <a:off x="1188720" y="3813048"/>
            <a:ext cx="2798064" cy="548640"/>
          </a:xfrm>
          <a:prstGeom prst="rect">
            <a:avLst/>
          </a:prstGeom>
          <a:noFill/>
          <a:ln/>
        </p:spPr>
        <p:txBody>
          <a:bodyPr wrap="square" lIns="0" tIns="0" rIns="0" bIns="0" rtlCol="0" anchor="ctr"/>
          <a:lstStyle/>
          <a:p>
            <a:pPr algn="l" indent="0" marL="0">
              <a:buNone/>
            </a:pPr>
            <a:r>
              <a:rPr lang="en-US" sz="1700" b="1" dirty="0">
                <a:solidFill>
                  <a:schemeClr val="accent5"/>
                </a:solidFill>
              </a:rPr>
              <a:t>Seul → participe</a:t>
            </a:r>
            <a:endParaRPr lang="en-US" sz="1700" dirty="0"/>
          </a:p>
        </p:txBody>
      </p:sp>
      <p:sp>
        <p:nvSpPr>
          <p:cNvPr id="20" name="Text 17"/>
          <p:cNvSpPr txBox="1"/>
          <p:nvPr/>
        </p:nvSpPr>
        <p:spPr>
          <a:xfrm>
            <a:off x="731520" y="4480560"/>
            <a:ext cx="3209544" cy="1188720"/>
          </a:xfrm>
          <a:prstGeom prst="rect">
            <a:avLst/>
          </a:prstGeom>
          <a:noFill/>
          <a:ln/>
        </p:spPr>
        <p:txBody>
          <a:bodyPr wrap="square" lIns="0" tIns="0" rIns="0" bIns="0" rtlCol="0" anchor="ctr"/>
          <a:lstStyle/>
          <a:p>
            <a:pPr algn="l" indent="0" marL="0">
              <a:buNone/>
            </a:pPr>
            <a:r>
              <a:rPr lang="en-US" sz="1600" i="1" dirty="0">
                <a:solidFill>
                  <a:schemeClr val="tx1"/>
                </a:solidFill>
              </a:rPr>
              <a:t>Ik heb het niet </a:t>
            </a:r>
            <a:r>
              <a:rPr lang="en-US" sz="1600" b="1" i="1" dirty="0">
                <a:solidFill>
                  <a:srgbClr val="4A5A70"/>
                </a:solidFill>
              </a:rPr>
              <a:t>gekund</a:t>
            </a:r>
            <a:r>
              <a:rPr lang="en-US" sz="1600" i="1" dirty="0">
                <a:solidFill>
                  <a:schemeClr val="tx1"/>
                </a:solidFill>
              </a:rPr>
              <a:t>.</a:t>
            </a:r>
            <a:endParaRPr lang="en-US" sz="1800" dirty="0"/>
          </a:p>
        </p:txBody>
      </p:sp>
      <p:sp>
        <p:nvSpPr>
          <p:cNvPr id="21" name="Shape 18"/>
          <p:cNvSpPr/>
          <p:nvPr/>
        </p:nvSpPr>
        <p:spPr>
          <a:xfrm>
            <a:off x="4306824" y="3703320"/>
            <a:ext cx="3575304" cy="2103120"/>
          </a:xfrm>
          <a:prstGeom prst="roundRect">
            <a:avLst>
              <a:gd name="adj" fmla="val 5217"/>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4443984" y="3813048"/>
            <a:ext cx="457200" cy="457200"/>
          </a:xfrm>
          <a:prstGeom prst="rect">
            <a:avLst/>
          </a:prstGeom>
          <a:noFill/>
          <a:ln/>
        </p:spPr>
        <p:txBody>
          <a:bodyPr wrap="square" lIns="0" tIns="0" rIns="0" bIns="0" rtlCol="0" anchor="t"/>
          <a:lstStyle/>
          <a:p>
            <a:pPr algn="l" indent="0" marL="0">
              <a:buNone/>
            </a:pPr>
            <a:r>
              <a:rPr lang="en-US" sz="2400" b="1" dirty="0">
                <a:solidFill>
                  <a:srgbClr val="6E4A9E"/>
                </a:solidFill>
              </a:rPr>
              <a:t>⑤</a:t>
            </a:r>
            <a:endParaRPr lang="en-US" sz="2400" dirty="0"/>
          </a:p>
        </p:txBody>
      </p:sp>
      <p:sp>
        <p:nvSpPr>
          <p:cNvPr id="23" name="Text 20"/>
          <p:cNvSpPr txBox="1"/>
          <p:nvPr/>
        </p:nvSpPr>
        <p:spPr>
          <a:xfrm>
            <a:off x="4946904" y="3813048"/>
            <a:ext cx="2798064" cy="548640"/>
          </a:xfrm>
          <a:prstGeom prst="rect">
            <a:avLst/>
          </a:prstGeom>
          <a:noFill/>
          <a:ln/>
        </p:spPr>
        <p:txBody>
          <a:bodyPr wrap="square" lIns="0" tIns="0" rIns="0" bIns="0" rtlCol="0" anchor="ctr"/>
          <a:lstStyle/>
          <a:p>
            <a:pPr algn="l" indent="0" marL="0">
              <a:buNone/>
            </a:pPr>
            <a:r>
              <a:rPr lang="en-US" sz="1700" b="1" dirty="0">
                <a:solidFill>
                  <a:srgbClr val="6E4A9E"/>
                </a:solidFill>
              </a:rPr>
              <a:t>Avec te → participe</a:t>
            </a:r>
            <a:endParaRPr lang="en-US" sz="1700" dirty="0"/>
          </a:p>
        </p:txBody>
      </p:sp>
      <p:sp>
        <p:nvSpPr>
          <p:cNvPr id="24" name="Text 21"/>
          <p:cNvSpPr txBox="1"/>
          <p:nvPr/>
        </p:nvSpPr>
        <p:spPr>
          <a:xfrm>
            <a:off x="4489704" y="4480560"/>
            <a:ext cx="3209544" cy="1188720"/>
          </a:xfrm>
          <a:prstGeom prst="rect">
            <a:avLst/>
          </a:prstGeom>
          <a:noFill/>
          <a:ln/>
        </p:spPr>
        <p:txBody>
          <a:bodyPr wrap="square" lIns="0" tIns="0" rIns="0" bIns="0" rtlCol="0" anchor="ctr"/>
          <a:lstStyle/>
          <a:p>
            <a:pPr algn="l" indent="0" marL="0">
              <a:buNone/>
            </a:pPr>
            <a:r>
              <a:rPr lang="en-US" sz="1600" i="1" dirty="0">
                <a:solidFill>
                  <a:schemeClr val="tx1"/>
                </a:solidFill>
              </a:rPr>
              <a:t>Ik heb </a:t>
            </a:r>
            <a:r>
              <a:rPr lang="en-US" sz="1600" b="1" i="1" dirty="0">
                <a:solidFill>
                  <a:srgbClr val="D9700F"/>
                </a:solidFill>
              </a:rPr>
              <a:t>geprobeerd</a:t>
            </a:r>
            <a:r>
              <a:rPr lang="en-US" sz="1600" i="1" dirty="0">
                <a:solidFill>
                  <a:schemeClr val="tx1"/>
                </a:solidFill>
              </a:rPr>
              <a:t> te bellen. (sauf zitten…)</a:t>
            </a:r>
            <a:endParaRPr lang="en-US" sz="1800" dirty="0"/>
          </a:p>
        </p:txBody>
      </p:sp>
      <p:sp>
        <p:nvSpPr>
          <p:cNvPr id="25" name="Shape 22"/>
          <p:cNvSpPr/>
          <p:nvPr/>
        </p:nvSpPr>
        <p:spPr>
          <a:xfrm>
            <a:off x="8065008" y="3703320"/>
            <a:ext cx="3575304" cy="2103120"/>
          </a:xfrm>
          <a:prstGeom prst="roundRect">
            <a:avLst>
              <a:gd name="adj" fmla="val 5217"/>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6" name="Text 23"/>
          <p:cNvSpPr txBox="1"/>
          <p:nvPr/>
        </p:nvSpPr>
        <p:spPr>
          <a:xfrm>
            <a:off x="8202168" y="3813048"/>
            <a:ext cx="457200" cy="457200"/>
          </a:xfrm>
          <a:prstGeom prst="rect">
            <a:avLst/>
          </a:prstGeom>
          <a:noFill/>
          <a:ln/>
        </p:spPr>
        <p:txBody>
          <a:bodyPr wrap="square" lIns="0" tIns="0" rIns="0" bIns="0" rtlCol="0" anchor="t"/>
          <a:lstStyle/>
          <a:p>
            <a:pPr algn="l" indent="0" marL="0">
              <a:buNone/>
            </a:pPr>
            <a:r>
              <a:rPr lang="en-US" sz="2400" b="1" dirty="0">
                <a:solidFill>
                  <a:schemeClr val="accent1"/>
                </a:solidFill>
              </a:rPr>
              <a:t>⑥</a:t>
            </a:r>
            <a:endParaRPr lang="en-US" sz="2400" dirty="0"/>
          </a:p>
        </p:txBody>
      </p:sp>
      <p:sp>
        <p:nvSpPr>
          <p:cNvPr id="27" name="Text 24"/>
          <p:cNvSpPr txBox="1"/>
          <p:nvPr/>
        </p:nvSpPr>
        <p:spPr>
          <a:xfrm>
            <a:off x="8705088" y="3813048"/>
            <a:ext cx="2798064" cy="548640"/>
          </a:xfrm>
          <a:prstGeom prst="rect">
            <a:avLst/>
          </a:prstGeom>
          <a:noFill/>
          <a:ln/>
        </p:spPr>
        <p:txBody>
          <a:bodyPr wrap="square" lIns="0" tIns="0" rIns="0" bIns="0" rtlCol="0" anchor="ctr"/>
          <a:lstStyle/>
          <a:p>
            <a:pPr algn="l" indent="0" marL="0">
              <a:buNone/>
            </a:pPr>
            <a:r>
              <a:rPr lang="en-US" sz="1700" b="1" dirty="0">
                <a:solidFill>
                  <a:schemeClr val="accent1"/>
                </a:solidFill>
              </a:rPr>
              <a:t>Les regrets</a:t>
            </a:r>
            <a:endParaRPr lang="en-US" sz="1700" dirty="0"/>
          </a:p>
        </p:txBody>
      </p:sp>
      <p:sp>
        <p:nvSpPr>
          <p:cNvPr id="28" name="Text 25"/>
          <p:cNvSpPr txBox="1"/>
          <p:nvPr/>
        </p:nvSpPr>
        <p:spPr>
          <a:xfrm>
            <a:off x="8247888" y="4480560"/>
            <a:ext cx="3209544" cy="1188720"/>
          </a:xfrm>
          <a:prstGeom prst="rect">
            <a:avLst/>
          </a:prstGeom>
          <a:noFill/>
          <a:ln/>
        </p:spPr>
        <p:txBody>
          <a:bodyPr wrap="square" lIns="0" tIns="0" rIns="0" bIns="0" rtlCol="0" anchor="ctr"/>
          <a:lstStyle/>
          <a:p>
            <a:pPr algn="l" indent="0" marL="0">
              <a:buNone/>
            </a:pPr>
            <a:r>
              <a:rPr lang="en-US" sz="1600" i="1" dirty="0">
                <a:solidFill>
                  <a:schemeClr val="tx1"/>
                </a:solidFill>
              </a:rPr>
              <a:t>Ik had </a:t>
            </a:r>
            <a:r>
              <a:rPr lang="en-US" sz="1600" b="1" i="1" dirty="0">
                <a:solidFill>
                  <a:srgbClr val="D9700F"/>
                </a:solidFill>
              </a:rPr>
              <a:t>moeten bellen</a:t>
            </a:r>
            <a:r>
              <a:rPr lang="en-US" sz="1600" i="1" dirty="0">
                <a:solidFill>
                  <a:schemeClr val="tx1"/>
                </a:solidFill>
              </a:rPr>
              <a:t>. = j’aurais dû appeler</a:t>
            </a:r>
            <a:endParaRPr lang="en-US" sz="1800" dirty="0"/>
          </a:p>
        </p:txBody>
      </p:sp>
      <p:pic>
        <p:nvPicPr>
          <p:cNvPr id="29"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History">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Au passé !</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BalanceScale">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Hebben of zijn?</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ExchangeAlt">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Participe ou infinitif ?</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Search">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RegSadTear">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Les regrets</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Dice">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jeu des excuses</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Users">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Lundi matin</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Au passé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la phrase au passé composé.</a:t>
            </a:r>
            <a:endParaRPr lang="en-US" sz="1700" dirty="0"/>
          </a:p>
        </p:txBody>
      </p:sp>
      <p:sp>
        <p:nvSpPr>
          <p:cNvPr id="8" name="Shape 4"/>
          <p:cNvSpPr/>
          <p:nvPr/>
        </p:nvSpPr>
        <p:spPr>
          <a:xfrm>
            <a:off x="548640" y="1969008"/>
            <a:ext cx="5408676" cy="899922"/>
          </a:xfrm>
          <a:prstGeom prst="roundRect">
            <a:avLst>
              <a:gd name="adj" fmla="val 10161"/>
            </a:avLst>
          </a:prstGeom>
          <a:solidFill>
            <a:schemeClr val="bg2"/>
          </a:solidFill>
          <a:ln w="9525">
            <a:solidFill>
              <a:srgbClr val="D5DCE6"/>
            </a:solidFill>
            <a:prstDash val="solid"/>
          </a:ln>
        </p:spPr>
      </p:sp>
      <p:pic>
        <p:nvPicPr>
          <p:cNvPr id="9" name="Image 1" descr="briefcase">    </p:cNvPr>
          <p:cNvPicPr>
            <a:picLocks noChangeAspect="1"/>
          </p:cNvPicPr>
          <p:nvPr/>
        </p:nvPicPr>
        <p:blipFill>
          <a:blip r:embed="rId2"/>
          <a:stretch>
            <a:fillRect/>
          </a:stretch>
        </p:blipFill>
        <p:spPr>
          <a:xfrm>
            <a:off x="640080" y="2023872"/>
            <a:ext cx="790194" cy="790194"/>
          </a:xfrm>
          <a:prstGeom prst="rect">
            <a:avLst/>
          </a:prstGeom>
        </p:spPr>
      </p:pic>
      <p:sp>
        <p:nvSpPr>
          <p:cNvPr id="10" name="Text 5"/>
          <p:cNvSpPr txBox="1"/>
          <p:nvPr/>
        </p:nvSpPr>
        <p:spPr>
          <a:xfrm>
            <a:off x="1540002" y="1987296"/>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1</a:t>
            </a:r>
            <a:r>
              <a:rPr lang="en-US" sz="1500" dirty="0">
                <a:solidFill>
                  <a:schemeClr val="accent5"/>
                </a:solidFill>
              </a:rPr>
              <a:t>  </a:t>
            </a:r>
            <a:r>
              <a:rPr lang="en-US" sz="1500" i="1" dirty="0">
                <a:solidFill>
                  <a:schemeClr val="accent5"/>
                </a:solidFill>
              </a:rPr>
              <a:t>Ik moet lang werken.</a:t>
            </a:r>
            <a:endParaRPr lang="en-US" sz="1500" dirty="0"/>
          </a:p>
        </p:txBody>
      </p:sp>
      <p:sp>
        <p:nvSpPr>
          <p:cNvPr id="11" name="Text 6"/>
          <p:cNvSpPr txBox="1"/>
          <p:nvPr/>
        </p:nvSpPr>
        <p:spPr>
          <a:xfrm>
            <a:off x="1540002" y="2392261"/>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i="1" dirty="0">
                <a:solidFill>
                  <a:schemeClr val="accent5"/>
                </a:solidFill>
              </a:rPr>
              <a:t>…………</a:t>
            </a:r>
            <a:r>
              <a:rPr lang="en-US" sz="1700" i="1" dirty="0">
                <a:solidFill>
                  <a:schemeClr val="tx1"/>
                </a:solidFill>
              </a:rPr>
              <a:t> lang </a:t>
            </a:r>
            <a:r>
              <a:rPr lang="en-US" sz="1700" i="1" dirty="0">
                <a:solidFill>
                  <a:schemeClr val="accent5"/>
                </a:solidFill>
              </a:rPr>
              <a:t>……………………</a:t>
            </a:r>
            <a:r>
              <a:rPr lang="en-US" sz="1700" i="1" dirty="0">
                <a:solidFill>
                  <a:schemeClr val="tx1"/>
                </a:solidFill>
              </a:rPr>
              <a:t>.</a:t>
            </a:r>
            <a:endParaRPr lang="en-US" sz="1700" dirty="0"/>
          </a:p>
        </p:txBody>
      </p:sp>
      <p:sp>
        <p:nvSpPr>
          <p:cNvPr id="12" name="Shape 7"/>
          <p:cNvSpPr/>
          <p:nvPr/>
        </p:nvSpPr>
        <p:spPr>
          <a:xfrm>
            <a:off x="548640" y="2960370"/>
            <a:ext cx="5408676" cy="899922"/>
          </a:xfrm>
          <a:prstGeom prst="roundRect">
            <a:avLst>
              <a:gd name="adj" fmla="val 10161"/>
            </a:avLst>
          </a:prstGeom>
          <a:solidFill>
            <a:srgbClr val="FFFFFF"/>
          </a:solidFill>
          <a:ln w="9525">
            <a:solidFill>
              <a:srgbClr val="D5DCE6"/>
            </a:solidFill>
            <a:prstDash val="solid"/>
          </a:ln>
        </p:spPr>
      </p:sp>
      <p:pic>
        <p:nvPicPr>
          <p:cNvPr id="13" name="Image 2" descr="no entry">    </p:cNvPr>
          <p:cNvPicPr>
            <a:picLocks noChangeAspect="1"/>
          </p:cNvPicPr>
          <p:nvPr/>
        </p:nvPicPr>
        <p:blipFill>
          <a:blip r:embed="rId3"/>
          <a:stretch>
            <a:fillRect/>
          </a:stretch>
        </p:blipFill>
        <p:spPr>
          <a:xfrm>
            <a:off x="640080" y="3015234"/>
            <a:ext cx="790194" cy="790194"/>
          </a:xfrm>
          <a:prstGeom prst="rect">
            <a:avLst/>
          </a:prstGeom>
        </p:spPr>
      </p:pic>
      <p:sp>
        <p:nvSpPr>
          <p:cNvPr id="14" name="Text 8"/>
          <p:cNvSpPr txBox="1"/>
          <p:nvPr/>
        </p:nvSpPr>
        <p:spPr>
          <a:xfrm>
            <a:off x="1540002" y="2978658"/>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2</a:t>
            </a:r>
            <a:r>
              <a:rPr lang="en-US" sz="1500" dirty="0">
                <a:solidFill>
                  <a:schemeClr val="accent5"/>
                </a:solidFill>
              </a:rPr>
              <a:t>  </a:t>
            </a:r>
            <a:r>
              <a:rPr lang="en-US" sz="1500" i="1" dirty="0">
                <a:solidFill>
                  <a:schemeClr val="accent5"/>
                </a:solidFill>
              </a:rPr>
              <a:t>We kunnen niet komen.</a:t>
            </a:r>
            <a:endParaRPr lang="en-US" sz="1500" dirty="0"/>
          </a:p>
        </p:txBody>
      </p:sp>
      <p:sp>
        <p:nvSpPr>
          <p:cNvPr id="15" name="Text 9"/>
          <p:cNvSpPr txBox="1"/>
          <p:nvPr/>
        </p:nvSpPr>
        <p:spPr>
          <a:xfrm>
            <a:off x="1540002" y="3383623"/>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We </a:t>
            </a:r>
            <a:r>
              <a:rPr lang="en-US" sz="1700" i="1" dirty="0">
                <a:solidFill>
                  <a:schemeClr val="accent5"/>
                </a:solidFill>
              </a:rPr>
              <a:t>…………</a:t>
            </a:r>
            <a:r>
              <a:rPr lang="en-US" sz="1700" i="1" dirty="0">
                <a:solidFill>
                  <a:schemeClr val="tx1"/>
                </a:solidFill>
              </a:rPr>
              <a:t> niet </a:t>
            </a:r>
            <a:r>
              <a:rPr lang="en-US" sz="1700" i="1" dirty="0">
                <a:solidFill>
                  <a:schemeClr val="accent5"/>
                </a:solidFill>
              </a:rPr>
              <a:t>…………………</a:t>
            </a:r>
            <a:r>
              <a:rPr lang="en-US" sz="1700" i="1" dirty="0">
                <a:solidFill>
                  <a:schemeClr val="tx1"/>
                </a:solidFill>
              </a:rPr>
              <a:t>.</a:t>
            </a:r>
            <a:endParaRPr lang="en-US" sz="1700" dirty="0"/>
          </a:p>
        </p:txBody>
      </p:sp>
      <p:sp>
        <p:nvSpPr>
          <p:cNvPr id="16" name="Shape 10"/>
          <p:cNvSpPr/>
          <p:nvPr/>
        </p:nvSpPr>
        <p:spPr>
          <a:xfrm>
            <a:off x="548640" y="3951732"/>
            <a:ext cx="5408676" cy="899922"/>
          </a:xfrm>
          <a:prstGeom prst="roundRect">
            <a:avLst>
              <a:gd name="adj" fmla="val 10161"/>
            </a:avLst>
          </a:prstGeom>
          <a:solidFill>
            <a:schemeClr val="bg2"/>
          </a:solidFill>
          <a:ln w="9525">
            <a:solidFill>
              <a:srgbClr val="D5DCE6"/>
            </a:solidFill>
            <a:prstDash val="solid"/>
          </a:ln>
        </p:spPr>
      </p:sp>
      <p:pic>
        <p:nvPicPr>
          <p:cNvPr id="17" name="Image 3" descr="person swimming">    </p:cNvPr>
          <p:cNvPicPr>
            <a:picLocks noChangeAspect="1"/>
          </p:cNvPicPr>
          <p:nvPr/>
        </p:nvPicPr>
        <p:blipFill>
          <a:blip r:embed="rId4"/>
          <a:stretch>
            <a:fillRect/>
          </a:stretch>
        </p:blipFill>
        <p:spPr>
          <a:xfrm>
            <a:off x="640080" y="4006596"/>
            <a:ext cx="790194" cy="790194"/>
          </a:xfrm>
          <a:prstGeom prst="rect">
            <a:avLst/>
          </a:prstGeom>
        </p:spPr>
      </p:pic>
      <p:sp>
        <p:nvSpPr>
          <p:cNvPr id="18" name="Text 11"/>
          <p:cNvSpPr txBox="1"/>
          <p:nvPr/>
        </p:nvSpPr>
        <p:spPr>
          <a:xfrm>
            <a:off x="1540002" y="3970020"/>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3</a:t>
            </a:r>
            <a:r>
              <a:rPr lang="en-US" sz="1500" dirty="0">
                <a:solidFill>
                  <a:schemeClr val="accent5"/>
                </a:solidFill>
              </a:rPr>
              <a:t>  </a:t>
            </a:r>
            <a:r>
              <a:rPr lang="en-US" sz="1500" i="1" dirty="0">
                <a:solidFill>
                  <a:schemeClr val="accent5"/>
                </a:solidFill>
              </a:rPr>
              <a:t>Ze gaat zwemmen.</a:t>
            </a:r>
            <a:endParaRPr lang="en-US" sz="1500" dirty="0"/>
          </a:p>
        </p:txBody>
      </p:sp>
      <p:sp>
        <p:nvSpPr>
          <p:cNvPr id="19" name="Text 12"/>
          <p:cNvSpPr txBox="1"/>
          <p:nvPr/>
        </p:nvSpPr>
        <p:spPr>
          <a:xfrm>
            <a:off x="1540002" y="4374985"/>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Ze </a:t>
            </a:r>
            <a:r>
              <a:rPr lang="en-US" sz="1700" i="1" dirty="0">
                <a:solidFill>
                  <a:schemeClr val="accent5"/>
                </a:solidFill>
              </a:rPr>
              <a:t>………………………</a:t>
            </a:r>
            <a:r>
              <a:rPr lang="en-US" sz="1700" i="1" dirty="0">
                <a:solidFill>
                  <a:schemeClr val="tx1"/>
                </a:solidFill>
              </a:rPr>
              <a:t>.</a:t>
            </a:r>
            <a:endParaRPr lang="en-US" sz="1700" dirty="0"/>
          </a:p>
        </p:txBody>
      </p:sp>
      <p:sp>
        <p:nvSpPr>
          <p:cNvPr id="20" name="Shape 13"/>
          <p:cNvSpPr/>
          <p:nvPr/>
        </p:nvSpPr>
        <p:spPr>
          <a:xfrm>
            <a:off x="548640" y="4943094"/>
            <a:ext cx="5408676" cy="899922"/>
          </a:xfrm>
          <a:prstGeom prst="roundRect">
            <a:avLst>
              <a:gd name="adj" fmla="val 10161"/>
            </a:avLst>
          </a:prstGeom>
          <a:solidFill>
            <a:srgbClr val="FFFFFF"/>
          </a:solidFill>
          <a:ln w="9525">
            <a:solidFill>
              <a:srgbClr val="D5DCE6"/>
            </a:solidFill>
            <a:prstDash val="solid"/>
          </a:ln>
        </p:spPr>
      </p:sp>
      <p:pic>
        <p:nvPicPr>
          <p:cNvPr id="21" name="Image 4" descr="bicycle">    </p:cNvPr>
          <p:cNvPicPr>
            <a:picLocks noChangeAspect="1"/>
          </p:cNvPicPr>
          <p:nvPr/>
        </p:nvPicPr>
        <p:blipFill>
          <a:blip r:embed="rId5"/>
          <a:stretch>
            <a:fillRect/>
          </a:stretch>
        </p:blipFill>
        <p:spPr>
          <a:xfrm>
            <a:off x="640080" y="4997958"/>
            <a:ext cx="790194" cy="790194"/>
          </a:xfrm>
          <a:prstGeom prst="rect">
            <a:avLst/>
          </a:prstGeom>
        </p:spPr>
      </p:pic>
      <p:sp>
        <p:nvSpPr>
          <p:cNvPr id="22" name="Text 14"/>
          <p:cNvSpPr txBox="1"/>
          <p:nvPr/>
        </p:nvSpPr>
        <p:spPr>
          <a:xfrm>
            <a:off x="1540002" y="4961382"/>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4</a:t>
            </a:r>
            <a:r>
              <a:rPr lang="en-US" sz="1500" dirty="0">
                <a:solidFill>
                  <a:schemeClr val="accent5"/>
                </a:solidFill>
              </a:rPr>
              <a:t>  </a:t>
            </a:r>
            <a:r>
              <a:rPr lang="en-US" sz="1500" i="1" dirty="0">
                <a:solidFill>
                  <a:schemeClr val="accent5"/>
                </a:solidFill>
              </a:rPr>
              <a:t>Ik laat mijn fiets repareren.</a:t>
            </a:r>
            <a:endParaRPr lang="en-US" sz="1500" dirty="0"/>
          </a:p>
        </p:txBody>
      </p:sp>
      <p:sp>
        <p:nvSpPr>
          <p:cNvPr id="23" name="Text 15"/>
          <p:cNvSpPr txBox="1"/>
          <p:nvPr/>
        </p:nvSpPr>
        <p:spPr>
          <a:xfrm>
            <a:off x="1540002" y="5366347"/>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i="1" dirty="0">
                <a:solidFill>
                  <a:schemeClr val="accent5"/>
                </a:solidFill>
              </a:rPr>
              <a:t>…………</a:t>
            </a:r>
            <a:r>
              <a:rPr lang="en-US" sz="1700" i="1" dirty="0">
                <a:solidFill>
                  <a:schemeClr val="tx1"/>
                </a:solidFill>
              </a:rPr>
              <a:t> mijn fiets </a:t>
            </a:r>
            <a:r>
              <a:rPr lang="en-US" sz="1700" i="1" dirty="0">
                <a:solidFill>
                  <a:schemeClr val="accent5"/>
                </a:solidFill>
              </a:rPr>
              <a:t>………………………</a:t>
            </a:r>
            <a:r>
              <a:rPr lang="en-US" sz="1700" i="1" dirty="0">
                <a:solidFill>
                  <a:schemeClr val="tx1"/>
                </a:solidFill>
              </a:rPr>
              <a:t>.</a:t>
            </a:r>
            <a:endParaRPr lang="en-US" sz="1700" dirty="0"/>
          </a:p>
        </p:txBody>
      </p:sp>
      <p:sp>
        <p:nvSpPr>
          <p:cNvPr id="24" name="Shape 16"/>
          <p:cNvSpPr/>
          <p:nvPr/>
        </p:nvSpPr>
        <p:spPr>
          <a:xfrm>
            <a:off x="6231636" y="1969008"/>
            <a:ext cx="5408676" cy="899922"/>
          </a:xfrm>
          <a:prstGeom prst="roundRect">
            <a:avLst>
              <a:gd name="adj" fmla="val 10161"/>
            </a:avLst>
          </a:prstGeom>
          <a:solidFill>
            <a:schemeClr val="bg2"/>
          </a:solidFill>
          <a:ln w="9525">
            <a:solidFill>
              <a:srgbClr val="D5DCE6"/>
            </a:solidFill>
            <a:prstDash val="solid"/>
          </a:ln>
        </p:spPr>
      </p:sp>
      <p:pic>
        <p:nvPicPr>
          <p:cNvPr id="25" name="Image 5" descr="telephone receiver">    </p:cNvPr>
          <p:cNvPicPr>
            <a:picLocks noChangeAspect="1"/>
          </p:cNvPicPr>
          <p:nvPr/>
        </p:nvPicPr>
        <p:blipFill>
          <a:blip r:embed="rId6"/>
          <a:stretch>
            <a:fillRect/>
          </a:stretch>
        </p:blipFill>
        <p:spPr>
          <a:xfrm>
            <a:off x="6323076" y="2023872"/>
            <a:ext cx="790194" cy="790194"/>
          </a:xfrm>
          <a:prstGeom prst="rect">
            <a:avLst/>
          </a:prstGeom>
        </p:spPr>
      </p:pic>
      <p:sp>
        <p:nvSpPr>
          <p:cNvPr id="26" name="Text 17"/>
          <p:cNvSpPr txBox="1"/>
          <p:nvPr/>
        </p:nvSpPr>
        <p:spPr>
          <a:xfrm>
            <a:off x="7222998" y="1987296"/>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5</a:t>
            </a:r>
            <a:r>
              <a:rPr lang="en-US" sz="1500" dirty="0">
                <a:solidFill>
                  <a:schemeClr val="accent5"/>
                </a:solidFill>
              </a:rPr>
              <a:t>  </a:t>
            </a:r>
            <a:r>
              <a:rPr lang="en-US" sz="1500" i="1" dirty="0">
                <a:solidFill>
                  <a:schemeClr val="accent5"/>
                </a:solidFill>
              </a:rPr>
              <a:t>Hij zit te bellen.</a:t>
            </a:r>
            <a:endParaRPr lang="en-US" sz="1500" dirty="0"/>
          </a:p>
        </p:txBody>
      </p:sp>
      <p:sp>
        <p:nvSpPr>
          <p:cNvPr id="27" name="Text 18"/>
          <p:cNvSpPr txBox="1"/>
          <p:nvPr/>
        </p:nvSpPr>
        <p:spPr>
          <a:xfrm>
            <a:off x="7222998" y="2392261"/>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Hij </a:t>
            </a:r>
            <a:r>
              <a:rPr lang="en-US" sz="1700" i="1" dirty="0">
                <a:solidFill>
                  <a:schemeClr val="accent5"/>
                </a:solidFill>
              </a:rPr>
              <a:t>……………………………</a:t>
            </a:r>
            <a:r>
              <a:rPr lang="en-US" sz="1700" i="1" dirty="0">
                <a:solidFill>
                  <a:schemeClr val="tx1"/>
                </a:solidFill>
              </a:rPr>
              <a:t>.</a:t>
            </a:r>
            <a:endParaRPr lang="en-US" sz="1700" dirty="0"/>
          </a:p>
        </p:txBody>
      </p:sp>
      <p:sp>
        <p:nvSpPr>
          <p:cNvPr id="28" name="Shape 19"/>
          <p:cNvSpPr/>
          <p:nvPr/>
        </p:nvSpPr>
        <p:spPr>
          <a:xfrm>
            <a:off x="6231636" y="2960370"/>
            <a:ext cx="5408676" cy="899922"/>
          </a:xfrm>
          <a:prstGeom prst="roundRect">
            <a:avLst>
              <a:gd name="adj" fmla="val 10161"/>
            </a:avLst>
          </a:prstGeom>
          <a:solidFill>
            <a:srgbClr val="FFFFFF"/>
          </a:solidFill>
          <a:ln w="9525">
            <a:solidFill>
              <a:srgbClr val="D5DCE6"/>
            </a:solidFill>
            <a:prstDash val="solid"/>
          </a:ln>
        </p:spPr>
      </p:sp>
      <p:pic>
        <p:nvPicPr>
          <p:cNvPr id="29" name="Image 6" descr="ear">    </p:cNvPr>
          <p:cNvPicPr>
            <a:picLocks noChangeAspect="1"/>
          </p:cNvPicPr>
          <p:nvPr/>
        </p:nvPicPr>
        <p:blipFill>
          <a:blip r:embed="rId7"/>
          <a:stretch>
            <a:fillRect/>
          </a:stretch>
        </p:blipFill>
        <p:spPr>
          <a:xfrm>
            <a:off x="6323076" y="3015234"/>
            <a:ext cx="790194" cy="790194"/>
          </a:xfrm>
          <a:prstGeom prst="rect">
            <a:avLst/>
          </a:prstGeom>
        </p:spPr>
      </p:pic>
      <p:sp>
        <p:nvSpPr>
          <p:cNvPr id="30" name="Text 20"/>
          <p:cNvSpPr txBox="1"/>
          <p:nvPr/>
        </p:nvSpPr>
        <p:spPr>
          <a:xfrm>
            <a:off x="7222998" y="2978658"/>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6</a:t>
            </a:r>
            <a:r>
              <a:rPr lang="en-US" sz="1500" dirty="0">
                <a:solidFill>
                  <a:schemeClr val="accent5"/>
                </a:solidFill>
              </a:rPr>
              <a:t>  </a:t>
            </a:r>
            <a:r>
              <a:rPr lang="en-US" sz="1500" i="1" dirty="0">
                <a:solidFill>
                  <a:schemeClr val="accent5"/>
                </a:solidFill>
              </a:rPr>
              <a:t>Ik hoor de kinderen lachen.</a:t>
            </a:r>
            <a:endParaRPr lang="en-US" sz="1500" dirty="0"/>
          </a:p>
        </p:txBody>
      </p:sp>
      <p:sp>
        <p:nvSpPr>
          <p:cNvPr id="31" name="Text 21"/>
          <p:cNvSpPr txBox="1"/>
          <p:nvPr/>
        </p:nvSpPr>
        <p:spPr>
          <a:xfrm>
            <a:off x="7222998" y="3383623"/>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i="1" dirty="0">
                <a:solidFill>
                  <a:schemeClr val="accent5"/>
                </a:solidFill>
              </a:rPr>
              <a:t>…………</a:t>
            </a:r>
            <a:r>
              <a:rPr lang="en-US" sz="1700" i="1" dirty="0">
                <a:solidFill>
                  <a:schemeClr val="tx1"/>
                </a:solidFill>
              </a:rPr>
              <a:t> de kinderen </a:t>
            </a:r>
            <a:r>
              <a:rPr lang="en-US" sz="1700" i="1" dirty="0">
                <a:solidFill>
                  <a:schemeClr val="accent5"/>
                </a:solidFill>
              </a:rPr>
              <a:t>…………………</a:t>
            </a:r>
            <a:r>
              <a:rPr lang="en-US" sz="1700" i="1" dirty="0">
                <a:solidFill>
                  <a:schemeClr val="tx1"/>
                </a:solidFill>
              </a:rPr>
              <a:t>.</a:t>
            </a:r>
            <a:endParaRPr lang="en-US" sz="1700" dirty="0"/>
          </a:p>
        </p:txBody>
      </p:sp>
      <p:sp>
        <p:nvSpPr>
          <p:cNvPr id="32" name="Shape 22"/>
          <p:cNvSpPr/>
          <p:nvPr/>
        </p:nvSpPr>
        <p:spPr>
          <a:xfrm>
            <a:off x="6231636" y="3951732"/>
            <a:ext cx="5408676" cy="899922"/>
          </a:xfrm>
          <a:prstGeom prst="roundRect">
            <a:avLst>
              <a:gd name="adj" fmla="val 10161"/>
            </a:avLst>
          </a:prstGeom>
          <a:solidFill>
            <a:schemeClr val="bg2"/>
          </a:solidFill>
          <a:ln w="9525">
            <a:solidFill>
              <a:srgbClr val="D5DCE6"/>
            </a:solidFill>
            <a:prstDash val="solid"/>
          </a:ln>
        </p:spPr>
      </p:sp>
      <p:pic>
        <p:nvPicPr>
          <p:cNvPr id="33" name="Image 7" descr="fork and knife with plate">    </p:cNvPr>
          <p:cNvPicPr>
            <a:picLocks noChangeAspect="1"/>
          </p:cNvPicPr>
          <p:nvPr/>
        </p:nvPicPr>
        <p:blipFill>
          <a:blip r:embed="rId8"/>
          <a:stretch>
            <a:fillRect/>
          </a:stretch>
        </p:blipFill>
        <p:spPr>
          <a:xfrm>
            <a:off x="6323076" y="4006596"/>
            <a:ext cx="790194" cy="790194"/>
          </a:xfrm>
          <a:prstGeom prst="rect">
            <a:avLst/>
          </a:prstGeom>
        </p:spPr>
      </p:pic>
      <p:sp>
        <p:nvSpPr>
          <p:cNvPr id="34" name="Text 23"/>
          <p:cNvSpPr txBox="1"/>
          <p:nvPr/>
        </p:nvSpPr>
        <p:spPr>
          <a:xfrm>
            <a:off x="7222998" y="3970020"/>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7</a:t>
            </a:r>
            <a:r>
              <a:rPr lang="en-US" sz="1500" dirty="0">
                <a:solidFill>
                  <a:schemeClr val="accent5"/>
                </a:solidFill>
              </a:rPr>
              <a:t>  </a:t>
            </a:r>
            <a:r>
              <a:rPr lang="en-US" sz="1500" i="1" dirty="0">
                <a:solidFill>
                  <a:schemeClr val="accent5"/>
                </a:solidFill>
              </a:rPr>
              <a:t>Ze komen eten.</a:t>
            </a:r>
            <a:endParaRPr lang="en-US" sz="1500" dirty="0"/>
          </a:p>
        </p:txBody>
      </p:sp>
      <p:sp>
        <p:nvSpPr>
          <p:cNvPr id="35" name="Text 24"/>
          <p:cNvSpPr txBox="1"/>
          <p:nvPr/>
        </p:nvSpPr>
        <p:spPr>
          <a:xfrm>
            <a:off x="7222998" y="4374985"/>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Ze </a:t>
            </a:r>
            <a:r>
              <a:rPr lang="en-US" sz="1700" i="1" dirty="0">
                <a:solidFill>
                  <a:schemeClr val="accent5"/>
                </a:solidFill>
              </a:rPr>
              <a:t>………………………</a:t>
            </a:r>
            <a:r>
              <a:rPr lang="en-US" sz="1700" i="1" dirty="0">
                <a:solidFill>
                  <a:schemeClr val="tx1"/>
                </a:solidFill>
              </a:rPr>
              <a:t>.</a:t>
            </a:r>
            <a:endParaRPr lang="en-US" sz="1700" dirty="0"/>
          </a:p>
        </p:txBody>
      </p:sp>
      <p:sp>
        <p:nvSpPr>
          <p:cNvPr id="36" name="Shape 25"/>
          <p:cNvSpPr/>
          <p:nvPr/>
        </p:nvSpPr>
        <p:spPr>
          <a:xfrm>
            <a:off x="6231636" y="4943094"/>
            <a:ext cx="5408676" cy="899922"/>
          </a:xfrm>
          <a:prstGeom prst="roundRect">
            <a:avLst>
              <a:gd name="adj" fmla="val 10161"/>
            </a:avLst>
          </a:prstGeom>
          <a:solidFill>
            <a:srgbClr val="FFFFFF"/>
          </a:solidFill>
          <a:ln w="9525">
            <a:solidFill>
              <a:srgbClr val="D5DCE6"/>
            </a:solidFill>
            <a:prstDash val="solid"/>
          </a:ln>
        </p:spPr>
      </p:sp>
      <p:pic>
        <p:nvPicPr>
          <p:cNvPr id="37" name="Image 8" descr="door">    </p:cNvPr>
          <p:cNvPicPr>
            <a:picLocks noChangeAspect="1"/>
          </p:cNvPicPr>
          <p:nvPr/>
        </p:nvPicPr>
        <p:blipFill>
          <a:blip r:embed="rId9"/>
          <a:stretch>
            <a:fillRect/>
          </a:stretch>
        </p:blipFill>
        <p:spPr>
          <a:xfrm>
            <a:off x="6323076" y="4997958"/>
            <a:ext cx="790194" cy="790194"/>
          </a:xfrm>
          <a:prstGeom prst="rect">
            <a:avLst/>
          </a:prstGeom>
        </p:spPr>
      </p:pic>
      <p:sp>
        <p:nvSpPr>
          <p:cNvPr id="38" name="Text 26"/>
          <p:cNvSpPr txBox="1"/>
          <p:nvPr/>
        </p:nvSpPr>
        <p:spPr>
          <a:xfrm>
            <a:off x="7222998" y="4961382"/>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8</a:t>
            </a:r>
            <a:r>
              <a:rPr lang="en-US" sz="1500" dirty="0">
                <a:solidFill>
                  <a:schemeClr val="accent5"/>
                </a:solidFill>
              </a:rPr>
              <a:t>  </a:t>
            </a:r>
            <a:r>
              <a:rPr lang="en-US" sz="1500" i="1" dirty="0">
                <a:solidFill>
                  <a:schemeClr val="accent5"/>
                </a:solidFill>
              </a:rPr>
              <a:t>Je mag vroeg vertrekken.</a:t>
            </a:r>
            <a:endParaRPr lang="en-US" sz="1500" dirty="0"/>
          </a:p>
        </p:txBody>
      </p:sp>
      <p:sp>
        <p:nvSpPr>
          <p:cNvPr id="39" name="Text 27"/>
          <p:cNvSpPr txBox="1"/>
          <p:nvPr/>
        </p:nvSpPr>
        <p:spPr>
          <a:xfrm>
            <a:off x="7222998" y="5366347"/>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Je </a:t>
            </a:r>
            <a:r>
              <a:rPr lang="en-US" sz="1700" i="1" dirty="0">
                <a:solidFill>
                  <a:schemeClr val="accent5"/>
                </a:solidFill>
              </a:rPr>
              <a:t>…………</a:t>
            </a:r>
            <a:r>
              <a:rPr lang="en-US" sz="1700" i="1" dirty="0">
                <a:solidFill>
                  <a:schemeClr val="tx1"/>
                </a:solidFill>
              </a:rPr>
              <a:t> vroeg </a:t>
            </a:r>
            <a:r>
              <a:rPr lang="en-US" sz="1700" i="1" dirty="0">
                <a:solidFill>
                  <a:schemeClr val="accent5"/>
                </a:solidFill>
              </a:rPr>
              <a:t>…………………………</a:t>
            </a:r>
            <a:r>
              <a:rPr lang="en-US" sz="1700" i="1"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Au passé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la phrase au passé composé.</a:t>
            </a:r>
            <a:endParaRPr lang="en-US" sz="1700" dirty="0"/>
          </a:p>
        </p:txBody>
      </p:sp>
      <p:sp>
        <p:nvSpPr>
          <p:cNvPr id="9" name="Shape 5"/>
          <p:cNvSpPr/>
          <p:nvPr/>
        </p:nvSpPr>
        <p:spPr>
          <a:xfrm>
            <a:off x="548640" y="1969008"/>
            <a:ext cx="5408676" cy="899922"/>
          </a:xfrm>
          <a:prstGeom prst="roundRect">
            <a:avLst>
              <a:gd name="adj" fmla="val 10161"/>
            </a:avLst>
          </a:prstGeom>
          <a:solidFill>
            <a:schemeClr val="bg2"/>
          </a:solidFill>
          <a:ln w="9525">
            <a:solidFill>
              <a:srgbClr val="D5DCE6"/>
            </a:solidFill>
            <a:prstDash val="solid"/>
          </a:ln>
        </p:spPr>
      </p:sp>
      <p:pic>
        <p:nvPicPr>
          <p:cNvPr id="10" name="Image 1" descr="briefcase">    </p:cNvPr>
          <p:cNvPicPr>
            <a:picLocks noChangeAspect="1"/>
          </p:cNvPicPr>
          <p:nvPr/>
        </p:nvPicPr>
        <p:blipFill>
          <a:blip r:embed="rId2"/>
          <a:stretch>
            <a:fillRect/>
          </a:stretch>
        </p:blipFill>
        <p:spPr>
          <a:xfrm>
            <a:off x="640080" y="2023872"/>
            <a:ext cx="790194" cy="790194"/>
          </a:xfrm>
          <a:prstGeom prst="rect">
            <a:avLst/>
          </a:prstGeom>
        </p:spPr>
      </p:pic>
      <p:sp>
        <p:nvSpPr>
          <p:cNvPr id="11" name="Text 6"/>
          <p:cNvSpPr txBox="1"/>
          <p:nvPr/>
        </p:nvSpPr>
        <p:spPr>
          <a:xfrm>
            <a:off x="1540002" y="1987296"/>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1</a:t>
            </a:r>
            <a:r>
              <a:rPr lang="en-US" sz="1500" dirty="0">
                <a:solidFill>
                  <a:schemeClr val="accent5"/>
                </a:solidFill>
              </a:rPr>
              <a:t>  </a:t>
            </a:r>
            <a:r>
              <a:rPr lang="en-US" sz="1500" i="1" dirty="0">
                <a:solidFill>
                  <a:schemeClr val="accent5"/>
                </a:solidFill>
              </a:rPr>
              <a:t>Ik moet lang werken.</a:t>
            </a:r>
            <a:endParaRPr lang="en-US" sz="1500" dirty="0"/>
          </a:p>
        </p:txBody>
      </p:sp>
      <p:sp>
        <p:nvSpPr>
          <p:cNvPr id="12" name="Text 7"/>
          <p:cNvSpPr txBox="1"/>
          <p:nvPr/>
        </p:nvSpPr>
        <p:spPr>
          <a:xfrm>
            <a:off x="1540002" y="2392261"/>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chemeClr val="accent3"/>
                </a:solidFill>
              </a:rPr>
              <a:t>heb</a:t>
            </a:r>
            <a:r>
              <a:rPr lang="en-US" sz="1700" i="1" dirty="0">
                <a:solidFill>
                  <a:schemeClr val="tx1"/>
                </a:solidFill>
              </a:rPr>
              <a:t> lang </a:t>
            </a:r>
            <a:r>
              <a:rPr lang="en-US" sz="1700" b="1" i="1" dirty="0">
                <a:solidFill>
                  <a:schemeClr val="accent3"/>
                </a:solidFill>
              </a:rPr>
              <a:t>moeten werken</a:t>
            </a:r>
            <a:r>
              <a:rPr lang="en-US" sz="1700" i="1" dirty="0">
                <a:solidFill>
                  <a:schemeClr val="tx1"/>
                </a:solidFill>
              </a:rPr>
              <a:t>.</a:t>
            </a:r>
            <a:endParaRPr lang="en-US" sz="1700" dirty="0"/>
          </a:p>
        </p:txBody>
      </p:sp>
      <p:sp>
        <p:nvSpPr>
          <p:cNvPr id="13" name="Shape 8"/>
          <p:cNvSpPr/>
          <p:nvPr/>
        </p:nvSpPr>
        <p:spPr>
          <a:xfrm>
            <a:off x="548640" y="2960370"/>
            <a:ext cx="5408676" cy="899922"/>
          </a:xfrm>
          <a:prstGeom prst="roundRect">
            <a:avLst>
              <a:gd name="adj" fmla="val 10161"/>
            </a:avLst>
          </a:prstGeom>
          <a:solidFill>
            <a:srgbClr val="FFFFFF"/>
          </a:solidFill>
          <a:ln w="9525">
            <a:solidFill>
              <a:srgbClr val="D5DCE6"/>
            </a:solidFill>
            <a:prstDash val="solid"/>
          </a:ln>
        </p:spPr>
      </p:sp>
      <p:pic>
        <p:nvPicPr>
          <p:cNvPr id="14" name="Image 2" descr="no entry">    </p:cNvPr>
          <p:cNvPicPr>
            <a:picLocks noChangeAspect="1"/>
          </p:cNvPicPr>
          <p:nvPr/>
        </p:nvPicPr>
        <p:blipFill>
          <a:blip r:embed="rId3"/>
          <a:stretch>
            <a:fillRect/>
          </a:stretch>
        </p:blipFill>
        <p:spPr>
          <a:xfrm>
            <a:off x="640080" y="3015234"/>
            <a:ext cx="790194" cy="790194"/>
          </a:xfrm>
          <a:prstGeom prst="rect">
            <a:avLst/>
          </a:prstGeom>
        </p:spPr>
      </p:pic>
      <p:sp>
        <p:nvSpPr>
          <p:cNvPr id="15" name="Text 9"/>
          <p:cNvSpPr txBox="1"/>
          <p:nvPr/>
        </p:nvSpPr>
        <p:spPr>
          <a:xfrm>
            <a:off x="1540002" y="2978658"/>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2</a:t>
            </a:r>
            <a:r>
              <a:rPr lang="en-US" sz="1500" dirty="0">
                <a:solidFill>
                  <a:schemeClr val="accent5"/>
                </a:solidFill>
              </a:rPr>
              <a:t>  </a:t>
            </a:r>
            <a:r>
              <a:rPr lang="en-US" sz="1500" i="1" dirty="0">
                <a:solidFill>
                  <a:schemeClr val="accent5"/>
                </a:solidFill>
              </a:rPr>
              <a:t>We kunnen niet komen.</a:t>
            </a:r>
            <a:endParaRPr lang="en-US" sz="1500" dirty="0"/>
          </a:p>
        </p:txBody>
      </p:sp>
      <p:sp>
        <p:nvSpPr>
          <p:cNvPr id="16" name="Text 10"/>
          <p:cNvSpPr txBox="1"/>
          <p:nvPr/>
        </p:nvSpPr>
        <p:spPr>
          <a:xfrm>
            <a:off x="1540002" y="3383623"/>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We </a:t>
            </a:r>
            <a:r>
              <a:rPr lang="en-US" sz="1700" b="1" i="1" dirty="0">
                <a:solidFill>
                  <a:schemeClr val="accent3"/>
                </a:solidFill>
              </a:rPr>
              <a:t>hebben</a:t>
            </a:r>
            <a:r>
              <a:rPr lang="en-US" sz="1700" i="1" dirty="0">
                <a:solidFill>
                  <a:schemeClr val="tx1"/>
                </a:solidFill>
              </a:rPr>
              <a:t> niet </a:t>
            </a:r>
            <a:r>
              <a:rPr lang="en-US" sz="1700" b="1" i="1" dirty="0">
                <a:solidFill>
                  <a:schemeClr val="accent3"/>
                </a:solidFill>
              </a:rPr>
              <a:t>kunnen komen</a:t>
            </a:r>
            <a:r>
              <a:rPr lang="en-US" sz="1700" i="1" dirty="0">
                <a:solidFill>
                  <a:schemeClr val="tx1"/>
                </a:solidFill>
              </a:rPr>
              <a:t>.</a:t>
            </a:r>
            <a:endParaRPr lang="en-US" sz="1700" dirty="0"/>
          </a:p>
        </p:txBody>
      </p:sp>
      <p:sp>
        <p:nvSpPr>
          <p:cNvPr id="17" name="Shape 11"/>
          <p:cNvSpPr/>
          <p:nvPr/>
        </p:nvSpPr>
        <p:spPr>
          <a:xfrm>
            <a:off x="548640" y="3951732"/>
            <a:ext cx="5408676" cy="899922"/>
          </a:xfrm>
          <a:prstGeom prst="roundRect">
            <a:avLst>
              <a:gd name="adj" fmla="val 10161"/>
            </a:avLst>
          </a:prstGeom>
          <a:solidFill>
            <a:schemeClr val="bg2"/>
          </a:solidFill>
          <a:ln w="9525">
            <a:solidFill>
              <a:srgbClr val="D5DCE6"/>
            </a:solidFill>
            <a:prstDash val="solid"/>
          </a:ln>
        </p:spPr>
      </p:sp>
      <p:pic>
        <p:nvPicPr>
          <p:cNvPr id="18" name="Image 3" descr="person swimming">    </p:cNvPr>
          <p:cNvPicPr>
            <a:picLocks noChangeAspect="1"/>
          </p:cNvPicPr>
          <p:nvPr/>
        </p:nvPicPr>
        <p:blipFill>
          <a:blip r:embed="rId4"/>
          <a:stretch>
            <a:fillRect/>
          </a:stretch>
        </p:blipFill>
        <p:spPr>
          <a:xfrm>
            <a:off x="640080" y="4006596"/>
            <a:ext cx="790194" cy="790194"/>
          </a:xfrm>
          <a:prstGeom prst="rect">
            <a:avLst/>
          </a:prstGeom>
        </p:spPr>
      </p:pic>
      <p:sp>
        <p:nvSpPr>
          <p:cNvPr id="19" name="Text 12"/>
          <p:cNvSpPr txBox="1"/>
          <p:nvPr/>
        </p:nvSpPr>
        <p:spPr>
          <a:xfrm>
            <a:off x="1540002" y="3970020"/>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3</a:t>
            </a:r>
            <a:r>
              <a:rPr lang="en-US" sz="1500" dirty="0">
                <a:solidFill>
                  <a:schemeClr val="accent5"/>
                </a:solidFill>
              </a:rPr>
              <a:t>  </a:t>
            </a:r>
            <a:r>
              <a:rPr lang="en-US" sz="1500" i="1" dirty="0">
                <a:solidFill>
                  <a:schemeClr val="accent5"/>
                </a:solidFill>
              </a:rPr>
              <a:t>Ze gaat zwemmen.</a:t>
            </a:r>
            <a:endParaRPr lang="en-US" sz="1500" dirty="0"/>
          </a:p>
        </p:txBody>
      </p:sp>
      <p:sp>
        <p:nvSpPr>
          <p:cNvPr id="20" name="Text 13"/>
          <p:cNvSpPr txBox="1"/>
          <p:nvPr/>
        </p:nvSpPr>
        <p:spPr>
          <a:xfrm>
            <a:off x="1540002" y="4374985"/>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Ze </a:t>
            </a:r>
            <a:r>
              <a:rPr lang="en-US" sz="1700" b="1" i="1" dirty="0">
                <a:solidFill>
                  <a:schemeClr val="accent3"/>
                </a:solidFill>
              </a:rPr>
              <a:t>is gaan zwemmen</a:t>
            </a:r>
            <a:r>
              <a:rPr lang="en-US" sz="1700" i="1" dirty="0">
                <a:solidFill>
                  <a:schemeClr val="tx1"/>
                </a:solidFill>
              </a:rPr>
              <a:t>.</a:t>
            </a:r>
            <a:endParaRPr lang="en-US" sz="1700" dirty="0"/>
          </a:p>
        </p:txBody>
      </p:sp>
      <p:sp>
        <p:nvSpPr>
          <p:cNvPr id="21" name="Shape 14"/>
          <p:cNvSpPr/>
          <p:nvPr/>
        </p:nvSpPr>
        <p:spPr>
          <a:xfrm>
            <a:off x="548640" y="4943094"/>
            <a:ext cx="5408676" cy="899922"/>
          </a:xfrm>
          <a:prstGeom prst="roundRect">
            <a:avLst>
              <a:gd name="adj" fmla="val 10161"/>
            </a:avLst>
          </a:prstGeom>
          <a:solidFill>
            <a:srgbClr val="FFFFFF"/>
          </a:solidFill>
          <a:ln w="9525">
            <a:solidFill>
              <a:srgbClr val="D5DCE6"/>
            </a:solidFill>
            <a:prstDash val="solid"/>
          </a:ln>
        </p:spPr>
      </p:sp>
      <p:pic>
        <p:nvPicPr>
          <p:cNvPr id="22" name="Image 4" descr="bicycle">    </p:cNvPr>
          <p:cNvPicPr>
            <a:picLocks noChangeAspect="1"/>
          </p:cNvPicPr>
          <p:nvPr/>
        </p:nvPicPr>
        <p:blipFill>
          <a:blip r:embed="rId5"/>
          <a:stretch>
            <a:fillRect/>
          </a:stretch>
        </p:blipFill>
        <p:spPr>
          <a:xfrm>
            <a:off x="640080" y="4997958"/>
            <a:ext cx="790194" cy="790194"/>
          </a:xfrm>
          <a:prstGeom prst="rect">
            <a:avLst/>
          </a:prstGeom>
        </p:spPr>
      </p:pic>
      <p:sp>
        <p:nvSpPr>
          <p:cNvPr id="23" name="Text 15"/>
          <p:cNvSpPr txBox="1"/>
          <p:nvPr/>
        </p:nvSpPr>
        <p:spPr>
          <a:xfrm>
            <a:off x="1540002" y="4961382"/>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4</a:t>
            </a:r>
            <a:r>
              <a:rPr lang="en-US" sz="1500" dirty="0">
                <a:solidFill>
                  <a:schemeClr val="accent5"/>
                </a:solidFill>
              </a:rPr>
              <a:t>  </a:t>
            </a:r>
            <a:r>
              <a:rPr lang="en-US" sz="1500" i="1" dirty="0">
                <a:solidFill>
                  <a:schemeClr val="accent5"/>
                </a:solidFill>
              </a:rPr>
              <a:t>Ik laat mijn fiets repareren.</a:t>
            </a:r>
            <a:endParaRPr lang="en-US" sz="1500" dirty="0"/>
          </a:p>
        </p:txBody>
      </p:sp>
      <p:sp>
        <p:nvSpPr>
          <p:cNvPr id="24" name="Text 16"/>
          <p:cNvSpPr txBox="1"/>
          <p:nvPr/>
        </p:nvSpPr>
        <p:spPr>
          <a:xfrm>
            <a:off x="1540002" y="5366347"/>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chemeClr val="accent3"/>
                </a:solidFill>
              </a:rPr>
              <a:t>heb</a:t>
            </a:r>
            <a:r>
              <a:rPr lang="en-US" sz="1700" i="1" dirty="0">
                <a:solidFill>
                  <a:schemeClr val="tx1"/>
                </a:solidFill>
              </a:rPr>
              <a:t> mijn fiets </a:t>
            </a:r>
            <a:r>
              <a:rPr lang="en-US" sz="1700" b="1" i="1" dirty="0">
                <a:solidFill>
                  <a:schemeClr val="accent3"/>
                </a:solidFill>
              </a:rPr>
              <a:t>laten repareren</a:t>
            </a:r>
            <a:r>
              <a:rPr lang="en-US" sz="1700" i="1" dirty="0">
                <a:solidFill>
                  <a:schemeClr val="tx1"/>
                </a:solidFill>
              </a:rPr>
              <a:t>.</a:t>
            </a:r>
            <a:endParaRPr lang="en-US" sz="1700" dirty="0"/>
          </a:p>
        </p:txBody>
      </p:sp>
      <p:sp>
        <p:nvSpPr>
          <p:cNvPr id="25" name="Shape 17"/>
          <p:cNvSpPr/>
          <p:nvPr/>
        </p:nvSpPr>
        <p:spPr>
          <a:xfrm>
            <a:off x="6231636" y="1969008"/>
            <a:ext cx="5408676" cy="899922"/>
          </a:xfrm>
          <a:prstGeom prst="roundRect">
            <a:avLst>
              <a:gd name="adj" fmla="val 10161"/>
            </a:avLst>
          </a:prstGeom>
          <a:solidFill>
            <a:schemeClr val="bg2"/>
          </a:solidFill>
          <a:ln w="9525">
            <a:solidFill>
              <a:srgbClr val="D5DCE6"/>
            </a:solidFill>
            <a:prstDash val="solid"/>
          </a:ln>
        </p:spPr>
      </p:sp>
      <p:pic>
        <p:nvPicPr>
          <p:cNvPr id="26" name="Image 5" descr="telephone receiver">    </p:cNvPr>
          <p:cNvPicPr>
            <a:picLocks noChangeAspect="1"/>
          </p:cNvPicPr>
          <p:nvPr/>
        </p:nvPicPr>
        <p:blipFill>
          <a:blip r:embed="rId6"/>
          <a:stretch>
            <a:fillRect/>
          </a:stretch>
        </p:blipFill>
        <p:spPr>
          <a:xfrm>
            <a:off x="6323076" y="2023872"/>
            <a:ext cx="790194" cy="790194"/>
          </a:xfrm>
          <a:prstGeom prst="rect">
            <a:avLst/>
          </a:prstGeom>
        </p:spPr>
      </p:pic>
      <p:sp>
        <p:nvSpPr>
          <p:cNvPr id="27" name="Text 18"/>
          <p:cNvSpPr txBox="1"/>
          <p:nvPr/>
        </p:nvSpPr>
        <p:spPr>
          <a:xfrm>
            <a:off x="7222998" y="1987296"/>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5</a:t>
            </a:r>
            <a:r>
              <a:rPr lang="en-US" sz="1500" dirty="0">
                <a:solidFill>
                  <a:schemeClr val="accent5"/>
                </a:solidFill>
              </a:rPr>
              <a:t>  </a:t>
            </a:r>
            <a:r>
              <a:rPr lang="en-US" sz="1500" i="1" dirty="0">
                <a:solidFill>
                  <a:schemeClr val="accent5"/>
                </a:solidFill>
              </a:rPr>
              <a:t>Hij zit te bellen.</a:t>
            </a:r>
            <a:endParaRPr lang="en-US" sz="1500" dirty="0"/>
          </a:p>
        </p:txBody>
      </p:sp>
      <p:sp>
        <p:nvSpPr>
          <p:cNvPr id="28" name="Text 19"/>
          <p:cNvSpPr txBox="1"/>
          <p:nvPr/>
        </p:nvSpPr>
        <p:spPr>
          <a:xfrm>
            <a:off x="7222998" y="2392261"/>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Hij </a:t>
            </a:r>
            <a:r>
              <a:rPr lang="en-US" sz="1700" b="1" i="1" dirty="0">
                <a:solidFill>
                  <a:schemeClr val="accent3"/>
                </a:solidFill>
              </a:rPr>
              <a:t>heeft zitten bellen</a:t>
            </a:r>
            <a:r>
              <a:rPr lang="en-US" sz="1700" i="1" dirty="0">
                <a:solidFill>
                  <a:schemeClr val="tx1"/>
                </a:solidFill>
              </a:rPr>
              <a:t>.</a:t>
            </a:r>
            <a:endParaRPr lang="en-US" sz="1700" dirty="0"/>
          </a:p>
        </p:txBody>
      </p:sp>
      <p:sp>
        <p:nvSpPr>
          <p:cNvPr id="29" name="Shape 20"/>
          <p:cNvSpPr/>
          <p:nvPr/>
        </p:nvSpPr>
        <p:spPr>
          <a:xfrm>
            <a:off x="6231636" y="2960370"/>
            <a:ext cx="5408676" cy="899922"/>
          </a:xfrm>
          <a:prstGeom prst="roundRect">
            <a:avLst>
              <a:gd name="adj" fmla="val 10161"/>
            </a:avLst>
          </a:prstGeom>
          <a:solidFill>
            <a:srgbClr val="FFFFFF"/>
          </a:solidFill>
          <a:ln w="9525">
            <a:solidFill>
              <a:srgbClr val="D5DCE6"/>
            </a:solidFill>
            <a:prstDash val="solid"/>
          </a:ln>
        </p:spPr>
      </p:sp>
      <p:pic>
        <p:nvPicPr>
          <p:cNvPr id="30" name="Image 6" descr="ear">    </p:cNvPr>
          <p:cNvPicPr>
            <a:picLocks noChangeAspect="1"/>
          </p:cNvPicPr>
          <p:nvPr/>
        </p:nvPicPr>
        <p:blipFill>
          <a:blip r:embed="rId7"/>
          <a:stretch>
            <a:fillRect/>
          </a:stretch>
        </p:blipFill>
        <p:spPr>
          <a:xfrm>
            <a:off x="6323076" y="3015234"/>
            <a:ext cx="790194" cy="790194"/>
          </a:xfrm>
          <a:prstGeom prst="rect">
            <a:avLst/>
          </a:prstGeom>
        </p:spPr>
      </p:pic>
      <p:sp>
        <p:nvSpPr>
          <p:cNvPr id="31" name="Text 21"/>
          <p:cNvSpPr txBox="1"/>
          <p:nvPr/>
        </p:nvSpPr>
        <p:spPr>
          <a:xfrm>
            <a:off x="7222998" y="2978658"/>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6</a:t>
            </a:r>
            <a:r>
              <a:rPr lang="en-US" sz="1500" dirty="0">
                <a:solidFill>
                  <a:schemeClr val="accent5"/>
                </a:solidFill>
              </a:rPr>
              <a:t>  </a:t>
            </a:r>
            <a:r>
              <a:rPr lang="en-US" sz="1500" i="1" dirty="0">
                <a:solidFill>
                  <a:schemeClr val="accent5"/>
                </a:solidFill>
              </a:rPr>
              <a:t>Ik hoor de kinderen lachen.</a:t>
            </a:r>
            <a:endParaRPr lang="en-US" sz="1500" dirty="0"/>
          </a:p>
        </p:txBody>
      </p:sp>
      <p:sp>
        <p:nvSpPr>
          <p:cNvPr id="32" name="Text 22"/>
          <p:cNvSpPr txBox="1"/>
          <p:nvPr/>
        </p:nvSpPr>
        <p:spPr>
          <a:xfrm>
            <a:off x="7222998" y="3383623"/>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chemeClr val="accent3"/>
                </a:solidFill>
              </a:rPr>
              <a:t>heb</a:t>
            </a:r>
            <a:r>
              <a:rPr lang="en-US" sz="1700" i="1" dirty="0">
                <a:solidFill>
                  <a:schemeClr val="tx1"/>
                </a:solidFill>
              </a:rPr>
              <a:t> de kinderen </a:t>
            </a:r>
            <a:r>
              <a:rPr lang="en-US" sz="1700" b="1" i="1" dirty="0">
                <a:solidFill>
                  <a:schemeClr val="accent3"/>
                </a:solidFill>
              </a:rPr>
              <a:t>horen lachen</a:t>
            </a:r>
            <a:r>
              <a:rPr lang="en-US" sz="1700" i="1" dirty="0">
                <a:solidFill>
                  <a:schemeClr val="tx1"/>
                </a:solidFill>
              </a:rPr>
              <a:t>.</a:t>
            </a:r>
            <a:endParaRPr lang="en-US" sz="1700" dirty="0"/>
          </a:p>
        </p:txBody>
      </p:sp>
      <p:sp>
        <p:nvSpPr>
          <p:cNvPr id="33" name="Shape 23"/>
          <p:cNvSpPr/>
          <p:nvPr/>
        </p:nvSpPr>
        <p:spPr>
          <a:xfrm>
            <a:off x="6231636" y="3951732"/>
            <a:ext cx="5408676" cy="899922"/>
          </a:xfrm>
          <a:prstGeom prst="roundRect">
            <a:avLst>
              <a:gd name="adj" fmla="val 10161"/>
            </a:avLst>
          </a:prstGeom>
          <a:solidFill>
            <a:schemeClr val="bg2"/>
          </a:solidFill>
          <a:ln w="9525">
            <a:solidFill>
              <a:srgbClr val="D5DCE6"/>
            </a:solidFill>
            <a:prstDash val="solid"/>
          </a:ln>
        </p:spPr>
      </p:sp>
      <p:pic>
        <p:nvPicPr>
          <p:cNvPr id="34" name="Image 7" descr="fork and knife with plate">    </p:cNvPr>
          <p:cNvPicPr>
            <a:picLocks noChangeAspect="1"/>
          </p:cNvPicPr>
          <p:nvPr/>
        </p:nvPicPr>
        <p:blipFill>
          <a:blip r:embed="rId8"/>
          <a:stretch>
            <a:fillRect/>
          </a:stretch>
        </p:blipFill>
        <p:spPr>
          <a:xfrm>
            <a:off x="6323076" y="4006596"/>
            <a:ext cx="790194" cy="790194"/>
          </a:xfrm>
          <a:prstGeom prst="rect">
            <a:avLst/>
          </a:prstGeom>
        </p:spPr>
      </p:pic>
      <p:sp>
        <p:nvSpPr>
          <p:cNvPr id="35" name="Text 24"/>
          <p:cNvSpPr txBox="1"/>
          <p:nvPr/>
        </p:nvSpPr>
        <p:spPr>
          <a:xfrm>
            <a:off x="7222998" y="3970020"/>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7</a:t>
            </a:r>
            <a:r>
              <a:rPr lang="en-US" sz="1500" dirty="0">
                <a:solidFill>
                  <a:schemeClr val="accent5"/>
                </a:solidFill>
              </a:rPr>
              <a:t>  </a:t>
            </a:r>
            <a:r>
              <a:rPr lang="en-US" sz="1500" i="1" dirty="0">
                <a:solidFill>
                  <a:schemeClr val="accent5"/>
                </a:solidFill>
              </a:rPr>
              <a:t>Ze komen eten.</a:t>
            </a:r>
            <a:endParaRPr lang="en-US" sz="1500" dirty="0"/>
          </a:p>
        </p:txBody>
      </p:sp>
      <p:sp>
        <p:nvSpPr>
          <p:cNvPr id="36" name="Text 25"/>
          <p:cNvSpPr txBox="1"/>
          <p:nvPr/>
        </p:nvSpPr>
        <p:spPr>
          <a:xfrm>
            <a:off x="7222998" y="4374985"/>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Ze </a:t>
            </a:r>
            <a:r>
              <a:rPr lang="en-US" sz="1700" b="1" i="1" dirty="0">
                <a:solidFill>
                  <a:schemeClr val="accent3"/>
                </a:solidFill>
              </a:rPr>
              <a:t>zijn komen eten</a:t>
            </a:r>
            <a:r>
              <a:rPr lang="en-US" sz="1700" i="1" dirty="0">
                <a:solidFill>
                  <a:schemeClr val="tx1"/>
                </a:solidFill>
              </a:rPr>
              <a:t>.</a:t>
            </a:r>
            <a:endParaRPr lang="en-US" sz="1700" dirty="0"/>
          </a:p>
        </p:txBody>
      </p:sp>
      <p:sp>
        <p:nvSpPr>
          <p:cNvPr id="37" name="Shape 26"/>
          <p:cNvSpPr/>
          <p:nvPr/>
        </p:nvSpPr>
        <p:spPr>
          <a:xfrm>
            <a:off x="6231636" y="4943094"/>
            <a:ext cx="5408676" cy="899922"/>
          </a:xfrm>
          <a:prstGeom prst="roundRect">
            <a:avLst>
              <a:gd name="adj" fmla="val 10161"/>
            </a:avLst>
          </a:prstGeom>
          <a:solidFill>
            <a:srgbClr val="FFFFFF"/>
          </a:solidFill>
          <a:ln w="9525">
            <a:solidFill>
              <a:srgbClr val="D5DCE6"/>
            </a:solidFill>
            <a:prstDash val="solid"/>
          </a:ln>
        </p:spPr>
      </p:sp>
      <p:pic>
        <p:nvPicPr>
          <p:cNvPr id="38" name="Image 8" descr="door">    </p:cNvPr>
          <p:cNvPicPr>
            <a:picLocks noChangeAspect="1"/>
          </p:cNvPicPr>
          <p:nvPr/>
        </p:nvPicPr>
        <p:blipFill>
          <a:blip r:embed="rId9"/>
          <a:stretch>
            <a:fillRect/>
          </a:stretch>
        </p:blipFill>
        <p:spPr>
          <a:xfrm>
            <a:off x="6323076" y="4997958"/>
            <a:ext cx="790194" cy="790194"/>
          </a:xfrm>
          <a:prstGeom prst="rect">
            <a:avLst/>
          </a:prstGeom>
        </p:spPr>
      </p:pic>
      <p:sp>
        <p:nvSpPr>
          <p:cNvPr id="39" name="Text 27"/>
          <p:cNvSpPr txBox="1"/>
          <p:nvPr/>
        </p:nvSpPr>
        <p:spPr>
          <a:xfrm>
            <a:off x="7222998" y="4961382"/>
            <a:ext cx="4325874" cy="404965"/>
          </a:xfrm>
          <a:prstGeom prst="rect">
            <a:avLst/>
          </a:prstGeom>
          <a:noFill/>
          <a:ln/>
        </p:spPr>
        <p:txBody>
          <a:bodyPr wrap="square" lIns="0" tIns="0" rIns="0" bIns="0" rtlCol="0" anchor="ctr"/>
          <a:lstStyle/>
          <a:p>
            <a:pPr algn="l" indent="0" marL="0">
              <a:buNone/>
            </a:pPr>
            <a:r>
              <a:rPr lang="en-US" sz="1500" b="1" dirty="0">
                <a:solidFill>
                  <a:schemeClr val="accent5"/>
                </a:solidFill>
              </a:rPr>
              <a:t>8</a:t>
            </a:r>
            <a:r>
              <a:rPr lang="en-US" sz="1500" dirty="0">
                <a:solidFill>
                  <a:schemeClr val="accent5"/>
                </a:solidFill>
              </a:rPr>
              <a:t>  </a:t>
            </a:r>
            <a:r>
              <a:rPr lang="en-US" sz="1500" i="1" dirty="0">
                <a:solidFill>
                  <a:schemeClr val="accent5"/>
                </a:solidFill>
              </a:rPr>
              <a:t>Je mag vroeg vertrekken.</a:t>
            </a:r>
            <a:endParaRPr lang="en-US" sz="1500" dirty="0"/>
          </a:p>
        </p:txBody>
      </p:sp>
      <p:sp>
        <p:nvSpPr>
          <p:cNvPr id="40" name="Text 28"/>
          <p:cNvSpPr txBox="1"/>
          <p:nvPr/>
        </p:nvSpPr>
        <p:spPr>
          <a:xfrm>
            <a:off x="7222998" y="5366347"/>
            <a:ext cx="4325874" cy="494957"/>
          </a:xfrm>
          <a:prstGeom prst="rect">
            <a:avLst/>
          </a:prstGeom>
          <a:noFill/>
          <a:ln/>
        </p:spPr>
        <p:txBody>
          <a:bodyPr wrap="square" lIns="0" tIns="0" rIns="0" bIns="0" rtlCol="0" anchor="ctr"/>
          <a:lstStyle/>
          <a:p>
            <a:pPr algn="l" indent="0" marL="0">
              <a:buNone/>
            </a:pPr>
            <a:r>
              <a:rPr lang="en-US" sz="1700" i="1" dirty="0">
                <a:solidFill>
                  <a:schemeClr val="tx1"/>
                </a:solidFill>
              </a:rPr>
              <a:t>Je </a:t>
            </a:r>
            <a:r>
              <a:rPr lang="en-US" sz="1700" b="1" i="1" dirty="0">
                <a:solidFill>
                  <a:schemeClr val="accent3"/>
                </a:solidFill>
              </a:rPr>
              <a:t>hebt</a:t>
            </a:r>
            <a:r>
              <a:rPr lang="en-US" sz="1700" i="1" dirty="0">
                <a:solidFill>
                  <a:schemeClr val="tx1"/>
                </a:solidFill>
              </a:rPr>
              <a:t> vroeg </a:t>
            </a:r>
            <a:r>
              <a:rPr lang="en-US" sz="1700" b="1" i="1" dirty="0">
                <a:solidFill>
                  <a:schemeClr val="accent3"/>
                </a:solidFill>
              </a:rPr>
              <a:t>mogen vertrekken</a:t>
            </a:r>
            <a:r>
              <a:rPr lang="en-US" sz="1700" i="1"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Hebben of zijn?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bonne forme de </a:t>
            </a:r>
            <a:r>
              <a:rPr lang="en-US" sz="1700" i="1" dirty="0">
                <a:solidFill>
                  <a:schemeClr val="accent5"/>
                </a:solidFill>
              </a:rPr>
              <a:t>hebben</a:t>
            </a:r>
            <a:r>
              <a:rPr lang="en-US" sz="1700" i="1" dirty="0">
                <a:solidFill>
                  <a:schemeClr val="accent5"/>
                </a:solidFill>
              </a:rPr>
              <a:t> ou </a:t>
            </a:r>
            <a:r>
              <a:rPr lang="en-US" sz="1700" i="1" dirty="0">
                <a:solidFill>
                  <a:schemeClr val="accent5"/>
                </a:solidFill>
              </a:rPr>
              <a:t>zijn</a:t>
            </a:r>
            <a:r>
              <a:rPr lang="en-US" sz="1700" i="1" dirty="0">
                <a:solidFill>
                  <a:schemeClr val="accent5"/>
                </a:solidFill>
              </a:rPr>
              <a:t>. Regardez le premier verbe du train !</a:t>
            </a:r>
            <a:endParaRPr lang="en-US" sz="1700" dirty="0"/>
          </a:p>
        </p:txBody>
      </p:sp>
      <p:sp>
        <p:nvSpPr>
          <p:cNvPr id="8" name="Text 4"/>
          <p:cNvSpPr txBox="1"/>
          <p:nvPr/>
        </p:nvSpPr>
        <p:spPr>
          <a:xfrm>
            <a:off x="548640" y="2069592"/>
            <a:ext cx="5340096" cy="3931920"/>
          </a:xfrm>
          <a:prstGeom prst="rect">
            <a:avLst/>
          </a:prstGeom>
          <a:noFill/>
          <a:ln/>
        </p:spPr>
        <p:txBody>
          <a:bodyPr wrap="square" lIns="0" tIns="0" rIns="0" bIns="0" rtlCol="0" anchor="t"/>
          <a:lstStyle/>
          <a:p>
            <a:pPr indent="0" marL="0">
              <a:spcAft>
                <a:spcPts val="2200"/>
              </a:spcAft>
              <a:buNone/>
            </a:pPr>
            <a:r>
              <a:rPr lang="en-US" sz="2100" b="1" dirty="0">
                <a:solidFill>
                  <a:schemeClr val="tx2"/>
                </a:solidFill>
              </a:rPr>
              <a:t>1  </a:t>
            </a:r>
            <a:r>
              <a:rPr lang="en-US" sz="2100" i="1" dirty="0">
                <a:solidFill>
                  <a:schemeClr val="tx1"/>
                </a:solidFill>
              </a:rPr>
              <a:t>Ik </a:t>
            </a:r>
            <a:r>
              <a:rPr lang="en-US" sz="2100" i="1" dirty="0">
                <a:solidFill>
                  <a:schemeClr val="accent5"/>
                </a:solidFill>
              </a:rPr>
              <a:t>…………</a:t>
            </a:r>
            <a:r>
              <a:rPr lang="en-US" sz="2100" i="1" dirty="0">
                <a:solidFill>
                  <a:schemeClr val="tx1"/>
                </a:solidFill>
              </a:rPr>
              <a:t> gaan wandelen.</a:t>
            </a:r>
            <a:endParaRPr lang="en-US" sz="2100" dirty="0"/>
          </a:p>
          <a:p>
            <a:pPr indent="0" marL="0">
              <a:spcAft>
                <a:spcPts val="2200"/>
              </a:spcAft>
              <a:buNone/>
            </a:pPr>
            <a:r>
              <a:rPr lang="en-US" sz="2100" b="1" dirty="0">
                <a:solidFill>
                  <a:schemeClr val="tx2"/>
                </a:solidFill>
              </a:rPr>
              <a:t>2  </a:t>
            </a:r>
            <a:r>
              <a:rPr lang="en-US" sz="2100" i="1" dirty="0">
                <a:solidFill>
                  <a:schemeClr val="tx1"/>
                </a:solidFill>
              </a:rPr>
              <a:t>We </a:t>
            </a:r>
            <a:r>
              <a:rPr lang="en-US" sz="2100" i="1" dirty="0">
                <a:solidFill>
                  <a:schemeClr val="accent5"/>
                </a:solidFill>
              </a:rPr>
              <a:t>…………</a:t>
            </a:r>
            <a:r>
              <a:rPr lang="en-US" sz="2100" i="1" dirty="0">
                <a:solidFill>
                  <a:schemeClr val="tx1"/>
                </a:solidFill>
              </a:rPr>
              <a:t> lang moeten wachten.</a:t>
            </a:r>
            <a:endParaRPr lang="en-US" sz="2100" dirty="0"/>
          </a:p>
          <a:p>
            <a:pPr indent="0" marL="0">
              <a:spcAft>
                <a:spcPts val="2200"/>
              </a:spcAft>
              <a:buNone/>
            </a:pPr>
            <a:r>
              <a:rPr lang="en-US" sz="2100" b="1" dirty="0">
                <a:solidFill>
                  <a:schemeClr val="tx2"/>
                </a:solidFill>
              </a:rPr>
              <a:t>3  </a:t>
            </a:r>
            <a:r>
              <a:rPr lang="en-US" sz="2100" i="1" dirty="0">
                <a:solidFill>
                  <a:schemeClr val="tx1"/>
                </a:solidFill>
              </a:rPr>
              <a:t>Hij </a:t>
            </a:r>
            <a:r>
              <a:rPr lang="en-US" sz="2100" i="1" dirty="0">
                <a:solidFill>
                  <a:schemeClr val="accent5"/>
                </a:solidFill>
              </a:rPr>
              <a:t>…………</a:t>
            </a:r>
            <a:r>
              <a:rPr lang="en-US" sz="2100" i="1" dirty="0">
                <a:solidFill>
                  <a:schemeClr val="tx1"/>
                </a:solidFill>
              </a:rPr>
              <a:t> blijven slapen.</a:t>
            </a:r>
            <a:endParaRPr lang="en-US" sz="2100" dirty="0"/>
          </a:p>
          <a:p>
            <a:pPr indent="0" marL="0">
              <a:spcAft>
                <a:spcPts val="2200"/>
              </a:spcAft>
              <a:buNone/>
            </a:pPr>
            <a:r>
              <a:rPr lang="en-US" sz="2100" b="1" dirty="0">
                <a:solidFill>
                  <a:schemeClr val="tx2"/>
                </a:solidFill>
              </a:rPr>
              <a:t>4  </a:t>
            </a:r>
            <a:r>
              <a:rPr lang="en-US" sz="2100" i="1" dirty="0">
                <a:solidFill>
                  <a:schemeClr val="tx1"/>
                </a:solidFill>
              </a:rPr>
              <a:t>Ze </a:t>
            </a:r>
            <a:r>
              <a:rPr lang="en-US" sz="2100" i="1" dirty="0">
                <a:solidFill>
                  <a:schemeClr val="accent5"/>
                </a:solidFill>
              </a:rPr>
              <a:t>…………</a:t>
            </a:r>
            <a:r>
              <a:rPr lang="en-US" sz="2100" i="1" dirty="0">
                <a:solidFill>
                  <a:schemeClr val="tx1"/>
                </a:solidFill>
              </a:rPr>
              <a:t> haar haar laten knippen.</a:t>
            </a:r>
            <a:endParaRPr lang="en-US" sz="2100" dirty="0"/>
          </a:p>
        </p:txBody>
      </p:sp>
      <p:sp>
        <p:nvSpPr>
          <p:cNvPr id="9" name="Text 5"/>
          <p:cNvSpPr txBox="1"/>
          <p:nvPr/>
        </p:nvSpPr>
        <p:spPr>
          <a:xfrm>
            <a:off x="6300216" y="2069592"/>
            <a:ext cx="5340096" cy="3931920"/>
          </a:xfrm>
          <a:prstGeom prst="rect">
            <a:avLst/>
          </a:prstGeom>
          <a:noFill/>
          <a:ln/>
        </p:spPr>
        <p:txBody>
          <a:bodyPr wrap="square" lIns="0" tIns="0" rIns="0" bIns="0" rtlCol="0" anchor="t"/>
          <a:lstStyle/>
          <a:p>
            <a:pPr indent="0" marL="0">
              <a:spcAft>
                <a:spcPts val="2200"/>
              </a:spcAft>
              <a:buNone/>
            </a:pPr>
            <a:r>
              <a:rPr lang="en-US" sz="2100" b="1" dirty="0">
                <a:solidFill>
                  <a:schemeClr val="tx2"/>
                </a:solidFill>
              </a:rPr>
              <a:t>5  </a:t>
            </a:r>
            <a:r>
              <a:rPr lang="en-US" sz="2100" i="1" dirty="0">
                <a:solidFill>
                  <a:schemeClr val="tx1"/>
                </a:solidFill>
              </a:rPr>
              <a:t>Jullie </a:t>
            </a:r>
            <a:r>
              <a:rPr lang="en-US" sz="2100" i="1" dirty="0">
                <a:solidFill>
                  <a:schemeClr val="accent5"/>
                </a:solidFill>
              </a:rPr>
              <a:t>…………</a:t>
            </a:r>
            <a:r>
              <a:rPr lang="en-US" sz="2100" i="1" dirty="0">
                <a:solidFill>
                  <a:schemeClr val="tx1"/>
                </a:solidFill>
              </a:rPr>
              <a:t> komen helpen.</a:t>
            </a:r>
            <a:endParaRPr lang="en-US" sz="2100" dirty="0"/>
          </a:p>
          <a:p>
            <a:pPr indent="0" marL="0">
              <a:spcAft>
                <a:spcPts val="2200"/>
              </a:spcAft>
              <a:buNone/>
            </a:pPr>
            <a:r>
              <a:rPr lang="en-US" sz="2100" b="1" dirty="0">
                <a:solidFill>
                  <a:schemeClr val="tx2"/>
                </a:solidFill>
              </a:rPr>
              <a:t>6  </a:t>
            </a:r>
            <a:r>
              <a:rPr lang="en-US" sz="2100" i="1" dirty="0">
                <a:solidFill>
                  <a:schemeClr val="tx1"/>
                </a:solidFill>
              </a:rPr>
              <a:t>Ik </a:t>
            </a:r>
            <a:r>
              <a:rPr lang="en-US" sz="2100" i="1" dirty="0">
                <a:solidFill>
                  <a:schemeClr val="accent5"/>
                </a:solidFill>
              </a:rPr>
              <a:t>…………</a:t>
            </a:r>
            <a:r>
              <a:rPr lang="en-US" sz="2100" i="1" dirty="0">
                <a:solidFill>
                  <a:schemeClr val="tx1"/>
                </a:solidFill>
              </a:rPr>
              <a:t> een uur zitten wachten.</a:t>
            </a:r>
            <a:endParaRPr lang="en-US" sz="2100" dirty="0"/>
          </a:p>
          <a:p>
            <a:pPr indent="0" marL="0">
              <a:spcAft>
                <a:spcPts val="2200"/>
              </a:spcAft>
              <a:buNone/>
            </a:pPr>
            <a:r>
              <a:rPr lang="en-US" sz="2100" b="1" dirty="0">
                <a:solidFill>
                  <a:schemeClr val="tx2"/>
                </a:solidFill>
              </a:rPr>
              <a:t>7  </a:t>
            </a:r>
            <a:r>
              <a:rPr lang="en-US" sz="2100" i="1" dirty="0">
                <a:solidFill>
                  <a:schemeClr val="tx1"/>
                </a:solidFill>
              </a:rPr>
              <a:t>Ze </a:t>
            </a:r>
            <a:r>
              <a:rPr lang="en-US" sz="2100" i="1" dirty="0">
                <a:solidFill>
                  <a:schemeClr val="accent5"/>
                </a:solidFill>
              </a:rPr>
              <a:t>…………</a:t>
            </a:r>
            <a:r>
              <a:rPr lang="en-US" sz="2100" i="1" dirty="0">
                <a:solidFill>
                  <a:schemeClr val="tx1"/>
                </a:solidFill>
              </a:rPr>
              <a:t> niet kunnen slapen.</a:t>
            </a:r>
            <a:endParaRPr lang="en-US" sz="2100" dirty="0"/>
          </a:p>
          <a:p>
            <a:pPr indent="0" marL="0">
              <a:spcAft>
                <a:spcPts val="2200"/>
              </a:spcAft>
              <a:buNone/>
            </a:pPr>
            <a:r>
              <a:rPr lang="en-US" sz="2100" b="1" dirty="0">
                <a:solidFill>
                  <a:schemeClr val="tx2"/>
                </a:solidFill>
              </a:rPr>
              <a:t>8  </a:t>
            </a:r>
            <a:r>
              <a:rPr lang="en-US" sz="2100" i="1" dirty="0">
                <a:solidFill>
                  <a:schemeClr val="tx1"/>
                </a:solidFill>
              </a:rPr>
              <a:t>Ik </a:t>
            </a:r>
            <a:r>
              <a:rPr lang="en-US" sz="2100" i="1" dirty="0">
                <a:solidFill>
                  <a:schemeClr val="accent5"/>
                </a:solidFill>
              </a:rPr>
              <a:t>…………</a:t>
            </a:r>
            <a:r>
              <a:rPr lang="en-US" sz="2100" i="1" dirty="0">
                <a:solidFill>
                  <a:schemeClr val="tx1"/>
                </a:solidFill>
              </a:rPr>
              <a:t> naar huis moeten gaan.</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Hebben of zijn?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bonne forme de </a:t>
            </a:r>
            <a:r>
              <a:rPr lang="en-US" sz="1700" i="1" dirty="0">
                <a:solidFill>
                  <a:schemeClr val="accent5"/>
                </a:solidFill>
              </a:rPr>
              <a:t>hebben</a:t>
            </a:r>
            <a:r>
              <a:rPr lang="en-US" sz="1700" i="1" dirty="0">
                <a:solidFill>
                  <a:schemeClr val="accent5"/>
                </a:solidFill>
              </a:rPr>
              <a:t> ou </a:t>
            </a:r>
            <a:r>
              <a:rPr lang="en-US" sz="1700" i="1" dirty="0">
                <a:solidFill>
                  <a:schemeClr val="accent5"/>
                </a:solidFill>
              </a:rPr>
              <a:t>zijn</a:t>
            </a:r>
            <a:r>
              <a:rPr lang="en-US" sz="1700" i="1" dirty="0">
                <a:solidFill>
                  <a:schemeClr val="accent5"/>
                </a:solidFill>
              </a:rPr>
              <a:t>. Regardez le premier verbe du train !</a:t>
            </a:r>
            <a:endParaRPr lang="en-US" sz="1700" dirty="0"/>
          </a:p>
        </p:txBody>
      </p:sp>
      <p:sp>
        <p:nvSpPr>
          <p:cNvPr id="9" name="Text 5"/>
          <p:cNvSpPr txBox="1"/>
          <p:nvPr/>
        </p:nvSpPr>
        <p:spPr>
          <a:xfrm>
            <a:off x="548640" y="2069592"/>
            <a:ext cx="5340096" cy="3931920"/>
          </a:xfrm>
          <a:prstGeom prst="rect">
            <a:avLst/>
          </a:prstGeom>
          <a:noFill/>
          <a:ln/>
        </p:spPr>
        <p:txBody>
          <a:bodyPr wrap="square" lIns="0" tIns="0" rIns="0" bIns="0" rtlCol="0" anchor="t"/>
          <a:lstStyle/>
          <a:p>
            <a:pPr indent="0" marL="0">
              <a:spcAft>
                <a:spcPts val="2200"/>
              </a:spcAft>
              <a:buNone/>
            </a:pPr>
            <a:r>
              <a:rPr lang="en-US" sz="2100" b="1" dirty="0">
                <a:solidFill>
                  <a:schemeClr val="tx2"/>
                </a:solidFill>
              </a:rPr>
              <a:t>1  </a:t>
            </a:r>
            <a:r>
              <a:rPr lang="en-US" sz="2100" i="1" dirty="0">
                <a:solidFill>
                  <a:schemeClr val="tx1"/>
                </a:solidFill>
              </a:rPr>
              <a:t>Ik </a:t>
            </a:r>
            <a:r>
              <a:rPr lang="en-US" sz="2100" b="1" i="1" dirty="0">
                <a:solidFill>
                  <a:schemeClr val="accent3"/>
                </a:solidFill>
              </a:rPr>
              <a:t>ben</a:t>
            </a:r>
            <a:r>
              <a:rPr lang="en-US" sz="2100" i="1" dirty="0">
                <a:solidFill>
                  <a:schemeClr val="tx1"/>
                </a:solidFill>
              </a:rPr>
              <a:t> gaan wandelen.</a:t>
            </a:r>
            <a:endParaRPr lang="en-US" sz="2100" dirty="0"/>
          </a:p>
          <a:p>
            <a:pPr indent="0" marL="0">
              <a:spcAft>
                <a:spcPts val="2200"/>
              </a:spcAft>
              <a:buNone/>
            </a:pPr>
            <a:r>
              <a:rPr lang="en-US" sz="2100" b="1" dirty="0">
                <a:solidFill>
                  <a:schemeClr val="tx2"/>
                </a:solidFill>
              </a:rPr>
              <a:t>2  </a:t>
            </a:r>
            <a:r>
              <a:rPr lang="en-US" sz="2100" i="1" dirty="0">
                <a:solidFill>
                  <a:schemeClr val="tx1"/>
                </a:solidFill>
              </a:rPr>
              <a:t>We </a:t>
            </a:r>
            <a:r>
              <a:rPr lang="en-US" sz="2100" b="1" i="1" dirty="0">
                <a:solidFill>
                  <a:schemeClr val="accent3"/>
                </a:solidFill>
              </a:rPr>
              <a:t>hebben</a:t>
            </a:r>
            <a:r>
              <a:rPr lang="en-US" sz="2100" i="1" dirty="0">
                <a:solidFill>
                  <a:schemeClr val="tx1"/>
                </a:solidFill>
              </a:rPr>
              <a:t> lang moeten wachten.</a:t>
            </a:r>
            <a:endParaRPr lang="en-US" sz="2100" dirty="0"/>
          </a:p>
          <a:p>
            <a:pPr indent="0" marL="0">
              <a:spcAft>
                <a:spcPts val="2200"/>
              </a:spcAft>
              <a:buNone/>
            </a:pPr>
            <a:r>
              <a:rPr lang="en-US" sz="2100" b="1" dirty="0">
                <a:solidFill>
                  <a:schemeClr val="tx2"/>
                </a:solidFill>
              </a:rPr>
              <a:t>3  </a:t>
            </a:r>
            <a:r>
              <a:rPr lang="en-US" sz="2100" i="1" dirty="0">
                <a:solidFill>
                  <a:schemeClr val="tx1"/>
                </a:solidFill>
              </a:rPr>
              <a:t>Hij </a:t>
            </a:r>
            <a:r>
              <a:rPr lang="en-US" sz="2100" b="1" i="1" dirty="0">
                <a:solidFill>
                  <a:schemeClr val="accent3"/>
                </a:solidFill>
              </a:rPr>
              <a:t>is</a:t>
            </a:r>
            <a:r>
              <a:rPr lang="en-US" sz="2100" i="1" dirty="0">
                <a:solidFill>
                  <a:schemeClr val="tx1"/>
                </a:solidFill>
              </a:rPr>
              <a:t> blijven slapen.</a:t>
            </a:r>
            <a:endParaRPr lang="en-US" sz="2100" dirty="0"/>
          </a:p>
          <a:p>
            <a:pPr indent="0" marL="0">
              <a:spcAft>
                <a:spcPts val="2200"/>
              </a:spcAft>
              <a:buNone/>
            </a:pPr>
            <a:r>
              <a:rPr lang="en-US" sz="2100" b="1" dirty="0">
                <a:solidFill>
                  <a:schemeClr val="tx2"/>
                </a:solidFill>
              </a:rPr>
              <a:t>4  </a:t>
            </a:r>
            <a:r>
              <a:rPr lang="en-US" sz="2100" i="1" dirty="0">
                <a:solidFill>
                  <a:schemeClr val="tx1"/>
                </a:solidFill>
              </a:rPr>
              <a:t>Ze </a:t>
            </a:r>
            <a:r>
              <a:rPr lang="en-US" sz="2100" b="1" i="1" dirty="0">
                <a:solidFill>
                  <a:schemeClr val="accent3"/>
                </a:solidFill>
              </a:rPr>
              <a:t>heeft</a:t>
            </a:r>
            <a:r>
              <a:rPr lang="en-US" sz="2100" i="1" dirty="0">
                <a:solidFill>
                  <a:schemeClr val="tx1"/>
                </a:solidFill>
              </a:rPr>
              <a:t> haar haar laten knippen.</a:t>
            </a:r>
            <a:endParaRPr lang="en-US" sz="2100" dirty="0"/>
          </a:p>
        </p:txBody>
      </p:sp>
      <p:sp>
        <p:nvSpPr>
          <p:cNvPr id="10" name="Text 6"/>
          <p:cNvSpPr txBox="1"/>
          <p:nvPr/>
        </p:nvSpPr>
        <p:spPr>
          <a:xfrm>
            <a:off x="6300216" y="2069592"/>
            <a:ext cx="5340096" cy="3931920"/>
          </a:xfrm>
          <a:prstGeom prst="rect">
            <a:avLst/>
          </a:prstGeom>
          <a:noFill/>
          <a:ln/>
        </p:spPr>
        <p:txBody>
          <a:bodyPr wrap="square" lIns="0" tIns="0" rIns="0" bIns="0" rtlCol="0" anchor="t"/>
          <a:lstStyle/>
          <a:p>
            <a:pPr indent="0" marL="0">
              <a:spcAft>
                <a:spcPts val="2200"/>
              </a:spcAft>
              <a:buNone/>
            </a:pPr>
            <a:r>
              <a:rPr lang="en-US" sz="2100" b="1" dirty="0">
                <a:solidFill>
                  <a:schemeClr val="tx2"/>
                </a:solidFill>
              </a:rPr>
              <a:t>5  </a:t>
            </a:r>
            <a:r>
              <a:rPr lang="en-US" sz="2100" i="1" dirty="0">
                <a:solidFill>
                  <a:schemeClr val="tx1"/>
                </a:solidFill>
              </a:rPr>
              <a:t>Jullie </a:t>
            </a:r>
            <a:r>
              <a:rPr lang="en-US" sz="2100" b="1" i="1" dirty="0">
                <a:solidFill>
                  <a:schemeClr val="accent3"/>
                </a:solidFill>
              </a:rPr>
              <a:t>zijn</a:t>
            </a:r>
            <a:r>
              <a:rPr lang="en-US" sz="2100" i="1" dirty="0">
                <a:solidFill>
                  <a:schemeClr val="tx1"/>
                </a:solidFill>
              </a:rPr>
              <a:t> komen helpen.</a:t>
            </a:r>
            <a:endParaRPr lang="en-US" sz="2100" dirty="0"/>
          </a:p>
          <a:p>
            <a:pPr indent="0" marL="0">
              <a:spcAft>
                <a:spcPts val="2200"/>
              </a:spcAft>
              <a:buNone/>
            </a:pPr>
            <a:r>
              <a:rPr lang="en-US" sz="2100" b="1" dirty="0">
                <a:solidFill>
                  <a:schemeClr val="tx2"/>
                </a:solidFill>
              </a:rPr>
              <a:t>6  </a:t>
            </a:r>
            <a:r>
              <a:rPr lang="en-US" sz="2100" i="1" dirty="0">
                <a:solidFill>
                  <a:schemeClr val="tx1"/>
                </a:solidFill>
              </a:rPr>
              <a:t>Ik </a:t>
            </a:r>
            <a:r>
              <a:rPr lang="en-US" sz="2100" b="1" i="1" dirty="0">
                <a:solidFill>
                  <a:schemeClr val="accent3"/>
                </a:solidFill>
              </a:rPr>
              <a:t>heb</a:t>
            </a:r>
            <a:r>
              <a:rPr lang="en-US" sz="2100" i="1" dirty="0">
                <a:solidFill>
                  <a:schemeClr val="tx1"/>
                </a:solidFill>
              </a:rPr>
              <a:t> een uur zitten wachten.</a:t>
            </a:r>
            <a:endParaRPr lang="en-US" sz="2100" dirty="0"/>
          </a:p>
          <a:p>
            <a:pPr indent="0" marL="0">
              <a:spcAft>
                <a:spcPts val="2200"/>
              </a:spcAft>
              <a:buNone/>
            </a:pPr>
            <a:r>
              <a:rPr lang="en-US" sz="2100" b="1" dirty="0">
                <a:solidFill>
                  <a:schemeClr val="tx2"/>
                </a:solidFill>
              </a:rPr>
              <a:t>7  </a:t>
            </a:r>
            <a:r>
              <a:rPr lang="en-US" sz="2100" i="1" dirty="0">
                <a:solidFill>
                  <a:schemeClr val="tx1"/>
                </a:solidFill>
              </a:rPr>
              <a:t>Ze </a:t>
            </a:r>
            <a:r>
              <a:rPr lang="en-US" sz="2100" b="1" i="1" dirty="0">
                <a:solidFill>
                  <a:schemeClr val="accent3"/>
                </a:solidFill>
              </a:rPr>
              <a:t>heeft</a:t>
            </a:r>
            <a:r>
              <a:rPr lang="en-US" sz="2100" i="1" dirty="0">
                <a:solidFill>
                  <a:schemeClr val="tx1"/>
                </a:solidFill>
              </a:rPr>
              <a:t> niet kunnen slapen.</a:t>
            </a:r>
            <a:endParaRPr lang="en-US" sz="2100" dirty="0"/>
          </a:p>
          <a:p>
            <a:pPr indent="0" marL="0">
              <a:spcAft>
                <a:spcPts val="2200"/>
              </a:spcAft>
              <a:buNone/>
            </a:pPr>
            <a:r>
              <a:rPr lang="en-US" sz="2100" b="1" dirty="0">
                <a:solidFill>
                  <a:schemeClr val="tx2"/>
                </a:solidFill>
              </a:rPr>
              <a:t>8  </a:t>
            </a:r>
            <a:r>
              <a:rPr lang="en-US" sz="2100" i="1" dirty="0">
                <a:solidFill>
                  <a:schemeClr val="tx1"/>
                </a:solidFill>
              </a:rPr>
              <a:t>Ik </a:t>
            </a:r>
            <a:r>
              <a:rPr lang="en-US" sz="2100" b="1" i="1" dirty="0">
                <a:solidFill>
                  <a:schemeClr val="accent3"/>
                </a:solidFill>
              </a:rPr>
              <a:t>heb</a:t>
            </a:r>
            <a:r>
              <a:rPr lang="en-US" sz="2100" i="1" dirty="0">
                <a:solidFill>
                  <a:schemeClr val="tx1"/>
                </a:solidFill>
              </a:rPr>
              <a:t> naar huis moeten gaan.</a:t>
            </a:r>
            <a:endParaRPr lang="en-US" sz="2100" dirty="0"/>
          </a:p>
        </p:txBody>
      </p:sp>
      <p:sp>
        <p:nvSpPr>
          <p:cNvPr id="11" name="Text 7"/>
          <p:cNvSpPr txBox="1"/>
          <p:nvPr/>
        </p:nvSpPr>
        <p:spPr>
          <a:xfrm>
            <a:off x="548640" y="5806440"/>
            <a:ext cx="11091672" cy="365760"/>
          </a:xfrm>
          <a:prstGeom prst="rect">
            <a:avLst/>
          </a:prstGeom>
          <a:noFill/>
          <a:ln/>
        </p:spPr>
        <p:txBody>
          <a:bodyPr wrap="square" lIns="0" tIns="0" rIns="0" bIns="0" rtlCol="0" anchor="t"/>
          <a:lstStyle/>
          <a:p>
            <a:pPr algn="ctr" indent="0" marL="0">
              <a:buNone/>
            </a:pPr>
            <a:r>
              <a:rPr lang="en-US" sz="1400" i="1" dirty="0">
                <a:solidFill>
                  <a:schemeClr val="accent5"/>
                </a:solidFill>
              </a:rPr>
              <a:t>N° 7 : </a:t>
            </a:r>
            <a:r>
              <a:rPr lang="en-US" sz="1400" i="1" dirty="0">
                <a:solidFill>
                  <a:schemeClr val="accent5"/>
                </a:solidFill>
              </a:rPr>
              <a:t>ze</a:t>
            </a:r>
            <a:r>
              <a:rPr lang="en-US" sz="1400" i="1" dirty="0">
                <a:solidFill>
                  <a:schemeClr val="accent5"/>
                </a:solidFill>
              </a:rPr>
              <a:t> pluriel → </a:t>
            </a:r>
            <a:r>
              <a:rPr lang="en-US" sz="1400" i="1" dirty="0">
                <a:solidFill>
                  <a:schemeClr val="accent5"/>
                </a:solidFill>
              </a:rPr>
              <a:t>hebben</a:t>
            </a:r>
            <a:r>
              <a:rPr lang="en-US" sz="1400" i="1" dirty="0">
                <a:solidFill>
                  <a:schemeClr val="accent5"/>
                </a:solidFill>
              </a:rPr>
              <a:t>. N° 8 : </a:t>
            </a:r>
            <a:r>
              <a:rPr lang="en-US" sz="1400" i="1" dirty="0">
                <a:solidFill>
                  <a:schemeClr val="accent5"/>
                </a:solidFill>
              </a:rPr>
              <a:t>moeten</a:t>
            </a:r>
            <a:r>
              <a:rPr lang="en-US" sz="1400" i="1" dirty="0">
                <a:solidFill>
                  <a:schemeClr val="accent5"/>
                </a:solidFill>
              </a:rPr>
              <a:t> décide → </a:t>
            </a:r>
            <a:r>
              <a:rPr lang="en-US" sz="1400" i="1" dirty="0">
                <a:solidFill>
                  <a:schemeClr val="accent5"/>
                </a:solidFill>
              </a:rPr>
              <a:t>heb</a:t>
            </a:r>
            <a:r>
              <a:rPr lang="en-US" sz="1400" i="1" dirty="0">
                <a:solidFill>
                  <a:schemeClr val="accent5"/>
                </a:solidFill>
              </a:rPr>
              <a:t> (</a:t>
            </a:r>
            <a:r>
              <a:rPr lang="en-US" sz="1400" i="1" dirty="0">
                <a:solidFill>
                  <a:schemeClr val="accent5"/>
                </a:solidFill>
              </a:rPr>
              <a:t>ben</a:t>
            </a:r>
            <a:r>
              <a:rPr lang="en-US" sz="1400" i="1" dirty="0">
                <a:solidFill>
                  <a:schemeClr val="accent5"/>
                </a:solidFill>
              </a:rPr>
              <a:t> est aussi correct en Belgique).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Participe ou infinitif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Choisissez la bonne forme. Seul ? Avec te ? Avec un infinitif ?</a:t>
            </a:r>
            <a:endParaRPr lang="en-US" sz="1700" dirty="0"/>
          </a:p>
        </p:txBody>
      </p:sp>
      <p:sp>
        <p:nvSpPr>
          <p:cNvPr id="8" name="Text 4"/>
          <p:cNvSpPr txBox="1"/>
          <p:nvPr/>
        </p:nvSpPr>
        <p:spPr>
          <a:xfrm>
            <a:off x="548640" y="2069592"/>
            <a:ext cx="5340096" cy="3931920"/>
          </a:xfrm>
          <a:prstGeom prst="rect">
            <a:avLst/>
          </a:prstGeom>
          <a:noFill/>
          <a:ln/>
        </p:spPr>
        <p:txBody>
          <a:bodyPr wrap="square" lIns="0" tIns="0" rIns="0" bIns="0" rtlCol="0" anchor="t"/>
          <a:lstStyle/>
          <a:p>
            <a:pPr indent="0" marL="0">
              <a:spcAft>
                <a:spcPts val="2200"/>
              </a:spcAft>
              <a:buNone/>
            </a:pPr>
            <a:r>
              <a:rPr lang="en-US" sz="1900" b="1" dirty="0">
                <a:solidFill>
                  <a:schemeClr val="tx2"/>
                </a:solidFill>
              </a:rPr>
              <a:t>1  </a:t>
            </a:r>
            <a:r>
              <a:rPr lang="en-US" sz="1900" i="1" dirty="0">
                <a:solidFill>
                  <a:schemeClr val="tx1"/>
                </a:solidFill>
              </a:rPr>
              <a:t>Ik heb het niet </a:t>
            </a:r>
            <a:r>
              <a:rPr lang="en-US" sz="1900" i="1" dirty="0">
                <a:solidFill>
                  <a:schemeClr val="tx1"/>
                </a:solidFill>
              </a:rPr>
              <a:t>gekund</a:t>
            </a:r>
            <a:r>
              <a:rPr lang="en-US" sz="1900" i="1" dirty="0">
                <a:solidFill>
                  <a:schemeClr val="tx1"/>
                </a:solidFill>
              </a:rPr>
              <a:t> / </a:t>
            </a:r>
            <a:r>
              <a:rPr lang="en-US" sz="1900" i="1" dirty="0">
                <a:solidFill>
                  <a:schemeClr val="tx1"/>
                </a:solidFill>
              </a:rPr>
              <a:t>kunnen</a:t>
            </a:r>
            <a:r>
              <a:rPr lang="en-US" sz="1900" i="1" dirty="0">
                <a:solidFill>
                  <a:schemeClr val="tx1"/>
                </a:solidFill>
              </a:rPr>
              <a:t>.</a:t>
            </a:r>
            <a:endParaRPr lang="en-US" sz="1900" dirty="0"/>
          </a:p>
          <a:p>
            <a:pPr indent="0" marL="0">
              <a:spcAft>
                <a:spcPts val="2200"/>
              </a:spcAft>
              <a:buNone/>
            </a:pPr>
            <a:r>
              <a:rPr lang="en-US" sz="1900" b="1" dirty="0">
                <a:solidFill>
                  <a:schemeClr val="tx2"/>
                </a:solidFill>
              </a:rPr>
              <a:t>2  </a:t>
            </a:r>
            <a:r>
              <a:rPr lang="en-US" sz="1900" i="1" dirty="0">
                <a:solidFill>
                  <a:schemeClr val="tx1"/>
                </a:solidFill>
              </a:rPr>
              <a:t>Ik heb het niet </a:t>
            </a:r>
            <a:r>
              <a:rPr lang="en-US" sz="1900" i="1" dirty="0">
                <a:solidFill>
                  <a:schemeClr val="tx1"/>
                </a:solidFill>
              </a:rPr>
              <a:t>gekund</a:t>
            </a:r>
            <a:r>
              <a:rPr lang="en-US" sz="1900" i="1" dirty="0">
                <a:solidFill>
                  <a:schemeClr val="tx1"/>
                </a:solidFill>
              </a:rPr>
              <a:t> / </a:t>
            </a:r>
            <a:r>
              <a:rPr lang="en-US" sz="1900" i="1" dirty="0">
                <a:solidFill>
                  <a:schemeClr val="tx1"/>
                </a:solidFill>
              </a:rPr>
              <a:t>kunnen</a:t>
            </a:r>
            <a:r>
              <a:rPr lang="en-US" sz="1900" i="1" dirty="0">
                <a:solidFill>
                  <a:schemeClr val="tx1"/>
                </a:solidFill>
              </a:rPr>
              <a:t> doen.</a:t>
            </a:r>
            <a:endParaRPr lang="en-US" sz="1900" dirty="0"/>
          </a:p>
          <a:p>
            <a:pPr indent="0" marL="0">
              <a:spcAft>
                <a:spcPts val="2200"/>
              </a:spcAft>
              <a:buNone/>
            </a:pPr>
            <a:r>
              <a:rPr lang="en-US" sz="1900" b="1" dirty="0">
                <a:solidFill>
                  <a:schemeClr val="tx2"/>
                </a:solidFill>
              </a:rPr>
              <a:t>3  </a:t>
            </a:r>
            <a:r>
              <a:rPr lang="en-US" sz="1900" i="1" dirty="0">
                <a:solidFill>
                  <a:schemeClr val="tx1"/>
                </a:solidFill>
              </a:rPr>
              <a:t>Dat heb ik altijd </a:t>
            </a:r>
            <a:r>
              <a:rPr lang="en-US" sz="1900" i="1" dirty="0">
                <a:solidFill>
                  <a:schemeClr val="tx1"/>
                </a:solidFill>
              </a:rPr>
              <a:t>gewild</a:t>
            </a:r>
            <a:r>
              <a:rPr lang="en-US" sz="1900" i="1" dirty="0">
                <a:solidFill>
                  <a:schemeClr val="tx1"/>
                </a:solidFill>
              </a:rPr>
              <a:t> / </a:t>
            </a:r>
            <a:r>
              <a:rPr lang="en-US" sz="1900" i="1" dirty="0">
                <a:solidFill>
                  <a:schemeClr val="tx1"/>
                </a:solidFill>
              </a:rPr>
              <a:t>willen</a:t>
            </a:r>
            <a:r>
              <a:rPr lang="en-US" sz="1900" i="1" dirty="0">
                <a:solidFill>
                  <a:schemeClr val="tx1"/>
                </a:solidFill>
              </a:rPr>
              <a:t>.</a:t>
            </a:r>
            <a:endParaRPr lang="en-US" sz="1900" dirty="0"/>
          </a:p>
          <a:p>
            <a:pPr indent="0" marL="0">
              <a:spcAft>
                <a:spcPts val="2200"/>
              </a:spcAft>
              <a:buNone/>
            </a:pPr>
            <a:r>
              <a:rPr lang="en-US" sz="1900" b="1" dirty="0">
                <a:solidFill>
                  <a:schemeClr val="tx2"/>
                </a:solidFill>
              </a:rPr>
              <a:t>4  </a:t>
            </a:r>
            <a:r>
              <a:rPr lang="en-US" sz="1900" i="1" dirty="0">
                <a:solidFill>
                  <a:schemeClr val="tx1"/>
                </a:solidFill>
              </a:rPr>
              <a:t>Ik heb </a:t>
            </a:r>
            <a:r>
              <a:rPr lang="en-US" sz="1900" i="1" dirty="0">
                <a:solidFill>
                  <a:schemeClr val="tx1"/>
                </a:solidFill>
              </a:rPr>
              <a:t>geprobeerd</a:t>
            </a:r>
            <a:r>
              <a:rPr lang="en-US" sz="1900" i="1" dirty="0">
                <a:solidFill>
                  <a:schemeClr val="tx1"/>
                </a:solidFill>
              </a:rPr>
              <a:t> / </a:t>
            </a:r>
            <a:r>
              <a:rPr lang="en-US" sz="1900" i="1" dirty="0">
                <a:solidFill>
                  <a:schemeClr val="tx1"/>
                </a:solidFill>
              </a:rPr>
              <a:t>proberen</a:t>
            </a:r>
            <a:r>
              <a:rPr lang="en-US" sz="1900" i="1" dirty="0">
                <a:solidFill>
                  <a:schemeClr val="tx1"/>
                </a:solidFill>
              </a:rPr>
              <a:t> je te bellen.</a:t>
            </a:r>
            <a:endParaRPr lang="en-US" sz="1900" dirty="0"/>
          </a:p>
        </p:txBody>
      </p:sp>
      <p:sp>
        <p:nvSpPr>
          <p:cNvPr id="9" name="Text 5"/>
          <p:cNvSpPr txBox="1"/>
          <p:nvPr/>
        </p:nvSpPr>
        <p:spPr>
          <a:xfrm>
            <a:off x="6300216" y="2069592"/>
            <a:ext cx="5340096" cy="3931920"/>
          </a:xfrm>
          <a:prstGeom prst="rect">
            <a:avLst/>
          </a:prstGeom>
          <a:noFill/>
          <a:ln/>
        </p:spPr>
        <p:txBody>
          <a:bodyPr wrap="square" lIns="0" tIns="0" rIns="0" bIns="0" rtlCol="0" anchor="t"/>
          <a:lstStyle/>
          <a:p>
            <a:pPr indent="0" marL="0">
              <a:spcAft>
                <a:spcPts val="2200"/>
              </a:spcAft>
              <a:buNone/>
            </a:pPr>
            <a:r>
              <a:rPr lang="en-US" sz="1900" b="1" dirty="0">
                <a:solidFill>
                  <a:schemeClr val="tx2"/>
                </a:solidFill>
              </a:rPr>
              <a:t>5  </a:t>
            </a:r>
            <a:r>
              <a:rPr lang="en-US" sz="1900" i="1" dirty="0">
                <a:solidFill>
                  <a:schemeClr val="tx1"/>
                </a:solidFill>
              </a:rPr>
              <a:t>Ze heeft de hele dag </a:t>
            </a:r>
            <a:r>
              <a:rPr lang="en-US" sz="1900" i="1" dirty="0">
                <a:solidFill>
                  <a:schemeClr val="tx1"/>
                </a:solidFill>
              </a:rPr>
              <a:t>gezeten</a:t>
            </a:r>
            <a:r>
              <a:rPr lang="en-US" sz="1900" i="1" dirty="0">
                <a:solidFill>
                  <a:schemeClr val="tx1"/>
                </a:solidFill>
              </a:rPr>
              <a:t> / </a:t>
            </a:r>
            <a:r>
              <a:rPr lang="en-US" sz="1900" i="1" dirty="0">
                <a:solidFill>
                  <a:schemeClr val="tx1"/>
                </a:solidFill>
              </a:rPr>
              <a:t>zitten</a:t>
            </a:r>
            <a:r>
              <a:rPr lang="en-US" sz="1900" i="1" dirty="0">
                <a:solidFill>
                  <a:schemeClr val="tx1"/>
                </a:solidFill>
              </a:rPr>
              <a:t> studeren.</a:t>
            </a:r>
            <a:endParaRPr lang="en-US" sz="1900" dirty="0"/>
          </a:p>
          <a:p>
            <a:pPr indent="0" marL="0">
              <a:spcAft>
                <a:spcPts val="2200"/>
              </a:spcAft>
              <a:buNone/>
            </a:pPr>
            <a:r>
              <a:rPr lang="en-US" sz="1900" b="1" dirty="0">
                <a:solidFill>
                  <a:schemeClr val="tx2"/>
                </a:solidFill>
              </a:rPr>
              <a:t>6  </a:t>
            </a:r>
            <a:r>
              <a:rPr lang="en-US" sz="1900" i="1" dirty="0">
                <a:solidFill>
                  <a:schemeClr val="tx1"/>
                </a:solidFill>
              </a:rPr>
              <a:t>Ik heb mijn tas </a:t>
            </a:r>
            <a:r>
              <a:rPr lang="en-US" sz="1900" i="1" dirty="0">
                <a:solidFill>
                  <a:schemeClr val="tx1"/>
                </a:solidFill>
              </a:rPr>
              <a:t>gelaten</a:t>
            </a:r>
            <a:r>
              <a:rPr lang="en-US" sz="1900" i="1" dirty="0">
                <a:solidFill>
                  <a:schemeClr val="tx1"/>
                </a:solidFill>
              </a:rPr>
              <a:t> / </a:t>
            </a:r>
            <a:r>
              <a:rPr lang="en-US" sz="1900" i="1" dirty="0">
                <a:solidFill>
                  <a:schemeClr val="tx1"/>
                </a:solidFill>
              </a:rPr>
              <a:t>laten</a:t>
            </a:r>
            <a:r>
              <a:rPr lang="en-US" sz="1900" i="1" dirty="0">
                <a:solidFill>
                  <a:schemeClr val="tx1"/>
                </a:solidFill>
              </a:rPr>
              <a:t> vallen.</a:t>
            </a:r>
            <a:endParaRPr lang="en-US" sz="1900" dirty="0"/>
          </a:p>
          <a:p>
            <a:pPr indent="0" marL="0">
              <a:spcAft>
                <a:spcPts val="2200"/>
              </a:spcAft>
              <a:buNone/>
            </a:pPr>
            <a:r>
              <a:rPr lang="en-US" sz="1900" b="1" dirty="0">
                <a:solidFill>
                  <a:schemeClr val="tx2"/>
                </a:solidFill>
              </a:rPr>
              <a:t>7  </a:t>
            </a:r>
            <a:r>
              <a:rPr lang="en-US" sz="1900" i="1" dirty="0">
                <a:solidFill>
                  <a:schemeClr val="tx1"/>
                </a:solidFill>
              </a:rPr>
              <a:t>We hebben hem </a:t>
            </a:r>
            <a:r>
              <a:rPr lang="en-US" sz="1900" i="1" dirty="0">
                <a:solidFill>
                  <a:schemeClr val="tx1"/>
                </a:solidFill>
              </a:rPr>
              <a:t>gezien</a:t>
            </a:r>
            <a:r>
              <a:rPr lang="en-US" sz="1900" i="1" dirty="0">
                <a:solidFill>
                  <a:schemeClr val="tx1"/>
                </a:solidFill>
              </a:rPr>
              <a:t> / </a:t>
            </a:r>
            <a:r>
              <a:rPr lang="en-US" sz="1900" i="1" dirty="0">
                <a:solidFill>
                  <a:schemeClr val="tx1"/>
                </a:solidFill>
              </a:rPr>
              <a:t>zien</a:t>
            </a:r>
            <a:r>
              <a:rPr lang="en-US" sz="1900" i="1" dirty="0">
                <a:solidFill>
                  <a:schemeClr val="tx1"/>
                </a:solidFill>
              </a:rPr>
              <a:t> vertrekken.</a:t>
            </a:r>
            <a:endParaRPr lang="en-US" sz="1900" dirty="0"/>
          </a:p>
          <a:p>
            <a:pPr indent="0" marL="0">
              <a:spcAft>
                <a:spcPts val="2200"/>
              </a:spcAft>
              <a:buNone/>
            </a:pPr>
            <a:r>
              <a:rPr lang="en-US" sz="1900" b="1" dirty="0">
                <a:solidFill>
                  <a:schemeClr val="tx2"/>
                </a:solidFill>
              </a:rPr>
              <a:t>8  </a:t>
            </a:r>
            <a:r>
              <a:rPr lang="en-US" sz="1900" i="1" dirty="0">
                <a:solidFill>
                  <a:schemeClr val="tx1"/>
                </a:solidFill>
              </a:rPr>
              <a:t>Hij heeft </a:t>
            </a:r>
            <a:r>
              <a:rPr lang="en-US" sz="1900" i="1" dirty="0">
                <a:solidFill>
                  <a:schemeClr val="tx1"/>
                </a:solidFill>
              </a:rPr>
              <a:t>beloofd</a:t>
            </a:r>
            <a:r>
              <a:rPr lang="en-US" sz="1900" i="1" dirty="0">
                <a:solidFill>
                  <a:schemeClr val="tx1"/>
                </a:solidFill>
              </a:rPr>
              <a:t> / </a:t>
            </a:r>
            <a:r>
              <a:rPr lang="en-US" sz="1900" i="1" dirty="0">
                <a:solidFill>
                  <a:schemeClr val="tx1"/>
                </a:solidFill>
              </a:rPr>
              <a:t>beloven</a:t>
            </a:r>
            <a:r>
              <a:rPr lang="en-US" sz="1900" i="1" dirty="0">
                <a:solidFill>
                  <a:schemeClr val="tx1"/>
                </a:solidFill>
              </a:rPr>
              <a:t> te komen.</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Participe ou infinitif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Choisissez la bonne forme. Seul ? Avec te ? Avec un infinitif ?</a:t>
            </a:r>
            <a:endParaRPr lang="en-US" sz="1700" dirty="0"/>
          </a:p>
        </p:txBody>
      </p:sp>
      <p:sp>
        <p:nvSpPr>
          <p:cNvPr id="9" name="Text 5"/>
          <p:cNvSpPr txBox="1"/>
          <p:nvPr/>
        </p:nvSpPr>
        <p:spPr>
          <a:xfrm>
            <a:off x="548640" y="2069592"/>
            <a:ext cx="5340096" cy="3931920"/>
          </a:xfrm>
          <a:prstGeom prst="rect">
            <a:avLst/>
          </a:prstGeom>
          <a:noFill/>
          <a:ln/>
        </p:spPr>
        <p:txBody>
          <a:bodyPr wrap="square" lIns="0" tIns="0" rIns="0" bIns="0" rtlCol="0" anchor="t"/>
          <a:lstStyle/>
          <a:p>
            <a:pPr indent="0" marL="0">
              <a:spcAft>
                <a:spcPts val="2200"/>
              </a:spcAft>
              <a:buNone/>
            </a:pPr>
            <a:r>
              <a:rPr lang="en-US" sz="1900" b="1" dirty="0">
                <a:solidFill>
                  <a:schemeClr val="tx2"/>
                </a:solidFill>
              </a:rPr>
              <a:t>1  </a:t>
            </a:r>
            <a:r>
              <a:rPr lang="en-US" sz="1900" i="1" dirty="0">
                <a:solidFill>
                  <a:schemeClr val="tx1"/>
                </a:solidFill>
              </a:rPr>
              <a:t>Ik heb het niet </a:t>
            </a:r>
            <a:r>
              <a:rPr lang="en-US" sz="1900" b="1" i="1" dirty="0">
                <a:solidFill>
                  <a:schemeClr val="accent3"/>
                </a:solidFill>
              </a:rPr>
              <a:t>gekund</a:t>
            </a:r>
            <a:r>
              <a:rPr lang="en-US" sz="1900" i="1" dirty="0">
                <a:solidFill>
                  <a:schemeClr val="tx1"/>
                </a:solidFill>
              </a:rPr>
              <a:t> / </a:t>
            </a:r>
            <a:r>
              <a:rPr lang="en-US" sz="1900" i="1" strike="sngStrike" dirty="0">
                <a:solidFill>
                  <a:schemeClr val="accent6"/>
                </a:solidFill>
              </a:rPr>
              <a:t>kunnen</a:t>
            </a:r>
            <a:r>
              <a:rPr lang="en-US" sz="1900" i="1" dirty="0">
                <a:solidFill>
                  <a:schemeClr val="tx1"/>
                </a:solidFill>
              </a:rPr>
              <a:t>.</a:t>
            </a:r>
            <a:endParaRPr lang="en-US" sz="1900" dirty="0"/>
          </a:p>
          <a:p>
            <a:pPr indent="0" marL="0">
              <a:spcAft>
                <a:spcPts val="2200"/>
              </a:spcAft>
              <a:buNone/>
            </a:pPr>
            <a:r>
              <a:rPr lang="en-US" sz="1900" b="1" dirty="0">
                <a:solidFill>
                  <a:schemeClr val="tx2"/>
                </a:solidFill>
              </a:rPr>
              <a:t>2  </a:t>
            </a:r>
            <a:r>
              <a:rPr lang="en-US" sz="1900" i="1" dirty="0">
                <a:solidFill>
                  <a:schemeClr val="tx1"/>
                </a:solidFill>
              </a:rPr>
              <a:t>Ik heb het niet </a:t>
            </a:r>
            <a:r>
              <a:rPr lang="en-US" sz="1900" i="1" strike="sngStrike" dirty="0">
                <a:solidFill>
                  <a:schemeClr val="accent6"/>
                </a:solidFill>
              </a:rPr>
              <a:t>gekund</a:t>
            </a:r>
            <a:r>
              <a:rPr lang="en-US" sz="1900" i="1" dirty="0">
                <a:solidFill>
                  <a:schemeClr val="tx1"/>
                </a:solidFill>
              </a:rPr>
              <a:t> / </a:t>
            </a:r>
            <a:r>
              <a:rPr lang="en-US" sz="1900" b="1" i="1" dirty="0">
                <a:solidFill>
                  <a:schemeClr val="accent3"/>
                </a:solidFill>
              </a:rPr>
              <a:t>kunnen</a:t>
            </a:r>
            <a:r>
              <a:rPr lang="en-US" sz="1900" i="1" dirty="0">
                <a:solidFill>
                  <a:schemeClr val="tx1"/>
                </a:solidFill>
              </a:rPr>
              <a:t> doen.</a:t>
            </a:r>
            <a:endParaRPr lang="en-US" sz="1900" dirty="0"/>
          </a:p>
          <a:p>
            <a:pPr indent="0" marL="0">
              <a:spcAft>
                <a:spcPts val="2200"/>
              </a:spcAft>
              <a:buNone/>
            </a:pPr>
            <a:r>
              <a:rPr lang="en-US" sz="1900" b="1" dirty="0">
                <a:solidFill>
                  <a:schemeClr val="tx2"/>
                </a:solidFill>
              </a:rPr>
              <a:t>3  </a:t>
            </a:r>
            <a:r>
              <a:rPr lang="en-US" sz="1900" i="1" dirty="0">
                <a:solidFill>
                  <a:schemeClr val="tx1"/>
                </a:solidFill>
              </a:rPr>
              <a:t>Dat heb ik altijd </a:t>
            </a:r>
            <a:r>
              <a:rPr lang="en-US" sz="1900" b="1" i="1" dirty="0">
                <a:solidFill>
                  <a:schemeClr val="accent3"/>
                </a:solidFill>
              </a:rPr>
              <a:t>gewild</a:t>
            </a:r>
            <a:r>
              <a:rPr lang="en-US" sz="1900" i="1" dirty="0">
                <a:solidFill>
                  <a:schemeClr val="tx1"/>
                </a:solidFill>
              </a:rPr>
              <a:t> / </a:t>
            </a:r>
            <a:r>
              <a:rPr lang="en-US" sz="1900" i="1" strike="sngStrike" dirty="0">
                <a:solidFill>
                  <a:schemeClr val="accent6"/>
                </a:solidFill>
              </a:rPr>
              <a:t>willen</a:t>
            </a:r>
            <a:r>
              <a:rPr lang="en-US" sz="1900" i="1" dirty="0">
                <a:solidFill>
                  <a:schemeClr val="tx1"/>
                </a:solidFill>
              </a:rPr>
              <a:t>.</a:t>
            </a:r>
            <a:endParaRPr lang="en-US" sz="1900" dirty="0"/>
          </a:p>
          <a:p>
            <a:pPr indent="0" marL="0">
              <a:spcAft>
                <a:spcPts val="2200"/>
              </a:spcAft>
              <a:buNone/>
            </a:pPr>
            <a:r>
              <a:rPr lang="en-US" sz="1900" b="1" dirty="0">
                <a:solidFill>
                  <a:schemeClr val="tx2"/>
                </a:solidFill>
              </a:rPr>
              <a:t>4  </a:t>
            </a:r>
            <a:r>
              <a:rPr lang="en-US" sz="1900" i="1" dirty="0">
                <a:solidFill>
                  <a:schemeClr val="tx1"/>
                </a:solidFill>
              </a:rPr>
              <a:t>Ik heb </a:t>
            </a:r>
            <a:r>
              <a:rPr lang="en-US" sz="1900" b="1" i="1" dirty="0">
                <a:solidFill>
                  <a:schemeClr val="accent3"/>
                </a:solidFill>
              </a:rPr>
              <a:t>geprobeerd</a:t>
            </a:r>
            <a:r>
              <a:rPr lang="en-US" sz="1900" i="1" dirty="0">
                <a:solidFill>
                  <a:schemeClr val="tx1"/>
                </a:solidFill>
              </a:rPr>
              <a:t> / </a:t>
            </a:r>
            <a:r>
              <a:rPr lang="en-US" sz="1900" i="1" strike="sngStrike" dirty="0">
                <a:solidFill>
                  <a:schemeClr val="accent6"/>
                </a:solidFill>
              </a:rPr>
              <a:t>proberen</a:t>
            </a:r>
            <a:r>
              <a:rPr lang="en-US" sz="1900" i="1" dirty="0">
                <a:solidFill>
                  <a:schemeClr val="tx1"/>
                </a:solidFill>
              </a:rPr>
              <a:t> je te bellen.</a:t>
            </a:r>
            <a:endParaRPr lang="en-US" sz="1900" dirty="0"/>
          </a:p>
        </p:txBody>
      </p:sp>
      <p:sp>
        <p:nvSpPr>
          <p:cNvPr id="10" name="Text 6"/>
          <p:cNvSpPr txBox="1"/>
          <p:nvPr/>
        </p:nvSpPr>
        <p:spPr>
          <a:xfrm>
            <a:off x="6300216" y="2069592"/>
            <a:ext cx="5340096" cy="3931920"/>
          </a:xfrm>
          <a:prstGeom prst="rect">
            <a:avLst/>
          </a:prstGeom>
          <a:noFill/>
          <a:ln/>
        </p:spPr>
        <p:txBody>
          <a:bodyPr wrap="square" lIns="0" tIns="0" rIns="0" bIns="0" rtlCol="0" anchor="t"/>
          <a:lstStyle/>
          <a:p>
            <a:pPr indent="0" marL="0">
              <a:spcAft>
                <a:spcPts val="2200"/>
              </a:spcAft>
              <a:buNone/>
            </a:pPr>
            <a:r>
              <a:rPr lang="en-US" sz="1900" b="1" dirty="0">
                <a:solidFill>
                  <a:schemeClr val="tx2"/>
                </a:solidFill>
              </a:rPr>
              <a:t>5  </a:t>
            </a:r>
            <a:r>
              <a:rPr lang="en-US" sz="1900" i="1" dirty="0">
                <a:solidFill>
                  <a:schemeClr val="tx1"/>
                </a:solidFill>
              </a:rPr>
              <a:t>Ze heeft de hele dag </a:t>
            </a:r>
            <a:r>
              <a:rPr lang="en-US" sz="1900" i="1" strike="sngStrike" dirty="0">
                <a:solidFill>
                  <a:schemeClr val="accent6"/>
                </a:solidFill>
              </a:rPr>
              <a:t>gezeten</a:t>
            </a:r>
            <a:r>
              <a:rPr lang="en-US" sz="1900" i="1" dirty="0">
                <a:solidFill>
                  <a:schemeClr val="tx1"/>
                </a:solidFill>
              </a:rPr>
              <a:t> / </a:t>
            </a:r>
            <a:r>
              <a:rPr lang="en-US" sz="1900" b="1" i="1" dirty="0">
                <a:solidFill>
                  <a:schemeClr val="accent3"/>
                </a:solidFill>
              </a:rPr>
              <a:t>zitten</a:t>
            </a:r>
            <a:r>
              <a:rPr lang="en-US" sz="1900" i="1" dirty="0">
                <a:solidFill>
                  <a:schemeClr val="tx1"/>
                </a:solidFill>
              </a:rPr>
              <a:t> studeren.</a:t>
            </a:r>
            <a:endParaRPr lang="en-US" sz="1900" dirty="0"/>
          </a:p>
          <a:p>
            <a:pPr indent="0" marL="0">
              <a:spcAft>
                <a:spcPts val="2200"/>
              </a:spcAft>
              <a:buNone/>
            </a:pPr>
            <a:r>
              <a:rPr lang="en-US" sz="1900" b="1" dirty="0">
                <a:solidFill>
                  <a:schemeClr val="tx2"/>
                </a:solidFill>
              </a:rPr>
              <a:t>6  </a:t>
            </a:r>
            <a:r>
              <a:rPr lang="en-US" sz="1900" i="1" dirty="0">
                <a:solidFill>
                  <a:schemeClr val="tx1"/>
                </a:solidFill>
              </a:rPr>
              <a:t>Ik heb mijn tas </a:t>
            </a:r>
            <a:r>
              <a:rPr lang="en-US" sz="1900" i="1" strike="sngStrike" dirty="0">
                <a:solidFill>
                  <a:schemeClr val="accent6"/>
                </a:solidFill>
              </a:rPr>
              <a:t>gelaten</a:t>
            </a:r>
            <a:r>
              <a:rPr lang="en-US" sz="1900" i="1" dirty="0">
                <a:solidFill>
                  <a:schemeClr val="tx1"/>
                </a:solidFill>
              </a:rPr>
              <a:t> / </a:t>
            </a:r>
            <a:r>
              <a:rPr lang="en-US" sz="1900" b="1" i="1" dirty="0">
                <a:solidFill>
                  <a:schemeClr val="accent3"/>
                </a:solidFill>
              </a:rPr>
              <a:t>laten</a:t>
            </a:r>
            <a:r>
              <a:rPr lang="en-US" sz="1900" i="1" dirty="0">
                <a:solidFill>
                  <a:schemeClr val="tx1"/>
                </a:solidFill>
              </a:rPr>
              <a:t> vallen.</a:t>
            </a:r>
            <a:endParaRPr lang="en-US" sz="1900" dirty="0"/>
          </a:p>
          <a:p>
            <a:pPr indent="0" marL="0">
              <a:spcAft>
                <a:spcPts val="2200"/>
              </a:spcAft>
              <a:buNone/>
            </a:pPr>
            <a:r>
              <a:rPr lang="en-US" sz="1900" b="1" dirty="0">
                <a:solidFill>
                  <a:schemeClr val="tx2"/>
                </a:solidFill>
              </a:rPr>
              <a:t>7  </a:t>
            </a:r>
            <a:r>
              <a:rPr lang="en-US" sz="1900" i="1" dirty="0">
                <a:solidFill>
                  <a:schemeClr val="tx1"/>
                </a:solidFill>
              </a:rPr>
              <a:t>We hebben hem </a:t>
            </a:r>
            <a:r>
              <a:rPr lang="en-US" sz="1900" i="1" strike="sngStrike" dirty="0">
                <a:solidFill>
                  <a:schemeClr val="accent6"/>
                </a:solidFill>
              </a:rPr>
              <a:t>gezien</a:t>
            </a:r>
            <a:r>
              <a:rPr lang="en-US" sz="1900" i="1" dirty="0">
                <a:solidFill>
                  <a:schemeClr val="tx1"/>
                </a:solidFill>
              </a:rPr>
              <a:t> / </a:t>
            </a:r>
            <a:r>
              <a:rPr lang="en-US" sz="1900" b="1" i="1" dirty="0">
                <a:solidFill>
                  <a:schemeClr val="accent3"/>
                </a:solidFill>
              </a:rPr>
              <a:t>zien</a:t>
            </a:r>
            <a:r>
              <a:rPr lang="en-US" sz="1900" i="1" dirty="0">
                <a:solidFill>
                  <a:schemeClr val="tx1"/>
                </a:solidFill>
              </a:rPr>
              <a:t> vertrekken.</a:t>
            </a:r>
            <a:endParaRPr lang="en-US" sz="1900" dirty="0"/>
          </a:p>
          <a:p>
            <a:pPr indent="0" marL="0">
              <a:spcAft>
                <a:spcPts val="2200"/>
              </a:spcAft>
              <a:buNone/>
            </a:pPr>
            <a:r>
              <a:rPr lang="en-US" sz="1900" b="1" dirty="0">
                <a:solidFill>
                  <a:schemeClr val="tx2"/>
                </a:solidFill>
              </a:rPr>
              <a:t>8  </a:t>
            </a:r>
            <a:r>
              <a:rPr lang="en-US" sz="1900" i="1" dirty="0">
                <a:solidFill>
                  <a:schemeClr val="tx1"/>
                </a:solidFill>
              </a:rPr>
              <a:t>Hij heeft </a:t>
            </a:r>
            <a:r>
              <a:rPr lang="en-US" sz="1900" b="1" i="1" dirty="0">
                <a:solidFill>
                  <a:schemeClr val="accent3"/>
                </a:solidFill>
              </a:rPr>
              <a:t>beloofd</a:t>
            </a:r>
            <a:r>
              <a:rPr lang="en-US" sz="1900" i="1" dirty="0">
                <a:solidFill>
                  <a:schemeClr val="tx1"/>
                </a:solidFill>
              </a:rPr>
              <a:t> / </a:t>
            </a:r>
            <a:r>
              <a:rPr lang="en-US" sz="1900" i="1" strike="sngStrike" dirty="0">
                <a:solidFill>
                  <a:schemeClr val="accent6"/>
                </a:solidFill>
              </a:rPr>
              <a:t>beloven</a:t>
            </a:r>
            <a:r>
              <a:rPr lang="en-US" sz="1900" i="1" dirty="0">
                <a:solidFill>
                  <a:schemeClr val="tx1"/>
                </a:solidFill>
              </a:rPr>
              <a:t> te komen.</a:t>
            </a:r>
            <a:endParaRPr lang="en-US" sz="1900" dirty="0"/>
          </a:p>
        </p:txBody>
      </p:sp>
      <p:sp>
        <p:nvSpPr>
          <p:cNvPr id="11" name="Text 7"/>
          <p:cNvSpPr txBox="1"/>
          <p:nvPr/>
        </p:nvSpPr>
        <p:spPr>
          <a:xfrm>
            <a:off x="548640" y="5806440"/>
            <a:ext cx="11091672" cy="365760"/>
          </a:xfrm>
          <a:prstGeom prst="rect">
            <a:avLst/>
          </a:prstGeom>
          <a:noFill/>
          <a:ln/>
        </p:spPr>
        <p:txBody>
          <a:bodyPr wrap="square" lIns="0" tIns="0" rIns="0" bIns="0" rtlCol="0" anchor="t"/>
          <a:lstStyle/>
          <a:p>
            <a:pPr algn="ctr" indent="0" marL="0">
              <a:buNone/>
            </a:pPr>
            <a:r>
              <a:rPr lang="en-US" sz="1400" i="1" dirty="0">
                <a:solidFill>
                  <a:schemeClr val="accent5"/>
                </a:solidFill>
              </a:rPr>
              <a:t>N° 4 : </a:t>
            </a:r>
            <a:r>
              <a:rPr lang="en-US" sz="1400" i="1" dirty="0">
                <a:solidFill>
                  <a:schemeClr val="accent5"/>
                </a:solidFill>
              </a:rPr>
              <a:t>Ik heb je </a:t>
            </a:r>
            <a:r>
              <a:rPr lang="en-US" sz="1400" b="1" i="1" dirty="0">
                <a:solidFill>
                  <a:schemeClr val="accent5"/>
                </a:solidFill>
              </a:rPr>
              <a:t>proberen</a:t>
            </a:r>
            <a:r>
              <a:rPr lang="en-US" sz="1400" i="1" dirty="0">
                <a:solidFill>
                  <a:schemeClr val="accent5"/>
                </a:solidFill>
              </a:rPr>
              <a:t> te bellen</a:t>
            </a:r>
            <a:r>
              <a:rPr lang="en-US" sz="1400" i="1" dirty="0">
                <a:solidFill>
                  <a:schemeClr val="accent5"/>
                </a:solidFill>
              </a:rPr>
              <a:t> (</a:t>
            </a:r>
            <a:r>
              <a:rPr lang="en-US" sz="1400" i="1" dirty="0">
                <a:solidFill>
                  <a:schemeClr val="accent5"/>
                </a:solidFill>
              </a:rPr>
              <a:t>je</a:t>
            </a:r>
            <a:r>
              <a:rPr lang="en-US" sz="1400" i="1" dirty="0">
                <a:solidFill>
                  <a:schemeClr val="accent5"/>
                </a:solidFill>
              </a:rPr>
              <a:t> devant) est aussi correct, mais pas </a:t>
            </a:r>
            <a:r>
              <a:rPr lang="en-US" sz="1400" i="1" dirty="0">
                <a:solidFill>
                  <a:schemeClr val="accent5"/>
                </a:solidFill>
              </a:rPr>
              <a:t>Ik heb proberen je te bellen</a:t>
            </a:r>
            <a:r>
              <a:rPr lang="en-US" sz="1400" i="1"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Tom s’excuse auprès de Lisa. Trouvez les 5 erreurs.</a:t>
            </a:r>
            <a:endParaRPr lang="en-US" sz="1700" dirty="0"/>
          </a:p>
        </p:txBody>
      </p:sp>
      <p:sp>
        <p:nvSpPr>
          <p:cNvPr id="8" name="Shape 4"/>
          <p:cNvSpPr/>
          <p:nvPr/>
        </p:nvSpPr>
        <p:spPr>
          <a:xfrm>
            <a:off x="548640" y="1932432"/>
            <a:ext cx="8229600" cy="4358640"/>
          </a:xfrm>
          <a:prstGeom prst="roundRect">
            <a:avLst>
              <a:gd name="adj" fmla="val 2517"/>
            </a:avLst>
          </a:prstGeom>
          <a:solidFill>
            <a:srgbClr val="E7F6EC"/>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9" name="Image 1" descr="mobile phone">    </p:cNvPr>
          <p:cNvPicPr>
            <a:picLocks noChangeAspect="1"/>
          </p:cNvPicPr>
          <p:nvPr/>
        </p:nvPicPr>
        <p:blipFill>
          <a:blip r:embed="rId2"/>
          <a:stretch>
            <a:fillRect/>
          </a:stretch>
        </p:blipFill>
        <p:spPr>
          <a:xfrm>
            <a:off x="685800" y="2023872"/>
            <a:ext cx="457200" cy="457200"/>
          </a:xfrm>
          <a:prstGeom prst="rect">
            <a:avLst/>
          </a:prstGeom>
        </p:spPr>
      </p:pic>
      <p:sp>
        <p:nvSpPr>
          <p:cNvPr id="10" name="Text 5"/>
          <p:cNvSpPr txBox="1"/>
          <p:nvPr/>
        </p:nvSpPr>
        <p:spPr>
          <a:xfrm>
            <a:off x="1234440" y="2023872"/>
            <a:ext cx="5486400" cy="457200"/>
          </a:xfrm>
          <a:prstGeom prst="rect">
            <a:avLst/>
          </a:prstGeom>
          <a:noFill/>
          <a:ln/>
        </p:spPr>
        <p:txBody>
          <a:bodyPr wrap="square" lIns="0" tIns="0" rIns="0" bIns="0" rtlCol="0" anchor="ctr"/>
          <a:lstStyle/>
          <a:p>
            <a:pPr algn="l" indent="0" marL="0">
              <a:buNone/>
            </a:pPr>
            <a:r>
              <a:rPr lang="en-US" sz="1400" b="1" dirty="0">
                <a:solidFill>
                  <a:schemeClr val="accent3"/>
                </a:solidFill>
              </a:rPr>
              <a:t>Tom</a:t>
            </a:r>
            <a:r>
              <a:rPr lang="en-US" sz="1400" dirty="0">
                <a:solidFill>
                  <a:schemeClr val="accent3"/>
                </a:solidFill>
              </a:rPr>
              <a:t> · vandaag 08:12</a:t>
            </a:r>
            <a:endParaRPr lang="en-US" sz="1400" dirty="0"/>
          </a:p>
        </p:txBody>
      </p:sp>
      <p:sp>
        <p:nvSpPr>
          <p:cNvPr id="11" name="Text 6"/>
          <p:cNvSpPr txBox="1"/>
          <p:nvPr/>
        </p:nvSpPr>
        <p:spPr>
          <a:xfrm>
            <a:off x="868680" y="2618232"/>
            <a:ext cx="7680960" cy="3535680"/>
          </a:xfrm>
          <a:prstGeom prst="rect">
            <a:avLst/>
          </a:prstGeom>
          <a:noFill/>
          <a:ln/>
        </p:spPr>
        <p:txBody>
          <a:bodyPr wrap="square" lIns="0" tIns="0" rIns="0" bIns="0" rtlCol="0" anchor="t"/>
          <a:lstStyle/>
          <a:p>
            <a:pPr algn="l" indent="0" marL="0">
              <a:lnSpc>
                <a:spcPct val="115000"/>
              </a:lnSpc>
              <a:spcAft>
                <a:spcPts val="600"/>
              </a:spcAft>
              <a:buNone/>
            </a:pPr>
            <a:r>
              <a:rPr lang="en-US" sz="1800" i="1" dirty="0">
                <a:solidFill>
                  <a:schemeClr val="tx1"/>
                </a:solidFill>
              </a:rPr>
              <a:t>Hoi Lisa! Sorry dat ik gisteren niet op de vergadering was. Ik heb echt niet </a:t>
            </a:r>
            <a:r>
              <a:rPr lang="en-US" sz="1800" i="1" dirty="0">
                <a:solidFill>
                  <a:schemeClr val="tx1"/>
                </a:solidFill>
              </a:rPr>
              <a:t>gekund komen</a:t>
            </a:r>
            <a:r>
              <a:rPr lang="en-US" sz="1800" i="1" dirty="0">
                <a:solidFill>
                  <a:schemeClr val="tx1"/>
                </a:solidFill>
              </a:rPr>
              <a:t>: mijn auto stond in panne en ik </a:t>
            </a:r>
            <a:r>
              <a:rPr lang="en-US" sz="1800" i="1" dirty="0">
                <a:solidFill>
                  <a:schemeClr val="tx1"/>
                </a:solidFill>
              </a:rPr>
              <a:t>ben</a:t>
            </a:r>
            <a:r>
              <a:rPr lang="en-US" sz="1800" i="1" dirty="0">
                <a:solidFill>
                  <a:schemeClr val="tx1"/>
                </a:solidFill>
              </a:rPr>
              <a:t> hem meteen laten repareren. Daarna </a:t>
            </a:r>
            <a:r>
              <a:rPr lang="en-US" sz="1800" i="1" dirty="0">
                <a:solidFill>
                  <a:schemeClr val="tx1"/>
                </a:solidFill>
              </a:rPr>
              <a:t>heb</a:t>
            </a:r>
            <a:r>
              <a:rPr lang="en-US" sz="1800" i="1" dirty="0">
                <a:solidFill>
                  <a:schemeClr val="tx1"/>
                </a:solidFill>
              </a:rPr>
              <a:t> ik met de kinderen gaan zwemmen, dat had ik beloofd. ’s Avonds heb ik nog twee uur </a:t>
            </a:r>
            <a:r>
              <a:rPr lang="en-US" sz="1800" i="1" dirty="0">
                <a:solidFill>
                  <a:schemeClr val="tx1"/>
                </a:solidFill>
              </a:rPr>
              <a:t>zitten te werken</a:t>
            </a:r>
            <a:r>
              <a:rPr lang="en-US" sz="1800" i="1" dirty="0">
                <a:solidFill>
                  <a:schemeClr val="tx1"/>
                </a:solidFill>
              </a:rPr>
              <a:t> aan het verslag. Ik had je moeten bellen, sorry! Dat heb ik echt niet </a:t>
            </a:r>
            <a:r>
              <a:rPr lang="en-US" sz="1800" i="1" dirty="0">
                <a:solidFill>
                  <a:schemeClr val="tx1"/>
                </a:solidFill>
              </a:rPr>
              <a:t>willen</a:t>
            </a:r>
            <a:r>
              <a:rPr lang="en-US" sz="1800" i="1" dirty="0">
                <a:solidFill>
                  <a:schemeClr val="tx1"/>
                </a:solidFill>
              </a:rPr>
              <a:t>. Groetjes, Tom</a:t>
            </a:r>
            <a:endParaRPr lang="en-US" sz="1800" dirty="0"/>
          </a:p>
        </p:txBody>
      </p:sp>
      <p:pic>
        <p:nvPicPr>
          <p:cNvPr id="12" name="Image 2" descr="magnifying glass tilted left">    </p:cNvPr>
          <p:cNvPicPr>
            <a:picLocks noChangeAspect="1"/>
          </p:cNvPicPr>
          <p:nvPr/>
        </p:nvPicPr>
        <p:blipFill>
          <a:blip r:embed="rId3"/>
          <a:stretch>
            <a:fillRect/>
          </a:stretch>
        </p:blipFill>
        <p:spPr>
          <a:xfrm>
            <a:off x="9509760" y="2023872"/>
            <a:ext cx="1463040" cy="1463040"/>
          </a:xfrm>
          <a:prstGeom prst="rect">
            <a:avLst/>
          </a:prstGeom>
        </p:spPr>
      </p:pic>
      <p:sp>
        <p:nvSpPr>
          <p:cNvPr id="13" name="Shape 7"/>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8"/>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Tom s’excuse auprès de Lisa. Trouvez les 5 erreurs.</a:t>
            </a:r>
            <a:endParaRPr lang="en-US" sz="1700" dirty="0"/>
          </a:p>
        </p:txBody>
      </p:sp>
      <p:sp>
        <p:nvSpPr>
          <p:cNvPr id="9" name="Shape 5"/>
          <p:cNvSpPr/>
          <p:nvPr/>
        </p:nvSpPr>
        <p:spPr>
          <a:xfrm>
            <a:off x="548640" y="1932432"/>
            <a:ext cx="8229600" cy="4358640"/>
          </a:xfrm>
          <a:prstGeom prst="roundRect">
            <a:avLst>
              <a:gd name="adj" fmla="val 2517"/>
            </a:avLst>
          </a:prstGeom>
          <a:solidFill>
            <a:srgbClr val="E7F6EC"/>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10" name="Image 1" descr="mobile phone">    </p:cNvPr>
          <p:cNvPicPr>
            <a:picLocks noChangeAspect="1"/>
          </p:cNvPicPr>
          <p:nvPr/>
        </p:nvPicPr>
        <p:blipFill>
          <a:blip r:embed="rId2"/>
          <a:stretch>
            <a:fillRect/>
          </a:stretch>
        </p:blipFill>
        <p:spPr>
          <a:xfrm>
            <a:off x="685800" y="2023872"/>
            <a:ext cx="457200" cy="457200"/>
          </a:xfrm>
          <a:prstGeom prst="rect">
            <a:avLst/>
          </a:prstGeom>
        </p:spPr>
      </p:pic>
      <p:sp>
        <p:nvSpPr>
          <p:cNvPr id="11" name="Text 6"/>
          <p:cNvSpPr txBox="1"/>
          <p:nvPr/>
        </p:nvSpPr>
        <p:spPr>
          <a:xfrm>
            <a:off x="1234440" y="2023872"/>
            <a:ext cx="5486400" cy="457200"/>
          </a:xfrm>
          <a:prstGeom prst="rect">
            <a:avLst/>
          </a:prstGeom>
          <a:noFill/>
          <a:ln/>
        </p:spPr>
        <p:txBody>
          <a:bodyPr wrap="square" lIns="0" tIns="0" rIns="0" bIns="0" rtlCol="0" anchor="ctr"/>
          <a:lstStyle/>
          <a:p>
            <a:pPr algn="l" indent="0" marL="0">
              <a:buNone/>
            </a:pPr>
            <a:r>
              <a:rPr lang="en-US" sz="1400" b="1" dirty="0">
                <a:solidFill>
                  <a:schemeClr val="accent3"/>
                </a:solidFill>
              </a:rPr>
              <a:t>Tom</a:t>
            </a:r>
            <a:r>
              <a:rPr lang="en-US" sz="1400" dirty="0">
                <a:solidFill>
                  <a:schemeClr val="accent3"/>
                </a:solidFill>
              </a:rPr>
              <a:t> · vandaag 08:12</a:t>
            </a:r>
            <a:endParaRPr lang="en-US" sz="1400" dirty="0"/>
          </a:p>
        </p:txBody>
      </p:sp>
      <p:sp>
        <p:nvSpPr>
          <p:cNvPr id="12" name="Text 7"/>
          <p:cNvSpPr txBox="1"/>
          <p:nvPr/>
        </p:nvSpPr>
        <p:spPr>
          <a:xfrm>
            <a:off x="868680" y="2618232"/>
            <a:ext cx="7680960" cy="3535680"/>
          </a:xfrm>
          <a:prstGeom prst="rect">
            <a:avLst/>
          </a:prstGeom>
          <a:noFill/>
          <a:ln/>
        </p:spPr>
        <p:txBody>
          <a:bodyPr wrap="square" lIns="0" tIns="0" rIns="0" bIns="0" rtlCol="0" anchor="t"/>
          <a:lstStyle/>
          <a:p>
            <a:pPr algn="l" indent="0" marL="0">
              <a:lnSpc>
                <a:spcPct val="115000"/>
              </a:lnSpc>
              <a:spcAft>
                <a:spcPts val="600"/>
              </a:spcAft>
              <a:buNone/>
            </a:pPr>
            <a:r>
              <a:rPr lang="en-US" sz="1800" i="1" dirty="0">
                <a:solidFill>
                  <a:schemeClr val="tx1"/>
                </a:solidFill>
              </a:rPr>
              <a:t>Hoi Lisa! Sorry dat ik gisteren niet op de vergadering was. Ik heb echt niet </a:t>
            </a:r>
            <a:r>
              <a:rPr lang="en-US" sz="1800" i="1" strike="sngStrike" dirty="0">
                <a:solidFill>
                  <a:schemeClr val="accent6"/>
                </a:solidFill>
              </a:rPr>
              <a:t>gekund komen</a:t>
            </a:r>
            <a:r>
              <a:rPr lang="en-US" sz="1800" b="1" i="1" dirty="0">
                <a:solidFill>
                  <a:schemeClr val="accent3"/>
                </a:solidFill>
              </a:rPr>
              <a:t> kunnen komen</a:t>
            </a:r>
            <a:r>
              <a:rPr lang="en-US" sz="1800" i="1" dirty="0">
                <a:solidFill>
                  <a:schemeClr val="tx1"/>
                </a:solidFill>
              </a:rPr>
              <a:t>: mijn auto stond in panne en ik </a:t>
            </a:r>
            <a:r>
              <a:rPr lang="en-US" sz="1800" i="1" strike="sngStrike" dirty="0">
                <a:solidFill>
                  <a:schemeClr val="accent6"/>
                </a:solidFill>
              </a:rPr>
              <a:t>ben</a:t>
            </a:r>
            <a:r>
              <a:rPr lang="en-US" sz="1800" b="1" i="1" dirty="0">
                <a:solidFill>
                  <a:schemeClr val="accent3"/>
                </a:solidFill>
              </a:rPr>
              <a:t> heb</a:t>
            </a:r>
            <a:r>
              <a:rPr lang="en-US" sz="1800" i="1" dirty="0">
                <a:solidFill>
                  <a:schemeClr val="tx1"/>
                </a:solidFill>
              </a:rPr>
              <a:t> hem meteen laten repareren. Daarna </a:t>
            </a:r>
            <a:r>
              <a:rPr lang="en-US" sz="1800" i="1" strike="sngStrike" dirty="0">
                <a:solidFill>
                  <a:schemeClr val="accent6"/>
                </a:solidFill>
              </a:rPr>
              <a:t>heb</a:t>
            </a:r>
            <a:r>
              <a:rPr lang="en-US" sz="1800" b="1" i="1" dirty="0">
                <a:solidFill>
                  <a:schemeClr val="accent3"/>
                </a:solidFill>
              </a:rPr>
              <a:t> ben</a:t>
            </a:r>
            <a:r>
              <a:rPr lang="en-US" sz="1800" i="1" dirty="0">
                <a:solidFill>
                  <a:schemeClr val="tx1"/>
                </a:solidFill>
              </a:rPr>
              <a:t> ik met de kinderen gaan zwemmen, dat had ik beloofd. ’s Avonds heb ik nog twee uur </a:t>
            </a:r>
            <a:r>
              <a:rPr lang="en-US" sz="1800" i="1" strike="sngStrike" dirty="0">
                <a:solidFill>
                  <a:schemeClr val="accent6"/>
                </a:solidFill>
              </a:rPr>
              <a:t>zitten te werken</a:t>
            </a:r>
            <a:r>
              <a:rPr lang="en-US" sz="1800" b="1" i="1" dirty="0">
                <a:solidFill>
                  <a:schemeClr val="accent3"/>
                </a:solidFill>
              </a:rPr>
              <a:t> zitten werken</a:t>
            </a:r>
            <a:r>
              <a:rPr lang="en-US" sz="1800" i="1" dirty="0">
                <a:solidFill>
                  <a:schemeClr val="tx1"/>
                </a:solidFill>
              </a:rPr>
              <a:t> aan het verslag. Ik had je moeten bellen, sorry! Dat heb ik echt niet </a:t>
            </a:r>
            <a:r>
              <a:rPr lang="en-US" sz="1800" i="1" strike="sngStrike" dirty="0">
                <a:solidFill>
                  <a:schemeClr val="accent6"/>
                </a:solidFill>
              </a:rPr>
              <a:t>willen</a:t>
            </a:r>
            <a:r>
              <a:rPr lang="en-US" sz="1800" b="1" i="1" dirty="0">
                <a:solidFill>
                  <a:schemeClr val="accent3"/>
                </a:solidFill>
              </a:rPr>
              <a:t> gewild</a:t>
            </a:r>
            <a:r>
              <a:rPr lang="en-US" sz="1800" i="1" dirty="0">
                <a:solidFill>
                  <a:schemeClr val="tx1"/>
                </a:solidFill>
              </a:rPr>
              <a:t>. Groetjes, Tom</a:t>
            </a:r>
            <a:endParaRPr lang="en-US" sz="1800" dirty="0"/>
          </a:p>
        </p:txBody>
      </p:sp>
      <p:pic>
        <p:nvPicPr>
          <p:cNvPr id="13" name="Image 2" descr="magnifying glass tilted left">    </p:cNvPr>
          <p:cNvPicPr>
            <a:picLocks noChangeAspect="1"/>
          </p:cNvPicPr>
          <p:nvPr/>
        </p:nvPicPr>
        <p:blipFill>
          <a:blip r:embed="rId3"/>
          <a:stretch>
            <a:fillRect/>
          </a:stretch>
        </p:blipFill>
        <p:spPr>
          <a:xfrm>
            <a:off x="9509760" y="2023872"/>
            <a:ext cx="1463040" cy="1463040"/>
          </a:xfrm>
          <a:prstGeom prst="rect">
            <a:avLst/>
          </a:prstGeom>
        </p:spPr>
      </p:pic>
      <p:sp>
        <p:nvSpPr>
          <p:cNvPr id="14"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16" name="Text 10"/>
          <p:cNvSpPr txBox="1"/>
          <p:nvPr/>
        </p:nvSpPr>
        <p:spPr>
          <a:xfrm>
            <a:off x="9052560" y="4721352"/>
            <a:ext cx="2587752" cy="2103120"/>
          </a:xfrm>
          <a:prstGeom prst="rect">
            <a:avLst/>
          </a:prstGeom>
          <a:noFill/>
          <a:ln/>
        </p:spPr>
        <p:txBody>
          <a:bodyPr wrap="square" lIns="0" tIns="0" rIns="0" bIns="0" rtlCol="0" anchor="t"/>
          <a:lstStyle/>
          <a:p>
            <a:pPr algn="l" indent="0" marL="0">
              <a:buNone/>
            </a:pPr>
            <a:r>
              <a:rPr lang="en-US" sz="1400" i="1" dirty="0">
                <a:solidFill>
                  <a:schemeClr val="accent5"/>
                </a:solidFill>
              </a:rPr>
              <a:t>Corrects : </a:t>
            </a:r>
            <a:r>
              <a:rPr lang="en-US" sz="1400" i="1" dirty="0">
                <a:solidFill>
                  <a:schemeClr val="accent5"/>
                </a:solidFill>
              </a:rPr>
              <a:t>laten repareren</a:t>
            </a:r>
            <a:r>
              <a:rPr lang="en-US" sz="1400" i="1" dirty="0">
                <a:solidFill>
                  <a:schemeClr val="accent5"/>
                </a:solidFill>
              </a:rPr>
              <a:t>, </a:t>
            </a:r>
            <a:r>
              <a:rPr lang="en-US" sz="1400" i="1" dirty="0">
                <a:solidFill>
                  <a:schemeClr val="accent5"/>
                </a:solidFill>
              </a:rPr>
              <a:t>gaan zwemmen</a:t>
            </a:r>
            <a:r>
              <a:rPr lang="en-US" sz="1400" i="1" dirty="0">
                <a:solidFill>
                  <a:schemeClr val="accent5"/>
                </a:solidFill>
              </a:rPr>
              <a:t>, </a:t>
            </a:r>
            <a:r>
              <a:rPr lang="en-US" sz="1400" i="1" dirty="0">
                <a:solidFill>
                  <a:schemeClr val="accent5"/>
                </a:solidFill>
              </a:rPr>
              <a:t>had je moeten bellen</a:t>
            </a:r>
            <a:r>
              <a:rPr lang="en-US" sz="1400" i="1" dirty="0">
                <a:solidFill>
                  <a:schemeClr val="accent5"/>
                </a:solidFill>
              </a:rPr>
              <a:t>. </a:t>
            </a:r>
            <a:r>
              <a:rPr lang="en-US" sz="1400" i="1" dirty="0">
                <a:solidFill>
                  <a:schemeClr val="accent5"/>
                </a:solidFill>
              </a:rPr>
              <a:t>Dat heb ik niet gewild</a:t>
            </a:r>
            <a:r>
              <a:rPr lang="en-US" sz="1400" i="1" dirty="0">
                <a:solidFill>
                  <a:schemeClr val="accent5"/>
                </a:solidFill>
              </a:rPr>
              <a:t> : </a:t>
            </a:r>
            <a:r>
              <a:rPr lang="en-US" sz="1400" i="1" dirty="0">
                <a:solidFill>
                  <a:schemeClr val="accent5"/>
                </a:solidFill>
              </a:rPr>
              <a:t>willen</a:t>
            </a:r>
            <a:r>
              <a:rPr lang="en-US" sz="1400" i="1" dirty="0">
                <a:solidFill>
                  <a:schemeClr val="accent5"/>
                </a:solidFill>
              </a:rPr>
              <a:t> est seul → participe.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Les regrets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Réagissez avec </a:t>
            </a:r>
            <a:r>
              <a:rPr lang="en-US" sz="1700" i="1" dirty="0">
                <a:solidFill>
                  <a:schemeClr val="accent5"/>
                </a:solidFill>
              </a:rPr>
              <a:t>had moeten</a:t>
            </a:r>
            <a:r>
              <a:rPr lang="en-US" sz="1700" i="1" dirty="0">
                <a:solidFill>
                  <a:schemeClr val="accent5"/>
                </a:solidFill>
              </a:rPr>
              <a:t> (aurais dû) ou </a:t>
            </a:r>
            <a:r>
              <a:rPr lang="en-US" sz="1700" i="1" dirty="0">
                <a:solidFill>
                  <a:schemeClr val="accent5"/>
                </a:solidFill>
              </a:rPr>
              <a:t>had kunnen</a:t>
            </a:r>
            <a:r>
              <a:rPr lang="en-US" sz="1700" i="1" dirty="0">
                <a:solidFill>
                  <a:schemeClr val="accent5"/>
                </a:solidFill>
              </a:rPr>
              <a:t> (aurais pu).</a:t>
            </a:r>
            <a:endParaRPr lang="en-US" sz="1700" dirty="0"/>
          </a:p>
        </p:txBody>
      </p:sp>
      <p:sp>
        <p:nvSpPr>
          <p:cNvPr id="8" name="Shape 4"/>
          <p:cNvSpPr/>
          <p:nvPr/>
        </p:nvSpPr>
        <p:spPr>
          <a:xfrm>
            <a:off x="548640" y="1978152"/>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9" name="Image 1" descr="alarm clock">    </p:cNvPr>
          <p:cNvPicPr>
            <a:picLocks noChangeAspect="1"/>
          </p:cNvPicPr>
          <p:nvPr/>
        </p:nvPicPr>
        <p:blipFill>
          <a:blip r:embed="rId2"/>
          <a:stretch>
            <a:fillRect/>
          </a:stretch>
        </p:blipFill>
        <p:spPr>
          <a:xfrm>
            <a:off x="685800" y="2115312"/>
            <a:ext cx="925576" cy="925576"/>
          </a:xfrm>
          <a:prstGeom prst="rect">
            <a:avLst/>
          </a:prstGeom>
        </p:spPr>
      </p:pic>
      <p:sp>
        <p:nvSpPr>
          <p:cNvPr id="10" name="Text 5"/>
          <p:cNvSpPr txBox="1"/>
          <p:nvPr/>
        </p:nvSpPr>
        <p:spPr>
          <a:xfrm>
            <a:off x="1794256" y="2042160"/>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1</a:t>
            </a:r>
            <a:r>
              <a:rPr lang="en-US" sz="1500" dirty="0">
                <a:solidFill>
                  <a:schemeClr val="tx2"/>
                </a:solidFill>
              </a:rPr>
              <a:t>  </a:t>
            </a:r>
            <a:r>
              <a:rPr lang="en-US" sz="1500" i="1" dirty="0">
                <a:solidFill>
                  <a:schemeClr val="tx2"/>
                </a:solidFill>
              </a:rPr>
              <a:t>Je bent te laat.</a:t>
            </a:r>
            <a:r>
              <a:rPr lang="en-US" sz="1500" dirty="0">
                <a:solidFill>
                  <a:schemeClr val="tx2"/>
                </a:solidFill>
              </a:rPr>
              <a:t>  (eerder vertrekken)</a:t>
            </a:r>
            <a:endParaRPr lang="en-US" sz="1500" dirty="0"/>
          </a:p>
        </p:txBody>
      </p:sp>
      <p:sp>
        <p:nvSpPr>
          <p:cNvPr id="11" name="Text 6"/>
          <p:cNvSpPr txBox="1"/>
          <p:nvPr/>
        </p:nvSpPr>
        <p:spPr>
          <a:xfrm>
            <a:off x="1794256" y="2526914"/>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eerder </a:t>
            </a:r>
            <a:r>
              <a:rPr lang="en-US" sz="1800" i="1" dirty="0">
                <a:solidFill>
                  <a:schemeClr val="accent5"/>
                </a:solidFill>
              </a:rPr>
              <a:t>…………………………</a:t>
            </a:r>
            <a:r>
              <a:rPr lang="en-US" sz="1800" i="1" dirty="0">
                <a:solidFill>
                  <a:schemeClr val="tx1"/>
                </a:solidFill>
              </a:rPr>
              <a:t>.</a:t>
            </a:r>
            <a:endParaRPr lang="en-US" sz="1800" dirty="0"/>
          </a:p>
        </p:txBody>
      </p:sp>
      <p:sp>
        <p:nvSpPr>
          <p:cNvPr id="12" name="Shape 7"/>
          <p:cNvSpPr/>
          <p:nvPr/>
        </p:nvSpPr>
        <p:spPr>
          <a:xfrm>
            <a:off x="548640" y="3315208"/>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3" name="Image 2" descr="umbrella">    </p:cNvPr>
          <p:cNvPicPr>
            <a:picLocks noChangeAspect="1"/>
          </p:cNvPicPr>
          <p:nvPr/>
        </p:nvPicPr>
        <p:blipFill>
          <a:blip r:embed="rId3"/>
          <a:stretch>
            <a:fillRect/>
          </a:stretch>
        </p:blipFill>
        <p:spPr>
          <a:xfrm>
            <a:off x="685800" y="3452368"/>
            <a:ext cx="925576" cy="925576"/>
          </a:xfrm>
          <a:prstGeom prst="rect">
            <a:avLst/>
          </a:prstGeom>
        </p:spPr>
      </p:pic>
      <p:sp>
        <p:nvSpPr>
          <p:cNvPr id="14" name="Text 8"/>
          <p:cNvSpPr txBox="1"/>
          <p:nvPr/>
        </p:nvSpPr>
        <p:spPr>
          <a:xfrm>
            <a:off x="1794256" y="3379216"/>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2</a:t>
            </a:r>
            <a:r>
              <a:rPr lang="en-US" sz="1500" dirty="0">
                <a:solidFill>
                  <a:schemeClr val="tx2"/>
                </a:solidFill>
              </a:rPr>
              <a:t>  </a:t>
            </a:r>
            <a:r>
              <a:rPr lang="en-US" sz="1500" i="1" dirty="0">
                <a:solidFill>
                  <a:schemeClr val="tx2"/>
                </a:solidFill>
              </a:rPr>
              <a:t>Je bent helemaal nat.</a:t>
            </a:r>
            <a:r>
              <a:rPr lang="en-US" sz="1500" dirty="0">
                <a:solidFill>
                  <a:schemeClr val="tx2"/>
                </a:solidFill>
              </a:rPr>
              <a:t>  (een paraplu meenemen)</a:t>
            </a:r>
            <a:endParaRPr lang="en-US" sz="1500" dirty="0"/>
          </a:p>
        </p:txBody>
      </p:sp>
      <p:sp>
        <p:nvSpPr>
          <p:cNvPr id="15" name="Text 9"/>
          <p:cNvSpPr txBox="1"/>
          <p:nvPr/>
        </p:nvSpPr>
        <p:spPr>
          <a:xfrm>
            <a:off x="1794256" y="3863970"/>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een paraplu </a:t>
            </a:r>
            <a:r>
              <a:rPr lang="en-US" sz="1800" i="1" dirty="0">
                <a:solidFill>
                  <a:schemeClr val="accent5"/>
                </a:solidFill>
              </a:rPr>
              <a:t>………………………</a:t>
            </a:r>
            <a:r>
              <a:rPr lang="en-US" sz="1800" i="1" dirty="0">
                <a:solidFill>
                  <a:schemeClr val="tx1"/>
                </a:solidFill>
              </a:rPr>
              <a:t>.</a:t>
            </a:r>
            <a:endParaRPr lang="en-US" sz="1800" dirty="0"/>
          </a:p>
        </p:txBody>
      </p:sp>
      <p:sp>
        <p:nvSpPr>
          <p:cNvPr id="16" name="Shape 10"/>
          <p:cNvSpPr/>
          <p:nvPr/>
        </p:nvSpPr>
        <p:spPr>
          <a:xfrm>
            <a:off x="548640" y="4652264"/>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7" name="Image 3" descr="telephone receiver">    </p:cNvPr>
          <p:cNvPicPr>
            <a:picLocks noChangeAspect="1"/>
          </p:cNvPicPr>
          <p:nvPr/>
        </p:nvPicPr>
        <p:blipFill>
          <a:blip r:embed="rId4"/>
          <a:stretch>
            <a:fillRect/>
          </a:stretch>
        </p:blipFill>
        <p:spPr>
          <a:xfrm>
            <a:off x="685800" y="4789424"/>
            <a:ext cx="925576" cy="925576"/>
          </a:xfrm>
          <a:prstGeom prst="rect">
            <a:avLst/>
          </a:prstGeom>
        </p:spPr>
      </p:pic>
      <p:sp>
        <p:nvSpPr>
          <p:cNvPr id="18" name="Text 11"/>
          <p:cNvSpPr txBox="1"/>
          <p:nvPr/>
        </p:nvSpPr>
        <p:spPr>
          <a:xfrm>
            <a:off x="1794256" y="4716272"/>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3</a:t>
            </a:r>
            <a:r>
              <a:rPr lang="en-US" sz="1500" dirty="0">
                <a:solidFill>
                  <a:schemeClr val="tx2"/>
                </a:solidFill>
              </a:rPr>
              <a:t>  </a:t>
            </a:r>
            <a:r>
              <a:rPr lang="en-US" sz="1500" i="1" dirty="0">
                <a:solidFill>
                  <a:schemeClr val="tx2"/>
                </a:solidFill>
              </a:rPr>
              <a:t>Ik wist het niet!</a:t>
            </a:r>
            <a:r>
              <a:rPr lang="en-US" sz="1500" dirty="0">
                <a:solidFill>
                  <a:schemeClr val="tx2"/>
                </a:solidFill>
              </a:rPr>
              <a:t>  (me bellen)</a:t>
            </a:r>
            <a:endParaRPr lang="en-US" sz="1500" dirty="0"/>
          </a:p>
        </p:txBody>
      </p:sp>
      <p:sp>
        <p:nvSpPr>
          <p:cNvPr id="19" name="Text 12"/>
          <p:cNvSpPr txBox="1"/>
          <p:nvPr/>
        </p:nvSpPr>
        <p:spPr>
          <a:xfrm>
            <a:off x="1794256" y="5201026"/>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me </a:t>
            </a:r>
            <a:r>
              <a:rPr lang="en-US" sz="1800" i="1" dirty="0">
                <a:solidFill>
                  <a:schemeClr val="accent5"/>
                </a:solidFill>
              </a:rPr>
              <a:t>……………………</a:t>
            </a:r>
            <a:r>
              <a:rPr lang="en-US" sz="1800" i="1" dirty="0">
                <a:solidFill>
                  <a:schemeClr val="tx1"/>
                </a:solidFill>
              </a:rPr>
              <a:t>.</a:t>
            </a:r>
            <a:endParaRPr lang="en-US" sz="1800" dirty="0"/>
          </a:p>
        </p:txBody>
      </p:sp>
      <p:sp>
        <p:nvSpPr>
          <p:cNvPr id="20" name="Shape 13"/>
          <p:cNvSpPr/>
          <p:nvPr/>
        </p:nvSpPr>
        <p:spPr>
          <a:xfrm>
            <a:off x="6231636" y="1978152"/>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1" name="Image 4" descr="trophy">    </p:cNvPr>
          <p:cNvPicPr>
            <a:picLocks noChangeAspect="1"/>
          </p:cNvPicPr>
          <p:nvPr/>
        </p:nvPicPr>
        <p:blipFill>
          <a:blip r:embed="rId5"/>
          <a:stretch>
            <a:fillRect/>
          </a:stretch>
        </p:blipFill>
        <p:spPr>
          <a:xfrm>
            <a:off x="6368796" y="2115312"/>
            <a:ext cx="925576" cy="925576"/>
          </a:xfrm>
          <a:prstGeom prst="rect">
            <a:avLst/>
          </a:prstGeom>
        </p:spPr>
      </p:pic>
      <p:sp>
        <p:nvSpPr>
          <p:cNvPr id="22" name="Text 14"/>
          <p:cNvSpPr txBox="1"/>
          <p:nvPr/>
        </p:nvSpPr>
        <p:spPr>
          <a:xfrm>
            <a:off x="7477252" y="2042160"/>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4</a:t>
            </a:r>
            <a:r>
              <a:rPr lang="en-US" sz="1500" dirty="0">
                <a:solidFill>
                  <a:schemeClr val="tx2"/>
                </a:solidFill>
              </a:rPr>
              <a:t>  </a:t>
            </a:r>
            <a:r>
              <a:rPr lang="en-US" sz="1500" i="1" dirty="0">
                <a:solidFill>
                  <a:schemeClr val="tx2"/>
                </a:solidFill>
              </a:rPr>
              <a:t>We hebben net niet gewonnen.</a:t>
            </a:r>
            <a:r>
              <a:rPr lang="en-US" sz="1500" dirty="0">
                <a:solidFill>
                  <a:schemeClr val="tx2"/>
                </a:solidFill>
              </a:rPr>
              <a:t>  (winnen)</a:t>
            </a:r>
            <a:endParaRPr lang="en-US" sz="1500" dirty="0"/>
          </a:p>
        </p:txBody>
      </p:sp>
      <p:sp>
        <p:nvSpPr>
          <p:cNvPr id="23" name="Text 15"/>
          <p:cNvSpPr txBox="1"/>
          <p:nvPr/>
        </p:nvSpPr>
        <p:spPr>
          <a:xfrm>
            <a:off x="7477252" y="2526914"/>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We hadden </a:t>
            </a:r>
            <a:r>
              <a:rPr lang="en-US" sz="1800" i="1" dirty="0">
                <a:solidFill>
                  <a:schemeClr val="accent5"/>
                </a:solidFill>
              </a:rPr>
              <a:t>……………………</a:t>
            </a:r>
            <a:r>
              <a:rPr lang="en-US" sz="1800" i="1" dirty="0">
                <a:solidFill>
                  <a:schemeClr val="tx1"/>
                </a:solidFill>
              </a:rPr>
              <a:t>.</a:t>
            </a:r>
            <a:endParaRPr lang="en-US" sz="1800" dirty="0"/>
          </a:p>
        </p:txBody>
      </p:sp>
      <p:sp>
        <p:nvSpPr>
          <p:cNvPr id="24" name="Shape 16"/>
          <p:cNvSpPr/>
          <p:nvPr/>
        </p:nvSpPr>
        <p:spPr>
          <a:xfrm>
            <a:off x="6231636" y="3315208"/>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5" name="Image 5" descr="face with thermometer">    </p:cNvPr>
          <p:cNvPicPr>
            <a:picLocks noChangeAspect="1"/>
          </p:cNvPicPr>
          <p:nvPr/>
        </p:nvPicPr>
        <p:blipFill>
          <a:blip r:embed="rId6"/>
          <a:stretch>
            <a:fillRect/>
          </a:stretch>
        </p:blipFill>
        <p:spPr>
          <a:xfrm>
            <a:off x="6368796" y="3452368"/>
            <a:ext cx="925576" cy="925576"/>
          </a:xfrm>
          <a:prstGeom prst="rect">
            <a:avLst/>
          </a:prstGeom>
        </p:spPr>
      </p:pic>
      <p:sp>
        <p:nvSpPr>
          <p:cNvPr id="26" name="Text 17"/>
          <p:cNvSpPr txBox="1"/>
          <p:nvPr/>
        </p:nvSpPr>
        <p:spPr>
          <a:xfrm>
            <a:off x="7477252" y="3379216"/>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5</a:t>
            </a:r>
            <a:r>
              <a:rPr lang="en-US" sz="1500" dirty="0">
                <a:solidFill>
                  <a:schemeClr val="tx2"/>
                </a:solidFill>
              </a:rPr>
              <a:t>  </a:t>
            </a:r>
            <a:r>
              <a:rPr lang="en-US" sz="1500" i="1" dirty="0">
                <a:solidFill>
                  <a:schemeClr val="tx2"/>
                </a:solidFill>
              </a:rPr>
              <a:t>Hij is nog altijd ziek.</a:t>
            </a:r>
            <a:r>
              <a:rPr lang="en-US" sz="1500" dirty="0">
                <a:solidFill>
                  <a:schemeClr val="tx2"/>
                </a:solidFill>
              </a:rPr>
              <a:t>  (thuisblijven)</a:t>
            </a:r>
            <a:endParaRPr lang="en-US" sz="1500" dirty="0"/>
          </a:p>
        </p:txBody>
      </p:sp>
      <p:sp>
        <p:nvSpPr>
          <p:cNvPr id="27" name="Text 18"/>
          <p:cNvSpPr txBox="1"/>
          <p:nvPr/>
        </p:nvSpPr>
        <p:spPr>
          <a:xfrm>
            <a:off x="7477252" y="3863970"/>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Hij had thuis </a:t>
            </a:r>
            <a:r>
              <a:rPr lang="en-US" sz="1800" i="1" dirty="0">
                <a:solidFill>
                  <a:schemeClr val="accent5"/>
                </a:solidFill>
              </a:rPr>
              <a:t>……………………</a:t>
            </a:r>
            <a:r>
              <a:rPr lang="en-US" sz="1800" i="1" dirty="0">
                <a:solidFill>
                  <a:schemeClr val="tx1"/>
                </a:solidFill>
              </a:rPr>
              <a:t>.</a:t>
            </a:r>
            <a:endParaRPr lang="en-US" sz="1800" dirty="0"/>
          </a:p>
        </p:txBody>
      </p:sp>
      <p:sp>
        <p:nvSpPr>
          <p:cNvPr id="28" name="Shape 19"/>
          <p:cNvSpPr/>
          <p:nvPr/>
        </p:nvSpPr>
        <p:spPr>
          <a:xfrm>
            <a:off x="6231636" y="4652264"/>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9" name="Image 6" descr="money bag">    </p:cNvPr>
          <p:cNvPicPr>
            <a:picLocks noChangeAspect="1"/>
          </p:cNvPicPr>
          <p:nvPr/>
        </p:nvPicPr>
        <p:blipFill>
          <a:blip r:embed="rId7"/>
          <a:stretch>
            <a:fillRect/>
          </a:stretch>
        </p:blipFill>
        <p:spPr>
          <a:xfrm>
            <a:off x="6368796" y="4789424"/>
            <a:ext cx="925576" cy="925576"/>
          </a:xfrm>
          <a:prstGeom prst="rect">
            <a:avLst/>
          </a:prstGeom>
        </p:spPr>
      </p:pic>
      <p:sp>
        <p:nvSpPr>
          <p:cNvPr id="30" name="Text 20"/>
          <p:cNvSpPr txBox="1"/>
          <p:nvPr/>
        </p:nvSpPr>
        <p:spPr>
          <a:xfrm>
            <a:off x="7477252" y="4716272"/>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6</a:t>
            </a:r>
            <a:r>
              <a:rPr lang="en-US" sz="1500" dirty="0">
                <a:solidFill>
                  <a:schemeClr val="tx2"/>
                </a:solidFill>
              </a:rPr>
              <a:t>  </a:t>
            </a:r>
            <a:r>
              <a:rPr lang="en-US" sz="1500" i="1" dirty="0">
                <a:solidFill>
                  <a:schemeClr val="tx2"/>
                </a:solidFill>
              </a:rPr>
              <a:t>Je hebt te veel betaald.</a:t>
            </a:r>
            <a:r>
              <a:rPr lang="en-US" sz="1500" dirty="0">
                <a:solidFill>
                  <a:schemeClr val="tx2"/>
                </a:solidFill>
              </a:rPr>
              <a:t>  (de prijzen vergelijken)</a:t>
            </a:r>
            <a:endParaRPr lang="en-US" sz="1500" dirty="0"/>
          </a:p>
        </p:txBody>
      </p:sp>
      <p:sp>
        <p:nvSpPr>
          <p:cNvPr id="31" name="Text 21"/>
          <p:cNvSpPr txBox="1"/>
          <p:nvPr/>
        </p:nvSpPr>
        <p:spPr>
          <a:xfrm>
            <a:off x="7477252" y="5201026"/>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de prijzen </a:t>
            </a:r>
            <a:r>
              <a:rPr lang="en-US" sz="1800" i="1" dirty="0">
                <a:solidFill>
                  <a:schemeClr val="accent5"/>
                </a:solidFill>
              </a:rPr>
              <a:t>……………………………</a:t>
            </a:r>
            <a:r>
              <a:rPr lang="en-US" sz="1800" i="1"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Les regrets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Réagissez avec </a:t>
            </a:r>
            <a:r>
              <a:rPr lang="en-US" sz="1700" i="1" dirty="0">
                <a:solidFill>
                  <a:schemeClr val="accent5"/>
                </a:solidFill>
              </a:rPr>
              <a:t>had moeten</a:t>
            </a:r>
            <a:r>
              <a:rPr lang="en-US" sz="1700" i="1" dirty="0">
                <a:solidFill>
                  <a:schemeClr val="accent5"/>
                </a:solidFill>
              </a:rPr>
              <a:t> (aurais dû) ou </a:t>
            </a:r>
            <a:r>
              <a:rPr lang="en-US" sz="1700" i="1" dirty="0">
                <a:solidFill>
                  <a:schemeClr val="accent5"/>
                </a:solidFill>
              </a:rPr>
              <a:t>had kunnen</a:t>
            </a:r>
            <a:r>
              <a:rPr lang="en-US" sz="1700" i="1" dirty="0">
                <a:solidFill>
                  <a:schemeClr val="accent5"/>
                </a:solidFill>
              </a:rPr>
              <a:t> (aurais pu).</a:t>
            </a:r>
            <a:endParaRPr lang="en-US" sz="1700" dirty="0"/>
          </a:p>
        </p:txBody>
      </p:sp>
      <p:sp>
        <p:nvSpPr>
          <p:cNvPr id="9" name="Shape 5"/>
          <p:cNvSpPr/>
          <p:nvPr/>
        </p:nvSpPr>
        <p:spPr>
          <a:xfrm>
            <a:off x="548640" y="1978152"/>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0" name="Image 1" descr="alarm clock">    </p:cNvPr>
          <p:cNvPicPr>
            <a:picLocks noChangeAspect="1"/>
          </p:cNvPicPr>
          <p:nvPr/>
        </p:nvPicPr>
        <p:blipFill>
          <a:blip r:embed="rId2"/>
          <a:stretch>
            <a:fillRect/>
          </a:stretch>
        </p:blipFill>
        <p:spPr>
          <a:xfrm>
            <a:off x="685800" y="2115312"/>
            <a:ext cx="925576" cy="925576"/>
          </a:xfrm>
          <a:prstGeom prst="rect">
            <a:avLst/>
          </a:prstGeom>
        </p:spPr>
      </p:pic>
      <p:sp>
        <p:nvSpPr>
          <p:cNvPr id="11" name="Text 6"/>
          <p:cNvSpPr txBox="1"/>
          <p:nvPr/>
        </p:nvSpPr>
        <p:spPr>
          <a:xfrm>
            <a:off x="1794256" y="2042160"/>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1</a:t>
            </a:r>
            <a:r>
              <a:rPr lang="en-US" sz="1500" dirty="0">
                <a:solidFill>
                  <a:schemeClr val="tx2"/>
                </a:solidFill>
              </a:rPr>
              <a:t>  </a:t>
            </a:r>
            <a:r>
              <a:rPr lang="en-US" sz="1500" i="1" dirty="0">
                <a:solidFill>
                  <a:schemeClr val="tx2"/>
                </a:solidFill>
              </a:rPr>
              <a:t>Je bent te laat.</a:t>
            </a:r>
            <a:r>
              <a:rPr lang="en-US" sz="1500" dirty="0">
                <a:solidFill>
                  <a:schemeClr val="tx2"/>
                </a:solidFill>
              </a:rPr>
              <a:t>  (eerder vertrekken)</a:t>
            </a:r>
            <a:endParaRPr lang="en-US" sz="1500" dirty="0"/>
          </a:p>
        </p:txBody>
      </p:sp>
      <p:sp>
        <p:nvSpPr>
          <p:cNvPr id="12" name="Text 7"/>
          <p:cNvSpPr txBox="1"/>
          <p:nvPr/>
        </p:nvSpPr>
        <p:spPr>
          <a:xfrm>
            <a:off x="1794256" y="2526914"/>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eerder </a:t>
            </a:r>
            <a:r>
              <a:rPr lang="en-US" sz="1800" b="1" i="1" dirty="0">
                <a:solidFill>
                  <a:schemeClr val="accent3"/>
                </a:solidFill>
              </a:rPr>
              <a:t>moeten vertrekken</a:t>
            </a:r>
            <a:r>
              <a:rPr lang="en-US" sz="1800" i="1" dirty="0">
                <a:solidFill>
                  <a:schemeClr val="tx1"/>
                </a:solidFill>
              </a:rPr>
              <a:t>.</a:t>
            </a:r>
            <a:endParaRPr lang="en-US" sz="1800" dirty="0"/>
          </a:p>
        </p:txBody>
      </p:sp>
      <p:sp>
        <p:nvSpPr>
          <p:cNvPr id="13" name="Shape 8"/>
          <p:cNvSpPr/>
          <p:nvPr/>
        </p:nvSpPr>
        <p:spPr>
          <a:xfrm>
            <a:off x="548640" y="3315208"/>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4" name="Image 2" descr="umbrella">    </p:cNvPr>
          <p:cNvPicPr>
            <a:picLocks noChangeAspect="1"/>
          </p:cNvPicPr>
          <p:nvPr/>
        </p:nvPicPr>
        <p:blipFill>
          <a:blip r:embed="rId3"/>
          <a:stretch>
            <a:fillRect/>
          </a:stretch>
        </p:blipFill>
        <p:spPr>
          <a:xfrm>
            <a:off x="685800" y="3452368"/>
            <a:ext cx="925576" cy="925576"/>
          </a:xfrm>
          <a:prstGeom prst="rect">
            <a:avLst/>
          </a:prstGeom>
        </p:spPr>
      </p:pic>
      <p:sp>
        <p:nvSpPr>
          <p:cNvPr id="15" name="Text 9"/>
          <p:cNvSpPr txBox="1"/>
          <p:nvPr/>
        </p:nvSpPr>
        <p:spPr>
          <a:xfrm>
            <a:off x="1794256" y="3379216"/>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2</a:t>
            </a:r>
            <a:r>
              <a:rPr lang="en-US" sz="1500" dirty="0">
                <a:solidFill>
                  <a:schemeClr val="tx2"/>
                </a:solidFill>
              </a:rPr>
              <a:t>  </a:t>
            </a:r>
            <a:r>
              <a:rPr lang="en-US" sz="1500" i="1" dirty="0">
                <a:solidFill>
                  <a:schemeClr val="tx2"/>
                </a:solidFill>
              </a:rPr>
              <a:t>Je bent helemaal nat.</a:t>
            </a:r>
            <a:r>
              <a:rPr lang="en-US" sz="1500" dirty="0">
                <a:solidFill>
                  <a:schemeClr val="tx2"/>
                </a:solidFill>
              </a:rPr>
              <a:t>  (een paraplu meenemen)</a:t>
            </a:r>
            <a:endParaRPr lang="en-US" sz="1500" dirty="0"/>
          </a:p>
        </p:txBody>
      </p:sp>
      <p:sp>
        <p:nvSpPr>
          <p:cNvPr id="16" name="Text 10"/>
          <p:cNvSpPr txBox="1"/>
          <p:nvPr/>
        </p:nvSpPr>
        <p:spPr>
          <a:xfrm>
            <a:off x="1794256" y="3863970"/>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een paraplu </a:t>
            </a:r>
            <a:r>
              <a:rPr lang="en-US" sz="1800" b="1" i="1" dirty="0">
                <a:solidFill>
                  <a:schemeClr val="accent3"/>
                </a:solidFill>
              </a:rPr>
              <a:t>moeten meenemen</a:t>
            </a:r>
            <a:r>
              <a:rPr lang="en-US" sz="1800" i="1" dirty="0">
                <a:solidFill>
                  <a:schemeClr val="tx1"/>
                </a:solidFill>
              </a:rPr>
              <a:t>.</a:t>
            </a:r>
            <a:endParaRPr lang="en-US" sz="1800" dirty="0"/>
          </a:p>
        </p:txBody>
      </p:sp>
      <p:sp>
        <p:nvSpPr>
          <p:cNvPr id="17" name="Shape 11"/>
          <p:cNvSpPr/>
          <p:nvPr/>
        </p:nvSpPr>
        <p:spPr>
          <a:xfrm>
            <a:off x="548640" y="4652264"/>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8" name="Image 3" descr="telephone receiver">    </p:cNvPr>
          <p:cNvPicPr>
            <a:picLocks noChangeAspect="1"/>
          </p:cNvPicPr>
          <p:nvPr/>
        </p:nvPicPr>
        <p:blipFill>
          <a:blip r:embed="rId4"/>
          <a:stretch>
            <a:fillRect/>
          </a:stretch>
        </p:blipFill>
        <p:spPr>
          <a:xfrm>
            <a:off x="685800" y="4789424"/>
            <a:ext cx="925576" cy="925576"/>
          </a:xfrm>
          <a:prstGeom prst="rect">
            <a:avLst/>
          </a:prstGeom>
        </p:spPr>
      </p:pic>
      <p:sp>
        <p:nvSpPr>
          <p:cNvPr id="19" name="Text 12"/>
          <p:cNvSpPr txBox="1"/>
          <p:nvPr/>
        </p:nvSpPr>
        <p:spPr>
          <a:xfrm>
            <a:off x="1794256" y="4716272"/>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3</a:t>
            </a:r>
            <a:r>
              <a:rPr lang="en-US" sz="1500" dirty="0">
                <a:solidFill>
                  <a:schemeClr val="tx2"/>
                </a:solidFill>
              </a:rPr>
              <a:t>  </a:t>
            </a:r>
            <a:r>
              <a:rPr lang="en-US" sz="1500" i="1" dirty="0">
                <a:solidFill>
                  <a:schemeClr val="tx2"/>
                </a:solidFill>
              </a:rPr>
              <a:t>Ik wist het niet!</a:t>
            </a:r>
            <a:r>
              <a:rPr lang="en-US" sz="1500" dirty="0">
                <a:solidFill>
                  <a:schemeClr val="tx2"/>
                </a:solidFill>
              </a:rPr>
              <a:t>  (me bellen)</a:t>
            </a:r>
            <a:endParaRPr lang="en-US" sz="1500" dirty="0"/>
          </a:p>
        </p:txBody>
      </p:sp>
      <p:sp>
        <p:nvSpPr>
          <p:cNvPr id="20" name="Text 13"/>
          <p:cNvSpPr txBox="1"/>
          <p:nvPr/>
        </p:nvSpPr>
        <p:spPr>
          <a:xfrm>
            <a:off x="1794256" y="5201026"/>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me </a:t>
            </a:r>
            <a:r>
              <a:rPr lang="en-US" sz="1800" b="1" i="1" dirty="0">
                <a:solidFill>
                  <a:schemeClr val="accent3"/>
                </a:solidFill>
              </a:rPr>
              <a:t>kunnen bellen</a:t>
            </a:r>
            <a:r>
              <a:rPr lang="en-US" sz="1800" i="1" dirty="0">
                <a:solidFill>
                  <a:schemeClr val="tx1"/>
                </a:solidFill>
              </a:rPr>
              <a:t>.</a:t>
            </a:r>
            <a:endParaRPr lang="en-US" sz="1800" dirty="0"/>
          </a:p>
        </p:txBody>
      </p:sp>
      <p:sp>
        <p:nvSpPr>
          <p:cNvPr id="21" name="Shape 14"/>
          <p:cNvSpPr/>
          <p:nvPr/>
        </p:nvSpPr>
        <p:spPr>
          <a:xfrm>
            <a:off x="6231636" y="1978152"/>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2" name="Image 4" descr="trophy">    </p:cNvPr>
          <p:cNvPicPr>
            <a:picLocks noChangeAspect="1"/>
          </p:cNvPicPr>
          <p:nvPr/>
        </p:nvPicPr>
        <p:blipFill>
          <a:blip r:embed="rId5"/>
          <a:stretch>
            <a:fillRect/>
          </a:stretch>
        </p:blipFill>
        <p:spPr>
          <a:xfrm>
            <a:off x="6368796" y="2115312"/>
            <a:ext cx="925576" cy="925576"/>
          </a:xfrm>
          <a:prstGeom prst="rect">
            <a:avLst/>
          </a:prstGeom>
        </p:spPr>
      </p:pic>
      <p:sp>
        <p:nvSpPr>
          <p:cNvPr id="23" name="Text 15"/>
          <p:cNvSpPr txBox="1"/>
          <p:nvPr/>
        </p:nvSpPr>
        <p:spPr>
          <a:xfrm>
            <a:off x="7477252" y="2042160"/>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4</a:t>
            </a:r>
            <a:r>
              <a:rPr lang="en-US" sz="1500" dirty="0">
                <a:solidFill>
                  <a:schemeClr val="tx2"/>
                </a:solidFill>
              </a:rPr>
              <a:t>  </a:t>
            </a:r>
            <a:r>
              <a:rPr lang="en-US" sz="1500" i="1" dirty="0">
                <a:solidFill>
                  <a:schemeClr val="tx2"/>
                </a:solidFill>
              </a:rPr>
              <a:t>We hebben net niet gewonnen.</a:t>
            </a:r>
            <a:r>
              <a:rPr lang="en-US" sz="1500" dirty="0">
                <a:solidFill>
                  <a:schemeClr val="tx2"/>
                </a:solidFill>
              </a:rPr>
              <a:t>  (winnen)</a:t>
            </a:r>
            <a:endParaRPr lang="en-US" sz="1500" dirty="0"/>
          </a:p>
        </p:txBody>
      </p:sp>
      <p:sp>
        <p:nvSpPr>
          <p:cNvPr id="24" name="Text 16"/>
          <p:cNvSpPr txBox="1"/>
          <p:nvPr/>
        </p:nvSpPr>
        <p:spPr>
          <a:xfrm>
            <a:off x="7477252" y="2526914"/>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We hadden </a:t>
            </a:r>
            <a:r>
              <a:rPr lang="en-US" sz="1800" b="1" i="1" dirty="0">
                <a:solidFill>
                  <a:schemeClr val="accent3"/>
                </a:solidFill>
              </a:rPr>
              <a:t>kunnen winnen</a:t>
            </a:r>
            <a:r>
              <a:rPr lang="en-US" sz="1800" i="1" dirty="0">
                <a:solidFill>
                  <a:schemeClr val="tx1"/>
                </a:solidFill>
              </a:rPr>
              <a:t>.</a:t>
            </a:r>
            <a:endParaRPr lang="en-US" sz="1800" dirty="0"/>
          </a:p>
        </p:txBody>
      </p:sp>
      <p:sp>
        <p:nvSpPr>
          <p:cNvPr id="25" name="Shape 17"/>
          <p:cNvSpPr/>
          <p:nvPr/>
        </p:nvSpPr>
        <p:spPr>
          <a:xfrm>
            <a:off x="6231636" y="3315208"/>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6" name="Image 5" descr="face with thermometer">    </p:cNvPr>
          <p:cNvPicPr>
            <a:picLocks noChangeAspect="1"/>
          </p:cNvPicPr>
          <p:nvPr/>
        </p:nvPicPr>
        <p:blipFill>
          <a:blip r:embed="rId6"/>
          <a:stretch>
            <a:fillRect/>
          </a:stretch>
        </p:blipFill>
        <p:spPr>
          <a:xfrm>
            <a:off x="6368796" y="3452368"/>
            <a:ext cx="925576" cy="925576"/>
          </a:xfrm>
          <a:prstGeom prst="rect">
            <a:avLst/>
          </a:prstGeom>
        </p:spPr>
      </p:pic>
      <p:sp>
        <p:nvSpPr>
          <p:cNvPr id="27" name="Text 18"/>
          <p:cNvSpPr txBox="1"/>
          <p:nvPr/>
        </p:nvSpPr>
        <p:spPr>
          <a:xfrm>
            <a:off x="7477252" y="3379216"/>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5</a:t>
            </a:r>
            <a:r>
              <a:rPr lang="en-US" sz="1500" dirty="0">
                <a:solidFill>
                  <a:schemeClr val="tx2"/>
                </a:solidFill>
              </a:rPr>
              <a:t>  </a:t>
            </a:r>
            <a:r>
              <a:rPr lang="en-US" sz="1500" i="1" dirty="0">
                <a:solidFill>
                  <a:schemeClr val="tx2"/>
                </a:solidFill>
              </a:rPr>
              <a:t>Hij is nog altijd ziek.</a:t>
            </a:r>
            <a:r>
              <a:rPr lang="en-US" sz="1500" dirty="0">
                <a:solidFill>
                  <a:schemeClr val="tx2"/>
                </a:solidFill>
              </a:rPr>
              <a:t>  (thuisblijven)</a:t>
            </a:r>
            <a:endParaRPr lang="en-US" sz="1500" dirty="0"/>
          </a:p>
        </p:txBody>
      </p:sp>
      <p:sp>
        <p:nvSpPr>
          <p:cNvPr id="28" name="Text 19"/>
          <p:cNvSpPr txBox="1"/>
          <p:nvPr/>
        </p:nvSpPr>
        <p:spPr>
          <a:xfrm>
            <a:off x="7477252" y="3863970"/>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Hij had thuis </a:t>
            </a:r>
            <a:r>
              <a:rPr lang="en-US" sz="1800" b="1" i="1" dirty="0">
                <a:solidFill>
                  <a:schemeClr val="accent3"/>
                </a:solidFill>
              </a:rPr>
              <a:t>moeten blijven</a:t>
            </a:r>
            <a:r>
              <a:rPr lang="en-US" sz="1800" i="1" dirty="0">
                <a:solidFill>
                  <a:schemeClr val="tx1"/>
                </a:solidFill>
              </a:rPr>
              <a:t>.</a:t>
            </a:r>
            <a:endParaRPr lang="en-US" sz="1800" dirty="0"/>
          </a:p>
        </p:txBody>
      </p:sp>
      <p:sp>
        <p:nvSpPr>
          <p:cNvPr id="29" name="Shape 20"/>
          <p:cNvSpPr/>
          <p:nvPr/>
        </p:nvSpPr>
        <p:spPr>
          <a:xfrm>
            <a:off x="6231636" y="4652264"/>
            <a:ext cx="5408676" cy="1209040"/>
          </a:xfrm>
          <a:prstGeom prst="roundRect">
            <a:avLst>
              <a:gd name="adj" fmla="val 907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0" name="Image 6" descr="money bag">    </p:cNvPr>
          <p:cNvPicPr>
            <a:picLocks noChangeAspect="1"/>
          </p:cNvPicPr>
          <p:nvPr/>
        </p:nvPicPr>
        <p:blipFill>
          <a:blip r:embed="rId7"/>
          <a:stretch>
            <a:fillRect/>
          </a:stretch>
        </p:blipFill>
        <p:spPr>
          <a:xfrm>
            <a:off x="6368796" y="4789424"/>
            <a:ext cx="925576" cy="925576"/>
          </a:xfrm>
          <a:prstGeom prst="rect">
            <a:avLst/>
          </a:prstGeom>
        </p:spPr>
      </p:pic>
      <p:sp>
        <p:nvSpPr>
          <p:cNvPr id="31" name="Text 21"/>
          <p:cNvSpPr txBox="1"/>
          <p:nvPr/>
        </p:nvSpPr>
        <p:spPr>
          <a:xfrm>
            <a:off x="7477252" y="4716272"/>
            <a:ext cx="4071620" cy="484754"/>
          </a:xfrm>
          <a:prstGeom prst="rect">
            <a:avLst/>
          </a:prstGeom>
          <a:noFill/>
          <a:ln/>
        </p:spPr>
        <p:txBody>
          <a:bodyPr wrap="square" lIns="0" tIns="0" rIns="0" bIns="0" rtlCol="0" anchor="ctr"/>
          <a:lstStyle/>
          <a:p>
            <a:pPr algn="l" indent="0" marL="0">
              <a:buNone/>
            </a:pPr>
            <a:r>
              <a:rPr lang="en-US" sz="1500" b="1" dirty="0">
                <a:solidFill>
                  <a:schemeClr val="tx2"/>
                </a:solidFill>
              </a:rPr>
              <a:t>6</a:t>
            </a:r>
            <a:r>
              <a:rPr lang="en-US" sz="1500" dirty="0">
                <a:solidFill>
                  <a:schemeClr val="tx2"/>
                </a:solidFill>
              </a:rPr>
              <a:t>  </a:t>
            </a:r>
            <a:r>
              <a:rPr lang="en-US" sz="1500" i="1" dirty="0">
                <a:solidFill>
                  <a:schemeClr val="tx2"/>
                </a:solidFill>
              </a:rPr>
              <a:t>Je hebt te veel betaald.</a:t>
            </a:r>
            <a:r>
              <a:rPr lang="en-US" sz="1500" dirty="0">
                <a:solidFill>
                  <a:schemeClr val="tx2"/>
                </a:solidFill>
              </a:rPr>
              <a:t>  (de prijzen vergelijken)</a:t>
            </a:r>
            <a:endParaRPr lang="en-US" sz="1500" dirty="0"/>
          </a:p>
        </p:txBody>
      </p:sp>
      <p:sp>
        <p:nvSpPr>
          <p:cNvPr id="32" name="Text 22"/>
          <p:cNvSpPr txBox="1"/>
          <p:nvPr/>
        </p:nvSpPr>
        <p:spPr>
          <a:xfrm>
            <a:off x="7477252" y="5201026"/>
            <a:ext cx="4071620" cy="634797"/>
          </a:xfrm>
          <a:prstGeom prst="rect">
            <a:avLst/>
          </a:prstGeom>
          <a:noFill/>
          <a:ln/>
        </p:spPr>
        <p:txBody>
          <a:bodyPr wrap="square" lIns="0" tIns="0" rIns="0" bIns="0" rtlCol="0" anchor="ctr"/>
          <a:lstStyle/>
          <a:p>
            <a:pPr algn="l" indent="0" marL="0">
              <a:buNone/>
            </a:pPr>
            <a:r>
              <a:rPr lang="en-US" sz="1800" i="1" dirty="0">
                <a:solidFill>
                  <a:schemeClr val="tx1"/>
                </a:solidFill>
              </a:rPr>
              <a:t>Je had de prijzen </a:t>
            </a:r>
            <a:r>
              <a:rPr lang="en-US" sz="1800" b="1" i="1" dirty="0">
                <a:solidFill>
                  <a:schemeClr val="accent3"/>
                </a:solidFill>
              </a:rPr>
              <a:t>moeten vergelijken</a:t>
            </a:r>
            <a:r>
              <a:rPr lang="en-US" sz="1800" i="1" dirty="0">
                <a:solidFill>
                  <a:schemeClr val="tx1"/>
                </a:solidFill>
              </a:rPr>
              <a:t>.</a:t>
            </a:r>
            <a:endParaRPr lang="en-US" sz="1800" dirty="0"/>
          </a:p>
        </p:txBody>
      </p:sp>
      <p:sp>
        <p:nvSpPr>
          <p:cNvPr id="33" name="Text 23"/>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Aussi : n° 2 </a:t>
            </a:r>
            <a:r>
              <a:rPr lang="en-US" sz="1300" i="1" dirty="0">
                <a:solidFill>
                  <a:schemeClr val="accent5"/>
                </a:solidFill>
              </a:rPr>
              <a:t>mee moeten nemen</a:t>
            </a:r>
            <a:r>
              <a:rPr lang="en-US" sz="1300" i="1" dirty="0">
                <a:solidFill>
                  <a:schemeClr val="accent5"/>
                </a:solidFill>
              </a:rPr>
              <a:t> / </a:t>
            </a:r>
            <a:r>
              <a:rPr lang="en-US" sz="1300" i="1" dirty="0">
                <a:solidFill>
                  <a:schemeClr val="accent5"/>
                </a:solidFill>
              </a:rPr>
              <a:t>kunnen meenemen</a:t>
            </a:r>
            <a:r>
              <a:rPr lang="en-US" sz="1300" i="1" dirty="0">
                <a:solidFill>
                  <a:schemeClr val="accent5"/>
                </a:solidFill>
              </a:rPr>
              <a:t> · n° 3 </a:t>
            </a:r>
            <a:r>
              <a:rPr lang="en-US" sz="1300" i="1" dirty="0">
                <a:solidFill>
                  <a:schemeClr val="accent5"/>
                </a:solidFill>
              </a:rPr>
              <a:t>moeten bellen</a:t>
            </a:r>
            <a:r>
              <a:rPr lang="en-US" sz="1300" i="1" dirty="0">
                <a:solidFill>
                  <a:schemeClr val="accent5"/>
                </a:solidFill>
              </a:rPr>
              <a:t> · n° 4 </a:t>
            </a:r>
            <a:r>
              <a:rPr lang="en-US" sz="1300" i="1" dirty="0">
                <a:solidFill>
                  <a:schemeClr val="accent5"/>
                </a:solidFill>
              </a:rPr>
              <a:t>moeten winnen</a:t>
            </a:r>
            <a:r>
              <a:rPr lang="en-US" sz="1300" i="1" dirty="0">
                <a:solidFill>
                  <a:schemeClr val="accent5"/>
                </a:solidFill>
              </a:rPr>
              <a:t> · n° 5 </a:t>
            </a:r>
            <a:r>
              <a:rPr lang="en-US" sz="1300" i="1" dirty="0">
                <a:solidFill>
                  <a:schemeClr val="accent5"/>
                </a:solidFill>
              </a:rPr>
              <a:t>moeten thuisblijven</a:t>
            </a:r>
            <a:r>
              <a:rPr lang="en-US" sz="1300" i="1" dirty="0">
                <a:solidFill>
                  <a:schemeClr val="accent5"/>
                </a:solidFill>
              </a:rPr>
              <a:t> · n° 6 </a:t>
            </a:r>
            <a:r>
              <a:rPr lang="en-US" sz="1300" i="1" dirty="0">
                <a:solidFill>
                  <a:schemeClr val="accent5"/>
                </a:solidFill>
              </a:rPr>
              <a:t>kunnen vergelijken</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jeu des excuses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Text 3"/>
          <p:cNvSpPr txBox="1"/>
          <p:nvPr/>
        </p:nvSpPr>
        <p:spPr>
          <a:xfrm>
            <a:off x="548640" y="1417320"/>
            <a:ext cx="11091672" cy="457200"/>
          </a:xfrm>
          <a:prstGeom prst="rect">
            <a:avLst/>
          </a:prstGeom>
          <a:noFill/>
          <a:ln/>
        </p:spPr>
        <p:txBody>
          <a:bodyPr wrap="square" lIns="0" tIns="0" rIns="0" bIns="0" rtlCol="0" anchor="t"/>
          <a:lstStyle/>
          <a:p>
            <a:pPr algn="l" indent="0" marL="0">
              <a:buNone/>
            </a:pPr>
            <a:r>
              <a:rPr lang="en-US" sz="1700" i="1" dirty="0">
                <a:solidFill>
                  <a:schemeClr val="tx2"/>
                </a:solidFill>
              </a:rPr>
              <a:t>Waarom was je er gisteren niet?</a:t>
            </a:r>
            <a:r>
              <a:rPr lang="en-US" sz="1700" dirty="0">
                <a:solidFill>
                  <a:schemeClr val="tx2"/>
                </a:solidFill>
              </a:rPr>
              <a:t> Tirez une carte orange et une carte rouge, puis inventez une excuse au passé.</a:t>
            </a:r>
            <a:endParaRPr lang="en-US" sz="1700" dirty="0"/>
          </a:p>
        </p:txBody>
      </p:sp>
      <p:sp>
        <p:nvSpPr>
          <p:cNvPr id="7" name="Shape 4"/>
          <p:cNvSpPr/>
          <p:nvPr/>
        </p:nvSpPr>
        <p:spPr>
          <a:xfrm rot="-180000">
            <a:off x="548640" y="2057400"/>
            <a:ext cx="1463040" cy="777240"/>
          </a:xfrm>
          <a:prstGeom prst="roundRect">
            <a:avLst>
              <a:gd name="adj" fmla="val 14118"/>
            </a:avLst>
          </a:prstGeom>
          <a:solidFill>
            <a:schemeClr val="accent1"/>
          </a:solidFill>
          <a:ln w="12700">
            <a:solidFill>
              <a:srgbClr val="FFFFFF">
                <a:alpha val="0"/>
              </a:srgbClr>
            </a:solidFill>
            <a:prstDash val="solid"/>
          </a:ln>
        </p:spPr>
      </p:sp>
      <p:sp>
        <p:nvSpPr>
          <p:cNvPr id="8" name="Text 5"/>
          <p:cNvSpPr txBox="1"/>
          <p:nvPr/>
        </p:nvSpPr>
        <p:spPr>
          <a:xfrm rot="-180000">
            <a:off x="548640" y="2057400"/>
            <a:ext cx="1463040" cy="777240"/>
          </a:xfrm>
          <a:prstGeom prst="rect">
            <a:avLst/>
          </a:prstGeom>
          <a:noFill/>
          <a:ln/>
        </p:spPr>
        <p:txBody>
          <a:bodyPr wrap="square" lIns="0" tIns="0" rIns="0" bIns="0" rtlCol="0" anchor="ctr"/>
          <a:lstStyle/>
          <a:p>
            <a:pPr algn="ctr" indent="0" marL="0">
              <a:buNone/>
            </a:pPr>
            <a:r>
              <a:rPr lang="en-US" sz="1800" b="1" i="1" dirty="0">
                <a:solidFill>
                  <a:schemeClr val="bg1"/>
                </a:solidFill>
              </a:rPr>
              <a:t>moeten</a:t>
            </a:r>
            <a:endParaRPr lang="en-US" sz="1800" dirty="0"/>
          </a:p>
        </p:txBody>
      </p:sp>
      <p:sp>
        <p:nvSpPr>
          <p:cNvPr id="9" name="Shape 6"/>
          <p:cNvSpPr/>
          <p:nvPr/>
        </p:nvSpPr>
        <p:spPr>
          <a:xfrm rot="120000">
            <a:off x="2148840" y="2057400"/>
            <a:ext cx="1463040" cy="777240"/>
          </a:xfrm>
          <a:prstGeom prst="roundRect">
            <a:avLst>
              <a:gd name="adj" fmla="val 14118"/>
            </a:avLst>
          </a:prstGeom>
          <a:solidFill>
            <a:schemeClr val="accent1"/>
          </a:solidFill>
          <a:ln w="12700">
            <a:solidFill>
              <a:srgbClr val="FFFFFF">
                <a:alpha val="0"/>
              </a:srgbClr>
            </a:solidFill>
            <a:prstDash val="solid"/>
          </a:ln>
        </p:spPr>
      </p:sp>
      <p:sp>
        <p:nvSpPr>
          <p:cNvPr id="10" name="Text 7"/>
          <p:cNvSpPr txBox="1"/>
          <p:nvPr/>
        </p:nvSpPr>
        <p:spPr>
          <a:xfrm rot="120000">
            <a:off x="2148840" y="2057400"/>
            <a:ext cx="1463040" cy="777240"/>
          </a:xfrm>
          <a:prstGeom prst="rect">
            <a:avLst/>
          </a:prstGeom>
          <a:noFill/>
          <a:ln/>
        </p:spPr>
        <p:txBody>
          <a:bodyPr wrap="square" lIns="0" tIns="0" rIns="0" bIns="0" rtlCol="0" anchor="ctr"/>
          <a:lstStyle/>
          <a:p>
            <a:pPr algn="ctr" indent="0" marL="0">
              <a:buNone/>
            </a:pPr>
            <a:r>
              <a:rPr lang="en-US" sz="1800" b="1" i="1" dirty="0">
                <a:solidFill>
                  <a:schemeClr val="bg1"/>
                </a:solidFill>
              </a:rPr>
              <a:t>niet kunnen</a:t>
            </a:r>
            <a:endParaRPr lang="en-US" sz="1800" dirty="0"/>
          </a:p>
        </p:txBody>
      </p:sp>
      <p:sp>
        <p:nvSpPr>
          <p:cNvPr id="11" name="Shape 8"/>
          <p:cNvSpPr/>
          <p:nvPr/>
        </p:nvSpPr>
        <p:spPr>
          <a:xfrm rot="-60000">
            <a:off x="3749040" y="2057400"/>
            <a:ext cx="1463040" cy="777240"/>
          </a:xfrm>
          <a:prstGeom prst="roundRect">
            <a:avLst>
              <a:gd name="adj" fmla="val 14118"/>
            </a:avLst>
          </a:prstGeom>
          <a:solidFill>
            <a:schemeClr val="accent1"/>
          </a:solidFill>
          <a:ln w="12700">
            <a:solidFill>
              <a:srgbClr val="FFFFFF">
                <a:alpha val="0"/>
              </a:srgbClr>
            </a:solidFill>
            <a:prstDash val="solid"/>
          </a:ln>
        </p:spPr>
      </p:sp>
      <p:sp>
        <p:nvSpPr>
          <p:cNvPr id="12" name="Text 9"/>
          <p:cNvSpPr txBox="1"/>
          <p:nvPr/>
        </p:nvSpPr>
        <p:spPr>
          <a:xfrm rot="-60000">
            <a:off x="3749040" y="2057400"/>
            <a:ext cx="1463040" cy="777240"/>
          </a:xfrm>
          <a:prstGeom prst="rect">
            <a:avLst/>
          </a:prstGeom>
          <a:noFill/>
          <a:ln/>
        </p:spPr>
        <p:txBody>
          <a:bodyPr wrap="square" lIns="0" tIns="0" rIns="0" bIns="0" rtlCol="0" anchor="ctr"/>
          <a:lstStyle/>
          <a:p>
            <a:pPr algn="ctr" indent="0" marL="0">
              <a:buNone/>
            </a:pPr>
            <a:r>
              <a:rPr lang="en-US" sz="1800" b="1" i="1" dirty="0">
                <a:solidFill>
                  <a:schemeClr val="bg1"/>
                </a:solidFill>
              </a:rPr>
              <a:t>laten</a:t>
            </a:r>
            <a:endParaRPr lang="en-US" sz="1800" dirty="0"/>
          </a:p>
        </p:txBody>
      </p:sp>
      <p:sp>
        <p:nvSpPr>
          <p:cNvPr id="13" name="Shape 10"/>
          <p:cNvSpPr/>
          <p:nvPr/>
        </p:nvSpPr>
        <p:spPr>
          <a:xfrm rot="-180000">
            <a:off x="548640" y="3017520"/>
            <a:ext cx="1463040" cy="777240"/>
          </a:xfrm>
          <a:prstGeom prst="roundRect">
            <a:avLst>
              <a:gd name="adj" fmla="val 14118"/>
            </a:avLst>
          </a:prstGeom>
          <a:solidFill>
            <a:schemeClr val="accent1"/>
          </a:solidFill>
          <a:ln w="12700">
            <a:solidFill>
              <a:srgbClr val="FFFFFF">
                <a:alpha val="0"/>
              </a:srgbClr>
            </a:solidFill>
            <a:prstDash val="solid"/>
          </a:ln>
        </p:spPr>
      </p:sp>
      <p:sp>
        <p:nvSpPr>
          <p:cNvPr id="14" name="Text 11"/>
          <p:cNvSpPr txBox="1"/>
          <p:nvPr/>
        </p:nvSpPr>
        <p:spPr>
          <a:xfrm rot="-180000">
            <a:off x="548640" y="3017520"/>
            <a:ext cx="1463040" cy="777240"/>
          </a:xfrm>
          <a:prstGeom prst="rect">
            <a:avLst/>
          </a:prstGeom>
          <a:noFill/>
          <a:ln/>
        </p:spPr>
        <p:txBody>
          <a:bodyPr wrap="square" lIns="0" tIns="0" rIns="0" bIns="0" rtlCol="0" anchor="ctr"/>
          <a:lstStyle/>
          <a:p>
            <a:pPr algn="ctr" indent="0" marL="0">
              <a:buNone/>
            </a:pPr>
            <a:r>
              <a:rPr lang="en-US" sz="1800" b="1" i="1" dirty="0">
                <a:solidFill>
                  <a:schemeClr val="bg1"/>
                </a:solidFill>
              </a:rPr>
              <a:t>gaan</a:t>
            </a:r>
            <a:endParaRPr lang="en-US" sz="1800" dirty="0"/>
          </a:p>
        </p:txBody>
      </p:sp>
      <p:sp>
        <p:nvSpPr>
          <p:cNvPr id="15" name="Shape 12"/>
          <p:cNvSpPr/>
          <p:nvPr/>
        </p:nvSpPr>
        <p:spPr>
          <a:xfrm rot="120000">
            <a:off x="2148840" y="3017520"/>
            <a:ext cx="1463040" cy="777240"/>
          </a:xfrm>
          <a:prstGeom prst="roundRect">
            <a:avLst>
              <a:gd name="adj" fmla="val 14118"/>
            </a:avLst>
          </a:prstGeom>
          <a:solidFill>
            <a:schemeClr val="accent1"/>
          </a:solidFill>
          <a:ln w="12700">
            <a:solidFill>
              <a:srgbClr val="FFFFFF">
                <a:alpha val="0"/>
              </a:srgbClr>
            </a:solidFill>
            <a:prstDash val="solid"/>
          </a:ln>
        </p:spPr>
      </p:sp>
      <p:sp>
        <p:nvSpPr>
          <p:cNvPr id="16" name="Text 13"/>
          <p:cNvSpPr txBox="1"/>
          <p:nvPr/>
        </p:nvSpPr>
        <p:spPr>
          <a:xfrm rot="120000">
            <a:off x="2148840" y="3017520"/>
            <a:ext cx="1463040" cy="777240"/>
          </a:xfrm>
          <a:prstGeom prst="rect">
            <a:avLst/>
          </a:prstGeom>
          <a:noFill/>
          <a:ln/>
        </p:spPr>
        <p:txBody>
          <a:bodyPr wrap="square" lIns="0" tIns="0" rIns="0" bIns="0" rtlCol="0" anchor="ctr"/>
          <a:lstStyle/>
          <a:p>
            <a:pPr algn="ctr" indent="0" marL="0">
              <a:buNone/>
            </a:pPr>
            <a:r>
              <a:rPr lang="en-US" sz="1800" b="1" i="1" dirty="0">
                <a:solidFill>
                  <a:schemeClr val="bg1"/>
                </a:solidFill>
              </a:rPr>
              <a:t>blijven</a:t>
            </a:r>
            <a:endParaRPr lang="en-US" sz="1800" dirty="0"/>
          </a:p>
        </p:txBody>
      </p:sp>
      <p:sp>
        <p:nvSpPr>
          <p:cNvPr id="17" name="Shape 14"/>
          <p:cNvSpPr/>
          <p:nvPr/>
        </p:nvSpPr>
        <p:spPr>
          <a:xfrm rot="-60000">
            <a:off x="3749040" y="3017520"/>
            <a:ext cx="1463040" cy="777240"/>
          </a:xfrm>
          <a:prstGeom prst="roundRect">
            <a:avLst>
              <a:gd name="adj" fmla="val 14118"/>
            </a:avLst>
          </a:prstGeom>
          <a:solidFill>
            <a:schemeClr val="accent1"/>
          </a:solidFill>
          <a:ln w="12700">
            <a:solidFill>
              <a:srgbClr val="FFFFFF">
                <a:alpha val="0"/>
              </a:srgbClr>
            </a:solidFill>
            <a:prstDash val="solid"/>
          </a:ln>
        </p:spPr>
      </p:sp>
      <p:sp>
        <p:nvSpPr>
          <p:cNvPr id="18" name="Text 15"/>
          <p:cNvSpPr txBox="1"/>
          <p:nvPr/>
        </p:nvSpPr>
        <p:spPr>
          <a:xfrm rot="-60000">
            <a:off x="3749040" y="3017520"/>
            <a:ext cx="1463040" cy="777240"/>
          </a:xfrm>
          <a:prstGeom prst="rect">
            <a:avLst/>
          </a:prstGeom>
          <a:noFill/>
          <a:ln/>
        </p:spPr>
        <p:txBody>
          <a:bodyPr wrap="square" lIns="0" tIns="0" rIns="0" bIns="0" rtlCol="0" anchor="ctr"/>
          <a:lstStyle/>
          <a:p>
            <a:pPr algn="ctr" indent="0" marL="0">
              <a:buNone/>
            </a:pPr>
            <a:r>
              <a:rPr lang="en-US" sz="1800" b="1" i="1" dirty="0">
                <a:solidFill>
                  <a:schemeClr val="bg1"/>
                </a:solidFill>
              </a:rPr>
              <a:t>zitten</a:t>
            </a:r>
            <a:endParaRPr lang="en-US" sz="1800" dirty="0"/>
          </a:p>
        </p:txBody>
      </p:sp>
      <p:sp>
        <p:nvSpPr>
          <p:cNvPr id="19" name="Shape 16"/>
          <p:cNvSpPr/>
          <p:nvPr/>
        </p:nvSpPr>
        <p:spPr>
          <a:xfrm rot="120000">
            <a:off x="5669280" y="2057400"/>
            <a:ext cx="1389888" cy="841248"/>
          </a:xfrm>
          <a:prstGeom prst="roundRect">
            <a:avLst>
              <a:gd name="adj" fmla="val 13043"/>
            </a:avLst>
          </a:prstGeom>
          <a:solidFill>
            <a:srgbClr val="FBEDEB"/>
          </a:solidFill>
          <a:ln w="22225">
            <a:solidFill>
              <a:srgbClr val="B83227"/>
            </a:solidFill>
            <a:prstDash val="solid"/>
          </a:ln>
        </p:spPr>
      </p:sp>
      <p:pic>
        <p:nvPicPr>
          <p:cNvPr id="20" name="Image 0" descr="automobile">    </p:cNvPr>
          <p:cNvPicPr>
            <a:picLocks noChangeAspect="1"/>
          </p:cNvPicPr>
          <p:nvPr/>
        </p:nvPicPr>
        <p:blipFill>
          <a:blip r:embed="rId1"/>
          <a:stretch>
            <a:fillRect/>
          </a:stretch>
        </p:blipFill>
        <p:spPr>
          <a:xfrm>
            <a:off x="6153912" y="2112264"/>
            <a:ext cx="420624" cy="420624"/>
          </a:xfrm>
          <a:prstGeom prst="rect">
            <a:avLst/>
          </a:prstGeom>
        </p:spPr>
      </p:pic>
      <p:sp>
        <p:nvSpPr>
          <p:cNvPr id="21" name="Text 17"/>
          <p:cNvSpPr txBox="1"/>
          <p:nvPr/>
        </p:nvSpPr>
        <p:spPr>
          <a:xfrm rot="120000">
            <a:off x="5669280" y="251460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repareren</a:t>
            </a:r>
            <a:endParaRPr lang="en-US" sz="1400" dirty="0"/>
          </a:p>
        </p:txBody>
      </p:sp>
      <p:sp>
        <p:nvSpPr>
          <p:cNvPr id="22" name="Shape 18"/>
          <p:cNvSpPr/>
          <p:nvPr/>
        </p:nvSpPr>
        <p:spPr>
          <a:xfrm rot="-120000">
            <a:off x="7178040" y="2057400"/>
            <a:ext cx="1389888" cy="841248"/>
          </a:xfrm>
          <a:prstGeom prst="roundRect">
            <a:avLst>
              <a:gd name="adj" fmla="val 13043"/>
            </a:avLst>
          </a:prstGeom>
          <a:solidFill>
            <a:srgbClr val="FBEDEB"/>
          </a:solidFill>
          <a:ln w="22225">
            <a:solidFill>
              <a:srgbClr val="B83227"/>
            </a:solidFill>
            <a:prstDash val="solid"/>
          </a:ln>
        </p:spPr>
      </p:sp>
      <p:pic>
        <p:nvPicPr>
          <p:cNvPr id="23" name="Image 1" descr="person swimming">    </p:cNvPr>
          <p:cNvPicPr>
            <a:picLocks noChangeAspect="1"/>
          </p:cNvPicPr>
          <p:nvPr/>
        </p:nvPicPr>
        <p:blipFill>
          <a:blip r:embed="rId2"/>
          <a:stretch>
            <a:fillRect/>
          </a:stretch>
        </p:blipFill>
        <p:spPr>
          <a:xfrm>
            <a:off x="7662672" y="2112264"/>
            <a:ext cx="420624" cy="420624"/>
          </a:xfrm>
          <a:prstGeom prst="rect">
            <a:avLst/>
          </a:prstGeom>
        </p:spPr>
      </p:pic>
      <p:sp>
        <p:nvSpPr>
          <p:cNvPr id="24" name="Text 19"/>
          <p:cNvSpPr txBox="1"/>
          <p:nvPr/>
        </p:nvSpPr>
        <p:spPr>
          <a:xfrm rot="-120000">
            <a:off x="7178040" y="251460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zwemmen</a:t>
            </a:r>
            <a:endParaRPr lang="en-US" sz="1400" dirty="0"/>
          </a:p>
        </p:txBody>
      </p:sp>
      <p:sp>
        <p:nvSpPr>
          <p:cNvPr id="25" name="Shape 20"/>
          <p:cNvSpPr/>
          <p:nvPr/>
        </p:nvSpPr>
        <p:spPr>
          <a:xfrm rot="60000">
            <a:off x="8686800" y="2057400"/>
            <a:ext cx="1389888" cy="841248"/>
          </a:xfrm>
          <a:prstGeom prst="roundRect">
            <a:avLst>
              <a:gd name="adj" fmla="val 13043"/>
            </a:avLst>
          </a:prstGeom>
          <a:solidFill>
            <a:srgbClr val="FBEDEB"/>
          </a:solidFill>
          <a:ln w="22225">
            <a:solidFill>
              <a:srgbClr val="B83227"/>
            </a:solidFill>
            <a:prstDash val="solid"/>
          </a:ln>
        </p:spPr>
      </p:sp>
      <p:pic>
        <p:nvPicPr>
          <p:cNvPr id="26" name="Image 2" descr="bed">    </p:cNvPr>
          <p:cNvPicPr>
            <a:picLocks noChangeAspect="1"/>
          </p:cNvPicPr>
          <p:nvPr/>
        </p:nvPicPr>
        <p:blipFill>
          <a:blip r:embed="rId3"/>
          <a:stretch>
            <a:fillRect/>
          </a:stretch>
        </p:blipFill>
        <p:spPr>
          <a:xfrm>
            <a:off x="9171432" y="2112264"/>
            <a:ext cx="420624" cy="420624"/>
          </a:xfrm>
          <a:prstGeom prst="rect">
            <a:avLst/>
          </a:prstGeom>
        </p:spPr>
      </p:pic>
      <p:sp>
        <p:nvSpPr>
          <p:cNvPr id="27" name="Text 21"/>
          <p:cNvSpPr txBox="1"/>
          <p:nvPr/>
        </p:nvSpPr>
        <p:spPr>
          <a:xfrm rot="60000">
            <a:off x="8686800" y="251460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slapen</a:t>
            </a:r>
            <a:endParaRPr lang="en-US" sz="1400" dirty="0"/>
          </a:p>
        </p:txBody>
      </p:sp>
      <p:sp>
        <p:nvSpPr>
          <p:cNvPr id="28" name="Shape 22"/>
          <p:cNvSpPr/>
          <p:nvPr/>
        </p:nvSpPr>
        <p:spPr>
          <a:xfrm rot="-60000">
            <a:off x="10195560" y="2057400"/>
            <a:ext cx="1389888" cy="841248"/>
          </a:xfrm>
          <a:prstGeom prst="roundRect">
            <a:avLst>
              <a:gd name="adj" fmla="val 13043"/>
            </a:avLst>
          </a:prstGeom>
          <a:solidFill>
            <a:srgbClr val="FBEDEB"/>
          </a:solidFill>
          <a:ln w="22225">
            <a:solidFill>
              <a:srgbClr val="B83227"/>
            </a:solidFill>
            <a:prstDash val="solid"/>
          </a:ln>
        </p:spPr>
      </p:sp>
      <p:pic>
        <p:nvPicPr>
          <p:cNvPr id="29" name="Image 3" descr="dog">    </p:cNvPr>
          <p:cNvPicPr>
            <a:picLocks noChangeAspect="1"/>
          </p:cNvPicPr>
          <p:nvPr/>
        </p:nvPicPr>
        <p:blipFill>
          <a:blip r:embed="rId4"/>
          <a:stretch>
            <a:fillRect/>
          </a:stretch>
        </p:blipFill>
        <p:spPr>
          <a:xfrm>
            <a:off x="10680192" y="2112264"/>
            <a:ext cx="420624" cy="420624"/>
          </a:xfrm>
          <a:prstGeom prst="rect">
            <a:avLst/>
          </a:prstGeom>
        </p:spPr>
      </p:pic>
      <p:sp>
        <p:nvSpPr>
          <p:cNvPr id="30" name="Text 23"/>
          <p:cNvSpPr txBox="1"/>
          <p:nvPr/>
        </p:nvSpPr>
        <p:spPr>
          <a:xfrm rot="-60000">
            <a:off x="10195560" y="251460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wandelen</a:t>
            </a:r>
            <a:endParaRPr lang="en-US" sz="1400" dirty="0"/>
          </a:p>
        </p:txBody>
      </p:sp>
      <p:sp>
        <p:nvSpPr>
          <p:cNvPr id="31" name="Shape 24"/>
          <p:cNvSpPr/>
          <p:nvPr/>
        </p:nvSpPr>
        <p:spPr>
          <a:xfrm rot="120000">
            <a:off x="5669280" y="3017520"/>
            <a:ext cx="1389888" cy="841248"/>
          </a:xfrm>
          <a:prstGeom prst="roundRect">
            <a:avLst>
              <a:gd name="adj" fmla="val 13043"/>
            </a:avLst>
          </a:prstGeom>
          <a:solidFill>
            <a:srgbClr val="FBEDEB"/>
          </a:solidFill>
          <a:ln w="22225">
            <a:solidFill>
              <a:srgbClr val="B83227"/>
            </a:solidFill>
            <a:prstDash val="solid"/>
          </a:ln>
        </p:spPr>
      </p:sp>
      <p:pic>
        <p:nvPicPr>
          <p:cNvPr id="32" name="Image 4" descr="laptop">    </p:cNvPr>
          <p:cNvPicPr>
            <a:picLocks noChangeAspect="1"/>
          </p:cNvPicPr>
          <p:nvPr/>
        </p:nvPicPr>
        <p:blipFill>
          <a:blip r:embed="rId5"/>
          <a:stretch>
            <a:fillRect/>
          </a:stretch>
        </p:blipFill>
        <p:spPr>
          <a:xfrm>
            <a:off x="6153912" y="3072384"/>
            <a:ext cx="420624" cy="420624"/>
          </a:xfrm>
          <a:prstGeom prst="rect">
            <a:avLst/>
          </a:prstGeom>
        </p:spPr>
      </p:pic>
      <p:sp>
        <p:nvSpPr>
          <p:cNvPr id="33" name="Text 25"/>
          <p:cNvSpPr txBox="1"/>
          <p:nvPr/>
        </p:nvSpPr>
        <p:spPr>
          <a:xfrm rot="120000">
            <a:off x="5669280" y="347472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werken</a:t>
            </a:r>
            <a:endParaRPr lang="en-US" sz="1400" dirty="0"/>
          </a:p>
        </p:txBody>
      </p:sp>
      <p:sp>
        <p:nvSpPr>
          <p:cNvPr id="34" name="Shape 26"/>
          <p:cNvSpPr/>
          <p:nvPr/>
        </p:nvSpPr>
        <p:spPr>
          <a:xfrm rot="-120000">
            <a:off x="7178040" y="3017520"/>
            <a:ext cx="1389888" cy="841248"/>
          </a:xfrm>
          <a:prstGeom prst="roundRect">
            <a:avLst>
              <a:gd name="adj" fmla="val 13043"/>
            </a:avLst>
          </a:prstGeom>
          <a:solidFill>
            <a:srgbClr val="FBEDEB"/>
          </a:solidFill>
          <a:ln w="22225">
            <a:solidFill>
              <a:srgbClr val="B83227"/>
            </a:solidFill>
            <a:prstDash val="solid"/>
          </a:ln>
        </p:spPr>
      </p:sp>
      <p:pic>
        <p:nvPicPr>
          <p:cNvPr id="35" name="Image 5" descr="hourglass not done">    </p:cNvPr>
          <p:cNvPicPr>
            <a:picLocks noChangeAspect="1"/>
          </p:cNvPicPr>
          <p:nvPr/>
        </p:nvPicPr>
        <p:blipFill>
          <a:blip r:embed="rId6"/>
          <a:stretch>
            <a:fillRect/>
          </a:stretch>
        </p:blipFill>
        <p:spPr>
          <a:xfrm>
            <a:off x="7662672" y="3072384"/>
            <a:ext cx="420624" cy="420624"/>
          </a:xfrm>
          <a:prstGeom prst="rect">
            <a:avLst/>
          </a:prstGeom>
        </p:spPr>
      </p:pic>
      <p:sp>
        <p:nvSpPr>
          <p:cNvPr id="36" name="Text 27"/>
          <p:cNvSpPr txBox="1"/>
          <p:nvPr/>
        </p:nvSpPr>
        <p:spPr>
          <a:xfrm rot="-120000">
            <a:off x="7178040" y="347472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wachten</a:t>
            </a:r>
            <a:endParaRPr lang="en-US" sz="1400" dirty="0"/>
          </a:p>
        </p:txBody>
      </p:sp>
      <p:sp>
        <p:nvSpPr>
          <p:cNvPr id="37" name="Shape 28"/>
          <p:cNvSpPr/>
          <p:nvPr/>
        </p:nvSpPr>
        <p:spPr>
          <a:xfrm rot="60000">
            <a:off x="8686800" y="3017520"/>
            <a:ext cx="1389888" cy="841248"/>
          </a:xfrm>
          <a:prstGeom prst="roundRect">
            <a:avLst>
              <a:gd name="adj" fmla="val 13043"/>
            </a:avLst>
          </a:prstGeom>
          <a:solidFill>
            <a:srgbClr val="FBEDEB"/>
          </a:solidFill>
          <a:ln w="22225">
            <a:solidFill>
              <a:srgbClr val="B83227"/>
            </a:solidFill>
            <a:prstDash val="solid"/>
          </a:ln>
        </p:spPr>
      </p:sp>
      <p:pic>
        <p:nvPicPr>
          <p:cNvPr id="38" name="Image 6" descr="shopping cart">    </p:cNvPr>
          <p:cNvPicPr>
            <a:picLocks noChangeAspect="1"/>
          </p:cNvPicPr>
          <p:nvPr/>
        </p:nvPicPr>
        <p:blipFill>
          <a:blip r:embed="rId7"/>
          <a:stretch>
            <a:fillRect/>
          </a:stretch>
        </p:blipFill>
        <p:spPr>
          <a:xfrm>
            <a:off x="9171432" y="3072384"/>
            <a:ext cx="420624" cy="420624"/>
          </a:xfrm>
          <a:prstGeom prst="rect">
            <a:avLst/>
          </a:prstGeom>
        </p:spPr>
      </p:pic>
      <p:sp>
        <p:nvSpPr>
          <p:cNvPr id="39" name="Text 29"/>
          <p:cNvSpPr txBox="1"/>
          <p:nvPr/>
        </p:nvSpPr>
        <p:spPr>
          <a:xfrm rot="60000">
            <a:off x="8686800" y="347472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winkelen</a:t>
            </a:r>
            <a:endParaRPr lang="en-US" sz="1400" dirty="0"/>
          </a:p>
        </p:txBody>
      </p:sp>
      <p:sp>
        <p:nvSpPr>
          <p:cNvPr id="40" name="Shape 30"/>
          <p:cNvSpPr/>
          <p:nvPr/>
        </p:nvSpPr>
        <p:spPr>
          <a:xfrm rot="-60000">
            <a:off x="10195560" y="3017520"/>
            <a:ext cx="1389888" cy="841248"/>
          </a:xfrm>
          <a:prstGeom prst="roundRect">
            <a:avLst>
              <a:gd name="adj" fmla="val 13043"/>
            </a:avLst>
          </a:prstGeom>
          <a:solidFill>
            <a:srgbClr val="FBEDEB"/>
          </a:solidFill>
          <a:ln w="22225">
            <a:solidFill>
              <a:srgbClr val="B83227"/>
            </a:solidFill>
            <a:prstDash val="solid"/>
          </a:ln>
        </p:spPr>
      </p:sp>
      <p:pic>
        <p:nvPicPr>
          <p:cNvPr id="41" name="Image 7" descr="cooking">    </p:cNvPr>
          <p:cNvPicPr>
            <a:picLocks noChangeAspect="1"/>
          </p:cNvPicPr>
          <p:nvPr/>
        </p:nvPicPr>
        <p:blipFill>
          <a:blip r:embed="rId8"/>
          <a:stretch>
            <a:fillRect/>
          </a:stretch>
        </p:blipFill>
        <p:spPr>
          <a:xfrm>
            <a:off x="10680192" y="3072384"/>
            <a:ext cx="420624" cy="420624"/>
          </a:xfrm>
          <a:prstGeom prst="rect">
            <a:avLst/>
          </a:prstGeom>
        </p:spPr>
      </p:pic>
      <p:sp>
        <p:nvSpPr>
          <p:cNvPr id="42" name="Text 31"/>
          <p:cNvSpPr txBox="1"/>
          <p:nvPr/>
        </p:nvSpPr>
        <p:spPr>
          <a:xfrm rot="-60000">
            <a:off x="10195560" y="3474720"/>
            <a:ext cx="1389888" cy="347472"/>
          </a:xfrm>
          <a:prstGeom prst="rect">
            <a:avLst/>
          </a:prstGeom>
          <a:noFill/>
          <a:ln/>
        </p:spPr>
        <p:txBody>
          <a:bodyPr wrap="square" lIns="0" tIns="0" rIns="0" bIns="0" rtlCol="0" anchor="ctr"/>
          <a:lstStyle/>
          <a:p>
            <a:pPr algn="ctr" indent="0" marL="0">
              <a:buNone/>
            </a:pPr>
            <a:r>
              <a:rPr lang="en-US" sz="1400" b="1" i="1" dirty="0">
                <a:solidFill>
                  <a:schemeClr val="accent6"/>
                </a:solidFill>
              </a:rPr>
              <a:t>koken</a:t>
            </a:r>
            <a:endParaRPr lang="en-US" sz="1400" dirty="0"/>
          </a:p>
        </p:txBody>
      </p:sp>
      <p:sp>
        <p:nvSpPr>
          <p:cNvPr id="43" name="Shape 32"/>
          <p:cNvSpPr/>
          <p:nvPr/>
        </p:nvSpPr>
        <p:spPr>
          <a:xfrm>
            <a:off x="548640" y="4206240"/>
            <a:ext cx="11091672" cy="914400"/>
          </a:xfrm>
          <a:prstGeom prst="roundRect">
            <a:avLst>
              <a:gd name="adj" fmla="val 12000"/>
            </a:avLst>
          </a:prstGeom>
          <a:solidFill>
            <a:schemeClr val="bg2"/>
          </a:solidFill>
          <a:ln w="12700">
            <a:solidFill>
              <a:srgbClr val="D5DCE6"/>
            </a:solidFill>
            <a:prstDash val="solid"/>
          </a:ln>
        </p:spPr>
      </p:sp>
      <p:pic>
        <p:nvPicPr>
          <p:cNvPr id="44" name="Image 8" descr="speech balloon">    </p:cNvPr>
          <p:cNvPicPr>
            <a:picLocks noChangeAspect="1"/>
          </p:cNvPicPr>
          <p:nvPr/>
        </p:nvPicPr>
        <p:blipFill>
          <a:blip r:embed="rId9"/>
          <a:stretch>
            <a:fillRect/>
          </a:stretch>
        </p:blipFill>
        <p:spPr>
          <a:xfrm>
            <a:off x="685800" y="4315968"/>
            <a:ext cx="685800" cy="685800"/>
          </a:xfrm>
          <a:prstGeom prst="rect">
            <a:avLst/>
          </a:prstGeom>
        </p:spPr>
      </p:pic>
      <p:sp>
        <p:nvSpPr>
          <p:cNvPr id="45" name="Text 33"/>
          <p:cNvSpPr txBox="1"/>
          <p:nvPr/>
        </p:nvSpPr>
        <p:spPr>
          <a:xfrm>
            <a:off x="1508760" y="4206240"/>
            <a:ext cx="9966960" cy="914400"/>
          </a:xfrm>
          <a:prstGeom prst="rect">
            <a:avLst/>
          </a:prstGeom>
          <a:noFill/>
          <a:ln/>
        </p:spPr>
        <p:txBody>
          <a:bodyPr wrap="square" lIns="0" tIns="0" rIns="0" bIns="0" rtlCol="0" anchor="ctr"/>
          <a:lstStyle/>
          <a:p>
            <a:pPr algn="l" indent="0" marL="0">
              <a:buNone/>
            </a:pPr>
            <a:r>
              <a:rPr lang="en-US" sz="1900" i="1" dirty="0">
                <a:solidFill>
                  <a:schemeClr val="tx1"/>
                </a:solidFill>
              </a:rPr>
              <a:t>Sorry, ik heb mijn auto </a:t>
            </a:r>
            <a:r>
              <a:rPr lang="en-US" sz="1900" b="1" i="1" dirty="0">
                <a:solidFill>
                  <a:srgbClr val="D9700F"/>
                </a:solidFill>
              </a:rPr>
              <a:t>moeten laten repareren</a:t>
            </a:r>
            <a:r>
              <a:rPr lang="en-US" sz="1900" i="1" dirty="0">
                <a:solidFill>
                  <a:schemeClr val="tx1"/>
                </a:solidFill>
              </a:rPr>
              <a:t>! · Ik </a:t>
            </a:r>
            <a:r>
              <a:rPr lang="en-US" sz="1900" b="1" i="1" dirty="0">
                <a:solidFill>
                  <a:srgbClr val="17375E"/>
                </a:solidFill>
              </a:rPr>
              <a:t>ben</a:t>
            </a:r>
            <a:r>
              <a:rPr lang="en-US" sz="1900" i="1" dirty="0">
                <a:solidFill>
                  <a:schemeClr val="tx1"/>
                </a:solidFill>
              </a:rPr>
              <a:t> thuis </a:t>
            </a:r>
            <a:r>
              <a:rPr lang="en-US" sz="1900" b="1" i="1" dirty="0">
                <a:solidFill>
                  <a:srgbClr val="D9700F"/>
                </a:solidFill>
              </a:rPr>
              <a:t>blijven slapen</a:t>
            </a:r>
            <a:r>
              <a:rPr lang="en-US" sz="1900" i="1" dirty="0">
                <a:solidFill>
                  <a:schemeClr val="tx1"/>
                </a:solidFill>
              </a:rPr>
              <a:t>.</a:t>
            </a:r>
            <a:endParaRPr lang="en-US" sz="1800" dirty="0"/>
          </a:p>
        </p:txBody>
      </p:sp>
      <p:sp>
        <p:nvSpPr>
          <p:cNvPr id="46" name="Text 34"/>
          <p:cNvSpPr txBox="1"/>
          <p:nvPr/>
        </p:nvSpPr>
        <p:spPr>
          <a:xfrm>
            <a:off x="548640" y="5257800"/>
            <a:ext cx="11091672" cy="868680"/>
          </a:xfrm>
          <a:prstGeom prst="rect">
            <a:avLst/>
          </a:prstGeom>
          <a:noFill/>
          <a:ln/>
        </p:spPr>
        <p:txBody>
          <a:bodyPr wrap="square" lIns="0" tIns="0" rIns="0" bIns="0" rtlCol="0" anchor="t"/>
          <a:lstStyle/>
          <a:p>
            <a:pPr algn="l" indent="0" marL="0">
              <a:spcAft>
                <a:spcPts val="400"/>
              </a:spcAft>
              <a:buNone/>
            </a:pPr>
            <a:r>
              <a:rPr lang="en-US" sz="1600" b="1" dirty="0">
                <a:solidFill>
                  <a:schemeClr val="tx1"/>
                </a:solidFill>
              </a:rPr>
              <a:t>1 point</a:t>
            </a:r>
            <a:r>
              <a:rPr lang="en-US" sz="1600" dirty="0">
                <a:solidFill>
                  <a:schemeClr val="tx1"/>
                </a:solidFill>
              </a:rPr>
              <a:t> par phrase correcte (bon auxiliaire, bon ordre) · </a:t>
            </a:r>
            <a:r>
              <a:rPr lang="en-US" sz="1600" b="1" dirty="0">
                <a:solidFill>
                  <a:schemeClr val="tx1"/>
                </a:solidFill>
              </a:rPr>
              <a:t>2 points</a:t>
            </a:r>
            <a:r>
              <a:rPr lang="en-US" sz="1600" dirty="0">
                <a:solidFill>
                  <a:schemeClr val="tx1"/>
                </a:solidFill>
              </a:rPr>
              <a:t> si l’excuse fait rire la classe.</a:t>
            </a:r>
            <a:endParaRPr lang="en-US" sz="1600" dirty="0"/>
          </a:p>
          <a:p>
            <a:pPr algn="l" indent="0" marL="0">
              <a:spcAft>
                <a:spcPts val="400"/>
              </a:spcAft>
              <a:buNone/>
            </a:pPr>
            <a:r>
              <a:rPr lang="en-US" sz="1600" dirty="0">
                <a:solidFill>
                  <a:schemeClr val="tx1"/>
                </a:solidFill>
              </a:rPr>
              <a:t>Le groupe réagit : </a:t>
            </a:r>
            <a:r>
              <a:rPr lang="en-US" sz="1600" i="1" dirty="0">
                <a:solidFill>
                  <a:schemeClr val="tx1"/>
                </a:solidFill>
              </a:rPr>
              <a:t>Je had me kunnen bellen!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Lundi matin</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Lundi matin chez Peeters &amp; Co. Le rapport n’est pas prêt. Objectif : 5 doubles infinitifs.</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A — chef·fe d’équipe</a:t>
            </a:r>
            <a:endParaRPr lang="en-US" sz="1700" dirty="0"/>
          </a:p>
          <a:p>
            <a:pPr algn="l" indent="0" marL="0">
              <a:spcAft>
                <a:spcPts val="600"/>
              </a:spcAft>
              <a:buNone/>
            </a:pPr>
            <a:r>
              <a:rPr lang="en-US" sz="1700" dirty="0">
                <a:solidFill>
                  <a:schemeClr val="tx1"/>
                </a:solidFill>
              </a:rPr>
              <a:t>Demandez pourquoi le rapport n’est pas prêt et comment s’est passé le week-end. Réagissez.</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B — collègue</a:t>
            </a:r>
            <a:endParaRPr lang="en-US" sz="1700" dirty="0"/>
          </a:p>
          <a:p>
            <a:pPr algn="l" indent="0" marL="0">
              <a:spcAft>
                <a:spcPts val="600"/>
              </a:spcAft>
              <a:buNone/>
            </a:pPr>
            <a:r>
              <a:rPr lang="en-US" sz="1700" dirty="0">
                <a:solidFill>
                  <a:schemeClr val="tx1"/>
                </a:solidFill>
              </a:rPr>
              <a:t>Expliquez et excusez-vous avec les notes du week-end. Proposez une solution.</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Ik heb … moeten / kunnen / willen … · Ik heb … laten … · Ik ben … gaan / komen / blijven … · Ik heb … zitten … · Ik had … moeten … · Je had me kunnen bellen. · Geen probleem. · Kan het tegen woensdag?</a:t>
            </a:r>
            <a:endParaRPr lang="en-US" sz="1600" dirty="0"/>
          </a:p>
        </p:txBody>
      </p:sp>
      <p:sp>
        <p:nvSpPr>
          <p:cNvPr id="19" name="Shape 16"/>
          <p:cNvSpPr/>
          <p:nvPr/>
        </p:nvSpPr>
        <p:spPr>
          <a:xfrm rot="60000">
            <a:off x="8074152" y="1481328"/>
            <a:ext cx="3566160" cy="4809744"/>
          </a:xfrm>
          <a:prstGeom prst="roundRect">
            <a:avLst>
              <a:gd name="adj" fmla="val 1026"/>
            </a:avLst>
          </a:prstGeom>
          <a:solidFill>
            <a:srgbClr val="FFF6C9"/>
          </a:solidFill>
          <a:ln w="12700">
            <a:solidFill>
              <a:srgbClr val="F4B400"/>
            </a:solidFill>
            <a:prstDash val="solid"/>
          </a:ln>
          <a:effectLst>
            <a:outerShdw sx="100000" sy="100000" kx="0" ky="0" algn="bl" rotWithShape="0" blurRad="101600" dist="25400" dir="3600000">
              <a:srgbClr val="000000">
                <a:alpha val="16000"/>
              </a:srgbClr>
            </a:outerShdw>
          </a:effectLst>
        </p:spPr>
      </p:sp>
      <p:sp>
        <p:nvSpPr>
          <p:cNvPr id="20" name="Text 17"/>
          <p:cNvSpPr txBox="1"/>
          <p:nvPr/>
        </p:nvSpPr>
        <p:spPr>
          <a:xfrm>
            <a:off x="8257032" y="1618488"/>
            <a:ext cx="3200400" cy="457200"/>
          </a:xfrm>
          <a:prstGeom prst="rect">
            <a:avLst/>
          </a:prstGeom>
          <a:noFill/>
          <a:ln/>
        </p:spPr>
        <p:txBody>
          <a:bodyPr wrap="square" lIns="0" tIns="0" rIns="0" bIns="0" rtlCol="0" anchor="t"/>
          <a:lstStyle/>
          <a:p>
            <a:pPr algn="l" indent="0" marL="0">
              <a:buNone/>
            </a:pPr>
            <a:r>
              <a:rPr lang="en-US" sz="1800" b="1" dirty="0">
                <a:solidFill>
                  <a:schemeClr val="tx2"/>
                </a:solidFill>
              </a:rPr>
              <a:t>Mijn weekend</a:t>
            </a:r>
            <a:endParaRPr lang="en-US" sz="1800" dirty="0"/>
          </a:p>
        </p:txBody>
      </p:sp>
      <p:pic>
        <p:nvPicPr>
          <p:cNvPr id="21" name="Image 0" descr="automobile">    </p:cNvPr>
          <p:cNvPicPr>
            <a:picLocks noChangeAspect="1"/>
          </p:cNvPicPr>
          <p:nvPr/>
        </p:nvPicPr>
        <p:blipFill>
          <a:blip r:embed="rId1"/>
          <a:stretch>
            <a:fillRect/>
          </a:stretch>
        </p:blipFill>
        <p:spPr>
          <a:xfrm>
            <a:off x="8257032" y="2212848"/>
            <a:ext cx="502920" cy="502920"/>
          </a:xfrm>
          <a:prstGeom prst="rect">
            <a:avLst/>
          </a:prstGeom>
        </p:spPr>
      </p:pic>
      <p:sp>
        <p:nvSpPr>
          <p:cNvPr id="22" name="Text 18"/>
          <p:cNvSpPr txBox="1"/>
          <p:nvPr/>
        </p:nvSpPr>
        <p:spPr>
          <a:xfrm>
            <a:off x="8851392" y="2121408"/>
            <a:ext cx="2651760" cy="685800"/>
          </a:xfrm>
          <a:prstGeom prst="rect">
            <a:avLst/>
          </a:prstGeom>
          <a:noFill/>
          <a:ln/>
        </p:spPr>
        <p:txBody>
          <a:bodyPr wrap="square" lIns="0" tIns="0" rIns="0" bIns="0" rtlCol="0" anchor="ctr"/>
          <a:lstStyle/>
          <a:p>
            <a:pPr algn="l" indent="0" marL="0">
              <a:buNone/>
            </a:pPr>
            <a:r>
              <a:rPr lang="en-US" sz="1400" i="1" dirty="0">
                <a:solidFill>
                  <a:schemeClr val="tx1"/>
                </a:solidFill>
              </a:rPr>
              <a:t>za: auto </a:t>
            </a:r>
            <a:r>
              <a:rPr lang="en-US" sz="1400" b="1" i="1" dirty="0">
                <a:solidFill>
                  <a:schemeClr val="tx1"/>
                </a:solidFill>
              </a:rPr>
              <a:t>laten</a:t>
            </a:r>
            <a:r>
              <a:rPr lang="en-US" sz="1400" i="1" dirty="0">
                <a:solidFill>
                  <a:schemeClr val="tx1"/>
                </a:solidFill>
              </a:rPr>
              <a:t> repareren</a:t>
            </a:r>
            <a:endParaRPr lang="en-US" sz="1400" dirty="0"/>
          </a:p>
        </p:txBody>
      </p:sp>
      <p:pic>
        <p:nvPicPr>
          <p:cNvPr id="23" name="Image 1" descr="person swimming">    </p:cNvPr>
          <p:cNvPicPr>
            <a:picLocks noChangeAspect="1"/>
          </p:cNvPicPr>
          <p:nvPr/>
        </p:nvPicPr>
        <p:blipFill>
          <a:blip r:embed="rId2"/>
          <a:stretch>
            <a:fillRect/>
          </a:stretch>
        </p:blipFill>
        <p:spPr>
          <a:xfrm>
            <a:off x="8257032" y="2990088"/>
            <a:ext cx="502920" cy="502920"/>
          </a:xfrm>
          <a:prstGeom prst="rect">
            <a:avLst/>
          </a:prstGeom>
        </p:spPr>
      </p:pic>
      <p:sp>
        <p:nvSpPr>
          <p:cNvPr id="24" name="Text 19"/>
          <p:cNvSpPr txBox="1"/>
          <p:nvPr/>
        </p:nvSpPr>
        <p:spPr>
          <a:xfrm>
            <a:off x="8851392" y="2898648"/>
            <a:ext cx="2651760" cy="685800"/>
          </a:xfrm>
          <a:prstGeom prst="rect">
            <a:avLst/>
          </a:prstGeom>
          <a:noFill/>
          <a:ln/>
        </p:spPr>
        <p:txBody>
          <a:bodyPr wrap="square" lIns="0" tIns="0" rIns="0" bIns="0" rtlCol="0" anchor="ctr"/>
          <a:lstStyle/>
          <a:p>
            <a:pPr algn="l" indent="0" marL="0">
              <a:buNone/>
            </a:pPr>
            <a:r>
              <a:rPr lang="en-US" sz="1400" i="1" dirty="0">
                <a:solidFill>
                  <a:schemeClr val="tx1"/>
                </a:solidFill>
              </a:rPr>
              <a:t>za: met de kinderen </a:t>
            </a:r>
            <a:r>
              <a:rPr lang="en-US" sz="1400" b="1" i="1" dirty="0">
                <a:solidFill>
                  <a:schemeClr val="tx1"/>
                </a:solidFill>
              </a:rPr>
              <a:t>gaan</a:t>
            </a:r>
            <a:r>
              <a:rPr lang="en-US" sz="1400" i="1" dirty="0">
                <a:solidFill>
                  <a:schemeClr val="tx1"/>
                </a:solidFill>
              </a:rPr>
              <a:t> zwemmen</a:t>
            </a:r>
            <a:endParaRPr lang="en-US" sz="1400" dirty="0"/>
          </a:p>
        </p:txBody>
      </p:sp>
      <p:pic>
        <p:nvPicPr>
          <p:cNvPr id="25" name="Image 2" descr="hourglass not done">    </p:cNvPr>
          <p:cNvPicPr>
            <a:picLocks noChangeAspect="1"/>
          </p:cNvPicPr>
          <p:nvPr/>
        </p:nvPicPr>
        <p:blipFill>
          <a:blip r:embed="rId3"/>
          <a:stretch>
            <a:fillRect/>
          </a:stretch>
        </p:blipFill>
        <p:spPr>
          <a:xfrm>
            <a:off x="8257032" y="3767328"/>
            <a:ext cx="502920" cy="502920"/>
          </a:xfrm>
          <a:prstGeom prst="rect">
            <a:avLst/>
          </a:prstGeom>
        </p:spPr>
      </p:pic>
      <p:sp>
        <p:nvSpPr>
          <p:cNvPr id="26" name="Text 20"/>
          <p:cNvSpPr txBox="1"/>
          <p:nvPr/>
        </p:nvSpPr>
        <p:spPr>
          <a:xfrm>
            <a:off x="8851392" y="3675888"/>
            <a:ext cx="2651760" cy="685800"/>
          </a:xfrm>
          <a:prstGeom prst="rect">
            <a:avLst/>
          </a:prstGeom>
          <a:noFill/>
          <a:ln/>
        </p:spPr>
        <p:txBody>
          <a:bodyPr wrap="square" lIns="0" tIns="0" rIns="0" bIns="0" rtlCol="0" anchor="ctr"/>
          <a:lstStyle/>
          <a:p>
            <a:pPr algn="l" indent="0" marL="0">
              <a:buNone/>
            </a:pPr>
            <a:r>
              <a:rPr lang="en-US" sz="1400" i="1" dirty="0">
                <a:solidFill>
                  <a:schemeClr val="tx1"/>
                </a:solidFill>
              </a:rPr>
              <a:t>zo: 3 uur in de file </a:t>
            </a:r>
            <a:r>
              <a:rPr lang="en-US" sz="1400" b="1" i="1" dirty="0">
                <a:solidFill>
                  <a:schemeClr val="tx1"/>
                </a:solidFill>
              </a:rPr>
              <a:t>moeten</a:t>
            </a:r>
            <a:r>
              <a:rPr lang="en-US" sz="1400" i="1" dirty="0">
                <a:solidFill>
                  <a:schemeClr val="tx1"/>
                </a:solidFill>
              </a:rPr>
              <a:t> staan</a:t>
            </a:r>
            <a:endParaRPr lang="en-US" sz="1400" dirty="0"/>
          </a:p>
        </p:txBody>
      </p:sp>
      <p:pic>
        <p:nvPicPr>
          <p:cNvPr id="27" name="Image 3" descr="laptop">    </p:cNvPr>
          <p:cNvPicPr>
            <a:picLocks noChangeAspect="1"/>
          </p:cNvPicPr>
          <p:nvPr/>
        </p:nvPicPr>
        <p:blipFill>
          <a:blip r:embed="rId4"/>
          <a:stretch>
            <a:fillRect/>
          </a:stretch>
        </p:blipFill>
        <p:spPr>
          <a:xfrm>
            <a:off x="8257032" y="4544568"/>
            <a:ext cx="502920" cy="502920"/>
          </a:xfrm>
          <a:prstGeom prst="rect">
            <a:avLst/>
          </a:prstGeom>
        </p:spPr>
      </p:pic>
      <p:sp>
        <p:nvSpPr>
          <p:cNvPr id="28" name="Text 21"/>
          <p:cNvSpPr txBox="1"/>
          <p:nvPr/>
        </p:nvSpPr>
        <p:spPr>
          <a:xfrm>
            <a:off x="8851392" y="4453128"/>
            <a:ext cx="2651760" cy="685800"/>
          </a:xfrm>
          <a:prstGeom prst="rect">
            <a:avLst/>
          </a:prstGeom>
          <a:noFill/>
          <a:ln/>
        </p:spPr>
        <p:txBody>
          <a:bodyPr wrap="square" lIns="0" tIns="0" rIns="0" bIns="0" rtlCol="0" anchor="ctr"/>
          <a:lstStyle/>
          <a:p>
            <a:pPr algn="l" indent="0" marL="0">
              <a:buNone/>
            </a:pPr>
            <a:r>
              <a:rPr lang="en-US" sz="1400" i="1" dirty="0">
                <a:solidFill>
                  <a:schemeClr val="tx1"/>
                </a:solidFill>
              </a:rPr>
              <a:t>zo: niet </a:t>
            </a:r>
            <a:r>
              <a:rPr lang="en-US" sz="1400" b="1" i="1" dirty="0">
                <a:solidFill>
                  <a:schemeClr val="tx1"/>
                </a:solidFill>
              </a:rPr>
              <a:t>kunnen</a:t>
            </a:r>
            <a:r>
              <a:rPr lang="en-US" sz="1400" i="1" dirty="0">
                <a:solidFill>
                  <a:schemeClr val="tx1"/>
                </a:solidFill>
              </a:rPr>
              <a:t> werken (wifi!)</a:t>
            </a:r>
            <a:endParaRPr lang="en-US" sz="1400" dirty="0"/>
          </a:p>
        </p:txBody>
      </p:sp>
      <p:pic>
        <p:nvPicPr>
          <p:cNvPr id="29" name="Image 4" descr="bed">    </p:cNvPr>
          <p:cNvPicPr>
            <a:picLocks noChangeAspect="1"/>
          </p:cNvPicPr>
          <p:nvPr/>
        </p:nvPicPr>
        <p:blipFill>
          <a:blip r:embed="rId5"/>
          <a:stretch>
            <a:fillRect/>
          </a:stretch>
        </p:blipFill>
        <p:spPr>
          <a:xfrm>
            <a:off x="8257032" y="5321808"/>
            <a:ext cx="502920" cy="502920"/>
          </a:xfrm>
          <a:prstGeom prst="rect">
            <a:avLst/>
          </a:prstGeom>
        </p:spPr>
      </p:pic>
      <p:sp>
        <p:nvSpPr>
          <p:cNvPr id="30" name="Text 22"/>
          <p:cNvSpPr txBox="1"/>
          <p:nvPr/>
        </p:nvSpPr>
        <p:spPr>
          <a:xfrm>
            <a:off x="8851392" y="5230368"/>
            <a:ext cx="2651760" cy="685800"/>
          </a:xfrm>
          <a:prstGeom prst="rect">
            <a:avLst/>
          </a:prstGeom>
          <a:noFill/>
          <a:ln/>
        </p:spPr>
        <p:txBody>
          <a:bodyPr wrap="square" lIns="0" tIns="0" rIns="0" bIns="0" rtlCol="0" anchor="ctr"/>
          <a:lstStyle/>
          <a:p>
            <a:pPr algn="l" indent="0" marL="0">
              <a:buNone/>
            </a:pPr>
            <a:r>
              <a:rPr lang="en-US" sz="1400" i="1" dirty="0">
                <a:solidFill>
                  <a:schemeClr val="tx1"/>
                </a:solidFill>
              </a:rPr>
              <a:t>zo: bij mijn zus </a:t>
            </a:r>
            <a:r>
              <a:rPr lang="en-US" sz="1400" b="1" i="1" dirty="0">
                <a:solidFill>
                  <a:schemeClr val="tx1"/>
                </a:solidFill>
              </a:rPr>
              <a:t>blijven</a:t>
            </a:r>
            <a:r>
              <a:rPr lang="en-US" sz="1400" i="1" dirty="0">
                <a:solidFill>
                  <a:schemeClr val="tx1"/>
                </a:solidFill>
              </a:rPr>
              <a:t> slapen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Au passé composé : </a:t>
            </a:r>
            <a:r>
              <a:rPr lang="en-US" sz="2000" i="1" dirty="0">
                <a:solidFill>
                  <a:schemeClr val="tx1"/>
                </a:solidFill>
              </a:rPr>
              <a:t>Ik moet werken.</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i="1" dirty="0">
                <a:solidFill>
                  <a:schemeClr val="tx1"/>
                </a:solidFill>
              </a:rPr>
              <a:t>hebben</a:t>
            </a:r>
            <a:r>
              <a:rPr lang="en-US" sz="2000" dirty="0">
                <a:solidFill>
                  <a:schemeClr val="tx1"/>
                </a:solidFill>
              </a:rPr>
              <a:t> ou </a:t>
            </a:r>
            <a:r>
              <a:rPr lang="en-US" sz="2000" i="1" dirty="0">
                <a:solidFill>
                  <a:schemeClr val="tx1"/>
                </a:solidFill>
              </a:rPr>
              <a:t>zijn</a:t>
            </a:r>
            <a:r>
              <a:rPr lang="en-US" sz="2000" dirty="0">
                <a:solidFill>
                  <a:schemeClr val="tx1"/>
                </a:solidFill>
              </a:rPr>
              <a:t> ? </a:t>
            </a:r>
            <a:r>
              <a:rPr lang="en-US" sz="2000" i="1" dirty="0">
                <a:solidFill>
                  <a:schemeClr val="tx1"/>
                </a:solidFill>
              </a:rPr>
              <a:t>Ik … gaan zwemmen.</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En néerlandais : </a:t>
            </a:r>
            <a:r>
              <a:rPr lang="en-US" sz="2000" i="1" dirty="0">
                <a:solidFill>
                  <a:schemeClr val="tx1"/>
                </a:solidFill>
              </a:rPr>
              <a:t>J’aurais dû le dire.</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Reconnaître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Former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Utiliser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ook">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Défi de la semaine</a:t>
            </a:r>
            <a:r>
              <a:rPr lang="en-US" sz="1800" dirty="0">
                <a:solidFill>
                  <a:schemeClr val="bg1"/>
                </a:solidFill>
              </a:rPr>
              <a:t> : racontez votre week-end en 5 phrases, avec 3 doubles infinitifs.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Ik heb moeten werken — Le double infinitif</dc:title>
  <dc:subject>Néerlandais 1 — Langue en situation, en milieu professionnel</dc:subject>
  <dc:creator>A. Jouniaux</dc:creator>
  <cp:lastModifiedBy>A. Jouniaux</cp:lastModifiedBy>
  <cp:revision>1</cp:revision>
  <dcterms:created xsi:type="dcterms:W3CDTF">2026-10-06T11:50:12Z</dcterms:created>
  <dcterms:modified xsi:type="dcterms:W3CDTF">2026-10-06T11:50:12Z</dcterms:modified>
</cp:coreProperties>
</file>