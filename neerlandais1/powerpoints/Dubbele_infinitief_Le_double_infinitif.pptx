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4243cc5-3a52-6010-6a2e-8100bf935679}">
          <p14:sldIdLst>
            <p14:sldId id="256"/>
          </p14:sldIdLst>
        </p14:section>
        <p14:section name="Découvrir" id="{150d0887-71f8-cc74-f091-a1bf57874634}">
          <p14:sldIdLst>
            <p14:sldId id="257"/>
            <p14:sldId id="258"/>
            <p14:sldId id="259"/>
            <p14:sldId id="260"/>
            <p14:sldId id="261"/>
          </p14:sldIdLst>
        </p14:section>
        <p14:section name="Les cinq familles" id="{b7aedb0a-da03-e3e4-42d5-64d3d33faf99}">
          <p14:sldIdLst>
            <p14:sldId id="262"/>
            <p14:sldId id="263"/>
            <p14:sldId id="264"/>
            <p14:sldId id="265"/>
            <p14:sldId id="266"/>
          </p14:sldIdLst>
        </p14:section>
        <p14:section name="Les pièges" id="{324883e3-2a8c-ef3b-2293-34f26d59edf5}">
          <p14:sldIdLst>
            <p14:sldId id="267"/>
            <p14:sldId id="268"/>
            <p14:sldId id="269"/>
            <p14:sldId id="270"/>
            <p14:sldId id="271"/>
            <p14:sldId id="272"/>
          </p14:sldIdLst>
        </p14:section>
        <p14:section name="JIJ NU ! — Oefeningen" id="{150558b5-bf3a-6e65-b5be-2c95c79fe996}">
          <p14:sldIdLst>
            <p14:sldId id="273"/>
            <p14:sldId id="274"/>
            <p14:sldId id="275"/>
            <p14:sldId id="276"/>
            <p14:sldId id="277"/>
            <p14:sldId id="278"/>
            <p14:sldId id="279"/>
            <p14:sldId id="280"/>
            <p14:sldId id="281"/>
            <p14:sldId id="282"/>
            <p14:sldId id="283"/>
            <p14:sldId id="284"/>
            <p14:sldId id="285"/>
          </p14:sldIdLst>
        </p14:section>
        <p14:section name="Clôture" id="{a832756d-19bc-79f1-86f2-df23cc4f5e9a}">
          <p14:sldIdLst>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au passé composé, deux infinitifs au lieu d'un participe.
Demandez : « Comment dit-on j'ai dû travailler ? » Laissez proposer gemoeten : c'est l'erreur logique, et c'est tout le sujet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Le double infinitif est très fréquent à l'oral : pour raconter (Ik heb moeten wachten), s'excuser (Ik heb niet kunnen komen) et regretter (Ik had moeten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chercher la forme du passé et provoquer l'hypothèse gemoeten.
Par deux, les apprenant·es proposent une forme. Notez les propositions au tableau (souvent gemoeten, gekund, gegaan). Réponses (diapo 4) : Gisteren heb ik ook moeten werken. · Gisteren heb ik ook niet kunnen komen. · Gisteren ben ik ook gaan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et nommer le procédé (schéma D1).
Le français garde le participe (dû, pu, voulu, fait réparer) ; le néerlandais le remplace par l'infinitif. L'allemand fait pareil (ich habe arbeiten müssen — attention, ordre inverse : arbeiten müssen / moeten werken), ce qui peut aider les germanophones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les verbes : la locomotive et les wagons (schéma D2).
Faites « construire le train » avec des cartes : un·e apprenant·e tient heb, deux autres moeten et werken, les autres le reste de la phrase. Passez ensuite à la subordonnée : la locomotive rejoint les wagons. Dans la subordonnée, on entend parfois en Flandre omdat ik moeten werken heb ; enseignez l'ordre standard heb moeten werken.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cinq familles (schéma D3).
Pour ④, le te du présent (ik zit te lezen, M17) disparaît au passé : voir diapo 10. helpen et leren peuvent aussi prendre le double infinitif (Ik heb hem helpen verhuizen), mais ce n'est pas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passé composé des modaux suivis d'un infinitif.
niet et les compléments se placent devant le train : Ik heb het niet kunnen vinden. Ik ben naar huis moeten gaan est correct aussi (standard en Belgique, plus rare aux Pays-Bas) : enseignez hebben comme règle générale, acceptez zijn quand le dernier verbe se conjugue avec zijn. mogen + infinitif = avoir le droit, pouvoir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laten + infinitif au passé : faire faire, laisser faire.
Très utile au travail et dans la vie quotidienne : Ik heb het laten nakijken (je l'ai fait vérifier), Ik heb een offerte laten maken. laten seul garde son participe : Ik heb het zo gelaten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double infinitif avec gaan, komen, blijven et l'auxiliaire zijn.
Rappel M18 : Ik ga zwemmen (futur proche ou activité). Au passé : Ik ben gaan zwemmen, jamais ~~Ik ben gegaan zwemmen~~. Attention : We zijn uit eten gegaan (expression figée) est correct. blijven slapen = passer la nuit chez quelqu'un ; blijven eten = rester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de zitten te + infinitif (M17) au double infinitif, sans te.
Ces verbes donnent l'idée de durée, « être en train de » : Ik heb de hele avond zitten studeren. La forme avec te au passé (~~heb zitten te lezen~~) est une faute fréquente, même chez les néerlandophones ; l'exercice 4 la reprend.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 double infinitif avec les verbes de perception (B1).
Sans infinitif, le participe revient : Ik heb hem gezien. · Ik heb het gehoord. Avec helpen et leren, les deux formes existent : Ik heb hem helpen verhuizen / Ik heb hem geholpen met verhuizen ; Ik heb leren zwemmen / Ik heb zwemmen geleerd / Ik heb geleerd te zwemmen.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hebben ou zijn (schéma D4).
Moyen mnémotechnique : « le premier wagon choisit sa locomotive ». Piège classique : moeten gaan → heb, gaan zwemmen → ben. Nuance : quand le dernier verbe se conjugue avec zijn (gaan, komen), zijn est aussi correct après un modal (Ik ben naar huis moeten gaan), surtout en Belgique.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 modal seul (participe) et le modal suivi d'un infinitif (double infinitif).
Le test : y a-t-il un autre infinitif au bout de la phrase ? Oui → double infinitif ; non → participe. gemoeten existe mais s'emploie très peu (Dat heeft hij niet gemoeten).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 pas étendre le double infinitif aux verbes construits avec te.
On entend aussi Ik heb je proberen te bellen ou Het is beginnen te regenen : ces formes sont correctes (aussi à l'écrit), à condition que l'objet soit devant (je proberen te bellen) ; Het is beginnen regenen (sans te) n'est pas standard. Quelques verbes avec te prennent le double infinitif : weten te (obligatoire : Hij heeft weten te ontsnappen), durven, hoeven (Dat had je niet hoeven te doen), et facultativement beginnen, proberen. Pour la classe, la règle simple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et le train dans la subordonnée.
Lien avec M11 et le complément sur les particules (diapo 28). Les deux ordres de la particule sont courants en Belgique comme aux Pays-Bas.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un regret ou un reproche : had moeten = aurais dû, had kunnen = aurais pu.
had est le prétérit de hebben ; had + double infinitif est un plus-que-parfait, qui a ici le sens du conditionnel passé français (aurais dû). Lien avec M29 (Als ik tijd had…). Formules utiles : Ik had het kunnen weten. · Dat had ik moeten zeggen. · Je had me kunnen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Invitez à photographier la diapo.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une phrase au présent en passé composé avec double infinitif.
Faites nommer la famille de chaque verbe pilote (diapo 6) et vérifier l'auxiliaire (diapo 12). N° 5 : sans 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l'auxiliaire d'après le premier verbe du train.
N° 8 : moeten décide → heb ; ben est aussi correct en Belgique. N° 7 : ze peut être singulier (heeft) ou pluriel (hebben) : acceptez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participe et infinitif : seul, avec te, avec un infinitif.
Faites justifier : seul (1, 3) → participe ; avec te (4, 8) → participe ; avec un infinitif (2, 5, 6, 7) → double infinitif. N° 4 : Ik heb je proberen te bellen (je devant) est aussi correct, mais pas Ik heb proberen je te bellen.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dans un message d'excuse authentique.
Leurres corrects : laten repareren, gaan zwemmen, had je moeten bellen, dat had ik beloofd. in panne staan (être en panne) est belge ; aux Pays-Bas : kapot zijn, pech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avec had moeten / had kunnen.
N° 2 : aussi een paraplu mee moeten nemen. N° 5 : aussi had moeten thuisblijven. Selon le sens, acceptez l'autre modal : n° 2 kunnen meenemen, n° 3 had me moeten bellen, n° 4 hadden moeten winnen, n° 6 had … kunnen vergelijken. Faites jouer chaque réplique avec le ton du reproche ou du regret.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librement des phrases au passé avec double infinitif, de façon ludique.
Imprimez les cartes ou projetez la diapo et tirez au dé. L'exemple moeten laten repareren a trois infinitifs : c'est correct (B1+), l'ordre suit le sens (moeten → laten → repareren).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expliquer un retard et raconter son week-end avec au moins 5 doubles infinitifs.
Comptez les doubles infinitifs de B (objectif : 5) et vérifiez l'auxiliaire. Puis inversez les rôles avec un week-end inventé. tegen woensdag = d'ici mercredi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heb moeten werken.
2. Ik ben gaan zwemmen.
3. Ik had het moeten zeggen.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A2–B1 · Le double infinitif</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3.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2.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slideLayout" Target="../slideLayouts/slideLayout2.xml"/><Relationship Id="rId11"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slideLayout" Target="../slideLayouts/slideLayout2.xml"/><Relationship Id="rId1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heb moeten werken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double infinitif</a:t>
            </a:r>
            <a:endParaRPr lang="en-US" sz="2000" dirty="0"/>
          </a:p>
          <a:p>
            <a:pPr algn="l" indent="0" marL="0">
              <a:buNone/>
            </a:pPr>
            <a:r>
              <a:rPr lang="en-US" sz="2000" b="1" dirty="0">
                <a:solidFill>
                  <a:srgbClr val="FFFFFF"/>
                </a:solidFill>
              </a:rPr>
              <a:t>gemoeten ? Non : moeten !</a:t>
            </a:r>
            <a:endParaRPr lang="en-US" sz="2000" dirty="0"/>
          </a:p>
        </p:txBody>
      </p:sp>
      <p:sp>
        <p:nvSpPr>
          <p:cNvPr id="5" name="Shape 3"/>
          <p:cNvSpPr/>
          <p:nvPr/>
        </p:nvSpPr>
        <p:spPr>
          <a:xfrm>
            <a:off x="6583680" y="1097280"/>
            <a:ext cx="5257800" cy="3749040"/>
          </a:xfrm>
          <a:prstGeom prst="roundRect">
            <a:avLst>
              <a:gd name="adj" fmla="val 3902"/>
            </a:avLst>
          </a:prstGeom>
          <a:solidFill>
            <a:srgbClr val="FFFFFF"/>
          </a:solidFill>
          <a:ln w="12700">
            <a:solidFill>
              <a:srgbClr val="FFFFFF">
                <a:alpha val="0"/>
              </a:srgbClr>
            </a:solidFill>
            <a:prstDash val="solid"/>
          </a:ln>
        </p:spPr>
      </p:sp>
      <p:pic>
        <p:nvPicPr>
          <p:cNvPr id="6" name="Image 0" descr="locomotive">    </p:cNvPr>
          <p:cNvPicPr>
            <a:picLocks noChangeAspect="1"/>
          </p:cNvPicPr>
          <p:nvPr/>
        </p:nvPicPr>
        <p:blipFill>
          <a:blip r:embed="rId1"/>
          <a:stretch>
            <a:fillRect/>
          </a:stretch>
        </p:blipFill>
        <p:spPr>
          <a:xfrm>
            <a:off x="7223760" y="1234440"/>
            <a:ext cx="914400" cy="914400"/>
          </a:xfrm>
          <a:prstGeom prst="rect">
            <a:avLst/>
          </a:prstGeom>
        </p:spPr>
      </p:pic>
      <p:pic>
        <p:nvPicPr>
          <p:cNvPr id="7" name="Image 1" descr="railway car">    </p:cNvPr>
          <p:cNvPicPr>
            <a:picLocks noChangeAspect="1"/>
          </p:cNvPicPr>
          <p:nvPr/>
        </p:nvPicPr>
        <p:blipFill>
          <a:blip r:embed="rId2"/>
          <a:stretch>
            <a:fillRect/>
          </a:stretch>
        </p:blipFill>
        <p:spPr>
          <a:xfrm>
            <a:off x="8183880" y="1234440"/>
            <a:ext cx="914400" cy="914400"/>
          </a:xfrm>
          <a:prstGeom prst="rect">
            <a:avLst/>
          </a:prstGeom>
        </p:spPr>
      </p:pic>
      <p:pic>
        <p:nvPicPr>
          <p:cNvPr id="8" name="Image 2" descr="railway car">    </p:cNvPr>
          <p:cNvPicPr>
            <a:picLocks noChangeAspect="1"/>
          </p:cNvPicPr>
          <p:nvPr/>
        </p:nvPicPr>
        <p:blipFill>
          <a:blip r:embed="rId3"/>
          <a:stretch>
            <a:fillRect/>
          </a:stretch>
        </p:blipFill>
        <p:spPr>
          <a:xfrm>
            <a:off x="9144000" y="1234440"/>
            <a:ext cx="914400" cy="914400"/>
          </a:xfrm>
          <a:prstGeom prst="rect">
            <a:avLst/>
          </a:prstGeom>
        </p:spPr>
      </p:pic>
      <p:sp>
        <p:nvSpPr>
          <p:cNvPr id="9" name="Text 4"/>
          <p:cNvSpPr txBox="1"/>
          <p:nvPr/>
        </p:nvSpPr>
        <p:spPr>
          <a:xfrm>
            <a:off x="6675120" y="2423160"/>
            <a:ext cx="502920" cy="566928"/>
          </a:xfrm>
          <a:prstGeom prst="rect">
            <a:avLst/>
          </a:prstGeom>
          <a:noFill/>
          <a:ln/>
        </p:spPr>
        <p:txBody>
          <a:bodyPr wrap="square" lIns="0" tIns="0" rIns="0" bIns="0" rtlCol="0" anchor="ctr"/>
          <a:lstStyle/>
          <a:p>
            <a:pPr algn="ctr" indent="0" marL="0">
              <a:buNone/>
            </a:pPr>
            <a:r>
              <a:rPr lang="en-US" sz="2800" b="1" dirty="0">
                <a:solidFill>
                  <a:schemeClr val="accent6"/>
                </a:solidFill>
              </a:rPr>
              <a:t>✗</a:t>
            </a:r>
            <a:endParaRPr lang="en-US" sz="2800" dirty="0"/>
          </a:p>
        </p:txBody>
      </p:sp>
      <p:sp>
        <p:nvSpPr>
          <p:cNvPr id="10" name="Shape 5"/>
          <p:cNvSpPr/>
          <p:nvPr/>
        </p:nvSpPr>
        <p:spPr>
          <a:xfrm>
            <a:off x="7223760" y="2423160"/>
            <a:ext cx="563636" cy="566928"/>
          </a:xfrm>
          <a:prstGeom prst="roundRect">
            <a:avLst>
              <a:gd name="adj" fmla="val 16223"/>
            </a:avLst>
          </a:prstGeom>
          <a:solidFill>
            <a:schemeClr val="bg1"/>
          </a:solidFill>
          <a:ln w="15875">
            <a:solidFill>
              <a:srgbClr val="D5DCE6"/>
            </a:solidFill>
            <a:prstDash val="solid"/>
          </a:ln>
        </p:spPr>
      </p:sp>
      <p:sp>
        <p:nvSpPr>
          <p:cNvPr id="11" name="Text 6"/>
          <p:cNvSpPr txBox="1"/>
          <p:nvPr/>
        </p:nvSpPr>
        <p:spPr>
          <a:xfrm>
            <a:off x="7223760" y="242316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2" name="Shape 7"/>
          <p:cNvSpPr/>
          <p:nvPr/>
        </p:nvSpPr>
        <p:spPr>
          <a:xfrm>
            <a:off x="7869692" y="2423160"/>
            <a:ext cx="856200" cy="566928"/>
          </a:xfrm>
          <a:prstGeom prst="roundRect">
            <a:avLst>
              <a:gd name="adj" fmla="val 16129"/>
            </a:avLst>
          </a:prstGeom>
          <a:solidFill>
            <a:schemeClr val="tx2"/>
          </a:solidFill>
          <a:ln w="12700">
            <a:solidFill>
              <a:srgbClr val="FFFFFF">
                <a:alpha val="0"/>
              </a:srgbClr>
            </a:solidFill>
            <a:prstDash val="solid"/>
          </a:ln>
        </p:spPr>
      </p:sp>
      <p:sp>
        <p:nvSpPr>
          <p:cNvPr id="13" name="Text 8"/>
          <p:cNvSpPr txBox="1"/>
          <p:nvPr/>
        </p:nvSpPr>
        <p:spPr>
          <a:xfrm>
            <a:off x="7869692" y="242316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14" name="Shape 9"/>
          <p:cNvSpPr/>
          <p:nvPr/>
        </p:nvSpPr>
        <p:spPr>
          <a:xfrm>
            <a:off x="8808188" y="2423160"/>
            <a:ext cx="1376721" cy="566928"/>
          </a:xfrm>
          <a:prstGeom prst="roundRect">
            <a:avLst>
              <a:gd name="adj" fmla="val 16129"/>
            </a:avLst>
          </a:prstGeom>
          <a:solidFill>
            <a:srgbClr val="FFFFFF"/>
          </a:solidFill>
          <a:ln w="15875">
            <a:solidFill>
              <a:srgbClr val="4A5A70"/>
            </a:solidFill>
            <a:prstDash val="dash"/>
          </a:ln>
        </p:spPr>
      </p:sp>
      <p:sp>
        <p:nvSpPr>
          <p:cNvPr id="15" name="Text 10"/>
          <p:cNvSpPr txBox="1"/>
          <p:nvPr/>
        </p:nvSpPr>
        <p:spPr>
          <a:xfrm>
            <a:off x="8808188" y="2423160"/>
            <a:ext cx="1376721" cy="566928"/>
          </a:xfrm>
          <a:prstGeom prst="rect">
            <a:avLst/>
          </a:prstGeom>
          <a:noFill/>
          <a:ln/>
        </p:spPr>
        <p:txBody>
          <a:bodyPr wrap="square" lIns="0" tIns="0" rIns="0" bIns="0" rtlCol="0" anchor="ctr"/>
          <a:lstStyle/>
          <a:p>
            <a:pPr algn="ctr" indent="0" marL="0">
              <a:buNone/>
            </a:pPr>
            <a:r>
              <a:rPr lang="en-US" sz="1900" strike="sngStrike" dirty="0">
                <a:solidFill>
                  <a:schemeClr val="accent6"/>
                </a:solidFill>
              </a:rPr>
              <a:t>gemoeten</a:t>
            </a:r>
            <a:endParaRPr lang="en-US" sz="1900" dirty="0"/>
          </a:p>
        </p:txBody>
      </p:sp>
      <p:sp>
        <p:nvSpPr>
          <p:cNvPr id="16" name="Text 11"/>
          <p:cNvSpPr txBox="1"/>
          <p:nvPr/>
        </p:nvSpPr>
        <p:spPr>
          <a:xfrm>
            <a:off x="6675120" y="3474720"/>
            <a:ext cx="502920" cy="566928"/>
          </a:xfrm>
          <a:prstGeom prst="rect">
            <a:avLst/>
          </a:prstGeom>
          <a:noFill/>
          <a:ln/>
        </p:spPr>
        <p:txBody>
          <a:bodyPr wrap="square" lIns="0" tIns="0" rIns="0" bIns="0" rtlCol="0" anchor="ctr"/>
          <a:lstStyle/>
          <a:p>
            <a:pPr algn="ctr" indent="0" marL="0">
              <a:buNone/>
            </a:pPr>
            <a:r>
              <a:rPr lang="en-US" sz="2800" b="1" dirty="0">
                <a:solidFill>
                  <a:schemeClr val="accent3"/>
                </a:solidFill>
              </a:rPr>
              <a:t>✓</a:t>
            </a:r>
            <a:endParaRPr lang="en-US" sz="2800" dirty="0"/>
          </a:p>
        </p:txBody>
      </p:sp>
      <p:sp>
        <p:nvSpPr>
          <p:cNvPr id="17" name="Shape 12"/>
          <p:cNvSpPr/>
          <p:nvPr/>
        </p:nvSpPr>
        <p:spPr>
          <a:xfrm>
            <a:off x="7223760" y="3474720"/>
            <a:ext cx="563636" cy="566928"/>
          </a:xfrm>
          <a:prstGeom prst="roundRect">
            <a:avLst>
              <a:gd name="adj" fmla="val 16223"/>
            </a:avLst>
          </a:prstGeom>
          <a:solidFill>
            <a:schemeClr val="bg1"/>
          </a:solidFill>
          <a:ln w="15875">
            <a:solidFill>
              <a:srgbClr val="D5DCE6"/>
            </a:solidFill>
            <a:prstDash val="solid"/>
          </a:ln>
        </p:spPr>
      </p:sp>
      <p:sp>
        <p:nvSpPr>
          <p:cNvPr id="18" name="Text 13"/>
          <p:cNvSpPr txBox="1"/>
          <p:nvPr/>
        </p:nvSpPr>
        <p:spPr>
          <a:xfrm>
            <a:off x="7223760" y="3474720"/>
            <a:ext cx="563636" cy="566928"/>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9" name="Shape 14"/>
          <p:cNvSpPr/>
          <p:nvPr/>
        </p:nvSpPr>
        <p:spPr>
          <a:xfrm>
            <a:off x="7869692" y="3474720"/>
            <a:ext cx="856200" cy="566928"/>
          </a:xfrm>
          <a:prstGeom prst="roundRect">
            <a:avLst>
              <a:gd name="adj" fmla="val 16129"/>
            </a:avLst>
          </a:prstGeom>
          <a:solidFill>
            <a:schemeClr val="tx2"/>
          </a:solidFill>
          <a:ln w="12700">
            <a:solidFill>
              <a:srgbClr val="FFFFFF">
                <a:alpha val="0"/>
              </a:srgbClr>
            </a:solidFill>
            <a:prstDash val="solid"/>
          </a:ln>
        </p:spPr>
      </p:sp>
      <p:sp>
        <p:nvSpPr>
          <p:cNvPr id="20" name="Text 15"/>
          <p:cNvSpPr txBox="1"/>
          <p:nvPr/>
        </p:nvSpPr>
        <p:spPr>
          <a:xfrm>
            <a:off x="7869692" y="3474720"/>
            <a:ext cx="856200" cy="566928"/>
          </a:xfrm>
          <a:prstGeom prst="rect">
            <a:avLst/>
          </a:prstGeom>
          <a:noFill/>
          <a:ln/>
        </p:spPr>
        <p:txBody>
          <a:bodyPr wrap="square" lIns="0" tIns="0" rIns="0" bIns="0" rtlCol="0" anchor="ctr"/>
          <a:lstStyle/>
          <a:p>
            <a:pPr algn="ctr" indent="0" marL="0">
              <a:buNone/>
            </a:pPr>
            <a:r>
              <a:rPr lang="en-US" sz="1900" b="1" dirty="0">
                <a:solidFill>
                  <a:schemeClr val="bg1"/>
                </a:solidFill>
              </a:rPr>
              <a:t>heb</a:t>
            </a:r>
            <a:endParaRPr lang="en-US" sz="1900" dirty="0"/>
          </a:p>
        </p:txBody>
      </p:sp>
      <p:sp>
        <p:nvSpPr>
          <p:cNvPr id="21" name="Shape 16"/>
          <p:cNvSpPr/>
          <p:nvPr/>
        </p:nvSpPr>
        <p:spPr>
          <a:xfrm>
            <a:off x="8808188" y="3474720"/>
            <a:ext cx="1311528" cy="566928"/>
          </a:xfrm>
          <a:prstGeom prst="roundRect">
            <a:avLst>
              <a:gd name="adj" fmla="val 16129"/>
            </a:avLst>
          </a:prstGeom>
          <a:solidFill>
            <a:schemeClr val="accent1"/>
          </a:solidFill>
          <a:ln w="12700">
            <a:solidFill>
              <a:srgbClr val="FFFFFF">
                <a:alpha val="0"/>
              </a:srgbClr>
            </a:solidFill>
            <a:prstDash val="solid"/>
          </a:ln>
        </p:spPr>
      </p:sp>
      <p:sp>
        <p:nvSpPr>
          <p:cNvPr id="22" name="Text 17"/>
          <p:cNvSpPr txBox="1"/>
          <p:nvPr/>
        </p:nvSpPr>
        <p:spPr>
          <a:xfrm>
            <a:off x="8808188" y="3474720"/>
            <a:ext cx="1311528" cy="566928"/>
          </a:xfrm>
          <a:prstGeom prst="rect">
            <a:avLst/>
          </a:prstGeom>
          <a:noFill/>
          <a:ln/>
        </p:spPr>
        <p:txBody>
          <a:bodyPr wrap="square" lIns="0" tIns="0" rIns="0" bIns="0" rtlCol="0" anchor="ctr"/>
          <a:lstStyle/>
          <a:p>
            <a:pPr algn="ctr" indent="0" marL="0">
              <a:buNone/>
            </a:pPr>
            <a:r>
              <a:rPr lang="en-US" sz="1900" b="1" dirty="0">
                <a:solidFill>
                  <a:schemeClr val="bg1"/>
                </a:solidFill>
              </a:rPr>
              <a:t>moeten</a:t>
            </a:r>
            <a:endParaRPr lang="en-US" sz="1900" dirty="0"/>
          </a:p>
        </p:txBody>
      </p:sp>
      <p:sp>
        <p:nvSpPr>
          <p:cNvPr id="23" name="Shape 18"/>
          <p:cNvSpPr/>
          <p:nvPr/>
        </p:nvSpPr>
        <p:spPr>
          <a:xfrm>
            <a:off x="10202012" y="3474720"/>
            <a:ext cx="1463303" cy="566928"/>
          </a:xfrm>
          <a:prstGeom prst="roundRect">
            <a:avLst>
              <a:gd name="adj" fmla="val 16129"/>
            </a:avLst>
          </a:prstGeom>
          <a:solidFill>
            <a:srgbClr val="FBEDEB"/>
          </a:solidFill>
          <a:ln w="25400">
            <a:solidFill>
              <a:srgbClr val="B83227"/>
            </a:solidFill>
            <a:prstDash val="solid"/>
          </a:ln>
        </p:spPr>
      </p:sp>
      <p:sp>
        <p:nvSpPr>
          <p:cNvPr id="24" name="Text 19"/>
          <p:cNvSpPr txBox="1"/>
          <p:nvPr/>
        </p:nvSpPr>
        <p:spPr>
          <a:xfrm>
            <a:off x="10202012" y="3474720"/>
            <a:ext cx="1463303" cy="566928"/>
          </a:xfrm>
          <a:prstGeom prst="rect">
            <a:avLst/>
          </a:prstGeom>
          <a:noFill/>
          <a:ln/>
        </p:spPr>
        <p:txBody>
          <a:bodyPr wrap="square" lIns="0" tIns="0" rIns="0" bIns="0" rtlCol="0" anchor="ctr"/>
          <a:lstStyle/>
          <a:p>
            <a:pPr algn="ctr" indent="0" marL="0">
              <a:buNone/>
            </a:pPr>
            <a:r>
              <a:rPr lang="en-US" sz="1900" b="1" dirty="0">
                <a:solidFill>
                  <a:schemeClr val="accent6"/>
                </a:solidFill>
              </a:rPr>
              <a:t>werken.</a:t>
            </a:r>
            <a:endParaRPr lang="en-US" sz="1900" dirty="0"/>
          </a:p>
        </p:txBody>
      </p:sp>
      <p:sp>
        <p:nvSpPr>
          <p:cNvPr id="25" name="Shape 20"/>
          <p:cNvSpPr/>
          <p:nvPr/>
        </p:nvSpPr>
        <p:spPr>
          <a:xfrm>
            <a:off x="7132320" y="4197096"/>
            <a:ext cx="4624435" cy="45720"/>
          </a:xfrm>
          <a:prstGeom prst="rect">
            <a:avLst/>
          </a:prstGeom>
          <a:solidFill>
            <a:srgbClr val="8A96A8"/>
          </a:solidFill>
          <a:ln w="12700">
            <a:solidFill>
              <a:srgbClr val="FFFFFF">
                <a:alpha val="0"/>
              </a:srgbClr>
            </a:solidFill>
            <a:prstDash val="solid"/>
          </a:ln>
        </p:spPr>
      </p:sp>
      <p:sp>
        <p:nvSpPr>
          <p:cNvPr id="26" name="Shape 21"/>
          <p:cNvSpPr/>
          <p:nvPr/>
        </p:nvSpPr>
        <p:spPr>
          <a:xfrm>
            <a:off x="7984904" y="4050792"/>
            <a:ext cx="146304" cy="146304"/>
          </a:xfrm>
          <a:prstGeom prst="ellipse">
            <a:avLst/>
          </a:prstGeom>
          <a:solidFill>
            <a:srgbClr val="1B2333"/>
          </a:solidFill>
          <a:ln w="12700">
            <a:solidFill>
              <a:srgbClr val="FFFFFF">
                <a:alpha val="0"/>
              </a:srgbClr>
            </a:solidFill>
            <a:prstDash val="solid"/>
          </a:ln>
        </p:spPr>
      </p:sp>
      <p:sp>
        <p:nvSpPr>
          <p:cNvPr id="27" name="Shape 22"/>
          <p:cNvSpPr/>
          <p:nvPr/>
        </p:nvSpPr>
        <p:spPr>
          <a:xfrm>
            <a:off x="8464376" y="4050792"/>
            <a:ext cx="146304" cy="146304"/>
          </a:xfrm>
          <a:prstGeom prst="ellipse">
            <a:avLst/>
          </a:prstGeom>
          <a:solidFill>
            <a:srgbClr val="1B2333"/>
          </a:solidFill>
          <a:ln w="12700">
            <a:solidFill>
              <a:srgbClr val="FFFFFF">
                <a:alpha val="0"/>
              </a:srgbClr>
            </a:solidFill>
            <a:prstDash val="solid"/>
          </a:ln>
        </p:spPr>
      </p:sp>
      <p:sp>
        <p:nvSpPr>
          <p:cNvPr id="28" name="Shape 23"/>
          <p:cNvSpPr/>
          <p:nvPr/>
        </p:nvSpPr>
        <p:spPr>
          <a:xfrm>
            <a:off x="7979420" y="3273552"/>
            <a:ext cx="146304" cy="219456"/>
          </a:xfrm>
          <a:prstGeom prst="rect">
            <a:avLst/>
          </a:prstGeom>
          <a:solidFill>
            <a:schemeClr val="tx2"/>
          </a:solidFill>
          <a:ln w="12700">
            <a:solidFill>
              <a:srgbClr val="FFFFFF">
                <a:alpha val="0"/>
              </a:srgbClr>
            </a:solidFill>
            <a:prstDash val="solid"/>
          </a:ln>
        </p:spPr>
      </p:sp>
      <p:sp>
        <p:nvSpPr>
          <p:cNvPr id="29" name="Shape 24"/>
          <p:cNvSpPr/>
          <p:nvPr/>
        </p:nvSpPr>
        <p:spPr>
          <a:xfrm>
            <a:off x="8725892" y="3899916"/>
            <a:ext cx="82296" cy="914"/>
          </a:xfrm>
          <a:prstGeom prst="line">
            <a:avLst/>
          </a:prstGeom>
          <a:noFill/>
          <a:ln w="31750">
            <a:solidFill>
              <a:srgbClr val="1B2333"/>
            </a:solidFill>
            <a:prstDash val="solid"/>
          </a:ln>
        </p:spPr>
      </p:sp>
      <p:sp>
        <p:nvSpPr>
          <p:cNvPr id="30" name="Shape 25"/>
          <p:cNvSpPr/>
          <p:nvPr/>
        </p:nvSpPr>
        <p:spPr>
          <a:xfrm>
            <a:off x="9023572" y="4050792"/>
            <a:ext cx="146304" cy="146304"/>
          </a:xfrm>
          <a:prstGeom prst="ellipse">
            <a:avLst/>
          </a:prstGeom>
          <a:solidFill>
            <a:srgbClr val="1B2333"/>
          </a:solidFill>
          <a:ln w="12700">
            <a:solidFill>
              <a:srgbClr val="FFFFFF">
                <a:alpha val="0"/>
              </a:srgbClr>
            </a:solidFill>
            <a:prstDash val="solid"/>
          </a:ln>
        </p:spPr>
      </p:sp>
      <p:sp>
        <p:nvSpPr>
          <p:cNvPr id="31" name="Shape 26"/>
          <p:cNvSpPr/>
          <p:nvPr/>
        </p:nvSpPr>
        <p:spPr>
          <a:xfrm>
            <a:off x="9758028" y="4050792"/>
            <a:ext cx="146304" cy="146304"/>
          </a:xfrm>
          <a:prstGeom prst="ellipse">
            <a:avLst/>
          </a:prstGeom>
          <a:solidFill>
            <a:srgbClr val="1B2333"/>
          </a:solidFill>
          <a:ln w="12700">
            <a:solidFill>
              <a:srgbClr val="FFFFFF">
                <a:alpha val="0"/>
              </a:srgbClr>
            </a:solidFill>
            <a:prstDash val="solid"/>
          </a:ln>
        </p:spPr>
      </p:sp>
      <p:sp>
        <p:nvSpPr>
          <p:cNvPr id="32" name="Shape 27"/>
          <p:cNvSpPr/>
          <p:nvPr/>
        </p:nvSpPr>
        <p:spPr>
          <a:xfrm>
            <a:off x="10119716" y="3899916"/>
            <a:ext cx="82296" cy="914"/>
          </a:xfrm>
          <a:prstGeom prst="line">
            <a:avLst/>
          </a:prstGeom>
          <a:noFill/>
          <a:ln w="31750">
            <a:solidFill>
              <a:srgbClr val="1B2333"/>
            </a:solidFill>
            <a:prstDash val="solid"/>
          </a:ln>
        </p:spPr>
      </p:sp>
      <p:sp>
        <p:nvSpPr>
          <p:cNvPr id="33" name="Shape 28"/>
          <p:cNvSpPr/>
          <p:nvPr/>
        </p:nvSpPr>
        <p:spPr>
          <a:xfrm>
            <a:off x="10450787" y="4050792"/>
            <a:ext cx="146304" cy="146304"/>
          </a:xfrm>
          <a:prstGeom prst="ellipse">
            <a:avLst/>
          </a:prstGeom>
          <a:solidFill>
            <a:srgbClr val="1B2333"/>
          </a:solidFill>
          <a:ln w="12700">
            <a:solidFill>
              <a:srgbClr val="FFFFFF">
                <a:alpha val="0"/>
              </a:srgbClr>
            </a:solidFill>
            <a:prstDash val="solid"/>
          </a:ln>
        </p:spPr>
      </p:sp>
      <p:sp>
        <p:nvSpPr>
          <p:cNvPr id="34" name="Shape 29"/>
          <p:cNvSpPr/>
          <p:nvPr/>
        </p:nvSpPr>
        <p:spPr>
          <a:xfrm>
            <a:off x="11270237" y="4050792"/>
            <a:ext cx="146304" cy="146304"/>
          </a:xfrm>
          <a:prstGeom prst="ellipse">
            <a:avLst/>
          </a:prstGeom>
          <a:solidFill>
            <a:srgbClr val="1B2333"/>
          </a:solidFill>
          <a:ln w="12700">
            <a:solidFill>
              <a:srgbClr val="FFFFFF">
                <a:alpha val="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Ey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reconnais le double infinitif : Ik heb moeten werken.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g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au passé avec moeten, kunnen, laten, gaan…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m’excuse et j’exprime un regret : Ik had moeten bellen.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Un verbe + un infinitif au présent → deux infinitifs au passé composé.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Vandaag… gisteren?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briefcase">    </p:cNvPr>
          <p:cNvPicPr>
            <a:picLocks noChangeAspect="1"/>
          </p:cNvPicPr>
          <p:nvPr/>
        </p:nvPicPr>
        <p:blipFill>
          <a:blip r:embed="rId1"/>
          <a:stretch>
            <a:fillRect/>
          </a:stretch>
        </p:blipFill>
        <p:spPr>
          <a:xfrm>
            <a:off x="1726692" y="1691640"/>
            <a:ext cx="1188720" cy="1188720"/>
          </a:xfrm>
          <a:prstGeom prst="rect">
            <a:avLst/>
          </a:prstGeom>
        </p:spPr>
      </p:pic>
      <p:sp>
        <p:nvSpPr>
          <p:cNvPr id="7" name="Text 3"/>
          <p:cNvSpPr txBox="1"/>
          <p:nvPr/>
        </p:nvSpPr>
        <p:spPr>
          <a:xfrm>
            <a:off x="731520"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moet</a:t>
            </a:r>
            <a:r>
              <a:rPr lang="en-US" sz="1900" i="1" dirty="0">
                <a:solidFill>
                  <a:schemeClr val="tx1"/>
                </a:solidFill>
              </a:rPr>
              <a:t> ik werken.</a:t>
            </a:r>
            <a:endParaRPr lang="en-US" sz="1900" dirty="0"/>
          </a:p>
        </p:txBody>
      </p:sp>
      <p:sp>
        <p:nvSpPr>
          <p:cNvPr id="8" name="Text 4"/>
          <p:cNvSpPr txBox="1"/>
          <p:nvPr/>
        </p:nvSpPr>
        <p:spPr>
          <a:xfrm>
            <a:off x="548640"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9" name="Text 5"/>
          <p:cNvSpPr txBox="1"/>
          <p:nvPr/>
        </p:nvSpPr>
        <p:spPr>
          <a:xfrm>
            <a:off x="731520"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a:t>
            </a:r>
            <a:endParaRPr lang="en-US" sz="1900" dirty="0"/>
          </a:p>
        </p:txBody>
      </p:sp>
      <p:sp>
        <p:nvSpPr>
          <p:cNvPr id="10" name="Shape 6"/>
          <p:cNvSpPr/>
          <p:nvPr/>
        </p:nvSpPr>
        <p:spPr>
          <a:xfrm>
            <a:off x="1005840" y="4617720"/>
            <a:ext cx="2630424" cy="640080"/>
          </a:xfrm>
          <a:prstGeom prst="roundRect">
            <a:avLst>
              <a:gd name="adj" fmla="val 17143"/>
            </a:avLst>
          </a:prstGeom>
          <a:solidFill>
            <a:srgbClr val="FFFFFF"/>
          </a:solidFill>
          <a:ln w="22225">
            <a:solidFill>
              <a:srgbClr val="D9700F"/>
            </a:solidFill>
            <a:prstDash val="dash"/>
          </a:ln>
        </p:spPr>
      </p:sp>
      <p:sp>
        <p:nvSpPr>
          <p:cNvPr id="11" name="Text 7"/>
          <p:cNvSpPr txBox="1"/>
          <p:nvPr/>
        </p:nvSpPr>
        <p:spPr>
          <a:xfrm>
            <a:off x="1005840"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2" name="Shape 8"/>
          <p:cNvSpPr/>
          <p:nvPr/>
        </p:nvSpPr>
        <p:spPr>
          <a:xfrm>
            <a:off x="4322064"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3" name="Image 1" descr="no entry">    </p:cNvPr>
          <p:cNvPicPr>
            <a:picLocks noChangeAspect="1"/>
          </p:cNvPicPr>
          <p:nvPr/>
        </p:nvPicPr>
        <p:blipFill>
          <a:blip r:embed="rId2"/>
          <a:stretch>
            <a:fillRect/>
          </a:stretch>
        </p:blipFill>
        <p:spPr>
          <a:xfrm>
            <a:off x="5500116" y="1691640"/>
            <a:ext cx="1188720" cy="1188720"/>
          </a:xfrm>
          <a:prstGeom prst="rect">
            <a:avLst/>
          </a:prstGeom>
        </p:spPr>
      </p:pic>
      <p:sp>
        <p:nvSpPr>
          <p:cNvPr id="14" name="Text 9"/>
          <p:cNvSpPr txBox="1"/>
          <p:nvPr/>
        </p:nvSpPr>
        <p:spPr>
          <a:xfrm>
            <a:off x="4504944"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kan</a:t>
            </a:r>
            <a:r>
              <a:rPr lang="en-US" sz="1900" i="1" dirty="0">
                <a:solidFill>
                  <a:schemeClr val="tx1"/>
                </a:solidFill>
              </a:rPr>
              <a:t> ik niet komen.</a:t>
            </a:r>
            <a:endParaRPr lang="en-US" sz="1900" dirty="0"/>
          </a:p>
        </p:txBody>
      </p:sp>
      <p:sp>
        <p:nvSpPr>
          <p:cNvPr id="15" name="Text 10"/>
          <p:cNvSpPr txBox="1"/>
          <p:nvPr/>
        </p:nvSpPr>
        <p:spPr>
          <a:xfrm>
            <a:off x="4322064"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16" name="Text 11"/>
          <p:cNvSpPr txBox="1"/>
          <p:nvPr/>
        </p:nvSpPr>
        <p:spPr>
          <a:xfrm>
            <a:off x="4504944"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heb</a:t>
            </a:r>
            <a:r>
              <a:rPr lang="en-US" sz="1900" i="1" dirty="0">
                <a:solidFill>
                  <a:schemeClr val="tx1"/>
                </a:solidFill>
              </a:rPr>
              <a:t> ik ook niet…</a:t>
            </a:r>
            <a:endParaRPr lang="en-US" sz="1900" dirty="0"/>
          </a:p>
        </p:txBody>
      </p:sp>
      <p:sp>
        <p:nvSpPr>
          <p:cNvPr id="17" name="Shape 12"/>
          <p:cNvSpPr/>
          <p:nvPr/>
        </p:nvSpPr>
        <p:spPr>
          <a:xfrm>
            <a:off x="4779264" y="4617720"/>
            <a:ext cx="2630424" cy="640080"/>
          </a:xfrm>
          <a:prstGeom prst="roundRect">
            <a:avLst>
              <a:gd name="adj" fmla="val 17143"/>
            </a:avLst>
          </a:prstGeom>
          <a:solidFill>
            <a:srgbClr val="FFFFFF"/>
          </a:solidFill>
          <a:ln w="22225">
            <a:solidFill>
              <a:srgbClr val="D9700F"/>
            </a:solidFill>
            <a:prstDash val="dash"/>
          </a:ln>
        </p:spPr>
      </p:sp>
      <p:sp>
        <p:nvSpPr>
          <p:cNvPr id="18" name="Text 13"/>
          <p:cNvSpPr txBox="1"/>
          <p:nvPr/>
        </p:nvSpPr>
        <p:spPr>
          <a:xfrm>
            <a:off x="4779264"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19" name="Shape 14"/>
          <p:cNvSpPr/>
          <p:nvPr/>
        </p:nvSpPr>
        <p:spPr>
          <a:xfrm>
            <a:off x="8095488" y="1508760"/>
            <a:ext cx="3544824" cy="3977640"/>
          </a:xfrm>
          <a:prstGeom prst="roundRect">
            <a:avLst>
              <a:gd name="adj" fmla="val 309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20" name="Image 2" descr="person swimming">    </p:cNvPr>
          <p:cNvPicPr>
            <a:picLocks noChangeAspect="1"/>
          </p:cNvPicPr>
          <p:nvPr/>
        </p:nvPicPr>
        <p:blipFill>
          <a:blip r:embed="rId3"/>
          <a:stretch>
            <a:fillRect/>
          </a:stretch>
        </p:blipFill>
        <p:spPr>
          <a:xfrm>
            <a:off x="9273540" y="1691640"/>
            <a:ext cx="1188720" cy="1188720"/>
          </a:xfrm>
          <a:prstGeom prst="rect">
            <a:avLst/>
          </a:prstGeom>
        </p:spPr>
      </p:pic>
      <p:sp>
        <p:nvSpPr>
          <p:cNvPr id="21" name="Text 15"/>
          <p:cNvSpPr txBox="1"/>
          <p:nvPr/>
        </p:nvSpPr>
        <p:spPr>
          <a:xfrm>
            <a:off x="8278368" y="3017520"/>
            <a:ext cx="3179064" cy="548640"/>
          </a:xfrm>
          <a:prstGeom prst="rect">
            <a:avLst/>
          </a:prstGeom>
          <a:noFill/>
          <a:ln/>
        </p:spPr>
        <p:txBody>
          <a:bodyPr wrap="square" lIns="0" tIns="0" rIns="0" bIns="0" rtlCol="0" anchor="ctr"/>
          <a:lstStyle/>
          <a:p>
            <a:pPr algn="ctr" indent="0" marL="0">
              <a:buNone/>
            </a:pPr>
            <a:r>
              <a:rPr lang="en-US" sz="1900" i="1" dirty="0">
                <a:solidFill>
                  <a:schemeClr val="tx1"/>
                </a:solidFill>
              </a:rPr>
              <a:t>Vandaag </a:t>
            </a:r>
            <a:r>
              <a:rPr lang="en-US" sz="1900" b="1" i="1" dirty="0">
                <a:solidFill>
                  <a:schemeClr val="tx1"/>
                </a:solidFill>
              </a:rPr>
              <a:t>ga</a:t>
            </a:r>
            <a:r>
              <a:rPr lang="en-US" sz="1900" i="1" dirty="0">
                <a:solidFill>
                  <a:schemeClr val="tx1"/>
                </a:solidFill>
              </a:rPr>
              <a:t> ik zwemmen.</a:t>
            </a:r>
            <a:endParaRPr lang="en-US" sz="1900" dirty="0"/>
          </a:p>
        </p:txBody>
      </p:sp>
      <p:sp>
        <p:nvSpPr>
          <p:cNvPr id="22" name="Text 16"/>
          <p:cNvSpPr txBox="1"/>
          <p:nvPr/>
        </p:nvSpPr>
        <p:spPr>
          <a:xfrm>
            <a:off x="8095488" y="3566160"/>
            <a:ext cx="3544824" cy="411480"/>
          </a:xfrm>
          <a:prstGeom prst="rect">
            <a:avLst/>
          </a:prstGeom>
          <a:noFill/>
          <a:ln/>
        </p:spPr>
        <p:txBody>
          <a:bodyPr wrap="square" lIns="0" tIns="0" rIns="0" bIns="0" rtlCol="0" anchor="ctr"/>
          <a:lstStyle/>
          <a:p>
            <a:pPr algn="ctr" indent="0" marL="0">
              <a:buNone/>
            </a:pPr>
            <a:r>
              <a:rPr lang="en-US" sz="2000" dirty="0">
                <a:solidFill>
                  <a:schemeClr val="accent5"/>
                </a:solidFill>
              </a:rPr>
              <a:t>⬇</a:t>
            </a:r>
            <a:endParaRPr lang="en-US" sz="2000" dirty="0"/>
          </a:p>
        </p:txBody>
      </p:sp>
      <p:sp>
        <p:nvSpPr>
          <p:cNvPr id="23" name="Text 17"/>
          <p:cNvSpPr txBox="1"/>
          <p:nvPr/>
        </p:nvSpPr>
        <p:spPr>
          <a:xfrm>
            <a:off x="8278368" y="3977640"/>
            <a:ext cx="3179064" cy="502920"/>
          </a:xfrm>
          <a:prstGeom prst="rect">
            <a:avLst/>
          </a:prstGeom>
          <a:noFill/>
          <a:ln/>
        </p:spPr>
        <p:txBody>
          <a:bodyPr wrap="square" lIns="0" tIns="0" rIns="0" bIns="0" rtlCol="0" anchor="ctr"/>
          <a:lstStyle/>
          <a:p>
            <a:pPr algn="ctr" indent="0" marL="0">
              <a:buNone/>
            </a:pPr>
            <a:r>
              <a:rPr lang="en-US" sz="1900" i="1" dirty="0">
                <a:solidFill>
                  <a:schemeClr val="tx1"/>
                </a:solidFill>
              </a:rPr>
              <a:t>Gisteren </a:t>
            </a:r>
            <a:r>
              <a:rPr lang="en-US" sz="1900" b="1" i="1" dirty="0">
                <a:solidFill>
                  <a:schemeClr val="tx1"/>
                </a:solidFill>
              </a:rPr>
              <a:t>ben</a:t>
            </a:r>
            <a:r>
              <a:rPr lang="en-US" sz="1900" i="1" dirty="0">
                <a:solidFill>
                  <a:schemeClr val="tx1"/>
                </a:solidFill>
              </a:rPr>
              <a:t> ik ook…</a:t>
            </a:r>
            <a:endParaRPr lang="en-US" sz="1900" dirty="0"/>
          </a:p>
        </p:txBody>
      </p:sp>
      <p:sp>
        <p:nvSpPr>
          <p:cNvPr id="24" name="Shape 18"/>
          <p:cNvSpPr/>
          <p:nvPr/>
        </p:nvSpPr>
        <p:spPr>
          <a:xfrm>
            <a:off x="8552688" y="4617720"/>
            <a:ext cx="2630424" cy="640080"/>
          </a:xfrm>
          <a:prstGeom prst="roundRect">
            <a:avLst>
              <a:gd name="adj" fmla="val 17143"/>
            </a:avLst>
          </a:prstGeom>
          <a:solidFill>
            <a:srgbClr val="FFFFFF"/>
          </a:solidFill>
          <a:ln w="22225">
            <a:solidFill>
              <a:srgbClr val="D9700F"/>
            </a:solidFill>
            <a:prstDash val="dash"/>
          </a:ln>
        </p:spPr>
      </p:sp>
      <p:sp>
        <p:nvSpPr>
          <p:cNvPr id="25" name="Text 19"/>
          <p:cNvSpPr txBox="1"/>
          <p:nvPr/>
        </p:nvSpPr>
        <p:spPr>
          <a:xfrm>
            <a:off x="8552688" y="4617720"/>
            <a:ext cx="2630424" cy="640080"/>
          </a:xfrm>
          <a:prstGeom prst="rect">
            <a:avLst/>
          </a:prstGeom>
          <a:noFill/>
          <a:ln/>
        </p:spPr>
        <p:txBody>
          <a:bodyPr wrap="square" lIns="0" tIns="0" rIns="0" bIns="0" rtlCol="0" anchor="ctr"/>
          <a:lstStyle/>
          <a:p>
            <a:pPr algn="ctr" indent="0" marL="0">
              <a:buNone/>
            </a:pPr>
            <a:r>
              <a:rPr lang="en-US" sz="2200" b="1" dirty="0">
                <a:solidFill>
                  <a:schemeClr val="accent1"/>
                </a:solidFill>
              </a:rPr>
              <a:t>… ?</a:t>
            </a:r>
            <a:endParaRPr lang="en-US" sz="2200" dirty="0"/>
          </a:p>
        </p:txBody>
      </p:sp>
      <p:sp>
        <p:nvSpPr>
          <p:cNvPr id="26" name="Shape 20"/>
          <p:cNvSpPr/>
          <p:nvPr/>
        </p:nvSpPr>
        <p:spPr>
          <a:xfrm>
            <a:off x="548640" y="5623560"/>
            <a:ext cx="11091672" cy="594360"/>
          </a:xfrm>
          <a:prstGeom prst="roundRect">
            <a:avLst>
              <a:gd name="adj" fmla="val 12308"/>
            </a:avLst>
          </a:prstGeom>
          <a:solidFill>
            <a:schemeClr val="accent1">
              <a:alpha val="15000"/>
            </a:schemeClr>
          </a:solidFill>
          <a:ln w="15875">
            <a:solidFill>
              <a:srgbClr val="D9700F"/>
            </a:solidFill>
            <a:prstDash val="solid"/>
          </a:ln>
        </p:spPr>
      </p:sp>
      <p:pic>
        <p:nvPicPr>
          <p:cNvPr id="27" name="Image 3" descr="thinking face">    </p:cNvPr>
          <p:cNvPicPr>
            <a:picLocks noChangeAspect="1"/>
          </p:cNvPicPr>
          <p:nvPr/>
        </p:nvPicPr>
        <p:blipFill>
          <a:blip r:embed="rId4"/>
          <a:stretch>
            <a:fillRect/>
          </a:stretch>
        </p:blipFill>
        <p:spPr>
          <a:xfrm>
            <a:off x="685800" y="5669280"/>
            <a:ext cx="502920" cy="502920"/>
          </a:xfrm>
          <a:prstGeom prst="rect">
            <a:avLst/>
          </a:prstGeom>
        </p:spPr>
      </p:pic>
      <p:sp>
        <p:nvSpPr>
          <p:cNvPr id="28" name="Text 21"/>
          <p:cNvSpPr txBox="1"/>
          <p:nvPr/>
        </p:nvSpPr>
        <p:spPr>
          <a:xfrm>
            <a:off x="1325880" y="5623560"/>
            <a:ext cx="10149840" cy="594360"/>
          </a:xfrm>
          <a:prstGeom prst="rect">
            <a:avLst/>
          </a:prstGeom>
          <a:noFill/>
          <a:ln/>
        </p:spPr>
        <p:txBody>
          <a:bodyPr wrap="square" lIns="0" tIns="0" rIns="0" bIns="0" rtlCol="0" anchor="ctr"/>
          <a:lstStyle/>
          <a:p>
            <a:pPr algn="l" indent="0" marL="0">
              <a:buNone/>
            </a:pPr>
            <a:r>
              <a:rPr lang="en-US" sz="1700" dirty="0">
                <a:solidFill>
                  <a:schemeClr val="tx1"/>
                </a:solidFill>
              </a:rPr>
              <a:t>En français : </a:t>
            </a:r>
            <a:r>
              <a:rPr lang="en-US" sz="1700" i="1" dirty="0">
                <a:solidFill>
                  <a:schemeClr val="tx1"/>
                </a:solidFill>
              </a:rPr>
              <a:t>j’ai </a:t>
            </a:r>
            <a:r>
              <a:rPr lang="en-US" sz="1700" b="1" i="1" dirty="0">
                <a:solidFill>
                  <a:schemeClr val="tx1"/>
                </a:solidFill>
              </a:rPr>
              <a:t>dû</a:t>
            </a:r>
            <a:r>
              <a:rPr lang="en-US" sz="1700" i="1" dirty="0">
                <a:solidFill>
                  <a:schemeClr val="tx1"/>
                </a:solidFill>
              </a:rPr>
              <a:t> travailler</a:t>
            </a:r>
            <a:r>
              <a:rPr lang="en-US" sz="1700" dirty="0">
                <a:solidFill>
                  <a:schemeClr val="tx1"/>
                </a:solidFill>
              </a:rPr>
              <a:t> (un participe). Et en néerlandais : </a:t>
            </a:r>
            <a:r>
              <a:rPr lang="en-US" sz="1700" i="1" dirty="0">
                <a:solidFill>
                  <a:schemeClr val="tx1"/>
                </a:solidFill>
              </a:rPr>
              <a:t>ik heb </a:t>
            </a:r>
            <a:r>
              <a:rPr lang="en-US" sz="1700" b="1" i="1" dirty="0">
                <a:solidFill>
                  <a:schemeClr val="tx1"/>
                </a:solidFill>
              </a:rPr>
              <a:t>gemoeten</a:t>
            </a:r>
            <a:r>
              <a:rPr lang="en-US" sz="1700" i="1" dirty="0">
                <a:solidFill>
                  <a:schemeClr val="tx1"/>
                </a:solidFill>
              </a:rPr>
              <a:t> werken</a:t>
            </a: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L’infinitif remplace le participe</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Shape 2"/>
          <p:cNvSpPr/>
          <p:nvPr/>
        </p:nvSpPr>
        <p:spPr>
          <a:xfrm>
            <a:off x="548640" y="1719072"/>
            <a:ext cx="182880" cy="362102"/>
          </a:xfrm>
          <a:prstGeom prst="rect">
            <a:avLst/>
          </a:prstGeom>
          <a:solidFill>
            <a:srgbClr val="1F4FA3"/>
          </a:solidFill>
          <a:ln w="12700">
            <a:solidFill>
              <a:srgbClr val="FFFFFF">
                <a:alpha val="0"/>
              </a:srgbClr>
            </a:solidFill>
            <a:prstDash val="solid"/>
          </a:ln>
        </p:spPr>
      </p:sp>
      <p:sp>
        <p:nvSpPr>
          <p:cNvPr id="6" name="Shape 3"/>
          <p:cNvSpPr/>
          <p:nvPr/>
        </p:nvSpPr>
        <p:spPr>
          <a:xfrm>
            <a:off x="731520" y="1719072"/>
            <a:ext cx="182880" cy="362102"/>
          </a:xfrm>
          <a:prstGeom prst="rect">
            <a:avLst/>
          </a:prstGeom>
          <a:solidFill>
            <a:srgbClr val="FFFFFF"/>
          </a:solidFill>
          <a:ln w="12700">
            <a:solidFill>
              <a:srgbClr val="FFFFFF">
                <a:alpha val="0"/>
              </a:srgbClr>
            </a:solidFill>
            <a:prstDash val="solid"/>
          </a:ln>
        </p:spPr>
      </p:sp>
      <p:sp>
        <p:nvSpPr>
          <p:cNvPr id="7" name="Shape 4"/>
          <p:cNvSpPr/>
          <p:nvPr/>
        </p:nvSpPr>
        <p:spPr>
          <a:xfrm>
            <a:off x="914400" y="1719072"/>
            <a:ext cx="182880" cy="362102"/>
          </a:xfrm>
          <a:prstGeom prst="rect">
            <a:avLst/>
          </a:prstGeom>
          <a:solidFill>
            <a:srgbClr val="E2232A"/>
          </a:solidFill>
          <a:ln w="12700">
            <a:solidFill>
              <a:srgbClr val="FFFFFF">
                <a:alpha val="0"/>
              </a:srgbClr>
            </a:solidFill>
            <a:prstDash val="solid"/>
          </a:ln>
        </p:spPr>
      </p:sp>
      <p:sp>
        <p:nvSpPr>
          <p:cNvPr id="8" name="Shape 5"/>
          <p:cNvSpPr/>
          <p:nvPr/>
        </p:nvSpPr>
        <p:spPr>
          <a:xfrm>
            <a:off x="548640" y="1719072"/>
            <a:ext cx="548640" cy="362102"/>
          </a:xfrm>
          <a:prstGeom prst="rect">
            <a:avLst/>
          </a:prstGeom>
          <a:noFill/>
          <a:ln w="9525">
            <a:solidFill>
              <a:srgbClr val="B8C2CF"/>
            </a:solidFill>
            <a:prstDash val="solid"/>
          </a:ln>
        </p:spPr>
      </p:sp>
      <p:sp>
        <p:nvSpPr>
          <p:cNvPr id="9" name="Shape 6"/>
          <p:cNvSpPr/>
          <p:nvPr/>
        </p:nvSpPr>
        <p:spPr>
          <a:xfrm>
            <a:off x="1280160" y="1600200"/>
            <a:ext cx="1167740" cy="603504"/>
          </a:xfrm>
          <a:prstGeom prst="roundRect">
            <a:avLst>
              <a:gd name="adj" fmla="val 15152"/>
            </a:avLst>
          </a:prstGeom>
          <a:solidFill>
            <a:schemeClr val="tx2"/>
          </a:solidFill>
          <a:ln w="12700">
            <a:solidFill>
              <a:srgbClr val="FFFFFF">
                <a:alpha val="0"/>
              </a:srgbClr>
            </a:solidFill>
            <a:prstDash val="solid"/>
          </a:ln>
        </p:spPr>
      </p:sp>
      <p:sp>
        <p:nvSpPr>
          <p:cNvPr id="10" name="Text 7"/>
          <p:cNvSpPr txBox="1"/>
          <p:nvPr/>
        </p:nvSpPr>
        <p:spPr>
          <a:xfrm>
            <a:off x="1280160" y="1600200"/>
            <a:ext cx="1167740" cy="603504"/>
          </a:xfrm>
          <a:prstGeom prst="rect">
            <a:avLst/>
          </a:prstGeom>
          <a:noFill/>
          <a:ln/>
        </p:spPr>
        <p:txBody>
          <a:bodyPr wrap="square" lIns="0" tIns="0" rIns="0" bIns="0" rtlCol="0" anchor="ctr"/>
          <a:lstStyle/>
          <a:p>
            <a:pPr algn="ctr" indent="0" marL="0">
              <a:buNone/>
            </a:pPr>
            <a:r>
              <a:rPr lang="en-US" sz="2400" b="1" dirty="0">
                <a:solidFill>
                  <a:schemeClr val="bg1"/>
                </a:solidFill>
              </a:rPr>
              <a:t>J’ai</a:t>
            </a:r>
            <a:endParaRPr lang="en-US" sz="2400" dirty="0"/>
          </a:p>
        </p:txBody>
      </p:sp>
      <p:sp>
        <p:nvSpPr>
          <p:cNvPr id="11" name="Shape 8"/>
          <p:cNvSpPr/>
          <p:nvPr/>
        </p:nvSpPr>
        <p:spPr>
          <a:xfrm>
            <a:off x="2530196" y="1600200"/>
            <a:ext cx="784306" cy="603504"/>
          </a:xfrm>
          <a:prstGeom prst="roundRect">
            <a:avLst>
              <a:gd name="adj" fmla="val 15152"/>
            </a:avLst>
          </a:prstGeom>
          <a:solidFill>
            <a:schemeClr val="accent1"/>
          </a:solidFill>
          <a:ln w="12700">
            <a:solidFill>
              <a:srgbClr val="FFFFFF">
                <a:alpha val="0"/>
              </a:srgbClr>
            </a:solidFill>
            <a:prstDash val="solid"/>
          </a:ln>
        </p:spPr>
      </p:sp>
      <p:sp>
        <p:nvSpPr>
          <p:cNvPr id="12" name="Text 9"/>
          <p:cNvSpPr txBox="1"/>
          <p:nvPr/>
        </p:nvSpPr>
        <p:spPr>
          <a:xfrm>
            <a:off x="2530196" y="1600200"/>
            <a:ext cx="784306" cy="603504"/>
          </a:xfrm>
          <a:prstGeom prst="rect">
            <a:avLst/>
          </a:prstGeom>
          <a:noFill/>
          <a:ln/>
        </p:spPr>
        <p:txBody>
          <a:bodyPr wrap="square" lIns="0" tIns="0" rIns="0" bIns="0" rtlCol="0" anchor="ctr"/>
          <a:lstStyle/>
          <a:p>
            <a:pPr algn="ctr" indent="0" marL="0">
              <a:buNone/>
            </a:pPr>
            <a:r>
              <a:rPr lang="en-US" sz="2400" b="1" dirty="0">
                <a:solidFill>
                  <a:schemeClr val="bg1"/>
                </a:solidFill>
              </a:rPr>
              <a:t>dû</a:t>
            </a:r>
            <a:endParaRPr lang="en-US" sz="2400" dirty="0"/>
          </a:p>
        </p:txBody>
      </p:sp>
      <p:sp>
        <p:nvSpPr>
          <p:cNvPr id="13" name="Shape 10"/>
          <p:cNvSpPr/>
          <p:nvPr/>
        </p:nvSpPr>
        <p:spPr>
          <a:xfrm>
            <a:off x="3396798" y="1600200"/>
            <a:ext cx="2509757" cy="603504"/>
          </a:xfrm>
          <a:prstGeom prst="roundRect">
            <a:avLst>
              <a:gd name="adj" fmla="val 15152"/>
            </a:avLst>
          </a:prstGeom>
          <a:solidFill>
            <a:srgbClr val="FBEDEB"/>
          </a:solidFill>
          <a:ln w="25400">
            <a:solidFill>
              <a:srgbClr val="B83227"/>
            </a:solidFill>
            <a:prstDash val="solid"/>
          </a:ln>
        </p:spPr>
      </p:sp>
      <p:sp>
        <p:nvSpPr>
          <p:cNvPr id="14" name="Text 11"/>
          <p:cNvSpPr txBox="1"/>
          <p:nvPr/>
        </p:nvSpPr>
        <p:spPr>
          <a:xfrm>
            <a:off x="3396798" y="1600200"/>
            <a:ext cx="2509757" cy="603504"/>
          </a:xfrm>
          <a:prstGeom prst="rect">
            <a:avLst/>
          </a:prstGeom>
          <a:noFill/>
          <a:ln/>
        </p:spPr>
        <p:txBody>
          <a:bodyPr wrap="square" lIns="0" tIns="0" rIns="0" bIns="0" rtlCol="0" anchor="ctr"/>
          <a:lstStyle/>
          <a:p>
            <a:pPr algn="ctr" indent="0" marL="0">
              <a:buNone/>
            </a:pPr>
            <a:r>
              <a:rPr lang="en-US" sz="2400" b="1" dirty="0">
                <a:solidFill>
                  <a:schemeClr val="accent6"/>
                </a:solidFill>
              </a:rPr>
              <a:t>travailler.</a:t>
            </a:r>
            <a:endParaRPr lang="en-US" sz="2400" dirty="0"/>
          </a:p>
        </p:txBody>
      </p:sp>
      <p:sp>
        <p:nvSpPr>
          <p:cNvPr id="15" name="Text 12"/>
          <p:cNvSpPr txBox="1"/>
          <p:nvPr/>
        </p:nvSpPr>
        <p:spPr>
          <a:xfrm>
            <a:off x="6089436" y="1600200"/>
            <a:ext cx="2103120" cy="603504"/>
          </a:xfrm>
          <a:prstGeom prst="rect">
            <a:avLst/>
          </a:prstGeom>
          <a:noFill/>
          <a:ln/>
        </p:spPr>
        <p:txBody>
          <a:bodyPr wrap="square" lIns="0" tIns="0" rIns="0" bIns="0" rtlCol="0" anchor="ctr"/>
          <a:lstStyle/>
          <a:p>
            <a:pPr algn="l" indent="0" marL="0">
              <a:buNone/>
            </a:pPr>
            <a:r>
              <a:rPr lang="en-US" sz="1600" dirty="0">
                <a:solidFill>
                  <a:schemeClr val="accent5"/>
                </a:solidFill>
              </a:rPr>
              <a:t>← un participe</a:t>
            </a:r>
            <a:endParaRPr lang="en-US" sz="1600" dirty="0"/>
          </a:p>
        </p:txBody>
      </p:sp>
      <p:sp>
        <p:nvSpPr>
          <p:cNvPr id="16" name="Shape 13"/>
          <p:cNvSpPr/>
          <p:nvPr/>
        </p:nvSpPr>
        <p:spPr>
          <a:xfrm>
            <a:off x="548640" y="2816352"/>
            <a:ext cx="548640" cy="120701"/>
          </a:xfrm>
          <a:prstGeom prst="rect">
            <a:avLst/>
          </a:prstGeom>
          <a:solidFill>
            <a:srgbClr val="B32033"/>
          </a:solidFill>
          <a:ln w="12700">
            <a:solidFill>
              <a:srgbClr val="FFFFFF">
                <a:alpha val="0"/>
              </a:srgbClr>
            </a:solidFill>
            <a:prstDash val="solid"/>
          </a:ln>
        </p:spPr>
      </p:sp>
      <p:sp>
        <p:nvSpPr>
          <p:cNvPr id="17" name="Shape 14"/>
          <p:cNvSpPr/>
          <p:nvPr/>
        </p:nvSpPr>
        <p:spPr>
          <a:xfrm>
            <a:off x="548640" y="2937053"/>
            <a:ext cx="548640" cy="120701"/>
          </a:xfrm>
          <a:prstGeom prst="rect">
            <a:avLst/>
          </a:prstGeom>
          <a:solidFill>
            <a:srgbClr val="FFFFFF"/>
          </a:solidFill>
          <a:ln w="12700">
            <a:solidFill>
              <a:srgbClr val="FFFFFF">
                <a:alpha val="0"/>
              </a:srgbClr>
            </a:solidFill>
            <a:prstDash val="solid"/>
          </a:ln>
        </p:spPr>
      </p:sp>
      <p:sp>
        <p:nvSpPr>
          <p:cNvPr id="18" name="Shape 15"/>
          <p:cNvSpPr/>
          <p:nvPr/>
        </p:nvSpPr>
        <p:spPr>
          <a:xfrm>
            <a:off x="548640" y="3057754"/>
            <a:ext cx="548640" cy="120701"/>
          </a:xfrm>
          <a:prstGeom prst="rect">
            <a:avLst/>
          </a:prstGeom>
          <a:solidFill>
            <a:srgbClr val="22408C"/>
          </a:solidFill>
          <a:ln w="12700">
            <a:solidFill>
              <a:srgbClr val="FFFFFF">
                <a:alpha val="0"/>
              </a:srgbClr>
            </a:solidFill>
            <a:prstDash val="solid"/>
          </a:ln>
        </p:spPr>
      </p:sp>
      <p:sp>
        <p:nvSpPr>
          <p:cNvPr id="19" name="Shape 16"/>
          <p:cNvSpPr/>
          <p:nvPr/>
        </p:nvSpPr>
        <p:spPr>
          <a:xfrm>
            <a:off x="548640" y="2816352"/>
            <a:ext cx="548640" cy="362102"/>
          </a:xfrm>
          <a:prstGeom prst="rect">
            <a:avLst/>
          </a:prstGeom>
          <a:noFill/>
          <a:ln w="9525">
            <a:solidFill>
              <a:srgbClr val="B8C2CF"/>
            </a:solidFill>
            <a:prstDash val="solid"/>
          </a:ln>
        </p:spPr>
      </p:sp>
      <p:sp>
        <p:nvSpPr>
          <p:cNvPr id="20" name="Shape 17"/>
          <p:cNvSpPr/>
          <p:nvPr/>
        </p:nvSpPr>
        <p:spPr>
          <a:xfrm>
            <a:off x="1280160" y="2697480"/>
            <a:ext cx="634959" cy="603504"/>
          </a:xfrm>
          <a:prstGeom prst="roundRect">
            <a:avLst>
              <a:gd name="adj" fmla="val 15152"/>
            </a:avLst>
          </a:prstGeom>
          <a:solidFill>
            <a:schemeClr val="bg1"/>
          </a:solidFill>
          <a:ln w="15875">
            <a:solidFill>
              <a:srgbClr val="D5DCE6"/>
            </a:solidFill>
            <a:prstDash val="solid"/>
          </a:ln>
        </p:spPr>
      </p:sp>
      <p:sp>
        <p:nvSpPr>
          <p:cNvPr id="21" name="Text 18"/>
          <p:cNvSpPr txBox="1"/>
          <p:nvPr/>
        </p:nvSpPr>
        <p:spPr>
          <a:xfrm>
            <a:off x="1280160" y="269748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2" name="Shape 19"/>
          <p:cNvSpPr/>
          <p:nvPr/>
        </p:nvSpPr>
        <p:spPr>
          <a:xfrm>
            <a:off x="1997415" y="2697480"/>
            <a:ext cx="976023" cy="603504"/>
          </a:xfrm>
          <a:prstGeom prst="roundRect">
            <a:avLst>
              <a:gd name="adj" fmla="val 15152"/>
            </a:avLst>
          </a:prstGeom>
          <a:solidFill>
            <a:schemeClr val="tx2"/>
          </a:solidFill>
          <a:ln w="12700">
            <a:solidFill>
              <a:srgbClr val="FFFFFF">
                <a:alpha val="0"/>
              </a:srgbClr>
            </a:solidFill>
            <a:prstDash val="solid"/>
          </a:ln>
        </p:spPr>
      </p:sp>
      <p:sp>
        <p:nvSpPr>
          <p:cNvPr id="23" name="Text 20"/>
          <p:cNvSpPr txBox="1"/>
          <p:nvPr/>
        </p:nvSpPr>
        <p:spPr>
          <a:xfrm>
            <a:off x="1997415" y="269748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24" name="Shape 21"/>
          <p:cNvSpPr/>
          <p:nvPr/>
        </p:nvSpPr>
        <p:spPr>
          <a:xfrm>
            <a:off x="3055735" y="2697480"/>
            <a:ext cx="1662013" cy="603504"/>
          </a:xfrm>
          <a:prstGeom prst="roundRect">
            <a:avLst>
              <a:gd name="adj" fmla="val 15152"/>
            </a:avLst>
          </a:prstGeom>
          <a:solidFill>
            <a:srgbClr val="FFFFFF"/>
          </a:solidFill>
          <a:ln w="15875">
            <a:solidFill>
              <a:srgbClr val="4A5A70"/>
            </a:solidFill>
            <a:prstDash val="dash"/>
          </a:ln>
        </p:spPr>
      </p:sp>
      <p:sp>
        <p:nvSpPr>
          <p:cNvPr id="25" name="Text 22"/>
          <p:cNvSpPr txBox="1"/>
          <p:nvPr/>
        </p:nvSpPr>
        <p:spPr>
          <a:xfrm>
            <a:off x="3055735" y="2697480"/>
            <a:ext cx="1662013" cy="603504"/>
          </a:xfrm>
          <a:prstGeom prst="rect">
            <a:avLst/>
          </a:prstGeom>
          <a:noFill/>
          <a:ln/>
        </p:spPr>
        <p:txBody>
          <a:bodyPr wrap="square" lIns="0" tIns="0" rIns="0" bIns="0" rtlCol="0" anchor="ctr"/>
          <a:lstStyle/>
          <a:p>
            <a:pPr algn="ctr" indent="0" marL="0">
              <a:buNone/>
            </a:pPr>
            <a:r>
              <a:rPr lang="en-US" sz="2400" strike="sngStrike" dirty="0">
                <a:solidFill>
                  <a:schemeClr val="accent6"/>
                </a:solidFill>
              </a:rPr>
              <a:t>gemoeten</a:t>
            </a:r>
            <a:endParaRPr lang="en-US" sz="2400" dirty="0"/>
          </a:p>
        </p:txBody>
      </p:sp>
      <p:sp>
        <p:nvSpPr>
          <p:cNvPr id="26" name="Shape 23"/>
          <p:cNvSpPr/>
          <p:nvPr/>
        </p:nvSpPr>
        <p:spPr>
          <a:xfrm>
            <a:off x="4800044" y="2697480"/>
            <a:ext cx="1742890" cy="603504"/>
          </a:xfrm>
          <a:prstGeom prst="roundRect">
            <a:avLst>
              <a:gd name="adj" fmla="val 15152"/>
            </a:avLst>
          </a:prstGeom>
          <a:solidFill>
            <a:srgbClr val="FBEDEB"/>
          </a:solidFill>
          <a:ln w="25400">
            <a:solidFill>
              <a:srgbClr val="B83227"/>
            </a:solidFill>
            <a:prstDash val="solid"/>
          </a:ln>
        </p:spPr>
      </p:sp>
      <p:sp>
        <p:nvSpPr>
          <p:cNvPr id="27" name="Text 24"/>
          <p:cNvSpPr txBox="1"/>
          <p:nvPr/>
        </p:nvSpPr>
        <p:spPr>
          <a:xfrm>
            <a:off x="4800044" y="269748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28" name="Text 25"/>
          <p:cNvSpPr txBox="1"/>
          <p:nvPr/>
        </p:nvSpPr>
        <p:spPr>
          <a:xfrm>
            <a:off x="6680094" y="2697480"/>
            <a:ext cx="548640" cy="603504"/>
          </a:xfrm>
          <a:prstGeom prst="rect">
            <a:avLst/>
          </a:prstGeom>
          <a:noFill/>
          <a:ln/>
        </p:spPr>
        <p:txBody>
          <a:bodyPr wrap="square" lIns="0" tIns="0" rIns="0" bIns="0" rtlCol="0" anchor="ctr"/>
          <a:lstStyle/>
          <a:p>
            <a:pPr algn="l" indent="0" marL="0">
              <a:buNone/>
            </a:pPr>
            <a:r>
              <a:rPr lang="en-US" sz="3000" b="1" dirty="0">
                <a:solidFill>
                  <a:schemeClr val="accent6"/>
                </a:solidFill>
              </a:rPr>
              <a:t>✗</a:t>
            </a:r>
            <a:endParaRPr lang="en-US" sz="3000" dirty="0"/>
          </a:p>
        </p:txBody>
      </p:sp>
      <p:sp>
        <p:nvSpPr>
          <p:cNvPr id="29" name="Shape 26"/>
          <p:cNvSpPr/>
          <p:nvPr/>
        </p:nvSpPr>
        <p:spPr>
          <a:xfrm>
            <a:off x="3886741" y="3346704"/>
            <a:ext cx="914" cy="640080"/>
          </a:xfrm>
          <a:prstGeom prst="line">
            <a:avLst/>
          </a:prstGeom>
          <a:noFill/>
          <a:ln w="38100">
            <a:solidFill>
              <a:srgbClr val="D9700F"/>
            </a:solidFill>
            <a:prstDash val="solid"/>
            <a:tailEnd type="triangle"/>
          </a:ln>
        </p:spPr>
      </p:sp>
      <p:sp>
        <p:nvSpPr>
          <p:cNvPr id="30" name="Shape 27"/>
          <p:cNvSpPr/>
          <p:nvPr/>
        </p:nvSpPr>
        <p:spPr>
          <a:xfrm>
            <a:off x="1280160" y="4023360"/>
            <a:ext cx="634959" cy="603504"/>
          </a:xfrm>
          <a:prstGeom prst="roundRect">
            <a:avLst>
              <a:gd name="adj" fmla="val 15152"/>
            </a:avLst>
          </a:prstGeom>
          <a:solidFill>
            <a:schemeClr val="bg1"/>
          </a:solidFill>
          <a:ln w="15875">
            <a:solidFill>
              <a:srgbClr val="D5DCE6"/>
            </a:solidFill>
            <a:prstDash val="solid"/>
          </a:ln>
        </p:spPr>
      </p:sp>
      <p:sp>
        <p:nvSpPr>
          <p:cNvPr id="31" name="Text 28"/>
          <p:cNvSpPr txBox="1"/>
          <p:nvPr/>
        </p:nvSpPr>
        <p:spPr>
          <a:xfrm>
            <a:off x="1280160" y="4023360"/>
            <a:ext cx="634959" cy="603504"/>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32" name="Shape 29"/>
          <p:cNvSpPr/>
          <p:nvPr/>
        </p:nvSpPr>
        <p:spPr>
          <a:xfrm>
            <a:off x="1997415" y="4023360"/>
            <a:ext cx="976023" cy="603504"/>
          </a:xfrm>
          <a:prstGeom prst="roundRect">
            <a:avLst>
              <a:gd name="adj" fmla="val 15152"/>
            </a:avLst>
          </a:prstGeom>
          <a:solidFill>
            <a:schemeClr val="tx2"/>
          </a:solidFill>
          <a:ln w="12700">
            <a:solidFill>
              <a:srgbClr val="FFFFFF">
                <a:alpha val="0"/>
              </a:srgbClr>
            </a:solidFill>
            <a:prstDash val="solid"/>
          </a:ln>
        </p:spPr>
      </p:sp>
      <p:sp>
        <p:nvSpPr>
          <p:cNvPr id="33" name="Text 30"/>
          <p:cNvSpPr txBox="1"/>
          <p:nvPr/>
        </p:nvSpPr>
        <p:spPr>
          <a:xfrm>
            <a:off x="1997415" y="4023360"/>
            <a:ext cx="976023" cy="603504"/>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34" name="Shape 31"/>
          <p:cNvSpPr/>
          <p:nvPr/>
        </p:nvSpPr>
        <p:spPr>
          <a:xfrm>
            <a:off x="3055735" y="4023360"/>
            <a:ext cx="1551174" cy="603504"/>
          </a:xfrm>
          <a:prstGeom prst="roundRect">
            <a:avLst>
              <a:gd name="adj" fmla="val 15152"/>
            </a:avLst>
          </a:prstGeom>
          <a:solidFill>
            <a:schemeClr val="accent1"/>
          </a:solidFill>
          <a:ln w="12700">
            <a:solidFill>
              <a:srgbClr val="FFFFFF">
                <a:alpha val="0"/>
              </a:srgbClr>
            </a:solidFill>
            <a:prstDash val="solid"/>
          </a:ln>
        </p:spPr>
      </p:sp>
      <p:sp>
        <p:nvSpPr>
          <p:cNvPr id="35" name="Text 32"/>
          <p:cNvSpPr txBox="1"/>
          <p:nvPr/>
        </p:nvSpPr>
        <p:spPr>
          <a:xfrm>
            <a:off x="3055735" y="4023360"/>
            <a:ext cx="1551174" cy="603504"/>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36" name="Shape 33"/>
          <p:cNvSpPr/>
          <p:nvPr/>
        </p:nvSpPr>
        <p:spPr>
          <a:xfrm>
            <a:off x="4689204" y="4023360"/>
            <a:ext cx="1742890" cy="603504"/>
          </a:xfrm>
          <a:prstGeom prst="roundRect">
            <a:avLst>
              <a:gd name="adj" fmla="val 15152"/>
            </a:avLst>
          </a:prstGeom>
          <a:solidFill>
            <a:srgbClr val="FBEDEB"/>
          </a:solidFill>
          <a:ln w="25400">
            <a:solidFill>
              <a:srgbClr val="B83227"/>
            </a:solidFill>
            <a:prstDash val="solid"/>
          </a:ln>
        </p:spPr>
      </p:sp>
      <p:sp>
        <p:nvSpPr>
          <p:cNvPr id="37" name="Text 34"/>
          <p:cNvSpPr txBox="1"/>
          <p:nvPr/>
        </p:nvSpPr>
        <p:spPr>
          <a:xfrm>
            <a:off x="4689204" y="4023360"/>
            <a:ext cx="1742890" cy="603504"/>
          </a:xfrm>
          <a:prstGeom prst="rect">
            <a:avLst/>
          </a:prstGeom>
          <a:noFill/>
          <a:ln/>
        </p:spPr>
        <p:txBody>
          <a:bodyPr wrap="square" lIns="0" tIns="0" rIns="0" bIns="0" rtlCol="0" anchor="ctr"/>
          <a:lstStyle/>
          <a:p>
            <a:pPr algn="ctr" indent="0" marL="0">
              <a:buNone/>
            </a:pPr>
            <a:r>
              <a:rPr lang="en-US" sz="2400" b="1" dirty="0">
                <a:solidFill>
                  <a:schemeClr val="accent6"/>
                </a:solidFill>
              </a:rPr>
              <a:t>werken.</a:t>
            </a:r>
            <a:endParaRPr lang="en-US" sz="2400" dirty="0"/>
          </a:p>
        </p:txBody>
      </p:sp>
      <p:sp>
        <p:nvSpPr>
          <p:cNvPr id="38" name="Shape 35"/>
          <p:cNvSpPr/>
          <p:nvPr/>
        </p:nvSpPr>
        <p:spPr>
          <a:xfrm>
            <a:off x="1188720" y="4782312"/>
            <a:ext cx="5334814" cy="45720"/>
          </a:xfrm>
          <a:prstGeom prst="rect">
            <a:avLst/>
          </a:prstGeom>
          <a:solidFill>
            <a:srgbClr val="8A96A8"/>
          </a:solidFill>
          <a:ln w="12700">
            <a:solidFill>
              <a:srgbClr val="FFFFFF">
                <a:alpha val="0"/>
              </a:srgbClr>
            </a:solidFill>
            <a:prstDash val="solid"/>
          </a:ln>
        </p:spPr>
      </p:sp>
      <p:sp>
        <p:nvSpPr>
          <p:cNvPr id="39" name="Shape 36"/>
          <p:cNvSpPr/>
          <p:nvPr/>
        </p:nvSpPr>
        <p:spPr>
          <a:xfrm>
            <a:off x="2138988" y="4636008"/>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2685561" y="4636008"/>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2107143" y="3822192"/>
            <a:ext cx="146304" cy="219456"/>
          </a:xfrm>
          <a:prstGeom prst="rect">
            <a:avLst/>
          </a:prstGeom>
          <a:solidFill>
            <a:schemeClr val="tx2"/>
          </a:solidFill>
          <a:ln w="12700">
            <a:solidFill>
              <a:srgbClr val="FFFFFF">
                <a:alpha val="0"/>
              </a:srgbClr>
            </a:solidFill>
            <a:prstDash val="solid"/>
          </a:ln>
        </p:spPr>
      </p:sp>
      <p:sp>
        <p:nvSpPr>
          <p:cNvPr id="42" name="Shape 39"/>
          <p:cNvSpPr/>
          <p:nvPr/>
        </p:nvSpPr>
        <p:spPr>
          <a:xfrm>
            <a:off x="2973439" y="4475988"/>
            <a:ext cx="82296" cy="914"/>
          </a:xfrm>
          <a:prstGeom prst="line">
            <a:avLst/>
          </a:prstGeom>
          <a:noFill/>
          <a:ln w="31750">
            <a:solidFill>
              <a:srgbClr val="1B2333"/>
            </a:solidFill>
            <a:prstDash val="solid"/>
          </a:ln>
        </p:spPr>
      </p:sp>
      <p:sp>
        <p:nvSpPr>
          <p:cNvPr id="43" name="Shape 40"/>
          <p:cNvSpPr/>
          <p:nvPr/>
        </p:nvSpPr>
        <p:spPr>
          <a:xfrm>
            <a:off x="3323841" y="4636008"/>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4192498" y="4636008"/>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4606908" y="4475988"/>
            <a:ext cx="82296" cy="914"/>
          </a:xfrm>
          <a:prstGeom prst="line">
            <a:avLst/>
          </a:prstGeom>
          <a:noFill/>
          <a:ln w="31750">
            <a:solidFill>
              <a:srgbClr val="1B2333"/>
            </a:solidFill>
            <a:prstDash val="solid"/>
          </a:ln>
        </p:spPr>
      </p:sp>
      <p:sp>
        <p:nvSpPr>
          <p:cNvPr id="46" name="Shape 43"/>
          <p:cNvSpPr/>
          <p:nvPr/>
        </p:nvSpPr>
        <p:spPr>
          <a:xfrm>
            <a:off x="4999488" y="4636008"/>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975507" y="4636008"/>
            <a:ext cx="146304" cy="146304"/>
          </a:xfrm>
          <a:prstGeom prst="ellipse">
            <a:avLst/>
          </a:prstGeom>
          <a:solidFill>
            <a:srgbClr val="1B2333"/>
          </a:solidFill>
          <a:ln w="12700">
            <a:solidFill>
              <a:srgbClr val="FFFFFF">
                <a:alpha val="0"/>
              </a:srgbClr>
            </a:solidFill>
            <a:prstDash val="solid"/>
          </a:ln>
        </p:spPr>
      </p:sp>
      <p:sp>
        <p:nvSpPr>
          <p:cNvPr id="48" name="Text 45"/>
          <p:cNvSpPr txBox="1"/>
          <p:nvPr/>
        </p:nvSpPr>
        <p:spPr>
          <a:xfrm>
            <a:off x="6569254" y="4023360"/>
            <a:ext cx="548640" cy="603504"/>
          </a:xfrm>
          <a:prstGeom prst="rect">
            <a:avLst/>
          </a:prstGeom>
          <a:noFill/>
          <a:ln/>
        </p:spPr>
        <p:txBody>
          <a:bodyPr wrap="square" lIns="0" tIns="0" rIns="0" bIns="0" rtlCol="0" anchor="ctr"/>
          <a:lstStyle/>
          <a:p>
            <a:pPr algn="l" indent="0" marL="0">
              <a:buNone/>
            </a:pPr>
            <a:r>
              <a:rPr lang="en-US" sz="3000" b="1" dirty="0">
                <a:solidFill>
                  <a:schemeClr val="accent3"/>
                </a:solidFill>
              </a:rPr>
              <a:t>✓</a:t>
            </a:r>
            <a:endParaRPr lang="en-US" sz="3000" dirty="0"/>
          </a:p>
        </p:txBody>
      </p:sp>
      <p:sp>
        <p:nvSpPr>
          <p:cNvPr id="49" name="Text 46"/>
          <p:cNvSpPr txBox="1"/>
          <p:nvPr/>
        </p:nvSpPr>
        <p:spPr>
          <a:xfrm>
            <a:off x="7117894" y="4023360"/>
            <a:ext cx="2377440" cy="603504"/>
          </a:xfrm>
          <a:prstGeom prst="rect">
            <a:avLst/>
          </a:prstGeom>
          <a:noFill/>
          <a:ln/>
        </p:spPr>
        <p:txBody>
          <a:bodyPr wrap="square" lIns="0" tIns="0" rIns="0" bIns="0" rtlCol="0" anchor="ctr"/>
          <a:lstStyle/>
          <a:p>
            <a:pPr algn="l" indent="0" marL="0">
              <a:buNone/>
            </a:pPr>
            <a:r>
              <a:rPr lang="en-US" sz="1800" b="1" dirty="0">
                <a:solidFill>
                  <a:schemeClr val="accent1"/>
                </a:solidFill>
              </a:rPr>
              <a:t>2 infinitifs !</a:t>
            </a:r>
            <a:endParaRPr lang="en-US" sz="1800" dirty="0"/>
          </a:p>
        </p:txBody>
      </p:sp>
      <p:sp>
        <p:nvSpPr>
          <p:cNvPr id="50" name="Shape 47"/>
          <p:cNvSpPr/>
          <p:nvPr/>
        </p:nvSpPr>
        <p:spPr>
          <a:xfrm>
            <a:off x="7955280" y="1508760"/>
            <a:ext cx="3685032" cy="2331720"/>
          </a:xfrm>
          <a:prstGeom prst="roundRect">
            <a:avLst>
              <a:gd name="adj" fmla="val 4706"/>
            </a:avLst>
          </a:prstGeom>
          <a:solidFill>
            <a:srgbClr val="FDF1E6"/>
          </a:solidFill>
          <a:ln w="22225">
            <a:solidFill>
              <a:srgbClr val="D9700F"/>
            </a:solidFill>
            <a:prstDash val="solid"/>
          </a:ln>
        </p:spPr>
      </p:sp>
      <p:sp>
        <p:nvSpPr>
          <p:cNvPr id="51" name="Text 48"/>
          <p:cNvSpPr txBox="1"/>
          <p:nvPr/>
        </p:nvSpPr>
        <p:spPr>
          <a:xfrm>
            <a:off x="8138160" y="1600200"/>
            <a:ext cx="3337560" cy="2148840"/>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 nom du procédé</a:t>
            </a:r>
            <a:endParaRPr lang="en-US" sz="1500" dirty="0"/>
          </a:p>
          <a:p>
            <a:pPr algn="l" indent="0" marL="0">
              <a:spcAft>
                <a:spcPts val="200"/>
              </a:spcAft>
              <a:buNone/>
            </a:pPr>
            <a:r>
              <a:rPr lang="en-US" sz="1500" i="1" dirty="0">
                <a:solidFill>
                  <a:schemeClr val="tx1"/>
                </a:solidFill>
              </a:rPr>
              <a:t>de </a:t>
            </a:r>
            <a:r>
              <a:rPr lang="en-US" sz="1500" b="1" i="1" dirty="0">
                <a:solidFill>
                  <a:schemeClr val="tx1"/>
                </a:solidFill>
              </a:rPr>
              <a:t>dubbele infinitief</a:t>
            </a:r>
            <a:endParaRPr lang="en-US" sz="1500" dirty="0"/>
          </a:p>
          <a:p>
            <a:pPr algn="l" indent="0" marL="0">
              <a:spcAft>
                <a:spcPts val="200"/>
              </a:spcAft>
              <a:buNone/>
            </a:pPr>
            <a:r>
              <a:rPr lang="en-US" sz="1500" dirty="0">
                <a:solidFill>
                  <a:schemeClr val="tx1"/>
                </a:solidFill>
              </a:rPr>
              <a:t>le double infinitif</a:t>
            </a:r>
            <a:endParaRPr lang="en-US" sz="1500" dirty="0"/>
          </a:p>
          <a:p>
            <a:pPr algn="l" indent="0" marL="0">
              <a:spcAft>
                <a:spcPts val="200"/>
              </a:spcAft>
              <a:buNone/>
            </a:pPr>
            <a:endParaRPr lang="en-US" sz="1500" dirty="0"/>
          </a:p>
          <a:p>
            <a:pPr algn="l" indent="0" marL="0">
              <a:spcAft>
                <a:spcPts val="200"/>
              </a:spcAft>
              <a:buNone/>
            </a:pPr>
            <a:r>
              <a:rPr lang="en-US" sz="1500" dirty="0">
                <a:solidFill>
                  <a:schemeClr val="tx1"/>
                </a:solidFill>
              </a:rPr>
              <a:t>en grammaire : </a:t>
            </a:r>
            <a:r>
              <a:rPr lang="en-US" sz="1500" i="1" dirty="0">
                <a:solidFill>
                  <a:schemeClr val="tx1"/>
                </a:solidFill>
              </a:rPr>
              <a:t>infinitivus pro participio</a:t>
            </a:r>
            <a:r>
              <a:rPr lang="en-US" sz="1500" dirty="0">
                <a:solidFill>
                  <a:schemeClr val="tx1"/>
                </a:solidFill>
              </a:rPr>
              <a:t> (IPP) = « l’infinitif à la place du participe »</a:t>
            </a:r>
            <a:endParaRPr lang="en-US" sz="1500" dirty="0"/>
          </a:p>
        </p:txBody>
      </p:sp>
      <p:sp>
        <p:nvSpPr>
          <p:cNvPr id="52" name="Shape 49"/>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50"/>
          <p:cNvSpPr txBox="1"/>
          <p:nvPr/>
        </p:nvSpPr>
        <p:spPr>
          <a:xfrm>
            <a:off x="822960" y="525780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Au passé composé, quand un verbe comme </a:t>
            </a:r>
            <a:r>
              <a:rPr lang="en-US" sz="1700" i="1" dirty="0">
                <a:solidFill>
                  <a:schemeClr val="bg1"/>
                </a:solidFill>
              </a:rPr>
              <a:t>moeten</a:t>
            </a:r>
            <a:r>
              <a:rPr lang="en-US" sz="1700" dirty="0">
                <a:solidFill>
                  <a:schemeClr val="bg1"/>
                </a:solidFill>
              </a:rPr>
              <a:t> est suivi d’un infinitif, il ne prend </a:t>
            </a:r>
            <a:r>
              <a:rPr lang="en-US" sz="1700" b="1" dirty="0">
                <a:solidFill>
                  <a:schemeClr val="bg1"/>
                </a:solidFill>
              </a:rPr>
              <a:t>pas</a:t>
            </a:r>
            <a:r>
              <a:rPr lang="en-US" sz="1700" dirty="0">
                <a:solidFill>
                  <a:schemeClr val="bg1"/>
                </a:solidFill>
              </a:rPr>
              <a:t> la forme </a:t>
            </a:r>
            <a:r>
              <a:rPr lang="en-US" sz="1700" i="1" dirty="0">
                <a:solidFill>
                  <a:schemeClr val="bg1"/>
                </a:solidFill>
              </a:rPr>
              <a:t>ge-…</a:t>
            </a:r>
            <a:r>
              <a:rPr lang="en-US" sz="1700" dirty="0">
                <a:solidFill>
                  <a:schemeClr val="bg1"/>
                </a:solidFill>
              </a:rPr>
              <a:t> : il reste </a:t>
            </a:r>
            <a:r>
              <a:rPr lang="en-US" sz="1700" b="1" dirty="0">
                <a:solidFill>
                  <a:schemeClr val="bg1"/>
                </a:solidFill>
              </a:rPr>
              <a:t>à l’infinitif</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train des verbes</a:t>
            </a:r>
            <a:endParaRPr lang="en-US" sz="3000" dirty="0"/>
          </a:p>
        </p:txBody>
      </p:sp>
      <p:sp>
        <p:nvSpPr>
          <p:cNvPr id="3" name="tag"/>
          <p:cNvSpPr/>
          <p:nvPr/>
        </p:nvSpPr>
        <p:spPr>
          <a:xfrm>
            <a:off x="548640" y="237744"/>
            <a:ext cx="155265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 PRINCIPE</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PHRASE PRINCIPALE</a:t>
            </a:r>
            <a:r>
              <a:rPr lang="en-US" sz="1500" dirty="0">
                <a:solidFill>
                  <a:schemeClr val="tx2"/>
                </a:solidFill>
              </a:rPr>
              <a:t> : la locomotive en 2e place, les wagons au bout</a:t>
            </a:r>
            <a:endParaRPr lang="en-US" sz="1500" dirty="0"/>
          </a:p>
        </p:txBody>
      </p:sp>
      <p:sp>
        <p:nvSpPr>
          <p:cNvPr id="6" name="Shape 3"/>
          <p:cNvSpPr/>
          <p:nvPr/>
        </p:nvSpPr>
        <p:spPr>
          <a:xfrm>
            <a:off x="548640" y="2057400"/>
            <a:ext cx="663489" cy="713232"/>
          </a:xfrm>
          <a:prstGeom prst="roundRect">
            <a:avLst>
              <a:gd name="adj" fmla="val 13782"/>
            </a:avLst>
          </a:prstGeom>
          <a:solidFill>
            <a:schemeClr val="bg1"/>
          </a:solidFill>
          <a:ln w="15875">
            <a:solidFill>
              <a:srgbClr val="D5DCE6"/>
            </a:solidFill>
            <a:prstDash val="solid"/>
          </a:ln>
        </p:spPr>
      </p:sp>
      <p:sp>
        <p:nvSpPr>
          <p:cNvPr id="7" name="Text 4"/>
          <p:cNvSpPr txBox="1"/>
          <p:nvPr/>
        </p:nvSpPr>
        <p:spPr>
          <a:xfrm>
            <a:off x="548640" y="2057400"/>
            <a:ext cx="663489" cy="713232"/>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8" name="Shape 5"/>
          <p:cNvSpPr/>
          <p:nvPr/>
        </p:nvSpPr>
        <p:spPr>
          <a:xfrm>
            <a:off x="1294425" y="2057400"/>
            <a:ext cx="1023952" cy="713232"/>
          </a:xfrm>
          <a:prstGeom prst="roundRect">
            <a:avLst>
              <a:gd name="adj" fmla="val 12821"/>
            </a:avLst>
          </a:prstGeom>
          <a:solidFill>
            <a:schemeClr val="tx2"/>
          </a:solidFill>
          <a:ln w="12700">
            <a:solidFill>
              <a:srgbClr val="FFFFFF">
                <a:alpha val="0"/>
              </a:srgbClr>
            </a:solidFill>
            <a:prstDash val="solid"/>
          </a:ln>
        </p:spPr>
      </p:sp>
      <p:sp>
        <p:nvSpPr>
          <p:cNvPr id="9" name="Text 6"/>
          <p:cNvSpPr txBox="1"/>
          <p:nvPr/>
        </p:nvSpPr>
        <p:spPr>
          <a:xfrm>
            <a:off x="1294425" y="205740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10" name="Shape 7"/>
          <p:cNvSpPr/>
          <p:nvPr/>
        </p:nvSpPr>
        <p:spPr>
          <a:xfrm>
            <a:off x="2400673" y="2057400"/>
            <a:ext cx="2703332" cy="713232"/>
          </a:xfrm>
          <a:prstGeom prst="roundRect">
            <a:avLst>
              <a:gd name="adj" fmla="val 12821"/>
            </a:avLst>
          </a:prstGeom>
          <a:solidFill>
            <a:schemeClr val="bg1"/>
          </a:solidFill>
          <a:ln w="15875">
            <a:solidFill>
              <a:srgbClr val="D5DCE6"/>
            </a:solidFill>
            <a:prstDash val="solid"/>
          </a:ln>
        </p:spPr>
      </p:sp>
      <p:sp>
        <p:nvSpPr>
          <p:cNvPr id="11" name="Text 8"/>
          <p:cNvSpPr txBox="1"/>
          <p:nvPr/>
        </p:nvSpPr>
        <p:spPr>
          <a:xfrm>
            <a:off x="2400673" y="205740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12" name="Shape 9"/>
          <p:cNvSpPr/>
          <p:nvPr/>
        </p:nvSpPr>
        <p:spPr>
          <a:xfrm>
            <a:off x="5186301" y="2057400"/>
            <a:ext cx="1647032" cy="713232"/>
          </a:xfrm>
          <a:prstGeom prst="roundRect">
            <a:avLst>
              <a:gd name="adj" fmla="val 12821"/>
            </a:avLst>
          </a:prstGeom>
          <a:solidFill>
            <a:schemeClr val="accent1"/>
          </a:solidFill>
          <a:ln w="12700">
            <a:solidFill>
              <a:srgbClr val="FFFFFF">
                <a:alpha val="0"/>
              </a:srgbClr>
            </a:solidFill>
            <a:prstDash val="solid"/>
          </a:ln>
        </p:spPr>
      </p:sp>
      <p:sp>
        <p:nvSpPr>
          <p:cNvPr id="13" name="Text 10"/>
          <p:cNvSpPr txBox="1"/>
          <p:nvPr/>
        </p:nvSpPr>
        <p:spPr>
          <a:xfrm>
            <a:off x="5186301" y="205740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14" name="Shape 11"/>
          <p:cNvSpPr/>
          <p:nvPr/>
        </p:nvSpPr>
        <p:spPr>
          <a:xfrm>
            <a:off x="6915629" y="2057400"/>
            <a:ext cx="1854725" cy="713232"/>
          </a:xfrm>
          <a:prstGeom prst="roundRect">
            <a:avLst>
              <a:gd name="adj" fmla="val 12821"/>
            </a:avLst>
          </a:prstGeom>
          <a:solidFill>
            <a:srgbClr val="FBEDEB"/>
          </a:solidFill>
          <a:ln w="25400">
            <a:solidFill>
              <a:srgbClr val="B83227"/>
            </a:solidFill>
            <a:prstDash val="solid"/>
          </a:ln>
        </p:spPr>
      </p:sp>
      <p:sp>
        <p:nvSpPr>
          <p:cNvPr id="15" name="Text 12"/>
          <p:cNvSpPr txBox="1"/>
          <p:nvPr/>
        </p:nvSpPr>
        <p:spPr>
          <a:xfrm>
            <a:off x="6915629" y="205740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16" name="Shape 13"/>
          <p:cNvSpPr/>
          <p:nvPr/>
        </p:nvSpPr>
        <p:spPr>
          <a:xfrm>
            <a:off x="457200" y="2926080"/>
            <a:ext cx="8404594" cy="45720"/>
          </a:xfrm>
          <a:prstGeom prst="rect">
            <a:avLst/>
          </a:prstGeom>
          <a:solidFill>
            <a:srgbClr val="8A96A8"/>
          </a:solidFill>
          <a:ln w="12700">
            <a:solidFill>
              <a:srgbClr val="FFFFFF">
                <a:alpha val="0"/>
              </a:srgbClr>
            </a:solidFill>
            <a:prstDash val="solid"/>
          </a:ln>
        </p:spPr>
      </p:sp>
      <p:sp>
        <p:nvSpPr>
          <p:cNvPr id="17" name="Shape 14"/>
          <p:cNvSpPr/>
          <p:nvPr/>
        </p:nvSpPr>
        <p:spPr>
          <a:xfrm>
            <a:off x="1446542" y="2779776"/>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2019956" y="2779776"/>
            <a:ext cx="146304" cy="146304"/>
          </a:xfrm>
          <a:prstGeom prst="ellipse">
            <a:avLst/>
          </a:prstGeom>
          <a:solidFill>
            <a:srgbClr val="1B2333"/>
          </a:solidFill>
          <a:ln w="12700">
            <a:solidFill>
              <a:srgbClr val="FFFFFF">
                <a:alpha val="0"/>
              </a:srgbClr>
            </a:solidFill>
            <a:prstDash val="solid"/>
          </a:ln>
        </p:spPr>
      </p:sp>
      <p:sp>
        <p:nvSpPr>
          <p:cNvPr id="19" name="Shape 16"/>
          <p:cNvSpPr/>
          <p:nvPr/>
        </p:nvSpPr>
        <p:spPr>
          <a:xfrm>
            <a:off x="1404153" y="1856232"/>
            <a:ext cx="146304" cy="219456"/>
          </a:xfrm>
          <a:prstGeom prst="rect">
            <a:avLst/>
          </a:prstGeom>
          <a:solidFill>
            <a:schemeClr val="tx2"/>
          </a:solidFill>
          <a:ln w="12700">
            <a:solidFill>
              <a:srgbClr val="FFFFFF">
                <a:alpha val="0"/>
              </a:srgbClr>
            </a:solidFill>
            <a:prstDash val="solid"/>
          </a:ln>
        </p:spPr>
      </p:sp>
      <p:sp>
        <p:nvSpPr>
          <p:cNvPr id="20" name="Shape 17"/>
          <p:cNvSpPr/>
          <p:nvPr/>
        </p:nvSpPr>
        <p:spPr>
          <a:xfrm>
            <a:off x="5475496" y="2779776"/>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6397834" y="2779776"/>
            <a:ext cx="146304" cy="146304"/>
          </a:xfrm>
          <a:prstGeom prst="ellipse">
            <a:avLst/>
          </a:prstGeom>
          <a:solidFill>
            <a:srgbClr val="1B2333"/>
          </a:solidFill>
          <a:ln w="12700">
            <a:solidFill>
              <a:srgbClr val="FFFFFF">
                <a:alpha val="0"/>
              </a:srgbClr>
            </a:solidFill>
            <a:prstDash val="solid"/>
          </a:ln>
        </p:spPr>
      </p:sp>
      <p:sp>
        <p:nvSpPr>
          <p:cNvPr id="22" name="Shape 19"/>
          <p:cNvSpPr/>
          <p:nvPr/>
        </p:nvSpPr>
        <p:spPr>
          <a:xfrm>
            <a:off x="6833333" y="2592324"/>
            <a:ext cx="82296" cy="914"/>
          </a:xfrm>
          <a:prstGeom prst="line">
            <a:avLst/>
          </a:prstGeom>
          <a:noFill/>
          <a:ln w="31750">
            <a:solidFill>
              <a:srgbClr val="1B2333"/>
            </a:solidFill>
            <a:prstDash val="solid"/>
          </a:ln>
        </p:spPr>
      </p:sp>
      <p:sp>
        <p:nvSpPr>
          <p:cNvPr id="23" name="Shape 20"/>
          <p:cNvSpPr/>
          <p:nvPr/>
        </p:nvSpPr>
        <p:spPr>
          <a:xfrm>
            <a:off x="7250517" y="2779776"/>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8289163" y="2779776"/>
            <a:ext cx="146304" cy="146304"/>
          </a:xfrm>
          <a:prstGeom prst="ellipse">
            <a:avLst/>
          </a:prstGeom>
          <a:solidFill>
            <a:srgbClr val="1B2333"/>
          </a:solidFill>
          <a:ln w="12700">
            <a:solidFill>
              <a:srgbClr val="FFFFFF">
                <a:alpha val="0"/>
              </a:srgbClr>
            </a:solidFill>
            <a:prstDash val="solid"/>
          </a:ln>
        </p:spPr>
      </p:sp>
      <p:sp>
        <p:nvSpPr>
          <p:cNvPr id="25" name="Text 22"/>
          <p:cNvSpPr txBox="1"/>
          <p:nvPr/>
        </p:nvSpPr>
        <p:spPr>
          <a:xfrm>
            <a:off x="1111545" y="3063240"/>
            <a:ext cx="1389712" cy="320040"/>
          </a:xfrm>
          <a:prstGeom prst="rect">
            <a:avLst/>
          </a:prstGeom>
          <a:noFill/>
          <a:ln/>
        </p:spPr>
        <p:txBody>
          <a:bodyPr wrap="square" lIns="0" tIns="0" rIns="0" bIns="0" rtlCol="0" anchor="t"/>
          <a:lstStyle/>
          <a:p>
            <a:pPr algn="ctr" indent="0" marL="0">
              <a:buNone/>
            </a:pPr>
            <a:r>
              <a:rPr lang="en-US" sz="1300" b="1" dirty="0">
                <a:solidFill>
                  <a:schemeClr val="tx2"/>
                </a:solidFill>
              </a:rPr>
              <a:t>locomotive</a:t>
            </a:r>
            <a:endParaRPr lang="en-US" sz="1300" dirty="0"/>
          </a:p>
        </p:txBody>
      </p:sp>
      <p:sp>
        <p:nvSpPr>
          <p:cNvPr id="26" name="Text 23"/>
          <p:cNvSpPr txBox="1"/>
          <p:nvPr/>
        </p:nvSpPr>
        <p:spPr>
          <a:xfrm>
            <a:off x="5003421" y="3063240"/>
            <a:ext cx="2012792" cy="320040"/>
          </a:xfrm>
          <a:prstGeom prst="rect">
            <a:avLst/>
          </a:prstGeom>
          <a:noFill/>
          <a:ln/>
        </p:spPr>
        <p:txBody>
          <a:bodyPr wrap="square" lIns="0" tIns="0" rIns="0" bIns="0" rtlCol="0" anchor="t"/>
          <a:lstStyle/>
          <a:p>
            <a:pPr algn="ctr" indent="0" marL="0">
              <a:buNone/>
            </a:pPr>
            <a:r>
              <a:rPr lang="en-US" sz="1300" b="1" dirty="0">
                <a:solidFill>
                  <a:schemeClr val="accent1"/>
                </a:solidFill>
              </a:rPr>
              <a:t>wagon 1</a:t>
            </a:r>
            <a:endParaRPr lang="en-US" sz="1300" dirty="0"/>
          </a:p>
        </p:txBody>
      </p:sp>
      <p:sp>
        <p:nvSpPr>
          <p:cNvPr id="27" name="Text 24"/>
          <p:cNvSpPr txBox="1"/>
          <p:nvPr/>
        </p:nvSpPr>
        <p:spPr>
          <a:xfrm>
            <a:off x="6732749" y="3063240"/>
            <a:ext cx="2220485" cy="320040"/>
          </a:xfrm>
          <a:prstGeom prst="rect">
            <a:avLst/>
          </a:prstGeom>
          <a:noFill/>
          <a:ln/>
        </p:spPr>
        <p:txBody>
          <a:bodyPr wrap="square" lIns="0" tIns="0" rIns="0" bIns="0" rtlCol="0" anchor="t"/>
          <a:lstStyle/>
          <a:p>
            <a:pPr algn="ctr" indent="0" marL="0">
              <a:buNone/>
            </a:pPr>
            <a:r>
              <a:rPr lang="en-US" sz="1300" b="1" dirty="0">
                <a:solidFill>
                  <a:schemeClr val="accent6"/>
                </a:solidFill>
              </a:rPr>
              <a:t>wagon 2</a:t>
            </a:r>
            <a:endParaRPr lang="en-US" sz="1300" dirty="0"/>
          </a:p>
        </p:txBody>
      </p:sp>
      <p:sp>
        <p:nvSpPr>
          <p:cNvPr id="28" name="Text 25"/>
          <p:cNvSpPr txBox="1"/>
          <p:nvPr/>
        </p:nvSpPr>
        <p:spPr>
          <a:xfrm>
            <a:off x="548640" y="361188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tout le train va au bout, locomotive en tête</a:t>
            </a:r>
            <a:endParaRPr lang="en-US" sz="1500" dirty="0"/>
          </a:p>
        </p:txBody>
      </p:sp>
      <p:sp>
        <p:nvSpPr>
          <p:cNvPr id="29" name="Shape 26"/>
          <p:cNvSpPr/>
          <p:nvPr/>
        </p:nvSpPr>
        <p:spPr>
          <a:xfrm>
            <a:off x="548640" y="4206240"/>
            <a:ext cx="2332452" cy="713232"/>
          </a:xfrm>
          <a:prstGeom prst="roundRect">
            <a:avLst>
              <a:gd name="adj" fmla="val 12821"/>
            </a:avLst>
          </a:prstGeom>
          <a:solidFill>
            <a:schemeClr val="bg1"/>
          </a:solidFill>
          <a:ln w="15875">
            <a:solidFill>
              <a:srgbClr val="D5DCE6"/>
            </a:solidFill>
            <a:prstDash val="solid"/>
          </a:ln>
        </p:spPr>
      </p:sp>
      <p:sp>
        <p:nvSpPr>
          <p:cNvPr id="30" name="Text 27"/>
          <p:cNvSpPr txBox="1"/>
          <p:nvPr/>
        </p:nvSpPr>
        <p:spPr>
          <a:xfrm>
            <a:off x="548640" y="4206240"/>
            <a:ext cx="2332452" cy="713232"/>
          </a:xfrm>
          <a:prstGeom prst="rect">
            <a:avLst/>
          </a:prstGeom>
          <a:noFill/>
          <a:ln/>
        </p:spPr>
        <p:txBody>
          <a:bodyPr wrap="square" lIns="0" tIns="0" rIns="0" bIns="0" rtlCol="0" anchor="ctr"/>
          <a:lstStyle/>
          <a:p>
            <a:pPr algn="ctr" indent="0" marL="0">
              <a:buNone/>
            </a:pPr>
            <a:r>
              <a:rPr lang="en-US" sz="2600" dirty="0">
                <a:solidFill>
                  <a:schemeClr val="tx1"/>
                </a:solidFill>
              </a:rPr>
              <a:t>…, omdat ik</a:t>
            </a:r>
            <a:endParaRPr lang="en-US" sz="2600" dirty="0"/>
          </a:p>
        </p:txBody>
      </p:sp>
      <p:sp>
        <p:nvSpPr>
          <p:cNvPr id="31" name="Shape 28"/>
          <p:cNvSpPr/>
          <p:nvPr/>
        </p:nvSpPr>
        <p:spPr>
          <a:xfrm>
            <a:off x="2963388" y="4206240"/>
            <a:ext cx="2703332" cy="713232"/>
          </a:xfrm>
          <a:prstGeom prst="roundRect">
            <a:avLst>
              <a:gd name="adj" fmla="val 12821"/>
            </a:avLst>
          </a:prstGeom>
          <a:solidFill>
            <a:schemeClr val="bg1"/>
          </a:solidFill>
          <a:ln w="15875">
            <a:solidFill>
              <a:srgbClr val="D5DCE6"/>
            </a:solidFill>
            <a:prstDash val="solid"/>
          </a:ln>
        </p:spPr>
      </p:sp>
      <p:sp>
        <p:nvSpPr>
          <p:cNvPr id="32" name="Text 29"/>
          <p:cNvSpPr txBox="1"/>
          <p:nvPr/>
        </p:nvSpPr>
        <p:spPr>
          <a:xfrm>
            <a:off x="2963388" y="4206240"/>
            <a:ext cx="2703332" cy="713232"/>
          </a:xfrm>
          <a:prstGeom prst="rect">
            <a:avLst/>
          </a:prstGeom>
          <a:noFill/>
          <a:ln/>
        </p:spPr>
        <p:txBody>
          <a:bodyPr wrap="square" lIns="0" tIns="0" rIns="0" bIns="0" rtlCol="0" anchor="ctr"/>
          <a:lstStyle/>
          <a:p>
            <a:pPr algn="ctr" indent="0" marL="0">
              <a:buNone/>
            </a:pPr>
            <a:r>
              <a:rPr lang="en-US" sz="2600" dirty="0">
                <a:solidFill>
                  <a:schemeClr val="tx1"/>
                </a:solidFill>
              </a:rPr>
              <a:t>gisteren lang</a:t>
            </a:r>
            <a:endParaRPr lang="en-US" sz="2600" dirty="0"/>
          </a:p>
        </p:txBody>
      </p:sp>
      <p:sp>
        <p:nvSpPr>
          <p:cNvPr id="33" name="Shape 30"/>
          <p:cNvSpPr/>
          <p:nvPr/>
        </p:nvSpPr>
        <p:spPr>
          <a:xfrm>
            <a:off x="5749016" y="4206240"/>
            <a:ext cx="1023952" cy="713232"/>
          </a:xfrm>
          <a:prstGeom prst="roundRect">
            <a:avLst>
              <a:gd name="adj" fmla="val 12821"/>
            </a:avLst>
          </a:prstGeom>
          <a:solidFill>
            <a:schemeClr val="tx2"/>
          </a:solidFill>
          <a:ln w="12700">
            <a:solidFill>
              <a:srgbClr val="FFFFFF">
                <a:alpha val="0"/>
              </a:srgbClr>
            </a:solidFill>
            <a:prstDash val="solid"/>
          </a:ln>
        </p:spPr>
      </p:sp>
      <p:sp>
        <p:nvSpPr>
          <p:cNvPr id="34" name="Text 31"/>
          <p:cNvSpPr txBox="1"/>
          <p:nvPr/>
        </p:nvSpPr>
        <p:spPr>
          <a:xfrm>
            <a:off x="5749016" y="4206240"/>
            <a:ext cx="1023952" cy="713232"/>
          </a:xfrm>
          <a:prstGeom prst="rect">
            <a:avLst/>
          </a:prstGeom>
          <a:noFill/>
          <a:ln/>
        </p:spPr>
        <p:txBody>
          <a:bodyPr wrap="square" lIns="0" tIns="0" rIns="0" bIns="0" rtlCol="0" anchor="ctr"/>
          <a:lstStyle/>
          <a:p>
            <a:pPr algn="ctr" indent="0" marL="0">
              <a:buNone/>
            </a:pPr>
            <a:r>
              <a:rPr lang="en-US" sz="2600" b="1" dirty="0">
                <a:solidFill>
                  <a:schemeClr val="bg1"/>
                </a:solidFill>
              </a:rPr>
              <a:t>heb</a:t>
            </a:r>
            <a:endParaRPr lang="en-US" sz="2600" dirty="0"/>
          </a:p>
        </p:txBody>
      </p:sp>
      <p:sp>
        <p:nvSpPr>
          <p:cNvPr id="35" name="Shape 32"/>
          <p:cNvSpPr/>
          <p:nvPr/>
        </p:nvSpPr>
        <p:spPr>
          <a:xfrm>
            <a:off x="6855264" y="4206240"/>
            <a:ext cx="1647032" cy="713232"/>
          </a:xfrm>
          <a:prstGeom prst="roundRect">
            <a:avLst>
              <a:gd name="adj" fmla="val 12821"/>
            </a:avLst>
          </a:prstGeom>
          <a:solidFill>
            <a:schemeClr val="accent1"/>
          </a:solidFill>
          <a:ln w="12700">
            <a:solidFill>
              <a:srgbClr val="FFFFFF">
                <a:alpha val="0"/>
              </a:srgbClr>
            </a:solidFill>
            <a:prstDash val="solid"/>
          </a:ln>
        </p:spPr>
      </p:sp>
      <p:sp>
        <p:nvSpPr>
          <p:cNvPr id="36" name="Text 33"/>
          <p:cNvSpPr txBox="1"/>
          <p:nvPr/>
        </p:nvSpPr>
        <p:spPr>
          <a:xfrm>
            <a:off x="6855264" y="4206240"/>
            <a:ext cx="1647032" cy="713232"/>
          </a:xfrm>
          <a:prstGeom prst="rect">
            <a:avLst/>
          </a:prstGeom>
          <a:noFill/>
          <a:ln/>
        </p:spPr>
        <p:txBody>
          <a:bodyPr wrap="square" lIns="0" tIns="0" rIns="0" bIns="0" rtlCol="0" anchor="ctr"/>
          <a:lstStyle/>
          <a:p>
            <a:pPr algn="ctr" indent="0" marL="0">
              <a:buNone/>
            </a:pPr>
            <a:r>
              <a:rPr lang="en-US" sz="2600" b="1" dirty="0">
                <a:solidFill>
                  <a:schemeClr val="bg1"/>
                </a:solidFill>
              </a:rPr>
              <a:t>moeten</a:t>
            </a:r>
            <a:endParaRPr lang="en-US" sz="2600" dirty="0"/>
          </a:p>
        </p:txBody>
      </p:sp>
      <p:sp>
        <p:nvSpPr>
          <p:cNvPr id="37" name="Shape 34"/>
          <p:cNvSpPr/>
          <p:nvPr/>
        </p:nvSpPr>
        <p:spPr>
          <a:xfrm>
            <a:off x="8584592" y="4206240"/>
            <a:ext cx="1854725" cy="713232"/>
          </a:xfrm>
          <a:prstGeom prst="roundRect">
            <a:avLst>
              <a:gd name="adj" fmla="val 12821"/>
            </a:avLst>
          </a:prstGeom>
          <a:solidFill>
            <a:srgbClr val="FBEDEB"/>
          </a:solidFill>
          <a:ln w="25400">
            <a:solidFill>
              <a:srgbClr val="B83227"/>
            </a:solidFill>
            <a:prstDash val="solid"/>
          </a:ln>
        </p:spPr>
      </p:sp>
      <p:sp>
        <p:nvSpPr>
          <p:cNvPr id="38" name="Text 35"/>
          <p:cNvSpPr txBox="1"/>
          <p:nvPr/>
        </p:nvSpPr>
        <p:spPr>
          <a:xfrm>
            <a:off x="8584592" y="4206240"/>
            <a:ext cx="1854725" cy="713232"/>
          </a:xfrm>
          <a:prstGeom prst="rect">
            <a:avLst/>
          </a:prstGeom>
          <a:noFill/>
          <a:ln/>
        </p:spPr>
        <p:txBody>
          <a:bodyPr wrap="square" lIns="0" tIns="0" rIns="0" bIns="0" rtlCol="0" anchor="ctr"/>
          <a:lstStyle/>
          <a:p>
            <a:pPr algn="ctr" indent="0" marL="0">
              <a:buNone/>
            </a:pPr>
            <a:r>
              <a:rPr lang="en-US" sz="2600" b="1" dirty="0">
                <a:solidFill>
                  <a:schemeClr val="accent6"/>
                </a:solidFill>
              </a:rPr>
              <a:t>werken.</a:t>
            </a:r>
            <a:endParaRPr lang="en-US" sz="2600" dirty="0"/>
          </a:p>
        </p:txBody>
      </p:sp>
      <p:sp>
        <p:nvSpPr>
          <p:cNvPr id="39" name="Shape 36"/>
          <p:cNvSpPr/>
          <p:nvPr/>
        </p:nvSpPr>
        <p:spPr>
          <a:xfrm>
            <a:off x="457200" y="5074920"/>
            <a:ext cx="10073557" cy="45720"/>
          </a:xfrm>
          <a:prstGeom prst="rect">
            <a:avLst/>
          </a:prstGeom>
          <a:solidFill>
            <a:srgbClr val="8A96A8"/>
          </a:solidFill>
          <a:ln w="12700">
            <a:solidFill>
              <a:srgbClr val="FFFFFF">
                <a:alpha val="0"/>
              </a:srgbClr>
            </a:solidFill>
            <a:prstDash val="solid"/>
          </a:ln>
        </p:spPr>
      </p:sp>
      <p:sp>
        <p:nvSpPr>
          <p:cNvPr id="40" name="Shape 37"/>
          <p:cNvSpPr/>
          <p:nvPr/>
        </p:nvSpPr>
        <p:spPr>
          <a:xfrm>
            <a:off x="5901133" y="4928616"/>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6474547" y="4928616"/>
            <a:ext cx="146304" cy="146304"/>
          </a:xfrm>
          <a:prstGeom prst="ellipse">
            <a:avLst/>
          </a:prstGeom>
          <a:solidFill>
            <a:srgbClr val="1B2333"/>
          </a:solidFill>
          <a:ln w="12700">
            <a:solidFill>
              <a:srgbClr val="FFFFFF">
                <a:alpha val="0"/>
              </a:srgbClr>
            </a:solidFill>
            <a:prstDash val="solid"/>
          </a:ln>
        </p:spPr>
      </p:sp>
      <p:sp>
        <p:nvSpPr>
          <p:cNvPr id="42" name="Shape 39"/>
          <p:cNvSpPr/>
          <p:nvPr/>
        </p:nvSpPr>
        <p:spPr>
          <a:xfrm>
            <a:off x="5858744" y="4005072"/>
            <a:ext cx="146304" cy="219456"/>
          </a:xfrm>
          <a:prstGeom prst="rect">
            <a:avLst/>
          </a:prstGeom>
          <a:solidFill>
            <a:schemeClr val="tx2"/>
          </a:solidFill>
          <a:ln w="12700">
            <a:solidFill>
              <a:srgbClr val="FFFFFF">
                <a:alpha val="0"/>
              </a:srgbClr>
            </a:solidFill>
            <a:prstDash val="solid"/>
          </a:ln>
        </p:spPr>
      </p:sp>
      <p:sp>
        <p:nvSpPr>
          <p:cNvPr id="43" name="Shape 40"/>
          <p:cNvSpPr/>
          <p:nvPr/>
        </p:nvSpPr>
        <p:spPr>
          <a:xfrm>
            <a:off x="6772968" y="4741164"/>
            <a:ext cx="82296" cy="914"/>
          </a:xfrm>
          <a:prstGeom prst="line">
            <a:avLst/>
          </a:prstGeom>
          <a:noFill/>
          <a:ln w="31750">
            <a:solidFill>
              <a:srgbClr val="1B2333"/>
            </a:solidFill>
            <a:prstDash val="solid"/>
          </a:ln>
        </p:spPr>
      </p:sp>
      <p:sp>
        <p:nvSpPr>
          <p:cNvPr id="44" name="Shape 41"/>
          <p:cNvSpPr/>
          <p:nvPr/>
        </p:nvSpPr>
        <p:spPr>
          <a:xfrm>
            <a:off x="7144459" y="4928616"/>
            <a:ext cx="146304" cy="146304"/>
          </a:xfrm>
          <a:prstGeom prst="ellipse">
            <a:avLst/>
          </a:prstGeom>
          <a:solidFill>
            <a:srgbClr val="1B2333"/>
          </a:solidFill>
          <a:ln w="12700">
            <a:solidFill>
              <a:srgbClr val="FFFFFF">
                <a:alpha val="0"/>
              </a:srgbClr>
            </a:solidFill>
            <a:prstDash val="solid"/>
          </a:ln>
        </p:spPr>
      </p:sp>
      <p:sp>
        <p:nvSpPr>
          <p:cNvPr id="45" name="Shape 42"/>
          <p:cNvSpPr/>
          <p:nvPr/>
        </p:nvSpPr>
        <p:spPr>
          <a:xfrm>
            <a:off x="8066797" y="4928616"/>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8502296" y="4741164"/>
            <a:ext cx="82296" cy="914"/>
          </a:xfrm>
          <a:prstGeom prst="line">
            <a:avLst/>
          </a:prstGeom>
          <a:noFill/>
          <a:ln w="31750">
            <a:solidFill>
              <a:srgbClr val="1B2333"/>
            </a:solidFill>
            <a:prstDash val="solid"/>
          </a:ln>
        </p:spPr>
      </p:sp>
      <p:sp>
        <p:nvSpPr>
          <p:cNvPr id="47" name="Shape 44"/>
          <p:cNvSpPr/>
          <p:nvPr/>
        </p:nvSpPr>
        <p:spPr>
          <a:xfrm>
            <a:off x="8919480" y="4928616"/>
            <a:ext cx="146304" cy="146304"/>
          </a:xfrm>
          <a:prstGeom prst="ellipse">
            <a:avLst/>
          </a:prstGeom>
          <a:solidFill>
            <a:srgbClr val="1B2333"/>
          </a:solidFill>
          <a:ln w="12700">
            <a:solidFill>
              <a:srgbClr val="FFFFFF">
                <a:alpha val="0"/>
              </a:srgbClr>
            </a:solidFill>
            <a:prstDash val="solid"/>
          </a:ln>
        </p:spPr>
      </p:sp>
      <p:sp>
        <p:nvSpPr>
          <p:cNvPr id="48" name="Shape 45"/>
          <p:cNvSpPr/>
          <p:nvPr/>
        </p:nvSpPr>
        <p:spPr>
          <a:xfrm>
            <a:off x="9958126" y="4928616"/>
            <a:ext cx="146304" cy="146304"/>
          </a:xfrm>
          <a:prstGeom prst="ellipse">
            <a:avLst/>
          </a:prstGeom>
          <a:solidFill>
            <a:srgbClr val="1B2333"/>
          </a:solidFill>
          <a:ln w="12700">
            <a:solidFill>
              <a:srgbClr val="FFFFFF">
                <a:alpha val="0"/>
              </a:srgbClr>
            </a:solidFill>
            <a:prstDash val="solid"/>
          </a:ln>
        </p:spPr>
      </p:sp>
      <p:pic>
        <p:nvPicPr>
          <p:cNvPr id="49" name="Image 0" descr="locomotive">    </p:cNvPr>
          <p:cNvPicPr>
            <a:picLocks noChangeAspect="1"/>
          </p:cNvPicPr>
          <p:nvPr/>
        </p:nvPicPr>
        <p:blipFill>
          <a:blip r:embed="rId1"/>
          <a:stretch>
            <a:fillRect/>
          </a:stretch>
        </p:blipFill>
        <p:spPr>
          <a:xfrm>
            <a:off x="10332720" y="4069080"/>
            <a:ext cx="1097280" cy="1097280"/>
          </a:xfrm>
          <a:prstGeom prst="rect">
            <a:avLst/>
          </a:prstGeom>
        </p:spPr>
      </p:pic>
      <p:sp>
        <p:nvSpPr>
          <p:cNvPr id="50" name="Shape 46"/>
          <p:cNvSpPr/>
          <p:nvPr/>
        </p:nvSpPr>
        <p:spPr>
          <a:xfrm>
            <a:off x="548640" y="5486400"/>
            <a:ext cx="11091672" cy="731520"/>
          </a:xfrm>
          <a:prstGeom prst="roundRect">
            <a:avLst>
              <a:gd name="adj" fmla="val 10000"/>
            </a:avLst>
          </a:prstGeom>
          <a:solidFill>
            <a:schemeClr val="tx2"/>
          </a:solidFill>
          <a:ln w="12700">
            <a:solidFill>
              <a:srgbClr val="FFFFFF">
                <a:alpha val="0"/>
              </a:srgbClr>
            </a:solidFill>
            <a:prstDash val="solid"/>
          </a:ln>
        </p:spPr>
      </p:sp>
      <p:sp>
        <p:nvSpPr>
          <p:cNvPr id="51" name="Text 47"/>
          <p:cNvSpPr txBox="1"/>
          <p:nvPr/>
        </p:nvSpPr>
        <p:spPr>
          <a:xfrm>
            <a:off x="822960" y="5486400"/>
            <a:ext cx="10607040" cy="731520"/>
          </a:xfrm>
          <a:prstGeom prst="rect">
            <a:avLst/>
          </a:prstGeom>
          <a:noFill/>
          <a:ln/>
        </p:spPr>
        <p:txBody>
          <a:bodyPr wrap="square" lIns="0" tIns="0" rIns="0" bIns="0" rtlCol="0" anchor="ctr"/>
          <a:lstStyle/>
          <a:p>
            <a:pPr algn="l" indent="0" marL="0">
              <a:buNone/>
            </a:pPr>
            <a:r>
              <a:rPr lang="en-US" sz="1600" b="1" dirty="0">
                <a:solidFill>
                  <a:schemeClr val="bg1"/>
                </a:solidFill>
              </a:rPr>
              <a:t>locomotive</a:t>
            </a:r>
            <a:r>
              <a:rPr lang="en-US" sz="1600" dirty="0">
                <a:solidFill>
                  <a:schemeClr val="bg1"/>
                </a:solidFill>
              </a:rPr>
              <a:t> = le verbe conjugué · </a:t>
            </a:r>
            <a:r>
              <a:rPr lang="en-US" sz="1600" b="1" dirty="0">
                <a:solidFill>
                  <a:schemeClr val="bg1"/>
                </a:solidFill>
              </a:rPr>
              <a:t>wagon 1</a:t>
            </a:r>
            <a:r>
              <a:rPr lang="en-US" sz="1600" dirty="0">
                <a:solidFill>
                  <a:schemeClr val="bg1"/>
                </a:solidFill>
              </a:rPr>
              <a:t> = le verbe pilote (</a:t>
            </a:r>
            <a:r>
              <a:rPr lang="en-US" sz="1600" i="1" dirty="0">
                <a:solidFill>
                  <a:schemeClr val="bg1"/>
                </a:solidFill>
              </a:rPr>
              <a:t>moeten</a:t>
            </a:r>
            <a:r>
              <a:rPr lang="en-US" sz="1600" dirty="0">
                <a:solidFill>
                  <a:schemeClr val="bg1"/>
                </a:solidFill>
              </a:rPr>
              <a:t>) · </a:t>
            </a:r>
            <a:r>
              <a:rPr lang="en-US" sz="1600" b="1" dirty="0">
                <a:solidFill>
                  <a:schemeClr val="bg1"/>
                </a:solidFill>
              </a:rPr>
              <a:t>wagon 2</a:t>
            </a:r>
            <a:r>
              <a:rPr lang="en-US" sz="1600" dirty="0">
                <a:solidFill>
                  <a:schemeClr val="bg1"/>
                </a:solidFill>
              </a:rPr>
              <a:t> = l’action (</a:t>
            </a:r>
            <a:r>
              <a:rPr lang="en-US" sz="1600" i="1" dirty="0">
                <a:solidFill>
                  <a:schemeClr val="bg1"/>
                </a:solidFill>
              </a:rPr>
              <a:t>werken</a:t>
            </a:r>
            <a:r>
              <a:rPr lang="en-US" sz="1600" dirty="0">
                <a:solidFill>
                  <a:schemeClr val="bg1"/>
                </a:solidFill>
              </a:rPr>
              <a:t>). L’ordre des wagons ne change pas.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Quels verbes déclenchent le double infinitif ?</a:t>
            </a:r>
            <a:endParaRPr lang="en-US" sz="3000" dirty="0"/>
          </a:p>
        </p:txBody>
      </p:sp>
      <p:sp>
        <p:nvSpPr>
          <p:cNvPr id="3" name="tag"/>
          <p:cNvSpPr/>
          <p:nvPr/>
        </p:nvSpPr>
        <p:spPr>
          <a:xfrm>
            <a:off x="548640" y="237744"/>
            <a:ext cx="1660550"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FAMILLES</a:t>
            </a:r>
            <a:endParaRPr lang="en-US" sz="1200" dirty="0"/>
          </a:p>
        </p:txBody>
      </p:sp>
      <p:sp>
        <p:nvSpPr>
          <p:cNvPr id="5" name="Shape 2"/>
          <p:cNvSpPr/>
          <p:nvPr/>
        </p:nvSpPr>
        <p:spPr>
          <a:xfrm>
            <a:off x="548640" y="1508760"/>
            <a:ext cx="2086661" cy="3749040"/>
          </a:xfrm>
          <a:prstGeom prst="roundRect">
            <a:avLst>
              <a:gd name="adj" fmla="val 5259"/>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2086661" cy="457200"/>
          </a:xfrm>
          <a:prstGeom prst="roundRect">
            <a:avLst>
              <a:gd name="adj" fmla="val 24000"/>
            </a:avLst>
          </a:prstGeom>
          <a:solidFill>
            <a:schemeClr val="accent2"/>
          </a:solidFill>
          <a:ln w="12700">
            <a:solidFill>
              <a:srgbClr val="FFFFFF">
                <a:alpha val="0"/>
              </a:srgbClr>
            </a:solidFill>
            <a:prstDash val="solid"/>
          </a:ln>
        </p:spPr>
      </p:sp>
      <p:sp>
        <p:nvSpPr>
          <p:cNvPr id="7" name="Text 4"/>
          <p:cNvSpPr txBox="1"/>
          <p:nvPr/>
        </p:nvSpPr>
        <p:spPr>
          <a:xfrm>
            <a:off x="548640"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flexed biceps">    </p:cNvPr>
          <p:cNvPicPr>
            <a:picLocks noChangeAspect="1"/>
          </p:cNvPicPr>
          <p:nvPr/>
        </p:nvPicPr>
        <p:blipFill>
          <a:blip r:embed="rId1"/>
          <a:stretch>
            <a:fillRect/>
          </a:stretch>
        </p:blipFill>
        <p:spPr>
          <a:xfrm>
            <a:off x="677570" y="2103120"/>
            <a:ext cx="868680" cy="868680"/>
          </a:xfrm>
          <a:prstGeom prst="rect">
            <a:avLst/>
          </a:prstGeom>
        </p:spPr>
      </p:pic>
      <p:pic>
        <p:nvPicPr>
          <p:cNvPr id="9" name="Image 1" descr="red heart">    </p:cNvPr>
          <p:cNvPicPr>
            <a:picLocks noChangeAspect="1"/>
          </p:cNvPicPr>
          <p:nvPr/>
        </p:nvPicPr>
        <p:blipFill>
          <a:blip r:embed="rId2"/>
          <a:stretch>
            <a:fillRect/>
          </a:stretch>
        </p:blipFill>
        <p:spPr>
          <a:xfrm>
            <a:off x="1637690" y="2103120"/>
            <a:ext cx="868680" cy="868680"/>
          </a:xfrm>
          <a:prstGeom prst="rect">
            <a:avLst/>
          </a:prstGeom>
        </p:spPr>
      </p:pic>
      <p:sp>
        <p:nvSpPr>
          <p:cNvPr id="10" name="Text 5"/>
          <p:cNvSpPr txBox="1"/>
          <p:nvPr/>
        </p:nvSpPr>
        <p:spPr>
          <a:xfrm>
            <a:off x="640080"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2"/>
                </a:solidFill>
              </a:rPr>
              <a:t>les modaux</a:t>
            </a:r>
            <a:endParaRPr lang="en-US" sz="1700" dirty="0"/>
          </a:p>
        </p:txBody>
      </p:sp>
      <p:sp>
        <p:nvSpPr>
          <p:cNvPr id="11" name="Text 6"/>
          <p:cNvSpPr txBox="1"/>
          <p:nvPr/>
        </p:nvSpPr>
        <p:spPr>
          <a:xfrm>
            <a:off x="658368"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moeten werken.</a:t>
            </a:r>
            <a:endParaRPr lang="en-US" sz="1500" dirty="0"/>
          </a:p>
        </p:txBody>
      </p:sp>
      <p:sp>
        <p:nvSpPr>
          <p:cNvPr id="12" name="Shape 7"/>
          <p:cNvSpPr/>
          <p:nvPr/>
        </p:nvSpPr>
        <p:spPr>
          <a:xfrm>
            <a:off x="2799893" y="1508760"/>
            <a:ext cx="2086661" cy="3749040"/>
          </a:xfrm>
          <a:prstGeom prst="roundRect">
            <a:avLst>
              <a:gd name="adj" fmla="val 5259"/>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2799893" y="1508760"/>
            <a:ext cx="2086661" cy="457200"/>
          </a:xfrm>
          <a:prstGeom prst="roundRect">
            <a:avLst>
              <a:gd name="adj" fmla="val 24000"/>
            </a:avLst>
          </a:prstGeom>
          <a:solidFill>
            <a:schemeClr val="accent4"/>
          </a:solidFill>
          <a:ln w="12700">
            <a:solidFill>
              <a:srgbClr val="FFFFFF">
                <a:alpha val="0"/>
              </a:srgbClr>
            </a:solidFill>
            <a:prstDash val="solid"/>
          </a:ln>
        </p:spPr>
      </p:sp>
      <p:sp>
        <p:nvSpPr>
          <p:cNvPr id="14" name="Text 9"/>
          <p:cNvSpPr txBox="1"/>
          <p:nvPr/>
        </p:nvSpPr>
        <p:spPr>
          <a:xfrm>
            <a:off x="2799893"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5" name="Image 2" descr="wrench">    </p:cNvPr>
          <p:cNvPicPr>
            <a:picLocks noChangeAspect="1"/>
          </p:cNvPicPr>
          <p:nvPr/>
        </p:nvPicPr>
        <p:blipFill>
          <a:blip r:embed="rId3"/>
          <a:stretch>
            <a:fillRect/>
          </a:stretch>
        </p:blipFill>
        <p:spPr>
          <a:xfrm>
            <a:off x="3408883" y="2103120"/>
            <a:ext cx="868680" cy="868680"/>
          </a:xfrm>
          <a:prstGeom prst="rect">
            <a:avLst/>
          </a:prstGeom>
        </p:spPr>
      </p:pic>
      <p:sp>
        <p:nvSpPr>
          <p:cNvPr id="16" name="Text 10"/>
          <p:cNvSpPr txBox="1"/>
          <p:nvPr/>
        </p:nvSpPr>
        <p:spPr>
          <a:xfrm>
            <a:off x="2891333"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4"/>
                </a:solidFill>
              </a:rPr>
              <a:t>laten</a:t>
            </a:r>
            <a:endParaRPr lang="en-US" sz="1700" dirty="0"/>
          </a:p>
        </p:txBody>
      </p:sp>
      <p:sp>
        <p:nvSpPr>
          <p:cNvPr id="17" name="Text 11"/>
          <p:cNvSpPr txBox="1"/>
          <p:nvPr/>
        </p:nvSpPr>
        <p:spPr>
          <a:xfrm>
            <a:off x="2909621"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mijn auto laten repareren.</a:t>
            </a:r>
            <a:endParaRPr lang="en-US" sz="1500" dirty="0"/>
          </a:p>
        </p:txBody>
      </p:sp>
      <p:sp>
        <p:nvSpPr>
          <p:cNvPr id="18" name="Shape 12"/>
          <p:cNvSpPr/>
          <p:nvPr/>
        </p:nvSpPr>
        <p:spPr>
          <a:xfrm>
            <a:off x="5051146" y="1508760"/>
            <a:ext cx="2086661" cy="3749040"/>
          </a:xfrm>
          <a:prstGeom prst="roundRect">
            <a:avLst>
              <a:gd name="adj" fmla="val 5259"/>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9" name="Shape 13"/>
          <p:cNvSpPr/>
          <p:nvPr/>
        </p:nvSpPr>
        <p:spPr>
          <a:xfrm>
            <a:off x="5051146" y="1508760"/>
            <a:ext cx="2086661" cy="457200"/>
          </a:xfrm>
          <a:prstGeom prst="roundRect">
            <a:avLst>
              <a:gd name="adj" fmla="val 24000"/>
            </a:avLst>
          </a:prstGeom>
          <a:solidFill>
            <a:schemeClr val="accent3"/>
          </a:solidFill>
          <a:ln w="12700">
            <a:solidFill>
              <a:srgbClr val="FFFFFF">
                <a:alpha val="0"/>
              </a:srgbClr>
            </a:solidFill>
            <a:prstDash val="solid"/>
          </a:ln>
        </p:spPr>
      </p:sp>
      <p:sp>
        <p:nvSpPr>
          <p:cNvPr id="20" name="Text 14"/>
          <p:cNvSpPr txBox="1"/>
          <p:nvPr/>
        </p:nvSpPr>
        <p:spPr>
          <a:xfrm>
            <a:off x="5051146"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1" name="Image 3" descr="person walking">    </p:cNvPr>
          <p:cNvPicPr>
            <a:picLocks noChangeAspect="1"/>
          </p:cNvPicPr>
          <p:nvPr/>
        </p:nvPicPr>
        <p:blipFill>
          <a:blip r:embed="rId4"/>
          <a:stretch>
            <a:fillRect/>
          </a:stretch>
        </p:blipFill>
        <p:spPr>
          <a:xfrm>
            <a:off x="5660136" y="2103120"/>
            <a:ext cx="868680" cy="868680"/>
          </a:xfrm>
          <a:prstGeom prst="rect">
            <a:avLst/>
          </a:prstGeom>
        </p:spPr>
      </p:pic>
      <p:sp>
        <p:nvSpPr>
          <p:cNvPr id="22" name="Text 15"/>
          <p:cNvSpPr txBox="1"/>
          <p:nvPr/>
        </p:nvSpPr>
        <p:spPr>
          <a:xfrm>
            <a:off x="5142586" y="3063240"/>
            <a:ext cx="1903781" cy="685800"/>
          </a:xfrm>
          <a:prstGeom prst="rect">
            <a:avLst/>
          </a:prstGeom>
          <a:noFill/>
          <a:ln/>
        </p:spPr>
        <p:txBody>
          <a:bodyPr wrap="square" lIns="0" tIns="0" rIns="0" bIns="0" rtlCol="0" anchor="ctr"/>
          <a:lstStyle/>
          <a:p>
            <a:pPr algn="ctr" indent="0" marL="0">
              <a:buNone/>
            </a:pPr>
            <a:r>
              <a:rPr lang="en-US" sz="1700" b="1" dirty="0">
                <a:solidFill>
                  <a:schemeClr val="accent3"/>
                </a:solidFill>
              </a:rPr>
              <a:t>gaan · komen · blijven</a:t>
            </a:r>
            <a:endParaRPr lang="en-US" sz="1700" dirty="0"/>
          </a:p>
        </p:txBody>
      </p:sp>
      <p:sp>
        <p:nvSpPr>
          <p:cNvPr id="23" name="Text 16"/>
          <p:cNvSpPr txBox="1"/>
          <p:nvPr/>
        </p:nvSpPr>
        <p:spPr>
          <a:xfrm>
            <a:off x="5160874"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ben gaan zwemmen.</a:t>
            </a:r>
            <a:endParaRPr lang="en-US" sz="1500" dirty="0"/>
          </a:p>
        </p:txBody>
      </p:sp>
      <p:sp>
        <p:nvSpPr>
          <p:cNvPr id="24" name="Shape 17"/>
          <p:cNvSpPr/>
          <p:nvPr/>
        </p:nvSpPr>
        <p:spPr>
          <a:xfrm>
            <a:off x="7302398" y="1508760"/>
            <a:ext cx="2086661" cy="3749040"/>
          </a:xfrm>
          <a:prstGeom prst="roundRect">
            <a:avLst>
              <a:gd name="adj" fmla="val 5259"/>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7302398" y="1508760"/>
            <a:ext cx="2086661" cy="457200"/>
          </a:xfrm>
          <a:prstGeom prst="roundRect">
            <a:avLst>
              <a:gd name="adj" fmla="val 24000"/>
            </a:avLst>
          </a:prstGeom>
          <a:solidFill>
            <a:srgbClr val="6E4A9E"/>
          </a:solidFill>
          <a:ln w="12700">
            <a:solidFill>
              <a:srgbClr val="FFFFFF">
                <a:alpha val="0"/>
              </a:srgbClr>
            </a:solidFill>
            <a:prstDash val="solid"/>
          </a:ln>
        </p:spPr>
      </p:sp>
      <p:sp>
        <p:nvSpPr>
          <p:cNvPr id="26" name="Text 19"/>
          <p:cNvSpPr txBox="1"/>
          <p:nvPr/>
        </p:nvSpPr>
        <p:spPr>
          <a:xfrm>
            <a:off x="7302398"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7" name="Image 4" descr="chair">    </p:cNvPr>
          <p:cNvPicPr>
            <a:picLocks noChangeAspect="1"/>
          </p:cNvPicPr>
          <p:nvPr/>
        </p:nvPicPr>
        <p:blipFill>
          <a:blip r:embed="rId5"/>
          <a:stretch>
            <a:fillRect/>
          </a:stretch>
        </p:blipFill>
        <p:spPr>
          <a:xfrm>
            <a:off x="7911389" y="2103120"/>
            <a:ext cx="868680" cy="868680"/>
          </a:xfrm>
          <a:prstGeom prst="rect">
            <a:avLst/>
          </a:prstGeom>
        </p:spPr>
      </p:pic>
      <p:sp>
        <p:nvSpPr>
          <p:cNvPr id="28" name="Text 20"/>
          <p:cNvSpPr txBox="1"/>
          <p:nvPr/>
        </p:nvSpPr>
        <p:spPr>
          <a:xfrm>
            <a:off x="7393838" y="3063240"/>
            <a:ext cx="1903781" cy="685800"/>
          </a:xfrm>
          <a:prstGeom prst="rect">
            <a:avLst/>
          </a:prstGeom>
          <a:noFill/>
          <a:ln/>
        </p:spPr>
        <p:txBody>
          <a:bodyPr wrap="square" lIns="0" tIns="0" rIns="0" bIns="0" rtlCol="0" anchor="ctr"/>
          <a:lstStyle/>
          <a:p>
            <a:pPr algn="ctr" indent="0" marL="0">
              <a:buNone/>
            </a:pPr>
            <a:r>
              <a:rPr lang="en-US" sz="1700" b="1" dirty="0">
                <a:solidFill>
                  <a:srgbClr val="6E4A9E"/>
                </a:solidFill>
              </a:rPr>
              <a:t>zitten · staan · liggen · lopen</a:t>
            </a:r>
            <a:endParaRPr lang="en-US" sz="1700" dirty="0"/>
          </a:p>
        </p:txBody>
      </p:sp>
      <p:sp>
        <p:nvSpPr>
          <p:cNvPr id="29" name="Text 21"/>
          <p:cNvSpPr txBox="1"/>
          <p:nvPr/>
        </p:nvSpPr>
        <p:spPr>
          <a:xfrm>
            <a:off x="7412126"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zitten lezen.</a:t>
            </a:r>
            <a:endParaRPr lang="en-US" sz="1500" dirty="0"/>
          </a:p>
        </p:txBody>
      </p:sp>
      <p:sp>
        <p:nvSpPr>
          <p:cNvPr id="30" name="Shape 22"/>
          <p:cNvSpPr/>
          <p:nvPr/>
        </p:nvSpPr>
        <p:spPr>
          <a:xfrm>
            <a:off x="9553651" y="1508760"/>
            <a:ext cx="2086661" cy="3749040"/>
          </a:xfrm>
          <a:prstGeom prst="roundRect">
            <a:avLst>
              <a:gd name="adj" fmla="val 5259"/>
            </a:avLst>
          </a:prstGeom>
          <a:solidFill>
            <a:srgbClr val="FFFFFF"/>
          </a:solidFill>
          <a:ln w="25400">
            <a:solidFill>
              <a:srgbClr val="0E7C86"/>
            </a:solidFill>
            <a:prstDash val="solid"/>
          </a:ln>
          <a:effectLst>
            <a:outerShdw sx="100000" sy="100000" kx="0" ky="0" algn="bl" rotWithShape="0" blurRad="101600" dist="25400" dir="3600000">
              <a:srgbClr val="000000">
                <a:alpha val="16000"/>
              </a:srgbClr>
            </a:outerShdw>
          </a:effectLst>
        </p:spPr>
      </p:sp>
      <p:sp>
        <p:nvSpPr>
          <p:cNvPr id="31" name="Shape 23"/>
          <p:cNvSpPr/>
          <p:nvPr/>
        </p:nvSpPr>
        <p:spPr>
          <a:xfrm>
            <a:off x="9553651" y="1508760"/>
            <a:ext cx="2086661" cy="457200"/>
          </a:xfrm>
          <a:prstGeom prst="roundRect">
            <a:avLst>
              <a:gd name="adj" fmla="val 24000"/>
            </a:avLst>
          </a:prstGeom>
          <a:solidFill>
            <a:srgbClr val="0E7C86"/>
          </a:solidFill>
          <a:ln w="12700">
            <a:solidFill>
              <a:srgbClr val="FFFFFF">
                <a:alpha val="0"/>
              </a:srgbClr>
            </a:solidFill>
            <a:prstDash val="solid"/>
          </a:ln>
        </p:spPr>
      </p:sp>
      <p:sp>
        <p:nvSpPr>
          <p:cNvPr id="32" name="Text 24"/>
          <p:cNvSpPr txBox="1"/>
          <p:nvPr/>
        </p:nvSpPr>
        <p:spPr>
          <a:xfrm>
            <a:off x="9553651" y="1508760"/>
            <a:ext cx="2086661"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pic>
        <p:nvPicPr>
          <p:cNvPr id="33" name="Image 5" descr="eyes">    </p:cNvPr>
          <p:cNvPicPr>
            <a:picLocks noChangeAspect="1"/>
          </p:cNvPicPr>
          <p:nvPr/>
        </p:nvPicPr>
        <p:blipFill>
          <a:blip r:embed="rId6"/>
          <a:stretch>
            <a:fillRect/>
          </a:stretch>
        </p:blipFill>
        <p:spPr>
          <a:xfrm>
            <a:off x="9682582" y="2103120"/>
            <a:ext cx="868680" cy="868680"/>
          </a:xfrm>
          <a:prstGeom prst="rect">
            <a:avLst/>
          </a:prstGeom>
        </p:spPr>
      </p:pic>
      <p:pic>
        <p:nvPicPr>
          <p:cNvPr id="34" name="Image 6" descr="ear">    </p:cNvPr>
          <p:cNvPicPr>
            <a:picLocks noChangeAspect="1"/>
          </p:cNvPicPr>
          <p:nvPr/>
        </p:nvPicPr>
        <p:blipFill>
          <a:blip r:embed="rId7"/>
          <a:stretch>
            <a:fillRect/>
          </a:stretch>
        </p:blipFill>
        <p:spPr>
          <a:xfrm>
            <a:off x="10642702" y="2103120"/>
            <a:ext cx="868680" cy="868680"/>
          </a:xfrm>
          <a:prstGeom prst="rect">
            <a:avLst/>
          </a:prstGeom>
        </p:spPr>
      </p:pic>
      <p:sp>
        <p:nvSpPr>
          <p:cNvPr id="35" name="Text 25"/>
          <p:cNvSpPr txBox="1"/>
          <p:nvPr/>
        </p:nvSpPr>
        <p:spPr>
          <a:xfrm>
            <a:off x="9645091" y="3063240"/>
            <a:ext cx="1903781" cy="685800"/>
          </a:xfrm>
          <a:prstGeom prst="rect">
            <a:avLst/>
          </a:prstGeom>
          <a:noFill/>
          <a:ln/>
        </p:spPr>
        <p:txBody>
          <a:bodyPr wrap="square" lIns="0" tIns="0" rIns="0" bIns="0" rtlCol="0" anchor="ctr"/>
          <a:lstStyle/>
          <a:p>
            <a:pPr algn="ctr" indent="0" marL="0">
              <a:buNone/>
            </a:pPr>
            <a:r>
              <a:rPr lang="en-US" sz="1700" b="1" dirty="0">
                <a:solidFill>
                  <a:srgbClr val="0E7C86"/>
                </a:solidFill>
              </a:rPr>
              <a:t>zien · horen · voelen</a:t>
            </a:r>
            <a:endParaRPr lang="en-US" sz="1700" dirty="0"/>
          </a:p>
        </p:txBody>
      </p:sp>
      <p:sp>
        <p:nvSpPr>
          <p:cNvPr id="36" name="Text 26"/>
          <p:cNvSpPr txBox="1"/>
          <p:nvPr/>
        </p:nvSpPr>
        <p:spPr>
          <a:xfrm>
            <a:off x="9663379" y="3840480"/>
            <a:ext cx="1867205" cy="1188720"/>
          </a:xfrm>
          <a:prstGeom prst="rect">
            <a:avLst/>
          </a:prstGeom>
          <a:noFill/>
          <a:ln/>
        </p:spPr>
        <p:txBody>
          <a:bodyPr wrap="square" lIns="0" tIns="0" rIns="0" bIns="0" rtlCol="0" anchor="ctr"/>
          <a:lstStyle/>
          <a:p>
            <a:pPr algn="ctr" indent="0" marL="0">
              <a:buNone/>
            </a:pPr>
            <a:r>
              <a:rPr lang="en-US" sz="1500" i="1" dirty="0">
                <a:solidFill>
                  <a:schemeClr val="tx1"/>
                </a:solidFill>
              </a:rPr>
              <a:t>Ik heb hem zien vertrekken.</a:t>
            </a:r>
            <a:endParaRPr lang="en-US" sz="1500" dirty="0"/>
          </a:p>
        </p:txBody>
      </p:sp>
      <p:sp>
        <p:nvSpPr>
          <p:cNvPr id="37" name="Shape 27"/>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38" name="Text 28"/>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500" dirty="0">
                <a:solidFill>
                  <a:schemeClr val="bg1"/>
                </a:solidFill>
              </a:rPr>
              <a:t>Au présent, ces verbes se construisent </a:t>
            </a:r>
            <a:r>
              <a:rPr lang="en-US" sz="1500" b="1" dirty="0">
                <a:solidFill>
                  <a:schemeClr val="bg1"/>
                </a:solidFill>
              </a:rPr>
              <a:t>sans te</a:t>
            </a:r>
            <a:r>
              <a:rPr lang="en-US" sz="1500" dirty="0">
                <a:solidFill>
                  <a:schemeClr val="bg1"/>
                </a:solidFill>
              </a:rPr>
              <a:t> : </a:t>
            </a:r>
            <a:r>
              <a:rPr lang="en-US" sz="1500" i="1" dirty="0">
                <a:solidFill>
                  <a:schemeClr val="bg1"/>
                </a:solidFill>
              </a:rPr>
              <a:t>ik moet werken · ik ga zwemmen · ik laat mijn auto repareren</a:t>
            </a:r>
            <a:r>
              <a:rPr lang="en-US" sz="1500" dirty="0">
                <a:solidFill>
                  <a:schemeClr val="bg1"/>
                </a:solidFill>
              </a:rPr>
              <a:t> (sauf </a:t>
            </a:r>
            <a:r>
              <a:rPr lang="en-US" sz="1500" i="1" dirty="0">
                <a:solidFill>
                  <a:schemeClr val="bg1"/>
                </a:solidFill>
              </a:rPr>
              <a:t>zitten · staan · liggen · lopen</a:t>
            </a:r>
            <a:r>
              <a:rPr lang="en-US" sz="1500" dirty="0">
                <a:solidFill>
                  <a:schemeClr val="bg1"/>
                </a:solidFill>
              </a:rPr>
              <a:t> : </a:t>
            </a:r>
            <a:r>
              <a:rPr lang="en-US" sz="1500" i="1" dirty="0">
                <a:solidFill>
                  <a:schemeClr val="bg1"/>
                </a:solidFill>
              </a:rPr>
              <a:t>ik zit </a:t>
            </a:r>
            <a:r>
              <a:rPr lang="en-US" sz="1500" b="1" i="1" dirty="0">
                <a:solidFill>
                  <a:schemeClr val="bg1"/>
                </a:solidFill>
              </a:rPr>
              <a:t>te</a:t>
            </a:r>
            <a:r>
              <a:rPr lang="en-US" sz="1500" i="1" dirty="0">
                <a:solidFill>
                  <a:schemeClr val="bg1"/>
                </a:solidFill>
              </a:rPr>
              <a:t> lezen</a:t>
            </a:r>
            <a:r>
              <a:rPr lang="en-US" sz="1500" dirty="0">
                <a:solidFill>
                  <a:schemeClr val="bg1"/>
                </a:solidFill>
              </a:rPr>
              <a:t>, et ce </a:t>
            </a:r>
            <a:r>
              <a:rPr lang="en-US" sz="1500" i="1" dirty="0">
                <a:solidFill>
                  <a:schemeClr val="bg1"/>
                </a:solidFill>
              </a:rPr>
              <a:t>te</a:t>
            </a:r>
            <a:r>
              <a:rPr lang="en-US" sz="1500" dirty="0">
                <a:solidFill>
                  <a:schemeClr val="bg1"/>
                </a:solidFill>
              </a:rPr>
              <a:t> disparaît au passé).</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modaux : moeten, kunnen, willen, mogen</a:t>
            </a:r>
            <a:endParaRPr lang="en-US" sz="3000" dirty="0"/>
          </a:p>
        </p:txBody>
      </p:sp>
      <p:sp>
        <p:nvSpPr>
          <p:cNvPr id="3" name="tag"/>
          <p:cNvSpPr/>
          <p:nvPr/>
        </p:nvSpPr>
        <p:spPr>
          <a:xfrm>
            <a:off x="548640" y="237744"/>
            <a:ext cx="1768450"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FAMILLE 1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2">
              <a:alpha val="10000"/>
            </a:schemeClr>
          </a:solidFill>
          <a:ln w="19050">
            <a:solidFill>
              <a:srgbClr val="2A6FB0"/>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moet</a:t>
            </a:r>
            <a:endParaRPr lang="en-US" sz="1600" dirty="0"/>
          </a:p>
        </p:txBody>
      </p:sp>
      <p:sp>
        <p:nvSpPr>
          <p:cNvPr id="11" name="Shape 8"/>
          <p:cNvSpPr/>
          <p:nvPr/>
        </p:nvSpPr>
        <p:spPr>
          <a:xfrm>
            <a:off x="2329072" y="1920240"/>
            <a:ext cx="1295551"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329072" y="192024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2"/>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gemoeten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0" name="Shape 17"/>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moeten</a:t>
            </a:r>
            <a:endParaRPr lang="en-US" sz="1600" dirty="0"/>
          </a:p>
        </p:txBody>
      </p:sp>
      <p:sp>
        <p:nvSpPr>
          <p:cNvPr id="22" name="Shape 19"/>
          <p:cNvSpPr/>
          <p:nvPr/>
        </p:nvSpPr>
        <p:spPr>
          <a:xfrm>
            <a:off x="3451297" y="3429000"/>
            <a:ext cx="1295551"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451297" y="3429000"/>
            <a:ext cx="1295551" cy="530352"/>
          </a:xfrm>
          <a:prstGeom prst="rect">
            <a:avLst/>
          </a:prstGeom>
          <a:noFill/>
          <a:ln/>
        </p:spPr>
        <p:txBody>
          <a:bodyPr wrap="square" lIns="0" tIns="0" rIns="0" bIns="0" rtlCol="0" anchor="ctr"/>
          <a:lstStyle/>
          <a:p>
            <a:pPr algn="ctr" indent="0" marL="0">
              <a:buNone/>
            </a:pPr>
            <a:r>
              <a:rPr lang="en-US" sz="1600" b="1" dirty="0">
                <a:solidFill>
                  <a:schemeClr val="accent6"/>
                </a:solidFill>
              </a:rPr>
              <a:t>werken.</a:t>
            </a:r>
            <a:endParaRPr lang="en-US" sz="1600" dirty="0"/>
          </a:p>
        </p:txBody>
      </p:sp>
      <p:sp>
        <p:nvSpPr>
          <p:cNvPr id="24" name="Shape 21"/>
          <p:cNvSpPr/>
          <p:nvPr/>
        </p:nvSpPr>
        <p:spPr>
          <a:xfrm>
            <a:off x="640080" y="4114800"/>
            <a:ext cx="4198208"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369001" y="3826764"/>
            <a:ext cx="82296" cy="914"/>
          </a:xfrm>
          <a:prstGeom prst="line">
            <a:avLst/>
          </a:prstGeom>
          <a:noFill/>
          <a:ln w="31750">
            <a:solidFill>
              <a:srgbClr val="1B2333"/>
            </a:solidFill>
            <a:prstDash val="solid"/>
          </a:ln>
        </p:spPr>
      </p:sp>
      <p:sp>
        <p:nvSpPr>
          <p:cNvPr id="32" name="Shape 29"/>
          <p:cNvSpPr/>
          <p:nvPr/>
        </p:nvSpPr>
        <p:spPr>
          <a:xfrm>
            <a:off x="3663166"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38867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hebben</a:t>
            </a:r>
            <a:r>
              <a:rPr lang="en-US" sz="1400" dirty="0">
                <a:solidFill>
                  <a:schemeClr val="tx1"/>
                </a:solidFill>
              </a:rPr>
              <a:t>, même avec un verbe de mouvement : </a:t>
            </a:r>
            <a:r>
              <a:rPr lang="en-US" sz="1400" i="1" dirty="0">
                <a:solidFill>
                  <a:schemeClr val="tx1"/>
                </a:solidFill>
              </a:rPr>
              <a:t>Ik </a:t>
            </a:r>
            <a:r>
              <a:rPr lang="en-US" sz="1400" b="1" i="1" dirty="0">
                <a:solidFill>
                  <a:schemeClr val="tx1"/>
                </a:solidFill>
              </a:rPr>
              <a:t>heb</a:t>
            </a:r>
            <a:r>
              <a:rPr lang="en-US" sz="1400" i="1" dirty="0">
                <a:solidFill>
                  <a:schemeClr val="tx1"/>
                </a:solidFill>
              </a:rPr>
              <a:t> naar huis moeten gaan.</a:t>
            </a:r>
            <a:r>
              <a:rPr lang="en-US" sz="1400" dirty="0">
                <a:solidFill>
                  <a:schemeClr val="tx1"/>
                </a:solidFill>
              </a:rPr>
              <a:t> (En Belgique, aussi : </a:t>
            </a:r>
            <a:r>
              <a:rPr lang="en-US" sz="1400" i="1" dirty="0">
                <a:solidFill>
                  <a:schemeClr val="tx1"/>
                </a:solidFill>
              </a:rPr>
              <a:t>Ik </a:t>
            </a:r>
            <a:r>
              <a:rPr lang="en-US" sz="1400" b="1" i="1" dirty="0">
                <a:solidFill>
                  <a:schemeClr val="tx1"/>
                </a:solidFill>
              </a:rPr>
              <a:t>ben</a:t>
            </a:r>
            <a:r>
              <a:rPr lang="en-US" sz="1400" i="1" dirty="0">
                <a:solidFill>
                  <a:schemeClr val="tx1"/>
                </a:solidFill>
              </a:rPr>
              <a:t> naar huis moeten gaan.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2"/>
          </a:solidFill>
          <a:ln w="12700">
            <a:solidFill>
              <a:srgbClr val="FFFFFF">
                <a:alpha val="0"/>
              </a:srgbClr>
            </a:solidFill>
            <a:prstDash val="solid"/>
          </a:ln>
        </p:spPr>
      </p:sp>
      <p:pic>
        <p:nvPicPr>
          <p:cNvPr id="37" name="Image 0" descr="briefcase">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moet lang werken.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lang </a:t>
            </a:r>
            <a:r>
              <a:rPr lang="en-US" sz="1800" b="1" i="1" dirty="0">
                <a:solidFill>
                  <a:srgbClr val="D9700F"/>
                </a:solidFill>
              </a:rPr>
              <a:t>moeten werken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dû travailler longtemps</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2"/>
          </a:solidFill>
          <a:ln w="12700">
            <a:solidFill>
              <a:srgbClr val="FFFFFF">
                <a:alpha val="0"/>
              </a:srgbClr>
            </a:solidFill>
            <a:prstDash val="solid"/>
          </a:ln>
        </p:spPr>
      </p:sp>
      <p:pic>
        <p:nvPicPr>
          <p:cNvPr id="43" name="Image 1" descr="no entry">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kan niet komen.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niet </a:t>
            </a:r>
            <a:r>
              <a:rPr lang="en-US" sz="1800" b="1" i="1" dirty="0">
                <a:solidFill>
                  <a:srgbClr val="D9700F"/>
                </a:solidFill>
              </a:rPr>
              <a:t>kunnen komen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n’ai pas pu venir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2"/>
          </a:solidFill>
          <a:ln w="12700">
            <a:solidFill>
              <a:srgbClr val="FFFFFF">
                <a:alpha val="0"/>
              </a:srgbClr>
            </a:solidFill>
            <a:prstDash val="solid"/>
          </a:ln>
        </p:spPr>
      </p:sp>
      <p:pic>
        <p:nvPicPr>
          <p:cNvPr id="49" name="Image 2" descr="handshake">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wil helpen.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willen helpen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voulu aider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2"/>
          </a:solidFill>
          <a:ln w="12700">
            <a:solidFill>
              <a:srgbClr val="FFFFFF">
                <a:alpha val="0"/>
              </a:srgbClr>
            </a:solidFill>
            <a:prstDash val="solid"/>
          </a:ln>
        </p:spPr>
      </p:sp>
      <p:pic>
        <p:nvPicPr>
          <p:cNvPr id="55" name="Image 3" descr="door">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mag vroeg vertrekken.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pu partir tôt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laten : faire faire</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FAMILLE 2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4">
              <a:alpha val="10000"/>
            </a:schemeClr>
          </a:solidFill>
          <a:ln w="19050">
            <a:solidFill>
              <a:srgbClr val="B4236A"/>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912118"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laat</a:t>
            </a:r>
            <a:endParaRPr lang="en-US" sz="1600" dirty="0"/>
          </a:p>
        </p:txBody>
      </p:sp>
      <p:sp>
        <p:nvSpPr>
          <p:cNvPr id="11" name="Shape 8"/>
          <p:cNvSpPr/>
          <p:nvPr/>
        </p:nvSpPr>
        <p:spPr>
          <a:xfrm>
            <a:off x="2329072"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329072"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13" name="Shape 10"/>
          <p:cNvSpPr/>
          <p:nvPr/>
        </p:nvSpPr>
        <p:spPr>
          <a:xfrm>
            <a:off x="3046327" y="1920240"/>
            <a:ext cx="1678985"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3046327" y="192024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4"/>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gelaten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het</a:t>
            </a:r>
            <a:endParaRPr lang="en-US" sz="1600" dirty="0"/>
          </a:p>
        </p:txBody>
      </p:sp>
      <p:sp>
        <p:nvSpPr>
          <p:cNvPr id="24" name="Shape 21"/>
          <p:cNvSpPr/>
          <p:nvPr/>
        </p:nvSpPr>
        <p:spPr>
          <a:xfrm>
            <a:off x="2918516" y="3429000"/>
            <a:ext cx="1039929"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1039929" cy="530352"/>
          </a:xfrm>
          <a:prstGeom prst="rect">
            <a:avLst/>
          </a:prstGeom>
          <a:noFill/>
          <a:ln/>
        </p:spPr>
        <p:txBody>
          <a:bodyPr wrap="square" lIns="0" tIns="0" rIns="0" bIns="0" rtlCol="0" anchor="ctr"/>
          <a:lstStyle/>
          <a:p>
            <a:pPr algn="ctr" indent="0" marL="0">
              <a:buNone/>
            </a:pPr>
            <a:r>
              <a:rPr lang="en-US" sz="1600" b="1" dirty="0">
                <a:solidFill>
                  <a:schemeClr val="bg1"/>
                </a:solidFill>
              </a:rPr>
              <a:t>laten</a:t>
            </a:r>
            <a:endParaRPr lang="en-US" sz="1600" dirty="0"/>
          </a:p>
        </p:txBody>
      </p:sp>
      <p:sp>
        <p:nvSpPr>
          <p:cNvPr id="26" name="Shape 23"/>
          <p:cNvSpPr/>
          <p:nvPr/>
        </p:nvSpPr>
        <p:spPr>
          <a:xfrm>
            <a:off x="4040741" y="3429000"/>
            <a:ext cx="1678985"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4040741" y="3429000"/>
            <a:ext cx="1678985" cy="530352"/>
          </a:xfrm>
          <a:prstGeom prst="rect">
            <a:avLst/>
          </a:prstGeom>
          <a:noFill/>
          <a:ln/>
        </p:spPr>
        <p:txBody>
          <a:bodyPr wrap="square" lIns="0" tIns="0" rIns="0" bIns="0" rtlCol="0" anchor="ctr"/>
          <a:lstStyle/>
          <a:p>
            <a:pPr algn="ctr" indent="0" marL="0">
              <a:buNone/>
            </a:pPr>
            <a:r>
              <a:rPr lang="en-US" sz="1600" b="1" dirty="0">
                <a:solidFill>
                  <a:schemeClr val="accent6"/>
                </a:solidFill>
              </a:rPr>
              <a:t>repareren.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74148"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656509"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958445" y="3826764"/>
            <a:ext cx="82296" cy="914"/>
          </a:xfrm>
          <a:prstGeom prst="line">
            <a:avLst/>
          </a:prstGeom>
          <a:noFill/>
          <a:ln w="31750">
            <a:solidFill>
              <a:srgbClr val="1B2333"/>
            </a:solidFill>
            <a:prstDash val="solid"/>
          </a:ln>
        </p:spPr>
      </p:sp>
      <p:sp>
        <p:nvSpPr>
          <p:cNvPr id="35" name="Shape 32"/>
          <p:cNvSpPr/>
          <p:nvPr/>
        </p:nvSpPr>
        <p:spPr>
          <a:xfrm>
            <a:off x="4336966"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77197"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i="1" dirty="0">
                <a:solidFill>
                  <a:schemeClr val="tx1"/>
                </a:solidFill>
              </a:rPr>
              <a:t>laten</a:t>
            </a:r>
            <a:r>
              <a:rPr lang="en-US" sz="1400" dirty="0">
                <a:solidFill>
                  <a:schemeClr val="tx1"/>
                </a:solidFill>
              </a:rPr>
              <a:t> + infinitif = </a:t>
            </a:r>
            <a:r>
              <a:rPr lang="en-US" sz="1400" b="1" dirty="0">
                <a:solidFill>
                  <a:schemeClr val="tx1"/>
                </a:solidFill>
              </a:rPr>
              <a:t>faire faire</a:t>
            </a:r>
            <a:r>
              <a:rPr lang="en-US" sz="1400" dirty="0">
                <a:solidFill>
                  <a:schemeClr val="tx1"/>
                </a:solidFill>
              </a:rPr>
              <a:t> ou </a:t>
            </a:r>
            <a:r>
              <a:rPr lang="en-US" sz="1400" b="1" dirty="0">
                <a:solidFill>
                  <a:schemeClr val="tx1"/>
                </a:solidFill>
              </a:rPr>
              <a:t>laisser faire</a:t>
            </a:r>
            <a:r>
              <a:rPr lang="en-US" sz="1400" dirty="0">
                <a:solidFill>
                  <a:schemeClr val="tx1"/>
                </a:solidFill>
              </a:rPr>
              <a:t>. Au passé : </a:t>
            </a:r>
            <a:r>
              <a:rPr lang="en-US" sz="1400" i="1" dirty="0">
                <a:solidFill>
                  <a:schemeClr val="tx1"/>
                </a:solidFill>
              </a:rPr>
              <a:t>laten</a:t>
            </a:r>
            <a:r>
              <a:rPr lang="en-US" sz="1400" dirty="0">
                <a:solidFill>
                  <a:schemeClr val="tx1"/>
                </a:solidFill>
              </a:rPr>
              <a:t>, jamais </a:t>
            </a:r>
            <a:r>
              <a:rPr lang="en-US" sz="1400" i="1" dirty="0">
                <a:solidFill>
                  <a:schemeClr val="tx1"/>
                </a:solidFill>
              </a:rPr>
              <a:t>gelaten</a:t>
            </a:r>
            <a:r>
              <a:rPr lang="en-US" sz="1400" dirty="0">
                <a:solidFill>
                  <a:schemeClr val="tx1"/>
                </a:solidFill>
              </a:rPr>
              <a:t> devant un infinitif.</a:t>
            </a:r>
            <a:endParaRPr lang="en-US" sz="1400" dirty="0"/>
          </a:p>
        </p:txBody>
      </p:sp>
      <p:sp>
        <p:nvSpPr>
          <p:cNvPr id="38" name="Shape 35"/>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06424"/>
          </a:xfrm>
          <a:prstGeom prst="rect">
            <a:avLst/>
          </a:prstGeom>
          <a:solidFill>
            <a:schemeClr val="accent4"/>
          </a:solidFill>
          <a:ln w="12700">
            <a:solidFill>
              <a:srgbClr val="FFFFFF">
                <a:alpha val="0"/>
              </a:srgbClr>
            </a:solidFill>
            <a:prstDash val="solid"/>
          </a:ln>
        </p:spPr>
      </p:sp>
      <p:pic>
        <p:nvPicPr>
          <p:cNvPr id="40" name="Image 0" descr="automobile">    </p:cNvPr>
          <p:cNvPicPr>
            <a:picLocks noChangeAspect="1"/>
          </p:cNvPicPr>
          <p:nvPr/>
        </p:nvPicPr>
        <p:blipFill>
          <a:blip r:embed="rId1"/>
          <a:stretch>
            <a:fillRect/>
          </a:stretch>
        </p:blipFill>
        <p:spPr>
          <a:xfrm>
            <a:off x="6382512" y="1627632"/>
            <a:ext cx="777240" cy="777240"/>
          </a:xfrm>
          <a:prstGeom prst="rect">
            <a:avLst/>
          </a:prstGeom>
        </p:spPr>
      </p:pic>
      <p:sp>
        <p:nvSpPr>
          <p:cNvPr id="41" name="Text 37"/>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auto repareren.</a:t>
            </a:r>
            <a:endParaRPr lang="en-US" sz="1400" dirty="0"/>
          </a:p>
        </p:txBody>
      </p:sp>
      <p:sp>
        <p:nvSpPr>
          <p:cNvPr id="42" name="Text 38"/>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auto </a:t>
            </a:r>
            <a:r>
              <a:rPr lang="en-US" sz="1800" b="1" i="1" dirty="0">
                <a:solidFill>
                  <a:srgbClr val="D9700F"/>
                </a:solidFill>
              </a:rPr>
              <a:t>laten repareren</a:t>
            </a:r>
            <a:r>
              <a:rPr lang="en-US" sz="1800" i="1" dirty="0">
                <a:solidFill>
                  <a:schemeClr val="tx1"/>
                </a:solidFill>
              </a:rPr>
              <a:t>.</a:t>
            </a:r>
            <a:endParaRPr lang="en-US" sz="1800" dirty="0"/>
          </a:p>
        </p:txBody>
      </p:sp>
      <p:sp>
        <p:nvSpPr>
          <p:cNvPr id="43" name="Text 39"/>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réparer ma voiture</a:t>
            </a:r>
            <a:endParaRPr lang="en-US" sz="1300" dirty="0"/>
          </a:p>
        </p:txBody>
      </p:sp>
      <p:sp>
        <p:nvSpPr>
          <p:cNvPr id="44" name="Shape 40"/>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679192"/>
            <a:ext cx="109728" cy="1106424"/>
          </a:xfrm>
          <a:prstGeom prst="rect">
            <a:avLst/>
          </a:prstGeom>
          <a:solidFill>
            <a:schemeClr val="accent4"/>
          </a:solidFill>
          <a:ln w="12700">
            <a:solidFill>
              <a:srgbClr val="FFFFFF">
                <a:alpha val="0"/>
              </a:srgbClr>
            </a:solidFill>
            <a:prstDash val="solid"/>
          </a:ln>
        </p:spPr>
      </p:sp>
      <p:pic>
        <p:nvPicPr>
          <p:cNvPr id="46" name="Image 1" descr="person getting haircut">    </p:cNvPr>
          <p:cNvPicPr>
            <a:picLocks noChangeAspect="1"/>
          </p:cNvPicPr>
          <p:nvPr/>
        </p:nvPicPr>
        <p:blipFill>
          <a:blip r:embed="rId2"/>
          <a:stretch>
            <a:fillRect/>
          </a:stretch>
        </p:blipFill>
        <p:spPr>
          <a:xfrm>
            <a:off x="6382512" y="2843784"/>
            <a:ext cx="777240" cy="777240"/>
          </a:xfrm>
          <a:prstGeom prst="rect">
            <a:avLst/>
          </a:prstGeom>
        </p:spPr>
      </p:pic>
      <p:sp>
        <p:nvSpPr>
          <p:cNvPr id="47" name="Text 42"/>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laat haar haar knippen.</a:t>
            </a:r>
            <a:endParaRPr lang="en-US" sz="1400" dirty="0"/>
          </a:p>
        </p:txBody>
      </p:sp>
      <p:sp>
        <p:nvSpPr>
          <p:cNvPr id="48" name="Text 43"/>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haar haar </a:t>
            </a:r>
            <a:r>
              <a:rPr lang="en-US" sz="1800" b="1" i="1" dirty="0">
                <a:solidFill>
                  <a:srgbClr val="D9700F"/>
                </a:solidFill>
              </a:rPr>
              <a:t>laten knippen</a:t>
            </a:r>
            <a:r>
              <a:rPr lang="en-US" sz="1800" i="1" dirty="0">
                <a:solidFill>
                  <a:schemeClr val="tx1"/>
                </a:solidFill>
              </a:rPr>
              <a:t>.</a:t>
            </a:r>
            <a:endParaRPr lang="en-US" sz="1800" dirty="0"/>
          </a:p>
        </p:txBody>
      </p:sp>
      <p:sp>
        <p:nvSpPr>
          <p:cNvPr id="49" name="Text 44"/>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s’est fait couper les cheveux</a:t>
            </a:r>
            <a:endParaRPr lang="en-US" sz="1300" dirty="0"/>
          </a:p>
        </p:txBody>
      </p:sp>
      <p:sp>
        <p:nvSpPr>
          <p:cNvPr id="50" name="Shape 45"/>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895344"/>
            <a:ext cx="109728" cy="1106424"/>
          </a:xfrm>
          <a:prstGeom prst="rect">
            <a:avLst/>
          </a:prstGeom>
          <a:solidFill>
            <a:schemeClr val="accent4"/>
          </a:solidFill>
          <a:ln w="12700">
            <a:solidFill>
              <a:srgbClr val="FFFFFF">
                <a:alpha val="0"/>
              </a:srgbClr>
            </a:solidFill>
            <a:prstDash val="solid"/>
          </a:ln>
        </p:spPr>
      </p:sp>
      <p:pic>
        <p:nvPicPr>
          <p:cNvPr id="52" name="Image 2" descr="hourglass not done">    </p:cNvPr>
          <p:cNvPicPr>
            <a:picLocks noChangeAspect="1"/>
          </p:cNvPicPr>
          <p:nvPr/>
        </p:nvPicPr>
        <p:blipFill>
          <a:blip r:embed="rId3"/>
          <a:stretch>
            <a:fillRect/>
          </a:stretch>
        </p:blipFill>
        <p:spPr>
          <a:xfrm>
            <a:off x="6382512" y="4059936"/>
            <a:ext cx="777240" cy="777240"/>
          </a:xfrm>
          <a:prstGeom prst="rect">
            <a:avLst/>
          </a:prstGeom>
        </p:spPr>
      </p:pic>
      <p:sp>
        <p:nvSpPr>
          <p:cNvPr id="53" name="Text 47"/>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de klant wachten.</a:t>
            </a:r>
            <a:endParaRPr lang="en-US" sz="1400" dirty="0"/>
          </a:p>
        </p:txBody>
      </p:sp>
      <p:sp>
        <p:nvSpPr>
          <p:cNvPr id="54" name="Text 48"/>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klant </a:t>
            </a:r>
            <a:r>
              <a:rPr lang="en-US" sz="1800" b="1" i="1" dirty="0">
                <a:solidFill>
                  <a:srgbClr val="D9700F"/>
                </a:solidFill>
              </a:rPr>
              <a:t>laten wachten</a:t>
            </a:r>
            <a:r>
              <a:rPr lang="en-US" sz="1800" i="1" dirty="0">
                <a:solidFill>
                  <a:schemeClr val="tx1"/>
                </a:solidFill>
              </a:rPr>
              <a:t>.</a:t>
            </a:r>
            <a:endParaRPr lang="en-US" sz="1800" dirty="0"/>
          </a:p>
        </p:txBody>
      </p:sp>
      <p:sp>
        <p:nvSpPr>
          <p:cNvPr id="55" name="Text 49"/>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fait attendre le client</a:t>
            </a:r>
            <a:endParaRPr lang="en-US" sz="1300" dirty="0"/>
          </a:p>
        </p:txBody>
      </p:sp>
      <p:sp>
        <p:nvSpPr>
          <p:cNvPr id="56" name="Shape 50"/>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7" name="Shape 51"/>
          <p:cNvSpPr/>
          <p:nvPr/>
        </p:nvSpPr>
        <p:spPr>
          <a:xfrm>
            <a:off x="6126480" y="5111496"/>
            <a:ext cx="109728" cy="1106424"/>
          </a:xfrm>
          <a:prstGeom prst="rect">
            <a:avLst/>
          </a:prstGeom>
          <a:solidFill>
            <a:schemeClr val="accent4"/>
          </a:solidFill>
          <a:ln w="12700">
            <a:solidFill>
              <a:srgbClr val="FFFFFF">
                <a:alpha val="0"/>
              </a:srgbClr>
            </a:solidFill>
            <a:prstDash val="solid"/>
          </a:ln>
        </p:spPr>
      </p:sp>
      <p:pic>
        <p:nvPicPr>
          <p:cNvPr id="58" name="Image 3" descr="mobile phone">    </p:cNvPr>
          <p:cNvPicPr>
            <a:picLocks noChangeAspect="1"/>
          </p:cNvPicPr>
          <p:nvPr/>
        </p:nvPicPr>
        <p:blipFill>
          <a:blip r:embed="rId4"/>
          <a:stretch>
            <a:fillRect/>
          </a:stretch>
        </p:blipFill>
        <p:spPr>
          <a:xfrm>
            <a:off x="6382512" y="5276088"/>
            <a:ext cx="777240" cy="777240"/>
          </a:xfrm>
          <a:prstGeom prst="rect">
            <a:avLst/>
          </a:prstGeom>
        </p:spPr>
      </p:pic>
      <p:sp>
        <p:nvSpPr>
          <p:cNvPr id="59" name="Text 52"/>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laat mijn gsm vallen.</a:t>
            </a:r>
            <a:endParaRPr lang="en-US" sz="1400" dirty="0"/>
          </a:p>
        </p:txBody>
      </p:sp>
      <p:sp>
        <p:nvSpPr>
          <p:cNvPr id="60" name="Text 53"/>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mijn gsm </a:t>
            </a:r>
            <a:r>
              <a:rPr lang="en-US" sz="1800" b="1" i="1" dirty="0">
                <a:solidFill>
                  <a:srgbClr val="D9700F"/>
                </a:solidFill>
              </a:rPr>
              <a:t>laten vallen</a:t>
            </a:r>
            <a:r>
              <a:rPr lang="en-US" sz="1800" i="1" dirty="0">
                <a:solidFill>
                  <a:schemeClr val="tx1"/>
                </a:solidFill>
              </a:rPr>
              <a:t>.</a:t>
            </a:r>
            <a:endParaRPr lang="en-US" sz="1800" dirty="0"/>
          </a:p>
        </p:txBody>
      </p:sp>
      <p:sp>
        <p:nvSpPr>
          <p:cNvPr id="61" name="Text 54"/>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laissé tomber mon GSM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gaan, komen, blijven : avec zijn !</a:t>
            </a:r>
            <a:endParaRPr lang="en-US" sz="3000" dirty="0"/>
          </a:p>
        </p:txBody>
      </p:sp>
      <p:sp>
        <p:nvSpPr>
          <p:cNvPr id="3" name="tag"/>
          <p:cNvSpPr/>
          <p:nvPr/>
        </p:nvSpPr>
        <p:spPr>
          <a:xfrm>
            <a:off x="548640" y="237744"/>
            <a:ext cx="1768450"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FAMILLE 3 / 5</a:t>
            </a:r>
            <a:endParaRPr lang="en-US" sz="1200" dirty="0"/>
          </a:p>
        </p:txBody>
      </p:sp>
      <p:sp>
        <p:nvSpPr>
          <p:cNvPr id="5" name="Shape 2"/>
          <p:cNvSpPr/>
          <p:nvPr/>
        </p:nvSpPr>
        <p:spPr>
          <a:xfrm>
            <a:off x="548640" y="1463040"/>
            <a:ext cx="5349240" cy="4069080"/>
          </a:xfrm>
          <a:prstGeom prst="roundRect">
            <a:avLst>
              <a:gd name="adj" fmla="val 2697"/>
            </a:avLst>
          </a:prstGeom>
          <a:solidFill>
            <a:schemeClr val="accent3">
              <a:alpha val="10000"/>
            </a:schemeClr>
          </a:solidFill>
          <a:ln w="19050">
            <a:solidFill>
              <a:srgbClr val="2E7D4F"/>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656495"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656495" cy="530352"/>
          </a:xfrm>
          <a:prstGeom prst="rect">
            <a:avLst/>
          </a:prstGeom>
          <a:noFill/>
          <a:ln/>
        </p:spPr>
        <p:txBody>
          <a:bodyPr wrap="square" lIns="0" tIns="0" rIns="0" bIns="0" rtlCol="0" anchor="ctr"/>
          <a:lstStyle/>
          <a:p>
            <a:pPr algn="ctr" indent="0" marL="0">
              <a:buNone/>
            </a:pPr>
            <a:r>
              <a:rPr lang="en-US" sz="1600" b="1" dirty="0">
                <a:solidFill>
                  <a:schemeClr val="bg1"/>
                </a:solidFill>
              </a:rPr>
              <a:t>ga</a:t>
            </a:r>
            <a:endParaRPr lang="en-US" sz="1600" dirty="0"/>
          </a:p>
        </p:txBody>
      </p:sp>
      <p:sp>
        <p:nvSpPr>
          <p:cNvPr id="11" name="Shape 8"/>
          <p:cNvSpPr/>
          <p:nvPr/>
        </p:nvSpPr>
        <p:spPr>
          <a:xfrm>
            <a:off x="2073450" y="1920240"/>
            <a:ext cx="1423362" cy="530352"/>
          </a:xfrm>
          <a:prstGeom prst="roundRect">
            <a:avLst>
              <a:gd name="adj" fmla="val 17241"/>
            </a:avLst>
          </a:prstGeom>
          <a:solidFill>
            <a:srgbClr val="FBEDEB"/>
          </a:solidFill>
          <a:ln w="25400">
            <a:solidFill>
              <a:srgbClr val="B83227"/>
            </a:solidFill>
            <a:prstDash val="solid"/>
          </a:ln>
        </p:spPr>
      </p:sp>
      <p:sp>
        <p:nvSpPr>
          <p:cNvPr id="12" name="Text 9"/>
          <p:cNvSpPr txBox="1"/>
          <p:nvPr/>
        </p:nvSpPr>
        <p:spPr>
          <a:xfrm>
            <a:off x="2073450" y="192024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13" name="Text 10"/>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4" name="Text 11"/>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chemeClr val="accent3"/>
                </a:solidFill>
              </a:rPr>
              <a:t>PASSÉ COMPOSÉ</a:t>
            </a:r>
            <a:endParaRPr lang="en-US" sz="1200" dirty="0"/>
          </a:p>
        </p:txBody>
      </p:sp>
      <p:sp>
        <p:nvSpPr>
          <p:cNvPr id="15" name="Text 12"/>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gegaan</a:t>
            </a:r>
            <a:r>
              <a:rPr lang="en-US" sz="1300" dirty="0">
                <a:solidFill>
                  <a:schemeClr val="accent6"/>
                </a:solidFill>
              </a:rPr>
              <a:t> !</a:t>
            </a:r>
            <a:endParaRPr lang="en-US" sz="1300" dirty="0"/>
          </a:p>
        </p:txBody>
      </p:sp>
      <p:sp>
        <p:nvSpPr>
          <p:cNvPr id="16" name="Shape 13"/>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7" name="Text 14"/>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8" name="Shape 15"/>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19" name="Text 16"/>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ben</a:t>
            </a:r>
            <a:endParaRPr lang="en-US" sz="1600" dirty="0"/>
          </a:p>
        </p:txBody>
      </p:sp>
      <p:sp>
        <p:nvSpPr>
          <p:cNvPr id="20" name="Shape 17"/>
          <p:cNvSpPr/>
          <p:nvPr/>
        </p:nvSpPr>
        <p:spPr>
          <a:xfrm>
            <a:off x="2201261"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1" name="Text 18"/>
          <p:cNvSpPr txBox="1"/>
          <p:nvPr/>
        </p:nvSpPr>
        <p:spPr>
          <a:xfrm>
            <a:off x="2201261"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gaan</a:t>
            </a:r>
            <a:endParaRPr lang="en-US" sz="1600" dirty="0"/>
          </a:p>
        </p:txBody>
      </p:sp>
      <p:sp>
        <p:nvSpPr>
          <p:cNvPr id="22" name="Shape 19"/>
          <p:cNvSpPr/>
          <p:nvPr/>
        </p:nvSpPr>
        <p:spPr>
          <a:xfrm>
            <a:off x="3195674" y="3429000"/>
            <a:ext cx="1423362" cy="530352"/>
          </a:xfrm>
          <a:prstGeom prst="roundRect">
            <a:avLst>
              <a:gd name="adj" fmla="val 17241"/>
            </a:avLst>
          </a:prstGeom>
          <a:solidFill>
            <a:srgbClr val="FBEDEB"/>
          </a:solidFill>
          <a:ln w="25400">
            <a:solidFill>
              <a:srgbClr val="B83227"/>
            </a:solidFill>
            <a:prstDash val="solid"/>
          </a:ln>
        </p:spPr>
      </p:sp>
      <p:sp>
        <p:nvSpPr>
          <p:cNvPr id="23" name="Text 20"/>
          <p:cNvSpPr txBox="1"/>
          <p:nvPr/>
        </p:nvSpPr>
        <p:spPr>
          <a:xfrm>
            <a:off x="3195674" y="3429000"/>
            <a:ext cx="1423362" cy="530352"/>
          </a:xfrm>
          <a:prstGeom prst="rect">
            <a:avLst/>
          </a:prstGeom>
          <a:noFill/>
          <a:ln/>
        </p:spPr>
        <p:txBody>
          <a:bodyPr wrap="square" lIns="0" tIns="0" rIns="0" bIns="0" rtlCol="0" anchor="ctr"/>
          <a:lstStyle/>
          <a:p>
            <a:pPr algn="ctr" indent="0" marL="0">
              <a:buNone/>
            </a:pPr>
            <a:r>
              <a:rPr lang="en-US" sz="1600" b="1" dirty="0">
                <a:solidFill>
                  <a:schemeClr val="accent6"/>
                </a:solidFill>
              </a:rPr>
              <a:t>zwemmen.</a:t>
            </a:r>
            <a:endParaRPr lang="en-US" sz="1600" dirty="0"/>
          </a:p>
        </p:txBody>
      </p:sp>
      <p:sp>
        <p:nvSpPr>
          <p:cNvPr id="24" name="Shape 21"/>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5" name="Shape 22"/>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6" name="Shape 23"/>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8" name="Shape 25"/>
          <p:cNvSpPr/>
          <p:nvPr/>
        </p:nvSpPr>
        <p:spPr>
          <a:xfrm>
            <a:off x="2118965" y="3826764"/>
            <a:ext cx="82296" cy="914"/>
          </a:xfrm>
          <a:prstGeom prst="line">
            <a:avLst/>
          </a:prstGeom>
          <a:noFill/>
          <a:ln w="31750">
            <a:solidFill>
              <a:srgbClr val="1B2333"/>
            </a:solidFill>
            <a:prstDash val="solid"/>
          </a:ln>
        </p:spPr>
      </p:sp>
      <p:sp>
        <p:nvSpPr>
          <p:cNvPr id="29" name="Shape 26"/>
          <p:cNvSpPr/>
          <p:nvPr/>
        </p:nvSpPr>
        <p:spPr>
          <a:xfrm>
            <a:off x="2328775"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2839560"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113378" y="3826764"/>
            <a:ext cx="82296" cy="914"/>
          </a:xfrm>
          <a:prstGeom prst="line">
            <a:avLst/>
          </a:prstGeom>
          <a:noFill/>
          <a:ln w="31750">
            <a:solidFill>
              <a:srgbClr val="1B2333"/>
            </a:solidFill>
            <a:prstDash val="solid"/>
          </a:ln>
        </p:spPr>
      </p:sp>
      <p:sp>
        <p:nvSpPr>
          <p:cNvPr id="32" name="Shape 29"/>
          <p:cNvSpPr/>
          <p:nvPr/>
        </p:nvSpPr>
        <p:spPr>
          <a:xfrm>
            <a:off x="3435662"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4232745" y="3968496"/>
            <a:ext cx="146304" cy="146304"/>
          </a:xfrm>
          <a:prstGeom prst="ellipse">
            <a:avLst/>
          </a:prstGeom>
          <a:solidFill>
            <a:srgbClr val="1B2333"/>
          </a:solidFill>
          <a:ln w="12700">
            <a:solidFill>
              <a:srgbClr val="FFFFFF">
                <a:alpha val="0"/>
              </a:srgbClr>
            </a:solidFill>
            <a:prstDash val="solid"/>
          </a:ln>
        </p:spPr>
      </p:sp>
      <p:sp>
        <p:nvSpPr>
          <p:cNvPr id="34" name="Text 31"/>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Auxiliaire : </a:t>
            </a:r>
            <a:r>
              <a:rPr lang="en-US" sz="1400" b="1" dirty="0">
                <a:solidFill>
                  <a:schemeClr val="tx1"/>
                </a:solidFill>
              </a:rPr>
              <a:t>zijn</a:t>
            </a:r>
            <a:r>
              <a:rPr lang="en-US" sz="1400" dirty="0">
                <a:solidFill>
                  <a:schemeClr val="tx1"/>
                </a:solidFill>
              </a:rPr>
              <a:t>, comme pour </a:t>
            </a:r>
            <a:r>
              <a:rPr lang="en-US" sz="1400" i="1" dirty="0">
                <a:solidFill>
                  <a:schemeClr val="tx1"/>
                </a:solidFill>
              </a:rPr>
              <a:t>gaan, komen, blijven</a:t>
            </a:r>
            <a:r>
              <a:rPr lang="en-US" sz="1400" dirty="0">
                <a:solidFill>
                  <a:schemeClr val="tx1"/>
                </a:solidFill>
              </a:rPr>
              <a:t> seuls : </a:t>
            </a:r>
            <a:r>
              <a:rPr lang="en-US" sz="1400" i="1" dirty="0">
                <a:solidFill>
                  <a:schemeClr val="tx1"/>
                </a:solidFill>
              </a:rPr>
              <a:t>ik ben gegaan → ik ben gaan zwemmen</a:t>
            </a:r>
            <a:r>
              <a:rPr lang="en-US" sz="1400" dirty="0">
                <a:solidFill>
                  <a:schemeClr val="tx1"/>
                </a:solidFill>
              </a:rPr>
              <a:t>.</a:t>
            </a:r>
            <a:endParaRPr lang="en-US" sz="1400" dirty="0"/>
          </a:p>
        </p:txBody>
      </p:sp>
      <p:sp>
        <p:nvSpPr>
          <p:cNvPr id="35" name="Shape 32"/>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6126480" y="1463040"/>
            <a:ext cx="109728" cy="1106424"/>
          </a:xfrm>
          <a:prstGeom prst="rect">
            <a:avLst/>
          </a:prstGeom>
          <a:solidFill>
            <a:schemeClr val="accent3"/>
          </a:solidFill>
          <a:ln w="12700">
            <a:solidFill>
              <a:srgbClr val="FFFFFF">
                <a:alpha val="0"/>
              </a:srgbClr>
            </a:solidFill>
            <a:prstDash val="solid"/>
          </a:ln>
        </p:spPr>
      </p:sp>
      <p:pic>
        <p:nvPicPr>
          <p:cNvPr id="37" name="Image 0" descr="person swimming">    </p:cNvPr>
          <p:cNvPicPr>
            <a:picLocks noChangeAspect="1"/>
          </p:cNvPicPr>
          <p:nvPr/>
        </p:nvPicPr>
        <p:blipFill>
          <a:blip r:embed="rId1"/>
          <a:stretch>
            <a:fillRect/>
          </a:stretch>
        </p:blipFill>
        <p:spPr>
          <a:xfrm>
            <a:off x="6382512" y="1627632"/>
            <a:ext cx="777240" cy="777240"/>
          </a:xfrm>
          <a:prstGeom prst="rect">
            <a:avLst/>
          </a:prstGeom>
        </p:spPr>
      </p:pic>
      <p:sp>
        <p:nvSpPr>
          <p:cNvPr id="38" name="Text 34"/>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ga zwemmen.</a:t>
            </a:r>
            <a:endParaRPr lang="en-US" sz="1400" dirty="0"/>
          </a:p>
        </p:txBody>
      </p:sp>
      <p:sp>
        <p:nvSpPr>
          <p:cNvPr id="39" name="Text 35"/>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ben </a:t>
            </a:r>
            <a:r>
              <a:rPr lang="en-US" sz="1800" b="1" i="1" dirty="0">
                <a:solidFill>
                  <a:srgbClr val="D9700F"/>
                </a:solidFill>
              </a:rPr>
              <a:t>gaan zwemmen</a:t>
            </a:r>
            <a:r>
              <a:rPr lang="en-US" sz="1800" i="1" dirty="0">
                <a:solidFill>
                  <a:schemeClr val="tx1"/>
                </a:solidFill>
              </a:rPr>
              <a:t>.</a:t>
            </a:r>
            <a:endParaRPr lang="en-US" sz="1800" dirty="0"/>
          </a:p>
        </p:txBody>
      </p:sp>
      <p:sp>
        <p:nvSpPr>
          <p:cNvPr id="40" name="Text 36"/>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je suis allé·e nager</a:t>
            </a:r>
            <a:endParaRPr lang="en-US" sz="1300" dirty="0"/>
          </a:p>
        </p:txBody>
      </p:sp>
      <p:sp>
        <p:nvSpPr>
          <p:cNvPr id="41" name="Shape 37"/>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Shape 38"/>
          <p:cNvSpPr/>
          <p:nvPr/>
        </p:nvSpPr>
        <p:spPr>
          <a:xfrm>
            <a:off x="6126480" y="2679192"/>
            <a:ext cx="109728" cy="1106424"/>
          </a:xfrm>
          <a:prstGeom prst="rect">
            <a:avLst/>
          </a:prstGeom>
          <a:solidFill>
            <a:schemeClr val="accent3"/>
          </a:solidFill>
          <a:ln w="12700">
            <a:solidFill>
              <a:srgbClr val="FFFFFF">
                <a:alpha val="0"/>
              </a:srgbClr>
            </a:solidFill>
            <a:prstDash val="solid"/>
          </a:ln>
        </p:spPr>
      </p:sp>
      <p:pic>
        <p:nvPicPr>
          <p:cNvPr id="43" name="Image 1" descr="fork and knife with plate">    </p:cNvPr>
          <p:cNvPicPr>
            <a:picLocks noChangeAspect="1"/>
          </p:cNvPicPr>
          <p:nvPr/>
        </p:nvPicPr>
        <p:blipFill>
          <a:blip r:embed="rId2"/>
          <a:stretch>
            <a:fillRect/>
          </a:stretch>
        </p:blipFill>
        <p:spPr>
          <a:xfrm>
            <a:off x="6382512" y="2843784"/>
            <a:ext cx="777240" cy="777240"/>
          </a:xfrm>
          <a:prstGeom prst="rect">
            <a:avLst/>
          </a:prstGeom>
        </p:spPr>
      </p:pic>
      <p:sp>
        <p:nvSpPr>
          <p:cNvPr id="44" name="Text 39"/>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komen eten.</a:t>
            </a:r>
            <a:endParaRPr lang="en-US" sz="1400" dirty="0"/>
          </a:p>
        </p:txBody>
      </p:sp>
      <p:sp>
        <p:nvSpPr>
          <p:cNvPr id="45" name="Text 40"/>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zijn </a:t>
            </a:r>
            <a:r>
              <a:rPr lang="en-US" sz="1800" b="1" i="1" dirty="0">
                <a:solidFill>
                  <a:srgbClr val="D9700F"/>
                </a:solidFill>
              </a:rPr>
              <a:t>komen eten</a:t>
            </a:r>
            <a:r>
              <a:rPr lang="en-US" sz="1800" i="1" dirty="0">
                <a:solidFill>
                  <a:schemeClr val="tx1"/>
                </a:solidFill>
              </a:rPr>
              <a:t>.</a:t>
            </a:r>
            <a:endParaRPr lang="en-US" sz="1800" dirty="0"/>
          </a:p>
        </p:txBody>
      </p:sp>
      <p:sp>
        <p:nvSpPr>
          <p:cNvPr id="46" name="Text 41"/>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ils / elles sont venu·es manger</a:t>
            </a:r>
            <a:endParaRPr lang="en-US" sz="1300" dirty="0"/>
          </a:p>
        </p:txBody>
      </p:sp>
      <p:sp>
        <p:nvSpPr>
          <p:cNvPr id="47" name="Shape 42"/>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6126480" y="3895344"/>
            <a:ext cx="109728" cy="1106424"/>
          </a:xfrm>
          <a:prstGeom prst="rect">
            <a:avLst/>
          </a:prstGeom>
          <a:solidFill>
            <a:schemeClr val="accent3"/>
          </a:solidFill>
          <a:ln w="12700">
            <a:solidFill>
              <a:srgbClr val="FFFFFF">
                <a:alpha val="0"/>
              </a:srgbClr>
            </a:solidFill>
            <a:prstDash val="solid"/>
          </a:ln>
        </p:spPr>
      </p:sp>
      <p:pic>
        <p:nvPicPr>
          <p:cNvPr id="49" name="Image 2" descr="bed">    </p:cNvPr>
          <p:cNvPicPr>
            <a:picLocks noChangeAspect="1"/>
          </p:cNvPicPr>
          <p:nvPr/>
        </p:nvPicPr>
        <p:blipFill>
          <a:blip r:embed="rId3"/>
          <a:stretch>
            <a:fillRect/>
          </a:stretch>
        </p:blipFill>
        <p:spPr>
          <a:xfrm>
            <a:off x="6382512" y="4059936"/>
            <a:ext cx="777240" cy="777240"/>
          </a:xfrm>
          <a:prstGeom prst="rect">
            <a:avLst/>
          </a:prstGeom>
        </p:spPr>
      </p:pic>
      <p:sp>
        <p:nvSpPr>
          <p:cNvPr id="50" name="Text 44"/>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blijft slapen.</a:t>
            </a:r>
            <a:endParaRPr lang="en-US" sz="1400" dirty="0"/>
          </a:p>
        </p:txBody>
      </p:sp>
      <p:sp>
        <p:nvSpPr>
          <p:cNvPr id="51" name="Text 45"/>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is </a:t>
            </a:r>
            <a:r>
              <a:rPr lang="en-US" sz="1800" b="1" i="1" dirty="0">
                <a:solidFill>
                  <a:srgbClr val="D9700F"/>
                </a:solidFill>
              </a:rPr>
              <a:t>blijven slapen</a:t>
            </a:r>
            <a:r>
              <a:rPr lang="en-US" sz="1800" i="1" dirty="0">
                <a:solidFill>
                  <a:schemeClr val="tx1"/>
                </a:solidFill>
              </a:rPr>
              <a:t>.</a:t>
            </a:r>
            <a:endParaRPr lang="en-US" sz="1800" dirty="0"/>
          </a:p>
        </p:txBody>
      </p:sp>
      <p:sp>
        <p:nvSpPr>
          <p:cNvPr id="52" name="Text 46"/>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est resté dormir</a:t>
            </a:r>
            <a:endParaRPr lang="en-US" sz="1300" dirty="0"/>
          </a:p>
        </p:txBody>
      </p:sp>
      <p:sp>
        <p:nvSpPr>
          <p:cNvPr id="53" name="Shape 47"/>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Shape 48"/>
          <p:cNvSpPr/>
          <p:nvPr/>
        </p:nvSpPr>
        <p:spPr>
          <a:xfrm>
            <a:off x="6126480" y="5111496"/>
            <a:ext cx="109728" cy="1106424"/>
          </a:xfrm>
          <a:prstGeom prst="rect">
            <a:avLst/>
          </a:prstGeom>
          <a:solidFill>
            <a:schemeClr val="accent3"/>
          </a:solidFill>
          <a:ln w="12700">
            <a:solidFill>
              <a:srgbClr val="FFFFFF">
                <a:alpha val="0"/>
              </a:srgbClr>
            </a:solidFill>
            <a:prstDash val="solid"/>
          </a:ln>
        </p:spPr>
      </p:sp>
      <p:pic>
        <p:nvPicPr>
          <p:cNvPr id="55" name="Image 3" descr="shopping cart">    </p:cNvPr>
          <p:cNvPicPr>
            <a:picLocks noChangeAspect="1"/>
          </p:cNvPicPr>
          <p:nvPr/>
        </p:nvPicPr>
        <p:blipFill>
          <a:blip r:embed="rId4"/>
          <a:stretch>
            <a:fillRect/>
          </a:stretch>
        </p:blipFill>
        <p:spPr>
          <a:xfrm>
            <a:off x="6382512" y="5276088"/>
            <a:ext cx="777240" cy="777240"/>
          </a:xfrm>
          <a:prstGeom prst="rect">
            <a:avLst/>
          </a:prstGeom>
        </p:spPr>
      </p:pic>
      <p:sp>
        <p:nvSpPr>
          <p:cNvPr id="56" name="Text 49"/>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We gaan winkelen.</a:t>
            </a:r>
            <a:endParaRPr lang="en-US" sz="1400" dirty="0"/>
          </a:p>
        </p:txBody>
      </p:sp>
      <p:sp>
        <p:nvSpPr>
          <p:cNvPr id="57" name="Text 50"/>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We zijn </a:t>
            </a:r>
            <a:r>
              <a:rPr lang="en-US" sz="1800" b="1" i="1" dirty="0">
                <a:solidFill>
                  <a:srgbClr val="D9700F"/>
                </a:solidFill>
              </a:rPr>
              <a:t>gaan winkelen</a:t>
            </a:r>
            <a:r>
              <a:rPr lang="en-US" sz="1800" i="1" dirty="0">
                <a:solidFill>
                  <a:schemeClr val="tx1"/>
                </a:solidFill>
              </a:rPr>
              <a:t>.</a:t>
            </a:r>
            <a:endParaRPr lang="en-US" sz="1800" dirty="0"/>
          </a:p>
        </p:txBody>
      </p:sp>
      <p:sp>
        <p:nvSpPr>
          <p:cNvPr id="58" name="Text 51"/>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nous sommes allé·es faire du shopping</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zitten, staan, liggen, lopen : le te disparaît</a:t>
            </a:r>
            <a:endParaRPr lang="en-US" sz="3000" dirty="0"/>
          </a:p>
        </p:txBody>
      </p:sp>
      <p:sp>
        <p:nvSpPr>
          <p:cNvPr id="3" name="tag"/>
          <p:cNvSpPr/>
          <p:nvPr/>
        </p:nvSpPr>
        <p:spPr>
          <a:xfrm>
            <a:off x="548640" y="237744"/>
            <a:ext cx="1768450"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FAMILLE 4 / 5</a:t>
            </a:r>
            <a:endParaRPr lang="en-US" sz="1200" dirty="0"/>
          </a:p>
        </p:txBody>
      </p:sp>
      <p:sp>
        <p:nvSpPr>
          <p:cNvPr id="5" name="Shape 2"/>
          <p:cNvSpPr/>
          <p:nvPr/>
        </p:nvSpPr>
        <p:spPr>
          <a:xfrm>
            <a:off x="548640" y="1463040"/>
            <a:ext cx="5349240" cy="4069080"/>
          </a:xfrm>
          <a:prstGeom prst="roundRect">
            <a:avLst>
              <a:gd name="adj" fmla="val 2697"/>
            </a:avLst>
          </a:prstGeom>
          <a:solidFill>
            <a:srgbClr val="6E4A9E">
              <a:alpha val="10000"/>
            </a:srgbClr>
          </a:solidFill>
          <a:ln w="19050">
            <a:solidFill>
              <a:srgbClr val="6E4A9E"/>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zit</a:t>
            </a:r>
            <a:endParaRPr lang="en-US" sz="1600" dirty="0"/>
          </a:p>
        </p:txBody>
      </p:sp>
      <p:sp>
        <p:nvSpPr>
          <p:cNvPr id="11" name="Text 8"/>
          <p:cNvSpPr txBox="1"/>
          <p:nvPr/>
        </p:nvSpPr>
        <p:spPr>
          <a:xfrm>
            <a:off x="2201261" y="1920240"/>
            <a:ext cx="656495" cy="530352"/>
          </a:xfrm>
          <a:prstGeom prst="rect">
            <a:avLst/>
          </a:prstGeom>
          <a:noFill/>
          <a:ln/>
        </p:spPr>
        <p:txBody>
          <a:bodyPr wrap="square" lIns="0" tIns="0" rIns="0" bIns="0" rtlCol="0" anchor="ctr"/>
          <a:lstStyle/>
          <a:p>
            <a:pPr algn="ctr" indent="0" marL="0">
              <a:buNone/>
            </a:pPr>
            <a:r>
              <a:rPr lang="en-US" sz="1600" b="1" dirty="0">
                <a:solidFill>
                  <a:schemeClr val="accent5"/>
                </a:solidFill>
              </a:rPr>
              <a:t>te</a:t>
            </a:r>
            <a:endParaRPr lang="en-US" sz="1600" dirty="0"/>
          </a:p>
        </p:txBody>
      </p:sp>
      <p:sp>
        <p:nvSpPr>
          <p:cNvPr id="12" name="Shape 9"/>
          <p:cNvSpPr/>
          <p:nvPr/>
        </p:nvSpPr>
        <p:spPr>
          <a:xfrm>
            <a:off x="2940052" y="1920240"/>
            <a:ext cx="1167740" cy="530352"/>
          </a:xfrm>
          <a:prstGeom prst="roundRect">
            <a:avLst>
              <a:gd name="adj" fmla="val 17241"/>
            </a:avLst>
          </a:prstGeom>
          <a:solidFill>
            <a:srgbClr val="FBEDEB"/>
          </a:solidFill>
          <a:ln w="25400">
            <a:solidFill>
              <a:srgbClr val="B83227"/>
            </a:solidFill>
            <a:prstDash val="solid"/>
          </a:ln>
        </p:spPr>
      </p:sp>
      <p:sp>
        <p:nvSpPr>
          <p:cNvPr id="13" name="Text 10"/>
          <p:cNvSpPr txBox="1"/>
          <p:nvPr/>
        </p:nvSpPr>
        <p:spPr>
          <a:xfrm>
            <a:off x="2940052" y="192024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14" name="Text 11"/>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5" name="Text 12"/>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6E4A9E"/>
                </a:solidFill>
              </a:rPr>
              <a:t>PASSÉ COMPOSÉ</a:t>
            </a:r>
            <a:endParaRPr lang="en-US" sz="1200" dirty="0"/>
          </a:p>
        </p:txBody>
      </p:sp>
      <p:sp>
        <p:nvSpPr>
          <p:cNvPr id="16" name="Text 13"/>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gezeten</a:t>
            </a:r>
            <a:r>
              <a:rPr lang="en-US" sz="1300" dirty="0">
                <a:solidFill>
                  <a:schemeClr val="accent6"/>
                </a:solidFill>
              </a:rPr>
              <a:t> !</a:t>
            </a:r>
            <a:endParaRPr lang="en-US" sz="1300" dirty="0"/>
          </a:p>
        </p:txBody>
      </p:sp>
      <p:sp>
        <p:nvSpPr>
          <p:cNvPr id="17" name="Shape 14"/>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8" name="Text 15"/>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19" name="Shape 16"/>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0" name="Text 17"/>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1" name="Shape 18"/>
          <p:cNvSpPr/>
          <p:nvPr/>
        </p:nvSpPr>
        <p:spPr>
          <a:xfrm>
            <a:off x="2201261" y="3429000"/>
            <a:ext cx="1167740" cy="530352"/>
          </a:xfrm>
          <a:prstGeom prst="roundRect">
            <a:avLst>
              <a:gd name="adj" fmla="val 17241"/>
            </a:avLst>
          </a:prstGeom>
          <a:solidFill>
            <a:schemeClr val="accent1"/>
          </a:solidFill>
          <a:ln w="12700">
            <a:solidFill>
              <a:srgbClr val="FFFFFF">
                <a:alpha val="0"/>
              </a:srgbClr>
            </a:solidFill>
            <a:prstDash val="solid"/>
          </a:ln>
        </p:spPr>
      </p:sp>
      <p:sp>
        <p:nvSpPr>
          <p:cNvPr id="22" name="Text 19"/>
          <p:cNvSpPr txBox="1"/>
          <p:nvPr/>
        </p:nvSpPr>
        <p:spPr>
          <a:xfrm>
            <a:off x="2201261" y="3429000"/>
            <a:ext cx="1167740" cy="530352"/>
          </a:xfrm>
          <a:prstGeom prst="rect">
            <a:avLst/>
          </a:prstGeom>
          <a:noFill/>
          <a:ln/>
        </p:spPr>
        <p:txBody>
          <a:bodyPr wrap="square" lIns="0" tIns="0" rIns="0" bIns="0" rtlCol="0" anchor="ctr"/>
          <a:lstStyle/>
          <a:p>
            <a:pPr algn="ctr" indent="0" marL="0">
              <a:buNone/>
            </a:pPr>
            <a:r>
              <a:rPr lang="en-US" sz="1600" b="1" dirty="0">
                <a:solidFill>
                  <a:schemeClr val="bg1"/>
                </a:solidFill>
              </a:rPr>
              <a:t>zitten</a:t>
            </a:r>
            <a:endParaRPr lang="en-US" sz="1600" dirty="0"/>
          </a:p>
        </p:txBody>
      </p:sp>
      <p:sp>
        <p:nvSpPr>
          <p:cNvPr id="23" name="Shape 20"/>
          <p:cNvSpPr/>
          <p:nvPr/>
        </p:nvSpPr>
        <p:spPr>
          <a:xfrm>
            <a:off x="3451297" y="3429000"/>
            <a:ext cx="1167740" cy="530352"/>
          </a:xfrm>
          <a:prstGeom prst="roundRect">
            <a:avLst>
              <a:gd name="adj" fmla="val 17241"/>
            </a:avLst>
          </a:prstGeom>
          <a:solidFill>
            <a:srgbClr val="FBEDEB"/>
          </a:solidFill>
          <a:ln w="25400">
            <a:solidFill>
              <a:srgbClr val="B83227"/>
            </a:solidFill>
            <a:prstDash val="solid"/>
          </a:ln>
        </p:spPr>
      </p:sp>
      <p:sp>
        <p:nvSpPr>
          <p:cNvPr id="24" name="Text 21"/>
          <p:cNvSpPr txBox="1"/>
          <p:nvPr/>
        </p:nvSpPr>
        <p:spPr>
          <a:xfrm>
            <a:off x="3451297" y="3429000"/>
            <a:ext cx="1167740" cy="530352"/>
          </a:xfrm>
          <a:prstGeom prst="rect">
            <a:avLst/>
          </a:prstGeom>
          <a:noFill/>
          <a:ln/>
        </p:spPr>
        <p:txBody>
          <a:bodyPr wrap="square" lIns="0" tIns="0" rIns="0" bIns="0" rtlCol="0" anchor="ctr"/>
          <a:lstStyle/>
          <a:p>
            <a:pPr algn="ctr" indent="0" marL="0">
              <a:buNone/>
            </a:pPr>
            <a:r>
              <a:rPr lang="en-US" sz="1600" b="1" dirty="0">
                <a:solidFill>
                  <a:schemeClr val="accent6"/>
                </a:solidFill>
              </a:rPr>
              <a:t>lezen.</a:t>
            </a:r>
            <a:endParaRPr lang="en-US" sz="1600" dirty="0"/>
          </a:p>
        </p:txBody>
      </p:sp>
      <p:sp>
        <p:nvSpPr>
          <p:cNvPr id="25" name="Shape 22"/>
          <p:cNvSpPr/>
          <p:nvPr/>
        </p:nvSpPr>
        <p:spPr>
          <a:xfrm>
            <a:off x="640080" y="4114800"/>
            <a:ext cx="4070397" cy="45720"/>
          </a:xfrm>
          <a:prstGeom prst="rect">
            <a:avLst/>
          </a:prstGeom>
          <a:solidFill>
            <a:srgbClr val="8A96A8"/>
          </a:solidFill>
          <a:ln w="12700">
            <a:solidFill>
              <a:srgbClr val="FFFFFF">
                <a:alpha val="0"/>
              </a:srgbClr>
            </a:solidFill>
            <a:prstDash val="solid"/>
          </a:ln>
        </p:spPr>
      </p:sp>
      <p:sp>
        <p:nvSpPr>
          <p:cNvPr id="26" name="Shape 23"/>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27" name="Shape 24"/>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28" name="Shape 25"/>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29" name="Shape 26"/>
          <p:cNvSpPr/>
          <p:nvPr/>
        </p:nvSpPr>
        <p:spPr>
          <a:xfrm>
            <a:off x="2118965" y="3826764"/>
            <a:ext cx="82296" cy="914"/>
          </a:xfrm>
          <a:prstGeom prst="line">
            <a:avLst/>
          </a:prstGeom>
          <a:noFill/>
          <a:ln w="31750">
            <a:solidFill>
              <a:srgbClr val="1B2333"/>
            </a:solidFill>
            <a:prstDash val="solid"/>
          </a:ln>
        </p:spPr>
      </p:sp>
      <p:sp>
        <p:nvSpPr>
          <p:cNvPr id="30" name="Shape 27"/>
          <p:cNvSpPr/>
          <p:nvPr/>
        </p:nvSpPr>
        <p:spPr>
          <a:xfrm>
            <a:off x="2385012"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3038946" y="3968496"/>
            <a:ext cx="146304" cy="146304"/>
          </a:xfrm>
          <a:prstGeom prst="ellipse">
            <a:avLst/>
          </a:prstGeom>
          <a:solidFill>
            <a:srgbClr val="1B2333"/>
          </a:solidFill>
          <a:ln w="12700">
            <a:solidFill>
              <a:srgbClr val="FFFFFF">
                <a:alpha val="0"/>
              </a:srgbClr>
            </a:solidFill>
            <a:prstDash val="solid"/>
          </a:ln>
        </p:spPr>
      </p:sp>
      <p:sp>
        <p:nvSpPr>
          <p:cNvPr id="32" name="Shape 29"/>
          <p:cNvSpPr/>
          <p:nvPr/>
        </p:nvSpPr>
        <p:spPr>
          <a:xfrm>
            <a:off x="3369001" y="3826764"/>
            <a:ext cx="82296" cy="914"/>
          </a:xfrm>
          <a:prstGeom prst="line">
            <a:avLst/>
          </a:prstGeom>
          <a:noFill/>
          <a:ln w="31750">
            <a:solidFill>
              <a:srgbClr val="1B2333"/>
            </a:solidFill>
            <a:prstDash val="solid"/>
          </a:ln>
        </p:spPr>
      </p:sp>
      <p:sp>
        <p:nvSpPr>
          <p:cNvPr id="33" name="Shape 30"/>
          <p:cNvSpPr/>
          <p:nvPr/>
        </p:nvSpPr>
        <p:spPr>
          <a:xfrm>
            <a:off x="3635048"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4288982" y="3968496"/>
            <a:ext cx="146304" cy="146304"/>
          </a:xfrm>
          <a:prstGeom prst="ellipse">
            <a:avLst/>
          </a:prstGeom>
          <a:solidFill>
            <a:srgbClr val="1B2333"/>
          </a:solidFill>
          <a:ln w="12700">
            <a:solidFill>
              <a:srgbClr val="FFFFFF">
                <a:alpha val="0"/>
              </a:srgbClr>
            </a:solidFill>
            <a:prstDash val="solid"/>
          </a:ln>
        </p:spPr>
      </p:sp>
      <p:sp>
        <p:nvSpPr>
          <p:cNvPr id="35" name="Text 32"/>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Au présent : </a:t>
            </a:r>
            <a:r>
              <a:rPr lang="en-US" sz="1400" i="1" dirty="0">
                <a:solidFill>
                  <a:schemeClr val="tx1"/>
                </a:solidFill>
              </a:rPr>
              <a:t>zitten </a:t>
            </a:r>
            <a:r>
              <a:rPr lang="en-US" sz="1400" b="1" i="1" dirty="0">
                <a:solidFill>
                  <a:schemeClr val="tx1"/>
                </a:solidFill>
              </a:rPr>
              <a:t>te</a:t>
            </a:r>
            <a:r>
              <a:rPr lang="en-US" sz="1400" i="1" dirty="0">
                <a:solidFill>
                  <a:schemeClr val="tx1"/>
                </a:solidFill>
              </a:rPr>
              <a:t> lezen</a:t>
            </a:r>
            <a:r>
              <a:rPr lang="en-US" sz="1400" dirty="0">
                <a:solidFill>
                  <a:schemeClr val="tx1"/>
                </a:solidFill>
              </a:rPr>
              <a:t> (M17). Au passé : </a:t>
            </a:r>
            <a:r>
              <a:rPr lang="en-US" sz="1400" i="1" dirty="0">
                <a:solidFill>
                  <a:schemeClr val="tx1"/>
                </a:solidFill>
              </a:rPr>
              <a:t>heb zitten lezen</a:t>
            </a:r>
            <a:r>
              <a:rPr lang="en-US" sz="1400" dirty="0">
                <a:solidFill>
                  <a:schemeClr val="tx1"/>
                </a:solidFill>
              </a:rPr>
              <a:t>, </a:t>
            </a:r>
            <a:r>
              <a:rPr lang="en-US" sz="1400" b="1" dirty="0">
                <a:solidFill>
                  <a:schemeClr val="tx1"/>
                </a:solidFill>
              </a:rPr>
              <a:t>sans te</a:t>
            </a:r>
            <a:r>
              <a:rPr lang="en-US" sz="1400" dirty="0">
                <a:solidFill>
                  <a:schemeClr val="tx1"/>
                </a:solidFill>
              </a:rPr>
              <a:t>. Auxiliaire : </a:t>
            </a:r>
            <a:r>
              <a:rPr lang="en-US" sz="1400" b="1" dirty="0">
                <a:solidFill>
                  <a:schemeClr val="tx1"/>
                </a:solidFill>
              </a:rPr>
              <a:t>hebben</a:t>
            </a:r>
            <a:r>
              <a:rPr lang="en-US" sz="1400" dirty="0">
                <a:solidFill>
                  <a:schemeClr val="tx1"/>
                </a:solidFill>
              </a:rPr>
              <a:t>.</a:t>
            </a:r>
            <a:endParaRPr lang="en-US" sz="1400" dirty="0"/>
          </a:p>
        </p:txBody>
      </p:sp>
      <p:sp>
        <p:nvSpPr>
          <p:cNvPr id="36" name="Shape 33"/>
          <p:cNvSpPr/>
          <p:nvPr/>
        </p:nvSpPr>
        <p:spPr>
          <a:xfrm>
            <a:off x="6126480" y="1463040"/>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126480" y="1463040"/>
            <a:ext cx="109728" cy="1106424"/>
          </a:xfrm>
          <a:prstGeom prst="rect">
            <a:avLst/>
          </a:prstGeom>
          <a:solidFill>
            <a:srgbClr val="6E4A9E"/>
          </a:solidFill>
          <a:ln w="12700">
            <a:solidFill>
              <a:srgbClr val="FFFFFF">
                <a:alpha val="0"/>
              </a:srgbClr>
            </a:solidFill>
            <a:prstDash val="solid"/>
          </a:ln>
        </p:spPr>
      </p:sp>
      <p:pic>
        <p:nvPicPr>
          <p:cNvPr id="38" name="Image 0" descr="books">    </p:cNvPr>
          <p:cNvPicPr>
            <a:picLocks noChangeAspect="1"/>
          </p:cNvPicPr>
          <p:nvPr/>
        </p:nvPicPr>
        <p:blipFill>
          <a:blip r:embed="rId1"/>
          <a:stretch>
            <a:fillRect/>
          </a:stretch>
        </p:blipFill>
        <p:spPr>
          <a:xfrm>
            <a:off x="6382512" y="1627632"/>
            <a:ext cx="777240" cy="777240"/>
          </a:xfrm>
          <a:prstGeom prst="rect">
            <a:avLst/>
          </a:prstGeom>
        </p:spPr>
      </p:pic>
      <p:sp>
        <p:nvSpPr>
          <p:cNvPr id="39" name="Text 35"/>
          <p:cNvSpPr txBox="1"/>
          <p:nvPr/>
        </p:nvSpPr>
        <p:spPr>
          <a:xfrm>
            <a:off x="7315200" y="1517904"/>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zit te lezen.</a:t>
            </a:r>
            <a:endParaRPr lang="en-US" sz="1400" dirty="0"/>
          </a:p>
        </p:txBody>
      </p:sp>
      <p:sp>
        <p:nvSpPr>
          <p:cNvPr id="40" name="Text 36"/>
          <p:cNvSpPr txBox="1"/>
          <p:nvPr/>
        </p:nvSpPr>
        <p:spPr>
          <a:xfrm>
            <a:off x="7315200" y="1794967"/>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a:t>
            </a:r>
            <a:r>
              <a:rPr lang="en-US" sz="1800" b="1" i="1" dirty="0">
                <a:solidFill>
                  <a:srgbClr val="D9700F"/>
                </a:solidFill>
              </a:rPr>
              <a:t>zitten lezen</a:t>
            </a:r>
            <a:r>
              <a:rPr lang="en-US" sz="1800" i="1" dirty="0">
                <a:solidFill>
                  <a:schemeClr val="tx1"/>
                </a:solidFill>
              </a:rPr>
              <a:t>.</a:t>
            </a:r>
            <a:endParaRPr lang="en-US" sz="1800" dirty="0"/>
          </a:p>
        </p:txBody>
      </p:sp>
      <p:sp>
        <p:nvSpPr>
          <p:cNvPr id="41" name="Text 37"/>
          <p:cNvSpPr txBox="1"/>
          <p:nvPr/>
        </p:nvSpPr>
        <p:spPr>
          <a:xfrm>
            <a:off x="7315200" y="2259665"/>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j’étais (assis·e) en train de lire</a:t>
            </a:r>
            <a:endParaRPr lang="en-US" sz="1300" dirty="0"/>
          </a:p>
        </p:txBody>
      </p:sp>
      <p:sp>
        <p:nvSpPr>
          <p:cNvPr id="42" name="Shape 38"/>
          <p:cNvSpPr/>
          <p:nvPr/>
        </p:nvSpPr>
        <p:spPr>
          <a:xfrm>
            <a:off x="6126480" y="2679192"/>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3" name="Shape 39"/>
          <p:cNvSpPr/>
          <p:nvPr/>
        </p:nvSpPr>
        <p:spPr>
          <a:xfrm>
            <a:off x="6126480" y="2679192"/>
            <a:ext cx="109728" cy="1106424"/>
          </a:xfrm>
          <a:prstGeom prst="rect">
            <a:avLst/>
          </a:prstGeom>
          <a:solidFill>
            <a:srgbClr val="6E4A9E"/>
          </a:solidFill>
          <a:ln w="12700">
            <a:solidFill>
              <a:srgbClr val="FFFFFF">
                <a:alpha val="0"/>
              </a:srgbClr>
            </a:solidFill>
            <a:prstDash val="solid"/>
          </a:ln>
        </p:spPr>
      </p:sp>
      <p:pic>
        <p:nvPicPr>
          <p:cNvPr id="44" name="Image 1" descr="cooking">    </p:cNvPr>
          <p:cNvPicPr>
            <a:picLocks noChangeAspect="1"/>
          </p:cNvPicPr>
          <p:nvPr/>
        </p:nvPicPr>
        <p:blipFill>
          <a:blip r:embed="rId2"/>
          <a:stretch>
            <a:fillRect/>
          </a:stretch>
        </p:blipFill>
        <p:spPr>
          <a:xfrm>
            <a:off x="6382512" y="2843784"/>
            <a:ext cx="777240" cy="777240"/>
          </a:xfrm>
          <a:prstGeom prst="rect">
            <a:avLst/>
          </a:prstGeom>
        </p:spPr>
      </p:pic>
      <p:sp>
        <p:nvSpPr>
          <p:cNvPr id="45" name="Text 40"/>
          <p:cNvSpPr txBox="1"/>
          <p:nvPr/>
        </p:nvSpPr>
        <p:spPr>
          <a:xfrm>
            <a:off x="7315200" y="2734056"/>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Ze staat te koken.</a:t>
            </a:r>
            <a:endParaRPr lang="en-US" sz="1400" dirty="0"/>
          </a:p>
        </p:txBody>
      </p:sp>
      <p:sp>
        <p:nvSpPr>
          <p:cNvPr id="46" name="Text 41"/>
          <p:cNvSpPr txBox="1"/>
          <p:nvPr/>
        </p:nvSpPr>
        <p:spPr>
          <a:xfrm>
            <a:off x="7315200" y="3011119"/>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Ze heeft </a:t>
            </a:r>
            <a:r>
              <a:rPr lang="en-US" sz="1800" b="1" i="1" dirty="0">
                <a:solidFill>
                  <a:srgbClr val="D9700F"/>
                </a:solidFill>
              </a:rPr>
              <a:t>staan koken</a:t>
            </a:r>
            <a:r>
              <a:rPr lang="en-US" sz="1800" i="1" dirty="0">
                <a:solidFill>
                  <a:schemeClr val="tx1"/>
                </a:solidFill>
              </a:rPr>
              <a:t>.</a:t>
            </a:r>
            <a:endParaRPr lang="en-US" sz="1800" dirty="0"/>
          </a:p>
        </p:txBody>
      </p:sp>
      <p:sp>
        <p:nvSpPr>
          <p:cNvPr id="47" name="Text 42"/>
          <p:cNvSpPr txBox="1"/>
          <p:nvPr/>
        </p:nvSpPr>
        <p:spPr>
          <a:xfrm>
            <a:off x="7315200" y="3475817"/>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elle était (debout) en train de cuisiner</a:t>
            </a:r>
            <a:endParaRPr lang="en-US" sz="1300" dirty="0"/>
          </a:p>
        </p:txBody>
      </p:sp>
      <p:sp>
        <p:nvSpPr>
          <p:cNvPr id="48" name="Shape 43"/>
          <p:cNvSpPr/>
          <p:nvPr/>
        </p:nvSpPr>
        <p:spPr>
          <a:xfrm>
            <a:off x="6126480" y="3895344"/>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4"/>
          <p:cNvSpPr/>
          <p:nvPr/>
        </p:nvSpPr>
        <p:spPr>
          <a:xfrm>
            <a:off x="6126480" y="3895344"/>
            <a:ext cx="109728" cy="1106424"/>
          </a:xfrm>
          <a:prstGeom prst="rect">
            <a:avLst/>
          </a:prstGeom>
          <a:solidFill>
            <a:srgbClr val="6E4A9E"/>
          </a:solidFill>
          <a:ln w="12700">
            <a:solidFill>
              <a:srgbClr val="FFFFFF">
                <a:alpha val="0"/>
              </a:srgbClr>
            </a:solidFill>
            <a:prstDash val="solid"/>
          </a:ln>
        </p:spPr>
      </p:sp>
      <p:pic>
        <p:nvPicPr>
          <p:cNvPr id="50" name="Image 2" descr="sleeping face">    </p:cNvPr>
          <p:cNvPicPr>
            <a:picLocks noChangeAspect="1"/>
          </p:cNvPicPr>
          <p:nvPr/>
        </p:nvPicPr>
        <p:blipFill>
          <a:blip r:embed="rId3"/>
          <a:stretch>
            <a:fillRect/>
          </a:stretch>
        </p:blipFill>
        <p:spPr>
          <a:xfrm>
            <a:off x="6382512" y="4059936"/>
            <a:ext cx="777240" cy="777240"/>
          </a:xfrm>
          <a:prstGeom prst="rect">
            <a:avLst/>
          </a:prstGeom>
        </p:spPr>
      </p:pic>
      <p:sp>
        <p:nvSpPr>
          <p:cNvPr id="51" name="Text 45"/>
          <p:cNvSpPr txBox="1"/>
          <p:nvPr/>
        </p:nvSpPr>
        <p:spPr>
          <a:xfrm>
            <a:off x="7315200" y="3950208"/>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Hij ligt te slapen.</a:t>
            </a:r>
            <a:endParaRPr lang="en-US" sz="1400" dirty="0"/>
          </a:p>
        </p:txBody>
      </p:sp>
      <p:sp>
        <p:nvSpPr>
          <p:cNvPr id="52" name="Text 46"/>
          <p:cNvSpPr txBox="1"/>
          <p:nvPr/>
        </p:nvSpPr>
        <p:spPr>
          <a:xfrm>
            <a:off x="7315200" y="4227271"/>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Hij heeft </a:t>
            </a:r>
            <a:r>
              <a:rPr lang="en-US" sz="1800" b="1" i="1" dirty="0">
                <a:solidFill>
                  <a:srgbClr val="D9700F"/>
                </a:solidFill>
              </a:rPr>
              <a:t>liggen slapen</a:t>
            </a:r>
            <a:r>
              <a:rPr lang="en-US" sz="1800" i="1" dirty="0">
                <a:solidFill>
                  <a:schemeClr val="tx1"/>
                </a:solidFill>
              </a:rPr>
              <a:t>.</a:t>
            </a:r>
            <a:endParaRPr lang="en-US" sz="1800" dirty="0"/>
          </a:p>
        </p:txBody>
      </p:sp>
      <p:sp>
        <p:nvSpPr>
          <p:cNvPr id="53" name="Text 47"/>
          <p:cNvSpPr txBox="1"/>
          <p:nvPr/>
        </p:nvSpPr>
        <p:spPr>
          <a:xfrm>
            <a:off x="7315200" y="4691969"/>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il était (couché) en train de dormir</a:t>
            </a:r>
            <a:endParaRPr lang="en-US" sz="1300" dirty="0"/>
          </a:p>
        </p:txBody>
      </p:sp>
      <p:sp>
        <p:nvSpPr>
          <p:cNvPr id="54" name="Shape 48"/>
          <p:cNvSpPr/>
          <p:nvPr/>
        </p:nvSpPr>
        <p:spPr>
          <a:xfrm>
            <a:off x="6126480" y="5111496"/>
            <a:ext cx="5513832" cy="1106424"/>
          </a:xfrm>
          <a:prstGeom prst="roundRect">
            <a:avLst>
              <a:gd name="adj" fmla="val 826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9"/>
          <p:cNvSpPr/>
          <p:nvPr/>
        </p:nvSpPr>
        <p:spPr>
          <a:xfrm>
            <a:off x="6126480" y="5111496"/>
            <a:ext cx="109728" cy="1106424"/>
          </a:xfrm>
          <a:prstGeom prst="rect">
            <a:avLst/>
          </a:prstGeom>
          <a:solidFill>
            <a:srgbClr val="6E4A9E"/>
          </a:solidFill>
          <a:ln w="12700">
            <a:solidFill>
              <a:srgbClr val="FFFFFF">
                <a:alpha val="0"/>
              </a:srgbClr>
            </a:solidFill>
            <a:prstDash val="solid"/>
          </a:ln>
        </p:spPr>
      </p:sp>
      <p:pic>
        <p:nvPicPr>
          <p:cNvPr id="56" name="Image 3" descr="magnifying glass tilted left">    </p:cNvPr>
          <p:cNvPicPr>
            <a:picLocks noChangeAspect="1"/>
          </p:cNvPicPr>
          <p:nvPr/>
        </p:nvPicPr>
        <p:blipFill>
          <a:blip r:embed="rId4"/>
          <a:stretch>
            <a:fillRect/>
          </a:stretch>
        </p:blipFill>
        <p:spPr>
          <a:xfrm>
            <a:off x="6382512" y="5276088"/>
            <a:ext cx="777240" cy="777240"/>
          </a:xfrm>
          <a:prstGeom prst="rect">
            <a:avLst/>
          </a:prstGeom>
        </p:spPr>
      </p:pic>
      <p:sp>
        <p:nvSpPr>
          <p:cNvPr id="57" name="Text 50"/>
          <p:cNvSpPr txBox="1"/>
          <p:nvPr/>
        </p:nvSpPr>
        <p:spPr>
          <a:xfrm>
            <a:off x="7315200" y="5166360"/>
            <a:ext cx="4187952" cy="331927"/>
          </a:xfrm>
          <a:prstGeom prst="rect">
            <a:avLst/>
          </a:prstGeom>
          <a:noFill/>
          <a:ln/>
        </p:spPr>
        <p:txBody>
          <a:bodyPr wrap="square" lIns="0" tIns="0" rIns="0" bIns="0" rtlCol="0" anchor="ctr"/>
          <a:lstStyle/>
          <a:p>
            <a:pPr algn="l" indent="0" marL="0">
              <a:buNone/>
            </a:pPr>
            <a:r>
              <a:rPr lang="en-US" sz="1400" i="1" dirty="0">
                <a:solidFill>
                  <a:schemeClr val="accent5"/>
                </a:solidFill>
              </a:rPr>
              <a:t>Ik loop te zoeken.</a:t>
            </a:r>
            <a:endParaRPr lang="en-US" sz="1400" dirty="0"/>
          </a:p>
        </p:txBody>
      </p:sp>
      <p:sp>
        <p:nvSpPr>
          <p:cNvPr id="58" name="Text 51"/>
          <p:cNvSpPr txBox="1"/>
          <p:nvPr/>
        </p:nvSpPr>
        <p:spPr>
          <a:xfrm>
            <a:off x="7315200" y="5443423"/>
            <a:ext cx="4187952" cy="464698"/>
          </a:xfrm>
          <a:prstGeom prst="rect">
            <a:avLst/>
          </a:prstGeom>
          <a:noFill/>
          <a:ln/>
        </p:spPr>
        <p:txBody>
          <a:bodyPr wrap="square" lIns="0" tIns="0" rIns="0" bIns="0" rtlCol="0" anchor="ctr"/>
          <a:lstStyle/>
          <a:p>
            <a:pPr algn="l" indent="0" marL="0">
              <a:buNone/>
            </a:pPr>
            <a:r>
              <a:rPr lang="en-US" sz="1800" i="1" dirty="0">
                <a:solidFill>
                  <a:schemeClr val="tx1"/>
                </a:solidFill>
              </a:rPr>
              <a:t>Ik heb de hele dag </a:t>
            </a:r>
            <a:r>
              <a:rPr lang="en-US" sz="1800" b="1" i="1" dirty="0">
                <a:solidFill>
                  <a:srgbClr val="D9700F"/>
                </a:solidFill>
              </a:rPr>
              <a:t>lopen zoeken</a:t>
            </a:r>
            <a:r>
              <a:rPr lang="en-US" sz="1800" i="1" dirty="0">
                <a:solidFill>
                  <a:schemeClr val="tx1"/>
                </a:solidFill>
              </a:rPr>
              <a:t>.</a:t>
            </a:r>
            <a:endParaRPr lang="en-US" sz="1800" dirty="0"/>
          </a:p>
        </p:txBody>
      </p:sp>
      <p:sp>
        <p:nvSpPr>
          <p:cNvPr id="59" name="Text 52"/>
          <p:cNvSpPr txBox="1"/>
          <p:nvPr/>
        </p:nvSpPr>
        <p:spPr>
          <a:xfrm>
            <a:off x="7315200" y="5908121"/>
            <a:ext cx="4187952" cy="287670"/>
          </a:xfrm>
          <a:prstGeom prst="rect">
            <a:avLst/>
          </a:prstGeom>
          <a:noFill/>
          <a:ln/>
        </p:spPr>
        <p:txBody>
          <a:bodyPr wrap="square" lIns="0" tIns="0" rIns="0" bIns="0" rtlCol="0" anchor="ctr"/>
          <a:lstStyle/>
          <a:p>
            <a:pPr algn="l" indent="0" marL="0">
              <a:buNone/>
            </a:pPr>
            <a:r>
              <a:rPr lang="en-US" sz="1300" i="1" dirty="0">
                <a:solidFill>
                  <a:schemeClr val="tx2"/>
                </a:solidFill>
              </a:rPr>
              <a:t>j’ai passé la journée à chercher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zien, horen, voelen : la perception</a:t>
            </a:r>
            <a:endParaRPr lang="en-US" sz="3000" dirty="0"/>
          </a:p>
        </p:txBody>
      </p:sp>
      <p:sp>
        <p:nvSpPr>
          <p:cNvPr id="3" name="tag"/>
          <p:cNvSpPr/>
          <p:nvPr/>
        </p:nvSpPr>
        <p:spPr>
          <a:xfrm>
            <a:off x="548640" y="237744"/>
            <a:ext cx="1768450" cy="310896"/>
          </a:xfrm>
          <a:prstGeom prst="roundRect">
            <a:avLst>
              <a:gd name="adj" fmla="val 14706"/>
            </a:avLst>
          </a:prstGeom>
          <a:solidFill>
            <a:srgbClr val="0E7C86"/>
          </a:solidFill>
          <a:ln/>
        </p:spPr>
        <p:txBody>
          <a:bodyPr wrap="square" lIns="0" tIns="0" rIns="0" bIns="0" rtlCol="0" anchor="ctr"/>
          <a:lstStyle/>
          <a:p>
            <a:pPr algn="ctr" indent="0" marL="0">
              <a:buNone/>
            </a:pPr>
            <a:r>
              <a:rPr lang="en-US" sz="1200" b="1" spc="100" kern="0" dirty="0">
                <a:solidFill>
                  <a:srgbClr val="FFFFFF"/>
                </a:solidFill>
              </a:rPr>
              <a:t>FAMILLE 5 / 5</a:t>
            </a:r>
            <a:endParaRPr lang="en-US" sz="1200" dirty="0"/>
          </a:p>
        </p:txBody>
      </p:sp>
      <p:sp>
        <p:nvSpPr>
          <p:cNvPr id="5" name="Shape 2"/>
          <p:cNvSpPr/>
          <p:nvPr/>
        </p:nvSpPr>
        <p:spPr>
          <a:xfrm>
            <a:off x="548640" y="1463040"/>
            <a:ext cx="5349240" cy="4069080"/>
          </a:xfrm>
          <a:prstGeom prst="roundRect">
            <a:avLst>
              <a:gd name="adj" fmla="val 2697"/>
            </a:avLst>
          </a:prstGeom>
          <a:solidFill>
            <a:srgbClr val="0E7C86">
              <a:alpha val="10000"/>
            </a:srgbClr>
          </a:solidFill>
          <a:ln w="19050">
            <a:solidFill>
              <a:srgbClr val="0E7C86"/>
            </a:solidFill>
            <a:prstDash val="solid"/>
          </a:ln>
        </p:spPr>
      </p:sp>
      <p:sp>
        <p:nvSpPr>
          <p:cNvPr id="6" name="Text 3"/>
          <p:cNvSpPr txBox="1"/>
          <p:nvPr/>
        </p:nvSpPr>
        <p:spPr>
          <a:xfrm>
            <a:off x="731520" y="1554480"/>
            <a:ext cx="27432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PRÉSENT</a:t>
            </a:r>
            <a:endParaRPr lang="en-US" sz="1200" dirty="0"/>
          </a:p>
        </p:txBody>
      </p:sp>
      <p:sp>
        <p:nvSpPr>
          <p:cNvPr id="7" name="Shape 4"/>
          <p:cNvSpPr/>
          <p:nvPr/>
        </p:nvSpPr>
        <p:spPr>
          <a:xfrm>
            <a:off x="731520" y="1920240"/>
            <a:ext cx="520842" cy="530352"/>
          </a:xfrm>
          <a:prstGeom prst="roundRect">
            <a:avLst>
              <a:gd name="adj" fmla="val 17556"/>
            </a:avLst>
          </a:prstGeom>
          <a:solidFill>
            <a:schemeClr val="bg1"/>
          </a:solidFill>
          <a:ln w="15875">
            <a:solidFill>
              <a:srgbClr val="D5DCE6"/>
            </a:solidFill>
            <a:prstDash val="solid"/>
          </a:ln>
        </p:spPr>
      </p:sp>
      <p:sp>
        <p:nvSpPr>
          <p:cNvPr id="8" name="Text 5"/>
          <p:cNvSpPr txBox="1"/>
          <p:nvPr/>
        </p:nvSpPr>
        <p:spPr>
          <a:xfrm>
            <a:off x="731520" y="192024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9" name="Shape 6"/>
          <p:cNvSpPr/>
          <p:nvPr/>
        </p:nvSpPr>
        <p:spPr>
          <a:xfrm>
            <a:off x="1334658" y="1920240"/>
            <a:ext cx="784306" cy="530352"/>
          </a:xfrm>
          <a:prstGeom prst="roundRect">
            <a:avLst>
              <a:gd name="adj" fmla="val 17241"/>
            </a:avLst>
          </a:prstGeom>
          <a:solidFill>
            <a:schemeClr val="tx2"/>
          </a:solidFill>
          <a:ln w="12700">
            <a:solidFill>
              <a:srgbClr val="FFFFFF">
                <a:alpha val="0"/>
              </a:srgbClr>
            </a:solidFill>
            <a:prstDash val="solid"/>
          </a:ln>
        </p:spPr>
      </p:sp>
      <p:sp>
        <p:nvSpPr>
          <p:cNvPr id="10" name="Text 7"/>
          <p:cNvSpPr txBox="1"/>
          <p:nvPr/>
        </p:nvSpPr>
        <p:spPr>
          <a:xfrm>
            <a:off x="1334658" y="192024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zie</a:t>
            </a:r>
            <a:endParaRPr lang="en-US" sz="1600" dirty="0"/>
          </a:p>
        </p:txBody>
      </p:sp>
      <p:sp>
        <p:nvSpPr>
          <p:cNvPr id="11" name="Shape 8"/>
          <p:cNvSpPr/>
          <p:nvPr/>
        </p:nvSpPr>
        <p:spPr>
          <a:xfrm>
            <a:off x="2201261" y="1920240"/>
            <a:ext cx="634959" cy="530352"/>
          </a:xfrm>
          <a:prstGeom prst="roundRect">
            <a:avLst>
              <a:gd name="adj" fmla="val 17241"/>
            </a:avLst>
          </a:prstGeom>
          <a:solidFill>
            <a:schemeClr val="bg1"/>
          </a:solidFill>
          <a:ln w="15875">
            <a:solidFill>
              <a:srgbClr val="D5DCE6"/>
            </a:solidFill>
            <a:prstDash val="solid"/>
          </a:ln>
        </p:spPr>
      </p:sp>
      <p:sp>
        <p:nvSpPr>
          <p:cNvPr id="12" name="Text 9"/>
          <p:cNvSpPr txBox="1"/>
          <p:nvPr/>
        </p:nvSpPr>
        <p:spPr>
          <a:xfrm>
            <a:off x="2201261" y="192024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13" name="Shape 10"/>
          <p:cNvSpPr/>
          <p:nvPr/>
        </p:nvSpPr>
        <p:spPr>
          <a:xfrm>
            <a:off x="2918516" y="1920240"/>
            <a:ext cx="1806796" cy="530352"/>
          </a:xfrm>
          <a:prstGeom prst="roundRect">
            <a:avLst>
              <a:gd name="adj" fmla="val 17241"/>
            </a:avLst>
          </a:prstGeom>
          <a:solidFill>
            <a:srgbClr val="FBEDEB"/>
          </a:solidFill>
          <a:ln w="25400">
            <a:solidFill>
              <a:srgbClr val="B83227"/>
            </a:solidFill>
            <a:prstDash val="solid"/>
          </a:ln>
        </p:spPr>
      </p:sp>
      <p:sp>
        <p:nvSpPr>
          <p:cNvPr id="14" name="Text 11"/>
          <p:cNvSpPr txBox="1"/>
          <p:nvPr/>
        </p:nvSpPr>
        <p:spPr>
          <a:xfrm>
            <a:off x="2918516" y="192024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15" name="Text 12"/>
          <p:cNvSpPr txBox="1"/>
          <p:nvPr/>
        </p:nvSpPr>
        <p:spPr>
          <a:xfrm>
            <a:off x="731520" y="2514600"/>
            <a:ext cx="4983480" cy="45720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16" name="Text 13"/>
          <p:cNvSpPr txBox="1"/>
          <p:nvPr/>
        </p:nvSpPr>
        <p:spPr>
          <a:xfrm>
            <a:off x="731520" y="2971800"/>
            <a:ext cx="3200400" cy="320040"/>
          </a:xfrm>
          <a:prstGeom prst="rect">
            <a:avLst/>
          </a:prstGeom>
          <a:noFill/>
          <a:ln/>
        </p:spPr>
        <p:txBody>
          <a:bodyPr wrap="square" lIns="0" tIns="0" rIns="0" bIns="0" rtlCol="0" anchor="t"/>
          <a:lstStyle/>
          <a:p>
            <a:pPr algn="l" indent="0" marL="0">
              <a:buNone/>
            </a:pPr>
            <a:r>
              <a:rPr lang="en-US" sz="1200" b="1" spc="100" kern="0" dirty="0">
                <a:solidFill>
                  <a:srgbClr val="0E7C86"/>
                </a:solidFill>
              </a:rPr>
              <a:t>PASSÉ COMPOSÉ</a:t>
            </a:r>
            <a:endParaRPr lang="en-US" sz="1200" dirty="0"/>
          </a:p>
        </p:txBody>
      </p:sp>
      <p:sp>
        <p:nvSpPr>
          <p:cNvPr id="17" name="Text 14"/>
          <p:cNvSpPr txBox="1"/>
          <p:nvPr/>
        </p:nvSpPr>
        <p:spPr>
          <a:xfrm>
            <a:off x="3383280" y="2971800"/>
            <a:ext cx="2331720" cy="320040"/>
          </a:xfrm>
          <a:prstGeom prst="rect">
            <a:avLst/>
          </a:prstGeom>
          <a:noFill/>
          <a:ln/>
        </p:spPr>
        <p:txBody>
          <a:bodyPr wrap="square" lIns="0" tIns="0" rIns="0" bIns="0" rtlCol="0" anchor="t"/>
          <a:lstStyle/>
          <a:p>
            <a:pPr algn="r" indent="0" marL="0">
              <a:buNone/>
            </a:pPr>
            <a:r>
              <a:rPr lang="en-US" sz="1300" dirty="0">
                <a:solidFill>
                  <a:schemeClr val="accent6"/>
                </a:solidFill>
              </a:rPr>
              <a:t>pas </a:t>
            </a:r>
            <a:r>
              <a:rPr lang="en-US" sz="1300" strike="sngStrike" dirty="0">
                <a:solidFill>
                  <a:schemeClr val="accent6"/>
                </a:solidFill>
              </a:rPr>
              <a:t>gezien</a:t>
            </a:r>
            <a:r>
              <a:rPr lang="en-US" sz="1300" dirty="0">
                <a:solidFill>
                  <a:schemeClr val="accent6"/>
                </a:solidFill>
              </a:rPr>
              <a:t> !</a:t>
            </a:r>
            <a:endParaRPr lang="en-US" sz="1300" dirty="0"/>
          </a:p>
        </p:txBody>
      </p:sp>
      <p:sp>
        <p:nvSpPr>
          <p:cNvPr id="18" name="Shape 15"/>
          <p:cNvSpPr/>
          <p:nvPr/>
        </p:nvSpPr>
        <p:spPr>
          <a:xfrm>
            <a:off x="731520" y="3429000"/>
            <a:ext cx="520842" cy="530352"/>
          </a:xfrm>
          <a:prstGeom prst="roundRect">
            <a:avLst>
              <a:gd name="adj" fmla="val 17556"/>
            </a:avLst>
          </a:prstGeom>
          <a:solidFill>
            <a:schemeClr val="bg1"/>
          </a:solidFill>
          <a:ln w="15875">
            <a:solidFill>
              <a:srgbClr val="D5DCE6"/>
            </a:solidFill>
            <a:prstDash val="solid"/>
          </a:ln>
        </p:spPr>
      </p:sp>
      <p:sp>
        <p:nvSpPr>
          <p:cNvPr id="19" name="Text 16"/>
          <p:cNvSpPr txBox="1"/>
          <p:nvPr/>
        </p:nvSpPr>
        <p:spPr>
          <a:xfrm>
            <a:off x="731520" y="3429000"/>
            <a:ext cx="520842" cy="530352"/>
          </a:xfrm>
          <a:prstGeom prst="rect">
            <a:avLst/>
          </a:prstGeom>
          <a:noFill/>
          <a:ln/>
        </p:spPr>
        <p:txBody>
          <a:bodyPr wrap="square" lIns="0" tIns="0" rIns="0" bIns="0" rtlCol="0" anchor="ctr"/>
          <a:lstStyle/>
          <a:p>
            <a:pPr algn="ctr" indent="0" marL="0">
              <a:buNone/>
            </a:pPr>
            <a:r>
              <a:rPr lang="en-US" sz="1600" dirty="0">
                <a:solidFill>
                  <a:schemeClr val="tx1"/>
                </a:solidFill>
              </a:rPr>
              <a:t>Ik</a:t>
            </a:r>
            <a:endParaRPr lang="en-US" sz="1600" dirty="0"/>
          </a:p>
        </p:txBody>
      </p:sp>
      <p:sp>
        <p:nvSpPr>
          <p:cNvPr id="20" name="Shape 17"/>
          <p:cNvSpPr/>
          <p:nvPr/>
        </p:nvSpPr>
        <p:spPr>
          <a:xfrm>
            <a:off x="1334658" y="3429000"/>
            <a:ext cx="784306" cy="530352"/>
          </a:xfrm>
          <a:prstGeom prst="roundRect">
            <a:avLst>
              <a:gd name="adj" fmla="val 17241"/>
            </a:avLst>
          </a:prstGeom>
          <a:solidFill>
            <a:schemeClr val="tx2"/>
          </a:solidFill>
          <a:ln w="12700">
            <a:solidFill>
              <a:srgbClr val="FFFFFF">
                <a:alpha val="0"/>
              </a:srgbClr>
            </a:solidFill>
            <a:prstDash val="solid"/>
          </a:ln>
        </p:spPr>
      </p:sp>
      <p:sp>
        <p:nvSpPr>
          <p:cNvPr id="21" name="Text 18"/>
          <p:cNvSpPr txBox="1"/>
          <p:nvPr/>
        </p:nvSpPr>
        <p:spPr>
          <a:xfrm>
            <a:off x="1334658" y="3429000"/>
            <a:ext cx="784306" cy="530352"/>
          </a:xfrm>
          <a:prstGeom prst="rect">
            <a:avLst/>
          </a:prstGeom>
          <a:noFill/>
          <a:ln/>
        </p:spPr>
        <p:txBody>
          <a:bodyPr wrap="square" lIns="0" tIns="0" rIns="0" bIns="0" rtlCol="0" anchor="ctr"/>
          <a:lstStyle/>
          <a:p>
            <a:pPr algn="ctr" indent="0" marL="0">
              <a:buNone/>
            </a:pPr>
            <a:r>
              <a:rPr lang="en-US" sz="1600" b="1" dirty="0">
                <a:solidFill>
                  <a:schemeClr val="bg1"/>
                </a:solidFill>
              </a:rPr>
              <a:t>heb</a:t>
            </a:r>
            <a:endParaRPr lang="en-US" sz="1600" dirty="0"/>
          </a:p>
        </p:txBody>
      </p:sp>
      <p:sp>
        <p:nvSpPr>
          <p:cNvPr id="22" name="Shape 19"/>
          <p:cNvSpPr/>
          <p:nvPr/>
        </p:nvSpPr>
        <p:spPr>
          <a:xfrm>
            <a:off x="2201261" y="3429000"/>
            <a:ext cx="634959" cy="530352"/>
          </a:xfrm>
          <a:prstGeom prst="roundRect">
            <a:avLst>
              <a:gd name="adj" fmla="val 17241"/>
            </a:avLst>
          </a:prstGeom>
          <a:solidFill>
            <a:schemeClr val="bg1"/>
          </a:solidFill>
          <a:ln w="15875">
            <a:solidFill>
              <a:srgbClr val="D5DCE6"/>
            </a:solidFill>
            <a:prstDash val="solid"/>
          </a:ln>
        </p:spPr>
      </p:sp>
      <p:sp>
        <p:nvSpPr>
          <p:cNvPr id="23" name="Text 20"/>
          <p:cNvSpPr txBox="1"/>
          <p:nvPr/>
        </p:nvSpPr>
        <p:spPr>
          <a:xfrm>
            <a:off x="2201261" y="3429000"/>
            <a:ext cx="634959" cy="530352"/>
          </a:xfrm>
          <a:prstGeom prst="rect">
            <a:avLst/>
          </a:prstGeom>
          <a:noFill/>
          <a:ln/>
        </p:spPr>
        <p:txBody>
          <a:bodyPr wrap="square" lIns="0" tIns="0" rIns="0" bIns="0" rtlCol="0" anchor="ctr"/>
          <a:lstStyle/>
          <a:p>
            <a:pPr algn="ctr" indent="0" marL="0">
              <a:buNone/>
            </a:pPr>
            <a:r>
              <a:rPr lang="en-US" sz="1600" dirty="0">
                <a:solidFill>
                  <a:schemeClr val="tx1"/>
                </a:solidFill>
              </a:rPr>
              <a:t>hem</a:t>
            </a:r>
            <a:endParaRPr lang="en-US" sz="1600" dirty="0"/>
          </a:p>
        </p:txBody>
      </p:sp>
      <p:sp>
        <p:nvSpPr>
          <p:cNvPr id="24" name="Shape 21"/>
          <p:cNvSpPr/>
          <p:nvPr/>
        </p:nvSpPr>
        <p:spPr>
          <a:xfrm>
            <a:off x="2918516" y="3429000"/>
            <a:ext cx="912118" cy="530352"/>
          </a:xfrm>
          <a:prstGeom prst="roundRect">
            <a:avLst>
              <a:gd name="adj" fmla="val 17241"/>
            </a:avLst>
          </a:prstGeom>
          <a:solidFill>
            <a:schemeClr val="accent1"/>
          </a:solidFill>
          <a:ln w="12700">
            <a:solidFill>
              <a:srgbClr val="FFFFFF">
                <a:alpha val="0"/>
              </a:srgbClr>
            </a:solidFill>
            <a:prstDash val="solid"/>
          </a:ln>
        </p:spPr>
      </p:sp>
      <p:sp>
        <p:nvSpPr>
          <p:cNvPr id="25" name="Text 22"/>
          <p:cNvSpPr txBox="1"/>
          <p:nvPr/>
        </p:nvSpPr>
        <p:spPr>
          <a:xfrm>
            <a:off x="2918516" y="3429000"/>
            <a:ext cx="912118" cy="530352"/>
          </a:xfrm>
          <a:prstGeom prst="rect">
            <a:avLst/>
          </a:prstGeom>
          <a:noFill/>
          <a:ln/>
        </p:spPr>
        <p:txBody>
          <a:bodyPr wrap="square" lIns="0" tIns="0" rIns="0" bIns="0" rtlCol="0" anchor="ctr"/>
          <a:lstStyle/>
          <a:p>
            <a:pPr algn="ctr" indent="0" marL="0">
              <a:buNone/>
            </a:pPr>
            <a:r>
              <a:rPr lang="en-US" sz="1600" b="1" dirty="0">
                <a:solidFill>
                  <a:schemeClr val="bg1"/>
                </a:solidFill>
              </a:rPr>
              <a:t>zien</a:t>
            </a:r>
            <a:endParaRPr lang="en-US" sz="1600" dirty="0"/>
          </a:p>
        </p:txBody>
      </p:sp>
      <p:sp>
        <p:nvSpPr>
          <p:cNvPr id="26" name="Shape 23"/>
          <p:cNvSpPr/>
          <p:nvPr/>
        </p:nvSpPr>
        <p:spPr>
          <a:xfrm>
            <a:off x="3912930" y="3429000"/>
            <a:ext cx="1806796" cy="530352"/>
          </a:xfrm>
          <a:prstGeom prst="roundRect">
            <a:avLst>
              <a:gd name="adj" fmla="val 17241"/>
            </a:avLst>
          </a:prstGeom>
          <a:solidFill>
            <a:srgbClr val="FBEDEB"/>
          </a:solidFill>
          <a:ln w="25400">
            <a:solidFill>
              <a:srgbClr val="B83227"/>
            </a:solidFill>
            <a:prstDash val="solid"/>
          </a:ln>
        </p:spPr>
      </p:sp>
      <p:sp>
        <p:nvSpPr>
          <p:cNvPr id="27" name="Text 24"/>
          <p:cNvSpPr txBox="1"/>
          <p:nvPr/>
        </p:nvSpPr>
        <p:spPr>
          <a:xfrm>
            <a:off x="3912930" y="3429000"/>
            <a:ext cx="1806796" cy="530352"/>
          </a:xfrm>
          <a:prstGeom prst="rect">
            <a:avLst/>
          </a:prstGeom>
          <a:noFill/>
          <a:ln/>
        </p:spPr>
        <p:txBody>
          <a:bodyPr wrap="square" lIns="0" tIns="0" rIns="0" bIns="0" rtlCol="0" anchor="ctr"/>
          <a:lstStyle/>
          <a:p>
            <a:pPr algn="ctr" indent="0" marL="0">
              <a:buNone/>
            </a:pPr>
            <a:r>
              <a:rPr lang="en-US" sz="1600" b="1" dirty="0">
                <a:solidFill>
                  <a:schemeClr val="accent6"/>
                </a:solidFill>
              </a:rPr>
              <a:t>vertrekken.</a:t>
            </a:r>
            <a:endParaRPr lang="en-US" sz="1600" dirty="0"/>
          </a:p>
        </p:txBody>
      </p:sp>
      <p:sp>
        <p:nvSpPr>
          <p:cNvPr id="28" name="Shape 25"/>
          <p:cNvSpPr/>
          <p:nvPr/>
        </p:nvSpPr>
        <p:spPr>
          <a:xfrm>
            <a:off x="640080" y="4114800"/>
            <a:ext cx="5171086" cy="45720"/>
          </a:xfrm>
          <a:prstGeom prst="rect">
            <a:avLst/>
          </a:prstGeom>
          <a:solidFill>
            <a:srgbClr val="8A96A8"/>
          </a:solidFill>
          <a:ln w="12700">
            <a:solidFill>
              <a:srgbClr val="FFFFFF">
                <a:alpha val="0"/>
              </a:srgbClr>
            </a:solidFill>
            <a:prstDash val="solid"/>
          </a:ln>
        </p:spPr>
      </p:sp>
      <p:sp>
        <p:nvSpPr>
          <p:cNvPr id="29" name="Shape 26"/>
          <p:cNvSpPr/>
          <p:nvPr/>
        </p:nvSpPr>
        <p:spPr>
          <a:xfrm>
            <a:off x="1434054" y="3968496"/>
            <a:ext cx="146304" cy="146304"/>
          </a:xfrm>
          <a:prstGeom prst="ellipse">
            <a:avLst/>
          </a:prstGeom>
          <a:solidFill>
            <a:srgbClr val="1B2333"/>
          </a:solidFill>
          <a:ln w="12700">
            <a:solidFill>
              <a:srgbClr val="FFFFFF">
                <a:alpha val="0"/>
              </a:srgbClr>
            </a:solidFill>
            <a:prstDash val="solid"/>
          </a:ln>
        </p:spPr>
      </p:sp>
      <p:sp>
        <p:nvSpPr>
          <p:cNvPr id="30" name="Shape 27"/>
          <p:cNvSpPr/>
          <p:nvPr/>
        </p:nvSpPr>
        <p:spPr>
          <a:xfrm>
            <a:off x="1873265" y="3968496"/>
            <a:ext cx="146304" cy="146304"/>
          </a:xfrm>
          <a:prstGeom prst="ellipse">
            <a:avLst/>
          </a:prstGeom>
          <a:solidFill>
            <a:srgbClr val="1B2333"/>
          </a:solidFill>
          <a:ln w="12700">
            <a:solidFill>
              <a:srgbClr val="FFFFFF">
                <a:alpha val="0"/>
              </a:srgbClr>
            </a:solidFill>
            <a:prstDash val="solid"/>
          </a:ln>
        </p:spPr>
      </p:sp>
      <p:sp>
        <p:nvSpPr>
          <p:cNvPr id="31" name="Shape 28"/>
          <p:cNvSpPr/>
          <p:nvPr/>
        </p:nvSpPr>
        <p:spPr>
          <a:xfrm>
            <a:off x="1444386" y="3227832"/>
            <a:ext cx="146304" cy="219456"/>
          </a:xfrm>
          <a:prstGeom prst="rect">
            <a:avLst/>
          </a:prstGeom>
          <a:solidFill>
            <a:schemeClr val="tx2"/>
          </a:solidFill>
          <a:ln w="12700">
            <a:solidFill>
              <a:srgbClr val="FFFFFF">
                <a:alpha val="0"/>
              </a:srgbClr>
            </a:solidFill>
            <a:prstDash val="solid"/>
          </a:ln>
        </p:spPr>
      </p:sp>
      <p:sp>
        <p:nvSpPr>
          <p:cNvPr id="32" name="Shape 29"/>
          <p:cNvSpPr/>
          <p:nvPr/>
        </p:nvSpPr>
        <p:spPr>
          <a:xfrm>
            <a:off x="3046030" y="3968496"/>
            <a:ext cx="146304" cy="146304"/>
          </a:xfrm>
          <a:prstGeom prst="ellipse">
            <a:avLst/>
          </a:prstGeom>
          <a:solidFill>
            <a:srgbClr val="1B2333"/>
          </a:solidFill>
          <a:ln w="12700">
            <a:solidFill>
              <a:srgbClr val="FFFFFF">
                <a:alpha val="0"/>
              </a:srgbClr>
            </a:solidFill>
            <a:prstDash val="solid"/>
          </a:ln>
        </p:spPr>
      </p:sp>
      <p:sp>
        <p:nvSpPr>
          <p:cNvPr id="33" name="Shape 30"/>
          <p:cNvSpPr/>
          <p:nvPr/>
        </p:nvSpPr>
        <p:spPr>
          <a:xfrm>
            <a:off x="3556816" y="3968496"/>
            <a:ext cx="146304" cy="146304"/>
          </a:xfrm>
          <a:prstGeom prst="ellipse">
            <a:avLst/>
          </a:prstGeom>
          <a:solidFill>
            <a:srgbClr val="1B2333"/>
          </a:solidFill>
          <a:ln w="12700">
            <a:solidFill>
              <a:srgbClr val="FFFFFF">
                <a:alpha val="0"/>
              </a:srgbClr>
            </a:solidFill>
            <a:prstDash val="solid"/>
          </a:ln>
        </p:spPr>
      </p:sp>
      <p:sp>
        <p:nvSpPr>
          <p:cNvPr id="34" name="Shape 31"/>
          <p:cNvSpPr/>
          <p:nvPr/>
        </p:nvSpPr>
        <p:spPr>
          <a:xfrm>
            <a:off x="3830634" y="3826764"/>
            <a:ext cx="82296" cy="914"/>
          </a:xfrm>
          <a:prstGeom prst="line">
            <a:avLst/>
          </a:prstGeom>
          <a:noFill/>
          <a:ln w="31750">
            <a:solidFill>
              <a:srgbClr val="1B2333"/>
            </a:solidFill>
            <a:prstDash val="solid"/>
          </a:ln>
        </p:spPr>
      </p:sp>
      <p:sp>
        <p:nvSpPr>
          <p:cNvPr id="35" name="Shape 32"/>
          <p:cNvSpPr/>
          <p:nvPr/>
        </p:nvSpPr>
        <p:spPr>
          <a:xfrm>
            <a:off x="4237273" y="3968496"/>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5249079" y="3968496"/>
            <a:ext cx="146304" cy="146304"/>
          </a:xfrm>
          <a:prstGeom prst="ellipse">
            <a:avLst/>
          </a:prstGeom>
          <a:solidFill>
            <a:srgbClr val="1B2333"/>
          </a:solidFill>
          <a:ln w="12700">
            <a:solidFill>
              <a:srgbClr val="FFFFFF">
                <a:alpha val="0"/>
              </a:srgbClr>
            </a:solidFill>
            <a:prstDash val="solid"/>
          </a:ln>
        </p:spPr>
      </p:sp>
      <p:sp>
        <p:nvSpPr>
          <p:cNvPr id="37" name="Text 34"/>
          <p:cNvSpPr txBox="1"/>
          <p:nvPr/>
        </p:nvSpPr>
        <p:spPr>
          <a:xfrm>
            <a:off x="731520" y="4343400"/>
            <a:ext cx="5029200" cy="1097280"/>
          </a:xfrm>
          <a:prstGeom prst="rect">
            <a:avLst/>
          </a:prstGeom>
          <a:noFill/>
          <a:ln/>
        </p:spPr>
        <p:txBody>
          <a:bodyPr wrap="square" lIns="0" tIns="0" rIns="0" bIns="0" rtlCol="0" anchor="ctr"/>
          <a:lstStyle/>
          <a:p>
            <a:pPr algn="l" indent="0" marL="0">
              <a:buNone/>
            </a:pPr>
            <a:r>
              <a:rPr lang="en-US" sz="1400" dirty="0">
                <a:solidFill>
                  <a:schemeClr val="tx1"/>
                </a:solidFill>
              </a:rPr>
              <a:t>Même construction qu’en français, mais au passé : </a:t>
            </a:r>
            <a:r>
              <a:rPr lang="en-US" sz="1400" i="1" dirty="0">
                <a:solidFill>
                  <a:schemeClr val="tx1"/>
                </a:solidFill>
              </a:rPr>
              <a:t>je l’ai </a:t>
            </a:r>
            <a:r>
              <a:rPr lang="en-US" sz="1400" b="1" i="1" dirty="0">
                <a:solidFill>
                  <a:schemeClr val="tx1"/>
                </a:solidFill>
              </a:rPr>
              <a:t>vu</a:t>
            </a:r>
            <a:r>
              <a:rPr lang="en-US" sz="1400" i="1" dirty="0">
                <a:solidFill>
                  <a:schemeClr val="tx1"/>
                </a:solidFill>
              </a:rPr>
              <a:t> partir</a:t>
            </a:r>
            <a:r>
              <a:rPr lang="en-US" sz="1400" dirty="0">
                <a:solidFill>
                  <a:schemeClr val="tx1"/>
                </a:solidFill>
              </a:rPr>
              <a:t> → </a:t>
            </a:r>
            <a:r>
              <a:rPr lang="en-US" sz="1400" i="1" dirty="0">
                <a:solidFill>
                  <a:schemeClr val="tx1"/>
                </a:solidFill>
              </a:rPr>
              <a:t>ik heb hem </a:t>
            </a:r>
            <a:r>
              <a:rPr lang="en-US" sz="1400" b="1" i="1" dirty="0">
                <a:solidFill>
                  <a:schemeClr val="tx1"/>
                </a:solidFill>
              </a:rPr>
              <a:t>zien</a:t>
            </a:r>
            <a:r>
              <a:rPr lang="en-US" sz="1400" i="1" dirty="0">
                <a:solidFill>
                  <a:schemeClr val="tx1"/>
                </a:solidFill>
              </a:rPr>
              <a:t> vertrekken</a:t>
            </a:r>
            <a:r>
              <a:rPr lang="en-US" sz="1400" dirty="0">
                <a:solidFill>
                  <a:schemeClr val="tx1"/>
                </a:solidFill>
              </a:rPr>
              <a:t> (et pas </a:t>
            </a:r>
            <a:r>
              <a:rPr lang="en-US" sz="1400" i="1" dirty="0">
                <a:solidFill>
                  <a:schemeClr val="tx1"/>
                </a:solidFill>
              </a:rPr>
              <a:t>gezien</a:t>
            </a:r>
            <a:r>
              <a:rPr lang="en-US" sz="1400" dirty="0">
                <a:solidFill>
                  <a:schemeClr val="tx1"/>
                </a:solidFill>
              </a:rPr>
              <a:t>).</a:t>
            </a:r>
            <a:endParaRPr lang="en-US" sz="1400" dirty="0"/>
          </a:p>
        </p:txBody>
      </p:sp>
      <p:sp>
        <p:nvSpPr>
          <p:cNvPr id="38" name="Shape 35"/>
          <p:cNvSpPr/>
          <p:nvPr/>
        </p:nvSpPr>
        <p:spPr>
          <a:xfrm>
            <a:off x="6126480" y="1463040"/>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6126480" y="1463040"/>
            <a:ext cx="109728" cy="1143000"/>
          </a:xfrm>
          <a:prstGeom prst="rect">
            <a:avLst/>
          </a:prstGeom>
          <a:solidFill>
            <a:srgbClr val="0E7C86"/>
          </a:solidFill>
          <a:ln w="12700">
            <a:solidFill>
              <a:srgbClr val="FFFFFF">
                <a:alpha val="0"/>
              </a:srgbClr>
            </a:solidFill>
            <a:prstDash val="solid"/>
          </a:ln>
        </p:spPr>
      </p:sp>
      <p:pic>
        <p:nvPicPr>
          <p:cNvPr id="40" name="Image 0" descr="eyes">    </p:cNvPr>
          <p:cNvPicPr>
            <a:picLocks noChangeAspect="1"/>
          </p:cNvPicPr>
          <p:nvPr/>
        </p:nvPicPr>
        <p:blipFill>
          <a:blip r:embed="rId1"/>
          <a:stretch>
            <a:fillRect/>
          </a:stretch>
        </p:blipFill>
        <p:spPr>
          <a:xfrm>
            <a:off x="6382512" y="1645920"/>
            <a:ext cx="777240" cy="777240"/>
          </a:xfrm>
          <a:prstGeom prst="rect">
            <a:avLst/>
          </a:prstGeom>
        </p:spPr>
      </p:pic>
      <p:sp>
        <p:nvSpPr>
          <p:cNvPr id="41" name="Text 37"/>
          <p:cNvSpPr txBox="1"/>
          <p:nvPr/>
        </p:nvSpPr>
        <p:spPr>
          <a:xfrm>
            <a:off x="7315200" y="1517904"/>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zie hem vertrekken.</a:t>
            </a:r>
            <a:endParaRPr lang="en-US" sz="1400" dirty="0"/>
          </a:p>
        </p:txBody>
      </p:sp>
      <p:sp>
        <p:nvSpPr>
          <p:cNvPr id="42" name="Text 38"/>
          <p:cNvSpPr txBox="1"/>
          <p:nvPr/>
        </p:nvSpPr>
        <p:spPr>
          <a:xfrm>
            <a:off x="7315200" y="1805940"/>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hem </a:t>
            </a:r>
            <a:r>
              <a:rPr lang="en-US" sz="1800" b="1" i="1" dirty="0">
                <a:solidFill>
                  <a:srgbClr val="D9700F"/>
                </a:solidFill>
              </a:rPr>
              <a:t>zien vertrekken</a:t>
            </a:r>
            <a:r>
              <a:rPr lang="en-US" sz="1800" i="1" dirty="0">
                <a:solidFill>
                  <a:schemeClr val="tx1"/>
                </a:solidFill>
              </a:rPr>
              <a:t>.</a:t>
            </a:r>
            <a:endParaRPr lang="en-US" sz="1800" dirty="0"/>
          </a:p>
        </p:txBody>
      </p:sp>
      <p:sp>
        <p:nvSpPr>
          <p:cNvPr id="43" name="Text 39"/>
          <p:cNvSpPr txBox="1"/>
          <p:nvPr/>
        </p:nvSpPr>
        <p:spPr>
          <a:xfrm>
            <a:off x="7315200" y="2286000"/>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vu partir</a:t>
            </a:r>
            <a:endParaRPr lang="en-US" sz="1300" dirty="0"/>
          </a:p>
        </p:txBody>
      </p:sp>
      <p:sp>
        <p:nvSpPr>
          <p:cNvPr id="44" name="Shape 40"/>
          <p:cNvSpPr/>
          <p:nvPr/>
        </p:nvSpPr>
        <p:spPr>
          <a:xfrm>
            <a:off x="6126480" y="2715768"/>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6126480" y="2715768"/>
            <a:ext cx="109728" cy="1143000"/>
          </a:xfrm>
          <a:prstGeom prst="rect">
            <a:avLst/>
          </a:prstGeom>
          <a:solidFill>
            <a:srgbClr val="0E7C86"/>
          </a:solidFill>
          <a:ln w="12700">
            <a:solidFill>
              <a:srgbClr val="FFFFFF">
                <a:alpha val="0"/>
              </a:srgbClr>
            </a:solidFill>
            <a:prstDash val="solid"/>
          </a:ln>
        </p:spPr>
      </p:sp>
      <p:pic>
        <p:nvPicPr>
          <p:cNvPr id="46" name="Image 1" descr="woman singer">    </p:cNvPr>
          <p:cNvPicPr>
            <a:picLocks noChangeAspect="1"/>
          </p:cNvPicPr>
          <p:nvPr/>
        </p:nvPicPr>
        <p:blipFill>
          <a:blip r:embed="rId2"/>
          <a:stretch>
            <a:fillRect/>
          </a:stretch>
        </p:blipFill>
        <p:spPr>
          <a:xfrm>
            <a:off x="6382512" y="2898648"/>
            <a:ext cx="777240" cy="777240"/>
          </a:xfrm>
          <a:prstGeom prst="rect">
            <a:avLst/>
          </a:prstGeom>
        </p:spPr>
      </p:pic>
      <p:sp>
        <p:nvSpPr>
          <p:cNvPr id="47" name="Text 42"/>
          <p:cNvSpPr txBox="1"/>
          <p:nvPr/>
        </p:nvSpPr>
        <p:spPr>
          <a:xfrm>
            <a:off x="7315200" y="2770632"/>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hoor haar zingen.</a:t>
            </a:r>
            <a:endParaRPr lang="en-US" sz="1400" dirty="0"/>
          </a:p>
        </p:txBody>
      </p:sp>
      <p:sp>
        <p:nvSpPr>
          <p:cNvPr id="48" name="Text 43"/>
          <p:cNvSpPr txBox="1"/>
          <p:nvPr/>
        </p:nvSpPr>
        <p:spPr>
          <a:xfrm>
            <a:off x="7315200" y="3058668"/>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haar </a:t>
            </a:r>
            <a:r>
              <a:rPr lang="en-US" sz="1800" b="1" i="1" dirty="0">
                <a:solidFill>
                  <a:srgbClr val="D9700F"/>
                </a:solidFill>
              </a:rPr>
              <a:t>horen zingen</a:t>
            </a:r>
            <a:r>
              <a:rPr lang="en-US" sz="1800" i="1" dirty="0">
                <a:solidFill>
                  <a:schemeClr val="tx1"/>
                </a:solidFill>
              </a:rPr>
              <a:t>.</a:t>
            </a:r>
            <a:endParaRPr lang="en-US" sz="1800" dirty="0"/>
          </a:p>
        </p:txBody>
      </p:sp>
      <p:sp>
        <p:nvSpPr>
          <p:cNvPr id="49" name="Text 44"/>
          <p:cNvSpPr txBox="1"/>
          <p:nvPr/>
        </p:nvSpPr>
        <p:spPr>
          <a:xfrm>
            <a:off x="7315200" y="3538728"/>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je l’ai entendue chanter</a:t>
            </a:r>
            <a:endParaRPr lang="en-US" sz="1300" dirty="0"/>
          </a:p>
        </p:txBody>
      </p:sp>
      <p:sp>
        <p:nvSpPr>
          <p:cNvPr id="50" name="Shape 45"/>
          <p:cNvSpPr/>
          <p:nvPr/>
        </p:nvSpPr>
        <p:spPr>
          <a:xfrm>
            <a:off x="6126480" y="3968496"/>
            <a:ext cx="5513832" cy="1143000"/>
          </a:xfrm>
          <a:prstGeom prst="roundRect">
            <a:avLst>
              <a:gd name="adj" fmla="val 8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6"/>
          <p:cNvSpPr/>
          <p:nvPr/>
        </p:nvSpPr>
        <p:spPr>
          <a:xfrm>
            <a:off x="6126480" y="3968496"/>
            <a:ext cx="109728" cy="1143000"/>
          </a:xfrm>
          <a:prstGeom prst="rect">
            <a:avLst/>
          </a:prstGeom>
          <a:solidFill>
            <a:srgbClr val="0E7C86"/>
          </a:solidFill>
          <a:ln w="12700">
            <a:solidFill>
              <a:srgbClr val="FFFFFF">
                <a:alpha val="0"/>
              </a:srgbClr>
            </a:solidFill>
            <a:prstDash val="solid"/>
          </a:ln>
        </p:spPr>
      </p:sp>
      <p:pic>
        <p:nvPicPr>
          <p:cNvPr id="52" name="Image 2" descr="vibration mode">    </p:cNvPr>
          <p:cNvPicPr>
            <a:picLocks noChangeAspect="1"/>
          </p:cNvPicPr>
          <p:nvPr/>
        </p:nvPicPr>
        <p:blipFill>
          <a:blip r:embed="rId3"/>
          <a:stretch>
            <a:fillRect/>
          </a:stretch>
        </p:blipFill>
        <p:spPr>
          <a:xfrm>
            <a:off x="6382512" y="4151376"/>
            <a:ext cx="777240" cy="777240"/>
          </a:xfrm>
          <a:prstGeom prst="rect">
            <a:avLst/>
          </a:prstGeom>
        </p:spPr>
      </p:pic>
      <p:sp>
        <p:nvSpPr>
          <p:cNvPr id="53" name="Text 47"/>
          <p:cNvSpPr txBox="1"/>
          <p:nvPr/>
        </p:nvSpPr>
        <p:spPr>
          <a:xfrm>
            <a:off x="7315200" y="4023360"/>
            <a:ext cx="4187952" cy="342900"/>
          </a:xfrm>
          <a:prstGeom prst="rect">
            <a:avLst/>
          </a:prstGeom>
          <a:noFill/>
          <a:ln/>
        </p:spPr>
        <p:txBody>
          <a:bodyPr wrap="square" lIns="0" tIns="0" rIns="0" bIns="0" rtlCol="0" anchor="ctr"/>
          <a:lstStyle/>
          <a:p>
            <a:pPr algn="l" indent="0" marL="0">
              <a:buNone/>
            </a:pPr>
            <a:r>
              <a:rPr lang="en-US" sz="1400" i="1" dirty="0">
                <a:solidFill>
                  <a:schemeClr val="accent5"/>
                </a:solidFill>
              </a:rPr>
              <a:t>Ik voel de grond trillen.</a:t>
            </a:r>
            <a:endParaRPr lang="en-US" sz="1400" dirty="0"/>
          </a:p>
        </p:txBody>
      </p:sp>
      <p:sp>
        <p:nvSpPr>
          <p:cNvPr id="54" name="Text 48"/>
          <p:cNvSpPr txBox="1"/>
          <p:nvPr/>
        </p:nvSpPr>
        <p:spPr>
          <a:xfrm>
            <a:off x="7315200" y="4311396"/>
            <a:ext cx="4187952" cy="480060"/>
          </a:xfrm>
          <a:prstGeom prst="rect">
            <a:avLst/>
          </a:prstGeom>
          <a:noFill/>
          <a:ln/>
        </p:spPr>
        <p:txBody>
          <a:bodyPr wrap="square" lIns="0" tIns="0" rIns="0" bIns="0" rtlCol="0" anchor="ctr"/>
          <a:lstStyle/>
          <a:p>
            <a:pPr algn="l" indent="0" marL="0">
              <a:buNone/>
            </a:pPr>
            <a:r>
              <a:rPr lang="en-US" sz="1800" i="1" dirty="0">
                <a:solidFill>
                  <a:schemeClr val="tx1"/>
                </a:solidFill>
              </a:rPr>
              <a:t>Ik heb de grond </a:t>
            </a:r>
            <a:r>
              <a:rPr lang="en-US" sz="1800" b="1" i="1" dirty="0">
                <a:solidFill>
                  <a:srgbClr val="D9700F"/>
                </a:solidFill>
              </a:rPr>
              <a:t>voelen trillen</a:t>
            </a:r>
            <a:r>
              <a:rPr lang="en-US" sz="1800" i="1" dirty="0">
                <a:solidFill>
                  <a:schemeClr val="tx1"/>
                </a:solidFill>
              </a:rPr>
              <a:t>.</a:t>
            </a:r>
            <a:endParaRPr lang="en-US" sz="1800" dirty="0"/>
          </a:p>
        </p:txBody>
      </p:sp>
      <p:sp>
        <p:nvSpPr>
          <p:cNvPr id="55" name="Text 49"/>
          <p:cNvSpPr txBox="1"/>
          <p:nvPr/>
        </p:nvSpPr>
        <p:spPr>
          <a:xfrm>
            <a:off x="7315200" y="4791456"/>
            <a:ext cx="4187952" cy="297180"/>
          </a:xfrm>
          <a:prstGeom prst="rect">
            <a:avLst/>
          </a:prstGeom>
          <a:noFill/>
          <a:ln/>
        </p:spPr>
        <p:txBody>
          <a:bodyPr wrap="square" lIns="0" tIns="0" rIns="0" bIns="0" rtlCol="0" anchor="ctr"/>
          <a:lstStyle/>
          <a:p>
            <a:pPr algn="l" indent="0" marL="0">
              <a:buNone/>
            </a:pPr>
            <a:r>
              <a:rPr lang="en-US" sz="1300" i="1" dirty="0">
                <a:solidFill>
                  <a:schemeClr val="tx2"/>
                </a:solidFill>
              </a:rPr>
              <a:t>j’ai senti le sol trembler</a:t>
            </a:r>
            <a:endParaRPr lang="en-US" sz="1300" dirty="0"/>
          </a:p>
        </p:txBody>
      </p:sp>
      <p:sp>
        <p:nvSpPr>
          <p:cNvPr id="56" name="Text 50"/>
          <p:cNvSpPr txBox="1"/>
          <p:nvPr/>
        </p:nvSpPr>
        <p:spPr>
          <a:xfrm>
            <a:off x="6126480" y="5312664"/>
            <a:ext cx="5513832" cy="548640"/>
          </a:xfrm>
          <a:prstGeom prst="rect">
            <a:avLst/>
          </a:prstGeom>
          <a:noFill/>
          <a:ln/>
        </p:spPr>
        <p:txBody>
          <a:bodyPr wrap="square" lIns="0" tIns="0" rIns="0" bIns="0" rtlCol="0" anchor="ctr"/>
          <a:lstStyle/>
          <a:p>
            <a:pPr algn="l" indent="0" marL="0">
              <a:buNone/>
            </a:pPr>
            <a:r>
              <a:rPr lang="en-US" sz="1400" dirty="0">
                <a:solidFill>
                  <a:schemeClr val="accent5"/>
                </a:solidFill>
              </a:rPr>
              <a:t>Plus rare, mais possible aussi avec </a:t>
            </a:r>
            <a:r>
              <a:rPr lang="en-US" sz="1400" i="1" dirty="0">
                <a:solidFill>
                  <a:schemeClr val="accent5"/>
                </a:solidFill>
              </a:rPr>
              <a:t>helpen</a:t>
            </a:r>
            <a:r>
              <a:rPr lang="en-US" sz="1400" dirty="0">
                <a:solidFill>
                  <a:schemeClr val="accent5"/>
                </a:solidFill>
              </a:rPr>
              <a:t> et </a:t>
            </a:r>
            <a:r>
              <a:rPr lang="en-US" sz="1400" i="1" dirty="0">
                <a:solidFill>
                  <a:schemeClr val="accent5"/>
                </a:solidFill>
              </a:rPr>
              <a:t>leren</a:t>
            </a:r>
            <a:r>
              <a:rPr lang="en-US" sz="1400" dirty="0">
                <a:solidFill>
                  <a:schemeClr val="accent5"/>
                </a:solidFill>
              </a:rPr>
              <a:t> : </a:t>
            </a:r>
            <a:r>
              <a:rPr lang="en-US" sz="1400" i="1" dirty="0">
                <a:solidFill>
                  <a:schemeClr val="accent5"/>
                </a:solidFill>
              </a:rPr>
              <a:t>Ik heb hem </a:t>
            </a:r>
            <a:r>
              <a:rPr lang="en-US" sz="1400" b="1" i="1" dirty="0">
                <a:solidFill>
                  <a:schemeClr val="accent5"/>
                </a:solidFill>
              </a:rPr>
              <a:t>helpen</a:t>
            </a:r>
            <a:r>
              <a:rPr lang="en-US" sz="1400" i="1" dirty="0">
                <a:solidFill>
                  <a:schemeClr val="accent5"/>
                </a:solidFill>
              </a:rPr>
              <a:t> verhuizen.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premier wagon choisit la locomotive</a:t>
            </a:r>
            <a:endParaRPr lang="en-US" sz="3000" dirty="0"/>
          </a:p>
        </p:txBody>
      </p:sp>
      <p:sp>
        <p:nvSpPr>
          <p:cNvPr id="3" name="tag"/>
          <p:cNvSpPr/>
          <p:nvPr/>
        </p:nvSpPr>
        <p:spPr>
          <a:xfrm>
            <a:off x="548640" y="237744"/>
            <a:ext cx="2092147"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HEBBEN OU ZIJN ?</a:t>
            </a:r>
            <a:endParaRPr lang="en-US" sz="1200" dirty="0"/>
          </a:p>
        </p:txBody>
      </p:sp>
      <p:sp>
        <p:nvSpPr>
          <p:cNvPr id="5" name="Shape 2"/>
          <p:cNvSpPr/>
          <p:nvPr/>
        </p:nvSpPr>
        <p:spPr>
          <a:xfrm>
            <a:off x="548640" y="1874520"/>
            <a:ext cx="634959" cy="658368"/>
          </a:xfrm>
          <a:prstGeom prst="roundRect">
            <a:avLst>
              <a:gd name="adj" fmla="val 14401"/>
            </a:avLst>
          </a:prstGeom>
          <a:solidFill>
            <a:schemeClr val="bg1"/>
          </a:solidFill>
          <a:ln w="15875">
            <a:solidFill>
              <a:srgbClr val="D5DCE6"/>
            </a:solidFill>
            <a:prstDash val="solid"/>
          </a:ln>
        </p:spPr>
      </p:sp>
      <p:sp>
        <p:nvSpPr>
          <p:cNvPr id="6" name="Text 3"/>
          <p:cNvSpPr txBox="1"/>
          <p:nvPr/>
        </p:nvSpPr>
        <p:spPr>
          <a:xfrm>
            <a:off x="548640" y="187452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7" name="Shape 4"/>
          <p:cNvSpPr/>
          <p:nvPr/>
        </p:nvSpPr>
        <p:spPr>
          <a:xfrm>
            <a:off x="1265895" y="1874520"/>
            <a:ext cx="976023" cy="658368"/>
          </a:xfrm>
          <a:prstGeom prst="roundRect">
            <a:avLst>
              <a:gd name="adj" fmla="val 13889"/>
            </a:avLst>
          </a:prstGeom>
          <a:solidFill>
            <a:schemeClr val="tx2"/>
          </a:solidFill>
          <a:ln w="12700">
            <a:solidFill>
              <a:srgbClr val="FFFFFF">
                <a:alpha val="0"/>
              </a:srgbClr>
            </a:solidFill>
            <a:prstDash val="solid"/>
          </a:ln>
        </p:spPr>
      </p:sp>
      <p:sp>
        <p:nvSpPr>
          <p:cNvPr id="8" name="Text 5"/>
          <p:cNvSpPr txBox="1"/>
          <p:nvPr/>
        </p:nvSpPr>
        <p:spPr>
          <a:xfrm>
            <a:off x="1265895" y="187452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heb</a:t>
            </a:r>
            <a:endParaRPr lang="en-US" sz="2400" dirty="0"/>
          </a:p>
        </p:txBody>
      </p:sp>
      <p:sp>
        <p:nvSpPr>
          <p:cNvPr id="9" name="Shape 6"/>
          <p:cNvSpPr/>
          <p:nvPr/>
        </p:nvSpPr>
        <p:spPr>
          <a:xfrm>
            <a:off x="2324215" y="1874520"/>
            <a:ext cx="1833189" cy="658368"/>
          </a:xfrm>
          <a:prstGeom prst="roundRect">
            <a:avLst>
              <a:gd name="adj" fmla="val 13889"/>
            </a:avLst>
          </a:prstGeom>
          <a:solidFill>
            <a:schemeClr val="bg1"/>
          </a:solidFill>
          <a:ln w="15875">
            <a:solidFill>
              <a:srgbClr val="D5DCE6"/>
            </a:solidFill>
            <a:prstDash val="solid"/>
          </a:ln>
        </p:spPr>
      </p:sp>
      <p:sp>
        <p:nvSpPr>
          <p:cNvPr id="10" name="Text 7"/>
          <p:cNvSpPr txBox="1"/>
          <p:nvPr/>
        </p:nvSpPr>
        <p:spPr>
          <a:xfrm>
            <a:off x="2324215" y="1874520"/>
            <a:ext cx="1833189" cy="658368"/>
          </a:xfrm>
          <a:prstGeom prst="rect">
            <a:avLst/>
          </a:prstGeom>
          <a:noFill/>
          <a:ln/>
        </p:spPr>
        <p:txBody>
          <a:bodyPr wrap="square" lIns="0" tIns="0" rIns="0" bIns="0" rtlCol="0" anchor="ctr"/>
          <a:lstStyle/>
          <a:p>
            <a:pPr algn="ctr" indent="0" marL="0">
              <a:buNone/>
            </a:pPr>
            <a:r>
              <a:rPr lang="en-US" sz="2400" dirty="0">
                <a:solidFill>
                  <a:schemeClr val="tx1"/>
                </a:solidFill>
              </a:rPr>
              <a:t>naar huis</a:t>
            </a:r>
            <a:endParaRPr lang="en-US" sz="2400" dirty="0"/>
          </a:p>
        </p:txBody>
      </p:sp>
      <p:sp>
        <p:nvSpPr>
          <p:cNvPr id="11" name="Shape 8"/>
          <p:cNvSpPr/>
          <p:nvPr/>
        </p:nvSpPr>
        <p:spPr>
          <a:xfrm>
            <a:off x="4239700" y="1874520"/>
            <a:ext cx="1551174" cy="658368"/>
          </a:xfrm>
          <a:prstGeom prst="roundRect">
            <a:avLst>
              <a:gd name="adj" fmla="val 13889"/>
            </a:avLst>
          </a:prstGeom>
          <a:solidFill>
            <a:schemeClr val="accent1"/>
          </a:solidFill>
          <a:ln w="12700">
            <a:solidFill>
              <a:srgbClr val="FFFFFF">
                <a:alpha val="0"/>
              </a:srgbClr>
            </a:solidFill>
            <a:prstDash val="solid"/>
          </a:ln>
        </p:spPr>
      </p:sp>
      <p:sp>
        <p:nvSpPr>
          <p:cNvPr id="12" name="Text 9"/>
          <p:cNvSpPr txBox="1"/>
          <p:nvPr/>
        </p:nvSpPr>
        <p:spPr>
          <a:xfrm>
            <a:off x="4239700" y="1874520"/>
            <a:ext cx="1551174" cy="658368"/>
          </a:xfrm>
          <a:prstGeom prst="rect">
            <a:avLst/>
          </a:prstGeom>
          <a:noFill/>
          <a:ln/>
        </p:spPr>
        <p:txBody>
          <a:bodyPr wrap="square" lIns="0" tIns="0" rIns="0" bIns="0" rtlCol="0" anchor="ctr"/>
          <a:lstStyle/>
          <a:p>
            <a:pPr algn="ctr" indent="0" marL="0">
              <a:buNone/>
            </a:pPr>
            <a:r>
              <a:rPr lang="en-US" sz="2400" b="1" dirty="0">
                <a:solidFill>
                  <a:schemeClr val="bg1"/>
                </a:solidFill>
              </a:rPr>
              <a:t>moeten</a:t>
            </a:r>
            <a:endParaRPr lang="en-US" sz="2400" dirty="0"/>
          </a:p>
        </p:txBody>
      </p:sp>
      <p:sp>
        <p:nvSpPr>
          <p:cNvPr id="13" name="Shape 10"/>
          <p:cNvSpPr/>
          <p:nvPr/>
        </p:nvSpPr>
        <p:spPr>
          <a:xfrm>
            <a:off x="5873169" y="1874520"/>
            <a:ext cx="1359457" cy="658368"/>
          </a:xfrm>
          <a:prstGeom prst="roundRect">
            <a:avLst>
              <a:gd name="adj" fmla="val 13889"/>
            </a:avLst>
          </a:prstGeom>
          <a:solidFill>
            <a:srgbClr val="FBEDEB"/>
          </a:solidFill>
          <a:ln w="25400">
            <a:solidFill>
              <a:srgbClr val="B83227"/>
            </a:solidFill>
            <a:prstDash val="solid"/>
          </a:ln>
        </p:spPr>
      </p:sp>
      <p:sp>
        <p:nvSpPr>
          <p:cNvPr id="14" name="Text 11"/>
          <p:cNvSpPr txBox="1"/>
          <p:nvPr/>
        </p:nvSpPr>
        <p:spPr>
          <a:xfrm>
            <a:off x="5873169" y="1874520"/>
            <a:ext cx="1359457" cy="658368"/>
          </a:xfrm>
          <a:prstGeom prst="rect">
            <a:avLst/>
          </a:prstGeom>
          <a:noFill/>
          <a:ln/>
        </p:spPr>
        <p:txBody>
          <a:bodyPr wrap="square" lIns="0" tIns="0" rIns="0" bIns="0" rtlCol="0" anchor="ctr"/>
          <a:lstStyle/>
          <a:p>
            <a:pPr algn="ctr" indent="0" marL="0">
              <a:buNone/>
            </a:pPr>
            <a:r>
              <a:rPr lang="en-US" sz="2400" b="1" dirty="0">
                <a:solidFill>
                  <a:schemeClr val="accent6"/>
                </a:solidFill>
              </a:rPr>
              <a:t>gaan.</a:t>
            </a:r>
            <a:endParaRPr lang="en-US" sz="2400" dirty="0"/>
          </a:p>
        </p:txBody>
      </p:sp>
      <p:sp>
        <p:nvSpPr>
          <p:cNvPr id="15" name="Shape 12"/>
          <p:cNvSpPr/>
          <p:nvPr/>
        </p:nvSpPr>
        <p:spPr>
          <a:xfrm>
            <a:off x="457200" y="2688336"/>
            <a:ext cx="6866866" cy="45720"/>
          </a:xfrm>
          <a:prstGeom prst="rect">
            <a:avLst/>
          </a:prstGeom>
          <a:solidFill>
            <a:srgbClr val="8A96A8"/>
          </a:solidFill>
          <a:ln w="12700">
            <a:solidFill>
              <a:srgbClr val="FFFFFF">
                <a:alpha val="0"/>
              </a:srgbClr>
            </a:solidFill>
            <a:prstDash val="solid"/>
          </a:ln>
        </p:spPr>
      </p:sp>
      <p:sp>
        <p:nvSpPr>
          <p:cNvPr id="16" name="Shape 13"/>
          <p:cNvSpPr/>
          <p:nvPr/>
        </p:nvSpPr>
        <p:spPr>
          <a:xfrm>
            <a:off x="1407468"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1954041" y="2542032"/>
            <a:ext cx="146304" cy="146304"/>
          </a:xfrm>
          <a:prstGeom prst="ellipse">
            <a:avLst/>
          </a:prstGeom>
          <a:solidFill>
            <a:srgbClr val="1B2333"/>
          </a:solidFill>
          <a:ln w="12700">
            <a:solidFill>
              <a:srgbClr val="FFFFFF">
                <a:alpha val="0"/>
              </a:srgbClr>
            </a:solidFill>
            <a:prstDash val="solid"/>
          </a:ln>
        </p:spPr>
      </p:sp>
      <p:sp>
        <p:nvSpPr>
          <p:cNvPr id="18" name="Shape 15"/>
          <p:cNvSpPr/>
          <p:nvPr/>
        </p:nvSpPr>
        <p:spPr>
          <a:xfrm>
            <a:off x="1375623" y="1673352"/>
            <a:ext cx="146304" cy="219456"/>
          </a:xfrm>
          <a:prstGeom prst="rect">
            <a:avLst/>
          </a:prstGeom>
          <a:solidFill>
            <a:schemeClr val="tx2"/>
          </a:solidFill>
          <a:ln w="12700">
            <a:solidFill>
              <a:srgbClr val="FFFFFF">
                <a:alpha val="0"/>
              </a:srgbClr>
            </a:solidFill>
            <a:prstDash val="solid"/>
          </a:ln>
        </p:spPr>
      </p:sp>
      <p:sp>
        <p:nvSpPr>
          <p:cNvPr id="19" name="Shape 16"/>
          <p:cNvSpPr/>
          <p:nvPr/>
        </p:nvSpPr>
        <p:spPr>
          <a:xfrm>
            <a:off x="4507806" y="2542032"/>
            <a:ext cx="146304" cy="146304"/>
          </a:xfrm>
          <a:prstGeom prst="ellipse">
            <a:avLst/>
          </a:prstGeom>
          <a:solidFill>
            <a:srgbClr val="1B2333"/>
          </a:solidFill>
          <a:ln w="12700">
            <a:solidFill>
              <a:srgbClr val="FFFFFF">
                <a:alpha val="0"/>
              </a:srgbClr>
            </a:solidFill>
            <a:prstDash val="solid"/>
          </a:ln>
        </p:spPr>
      </p:sp>
      <p:sp>
        <p:nvSpPr>
          <p:cNvPr id="20" name="Shape 17"/>
          <p:cNvSpPr/>
          <p:nvPr/>
        </p:nvSpPr>
        <p:spPr>
          <a:xfrm>
            <a:off x="5376463" y="2542032"/>
            <a:ext cx="146304" cy="146304"/>
          </a:xfrm>
          <a:prstGeom prst="ellipse">
            <a:avLst/>
          </a:prstGeom>
          <a:solidFill>
            <a:srgbClr val="1B2333"/>
          </a:solidFill>
          <a:ln w="12700">
            <a:solidFill>
              <a:srgbClr val="FFFFFF">
                <a:alpha val="0"/>
              </a:srgbClr>
            </a:solidFill>
            <a:prstDash val="solid"/>
          </a:ln>
        </p:spPr>
      </p:sp>
      <p:sp>
        <p:nvSpPr>
          <p:cNvPr id="21" name="Shape 18"/>
          <p:cNvSpPr/>
          <p:nvPr/>
        </p:nvSpPr>
        <p:spPr>
          <a:xfrm>
            <a:off x="5790873" y="2368296"/>
            <a:ext cx="82296" cy="914"/>
          </a:xfrm>
          <a:prstGeom prst="line">
            <a:avLst/>
          </a:prstGeom>
          <a:noFill/>
          <a:ln w="31750">
            <a:solidFill>
              <a:srgbClr val="1B2333"/>
            </a:solidFill>
            <a:prstDash val="solid"/>
          </a:ln>
        </p:spPr>
      </p:sp>
      <p:sp>
        <p:nvSpPr>
          <p:cNvPr id="22" name="Shape 19"/>
          <p:cNvSpPr/>
          <p:nvPr/>
        </p:nvSpPr>
        <p:spPr>
          <a:xfrm>
            <a:off x="6099098" y="2542032"/>
            <a:ext cx="146304" cy="146304"/>
          </a:xfrm>
          <a:prstGeom prst="ellipse">
            <a:avLst/>
          </a:prstGeom>
          <a:solidFill>
            <a:srgbClr val="1B2333"/>
          </a:solidFill>
          <a:ln w="12700">
            <a:solidFill>
              <a:srgbClr val="FFFFFF">
                <a:alpha val="0"/>
              </a:srgbClr>
            </a:solidFill>
            <a:prstDash val="solid"/>
          </a:ln>
        </p:spPr>
      </p:sp>
      <p:sp>
        <p:nvSpPr>
          <p:cNvPr id="23" name="Shape 20"/>
          <p:cNvSpPr/>
          <p:nvPr/>
        </p:nvSpPr>
        <p:spPr>
          <a:xfrm>
            <a:off x="6860394" y="2542032"/>
            <a:ext cx="146304" cy="146304"/>
          </a:xfrm>
          <a:prstGeom prst="ellipse">
            <a:avLst/>
          </a:prstGeom>
          <a:solidFill>
            <a:srgbClr val="1B2333"/>
          </a:solidFill>
          <a:ln w="12700">
            <a:solidFill>
              <a:srgbClr val="FFFFFF">
                <a:alpha val="0"/>
              </a:srgbClr>
            </a:solidFill>
            <a:prstDash val="solid"/>
          </a:ln>
        </p:spPr>
      </p:sp>
      <p:sp>
        <p:nvSpPr>
          <p:cNvPr id="24" name="Shape 21"/>
          <p:cNvSpPr/>
          <p:nvPr/>
        </p:nvSpPr>
        <p:spPr>
          <a:xfrm>
            <a:off x="1753907" y="1444752"/>
            <a:ext cx="3261380"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25" name="Text 22"/>
          <p:cNvSpPr txBox="1"/>
          <p:nvPr/>
        </p:nvSpPr>
        <p:spPr>
          <a:xfrm>
            <a:off x="548640" y="278892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moeten</a:t>
            </a:r>
            <a:r>
              <a:rPr lang="en-US" sz="1800" dirty="0">
                <a:solidFill>
                  <a:schemeClr val="tx2"/>
                </a:solidFill>
              </a:rPr>
              <a:t> → </a:t>
            </a:r>
            <a:r>
              <a:rPr lang="en-US" sz="1800" b="1" dirty="0">
                <a:solidFill>
                  <a:schemeClr val="tx2"/>
                </a:solidFill>
              </a:rPr>
              <a:t>hebben</a:t>
            </a:r>
            <a:endParaRPr lang="en-US" sz="1800" dirty="0"/>
          </a:p>
        </p:txBody>
      </p:sp>
      <p:sp>
        <p:nvSpPr>
          <p:cNvPr id="26" name="Shape 23"/>
          <p:cNvSpPr/>
          <p:nvPr/>
        </p:nvSpPr>
        <p:spPr>
          <a:xfrm>
            <a:off x="548640" y="3657600"/>
            <a:ext cx="634959" cy="658368"/>
          </a:xfrm>
          <a:prstGeom prst="roundRect">
            <a:avLst>
              <a:gd name="adj" fmla="val 14401"/>
            </a:avLst>
          </a:prstGeom>
          <a:solidFill>
            <a:schemeClr val="bg1"/>
          </a:solidFill>
          <a:ln w="15875">
            <a:solidFill>
              <a:srgbClr val="D5DCE6"/>
            </a:solidFill>
            <a:prstDash val="solid"/>
          </a:ln>
        </p:spPr>
      </p:sp>
      <p:sp>
        <p:nvSpPr>
          <p:cNvPr id="27" name="Text 24"/>
          <p:cNvSpPr txBox="1"/>
          <p:nvPr/>
        </p:nvSpPr>
        <p:spPr>
          <a:xfrm>
            <a:off x="548640" y="3657600"/>
            <a:ext cx="634959" cy="658368"/>
          </a:xfrm>
          <a:prstGeom prst="rect">
            <a:avLst/>
          </a:prstGeom>
          <a:noFill/>
          <a:ln/>
        </p:spPr>
        <p:txBody>
          <a:bodyPr wrap="square" lIns="0" tIns="0" rIns="0" bIns="0" rtlCol="0" anchor="ctr"/>
          <a:lstStyle/>
          <a:p>
            <a:pPr algn="ctr" indent="0" marL="0">
              <a:buNone/>
            </a:pPr>
            <a:r>
              <a:rPr lang="en-US" sz="2400" dirty="0">
                <a:solidFill>
                  <a:schemeClr val="tx1"/>
                </a:solidFill>
              </a:rPr>
              <a:t>Ik</a:t>
            </a:r>
            <a:endParaRPr lang="en-US" sz="2400" dirty="0"/>
          </a:p>
        </p:txBody>
      </p:sp>
      <p:sp>
        <p:nvSpPr>
          <p:cNvPr id="28" name="Shape 25"/>
          <p:cNvSpPr/>
          <p:nvPr/>
        </p:nvSpPr>
        <p:spPr>
          <a:xfrm>
            <a:off x="1265895" y="3657600"/>
            <a:ext cx="976023" cy="658368"/>
          </a:xfrm>
          <a:prstGeom prst="roundRect">
            <a:avLst>
              <a:gd name="adj" fmla="val 13889"/>
            </a:avLst>
          </a:prstGeom>
          <a:solidFill>
            <a:schemeClr val="tx2"/>
          </a:solidFill>
          <a:ln w="12700">
            <a:solidFill>
              <a:srgbClr val="FFFFFF">
                <a:alpha val="0"/>
              </a:srgbClr>
            </a:solidFill>
            <a:prstDash val="solid"/>
          </a:ln>
        </p:spPr>
      </p:sp>
      <p:sp>
        <p:nvSpPr>
          <p:cNvPr id="29" name="Text 26"/>
          <p:cNvSpPr txBox="1"/>
          <p:nvPr/>
        </p:nvSpPr>
        <p:spPr>
          <a:xfrm>
            <a:off x="1265895" y="3657600"/>
            <a:ext cx="976023" cy="658368"/>
          </a:xfrm>
          <a:prstGeom prst="rect">
            <a:avLst/>
          </a:prstGeom>
          <a:noFill/>
          <a:ln/>
        </p:spPr>
        <p:txBody>
          <a:bodyPr wrap="square" lIns="0" tIns="0" rIns="0" bIns="0" rtlCol="0" anchor="ctr"/>
          <a:lstStyle/>
          <a:p>
            <a:pPr algn="ctr" indent="0" marL="0">
              <a:buNone/>
            </a:pPr>
            <a:r>
              <a:rPr lang="en-US" sz="2400" b="1" dirty="0">
                <a:solidFill>
                  <a:schemeClr val="bg1"/>
                </a:solidFill>
              </a:rPr>
              <a:t>ben</a:t>
            </a:r>
            <a:endParaRPr lang="en-US" sz="2400" dirty="0"/>
          </a:p>
        </p:txBody>
      </p:sp>
      <p:sp>
        <p:nvSpPr>
          <p:cNvPr id="30" name="Shape 27"/>
          <p:cNvSpPr/>
          <p:nvPr/>
        </p:nvSpPr>
        <p:spPr>
          <a:xfrm>
            <a:off x="2324215" y="3657600"/>
            <a:ext cx="1167740" cy="658368"/>
          </a:xfrm>
          <a:prstGeom prst="roundRect">
            <a:avLst>
              <a:gd name="adj" fmla="val 13889"/>
            </a:avLst>
          </a:prstGeom>
          <a:solidFill>
            <a:schemeClr val="accent1"/>
          </a:solidFill>
          <a:ln w="12700">
            <a:solidFill>
              <a:srgbClr val="FFFFFF">
                <a:alpha val="0"/>
              </a:srgbClr>
            </a:solidFill>
            <a:prstDash val="solid"/>
          </a:ln>
        </p:spPr>
      </p:sp>
      <p:sp>
        <p:nvSpPr>
          <p:cNvPr id="31" name="Text 28"/>
          <p:cNvSpPr txBox="1"/>
          <p:nvPr/>
        </p:nvSpPr>
        <p:spPr>
          <a:xfrm>
            <a:off x="2324215" y="3657600"/>
            <a:ext cx="1167740" cy="658368"/>
          </a:xfrm>
          <a:prstGeom prst="rect">
            <a:avLst/>
          </a:prstGeom>
          <a:noFill/>
          <a:ln/>
        </p:spPr>
        <p:txBody>
          <a:bodyPr wrap="square" lIns="0" tIns="0" rIns="0" bIns="0" rtlCol="0" anchor="ctr"/>
          <a:lstStyle/>
          <a:p>
            <a:pPr algn="ctr" indent="0" marL="0">
              <a:buNone/>
            </a:pPr>
            <a:r>
              <a:rPr lang="en-US" sz="2400" b="1" dirty="0">
                <a:solidFill>
                  <a:schemeClr val="bg1"/>
                </a:solidFill>
              </a:rPr>
              <a:t>gaan</a:t>
            </a:r>
            <a:endParaRPr lang="en-US" sz="2400" dirty="0"/>
          </a:p>
        </p:txBody>
      </p:sp>
      <p:sp>
        <p:nvSpPr>
          <p:cNvPr id="32" name="Shape 29"/>
          <p:cNvSpPr/>
          <p:nvPr/>
        </p:nvSpPr>
        <p:spPr>
          <a:xfrm>
            <a:off x="3574251" y="3657600"/>
            <a:ext cx="1934607" cy="658368"/>
          </a:xfrm>
          <a:prstGeom prst="roundRect">
            <a:avLst>
              <a:gd name="adj" fmla="val 13889"/>
            </a:avLst>
          </a:prstGeom>
          <a:solidFill>
            <a:srgbClr val="FBEDEB"/>
          </a:solidFill>
          <a:ln w="25400">
            <a:solidFill>
              <a:srgbClr val="B83227"/>
            </a:solidFill>
            <a:prstDash val="solid"/>
          </a:ln>
        </p:spPr>
      </p:sp>
      <p:sp>
        <p:nvSpPr>
          <p:cNvPr id="33" name="Text 30"/>
          <p:cNvSpPr txBox="1"/>
          <p:nvPr/>
        </p:nvSpPr>
        <p:spPr>
          <a:xfrm>
            <a:off x="3574251" y="3657600"/>
            <a:ext cx="1934607" cy="658368"/>
          </a:xfrm>
          <a:prstGeom prst="rect">
            <a:avLst/>
          </a:prstGeom>
          <a:noFill/>
          <a:ln/>
        </p:spPr>
        <p:txBody>
          <a:bodyPr wrap="square" lIns="0" tIns="0" rIns="0" bIns="0" rtlCol="0" anchor="ctr"/>
          <a:lstStyle/>
          <a:p>
            <a:pPr algn="ctr" indent="0" marL="0">
              <a:buNone/>
            </a:pPr>
            <a:r>
              <a:rPr lang="en-US" sz="2400" b="1" dirty="0">
                <a:solidFill>
                  <a:schemeClr val="accent6"/>
                </a:solidFill>
              </a:rPr>
              <a:t>zwemmen.</a:t>
            </a:r>
            <a:endParaRPr lang="en-US" sz="2400" dirty="0"/>
          </a:p>
        </p:txBody>
      </p:sp>
      <p:sp>
        <p:nvSpPr>
          <p:cNvPr id="34" name="Shape 31"/>
          <p:cNvSpPr/>
          <p:nvPr/>
        </p:nvSpPr>
        <p:spPr>
          <a:xfrm>
            <a:off x="457200" y="4471416"/>
            <a:ext cx="5143098" cy="45720"/>
          </a:xfrm>
          <a:prstGeom prst="rect">
            <a:avLst/>
          </a:prstGeom>
          <a:solidFill>
            <a:srgbClr val="8A96A8"/>
          </a:solidFill>
          <a:ln w="12700">
            <a:solidFill>
              <a:srgbClr val="FFFFFF">
                <a:alpha val="0"/>
              </a:srgbClr>
            </a:solidFill>
            <a:prstDash val="solid"/>
          </a:ln>
        </p:spPr>
      </p:sp>
      <p:sp>
        <p:nvSpPr>
          <p:cNvPr id="35" name="Shape 32"/>
          <p:cNvSpPr/>
          <p:nvPr/>
        </p:nvSpPr>
        <p:spPr>
          <a:xfrm>
            <a:off x="1407468" y="4325112"/>
            <a:ext cx="146304" cy="146304"/>
          </a:xfrm>
          <a:prstGeom prst="ellipse">
            <a:avLst/>
          </a:prstGeom>
          <a:solidFill>
            <a:srgbClr val="1B2333"/>
          </a:solidFill>
          <a:ln w="12700">
            <a:solidFill>
              <a:srgbClr val="FFFFFF">
                <a:alpha val="0"/>
              </a:srgbClr>
            </a:solidFill>
            <a:prstDash val="solid"/>
          </a:ln>
        </p:spPr>
      </p:sp>
      <p:sp>
        <p:nvSpPr>
          <p:cNvPr id="36" name="Shape 33"/>
          <p:cNvSpPr/>
          <p:nvPr/>
        </p:nvSpPr>
        <p:spPr>
          <a:xfrm>
            <a:off x="1954041" y="4325112"/>
            <a:ext cx="146304" cy="146304"/>
          </a:xfrm>
          <a:prstGeom prst="ellipse">
            <a:avLst/>
          </a:prstGeom>
          <a:solidFill>
            <a:srgbClr val="1B2333"/>
          </a:solidFill>
          <a:ln w="12700">
            <a:solidFill>
              <a:srgbClr val="FFFFFF">
                <a:alpha val="0"/>
              </a:srgbClr>
            </a:solidFill>
            <a:prstDash val="solid"/>
          </a:ln>
        </p:spPr>
      </p:sp>
      <p:sp>
        <p:nvSpPr>
          <p:cNvPr id="37" name="Shape 34"/>
          <p:cNvSpPr/>
          <p:nvPr/>
        </p:nvSpPr>
        <p:spPr>
          <a:xfrm>
            <a:off x="1375623" y="3456432"/>
            <a:ext cx="146304" cy="219456"/>
          </a:xfrm>
          <a:prstGeom prst="rect">
            <a:avLst/>
          </a:prstGeom>
          <a:solidFill>
            <a:schemeClr val="tx2"/>
          </a:solidFill>
          <a:ln w="12700">
            <a:solidFill>
              <a:srgbClr val="FFFFFF">
                <a:alpha val="0"/>
              </a:srgbClr>
            </a:solidFill>
            <a:prstDash val="solid"/>
          </a:ln>
        </p:spPr>
      </p:sp>
      <p:sp>
        <p:nvSpPr>
          <p:cNvPr id="38" name="Shape 35"/>
          <p:cNvSpPr/>
          <p:nvPr/>
        </p:nvSpPr>
        <p:spPr>
          <a:xfrm>
            <a:off x="2241919" y="4151376"/>
            <a:ext cx="82296" cy="914"/>
          </a:xfrm>
          <a:prstGeom prst="line">
            <a:avLst/>
          </a:prstGeom>
          <a:noFill/>
          <a:ln w="31750">
            <a:solidFill>
              <a:srgbClr val="1B2333"/>
            </a:solidFill>
            <a:prstDash val="solid"/>
          </a:ln>
        </p:spPr>
      </p:sp>
      <p:sp>
        <p:nvSpPr>
          <p:cNvPr id="39" name="Shape 36"/>
          <p:cNvSpPr/>
          <p:nvPr/>
        </p:nvSpPr>
        <p:spPr>
          <a:xfrm>
            <a:off x="2507965" y="432511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161900" y="4325112"/>
            <a:ext cx="146304" cy="146304"/>
          </a:xfrm>
          <a:prstGeom prst="ellipse">
            <a:avLst/>
          </a:prstGeom>
          <a:solidFill>
            <a:srgbClr val="1B2333"/>
          </a:solidFill>
          <a:ln w="12700">
            <a:solidFill>
              <a:srgbClr val="FFFFFF">
                <a:alpha val="0"/>
              </a:srgbClr>
            </a:solidFill>
            <a:prstDash val="solid"/>
          </a:ln>
        </p:spPr>
      </p:sp>
      <p:sp>
        <p:nvSpPr>
          <p:cNvPr id="41" name="Shape 38"/>
          <p:cNvSpPr/>
          <p:nvPr/>
        </p:nvSpPr>
        <p:spPr>
          <a:xfrm>
            <a:off x="3491955" y="4151376"/>
            <a:ext cx="82296" cy="914"/>
          </a:xfrm>
          <a:prstGeom prst="line">
            <a:avLst/>
          </a:prstGeom>
          <a:noFill/>
          <a:ln w="31750">
            <a:solidFill>
              <a:srgbClr val="1B2333"/>
            </a:solidFill>
            <a:prstDash val="solid"/>
          </a:ln>
        </p:spPr>
      </p:sp>
      <p:sp>
        <p:nvSpPr>
          <p:cNvPr id="42" name="Shape 39"/>
          <p:cNvSpPr/>
          <p:nvPr/>
        </p:nvSpPr>
        <p:spPr>
          <a:xfrm>
            <a:off x="3926712" y="432511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010092" y="432511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1753907" y="3227832"/>
            <a:ext cx="1154178" cy="768096"/>
          </a:xfrm>
          <a:prstGeom prst="arc">
            <a:avLst>
              <a:gd name="adj1" fmla="val 10800000"/>
              <a:gd name="adj2" fmla="val 21600000"/>
            </a:avLst>
          </a:prstGeom>
          <a:solidFill>
            <a:srgbClr val="FFFFFF">
              <a:alpha val="0"/>
            </a:srgbClr>
          </a:solidFill>
          <a:ln w="38100">
            <a:solidFill>
              <a:srgbClr val="D9700F"/>
            </a:solidFill>
            <a:prstDash val="solid"/>
            <a:headEnd type="triangle"/>
          </a:ln>
        </p:spPr>
      </p:sp>
      <p:sp>
        <p:nvSpPr>
          <p:cNvPr id="45" name="Text 42"/>
          <p:cNvSpPr txBox="1"/>
          <p:nvPr/>
        </p:nvSpPr>
        <p:spPr>
          <a:xfrm>
            <a:off x="548640" y="4572000"/>
            <a:ext cx="5486400" cy="384048"/>
          </a:xfrm>
          <a:prstGeom prst="rect">
            <a:avLst/>
          </a:prstGeom>
          <a:noFill/>
          <a:ln/>
        </p:spPr>
        <p:txBody>
          <a:bodyPr wrap="square" lIns="0" tIns="0" rIns="0" bIns="0" rtlCol="0" anchor="t"/>
          <a:lstStyle/>
          <a:p>
            <a:pPr algn="l" indent="0" marL="0">
              <a:buNone/>
            </a:pPr>
            <a:r>
              <a:rPr lang="en-US" sz="1800" i="1" dirty="0">
                <a:solidFill>
                  <a:schemeClr val="tx2"/>
                </a:solidFill>
              </a:rPr>
              <a:t>gaan</a:t>
            </a:r>
            <a:r>
              <a:rPr lang="en-US" sz="1800" dirty="0">
                <a:solidFill>
                  <a:schemeClr val="tx2"/>
                </a:solidFill>
              </a:rPr>
              <a:t> → </a:t>
            </a:r>
            <a:r>
              <a:rPr lang="en-US" sz="1800" b="1" dirty="0">
                <a:solidFill>
                  <a:schemeClr val="tx2"/>
                </a:solidFill>
              </a:rPr>
              <a:t>zijn</a:t>
            </a:r>
            <a:endParaRPr lang="en-US" sz="1800" dirty="0"/>
          </a:p>
        </p:txBody>
      </p:sp>
      <p:sp>
        <p:nvSpPr>
          <p:cNvPr id="46" name="Shape 43"/>
          <p:cNvSpPr/>
          <p:nvPr/>
        </p:nvSpPr>
        <p:spPr>
          <a:xfrm>
            <a:off x="8229600" y="1463040"/>
            <a:ext cx="3410712" cy="3108960"/>
          </a:xfrm>
          <a:prstGeom prst="roundRect">
            <a:avLst>
              <a:gd name="adj" fmla="val 3529"/>
            </a:avLst>
          </a:prstGeom>
          <a:solidFill>
            <a:schemeClr val="bg2"/>
          </a:solidFill>
          <a:ln w="12700">
            <a:solidFill>
              <a:srgbClr val="D5DCE6"/>
            </a:solidFill>
            <a:prstDash val="solid"/>
          </a:ln>
        </p:spPr>
      </p:sp>
      <p:sp>
        <p:nvSpPr>
          <p:cNvPr id="47" name="Text 44"/>
          <p:cNvSpPr txBox="1"/>
          <p:nvPr/>
        </p:nvSpPr>
        <p:spPr>
          <a:xfrm>
            <a:off x="8366760" y="1554480"/>
            <a:ext cx="3154680" cy="2926080"/>
          </a:xfrm>
          <a:prstGeom prst="rect">
            <a:avLst/>
          </a:prstGeom>
          <a:noFill/>
          <a:ln/>
        </p:spPr>
        <p:txBody>
          <a:bodyPr wrap="square" lIns="0" tIns="0" rIns="0" bIns="0" rtlCol="0" anchor="ctr"/>
          <a:lstStyle/>
          <a:p>
            <a:pPr algn="l" indent="0" marL="0">
              <a:spcAft>
                <a:spcPts val="300"/>
              </a:spcAft>
              <a:buNone/>
            </a:pPr>
            <a:r>
              <a:rPr lang="en-US" sz="1500" b="1" dirty="0">
                <a:solidFill>
                  <a:schemeClr val="tx1"/>
                </a:solidFill>
              </a:rPr>
              <a:t>HEBBEN</a:t>
            </a:r>
            <a:endParaRPr lang="en-US" sz="1500" dirty="0"/>
          </a:p>
          <a:p>
            <a:pPr algn="l" indent="0" marL="0">
              <a:spcAft>
                <a:spcPts val="300"/>
              </a:spcAft>
              <a:buNone/>
            </a:pPr>
            <a:r>
              <a:rPr lang="en-US" sz="1500" i="1" dirty="0">
                <a:solidFill>
                  <a:schemeClr val="tx1"/>
                </a:solidFill>
              </a:rPr>
              <a:t>moeten · kunnen · willen · mogen · laten · zitten · staan · liggen · lopen · zien · horen · voelen</a:t>
            </a:r>
            <a:endParaRPr lang="en-US" sz="1500" dirty="0"/>
          </a:p>
          <a:p>
            <a:pPr algn="l" indent="0" marL="0">
              <a:spcAft>
                <a:spcPts val="300"/>
              </a:spcAft>
              <a:buNone/>
            </a:pPr>
            <a:endParaRPr lang="en-US" sz="1500" dirty="0"/>
          </a:p>
          <a:p>
            <a:pPr algn="l" indent="0" marL="0">
              <a:spcAft>
                <a:spcPts val="300"/>
              </a:spcAft>
              <a:buNone/>
            </a:pPr>
            <a:r>
              <a:rPr lang="en-US" sz="1500" b="1" dirty="0">
                <a:solidFill>
                  <a:schemeClr val="tx1"/>
                </a:solidFill>
              </a:rPr>
              <a:t>ZIJN</a:t>
            </a:r>
            <a:endParaRPr lang="en-US" sz="1500" dirty="0"/>
          </a:p>
          <a:p>
            <a:pPr algn="l" indent="0" marL="0">
              <a:spcAft>
                <a:spcPts val="300"/>
              </a:spcAft>
              <a:buNone/>
            </a:pPr>
            <a:r>
              <a:rPr lang="en-US" sz="1500" i="1" dirty="0">
                <a:solidFill>
                  <a:schemeClr val="tx1"/>
                </a:solidFill>
              </a:rPr>
              <a:t>gaan · komen · blijven</a:t>
            </a:r>
            <a:endParaRPr lang="en-US" sz="1500" dirty="0"/>
          </a:p>
        </p:txBody>
      </p:sp>
      <p:sp>
        <p:nvSpPr>
          <p:cNvPr id="48" name="Shape 45"/>
          <p:cNvSpPr/>
          <p:nvPr/>
        </p:nvSpPr>
        <p:spPr>
          <a:xfrm>
            <a:off x="548640" y="5257800"/>
            <a:ext cx="11091672" cy="868680"/>
          </a:xfrm>
          <a:prstGeom prst="roundRect">
            <a:avLst>
              <a:gd name="adj" fmla="val 8421"/>
            </a:avLst>
          </a:prstGeom>
          <a:solidFill>
            <a:schemeClr val="tx2"/>
          </a:solidFill>
          <a:ln w="12700">
            <a:solidFill>
              <a:srgbClr val="FFFFFF">
                <a:alpha val="0"/>
              </a:srgbClr>
            </a:solidFill>
            <a:prstDash val="solid"/>
          </a:ln>
        </p:spPr>
      </p:sp>
      <p:sp>
        <p:nvSpPr>
          <p:cNvPr id="49" name="Text 46"/>
          <p:cNvSpPr txBox="1"/>
          <p:nvPr/>
        </p:nvSpPr>
        <p:spPr>
          <a:xfrm>
            <a:off x="822960" y="5257800"/>
            <a:ext cx="10607040" cy="868680"/>
          </a:xfrm>
          <a:prstGeom prst="rect">
            <a:avLst/>
          </a:prstGeom>
          <a:noFill/>
          <a:ln/>
        </p:spPr>
        <p:txBody>
          <a:bodyPr wrap="square" lIns="0" tIns="0" rIns="0" bIns="0" rtlCol="0" anchor="ctr"/>
          <a:lstStyle/>
          <a:p>
            <a:pPr algn="l" indent="0" marL="0">
              <a:spcAft>
                <a:spcPts val="600"/>
              </a:spcAft>
              <a:buNone/>
            </a:pPr>
            <a:r>
              <a:rPr lang="en-US" sz="1600" dirty="0">
                <a:solidFill>
                  <a:schemeClr val="bg1"/>
                </a:solidFill>
              </a:rPr>
              <a:t>Ce n’est pas l’action (</a:t>
            </a:r>
            <a:r>
              <a:rPr lang="en-US" sz="1600" i="1" dirty="0">
                <a:solidFill>
                  <a:schemeClr val="bg1"/>
                </a:solidFill>
              </a:rPr>
              <a:t>gaan</a:t>
            </a:r>
            <a:r>
              <a:rPr lang="en-US" sz="1600" dirty="0">
                <a:solidFill>
                  <a:schemeClr val="bg1"/>
                </a:solidFill>
              </a:rPr>
              <a:t>) qui décide, mais le </a:t>
            </a:r>
            <a:r>
              <a:rPr lang="en-US" sz="1600" b="1" dirty="0">
                <a:solidFill>
                  <a:schemeClr val="bg1"/>
                </a:solidFill>
              </a:rPr>
              <a:t>premier verbe</a:t>
            </a:r>
            <a:r>
              <a:rPr lang="en-US" sz="1600" dirty="0">
                <a:solidFill>
                  <a:schemeClr val="bg1"/>
                </a:solidFill>
              </a:rPr>
              <a:t> après l’auxiliaire : </a:t>
            </a:r>
            <a:r>
              <a:rPr lang="en-US" sz="1600" i="1" dirty="0">
                <a:solidFill>
                  <a:schemeClr val="bg1"/>
                </a:solidFill>
              </a:rPr>
              <a:t>moeten</a:t>
            </a:r>
            <a:r>
              <a:rPr lang="en-US" sz="1600" dirty="0">
                <a:solidFill>
                  <a:schemeClr val="bg1"/>
                </a:solidFill>
              </a:rPr>
              <a:t> → </a:t>
            </a:r>
            <a:r>
              <a:rPr lang="en-US" sz="1600" i="1" dirty="0">
                <a:solidFill>
                  <a:schemeClr val="bg1"/>
                </a:solidFill>
              </a:rPr>
              <a:t>hebben</a:t>
            </a:r>
            <a:r>
              <a:rPr lang="en-US" sz="1600" dirty="0">
                <a:solidFill>
                  <a:schemeClr val="bg1"/>
                </a:solidFill>
              </a:rPr>
              <a:t>.</a:t>
            </a:r>
            <a:endParaRPr lang="en-US" sz="1600" dirty="0"/>
          </a:p>
          <a:p>
            <a:pPr algn="l" indent="0" marL="0">
              <a:spcAft>
                <a:spcPts val="600"/>
              </a:spcAft>
              <a:buNone/>
            </a:pPr>
            <a:r>
              <a:rPr lang="en-US" sz="1600" dirty="0">
                <a:solidFill>
                  <a:schemeClr val="bg1"/>
                </a:solidFill>
              </a:rPr>
              <a:t>(En Belgique, </a:t>
            </a:r>
            <a:r>
              <a:rPr lang="en-US" sz="1600" i="1" dirty="0">
                <a:solidFill>
                  <a:schemeClr val="bg1"/>
                </a:solidFill>
              </a:rPr>
              <a:t>ben</a:t>
            </a:r>
            <a:r>
              <a:rPr lang="en-US" sz="1600" dirty="0">
                <a:solidFill>
                  <a:schemeClr val="bg1"/>
                </a:solidFill>
              </a:rPr>
              <a:t> est aussi admis : </a:t>
            </a:r>
            <a:r>
              <a:rPr lang="en-US" sz="1600" i="1" dirty="0">
                <a:solidFill>
                  <a:schemeClr val="bg1"/>
                </a:solidFill>
              </a:rPr>
              <a:t>Ik ben naar huis moeten gaan.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Seul : participe · avec un infinitif : infinitif</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206240"/>
          </a:xfrm>
          <a:prstGeom prst="roundRect">
            <a:avLst>
              <a:gd name="adj" fmla="val 2609"/>
            </a:avLst>
          </a:prstGeom>
          <a:solidFill>
            <a:srgbClr val="E6EBF2"/>
          </a:solidFill>
          <a:ln w="25400">
            <a:solidFill>
              <a:srgbClr val="4A5A70"/>
            </a:solidFill>
            <a:prstDash val="solid"/>
          </a:ln>
        </p:spPr>
      </p:sp>
      <p:pic>
        <p:nvPicPr>
          <p:cNvPr id="6" name="Image 0" descr="bust in silhouette">    </p:cNvPr>
          <p:cNvPicPr>
            <a:picLocks noChangeAspect="1"/>
          </p:cNvPicPr>
          <p:nvPr/>
        </p:nvPicPr>
        <p:blipFill>
          <a:blip r:embed="rId1"/>
          <a:stretch>
            <a:fillRect/>
          </a:stretch>
        </p:blipFill>
        <p:spPr>
          <a:xfrm>
            <a:off x="731520" y="1572768"/>
            <a:ext cx="731520" cy="731520"/>
          </a:xfrm>
          <a:prstGeom prst="rect">
            <a:avLst/>
          </a:prstGeom>
        </p:spPr>
      </p:pic>
      <p:sp>
        <p:nvSpPr>
          <p:cNvPr id="7" name="Text 3"/>
          <p:cNvSpPr txBox="1"/>
          <p:nvPr/>
        </p:nvSpPr>
        <p:spPr>
          <a:xfrm>
            <a:off x="1600200" y="1572768"/>
            <a:ext cx="4219956" cy="731520"/>
          </a:xfrm>
          <a:prstGeom prst="rect">
            <a:avLst/>
          </a:prstGeom>
          <a:noFill/>
          <a:ln/>
        </p:spPr>
        <p:txBody>
          <a:bodyPr wrap="square" lIns="0" tIns="0" rIns="0" bIns="0" rtlCol="0" anchor="ctr"/>
          <a:lstStyle/>
          <a:p>
            <a:pPr algn="l" indent="0" marL="0">
              <a:buNone/>
            </a:pPr>
            <a:r>
              <a:rPr lang="en-US" sz="1900" b="1" dirty="0">
                <a:solidFill>
                  <a:schemeClr val="accent5"/>
                </a:solidFill>
              </a:rPr>
              <a:t>SEUL → PARTICIPE (ge-)</a:t>
            </a:r>
            <a:endParaRPr lang="en-US" sz="1900" dirty="0"/>
          </a:p>
        </p:txBody>
      </p:sp>
      <p:sp>
        <p:nvSpPr>
          <p:cNvPr id="8" name="Shape 4"/>
          <p:cNvSpPr/>
          <p:nvPr/>
        </p:nvSpPr>
        <p:spPr>
          <a:xfrm>
            <a:off x="731520"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9" name="Text 5"/>
          <p:cNvSpPr txBox="1"/>
          <p:nvPr/>
        </p:nvSpPr>
        <p:spPr>
          <a:xfrm>
            <a:off x="868680"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4A5A70"/>
                </a:solidFill>
              </a:rPr>
              <a:t>gekund</a:t>
            </a:r>
            <a:r>
              <a:rPr lang="en-US" sz="1800" i="1" dirty="0">
                <a:solidFill>
                  <a:schemeClr val="tx1"/>
                </a:solidFill>
              </a:rPr>
              <a:t>.</a:t>
            </a:r>
            <a:endParaRPr lang="en-US" sz="1800" dirty="0"/>
          </a:p>
        </p:txBody>
      </p:sp>
      <p:sp>
        <p:nvSpPr>
          <p:cNvPr id="10" name="Text 6"/>
          <p:cNvSpPr txBox="1"/>
          <p:nvPr/>
        </p:nvSpPr>
        <p:spPr>
          <a:xfrm>
            <a:off x="868680"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a:t>
            </a:r>
            <a:endParaRPr lang="en-US" sz="1200" dirty="0"/>
          </a:p>
        </p:txBody>
      </p:sp>
      <p:sp>
        <p:nvSpPr>
          <p:cNvPr id="11" name="Shape 7"/>
          <p:cNvSpPr/>
          <p:nvPr/>
        </p:nvSpPr>
        <p:spPr>
          <a:xfrm>
            <a:off x="731520"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12" name="Text 8"/>
          <p:cNvSpPr txBox="1"/>
          <p:nvPr/>
        </p:nvSpPr>
        <p:spPr>
          <a:xfrm>
            <a:off x="868680"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4A5A70"/>
                </a:solidFill>
              </a:rPr>
              <a:t>gewild</a:t>
            </a:r>
            <a:r>
              <a:rPr lang="en-US" sz="1800" i="1" dirty="0">
                <a:solidFill>
                  <a:schemeClr val="tx1"/>
                </a:solidFill>
              </a:rPr>
              <a:t>.</a:t>
            </a:r>
            <a:endParaRPr lang="en-US" sz="1800" dirty="0"/>
          </a:p>
        </p:txBody>
      </p:sp>
      <p:sp>
        <p:nvSpPr>
          <p:cNvPr id="13" name="Text 9"/>
          <p:cNvSpPr txBox="1"/>
          <p:nvPr/>
        </p:nvSpPr>
        <p:spPr>
          <a:xfrm>
            <a:off x="868680"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voulu</a:t>
            </a:r>
            <a:endParaRPr lang="en-US" sz="1200" dirty="0"/>
          </a:p>
        </p:txBody>
      </p:sp>
      <p:sp>
        <p:nvSpPr>
          <p:cNvPr id="14" name="Shape 10"/>
          <p:cNvSpPr/>
          <p:nvPr/>
        </p:nvSpPr>
        <p:spPr>
          <a:xfrm>
            <a:off x="731520"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15" name="Text 11"/>
          <p:cNvSpPr txBox="1"/>
          <p:nvPr/>
        </p:nvSpPr>
        <p:spPr>
          <a:xfrm>
            <a:off x="868680"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hem altijd </a:t>
            </a:r>
            <a:r>
              <a:rPr lang="en-US" sz="1800" b="1" i="1" dirty="0">
                <a:solidFill>
                  <a:srgbClr val="4A5A70"/>
                </a:solidFill>
              </a:rPr>
              <a:t>gemogen</a:t>
            </a:r>
            <a:r>
              <a:rPr lang="en-US" sz="1800" i="1" dirty="0">
                <a:solidFill>
                  <a:schemeClr val="tx1"/>
                </a:solidFill>
              </a:rPr>
              <a:t>.</a:t>
            </a:r>
            <a:endParaRPr lang="en-US" sz="1800" dirty="0"/>
          </a:p>
        </p:txBody>
      </p:sp>
      <p:sp>
        <p:nvSpPr>
          <p:cNvPr id="16" name="Text 12"/>
          <p:cNvSpPr txBox="1"/>
          <p:nvPr/>
        </p:nvSpPr>
        <p:spPr>
          <a:xfrm>
            <a:off x="868680"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toujours bien aimé</a:t>
            </a:r>
            <a:endParaRPr lang="en-US" sz="1200" dirty="0"/>
          </a:p>
        </p:txBody>
      </p:sp>
      <p:sp>
        <p:nvSpPr>
          <p:cNvPr id="17" name="Shape 13"/>
          <p:cNvSpPr/>
          <p:nvPr/>
        </p:nvSpPr>
        <p:spPr>
          <a:xfrm>
            <a:off x="731520"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18" name="Text 14"/>
          <p:cNvSpPr txBox="1"/>
          <p:nvPr/>
        </p:nvSpPr>
        <p:spPr>
          <a:xfrm>
            <a:off x="868680"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zo </a:t>
            </a:r>
            <a:r>
              <a:rPr lang="en-US" sz="1800" b="1" i="1" dirty="0">
                <a:solidFill>
                  <a:srgbClr val="4A5A70"/>
                </a:solidFill>
              </a:rPr>
              <a:t>gelaten</a:t>
            </a:r>
            <a:r>
              <a:rPr lang="en-US" sz="1800" i="1" dirty="0">
                <a:solidFill>
                  <a:schemeClr val="tx1"/>
                </a:solidFill>
              </a:rPr>
              <a:t>.</a:t>
            </a:r>
            <a:endParaRPr lang="en-US" sz="1800" dirty="0"/>
          </a:p>
        </p:txBody>
      </p:sp>
      <p:sp>
        <p:nvSpPr>
          <p:cNvPr id="19" name="Text 15"/>
          <p:cNvSpPr txBox="1"/>
          <p:nvPr/>
        </p:nvSpPr>
        <p:spPr>
          <a:xfrm>
            <a:off x="868680"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laissé comme ça</a:t>
            </a:r>
            <a:endParaRPr lang="en-US" sz="1200" dirty="0"/>
          </a:p>
        </p:txBody>
      </p:sp>
      <p:sp>
        <p:nvSpPr>
          <p:cNvPr id="20" name="Shape 16"/>
          <p:cNvSpPr/>
          <p:nvPr/>
        </p:nvSpPr>
        <p:spPr>
          <a:xfrm>
            <a:off x="6231636" y="1463040"/>
            <a:ext cx="5408676" cy="4206240"/>
          </a:xfrm>
          <a:prstGeom prst="roundRect">
            <a:avLst>
              <a:gd name="adj" fmla="val 2609"/>
            </a:avLst>
          </a:prstGeom>
          <a:solidFill>
            <a:srgbClr val="FDF1E6"/>
          </a:solidFill>
          <a:ln w="25400">
            <a:solidFill>
              <a:srgbClr val="D9700F"/>
            </a:solidFill>
            <a:prstDash val="solid"/>
          </a:ln>
        </p:spPr>
      </p:sp>
      <p:pic>
        <p:nvPicPr>
          <p:cNvPr id="21" name="Image 1" descr="busts in silhouette">    </p:cNvPr>
          <p:cNvPicPr>
            <a:picLocks noChangeAspect="1"/>
          </p:cNvPicPr>
          <p:nvPr/>
        </p:nvPicPr>
        <p:blipFill>
          <a:blip r:embed="rId2"/>
          <a:stretch>
            <a:fillRect/>
          </a:stretch>
        </p:blipFill>
        <p:spPr>
          <a:xfrm>
            <a:off x="6414516" y="1572768"/>
            <a:ext cx="731520" cy="731520"/>
          </a:xfrm>
          <a:prstGeom prst="rect">
            <a:avLst/>
          </a:prstGeom>
        </p:spPr>
      </p:pic>
      <p:sp>
        <p:nvSpPr>
          <p:cNvPr id="22" name="Text 17"/>
          <p:cNvSpPr txBox="1"/>
          <p:nvPr/>
        </p:nvSpPr>
        <p:spPr>
          <a:xfrm>
            <a:off x="7283196" y="1572768"/>
            <a:ext cx="4219956" cy="731520"/>
          </a:xfrm>
          <a:prstGeom prst="rect">
            <a:avLst/>
          </a:prstGeom>
          <a:noFill/>
          <a:ln/>
        </p:spPr>
        <p:txBody>
          <a:bodyPr wrap="square" lIns="0" tIns="0" rIns="0" bIns="0" rtlCol="0" anchor="ctr"/>
          <a:lstStyle/>
          <a:p>
            <a:pPr algn="l" indent="0" marL="0">
              <a:buNone/>
            </a:pPr>
            <a:r>
              <a:rPr lang="en-US" sz="1900" b="1" dirty="0">
                <a:solidFill>
                  <a:schemeClr val="accent1"/>
                </a:solidFill>
              </a:rPr>
              <a:t>+ INFINITIF → INFINITIF</a:t>
            </a:r>
            <a:endParaRPr lang="en-US" sz="1900" dirty="0"/>
          </a:p>
        </p:txBody>
      </p:sp>
      <p:sp>
        <p:nvSpPr>
          <p:cNvPr id="23" name="Shape 18"/>
          <p:cNvSpPr/>
          <p:nvPr/>
        </p:nvSpPr>
        <p:spPr>
          <a:xfrm>
            <a:off x="6414516" y="2468880"/>
            <a:ext cx="5042916" cy="694944"/>
          </a:xfrm>
          <a:prstGeom prst="roundRect">
            <a:avLst>
              <a:gd name="adj" fmla="val 10526"/>
            </a:avLst>
          </a:prstGeom>
          <a:solidFill>
            <a:srgbClr val="FFFFFF"/>
          </a:solidFill>
          <a:ln w="12700">
            <a:solidFill>
              <a:srgbClr val="FFFFFF">
                <a:alpha val="0"/>
              </a:srgbClr>
            </a:solidFill>
            <a:prstDash val="solid"/>
          </a:ln>
        </p:spPr>
      </p:sp>
      <p:sp>
        <p:nvSpPr>
          <p:cNvPr id="24" name="Text 19"/>
          <p:cNvSpPr txBox="1"/>
          <p:nvPr/>
        </p:nvSpPr>
        <p:spPr>
          <a:xfrm>
            <a:off x="6551676" y="2487168"/>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niet </a:t>
            </a:r>
            <a:r>
              <a:rPr lang="en-US" sz="1800" b="1" i="1" dirty="0">
                <a:solidFill>
                  <a:srgbClr val="D9700F"/>
                </a:solidFill>
              </a:rPr>
              <a:t>kunnen doen</a:t>
            </a:r>
            <a:r>
              <a:rPr lang="en-US" sz="1800" i="1" dirty="0">
                <a:solidFill>
                  <a:schemeClr val="tx1"/>
                </a:solidFill>
              </a:rPr>
              <a:t>.</a:t>
            </a:r>
            <a:endParaRPr lang="en-US" sz="1800" dirty="0"/>
          </a:p>
        </p:txBody>
      </p:sp>
      <p:sp>
        <p:nvSpPr>
          <p:cNvPr id="25" name="Text 20"/>
          <p:cNvSpPr txBox="1"/>
          <p:nvPr/>
        </p:nvSpPr>
        <p:spPr>
          <a:xfrm>
            <a:off x="6551676" y="2852928"/>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n’ai pas pu le faire</a:t>
            </a:r>
            <a:endParaRPr lang="en-US" sz="1200" dirty="0"/>
          </a:p>
        </p:txBody>
      </p:sp>
      <p:sp>
        <p:nvSpPr>
          <p:cNvPr id="26" name="Shape 21"/>
          <p:cNvSpPr/>
          <p:nvPr/>
        </p:nvSpPr>
        <p:spPr>
          <a:xfrm>
            <a:off x="6414516" y="3255264"/>
            <a:ext cx="5042916" cy="694944"/>
          </a:xfrm>
          <a:prstGeom prst="roundRect">
            <a:avLst>
              <a:gd name="adj" fmla="val 10526"/>
            </a:avLst>
          </a:prstGeom>
          <a:solidFill>
            <a:srgbClr val="FFFFFF"/>
          </a:solidFill>
          <a:ln w="12700">
            <a:solidFill>
              <a:srgbClr val="FFFFFF">
                <a:alpha val="0"/>
              </a:srgbClr>
            </a:solidFill>
            <a:prstDash val="solid"/>
          </a:ln>
        </p:spPr>
      </p:sp>
      <p:sp>
        <p:nvSpPr>
          <p:cNvPr id="27" name="Text 22"/>
          <p:cNvSpPr txBox="1"/>
          <p:nvPr/>
        </p:nvSpPr>
        <p:spPr>
          <a:xfrm>
            <a:off x="6551676" y="3273552"/>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Dat heb ik altijd </a:t>
            </a:r>
            <a:r>
              <a:rPr lang="en-US" sz="1800" b="1" i="1" dirty="0">
                <a:solidFill>
                  <a:srgbClr val="D9700F"/>
                </a:solidFill>
              </a:rPr>
              <a:t>willen doen</a:t>
            </a:r>
            <a:r>
              <a:rPr lang="en-US" sz="1800" i="1" dirty="0">
                <a:solidFill>
                  <a:schemeClr val="tx1"/>
                </a:solidFill>
              </a:rPr>
              <a:t>.</a:t>
            </a:r>
            <a:endParaRPr lang="en-US" sz="1800" dirty="0"/>
          </a:p>
        </p:txBody>
      </p:sp>
      <p:sp>
        <p:nvSpPr>
          <p:cNvPr id="28" name="Text 23"/>
          <p:cNvSpPr txBox="1"/>
          <p:nvPr/>
        </p:nvSpPr>
        <p:spPr>
          <a:xfrm>
            <a:off x="6551676" y="3639312"/>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toujours voulu le faire</a:t>
            </a:r>
            <a:endParaRPr lang="en-US" sz="1200" dirty="0"/>
          </a:p>
        </p:txBody>
      </p:sp>
      <p:sp>
        <p:nvSpPr>
          <p:cNvPr id="29" name="Shape 24"/>
          <p:cNvSpPr/>
          <p:nvPr/>
        </p:nvSpPr>
        <p:spPr>
          <a:xfrm>
            <a:off x="6414516" y="4041648"/>
            <a:ext cx="5042916" cy="694944"/>
          </a:xfrm>
          <a:prstGeom prst="roundRect">
            <a:avLst>
              <a:gd name="adj" fmla="val 10526"/>
            </a:avLst>
          </a:prstGeom>
          <a:solidFill>
            <a:srgbClr val="FFFFFF"/>
          </a:solidFill>
          <a:ln w="12700">
            <a:solidFill>
              <a:srgbClr val="FFFFFF">
                <a:alpha val="0"/>
              </a:srgbClr>
            </a:solidFill>
            <a:prstDash val="solid"/>
          </a:ln>
        </p:spPr>
      </p:sp>
      <p:sp>
        <p:nvSpPr>
          <p:cNvPr id="30" name="Text 25"/>
          <p:cNvSpPr txBox="1"/>
          <p:nvPr/>
        </p:nvSpPr>
        <p:spPr>
          <a:xfrm>
            <a:off x="6551676" y="4059936"/>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vroeg </a:t>
            </a:r>
            <a:r>
              <a:rPr lang="en-US" sz="1800" b="1" i="1" dirty="0">
                <a:solidFill>
                  <a:srgbClr val="D9700F"/>
                </a:solidFill>
              </a:rPr>
              <a:t>mogen vertrekken</a:t>
            </a:r>
            <a:r>
              <a:rPr lang="en-US" sz="1800" i="1" dirty="0">
                <a:solidFill>
                  <a:schemeClr val="tx1"/>
                </a:solidFill>
              </a:rPr>
              <a:t>.</a:t>
            </a:r>
            <a:endParaRPr lang="en-US" sz="1800" dirty="0"/>
          </a:p>
        </p:txBody>
      </p:sp>
      <p:sp>
        <p:nvSpPr>
          <p:cNvPr id="31" name="Text 26"/>
          <p:cNvSpPr txBox="1"/>
          <p:nvPr/>
        </p:nvSpPr>
        <p:spPr>
          <a:xfrm>
            <a:off x="6551676" y="4425696"/>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j’ai pu partir tôt</a:t>
            </a:r>
            <a:endParaRPr lang="en-US" sz="1200" dirty="0"/>
          </a:p>
        </p:txBody>
      </p:sp>
      <p:sp>
        <p:nvSpPr>
          <p:cNvPr id="32" name="Shape 27"/>
          <p:cNvSpPr/>
          <p:nvPr/>
        </p:nvSpPr>
        <p:spPr>
          <a:xfrm>
            <a:off x="6414516" y="4828032"/>
            <a:ext cx="5042916" cy="694944"/>
          </a:xfrm>
          <a:prstGeom prst="roundRect">
            <a:avLst>
              <a:gd name="adj" fmla="val 10526"/>
            </a:avLst>
          </a:prstGeom>
          <a:solidFill>
            <a:srgbClr val="FFFFFF"/>
          </a:solidFill>
          <a:ln w="12700">
            <a:solidFill>
              <a:srgbClr val="FFFFFF">
                <a:alpha val="0"/>
              </a:srgbClr>
            </a:solidFill>
            <a:prstDash val="solid"/>
          </a:ln>
        </p:spPr>
      </p:sp>
      <p:sp>
        <p:nvSpPr>
          <p:cNvPr id="33" name="Text 28"/>
          <p:cNvSpPr txBox="1"/>
          <p:nvPr/>
        </p:nvSpPr>
        <p:spPr>
          <a:xfrm>
            <a:off x="6551676" y="4846320"/>
            <a:ext cx="4768596" cy="384048"/>
          </a:xfrm>
          <a:prstGeom prst="rect">
            <a:avLst/>
          </a:prstGeom>
          <a:noFill/>
          <a:ln/>
        </p:spPr>
        <p:txBody>
          <a:bodyPr wrap="square" lIns="0" tIns="0" rIns="0" bIns="0" rtlCol="0" anchor="ctr"/>
          <a:lstStyle/>
          <a:p>
            <a:pPr algn="l" indent="0" marL="0">
              <a:buNone/>
            </a:pPr>
            <a:r>
              <a:rPr lang="en-US" sz="1800" i="1" dirty="0">
                <a:solidFill>
                  <a:schemeClr val="tx1"/>
                </a:solidFill>
              </a:rPr>
              <a:t>Ik heb het </a:t>
            </a:r>
            <a:r>
              <a:rPr lang="en-US" sz="1800" b="1" i="1" dirty="0">
                <a:solidFill>
                  <a:srgbClr val="D9700F"/>
                </a:solidFill>
              </a:rPr>
              <a:t>laten doen</a:t>
            </a:r>
            <a:r>
              <a:rPr lang="en-US" sz="1800" i="1" dirty="0">
                <a:solidFill>
                  <a:schemeClr val="tx1"/>
                </a:solidFill>
              </a:rPr>
              <a:t>.</a:t>
            </a:r>
            <a:endParaRPr lang="en-US" sz="1800" dirty="0"/>
          </a:p>
        </p:txBody>
      </p:sp>
      <p:sp>
        <p:nvSpPr>
          <p:cNvPr id="34" name="Text 29"/>
          <p:cNvSpPr txBox="1"/>
          <p:nvPr/>
        </p:nvSpPr>
        <p:spPr>
          <a:xfrm>
            <a:off x="6551676" y="5212080"/>
            <a:ext cx="4768596" cy="274320"/>
          </a:xfrm>
          <a:prstGeom prst="rect">
            <a:avLst/>
          </a:prstGeom>
          <a:noFill/>
          <a:ln/>
        </p:spPr>
        <p:txBody>
          <a:bodyPr wrap="square" lIns="0" tIns="0" rIns="0" bIns="0" rtlCol="0" anchor="ctr"/>
          <a:lstStyle/>
          <a:p>
            <a:pPr algn="l" indent="0" marL="0">
              <a:buNone/>
            </a:pPr>
            <a:r>
              <a:rPr lang="en-US" sz="1200" i="1" dirty="0">
                <a:solidFill>
                  <a:schemeClr val="accent5"/>
                </a:solidFill>
              </a:rPr>
              <a:t>je l’ai fait faire</a:t>
            </a:r>
            <a:endParaRPr lang="en-US" sz="1200" dirty="0"/>
          </a:p>
        </p:txBody>
      </p:sp>
      <p:sp>
        <p:nvSpPr>
          <p:cNvPr id="35" name="Text 30"/>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500" i="1" dirty="0">
                <a:solidFill>
                  <a:schemeClr val="tx2"/>
                </a:solidFill>
              </a:rPr>
              <a:t>mogen</a:t>
            </a:r>
            <a:r>
              <a:rPr lang="en-US" sz="1500" dirty="0">
                <a:solidFill>
                  <a:schemeClr val="tx2"/>
                </a:solidFill>
              </a:rPr>
              <a:t> seul = </a:t>
            </a:r>
            <a:r>
              <a:rPr lang="en-US" sz="1500" b="1" dirty="0">
                <a:solidFill>
                  <a:schemeClr val="tx2"/>
                </a:solidFill>
              </a:rPr>
              <a:t>bien aimer</a:t>
            </a:r>
            <a:r>
              <a:rPr lang="en-US" sz="1500" dirty="0">
                <a:solidFill>
                  <a:schemeClr val="tx2"/>
                </a:solidFill>
              </a:rPr>
              <a:t> quelqu’un : </a:t>
            </a:r>
            <a:r>
              <a:rPr lang="en-US" sz="1500" i="1" dirty="0">
                <a:solidFill>
                  <a:schemeClr val="tx2"/>
                </a:solidFill>
              </a:rPr>
              <a:t>Ik mag hem.</a:t>
            </a:r>
            <a:r>
              <a:rPr lang="en-US" sz="1500" dirty="0">
                <a:solidFill>
                  <a:schemeClr val="tx2"/>
                </a:solidFill>
              </a:rPr>
              <a:t> → </a:t>
            </a:r>
            <a:r>
              <a:rPr lang="en-US" sz="1500" i="1" dirty="0">
                <a:solidFill>
                  <a:schemeClr val="tx2"/>
                </a:solidFill>
              </a:rPr>
              <a:t>Ik heb hem altijd </a:t>
            </a:r>
            <a:r>
              <a:rPr lang="en-US" sz="1500" b="1" i="1" dirty="0">
                <a:solidFill>
                  <a:schemeClr val="tx2"/>
                </a:solidFill>
              </a:rPr>
              <a:t>gemogen</a:t>
            </a:r>
            <a:r>
              <a:rPr lang="en-US" sz="1500" i="1" dirty="0">
                <a:solidFill>
                  <a:schemeClr val="tx2"/>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te : on garde le participe</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463040"/>
            <a:ext cx="5408676" cy="4160520"/>
          </a:xfrm>
          <a:prstGeom prst="roundRect">
            <a:avLst>
              <a:gd name="adj" fmla="val 2637"/>
            </a:avLst>
          </a:prstGeom>
          <a:solidFill>
            <a:srgbClr val="E6EBF2"/>
          </a:solidFill>
          <a:ln w="25400">
            <a:solidFill>
              <a:srgbClr val="4A5A70"/>
            </a:solidFill>
            <a:prstDash val="solid"/>
          </a:ln>
        </p:spPr>
      </p:sp>
      <p:sp>
        <p:nvSpPr>
          <p:cNvPr id="6" name="Text 3"/>
          <p:cNvSpPr txBox="1"/>
          <p:nvPr/>
        </p:nvSpPr>
        <p:spPr>
          <a:xfrm>
            <a:off x="731520" y="1554480"/>
            <a:ext cx="5042916" cy="457200"/>
          </a:xfrm>
          <a:prstGeom prst="rect">
            <a:avLst/>
          </a:prstGeom>
          <a:noFill/>
          <a:ln/>
        </p:spPr>
        <p:txBody>
          <a:bodyPr wrap="square" lIns="0" tIns="0" rIns="0" bIns="0" rtlCol="0" anchor="ctr"/>
          <a:lstStyle/>
          <a:p>
            <a:pPr algn="l" indent="0" marL="0">
              <a:buNone/>
            </a:pPr>
            <a:r>
              <a:rPr lang="en-US" sz="1700" b="1" dirty="0">
                <a:solidFill>
                  <a:schemeClr val="tx2"/>
                </a:solidFill>
              </a:rPr>
              <a:t>VERBE + te + INFINITIF → PARTICIPE</a:t>
            </a:r>
            <a:endParaRPr lang="en-US" sz="1700" dirty="0"/>
          </a:p>
        </p:txBody>
      </p:sp>
      <p:sp>
        <p:nvSpPr>
          <p:cNvPr id="7" name="Shape 4"/>
          <p:cNvSpPr/>
          <p:nvPr/>
        </p:nvSpPr>
        <p:spPr>
          <a:xfrm>
            <a:off x="731520" y="2148840"/>
            <a:ext cx="5042916" cy="749808"/>
          </a:xfrm>
          <a:prstGeom prst="roundRect">
            <a:avLst>
              <a:gd name="adj" fmla="val 9756"/>
            </a:avLst>
          </a:prstGeom>
          <a:solidFill>
            <a:srgbClr val="FFFFFF"/>
          </a:solidFill>
          <a:ln w="12700">
            <a:solidFill>
              <a:srgbClr val="FFFFFF">
                <a:alpha val="0"/>
              </a:srgbClr>
            </a:solidFill>
            <a:prstDash val="solid"/>
          </a:ln>
        </p:spPr>
      </p:sp>
      <p:pic>
        <p:nvPicPr>
          <p:cNvPr id="8" name="Image 0" descr="handshake">    </p:cNvPr>
          <p:cNvPicPr>
            <a:picLocks noChangeAspect="1"/>
          </p:cNvPicPr>
          <p:nvPr/>
        </p:nvPicPr>
        <p:blipFill>
          <a:blip r:embed="rId1"/>
          <a:stretch>
            <a:fillRect/>
          </a:stretch>
        </p:blipFill>
        <p:spPr>
          <a:xfrm>
            <a:off x="841248" y="2221992"/>
            <a:ext cx="603504" cy="603504"/>
          </a:xfrm>
          <a:prstGeom prst="rect">
            <a:avLst/>
          </a:prstGeom>
        </p:spPr>
      </p:pic>
      <p:sp>
        <p:nvSpPr>
          <p:cNvPr id="9" name="Text 5"/>
          <p:cNvSpPr txBox="1"/>
          <p:nvPr/>
        </p:nvSpPr>
        <p:spPr>
          <a:xfrm>
            <a:off x="1600200" y="2167128"/>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beloofd</a:t>
            </a:r>
            <a:r>
              <a:rPr lang="en-US" sz="1700" i="1" dirty="0">
                <a:solidFill>
                  <a:schemeClr val="tx1"/>
                </a:solidFill>
              </a:rPr>
              <a:t> te komen.</a:t>
            </a:r>
            <a:endParaRPr lang="en-US" sz="1800" dirty="0"/>
          </a:p>
        </p:txBody>
      </p:sp>
      <p:sp>
        <p:nvSpPr>
          <p:cNvPr id="10" name="Text 6"/>
          <p:cNvSpPr txBox="1"/>
          <p:nvPr/>
        </p:nvSpPr>
        <p:spPr>
          <a:xfrm>
            <a:off x="1600200" y="2587752"/>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beloven</a:t>
            </a:r>
            <a:endParaRPr lang="en-US" sz="1200" dirty="0"/>
          </a:p>
        </p:txBody>
      </p:sp>
      <p:sp>
        <p:nvSpPr>
          <p:cNvPr id="11" name="Shape 7"/>
          <p:cNvSpPr/>
          <p:nvPr/>
        </p:nvSpPr>
        <p:spPr>
          <a:xfrm>
            <a:off x="731520" y="2999232"/>
            <a:ext cx="5042916" cy="749808"/>
          </a:xfrm>
          <a:prstGeom prst="roundRect">
            <a:avLst>
              <a:gd name="adj" fmla="val 9756"/>
            </a:avLst>
          </a:prstGeom>
          <a:solidFill>
            <a:srgbClr val="FFFFFF"/>
          </a:solidFill>
          <a:ln w="12700">
            <a:solidFill>
              <a:srgbClr val="FFFFFF">
                <a:alpha val="0"/>
              </a:srgbClr>
            </a:solidFill>
            <a:prstDash val="solid"/>
          </a:ln>
        </p:spPr>
      </p:sp>
      <p:pic>
        <p:nvPicPr>
          <p:cNvPr id="12" name="Image 1" descr="telephone receiver">    </p:cNvPr>
          <p:cNvPicPr>
            <a:picLocks noChangeAspect="1"/>
          </p:cNvPicPr>
          <p:nvPr/>
        </p:nvPicPr>
        <p:blipFill>
          <a:blip r:embed="rId2"/>
          <a:stretch>
            <a:fillRect/>
          </a:stretch>
        </p:blipFill>
        <p:spPr>
          <a:xfrm>
            <a:off x="841248" y="3072384"/>
            <a:ext cx="603504" cy="603504"/>
          </a:xfrm>
          <a:prstGeom prst="rect">
            <a:avLst/>
          </a:prstGeom>
        </p:spPr>
      </p:pic>
      <p:sp>
        <p:nvSpPr>
          <p:cNvPr id="13" name="Text 8"/>
          <p:cNvSpPr txBox="1"/>
          <p:nvPr/>
        </p:nvSpPr>
        <p:spPr>
          <a:xfrm>
            <a:off x="1600200" y="3017520"/>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Ik heb </a:t>
            </a:r>
            <a:r>
              <a:rPr lang="en-US" sz="1700" b="1" i="1" dirty="0">
                <a:solidFill>
                  <a:srgbClr val="17375E"/>
                </a:solidFill>
              </a:rPr>
              <a:t>geprobeerd</a:t>
            </a:r>
            <a:r>
              <a:rPr lang="en-US" sz="1700" i="1" dirty="0">
                <a:solidFill>
                  <a:schemeClr val="tx1"/>
                </a:solidFill>
              </a:rPr>
              <a:t> je te bellen.</a:t>
            </a:r>
            <a:endParaRPr lang="en-US" sz="1800" dirty="0"/>
          </a:p>
        </p:txBody>
      </p:sp>
      <p:sp>
        <p:nvSpPr>
          <p:cNvPr id="14" name="Text 9"/>
          <p:cNvSpPr txBox="1"/>
          <p:nvPr/>
        </p:nvSpPr>
        <p:spPr>
          <a:xfrm>
            <a:off x="1600200" y="3438144"/>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proberen</a:t>
            </a:r>
            <a:endParaRPr lang="en-US" sz="1200" dirty="0"/>
          </a:p>
        </p:txBody>
      </p:sp>
      <p:sp>
        <p:nvSpPr>
          <p:cNvPr id="15" name="Shape 10"/>
          <p:cNvSpPr/>
          <p:nvPr/>
        </p:nvSpPr>
        <p:spPr>
          <a:xfrm>
            <a:off x="731520" y="3849624"/>
            <a:ext cx="5042916" cy="749808"/>
          </a:xfrm>
          <a:prstGeom prst="roundRect">
            <a:avLst>
              <a:gd name="adj" fmla="val 9756"/>
            </a:avLst>
          </a:prstGeom>
          <a:solidFill>
            <a:srgbClr val="FFFFFF"/>
          </a:solidFill>
          <a:ln w="12700">
            <a:solidFill>
              <a:srgbClr val="FFFFFF">
                <a:alpha val="0"/>
              </a:srgbClr>
            </a:solidFill>
            <a:prstDash val="solid"/>
          </a:ln>
        </p:spPr>
      </p:sp>
      <p:pic>
        <p:nvPicPr>
          <p:cNvPr id="16" name="Image 2" descr="thinking face">    </p:cNvPr>
          <p:cNvPicPr>
            <a:picLocks noChangeAspect="1"/>
          </p:cNvPicPr>
          <p:nvPr/>
        </p:nvPicPr>
        <p:blipFill>
          <a:blip r:embed="rId3"/>
          <a:stretch>
            <a:fillRect/>
          </a:stretch>
        </p:blipFill>
        <p:spPr>
          <a:xfrm>
            <a:off x="841248" y="3922776"/>
            <a:ext cx="603504" cy="603504"/>
          </a:xfrm>
          <a:prstGeom prst="rect">
            <a:avLst/>
          </a:prstGeom>
        </p:spPr>
      </p:pic>
      <p:sp>
        <p:nvSpPr>
          <p:cNvPr id="17" name="Text 11"/>
          <p:cNvSpPr txBox="1"/>
          <p:nvPr/>
        </p:nvSpPr>
        <p:spPr>
          <a:xfrm>
            <a:off x="1600200" y="3867912"/>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We hebben </a:t>
            </a:r>
            <a:r>
              <a:rPr lang="en-US" sz="1700" b="1" i="1" dirty="0">
                <a:solidFill>
                  <a:srgbClr val="17375E"/>
                </a:solidFill>
              </a:rPr>
              <a:t>besloten</a:t>
            </a:r>
            <a:r>
              <a:rPr lang="en-US" sz="1700" i="1" dirty="0">
                <a:solidFill>
                  <a:schemeClr val="tx1"/>
                </a:solidFill>
              </a:rPr>
              <a:t> te verhuizen.</a:t>
            </a:r>
            <a:endParaRPr lang="en-US" sz="1800" dirty="0"/>
          </a:p>
        </p:txBody>
      </p:sp>
      <p:sp>
        <p:nvSpPr>
          <p:cNvPr id="18" name="Text 12"/>
          <p:cNvSpPr txBox="1"/>
          <p:nvPr/>
        </p:nvSpPr>
        <p:spPr>
          <a:xfrm>
            <a:off x="1600200" y="4288536"/>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beslissen</a:t>
            </a:r>
            <a:endParaRPr lang="en-US" sz="1200" dirty="0"/>
          </a:p>
        </p:txBody>
      </p:sp>
      <p:sp>
        <p:nvSpPr>
          <p:cNvPr id="19" name="Shape 13"/>
          <p:cNvSpPr/>
          <p:nvPr/>
        </p:nvSpPr>
        <p:spPr>
          <a:xfrm>
            <a:off x="731520" y="4700016"/>
            <a:ext cx="5042916" cy="749808"/>
          </a:xfrm>
          <a:prstGeom prst="roundRect">
            <a:avLst>
              <a:gd name="adj" fmla="val 9756"/>
            </a:avLst>
          </a:prstGeom>
          <a:solidFill>
            <a:srgbClr val="FFFFFF"/>
          </a:solidFill>
          <a:ln w="12700">
            <a:solidFill>
              <a:srgbClr val="FFFFFF">
                <a:alpha val="0"/>
              </a:srgbClr>
            </a:solidFill>
            <a:prstDash val="solid"/>
          </a:ln>
        </p:spPr>
      </p:sp>
      <p:pic>
        <p:nvPicPr>
          <p:cNvPr id="20" name="Image 3" descr="no entry">    </p:cNvPr>
          <p:cNvPicPr>
            <a:picLocks noChangeAspect="1"/>
          </p:cNvPicPr>
          <p:nvPr/>
        </p:nvPicPr>
        <p:blipFill>
          <a:blip r:embed="rId4"/>
          <a:stretch>
            <a:fillRect/>
          </a:stretch>
        </p:blipFill>
        <p:spPr>
          <a:xfrm>
            <a:off x="841248" y="4773168"/>
            <a:ext cx="603504" cy="603504"/>
          </a:xfrm>
          <a:prstGeom prst="rect">
            <a:avLst/>
          </a:prstGeom>
        </p:spPr>
      </p:pic>
      <p:sp>
        <p:nvSpPr>
          <p:cNvPr id="21" name="Text 14"/>
          <p:cNvSpPr txBox="1"/>
          <p:nvPr/>
        </p:nvSpPr>
        <p:spPr>
          <a:xfrm>
            <a:off x="1600200" y="4718304"/>
            <a:ext cx="3945636" cy="438912"/>
          </a:xfrm>
          <a:prstGeom prst="rect">
            <a:avLst/>
          </a:prstGeom>
          <a:noFill/>
          <a:ln/>
        </p:spPr>
        <p:txBody>
          <a:bodyPr wrap="square" lIns="0" tIns="0" rIns="0" bIns="0" rtlCol="0" anchor="ctr"/>
          <a:lstStyle/>
          <a:p>
            <a:pPr algn="l" indent="0" marL="0">
              <a:buNone/>
            </a:pPr>
            <a:r>
              <a:rPr lang="en-US" sz="1700" i="1" dirty="0">
                <a:solidFill>
                  <a:schemeClr val="tx1"/>
                </a:solidFill>
              </a:rPr>
              <a:t>Hij heeft </a:t>
            </a:r>
            <a:r>
              <a:rPr lang="en-US" sz="1700" b="1" i="1" dirty="0">
                <a:solidFill>
                  <a:srgbClr val="17375E"/>
                </a:solidFill>
              </a:rPr>
              <a:t>geweigerd</a:t>
            </a:r>
            <a:r>
              <a:rPr lang="en-US" sz="1700" i="1" dirty="0">
                <a:solidFill>
                  <a:schemeClr val="tx1"/>
                </a:solidFill>
              </a:rPr>
              <a:t> te betalen.</a:t>
            </a:r>
            <a:endParaRPr lang="en-US" sz="1800" dirty="0"/>
          </a:p>
        </p:txBody>
      </p:sp>
      <p:sp>
        <p:nvSpPr>
          <p:cNvPr id="22" name="Text 15"/>
          <p:cNvSpPr txBox="1"/>
          <p:nvPr/>
        </p:nvSpPr>
        <p:spPr>
          <a:xfrm>
            <a:off x="1600200" y="5138928"/>
            <a:ext cx="3945636" cy="274320"/>
          </a:xfrm>
          <a:prstGeom prst="rect">
            <a:avLst/>
          </a:prstGeom>
          <a:noFill/>
          <a:ln/>
        </p:spPr>
        <p:txBody>
          <a:bodyPr wrap="square" lIns="0" tIns="0" rIns="0" bIns="0" rtlCol="0" anchor="ctr"/>
          <a:lstStyle/>
          <a:p>
            <a:pPr algn="l" indent="0" marL="0">
              <a:buNone/>
            </a:pPr>
            <a:r>
              <a:rPr lang="en-US" sz="1200" i="1" dirty="0">
                <a:solidFill>
                  <a:schemeClr val="accent5"/>
                </a:solidFill>
              </a:rPr>
              <a:t>weigeren</a:t>
            </a:r>
            <a:endParaRPr lang="en-US" sz="1200" dirty="0"/>
          </a:p>
        </p:txBody>
      </p:sp>
      <p:sp>
        <p:nvSpPr>
          <p:cNvPr id="23" name="Shape 16"/>
          <p:cNvSpPr/>
          <p:nvPr/>
        </p:nvSpPr>
        <p:spPr>
          <a:xfrm>
            <a:off x="6231636" y="1463040"/>
            <a:ext cx="5408676" cy="4160520"/>
          </a:xfrm>
          <a:prstGeom prst="roundRect">
            <a:avLst>
              <a:gd name="adj" fmla="val 2637"/>
            </a:avLst>
          </a:prstGeom>
          <a:solidFill>
            <a:srgbClr val="F1ECF7"/>
          </a:solidFill>
          <a:ln w="25400">
            <a:solidFill>
              <a:srgbClr val="6E4A9E"/>
            </a:solidFill>
            <a:prstDash val="solid"/>
          </a:ln>
        </p:spPr>
      </p:sp>
      <p:sp>
        <p:nvSpPr>
          <p:cNvPr id="24" name="Text 17"/>
          <p:cNvSpPr txBox="1"/>
          <p:nvPr/>
        </p:nvSpPr>
        <p:spPr>
          <a:xfrm>
            <a:off x="6414516" y="1554480"/>
            <a:ext cx="5042916" cy="457200"/>
          </a:xfrm>
          <a:prstGeom prst="rect">
            <a:avLst/>
          </a:prstGeom>
          <a:noFill/>
          <a:ln/>
        </p:spPr>
        <p:txBody>
          <a:bodyPr wrap="square" lIns="0" tIns="0" rIns="0" bIns="0" rtlCol="0" anchor="ctr"/>
          <a:lstStyle/>
          <a:p>
            <a:pPr algn="l" indent="0" marL="0">
              <a:buNone/>
            </a:pPr>
            <a:r>
              <a:rPr lang="en-US" sz="1700" b="1" dirty="0">
                <a:solidFill>
                  <a:srgbClr val="6E4A9E"/>
                </a:solidFill>
              </a:rPr>
              <a:t>EXCEPTION : zitten · staan · liggen · lopen</a:t>
            </a:r>
            <a:endParaRPr lang="en-US" sz="1700" dirty="0"/>
          </a:p>
        </p:txBody>
      </p:sp>
      <p:sp>
        <p:nvSpPr>
          <p:cNvPr id="25" name="Shape 18"/>
          <p:cNvSpPr/>
          <p:nvPr/>
        </p:nvSpPr>
        <p:spPr>
          <a:xfrm>
            <a:off x="6505956" y="2240280"/>
            <a:ext cx="577901" cy="548640"/>
          </a:xfrm>
          <a:prstGeom prst="roundRect">
            <a:avLst>
              <a:gd name="adj" fmla="val 16667"/>
            </a:avLst>
          </a:prstGeom>
          <a:solidFill>
            <a:schemeClr val="bg1"/>
          </a:solidFill>
          <a:ln w="15875">
            <a:solidFill>
              <a:srgbClr val="D5DCE6"/>
            </a:solidFill>
            <a:prstDash val="solid"/>
          </a:ln>
        </p:spPr>
      </p:sp>
      <p:sp>
        <p:nvSpPr>
          <p:cNvPr id="26" name="Text 19"/>
          <p:cNvSpPr txBox="1"/>
          <p:nvPr/>
        </p:nvSpPr>
        <p:spPr>
          <a:xfrm>
            <a:off x="6505956" y="224028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27" name="Shape 20"/>
          <p:cNvSpPr/>
          <p:nvPr/>
        </p:nvSpPr>
        <p:spPr>
          <a:xfrm>
            <a:off x="7166153" y="2240280"/>
            <a:ext cx="880165" cy="548640"/>
          </a:xfrm>
          <a:prstGeom prst="roundRect">
            <a:avLst>
              <a:gd name="adj" fmla="val 16667"/>
            </a:avLst>
          </a:prstGeom>
          <a:solidFill>
            <a:schemeClr val="tx2"/>
          </a:solidFill>
          <a:ln w="12700">
            <a:solidFill>
              <a:srgbClr val="FFFFFF">
                <a:alpha val="0"/>
              </a:srgbClr>
            </a:solidFill>
            <a:prstDash val="solid"/>
          </a:ln>
        </p:spPr>
      </p:sp>
      <p:sp>
        <p:nvSpPr>
          <p:cNvPr id="28" name="Text 21"/>
          <p:cNvSpPr txBox="1"/>
          <p:nvPr/>
        </p:nvSpPr>
        <p:spPr>
          <a:xfrm>
            <a:off x="7166153" y="224028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zit</a:t>
            </a:r>
            <a:endParaRPr lang="en-US" sz="2000" dirty="0"/>
          </a:p>
        </p:txBody>
      </p:sp>
      <p:sp>
        <p:nvSpPr>
          <p:cNvPr id="29" name="Text 22"/>
          <p:cNvSpPr txBox="1"/>
          <p:nvPr/>
        </p:nvSpPr>
        <p:spPr>
          <a:xfrm>
            <a:off x="8128614" y="2240280"/>
            <a:ext cx="720401" cy="548640"/>
          </a:xfrm>
          <a:prstGeom prst="rect">
            <a:avLst/>
          </a:prstGeom>
          <a:noFill/>
          <a:ln/>
        </p:spPr>
        <p:txBody>
          <a:bodyPr wrap="square" lIns="0" tIns="0" rIns="0" bIns="0" rtlCol="0" anchor="ctr"/>
          <a:lstStyle/>
          <a:p>
            <a:pPr algn="ctr" indent="0" marL="0">
              <a:buNone/>
            </a:pPr>
            <a:r>
              <a:rPr lang="en-US" sz="2000" b="1" dirty="0">
                <a:solidFill>
                  <a:schemeClr val="accent5"/>
                </a:solidFill>
              </a:rPr>
              <a:t>te</a:t>
            </a:r>
            <a:endParaRPr lang="en-US" sz="2000" dirty="0"/>
          </a:p>
        </p:txBody>
      </p:sp>
      <p:sp>
        <p:nvSpPr>
          <p:cNvPr id="30" name="Shape 23"/>
          <p:cNvSpPr/>
          <p:nvPr/>
        </p:nvSpPr>
        <p:spPr>
          <a:xfrm>
            <a:off x="8931311" y="2240280"/>
            <a:ext cx="1678985" cy="548640"/>
          </a:xfrm>
          <a:prstGeom prst="roundRect">
            <a:avLst>
              <a:gd name="adj" fmla="val 16667"/>
            </a:avLst>
          </a:prstGeom>
          <a:solidFill>
            <a:srgbClr val="FBEDEB"/>
          </a:solidFill>
          <a:ln w="25400">
            <a:solidFill>
              <a:srgbClr val="B83227"/>
            </a:solidFill>
            <a:prstDash val="solid"/>
          </a:ln>
        </p:spPr>
      </p:sp>
      <p:sp>
        <p:nvSpPr>
          <p:cNvPr id="31" name="Text 24"/>
          <p:cNvSpPr txBox="1"/>
          <p:nvPr/>
        </p:nvSpPr>
        <p:spPr>
          <a:xfrm>
            <a:off x="8931311" y="224028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32" name="Text 25"/>
          <p:cNvSpPr txBox="1"/>
          <p:nvPr/>
        </p:nvSpPr>
        <p:spPr>
          <a:xfrm>
            <a:off x="6231636" y="2834640"/>
            <a:ext cx="5408676" cy="411480"/>
          </a:xfrm>
          <a:prstGeom prst="rect">
            <a:avLst/>
          </a:prstGeom>
          <a:noFill/>
          <a:ln/>
        </p:spPr>
        <p:txBody>
          <a:bodyPr wrap="square" lIns="0" tIns="0" rIns="0" bIns="0" rtlCol="0" anchor="ctr"/>
          <a:lstStyle/>
          <a:p>
            <a:pPr algn="ctr" indent="0" marL="0">
              <a:buNone/>
            </a:pPr>
            <a:r>
              <a:rPr lang="en-US" sz="2200" dirty="0">
                <a:solidFill>
                  <a:schemeClr val="accent5"/>
                </a:solidFill>
              </a:rPr>
              <a:t>⬇</a:t>
            </a:r>
            <a:endParaRPr lang="en-US" sz="2200" dirty="0"/>
          </a:p>
        </p:txBody>
      </p:sp>
      <p:sp>
        <p:nvSpPr>
          <p:cNvPr id="33" name="Shape 26"/>
          <p:cNvSpPr/>
          <p:nvPr/>
        </p:nvSpPr>
        <p:spPr>
          <a:xfrm>
            <a:off x="6505956" y="3291840"/>
            <a:ext cx="577901" cy="548640"/>
          </a:xfrm>
          <a:prstGeom prst="roundRect">
            <a:avLst>
              <a:gd name="adj" fmla="val 16667"/>
            </a:avLst>
          </a:prstGeom>
          <a:solidFill>
            <a:schemeClr val="bg1"/>
          </a:solidFill>
          <a:ln w="15875">
            <a:solidFill>
              <a:srgbClr val="D5DCE6"/>
            </a:solidFill>
            <a:prstDash val="solid"/>
          </a:ln>
        </p:spPr>
      </p:sp>
      <p:sp>
        <p:nvSpPr>
          <p:cNvPr id="34" name="Text 27"/>
          <p:cNvSpPr txBox="1"/>
          <p:nvPr/>
        </p:nvSpPr>
        <p:spPr>
          <a:xfrm>
            <a:off x="6505956" y="3291840"/>
            <a:ext cx="577901"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35" name="Shape 28"/>
          <p:cNvSpPr/>
          <p:nvPr/>
        </p:nvSpPr>
        <p:spPr>
          <a:xfrm>
            <a:off x="7166153" y="3291840"/>
            <a:ext cx="880165" cy="548640"/>
          </a:xfrm>
          <a:prstGeom prst="roundRect">
            <a:avLst>
              <a:gd name="adj" fmla="val 16667"/>
            </a:avLst>
          </a:prstGeom>
          <a:solidFill>
            <a:schemeClr val="tx2"/>
          </a:solidFill>
          <a:ln w="12700">
            <a:solidFill>
              <a:srgbClr val="FFFFFF">
                <a:alpha val="0"/>
              </a:srgbClr>
            </a:solidFill>
            <a:prstDash val="solid"/>
          </a:ln>
        </p:spPr>
      </p:sp>
      <p:sp>
        <p:nvSpPr>
          <p:cNvPr id="36" name="Text 29"/>
          <p:cNvSpPr txBox="1"/>
          <p:nvPr/>
        </p:nvSpPr>
        <p:spPr>
          <a:xfrm>
            <a:off x="7166153" y="3291840"/>
            <a:ext cx="880165" cy="548640"/>
          </a:xfrm>
          <a:prstGeom prst="rect">
            <a:avLst/>
          </a:prstGeom>
          <a:noFill/>
          <a:ln/>
        </p:spPr>
        <p:txBody>
          <a:bodyPr wrap="square" lIns="0" tIns="0" rIns="0" bIns="0" rtlCol="0" anchor="ctr"/>
          <a:lstStyle/>
          <a:p>
            <a:pPr algn="ctr" indent="0" marL="0">
              <a:buNone/>
            </a:pPr>
            <a:r>
              <a:rPr lang="en-US" sz="2000" b="1" dirty="0">
                <a:solidFill>
                  <a:schemeClr val="bg1"/>
                </a:solidFill>
              </a:rPr>
              <a:t>heb</a:t>
            </a:r>
            <a:endParaRPr lang="en-US" sz="2000" dirty="0"/>
          </a:p>
        </p:txBody>
      </p:sp>
      <p:sp>
        <p:nvSpPr>
          <p:cNvPr id="37" name="Shape 30"/>
          <p:cNvSpPr/>
          <p:nvPr/>
        </p:nvSpPr>
        <p:spPr>
          <a:xfrm>
            <a:off x="8128614" y="3291840"/>
            <a:ext cx="1359457" cy="548640"/>
          </a:xfrm>
          <a:prstGeom prst="roundRect">
            <a:avLst>
              <a:gd name="adj" fmla="val 16667"/>
            </a:avLst>
          </a:prstGeom>
          <a:solidFill>
            <a:schemeClr val="accent1"/>
          </a:solidFill>
          <a:ln w="12700">
            <a:solidFill>
              <a:srgbClr val="FFFFFF">
                <a:alpha val="0"/>
              </a:srgbClr>
            </a:solidFill>
            <a:prstDash val="solid"/>
          </a:ln>
        </p:spPr>
      </p:sp>
      <p:sp>
        <p:nvSpPr>
          <p:cNvPr id="38" name="Text 31"/>
          <p:cNvSpPr txBox="1"/>
          <p:nvPr/>
        </p:nvSpPr>
        <p:spPr>
          <a:xfrm>
            <a:off x="8128614" y="3291840"/>
            <a:ext cx="1359457" cy="548640"/>
          </a:xfrm>
          <a:prstGeom prst="rect">
            <a:avLst/>
          </a:prstGeom>
          <a:noFill/>
          <a:ln/>
        </p:spPr>
        <p:txBody>
          <a:bodyPr wrap="square" lIns="0" tIns="0" rIns="0" bIns="0" rtlCol="0" anchor="ctr"/>
          <a:lstStyle/>
          <a:p>
            <a:pPr algn="ctr" indent="0" marL="0">
              <a:buNone/>
            </a:pPr>
            <a:r>
              <a:rPr lang="en-US" sz="2000" b="1" dirty="0">
                <a:solidFill>
                  <a:schemeClr val="bg1"/>
                </a:solidFill>
              </a:rPr>
              <a:t>zitten</a:t>
            </a:r>
            <a:endParaRPr lang="en-US" sz="2000" dirty="0"/>
          </a:p>
        </p:txBody>
      </p:sp>
      <p:sp>
        <p:nvSpPr>
          <p:cNvPr id="39" name="Shape 32"/>
          <p:cNvSpPr/>
          <p:nvPr/>
        </p:nvSpPr>
        <p:spPr>
          <a:xfrm>
            <a:off x="9570366" y="3291840"/>
            <a:ext cx="1678985" cy="548640"/>
          </a:xfrm>
          <a:prstGeom prst="roundRect">
            <a:avLst>
              <a:gd name="adj" fmla="val 16667"/>
            </a:avLst>
          </a:prstGeom>
          <a:solidFill>
            <a:srgbClr val="FBEDEB"/>
          </a:solidFill>
          <a:ln w="25400">
            <a:solidFill>
              <a:srgbClr val="B83227"/>
            </a:solidFill>
            <a:prstDash val="solid"/>
          </a:ln>
        </p:spPr>
      </p:sp>
      <p:sp>
        <p:nvSpPr>
          <p:cNvPr id="40" name="Text 33"/>
          <p:cNvSpPr txBox="1"/>
          <p:nvPr/>
        </p:nvSpPr>
        <p:spPr>
          <a:xfrm>
            <a:off x="9570366" y="3291840"/>
            <a:ext cx="1678985" cy="548640"/>
          </a:xfrm>
          <a:prstGeom prst="rect">
            <a:avLst/>
          </a:prstGeom>
          <a:noFill/>
          <a:ln/>
        </p:spPr>
        <p:txBody>
          <a:bodyPr wrap="square" lIns="0" tIns="0" rIns="0" bIns="0" rtlCol="0" anchor="ctr"/>
          <a:lstStyle/>
          <a:p>
            <a:pPr algn="ctr" indent="0" marL="0">
              <a:buNone/>
            </a:pPr>
            <a:r>
              <a:rPr lang="en-US" sz="2000" b="1" dirty="0">
                <a:solidFill>
                  <a:schemeClr val="accent6"/>
                </a:solidFill>
              </a:rPr>
              <a:t>wachten.</a:t>
            </a:r>
            <a:endParaRPr lang="en-US" sz="2000" dirty="0"/>
          </a:p>
        </p:txBody>
      </p:sp>
      <p:sp>
        <p:nvSpPr>
          <p:cNvPr id="41" name="Shape 34"/>
          <p:cNvSpPr/>
          <p:nvPr/>
        </p:nvSpPr>
        <p:spPr>
          <a:xfrm>
            <a:off x="6414516" y="3995928"/>
            <a:ext cx="4926275" cy="45720"/>
          </a:xfrm>
          <a:prstGeom prst="rect">
            <a:avLst/>
          </a:prstGeom>
          <a:solidFill>
            <a:srgbClr val="8A96A8"/>
          </a:solidFill>
          <a:ln w="12700">
            <a:solidFill>
              <a:srgbClr val="FFFFFF">
                <a:alpha val="0"/>
              </a:srgbClr>
            </a:solidFill>
            <a:prstDash val="solid"/>
          </a:ln>
        </p:spPr>
      </p:sp>
      <p:sp>
        <p:nvSpPr>
          <p:cNvPr id="42" name="Shape 35"/>
          <p:cNvSpPr/>
          <p:nvPr/>
        </p:nvSpPr>
        <p:spPr>
          <a:xfrm>
            <a:off x="7286637" y="3849624"/>
            <a:ext cx="146304" cy="146304"/>
          </a:xfrm>
          <a:prstGeom prst="ellipse">
            <a:avLst/>
          </a:prstGeom>
          <a:solidFill>
            <a:srgbClr val="1B2333"/>
          </a:solidFill>
          <a:ln w="12700">
            <a:solidFill>
              <a:srgbClr val="FFFFFF">
                <a:alpha val="0"/>
              </a:srgbClr>
            </a:solidFill>
            <a:prstDash val="solid"/>
          </a:ln>
        </p:spPr>
      </p:sp>
      <p:sp>
        <p:nvSpPr>
          <p:cNvPr id="43" name="Shape 36"/>
          <p:cNvSpPr/>
          <p:nvPr/>
        </p:nvSpPr>
        <p:spPr>
          <a:xfrm>
            <a:off x="7779529" y="3849624"/>
            <a:ext cx="146304" cy="146304"/>
          </a:xfrm>
          <a:prstGeom prst="ellipse">
            <a:avLst/>
          </a:prstGeom>
          <a:solidFill>
            <a:srgbClr val="1B2333"/>
          </a:solidFill>
          <a:ln w="12700">
            <a:solidFill>
              <a:srgbClr val="FFFFFF">
                <a:alpha val="0"/>
              </a:srgbClr>
            </a:solidFill>
            <a:prstDash val="solid"/>
          </a:ln>
        </p:spPr>
      </p:sp>
      <p:sp>
        <p:nvSpPr>
          <p:cNvPr id="44" name="Shape 37"/>
          <p:cNvSpPr/>
          <p:nvPr/>
        </p:nvSpPr>
        <p:spPr>
          <a:xfrm>
            <a:off x="7275881" y="3090672"/>
            <a:ext cx="146304" cy="219456"/>
          </a:xfrm>
          <a:prstGeom prst="rect">
            <a:avLst/>
          </a:prstGeom>
          <a:solidFill>
            <a:schemeClr val="tx2"/>
          </a:solidFill>
          <a:ln w="12700">
            <a:solidFill>
              <a:srgbClr val="FFFFFF">
                <a:alpha val="0"/>
              </a:srgbClr>
            </a:solidFill>
            <a:prstDash val="solid"/>
          </a:ln>
        </p:spPr>
      </p:sp>
      <p:sp>
        <p:nvSpPr>
          <p:cNvPr id="45" name="Shape 38"/>
          <p:cNvSpPr/>
          <p:nvPr/>
        </p:nvSpPr>
        <p:spPr>
          <a:xfrm>
            <a:off x="8046318" y="3703320"/>
            <a:ext cx="82296" cy="914"/>
          </a:xfrm>
          <a:prstGeom prst="line">
            <a:avLst/>
          </a:prstGeom>
          <a:noFill/>
          <a:ln w="31750">
            <a:solidFill>
              <a:srgbClr val="1B2333"/>
            </a:solidFill>
            <a:prstDash val="solid"/>
          </a:ln>
        </p:spPr>
      </p:sp>
      <p:sp>
        <p:nvSpPr>
          <p:cNvPr id="46" name="Shape 39"/>
          <p:cNvSpPr/>
          <p:nvPr/>
        </p:nvSpPr>
        <p:spPr>
          <a:xfrm>
            <a:off x="8354542" y="3849624"/>
            <a:ext cx="146304" cy="146304"/>
          </a:xfrm>
          <a:prstGeom prst="ellipse">
            <a:avLst/>
          </a:prstGeom>
          <a:solidFill>
            <a:srgbClr val="1B2333"/>
          </a:solidFill>
          <a:ln w="12700">
            <a:solidFill>
              <a:srgbClr val="FFFFFF">
                <a:alpha val="0"/>
              </a:srgbClr>
            </a:solidFill>
            <a:prstDash val="solid"/>
          </a:ln>
        </p:spPr>
      </p:sp>
      <p:sp>
        <p:nvSpPr>
          <p:cNvPr id="47" name="Shape 40"/>
          <p:cNvSpPr/>
          <p:nvPr/>
        </p:nvSpPr>
        <p:spPr>
          <a:xfrm>
            <a:off x="9115838" y="3849624"/>
            <a:ext cx="146304" cy="146304"/>
          </a:xfrm>
          <a:prstGeom prst="ellipse">
            <a:avLst/>
          </a:prstGeom>
          <a:solidFill>
            <a:srgbClr val="1B2333"/>
          </a:solidFill>
          <a:ln w="12700">
            <a:solidFill>
              <a:srgbClr val="FFFFFF">
                <a:alpha val="0"/>
              </a:srgbClr>
            </a:solidFill>
            <a:prstDash val="solid"/>
          </a:ln>
        </p:spPr>
      </p:sp>
      <p:sp>
        <p:nvSpPr>
          <p:cNvPr id="48" name="Shape 41"/>
          <p:cNvSpPr/>
          <p:nvPr/>
        </p:nvSpPr>
        <p:spPr>
          <a:xfrm>
            <a:off x="9488070" y="3703320"/>
            <a:ext cx="82296" cy="914"/>
          </a:xfrm>
          <a:prstGeom prst="line">
            <a:avLst/>
          </a:prstGeom>
          <a:noFill/>
          <a:ln w="31750">
            <a:solidFill>
              <a:srgbClr val="1B2333"/>
            </a:solidFill>
            <a:prstDash val="solid"/>
          </a:ln>
        </p:spPr>
      </p:sp>
      <p:sp>
        <p:nvSpPr>
          <p:cNvPr id="49" name="Shape 42"/>
          <p:cNvSpPr/>
          <p:nvPr/>
        </p:nvSpPr>
        <p:spPr>
          <a:xfrm>
            <a:off x="9866591" y="3849624"/>
            <a:ext cx="146304" cy="146304"/>
          </a:xfrm>
          <a:prstGeom prst="ellipse">
            <a:avLst/>
          </a:prstGeom>
          <a:solidFill>
            <a:srgbClr val="1B2333"/>
          </a:solidFill>
          <a:ln w="12700">
            <a:solidFill>
              <a:srgbClr val="FFFFFF">
                <a:alpha val="0"/>
              </a:srgbClr>
            </a:solidFill>
            <a:prstDash val="solid"/>
          </a:ln>
        </p:spPr>
      </p:sp>
      <p:sp>
        <p:nvSpPr>
          <p:cNvPr id="50" name="Shape 43"/>
          <p:cNvSpPr/>
          <p:nvPr/>
        </p:nvSpPr>
        <p:spPr>
          <a:xfrm>
            <a:off x="10806823" y="3849624"/>
            <a:ext cx="146304" cy="146304"/>
          </a:xfrm>
          <a:prstGeom prst="ellipse">
            <a:avLst/>
          </a:prstGeom>
          <a:solidFill>
            <a:srgbClr val="1B2333"/>
          </a:solidFill>
          <a:ln w="12700">
            <a:solidFill>
              <a:srgbClr val="FFFFFF">
                <a:alpha val="0"/>
              </a:srgbClr>
            </a:solidFill>
            <a:prstDash val="solid"/>
          </a:ln>
        </p:spPr>
      </p:sp>
      <p:sp>
        <p:nvSpPr>
          <p:cNvPr id="51" name="Text 44"/>
          <p:cNvSpPr txBox="1"/>
          <p:nvPr/>
        </p:nvSpPr>
        <p:spPr>
          <a:xfrm>
            <a:off x="6505956" y="4160520"/>
            <a:ext cx="4860036" cy="365760"/>
          </a:xfrm>
          <a:prstGeom prst="rect">
            <a:avLst/>
          </a:prstGeom>
          <a:noFill/>
          <a:ln/>
        </p:spPr>
        <p:txBody>
          <a:bodyPr wrap="square" lIns="0" tIns="0" rIns="0" bIns="0" rtlCol="0" anchor="t"/>
          <a:lstStyle/>
          <a:p>
            <a:pPr algn="l" indent="0" marL="0">
              <a:buNone/>
            </a:pPr>
            <a:r>
              <a:rPr lang="en-US" sz="1500" b="1" dirty="0">
                <a:solidFill>
                  <a:srgbClr val="6E4A9E"/>
                </a:solidFill>
              </a:rPr>
              <a:t>le </a:t>
            </a:r>
            <a:r>
              <a:rPr lang="en-US" sz="1500" b="1" i="1" dirty="0">
                <a:solidFill>
                  <a:srgbClr val="6E4A9E"/>
                </a:solidFill>
              </a:rPr>
              <a:t>te</a:t>
            </a:r>
            <a:r>
              <a:rPr lang="en-US" sz="1500" b="1" dirty="0">
                <a:solidFill>
                  <a:srgbClr val="6E4A9E"/>
                </a:solidFill>
              </a:rPr>
              <a:t> disparaît, double infinitif</a:t>
            </a:r>
            <a:endParaRPr lang="en-US" sz="1500" dirty="0"/>
          </a:p>
        </p:txBody>
      </p:sp>
      <p:sp>
        <p:nvSpPr>
          <p:cNvPr id="52" name="Text 45"/>
          <p:cNvSpPr txBox="1"/>
          <p:nvPr/>
        </p:nvSpPr>
        <p:spPr>
          <a:xfrm>
            <a:off x="6505956" y="4572000"/>
            <a:ext cx="4860036" cy="411480"/>
          </a:xfrm>
          <a:prstGeom prst="rect">
            <a:avLst/>
          </a:prstGeom>
          <a:noFill/>
          <a:ln/>
        </p:spPr>
        <p:txBody>
          <a:bodyPr wrap="square" lIns="0" tIns="0" rIns="0" bIns="0" rtlCol="0" anchor="t"/>
          <a:lstStyle/>
          <a:p>
            <a:pPr algn="l" indent="0" marL="0">
              <a:buNone/>
            </a:pPr>
            <a:r>
              <a:rPr lang="en-US" sz="1700" i="1" dirty="0">
                <a:solidFill>
                  <a:schemeClr val="tx1"/>
                </a:solidFill>
              </a:rPr>
              <a:t>Ik heb een uur </a:t>
            </a:r>
            <a:r>
              <a:rPr lang="en-US" sz="1700" b="1" i="1" dirty="0">
                <a:solidFill>
                  <a:schemeClr val="tx1"/>
                </a:solidFill>
              </a:rPr>
              <a:t>zitten wachten</a:t>
            </a:r>
            <a:r>
              <a:rPr lang="en-US" sz="1700" i="1" dirty="0">
                <a:solidFill>
                  <a:schemeClr val="tx1"/>
                </a:solidFill>
              </a:rPr>
              <a:t>.</a:t>
            </a:r>
            <a:endParaRPr lang="en-US" sz="1700" dirty="0"/>
          </a:p>
        </p:txBody>
      </p:sp>
      <p:sp>
        <p:nvSpPr>
          <p:cNvPr id="53" name="Shape 46"/>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54" name="Text 47"/>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Règle simple : un </a:t>
            </a:r>
            <a:r>
              <a:rPr lang="en-US" sz="1600" i="1" dirty="0">
                <a:solidFill>
                  <a:schemeClr val="bg1"/>
                </a:solidFill>
              </a:rPr>
              <a:t>te</a:t>
            </a:r>
            <a:r>
              <a:rPr lang="en-US" sz="1600" dirty="0">
                <a:solidFill>
                  <a:schemeClr val="bg1"/>
                </a:solidFill>
              </a:rPr>
              <a:t> au présent → </a:t>
            </a:r>
            <a:r>
              <a:rPr lang="en-US" sz="1600" b="1" dirty="0">
                <a:solidFill>
                  <a:schemeClr val="bg1"/>
                </a:solidFill>
              </a:rPr>
              <a:t>participe</a:t>
            </a:r>
            <a:r>
              <a:rPr lang="en-US" sz="1600" dirty="0">
                <a:solidFill>
                  <a:schemeClr val="bg1"/>
                </a:solidFill>
              </a:rPr>
              <a:t> au passé (sauf </a:t>
            </a:r>
            <a:r>
              <a:rPr lang="en-US" sz="1600" i="1" dirty="0">
                <a:solidFill>
                  <a:schemeClr val="bg1"/>
                </a:solidFill>
              </a:rPr>
              <a:t>zitten, staan, liggen, lopen</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un verbe séparable et dans la subordonnée</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Text 2"/>
          <p:cNvSpPr txBox="1"/>
          <p:nvPr/>
        </p:nvSpPr>
        <p:spPr>
          <a:xfrm>
            <a:off x="548640" y="14630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VERBE SÉPARABLE</a:t>
            </a:r>
            <a:r>
              <a:rPr lang="en-US" sz="1500" dirty="0">
                <a:solidFill>
                  <a:schemeClr val="tx2"/>
                </a:solidFill>
              </a:rPr>
              <a:t> : deux ordres corrects</a:t>
            </a:r>
            <a:endParaRPr lang="en-US" sz="1500" dirty="0"/>
          </a:p>
        </p:txBody>
      </p:sp>
      <p:sp>
        <p:nvSpPr>
          <p:cNvPr id="6" name="Shape 3"/>
          <p:cNvSpPr/>
          <p:nvPr/>
        </p:nvSpPr>
        <p:spPr>
          <a:xfrm>
            <a:off x="548640" y="1965960"/>
            <a:ext cx="1719072" cy="566928"/>
          </a:xfrm>
          <a:prstGeom prst="roundRect">
            <a:avLst>
              <a:gd name="adj" fmla="val 16129"/>
            </a:avLst>
          </a:prstGeom>
          <a:solidFill>
            <a:schemeClr val="bg1"/>
          </a:solidFill>
          <a:ln w="15875">
            <a:solidFill>
              <a:srgbClr val="D5DCE6"/>
            </a:solidFill>
            <a:prstDash val="solid"/>
          </a:ln>
        </p:spPr>
      </p:sp>
      <p:sp>
        <p:nvSpPr>
          <p:cNvPr id="7" name="Text 4"/>
          <p:cNvSpPr txBox="1"/>
          <p:nvPr/>
        </p:nvSpPr>
        <p:spPr>
          <a:xfrm>
            <a:off x="548640"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8" name="Shape 5"/>
          <p:cNvSpPr/>
          <p:nvPr/>
        </p:nvSpPr>
        <p:spPr>
          <a:xfrm>
            <a:off x="2350008"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9" name="Text 6"/>
          <p:cNvSpPr txBox="1"/>
          <p:nvPr/>
        </p:nvSpPr>
        <p:spPr>
          <a:xfrm>
            <a:off x="2350008"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10" name="Shape 7"/>
          <p:cNvSpPr/>
          <p:nvPr/>
        </p:nvSpPr>
        <p:spPr>
          <a:xfrm>
            <a:off x="3791761" y="1965960"/>
            <a:ext cx="1838749" cy="566928"/>
          </a:xfrm>
          <a:prstGeom prst="roundRect">
            <a:avLst>
              <a:gd name="adj" fmla="val 16129"/>
            </a:avLst>
          </a:prstGeom>
          <a:solidFill>
            <a:srgbClr val="FBEDEB"/>
          </a:solidFill>
          <a:ln w="25400">
            <a:solidFill>
              <a:srgbClr val="B83227"/>
            </a:solidFill>
            <a:prstDash val="solid"/>
          </a:ln>
        </p:spPr>
      </p:sp>
      <p:sp>
        <p:nvSpPr>
          <p:cNvPr id="11" name="Text 8"/>
          <p:cNvSpPr txBox="1"/>
          <p:nvPr/>
        </p:nvSpPr>
        <p:spPr>
          <a:xfrm>
            <a:off x="3791761" y="1965960"/>
            <a:ext cx="1838749" cy="566928"/>
          </a:xfrm>
          <a:prstGeom prst="rect">
            <a:avLst/>
          </a:prstGeom>
          <a:noFill/>
          <a:ln/>
        </p:spPr>
        <p:txBody>
          <a:bodyPr wrap="square" lIns="0" tIns="0" rIns="0" bIns="0" rtlCol="0" anchor="ctr"/>
          <a:lstStyle/>
          <a:p>
            <a:pPr algn="ctr" indent="0" marL="0">
              <a:buNone/>
            </a:pPr>
            <a:r>
              <a:rPr lang="en-US" sz="2000" b="1" dirty="0">
                <a:solidFill>
                  <a:schemeClr val="accent6"/>
                </a:solidFill>
              </a:rPr>
              <a:t>opbellen.</a:t>
            </a:r>
            <a:endParaRPr lang="en-US" sz="2000" dirty="0"/>
          </a:p>
        </p:txBody>
      </p:sp>
      <p:sp>
        <p:nvSpPr>
          <p:cNvPr id="12" name="Shape 9"/>
          <p:cNvSpPr/>
          <p:nvPr/>
        </p:nvSpPr>
        <p:spPr>
          <a:xfrm>
            <a:off x="457200" y="2688336"/>
            <a:ext cx="5264749" cy="45720"/>
          </a:xfrm>
          <a:prstGeom prst="rect">
            <a:avLst/>
          </a:prstGeom>
          <a:solidFill>
            <a:srgbClr val="8A96A8"/>
          </a:solidFill>
          <a:ln w="12700">
            <a:solidFill>
              <a:srgbClr val="FFFFFF">
                <a:alpha val="0"/>
              </a:srgbClr>
            </a:solidFill>
            <a:prstDash val="solid"/>
          </a:ln>
        </p:spPr>
      </p:sp>
      <p:sp>
        <p:nvSpPr>
          <p:cNvPr id="13" name="Shape 10"/>
          <p:cNvSpPr/>
          <p:nvPr/>
        </p:nvSpPr>
        <p:spPr>
          <a:xfrm>
            <a:off x="2575936" y="2542032"/>
            <a:ext cx="146304" cy="146304"/>
          </a:xfrm>
          <a:prstGeom prst="ellipse">
            <a:avLst/>
          </a:prstGeom>
          <a:solidFill>
            <a:srgbClr val="1B2333"/>
          </a:solidFill>
          <a:ln w="12700">
            <a:solidFill>
              <a:srgbClr val="FFFFFF">
                <a:alpha val="0"/>
              </a:srgbClr>
            </a:solidFill>
            <a:prstDash val="solid"/>
          </a:ln>
        </p:spPr>
      </p:sp>
      <p:sp>
        <p:nvSpPr>
          <p:cNvPr id="14" name="Shape 11"/>
          <p:cNvSpPr/>
          <p:nvPr/>
        </p:nvSpPr>
        <p:spPr>
          <a:xfrm>
            <a:off x="3337232" y="2542032"/>
            <a:ext cx="146304" cy="146304"/>
          </a:xfrm>
          <a:prstGeom prst="ellipse">
            <a:avLst/>
          </a:prstGeom>
          <a:solidFill>
            <a:srgbClr val="1B2333"/>
          </a:solidFill>
          <a:ln w="12700">
            <a:solidFill>
              <a:srgbClr val="FFFFFF">
                <a:alpha val="0"/>
              </a:srgbClr>
            </a:solidFill>
            <a:prstDash val="solid"/>
          </a:ln>
        </p:spPr>
      </p:sp>
      <p:sp>
        <p:nvSpPr>
          <p:cNvPr id="15" name="Shape 12"/>
          <p:cNvSpPr/>
          <p:nvPr/>
        </p:nvSpPr>
        <p:spPr>
          <a:xfrm>
            <a:off x="3709465" y="2391156"/>
            <a:ext cx="82296" cy="914"/>
          </a:xfrm>
          <a:prstGeom prst="line">
            <a:avLst/>
          </a:prstGeom>
          <a:noFill/>
          <a:ln w="31750">
            <a:solidFill>
              <a:srgbClr val="1B2333"/>
            </a:solidFill>
            <a:prstDash val="solid"/>
          </a:ln>
        </p:spPr>
      </p:sp>
      <p:sp>
        <p:nvSpPr>
          <p:cNvPr id="16" name="Shape 13"/>
          <p:cNvSpPr/>
          <p:nvPr/>
        </p:nvSpPr>
        <p:spPr>
          <a:xfrm>
            <a:off x="4123133" y="2542032"/>
            <a:ext cx="146304" cy="146304"/>
          </a:xfrm>
          <a:prstGeom prst="ellipse">
            <a:avLst/>
          </a:prstGeom>
          <a:solidFill>
            <a:srgbClr val="1B2333"/>
          </a:solidFill>
          <a:ln w="12700">
            <a:solidFill>
              <a:srgbClr val="FFFFFF">
                <a:alpha val="0"/>
              </a:srgbClr>
            </a:solidFill>
            <a:prstDash val="solid"/>
          </a:ln>
        </p:spPr>
      </p:sp>
      <p:sp>
        <p:nvSpPr>
          <p:cNvPr id="17" name="Shape 14"/>
          <p:cNvSpPr/>
          <p:nvPr/>
        </p:nvSpPr>
        <p:spPr>
          <a:xfrm>
            <a:off x="5152833" y="2542032"/>
            <a:ext cx="146304" cy="146304"/>
          </a:xfrm>
          <a:prstGeom prst="ellipse">
            <a:avLst/>
          </a:prstGeom>
          <a:solidFill>
            <a:srgbClr val="1B2333"/>
          </a:solidFill>
          <a:ln w="12700">
            <a:solidFill>
              <a:srgbClr val="FFFFFF">
                <a:alpha val="0"/>
              </a:srgbClr>
            </a:solidFill>
            <a:prstDash val="solid"/>
          </a:ln>
        </p:spPr>
      </p:sp>
      <p:sp>
        <p:nvSpPr>
          <p:cNvPr id="18" name="Text 15"/>
          <p:cNvSpPr txBox="1"/>
          <p:nvPr/>
        </p:nvSpPr>
        <p:spPr>
          <a:xfrm>
            <a:off x="5721949" y="1965960"/>
            <a:ext cx="457200" cy="566928"/>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19" name="Shape 16"/>
          <p:cNvSpPr/>
          <p:nvPr/>
        </p:nvSpPr>
        <p:spPr>
          <a:xfrm>
            <a:off x="6270589" y="1965960"/>
            <a:ext cx="1719072" cy="566928"/>
          </a:xfrm>
          <a:prstGeom prst="roundRect">
            <a:avLst>
              <a:gd name="adj" fmla="val 16129"/>
            </a:avLst>
          </a:prstGeom>
          <a:solidFill>
            <a:schemeClr val="bg1"/>
          </a:solidFill>
          <a:ln w="15875">
            <a:solidFill>
              <a:srgbClr val="D5DCE6"/>
            </a:solidFill>
            <a:prstDash val="solid"/>
          </a:ln>
        </p:spPr>
      </p:sp>
      <p:sp>
        <p:nvSpPr>
          <p:cNvPr id="20" name="Text 17"/>
          <p:cNvSpPr txBox="1"/>
          <p:nvPr/>
        </p:nvSpPr>
        <p:spPr>
          <a:xfrm>
            <a:off x="6270589" y="1965960"/>
            <a:ext cx="1719072" cy="566928"/>
          </a:xfrm>
          <a:prstGeom prst="rect">
            <a:avLst/>
          </a:prstGeom>
          <a:noFill/>
          <a:ln/>
        </p:spPr>
        <p:txBody>
          <a:bodyPr wrap="square" lIns="0" tIns="0" rIns="0" bIns="0" rtlCol="0" anchor="ctr"/>
          <a:lstStyle/>
          <a:p>
            <a:pPr algn="ctr" indent="0" marL="0">
              <a:buNone/>
            </a:pPr>
            <a:r>
              <a:rPr lang="en-US" sz="2000" dirty="0">
                <a:solidFill>
                  <a:schemeClr val="tx1"/>
                </a:solidFill>
              </a:rPr>
              <a:t>Ik heb hem</a:t>
            </a:r>
            <a:endParaRPr lang="en-US" sz="2000" dirty="0"/>
          </a:p>
        </p:txBody>
      </p:sp>
      <p:sp>
        <p:nvSpPr>
          <p:cNvPr id="21" name="Text 18"/>
          <p:cNvSpPr txBox="1"/>
          <p:nvPr/>
        </p:nvSpPr>
        <p:spPr>
          <a:xfrm>
            <a:off x="8071957" y="1965960"/>
            <a:ext cx="720401" cy="566928"/>
          </a:xfrm>
          <a:prstGeom prst="rect">
            <a:avLst/>
          </a:prstGeom>
          <a:noFill/>
          <a:ln/>
        </p:spPr>
        <p:txBody>
          <a:bodyPr wrap="square" lIns="0" tIns="0" rIns="0" bIns="0" rtlCol="0" anchor="ctr"/>
          <a:lstStyle/>
          <a:p>
            <a:pPr algn="ctr" indent="0" marL="0">
              <a:buNone/>
            </a:pPr>
            <a:r>
              <a:rPr lang="en-US" sz="2000" b="1" dirty="0">
                <a:solidFill>
                  <a:schemeClr val="accent5"/>
                </a:solidFill>
              </a:rPr>
              <a:t>op</a:t>
            </a:r>
            <a:endParaRPr lang="en-US" sz="2000" dirty="0"/>
          </a:p>
        </p:txBody>
      </p:sp>
      <p:sp>
        <p:nvSpPr>
          <p:cNvPr id="22" name="Shape 19"/>
          <p:cNvSpPr/>
          <p:nvPr/>
        </p:nvSpPr>
        <p:spPr>
          <a:xfrm>
            <a:off x="8874654" y="1965960"/>
            <a:ext cx="1359457" cy="566928"/>
          </a:xfrm>
          <a:prstGeom prst="roundRect">
            <a:avLst>
              <a:gd name="adj" fmla="val 16129"/>
            </a:avLst>
          </a:prstGeom>
          <a:solidFill>
            <a:schemeClr val="accent1"/>
          </a:solidFill>
          <a:ln w="12700">
            <a:solidFill>
              <a:srgbClr val="FFFFFF">
                <a:alpha val="0"/>
              </a:srgbClr>
            </a:solidFill>
            <a:prstDash val="solid"/>
          </a:ln>
        </p:spPr>
      </p:sp>
      <p:sp>
        <p:nvSpPr>
          <p:cNvPr id="23" name="Text 20"/>
          <p:cNvSpPr txBox="1"/>
          <p:nvPr/>
        </p:nvSpPr>
        <p:spPr>
          <a:xfrm>
            <a:off x="8874654" y="1965960"/>
            <a:ext cx="1359457" cy="566928"/>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24" name="Shape 21"/>
          <p:cNvSpPr/>
          <p:nvPr/>
        </p:nvSpPr>
        <p:spPr>
          <a:xfrm>
            <a:off x="10316407" y="1965960"/>
            <a:ext cx="1519221" cy="566928"/>
          </a:xfrm>
          <a:prstGeom prst="roundRect">
            <a:avLst>
              <a:gd name="adj" fmla="val 16129"/>
            </a:avLst>
          </a:prstGeom>
          <a:solidFill>
            <a:srgbClr val="FBEDEB"/>
          </a:solidFill>
          <a:ln w="25400">
            <a:solidFill>
              <a:srgbClr val="B83227"/>
            </a:solidFill>
            <a:prstDash val="solid"/>
          </a:ln>
        </p:spPr>
      </p:sp>
      <p:sp>
        <p:nvSpPr>
          <p:cNvPr id="25" name="Text 22"/>
          <p:cNvSpPr txBox="1"/>
          <p:nvPr/>
        </p:nvSpPr>
        <p:spPr>
          <a:xfrm>
            <a:off x="10316407" y="1965960"/>
            <a:ext cx="1519221" cy="566928"/>
          </a:xfrm>
          <a:prstGeom prst="rect">
            <a:avLst/>
          </a:prstGeom>
          <a:noFill/>
          <a:ln/>
        </p:spPr>
        <p:txBody>
          <a:bodyPr wrap="square" lIns="0" tIns="0" rIns="0" bIns="0" rtlCol="0" anchor="ctr"/>
          <a:lstStyle/>
          <a:p>
            <a:pPr algn="ctr" indent="0" marL="0">
              <a:buNone/>
            </a:pPr>
            <a:r>
              <a:rPr lang="en-US" sz="2000" b="1" dirty="0">
                <a:solidFill>
                  <a:schemeClr val="accent6"/>
                </a:solidFill>
              </a:rPr>
              <a:t>bellen.</a:t>
            </a:r>
            <a:endParaRPr lang="en-US" sz="2000" dirty="0"/>
          </a:p>
        </p:txBody>
      </p:sp>
      <p:sp>
        <p:nvSpPr>
          <p:cNvPr id="26" name="Text 23"/>
          <p:cNvSpPr txBox="1"/>
          <p:nvPr/>
        </p:nvSpPr>
        <p:spPr>
          <a:xfrm>
            <a:off x="548640" y="3063240"/>
            <a:ext cx="10972800" cy="365760"/>
          </a:xfrm>
          <a:prstGeom prst="rect">
            <a:avLst/>
          </a:prstGeom>
          <a:noFill/>
          <a:ln/>
        </p:spPr>
        <p:txBody>
          <a:bodyPr wrap="square" lIns="0" tIns="0" rIns="0" bIns="0" rtlCol="0" anchor="t"/>
          <a:lstStyle/>
          <a:p>
            <a:pPr algn="l" indent="0" marL="0">
              <a:buNone/>
            </a:pPr>
            <a:r>
              <a:rPr lang="en-US" sz="1500" b="1" dirty="0">
                <a:solidFill>
                  <a:schemeClr val="tx2"/>
                </a:solidFill>
              </a:rPr>
              <a:t>SUBORDONNÉE</a:t>
            </a:r>
            <a:r>
              <a:rPr lang="en-US" sz="1500" dirty="0">
                <a:solidFill>
                  <a:schemeClr val="tx2"/>
                </a:solidFill>
              </a:rPr>
              <a:t> : le verbe conjugué se place en tête du train</a:t>
            </a:r>
            <a:endParaRPr lang="en-US" sz="1500" dirty="0"/>
          </a:p>
        </p:txBody>
      </p:sp>
      <p:sp>
        <p:nvSpPr>
          <p:cNvPr id="27" name="Shape 24"/>
          <p:cNvSpPr/>
          <p:nvPr/>
        </p:nvSpPr>
        <p:spPr>
          <a:xfrm>
            <a:off x="548640" y="3566160"/>
            <a:ext cx="1940174" cy="566928"/>
          </a:xfrm>
          <a:prstGeom prst="roundRect">
            <a:avLst>
              <a:gd name="adj" fmla="val 16129"/>
            </a:avLst>
          </a:prstGeom>
          <a:solidFill>
            <a:schemeClr val="bg1"/>
          </a:solidFill>
          <a:ln w="15875">
            <a:solidFill>
              <a:srgbClr val="D5DCE6"/>
            </a:solidFill>
            <a:prstDash val="solid"/>
          </a:ln>
        </p:spPr>
      </p:sp>
      <p:sp>
        <p:nvSpPr>
          <p:cNvPr id="28" name="Text 25"/>
          <p:cNvSpPr txBox="1"/>
          <p:nvPr/>
        </p:nvSpPr>
        <p:spPr>
          <a:xfrm>
            <a:off x="548640" y="3566160"/>
            <a:ext cx="1940174" cy="566928"/>
          </a:xfrm>
          <a:prstGeom prst="rect">
            <a:avLst/>
          </a:prstGeom>
          <a:noFill/>
          <a:ln/>
        </p:spPr>
        <p:txBody>
          <a:bodyPr wrap="square" lIns="0" tIns="0" rIns="0" bIns="0" rtlCol="0" anchor="ctr"/>
          <a:lstStyle/>
          <a:p>
            <a:pPr algn="ctr" indent="0" marL="0">
              <a:buNone/>
            </a:pPr>
            <a:r>
              <a:rPr lang="en-US" sz="2100" dirty="0">
                <a:solidFill>
                  <a:schemeClr val="tx1"/>
                </a:solidFill>
              </a:rPr>
              <a:t>…, omdat ik</a:t>
            </a:r>
            <a:endParaRPr lang="en-US" sz="2100" dirty="0"/>
          </a:p>
        </p:txBody>
      </p:sp>
      <p:sp>
        <p:nvSpPr>
          <p:cNvPr id="29" name="Shape 26"/>
          <p:cNvSpPr/>
          <p:nvPr/>
        </p:nvSpPr>
        <p:spPr>
          <a:xfrm>
            <a:off x="2571110" y="3566160"/>
            <a:ext cx="891723" cy="566928"/>
          </a:xfrm>
          <a:prstGeom prst="roundRect">
            <a:avLst>
              <a:gd name="adj" fmla="val 16129"/>
            </a:avLst>
          </a:prstGeom>
          <a:solidFill>
            <a:schemeClr val="bg1"/>
          </a:solidFill>
          <a:ln w="15875">
            <a:solidFill>
              <a:srgbClr val="D5DCE6"/>
            </a:solidFill>
            <a:prstDash val="solid"/>
          </a:ln>
        </p:spPr>
      </p:sp>
      <p:sp>
        <p:nvSpPr>
          <p:cNvPr id="30" name="Text 27"/>
          <p:cNvSpPr txBox="1"/>
          <p:nvPr/>
        </p:nvSpPr>
        <p:spPr>
          <a:xfrm>
            <a:off x="2571110" y="3566160"/>
            <a:ext cx="891723" cy="566928"/>
          </a:xfrm>
          <a:prstGeom prst="rect">
            <a:avLst/>
          </a:prstGeom>
          <a:noFill/>
          <a:ln/>
        </p:spPr>
        <p:txBody>
          <a:bodyPr wrap="square" lIns="0" tIns="0" rIns="0" bIns="0" rtlCol="0" anchor="ctr"/>
          <a:lstStyle/>
          <a:p>
            <a:pPr algn="ctr" indent="0" marL="0">
              <a:buNone/>
            </a:pPr>
            <a:r>
              <a:rPr lang="en-US" sz="2100" dirty="0">
                <a:solidFill>
                  <a:schemeClr val="tx1"/>
                </a:solidFill>
              </a:rPr>
              <a:t>niet</a:t>
            </a:r>
            <a:endParaRPr lang="en-US" sz="2100" dirty="0"/>
          </a:p>
        </p:txBody>
      </p:sp>
      <p:sp>
        <p:nvSpPr>
          <p:cNvPr id="31" name="Shape 28"/>
          <p:cNvSpPr/>
          <p:nvPr/>
        </p:nvSpPr>
        <p:spPr>
          <a:xfrm>
            <a:off x="3545129" y="3566160"/>
            <a:ext cx="904129" cy="566928"/>
          </a:xfrm>
          <a:prstGeom prst="roundRect">
            <a:avLst>
              <a:gd name="adj" fmla="val 16129"/>
            </a:avLst>
          </a:prstGeom>
          <a:solidFill>
            <a:schemeClr val="tx2"/>
          </a:solidFill>
          <a:ln w="12700">
            <a:solidFill>
              <a:srgbClr val="FFFFFF">
                <a:alpha val="0"/>
              </a:srgbClr>
            </a:solidFill>
            <a:prstDash val="solid"/>
          </a:ln>
        </p:spPr>
      </p:sp>
      <p:sp>
        <p:nvSpPr>
          <p:cNvPr id="32" name="Text 29"/>
          <p:cNvSpPr txBox="1"/>
          <p:nvPr/>
        </p:nvSpPr>
        <p:spPr>
          <a:xfrm>
            <a:off x="3545129" y="3566160"/>
            <a:ext cx="904129" cy="566928"/>
          </a:xfrm>
          <a:prstGeom prst="rect">
            <a:avLst/>
          </a:prstGeom>
          <a:noFill/>
          <a:ln/>
        </p:spPr>
        <p:txBody>
          <a:bodyPr wrap="square" lIns="0" tIns="0" rIns="0" bIns="0" rtlCol="0" anchor="ctr"/>
          <a:lstStyle/>
          <a:p>
            <a:pPr algn="ctr" indent="0" marL="0">
              <a:buNone/>
            </a:pPr>
            <a:r>
              <a:rPr lang="en-US" sz="2100" b="1" dirty="0">
                <a:solidFill>
                  <a:schemeClr val="bg1"/>
                </a:solidFill>
              </a:rPr>
              <a:t>heb</a:t>
            </a:r>
            <a:endParaRPr lang="en-US" sz="2100" dirty="0"/>
          </a:p>
        </p:txBody>
      </p:sp>
      <p:sp>
        <p:nvSpPr>
          <p:cNvPr id="33" name="Shape 30"/>
          <p:cNvSpPr/>
          <p:nvPr/>
        </p:nvSpPr>
        <p:spPr>
          <a:xfrm>
            <a:off x="4531554" y="3566160"/>
            <a:ext cx="1407386" cy="566928"/>
          </a:xfrm>
          <a:prstGeom prst="roundRect">
            <a:avLst>
              <a:gd name="adj" fmla="val 16129"/>
            </a:avLst>
          </a:prstGeom>
          <a:solidFill>
            <a:schemeClr val="accent1"/>
          </a:solidFill>
          <a:ln w="12700">
            <a:solidFill>
              <a:srgbClr val="FFFFFF">
                <a:alpha val="0"/>
              </a:srgbClr>
            </a:solidFill>
            <a:prstDash val="solid"/>
          </a:ln>
        </p:spPr>
      </p:sp>
      <p:sp>
        <p:nvSpPr>
          <p:cNvPr id="34" name="Text 31"/>
          <p:cNvSpPr txBox="1"/>
          <p:nvPr/>
        </p:nvSpPr>
        <p:spPr>
          <a:xfrm>
            <a:off x="4531554" y="3566160"/>
            <a:ext cx="1407386" cy="566928"/>
          </a:xfrm>
          <a:prstGeom prst="rect">
            <a:avLst/>
          </a:prstGeom>
          <a:noFill/>
          <a:ln/>
        </p:spPr>
        <p:txBody>
          <a:bodyPr wrap="square" lIns="0" tIns="0" rIns="0" bIns="0" rtlCol="0" anchor="ctr"/>
          <a:lstStyle/>
          <a:p>
            <a:pPr algn="ctr" indent="0" marL="0">
              <a:buNone/>
            </a:pPr>
            <a:r>
              <a:rPr lang="en-US" sz="2100" b="1" dirty="0">
                <a:solidFill>
                  <a:schemeClr val="bg1"/>
                </a:solidFill>
              </a:rPr>
              <a:t>kunnen</a:t>
            </a:r>
            <a:endParaRPr lang="en-US" sz="2100" dirty="0"/>
          </a:p>
        </p:txBody>
      </p:sp>
      <p:sp>
        <p:nvSpPr>
          <p:cNvPr id="35" name="Shape 32"/>
          <p:cNvSpPr/>
          <p:nvPr/>
        </p:nvSpPr>
        <p:spPr>
          <a:xfrm>
            <a:off x="6021236" y="3566160"/>
            <a:ext cx="1407386" cy="566928"/>
          </a:xfrm>
          <a:prstGeom prst="roundRect">
            <a:avLst>
              <a:gd name="adj" fmla="val 16129"/>
            </a:avLst>
          </a:prstGeom>
          <a:solidFill>
            <a:srgbClr val="FBEDEB"/>
          </a:solidFill>
          <a:ln w="25400">
            <a:solidFill>
              <a:srgbClr val="B83227"/>
            </a:solidFill>
            <a:prstDash val="solid"/>
          </a:ln>
        </p:spPr>
      </p:sp>
      <p:sp>
        <p:nvSpPr>
          <p:cNvPr id="36" name="Text 33"/>
          <p:cNvSpPr txBox="1"/>
          <p:nvPr/>
        </p:nvSpPr>
        <p:spPr>
          <a:xfrm>
            <a:off x="6021236" y="3566160"/>
            <a:ext cx="1407386" cy="566928"/>
          </a:xfrm>
          <a:prstGeom prst="rect">
            <a:avLst/>
          </a:prstGeom>
          <a:noFill/>
          <a:ln/>
        </p:spPr>
        <p:txBody>
          <a:bodyPr wrap="square" lIns="0" tIns="0" rIns="0" bIns="0" rtlCol="0" anchor="ctr"/>
          <a:lstStyle/>
          <a:p>
            <a:pPr algn="ctr" indent="0" marL="0">
              <a:buNone/>
            </a:pPr>
            <a:r>
              <a:rPr lang="en-US" sz="2100" b="1" dirty="0">
                <a:solidFill>
                  <a:schemeClr val="accent6"/>
                </a:solidFill>
              </a:rPr>
              <a:t>komen.</a:t>
            </a:r>
            <a:endParaRPr lang="en-US" sz="2100" dirty="0"/>
          </a:p>
        </p:txBody>
      </p:sp>
      <p:sp>
        <p:nvSpPr>
          <p:cNvPr id="37" name="Shape 34"/>
          <p:cNvSpPr/>
          <p:nvPr/>
        </p:nvSpPr>
        <p:spPr>
          <a:xfrm>
            <a:off x="457200" y="4288536"/>
            <a:ext cx="7062862" cy="45720"/>
          </a:xfrm>
          <a:prstGeom prst="rect">
            <a:avLst/>
          </a:prstGeom>
          <a:solidFill>
            <a:srgbClr val="8A96A8"/>
          </a:solidFill>
          <a:ln w="12700">
            <a:solidFill>
              <a:srgbClr val="FFFFFF">
                <a:alpha val="0"/>
              </a:srgbClr>
            </a:solidFill>
            <a:prstDash val="solid"/>
          </a:ln>
        </p:spPr>
      </p:sp>
      <p:sp>
        <p:nvSpPr>
          <p:cNvPr id="38" name="Shape 35"/>
          <p:cNvSpPr/>
          <p:nvPr/>
        </p:nvSpPr>
        <p:spPr>
          <a:xfrm>
            <a:off x="3670885" y="4142232"/>
            <a:ext cx="146304" cy="146304"/>
          </a:xfrm>
          <a:prstGeom prst="ellipse">
            <a:avLst/>
          </a:prstGeom>
          <a:solidFill>
            <a:srgbClr val="1B2333"/>
          </a:solidFill>
          <a:ln w="12700">
            <a:solidFill>
              <a:srgbClr val="FFFFFF">
                <a:alpha val="0"/>
              </a:srgbClr>
            </a:solidFill>
            <a:prstDash val="solid"/>
          </a:ln>
        </p:spPr>
      </p:sp>
      <p:sp>
        <p:nvSpPr>
          <p:cNvPr id="39" name="Shape 36"/>
          <p:cNvSpPr/>
          <p:nvPr/>
        </p:nvSpPr>
        <p:spPr>
          <a:xfrm>
            <a:off x="4177198" y="4142232"/>
            <a:ext cx="146304" cy="146304"/>
          </a:xfrm>
          <a:prstGeom prst="ellipse">
            <a:avLst/>
          </a:prstGeom>
          <a:solidFill>
            <a:srgbClr val="1B2333"/>
          </a:solidFill>
          <a:ln w="12700">
            <a:solidFill>
              <a:srgbClr val="FFFFFF">
                <a:alpha val="0"/>
              </a:srgbClr>
            </a:solidFill>
            <a:prstDash val="solid"/>
          </a:ln>
        </p:spPr>
      </p:sp>
      <p:sp>
        <p:nvSpPr>
          <p:cNvPr id="40" name="Shape 37"/>
          <p:cNvSpPr/>
          <p:nvPr/>
        </p:nvSpPr>
        <p:spPr>
          <a:xfrm>
            <a:off x="3654857" y="3364992"/>
            <a:ext cx="146304" cy="219456"/>
          </a:xfrm>
          <a:prstGeom prst="rect">
            <a:avLst/>
          </a:prstGeom>
          <a:solidFill>
            <a:schemeClr val="tx2"/>
          </a:solidFill>
          <a:ln w="12700">
            <a:solidFill>
              <a:srgbClr val="FFFFFF">
                <a:alpha val="0"/>
              </a:srgbClr>
            </a:solidFill>
            <a:prstDash val="solid"/>
          </a:ln>
        </p:spPr>
      </p:sp>
      <p:sp>
        <p:nvSpPr>
          <p:cNvPr id="41" name="Shape 38"/>
          <p:cNvSpPr/>
          <p:nvPr/>
        </p:nvSpPr>
        <p:spPr>
          <a:xfrm>
            <a:off x="4449258" y="3991356"/>
            <a:ext cx="82296" cy="914"/>
          </a:xfrm>
          <a:prstGeom prst="line">
            <a:avLst/>
          </a:prstGeom>
          <a:noFill/>
          <a:ln w="31750">
            <a:solidFill>
              <a:srgbClr val="1B2333"/>
            </a:solidFill>
            <a:prstDash val="solid"/>
          </a:ln>
        </p:spPr>
      </p:sp>
      <p:sp>
        <p:nvSpPr>
          <p:cNvPr id="42" name="Shape 39"/>
          <p:cNvSpPr/>
          <p:nvPr/>
        </p:nvSpPr>
        <p:spPr>
          <a:xfrm>
            <a:off x="4768027" y="4142232"/>
            <a:ext cx="146304" cy="146304"/>
          </a:xfrm>
          <a:prstGeom prst="ellipse">
            <a:avLst/>
          </a:prstGeom>
          <a:solidFill>
            <a:srgbClr val="1B2333"/>
          </a:solidFill>
          <a:ln w="12700">
            <a:solidFill>
              <a:srgbClr val="FFFFFF">
                <a:alpha val="0"/>
              </a:srgbClr>
            </a:solidFill>
            <a:prstDash val="solid"/>
          </a:ln>
        </p:spPr>
      </p:sp>
      <p:sp>
        <p:nvSpPr>
          <p:cNvPr id="43" name="Shape 40"/>
          <p:cNvSpPr/>
          <p:nvPr/>
        </p:nvSpPr>
        <p:spPr>
          <a:xfrm>
            <a:off x="5556163" y="4142232"/>
            <a:ext cx="146304" cy="146304"/>
          </a:xfrm>
          <a:prstGeom prst="ellipse">
            <a:avLst/>
          </a:prstGeom>
          <a:solidFill>
            <a:srgbClr val="1B2333"/>
          </a:solidFill>
          <a:ln w="12700">
            <a:solidFill>
              <a:srgbClr val="FFFFFF">
                <a:alpha val="0"/>
              </a:srgbClr>
            </a:solidFill>
            <a:prstDash val="solid"/>
          </a:ln>
        </p:spPr>
      </p:sp>
      <p:sp>
        <p:nvSpPr>
          <p:cNvPr id="44" name="Shape 41"/>
          <p:cNvSpPr/>
          <p:nvPr/>
        </p:nvSpPr>
        <p:spPr>
          <a:xfrm>
            <a:off x="5938940" y="3991356"/>
            <a:ext cx="82296" cy="914"/>
          </a:xfrm>
          <a:prstGeom prst="line">
            <a:avLst/>
          </a:prstGeom>
          <a:noFill/>
          <a:ln w="31750">
            <a:solidFill>
              <a:srgbClr val="1B2333"/>
            </a:solidFill>
            <a:prstDash val="solid"/>
          </a:ln>
        </p:spPr>
      </p:sp>
      <p:sp>
        <p:nvSpPr>
          <p:cNvPr id="45" name="Shape 42"/>
          <p:cNvSpPr/>
          <p:nvPr/>
        </p:nvSpPr>
        <p:spPr>
          <a:xfrm>
            <a:off x="6257709" y="4142232"/>
            <a:ext cx="146304" cy="146304"/>
          </a:xfrm>
          <a:prstGeom prst="ellipse">
            <a:avLst/>
          </a:prstGeom>
          <a:solidFill>
            <a:srgbClr val="1B2333"/>
          </a:solidFill>
          <a:ln w="12700">
            <a:solidFill>
              <a:srgbClr val="FFFFFF">
                <a:alpha val="0"/>
              </a:srgbClr>
            </a:solidFill>
            <a:prstDash val="solid"/>
          </a:ln>
        </p:spPr>
      </p:sp>
      <p:sp>
        <p:nvSpPr>
          <p:cNvPr id="46" name="Shape 43"/>
          <p:cNvSpPr/>
          <p:nvPr/>
        </p:nvSpPr>
        <p:spPr>
          <a:xfrm>
            <a:off x="7045845" y="4142232"/>
            <a:ext cx="146304" cy="146304"/>
          </a:xfrm>
          <a:prstGeom prst="ellipse">
            <a:avLst/>
          </a:prstGeom>
          <a:solidFill>
            <a:srgbClr val="1B2333"/>
          </a:solidFill>
          <a:ln w="12700">
            <a:solidFill>
              <a:srgbClr val="FFFFFF">
                <a:alpha val="0"/>
              </a:srgbClr>
            </a:solidFill>
            <a:prstDash val="solid"/>
          </a:ln>
        </p:spPr>
      </p:sp>
      <p:sp>
        <p:nvSpPr>
          <p:cNvPr id="47" name="Shape 44"/>
          <p:cNvSpPr/>
          <p:nvPr/>
        </p:nvSpPr>
        <p:spPr>
          <a:xfrm>
            <a:off x="548640" y="4617720"/>
            <a:ext cx="1640616" cy="566928"/>
          </a:xfrm>
          <a:prstGeom prst="roundRect">
            <a:avLst>
              <a:gd name="adj" fmla="val 16129"/>
            </a:avLst>
          </a:prstGeom>
          <a:solidFill>
            <a:schemeClr val="bg1"/>
          </a:solidFill>
          <a:ln w="15875">
            <a:solidFill>
              <a:srgbClr val="D5DCE6"/>
            </a:solidFill>
            <a:prstDash val="solid"/>
          </a:ln>
        </p:spPr>
      </p:sp>
      <p:sp>
        <p:nvSpPr>
          <p:cNvPr id="48" name="Text 45"/>
          <p:cNvSpPr txBox="1"/>
          <p:nvPr/>
        </p:nvSpPr>
        <p:spPr>
          <a:xfrm>
            <a:off x="548640" y="4617720"/>
            <a:ext cx="1640616" cy="566928"/>
          </a:xfrm>
          <a:prstGeom prst="rect">
            <a:avLst/>
          </a:prstGeom>
          <a:noFill/>
          <a:ln/>
        </p:spPr>
        <p:txBody>
          <a:bodyPr wrap="square" lIns="0" tIns="0" rIns="0" bIns="0" rtlCol="0" anchor="ctr"/>
          <a:lstStyle/>
          <a:p>
            <a:pPr algn="ctr" indent="0" marL="0">
              <a:buNone/>
            </a:pPr>
            <a:r>
              <a:rPr lang="en-US" sz="2100" dirty="0">
                <a:solidFill>
                  <a:schemeClr val="tx1"/>
                </a:solidFill>
              </a:rPr>
              <a:t>…, dat ze</a:t>
            </a:r>
            <a:endParaRPr lang="en-US" sz="2100" dirty="0"/>
          </a:p>
        </p:txBody>
      </p:sp>
      <p:sp>
        <p:nvSpPr>
          <p:cNvPr id="49" name="Shape 46"/>
          <p:cNvSpPr/>
          <p:nvPr/>
        </p:nvSpPr>
        <p:spPr>
          <a:xfrm>
            <a:off x="2271552" y="4617720"/>
            <a:ext cx="736377" cy="566928"/>
          </a:xfrm>
          <a:prstGeom prst="roundRect">
            <a:avLst>
              <a:gd name="adj" fmla="val 16129"/>
            </a:avLst>
          </a:prstGeom>
          <a:solidFill>
            <a:schemeClr val="tx2"/>
          </a:solidFill>
          <a:ln w="12700">
            <a:solidFill>
              <a:srgbClr val="FFFFFF">
                <a:alpha val="0"/>
              </a:srgbClr>
            </a:solidFill>
            <a:prstDash val="solid"/>
          </a:ln>
        </p:spPr>
      </p:sp>
      <p:sp>
        <p:nvSpPr>
          <p:cNvPr id="50" name="Text 47"/>
          <p:cNvSpPr txBox="1"/>
          <p:nvPr/>
        </p:nvSpPr>
        <p:spPr>
          <a:xfrm>
            <a:off x="2271552" y="4617720"/>
            <a:ext cx="736377" cy="566928"/>
          </a:xfrm>
          <a:prstGeom prst="rect">
            <a:avLst/>
          </a:prstGeom>
          <a:noFill/>
          <a:ln/>
        </p:spPr>
        <p:txBody>
          <a:bodyPr wrap="square" lIns="0" tIns="0" rIns="0" bIns="0" rtlCol="0" anchor="ctr"/>
          <a:lstStyle/>
          <a:p>
            <a:pPr algn="ctr" indent="0" marL="0">
              <a:buNone/>
            </a:pPr>
            <a:r>
              <a:rPr lang="en-US" sz="2100" b="1" dirty="0">
                <a:solidFill>
                  <a:schemeClr val="bg1"/>
                </a:solidFill>
              </a:rPr>
              <a:t>is</a:t>
            </a:r>
            <a:endParaRPr lang="en-US" sz="2100" dirty="0"/>
          </a:p>
        </p:txBody>
      </p:sp>
      <p:sp>
        <p:nvSpPr>
          <p:cNvPr id="51" name="Shape 48"/>
          <p:cNvSpPr/>
          <p:nvPr/>
        </p:nvSpPr>
        <p:spPr>
          <a:xfrm>
            <a:off x="3090226" y="4617720"/>
            <a:ext cx="1575138" cy="566928"/>
          </a:xfrm>
          <a:prstGeom prst="roundRect">
            <a:avLst>
              <a:gd name="adj" fmla="val 16129"/>
            </a:avLst>
          </a:prstGeom>
          <a:solidFill>
            <a:schemeClr val="accent1"/>
          </a:solidFill>
          <a:ln w="12700">
            <a:solidFill>
              <a:srgbClr val="FFFFFF">
                <a:alpha val="0"/>
              </a:srgbClr>
            </a:solidFill>
            <a:prstDash val="solid"/>
          </a:ln>
        </p:spPr>
      </p:sp>
      <p:sp>
        <p:nvSpPr>
          <p:cNvPr id="52" name="Text 49"/>
          <p:cNvSpPr txBox="1"/>
          <p:nvPr/>
        </p:nvSpPr>
        <p:spPr>
          <a:xfrm>
            <a:off x="3090226" y="4617720"/>
            <a:ext cx="1575138" cy="566928"/>
          </a:xfrm>
          <a:prstGeom prst="rect">
            <a:avLst/>
          </a:prstGeom>
          <a:noFill/>
          <a:ln/>
        </p:spPr>
        <p:txBody>
          <a:bodyPr wrap="square" lIns="0" tIns="0" rIns="0" bIns="0" rtlCol="0" anchor="ctr"/>
          <a:lstStyle/>
          <a:p>
            <a:pPr algn="ctr" indent="0" marL="0">
              <a:buNone/>
            </a:pPr>
            <a:r>
              <a:rPr lang="en-US" sz="2100" b="1" dirty="0">
                <a:solidFill>
                  <a:schemeClr val="bg1"/>
                </a:solidFill>
              </a:rPr>
              <a:t>blijven</a:t>
            </a:r>
            <a:endParaRPr lang="en-US" sz="2100" dirty="0"/>
          </a:p>
        </p:txBody>
      </p:sp>
      <p:sp>
        <p:nvSpPr>
          <p:cNvPr id="53" name="Shape 50"/>
          <p:cNvSpPr/>
          <p:nvPr/>
        </p:nvSpPr>
        <p:spPr>
          <a:xfrm>
            <a:off x="4747660" y="4617720"/>
            <a:ext cx="1575138" cy="566928"/>
          </a:xfrm>
          <a:prstGeom prst="roundRect">
            <a:avLst>
              <a:gd name="adj" fmla="val 16129"/>
            </a:avLst>
          </a:prstGeom>
          <a:solidFill>
            <a:srgbClr val="FBEDEB"/>
          </a:solidFill>
          <a:ln w="25400">
            <a:solidFill>
              <a:srgbClr val="B83227"/>
            </a:solidFill>
            <a:prstDash val="solid"/>
          </a:ln>
        </p:spPr>
      </p:sp>
      <p:sp>
        <p:nvSpPr>
          <p:cNvPr id="54" name="Text 51"/>
          <p:cNvSpPr txBox="1"/>
          <p:nvPr/>
        </p:nvSpPr>
        <p:spPr>
          <a:xfrm>
            <a:off x="4747660" y="4617720"/>
            <a:ext cx="1575138" cy="566928"/>
          </a:xfrm>
          <a:prstGeom prst="rect">
            <a:avLst/>
          </a:prstGeom>
          <a:noFill/>
          <a:ln/>
        </p:spPr>
        <p:txBody>
          <a:bodyPr wrap="square" lIns="0" tIns="0" rIns="0" bIns="0" rtlCol="0" anchor="ctr"/>
          <a:lstStyle/>
          <a:p>
            <a:pPr algn="ctr" indent="0" marL="0">
              <a:buNone/>
            </a:pPr>
            <a:r>
              <a:rPr lang="en-US" sz="2100" b="1" dirty="0">
                <a:solidFill>
                  <a:schemeClr val="accent6"/>
                </a:solidFill>
              </a:rPr>
              <a:t>slapen.</a:t>
            </a:r>
            <a:endParaRPr lang="en-US" sz="2100" dirty="0"/>
          </a:p>
        </p:txBody>
      </p:sp>
      <p:sp>
        <p:nvSpPr>
          <p:cNvPr id="55" name="Shape 52"/>
          <p:cNvSpPr/>
          <p:nvPr/>
        </p:nvSpPr>
        <p:spPr>
          <a:xfrm>
            <a:off x="457200" y="5340096"/>
            <a:ext cx="5957038" cy="45720"/>
          </a:xfrm>
          <a:prstGeom prst="rect">
            <a:avLst/>
          </a:prstGeom>
          <a:solidFill>
            <a:srgbClr val="8A96A8"/>
          </a:solidFill>
          <a:ln w="12700">
            <a:solidFill>
              <a:srgbClr val="FFFFFF">
                <a:alpha val="0"/>
              </a:srgbClr>
            </a:solidFill>
            <a:prstDash val="solid"/>
          </a:ln>
        </p:spPr>
      </p:sp>
      <p:sp>
        <p:nvSpPr>
          <p:cNvPr id="56" name="Shape 53"/>
          <p:cNvSpPr/>
          <p:nvPr/>
        </p:nvSpPr>
        <p:spPr>
          <a:xfrm>
            <a:off x="2360403" y="5193792"/>
            <a:ext cx="146304" cy="146304"/>
          </a:xfrm>
          <a:prstGeom prst="ellipse">
            <a:avLst/>
          </a:prstGeom>
          <a:solidFill>
            <a:srgbClr val="1B2333"/>
          </a:solidFill>
          <a:ln w="12700">
            <a:solidFill>
              <a:srgbClr val="FFFFFF">
                <a:alpha val="0"/>
              </a:srgbClr>
            </a:solidFill>
            <a:prstDash val="solid"/>
          </a:ln>
        </p:spPr>
      </p:sp>
      <p:sp>
        <p:nvSpPr>
          <p:cNvPr id="57" name="Shape 54"/>
          <p:cNvSpPr/>
          <p:nvPr/>
        </p:nvSpPr>
        <p:spPr>
          <a:xfrm>
            <a:off x="2772775" y="5193792"/>
            <a:ext cx="146304" cy="146304"/>
          </a:xfrm>
          <a:prstGeom prst="ellipse">
            <a:avLst/>
          </a:prstGeom>
          <a:solidFill>
            <a:srgbClr val="1B2333"/>
          </a:solidFill>
          <a:ln w="12700">
            <a:solidFill>
              <a:srgbClr val="FFFFFF">
                <a:alpha val="0"/>
              </a:srgbClr>
            </a:solidFill>
            <a:prstDash val="solid"/>
          </a:ln>
        </p:spPr>
      </p:sp>
      <p:sp>
        <p:nvSpPr>
          <p:cNvPr id="58" name="Shape 55"/>
          <p:cNvSpPr/>
          <p:nvPr/>
        </p:nvSpPr>
        <p:spPr>
          <a:xfrm>
            <a:off x="2381280" y="4416552"/>
            <a:ext cx="146304" cy="219456"/>
          </a:xfrm>
          <a:prstGeom prst="rect">
            <a:avLst/>
          </a:prstGeom>
          <a:solidFill>
            <a:schemeClr val="tx2"/>
          </a:solidFill>
          <a:ln w="12700">
            <a:solidFill>
              <a:srgbClr val="FFFFFF">
                <a:alpha val="0"/>
              </a:srgbClr>
            </a:solidFill>
            <a:prstDash val="solid"/>
          </a:ln>
        </p:spPr>
      </p:sp>
      <p:sp>
        <p:nvSpPr>
          <p:cNvPr id="59" name="Shape 56"/>
          <p:cNvSpPr/>
          <p:nvPr/>
        </p:nvSpPr>
        <p:spPr>
          <a:xfrm>
            <a:off x="3007930" y="5042916"/>
            <a:ext cx="82296" cy="914"/>
          </a:xfrm>
          <a:prstGeom prst="line">
            <a:avLst/>
          </a:prstGeom>
          <a:noFill/>
          <a:ln w="31750">
            <a:solidFill>
              <a:srgbClr val="1B2333"/>
            </a:solidFill>
            <a:prstDash val="solid"/>
          </a:ln>
        </p:spPr>
      </p:sp>
      <p:sp>
        <p:nvSpPr>
          <p:cNvPr id="60" name="Shape 57"/>
          <p:cNvSpPr/>
          <p:nvPr/>
        </p:nvSpPr>
        <p:spPr>
          <a:xfrm>
            <a:off x="3363604" y="5193792"/>
            <a:ext cx="146304" cy="146304"/>
          </a:xfrm>
          <a:prstGeom prst="ellipse">
            <a:avLst/>
          </a:prstGeom>
          <a:solidFill>
            <a:srgbClr val="1B2333"/>
          </a:solidFill>
          <a:ln w="12700">
            <a:solidFill>
              <a:srgbClr val="FFFFFF">
                <a:alpha val="0"/>
              </a:srgbClr>
            </a:solidFill>
            <a:prstDash val="solid"/>
          </a:ln>
        </p:spPr>
      </p:sp>
      <p:sp>
        <p:nvSpPr>
          <p:cNvPr id="61" name="Shape 58"/>
          <p:cNvSpPr/>
          <p:nvPr/>
        </p:nvSpPr>
        <p:spPr>
          <a:xfrm>
            <a:off x="4245682" y="5193792"/>
            <a:ext cx="146304" cy="146304"/>
          </a:xfrm>
          <a:prstGeom prst="ellipse">
            <a:avLst/>
          </a:prstGeom>
          <a:solidFill>
            <a:srgbClr val="1B2333"/>
          </a:solidFill>
          <a:ln w="12700">
            <a:solidFill>
              <a:srgbClr val="FFFFFF">
                <a:alpha val="0"/>
              </a:srgbClr>
            </a:solidFill>
            <a:prstDash val="solid"/>
          </a:ln>
        </p:spPr>
      </p:sp>
      <p:sp>
        <p:nvSpPr>
          <p:cNvPr id="62" name="Shape 59"/>
          <p:cNvSpPr/>
          <p:nvPr/>
        </p:nvSpPr>
        <p:spPr>
          <a:xfrm>
            <a:off x="4665364" y="5042916"/>
            <a:ext cx="82296" cy="914"/>
          </a:xfrm>
          <a:prstGeom prst="line">
            <a:avLst/>
          </a:prstGeom>
          <a:noFill/>
          <a:ln w="31750">
            <a:solidFill>
              <a:srgbClr val="1B2333"/>
            </a:solidFill>
            <a:prstDash val="solid"/>
          </a:ln>
        </p:spPr>
      </p:sp>
      <p:sp>
        <p:nvSpPr>
          <p:cNvPr id="63" name="Shape 60"/>
          <p:cNvSpPr/>
          <p:nvPr/>
        </p:nvSpPr>
        <p:spPr>
          <a:xfrm>
            <a:off x="5021038" y="5193792"/>
            <a:ext cx="146304" cy="146304"/>
          </a:xfrm>
          <a:prstGeom prst="ellipse">
            <a:avLst/>
          </a:prstGeom>
          <a:solidFill>
            <a:srgbClr val="1B2333"/>
          </a:solidFill>
          <a:ln w="12700">
            <a:solidFill>
              <a:srgbClr val="FFFFFF">
                <a:alpha val="0"/>
              </a:srgbClr>
            </a:solidFill>
            <a:prstDash val="solid"/>
          </a:ln>
        </p:spPr>
      </p:sp>
      <p:sp>
        <p:nvSpPr>
          <p:cNvPr id="64" name="Shape 61"/>
          <p:cNvSpPr/>
          <p:nvPr/>
        </p:nvSpPr>
        <p:spPr>
          <a:xfrm>
            <a:off x="5903116" y="5193792"/>
            <a:ext cx="146304" cy="146304"/>
          </a:xfrm>
          <a:prstGeom prst="ellipse">
            <a:avLst/>
          </a:prstGeom>
          <a:solidFill>
            <a:srgbClr val="1B2333"/>
          </a:solidFill>
          <a:ln w="12700">
            <a:solidFill>
              <a:srgbClr val="FFFFFF">
                <a:alpha val="0"/>
              </a:srgbClr>
            </a:solidFill>
            <a:prstDash val="solid"/>
          </a:ln>
        </p:spPr>
      </p:sp>
      <p:sp>
        <p:nvSpPr>
          <p:cNvPr id="65" name="Text 62"/>
          <p:cNvSpPr txBox="1"/>
          <p:nvPr/>
        </p:nvSpPr>
        <p:spPr>
          <a:xfrm>
            <a:off x="548640" y="5440680"/>
            <a:ext cx="11091672" cy="365760"/>
          </a:xfrm>
          <a:prstGeom prst="rect">
            <a:avLst/>
          </a:prstGeom>
          <a:noFill/>
          <a:ln/>
        </p:spPr>
        <p:txBody>
          <a:bodyPr wrap="square" lIns="0" tIns="0" rIns="0" bIns="0" rtlCol="0" anchor="t"/>
          <a:lstStyle/>
          <a:p>
            <a:pPr algn="l" indent="0" marL="0">
              <a:buNone/>
            </a:pPr>
            <a:r>
              <a:rPr lang="en-US" sz="1500" i="1" dirty="0">
                <a:solidFill>
                  <a:schemeClr val="tx2"/>
                </a:solidFill>
              </a:rPr>
              <a:t>niet</a:t>
            </a:r>
            <a:r>
              <a:rPr lang="en-US" sz="1500" dirty="0">
                <a:solidFill>
                  <a:schemeClr val="tx2"/>
                </a:solidFill>
              </a:rPr>
              <a:t>, l’objet et les compléments restent </a:t>
            </a:r>
            <a:r>
              <a:rPr lang="en-US" sz="1500" b="1" dirty="0">
                <a:solidFill>
                  <a:schemeClr val="tx2"/>
                </a:solidFill>
              </a:rPr>
              <a:t>devant</a:t>
            </a:r>
            <a:r>
              <a:rPr lang="en-US" sz="1500" dirty="0">
                <a:solidFill>
                  <a:schemeClr val="tx2"/>
                </a:solidFill>
              </a:rPr>
              <a:t> le train.</a:t>
            </a:r>
            <a:endParaRPr lang="en-US" sz="1500" dirty="0"/>
          </a:p>
        </p:txBody>
      </p:sp>
      <p:sp>
        <p:nvSpPr>
          <p:cNvPr id="66" name="Text 63"/>
          <p:cNvSpPr txBox="1"/>
          <p:nvPr/>
        </p:nvSpPr>
        <p:spPr>
          <a:xfrm>
            <a:off x="548640" y="5833872"/>
            <a:ext cx="11091672" cy="365760"/>
          </a:xfrm>
          <a:prstGeom prst="rect">
            <a:avLst/>
          </a:prstGeom>
          <a:noFill/>
          <a:ln/>
        </p:spPr>
        <p:txBody>
          <a:bodyPr wrap="square" lIns="0" tIns="0" rIns="0" bIns="0" rtlCol="0" anchor="t"/>
          <a:lstStyle/>
          <a:p>
            <a:pPr algn="l" indent="0" marL="0">
              <a:buNone/>
            </a:pPr>
            <a:r>
              <a:rPr lang="en-US" sz="1500" dirty="0">
                <a:solidFill>
                  <a:schemeClr val="accent5"/>
                </a:solidFill>
              </a:rPr>
              <a:t>Même logique qu’avec </a:t>
            </a:r>
            <a:r>
              <a:rPr lang="en-US" sz="1500" i="1" dirty="0">
                <a:solidFill>
                  <a:schemeClr val="accent5"/>
                </a:solidFill>
              </a:rPr>
              <a:t>zal</a:t>
            </a:r>
            <a:r>
              <a:rPr lang="en-US" sz="1500" dirty="0">
                <a:solidFill>
                  <a:schemeClr val="accent5"/>
                </a:solidFill>
              </a:rPr>
              <a:t> : </a:t>
            </a:r>
            <a:r>
              <a:rPr lang="en-US" sz="1500" i="1" dirty="0">
                <a:solidFill>
                  <a:schemeClr val="accent5"/>
                </a:solidFill>
              </a:rPr>
              <a:t>…, dat ik je </a:t>
            </a:r>
            <a:r>
              <a:rPr lang="en-US" sz="1500" b="1" i="1" dirty="0">
                <a:solidFill>
                  <a:schemeClr val="accent5"/>
                </a:solidFill>
              </a:rPr>
              <a:t>zal opbellen</a:t>
            </a:r>
            <a:r>
              <a:rPr lang="en-US" sz="1500" dirty="0">
                <a:solidFill>
                  <a:schemeClr val="accent5"/>
                </a:solidFill>
              </a:rPr>
              <a:t> (M11) = </a:t>
            </a:r>
            <a:r>
              <a:rPr lang="en-US" sz="1500" i="1" dirty="0">
                <a:solidFill>
                  <a:schemeClr val="accent5"/>
                </a:solidFill>
              </a:rPr>
              <a:t>…, dat ik je </a:t>
            </a:r>
            <a:r>
              <a:rPr lang="en-US" sz="1500" b="1" i="1" dirty="0">
                <a:solidFill>
                  <a:schemeClr val="accent5"/>
                </a:solidFill>
              </a:rPr>
              <a:t>op zal bellen</a:t>
            </a:r>
            <a:r>
              <a:rPr lang="en-US" sz="1500"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regrets : had moeten, had kunnen</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B1</a:t>
            </a:r>
            <a:endParaRPr lang="en-US" sz="1200" dirty="0"/>
          </a:p>
        </p:txBody>
      </p:sp>
      <p:sp>
        <p:nvSpPr>
          <p:cNvPr id="5" name="Shape 2"/>
          <p:cNvSpPr/>
          <p:nvPr/>
        </p:nvSpPr>
        <p:spPr>
          <a:xfrm>
            <a:off x="548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6" name="Text 3"/>
          <p:cNvSpPr txBox="1"/>
          <p:nvPr/>
        </p:nvSpPr>
        <p:spPr>
          <a:xfrm>
            <a:off x="548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7" name="Shape 4"/>
          <p:cNvSpPr/>
          <p:nvPr/>
        </p:nvSpPr>
        <p:spPr>
          <a:xfrm>
            <a:off x="1511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8" name="Text 5"/>
          <p:cNvSpPr txBox="1"/>
          <p:nvPr/>
        </p:nvSpPr>
        <p:spPr>
          <a:xfrm>
            <a:off x="1511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moeten</a:t>
            </a:r>
            <a:endParaRPr lang="en-US" sz="2000" dirty="0"/>
          </a:p>
        </p:txBody>
      </p:sp>
      <p:sp>
        <p:nvSpPr>
          <p:cNvPr id="9" name="Shape 6"/>
          <p:cNvSpPr/>
          <p:nvPr/>
        </p:nvSpPr>
        <p:spPr>
          <a:xfrm>
            <a:off x="2952854" y="1600200"/>
            <a:ext cx="1148486" cy="603504"/>
          </a:xfrm>
          <a:prstGeom prst="roundRect">
            <a:avLst>
              <a:gd name="adj" fmla="val 15152"/>
            </a:avLst>
          </a:prstGeom>
          <a:solidFill>
            <a:schemeClr val="bg1"/>
          </a:solidFill>
          <a:ln w="15875">
            <a:solidFill>
              <a:srgbClr val="D5DCE6"/>
            </a:solidFill>
            <a:prstDash val="solid"/>
          </a:ln>
        </p:spPr>
      </p:sp>
      <p:sp>
        <p:nvSpPr>
          <p:cNvPr id="10" name="Text 7"/>
          <p:cNvSpPr txBox="1"/>
          <p:nvPr/>
        </p:nvSpPr>
        <p:spPr>
          <a:xfrm>
            <a:off x="2952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1" name="Text 8"/>
          <p:cNvSpPr txBox="1"/>
          <p:nvPr/>
        </p:nvSpPr>
        <p:spPr>
          <a:xfrm>
            <a:off x="4238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dû</a:t>
            </a:r>
            <a:endParaRPr lang="en-US" sz="1900" dirty="0"/>
          </a:p>
        </p:txBody>
      </p:sp>
      <p:sp>
        <p:nvSpPr>
          <p:cNvPr id="12" name="Shape 9"/>
          <p:cNvSpPr/>
          <p:nvPr/>
        </p:nvSpPr>
        <p:spPr>
          <a:xfrm>
            <a:off x="6263640" y="1600200"/>
            <a:ext cx="880165" cy="603504"/>
          </a:xfrm>
          <a:prstGeom prst="roundRect">
            <a:avLst>
              <a:gd name="adj" fmla="val 15152"/>
            </a:avLst>
          </a:prstGeom>
          <a:solidFill>
            <a:schemeClr val="tx2"/>
          </a:solidFill>
          <a:ln w="12700">
            <a:solidFill>
              <a:srgbClr val="FFFFFF">
                <a:alpha val="0"/>
              </a:srgbClr>
            </a:solidFill>
            <a:prstDash val="solid"/>
          </a:ln>
        </p:spPr>
      </p:sp>
      <p:sp>
        <p:nvSpPr>
          <p:cNvPr id="13" name="Text 10"/>
          <p:cNvSpPr txBox="1"/>
          <p:nvPr/>
        </p:nvSpPr>
        <p:spPr>
          <a:xfrm>
            <a:off x="6263640" y="1600200"/>
            <a:ext cx="880165" cy="603504"/>
          </a:xfrm>
          <a:prstGeom prst="rect">
            <a:avLst/>
          </a:prstGeom>
          <a:noFill/>
          <a:ln/>
        </p:spPr>
        <p:txBody>
          <a:bodyPr wrap="square" lIns="0" tIns="0" rIns="0" bIns="0" rtlCol="0" anchor="ctr"/>
          <a:lstStyle/>
          <a:p>
            <a:pPr algn="ctr" indent="0" marL="0">
              <a:buNone/>
            </a:pPr>
            <a:r>
              <a:rPr lang="en-US" sz="2000" b="1" dirty="0">
                <a:solidFill>
                  <a:schemeClr val="bg1"/>
                </a:solidFill>
              </a:rPr>
              <a:t>had</a:t>
            </a:r>
            <a:endParaRPr lang="en-US" sz="2000" dirty="0"/>
          </a:p>
        </p:txBody>
      </p:sp>
      <p:sp>
        <p:nvSpPr>
          <p:cNvPr id="14" name="Shape 11"/>
          <p:cNvSpPr/>
          <p:nvPr/>
        </p:nvSpPr>
        <p:spPr>
          <a:xfrm>
            <a:off x="7226101" y="1600200"/>
            <a:ext cx="1359457" cy="603504"/>
          </a:xfrm>
          <a:prstGeom prst="roundRect">
            <a:avLst>
              <a:gd name="adj" fmla="val 15152"/>
            </a:avLst>
          </a:prstGeom>
          <a:solidFill>
            <a:schemeClr val="accent1"/>
          </a:solidFill>
          <a:ln w="12700">
            <a:solidFill>
              <a:srgbClr val="FFFFFF">
                <a:alpha val="0"/>
              </a:srgbClr>
            </a:solidFill>
            <a:prstDash val="solid"/>
          </a:ln>
        </p:spPr>
      </p:sp>
      <p:sp>
        <p:nvSpPr>
          <p:cNvPr id="15" name="Text 12"/>
          <p:cNvSpPr txBox="1"/>
          <p:nvPr/>
        </p:nvSpPr>
        <p:spPr>
          <a:xfrm>
            <a:off x="7226101" y="1600200"/>
            <a:ext cx="1359457" cy="603504"/>
          </a:xfrm>
          <a:prstGeom prst="rect">
            <a:avLst/>
          </a:prstGeom>
          <a:noFill/>
          <a:ln/>
        </p:spPr>
        <p:txBody>
          <a:bodyPr wrap="square" lIns="0" tIns="0" rIns="0" bIns="0" rtlCol="0" anchor="ctr"/>
          <a:lstStyle/>
          <a:p>
            <a:pPr algn="ctr" indent="0" marL="0">
              <a:buNone/>
            </a:pPr>
            <a:r>
              <a:rPr lang="en-US" sz="2000" b="1" dirty="0">
                <a:solidFill>
                  <a:schemeClr val="bg1"/>
                </a:solidFill>
              </a:rPr>
              <a:t>kunnen</a:t>
            </a:r>
            <a:endParaRPr lang="en-US" sz="2000" dirty="0"/>
          </a:p>
        </p:txBody>
      </p:sp>
      <p:sp>
        <p:nvSpPr>
          <p:cNvPr id="16" name="Shape 13"/>
          <p:cNvSpPr/>
          <p:nvPr/>
        </p:nvSpPr>
        <p:spPr>
          <a:xfrm>
            <a:off x="8667854" y="1600200"/>
            <a:ext cx="1148486" cy="603504"/>
          </a:xfrm>
          <a:prstGeom prst="roundRect">
            <a:avLst>
              <a:gd name="adj" fmla="val 15152"/>
            </a:avLst>
          </a:prstGeom>
          <a:solidFill>
            <a:schemeClr val="bg1"/>
          </a:solidFill>
          <a:ln w="15875">
            <a:solidFill>
              <a:srgbClr val="D5DCE6"/>
            </a:solidFill>
            <a:prstDash val="solid"/>
          </a:ln>
        </p:spPr>
      </p:sp>
      <p:sp>
        <p:nvSpPr>
          <p:cNvPr id="17" name="Text 14"/>
          <p:cNvSpPr txBox="1"/>
          <p:nvPr/>
        </p:nvSpPr>
        <p:spPr>
          <a:xfrm>
            <a:off x="8667854" y="1600200"/>
            <a:ext cx="1148486" cy="603504"/>
          </a:xfrm>
          <a:prstGeom prst="rect">
            <a:avLst/>
          </a:prstGeom>
          <a:noFill/>
          <a:ln/>
        </p:spPr>
        <p:txBody>
          <a:bodyPr wrap="square" lIns="0" tIns="0" rIns="0" bIns="0" rtlCol="0" anchor="ctr"/>
          <a:lstStyle/>
          <a:p>
            <a:pPr algn="ctr" indent="0" marL="0">
              <a:buNone/>
            </a:pPr>
            <a:r>
              <a:rPr lang="en-US" sz="2000" dirty="0">
                <a:solidFill>
                  <a:schemeClr val="tx1"/>
                </a:solidFill>
              </a:rPr>
              <a:t>+ inf.</a:t>
            </a:r>
            <a:endParaRPr lang="en-US" sz="2000" dirty="0"/>
          </a:p>
        </p:txBody>
      </p:sp>
      <p:sp>
        <p:nvSpPr>
          <p:cNvPr id="18" name="Text 15"/>
          <p:cNvSpPr txBox="1"/>
          <p:nvPr/>
        </p:nvSpPr>
        <p:spPr>
          <a:xfrm>
            <a:off x="9953500" y="1600200"/>
            <a:ext cx="1737360" cy="603504"/>
          </a:xfrm>
          <a:prstGeom prst="rect">
            <a:avLst/>
          </a:prstGeom>
          <a:noFill/>
          <a:ln/>
        </p:spPr>
        <p:txBody>
          <a:bodyPr wrap="square" lIns="0" tIns="0" rIns="0" bIns="0" rtlCol="0" anchor="ctr"/>
          <a:lstStyle/>
          <a:p>
            <a:pPr algn="l" indent="0" marL="0">
              <a:buNone/>
            </a:pPr>
            <a:r>
              <a:rPr lang="en-US" sz="1900" dirty="0">
                <a:solidFill>
                  <a:schemeClr val="tx2"/>
                </a:solidFill>
              </a:rPr>
              <a:t>= </a:t>
            </a:r>
            <a:r>
              <a:rPr lang="en-US" sz="1900" b="1" dirty="0">
                <a:solidFill>
                  <a:schemeClr val="tx2"/>
                </a:solidFill>
              </a:rPr>
              <a:t>aurais pu</a:t>
            </a:r>
            <a:endParaRPr lang="en-US" sz="1900" dirty="0"/>
          </a:p>
        </p:txBody>
      </p:sp>
      <p:sp>
        <p:nvSpPr>
          <p:cNvPr id="19" name="Shape 16"/>
          <p:cNvSpPr/>
          <p:nvPr/>
        </p:nvSpPr>
        <p:spPr>
          <a:xfrm>
            <a:off x="548640"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0" descr="person facepalming">    </p:cNvPr>
          <p:cNvPicPr>
            <a:picLocks noChangeAspect="1"/>
          </p:cNvPicPr>
          <p:nvPr/>
        </p:nvPicPr>
        <p:blipFill>
          <a:blip r:embed="rId1"/>
          <a:stretch>
            <a:fillRect/>
          </a:stretch>
        </p:blipFill>
        <p:spPr>
          <a:xfrm>
            <a:off x="713232" y="2606040"/>
            <a:ext cx="822960" cy="822960"/>
          </a:xfrm>
          <a:prstGeom prst="rect">
            <a:avLst/>
          </a:prstGeom>
        </p:spPr>
      </p:pic>
      <p:sp>
        <p:nvSpPr>
          <p:cNvPr id="21" name="Text 17"/>
          <p:cNvSpPr txBox="1"/>
          <p:nvPr/>
        </p:nvSpPr>
        <p:spPr>
          <a:xfrm>
            <a:off x="1691640"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Je had het </a:t>
            </a:r>
            <a:r>
              <a:rPr lang="en-US" sz="1900" b="1" i="1" dirty="0">
                <a:solidFill>
                  <a:srgbClr val="D9700F"/>
                </a:solidFill>
              </a:rPr>
              <a:t>moeten zeggen</a:t>
            </a:r>
            <a:r>
              <a:rPr lang="en-US" sz="1900" i="1" dirty="0">
                <a:solidFill>
                  <a:schemeClr val="tx1"/>
                </a:solidFill>
              </a:rPr>
              <a:t>!</a:t>
            </a:r>
            <a:endParaRPr lang="en-US" sz="1800" dirty="0"/>
          </a:p>
        </p:txBody>
      </p:sp>
      <p:sp>
        <p:nvSpPr>
          <p:cNvPr id="22" name="Text 18"/>
          <p:cNvSpPr txBox="1"/>
          <p:nvPr/>
        </p:nvSpPr>
        <p:spPr>
          <a:xfrm>
            <a:off x="1691640"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aurais dû le dire</a:t>
            </a:r>
            <a:endParaRPr lang="en-US" sz="1400" dirty="0"/>
          </a:p>
        </p:txBody>
      </p:sp>
      <p:sp>
        <p:nvSpPr>
          <p:cNvPr id="23" name="Shape 19"/>
          <p:cNvSpPr/>
          <p:nvPr/>
        </p:nvSpPr>
        <p:spPr>
          <a:xfrm>
            <a:off x="6208776" y="246888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4" name="Image 1" descr="trophy">    </p:cNvPr>
          <p:cNvPicPr>
            <a:picLocks noChangeAspect="1"/>
          </p:cNvPicPr>
          <p:nvPr/>
        </p:nvPicPr>
        <p:blipFill>
          <a:blip r:embed="rId2"/>
          <a:stretch>
            <a:fillRect/>
          </a:stretch>
        </p:blipFill>
        <p:spPr>
          <a:xfrm>
            <a:off x="6373368" y="2606040"/>
            <a:ext cx="822960" cy="822960"/>
          </a:xfrm>
          <a:prstGeom prst="rect">
            <a:avLst/>
          </a:prstGeom>
        </p:spPr>
      </p:pic>
      <p:sp>
        <p:nvSpPr>
          <p:cNvPr id="25" name="Text 20"/>
          <p:cNvSpPr txBox="1"/>
          <p:nvPr/>
        </p:nvSpPr>
        <p:spPr>
          <a:xfrm>
            <a:off x="7351776" y="256032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Ik had </a:t>
            </a:r>
            <a:r>
              <a:rPr lang="en-US" sz="1900" b="1" i="1" dirty="0">
                <a:solidFill>
                  <a:srgbClr val="D9700F"/>
                </a:solidFill>
              </a:rPr>
              <a:t>kunnen winnen</a:t>
            </a:r>
            <a:r>
              <a:rPr lang="en-US" sz="1900" i="1" dirty="0">
                <a:solidFill>
                  <a:schemeClr val="tx1"/>
                </a:solidFill>
              </a:rPr>
              <a:t>.</a:t>
            </a:r>
            <a:endParaRPr lang="en-US" sz="1800" dirty="0"/>
          </a:p>
        </p:txBody>
      </p:sp>
      <p:sp>
        <p:nvSpPr>
          <p:cNvPr id="26" name="Text 21"/>
          <p:cNvSpPr txBox="1"/>
          <p:nvPr/>
        </p:nvSpPr>
        <p:spPr>
          <a:xfrm>
            <a:off x="7351776" y="310896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j’aurais pu gagner</a:t>
            </a:r>
            <a:endParaRPr lang="en-US" sz="1400" dirty="0"/>
          </a:p>
        </p:txBody>
      </p:sp>
      <p:sp>
        <p:nvSpPr>
          <p:cNvPr id="27" name="Shape 22"/>
          <p:cNvSpPr/>
          <p:nvPr/>
        </p:nvSpPr>
        <p:spPr>
          <a:xfrm>
            <a:off x="548640"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8" name="Image 2" descr="alarm clock">    </p:cNvPr>
          <p:cNvPicPr>
            <a:picLocks noChangeAspect="1"/>
          </p:cNvPicPr>
          <p:nvPr/>
        </p:nvPicPr>
        <p:blipFill>
          <a:blip r:embed="rId3"/>
          <a:stretch>
            <a:fillRect/>
          </a:stretch>
        </p:blipFill>
        <p:spPr>
          <a:xfrm>
            <a:off x="713232" y="3840480"/>
            <a:ext cx="822960" cy="822960"/>
          </a:xfrm>
          <a:prstGeom prst="rect">
            <a:avLst/>
          </a:prstGeom>
        </p:spPr>
      </p:pic>
      <p:sp>
        <p:nvSpPr>
          <p:cNvPr id="29" name="Text 23"/>
          <p:cNvSpPr txBox="1"/>
          <p:nvPr/>
        </p:nvSpPr>
        <p:spPr>
          <a:xfrm>
            <a:off x="1691640"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We hadden eerder </a:t>
            </a:r>
            <a:r>
              <a:rPr lang="en-US" sz="1900" b="1" i="1" dirty="0">
                <a:solidFill>
                  <a:srgbClr val="D9700F"/>
                </a:solidFill>
              </a:rPr>
              <a:t>moeten vertrekken</a:t>
            </a:r>
            <a:r>
              <a:rPr lang="en-US" sz="1900" i="1" dirty="0">
                <a:solidFill>
                  <a:schemeClr val="tx1"/>
                </a:solidFill>
              </a:rPr>
              <a:t>.</a:t>
            </a:r>
            <a:endParaRPr lang="en-US" sz="1800" dirty="0"/>
          </a:p>
        </p:txBody>
      </p:sp>
      <p:sp>
        <p:nvSpPr>
          <p:cNvPr id="30" name="Text 24"/>
          <p:cNvSpPr txBox="1"/>
          <p:nvPr/>
        </p:nvSpPr>
        <p:spPr>
          <a:xfrm>
            <a:off x="1691640"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nous aurions dû partir plus tôt</a:t>
            </a:r>
            <a:endParaRPr lang="en-US" sz="1400" dirty="0"/>
          </a:p>
        </p:txBody>
      </p:sp>
      <p:sp>
        <p:nvSpPr>
          <p:cNvPr id="31" name="Shape 25"/>
          <p:cNvSpPr/>
          <p:nvPr/>
        </p:nvSpPr>
        <p:spPr>
          <a:xfrm>
            <a:off x="6208776" y="3703320"/>
            <a:ext cx="5431536" cy="1097280"/>
          </a:xfrm>
          <a:prstGeom prst="roundRect">
            <a:avLst>
              <a:gd name="adj" fmla="val 10000"/>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2" name="Image 3" descr="no entry">    </p:cNvPr>
          <p:cNvPicPr>
            <a:picLocks noChangeAspect="1"/>
          </p:cNvPicPr>
          <p:nvPr/>
        </p:nvPicPr>
        <p:blipFill>
          <a:blip r:embed="rId4"/>
          <a:stretch>
            <a:fillRect/>
          </a:stretch>
        </p:blipFill>
        <p:spPr>
          <a:xfrm>
            <a:off x="6373368" y="3840480"/>
            <a:ext cx="822960" cy="822960"/>
          </a:xfrm>
          <a:prstGeom prst="rect">
            <a:avLst/>
          </a:prstGeom>
        </p:spPr>
      </p:pic>
      <p:sp>
        <p:nvSpPr>
          <p:cNvPr id="33" name="Text 26"/>
          <p:cNvSpPr txBox="1"/>
          <p:nvPr/>
        </p:nvSpPr>
        <p:spPr>
          <a:xfrm>
            <a:off x="7351776" y="3794760"/>
            <a:ext cx="4151376" cy="548640"/>
          </a:xfrm>
          <a:prstGeom prst="rect">
            <a:avLst/>
          </a:prstGeom>
          <a:noFill/>
          <a:ln/>
        </p:spPr>
        <p:txBody>
          <a:bodyPr wrap="square" lIns="0" tIns="0" rIns="0" bIns="0" rtlCol="0" anchor="ctr"/>
          <a:lstStyle/>
          <a:p>
            <a:pPr algn="l" indent="0" marL="0">
              <a:buNone/>
            </a:pPr>
            <a:r>
              <a:rPr lang="en-US" sz="1900" i="1" dirty="0">
                <a:solidFill>
                  <a:schemeClr val="tx1"/>
                </a:solidFill>
              </a:rPr>
              <a:t>Dat had je niet </a:t>
            </a:r>
            <a:r>
              <a:rPr lang="en-US" sz="1900" b="1" i="1" dirty="0">
                <a:solidFill>
                  <a:srgbClr val="D9700F"/>
                </a:solidFill>
              </a:rPr>
              <a:t>moeten doen</a:t>
            </a:r>
            <a:r>
              <a:rPr lang="en-US" sz="1900" i="1" dirty="0">
                <a:solidFill>
                  <a:schemeClr val="tx1"/>
                </a:solidFill>
              </a:rPr>
              <a:t>.</a:t>
            </a:r>
            <a:endParaRPr lang="en-US" sz="1800" dirty="0"/>
          </a:p>
        </p:txBody>
      </p:sp>
      <p:sp>
        <p:nvSpPr>
          <p:cNvPr id="34" name="Text 27"/>
          <p:cNvSpPr txBox="1"/>
          <p:nvPr/>
        </p:nvSpPr>
        <p:spPr>
          <a:xfrm>
            <a:off x="7351776" y="4343400"/>
            <a:ext cx="4151376" cy="365760"/>
          </a:xfrm>
          <a:prstGeom prst="rect">
            <a:avLst/>
          </a:prstGeom>
          <a:noFill/>
          <a:ln/>
        </p:spPr>
        <p:txBody>
          <a:bodyPr wrap="square" lIns="0" tIns="0" rIns="0" bIns="0" rtlCol="0" anchor="ctr"/>
          <a:lstStyle/>
          <a:p>
            <a:pPr algn="l" indent="0" marL="0">
              <a:buNone/>
            </a:pPr>
            <a:r>
              <a:rPr lang="en-US" sz="1400" i="1" dirty="0">
                <a:solidFill>
                  <a:schemeClr val="tx2"/>
                </a:solidFill>
              </a:rPr>
              <a:t>tu n’aurais pas dû faire ça</a:t>
            </a:r>
            <a:endParaRPr lang="en-US" sz="1400" dirty="0"/>
          </a:p>
        </p:txBody>
      </p:sp>
      <p:sp>
        <p:nvSpPr>
          <p:cNvPr id="35" name="Shape 28"/>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36" name="Text 29"/>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500" dirty="0">
                <a:solidFill>
                  <a:schemeClr val="bg1"/>
                </a:solidFill>
              </a:rPr>
              <a:t>Ne pas confondre : </a:t>
            </a:r>
            <a:r>
              <a:rPr lang="en-US" sz="1500" i="1" dirty="0">
                <a:solidFill>
                  <a:schemeClr val="bg1"/>
                </a:solidFill>
              </a:rPr>
              <a:t>Je </a:t>
            </a:r>
            <a:r>
              <a:rPr lang="en-US" sz="1500" b="1" i="1" dirty="0">
                <a:solidFill>
                  <a:schemeClr val="bg1"/>
                </a:solidFill>
              </a:rPr>
              <a:t>zou</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devrais</a:t>
            </a:r>
            <a:r>
              <a:rPr lang="en-US" sz="1500" dirty="0">
                <a:solidFill>
                  <a:schemeClr val="bg1"/>
                </a:solidFill>
              </a:rPr>
              <a:t> · </a:t>
            </a:r>
            <a:r>
              <a:rPr lang="en-US" sz="1500" i="1" dirty="0">
                <a:solidFill>
                  <a:schemeClr val="bg1"/>
                </a:solidFill>
              </a:rPr>
              <a:t>Je </a:t>
            </a:r>
            <a:r>
              <a:rPr lang="en-US" sz="1500" b="1" i="1" dirty="0">
                <a:solidFill>
                  <a:schemeClr val="bg1"/>
                </a:solidFill>
              </a:rPr>
              <a:t>had</a:t>
            </a:r>
            <a:r>
              <a:rPr lang="en-US" sz="1500" i="1" dirty="0">
                <a:solidFill>
                  <a:schemeClr val="bg1"/>
                </a:solidFill>
              </a:rPr>
              <a:t> meer moeten slapen</a:t>
            </a:r>
            <a:r>
              <a:rPr lang="en-US" sz="1500" dirty="0">
                <a:solidFill>
                  <a:schemeClr val="bg1"/>
                </a:solidFill>
              </a:rPr>
              <a:t> = tu </a:t>
            </a:r>
            <a:r>
              <a:rPr lang="en-US" sz="1500" b="1" dirty="0">
                <a:solidFill>
                  <a:schemeClr val="bg1"/>
                </a:solidFill>
              </a:rPr>
              <a:t>aurais dû</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double infinitif</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3575304" cy="2103120"/>
          </a:xfrm>
          <a:prstGeom prst="roundRect">
            <a:avLst>
              <a:gd name="adj" fmla="val 521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685800" y="1572768"/>
            <a:ext cx="457200" cy="457200"/>
          </a:xfrm>
          <a:prstGeom prst="rect">
            <a:avLst/>
          </a:prstGeom>
          <a:noFill/>
          <a:ln/>
        </p:spPr>
        <p:txBody>
          <a:bodyPr wrap="square" lIns="0" tIns="0" rIns="0" bIns="0" rtlCol="0" anchor="t"/>
          <a:lstStyle/>
          <a:p>
            <a:pPr algn="l" indent="0" marL="0">
              <a:buNone/>
            </a:pPr>
            <a:r>
              <a:rPr lang="en-US" sz="2400" b="1" dirty="0">
                <a:solidFill>
                  <a:schemeClr val="accent2"/>
                </a:solidFill>
              </a:rPr>
              <a:t>①</a:t>
            </a:r>
            <a:endParaRPr lang="en-US" sz="2400" dirty="0"/>
          </a:p>
        </p:txBody>
      </p:sp>
      <p:sp>
        <p:nvSpPr>
          <p:cNvPr id="7" name="Text 4"/>
          <p:cNvSpPr txBox="1"/>
          <p:nvPr/>
        </p:nvSpPr>
        <p:spPr>
          <a:xfrm>
            <a:off x="1188720" y="1572768"/>
            <a:ext cx="2798064" cy="548640"/>
          </a:xfrm>
          <a:prstGeom prst="rect">
            <a:avLst/>
          </a:prstGeom>
          <a:noFill/>
          <a:ln/>
        </p:spPr>
        <p:txBody>
          <a:bodyPr wrap="square" lIns="0" tIns="0" rIns="0" bIns="0" rtlCol="0" anchor="ctr"/>
          <a:lstStyle/>
          <a:p>
            <a:pPr algn="l" indent="0" marL="0">
              <a:buNone/>
            </a:pPr>
            <a:r>
              <a:rPr lang="en-US" sz="1700" b="1" dirty="0">
                <a:solidFill>
                  <a:schemeClr val="accent2"/>
                </a:solidFill>
              </a:rPr>
              <a:t>L’infinitif remplace le participe</a:t>
            </a:r>
            <a:endParaRPr lang="en-US" sz="1700" dirty="0"/>
          </a:p>
        </p:txBody>
      </p:sp>
      <p:sp>
        <p:nvSpPr>
          <p:cNvPr id="8" name="Text 5"/>
          <p:cNvSpPr txBox="1"/>
          <p:nvPr/>
        </p:nvSpPr>
        <p:spPr>
          <a:xfrm>
            <a:off x="731520"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moeten werken</a:t>
            </a:r>
            <a:r>
              <a:rPr lang="en-US" sz="1600" i="1" dirty="0">
                <a:solidFill>
                  <a:schemeClr val="tx1"/>
                </a:solidFill>
              </a:rPr>
              <a:t>. (pas gemoeten)</a:t>
            </a:r>
            <a:endParaRPr lang="en-US" sz="1800" dirty="0"/>
          </a:p>
        </p:txBody>
      </p:sp>
      <p:sp>
        <p:nvSpPr>
          <p:cNvPr id="9" name="Shape 6"/>
          <p:cNvSpPr/>
          <p:nvPr/>
        </p:nvSpPr>
        <p:spPr>
          <a:xfrm>
            <a:off x="4306824" y="1463040"/>
            <a:ext cx="3575304"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4443984" y="1572768"/>
            <a:ext cx="457200" cy="457200"/>
          </a:xfrm>
          <a:prstGeom prst="rect">
            <a:avLst/>
          </a:prstGeom>
          <a:noFill/>
          <a:ln/>
        </p:spPr>
        <p:txBody>
          <a:bodyPr wrap="square" lIns="0" tIns="0" rIns="0" bIns="0" rtlCol="0" anchor="t"/>
          <a:lstStyle/>
          <a:p>
            <a:pPr algn="l" indent="0" marL="0">
              <a:buNone/>
            </a:pPr>
            <a:r>
              <a:rPr lang="en-US" sz="2400" b="1" dirty="0">
                <a:solidFill>
                  <a:schemeClr val="accent4"/>
                </a:solidFill>
              </a:rPr>
              <a:t>②</a:t>
            </a:r>
            <a:endParaRPr lang="en-US" sz="2400" dirty="0"/>
          </a:p>
        </p:txBody>
      </p:sp>
      <p:sp>
        <p:nvSpPr>
          <p:cNvPr id="11" name="Text 8"/>
          <p:cNvSpPr txBox="1"/>
          <p:nvPr/>
        </p:nvSpPr>
        <p:spPr>
          <a:xfrm>
            <a:off x="4946904" y="1572768"/>
            <a:ext cx="2798064" cy="548640"/>
          </a:xfrm>
          <a:prstGeom prst="rect">
            <a:avLst/>
          </a:prstGeom>
          <a:noFill/>
          <a:ln/>
        </p:spPr>
        <p:txBody>
          <a:bodyPr wrap="square" lIns="0" tIns="0" rIns="0" bIns="0" rtlCol="0" anchor="ctr"/>
          <a:lstStyle/>
          <a:p>
            <a:pPr algn="l" indent="0" marL="0">
              <a:buNone/>
            </a:pPr>
            <a:r>
              <a:rPr lang="en-US" sz="1700" b="1" dirty="0">
                <a:solidFill>
                  <a:schemeClr val="accent4"/>
                </a:solidFill>
              </a:rPr>
              <a:t>Cinq familles</a:t>
            </a:r>
            <a:endParaRPr lang="en-US" sz="1700" dirty="0"/>
          </a:p>
        </p:txBody>
      </p:sp>
      <p:sp>
        <p:nvSpPr>
          <p:cNvPr id="12" name="Text 9"/>
          <p:cNvSpPr txBox="1"/>
          <p:nvPr/>
        </p:nvSpPr>
        <p:spPr>
          <a:xfrm>
            <a:off x="4489704"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modaux · laten · gaan / komen / blijven · zitten / staan / liggen / lopen · zien / horen / voelen</a:t>
            </a:r>
            <a:endParaRPr lang="en-US" sz="1800" dirty="0"/>
          </a:p>
        </p:txBody>
      </p:sp>
      <p:sp>
        <p:nvSpPr>
          <p:cNvPr id="13" name="Shape 10"/>
          <p:cNvSpPr/>
          <p:nvPr/>
        </p:nvSpPr>
        <p:spPr>
          <a:xfrm>
            <a:off x="8065008" y="1463040"/>
            <a:ext cx="3575304" cy="2103120"/>
          </a:xfrm>
          <a:prstGeom prst="roundRect">
            <a:avLst>
              <a:gd name="adj" fmla="val 521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8202168" y="1572768"/>
            <a:ext cx="457200" cy="457200"/>
          </a:xfrm>
          <a:prstGeom prst="rect">
            <a:avLst/>
          </a:prstGeom>
          <a:noFill/>
          <a:ln/>
        </p:spPr>
        <p:txBody>
          <a:bodyPr wrap="square" lIns="0" tIns="0" rIns="0" bIns="0" rtlCol="0" anchor="t"/>
          <a:lstStyle/>
          <a:p>
            <a:pPr algn="l" indent="0" marL="0">
              <a:buNone/>
            </a:pPr>
            <a:r>
              <a:rPr lang="en-US" sz="2400" b="1" dirty="0">
                <a:solidFill>
                  <a:schemeClr val="accent3"/>
                </a:solidFill>
              </a:rPr>
              <a:t>③</a:t>
            </a:r>
            <a:endParaRPr lang="en-US" sz="2400" dirty="0"/>
          </a:p>
        </p:txBody>
      </p:sp>
      <p:sp>
        <p:nvSpPr>
          <p:cNvPr id="15" name="Text 12"/>
          <p:cNvSpPr txBox="1"/>
          <p:nvPr/>
        </p:nvSpPr>
        <p:spPr>
          <a:xfrm>
            <a:off x="8705088" y="1572768"/>
            <a:ext cx="2798064" cy="548640"/>
          </a:xfrm>
          <a:prstGeom prst="rect">
            <a:avLst/>
          </a:prstGeom>
          <a:noFill/>
          <a:ln/>
        </p:spPr>
        <p:txBody>
          <a:bodyPr wrap="square" lIns="0" tIns="0" rIns="0" bIns="0" rtlCol="0" anchor="ctr"/>
          <a:lstStyle/>
          <a:p>
            <a:pPr algn="l" indent="0" marL="0">
              <a:buNone/>
            </a:pPr>
            <a:r>
              <a:rPr lang="en-US" sz="1700" b="1" dirty="0">
                <a:solidFill>
                  <a:schemeClr val="accent3"/>
                </a:solidFill>
              </a:rPr>
              <a:t>Le premier wagon choisit</a:t>
            </a:r>
            <a:endParaRPr lang="en-US" sz="1700" dirty="0"/>
          </a:p>
        </p:txBody>
      </p:sp>
      <p:sp>
        <p:nvSpPr>
          <p:cNvPr id="16" name="Text 13"/>
          <p:cNvSpPr txBox="1"/>
          <p:nvPr/>
        </p:nvSpPr>
        <p:spPr>
          <a:xfrm>
            <a:off x="8247888" y="224028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moeten → heb · gaan → ben</a:t>
            </a:r>
            <a:endParaRPr lang="en-US" sz="1800" dirty="0"/>
          </a:p>
        </p:txBody>
      </p:sp>
      <p:sp>
        <p:nvSpPr>
          <p:cNvPr id="17" name="Shape 14"/>
          <p:cNvSpPr/>
          <p:nvPr/>
        </p:nvSpPr>
        <p:spPr>
          <a:xfrm>
            <a:off x="548640" y="3703320"/>
            <a:ext cx="3575304" cy="2103120"/>
          </a:xfrm>
          <a:prstGeom prst="roundRect">
            <a:avLst>
              <a:gd name="adj" fmla="val 5217"/>
            </a:avLst>
          </a:prstGeom>
          <a:solidFill>
            <a:srgbClr val="FFFFFF"/>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685800" y="3813048"/>
            <a:ext cx="457200" cy="457200"/>
          </a:xfrm>
          <a:prstGeom prst="rect">
            <a:avLst/>
          </a:prstGeom>
          <a:noFill/>
          <a:ln/>
        </p:spPr>
        <p:txBody>
          <a:bodyPr wrap="square" lIns="0" tIns="0" rIns="0" bIns="0" rtlCol="0" anchor="t"/>
          <a:lstStyle/>
          <a:p>
            <a:pPr algn="l" indent="0" marL="0">
              <a:buNone/>
            </a:pPr>
            <a:r>
              <a:rPr lang="en-US" sz="2400" b="1" dirty="0">
                <a:solidFill>
                  <a:schemeClr val="accent5"/>
                </a:solidFill>
              </a:rPr>
              <a:t>④</a:t>
            </a:r>
            <a:endParaRPr lang="en-US" sz="2400" dirty="0"/>
          </a:p>
        </p:txBody>
      </p:sp>
      <p:sp>
        <p:nvSpPr>
          <p:cNvPr id="19" name="Text 16"/>
          <p:cNvSpPr txBox="1"/>
          <p:nvPr/>
        </p:nvSpPr>
        <p:spPr>
          <a:xfrm>
            <a:off x="1188720" y="3813048"/>
            <a:ext cx="2798064" cy="548640"/>
          </a:xfrm>
          <a:prstGeom prst="rect">
            <a:avLst/>
          </a:prstGeom>
          <a:noFill/>
          <a:ln/>
        </p:spPr>
        <p:txBody>
          <a:bodyPr wrap="square" lIns="0" tIns="0" rIns="0" bIns="0" rtlCol="0" anchor="ctr"/>
          <a:lstStyle/>
          <a:p>
            <a:pPr algn="l" indent="0" marL="0">
              <a:buNone/>
            </a:pPr>
            <a:r>
              <a:rPr lang="en-US" sz="1700" b="1" dirty="0">
                <a:solidFill>
                  <a:schemeClr val="accent5"/>
                </a:solidFill>
              </a:rPr>
              <a:t>Seul → participe</a:t>
            </a:r>
            <a:endParaRPr lang="en-US" sz="1700" dirty="0"/>
          </a:p>
        </p:txBody>
      </p:sp>
      <p:sp>
        <p:nvSpPr>
          <p:cNvPr id="20" name="Text 17"/>
          <p:cNvSpPr txBox="1"/>
          <p:nvPr/>
        </p:nvSpPr>
        <p:spPr>
          <a:xfrm>
            <a:off x="731520"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het niet </a:t>
            </a:r>
            <a:r>
              <a:rPr lang="en-US" sz="1600" b="1" i="1" dirty="0">
                <a:solidFill>
                  <a:srgbClr val="4A5A70"/>
                </a:solidFill>
              </a:rPr>
              <a:t>gekund</a:t>
            </a:r>
            <a:r>
              <a:rPr lang="en-US" sz="1600" i="1" dirty="0">
                <a:solidFill>
                  <a:schemeClr val="tx1"/>
                </a:solidFill>
              </a:rPr>
              <a:t>.</a:t>
            </a:r>
            <a:endParaRPr lang="en-US" sz="1800" dirty="0"/>
          </a:p>
        </p:txBody>
      </p:sp>
      <p:sp>
        <p:nvSpPr>
          <p:cNvPr id="21" name="Shape 18"/>
          <p:cNvSpPr/>
          <p:nvPr/>
        </p:nvSpPr>
        <p:spPr>
          <a:xfrm>
            <a:off x="4306824" y="3703320"/>
            <a:ext cx="3575304" cy="2103120"/>
          </a:xfrm>
          <a:prstGeom prst="roundRect">
            <a:avLst>
              <a:gd name="adj" fmla="val 5217"/>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4443984" y="3813048"/>
            <a:ext cx="457200" cy="457200"/>
          </a:xfrm>
          <a:prstGeom prst="rect">
            <a:avLst/>
          </a:prstGeom>
          <a:noFill/>
          <a:ln/>
        </p:spPr>
        <p:txBody>
          <a:bodyPr wrap="square" lIns="0" tIns="0" rIns="0" bIns="0" rtlCol="0" anchor="t"/>
          <a:lstStyle/>
          <a:p>
            <a:pPr algn="l" indent="0" marL="0">
              <a:buNone/>
            </a:pPr>
            <a:r>
              <a:rPr lang="en-US" sz="2400" b="1" dirty="0">
                <a:solidFill>
                  <a:srgbClr val="6E4A9E"/>
                </a:solidFill>
              </a:rPr>
              <a:t>⑤</a:t>
            </a:r>
            <a:endParaRPr lang="en-US" sz="2400" dirty="0"/>
          </a:p>
        </p:txBody>
      </p:sp>
      <p:sp>
        <p:nvSpPr>
          <p:cNvPr id="23" name="Text 20"/>
          <p:cNvSpPr txBox="1"/>
          <p:nvPr/>
        </p:nvSpPr>
        <p:spPr>
          <a:xfrm>
            <a:off x="4946904" y="3813048"/>
            <a:ext cx="2798064" cy="548640"/>
          </a:xfrm>
          <a:prstGeom prst="rect">
            <a:avLst/>
          </a:prstGeom>
          <a:noFill/>
          <a:ln/>
        </p:spPr>
        <p:txBody>
          <a:bodyPr wrap="square" lIns="0" tIns="0" rIns="0" bIns="0" rtlCol="0" anchor="ctr"/>
          <a:lstStyle/>
          <a:p>
            <a:pPr algn="l" indent="0" marL="0">
              <a:buNone/>
            </a:pPr>
            <a:r>
              <a:rPr lang="en-US" sz="1700" b="1" dirty="0">
                <a:solidFill>
                  <a:srgbClr val="6E4A9E"/>
                </a:solidFill>
              </a:rPr>
              <a:t>Avec te → participe</a:t>
            </a:r>
            <a:endParaRPr lang="en-US" sz="1700" dirty="0"/>
          </a:p>
        </p:txBody>
      </p:sp>
      <p:sp>
        <p:nvSpPr>
          <p:cNvPr id="24" name="Text 21"/>
          <p:cNvSpPr txBox="1"/>
          <p:nvPr/>
        </p:nvSpPr>
        <p:spPr>
          <a:xfrm>
            <a:off x="4489704"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heb </a:t>
            </a:r>
            <a:r>
              <a:rPr lang="en-US" sz="1600" b="1" i="1" dirty="0">
                <a:solidFill>
                  <a:srgbClr val="D9700F"/>
                </a:solidFill>
              </a:rPr>
              <a:t>geprobeerd</a:t>
            </a:r>
            <a:r>
              <a:rPr lang="en-US" sz="1600" i="1" dirty="0">
                <a:solidFill>
                  <a:schemeClr val="tx1"/>
                </a:solidFill>
              </a:rPr>
              <a:t> te bellen. (sauf zitten…)</a:t>
            </a:r>
            <a:endParaRPr lang="en-US" sz="1800" dirty="0"/>
          </a:p>
        </p:txBody>
      </p:sp>
      <p:sp>
        <p:nvSpPr>
          <p:cNvPr id="25" name="Shape 22"/>
          <p:cNvSpPr/>
          <p:nvPr/>
        </p:nvSpPr>
        <p:spPr>
          <a:xfrm>
            <a:off x="8065008" y="3703320"/>
            <a:ext cx="3575304" cy="2103120"/>
          </a:xfrm>
          <a:prstGeom prst="roundRect">
            <a:avLst>
              <a:gd name="adj" fmla="val 521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8202168" y="3813048"/>
            <a:ext cx="457200" cy="457200"/>
          </a:xfrm>
          <a:prstGeom prst="rect">
            <a:avLst/>
          </a:prstGeom>
          <a:noFill/>
          <a:ln/>
        </p:spPr>
        <p:txBody>
          <a:bodyPr wrap="square" lIns="0" tIns="0" rIns="0" bIns="0" rtlCol="0" anchor="t"/>
          <a:lstStyle/>
          <a:p>
            <a:pPr algn="l" indent="0" marL="0">
              <a:buNone/>
            </a:pPr>
            <a:r>
              <a:rPr lang="en-US" sz="2400" b="1" dirty="0">
                <a:solidFill>
                  <a:schemeClr val="accent1"/>
                </a:solidFill>
              </a:rPr>
              <a:t>⑥</a:t>
            </a:r>
            <a:endParaRPr lang="en-US" sz="2400" dirty="0"/>
          </a:p>
        </p:txBody>
      </p:sp>
      <p:sp>
        <p:nvSpPr>
          <p:cNvPr id="27" name="Text 24"/>
          <p:cNvSpPr txBox="1"/>
          <p:nvPr/>
        </p:nvSpPr>
        <p:spPr>
          <a:xfrm>
            <a:off x="8705088" y="3813048"/>
            <a:ext cx="2798064" cy="548640"/>
          </a:xfrm>
          <a:prstGeom prst="rect">
            <a:avLst/>
          </a:prstGeom>
          <a:noFill/>
          <a:ln/>
        </p:spPr>
        <p:txBody>
          <a:bodyPr wrap="square" lIns="0" tIns="0" rIns="0" bIns="0" rtlCol="0" anchor="ctr"/>
          <a:lstStyle/>
          <a:p>
            <a:pPr algn="l" indent="0" marL="0">
              <a:buNone/>
            </a:pPr>
            <a:r>
              <a:rPr lang="en-US" sz="1700" b="1" dirty="0">
                <a:solidFill>
                  <a:schemeClr val="accent1"/>
                </a:solidFill>
              </a:rPr>
              <a:t>Les regrets</a:t>
            </a:r>
            <a:endParaRPr lang="en-US" sz="1700" dirty="0"/>
          </a:p>
        </p:txBody>
      </p:sp>
      <p:sp>
        <p:nvSpPr>
          <p:cNvPr id="28" name="Text 25"/>
          <p:cNvSpPr txBox="1"/>
          <p:nvPr/>
        </p:nvSpPr>
        <p:spPr>
          <a:xfrm>
            <a:off x="8247888" y="4480560"/>
            <a:ext cx="3209544" cy="1188720"/>
          </a:xfrm>
          <a:prstGeom prst="rect">
            <a:avLst/>
          </a:prstGeom>
          <a:noFill/>
          <a:ln/>
        </p:spPr>
        <p:txBody>
          <a:bodyPr wrap="square" lIns="0" tIns="0" rIns="0" bIns="0" rtlCol="0" anchor="ctr"/>
          <a:lstStyle/>
          <a:p>
            <a:pPr algn="l" indent="0" marL="0">
              <a:buNone/>
            </a:pPr>
            <a:r>
              <a:rPr lang="en-US" sz="1600" i="1" dirty="0">
                <a:solidFill>
                  <a:schemeClr val="tx1"/>
                </a:solidFill>
              </a:rPr>
              <a:t>Ik had </a:t>
            </a:r>
            <a:r>
              <a:rPr lang="en-US" sz="1600" b="1" i="1" dirty="0">
                <a:solidFill>
                  <a:srgbClr val="D9700F"/>
                </a:solidFill>
              </a:rPr>
              <a:t>moeten bellen</a:t>
            </a:r>
            <a:r>
              <a:rPr lang="en-US" sz="1600" i="1" dirty="0">
                <a:solidFill>
                  <a:schemeClr val="tx1"/>
                </a:solidFill>
              </a:rPr>
              <a:t>. = j’aurais dû appeler</a:t>
            </a:r>
            <a:endParaRPr lang="en-US" sz="1800" dirty="0"/>
          </a:p>
        </p:txBody>
      </p:sp>
      <p:pic>
        <p:nvPicPr>
          <p:cNvPr id="29"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istory">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passé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Exchange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Participe ou infinitif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RegSadTear">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regrets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jeu des excuses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Lundi matin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8" name="Shape 4"/>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9"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0" name="Text 5"/>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1" name="Text 6"/>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lang </a:t>
            </a:r>
            <a:r>
              <a:rPr lang="en-US" sz="1700" i="1" dirty="0">
                <a:solidFill>
                  <a:schemeClr val="accent5"/>
                </a:solidFill>
              </a:rPr>
              <a:t>……………………</a:t>
            </a:r>
            <a:r>
              <a:rPr lang="en-US" sz="1700" i="1" dirty="0">
                <a:solidFill>
                  <a:schemeClr val="tx1"/>
                </a:solidFill>
              </a:rPr>
              <a:t>.</a:t>
            </a:r>
            <a:endParaRPr lang="en-US" sz="1700" dirty="0"/>
          </a:p>
        </p:txBody>
      </p:sp>
      <p:sp>
        <p:nvSpPr>
          <p:cNvPr id="12" name="Shape 7"/>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3"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4" name="Text 8"/>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5" name="Text 9"/>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i="1" dirty="0">
                <a:solidFill>
                  <a:schemeClr val="accent5"/>
                </a:solidFill>
              </a:rPr>
              <a:t>…………</a:t>
            </a:r>
            <a:r>
              <a:rPr lang="en-US" sz="1700" i="1" dirty="0">
                <a:solidFill>
                  <a:schemeClr val="tx1"/>
                </a:solidFill>
              </a:rPr>
              <a:t> niet </a:t>
            </a:r>
            <a:r>
              <a:rPr lang="en-US" sz="1700" i="1" dirty="0">
                <a:solidFill>
                  <a:schemeClr val="accent5"/>
                </a:solidFill>
              </a:rPr>
              <a:t>…………………</a:t>
            </a:r>
            <a:r>
              <a:rPr lang="en-US" sz="1700" i="1" dirty="0">
                <a:solidFill>
                  <a:schemeClr val="tx1"/>
                </a:solidFill>
              </a:rPr>
              <a:t>.</a:t>
            </a:r>
            <a:endParaRPr lang="en-US" sz="1700" dirty="0"/>
          </a:p>
        </p:txBody>
      </p:sp>
      <p:sp>
        <p:nvSpPr>
          <p:cNvPr id="16" name="Shape 10"/>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7"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8" name="Text 11"/>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19" name="Text 12"/>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20" name="Shape 13"/>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1"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2" name="Text 14"/>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3" name="Text 15"/>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mijn fiets </a:t>
            </a:r>
            <a:r>
              <a:rPr lang="en-US" sz="1700" i="1" dirty="0">
                <a:solidFill>
                  <a:schemeClr val="accent5"/>
                </a:solidFill>
              </a:rPr>
              <a:t>………………………</a:t>
            </a:r>
            <a:r>
              <a:rPr lang="en-US" sz="1700" i="1" dirty="0">
                <a:solidFill>
                  <a:schemeClr val="tx1"/>
                </a:solidFill>
              </a:rPr>
              <a:t>.</a:t>
            </a:r>
            <a:endParaRPr lang="en-US" sz="1700" dirty="0"/>
          </a:p>
        </p:txBody>
      </p:sp>
      <p:sp>
        <p:nvSpPr>
          <p:cNvPr id="24" name="Shape 16"/>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5"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6" name="Text 17"/>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7" name="Text 18"/>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i="1" dirty="0">
                <a:solidFill>
                  <a:schemeClr val="accent5"/>
                </a:solidFill>
              </a:rPr>
              <a:t>……………………………</a:t>
            </a:r>
            <a:r>
              <a:rPr lang="en-US" sz="1700" i="1" dirty="0">
                <a:solidFill>
                  <a:schemeClr val="tx1"/>
                </a:solidFill>
              </a:rPr>
              <a:t>.</a:t>
            </a:r>
            <a:endParaRPr lang="en-US" sz="1700" dirty="0"/>
          </a:p>
        </p:txBody>
      </p:sp>
      <p:sp>
        <p:nvSpPr>
          <p:cNvPr id="28" name="Shape 19"/>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29"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0" name="Text 20"/>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1" name="Text 21"/>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i="1" dirty="0">
                <a:solidFill>
                  <a:schemeClr val="accent5"/>
                </a:solidFill>
              </a:rPr>
              <a:t>…………</a:t>
            </a:r>
            <a:r>
              <a:rPr lang="en-US" sz="1700" i="1" dirty="0">
                <a:solidFill>
                  <a:schemeClr val="tx1"/>
                </a:solidFill>
              </a:rPr>
              <a:t> de kinderen </a:t>
            </a:r>
            <a:r>
              <a:rPr lang="en-US" sz="1700" i="1" dirty="0">
                <a:solidFill>
                  <a:schemeClr val="accent5"/>
                </a:solidFill>
              </a:rPr>
              <a:t>…………………</a:t>
            </a:r>
            <a:r>
              <a:rPr lang="en-US" sz="1700" i="1" dirty="0">
                <a:solidFill>
                  <a:schemeClr val="tx1"/>
                </a:solidFill>
              </a:rPr>
              <a:t>.</a:t>
            </a:r>
            <a:endParaRPr lang="en-US" sz="1700" dirty="0"/>
          </a:p>
        </p:txBody>
      </p:sp>
      <p:sp>
        <p:nvSpPr>
          <p:cNvPr id="32" name="Shape 22"/>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3"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4" name="Text 23"/>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5" name="Text 24"/>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i="1" dirty="0">
                <a:solidFill>
                  <a:schemeClr val="accent5"/>
                </a:solidFill>
              </a:rPr>
              <a:t>………………………</a:t>
            </a:r>
            <a:r>
              <a:rPr lang="en-US" sz="1700" i="1" dirty="0">
                <a:solidFill>
                  <a:schemeClr val="tx1"/>
                </a:solidFill>
              </a:rPr>
              <a:t>.</a:t>
            </a:r>
            <a:endParaRPr lang="en-US" sz="1700" dirty="0"/>
          </a:p>
        </p:txBody>
      </p:sp>
      <p:sp>
        <p:nvSpPr>
          <p:cNvPr id="36" name="Shape 25"/>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7"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8" name="Text 26"/>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39" name="Text 27"/>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i="1" dirty="0">
                <a:solidFill>
                  <a:schemeClr val="accent5"/>
                </a:solidFill>
              </a:rPr>
              <a:t>…………</a:t>
            </a:r>
            <a:r>
              <a:rPr lang="en-US" sz="1700" i="1" dirty="0">
                <a:solidFill>
                  <a:schemeClr val="tx1"/>
                </a:solidFill>
              </a:rPr>
              <a:t> vroeg </a:t>
            </a:r>
            <a:r>
              <a:rPr lang="en-US" sz="1700" i="1" dirty="0">
                <a:solidFill>
                  <a:schemeClr val="accent5"/>
                </a:solidFill>
              </a:rPr>
              <a:t>…………………………</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Au passé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la phrase au passé composé.</a:t>
            </a:r>
            <a:endParaRPr lang="en-US" sz="1700" dirty="0"/>
          </a:p>
        </p:txBody>
      </p:sp>
      <p:sp>
        <p:nvSpPr>
          <p:cNvPr id="9" name="Shape 5"/>
          <p:cNvSpPr/>
          <p:nvPr/>
        </p:nvSpPr>
        <p:spPr>
          <a:xfrm>
            <a:off x="548640" y="1969008"/>
            <a:ext cx="5408676" cy="899922"/>
          </a:xfrm>
          <a:prstGeom prst="roundRect">
            <a:avLst>
              <a:gd name="adj" fmla="val 10161"/>
            </a:avLst>
          </a:prstGeom>
          <a:solidFill>
            <a:schemeClr val="bg2"/>
          </a:solidFill>
          <a:ln w="9525">
            <a:solidFill>
              <a:srgbClr val="D5DCE6"/>
            </a:solidFill>
            <a:prstDash val="solid"/>
          </a:ln>
        </p:spPr>
      </p:sp>
      <p:pic>
        <p:nvPicPr>
          <p:cNvPr id="10" name="Image 1" descr="briefcase">    </p:cNvPr>
          <p:cNvPicPr>
            <a:picLocks noChangeAspect="1"/>
          </p:cNvPicPr>
          <p:nvPr/>
        </p:nvPicPr>
        <p:blipFill>
          <a:blip r:embed="rId2"/>
          <a:stretch>
            <a:fillRect/>
          </a:stretch>
        </p:blipFill>
        <p:spPr>
          <a:xfrm>
            <a:off x="640080" y="2023872"/>
            <a:ext cx="790194" cy="790194"/>
          </a:xfrm>
          <a:prstGeom prst="rect">
            <a:avLst/>
          </a:prstGeom>
        </p:spPr>
      </p:pic>
      <p:sp>
        <p:nvSpPr>
          <p:cNvPr id="11" name="Text 6"/>
          <p:cNvSpPr txBox="1"/>
          <p:nvPr/>
        </p:nvSpPr>
        <p:spPr>
          <a:xfrm>
            <a:off x="1540002"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1</a:t>
            </a:r>
            <a:r>
              <a:rPr lang="en-US" sz="1500" dirty="0">
                <a:solidFill>
                  <a:schemeClr val="accent5"/>
                </a:solidFill>
              </a:rPr>
              <a:t>  </a:t>
            </a:r>
            <a:r>
              <a:rPr lang="en-US" sz="1500" i="1" dirty="0">
                <a:solidFill>
                  <a:schemeClr val="accent5"/>
                </a:solidFill>
              </a:rPr>
              <a:t>Ik moet lang werken.</a:t>
            </a:r>
            <a:endParaRPr lang="en-US" sz="1500" dirty="0"/>
          </a:p>
        </p:txBody>
      </p:sp>
      <p:sp>
        <p:nvSpPr>
          <p:cNvPr id="12" name="Text 7"/>
          <p:cNvSpPr txBox="1"/>
          <p:nvPr/>
        </p:nvSpPr>
        <p:spPr>
          <a:xfrm>
            <a:off x="1540002"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lang </a:t>
            </a:r>
            <a:r>
              <a:rPr lang="en-US" sz="1700" b="1" i="1" dirty="0">
                <a:solidFill>
                  <a:schemeClr val="accent3"/>
                </a:solidFill>
              </a:rPr>
              <a:t>moeten werken</a:t>
            </a:r>
            <a:r>
              <a:rPr lang="en-US" sz="1700" i="1" dirty="0">
                <a:solidFill>
                  <a:schemeClr val="tx1"/>
                </a:solidFill>
              </a:rPr>
              <a:t>.</a:t>
            </a:r>
            <a:endParaRPr lang="en-US" sz="1700" dirty="0"/>
          </a:p>
        </p:txBody>
      </p:sp>
      <p:sp>
        <p:nvSpPr>
          <p:cNvPr id="13" name="Shape 8"/>
          <p:cNvSpPr/>
          <p:nvPr/>
        </p:nvSpPr>
        <p:spPr>
          <a:xfrm>
            <a:off x="548640" y="2960370"/>
            <a:ext cx="5408676" cy="899922"/>
          </a:xfrm>
          <a:prstGeom prst="roundRect">
            <a:avLst>
              <a:gd name="adj" fmla="val 10161"/>
            </a:avLst>
          </a:prstGeom>
          <a:solidFill>
            <a:srgbClr val="FFFFFF"/>
          </a:solidFill>
          <a:ln w="9525">
            <a:solidFill>
              <a:srgbClr val="D5DCE6"/>
            </a:solidFill>
            <a:prstDash val="solid"/>
          </a:ln>
        </p:spPr>
      </p:sp>
      <p:pic>
        <p:nvPicPr>
          <p:cNvPr id="14" name="Image 2" descr="no entry">    </p:cNvPr>
          <p:cNvPicPr>
            <a:picLocks noChangeAspect="1"/>
          </p:cNvPicPr>
          <p:nvPr/>
        </p:nvPicPr>
        <p:blipFill>
          <a:blip r:embed="rId3"/>
          <a:stretch>
            <a:fillRect/>
          </a:stretch>
        </p:blipFill>
        <p:spPr>
          <a:xfrm>
            <a:off x="640080" y="3015234"/>
            <a:ext cx="790194" cy="790194"/>
          </a:xfrm>
          <a:prstGeom prst="rect">
            <a:avLst/>
          </a:prstGeom>
        </p:spPr>
      </p:pic>
      <p:sp>
        <p:nvSpPr>
          <p:cNvPr id="15" name="Text 9"/>
          <p:cNvSpPr txBox="1"/>
          <p:nvPr/>
        </p:nvSpPr>
        <p:spPr>
          <a:xfrm>
            <a:off x="1540002"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2</a:t>
            </a:r>
            <a:r>
              <a:rPr lang="en-US" sz="1500" dirty="0">
                <a:solidFill>
                  <a:schemeClr val="accent5"/>
                </a:solidFill>
              </a:rPr>
              <a:t>  </a:t>
            </a:r>
            <a:r>
              <a:rPr lang="en-US" sz="1500" i="1" dirty="0">
                <a:solidFill>
                  <a:schemeClr val="accent5"/>
                </a:solidFill>
              </a:rPr>
              <a:t>We kunnen niet komen.</a:t>
            </a:r>
            <a:endParaRPr lang="en-US" sz="1500" dirty="0"/>
          </a:p>
        </p:txBody>
      </p:sp>
      <p:sp>
        <p:nvSpPr>
          <p:cNvPr id="16" name="Text 10"/>
          <p:cNvSpPr txBox="1"/>
          <p:nvPr/>
        </p:nvSpPr>
        <p:spPr>
          <a:xfrm>
            <a:off x="1540002"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We </a:t>
            </a:r>
            <a:r>
              <a:rPr lang="en-US" sz="1700" b="1" i="1" dirty="0">
                <a:solidFill>
                  <a:schemeClr val="accent3"/>
                </a:solidFill>
              </a:rPr>
              <a:t>hebben</a:t>
            </a:r>
            <a:r>
              <a:rPr lang="en-US" sz="1700" i="1" dirty="0">
                <a:solidFill>
                  <a:schemeClr val="tx1"/>
                </a:solidFill>
              </a:rPr>
              <a:t> niet </a:t>
            </a:r>
            <a:r>
              <a:rPr lang="en-US" sz="1700" b="1" i="1" dirty="0">
                <a:solidFill>
                  <a:schemeClr val="accent3"/>
                </a:solidFill>
              </a:rPr>
              <a:t>kunnen komen</a:t>
            </a:r>
            <a:r>
              <a:rPr lang="en-US" sz="1700" i="1" dirty="0">
                <a:solidFill>
                  <a:schemeClr val="tx1"/>
                </a:solidFill>
              </a:rPr>
              <a:t>.</a:t>
            </a:r>
            <a:endParaRPr lang="en-US" sz="1700" dirty="0"/>
          </a:p>
        </p:txBody>
      </p:sp>
      <p:sp>
        <p:nvSpPr>
          <p:cNvPr id="17" name="Shape 11"/>
          <p:cNvSpPr/>
          <p:nvPr/>
        </p:nvSpPr>
        <p:spPr>
          <a:xfrm>
            <a:off x="548640" y="3951732"/>
            <a:ext cx="5408676" cy="899922"/>
          </a:xfrm>
          <a:prstGeom prst="roundRect">
            <a:avLst>
              <a:gd name="adj" fmla="val 10161"/>
            </a:avLst>
          </a:prstGeom>
          <a:solidFill>
            <a:schemeClr val="bg2"/>
          </a:solidFill>
          <a:ln w="9525">
            <a:solidFill>
              <a:srgbClr val="D5DCE6"/>
            </a:solidFill>
            <a:prstDash val="solid"/>
          </a:ln>
        </p:spPr>
      </p:sp>
      <p:pic>
        <p:nvPicPr>
          <p:cNvPr id="18" name="Image 3" descr="person swimming">    </p:cNvPr>
          <p:cNvPicPr>
            <a:picLocks noChangeAspect="1"/>
          </p:cNvPicPr>
          <p:nvPr/>
        </p:nvPicPr>
        <p:blipFill>
          <a:blip r:embed="rId4"/>
          <a:stretch>
            <a:fillRect/>
          </a:stretch>
        </p:blipFill>
        <p:spPr>
          <a:xfrm>
            <a:off x="640080" y="4006596"/>
            <a:ext cx="790194" cy="790194"/>
          </a:xfrm>
          <a:prstGeom prst="rect">
            <a:avLst/>
          </a:prstGeom>
        </p:spPr>
      </p:pic>
      <p:sp>
        <p:nvSpPr>
          <p:cNvPr id="19" name="Text 12"/>
          <p:cNvSpPr txBox="1"/>
          <p:nvPr/>
        </p:nvSpPr>
        <p:spPr>
          <a:xfrm>
            <a:off x="1540002"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3</a:t>
            </a:r>
            <a:r>
              <a:rPr lang="en-US" sz="1500" dirty="0">
                <a:solidFill>
                  <a:schemeClr val="accent5"/>
                </a:solidFill>
              </a:rPr>
              <a:t>  </a:t>
            </a:r>
            <a:r>
              <a:rPr lang="en-US" sz="1500" i="1" dirty="0">
                <a:solidFill>
                  <a:schemeClr val="accent5"/>
                </a:solidFill>
              </a:rPr>
              <a:t>Ze gaat zwemmen.</a:t>
            </a:r>
            <a:endParaRPr lang="en-US" sz="1500" dirty="0"/>
          </a:p>
        </p:txBody>
      </p:sp>
      <p:sp>
        <p:nvSpPr>
          <p:cNvPr id="20" name="Text 13"/>
          <p:cNvSpPr txBox="1"/>
          <p:nvPr/>
        </p:nvSpPr>
        <p:spPr>
          <a:xfrm>
            <a:off x="1540002"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is gaan zwemmen</a:t>
            </a:r>
            <a:r>
              <a:rPr lang="en-US" sz="1700" i="1" dirty="0">
                <a:solidFill>
                  <a:schemeClr val="tx1"/>
                </a:solidFill>
              </a:rPr>
              <a:t>.</a:t>
            </a:r>
            <a:endParaRPr lang="en-US" sz="1700" dirty="0"/>
          </a:p>
        </p:txBody>
      </p:sp>
      <p:sp>
        <p:nvSpPr>
          <p:cNvPr id="21" name="Shape 14"/>
          <p:cNvSpPr/>
          <p:nvPr/>
        </p:nvSpPr>
        <p:spPr>
          <a:xfrm>
            <a:off x="548640" y="4943094"/>
            <a:ext cx="5408676" cy="899922"/>
          </a:xfrm>
          <a:prstGeom prst="roundRect">
            <a:avLst>
              <a:gd name="adj" fmla="val 10161"/>
            </a:avLst>
          </a:prstGeom>
          <a:solidFill>
            <a:srgbClr val="FFFFFF"/>
          </a:solidFill>
          <a:ln w="9525">
            <a:solidFill>
              <a:srgbClr val="D5DCE6"/>
            </a:solidFill>
            <a:prstDash val="solid"/>
          </a:ln>
        </p:spPr>
      </p:sp>
      <p:pic>
        <p:nvPicPr>
          <p:cNvPr id="22" name="Image 4" descr="bicycle">    </p:cNvPr>
          <p:cNvPicPr>
            <a:picLocks noChangeAspect="1"/>
          </p:cNvPicPr>
          <p:nvPr/>
        </p:nvPicPr>
        <p:blipFill>
          <a:blip r:embed="rId5"/>
          <a:stretch>
            <a:fillRect/>
          </a:stretch>
        </p:blipFill>
        <p:spPr>
          <a:xfrm>
            <a:off x="640080" y="4997958"/>
            <a:ext cx="790194" cy="790194"/>
          </a:xfrm>
          <a:prstGeom prst="rect">
            <a:avLst/>
          </a:prstGeom>
        </p:spPr>
      </p:pic>
      <p:sp>
        <p:nvSpPr>
          <p:cNvPr id="23" name="Text 15"/>
          <p:cNvSpPr txBox="1"/>
          <p:nvPr/>
        </p:nvSpPr>
        <p:spPr>
          <a:xfrm>
            <a:off x="1540002"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4</a:t>
            </a:r>
            <a:r>
              <a:rPr lang="en-US" sz="1500" dirty="0">
                <a:solidFill>
                  <a:schemeClr val="accent5"/>
                </a:solidFill>
              </a:rPr>
              <a:t>  </a:t>
            </a:r>
            <a:r>
              <a:rPr lang="en-US" sz="1500" i="1" dirty="0">
                <a:solidFill>
                  <a:schemeClr val="accent5"/>
                </a:solidFill>
              </a:rPr>
              <a:t>Ik laat mijn fiets repareren.</a:t>
            </a:r>
            <a:endParaRPr lang="en-US" sz="1500" dirty="0"/>
          </a:p>
        </p:txBody>
      </p:sp>
      <p:sp>
        <p:nvSpPr>
          <p:cNvPr id="24" name="Text 16"/>
          <p:cNvSpPr txBox="1"/>
          <p:nvPr/>
        </p:nvSpPr>
        <p:spPr>
          <a:xfrm>
            <a:off x="1540002"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mijn fiets </a:t>
            </a:r>
            <a:r>
              <a:rPr lang="en-US" sz="1700" b="1" i="1" dirty="0">
                <a:solidFill>
                  <a:schemeClr val="accent3"/>
                </a:solidFill>
              </a:rPr>
              <a:t>laten repareren</a:t>
            </a:r>
            <a:r>
              <a:rPr lang="en-US" sz="1700" i="1" dirty="0">
                <a:solidFill>
                  <a:schemeClr val="tx1"/>
                </a:solidFill>
              </a:rPr>
              <a:t>.</a:t>
            </a:r>
            <a:endParaRPr lang="en-US" sz="1700" dirty="0"/>
          </a:p>
        </p:txBody>
      </p:sp>
      <p:sp>
        <p:nvSpPr>
          <p:cNvPr id="25" name="Shape 17"/>
          <p:cNvSpPr/>
          <p:nvPr/>
        </p:nvSpPr>
        <p:spPr>
          <a:xfrm>
            <a:off x="6231636" y="1969008"/>
            <a:ext cx="5408676" cy="899922"/>
          </a:xfrm>
          <a:prstGeom prst="roundRect">
            <a:avLst>
              <a:gd name="adj" fmla="val 10161"/>
            </a:avLst>
          </a:prstGeom>
          <a:solidFill>
            <a:schemeClr val="bg2"/>
          </a:solidFill>
          <a:ln w="9525">
            <a:solidFill>
              <a:srgbClr val="D5DCE6"/>
            </a:solidFill>
            <a:prstDash val="solid"/>
          </a:ln>
        </p:spPr>
      </p:sp>
      <p:pic>
        <p:nvPicPr>
          <p:cNvPr id="26" name="Image 5" descr="telephone receiver">    </p:cNvPr>
          <p:cNvPicPr>
            <a:picLocks noChangeAspect="1"/>
          </p:cNvPicPr>
          <p:nvPr/>
        </p:nvPicPr>
        <p:blipFill>
          <a:blip r:embed="rId6"/>
          <a:stretch>
            <a:fillRect/>
          </a:stretch>
        </p:blipFill>
        <p:spPr>
          <a:xfrm>
            <a:off x="6323076" y="2023872"/>
            <a:ext cx="790194" cy="790194"/>
          </a:xfrm>
          <a:prstGeom prst="rect">
            <a:avLst/>
          </a:prstGeom>
        </p:spPr>
      </p:pic>
      <p:sp>
        <p:nvSpPr>
          <p:cNvPr id="27" name="Text 18"/>
          <p:cNvSpPr txBox="1"/>
          <p:nvPr/>
        </p:nvSpPr>
        <p:spPr>
          <a:xfrm>
            <a:off x="7222998" y="1987296"/>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5</a:t>
            </a:r>
            <a:r>
              <a:rPr lang="en-US" sz="1500" dirty="0">
                <a:solidFill>
                  <a:schemeClr val="accent5"/>
                </a:solidFill>
              </a:rPr>
              <a:t>  </a:t>
            </a:r>
            <a:r>
              <a:rPr lang="en-US" sz="1500" i="1" dirty="0">
                <a:solidFill>
                  <a:schemeClr val="accent5"/>
                </a:solidFill>
              </a:rPr>
              <a:t>Hij zit te bellen.</a:t>
            </a:r>
            <a:endParaRPr lang="en-US" sz="1500" dirty="0"/>
          </a:p>
        </p:txBody>
      </p:sp>
      <p:sp>
        <p:nvSpPr>
          <p:cNvPr id="28" name="Text 19"/>
          <p:cNvSpPr txBox="1"/>
          <p:nvPr/>
        </p:nvSpPr>
        <p:spPr>
          <a:xfrm>
            <a:off x="7222998" y="2392261"/>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Hij </a:t>
            </a:r>
            <a:r>
              <a:rPr lang="en-US" sz="1700" b="1" i="1" dirty="0">
                <a:solidFill>
                  <a:schemeClr val="accent3"/>
                </a:solidFill>
              </a:rPr>
              <a:t>heeft zitten bellen</a:t>
            </a:r>
            <a:r>
              <a:rPr lang="en-US" sz="1700" i="1" dirty="0">
                <a:solidFill>
                  <a:schemeClr val="tx1"/>
                </a:solidFill>
              </a:rPr>
              <a:t>.</a:t>
            </a:r>
            <a:endParaRPr lang="en-US" sz="1700" dirty="0"/>
          </a:p>
        </p:txBody>
      </p:sp>
      <p:sp>
        <p:nvSpPr>
          <p:cNvPr id="29" name="Shape 20"/>
          <p:cNvSpPr/>
          <p:nvPr/>
        </p:nvSpPr>
        <p:spPr>
          <a:xfrm>
            <a:off x="6231636" y="2960370"/>
            <a:ext cx="5408676" cy="899922"/>
          </a:xfrm>
          <a:prstGeom prst="roundRect">
            <a:avLst>
              <a:gd name="adj" fmla="val 10161"/>
            </a:avLst>
          </a:prstGeom>
          <a:solidFill>
            <a:srgbClr val="FFFFFF"/>
          </a:solidFill>
          <a:ln w="9525">
            <a:solidFill>
              <a:srgbClr val="D5DCE6"/>
            </a:solidFill>
            <a:prstDash val="solid"/>
          </a:ln>
        </p:spPr>
      </p:sp>
      <p:pic>
        <p:nvPicPr>
          <p:cNvPr id="30" name="Image 6" descr="ear">    </p:cNvPr>
          <p:cNvPicPr>
            <a:picLocks noChangeAspect="1"/>
          </p:cNvPicPr>
          <p:nvPr/>
        </p:nvPicPr>
        <p:blipFill>
          <a:blip r:embed="rId7"/>
          <a:stretch>
            <a:fillRect/>
          </a:stretch>
        </p:blipFill>
        <p:spPr>
          <a:xfrm>
            <a:off x="6323076" y="3015234"/>
            <a:ext cx="790194" cy="790194"/>
          </a:xfrm>
          <a:prstGeom prst="rect">
            <a:avLst/>
          </a:prstGeom>
        </p:spPr>
      </p:pic>
      <p:sp>
        <p:nvSpPr>
          <p:cNvPr id="31" name="Text 21"/>
          <p:cNvSpPr txBox="1"/>
          <p:nvPr/>
        </p:nvSpPr>
        <p:spPr>
          <a:xfrm>
            <a:off x="7222998" y="2978658"/>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6</a:t>
            </a:r>
            <a:r>
              <a:rPr lang="en-US" sz="1500" dirty="0">
                <a:solidFill>
                  <a:schemeClr val="accent5"/>
                </a:solidFill>
              </a:rPr>
              <a:t>  </a:t>
            </a:r>
            <a:r>
              <a:rPr lang="en-US" sz="1500" i="1" dirty="0">
                <a:solidFill>
                  <a:schemeClr val="accent5"/>
                </a:solidFill>
              </a:rPr>
              <a:t>Ik hoor de kinderen lachen.</a:t>
            </a:r>
            <a:endParaRPr lang="en-US" sz="1500" dirty="0"/>
          </a:p>
        </p:txBody>
      </p:sp>
      <p:sp>
        <p:nvSpPr>
          <p:cNvPr id="32" name="Text 22"/>
          <p:cNvSpPr txBox="1"/>
          <p:nvPr/>
        </p:nvSpPr>
        <p:spPr>
          <a:xfrm>
            <a:off x="7222998" y="3383623"/>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Ik </a:t>
            </a:r>
            <a:r>
              <a:rPr lang="en-US" sz="1700" b="1" i="1" dirty="0">
                <a:solidFill>
                  <a:schemeClr val="accent3"/>
                </a:solidFill>
              </a:rPr>
              <a:t>heb</a:t>
            </a:r>
            <a:r>
              <a:rPr lang="en-US" sz="1700" i="1" dirty="0">
                <a:solidFill>
                  <a:schemeClr val="tx1"/>
                </a:solidFill>
              </a:rPr>
              <a:t> de kinderen </a:t>
            </a:r>
            <a:r>
              <a:rPr lang="en-US" sz="1700" b="1" i="1" dirty="0">
                <a:solidFill>
                  <a:schemeClr val="accent3"/>
                </a:solidFill>
              </a:rPr>
              <a:t>horen lachen</a:t>
            </a:r>
            <a:r>
              <a:rPr lang="en-US" sz="1700" i="1" dirty="0">
                <a:solidFill>
                  <a:schemeClr val="tx1"/>
                </a:solidFill>
              </a:rPr>
              <a:t>.</a:t>
            </a:r>
            <a:endParaRPr lang="en-US" sz="1700" dirty="0"/>
          </a:p>
        </p:txBody>
      </p:sp>
      <p:sp>
        <p:nvSpPr>
          <p:cNvPr id="33" name="Shape 23"/>
          <p:cNvSpPr/>
          <p:nvPr/>
        </p:nvSpPr>
        <p:spPr>
          <a:xfrm>
            <a:off x="6231636" y="3951732"/>
            <a:ext cx="5408676" cy="899922"/>
          </a:xfrm>
          <a:prstGeom prst="roundRect">
            <a:avLst>
              <a:gd name="adj" fmla="val 10161"/>
            </a:avLst>
          </a:prstGeom>
          <a:solidFill>
            <a:schemeClr val="bg2"/>
          </a:solidFill>
          <a:ln w="9525">
            <a:solidFill>
              <a:srgbClr val="D5DCE6"/>
            </a:solidFill>
            <a:prstDash val="solid"/>
          </a:ln>
        </p:spPr>
      </p:sp>
      <p:pic>
        <p:nvPicPr>
          <p:cNvPr id="34" name="Image 7" descr="fork and knife with plate">    </p:cNvPr>
          <p:cNvPicPr>
            <a:picLocks noChangeAspect="1"/>
          </p:cNvPicPr>
          <p:nvPr/>
        </p:nvPicPr>
        <p:blipFill>
          <a:blip r:embed="rId8"/>
          <a:stretch>
            <a:fillRect/>
          </a:stretch>
        </p:blipFill>
        <p:spPr>
          <a:xfrm>
            <a:off x="6323076" y="4006596"/>
            <a:ext cx="790194" cy="790194"/>
          </a:xfrm>
          <a:prstGeom prst="rect">
            <a:avLst/>
          </a:prstGeom>
        </p:spPr>
      </p:pic>
      <p:sp>
        <p:nvSpPr>
          <p:cNvPr id="35" name="Text 24"/>
          <p:cNvSpPr txBox="1"/>
          <p:nvPr/>
        </p:nvSpPr>
        <p:spPr>
          <a:xfrm>
            <a:off x="7222998" y="3970020"/>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7</a:t>
            </a:r>
            <a:r>
              <a:rPr lang="en-US" sz="1500" dirty="0">
                <a:solidFill>
                  <a:schemeClr val="accent5"/>
                </a:solidFill>
              </a:rPr>
              <a:t>  </a:t>
            </a:r>
            <a:r>
              <a:rPr lang="en-US" sz="1500" i="1" dirty="0">
                <a:solidFill>
                  <a:schemeClr val="accent5"/>
                </a:solidFill>
              </a:rPr>
              <a:t>Ze komen eten.</a:t>
            </a:r>
            <a:endParaRPr lang="en-US" sz="1500" dirty="0"/>
          </a:p>
        </p:txBody>
      </p:sp>
      <p:sp>
        <p:nvSpPr>
          <p:cNvPr id="36" name="Text 25"/>
          <p:cNvSpPr txBox="1"/>
          <p:nvPr/>
        </p:nvSpPr>
        <p:spPr>
          <a:xfrm>
            <a:off x="7222998" y="4374985"/>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Ze </a:t>
            </a:r>
            <a:r>
              <a:rPr lang="en-US" sz="1700" b="1" i="1" dirty="0">
                <a:solidFill>
                  <a:schemeClr val="accent3"/>
                </a:solidFill>
              </a:rPr>
              <a:t>zijn komen eten</a:t>
            </a:r>
            <a:r>
              <a:rPr lang="en-US" sz="1700" i="1" dirty="0">
                <a:solidFill>
                  <a:schemeClr val="tx1"/>
                </a:solidFill>
              </a:rPr>
              <a:t>.</a:t>
            </a:r>
            <a:endParaRPr lang="en-US" sz="1700" dirty="0"/>
          </a:p>
        </p:txBody>
      </p:sp>
      <p:sp>
        <p:nvSpPr>
          <p:cNvPr id="37" name="Shape 26"/>
          <p:cNvSpPr/>
          <p:nvPr/>
        </p:nvSpPr>
        <p:spPr>
          <a:xfrm>
            <a:off x="6231636" y="4943094"/>
            <a:ext cx="5408676" cy="899922"/>
          </a:xfrm>
          <a:prstGeom prst="roundRect">
            <a:avLst>
              <a:gd name="adj" fmla="val 10161"/>
            </a:avLst>
          </a:prstGeom>
          <a:solidFill>
            <a:srgbClr val="FFFFFF"/>
          </a:solidFill>
          <a:ln w="9525">
            <a:solidFill>
              <a:srgbClr val="D5DCE6"/>
            </a:solidFill>
            <a:prstDash val="solid"/>
          </a:ln>
        </p:spPr>
      </p:sp>
      <p:pic>
        <p:nvPicPr>
          <p:cNvPr id="38" name="Image 8" descr="door">    </p:cNvPr>
          <p:cNvPicPr>
            <a:picLocks noChangeAspect="1"/>
          </p:cNvPicPr>
          <p:nvPr/>
        </p:nvPicPr>
        <p:blipFill>
          <a:blip r:embed="rId9"/>
          <a:stretch>
            <a:fillRect/>
          </a:stretch>
        </p:blipFill>
        <p:spPr>
          <a:xfrm>
            <a:off x="6323076" y="4997958"/>
            <a:ext cx="790194" cy="790194"/>
          </a:xfrm>
          <a:prstGeom prst="rect">
            <a:avLst/>
          </a:prstGeom>
        </p:spPr>
      </p:pic>
      <p:sp>
        <p:nvSpPr>
          <p:cNvPr id="39" name="Text 27"/>
          <p:cNvSpPr txBox="1"/>
          <p:nvPr/>
        </p:nvSpPr>
        <p:spPr>
          <a:xfrm>
            <a:off x="7222998" y="4961382"/>
            <a:ext cx="4325874" cy="404965"/>
          </a:xfrm>
          <a:prstGeom prst="rect">
            <a:avLst/>
          </a:prstGeom>
          <a:noFill/>
          <a:ln/>
        </p:spPr>
        <p:txBody>
          <a:bodyPr wrap="square" lIns="0" tIns="0" rIns="0" bIns="0" rtlCol="0" anchor="ctr"/>
          <a:lstStyle/>
          <a:p>
            <a:pPr algn="l" indent="0" marL="0">
              <a:buNone/>
            </a:pPr>
            <a:r>
              <a:rPr lang="en-US" sz="1500" b="1" dirty="0">
                <a:solidFill>
                  <a:schemeClr val="accent5"/>
                </a:solidFill>
              </a:rPr>
              <a:t>8</a:t>
            </a:r>
            <a:r>
              <a:rPr lang="en-US" sz="1500" dirty="0">
                <a:solidFill>
                  <a:schemeClr val="accent5"/>
                </a:solidFill>
              </a:rPr>
              <a:t>  </a:t>
            </a:r>
            <a:r>
              <a:rPr lang="en-US" sz="1500" i="1" dirty="0">
                <a:solidFill>
                  <a:schemeClr val="accent5"/>
                </a:solidFill>
              </a:rPr>
              <a:t>Je mag vroeg vertrekken.</a:t>
            </a:r>
            <a:endParaRPr lang="en-US" sz="1500" dirty="0"/>
          </a:p>
        </p:txBody>
      </p:sp>
      <p:sp>
        <p:nvSpPr>
          <p:cNvPr id="40" name="Text 28"/>
          <p:cNvSpPr txBox="1"/>
          <p:nvPr/>
        </p:nvSpPr>
        <p:spPr>
          <a:xfrm>
            <a:off x="7222998" y="5366347"/>
            <a:ext cx="4325874" cy="494957"/>
          </a:xfrm>
          <a:prstGeom prst="rect">
            <a:avLst/>
          </a:prstGeom>
          <a:noFill/>
          <a:ln/>
        </p:spPr>
        <p:txBody>
          <a:bodyPr wrap="square" lIns="0" tIns="0" rIns="0" bIns="0" rtlCol="0" anchor="ctr"/>
          <a:lstStyle/>
          <a:p>
            <a:pPr algn="l" indent="0" marL="0">
              <a:buNone/>
            </a:pPr>
            <a:r>
              <a:rPr lang="en-US" sz="1700" i="1" dirty="0">
                <a:solidFill>
                  <a:schemeClr val="tx1"/>
                </a:solidFill>
              </a:rPr>
              <a:t>Je </a:t>
            </a:r>
            <a:r>
              <a:rPr lang="en-US" sz="1700" b="1" i="1" dirty="0">
                <a:solidFill>
                  <a:schemeClr val="accent3"/>
                </a:solidFill>
              </a:rPr>
              <a:t>hebt</a:t>
            </a:r>
            <a:r>
              <a:rPr lang="en-US" sz="1700" i="1" dirty="0">
                <a:solidFill>
                  <a:schemeClr val="tx1"/>
                </a:solidFill>
              </a:rPr>
              <a:t> vroeg </a:t>
            </a:r>
            <a:r>
              <a:rPr lang="en-US" sz="1700" b="1" i="1" dirty="0">
                <a:solidFill>
                  <a:schemeClr val="accent3"/>
                </a:solidFill>
              </a:rPr>
              <a:t>mogen vertrekken</a:t>
            </a:r>
            <a:r>
              <a:rPr lang="en-US" sz="1700" i="1"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i="1" dirty="0">
                <a:solidFill>
                  <a:schemeClr val="accent5"/>
                </a:solidFill>
              </a:rPr>
              <a:t>…………</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i="1" dirty="0">
                <a:solidFill>
                  <a:schemeClr val="accent5"/>
                </a:solidFill>
              </a:rPr>
              <a:t>…………</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i="1" dirty="0">
                <a:solidFill>
                  <a:schemeClr val="accent5"/>
                </a:solidFill>
              </a:rPr>
              <a:t>…………</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i="1" dirty="0">
                <a:solidFill>
                  <a:schemeClr val="accent5"/>
                </a:solidFill>
              </a:rPr>
              <a:t>…………</a:t>
            </a:r>
            <a:r>
              <a:rPr lang="en-US" sz="2100" i="1" dirty="0">
                <a:solidFill>
                  <a:schemeClr val="tx1"/>
                </a:solidFill>
              </a:rPr>
              <a:t> haar haar laten knippen.</a:t>
            </a:r>
            <a:endParaRPr lang="en-US" sz="21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i="1" dirty="0">
                <a:solidFill>
                  <a:schemeClr val="accent5"/>
                </a:solidFill>
              </a:rPr>
              <a:t>…………</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i="1" dirty="0">
                <a:solidFill>
                  <a:schemeClr val="accent5"/>
                </a:solidFill>
              </a:rPr>
              <a:t>…………</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i="1" dirty="0">
                <a:solidFill>
                  <a:schemeClr val="accent5"/>
                </a:solidFill>
              </a:rPr>
              <a: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i="1" dirty="0">
                <a:solidFill>
                  <a:schemeClr val="accent5"/>
                </a:solidFill>
              </a:rPr>
              <a:t>…………</a:t>
            </a:r>
            <a:r>
              <a:rPr lang="en-US" sz="2100" i="1" dirty="0">
                <a:solidFill>
                  <a:schemeClr val="tx1"/>
                </a:solidFill>
              </a:rPr>
              <a:t> naar huis moeten 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forme de </a:t>
            </a:r>
            <a:r>
              <a:rPr lang="en-US" sz="1700" i="1" dirty="0">
                <a:solidFill>
                  <a:schemeClr val="accent5"/>
                </a:solidFill>
              </a:rPr>
              <a:t>hebben</a:t>
            </a:r>
            <a:r>
              <a:rPr lang="en-US" sz="1700" i="1" dirty="0">
                <a:solidFill>
                  <a:schemeClr val="accent5"/>
                </a:solidFill>
              </a:rPr>
              <a:t> ou </a:t>
            </a:r>
            <a:r>
              <a:rPr lang="en-US" sz="1700" i="1" dirty="0">
                <a:solidFill>
                  <a:schemeClr val="accent5"/>
                </a:solidFill>
              </a:rPr>
              <a:t>zijn</a:t>
            </a:r>
            <a:r>
              <a:rPr lang="en-US" sz="1700" i="1" dirty="0">
                <a:solidFill>
                  <a:schemeClr val="accent5"/>
                </a:solidFill>
              </a:rPr>
              <a:t>. Regardez le premier verbe du train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1  </a:t>
            </a:r>
            <a:r>
              <a:rPr lang="en-US" sz="2100" i="1" dirty="0">
                <a:solidFill>
                  <a:schemeClr val="tx1"/>
                </a:solidFill>
              </a:rPr>
              <a:t>Ik </a:t>
            </a:r>
            <a:r>
              <a:rPr lang="en-US" sz="2100" b="1" i="1" dirty="0">
                <a:solidFill>
                  <a:schemeClr val="accent3"/>
                </a:solidFill>
              </a:rPr>
              <a:t>ben</a:t>
            </a:r>
            <a:r>
              <a:rPr lang="en-US" sz="2100" i="1" dirty="0">
                <a:solidFill>
                  <a:schemeClr val="tx1"/>
                </a:solidFill>
              </a:rPr>
              <a:t> gaan wandelen.</a:t>
            </a:r>
            <a:endParaRPr lang="en-US" sz="2100" dirty="0"/>
          </a:p>
          <a:p>
            <a:pPr indent="0" marL="0">
              <a:spcAft>
                <a:spcPts val="2200"/>
              </a:spcAft>
              <a:buNone/>
            </a:pPr>
            <a:r>
              <a:rPr lang="en-US" sz="2100" b="1" dirty="0">
                <a:solidFill>
                  <a:schemeClr val="tx2"/>
                </a:solidFill>
              </a:rPr>
              <a:t>2  </a:t>
            </a:r>
            <a:r>
              <a:rPr lang="en-US" sz="2100" i="1" dirty="0">
                <a:solidFill>
                  <a:schemeClr val="tx1"/>
                </a:solidFill>
              </a:rPr>
              <a:t>We </a:t>
            </a:r>
            <a:r>
              <a:rPr lang="en-US" sz="2100" b="1" i="1" dirty="0">
                <a:solidFill>
                  <a:schemeClr val="accent3"/>
                </a:solidFill>
              </a:rPr>
              <a:t>hebben</a:t>
            </a:r>
            <a:r>
              <a:rPr lang="en-US" sz="2100" i="1" dirty="0">
                <a:solidFill>
                  <a:schemeClr val="tx1"/>
                </a:solidFill>
              </a:rPr>
              <a:t> lang moeten wachten.</a:t>
            </a:r>
            <a:endParaRPr lang="en-US" sz="2100" dirty="0"/>
          </a:p>
          <a:p>
            <a:pPr indent="0" marL="0">
              <a:spcAft>
                <a:spcPts val="2200"/>
              </a:spcAft>
              <a:buNone/>
            </a:pPr>
            <a:r>
              <a:rPr lang="en-US" sz="2100" b="1" dirty="0">
                <a:solidFill>
                  <a:schemeClr val="tx2"/>
                </a:solidFill>
              </a:rPr>
              <a:t>3  </a:t>
            </a:r>
            <a:r>
              <a:rPr lang="en-US" sz="2100" i="1" dirty="0">
                <a:solidFill>
                  <a:schemeClr val="tx1"/>
                </a:solidFill>
              </a:rPr>
              <a:t>Hij </a:t>
            </a:r>
            <a:r>
              <a:rPr lang="en-US" sz="2100" b="1" i="1" dirty="0">
                <a:solidFill>
                  <a:schemeClr val="accent3"/>
                </a:solidFill>
              </a:rPr>
              <a:t>is</a:t>
            </a:r>
            <a:r>
              <a:rPr lang="en-US" sz="2100" i="1" dirty="0">
                <a:solidFill>
                  <a:schemeClr val="tx1"/>
                </a:solidFill>
              </a:rPr>
              <a:t> blijven slapen.</a:t>
            </a:r>
            <a:endParaRPr lang="en-US" sz="2100" dirty="0"/>
          </a:p>
          <a:p>
            <a:pPr indent="0" marL="0">
              <a:spcAft>
                <a:spcPts val="2200"/>
              </a:spcAft>
              <a:buNone/>
            </a:pPr>
            <a:r>
              <a:rPr lang="en-US" sz="2100" b="1" dirty="0">
                <a:solidFill>
                  <a:schemeClr val="tx2"/>
                </a:solidFill>
              </a:rPr>
              <a:t>4  </a:t>
            </a:r>
            <a:r>
              <a:rPr lang="en-US" sz="2100" i="1" dirty="0">
                <a:solidFill>
                  <a:schemeClr val="tx1"/>
                </a:solidFill>
              </a:rPr>
              <a:t>Ze </a:t>
            </a:r>
            <a:r>
              <a:rPr lang="en-US" sz="2100" b="1" i="1" dirty="0">
                <a:solidFill>
                  <a:schemeClr val="accent3"/>
                </a:solidFill>
              </a:rPr>
              <a:t>heeft</a:t>
            </a:r>
            <a:r>
              <a:rPr lang="en-US" sz="2100" i="1" dirty="0">
                <a:solidFill>
                  <a:schemeClr val="tx1"/>
                </a:solidFill>
              </a:rPr>
              <a:t> haar haar laten knippen.</a:t>
            </a:r>
            <a:endParaRPr lang="en-US" sz="21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2100" b="1" dirty="0">
                <a:solidFill>
                  <a:schemeClr val="tx2"/>
                </a:solidFill>
              </a:rPr>
              <a:t>5  </a:t>
            </a:r>
            <a:r>
              <a:rPr lang="en-US" sz="2100" i="1" dirty="0">
                <a:solidFill>
                  <a:schemeClr val="tx1"/>
                </a:solidFill>
              </a:rPr>
              <a:t>Jullie </a:t>
            </a:r>
            <a:r>
              <a:rPr lang="en-US" sz="2100" b="1" i="1" dirty="0">
                <a:solidFill>
                  <a:schemeClr val="accent3"/>
                </a:solidFill>
              </a:rPr>
              <a:t>zijn</a:t>
            </a:r>
            <a:r>
              <a:rPr lang="en-US" sz="2100" i="1" dirty="0">
                <a:solidFill>
                  <a:schemeClr val="tx1"/>
                </a:solidFill>
              </a:rPr>
              <a:t> komen helpen.</a:t>
            </a:r>
            <a:endParaRPr lang="en-US" sz="2100" dirty="0"/>
          </a:p>
          <a:p>
            <a:pPr indent="0" marL="0">
              <a:spcAft>
                <a:spcPts val="2200"/>
              </a:spcAft>
              <a:buNone/>
            </a:pPr>
            <a:r>
              <a:rPr lang="en-US" sz="2100" b="1" dirty="0">
                <a:solidFill>
                  <a:schemeClr val="tx2"/>
                </a:solidFill>
              </a:rPr>
              <a:t>6  </a:t>
            </a:r>
            <a:r>
              <a:rPr lang="en-US" sz="2100" i="1" dirty="0">
                <a:solidFill>
                  <a:schemeClr val="tx1"/>
                </a:solidFill>
              </a:rPr>
              <a:t>Ik </a:t>
            </a:r>
            <a:r>
              <a:rPr lang="en-US" sz="2100" b="1" i="1" dirty="0">
                <a:solidFill>
                  <a:schemeClr val="accent3"/>
                </a:solidFill>
              </a:rPr>
              <a:t>heb</a:t>
            </a:r>
            <a:r>
              <a:rPr lang="en-US" sz="2100" i="1" dirty="0">
                <a:solidFill>
                  <a:schemeClr val="tx1"/>
                </a:solidFill>
              </a:rPr>
              <a:t> een uur zitten wachten.</a:t>
            </a:r>
            <a:endParaRPr lang="en-US" sz="2100" dirty="0"/>
          </a:p>
          <a:p>
            <a:pPr indent="0" marL="0">
              <a:spcAft>
                <a:spcPts val="2200"/>
              </a:spcAft>
              <a:buNone/>
            </a:pPr>
            <a:r>
              <a:rPr lang="en-US" sz="2100" b="1" dirty="0">
                <a:solidFill>
                  <a:schemeClr val="tx2"/>
                </a:solidFill>
              </a:rPr>
              <a:t>7  </a:t>
            </a:r>
            <a:r>
              <a:rPr lang="en-US" sz="2100" i="1" dirty="0">
                <a:solidFill>
                  <a:schemeClr val="tx1"/>
                </a:solidFill>
              </a:rPr>
              <a:t>Ze </a:t>
            </a:r>
            <a:r>
              <a:rPr lang="en-US" sz="2100" b="1" i="1" dirty="0">
                <a:solidFill>
                  <a:schemeClr val="accent3"/>
                </a:solidFill>
              </a:rPr>
              <a:t>heeft</a:t>
            </a:r>
            <a:r>
              <a:rPr lang="en-US" sz="2100" i="1" dirty="0">
                <a:solidFill>
                  <a:schemeClr val="tx1"/>
                </a:solidFill>
              </a:rPr>
              <a:t> niet kunnen slapen.</a:t>
            </a:r>
            <a:endParaRPr lang="en-US" sz="2100" dirty="0"/>
          </a:p>
          <a:p>
            <a:pPr indent="0" marL="0">
              <a:spcAft>
                <a:spcPts val="2200"/>
              </a:spcAft>
              <a:buNone/>
            </a:pPr>
            <a:r>
              <a:rPr lang="en-US" sz="2100" b="1" dirty="0">
                <a:solidFill>
                  <a:schemeClr val="tx2"/>
                </a:solidFill>
              </a:rPr>
              <a:t>8  </a:t>
            </a:r>
            <a:r>
              <a:rPr lang="en-US" sz="2100" i="1" dirty="0">
                <a:solidFill>
                  <a:schemeClr val="tx1"/>
                </a:solidFill>
              </a:rPr>
              <a:t>Ik </a:t>
            </a:r>
            <a:r>
              <a:rPr lang="en-US" sz="2100" b="1" i="1" dirty="0">
                <a:solidFill>
                  <a:schemeClr val="accent3"/>
                </a:solidFill>
              </a:rPr>
              <a:t>heb</a:t>
            </a:r>
            <a:r>
              <a:rPr lang="en-US" sz="2100" i="1" dirty="0">
                <a:solidFill>
                  <a:schemeClr val="tx1"/>
                </a:solidFill>
              </a:rPr>
              <a:t> naar huis moeten gaan.</a:t>
            </a:r>
            <a:endParaRPr lang="en-US" sz="21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7 : </a:t>
            </a:r>
            <a:r>
              <a:rPr lang="en-US" sz="1400" i="1" dirty="0">
                <a:solidFill>
                  <a:schemeClr val="accent5"/>
                </a:solidFill>
              </a:rPr>
              <a:t>ze</a:t>
            </a:r>
            <a:r>
              <a:rPr lang="en-US" sz="1400" i="1" dirty="0">
                <a:solidFill>
                  <a:schemeClr val="accent5"/>
                </a:solidFill>
              </a:rPr>
              <a:t> pluriel → </a:t>
            </a:r>
            <a:r>
              <a:rPr lang="en-US" sz="1400" i="1" dirty="0">
                <a:solidFill>
                  <a:schemeClr val="accent5"/>
                </a:solidFill>
              </a:rPr>
              <a:t>hebben</a:t>
            </a:r>
            <a:r>
              <a:rPr lang="en-US" sz="1400" i="1" dirty="0">
                <a:solidFill>
                  <a:schemeClr val="accent5"/>
                </a:solidFill>
              </a:rPr>
              <a:t>. N° 8 : </a:t>
            </a:r>
            <a:r>
              <a:rPr lang="en-US" sz="1400" i="1" dirty="0">
                <a:solidFill>
                  <a:schemeClr val="accent5"/>
                </a:solidFill>
              </a:rPr>
              <a:t>moeten</a:t>
            </a:r>
            <a:r>
              <a:rPr lang="en-US" sz="1400" i="1" dirty="0">
                <a:solidFill>
                  <a:schemeClr val="accent5"/>
                </a:solidFill>
              </a:rPr>
              <a:t> décide → </a:t>
            </a:r>
            <a:r>
              <a:rPr lang="en-US" sz="1400" i="1" dirty="0">
                <a:solidFill>
                  <a:schemeClr val="accent5"/>
                </a:solidFill>
              </a:rPr>
              <a:t>heb</a:t>
            </a:r>
            <a:r>
              <a:rPr lang="en-US" sz="1400" i="1" dirty="0">
                <a:solidFill>
                  <a:schemeClr val="accent5"/>
                </a:solidFill>
              </a:rPr>
              <a:t> (</a:t>
            </a:r>
            <a:r>
              <a:rPr lang="en-US" sz="1400" i="1" dirty="0">
                <a:solidFill>
                  <a:schemeClr val="accent5"/>
                </a:solidFill>
              </a:rPr>
              <a:t>ben</a:t>
            </a:r>
            <a:r>
              <a:rPr lang="en-US" sz="1400" i="1" dirty="0">
                <a:solidFill>
                  <a:schemeClr val="accent5"/>
                </a:solidFill>
              </a:rPr>
              <a:t> est aussi correct en Belgique).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8" name="Text 4"/>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dirty="0">
                <a:solidFill>
                  <a:schemeClr val="tx1"/>
                </a:solidFill>
              </a:rPr>
              <a:t>gekund</a:t>
            </a:r>
            <a:r>
              <a:rPr lang="en-US" sz="1900" i="1" dirty="0">
                <a:solidFill>
                  <a:schemeClr val="tx1"/>
                </a:solidFill>
              </a:rPr>
              <a:t> / </a:t>
            </a:r>
            <a:r>
              <a:rPr lang="en-US" sz="1900" i="1" dirty="0">
                <a:solidFill>
                  <a:schemeClr val="tx1"/>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i="1" dirty="0">
                <a:solidFill>
                  <a:schemeClr val="tx1"/>
                </a:solidFill>
              </a:rPr>
              <a:t>gewild</a:t>
            </a:r>
            <a:r>
              <a:rPr lang="en-US" sz="1900" i="1" dirty="0">
                <a:solidFill>
                  <a:schemeClr val="tx1"/>
                </a:solidFill>
              </a:rPr>
              <a:t> / </a:t>
            </a:r>
            <a:r>
              <a:rPr lang="en-US" sz="1900" i="1" dirty="0">
                <a:solidFill>
                  <a:schemeClr val="tx1"/>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i="1" dirty="0">
                <a:solidFill>
                  <a:schemeClr val="tx1"/>
                </a:solidFill>
              </a:rPr>
              <a:t>geprobeerd</a:t>
            </a:r>
            <a:r>
              <a:rPr lang="en-US" sz="1900" i="1" dirty="0">
                <a:solidFill>
                  <a:schemeClr val="tx1"/>
                </a:solidFill>
              </a:rPr>
              <a:t> / </a:t>
            </a:r>
            <a:r>
              <a:rPr lang="en-US" sz="1900" i="1" dirty="0">
                <a:solidFill>
                  <a:schemeClr val="tx1"/>
                </a:solidFill>
              </a:rPr>
              <a:t>proberen</a:t>
            </a:r>
            <a:r>
              <a:rPr lang="en-US" sz="1900" i="1" dirty="0">
                <a:solidFill>
                  <a:schemeClr val="tx1"/>
                </a:solidFill>
              </a:rPr>
              <a:t> je te bellen.</a:t>
            </a:r>
            <a:endParaRPr lang="en-US" sz="1900" dirty="0"/>
          </a:p>
        </p:txBody>
      </p:sp>
      <p:sp>
        <p:nvSpPr>
          <p:cNvPr id="9" name="Text 5"/>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dirty="0">
                <a:solidFill>
                  <a:schemeClr val="tx1"/>
                </a:solidFill>
              </a:rPr>
              <a:t>gezeten</a:t>
            </a:r>
            <a:r>
              <a:rPr lang="en-US" sz="1900" i="1" dirty="0">
                <a:solidFill>
                  <a:schemeClr val="tx1"/>
                </a:solidFill>
              </a:rPr>
              <a:t> / </a:t>
            </a:r>
            <a:r>
              <a:rPr lang="en-US" sz="1900" i="1" dirty="0">
                <a:solidFill>
                  <a:schemeClr val="tx1"/>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dirty="0">
                <a:solidFill>
                  <a:schemeClr val="tx1"/>
                </a:solidFill>
              </a:rPr>
              <a:t>gelaten</a:t>
            </a:r>
            <a:r>
              <a:rPr lang="en-US" sz="1900" i="1" dirty="0">
                <a:solidFill>
                  <a:schemeClr val="tx1"/>
                </a:solidFill>
              </a:rPr>
              <a:t> / </a:t>
            </a:r>
            <a:r>
              <a:rPr lang="en-US" sz="1900" i="1" dirty="0">
                <a:solidFill>
                  <a:schemeClr val="tx1"/>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dirty="0">
                <a:solidFill>
                  <a:schemeClr val="tx1"/>
                </a:solidFill>
              </a:rPr>
              <a:t>gezien</a:t>
            </a:r>
            <a:r>
              <a:rPr lang="en-US" sz="1900" i="1" dirty="0">
                <a:solidFill>
                  <a:schemeClr val="tx1"/>
                </a:solidFill>
              </a:rPr>
              <a:t> / </a:t>
            </a:r>
            <a:r>
              <a:rPr lang="en-US" sz="1900" i="1" dirty="0">
                <a:solidFill>
                  <a:schemeClr val="tx1"/>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i="1" dirty="0">
                <a:solidFill>
                  <a:schemeClr val="tx1"/>
                </a:solidFill>
              </a:rPr>
              <a:t>beloofd</a:t>
            </a:r>
            <a:r>
              <a:rPr lang="en-US" sz="1900" i="1" dirty="0">
                <a:solidFill>
                  <a:schemeClr val="tx1"/>
                </a:solidFill>
              </a:rPr>
              <a:t> / </a:t>
            </a:r>
            <a:r>
              <a:rPr lang="en-US" sz="1900" i="1" dirty="0">
                <a:solidFill>
                  <a:schemeClr val="tx1"/>
                </a:solidFill>
              </a:rPr>
              <a:t>beloven</a:t>
            </a:r>
            <a:r>
              <a:rPr lang="en-US" sz="1900" i="1" dirty="0">
                <a:solidFill>
                  <a:schemeClr val="tx1"/>
                </a:solidFill>
              </a:rPr>
              <a:t> te komen.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Participe ou infinitif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Choisissez la bonne forme. Seul ? Avec te ? Avec un infinitif ?</a:t>
            </a:r>
            <a:endParaRPr lang="en-US" sz="1700" dirty="0"/>
          </a:p>
        </p:txBody>
      </p:sp>
      <p:sp>
        <p:nvSpPr>
          <p:cNvPr id="9" name="Text 5"/>
          <p:cNvSpPr txBox="1"/>
          <p:nvPr/>
        </p:nvSpPr>
        <p:spPr>
          <a:xfrm>
            <a:off x="548640"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Ik heb het niet </a:t>
            </a:r>
            <a:r>
              <a:rPr lang="en-US" sz="1900" b="1" i="1" dirty="0">
                <a:solidFill>
                  <a:schemeClr val="accent3"/>
                </a:solidFill>
              </a:rPr>
              <a:t>gekund</a:t>
            </a:r>
            <a:r>
              <a:rPr lang="en-US" sz="1900" i="1" dirty="0">
                <a:solidFill>
                  <a:schemeClr val="tx1"/>
                </a:solidFill>
              </a:rPr>
              <a:t> / </a:t>
            </a:r>
            <a:r>
              <a:rPr lang="en-US" sz="1900" i="1" strike="sngStrike" dirty="0">
                <a:solidFill>
                  <a:schemeClr val="accent6"/>
                </a:solidFill>
              </a:rPr>
              <a:t>kunnen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Ik heb het niet </a:t>
            </a:r>
            <a:r>
              <a:rPr lang="en-US" sz="1900" i="1" strike="sngStrike" dirty="0">
                <a:solidFill>
                  <a:schemeClr val="accent6"/>
                </a:solidFill>
              </a:rPr>
              <a:t>gekund</a:t>
            </a:r>
            <a:r>
              <a:rPr lang="en-US" sz="1900" i="1" dirty="0">
                <a:solidFill>
                  <a:schemeClr val="tx1"/>
                </a:solidFill>
              </a:rPr>
              <a:t> / </a:t>
            </a:r>
            <a:r>
              <a:rPr lang="en-US" sz="1900" b="1" i="1" dirty="0">
                <a:solidFill>
                  <a:schemeClr val="accent3"/>
                </a:solidFill>
              </a:rPr>
              <a:t>kunnen</a:t>
            </a:r>
            <a:r>
              <a:rPr lang="en-US" sz="1900" i="1" dirty="0">
                <a:solidFill>
                  <a:schemeClr val="tx1"/>
                </a:solidFill>
              </a:rPr>
              <a:t> doen.</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Dat heb ik altijd </a:t>
            </a:r>
            <a:r>
              <a:rPr lang="en-US" sz="1900" b="1" i="1" dirty="0">
                <a:solidFill>
                  <a:schemeClr val="accent3"/>
                </a:solidFill>
              </a:rPr>
              <a:t>gewild</a:t>
            </a:r>
            <a:r>
              <a:rPr lang="en-US" sz="1900" i="1" dirty="0">
                <a:solidFill>
                  <a:schemeClr val="tx1"/>
                </a:solidFill>
              </a:rPr>
              <a:t> / </a:t>
            </a:r>
            <a:r>
              <a:rPr lang="en-US" sz="1900" i="1" strike="sngStrike" dirty="0">
                <a:solidFill>
                  <a:schemeClr val="accent6"/>
                </a:solidFill>
              </a:rPr>
              <a:t>willen</a:t>
            </a:r>
            <a:r>
              <a:rPr lang="en-US" sz="1900" i="1" dirty="0">
                <a:solidFill>
                  <a:schemeClr val="tx1"/>
                </a:solidFill>
              </a:rPr>
              <a:t>.</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Ik heb </a:t>
            </a:r>
            <a:r>
              <a:rPr lang="en-US" sz="1900" b="1" i="1" dirty="0">
                <a:solidFill>
                  <a:schemeClr val="accent3"/>
                </a:solidFill>
              </a:rPr>
              <a:t>geprobeerd</a:t>
            </a:r>
            <a:r>
              <a:rPr lang="en-US" sz="1900" i="1" dirty="0">
                <a:solidFill>
                  <a:schemeClr val="tx1"/>
                </a:solidFill>
              </a:rPr>
              <a:t> / </a:t>
            </a:r>
            <a:r>
              <a:rPr lang="en-US" sz="1900" i="1" strike="sngStrike" dirty="0">
                <a:solidFill>
                  <a:schemeClr val="accent6"/>
                </a:solidFill>
              </a:rPr>
              <a:t>proberen</a:t>
            </a:r>
            <a:r>
              <a:rPr lang="en-US" sz="1900" i="1" dirty="0">
                <a:solidFill>
                  <a:schemeClr val="tx1"/>
                </a:solidFill>
              </a:rPr>
              <a:t> je te bellen.</a:t>
            </a:r>
            <a:endParaRPr lang="en-US" sz="1900" dirty="0"/>
          </a:p>
        </p:txBody>
      </p:sp>
      <p:sp>
        <p:nvSpPr>
          <p:cNvPr id="10" name="Text 6"/>
          <p:cNvSpPr txBox="1"/>
          <p:nvPr/>
        </p:nvSpPr>
        <p:spPr>
          <a:xfrm>
            <a:off x="6300216" y="2069592"/>
            <a:ext cx="5340096" cy="393192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Ze heeft de hele dag </a:t>
            </a:r>
            <a:r>
              <a:rPr lang="en-US" sz="1900" i="1" strike="sngStrike" dirty="0">
                <a:solidFill>
                  <a:schemeClr val="accent6"/>
                </a:solidFill>
              </a:rPr>
              <a:t>gezeten</a:t>
            </a:r>
            <a:r>
              <a:rPr lang="en-US" sz="1900" i="1" dirty="0">
                <a:solidFill>
                  <a:schemeClr val="tx1"/>
                </a:solidFill>
              </a:rPr>
              <a:t> / </a:t>
            </a:r>
            <a:r>
              <a:rPr lang="en-US" sz="1900" b="1" i="1" dirty="0">
                <a:solidFill>
                  <a:schemeClr val="accent3"/>
                </a:solidFill>
              </a:rPr>
              <a:t>zitten</a:t>
            </a:r>
            <a:r>
              <a:rPr lang="en-US" sz="1900" i="1" dirty="0">
                <a:solidFill>
                  <a:schemeClr val="tx1"/>
                </a:solidFill>
              </a:rPr>
              <a:t> studeren.</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Ik heb mijn tas </a:t>
            </a:r>
            <a:r>
              <a:rPr lang="en-US" sz="1900" i="1" strike="sngStrike" dirty="0">
                <a:solidFill>
                  <a:schemeClr val="accent6"/>
                </a:solidFill>
              </a:rPr>
              <a:t>gelaten</a:t>
            </a:r>
            <a:r>
              <a:rPr lang="en-US" sz="1900" i="1" dirty="0">
                <a:solidFill>
                  <a:schemeClr val="tx1"/>
                </a:solidFill>
              </a:rPr>
              <a:t> / </a:t>
            </a:r>
            <a:r>
              <a:rPr lang="en-US" sz="1900" b="1" i="1" dirty="0">
                <a:solidFill>
                  <a:schemeClr val="accent3"/>
                </a:solidFill>
              </a:rPr>
              <a:t>laten</a:t>
            </a:r>
            <a:r>
              <a:rPr lang="en-US" sz="1900" i="1" dirty="0">
                <a:solidFill>
                  <a:schemeClr val="tx1"/>
                </a:solidFill>
              </a:rPr>
              <a:t> vallen.</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We hebben hem </a:t>
            </a:r>
            <a:r>
              <a:rPr lang="en-US" sz="1900" i="1" strike="sngStrike" dirty="0">
                <a:solidFill>
                  <a:schemeClr val="accent6"/>
                </a:solidFill>
              </a:rPr>
              <a:t>gezien</a:t>
            </a:r>
            <a:r>
              <a:rPr lang="en-US" sz="1900" i="1" dirty="0">
                <a:solidFill>
                  <a:schemeClr val="tx1"/>
                </a:solidFill>
              </a:rPr>
              <a:t> / </a:t>
            </a:r>
            <a:r>
              <a:rPr lang="en-US" sz="1900" b="1" i="1" dirty="0">
                <a:solidFill>
                  <a:schemeClr val="accent3"/>
                </a:solidFill>
              </a:rPr>
              <a:t>zien</a:t>
            </a:r>
            <a:r>
              <a:rPr lang="en-US" sz="1900" i="1" dirty="0">
                <a:solidFill>
                  <a:schemeClr val="tx1"/>
                </a:solidFill>
              </a:rPr>
              <a:t> vertrekken.</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Hij heeft </a:t>
            </a:r>
            <a:r>
              <a:rPr lang="en-US" sz="1900" b="1" i="1" dirty="0">
                <a:solidFill>
                  <a:schemeClr val="accent3"/>
                </a:solidFill>
              </a:rPr>
              <a:t>beloofd</a:t>
            </a:r>
            <a:r>
              <a:rPr lang="en-US" sz="1900" i="1" dirty="0">
                <a:solidFill>
                  <a:schemeClr val="tx1"/>
                </a:solidFill>
              </a:rPr>
              <a:t> / </a:t>
            </a:r>
            <a:r>
              <a:rPr lang="en-US" sz="1900" i="1" strike="sngStrike" dirty="0">
                <a:solidFill>
                  <a:schemeClr val="accent6"/>
                </a:solidFill>
              </a:rPr>
              <a:t>beloven</a:t>
            </a:r>
            <a:r>
              <a:rPr lang="en-US" sz="1900" i="1" dirty="0">
                <a:solidFill>
                  <a:schemeClr val="tx1"/>
                </a:solidFill>
              </a:rPr>
              <a:t> te komen.</a:t>
            </a:r>
            <a:endParaRPr lang="en-US" sz="19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4 : </a:t>
            </a:r>
            <a:r>
              <a:rPr lang="en-US" sz="1400" i="1" dirty="0">
                <a:solidFill>
                  <a:schemeClr val="accent5"/>
                </a:solidFill>
              </a:rPr>
              <a:t>Ik heb je </a:t>
            </a:r>
            <a:r>
              <a:rPr lang="en-US" sz="1400" b="1" i="1" dirty="0">
                <a:solidFill>
                  <a:schemeClr val="accent5"/>
                </a:solidFill>
              </a:rPr>
              <a:t>proberen</a:t>
            </a:r>
            <a:r>
              <a:rPr lang="en-US" sz="1400" i="1" dirty="0">
                <a:solidFill>
                  <a:schemeClr val="accent5"/>
                </a:solidFill>
              </a:rPr>
              <a:t> te bellen</a:t>
            </a:r>
            <a:r>
              <a:rPr lang="en-US" sz="1400" i="1" dirty="0">
                <a:solidFill>
                  <a:schemeClr val="accent5"/>
                </a:solidFill>
              </a:rPr>
              <a:t> (</a:t>
            </a:r>
            <a:r>
              <a:rPr lang="en-US" sz="1400" i="1" dirty="0">
                <a:solidFill>
                  <a:schemeClr val="accent5"/>
                </a:solidFill>
              </a:rPr>
              <a:t>je</a:t>
            </a:r>
            <a:r>
              <a:rPr lang="en-US" sz="1400" i="1" dirty="0">
                <a:solidFill>
                  <a:schemeClr val="accent5"/>
                </a:solidFill>
              </a:rPr>
              <a:t> devant) est aussi correct, mais pas </a:t>
            </a:r>
            <a:r>
              <a:rPr lang="en-US" sz="1400" i="1" dirty="0">
                <a:solidFill>
                  <a:schemeClr val="accent5"/>
                </a:solidFill>
              </a:rPr>
              <a:t>Ik heb proberen je te bellen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8" name="Shape 4"/>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0" name="Text 5"/>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1" name="Text 6"/>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dirty="0">
                <a:solidFill>
                  <a:schemeClr val="tx1"/>
                </a:solidFill>
              </a:rPr>
              <a:t>gekund komen</a:t>
            </a:r>
            <a:r>
              <a:rPr lang="en-US" sz="1800" i="1" dirty="0">
                <a:solidFill>
                  <a:schemeClr val="tx1"/>
                </a:solidFill>
              </a:rPr>
              <a:t>: mijn auto stond in panne en ik </a:t>
            </a:r>
            <a:r>
              <a:rPr lang="en-US" sz="1800" i="1" dirty="0">
                <a:solidFill>
                  <a:schemeClr val="tx1"/>
                </a:solidFill>
              </a:rPr>
              <a:t>ben</a:t>
            </a:r>
            <a:r>
              <a:rPr lang="en-US" sz="1800" i="1" dirty="0">
                <a:solidFill>
                  <a:schemeClr val="tx1"/>
                </a:solidFill>
              </a:rPr>
              <a:t> hem meteen laten repareren. Daarna </a:t>
            </a:r>
            <a:r>
              <a:rPr lang="en-US" sz="1800" i="1" dirty="0">
                <a:solidFill>
                  <a:schemeClr val="tx1"/>
                </a:solidFill>
              </a:rPr>
              <a:t>heb</a:t>
            </a:r>
            <a:r>
              <a:rPr lang="en-US" sz="1800" i="1" dirty="0">
                <a:solidFill>
                  <a:schemeClr val="tx1"/>
                </a:solidFill>
              </a:rPr>
              <a:t> ik met de kinderen gaan zwemmen, dat had ik beloofd. ’s Avonds heb ik nog twee uur </a:t>
            </a:r>
            <a:r>
              <a:rPr lang="en-US" sz="1800" i="1" dirty="0">
                <a:solidFill>
                  <a:schemeClr val="tx1"/>
                </a:solidFill>
              </a:rPr>
              <a:t>zitten te werken</a:t>
            </a:r>
            <a:r>
              <a:rPr lang="en-US" sz="1800" i="1" dirty="0">
                <a:solidFill>
                  <a:schemeClr val="tx1"/>
                </a:solidFill>
              </a:rPr>
              <a:t> aan het verslag. Ik had je moeten bellen, sorry! Dat heb ik echt niet </a:t>
            </a:r>
            <a:r>
              <a:rPr lang="en-US" sz="1800" i="1" dirty="0">
                <a:solidFill>
                  <a:schemeClr val="tx1"/>
                </a:solidFill>
              </a:rPr>
              <a:t>willen</a:t>
            </a:r>
            <a:r>
              <a:rPr lang="en-US" sz="1800" i="1" dirty="0">
                <a:solidFill>
                  <a:schemeClr val="tx1"/>
                </a:solidFill>
              </a:rPr>
              <a:t>. Groetjes, Tom</a:t>
            </a:r>
            <a:endParaRPr lang="en-US" sz="1800" dirty="0"/>
          </a:p>
        </p:txBody>
      </p:sp>
      <p:pic>
        <p:nvPicPr>
          <p:cNvPr id="12"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3" name="Shape 7"/>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8"/>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Tom s’excuse auprès de Lisa. Trouvez les 5 erreurs.</a:t>
            </a:r>
            <a:endParaRPr lang="en-US" sz="1700" dirty="0"/>
          </a:p>
        </p:txBody>
      </p:sp>
      <p:sp>
        <p:nvSpPr>
          <p:cNvPr id="9" name="Shape 5"/>
          <p:cNvSpPr/>
          <p:nvPr/>
        </p:nvSpPr>
        <p:spPr>
          <a:xfrm>
            <a:off x="548640" y="1932432"/>
            <a:ext cx="8229600" cy="4358640"/>
          </a:xfrm>
          <a:prstGeom prst="roundRect">
            <a:avLst>
              <a:gd name="adj" fmla="val 2517"/>
            </a:avLst>
          </a:prstGeom>
          <a:solidFill>
            <a:srgbClr val="E7F6EC"/>
          </a:solidFill>
          <a:ln w="15875">
            <a:solidFill>
              <a:srgbClr val="2E7D4F"/>
            </a:solidFill>
            <a:prstDash val="solid"/>
          </a:ln>
          <a:effectLst>
            <a:outerShdw sx="100000" sy="100000" kx="0" ky="0" algn="bl" rotWithShape="0" blurRad="101600" dist="25400" dir="3600000">
              <a:srgbClr val="000000">
                <a:alpha val="16000"/>
              </a:srgbClr>
            </a:outerShdw>
          </a:effectLst>
        </p:spPr>
      </p:sp>
      <p:pic>
        <p:nvPicPr>
          <p:cNvPr id="10" name="Image 1" descr="mobile phone">    </p:cNvPr>
          <p:cNvPicPr>
            <a:picLocks noChangeAspect="1"/>
          </p:cNvPicPr>
          <p:nvPr/>
        </p:nvPicPr>
        <p:blipFill>
          <a:blip r:embed="rId2"/>
          <a:stretch>
            <a:fillRect/>
          </a:stretch>
        </p:blipFill>
        <p:spPr>
          <a:xfrm>
            <a:off x="685800" y="2023872"/>
            <a:ext cx="457200" cy="457200"/>
          </a:xfrm>
          <a:prstGeom prst="rect">
            <a:avLst/>
          </a:prstGeom>
        </p:spPr>
      </p:pic>
      <p:sp>
        <p:nvSpPr>
          <p:cNvPr id="11" name="Text 6"/>
          <p:cNvSpPr txBox="1"/>
          <p:nvPr/>
        </p:nvSpPr>
        <p:spPr>
          <a:xfrm>
            <a:off x="1234440" y="2023872"/>
            <a:ext cx="5486400" cy="457200"/>
          </a:xfrm>
          <a:prstGeom prst="rect">
            <a:avLst/>
          </a:prstGeom>
          <a:noFill/>
          <a:ln/>
        </p:spPr>
        <p:txBody>
          <a:bodyPr wrap="square" lIns="0" tIns="0" rIns="0" bIns="0" rtlCol="0" anchor="ctr"/>
          <a:lstStyle/>
          <a:p>
            <a:pPr algn="l" indent="0" marL="0">
              <a:buNone/>
            </a:pPr>
            <a:r>
              <a:rPr lang="en-US" sz="1400" b="1" dirty="0">
                <a:solidFill>
                  <a:schemeClr val="accent3"/>
                </a:solidFill>
              </a:rPr>
              <a:t>Tom</a:t>
            </a:r>
            <a:r>
              <a:rPr lang="en-US" sz="1400" dirty="0">
                <a:solidFill>
                  <a:schemeClr val="accent3"/>
                </a:solidFill>
              </a:rPr>
              <a:t> · vandaag 08:12</a:t>
            </a:r>
            <a:endParaRPr lang="en-US" sz="1400" dirty="0"/>
          </a:p>
        </p:txBody>
      </p:sp>
      <p:sp>
        <p:nvSpPr>
          <p:cNvPr id="12" name="Text 7"/>
          <p:cNvSpPr txBox="1"/>
          <p:nvPr/>
        </p:nvSpPr>
        <p:spPr>
          <a:xfrm>
            <a:off x="868680" y="2618232"/>
            <a:ext cx="7680960" cy="353568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Hoi Lisa! Sorry dat ik gisteren niet op de vergadering was. Ik heb echt niet </a:t>
            </a:r>
            <a:r>
              <a:rPr lang="en-US" sz="1800" i="1" strike="sngStrike" dirty="0">
                <a:solidFill>
                  <a:schemeClr val="accent6"/>
                </a:solidFill>
              </a:rPr>
              <a:t>gekund komen</a:t>
            </a:r>
            <a:r>
              <a:rPr lang="en-US" sz="1800" b="1" i="1" dirty="0">
                <a:solidFill>
                  <a:schemeClr val="accent3"/>
                </a:solidFill>
              </a:rPr>
              <a:t> kunnen komen</a:t>
            </a:r>
            <a:r>
              <a:rPr lang="en-US" sz="1800" i="1" dirty="0">
                <a:solidFill>
                  <a:schemeClr val="tx1"/>
                </a:solidFill>
              </a:rPr>
              <a:t>: mijn auto stond in panne en ik </a:t>
            </a:r>
            <a:r>
              <a:rPr lang="en-US" sz="1800" i="1" strike="sngStrike" dirty="0">
                <a:solidFill>
                  <a:schemeClr val="accent6"/>
                </a:solidFill>
              </a:rPr>
              <a:t>ben</a:t>
            </a:r>
            <a:r>
              <a:rPr lang="en-US" sz="1800" b="1" i="1" dirty="0">
                <a:solidFill>
                  <a:schemeClr val="accent3"/>
                </a:solidFill>
              </a:rPr>
              <a:t> heb</a:t>
            </a:r>
            <a:r>
              <a:rPr lang="en-US" sz="1800" i="1" dirty="0">
                <a:solidFill>
                  <a:schemeClr val="tx1"/>
                </a:solidFill>
              </a:rPr>
              <a:t> hem meteen laten repareren. Daarna </a:t>
            </a:r>
            <a:r>
              <a:rPr lang="en-US" sz="1800" i="1" strike="sngStrike" dirty="0">
                <a:solidFill>
                  <a:schemeClr val="accent6"/>
                </a:solidFill>
              </a:rPr>
              <a:t>heb</a:t>
            </a:r>
            <a:r>
              <a:rPr lang="en-US" sz="1800" b="1" i="1" dirty="0">
                <a:solidFill>
                  <a:schemeClr val="accent3"/>
                </a:solidFill>
              </a:rPr>
              <a:t> ben</a:t>
            </a:r>
            <a:r>
              <a:rPr lang="en-US" sz="1800" i="1" dirty="0">
                <a:solidFill>
                  <a:schemeClr val="tx1"/>
                </a:solidFill>
              </a:rPr>
              <a:t> ik met de kinderen gaan zwemmen, dat had ik beloofd. ’s Avonds heb ik nog twee uur </a:t>
            </a:r>
            <a:r>
              <a:rPr lang="en-US" sz="1800" i="1" strike="sngStrike" dirty="0">
                <a:solidFill>
                  <a:schemeClr val="accent6"/>
                </a:solidFill>
              </a:rPr>
              <a:t>zitten te werken</a:t>
            </a:r>
            <a:r>
              <a:rPr lang="en-US" sz="1800" b="1" i="1" dirty="0">
                <a:solidFill>
                  <a:schemeClr val="accent3"/>
                </a:solidFill>
              </a:rPr>
              <a:t> zitten werken</a:t>
            </a:r>
            <a:r>
              <a:rPr lang="en-US" sz="1800" i="1" dirty="0">
                <a:solidFill>
                  <a:schemeClr val="tx1"/>
                </a:solidFill>
              </a:rPr>
              <a:t> aan het verslag. Ik had je moeten bellen, sorry! Dat heb ik echt niet </a:t>
            </a:r>
            <a:r>
              <a:rPr lang="en-US" sz="1800" i="1" strike="sngStrike" dirty="0">
                <a:solidFill>
                  <a:schemeClr val="accent6"/>
                </a:solidFill>
              </a:rPr>
              <a:t>willen</a:t>
            </a:r>
            <a:r>
              <a:rPr lang="en-US" sz="1800" b="1" i="1" dirty="0">
                <a:solidFill>
                  <a:schemeClr val="accent3"/>
                </a:solidFill>
              </a:rPr>
              <a:t> gewild</a:t>
            </a:r>
            <a:r>
              <a:rPr lang="en-US" sz="1800" i="1" dirty="0">
                <a:solidFill>
                  <a:schemeClr val="tx1"/>
                </a:solidFill>
              </a:rPr>
              <a:t>. Groetjes, Tom</a:t>
            </a:r>
            <a:endParaRPr lang="en-US" sz="1800" dirty="0"/>
          </a:p>
        </p:txBody>
      </p:sp>
      <p:pic>
        <p:nvPicPr>
          <p:cNvPr id="13" name="Image 2" descr="magnifying glass tilted left">    </p:cNvPr>
          <p:cNvPicPr>
            <a:picLocks noChangeAspect="1"/>
          </p:cNvPicPr>
          <p:nvPr/>
        </p:nvPicPr>
        <p:blipFill>
          <a:blip r:embed="rId3"/>
          <a:stretch>
            <a:fillRect/>
          </a:stretch>
        </p:blipFill>
        <p:spPr>
          <a:xfrm>
            <a:off x="9509760" y="2023872"/>
            <a:ext cx="1463040" cy="1463040"/>
          </a:xfrm>
          <a:prstGeom prst="rect">
            <a:avLst/>
          </a:prstGeom>
        </p:spPr>
      </p:pic>
      <p:sp>
        <p:nvSpPr>
          <p:cNvPr id="14"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0"/>
          <p:cNvSpPr txBox="1"/>
          <p:nvPr/>
        </p:nvSpPr>
        <p:spPr>
          <a:xfrm>
            <a:off x="9052560" y="4721352"/>
            <a:ext cx="2587752" cy="2103120"/>
          </a:xfrm>
          <a:prstGeom prst="rect">
            <a:avLst/>
          </a:prstGeom>
          <a:noFill/>
          <a:ln/>
        </p:spPr>
        <p:txBody>
          <a:bodyPr wrap="square" lIns="0" tIns="0" rIns="0" bIns="0" rtlCol="0" anchor="t"/>
          <a:lstStyle/>
          <a:p>
            <a:pPr algn="l" indent="0" marL="0">
              <a:buNone/>
            </a:pPr>
            <a:r>
              <a:rPr lang="en-US" sz="1400" i="1" dirty="0">
                <a:solidFill>
                  <a:schemeClr val="accent5"/>
                </a:solidFill>
              </a:rPr>
              <a:t>Corrects : </a:t>
            </a:r>
            <a:r>
              <a:rPr lang="en-US" sz="1400" i="1" dirty="0">
                <a:solidFill>
                  <a:schemeClr val="accent5"/>
                </a:solidFill>
              </a:rPr>
              <a:t>laten repareren</a:t>
            </a:r>
            <a:r>
              <a:rPr lang="en-US" sz="1400" i="1" dirty="0">
                <a:solidFill>
                  <a:schemeClr val="accent5"/>
                </a:solidFill>
              </a:rPr>
              <a:t>, </a:t>
            </a:r>
            <a:r>
              <a:rPr lang="en-US" sz="1400" i="1" dirty="0">
                <a:solidFill>
                  <a:schemeClr val="accent5"/>
                </a:solidFill>
              </a:rPr>
              <a:t>gaan zwemmen</a:t>
            </a:r>
            <a:r>
              <a:rPr lang="en-US" sz="1400" i="1" dirty="0">
                <a:solidFill>
                  <a:schemeClr val="accent5"/>
                </a:solidFill>
              </a:rPr>
              <a:t>, </a:t>
            </a:r>
            <a:r>
              <a:rPr lang="en-US" sz="1400" i="1" dirty="0">
                <a:solidFill>
                  <a:schemeClr val="accent5"/>
                </a:solidFill>
              </a:rPr>
              <a:t>had je moeten bellen</a:t>
            </a:r>
            <a:r>
              <a:rPr lang="en-US" sz="1400" i="1" dirty="0">
                <a:solidFill>
                  <a:schemeClr val="accent5"/>
                </a:solidFill>
              </a:rPr>
              <a:t>. </a:t>
            </a:r>
            <a:r>
              <a:rPr lang="en-US" sz="1400" i="1" dirty="0">
                <a:solidFill>
                  <a:schemeClr val="accent5"/>
                </a:solidFill>
              </a:rPr>
              <a:t>Dat heb ik niet gewild</a:t>
            </a:r>
            <a:r>
              <a:rPr lang="en-US" sz="1400" i="1" dirty="0">
                <a:solidFill>
                  <a:schemeClr val="accent5"/>
                </a:solidFill>
              </a:rPr>
              <a:t> : </a:t>
            </a:r>
            <a:r>
              <a:rPr lang="en-US" sz="1400" i="1" dirty="0">
                <a:solidFill>
                  <a:schemeClr val="accent5"/>
                </a:solidFill>
              </a:rPr>
              <a:t>willen</a:t>
            </a:r>
            <a:r>
              <a:rPr lang="en-US" sz="1400" i="1" dirty="0">
                <a:solidFill>
                  <a:schemeClr val="accent5"/>
                </a:solidFill>
              </a:rPr>
              <a:t> est seul → participe.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8" name="Shape 4"/>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0" name="Text 5"/>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1" name="Text 6"/>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i="1" dirty="0">
                <a:solidFill>
                  <a:schemeClr val="accent5"/>
                </a:solidFill>
              </a:rPr>
              <a:t>…………………………</a:t>
            </a:r>
            <a:r>
              <a:rPr lang="en-US" sz="1800" i="1" dirty="0">
                <a:solidFill>
                  <a:schemeClr val="tx1"/>
                </a:solidFill>
              </a:rPr>
              <a:t>.</a:t>
            </a:r>
            <a:endParaRPr lang="en-US" sz="1800" dirty="0"/>
          </a:p>
        </p:txBody>
      </p:sp>
      <p:sp>
        <p:nvSpPr>
          <p:cNvPr id="12" name="Shape 7"/>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3"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4" name="Text 8"/>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5" name="Text 9"/>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i="1" dirty="0">
                <a:solidFill>
                  <a:schemeClr val="accent5"/>
                </a:solidFill>
              </a:rPr>
              <a:t>………………………</a:t>
            </a:r>
            <a:r>
              <a:rPr lang="en-US" sz="1800" i="1" dirty="0">
                <a:solidFill>
                  <a:schemeClr val="tx1"/>
                </a:solidFill>
              </a:rPr>
              <a:t>.</a:t>
            </a:r>
            <a:endParaRPr lang="en-US" sz="1800" dirty="0"/>
          </a:p>
        </p:txBody>
      </p:sp>
      <p:sp>
        <p:nvSpPr>
          <p:cNvPr id="16" name="Shape 10"/>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8" name="Text 11"/>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19" name="Text 12"/>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i="1" dirty="0">
                <a:solidFill>
                  <a:schemeClr val="accent5"/>
                </a:solidFill>
              </a:rPr>
              <a:t>……………………</a:t>
            </a:r>
            <a:r>
              <a:rPr lang="en-US" sz="1800" i="1" dirty="0">
                <a:solidFill>
                  <a:schemeClr val="tx1"/>
                </a:solidFill>
              </a:rPr>
              <a:t>.</a:t>
            </a:r>
            <a:endParaRPr lang="en-US" sz="1800" dirty="0"/>
          </a:p>
        </p:txBody>
      </p:sp>
      <p:sp>
        <p:nvSpPr>
          <p:cNvPr id="20" name="Shape 13"/>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2" name="Text 14"/>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3" name="Text 15"/>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i="1" dirty="0">
                <a:solidFill>
                  <a:schemeClr val="accent5"/>
                </a:solidFill>
              </a:rPr>
              <a:t>……………………</a:t>
            </a:r>
            <a:r>
              <a:rPr lang="en-US" sz="1800" i="1" dirty="0">
                <a:solidFill>
                  <a:schemeClr val="tx1"/>
                </a:solidFill>
              </a:rPr>
              <a:t>.</a:t>
            </a:r>
            <a:endParaRPr lang="en-US" sz="1800" dirty="0"/>
          </a:p>
        </p:txBody>
      </p:sp>
      <p:sp>
        <p:nvSpPr>
          <p:cNvPr id="24" name="Shape 16"/>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6" name="Text 17"/>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7" name="Text 18"/>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i="1" dirty="0">
                <a:solidFill>
                  <a:schemeClr val="accent5"/>
                </a:solidFill>
              </a:rPr>
              <a:t>……………………</a:t>
            </a:r>
            <a:r>
              <a:rPr lang="en-US" sz="1800" i="1" dirty="0">
                <a:solidFill>
                  <a:schemeClr val="tx1"/>
                </a:solidFill>
              </a:rPr>
              <a:t>.</a:t>
            </a:r>
            <a:endParaRPr lang="en-US" sz="1800" dirty="0"/>
          </a:p>
        </p:txBody>
      </p:sp>
      <p:sp>
        <p:nvSpPr>
          <p:cNvPr id="28" name="Shape 19"/>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9"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0" name="Text 20"/>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1" name="Text 21"/>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i="1" dirty="0">
                <a:solidFill>
                  <a:schemeClr val="accent5"/>
                </a:solidFill>
              </a:rPr>
              <a:t>……………………………</a:t>
            </a:r>
            <a:r>
              <a:rPr lang="en-US" sz="18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Les regrets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Réagissez avec </a:t>
            </a:r>
            <a:r>
              <a:rPr lang="en-US" sz="1700" i="1" dirty="0">
                <a:solidFill>
                  <a:schemeClr val="accent5"/>
                </a:solidFill>
              </a:rPr>
              <a:t>had moeten</a:t>
            </a:r>
            <a:r>
              <a:rPr lang="en-US" sz="1700" i="1" dirty="0">
                <a:solidFill>
                  <a:schemeClr val="accent5"/>
                </a:solidFill>
              </a:rPr>
              <a:t> (aurais dû) ou </a:t>
            </a:r>
            <a:r>
              <a:rPr lang="en-US" sz="1700" i="1" dirty="0">
                <a:solidFill>
                  <a:schemeClr val="accent5"/>
                </a:solidFill>
              </a:rPr>
              <a:t>had kunnen</a:t>
            </a:r>
            <a:r>
              <a:rPr lang="en-US" sz="1700" i="1" dirty="0">
                <a:solidFill>
                  <a:schemeClr val="accent5"/>
                </a:solidFill>
              </a:rPr>
              <a:t> (aurais pu).</a:t>
            </a:r>
            <a:endParaRPr lang="en-US" sz="1700" dirty="0"/>
          </a:p>
        </p:txBody>
      </p:sp>
      <p:sp>
        <p:nvSpPr>
          <p:cNvPr id="9" name="Shape 5"/>
          <p:cNvSpPr/>
          <p:nvPr/>
        </p:nvSpPr>
        <p:spPr>
          <a:xfrm>
            <a:off x="548640"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0" name="Image 1" descr="alarm clock">    </p:cNvPr>
          <p:cNvPicPr>
            <a:picLocks noChangeAspect="1"/>
          </p:cNvPicPr>
          <p:nvPr/>
        </p:nvPicPr>
        <p:blipFill>
          <a:blip r:embed="rId2"/>
          <a:stretch>
            <a:fillRect/>
          </a:stretch>
        </p:blipFill>
        <p:spPr>
          <a:xfrm>
            <a:off x="685800" y="2115312"/>
            <a:ext cx="925576" cy="925576"/>
          </a:xfrm>
          <a:prstGeom prst="rect">
            <a:avLst/>
          </a:prstGeom>
        </p:spPr>
      </p:pic>
      <p:sp>
        <p:nvSpPr>
          <p:cNvPr id="11" name="Text 6"/>
          <p:cNvSpPr txBox="1"/>
          <p:nvPr/>
        </p:nvSpPr>
        <p:spPr>
          <a:xfrm>
            <a:off x="1794256"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1</a:t>
            </a:r>
            <a:r>
              <a:rPr lang="en-US" sz="1500" dirty="0">
                <a:solidFill>
                  <a:schemeClr val="tx2"/>
                </a:solidFill>
              </a:rPr>
              <a:t>  </a:t>
            </a:r>
            <a:r>
              <a:rPr lang="en-US" sz="1500" i="1" dirty="0">
                <a:solidFill>
                  <a:schemeClr val="tx2"/>
                </a:solidFill>
              </a:rPr>
              <a:t>Je bent te laat.</a:t>
            </a:r>
            <a:r>
              <a:rPr lang="en-US" sz="1500" dirty="0">
                <a:solidFill>
                  <a:schemeClr val="tx2"/>
                </a:solidFill>
              </a:rPr>
              <a:t>  (eerder vertrekken)</a:t>
            </a:r>
            <a:endParaRPr lang="en-US" sz="1500" dirty="0"/>
          </a:p>
        </p:txBody>
      </p:sp>
      <p:sp>
        <p:nvSpPr>
          <p:cNvPr id="12" name="Text 7"/>
          <p:cNvSpPr txBox="1"/>
          <p:nvPr/>
        </p:nvSpPr>
        <p:spPr>
          <a:xfrm>
            <a:off x="1794256"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eerder </a:t>
            </a:r>
            <a:r>
              <a:rPr lang="en-US" sz="1800" b="1" i="1" dirty="0">
                <a:solidFill>
                  <a:schemeClr val="accent3"/>
                </a:solidFill>
              </a:rPr>
              <a:t>moeten vertrekken</a:t>
            </a:r>
            <a:r>
              <a:rPr lang="en-US" sz="1800" i="1" dirty="0">
                <a:solidFill>
                  <a:schemeClr val="tx1"/>
                </a:solidFill>
              </a:rPr>
              <a:t>.</a:t>
            </a:r>
            <a:endParaRPr lang="en-US" sz="1800" dirty="0"/>
          </a:p>
        </p:txBody>
      </p:sp>
      <p:sp>
        <p:nvSpPr>
          <p:cNvPr id="13" name="Shape 8"/>
          <p:cNvSpPr/>
          <p:nvPr/>
        </p:nvSpPr>
        <p:spPr>
          <a:xfrm>
            <a:off x="548640"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4" name="Image 2" descr="umbrella">    </p:cNvPr>
          <p:cNvPicPr>
            <a:picLocks noChangeAspect="1"/>
          </p:cNvPicPr>
          <p:nvPr/>
        </p:nvPicPr>
        <p:blipFill>
          <a:blip r:embed="rId3"/>
          <a:stretch>
            <a:fillRect/>
          </a:stretch>
        </p:blipFill>
        <p:spPr>
          <a:xfrm>
            <a:off x="685800" y="3452368"/>
            <a:ext cx="925576" cy="925576"/>
          </a:xfrm>
          <a:prstGeom prst="rect">
            <a:avLst/>
          </a:prstGeom>
        </p:spPr>
      </p:pic>
      <p:sp>
        <p:nvSpPr>
          <p:cNvPr id="15" name="Text 9"/>
          <p:cNvSpPr txBox="1"/>
          <p:nvPr/>
        </p:nvSpPr>
        <p:spPr>
          <a:xfrm>
            <a:off x="1794256"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2</a:t>
            </a:r>
            <a:r>
              <a:rPr lang="en-US" sz="1500" dirty="0">
                <a:solidFill>
                  <a:schemeClr val="tx2"/>
                </a:solidFill>
              </a:rPr>
              <a:t>  </a:t>
            </a:r>
            <a:r>
              <a:rPr lang="en-US" sz="1500" i="1" dirty="0">
                <a:solidFill>
                  <a:schemeClr val="tx2"/>
                </a:solidFill>
              </a:rPr>
              <a:t>Je bent helemaal nat.</a:t>
            </a:r>
            <a:r>
              <a:rPr lang="en-US" sz="1500" dirty="0">
                <a:solidFill>
                  <a:schemeClr val="tx2"/>
                </a:solidFill>
              </a:rPr>
              <a:t>  (een paraplu meenemen)</a:t>
            </a:r>
            <a:endParaRPr lang="en-US" sz="1500" dirty="0"/>
          </a:p>
        </p:txBody>
      </p:sp>
      <p:sp>
        <p:nvSpPr>
          <p:cNvPr id="16" name="Text 10"/>
          <p:cNvSpPr txBox="1"/>
          <p:nvPr/>
        </p:nvSpPr>
        <p:spPr>
          <a:xfrm>
            <a:off x="1794256"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een paraplu </a:t>
            </a:r>
            <a:r>
              <a:rPr lang="en-US" sz="1800" b="1" i="1" dirty="0">
                <a:solidFill>
                  <a:schemeClr val="accent3"/>
                </a:solidFill>
              </a:rPr>
              <a:t>moeten meenemen</a:t>
            </a:r>
            <a:r>
              <a:rPr lang="en-US" sz="1800" i="1" dirty="0">
                <a:solidFill>
                  <a:schemeClr val="tx1"/>
                </a:solidFill>
              </a:rPr>
              <a:t>.</a:t>
            </a:r>
            <a:endParaRPr lang="en-US" sz="1800" dirty="0"/>
          </a:p>
        </p:txBody>
      </p:sp>
      <p:sp>
        <p:nvSpPr>
          <p:cNvPr id="17" name="Shape 11"/>
          <p:cNvSpPr/>
          <p:nvPr/>
        </p:nvSpPr>
        <p:spPr>
          <a:xfrm>
            <a:off x="548640"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3" descr="telephone receiver">    </p:cNvPr>
          <p:cNvPicPr>
            <a:picLocks noChangeAspect="1"/>
          </p:cNvPicPr>
          <p:nvPr/>
        </p:nvPicPr>
        <p:blipFill>
          <a:blip r:embed="rId4"/>
          <a:stretch>
            <a:fillRect/>
          </a:stretch>
        </p:blipFill>
        <p:spPr>
          <a:xfrm>
            <a:off x="685800" y="4789424"/>
            <a:ext cx="925576" cy="925576"/>
          </a:xfrm>
          <a:prstGeom prst="rect">
            <a:avLst/>
          </a:prstGeom>
        </p:spPr>
      </p:pic>
      <p:sp>
        <p:nvSpPr>
          <p:cNvPr id="19" name="Text 12"/>
          <p:cNvSpPr txBox="1"/>
          <p:nvPr/>
        </p:nvSpPr>
        <p:spPr>
          <a:xfrm>
            <a:off x="1794256"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3</a:t>
            </a:r>
            <a:r>
              <a:rPr lang="en-US" sz="1500" dirty="0">
                <a:solidFill>
                  <a:schemeClr val="tx2"/>
                </a:solidFill>
              </a:rPr>
              <a:t>  </a:t>
            </a:r>
            <a:r>
              <a:rPr lang="en-US" sz="1500" i="1" dirty="0">
                <a:solidFill>
                  <a:schemeClr val="tx2"/>
                </a:solidFill>
              </a:rPr>
              <a:t>Ik wist het niet!</a:t>
            </a:r>
            <a:r>
              <a:rPr lang="en-US" sz="1500" dirty="0">
                <a:solidFill>
                  <a:schemeClr val="tx2"/>
                </a:solidFill>
              </a:rPr>
              <a:t>  (me bellen)</a:t>
            </a:r>
            <a:endParaRPr lang="en-US" sz="1500" dirty="0"/>
          </a:p>
        </p:txBody>
      </p:sp>
      <p:sp>
        <p:nvSpPr>
          <p:cNvPr id="20" name="Text 13"/>
          <p:cNvSpPr txBox="1"/>
          <p:nvPr/>
        </p:nvSpPr>
        <p:spPr>
          <a:xfrm>
            <a:off x="1794256"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me </a:t>
            </a:r>
            <a:r>
              <a:rPr lang="en-US" sz="1800" b="1" i="1" dirty="0">
                <a:solidFill>
                  <a:schemeClr val="accent3"/>
                </a:solidFill>
              </a:rPr>
              <a:t>kunnen bellen</a:t>
            </a:r>
            <a:r>
              <a:rPr lang="en-US" sz="1800" i="1" dirty="0">
                <a:solidFill>
                  <a:schemeClr val="tx1"/>
                </a:solidFill>
              </a:rPr>
              <a:t>.</a:t>
            </a:r>
            <a:endParaRPr lang="en-US" sz="1800" dirty="0"/>
          </a:p>
        </p:txBody>
      </p:sp>
      <p:sp>
        <p:nvSpPr>
          <p:cNvPr id="21" name="Shape 14"/>
          <p:cNvSpPr/>
          <p:nvPr/>
        </p:nvSpPr>
        <p:spPr>
          <a:xfrm>
            <a:off x="6231636" y="1978152"/>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2" name="Image 4" descr="trophy">    </p:cNvPr>
          <p:cNvPicPr>
            <a:picLocks noChangeAspect="1"/>
          </p:cNvPicPr>
          <p:nvPr/>
        </p:nvPicPr>
        <p:blipFill>
          <a:blip r:embed="rId5"/>
          <a:stretch>
            <a:fillRect/>
          </a:stretch>
        </p:blipFill>
        <p:spPr>
          <a:xfrm>
            <a:off x="6368796" y="2115312"/>
            <a:ext cx="925576" cy="925576"/>
          </a:xfrm>
          <a:prstGeom prst="rect">
            <a:avLst/>
          </a:prstGeom>
        </p:spPr>
      </p:pic>
      <p:sp>
        <p:nvSpPr>
          <p:cNvPr id="23" name="Text 15"/>
          <p:cNvSpPr txBox="1"/>
          <p:nvPr/>
        </p:nvSpPr>
        <p:spPr>
          <a:xfrm>
            <a:off x="7477252" y="2042160"/>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4</a:t>
            </a:r>
            <a:r>
              <a:rPr lang="en-US" sz="1500" dirty="0">
                <a:solidFill>
                  <a:schemeClr val="tx2"/>
                </a:solidFill>
              </a:rPr>
              <a:t>  </a:t>
            </a:r>
            <a:r>
              <a:rPr lang="en-US" sz="1500" i="1" dirty="0">
                <a:solidFill>
                  <a:schemeClr val="tx2"/>
                </a:solidFill>
              </a:rPr>
              <a:t>We hebben net niet gewonnen.</a:t>
            </a:r>
            <a:r>
              <a:rPr lang="en-US" sz="1500" dirty="0">
                <a:solidFill>
                  <a:schemeClr val="tx2"/>
                </a:solidFill>
              </a:rPr>
              <a:t>  (winnen)</a:t>
            </a:r>
            <a:endParaRPr lang="en-US" sz="1500" dirty="0"/>
          </a:p>
        </p:txBody>
      </p:sp>
      <p:sp>
        <p:nvSpPr>
          <p:cNvPr id="24" name="Text 16"/>
          <p:cNvSpPr txBox="1"/>
          <p:nvPr/>
        </p:nvSpPr>
        <p:spPr>
          <a:xfrm>
            <a:off x="7477252" y="2526914"/>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We hadden </a:t>
            </a:r>
            <a:r>
              <a:rPr lang="en-US" sz="1800" b="1" i="1" dirty="0">
                <a:solidFill>
                  <a:schemeClr val="accent3"/>
                </a:solidFill>
              </a:rPr>
              <a:t>kunnen winnen</a:t>
            </a:r>
            <a:r>
              <a:rPr lang="en-US" sz="1800" i="1" dirty="0">
                <a:solidFill>
                  <a:schemeClr val="tx1"/>
                </a:solidFill>
              </a:rPr>
              <a:t>.</a:t>
            </a:r>
            <a:endParaRPr lang="en-US" sz="1800" dirty="0"/>
          </a:p>
        </p:txBody>
      </p:sp>
      <p:sp>
        <p:nvSpPr>
          <p:cNvPr id="25" name="Shape 17"/>
          <p:cNvSpPr/>
          <p:nvPr/>
        </p:nvSpPr>
        <p:spPr>
          <a:xfrm>
            <a:off x="6231636" y="3315208"/>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5" descr="face with thermometer">    </p:cNvPr>
          <p:cNvPicPr>
            <a:picLocks noChangeAspect="1"/>
          </p:cNvPicPr>
          <p:nvPr/>
        </p:nvPicPr>
        <p:blipFill>
          <a:blip r:embed="rId6"/>
          <a:stretch>
            <a:fillRect/>
          </a:stretch>
        </p:blipFill>
        <p:spPr>
          <a:xfrm>
            <a:off x="6368796" y="3452368"/>
            <a:ext cx="925576" cy="925576"/>
          </a:xfrm>
          <a:prstGeom prst="rect">
            <a:avLst/>
          </a:prstGeom>
        </p:spPr>
      </p:pic>
      <p:sp>
        <p:nvSpPr>
          <p:cNvPr id="27" name="Text 18"/>
          <p:cNvSpPr txBox="1"/>
          <p:nvPr/>
        </p:nvSpPr>
        <p:spPr>
          <a:xfrm>
            <a:off x="7477252" y="3379216"/>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5</a:t>
            </a:r>
            <a:r>
              <a:rPr lang="en-US" sz="1500" dirty="0">
                <a:solidFill>
                  <a:schemeClr val="tx2"/>
                </a:solidFill>
              </a:rPr>
              <a:t>  </a:t>
            </a:r>
            <a:r>
              <a:rPr lang="en-US" sz="1500" i="1" dirty="0">
                <a:solidFill>
                  <a:schemeClr val="tx2"/>
                </a:solidFill>
              </a:rPr>
              <a:t>Hij is nog altijd ziek.</a:t>
            </a:r>
            <a:r>
              <a:rPr lang="en-US" sz="1500" dirty="0">
                <a:solidFill>
                  <a:schemeClr val="tx2"/>
                </a:solidFill>
              </a:rPr>
              <a:t>  (thuisblijven)</a:t>
            </a:r>
            <a:endParaRPr lang="en-US" sz="1500" dirty="0"/>
          </a:p>
        </p:txBody>
      </p:sp>
      <p:sp>
        <p:nvSpPr>
          <p:cNvPr id="28" name="Text 19"/>
          <p:cNvSpPr txBox="1"/>
          <p:nvPr/>
        </p:nvSpPr>
        <p:spPr>
          <a:xfrm>
            <a:off x="7477252" y="3863970"/>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Hij had thuis </a:t>
            </a:r>
            <a:r>
              <a:rPr lang="en-US" sz="1800" b="1" i="1" dirty="0">
                <a:solidFill>
                  <a:schemeClr val="accent3"/>
                </a:solidFill>
              </a:rPr>
              <a:t>moeten blijven</a:t>
            </a:r>
            <a:r>
              <a:rPr lang="en-US" sz="1800" i="1" dirty="0">
                <a:solidFill>
                  <a:schemeClr val="tx1"/>
                </a:solidFill>
              </a:rPr>
              <a:t>.</a:t>
            </a:r>
            <a:endParaRPr lang="en-US" sz="1800" dirty="0"/>
          </a:p>
        </p:txBody>
      </p:sp>
      <p:sp>
        <p:nvSpPr>
          <p:cNvPr id="29" name="Shape 20"/>
          <p:cNvSpPr/>
          <p:nvPr/>
        </p:nvSpPr>
        <p:spPr>
          <a:xfrm>
            <a:off x="6231636" y="4652264"/>
            <a:ext cx="5408676" cy="1209040"/>
          </a:xfrm>
          <a:prstGeom prst="roundRect">
            <a:avLst>
              <a:gd name="adj" fmla="val 907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0" name="Image 6" descr="money bag">    </p:cNvPr>
          <p:cNvPicPr>
            <a:picLocks noChangeAspect="1"/>
          </p:cNvPicPr>
          <p:nvPr/>
        </p:nvPicPr>
        <p:blipFill>
          <a:blip r:embed="rId7"/>
          <a:stretch>
            <a:fillRect/>
          </a:stretch>
        </p:blipFill>
        <p:spPr>
          <a:xfrm>
            <a:off x="6368796" y="4789424"/>
            <a:ext cx="925576" cy="925576"/>
          </a:xfrm>
          <a:prstGeom prst="rect">
            <a:avLst/>
          </a:prstGeom>
        </p:spPr>
      </p:pic>
      <p:sp>
        <p:nvSpPr>
          <p:cNvPr id="31" name="Text 21"/>
          <p:cNvSpPr txBox="1"/>
          <p:nvPr/>
        </p:nvSpPr>
        <p:spPr>
          <a:xfrm>
            <a:off x="7477252" y="4716272"/>
            <a:ext cx="4071620" cy="484754"/>
          </a:xfrm>
          <a:prstGeom prst="rect">
            <a:avLst/>
          </a:prstGeom>
          <a:noFill/>
          <a:ln/>
        </p:spPr>
        <p:txBody>
          <a:bodyPr wrap="square" lIns="0" tIns="0" rIns="0" bIns="0" rtlCol="0" anchor="ctr"/>
          <a:lstStyle/>
          <a:p>
            <a:pPr algn="l" indent="0" marL="0">
              <a:buNone/>
            </a:pPr>
            <a:r>
              <a:rPr lang="en-US" sz="1500" b="1" dirty="0">
                <a:solidFill>
                  <a:schemeClr val="tx2"/>
                </a:solidFill>
              </a:rPr>
              <a:t>6</a:t>
            </a:r>
            <a:r>
              <a:rPr lang="en-US" sz="1500" dirty="0">
                <a:solidFill>
                  <a:schemeClr val="tx2"/>
                </a:solidFill>
              </a:rPr>
              <a:t>  </a:t>
            </a:r>
            <a:r>
              <a:rPr lang="en-US" sz="1500" i="1" dirty="0">
                <a:solidFill>
                  <a:schemeClr val="tx2"/>
                </a:solidFill>
              </a:rPr>
              <a:t>Je hebt te veel betaald.</a:t>
            </a:r>
            <a:r>
              <a:rPr lang="en-US" sz="1500" dirty="0">
                <a:solidFill>
                  <a:schemeClr val="tx2"/>
                </a:solidFill>
              </a:rPr>
              <a:t>  (de prijzen vergelijken)</a:t>
            </a:r>
            <a:endParaRPr lang="en-US" sz="1500" dirty="0"/>
          </a:p>
        </p:txBody>
      </p:sp>
      <p:sp>
        <p:nvSpPr>
          <p:cNvPr id="32" name="Text 22"/>
          <p:cNvSpPr txBox="1"/>
          <p:nvPr/>
        </p:nvSpPr>
        <p:spPr>
          <a:xfrm>
            <a:off x="7477252" y="5201026"/>
            <a:ext cx="4071620" cy="634797"/>
          </a:xfrm>
          <a:prstGeom prst="rect">
            <a:avLst/>
          </a:prstGeom>
          <a:noFill/>
          <a:ln/>
        </p:spPr>
        <p:txBody>
          <a:bodyPr wrap="square" lIns="0" tIns="0" rIns="0" bIns="0" rtlCol="0" anchor="ctr"/>
          <a:lstStyle/>
          <a:p>
            <a:pPr algn="l" indent="0" marL="0">
              <a:buNone/>
            </a:pPr>
            <a:r>
              <a:rPr lang="en-US" sz="1800" i="1" dirty="0">
                <a:solidFill>
                  <a:schemeClr val="tx1"/>
                </a:solidFill>
              </a:rPr>
              <a:t>Je had de prijzen </a:t>
            </a:r>
            <a:r>
              <a:rPr lang="en-US" sz="1800" b="1" i="1" dirty="0">
                <a:solidFill>
                  <a:schemeClr val="accent3"/>
                </a:solidFill>
              </a:rPr>
              <a:t>moeten vergelijken</a:t>
            </a:r>
            <a:r>
              <a:rPr lang="en-US" sz="1800" i="1" dirty="0">
                <a:solidFill>
                  <a:schemeClr val="tx1"/>
                </a:solidFill>
              </a:rPr>
              <a:t>.</a:t>
            </a:r>
            <a:endParaRPr lang="en-US" sz="1800" dirty="0"/>
          </a:p>
        </p:txBody>
      </p:sp>
      <p:sp>
        <p:nvSpPr>
          <p:cNvPr id="33" name="Text 23"/>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Aussi : n° 2 </a:t>
            </a:r>
            <a:r>
              <a:rPr lang="en-US" sz="1300" i="1" dirty="0">
                <a:solidFill>
                  <a:schemeClr val="accent5"/>
                </a:solidFill>
              </a:rPr>
              <a:t>mee moeten nemen</a:t>
            </a:r>
            <a:r>
              <a:rPr lang="en-US" sz="1300" i="1" dirty="0">
                <a:solidFill>
                  <a:schemeClr val="accent5"/>
                </a:solidFill>
              </a:rPr>
              <a:t> / </a:t>
            </a:r>
            <a:r>
              <a:rPr lang="en-US" sz="1300" i="1" dirty="0">
                <a:solidFill>
                  <a:schemeClr val="accent5"/>
                </a:solidFill>
              </a:rPr>
              <a:t>kunnen meenemen</a:t>
            </a:r>
            <a:r>
              <a:rPr lang="en-US" sz="1300" i="1" dirty="0">
                <a:solidFill>
                  <a:schemeClr val="accent5"/>
                </a:solidFill>
              </a:rPr>
              <a:t> · n° 3 </a:t>
            </a:r>
            <a:r>
              <a:rPr lang="en-US" sz="1300" i="1" dirty="0">
                <a:solidFill>
                  <a:schemeClr val="accent5"/>
                </a:solidFill>
              </a:rPr>
              <a:t>moeten bellen</a:t>
            </a:r>
            <a:r>
              <a:rPr lang="en-US" sz="1300" i="1" dirty="0">
                <a:solidFill>
                  <a:schemeClr val="accent5"/>
                </a:solidFill>
              </a:rPr>
              <a:t> · n° 4 </a:t>
            </a:r>
            <a:r>
              <a:rPr lang="en-US" sz="1300" i="1" dirty="0">
                <a:solidFill>
                  <a:schemeClr val="accent5"/>
                </a:solidFill>
              </a:rPr>
              <a:t>moeten winnen</a:t>
            </a:r>
            <a:r>
              <a:rPr lang="en-US" sz="1300" i="1" dirty="0">
                <a:solidFill>
                  <a:schemeClr val="accent5"/>
                </a:solidFill>
              </a:rPr>
              <a:t> · n° 5 </a:t>
            </a:r>
            <a:r>
              <a:rPr lang="en-US" sz="1300" i="1" dirty="0">
                <a:solidFill>
                  <a:schemeClr val="accent5"/>
                </a:solidFill>
              </a:rPr>
              <a:t>moeten thuisblijven</a:t>
            </a:r>
            <a:r>
              <a:rPr lang="en-US" sz="1300" i="1" dirty="0">
                <a:solidFill>
                  <a:schemeClr val="accent5"/>
                </a:solidFill>
              </a:rPr>
              <a:t> · n° 6 </a:t>
            </a:r>
            <a:r>
              <a:rPr lang="en-US" sz="1300" i="1" dirty="0">
                <a:solidFill>
                  <a:schemeClr val="accent5"/>
                </a:solidFill>
              </a:rPr>
              <a:t>kunnen vergelijken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jeu des excuses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17320"/>
            <a:ext cx="11091672" cy="457200"/>
          </a:xfrm>
          <a:prstGeom prst="rect">
            <a:avLst/>
          </a:prstGeom>
          <a:noFill/>
          <a:ln/>
        </p:spPr>
        <p:txBody>
          <a:bodyPr wrap="square" lIns="0" tIns="0" rIns="0" bIns="0" rtlCol="0" anchor="t"/>
          <a:lstStyle/>
          <a:p>
            <a:pPr algn="l" indent="0" marL="0">
              <a:buNone/>
            </a:pPr>
            <a:r>
              <a:rPr lang="en-US" sz="1700" i="1" dirty="0">
                <a:solidFill>
                  <a:schemeClr val="tx2"/>
                </a:solidFill>
              </a:rPr>
              <a:t>Waarom was je er gisteren niet?</a:t>
            </a:r>
            <a:r>
              <a:rPr lang="en-US" sz="1700" dirty="0">
                <a:solidFill>
                  <a:schemeClr val="tx2"/>
                </a:solidFill>
              </a:rPr>
              <a:t> Tirez une carte orange et une carte rouge, puis inventez une excuse au passé.</a:t>
            </a:r>
            <a:endParaRPr lang="en-US" sz="1700" dirty="0"/>
          </a:p>
        </p:txBody>
      </p:sp>
      <p:sp>
        <p:nvSpPr>
          <p:cNvPr id="7" name="Shape 4"/>
          <p:cNvSpPr/>
          <p:nvPr/>
        </p:nvSpPr>
        <p:spPr>
          <a:xfrm rot="-180000">
            <a:off x="5486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8" name="Text 5"/>
          <p:cNvSpPr txBox="1"/>
          <p:nvPr/>
        </p:nvSpPr>
        <p:spPr>
          <a:xfrm rot="-180000">
            <a:off x="5486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moeten</a:t>
            </a:r>
            <a:endParaRPr lang="en-US" sz="1800" dirty="0"/>
          </a:p>
        </p:txBody>
      </p:sp>
      <p:sp>
        <p:nvSpPr>
          <p:cNvPr id="9" name="Shape 6"/>
          <p:cNvSpPr/>
          <p:nvPr/>
        </p:nvSpPr>
        <p:spPr>
          <a:xfrm rot="120000">
            <a:off x="21488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0" name="Text 7"/>
          <p:cNvSpPr txBox="1"/>
          <p:nvPr/>
        </p:nvSpPr>
        <p:spPr>
          <a:xfrm rot="120000">
            <a:off x="21488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niet kunnen</a:t>
            </a:r>
            <a:endParaRPr lang="en-US" sz="1800" dirty="0"/>
          </a:p>
        </p:txBody>
      </p:sp>
      <p:sp>
        <p:nvSpPr>
          <p:cNvPr id="11" name="Shape 8"/>
          <p:cNvSpPr/>
          <p:nvPr/>
        </p:nvSpPr>
        <p:spPr>
          <a:xfrm rot="-60000">
            <a:off x="3749040" y="2057400"/>
            <a:ext cx="1463040" cy="777240"/>
          </a:xfrm>
          <a:prstGeom prst="roundRect">
            <a:avLst>
              <a:gd name="adj" fmla="val 14118"/>
            </a:avLst>
          </a:prstGeom>
          <a:solidFill>
            <a:schemeClr val="accent1"/>
          </a:solidFill>
          <a:ln w="12700">
            <a:solidFill>
              <a:srgbClr val="FFFFFF">
                <a:alpha val="0"/>
              </a:srgbClr>
            </a:solidFill>
            <a:prstDash val="solid"/>
          </a:ln>
        </p:spPr>
      </p:sp>
      <p:sp>
        <p:nvSpPr>
          <p:cNvPr id="12" name="Text 9"/>
          <p:cNvSpPr txBox="1"/>
          <p:nvPr/>
        </p:nvSpPr>
        <p:spPr>
          <a:xfrm rot="-60000">
            <a:off x="3749040" y="205740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laten</a:t>
            </a:r>
            <a:endParaRPr lang="en-US" sz="1800" dirty="0"/>
          </a:p>
        </p:txBody>
      </p:sp>
      <p:sp>
        <p:nvSpPr>
          <p:cNvPr id="13" name="Shape 10"/>
          <p:cNvSpPr/>
          <p:nvPr/>
        </p:nvSpPr>
        <p:spPr>
          <a:xfrm rot="-180000">
            <a:off x="5486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4" name="Text 11"/>
          <p:cNvSpPr txBox="1"/>
          <p:nvPr/>
        </p:nvSpPr>
        <p:spPr>
          <a:xfrm rot="-180000">
            <a:off x="5486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gaan</a:t>
            </a:r>
            <a:endParaRPr lang="en-US" sz="1800" dirty="0"/>
          </a:p>
        </p:txBody>
      </p:sp>
      <p:sp>
        <p:nvSpPr>
          <p:cNvPr id="15" name="Shape 12"/>
          <p:cNvSpPr/>
          <p:nvPr/>
        </p:nvSpPr>
        <p:spPr>
          <a:xfrm rot="120000">
            <a:off x="21488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6" name="Text 13"/>
          <p:cNvSpPr txBox="1"/>
          <p:nvPr/>
        </p:nvSpPr>
        <p:spPr>
          <a:xfrm rot="120000">
            <a:off x="21488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blijven</a:t>
            </a:r>
            <a:endParaRPr lang="en-US" sz="1800" dirty="0"/>
          </a:p>
        </p:txBody>
      </p:sp>
      <p:sp>
        <p:nvSpPr>
          <p:cNvPr id="17" name="Shape 14"/>
          <p:cNvSpPr/>
          <p:nvPr/>
        </p:nvSpPr>
        <p:spPr>
          <a:xfrm rot="-60000">
            <a:off x="3749040" y="3017520"/>
            <a:ext cx="1463040" cy="777240"/>
          </a:xfrm>
          <a:prstGeom prst="roundRect">
            <a:avLst>
              <a:gd name="adj" fmla="val 14118"/>
            </a:avLst>
          </a:prstGeom>
          <a:solidFill>
            <a:schemeClr val="accent1"/>
          </a:solidFill>
          <a:ln w="12700">
            <a:solidFill>
              <a:srgbClr val="FFFFFF">
                <a:alpha val="0"/>
              </a:srgbClr>
            </a:solidFill>
            <a:prstDash val="solid"/>
          </a:ln>
        </p:spPr>
      </p:sp>
      <p:sp>
        <p:nvSpPr>
          <p:cNvPr id="18" name="Text 15"/>
          <p:cNvSpPr txBox="1"/>
          <p:nvPr/>
        </p:nvSpPr>
        <p:spPr>
          <a:xfrm rot="-60000">
            <a:off x="3749040" y="3017520"/>
            <a:ext cx="1463040" cy="777240"/>
          </a:xfrm>
          <a:prstGeom prst="rect">
            <a:avLst/>
          </a:prstGeom>
          <a:noFill/>
          <a:ln/>
        </p:spPr>
        <p:txBody>
          <a:bodyPr wrap="square" lIns="0" tIns="0" rIns="0" bIns="0" rtlCol="0" anchor="ctr"/>
          <a:lstStyle/>
          <a:p>
            <a:pPr algn="ctr" indent="0" marL="0">
              <a:buNone/>
            </a:pPr>
            <a:r>
              <a:rPr lang="en-US" sz="1800" b="1" i="1" dirty="0">
                <a:solidFill>
                  <a:schemeClr val="bg1"/>
                </a:solidFill>
              </a:rPr>
              <a:t>zitten</a:t>
            </a:r>
            <a:endParaRPr lang="en-US" sz="1800" dirty="0"/>
          </a:p>
        </p:txBody>
      </p:sp>
      <p:sp>
        <p:nvSpPr>
          <p:cNvPr id="19" name="Shape 16"/>
          <p:cNvSpPr/>
          <p:nvPr/>
        </p:nvSpPr>
        <p:spPr>
          <a:xfrm rot="120000">
            <a:off x="5669280" y="2057400"/>
            <a:ext cx="1389888" cy="841248"/>
          </a:xfrm>
          <a:prstGeom prst="roundRect">
            <a:avLst>
              <a:gd name="adj" fmla="val 13043"/>
            </a:avLst>
          </a:prstGeom>
          <a:solidFill>
            <a:srgbClr val="FBEDEB"/>
          </a:solidFill>
          <a:ln w="22225">
            <a:solidFill>
              <a:srgbClr val="B83227"/>
            </a:solidFill>
            <a:prstDash val="solid"/>
          </a:ln>
        </p:spPr>
      </p:sp>
      <p:pic>
        <p:nvPicPr>
          <p:cNvPr id="20" name="Image 0" descr="automobile">    </p:cNvPr>
          <p:cNvPicPr>
            <a:picLocks noChangeAspect="1"/>
          </p:cNvPicPr>
          <p:nvPr/>
        </p:nvPicPr>
        <p:blipFill>
          <a:blip r:embed="rId1"/>
          <a:stretch>
            <a:fillRect/>
          </a:stretch>
        </p:blipFill>
        <p:spPr>
          <a:xfrm>
            <a:off x="6153912" y="2112264"/>
            <a:ext cx="420624" cy="420624"/>
          </a:xfrm>
          <a:prstGeom prst="rect">
            <a:avLst/>
          </a:prstGeom>
        </p:spPr>
      </p:pic>
      <p:sp>
        <p:nvSpPr>
          <p:cNvPr id="21" name="Text 17"/>
          <p:cNvSpPr txBox="1"/>
          <p:nvPr/>
        </p:nvSpPr>
        <p:spPr>
          <a:xfrm rot="120000">
            <a:off x="566928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repareren</a:t>
            </a:r>
            <a:endParaRPr lang="en-US" sz="1400" dirty="0"/>
          </a:p>
        </p:txBody>
      </p:sp>
      <p:sp>
        <p:nvSpPr>
          <p:cNvPr id="22" name="Shape 18"/>
          <p:cNvSpPr/>
          <p:nvPr/>
        </p:nvSpPr>
        <p:spPr>
          <a:xfrm rot="-120000">
            <a:off x="7178040" y="2057400"/>
            <a:ext cx="1389888" cy="841248"/>
          </a:xfrm>
          <a:prstGeom prst="roundRect">
            <a:avLst>
              <a:gd name="adj" fmla="val 13043"/>
            </a:avLst>
          </a:prstGeom>
          <a:solidFill>
            <a:srgbClr val="FBEDEB"/>
          </a:solidFill>
          <a:ln w="22225">
            <a:solidFill>
              <a:srgbClr val="B83227"/>
            </a:solidFill>
            <a:prstDash val="solid"/>
          </a:ln>
        </p:spPr>
      </p:sp>
      <p:pic>
        <p:nvPicPr>
          <p:cNvPr id="23" name="Image 1" descr="person swimming">    </p:cNvPr>
          <p:cNvPicPr>
            <a:picLocks noChangeAspect="1"/>
          </p:cNvPicPr>
          <p:nvPr/>
        </p:nvPicPr>
        <p:blipFill>
          <a:blip r:embed="rId2"/>
          <a:stretch>
            <a:fillRect/>
          </a:stretch>
        </p:blipFill>
        <p:spPr>
          <a:xfrm>
            <a:off x="7662672" y="2112264"/>
            <a:ext cx="420624" cy="420624"/>
          </a:xfrm>
          <a:prstGeom prst="rect">
            <a:avLst/>
          </a:prstGeom>
        </p:spPr>
      </p:pic>
      <p:sp>
        <p:nvSpPr>
          <p:cNvPr id="24" name="Text 19"/>
          <p:cNvSpPr txBox="1"/>
          <p:nvPr/>
        </p:nvSpPr>
        <p:spPr>
          <a:xfrm rot="-120000">
            <a:off x="717804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zwemmen</a:t>
            </a:r>
            <a:endParaRPr lang="en-US" sz="1400" dirty="0"/>
          </a:p>
        </p:txBody>
      </p:sp>
      <p:sp>
        <p:nvSpPr>
          <p:cNvPr id="25" name="Shape 20"/>
          <p:cNvSpPr/>
          <p:nvPr/>
        </p:nvSpPr>
        <p:spPr>
          <a:xfrm rot="60000">
            <a:off x="8686800" y="2057400"/>
            <a:ext cx="1389888" cy="841248"/>
          </a:xfrm>
          <a:prstGeom prst="roundRect">
            <a:avLst>
              <a:gd name="adj" fmla="val 13043"/>
            </a:avLst>
          </a:prstGeom>
          <a:solidFill>
            <a:srgbClr val="FBEDEB"/>
          </a:solidFill>
          <a:ln w="22225">
            <a:solidFill>
              <a:srgbClr val="B83227"/>
            </a:solidFill>
            <a:prstDash val="solid"/>
          </a:ln>
        </p:spPr>
      </p:sp>
      <p:pic>
        <p:nvPicPr>
          <p:cNvPr id="26" name="Image 2" descr="bed">    </p:cNvPr>
          <p:cNvPicPr>
            <a:picLocks noChangeAspect="1"/>
          </p:cNvPicPr>
          <p:nvPr/>
        </p:nvPicPr>
        <p:blipFill>
          <a:blip r:embed="rId3"/>
          <a:stretch>
            <a:fillRect/>
          </a:stretch>
        </p:blipFill>
        <p:spPr>
          <a:xfrm>
            <a:off x="9171432" y="2112264"/>
            <a:ext cx="420624" cy="420624"/>
          </a:xfrm>
          <a:prstGeom prst="rect">
            <a:avLst/>
          </a:prstGeom>
        </p:spPr>
      </p:pic>
      <p:sp>
        <p:nvSpPr>
          <p:cNvPr id="27" name="Text 21"/>
          <p:cNvSpPr txBox="1"/>
          <p:nvPr/>
        </p:nvSpPr>
        <p:spPr>
          <a:xfrm rot="60000">
            <a:off x="868680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slapen</a:t>
            </a:r>
            <a:endParaRPr lang="en-US" sz="1400" dirty="0"/>
          </a:p>
        </p:txBody>
      </p:sp>
      <p:sp>
        <p:nvSpPr>
          <p:cNvPr id="28" name="Shape 22"/>
          <p:cNvSpPr/>
          <p:nvPr/>
        </p:nvSpPr>
        <p:spPr>
          <a:xfrm rot="-60000">
            <a:off x="10195560" y="2057400"/>
            <a:ext cx="1389888" cy="841248"/>
          </a:xfrm>
          <a:prstGeom prst="roundRect">
            <a:avLst>
              <a:gd name="adj" fmla="val 13043"/>
            </a:avLst>
          </a:prstGeom>
          <a:solidFill>
            <a:srgbClr val="FBEDEB"/>
          </a:solidFill>
          <a:ln w="22225">
            <a:solidFill>
              <a:srgbClr val="B83227"/>
            </a:solidFill>
            <a:prstDash val="solid"/>
          </a:ln>
        </p:spPr>
      </p:sp>
      <p:pic>
        <p:nvPicPr>
          <p:cNvPr id="29" name="Image 3" descr="dog">    </p:cNvPr>
          <p:cNvPicPr>
            <a:picLocks noChangeAspect="1"/>
          </p:cNvPicPr>
          <p:nvPr/>
        </p:nvPicPr>
        <p:blipFill>
          <a:blip r:embed="rId4"/>
          <a:stretch>
            <a:fillRect/>
          </a:stretch>
        </p:blipFill>
        <p:spPr>
          <a:xfrm>
            <a:off x="10680192" y="2112264"/>
            <a:ext cx="420624" cy="420624"/>
          </a:xfrm>
          <a:prstGeom prst="rect">
            <a:avLst/>
          </a:prstGeom>
        </p:spPr>
      </p:pic>
      <p:sp>
        <p:nvSpPr>
          <p:cNvPr id="30" name="Text 23"/>
          <p:cNvSpPr txBox="1"/>
          <p:nvPr/>
        </p:nvSpPr>
        <p:spPr>
          <a:xfrm rot="-60000">
            <a:off x="10195560" y="251460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wandelen</a:t>
            </a:r>
            <a:endParaRPr lang="en-US" sz="1400" dirty="0"/>
          </a:p>
        </p:txBody>
      </p:sp>
      <p:sp>
        <p:nvSpPr>
          <p:cNvPr id="31" name="Shape 24"/>
          <p:cNvSpPr/>
          <p:nvPr/>
        </p:nvSpPr>
        <p:spPr>
          <a:xfrm rot="120000">
            <a:off x="5669280" y="3017520"/>
            <a:ext cx="1389888" cy="841248"/>
          </a:xfrm>
          <a:prstGeom prst="roundRect">
            <a:avLst>
              <a:gd name="adj" fmla="val 13043"/>
            </a:avLst>
          </a:prstGeom>
          <a:solidFill>
            <a:srgbClr val="FBEDEB"/>
          </a:solidFill>
          <a:ln w="22225">
            <a:solidFill>
              <a:srgbClr val="B83227"/>
            </a:solidFill>
            <a:prstDash val="solid"/>
          </a:ln>
        </p:spPr>
      </p:sp>
      <p:pic>
        <p:nvPicPr>
          <p:cNvPr id="32" name="Image 4" descr="laptop">    </p:cNvPr>
          <p:cNvPicPr>
            <a:picLocks noChangeAspect="1"/>
          </p:cNvPicPr>
          <p:nvPr/>
        </p:nvPicPr>
        <p:blipFill>
          <a:blip r:embed="rId5"/>
          <a:stretch>
            <a:fillRect/>
          </a:stretch>
        </p:blipFill>
        <p:spPr>
          <a:xfrm>
            <a:off x="6153912" y="3072384"/>
            <a:ext cx="420624" cy="420624"/>
          </a:xfrm>
          <a:prstGeom prst="rect">
            <a:avLst/>
          </a:prstGeom>
        </p:spPr>
      </p:pic>
      <p:sp>
        <p:nvSpPr>
          <p:cNvPr id="33" name="Text 25"/>
          <p:cNvSpPr txBox="1"/>
          <p:nvPr/>
        </p:nvSpPr>
        <p:spPr>
          <a:xfrm rot="120000">
            <a:off x="566928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werken</a:t>
            </a:r>
            <a:endParaRPr lang="en-US" sz="1400" dirty="0"/>
          </a:p>
        </p:txBody>
      </p:sp>
      <p:sp>
        <p:nvSpPr>
          <p:cNvPr id="34" name="Shape 26"/>
          <p:cNvSpPr/>
          <p:nvPr/>
        </p:nvSpPr>
        <p:spPr>
          <a:xfrm rot="-120000">
            <a:off x="7178040" y="3017520"/>
            <a:ext cx="1389888" cy="841248"/>
          </a:xfrm>
          <a:prstGeom prst="roundRect">
            <a:avLst>
              <a:gd name="adj" fmla="val 13043"/>
            </a:avLst>
          </a:prstGeom>
          <a:solidFill>
            <a:srgbClr val="FBEDEB"/>
          </a:solidFill>
          <a:ln w="22225">
            <a:solidFill>
              <a:srgbClr val="B83227"/>
            </a:solidFill>
            <a:prstDash val="solid"/>
          </a:ln>
        </p:spPr>
      </p:sp>
      <p:pic>
        <p:nvPicPr>
          <p:cNvPr id="35" name="Image 5" descr="hourglass not done">    </p:cNvPr>
          <p:cNvPicPr>
            <a:picLocks noChangeAspect="1"/>
          </p:cNvPicPr>
          <p:nvPr/>
        </p:nvPicPr>
        <p:blipFill>
          <a:blip r:embed="rId6"/>
          <a:stretch>
            <a:fillRect/>
          </a:stretch>
        </p:blipFill>
        <p:spPr>
          <a:xfrm>
            <a:off x="7662672" y="3072384"/>
            <a:ext cx="420624" cy="420624"/>
          </a:xfrm>
          <a:prstGeom prst="rect">
            <a:avLst/>
          </a:prstGeom>
        </p:spPr>
      </p:pic>
      <p:sp>
        <p:nvSpPr>
          <p:cNvPr id="36" name="Text 27"/>
          <p:cNvSpPr txBox="1"/>
          <p:nvPr/>
        </p:nvSpPr>
        <p:spPr>
          <a:xfrm rot="-120000">
            <a:off x="717804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wachten</a:t>
            </a:r>
            <a:endParaRPr lang="en-US" sz="1400" dirty="0"/>
          </a:p>
        </p:txBody>
      </p:sp>
      <p:sp>
        <p:nvSpPr>
          <p:cNvPr id="37" name="Shape 28"/>
          <p:cNvSpPr/>
          <p:nvPr/>
        </p:nvSpPr>
        <p:spPr>
          <a:xfrm rot="60000">
            <a:off x="8686800" y="3017520"/>
            <a:ext cx="1389888" cy="841248"/>
          </a:xfrm>
          <a:prstGeom prst="roundRect">
            <a:avLst>
              <a:gd name="adj" fmla="val 13043"/>
            </a:avLst>
          </a:prstGeom>
          <a:solidFill>
            <a:srgbClr val="FBEDEB"/>
          </a:solidFill>
          <a:ln w="22225">
            <a:solidFill>
              <a:srgbClr val="B83227"/>
            </a:solidFill>
            <a:prstDash val="solid"/>
          </a:ln>
        </p:spPr>
      </p:sp>
      <p:pic>
        <p:nvPicPr>
          <p:cNvPr id="38" name="Image 6" descr="shopping cart">    </p:cNvPr>
          <p:cNvPicPr>
            <a:picLocks noChangeAspect="1"/>
          </p:cNvPicPr>
          <p:nvPr/>
        </p:nvPicPr>
        <p:blipFill>
          <a:blip r:embed="rId7"/>
          <a:stretch>
            <a:fillRect/>
          </a:stretch>
        </p:blipFill>
        <p:spPr>
          <a:xfrm>
            <a:off x="9171432" y="3072384"/>
            <a:ext cx="420624" cy="420624"/>
          </a:xfrm>
          <a:prstGeom prst="rect">
            <a:avLst/>
          </a:prstGeom>
        </p:spPr>
      </p:pic>
      <p:sp>
        <p:nvSpPr>
          <p:cNvPr id="39" name="Text 29"/>
          <p:cNvSpPr txBox="1"/>
          <p:nvPr/>
        </p:nvSpPr>
        <p:spPr>
          <a:xfrm rot="60000">
            <a:off x="868680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winkelen</a:t>
            </a:r>
            <a:endParaRPr lang="en-US" sz="1400" dirty="0"/>
          </a:p>
        </p:txBody>
      </p:sp>
      <p:sp>
        <p:nvSpPr>
          <p:cNvPr id="40" name="Shape 30"/>
          <p:cNvSpPr/>
          <p:nvPr/>
        </p:nvSpPr>
        <p:spPr>
          <a:xfrm rot="-60000">
            <a:off x="10195560" y="3017520"/>
            <a:ext cx="1389888" cy="841248"/>
          </a:xfrm>
          <a:prstGeom prst="roundRect">
            <a:avLst>
              <a:gd name="adj" fmla="val 13043"/>
            </a:avLst>
          </a:prstGeom>
          <a:solidFill>
            <a:srgbClr val="FBEDEB"/>
          </a:solidFill>
          <a:ln w="22225">
            <a:solidFill>
              <a:srgbClr val="B83227"/>
            </a:solidFill>
            <a:prstDash val="solid"/>
          </a:ln>
        </p:spPr>
      </p:sp>
      <p:pic>
        <p:nvPicPr>
          <p:cNvPr id="41" name="Image 7" descr="cooking">    </p:cNvPr>
          <p:cNvPicPr>
            <a:picLocks noChangeAspect="1"/>
          </p:cNvPicPr>
          <p:nvPr/>
        </p:nvPicPr>
        <p:blipFill>
          <a:blip r:embed="rId8"/>
          <a:stretch>
            <a:fillRect/>
          </a:stretch>
        </p:blipFill>
        <p:spPr>
          <a:xfrm>
            <a:off x="10680192" y="3072384"/>
            <a:ext cx="420624" cy="420624"/>
          </a:xfrm>
          <a:prstGeom prst="rect">
            <a:avLst/>
          </a:prstGeom>
        </p:spPr>
      </p:pic>
      <p:sp>
        <p:nvSpPr>
          <p:cNvPr id="42" name="Text 31"/>
          <p:cNvSpPr txBox="1"/>
          <p:nvPr/>
        </p:nvSpPr>
        <p:spPr>
          <a:xfrm rot="-60000">
            <a:off x="10195560" y="3474720"/>
            <a:ext cx="1389888" cy="347472"/>
          </a:xfrm>
          <a:prstGeom prst="rect">
            <a:avLst/>
          </a:prstGeom>
          <a:noFill/>
          <a:ln/>
        </p:spPr>
        <p:txBody>
          <a:bodyPr wrap="square" lIns="0" tIns="0" rIns="0" bIns="0" rtlCol="0" anchor="ctr"/>
          <a:lstStyle/>
          <a:p>
            <a:pPr algn="ctr" indent="0" marL="0">
              <a:buNone/>
            </a:pPr>
            <a:r>
              <a:rPr lang="en-US" sz="1400" b="1" i="1" dirty="0">
                <a:solidFill>
                  <a:schemeClr val="accent6"/>
                </a:solidFill>
              </a:rPr>
              <a:t>koken</a:t>
            </a:r>
            <a:endParaRPr lang="en-US" sz="1400" dirty="0"/>
          </a:p>
        </p:txBody>
      </p:sp>
      <p:sp>
        <p:nvSpPr>
          <p:cNvPr id="43" name="Shape 32"/>
          <p:cNvSpPr/>
          <p:nvPr/>
        </p:nvSpPr>
        <p:spPr>
          <a:xfrm>
            <a:off x="548640" y="4206240"/>
            <a:ext cx="11091672" cy="914400"/>
          </a:xfrm>
          <a:prstGeom prst="roundRect">
            <a:avLst>
              <a:gd name="adj" fmla="val 12000"/>
            </a:avLst>
          </a:prstGeom>
          <a:solidFill>
            <a:schemeClr val="bg2"/>
          </a:solidFill>
          <a:ln w="12700">
            <a:solidFill>
              <a:srgbClr val="D5DCE6"/>
            </a:solidFill>
            <a:prstDash val="solid"/>
          </a:ln>
        </p:spPr>
      </p:sp>
      <p:pic>
        <p:nvPicPr>
          <p:cNvPr id="44" name="Image 8" descr="speech balloon">    </p:cNvPr>
          <p:cNvPicPr>
            <a:picLocks noChangeAspect="1"/>
          </p:cNvPicPr>
          <p:nvPr/>
        </p:nvPicPr>
        <p:blipFill>
          <a:blip r:embed="rId9"/>
          <a:stretch>
            <a:fillRect/>
          </a:stretch>
        </p:blipFill>
        <p:spPr>
          <a:xfrm>
            <a:off x="685800" y="4315968"/>
            <a:ext cx="685800" cy="685800"/>
          </a:xfrm>
          <a:prstGeom prst="rect">
            <a:avLst/>
          </a:prstGeom>
        </p:spPr>
      </p:pic>
      <p:sp>
        <p:nvSpPr>
          <p:cNvPr id="45" name="Text 33"/>
          <p:cNvSpPr txBox="1"/>
          <p:nvPr/>
        </p:nvSpPr>
        <p:spPr>
          <a:xfrm>
            <a:off x="1508760" y="4206240"/>
            <a:ext cx="9966960" cy="914400"/>
          </a:xfrm>
          <a:prstGeom prst="rect">
            <a:avLst/>
          </a:prstGeom>
          <a:noFill/>
          <a:ln/>
        </p:spPr>
        <p:txBody>
          <a:bodyPr wrap="square" lIns="0" tIns="0" rIns="0" bIns="0" rtlCol="0" anchor="ctr"/>
          <a:lstStyle/>
          <a:p>
            <a:pPr algn="l" indent="0" marL="0">
              <a:buNone/>
            </a:pPr>
            <a:r>
              <a:rPr lang="en-US" sz="1900" i="1" dirty="0">
                <a:solidFill>
                  <a:schemeClr val="tx1"/>
                </a:solidFill>
              </a:rPr>
              <a:t>Sorry, ik heb mijn auto </a:t>
            </a:r>
            <a:r>
              <a:rPr lang="en-US" sz="1900" b="1" i="1" dirty="0">
                <a:solidFill>
                  <a:srgbClr val="D9700F"/>
                </a:solidFill>
              </a:rPr>
              <a:t>moeten laten repareren</a:t>
            </a:r>
            <a:r>
              <a:rPr lang="en-US" sz="1900" i="1" dirty="0">
                <a:solidFill>
                  <a:schemeClr val="tx1"/>
                </a:solidFill>
              </a:rPr>
              <a:t>! · Ik </a:t>
            </a:r>
            <a:r>
              <a:rPr lang="en-US" sz="1900" b="1" i="1" dirty="0">
                <a:solidFill>
                  <a:srgbClr val="17375E"/>
                </a:solidFill>
              </a:rPr>
              <a:t>ben</a:t>
            </a:r>
            <a:r>
              <a:rPr lang="en-US" sz="1900" i="1" dirty="0">
                <a:solidFill>
                  <a:schemeClr val="tx1"/>
                </a:solidFill>
              </a:rPr>
              <a:t> thuis </a:t>
            </a:r>
            <a:r>
              <a:rPr lang="en-US" sz="1900" b="1" i="1" dirty="0">
                <a:solidFill>
                  <a:srgbClr val="D9700F"/>
                </a:solidFill>
              </a:rPr>
              <a:t>blijven slapen</a:t>
            </a:r>
            <a:r>
              <a:rPr lang="en-US" sz="1900" i="1" dirty="0">
                <a:solidFill>
                  <a:schemeClr val="tx1"/>
                </a:solidFill>
              </a:rPr>
              <a:t>.</a:t>
            </a:r>
            <a:endParaRPr lang="en-US" sz="1800" dirty="0"/>
          </a:p>
        </p:txBody>
      </p:sp>
      <p:sp>
        <p:nvSpPr>
          <p:cNvPr id="46" name="Text 34"/>
          <p:cNvSpPr txBox="1"/>
          <p:nvPr/>
        </p:nvSpPr>
        <p:spPr>
          <a:xfrm>
            <a:off x="548640" y="5257800"/>
            <a:ext cx="11091672" cy="868680"/>
          </a:xfrm>
          <a:prstGeom prst="rect">
            <a:avLst/>
          </a:prstGeom>
          <a:noFill/>
          <a:ln/>
        </p:spPr>
        <p:txBody>
          <a:bodyPr wrap="square" lIns="0" tIns="0" rIns="0" bIns="0" rtlCol="0" anchor="t"/>
          <a:lstStyle/>
          <a:p>
            <a:pPr algn="l" indent="0" marL="0">
              <a:spcAft>
                <a:spcPts val="400"/>
              </a:spcAft>
              <a:buNone/>
            </a:pPr>
            <a:r>
              <a:rPr lang="en-US" sz="1600" b="1" dirty="0">
                <a:solidFill>
                  <a:schemeClr val="tx1"/>
                </a:solidFill>
              </a:rPr>
              <a:t>1 point</a:t>
            </a:r>
            <a:r>
              <a:rPr lang="en-US" sz="1600" dirty="0">
                <a:solidFill>
                  <a:schemeClr val="tx1"/>
                </a:solidFill>
              </a:rPr>
              <a:t> par phrase correcte (bon auxiliaire, bon ordre) · </a:t>
            </a:r>
            <a:r>
              <a:rPr lang="en-US" sz="1600" b="1" dirty="0">
                <a:solidFill>
                  <a:schemeClr val="tx1"/>
                </a:solidFill>
              </a:rPr>
              <a:t>2 points</a:t>
            </a:r>
            <a:r>
              <a:rPr lang="en-US" sz="1600" dirty="0">
                <a:solidFill>
                  <a:schemeClr val="tx1"/>
                </a:solidFill>
              </a:rPr>
              <a:t> si l’excuse fait rire la classe.</a:t>
            </a:r>
            <a:endParaRPr lang="en-US" sz="1600" dirty="0"/>
          </a:p>
          <a:p>
            <a:pPr algn="l" indent="0" marL="0">
              <a:spcAft>
                <a:spcPts val="400"/>
              </a:spcAft>
              <a:buNone/>
            </a:pPr>
            <a:r>
              <a:rPr lang="en-US" sz="1600" dirty="0">
                <a:solidFill>
                  <a:schemeClr val="tx1"/>
                </a:solidFill>
              </a:rPr>
              <a:t>Le groupe réagit : </a:t>
            </a:r>
            <a:r>
              <a:rPr lang="en-US" sz="1600" i="1" dirty="0">
                <a:solidFill>
                  <a:schemeClr val="tx1"/>
                </a:solidFill>
              </a:rPr>
              <a:t>Je had me kunnen bellen!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Lundi matin</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chez Peeters &amp; Co. Le rapport n’est pas prêt. Objectif : 5 doubles infinitifs.</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d’équipe</a:t>
            </a:r>
            <a:endParaRPr lang="en-US" sz="1700" dirty="0"/>
          </a:p>
          <a:p>
            <a:pPr algn="l" indent="0" marL="0">
              <a:spcAft>
                <a:spcPts val="600"/>
              </a:spcAft>
              <a:buNone/>
            </a:pPr>
            <a:r>
              <a:rPr lang="en-US" sz="1700" dirty="0">
                <a:solidFill>
                  <a:schemeClr val="tx1"/>
                </a:solidFill>
              </a:rPr>
              <a:t>Demandez pourquoi le rapport n’est pas prêt et comment s’est passé le week-end. Réagissez.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Expliquez et excusez-vous avec les notes du week-end. Proposez une solution.</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Ik heb … moeten / kunnen / willen … · Ik heb … laten … · Ik ben … gaan / komen / blijven … · Ik heb … zitten … · Ik had … moeten … · Je had me kunnen bellen. · Geen probleem. · Kan het tegen woensdag?</a:t>
            </a:r>
            <a:endParaRPr lang="en-US" sz="1600" dirty="0"/>
          </a:p>
        </p:txBody>
      </p:sp>
      <p:sp>
        <p:nvSpPr>
          <p:cNvPr id="19" name="Shape 16"/>
          <p:cNvSpPr/>
          <p:nvPr/>
        </p:nvSpPr>
        <p:spPr>
          <a:xfrm rot="60000">
            <a:off x="8074152" y="1481328"/>
            <a:ext cx="3566160" cy="4809744"/>
          </a:xfrm>
          <a:prstGeom prst="roundRect">
            <a:avLst>
              <a:gd name="adj" fmla="val 1026"/>
            </a:avLst>
          </a:prstGeom>
          <a:solidFill>
            <a:srgbClr val="FFF6C9"/>
          </a:solidFill>
          <a:ln w="12700">
            <a:solidFill>
              <a:srgbClr val="F4B400"/>
            </a:solidFill>
            <a:prstDash val="solid"/>
          </a:ln>
          <a:effectLst>
            <a:outerShdw sx="100000" sy="100000" kx="0" ky="0" algn="bl" rotWithShape="0" blurRad="101600" dist="25400" dir="3600000">
              <a:srgbClr val="000000">
                <a:alpha val="16000"/>
              </a:srgbClr>
            </a:outerShdw>
          </a:effectLst>
        </p:spPr>
      </p:sp>
      <p:sp>
        <p:nvSpPr>
          <p:cNvPr id="20" name="Text 17"/>
          <p:cNvSpPr txBox="1"/>
          <p:nvPr/>
        </p:nvSpPr>
        <p:spPr>
          <a:xfrm>
            <a:off x="8257032" y="1618488"/>
            <a:ext cx="3200400" cy="457200"/>
          </a:xfrm>
          <a:prstGeom prst="rect">
            <a:avLst/>
          </a:prstGeom>
          <a:noFill/>
          <a:ln/>
        </p:spPr>
        <p:txBody>
          <a:bodyPr wrap="square" lIns="0" tIns="0" rIns="0" bIns="0" rtlCol="0" anchor="t"/>
          <a:lstStyle/>
          <a:p>
            <a:pPr algn="l" indent="0" marL="0">
              <a:buNone/>
            </a:pPr>
            <a:r>
              <a:rPr lang="en-US" sz="1800" b="1" dirty="0">
                <a:solidFill>
                  <a:schemeClr val="tx2"/>
                </a:solidFill>
              </a:rPr>
              <a:t>Mijn weekend</a:t>
            </a:r>
            <a:endParaRPr lang="en-US" sz="1800" dirty="0"/>
          </a:p>
        </p:txBody>
      </p:sp>
      <p:pic>
        <p:nvPicPr>
          <p:cNvPr id="21" name="Image 0" descr="automobile">    </p:cNvPr>
          <p:cNvPicPr>
            <a:picLocks noChangeAspect="1"/>
          </p:cNvPicPr>
          <p:nvPr/>
        </p:nvPicPr>
        <p:blipFill>
          <a:blip r:embed="rId1"/>
          <a:stretch>
            <a:fillRect/>
          </a:stretch>
        </p:blipFill>
        <p:spPr>
          <a:xfrm>
            <a:off x="8257032" y="2212848"/>
            <a:ext cx="502920" cy="502920"/>
          </a:xfrm>
          <a:prstGeom prst="rect">
            <a:avLst/>
          </a:prstGeom>
        </p:spPr>
      </p:pic>
      <p:sp>
        <p:nvSpPr>
          <p:cNvPr id="22" name="Text 18"/>
          <p:cNvSpPr txBox="1"/>
          <p:nvPr/>
        </p:nvSpPr>
        <p:spPr>
          <a:xfrm>
            <a:off x="8851392" y="212140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auto </a:t>
            </a:r>
            <a:r>
              <a:rPr lang="en-US" sz="1400" b="1" i="1" dirty="0">
                <a:solidFill>
                  <a:schemeClr val="tx1"/>
                </a:solidFill>
              </a:rPr>
              <a:t>laten</a:t>
            </a:r>
            <a:r>
              <a:rPr lang="en-US" sz="1400" i="1" dirty="0">
                <a:solidFill>
                  <a:schemeClr val="tx1"/>
                </a:solidFill>
              </a:rPr>
              <a:t> repareren</a:t>
            </a:r>
            <a:endParaRPr lang="en-US" sz="1400" dirty="0"/>
          </a:p>
        </p:txBody>
      </p:sp>
      <p:pic>
        <p:nvPicPr>
          <p:cNvPr id="23" name="Image 1" descr="person swimming">    </p:cNvPr>
          <p:cNvPicPr>
            <a:picLocks noChangeAspect="1"/>
          </p:cNvPicPr>
          <p:nvPr/>
        </p:nvPicPr>
        <p:blipFill>
          <a:blip r:embed="rId2"/>
          <a:stretch>
            <a:fillRect/>
          </a:stretch>
        </p:blipFill>
        <p:spPr>
          <a:xfrm>
            <a:off x="8257032" y="2990088"/>
            <a:ext cx="502920" cy="502920"/>
          </a:xfrm>
          <a:prstGeom prst="rect">
            <a:avLst/>
          </a:prstGeom>
        </p:spPr>
      </p:pic>
      <p:sp>
        <p:nvSpPr>
          <p:cNvPr id="24" name="Text 19"/>
          <p:cNvSpPr txBox="1"/>
          <p:nvPr/>
        </p:nvSpPr>
        <p:spPr>
          <a:xfrm>
            <a:off x="8851392" y="289864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za: met de kinderen </a:t>
            </a:r>
            <a:r>
              <a:rPr lang="en-US" sz="1400" b="1" i="1" dirty="0">
                <a:solidFill>
                  <a:schemeClr val="tx1"/>
                </a:solidFill>
              </a:rPr>
              <a:t>gaan</a:t>
            </a:r>
            <a:r>
              <a:rPr lang="en-US" sz="1400" i="1" dirty="0">
                <a:solidFill>
                  <a:schemeClr val="tx1"/>
                </a:solidFill>
              </a:rPr>
              <a:t> zwemmen</a:t>
            </a:r>
            <a:endParaRPr lang="en-US" sz="1400" dirty="0"/>
          </a:p>
        </p:txBody>
      </p:sp>
      <p:pic>
        <p:nvPicPr>
          <p:cNvPr id="25" name="Image 2" descr="hourglass not done">    </p:cNvPr>
          <p:cNvPicPr>
            <a:picLocks noChangeAspect="1"/>
          </p:cNvPicPr>
          <p:nvPr/>
        </p:nvPicPr>
        <p:blipFill>
          <a:blip r:embed="rId3"/>
          <a:stretch>
            <a:fillRect/>
          </a:stretch>
        </p:blipFill>
        <p:spPr>
          <a:xfrm>
            <a:off x="8257032" y="3767328"/>
            <a:ext cx="502920" cy="502920"/>
          </a:xfrm>
          <a:prstGeom prst="rect">
            <a:avLst/>
          </a:prstGeom>
        </p:spPr>
      </p:pic>
      <p:sp>
        <p:nvSpPr>
          <p:cNvPr id="26" name="Text 20"/>
          <p:cNvSpPr txBox="1"/>
          <p:nvPr/>
        </p:nvSpPr>
        <p:spPr>
          <a:xfrm>
            <a:off x="8851392" y="367588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3 uur in de file </a:t>
            </a:r>
            <a:r>
              <a:rPr lang="en-US" sz="1400" b="1" i="1" dirty="0">
                <a:solidFill>
                  <a:schemeClr val="tx1"/>
                </a:solidFill>
              </a:rPr>
              <a:t>moeten</a:t>
            </a:r>
            <a:r>
              <a:rPr lang="en-US" sz="1400" i="1" dirty="0">
                <a:solidFill>
                  <a:schemeClr val="tx1"/>
                </a:solidFill>
              </a:rPr>
              <a:t> staan</a:t>
            </a:r>
            <a:endParaRPr lang="en-US" sz="1400" dirty="0"/>
          </a:p>
        </p:txBody>
      </p:sp>
      <p:pic>
        <p:nvPicPr>
          <p:cNvPr id="27" name="Image 3" descr="laptop">    </p:cNvPr>
          <p:cNvPicPr>
            <a:picLocks noChangeAspect="1"/>
          </p:cNvPicPr>
          <p:nvPr/>
        </p:nvPicPr>
        <p:blipFill>
          <a:blip r:embed="rId4"/>
          <a:stretch>
            <a:fillRect/>
          </a:stretch>
        </p:blipFill>
        <p:spPr>
          <a:xfrm>
            <a:off x="8257032" y="4544568"/>
            <a:ext cx="502920" cy="502920"/>
          </a:xfrm>
          <a:prstGeom prst="rect">
            <a:avLst/>
          </a:prstGeom>
        </p:spPr>
      </p:pic>
      <p:sp>
        <p:nvSpPr>
          <p:cNvPr id="28" name="Text 21"/>
          <p:cNvSpPr txBox="1"/>
          <p:nvPr/>
        </p:nvSpPr>
        <p:spPr>
          <a:xfrm>
            <a:off x="8851392" y="445312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niet </a:t>
            </a:r>
            <a:r>
              <a:rPr lang="en-US" sz="1400" b="1" i="1" dirty="0">
                <a:solidFill>
                  <a:schemeClr val="tx1"/>
                </a:solidFill>
              </a:rPr>
              <a:t>kunnen</a:t>
            </a:r>
            <a:r>
              <a:rPr lang="en-US" sz="1400" i="1" dirty="0">
                <a:solidFill>
                  <a:schemeClr val="tx1"/>
                </a:solidFill>
              </a:rPr>
              <a:t> werken (wifi!)</a:t>
            </a:r>
            <a:endParaRPr lang="en-US" sz="1400" dirty="0"/>
          </a:p>
        </p:txBody>
      </p:sp>
      <p:pic>
        <p:nvPicPr>
          <p:cNvPr id="29" name="Image 4" descr="bed">    </p:cNvPr>
          <p:cNvPicPr>
            <a:picLocks noChangeAspect="1"/>
          </p:cNvPicPr>
          <p:nvPr/>
        </p:nvPicPr>
        <p:blipFill>
          <a:blip r:embed="rId5"/>
          <a:stretch>
            <a:fillRect/>
          </a:stretch>
        </p:blipFill>
        <p:spPr>
          <a:xfrm>
            <a:off x="8257032" y="5321808"/>
            <a:ext cx="502920" cy="502920"/>
          </a:xfrm>
          <a:prstGeom prst="rect">
            <a:avLst/>
          </a:prstGeom>
        </p:spPr>
      </p:pic>
      <p:sp>
        <p:nvSpPr>
          <p:cNvPr id="30" name="Text 22"/>
          <p:cNvSpPr txBox="1"/>
          <p:nvPr/>
        </p:nvSpPr>
        <p:spPr>
          <a:xfrm>
            <a:off x="8851392" y="5230368"/>
            <a:ext cx="2651760" cy="685800"/>
          </a:xfrm>
          <a:prstGeom prst="rect">
            <a:avLst/>
          </a:prstGeom>
          <a:noFill/>
          <a:ln/>
        </p:spPr>
        <p:txBody>
          <a:bodyPr wrap="square" lIns="0" tIns="0" rIns="0" bIns="0" rtlCol="0" anchor="ctr"/>
          <a:lstStyle/>
          <a:p>
            <a:pPr algn="l" indent="0" marL="0">
              <a:buNone/>
            </a:pPr>
            <a:r>
              <a:rPr lang="en-US" sz="1400" i="1" dirty="0">
                <a:solidFill>
                  <a:schemeClr val="tx1"/>
                </a:solidFill>
              </a:rPr>
              <a:t>zo: bij mijn zus </a:t>
            </a:r>
            <a:r>
              <a:rPr lang="en-US" sz="1400" b="1" i="1" dirty="0">
                <a:solidFill>
                  <a:schemeClr val="tx1"/>
                </a:solidFill>
              </a:rPr>
              <a:t>blijven</a:t>
            </a:r>
            <a:r>
              <a:rPr lang="en-US" sz="1400" i="1" dirty="0">
                <a:solidFill>
                  <a:schemeClr val="tx1"/>
                </a:solidFill>
              </a:rPr>
              <a:t> slapen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moet werken.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gaan zwemmen.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En néerlandais : </a:t>
            </a:r>
            <a:r>
              <a:rPr lang="en-US" sz="2000" i="1" dirty="0">
                <a:solidFill>
                  <a:schemeClr val="tx1"/>
                </a:solidFill>
              </a:rPr>
              <a:t>J’aurais dû le dire.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racontez votre week-end en 5 phrases, avec 3 doubles infinitifs.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Ik heb moeten werken — Le double infinitif</dc:title>
  <dc:subject>Néerlandais 1 — Langue en situation, en milieu professionnel</dc:subject>
  <dc:creator>A. Jouniaux</dc:creator>
  <cp:lastModifiedBy>A. Jouniaux</cp:lastModifiedBy>
  <cp:revision>1</cp:revision>
  <dcterms:created xsi:type="dcterms:W3CDTF">2026-10-06T17:53:50Z</dcterms:created>
  <dcterms:modified xsi:type="dcterms:W3CDTF">2026-10-06T17:53:50Z</dcterms:modified>
</cp:coreProperties>
</file>