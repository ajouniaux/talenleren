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1e6c9328-cf7b-5a21-5701-5a0eae8422d0}">
          <p14:sldIdLst>
            <p14:sldId id="256"/>
          </p14:sldIdLst>
        </p14:section>
        <p14:section name="Découvrir" id="{33ccd183-b916-195e-7d9f-714f959478fc}">
          <p14:sldIdLst>
            <p14:sldId id="257"/>
            <p14:sldId id="258"/>
          </p14:sldIdLst>
        </p14:section>
        <p14:section name="Comprendre" id="{b79edac8-210c-3b43-a4ef-5b3d66c673e1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a48a07c6-800b-31df-a06f-6b2f5b1974af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6d528d18-ae5b-6e34-dda7-112b28386cee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lire et dire les grands montants.
Demandez : « Comment lire ce prix ? » Beaucoup d'apprenants hésitent dès 100. À la fin du module, ils liront un loyer, une facture et un salaire sans hésiter.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Les montants sont partout au travail : factures, devis, salaires, budgets.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Activer les nombres et créer le besoin de lire les grands montants.
Prix réalistes : € 450, € 1.200, € 1.150, € 25.000. Ne corrigez pas encore la lecture : notez les hésitations (een duizend ?, ordre des unités) pour y revenir.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Réactiver la règle des unités avant les dizaines.
Le tréma apparaît quand deux e se suivent (twee + en). Rappel des dizaines : twintig, dertig, veertig, vijftig, zestig, zeventig, tachtig, negentig. Attention : veertig (40, ee) ≠ vier ; tachtig (80) commence par 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les nombres de 100 à 999.
Ordre : centaines, puis le bloc « unités + en + dizaines ». Sur un document officiel, on lit parfois eenhonderd pour éviter les fraudes ; à l'oral, on dit honderd.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 nombre de 1 000 à 999 999 grâce au découpage en tranches.
Comme pour honderd : ✗ een duizend. Les apprenants qui lisent bien 1 à 999 savent tout lire jusqu'à 999 999 : il suffit d'ajouter duizend.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les nombres en lettres selon la règle officielle.
Règle de l'orthographe officielle (Taalunie). En pratique, on écrit les montants en chiffres ; l'écriture en lettres sert pour les contrats et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la lecture en centaines entre 1 100 et 1 999, et la lecture des années.
Les deux lectures du montant sont correctes ; twaalfhonderd est très courant à l'oral pour les prix. Pour les années avant 2000, on lit toujours en centaines (negentienhonderd…), comme « dix-neuf cent » en français.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 prix avec centimes et maîtriser les séparateurs.
Forme courte, sans en : twaalf euro vijftig (forme longue : twaalf euro en vijftig cent). euro se prononce « eu-ro ». Pluriel sans nombre : Het kost duizenden euro's.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faux amis et les calques des grands nombres.
Contrairement à honderd et duizend, miljoen et miljard prennent een. biljoen = 10¹², comme le « billion » français ; l'anglais billion = miljard. Dans les chiffres, le néerlandais met un point (ou une espace) pour les milliers.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Parler de montants approximatifs.
ruim est très fréquent dans les médias : ruim een miljoen inwoners. een paar honderd euro = quelques centaines d'euros.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les montants dans des documents professionnels.
Faites lire le total : veertienduizend zevenhonderdtweeënzestig euro. btw = la TVA (21 % en Belgique pour la plupart des biens et services). bruto / netto comme en français. huur = le loyer, de huurwaarborg = la garantie locative (BE).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les nombres en lettres, avec la bonne orthographe.
Vérifiez les espaces (après duizend) et le tréma (drieëntwintig).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Écrire les nombres en lettres, avec la bonne orthographe.
Vérifiez les espaces (après duizend) et le tréma (drieëntwintig).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un montant à l'oral et l'écrire en chiffres.
Lisez à vitesse normale, deux fois. N° 2 : twaalfhonderd = 1 200 (diapo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Comprendre un montant à l'oral et l'écrire en chiffres.
Lisez à vitesse normale, deux fois. N° 2 : twaalfhonderd = 1 200 (diapo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Découper un nombre et le lire tranche par tranche.
N° 4 : la tranche tweehonderdvijftig se colle à duizend (un seul mot). Faites lire chaque nombre à voix haute après la remise en ordre.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Découper un nombre et le lire tranche par tranche.
N° 4 : la tranche tweehonderdvijftig se colle à duizend (un seul mot). Faites lire chaque nombre à voix haute après la remise en ordre.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devis.
Leurre : twaalfduizend euro est correct. Faites vérifier le total : 12 000 + 200 + 23 = 12 223 € ; avec une virgule, 12,223 voudrait dire « un peu plus de douze euros » ! Faites lire le total : twaalfduizend tweehonderddrieëntwintig euro.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devis.
Leurre : twaalfduizend euro est correct. Faites vérifier le total : 12 000 + 200 + 23 = 12 223 € ; avec une virgule, 12,223 voudrait dire « un peu plus de douze euros » ! Faites lire le total : twaalfduizend tweehonderddrieëntwintig euro.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 même nombre comme année ou comme montant.
Les années avant 2000 se lisent toujours en centaines. Pour les montants, les deux lectures sont acceptées.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Lire un même nombre comme année ou comme montant.
Les années avant 2000 se lisent toujours en centaines. Pour les montants, les deux lectures sont acceptées.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et comprendre des montants vite, en jouant.
Prix-cibles (à adapter) : € 8.500 · € 750 · € 1.200 · € 2.300 · € 12.000 · € 780. hoger = plus haut, lager = plus bas. Obligez à dire les montants en entier, sans chiffres écrits.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discuter le prix d'une location.
kosten = les charges ; inbegrepen = compris ; huurwaarborg (BE) = garantie locative, souvent deux mois de loyer. Exigez au moins 4 montants dits à voix haute.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vierduizend driehonderdvijfenzeventig.
2. duizend tweehonderdnegenennegentig euro vijfennegentig (ou twaalfhonderdnegenennegentig…).
3. Het kost duizend euro.
Teaser M27 : Ik zwem graag — ik hou van de zee.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26 · Hoeveel kost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26 · Hoeveel kost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26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Hoeveel kost het?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montants au-delà de 1 000 €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€ 1.250 = duizend tweehonderdvijftig euro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0" y="822960"/>
            <a:ext cx="4937760" cy="27432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12280" y="9144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6"/>
                </a:solidFill>
              </a:rPr>
              <a:t>TE HUUR · ETTERBEEK</a:t>
            </a:r>
            <a:endParaRPr lang="en-US" sz="1300" dirty="0"/>
          </a:p>
        </p:txBody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417320"/>
            <a:ext cx="1463040" cy="1463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412480" y="1417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appartement · 2 slaapkamers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vanaf 1 maart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412480" y="2377440"/>
            <a:ext cx="29260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540496" y="272948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78240" y="237744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€ 1.250,–</a:t>
            </a:r>
            <a:endParaRPr lang="en-US" sz="3000" dirty="0"/>
          </a:p>
        </p:txBody>
      </p:sp>
      <p:sp>
        <p:nvSpPr>
          <p:cNvPr id="12" name="Shape 9"/>
          <p:cNvSpPr/>
          <p:nvPr/>
        </p:nvSpPr>
        <p:spPr>
          <a:xfrm>
            <a:off x="6583680" y="3794760"/>
            <a:ext cx="4937760" cy="777240"/>
          </a:xfrm>
          <a:prstGeom prst="roundRect">
            <a:avLst>
              <a:gd name="adj" fmla="val 2117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766560" y="37947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duizend tweehonderdvijftig</a:t>
            </a:r>
            <a:r>
              <a:rPr lang="en-US" sz="20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euro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alcula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lis les grands nombres : </a:t>
            </a:r>
            <a:r>
              <a:rPr lang="en-US" sz="2000" i="1" dirty="0">
                <a:solidFill>
                  <a:schemeClr val="tx1"/>
                </a:solidFill>
              </a:rPr>
              <a:t>15.750 · 1.200.000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MoneyBillWa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Dire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un prix avec centimes : </a:t>
            </a:r>
            <a:r>
              <a:rPr lang="en-US" sz="2000" i="1" dirty="0">
                <a:solidFill>
                  <a:schemeClr val="tx1"/>
                </a:solidFill>
              </a:rPr>
              <a:t>€ 12,50 = twaalf euro vijftig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Discuter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d’un loyer, d’une facture : </a:t>
            </a:r>
            <a:r>
              <a:rPr lang="en-US" sz="2000" i="1" dirty="0">
                <a:solidFill>
                  <a:schemeClr val="tx1"/>
                </a:solidFill>
              </a:rPr>
              <a:t>Hoeveel kost het per maand?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montants sont partout au travail : factures, devis, salaires, budgets.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 juste prix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bicy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9319" y="1691640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fiets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868680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68680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€ 450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868680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€ 4.500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68680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8680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€ 45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3367278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7957" y="1691640"/>
            <a:ext cx="914400" cy="9144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58718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laptop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3687318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3687318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€ 120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3687318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3687318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€ 1.200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3687318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687318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€ 12.000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6185916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2" descr="office buil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6595" y="1691640"/>
            <a:ext cx="914400" cy="9144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277356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appartement in Brussel (huur per maand)</a:t>
            </a:r>
            <a:endParaRPr lang="en-US" sz="1500" dirty="0"/>
          </a:p>
        </p:txBody>
      </p:sp>
      <p:sp>
        <p:nvSpPr>
          <p:cNvPr id="26" name="Shape 20"/>
          <p:cNvSpPr/>
          <p:nvPr/>
        </p:nvSpPr>
        <p:spPr>
          <a:xfrm>
            <a:off x="6505956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6505956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€ 115</a:t>
            </a:r>
            <a:endParaRPr lang="en-US" sz="1500" dirty="0"/>
          </a:p>
        </p:txBody>
      </p:sp>
      <p:sp>
        <p:nvSpPr>
          <p:cNvPr id="28" name="Shape 22"/>
          <p:cNvSpPr/>
          <p:nvPr/>
        </p:nvSpPr>
        <p:spPr>
          <a:xfrm>
            <a:off x="6505956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505956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€ 1.150</a:t>
            </a:r>
            <a:endParaRPr lang="en-US" sz="1500" dirty="0"/>
          </a:p>
        </p:txBody>
      </p:sp>
      <p:sp>
        <p:nvSpPr>
          <p:cNvPr id="30" name="Shape 24"/>
          <p:cNvSpPr/>
          <p:nvPr/>
        </p:nvSpPr>
        <p:spPr>
          <a:xfrm>
            <a:off x="6505956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6505956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€ 11.500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9004554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3" name="Image 3" descr="automobi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5233" y="1691640"/>
            <a:ext cx="914400" cy="91440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9095994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nieuwe auto</a:t>
            </a:r>
            <a:endParaRPr lang="en-US" sz="1500" dirty="0"/>
          </a:p>
        </p:txBody>
      </p:sp>
      <p:sp>
        <p:nvSpPr>
          <p:cNvPr id="35" name="Shape 28"/>
          <p:cNvSpPr/>
          <p:nvPr/>
        </p:nvSpPr>
        <p:spPr>
          <a:xfrm>
            <a:off x="9324594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9324594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€ 2.500</a:t>
            </a:r>
            <a:endParaRPr lang="en-US" sz="1500" dirty="0"/>
          </a:p>
        </p:txBody>
      </p:sp>
      <p:sp>
        <p:nvSpPr>
          <p:cNvPr id="37" name="Shape 30"/>
          <p:cNvSpPr/>
          <p:nvPr/>
        </p:nvSpPr>
        <p:spPr>
          <a:xfrm>
            <a:off x="9324594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9324594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€ 25.000</a:t>
            </a:r>
            <a:endParaRPr lang="en-US" sz="1500" dirty="0"/>
          </a:p>
        </p:txBody>
      </p:sp>
      <p:sp>
        <p:nvSpPr>
          <p:cNvPr id="39" name="Shape 32"/>
          <p:cNvSpPr/>
          <p:nvPr/>
        </p:nvSpPr>
        <p:spPr>
          <a:xfrm>
            <a:off x="9324594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9324594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€ 250.000</a:t>
            </a:r>
            <a:endParaRPr lang="en-US" sz="1500" dirty="0"/>
          </a:p>
        </p:txBody>
      </p:sp>
      <p:sp>
        <p:nvSpPr>
          <p:cNvPr id="41" name="Shape 3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42" name="Image 4" descr="think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Choisissez le bon prix… et essayez de le lire à voix haute !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denk… euro.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Rappel : de 21 à 99, à l’envers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21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1600200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2286000" y="1600200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286000" y="1600200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een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3749040" y="1600200"/>
            <a:ext cx="68580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749040" y="1600200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en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4526280" y="1600200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26280" y="160020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twintig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6355080" y="160020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eenentwintig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2350008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350008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35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1783080" y="2350008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2286000" y="2350008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286000" y="2350008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vijf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3749040" y="2350008"/>
            <a:ext cx="68580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49040" y="2350008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en</a:t>
            </a:r>
            <a:endParaRPr lang="en-US" sz="2100" dirty="0"/>
          </a:p>
        </p:txBody>
      </p:sp>
      <p:sp>
        <p:nvSpPr>
          <p:cNvPr id="22" name="Shape 19"/>
          <p:cNvSpPr/>
          <p:nvPr/>
        </p:nvSpPr>
        <p:spPr>
          <a:xfrm>
            <a:off x="4526280" y="2350008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526280" y="235000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dertig</a:t>
            </a:r>
            <a:endParaRPr lang="en-US" sz="210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2350008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vijfendertig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548640" y="3099816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099816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99</a:t>
            </a:r>
            <a:endParaRPr lang="en-US" sz="2600" dirty="0"/>
          </a:p>
        </p:txBody>
      </p:sp>
      <p:sp>
        <p:nvSpPr>
          <p:cNvPr id="27" name="Text 24"/>
          <p:cNvSpPr txBox="1"/>
          <p:nvPr/>
        </p:nvSpPr>
        <p:spPr>
          <a:xfrm>
            <a:off x="1783080" y="3099816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286000" y="3099816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286000" y="3099816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negen</a:t>
            </a:r>
            <a:endParaRPr lang="en-US" sz="2100" dirty="0"/>
          </a:p>
        </p:txBody>
      </p:sp>
      <p:sp>
        <p:nvSpPr>
          <p:cNvPr id="30" name="Shape 27"/>
          <p:cNvSpPr/>
          <p:nvPr/>
        </p:nvSpPr>
        <p:spPr>
          <a:xfrm>
            <a:off x="3749040" y="3099816"/>
            <a:ext cx="68580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749040" y="3099816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en</a:t>
            </a:r>
            <a:endParaRPr lang="en-US" sz="2100" dirty="0"/>
          </a:p>
        </p:txBody>
      </p:sp>
      <p:sp>
        <p:nvSpPr>
          <p:cNvPr id="32" name="Shape 29"/>
          <p:cNvSpPr/>
          <p:nvPr/>
        </p:nvSpPr>
        <p:spPr>
          <a:xfrm>
            <a:off x="4526280" y="3099816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526280" y="309981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negentig</a:t>
            </a:r>
            <a:endParaRPr lang="en-US" sz="2100" dirty="0"/>
          </a:p>
        </p:txBody>
      </p:sp>
      <p:sp>
        <p:nvSpPr>
          <p:cNvPr id="34" name="Text 31"/>
          <p:cNvSpPr txBox="1"/>
          <p:nvPr/>
        </p:nvSpPr>
        <p:spPr>
          <a:xfrm>
            <a:off x="6355080" y="3099816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negenennegentig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548640" y="3849624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48640" y="3849624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22</a:t>
            </a:r>
            <a:endParaRPr lang="en-US" sz="2600" dirty="0"/>
          </a:p>
        </p:txBody>
      </p:sp>
      <p:sp>
        <p:nvSpPr>
          <p:cNvPr id="37" name="Text 34"/>
          <p:cNvSpPr txBox="1"/>
          <p:nvPr/>
        </p:nvSpPr>
        <p:spPr>
          <a:xfrm>
            <a:off x="1783080" y="3849624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38" name="Shape 35"/>
          <p:cNvSpPr/>
          <p:nvPr/>
        </p:nvSpPr>
        <p:spPr>
          <a:xfrm>
            <a:off x="2286000" y="3849624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286000" y="3849624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twee</a:t>
            </a:r>
            <a:endParaRPr lang="en-US" sz="2100" dirty="0"/>
          </a:p>
        </p:txBody>
      </p:sp>
      <p:sp>
        <p:nvSpPr>
          <p:cNvPr id="40" name="Shape 37"/>
          <p:cNvSpPr/>
          <p:nvPr/>
        </p:nvSpPr>
        <p:spPr>
          <a:xfrm>
            <a:off x="3749040" y="3849624"/>
            <a:ext cx="685800" cy="603504"/>
          </a:xfrm>
          <a:prstGeom prst="roundRect">
            <a:avLst>
              <a:gd name="adj" fmla="val 15152"/>
            </a:avLst>
          </a:prstGeom>
          <a:solidFill>
            <a:schemeClr val="accent6">
              <a:alpha val="20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749040" y="3849624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ën</a:t>
            </a:r>
            <a:endParaRPr lang="en-US" sz="2100" dirty="0"/>
          </a:p>
        </p:txBody>
      </p:sp>
      <p:sp>
        <p:nvSpPr>
          <p:cNvPr id="42" name="Shape 39"/>
          <p:cNvSpPr/>
          <p:nvPr/>
        </p:nvSpPr>
        <p:spPr>
          <a:xfrm>
            <a:off x="4526280" y="3849624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526280" y="384962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twintig</a:t>
            </a:r>
            <a:endParaRPr lang="en-US" sz="2100" dirty="0"/>
          </a:p>
        </p:txBody>
      </p:sp>
      <p:sp>
        <p:nvSpPr>
          <p:cNvPr id="44" name="Text 41"/>
          <p:cNvSpPr txBox="1"/>
          <p:nvPr/>
        </p:nvSpPr>
        <p:spPr>
          <a:xfrm>
            <a:off x="6355080" y="3849624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tweeëntwintig</a:t>
            </a:r>
            <a:endParaRPr lang="en-US" sz="2100" dirty="0"/>
          </a:p>
        </p:txBody>
      </p:sp>
      <p:sp>
        <p:nvSpPr>
          <p:cNvPr id="45" name="Shape 42"/>
          <p:cNvSpPr/>
          <p:nvPr/>
        </p:nvSpPr>
        <p:spPr>
          <a:xfrm>
            <a:off x="548640" y="4599432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48640" y="459943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23</a:t>
            </a:r>
            <a:endParaRPr lang="en-US" sz="2600" dirty="0"/>
          </a:p>
        </p:txBody>
      </p:sp>
      <p:sp>
        <p:nvSpPr>
          <p:cNvPr id="47" name="Text 44"/>
          <p:cNvSpPr txBox="1"/>
          <p:nvPr/>
        </p:nvSpPr>
        <p:spPr>
          <a:xfrm>
            <a:off x="1783080" y="4599432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48" name="Shape 45"/>
          <p:cNvSpPr/>
          <p:nvPr/>
        </p:nvSpPr>
        <p:spPr>
          <a:xfrm>
            <a:off x="2286000" y="4599432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286000" y="4599432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drie</a:t>
            </a:r>
            <a:endParaRPr lang="en-US" sz="2100" dirty="0"/>
          </a:p>
        </p:txBody>
      </p:sp>
      <p:sp>
        <p:nvSpPr>
          <p:cNvPr id="50" name="Shape 47"/>
          <p:cNvSpPr/>
          <p:nvPr/>
        </p:nvSpPr>
        <p:spPr>
          <a:xfrm>
            <a:off x="3749040" y="4599432"/>
            <a:ext cx="685800" cy="603504"/>
          </a:xfrm>
          <a:prstGeom prst="roundRect">
            <a:avLst>
              <a:gd name="adj" fmla="val 15152"/>
            </a:avLst>
          </a:prstGeom>
          <a:solidFill>
            <a:schemeClr val="accent6">
              <a:alpha val="20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749040" y="4599432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ën</a:t>
            </a:r>
            <a:endParaRPr lang="en-US" sz="2100" dirty="0"/>
          </a:p>
        </p:txBody>
      </p:sp>
      <p:sp>
        <p:nvSpPr>
          <p:cNvPr id="52" name="Shape 49"/>
          <p:cNvSpPr/>
          <p:nvPr/>
        </p:nvSpPr>
        <p:spPr>
          <a:xfrm>
            <a:off x="4526280" y="4599432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526280" y="459943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twintig</a:t>
            </a:r>
            <a:endParaRPr lang="en-US" sz="2100" dirty="0"/>
          </a:p>
        </p:txBody>
      </p:sp>
      <p:sp>
        <p:nvSpPr>
          <p:cNvPr id="54" name="Text 51"/>
          <p:cNvSpPr txBox="1"/>
          <p:nvPr/>
        </p:nvSpPr>
        <p:spPr>
          <a:xfrm>
            <a:off x="6355080" y="4599432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drieëntwintig</a:t>
            </a:r>
            <a:endParaRPr lang="en-US" sz="2100" dirty="0"/>
          </a:p>
        </p:txBody>
      </p:sp>
      <p:sp>
        <p:nvSpPr>
          <p:cNvPr id="55" name="Shape 52"/>
          <p:cNvSpPr/>
          <p:nvPr/>
        </p:nvSpPr>
        <p:spPr>
          <a:xfrm>
            <a:off x="9509760" y="1600200"/>
            <a:ext cx="2130552" cy="3602736"/>
          </a:xfrm>
          <a:prstGeom prst="roundRect">
            <a:avLst>
              <a:gd name="adj" fmla="val 429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9646920" y="1691640"/>
            <a:ext cx="18745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Dizaines</a:t>
            </a:r>
            <a:endParaRPr lang="en-US" sz="15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twintig · dertig · veertig · vijftig · zestig · zeventig · tachtig · negentig</a:t>
            </a:r>
            <a:endParaRPr lang="en-US" sz="1500" dirty="0"/>
          </a:p>
        </p:txBody>
      </p:sp>
      <p:sp>
        <p:nvSpPr>
          <p:cNvPr id="57" name="Shape 54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« un-et-vingt » : unités </a:t>
            </a:r>
            <a:r>
              <a:rPr lang="en-US" sz="1700" b="1" dirty="0">
                <a:solidFill>
                  <a:schemeClr val="bg1"/>
                </a:solidFill>
              </a:rPr>
              <a:t>avant</a:t>
            </a:r>
            <a:r>
              <a:rPr lang="en-US" sz="1700" dirty="0">
                <a:solidFill>
                  <a:schemeClr val="bg1"/>
                </a:solidFill>
              </a:rPr>
              <a:t> dizaines · tréma quand deux </a:t>
            </a:r>
            <a:r>
              <a:rPr lang="en-US" sz="1700" i="1" dirty="0">
                <a:solidFill>
                  <a:schemeClr val="bg1"/>
                </a:solidFill>
              </a:rPr>
              <a:t>e</a:t>
            </a:r>
            <a:r>
              <a:rPr lang="en-US" sz="1700" dirty="0">
                <a:solidFill>
                  <a:schemeClr val="bg1"/>
                </a:solidFill>
              </a:rPr>
              <a:t> se suivent : </a:t>
            </a:r>
            <a:r>
              <a:rPr lang="en-US" sz="1700" i="1" dirty="0">
                <a:solidFill>
                  <a:schemeClr val="bg1"/>
                </a:solidFill>
              </a:rPr>
              <a:t>twee</a:t>
            </a:r>
            <a:r>
              <a:rPr lang="en-US" sz="1700" b="1" i="1" dirty="0">
                <a:solidFill>
                  <a:schemeClr val="bg1"/>
                </a:solidFill>
              </a:rPr>
              <a:t>ë</a:t>
            </a:r>
            <a:r>
              <a:rPr lang="en-US" sz="1700" i="1" dirty="0">
                <a:solidFill>
                  <a:schemeClr val="bg1"/>
                </a:solidFill>
              </a:rPr>
              <a:t>ntwintig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centaines : honderd, tweehonderd…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100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honderd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3378708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378708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200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3470148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tweehonderd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08776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08776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125</a:t>
            </a:r>
            <a:endParaRPr lang="en-US" sz="4400" dirty="0"/>
          </a:p>
        </p:txBody>
      </p:sp>
      <p:sp>
        <p:nvSpPr>
          <p:cNvPr id="13" name="Text 10"/>
          <p:cNvSpPr txBox="1"/>
          <p:nvPr/>
        </p:nvSpPr>
        <p:spPr>
          <a:xfrm>
            <a:off x="6300216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honderd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i="1" dirty="0">
                <a:solidFill>
                  <a:schemeClr val="accent2"/>
                </a:solidFill>
              </a:rPr>
              <a:t>vijfentwintig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6208776" y="3931920"/>
            <a:ext cx="2601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(un seul mot)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9038844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038844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999</a:t>
            </a:r>
            <a:endParaRPr lang="en-US" sz="4400" dirty="0"/>
          </a:p>
        </p:txBody>
      </p:sp>
      <p:sp>
        <p:nvSpPr>
          <p:cNvPr id="17" name="Text 14"/>
          <p:cNvSpPr txBox="1"/>
          <p:nvPr/>
        </p:nvSpPr>
        <p:spPr>
          <a:xfrm>
            <a:off x="9130284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negenhonderd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i="1" dirty="0">
                <a:solidFill>
                  <a:schemeClr val="accent2"/>
                </a:solidFill>
              </a:rPr>
              <a:t>negenennegentig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9038844" y="3931920"/>
            <a:ext cx="2601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(un seul mot)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8640" y="4480560"/>
            <a:ext cx="11091672" cy="868680"/>
          </a:xfrm>
          <a:prstGeom prst="roundRect">
            <a:avLst>
              <a:gd name="adj" fmla="val 10526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448056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✗ </a:t>
            </a:r>
            <a:r>
              <a:rPr lang="en-US" sz="2000" i="1" strike="sngStrike" dirty="0">
                <a:solidFill>
                  <a:schemeClr val="accent6"/>
                </a:solidFill>
              </a:rPr>
              <a:t>een honderd</a:t>
            </a:r>
            <a:r>
              <a:rPr lang="en-US" sz="2000" dirty="0">
                <a:solidFill>
                  <a:schemeClr val="tx1"/>
                </a:solidFill>
              </a:rPr>
              <a:t> → ✓ </a:t>
            </a:r>
            <a:r>
              <a:rPr lang="en-US" sz="2000" b="1" i="1" dirty="0">
                <a:solidFill>
                  <a:schemeClr val="tx1"/>
                </a:solidFill>
              </a:rPr>
              <a:t>honderd</a:t>
            </a:r>
            <a:r>
              <a:rPr lang="en-US" sz="2000" dirty="0">
                <a:solidFill>
                  <a:schemeClr val="tx1"/>
                </a:solidFill>
              </a:rPr>
              <a:t> · un seul mot : </a:t>
            </a:r>
            <a:r>
              <a:rPr lang="en-US" sz="2000" i="1" dirty="0">
                <a:solidFill>
                  <a:schemeClr val="tx1"/>
                </a:solidFill>
              </a:rPr>
              <a:t>driehonderdvijfenzeventig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Ordre : </a:t>
            </a:r>
            <a:r>
              <a:rPr lang="en-US" sz="1600" b="1" dirty="0">
                <a:solidFill>
                  <a:schemeClr val="accent1"/>
                </a:solidFill>
              </a:rPr>
              <a:t>centaines</a:t>
            </a:r>
            <a:r>
              <a:rPr lang="en-US" sz="1600" dirty="0">
                <a:solidFill>
                  <a:schemeClr val="bg1"/>
                </a:solidFill>
              </a:rPr>
              <a:t> puis </a:t>
            </a:r>
            <a:r>
              <a:rPr lang="en-US" sz="1600" b="1" dirty="0">
                <a:solidFill>
                  <a:schemeClr val="accent2"/>
                </a:solidFill>
              </a:rPr>
              <a:t>unités + en + dizaines</a:t>
            </a:r>
            <a:r>
              <a:rPr lang="en-US" sz="1600" dirty="0">
                <a:solidFill>
                  <a:schemeClr val="bg1"/>
                </a:solidFill>
              </a:rPr>
              <a:t> · sur un document officiel, on lit parfois </a:t>
            </a:r>
            <a:r>
              <a:rPr lang="en-US" sz="1600" i="1" dirty="0">
                <a:solidFill>
                  <a:schemeClr val="bg1"/>
                </a:solidFill>
              </a:rPr>
              <a:t>eenhonderd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milliers : le découpage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091672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1783080"/>
            <a:ext cx="1645920" cy="91440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178308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15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178308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6"/>
                </a:solidFill>
              </a:rPr>
              <a:t>.</a:t>
            </a:r>
            <a:endParaRPr lang="en-US" sz="4400" dirty="0"/>
          </a:p>
        </p:txBody>
      </p:sp>
      <p:sp>
        <p:nvSpPr>
          <p:cNvPr id="9" name="Shape 6"/>
          <p:cNvSpPr/>
          <p:nvPr/>
        </p:nvSpPr>
        <p:spPr>
          <a:xfrm>
            <a:off x="2880360" y="1783080"/>
            <a:ext cx="2286000" cy="9144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880360" y="17830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750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7889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je coupe au point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349240" y="2240280"/>
            <a:ext cx="548640" cy="914"/>
          </a:xfrm>
          <a:prstGeom prst="line">
            <a:avLst/>
          </a:prstGeom>
          <a:noFill/>
          <a:ln w="381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035040" y="1783080"/>
            <a:ext cx="2743200" cy="914400"/>
          </a:xfrm>
          <a:prstGeom prst="roundRect">
            <a:avLst>
              <a:gd name="adj" fmla="val 10000"/>
            </a:avLst>
          </a:prstGeom>
          <a:solidFill>
            <a:schemeClr val="accent2">
              <a:alpha val="20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035040" y="17830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vijftien</a:t>
            </a:r>
            <a:r>
              <a:rPr lang="en-US" sz="2000" i="1" dirty="0">
                <a:solidFill>
                  <a:schemeClr val="tx1"/>
                </a:solidFill>
              </a:rPr>
              <a:t>duizend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8869680" y="1783080"/>
            <a:ext cx="2606040" cy="914400"/>
          </a:xfrm>
          <a:prstGeom prst="roundRect">
            <a:avLst>
              <a:gd name="adj" fmla="val 10000"/>
            </a:avLst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869680" y="17830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zevenhonderdvijftig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035040" y="278892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① tranche de gauche + </a:t>
            </a:r>
            <a:r>
              <a:rPr lang="en-US" sz="1300" i="1" dirty="0">
                <a:solidFill>
                  <a:schemeClr val="accent5"/>
                </a:solidFill>
              </a:rPr>
              <a:t>duizend</a:t>
            </a:r>
            <a:r>
              <a:rPr lang="en-US" sz="1300" i="1" dirty="0">
                <a:solidFill>
                  <a:schemeClr val="accent5"/>
                </a:solidFill>
              </a:rPr>
              <a:t> · ② tranche de droite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" y="3749040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374904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1.000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2331720" y="374904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duizend</a:t>
            </a:r>
            <a:endParaRPr lang="en-US" sz="1900" dirty="0"/>
          </a:p>
        </p:txBody>
      </p:sp>
      <p:sp>
        <p:nvSpPr>
          <p:cNvPr id="21" name="Shape 18"/>
          <p:cNvSpPr/>
          <p:nvPr/>
        </p:nvSpPr>
        <p:spPr>
          <a:xfrm>
            <a:off x="6217920" y="3749040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217920" y="374904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2.000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8001000" y="374904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tweeduizend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548640" y="4498848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449884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1.250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2331720" y="449884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duizend tweehonderdvijftig</a:t>
            </a:r>
            <a:endParaRPr lang="en-US" sz="1900" dirty="0"/>
          </a:p>
        </p:txBody>
      </p:sp>
      <p:sp>
        <p:nvSpPr>
          <p:cNvPr id="27" name="Shape 24"/>
          <p:cNvSpPr/>
          <p:nvPr/>
        </p:nvSpPr>
        <p:spPr>
          <a:xfrm>
            <a:off x="6217920" y="4498848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217920" y="449884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300.000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449884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driehonderdduizend</a:t>
            </a:r>
            <a:endParaRPr lang="en-US" sz="1900" dirty="0"/>
          </a:p>
        </p:txBody>
      </p:sp>
      <p:sp>
        <p:nvSpPr>
          <p:cNvPr id="30" name="Shape 27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Comme pour </a:t>
            </a:r>
            <a:r>
              <a:rPr lang="en-US" sz="1700" i="1" dirty="0">
                <a:solidFill>
                  <a:schemeClr val="bg1"/>
                </a:solidFill>
              </a:rPr>
              <a:t>honderd</a:t>
            </a:r>
            <a:r>
              <a:rPr lang="en-US" sz="1700" dirty="0">
                <a:solidFill>
                  <a:schemeClr val="bg1"/>
                </a:solidFill>
              </a:rPr>
              <a:t> : ✗ </a:t>
            </a:r>
            <a:r>
              <a:rPr lang="en-US" sz="1700" i="1" strike="sngStrike" dirty="0">
                <a:solidFill>
                  <a:schemeClr val="accent6"/>
                </a:solidFill>
              </a:rPr>
              <a:t>een duizend</a:t>
            </a:r>
            <a:r>
              <a:rPr lang="en-US" sz="1700" dirty="0">
                <a:solidFill>
                  <a:schemeClr val="bg1"/>
                </a:solidFill>
              </a:rPr>
              <a:t> · qui sait lire 1 à 999 sait lire jusqu’à 999 999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Comment l’écrire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091672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87452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0020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Un seul mot jusqu’à </a:t>
            </a:r>
            <a:r>
              <a:rPr lang="en-US" sz="1900" b="1" i="1" dirty="0">
                <a:solidFill>
                  <a:schemeClr val="accent3"/>
                </a:solidFill>
              </a:rPr>
              <a:t>duizend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5669280" y="160020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driehonderdvijfenzeventig · tweeduizend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548640" y="2788920"/>
            <a:ext cx="11091672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31520" y="30632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278892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Une espace </a:t>
            </a:r>
            <a:r>
              <a:rPr lang="en-US" sz="1900" b="1" dirty="0">
                <a:solidFill>
                  <a:schemeClr val="accent2"/>
                </a:solidFill>
              </a:rPr>
              <a:t>après</a:t>
            </a:r>
            <a:r>
              <a:rPr lang="en-US" sz="1900" b="1" dirty="0">
                <a:solidFill>
                  <a:schemeClr val="accent2"/>
                </a:solidFill>
              </a:rPr>
              <a:t> </a:t>
            </a:r>
            <a:r>
              <a:rPr lang="en-US" sz="1900" b="1" i="1" dirty="0">
                <a:solidFill>
                  <a:schemeClr val="accent2"/>
                </a:solidFill>
              </a:rPr>
              <a:t>duizend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0" y="278892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tweeduizend </a:t>
            </a:r>
            <a:r>
              <a:rPr lang="en-US" sz="2100" b="1" i="1" dirty="0">
                <a:solidFill>
                  <a:schemeClr val="accent6"/>
                </a:solidFill>
              </a:rPr>
              <a:t>▲</a:t>
            </a:r>
            <a:r>
              <a:rPr lang="en-US" sz="2100" i="1" dirty="0">
                <a:solidFill>
                  <a:schemeClr val="tx1"/>
                </a:solidFill>
              </a:rPr>
              <a:t> driehonderd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3977640"/>
            <a:ext cx="11091672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4251960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371600" y="39776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rgbClr val="6E4A9E"/>
                </a:solidFill>
              </a:rPr>
              <a:t>miljoen</a:t>
            </a:r>
            <a:r>
              <a:rPr lang="en-US" sz="1900" b="1" dirty="0">
                <a:solidFill>
                  <a:srgbClr val="6E4A9E"/>
                </a:solidFill>
              </a:rPr>
              <a:t> et </a:t>
            </a:r>
            <a:r>
              <a:rPr lang="en-US" sz="1900" b="1" i="1" dirty="0">
                <a:solidFill>
                  <a:srgbClr val="6E4A9E"/>
                </a:solidFill>
              </a:rPr>
              <a:t>miljard</a:t>
            </a:r>
            <a:r>
              <a:rPr lang="en-US" sz="1900" b="1" dirty="0">
                <a:solidFill>
                  <a:srgbClr val="6E4A9E"/>
                </a:solidFill>
              </a:rPr>
              <a:t> : mots séparés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5669280" y="397764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twee miljoen vijfhonderdduizend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Règle officielle (Taalunie). En pratique, on écrit les montants en chiffres : les lettres servent aux contrats.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1 200 = twaalfhonderd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13248" cy="3749040"/>
          </a:xfrm>
          <a:prstGeom prst="roundRect">
            <a:avLst>
              <a:gd name="adj" fmla="val 2439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5413248" cy="530352"/>
          </a:xfrm>
          <a:prstGeom prst="roundRect">
            <a:avLst>
              <a:gd name="adj" fmla="val 1724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600200"/>
            <a:ext cx="5047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UN MONTANT</a:t>
            </a:r>
            <a:endParaRPr lang="en-US" sz="1600" dirty="0"/>
          </a:p>
        </p:txBody>
      </p:sp>
      <p:pic>
        <p:nvPicPr>
          <p:cNvPr id="8" name="Image 0" descr="lab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1768" y="2240280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2240280"/>
            <a:ext cx="413308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€ 1.200</a:t>
            </a:r>
            <a:r>
              <a:rPr lang="en-US" sz="1800" dirty="0">
                <a:solidFill>
                  <a:schemeClr val="tx1"/>
                </a:solidFill>
              </a:rPr>
              <a:t> =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duizend tweehonderd</a:t>
            </a:r>
            <a:r>
              <a:rPr lang="en-US" sz="1800" i="1" dirty="0">
                <a:solidFill>
                  <a:schemeClr val="tx1"/>
                </a:solidFill>
              </a:rPr>
              <a:t> euro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ou </a:t>
            </a:r>
            <a:r>
              <a:rPr lang="en-US" sz="1800" b="1" i="1" dirty="0">
                <a:solidFill>
                  <a:schemeClr val="tx1"/>
                </a:solidFill>
              </a:rPr>
              <a:t>twaalfhonderd</a:t>
            </a:r>
            <a:r>
              <a:rPr lang="en-US" sz="1800" i="1" dirty="0">
                <a:solidFill>
                  <a:schemeClr val="tx1"/>
                </a:solidFill>
              </a:rPr>
              <a:t> euro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les deux sont corrects ; </a:t>
            </a:r>
            <a:r>
              <a:rPr lang="en-US" sz="1800" i="1" dirty="0">
                <a:solidFill>
                  <a:schemeClr val="tx1"/>
                </a:solidFill>
              </a:rPr>
              <a:t>twaalfhonderd</a:t>
            </a:r>
            <a:r>
              <a:rPr lang="en-US" sz="1800" dirty="0">
                <a:solidFill>
                  <a:schemeClr val="tx1"/>
                </a:solidFill>
              </a:rPr>
              <a:t> est très courant à l’oral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227064" y="1600200"/>
            <a:ext cx="5413248" cy="3749040"/>
          </a:xfrm>
          <a:prstGeom prst="roundRect">
            <a:avLst>
              <a:gd name="adj" fmla="val 2439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227064" y="1600200"/>
            <a:ext cx="5413248" cy="530352"/>
          </a:xfrm>
          <a:prstGeom prst="roundRect">
            <a:avLst>
              <a:gd name="adj" fmla="val 1724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409944" y="1600200"/>
            <a:ext cx="5047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UNE ANNÉE</a:t>
            </a:r>
            <a:endParaRPr lang="en-US" sz="1600" dirty="0"/>
          </a:p>
        </p:txBody>
      </p:sp>
      <p:pic>
        <p:nvPicPr>
          <p:cNvPr id="13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0192" y="2240280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501384" y="2240280"/>
            <a:ext cx="413308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1995</a:t>
            </a:r>
            <a:r>
              <a:rPr lang="en-US" sz="1800" dirty="0">
                <a:solidFill>
                  <a:schemeClr val="tx1"/>
                </a:solidFill>
              </a:rPr>
              <a:t> = </a:t>
            </a:r>
            <a:r>
              <a:rPr lang="en-US" sz="1800" b="1" i="1" dirty="0">
                <a:solidFill>
                  <a:schemeClr val="tx1"/>
                </a:solidFill>
              </a:rPr>
              <a:t>negentienhonderd</a:t>
            </a:r>
            <a:r>
              <a:rPr lang="en-US" sz="1800" i="1" dirty="0">
                <a:solidFill>
                  <a:schemeClr val="tx1"/>
                </a:solidFill>
              </a:rPr>
              <a:t>vijfennegentig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2026</a:t>
            </a:r>
            <a:r>
              <a:rPr lang="en-US" sz="1800" dirty="0">
                <a:solidFill>
                  <a:schemeClr val="tx1"/>
                </a:solidFill>
              </a:rPr>
              <a:t> = </a:t>
            </a:r>
            <a:r>
              <a:rPr lang="en-US" sz="1800" b="1" i="1" dirty="0">
                <a:solidFill>
                  <a:schemeClr val="tx1"/>
                </a:solidFill>
              </a:rPr>
              <a:t>tweeduizend</a:t>
            </a:r>
            <a:r>
              <a:rPr lang="en-US" sz="1800" i="1" dirty="0">
                <a:solidFill>
                  <a:schemeClr val="tx1"/>
                </a:solidFill>
              </a:rPr>
              <a:t> zesentwintig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avant 2000 : toujours en centaines, comme « dix-neuf cent »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in 1995</a:t>
            </a:r>
            <a:r>
              <a:rPr lang="en-US" sz="1800" dirty="0">
                <a:solidFill>
                  <a:schemeClr val="tx1"/>
                </a:solidFill>
              </a:rPr>
              <a:t> (pas besoin de </a:t>
            </a:r>
            <a:r>
              <a:rPr lang="en-US" sz="1800" i="1" dirty="0">
                <a:solidFill>
                  <a:schemeClr val="tx1"/>
                </a:solidFill>
              </a:rPr>
              <a:t>het jaar</a:t>
            </a:r>
            <a:r>
              <a:rPr lang="en-US" sz="1800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Au marché comme au bureau : </a:t>
            </a:r>
            <a:r>
              <a:rPr lang="en-US" sz="1700" i="1" dirty="0">
                <a:solidFill>
                  <a:schemeClr val="bg1"/>
                </a:solidFill>
              </a:rPr>
              <a:t>Het kost twaalfhonderd euro.</a:t>
            </a:r>
            <a:r>
              <a:rPr lang="en-US" sz="1700" dirty="0">
                <a:solidFill>
                  <a:schemeClr val="bg1"/>
                </a:solidFill>
              </a:rPr>
              <a:t> = </a:t>
            </a:r>
            <a:r>
              <a:rPr lang="en-US" sz="1700" i="1" dirty="0">
                <a:solidFill>
                  <a:schemeClr val="bg1"/>
                </a:solidFill>
              </a:rPr>
              <a:t>Het kost duizend tweehonderd euro.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Euro et cent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76656" y="19522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16002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€ 12,50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3154680" y="14173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twaalf euro vijftig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227064" y="16002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55080" y="19522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92824" y="16002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€ 0,99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8833104" y="14173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negenennegentig cent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32004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76656" y="35524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3200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€ 1.499,99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3154680" y="30175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duizend vierhonderdnegenennegentig euro negenennegentig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227064" y="32004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355080" y="35524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92824" y="3200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€ 25,–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8833104" y="30175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vijfentwintig euro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4846320"/>
            <a:ext cx="5486400" cy="685800"/>
          </a:xfrm>
          <a:prstGeom prst="roundRect">
            <a:avLst>
              <a:gd name="adj" fmla="val 1333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484632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point</a:t>
            </a:r>
            <a:r>
              <a:rPr lang="en-US" sz="1800" dirty="0">
                <a:solidFill>
                  <a:schemeClr val="tx1"/>
                </a:solidFill>
              </a:rPr>
              <a:t> = milliers · </a:t>
            </a:r>
            <a:r>
              <a:rPr lang="en-US" sz="1800" b="1" dirty="0">
                <a:solidFill>
                  <a:schemeClr val="tx1"/>
                </a:solidFill>
              </a:rPr>
              <a:t>virgule</a:t>
            </a:r>
            <a:r>
              <a:rPr lang="en-US" sz="1800" dirty="0">
                <a:solidFill>
                  <a:schemeClr val="tx1"/>
                </a:solidFill>
              </a:rPr>
              <a:t> = centimes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6227064" y="4846320"/>
            <a:ext cx="5413248" cy="685800"/>
          </a:xfrm>
          <a:prstGeom prst="roundRect">
            <a:avLst>
              <a:gd name="adj" fmla="val 1333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0" y="48463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euro</a:t>
            </a:r>
            <a:r>
              <a:rPr lang="en-US" sz="1800" dirty="0">
                <a:solidFill>
                  <a:schemeClr val="tx1"/>
                </a:solidFill>
              </a:rPr>
              <a:t> sans </a:t>
            </a:r>
            <a:r>
              <a:rPr lang="en-US" sz="1800" i="1" dirty="0">
                <a:solidFill>
                  <a:schemeClr val="tx1"/>
                </a:solidFill>
              </a:rPr>
              <a:t>-s</a:t>
            </a:r>
            <a:r>
              <a:rPr lang="en-US" sz="1800" dirty="0">
                <a:solidFill>
                  <a:schemeClr val="tx1"/>
                </a:solidFill>
              </a:rPr>
              <a:t> · forme courte : </a:t>
            </a:r>
            <a:r>
              <a:rPr lang="en-US" sz="1800" i="1" dirty="0">
                <a:solidFill>
                  <a:schemeClr val="tx1"/>
                </a:solidFill>
              </a:rPr>
              <a:t>twaalf euro vijftig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euro</a:t>
            </a:r>
            <a:r>
              <a:rPr lang="en-US" sz="1700" dirty="0">
                <a:solidFill>
                  <a:schemeClr val="bg1"/>
                </a:solidFill>
              </a:rPr>
              <a:t> se prononce « eu-ro » · sans nombre : </a:t>
            </a:r>
            <a:r>
              <a:rPr lang="en-US" sz="1700" i="1" dirty="0">
                <a:solidFill>
                  <a:schemeClr val="bg1"/>
                </a:solidFill>
              </a:rPr>
              <a:t>Het kost duizenden euro’s.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milliard, biljoen, euros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488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mille euros »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297680" y="21488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een duizend euros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360920" y="246888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772400" y="220370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09560" y="220370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i="1" dirty="0">
                <a:solidFill>
                  <a:schemeClr val="tx1"/>
                </a:solidFill>
              </a:rPr>
              <a:t>duizend euro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9260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un million »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297680" y="29260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miljoen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360920" y="324612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772400" y="298094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909560" y="298094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b="1" i="1" dirty="0">
                <a:solidFill>
                  <a:schemeClr val="tx1"/>
                </a:solidFill>
              </a:rPr>
              <a:t>een</a:t>
            </a:r>
            <a:r>
              <a:rPr lang="en-US" sz="1900" i="1" dirty="0">
                <a:solidFill>
                  <a:schemeClr val="tx1"/>
                </a:solidFill>
              </a:rPr>
              <a:t> miljoen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7033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un milliard »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37033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een biljoen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7360920" y="402336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772400" y="375818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909560" y="375818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miljard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44805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1 250 € »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4297680" y="4480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€ 1,250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7360920" y="480060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772400" y="453542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909560" y="453542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i="1" dirty="0">
                <a:solidFill>
                  <a:schemeClr val="tx1"/>
                </a:solidFill>
              </a:rPr>
              <a:t>€ </a:t>
            </a:r>
            <a:r>
              <a:rPr lang="en-US" sz="1900" b="1" i="1" dirty="0">
                <a:solidFill>
                  <a:schemeClr val="tx1"/>
                </a:solidFill>
              </a:rPr>
              <a:t>1.250</a:t>
            </a:r>
            <a:endParaRPr lang="en-US" sz="1900" dirty="0"/>
          </a:p>
        </p:txBody>
      </p:sp>
      <p:sp>
        <p:nvSpPr>
          <p:cNvPr id="27" name="Shape 24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een biljoen</a:t>
            </a:r>
            <a:r>
              <a:rPr lang="en-US" sz="1700" dirty="0">
                <a:solidFill>
                  <a:schemeClr val="bg1"/>
                </a:solidFill>
              </a:rPr>
              <a:t> = 1 000 milliards (le « billion » français) · l’anglais </a:t>
            </a:r>
            <a:r>
              <a:rPr lang="en-US" sz="1700" i="1" dirty="0">
                <a:solidFill>
                  <a:schemeClr val="bg1"/>
                </a:solidFill>
              </a:rPr>
              <a:t>billion</a:t>
            </a:r>
            <a:r>
              <a:rPr lang="en-US" sz="1700" dirty="0">
                <a:solidFill>
                  <a:schemeClr val="bg1"/>
                </a:solidFill>
              </a:rPr>
              <a:t> = </a:t>
            </a:r>
            <a:r>
              <a:rPr lang="en-US" sz="1700" i="1" dirty="0">
                <a:solidFill>
                  <a:schemeClr val="bg1"/>
                </a:solidFill>
              </a:rPr>
              <a:t>miljard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Arrondir et comparer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14400" y="2468880"/>
            <a:ext cx="10332720" cy="914"/>
          </a:xfrm>
          <a:prstGeom prst="line">
            <a:avLst/>
          </a:prstGeom>
          <a:noFill/>
          <a:ln w="3810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6576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€ 900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49758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94894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€ 950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08076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3212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€ 1.000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66394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11530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€ 1.050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124712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69848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€ 1.100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703320" y="2194560"/>
            <a:ext cx="1085850" cy="228600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2468880" y="1508760"/>
            <a:ext cx="2468880" cy="68580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468880" y="15087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bijna 1.000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presque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 flipH="1">
            <a:off x="6080760" y="2194560"/>
            <a:ext cx="228600" cy="22860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074920" y="1508760"/>
            <a:ext cx="2468880" cy="68580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74920" y="15087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ongeveer · rond de 1.000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environ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 flipH="1">
            <a:off x="7630668" y="2194560"/>
            <a:ext cx="1284732" cy="228600"/>
          </a:xfrm>
          <a:prstGeom prst="line">
            <a:avLst/>
          </a:prstGeom>
          <a:noFill/>
          <a:ln w="254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7680960" y="1508760"/>
            <a:ext cx="2468880" cy="68580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680960" y="15087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ruim 1.000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un peu plus de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48640" y="3520440"/>
            <a:ext cx="11091672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7240" y="3566160"/>
            <a:ext cx="10698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meer dan / minder dan 1.000 euro</a:t>
            </a:r>
            <a:r>
              <a:rPr lang="en-US" sz="1800" dirty="0">
                <a:solidFill>
                  <a:schemeClr val="tx1"/>
                </a:solidFill>
              </a:rPr>
              <a:t> (plus de / moins de)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een paar honderd euro</a:t>
            </a:r>
            <a:r>
              <a:rPr lang="en-US" sz="1800" dirty="0">
                <a:solidFill>
                  <a:schemeClr val="tx1"/>
                </a:solidFill>
              </a:rPr>
              <a:t> (quelques centaines d’euros) · </a:t>
            </a:r>
            <a:r>
              <a:rPr lang="en-US" sz="1800" i="1" dirty="0">
                <a:solidFill>
                  <a:schemeClr val="tx1"/>
                </a:solidFill>
              </a:rPr>
              <a:t>duizenden euro’s</a:t>
            </a:r>
            <a:r>
              <a:rPr lang="en-US" sz="1800" dirty="0">
                <a:solidFill>
                  <a:schemeClr val="tx1"/>
                </a:solidFill>
              </a:rPr>
              <a:t> (des milliers d’euros)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stad heeft ruim een miljoen inwoners.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5321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ruim</a:t>
            </a:r>
            <a:r>
              <a:rPr lang="en-US" sz="1700" dirty="0">
                <a:solidFill>
                  <a:schemeClr val="bg1"/>
                </a:solidFill>
              </a:rPr>
              <a:t> est très fréquent dans les médias : </a:t>
            </a:r>
            <a:r>
              <a:rPr lang="en-US" sz="1700" i="1" dirty="0">
                <a:solidFill>
                  <a:schemeClr val="bg1"/>
                </a:solidFill>
              </a:rPr>
              <a:t>ruim 1.000 deelnemers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Au travail : facture, loyer, salaire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120640" cy="3977640"/>
          </a:xfrm>
          <a:prstGeom prst="roundRect">
            <a:avLst>
              <a:gd name="adj" fmla="val 920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12064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FACTUUR · PEETERS &amp; CO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1945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10 laptops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108960" y="2194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€ 12.000,00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7249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installatie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3108960" y="272491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€ 200,00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77240" y="3218688"/>
            <a:ext cx="4663440" cy="914"/>
          </a:xfrm>
          <a:prstGeom prst="line">
            <a:avLst/>
          </a:prstGeom>
          <a:noFill/>
          <a:ln w="9525">
            <a:solidFill>
              <a:srgbClr val="4A5A7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325526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subtotaal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108960" y="325526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€ 12.200,00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37856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btw 21 %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108960" y="378561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€ 2.562,00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77240" y="4279392"/>
            <a:ext cx="46634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431596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totaal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3108960" y="431596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€ 14.762,00</a:t>
            </a:r>
            <a:endParaRPr lang="en-US" sz="1600" dirty="0"/>
          </a:p>
        </p:txBody>
      </p:sp>
      <p:pic>
        <p:nvPicPr>
          <p:cNvPr id="20" name="Image 0" descr="recei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83480"/>
            <a:ext cx="411480" cy="41148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325880" y="49377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btw</a:t>
            </a:r>
            <a:r>
              <a:rPr lang="en-US" sz="1300" i="1" dirty="0">
                <a:solidFill>
                  <a:schemeClr val="accent5"/>
                </a:solidFill>
              </a:rPr>
              <a:t> = la TVA (21 % en Belgique)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5897880" y="1554480"/>
            <a:ext cx="5742432" cy="1051560"/>
          </a:xfrm>
          <a:prstGeom prst="roundRect">
            <a:avLst>
              <a:gd name="adj" fmla="val 869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23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37360"/>
            <a:ext cx="685800" cy="6858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858000" y="1554480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huur is € 1.150 per maand.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loyer</a:t>
            </a:r>
            <a:endParaRPr lang="en-US" sz="1700" dirty="0"/>
          </a:p>
        </p:txBody>
      </p:sp>
      <p:sp>
        <p:nvSpPr>
          <p:cNvPr id="25" name="Shape 20"/>
          <p:cNvSpPr/>
          <p:nvPr/>
        </p:nvSpPr>
        <p:spPr>
          <a:xfrm>
            <a:off x="5897880" y="2743200"/>
            <a:ext cx="5742432" cy="1051560"/>
          </a:xfrm>
          <a:prstGeom prst="roundRect">
            <a:avLst>
              <a:gd name="adj" fmla="val 8696"/>
            </a:avLst>
          </a:prstGeom>
          <a:solidFill>
            <a:schemeClr val="accent1">
              <a:alpha val="12000"/>
            </a:schemeClr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6" name="Image 2" descr="money b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2926080"/>
            <a:ext cx="685800" cy="6858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858000" y="2743200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brutoloon is € 3.200, netto ongeveer € 2.100.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salaire brut / net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5897880" y="4023360"/>
            <a:ext cx="5742432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080760" y="4069080"/>
            <a:ext cx="5394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Questions utiles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Hoeveel kost het? · Wat is de prijs?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Is dat inclusief btw?</a:t>
            </a:r>
            <a:endParaRPr lang="en-US" sz="1700" dirty="0"/>
          </a:p>
        </p:txBody>
      </p:sp>
      <p:sp>
        <p:nvSpPr>
          <p:cNvPr id="30" name="Shape 24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Lisez le total : </a:t>
            </a:r>
            <a:r>
              <a:rPr lang="en-US" sz="1700" i="1" dirty="0">
                <a:solidFill>
                  <a:schemeClr val="bg1"/>
                </a:solidFill>
              </a:rPr>
              <a:t>veertienduizend zevenhonderdtweeënzestig euro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 découpage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194560" cy="777240"/>
          </a:xfrm>
          <a:prstGeom prst="roundRect">
            <a:avLst>
              <a:gd name="adj" fmla="val 1176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2743200" y="155448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6"/>
                </a:solidFill>
              </a:rPr>
              <a:t>.</a:t>
            </a:r>
            <a:endParaRPr lang="en-US" sz="3800" dirty="0"/>
          </a:p>
        </p:txBody>
      </p:sp>
      <p:sp>
        <p:nvSpPr>
          <p:cNvPr id="8" name="Shape 5"/>
          <p:cNvSpPr/>
          <p:nvPr/>
        </p:nvSpPr>
        <p:spPr>
          <a:xfrm>
            <a:off x="548640" y="2395728"/>
            <a:ext cx="2194560" cy="457200"/>
          </a:xfrm>
          <a:prstGeom prst="roundRect">
            <a:avLst>
              <a:gd name="adj" fmla="val 16000"/>
            </a:avLst>
          </a:prstGeom>
          <a:solidFill>
            <a:srgbClr val="6E4A9E">
              <a:alpha val="1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3957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twee miljoen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017520" y="1554480"/>
            <a:ext cx="4206240" cy="777240"/>
          </a:xfrm>
          <a:prstGeom prst="roundRect">
            <a:avLst>
              <a:gd name="adj" fmla="val 1176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17520" y="155448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536</a:t>
            </a:r>
            <a:endParaRPr lang="en-US" sz="3800" dirty="0"/>
          </a:p>
        </p:txBody>
      </p:sp>
      <p:sp>
        <p:nvSpPr>
          <p:cNvPr id="12" name="Text 9"/>
          <p:cNvSpPr txBox="1"/>
          <p:nvPr/>
        </p:nvSpPr>
        <p:spPr>
          <a:xfrm>
            <a:off x="7223760" y="155448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6"/>
                </a:solidFill>
              </a:rPr>
              <a:t>.</a:t>
            </a:r>
            <a:endParaRPr lang="en-US" sz="3800" dirty="0"/>
          </a:p>
        </p:txBody>
      </p:sp>
      <p:sp>
        <p:nvSpPr>
          <p:cNvPr id="13" name="Shape 10"/>
          <p:cNvSpPr/>
          <p:nvPr/>
        </p:nvSpPr>
        <p:spPr>
          <a:xfrm>
            <a:off x="3017520" y="2395728"/>
            <a:ext cx="4206240" cy="457200"/>
          </a:xfrm>
          <a:prstGeom prst="roundRect">
            <a:avLst>
              <a:gd name="adj" fmla="val 16000"/>
            </a:avLst>
          </a:prstGeom>
          <a:solidFill>
            <a:schemeClr val="accent2">
              <a:alpha val="18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17520" y="23957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vijfhonderdzesendertigduizend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498080" y="1554480"/>
            <a:ext cx="4142232" cy="777240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498080" y="1554480"/>
            <a:ext cx="4142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481</a:t>
            </a:r>
            <a:endParaRPr lang="en-US" sz="3800" dirty="0"/>
          </a:p>
        </p:txBody>
      </p:sp>
      <p:sp>
        <p:nvSpPr>
          <p:cNvPr id="17" name="Shape 14"/>
          <p:cNvSpPr/>
          <p:nvPr/>
        </p:nvSpPr>
        <p:spPr>
          <a:xfrm>
            <a:off x="7498080" y="2395728"/>
            <a:ext cx="4142232" cy="457200"/>
          </a:xfrm>
          <a:prstGeom prst="roundRect">
            <a:avLst>
              <a:gd name="adj" fmla="val 16000"/>
            </a:avLst>
          </a:prstGeom>
          <a:solidFill>
            <a:schemeClr val="accent1">
              <a:alpha val="18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98080" y="2395728"/>
            <a:ext cx="4142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vierhonderdeenentachtig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3154680"/>
            <a:ext cx="11091672" cy="713232"/>
          </a:xfrm>
          <a:prstGeom prst="roundRect">
            <a:avLst>
              <a:gd name="adj" fmla="val 12821"/>
            </a:avLst>
          </a:prstGeom>
          <a:solidFill>
            <a:schemeClr val="bg1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48640" y="3154680"/>
            <a:ext cx="2377440" cy="713232"/>
          </a:xfrm>
          <a:prstGeom prst="roundRect">
            <a:avLst>
              <a:gd name="adj" fmla="val 12821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15468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Pas de </a:t>
            </a:r>
            <a:r>
              <a:rPr lang="en-US" sz="1700" b="1" i="1" dirty="0">
                <a:solidFill>
                  <a:schemeClr val="bg1"/>
                </a:solidFill>
              </a:rPr>
              <a:t>een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3108960" y="315468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honderd · duizend</a:t>
            </a:r>
            <a:r>
              <a:rPr lang="en-US" sz="1900" dirty="0">
                <a:solidFill>
                  <a:schemeClr val="tx1"/>
                </a:solidFill>
              </a:rPr>
              <a:t> — mais </a:t>
            </a:r>
            <a:r>
              <a:rPr lang="en-US" sz="1900" b="1" i="1" dirty="0">
                <a:solidFill>
                  <a:schemeClr val="tx1"/>
                </a:solidFill>
              </a:rPr>
              <a:t>een</a:t>
            </a:r>
            <a:r>
              <a:rPr lang="en-US" sz="1900" i="1" dirty="0">
                <a:solidFill>
                  <a:schemeClr val="tx1"/>
                </a:solidFill>
              </a:rPr>
              <a:t> miljoen</a:t>
            </a:r>
            <a:endParaRPr lang="en-US" sz="1900" dirty="0"/>
          </a:p>
        </p:txBody>
      </p:sp>
      <p:sp>
        <p:nvSpPr>
          <p:cNvPr id="23" name="Shape 20"/>
          <p:cNvSpPr/>
          <p:nvPr/>
        </p:nvSpPr>
        <p:spPr>
          <a:xfrm>
            <a:off x="548640" y="4023360"/>
            <a:ext cx="11091672" cy="713232"/>
          </a:xfrm>
          <a:prstGeom prst="roundRect">
            <a:avLst>
              <a:gd name="adj" fmla="val 12821"/>
            </a:avLst>
          </a:prstGeom>
          <a:solidFill>
            <a:schemeClr val="bg1"/>
          </a:solidFill>
          <a:ln w="22225">
            <a:solidFill>
              <a:srgbClr val="2E7D4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640" y="4023360"/>
            <a:ext cx="2377440" cy="713232"/>
          </a:xfrm>
          <a:prstGeom prst="roundRect">
            <a:avLst>
              <a:gd name="adj" fmla="val 128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402336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Un seul mot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3108960" y="402336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jusqu’à </a:t>
            </a:r>
            <a:r>
              <a:rPr lang="en-US" sz="1900" i="1" dirty="0">
                <a:solidFill>
                  <a:schemeClr val="tx1"/>
                </a:solidFill>
              </a:rPr>
              <a:t>duizend</a:t>
            </a:r>
            <a:r>
              <a:rPr lang="en-US" sz="1900" dirty="0">
                <a:solidFill>
                  <a:schemeClr val="tx1"/>
                </a:solidFill>
              </a:rPr>
              <a:t>, puis une espace</a:t>
            </a:r>
            <a:endParaRPr lang="en-US" sz="1900" dirty="0"/>
          </a:p>
        </p:txBody>
      </p:sp>
      <p:sp>
        <p:nvSpPr>
          <p:cNvPr id="27" name="Shape 24"/>
          <p:cNvSpPr/>
          <p:nvPr/>
        </p:nvSpPr>
        <p:spPr>
          <a:xfrm>
            <a:off x="548640" y="4892040"/>
            <a:ext cx="11091672" cy="713232"/>
          </a:xfrm>
          <a:prstGeom prst="roundRect">
            <a:avLst>
              <a:gd name="adj" fmla="val 1282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48640" y="4892040"/>
            <a:ext cx="2377440" cy="713232"/>
          </a:xfrm>
          <a:prstGeom prst="roundRect">
            <a:avLst>
              <a:gd name="adj" fmla="val 1282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48640" y="489204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Montant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3108960" y="489204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€ 12,50 = twaalf euro vijftig</a:t>
            </a:r>
            <a:r>
              <a:rPr lang="en-US" sz="1900" dirty="0">
                <a:solidFill>
                  <a:schemeClr val="tx1"/>
                </a:solidFill>
              </a:rPr>
              <a:t> · </a:t>
            </a:r>
            <a:r>
              <a:rPr lang="en-US" sz="1900" i="1" dirty="0">
                <a:solidFill>
                  <a:schemeClr val="tx1"/>
                </a:solidFill>
              </a:rPr>
              <a:t>euro</a:t>
            </a:r>
            <a:r>
              <a:rPr lang="en-US" sz="1900" dirty="0">
                <a:solidFill>
                  <a:schemeClr val="tx1"/>
                </a:solidFill>
              </a:rPr>
              <a:t> sans </a:t>
            </a:r>
            <a:r>
              <a:rPr lang="en-US" sz="1900" i="1" dirty="0">
                <a:solidFill>
                  <a:schemeClr val="tx1"/>
                </a:solidFill>
              </a:rPr>
              <a:t>-s</a:t>
            </a:r>
            <a:endParaRPr lang="en-US" sz="1900" dirty="0"/>
          </a:p>
        </p:txBody>
      </p:sp>
      <p:pic>
        <p:nvPicPr>
          <p:cNvPr id="31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PenFanc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En lettres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Headphon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dictée des prix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PuzzlePie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tranches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Calendar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Année ou montant ?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ArrowsAltV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Hoger, lager!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Ke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L’appartement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En lettres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les nombres en lettres. Attention aux espaces et au tréma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51560" y="19872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9872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135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51560" y="271373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271373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480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51560" y="344017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51560" y="344017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1.200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51560" y="416661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51560" y="416661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2.023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51560" y="489305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51560" y="489305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15.750</a:t>
            </a:r>
            <a:endParaRPr lang="en-US" sz="2200" dirty="0"/>
          </a:p>
        </p:txBody>
      </p:sp>
      <p:sp>
        <p:nvSpPr>
          <p:cNvPr id="36" name="Shape 32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51560" y="56194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51560" y="56194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1.000.000</a:t>
            </a:r>
            <a:endParaRPr lang="en-US" sz="2200" dirty="0"/>
          </a:p>
        </p:txBody>
      </p:sp>
      <p:sp>
        <p:nvSpPr>
          <p:cNvPr id="42" name="Shape 38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En lettres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les nombres en lettres. Attention aux espaces et au tréma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51560" y="19872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51560" y="19872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135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069080" y="19872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honderdvijfendertig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51560" y="271373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51560" y="271373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480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069080" y="271373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vierhonderdtachtig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51560" y="344017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51560" y="344017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1.200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069080" y="344017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duizend tweehonderd</a:t>
            </a:r>
            <a:r>
              <a:rPr lang="en-US" sz="1900" dirty="0">
                <a:solidFill>
                  <a:schemeClr val="accent3"/>
                </a:solidFill>
              </a:rPr>
              <a:t>  ·  ou </a:t>
            </a:r>
            <a:r>
              <a:rPr lang="en-US" sz="1900" i="1" dirty="0">
                <a:solidFill>
                  <a:schemeClr val="accent3"/>
                </a:solidFill>
              </a:rPr>
              <a:t>twaalfhonderd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51560" y="416661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51560" y="416661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2.023</a:t>
            </a:r>
            <a:endParaRPr lang="en-US" sz="2200" dirty="0"/>
          </a:p>
        </p:txBody>
      </p:sp>
      <p:sp>
        <p:nvSpPr>
          <p:cNvPr id="34" name="Shape 30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069080" y="416661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tweeduizend drieëntwintig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51560" y="489305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51560" y="489305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15.750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4069080" y="489305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vijftienduizend zevenhonderdvijftig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51560" y="56194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51560" y="56194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1.000.000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4069080" y="56194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een miljoen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dictée des prix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l’enseignant·e et écrivez les montants en chiffres.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13385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37160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361188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61188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06908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19709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43484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67512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67512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713232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26033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49808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113385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37160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361188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1188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06908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419709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43484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667512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67512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713232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Shape 32"/>
          <p:cNvSpPr/>
          <p:nvPr/>
        </p:nvSpPr>
        <p:spPr>
          <a:xfrm>
            <a:off x="726033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749808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pic>
        <p:nvPicPr>
          <p:cNvPr id="38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2115312"/>
            <a:ext cx="1280160" cy="1280160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9418320" y="3532632"/>
            <a:ext cx="2221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Deux fois, à vitesse normale.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dictée des prix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l’enseignant·e et écrivez les montants en chiffres.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113385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37160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€ 650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361188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1188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06908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19709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43484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€ 1.200</a:t>
            </a:r>
            <a:endParaRPr lang="en-US" sz="2400" dirty="0"/>
          </a:p>
        </p:txBody>
      </p:sp>
      <p:sp>
        <p:nvSpPr>
          <p:cNvPr id="19" name="Shape 15"/>
          <p:cNvSpPr/>
          <p:nvPr/>
        </p:nvSpPr>
        <p:spPr>
          <a:xfrm>
            <a:off x="667512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67512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713232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726033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49808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€ 1.999</a:t>
            </a:r>
            <a:endParaRPr lang="en-US" sz="2400" dirty="0"/>
          </a:p>
        </p:txBody>
      </p:sp>
      <p:sp>
        <p:nvSpPr>
          <p:cNvPr id="24" name="Shape 20"/>
          <p:cNvSpPr/>
          <p:nvPr/>
        </p:nvSpPr>
        <p:spPr>
          <a:xfrm>
            <a:off x="54864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4864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100584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113385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37160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€ 24,95</a:t>
            </a:r>
            <a:endParaRPr lang="en-US" sz="2400" dirty="0"/>
          </a:p>
        </p:txBody>
      </p:sp>
      <p:sp>
        <p:nvSpPr>
          <p:cNvPr id="29" name="Shape 25"/>
          <p:cNvSpPr/>
          <p:nvPr/>
        </p:nvSpPr>
        <p:spPr>
          <a:xfrm>
            <a:off x="361188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61188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06908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419709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43484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€ 8.500</a:t>
            </a:r>
            <a:endParaRPr lang="en-US" sz="2400" dirty="0"/>
          </a:p>
        </p:txBody>
      </p:sp>
      <p:sp>
        <p:nvSpPr>
          <p:cNvPr id="34" name="Shape 30"/>
          <p:cNvSpPr/>
          <p:nvPr/>
        </p:nvSpPr>
        <p:spPr>
          <a:xfrm>
            <a:off x="667512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67512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713232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726033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749808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€ 1.200.000</a:t>
            </a:r>
            <a:endParaRPr lang="en-US" sz="1800" dirty="0"/>
          </a:p>
        </p:txBody>
      </p:sp>
      <p:pic>
        <p:nvPicPr>
          <p:cNvPr id="39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2115312"/>
            <a:ext cx="1280160" cy="1280160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9418320" y="3532632"/>
            <a:ext cx="2221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Deux fois, à vitesse normale.</a:t>
            </a:r>
            <a:endParaRPr lang="en-US" sz="1400" dirty="0"/>
          </a:p>
        </p:txBody>
      </p:sp>
      <p:sp>
        <p:nvSpPr>
          <p:cNvPr id="41" name="Text 36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2 : </a:t>
            </a:r>
            <a:r>
              <a:rPr lang="en-US" sz="1400" i="1" dirty="0">
                <a:solidFill>
                  <a:schemeClr val="accent5"/>
                </a:solidFill>
              </a:rPr>
              <a:t>twaalfhonderd</a:t>
            </a:r>
            <a:r>
              <a:rPr lang="en-US" sz="1400" i="1" dirty="0">
                <a:solidFill>
                  <a:schemeClr val="accent5"/>
                </a:solidFill>
              </a:rPr>
              <a:t> = 1 200 · 4 : </a:t>
            </a:r>
            <a:r>
              <a:rPr lang="en-US" sz="1400" i="1" dirty="0">
                <a:solidFill>
                  <a:schemeClr val="accent5"/>
                </a:solidFill>
              </a:rPr>
              <a:t>vierentwintig euro vijfennegentig</a:t>
            </a:r>
            <a:r>
              <a:rPr lang="en-US" sz="1400" i="1" dirty="0">
                <a:solidFill>
                  <a:schemeClr val="accent5"/>
                </a:solidFill>
              </a:rPr>
              <a:t> · 6 : </a:t>
            </a:r>
            <a:r>
              <a:rPr lang="en-US" sz="1400" i="1" dirty="0">
                <a:solidFill>
                  <a:schemeClr val="accent5"/>
                </a:solidFill>
              </a:rPr>
              <a:t>een miljoen tweehonderdduizend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tranches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morceaux dans l’ordre, puis lisez le nombre à voix haute.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96440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1996440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3.450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2514600" y="2060448"/>
            <a:ext cx="11658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514600" y="2060448"/>
            <a:ext cx="11658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vijftig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 rot="60000">
            <a:off x="3863340" y="2060448"/>
            <a:ext cx="16230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863340" y="2060448"/>
            <a:ext cx="16230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drieduizend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 rot="60000">
            <a:off x="5669280" y="2060448"/>
            <a:ext cx="16230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669280" y="2060448"/>
            <a:ext cx="16230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vierhonderd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2868168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68168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12.800</a:t>
            </a:r>
            <a:endParaRPr lang="en-US" sz="2000" dirty="0"/>
          </a:p>
        </p:txBody>
      </p:sp>
      <p:sp>
        <p:nvSpPr>
          <p:cNvPr id="18" name="Shape 14"/>
          <p:cNvSpPr/>
          <p:nvPr/>
        </p:nvSpPr>
        <p:spPr>
          <a:xfrm rot="60000">
            <a:off x="2514600" y="2932176"/>
            <a:ext cx="16230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514600" y="2932176"/>
            <a:ext cx="16230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achthonderd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4320540" y="2932176"/>
            <a:ext cx="18516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320540" y="2932176"/>
            <a:ext cx="18516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twaalfduizend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548640" y="3739896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739896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1.375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2514600" y="3803904"/>
            <a:ext cx="32232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2514600" y="3803904"/>
            <a:ext cx="32232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driehonderdvijfenzeventig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5920740" y="3803904"/>
            <a:ext cx="11658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920740" y="3803904"/>
            <a:ext cx="11658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duizend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548640" y="4611624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48640" y="4611624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250.000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2514600" y="4675632"/>
            <a:ext cx="11658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2514600" y="4675632"/>
            <a:ext cx="11658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duizend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 rot="-60000">
            <a:off x="3863340" y="4675632"/>
            <a:ext cx="24231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3863340" y="4675632"/>
            <a:ext cx="24231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tweehonderdvijftig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548640" y="5483352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48640" y="5483352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2.500.000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 rot="-60000">
            <a:off x="2514600" y="5547360"/>
            <a:ext cx="24231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2514600" y="5547360"/>
            <a:ext cx="24231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vijfhonderdduizend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 rot="-60000">
            <a:off x="5120640" y="5547360"/>
            <a:ext cx="17373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120640" y="5547360"/>
            <a:ext cx="17373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twee miljoen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tranches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morceaux dans l’ordre, puis lisez le nombre à voix haute.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96440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1996440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3.450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2514600" y="1996440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651760" y="1996440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drieduizend vierhonderdvijftig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548640" y="2868168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2868168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12.800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2514600" y="2868168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651760" y="2868168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twaalfduizend achthonderd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548640" y="3739896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739896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1.375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2514600" y="3739896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2651760" y="3739896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duizend driehonderdvijfenzeventig</a:t>
            </a:r>
            <a:endParaRPr lang="en-US" sz="2000" dirty="0"/>
          </a:p>
        </p:txBody>
      </p:sp>
      <p:sp>
        <p:nvSpPr>
          <p:cNvPr id="21" name="Shape 17"/>
          <p:cNvSpPr/>
          <p:nvPr/>
        </p:nvSpPr>
        <p:spPr>
          <a:xfrm>
            <a:off x="548640" y="4611624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611624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250.000</a:t>
            </a:r>
            <a:endParaRPr lang="en-US" sz="2000" dirty="0"/>
          </a:p>
        </p:txBody>
      </p:sp>
      <p:sp>
        <p:nvSpPr>
          <p:cNvPr id="23" name="Shape 19"/>
          <p:cNvSpPr/>
          <p:nvPr/>
        </p:nvSpPr>
        <p:spPr>
          <a:xfrm>
            <a:off x="2514600" y="4611624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651760" y="4611624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tweehonderdvijftigduizend</a:t>
            </a:r>
            <a:endParaRPr lang="en-US" sz="2000" dirty="0"/>
          </a:p>
        </p:txBody>
      </p:sp>
      <p:sp>
        <p:nvSpPr>
          <p:cNvPr id="25" name="Shape 21"/>
          <p:cNvSpPr/>
          <p:nvPr/>
        </p:nvSpPr>
        <p:spPr>
          <a:xfrm>
            <a:off x="548640" y="5483352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483352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2.500.000</a:t>
            </a:r>
            <a:endParaRPr lang="en-US" sz="2000" dirty="0"/>
          </a:p>
        </p:txBody>
      </p:sp>
      <p:sp>
        <p:nvSpPr>
          <p:cNvPr id="27" name="Shape 23"/>
          <p:cNvSpPr/>
          <p:nvPr/>
        </p:nvSpPr>
        <p:spPr>
          <a:xfrm>
            <a:off x="2514600" y="5483352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651760" y="5483352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twee miljoen vijfhonderdduizend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envoie un devis.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klant · Onderwerp: offerte computers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klant,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nieuwe computers kosten </a:t>
            </a:r>
            <a:r>
              <a:rPr lang="en-US" sz="1900" i="1" dirty="0">
                <a:solidFill>
                  <a:schemeClr val="tx1"/>
                </a:solidFill>
              </a:rPr>
              <a:t>een duizend</a:t>
            </a:r>
            <a:r>
              <a:rPr lang="en-US" sz="1900" i="1" dirty="0">
                <a:solidFill>
                  <a:schemeClr val="tx1"/>
                </a:solidFill>
              </a:rPr>
              <a:t> tweehonderd </a:t>
            </a:r>
            <a:r>
              <a:rPr lang="en-US" sz="1900" i="1" dirty="0">
                <a:solidFill>
                  <a:schemeClr val="tx1"/>
                </a:solidFill>
              </a:rPr>
              <a:t>euros</a:t>
            </a:r>
            <a:r>
              <a:rPr lang="en-US" sz="1900" i="1" dirty="0">
                <a:solidFill>
                  <a:schemeClr val="tx1"/>
                </a:solidFill>
              </a:rPr>
              <a:t> per stuk. Voor tien computers is dat twaalfduizend euro. De installatie kost </a:t>
            </a:r>
            <a:r>
              <a:rPr lang="en-US" sz="1900" i="1" dirty="0">
                <a:solidFill>
                  <a:schemeClr val="tx1"/>
                </a:solidFill>
              </a:rPr>
              <a:t>twee honderd</a:t>
            </a:r>
            <a:r>
              <a:rPr lang="en-US" sz="1900" i="1" dirty="0">
                <a:solidFill>
                  <a:schemeClr val="tx1"/>
                </a:solidFill>
              </a:rPr>
              <a:t> euro en de levering </a:t>
            </a:r>
            <a:r>
              <a:rPr lang="en-US" sz="1900" i="1" dirty="0">
                <a:solidFill>
                  <a:schemeClr val="tx1"/>
                </a:solidFill>
              </a:rPr>
              <a:t>drieentwintig</a:t>
            </a:r>
            <a:r>
              <a:rPr lang="en-US" sz="1900" i="1" dirty="0">
                <a:solidFill>
                  <a:schemeClr val="tx1"/>
                </a:solidFill>
              </a:rPr>
              <a:t> euro. Totaal: </a:t>
            </a:r>
            <a:r>
              <a:rPr lang="en-US" sz="1900" i="1" dirty="0">
                <a:solidFill>
                  <a:schemeClr val="tx1"/>
                </a:solidFill>
              </a:rPr>
              <a:t>€ 12,223</a:t>
            </a:r>
            <a:r>
              <a:rPr lang="en-US" sz="1900" i="1" dirty="0">
                <a:solidFill>
                  <a:schemeClr val="tx1"/>
                </a:solidFill>
              </a:rPr>
              <a:t> (exclusief btw).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Peeters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envoie un devis.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klant · Onderwerp: offerte computers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klant,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nieuwe computers kosten </a:t>
            </a:r>
            <a:r>
              <a:rPr lang="en-US" sz="1900" i="1" strike="sngStrike" dirty="0">
                <a:solidFill>
                  <a:schemeClr val="accent6"/>
                </a:solidFill>
              </a:rPr>
              <a:t>een duizend</a:t>
            </a:r>
            <a:r>
              <a:rPr lang="en-US" sz="1900" b="1" i="1" dirty="0">
                <a:solidFill>
                  <a:schemeClr val="accent3"/>
                </a:solidFill>
              </a:rPr>
              <a:t> duizend</a:t>
            </a:r>
            <a:r>
              <a:rPr lang="en-US" sz="1900" i="1" dirty="0">
                <a:solidFill>
                  <a:schemeClr val="tx1"/>
                </a:solidFill>
              </a:rPr>
              <a:t> tweehonderd </a:t>
            </a:r>
            <a:r>
              <a:rPr lang="en-US" sz="1900" i="1" strike="sngStrike" dirty="0">
                <a:solidFill>
                  <a:schemeClr val="accent6"/>
                </a:solidFill>
              </a:rPr>
              <a:t>euros</a:t>
            </a:r>
            <a:r>
              <a:rPr lang="en-US" sz="1900" b="1" i="1" dirty="0">
                <a:solidFill>
                  <a:schemeClr val="accent3"/>
                </a:solidFill>
              </a:rPr>
              <a:t> euro</a:t>
            </a:r>
            <a:r>
              <a:rPr lang="en-US" sz="1900" i="1" dirty="0">
                <a:solidFill>
                  <a:schemeClr val="tx1"/>
                </a:solidFill>
              </a:rPr>
              <a:t> per stuk. Voor tien computers is dat twaalfduizend euro. De installatie kost </a:t>
            </a:r>
            <a:r>
              <a:rPr lang="en-US" sz="1900" i="1" strike="sngStrike" dirty="0">
                <a:solidFill>
                  <a:schemeClr val="accent6"/>
                </a:solidFill>
              </a:rPr>
              <a:t>twee honderd</a:t>
            </a:r>
            <a:r>
              <a:rPr lang="en-US" sz="1900" b="1" i="1" dirty="0">
                <a:solidFill>
                  <a:schemeClr val="accent3"/>
                </a:solidFill>
              </a:rPr>
              <a:t> tweehonderd</a:t>
            </a:r>
            <a:r>
              <a:rPr lang="en-US" sz="1900" i="1" dirty="0">
                <a:solidFill>
                  <a:schemeClr val="tx1"/>
                </a:solidFill>
              </a:rPr>
              <a:t> euro en de levering </a:t>
            </a:r>
            <a:r>
              <a:rPr lang="en-US" sz="1900" i="1" strike="sngStrike" dirty="0">
                <a:solidFill>
                  <a:schemeClr val="accent6"/>
                </a:solidFill>
              </a:rPr>
              <a:t>drieentwintig</a:t>
            </a:r>
            <a:r>
              <a:rPr lang="en-US" sz="1900" b="1" i="1" dirty="0">
                <a:solidFill>
                  <a:schemeClr val="accent3"/>
                </a:solidFill>
              </a:rPr>
              <a:t> drieëntwintig</a:t>
            </a:r>
            <a:r>
              <a:rPr lang="en-US" sz="1900" i="1" dirty="0">
                <a:solidFill>
                  <a:schemeClr val="tx1"/>
                </a:solidFill>
              </a:rPr>
              <a:t> euro. Totaal: </a:t>
            </a:r>
            <a:r>
              <a:rPr lang="en-US" sz="1900" i="1" strike="sngStrike" dirty="0">
                <a:solidFill>
                  <a:schemeClr val="accent6"/>
                </a:solidFill>
              </a:rPr>
              <a:t>€ 12,223</a:t>
            </a:r>
            <a:r>
              <a:rPr lang="en-US" sz="1900" b="1" i="1" dirty="0">
                <a:solidFill>
                  <a:schemeClr val="accent3"/>
                </a:solidFill>
              </a:rPr>
              <a:t> € 12.223</a:t>
            </a:r>
            <a:r>
              <a:rPr lang="en-US" sz="1900" i="1" dirty="0">
                <a:solidFill>
                  <a:schemeClr val="tx1"/>
                </a:solidFill>
              </a:rPr>
              <a:t> (exclusief btw).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Peeters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twaalfduizend euro</a:t>
            </a:r>
            <a:r>
              <a:rPr lang="en-US" sz="1400" i="1" dirty="0">
                <a:solidFill>
                  <a:schemeClr val="accent5"/>
                </a:solidFill>
              </a:rPr>
              <a:t> est correct. Total : 12 000 + 200 + 23 = 12 223 €.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Année ou montant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à voix haute, puis écrivez en lettres. Une année ou un prix ?</a:t>
            </a:r>
            <a:endParaRPr lang="en-US" sz="1700" dirty="0"/>
          </a:p>
        </p:txBody>
      </p:sp>
      <p:pic>
        <p:nvPicPr>
          <p:cNvPr id="8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7052"/>
            <a:ext cx="457200" cy="45720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143000" y="19872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143000" y="19872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1985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2" name="Shape 7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3" name="Image 2" descr="lab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93492"/>
            <a:ext cx="457200" cy="4572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1143000" y="271373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1143000" y="271373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€ 1.985</a:t>
            </a:r>
            <a:endParaRPr lang="en-US" sz="2000" dirty="0"/>
          </a:p>
        </p:txBody>
      </p:sp>
      <p:sp>
        <p:nvSpPr>
          <p:cNvPr id="16" name="Shape 10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1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8" name="Image 3" descr="spiral calend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519932"/>
            <a:ext cx="457200" cy="457200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1143000" y="344017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1143000" y="344017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2010</a:t>
            </a:r>
            <a:endParaRPr lang="en-US" sz="2000" dirty="0"/>
          </a:p>
        </p:txBody>
      </p:sp>
      <p:sp>
        <p:nvSpPr>
          <p:cNvPr id="21" name="Shape 14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Shape 15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3" name="Image 4" descr="labe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46372"/>
            <a:ext cx="457200" cy="457200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1143000" y="416661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1143000" y="416661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€ 2.010</a:t>
            </a:r>
            <a:endParaRPr lang="en-US" sz="2000" dirty="0"/>
          </a:p>
        </p:txBody>
      </p:sp>
      <p:sp>
        <p:nvSpPr>
          <p:cNvPr id="26" name="Shape 18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19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8" name="Image 5" descr="spiral calend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72812"/>
            <a:ext cx="457200" cy="457200"/>
          </a:xfrm>
          <a:prstGeom prst="rect">
            <a:avLst/>
          </a:prstGeom>
        </p:spPr>
      </p:pic>
      <p:sp>
        <p:nvSpPr>
          <p:cNvPr id="29" name="Shape 20"/>
          <p:cNvSpPr/>
          <p:nvPr/>
        </p:nvSpPr>
        <p:spPr>
          <a:xfrm>
            <a:off x="1143000" y="489305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1143000" y="489305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1958</a:t>
            </a:r>
            <a:endParaRPr lang="en-US" sz="2000" dirty="0"/>
          </a:p>
        </p:txBody>
      </p:sp>
      <p:sp>
        <p:nvSpPr>
          <p:cNvPr id="31" name="Shape 22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2" name="Shape 23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3" name="Image 6" descr="labe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99252"/>
            <a:ext cx="457200" cy="457200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1143000" y="56194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1143000" y="56194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€ 1.958,50</a:t>
            </a:r>
            <a:endParaRPr lang="en-US" sz="2000" dirty="0"/>
          </a:p>
        </p:txBody>
      </p:sp>
      <p:sp>
        <p:nvSpPr>
          <p:cNvPr id="36" name="Shape 26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27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Année ou montant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à voix haute, puis écrivez en lettres. Une année ou un prix ?</a:t>
            </a:r>
            <a:endParaRPr lang="en-US" sz="1700" dirty="0"/>
          </a:p>
        </p:txBody>
      </p:sp>
      <p:pic>
        <p:nvPicPr>
          <p:cNvPr id="9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7052"/>
            <a:ext cx="457200" cy="4572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1143000" y="19872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143000" y="19872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1985</a:t>
            </a:r>
            <a:endParaRPr lang="en-US" sz="2000" dirty="0"/>
          </a:p>
        </p:txBody>
      </p:sp>
      <p:sp>
        <p:nvSpPr>
          <p:cNvPr id="12" name="Shape 7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8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069080" y="19872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negentienhonderdvijfentachtig</a:t>
            </a:r>
            <a:endParaRPr lang="en-US" sz="1800" dirty="0"/>
          </a:p>
        </p:txBody>
      </p:sp>
      <p:pic>
        <p:nvPicPr>
          <p:cNvPr id="15" name="Image 2" descr="lab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93492"/>
            <a:ext cx="457200" cy="4572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1143000" y="271373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1143000" y="271373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€ 1.985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3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4069080" y="2732024"/>
            <a:ext cx="7498080" cy="339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duizend negenhonderdvijfentachtig euro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4069080" y="3034426"/>
            <a:ext cx="7498080" cy="27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negentienhonderdvijfentachtig euro</a:t>
            </a:r>
            <a:endParaRPr lang="en-US" sz="1300" dirty="0"/>
          </a:p>
        </p:txBody>
      </p:sp>
      <p:pic>
        <p:nvPicPr>
          <p:cNvPr id="22" name="Image 3" descr="spiral calend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519932"/>
            <a:ext cx="457200" cy="45720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1143000" y="344017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1143000" y="344017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2010</a:t>
            </a:r>
            <a:endParaRPr lang="en-US" sz="2000" dirty="0"/>
          </a:p>
        </p:txBody>
      </p:sp>
      <p:sp>
        <p:nvSpPr>
          <p:cNvPr id="25" name="Shape 18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6" name="Shape 19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4069080" y="344017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tweeduizend tien</a:t>
            </a:r>
            <a:endParaRPr lang="en-US" sz="1800" dirty="0"/>
          </a:p>
        </p:txBody>
      </p:sp>
      <p:pic>
        <p:nvPicPr>
          <p:cNvPr id="28" name="Image 4" descr="labe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46372"/>
            <a:ext cx="457200" cy="457200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1143000" y="416661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1143000" y="416661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€ 2.010</a:t>
            </a:r>
            <a:endParaRPr lang="en-US" sz="2000" dirty="0"/>
          </a:p>
        </p:txBody>
      </p:sp>
      <p:sp>
        <p:nvSpPr>
          <p:cNvPr id="31" name="Shape 23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2" name="Shape 24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4069080" y="416661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tweeduizend tien euro</a:t>
            </a:r>
            <a:endParaRPr lang="en-US" sz="1800" dirty="0"/>
          </a:p>
        </p:txBody>
      </p:sp>
      <p:pic>
        <p:nvPicPr>
          <p:cNvPr id="34" name="Image 5" descr="spiral calend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72812"/>
            <a:ext cx="457200" cy="457200"/>
          </a:xfrm>
          <a:prstGeom prst="rect">
            <a:avLst/>
          </a:prstGeom>
        </p:spPr>
      </p:pic>
      <p:sp>
        <p:nvSpPr>
          <p:cNvPr id="35" name="Shape 26"/>
          <p:cNvSpPr/>
          <p:nvPr/>
        </p:nvSpPr>
        <p:spPr>
          <a:xfrm>
            <a:off x="1143000" y="489305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1143000" y="489305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1958</a:t>
            </a:r>
            <a:endParaRPr lang="en-US" sz="2000" dirty="0"/>
          </a:p>
        </p:txBody>
      </p:sp>
      <p:sp>
        <p:nvSpPr>
          <p:cNvPr id="37" name="Shape 28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8" name="Shape 29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9" name="Text 30"/>
          <p:cNvSpPr txBox="1"/>
          <p:nvPr/>
        </p:nvSpPr>
        <p:spPr>
          <a:xfrm>
            <a:off x="4069080" y="489305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negentienhonderdachtenvijftig</a:t>
            </a:r>
            <a:endParaRPr lang="en-US" sz="1800" dirty="0"/>
          </a:p>
        </p:txBody>
      </p:sp>
      <p:pic>
        <p:nvPicPr>
          <p:cNvPr id="40" name="Image 6" descr="labe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99252"/>
            <a:ext cx="457200" cy="457200"/>
          </a:xfrm>
          <a:prstGeom prst="rect">
            <a:avLst/>
          </a:prstGeom>
        </p:spPr>
      </p:pic>
      <p:sp>
        <p:nvSpPr>
          <p:cNvPr id="41" name="Shape 31"/>
          <p:cNvSpPr/>
          <p:nvPr/>
        </p:nvSpPr>
        <p:spPr>
          <a:xfrm>
            <a:off x="1143000" y="56194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2" name="Text 32"/>
          <p:cNvSpPr txBox="1"/>
          <p:nvPr/>
        </p:nvSpPr>
        <p:spPr>
          <a:xfrm>
            <a:off x="1143000" y="56194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€ 1.958,50</a:t>
            </a:r>
            <a:endParaRPr lang="en-US" sz="2000" dirty="0"/>
          </a:p>
        </p:txBody>
      </p:sp>
      <p:sp>
        <p:nvSpPr>
          <p:cNvPr id="43" name="Shape 33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4" name="Shape 34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4069080" y="56194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duizend negenhonderdachtenvijftig euro vijftig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Hoger, lager!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auto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737360"/>
            <a:ext cx="777240" cy="7772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514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tweedehandsauto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1051560" y="3227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051560" y="3227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292608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mobile 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737360"/>
            <a:ext cx="777240" cy="7772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017520" y="2514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smartphone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3429000" y="3227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429000" y="3227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30352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beach with umbrell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737360"/>
            <a:ext cx="777240" cy="7772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514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week vakantie in Spanje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5806440" y="3227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806440" y="3227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54864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3" descr="bicyc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4023360"/>
            <a:ext cx="777240" cy="77724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40080" y="4800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elektrische fiets</a:t>
            </a:r>
            <a:endParaRPr lang="en-US" sz="1400" dirty="0"/>
          </a:p>
        </p:txBody>
      </p:sp>
      <p:sp>
        <p:nvSpPr>
          <p:cNvPr id="24" name="Shape 17"/>
          <p:cNvSpPr/>
          <p:nvPr/>
        </p:nvSpPr>
        <p:spPr>
          <a:xfrm>
            <a:off x="1051560" y="5513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1051560" y="5513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26" name="Shape 19"/>
          <p:cNvSpPr/>
          <p:nvPr/>
        </p:nvSpPr>
        <p:spPr>
          <a:xfrm>
            <a:off x="292608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4" descr="fork and knife with pla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0" y="4023360"/>
            <a:ext cx="777240" cy="77724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3017520" y="4800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nieuwe keuken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3429000" y="5513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3429000" y="5513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31" name="Shape 23"/>
          <p:cNvSpPr/>
          <p:nvPr/>
        </p:nvSpPr>
        <p:spPr>
          <a:xfrm>
            <a:off x="530352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2" name="Image 5" descr="hou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0" y="4023360"/>
            <a:ext cx="777240" cy="77724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5394960" y="4800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studio in Gent (huur per maand)</a:t>
            </a:r>
            <a:endParaRPr lang="en-US" sz="1400" dirty="0"/>
          </a:p>
        </p:txBody>
      </p:sp>
      <p:sp>
        <p:nvSpPr>
          <p:cNvPr id="34" name="Shape 25"/>
          <p:cNvSpPr/>
          <p:nvPr/>
        </p:nvSpPr>
        <p:spPr>
          <a:xfrm>
            <a:off x="5806440" y="5513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5806440" y="5513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pic>
        <p:nvPicPr>
          <p:cNvPr id="36" name="Image 6" descr="up arrow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0" y="1600200"/>
            <a:ext cx="548640" cy="548640"/>
          </a:xfrm>
          <a:prstGeom prst="rect">
            <a:avLst/>
          </a:prstGeom>
        </p:spPr>
      </p:pic>
      <p:pic>
        <p:nvPicPr>
          <p:cNvPr id="37" name="Image 7" descr="down arrow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2480" y="1600200"/>
            <a:ext cx="548640" cy="548640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9052560" y="1600200"/>
            <a:ext cx="2587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Hoger! Lager!</a:t>
            </a:r>
            <a:endParaRPr lang="en-US" sz="2200" dirty="0"/>
          </a:p>
        </p:txBody>
      </p:sp>
      <p:sp>
        <p:nvSpPr>
          <p:cNvPr id="39" name="Text 28"/>
          <p:cNvSpPr txBox="1"/>
          <p:nvPr/>
        </p:nvSpPr>
        <p:spPr>
          <a:xfrm>
            <a:off x="7863840" y="2377440"/>
            <a:ext cx="37764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Une équipe propose un prix : </a:t>
            </a:r>
            <a:r>
              <a:rPr lang="en-US" sz="1500" i="1" dirty="0">
                <a:solidFill>
                  <a:schemeClr val="tx1"/>
                </a:solidFill>
              </a:rPr>
              <a:t>Ik denk vierduizend euro.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L’enseignant·e répond : </a:t>
            </a:r>
            <a:r>
              <a:rPr lang="en-US" sz="1500" i="1" dirty="0">
                <a:solidFill>
                  <a:schemeClr val="tx1"/>
                </a:solidFill>
              </a:rPr>
              <a:t>Hoger!</a:t>
            </a:r>
            <a:r>
              <a:rPr lang="en-US" sz="1500" dirty="0">
                <a:solidFill>
                  <a:schemeClr val="tx1"/>
                </a:solidFill>
              </a:rPr>
              <a:t> (plus) ou </a:t>
            </a:r>
            <a:r>
              <a:rPr lang="en-US" sz="1500" i="1" dirty="0">
                <a:solidFill>
                  <a:schemeClr val="tx1"/>
                </a:solidFill>
              </a:rPr>
              <a:t>Lager!</a:t>
            </a:r>
            <a:r>
              <a:rPr lang="en-US" sz="1500" dirty="0">
                <a:solidFill>
                  <a:schemeClr val="tx1"/>
                </a:solidFill>
              </a:rPr>
              <a:t> (moins)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Le prix exact en moins de 5 essais = 1 point.</a:t>
            </a:r>
            <a:endParaRPr lang="en-US" sz="1500" dirty="0"/>
          </a:p>
        </p:txBody>
      </p:sp>
      <p:sp>
        <p:nvSpPr>
          <p:cNvPr id="40" name="Text 29"/>
          <p:cNvSpPr txBox="1"/>
          <p:nvPr/>
        </p:nvSpPr>
        <p:spPr>
          <a:xfrm>
            <a:off x="7863840" y="5257800"/>
            <a:ext cx="3776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Montants dits en entier, sans chiffres écrits 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L’appartement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visite un appartement à Etterbeek. Il pose des questions sur les coûts et essaie de négocier.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demandez le prix, les charges et la garantie ; négociez le loyer.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L’agent immobilier</a:t>
            </a:r>
            <a:r>
              <a:rPr lang="en-US" sz="1700" dirty="0">
                <a:solidFill>
                  <a:schemeClr val="tx1"/>
                </a:solidFill>
              </a:rPr>
              <a:t> : présentez l’appartement et défendez votre prix (montants à voix haute !).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Hoeveel kost het per maand? · Zijn de kosten inbegrepen? · Hoeveel is de waarborg? · Dat is te duur voor mij. · Kan het voor duizend euro? · Wat is uw laatste prijs?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BEA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ag"/>
          <p:cNvSpPr/>
          <p:nvPr/>
        </p:nvSpPr>
        <p:spPr>
          <a:xfrm>
            <a:off x="8257032" y="1664208"/>
            <a:ext cx="2525573" cy="329184"/>
          </a:xfrm>
          <a:prstGeom prst="roundRect">
            <a:avLst>
              <a:gd name="adj" fmla="val 13889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TE HUUR · ETTERBEEK</a:t>
            </a:r>
            <a:endParaRPr lang="en-US" sz="1200" dirty="0"/>
          </a:p>
        </p:txBody>
      </p:sp>
      <p:pic>
        <p:nvPicPr>
          <p:cNvPr id="21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2121408"/>
            <a:ext cx="731520" cy="73152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257032" y="216712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chemeClr val="accent5"/>
                </a:solidFill>
              </a:rPr>
              <a:t>appartement · 2 slaapkamers</a:t>
            </a:r>
            <a:endParaRPr lang="en-US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chemeClr val="accent5"/>
                </a:solidFill>
              </a:rPr>
              <a:t>70 m² · 2e verdieping · lift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257032" y="30358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257032" y="30815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huur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9720072" y="30815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€ 1.150 / maand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8257032" y="37216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257032" y="37673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kosten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9720072" y="37673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€ 120 / maand</a:t>
            </a:r>
            <a:endParaRPr lang="en-US" sz="1500" dirty="0"/>
          </a:p>
        </p:txBody>
      </p:sp>
      <p:sp>
        <p:nvSpPr>
          <p:cNvPr id="29" name="Shape 25"/>
          <p:cNvSpPr/>
          <p:nvPr/>
        </p:nvSpPr>
        <p:spPr>
          <a:xfrm>
            <a:off x="8257032" y="44074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257032" y="4453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huurwaarborg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9720072" y="44531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€ 2.300</a:t>
            </a:r>
            <a:endParaRPr lang="en-US" sz="1500" dirty="0"/>
          </a:p>
        </p:txBody>
      </p:sp>
      <p:sp>
        <p:nvSpPr>
          <p:cNvPr id="32" name="Shape 28"/>
          <p:cNvSpPr/>
          <p:nvPr/>
        </p:nvSpPr>
        <p:spPr>
          <a:xfrm>
            <a:off x="8257032" y="50932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257032" y="51389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vrij vanaf</a:t>
            </a:r>
            <a:endParaRPr lang="en-US" sz="1300" dirty="0"/>
          </a:p>
        </p:txBody>
      </p:sp>
      <p:sp>
        <p:nvSpPr>
          <p:cNvPr id="34" name="Text 30"/>
          <p:cNvSpPr txBox="1"/>
          <p:nvPr/>
        </p:nvSpPr>
        <p:spPr>
          <a:xfrm>
            <a:off x="9720072" y="51389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 maart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Lisez : </a:t>
            </a:r>
            <a:r>
              <a:rPr lang="en-US" sz="2000" i="1" dirty="0">
                <a:solidFill>
                  <a:schemeClr val="tx1"/>
                </a:solidFill>
              </a:rPr>
              <a:t>4.375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Lisez : </a:t>
            </a:r>
            <a:r>
              <a:rPr lang="en-US" sz="2000" i="1" dirty="0">
                <a:solidFill>
                  <a:schemeClr val="tx1"/>
                </a:solidFill>
              </a:rPr>
              <a:t>€ 1.299,95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Het kost een duizend euros.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Dire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Discuter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ear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Graag of houden van?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Ik zwem graag · Ik hou van de zee.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26 — Hoeveel kost het? — Les montants au-delà de 1 000 €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2026-10-06T17:53:46Z</dcterms:created>
  <dcterms:modified xsi:type="dcterms:W3CDTF">2026-10-06T17:53:46Z</dcterms:modified>
</cp:coreProperties>
</file>