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1585955-1afb-b280-e26a-de08dbab218b}">
          <p14:sldIdLst>
            <p14:sldId id="256"/>
          </p14:sldIdLst>
        </p14:section>
        <p14:section name="Découvrir" id="{e7c201ca-34c5-a975-8080-258c52ce1817}">
          <p14:sldIdLst>
            <p14:sldId id="257"/>
            <p14:sldId id="258"/>
          </p14:sldIdLst>
        </p14:section>
        <p14:section name="Comprendre" id="{e9965a3d-264a-381a-b184-b27455ed596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38677fb9-6992-c511-88e0-8a7f50fe3b3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42841225-0be5-fe7e-0651-c32bca83a4b5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lire et dire les grands montants.
Demandez : « Comment lire ce prix ? » Beaucoup d'apprenants hésitent dès 100. À la fin du module, ils liront un loyer, une facture et un salaire sans hésiter.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montants sont partout au travail : factures, devis, salaires,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les nombres et créer le besoin de lire les grands montants.
Prix réalistes : € 450, € 1.200, € 1.150, € 25.000. Ne corrigez pas encore la lecture : notez les hésitations (een duizend ?, ordre des unités) pour y 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des unités avant les dizaines.
Le tréma apparaît quand deux e se suivent (twee + en). Rappel des dizaines : twintig, dertig, veertig, vijftig, zestig, zeventig, tachtig, negentig. Attention : veertig (40, ee) ≠ vier ; tachtig (80) commence par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nombres de 100 à 999.
Ordre : centaines, puis le bloc « unités + en + dizaines ». Sur un document officiel, on lit parfois eenhonderd pour éviter les fraudes ; à l'oral, on dit honderd.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nombre de 1 000 à 999 999 grâce au découpage en tranches.
Comme pour honderd : ✗ een duizend. Les apprenants qui lisent bien 1 à 999 savent tout lire jusqu'à 999 999 : il suffit d'ajouter duizend.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 selon la règle officielle.
Règle de l'orthographe officielle (Taalunie). En pratique, on écrit les montants en chiffres ; l'écriture en lettres sert pour les contrats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lecture en centaines entre 1 100 et 1 999, et la lecture des années.
Les deux lectures du montant sont correctes ; twaalfhonderd est très courant à l'oral pour les prix. Pour les années avant 2000, on lit toujours en centaines (negentienhonderd…), comme « dix-neuf cent » en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prix avec centimes et maîtriser les séparateurs.
Forme courte, sans en : twaalf euro vijftig (forme longue : twaalf euro en vijftig cent). euro se prononce « eu-ro ». Pluriel sans nombre : Het kost duizenden euro's.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et les calques des grands nombres.
Contrairement à honderd et duizend, miljoen et miljard prennent een. biljoen = 10¹², comme le « billion » français ; l'anglais billion = miljard. Dans les chiffres, le néerlandais met un point (ou une espace) pour les milliers.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de montants approximatifs.
ruim est très fréquent dans les médias : ruim een miljoen inwoners. een paar honderd euro = quelques centaines d'euros.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montants dans des documents professionnels.
Faites lire le total : veertienduizend zevenhonderdtweeënzestig euro. btw = la TVA (21 % en Belgique pour la plupart des biens et services). bruto / netto comme en français. huur = le loyer, de huurwaarborg = la garantie locative (BE).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et comprendre des montants vite, en jouant.
Prix-cibles (à adapter) : € 8.500 · € 750 · € 1.200 · € 2.300 · € 12.000 · € 780. hoger = plus haut, lager = plus bas. Obligez à dire les montants en entier, sans chiffres écrits.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discuter le prix d'une location.
kosten = les charges ; inbegrepen = compris ; huurwaarborg (BE) = garantie locative, souvent deux mois de loyer. Exigez au moins 4 montants dits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vierduizend driehonderdvijfenzeventig.
2. duizend tweehonderdnegenennegentig euro vijfennegentig (ou twaalfhonderdnegenennegentig…).
3. Het kost duizend euro.
Teaser M27 : Ik zwem graag — ik hou van de zee.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Hoeveel kost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montants au-delà de 1 000 €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€ 1.250 = duizend tweehonderdvijftig euro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493776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12280" y="914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TE HUUR · ETTERBEEK</a:t>
            </a:r>
            <a:endParaRPr lang="en-US" sz="13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appartement · 2 slaapkamers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vanaf 1 maart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412480" y="2377440"/>
            <a:ext cx="2926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40496" y="272948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€ 1.250,–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0" y="3794760"/>
            <a:ext cx="493776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duizend tweehonderdvijftig</a:t>
            </a:r>
            <a:r>
              <a:rPr lang="en-US" sz="2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euro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les grands nombres : </a:t>
            </a:r>
            <a:r>
              <a:rPr lang="en-US" sz="2000" i="1" dirty="0">
                <a:solidFill>
                  <a:schemeClr val="tx1"/>
                </a:solidFill>
              </a:rPr>
              <a:t>15.750 · 1.200.000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oneyBillW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un prix avec centimes : </a:t>
            </a:r>
            <a:r>
              <a:rPr lang="en-US" sz="20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Discuter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d’un loyer, d’une facture : </a:t>
            </a:r>
            <a:r>
              <a:rPr lang="en-US" sz="2000" i="1" dirty="0">
                <a:solidFill>
                  <a:schemeClr val="tx1"/>
                </a:solidFill>
              </a:rPr>
              <a:t>Hoeveel kost het per maand?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montants sont partout au travail : factures, devis, salaires, budgets.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 juste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19" y="169164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fiets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€ 450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68680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€ 4.500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8680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€ 45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957" y="169164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laptop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3687318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87318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€ 120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687318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87318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€ 1.200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687318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87318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€ 12.000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95" y="1691640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277356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appartement in Brussel (huur per maand)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505956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05956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€ 115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05956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505956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€ 1.150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505956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05956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€ 11.500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auto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5233" y="169164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95994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nieuwe auto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324594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324594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€ 2.500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9324594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324594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€ 25.000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9324594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324594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€ 250.000</a:t>
            </a:r>
            <a:endParaRPr lang="en-US" sz="1500" dirty="0"/>
          </a:p>
        </p:txBody>
      </p:sp>
      <p:sp>
        <p:nvSpPr>
          <p:cNvPr id="41" name="Shape 3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Choisissez le bon prix… et essayez de le lire à voix haute !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denk…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de 21 à 99, à l’envers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600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286000" y="1600200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6002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een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749040" y="1600200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160020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526280" y="1600200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6002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002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eenentwintig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35000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286000" y="2350008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86000" y="235000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vijf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3749040" y="2350008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235000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4526280" y="2350008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35000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dertig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35000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vijfendertig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1783080" y="309981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286000" y="3099816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86000" y="30998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3749040" y="3099816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309981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4526280" y="3099816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6280" y="309981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negentig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0998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negenennegentig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3849624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8496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384962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286000" y="3849624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86000" y="38496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twee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749040" y="3849624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749040" y="384962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42" name="Shape 39"/>
          <p:cNvSpPr/>
          <p:nvPr/>
        </p:nvSpPr>
        <p:spPr>
          <a:xfrm>
            <a:off x="4526280" y="3849624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384962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384962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tweeëntwintig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548640" y="4599432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5994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1783080" y="45994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286000" y="4599432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286000" y="45994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drie</a:t>
            </a:r>
            <a:endParaRPr lang="en-US" sz="2100" dirty="0"/>
          </a:p>
        </p:txBody>
      </p:sp>
      <p:sp>
        <p:nvSpPr>
          <p:cNvPr id="50" name="Shape 47"/>
          <p:cNvSpPr/>
          <p:nvPr/>
        </p:nvSpPr>
        <p:spPr>
          <a:xfrm>
            <a:off x="3749040" y="4599432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749040" y="459943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52" name="Shape 49"/>
          <p:cNvSpPr/>
          <p:nvPr/>
        </p:nvSpPr>
        <p:spPr>
          <a:xfrm>
            <a:off x="4526280" y="4599432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26280" y="45994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459943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drieëntwintig</a:t>
            </a:r>
            <a:endParaRPr lang="en-US" sz="2100" dirty="0"/>
          </a:p>
        </p:txBody>
      </p:sp>
      <p:sp>
        <p:nvSpPr>
          <p:cNvPr id="55" name="Shape 52"/>
          <p:cNvSpPr/>
          <p:nvPr/>
        </p:nvSpPr>
        <p:spPr>
          <a:xfrm>
            <a:off x="9509760" y="1600200"/>
            <a:ext cx="2130552" cy="3602736"/>
          </a:xfrm>
          <a:prstGeom prst="roundRect">
            <a:avLst>
              <a:gd name="adj" fmla="val 429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46920" y="1691640"/>
            <a:ext cx="1874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Dizaines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twintig · dertig · veertig · vijftig · zestig · zeventig · tachtig · negentig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« un-et-vingt » : unités </a:t>
            </a:r>
            <a:r>
              <a:rPr lang="en-US" sz="1700" b="1" dirty="0">
                <a:solidFill>
                  <a:schemeClr val="bg1"/>
                </a:solidFill>
              </a:rPr>
              <a:t>avant</a:t>
            </a:r>
            <a:r>
              <a:rPr lang="en-US" sz="1700" dirty="0">
                <a:solidFill>
                  <a:schemeClr val="bg1"/>
                </a:solidFill>
              </a:rPr>
              <a:t> dizaines · tréma quand deux </a:t>
            </a:r>
            <a:r>
              <a:rPr lang="en-US" sz="1700" i="1" dirty="0">
                <a:solidFill>
                  <a:schemeClr val="bg1"/>
                </a:solidFill>
              </a:rPr>
              <a:t>e</a:t>
            </a:r>
            <a:r>
              <a:rPr lang="en-US" sz="1700" dirty="0">
                <a:solidFill>
                  <a:schemeClr val="bg1"/>
                </a:solidFill>
              </a:rPr>
              <a:t> se suivent : </a:t>
            </a:r>
            <a:r>
              <a:rPr lang="en-US" sz="1700" i="1" dirty="0">
                <a:solidFill>
                  <a:schemeClr val="bg1"/>
                </a:solidFill>
              </a:rPr>
              <a:t>twee</a:t>
            </a:r>
            <a:r>
              <a:rPr lang="en-US" sz="1700" b="1" i="1" dirty="0">
                <a:solidFill>
                  <a:schemeClr val="bg1"/>
                </a:solidFill>
              </a:rPr>
              <a:t>ë</a:t>
            </a:r>
            <a:r>
              <a:rPr lang="en-US" sz="1700" i="1" dirty="0">
                <a:solidFill>
                  <a:schemeClr val="bg1"/>
                </a:solidFill>
              </a:rPr>
              <a:t>ntwintig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centaines : honderd, tweehonderd…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78708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78708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tweehonderd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08776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08776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125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00216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vijfentwintig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8844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38844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999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130284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negenhonderd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negenennegentig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38844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805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een honderd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b="1" i="1" dirty="0">
                <a:solidFill>
                  <a:schemeClr val="tx1"/>
                </a:solidFill>
              </a:rPr>
              <a:t>honderd</a:t>
            </a:r>
            <a:r>
              <a:rPr lang="en-US" sz="2000" dirty="0">
                <a:solidFill>
                  <a:schemeClr val="tx1"/>
                </a:solidFill>
              </a:rPr>
              <a:t> · un seul mot : </a:t>
            </a:r>
            <a:r>
              <a:rPr lang="en-US" sz="2000" i="1" dirty="0">
                <a:solidFill>
                  <a:schemeClr val="tx1"/>
                </a:solidFill>
              </a:rPr>
              <a:t>driehonderdvijfenzeventig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Ordre : </a:t>
            </a:r>
            <a:r>
              <a:rPr lang="en-US" sz="1600" b="1" dirty="0">
                <a:solidFill>
                  <a:schemeClr val="accent1"/>
                </a:solidFill>
              </a:rPr>
              <a:t>centaines</a:t>
            </a:r>
            <a:r>
              <a:rPr lang="en-US" sz="1600" dirty="0">
                <a:solidFill>
                  <a:schemeClr val="bg1"/>
                </a:solidFill>
              </a:rPr>
              <a:t> puis </a:t>
            </a:r>
            <a:r>
              <a:rPr lang="en-US" sz="1600" b="1" dirty="0">
                <a:solidFill>
                  <a:schemeClr val="accent2"/>
                </a:solidFill>
              </a:rPr>
              <a:t>unités + en + dizaines</a:t>
            </a:r>
            <a:r>
              <a:rPr lang="en-US" sz="1600" dirty="0">
                <a:solidFill>
                  <a:schemeClr val="bg1"/>
                </a:solidFill>
              </a:rPr>
              <a:t> · sur un document officiel, on lit parfois </a:t>
            </a:r>
            <a:r>
              <a:rPr lang="en-US" sz="1600" i="1" dirty="0">
                <a:solidFill>
                  <a:schemeClr val="bg1"/>
                </a:solidFill>
              </a:rPr>
              <a:t>eenhonderd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milliers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83080"/>
            <a:ext cx="16459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830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7830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.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880360" y="1783080"/>
            <a:ext cx="228600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80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je coupe au point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49240" y="2240280"/>
            <a:ext cx="54864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035040" y="178308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vijftien</a:t>
            </a:r>
            <a:r>
              <a:rPr lang="en-US" sz="2000" i="1" dirty="0">
                <a:solidFill>
                  <a:schemeClr val="tx1"/>
                </a:solidFill>
              </a:rPr>
              <a:t>duizend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869680" y="1783080"/>
            <a:ext cx="260604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zevenhonderdvijftig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788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① tranche de gauche + </a:t>
            </a:r>
            <a:r>
              <a:rPr lang="en-US" sz="1300" i="1" dirty="0">
                <a:solidFill>
                  <a:schemeClr val="accent5"/>
                </a:solidFill>
              </a:rPr>
              <a:t>duizend</a:t>
            </a:r>
            <a:r>
              <a:rPr lang="en-US" sz="1300" i="1" dirty="0">
                <a:solidFill>
                  <a:schemeClr val="accent5"/>
                </a:solidFill>
              </a:rPr>
              <a:t> · ② tranche de droite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1.000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233172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21792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2.000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tweeduizend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4864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1.250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33172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 tweehonderdvijftig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21792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300.000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driehonderdduizend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pour </a:t>
            </a:r>
            <a:r>
              <a:rPr lang="en-US" sz="1700" i="1" dirty="0">
                <a:solidFill>
                  <a:schemeClr val="bg1"/>
                </a:solidFill>
              </a:rPr>
              <a:t>honderd</a:t>
            </a:r>
            <a:r>
              <a:rPr lang="en-US" sz="1700" dirty="0">
                <a:solidFill>
                  <a:schemeClr val="bg1"/>
                </a:solidFill>
              </a:rPr>
              <a:t> : 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700" dirty="0">
                <a:solidFill>
                  <a:schemeClr val="bg1"/>
                </a:solidFill>
              </a:rPr>
              <a:t> · qui sait lire 1 à 999 sait lire jusqu’à 999 999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l’écrire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002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Un seul mot jusqu’à </a:t>
            </a:r>
            <a:r>
              <a:rPr lang="en-US" sz="1900" b="1" i="1" dirty="0">
                <a:solidFill>
                  <a:schemeClr val="accent3"/>
                </a:solidFill>
              </a:rPr>
              <a:t>duizend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002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driehonderdvijfenzeventig · tweeduizend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7889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Une espace </a:t>
            </a:r>
            <a:r>
              <a:rPr lang="en-US" sz="1900" b="1" dirty="0">
                <a:solidFill>
                  <a:schemeClr val="accent2"/>
                </a:solidFill>
              </a:rPr>
              <a:t>après</a:t>
            </a:r>
            <a:r>
              <a:rPr lang="en-US" sz="1900" b="1" dirty="0">
                <a:solidFill>
                  <a:schemeClr val="accent2"/>
                </a:solidFill>
              </a:rPr>
              <a:t> </a:t>
            </a:r>
            <a:r>
              <a:rPr lang="en-US" sz="1900" b="1" i="1" dirty="0">
                <a:solidFill>
                  <a:schemeClr val="accent2"/>
                </a:solidFill>
              </a:rPr>
              <a:t>duizend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tweeduizend </a:t>
            </a:r>
            <a:r>
              <a:rPr lang="en-US" sz="2100" b="1" i="1" dirty="0">
                <a:solidFill>
                  <a:schemeClr val="accent6"/>
                </a:solidFill>
              </a:rPr>
              <a:t>▲</a:t>
            </a:r>
            <a:r>
              <a:rPr lang="en-US" sz="2100" i="1" dirty="0">
                <a:solidFill>
                  <a:schemeClr val="tx1"/>
                </a:solidFill>
              </a:rPr>
              <a:t> driehonderd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miljoen</a:t>
            </a:r>
            <a:r>
              <a:rPr lang="en-US" sz="1900" b="1" dirty="0">
                <a:solidFill>
                  <a:srgbClr val="6E4A9E"/>
                </a:solidFill>
              </a:rPr>
              <a:t> et </a:t>
            </a:r>
            <a:r>
              <a:rPr lang="en-US" sz="1900" b="1" i="1" dirty="0">
                <a:solidFill>
                  <a:srgbClr val="6E4A9E"/>
                </a:solidFill>
              </a:rPr>
              <a:t>miljard</a:t>
            </a:r>
            <a:r>
              <a:rPr lang="en-US" sz="1900" b="1" dirty="0">
                <a:solidFill>
                  <a:srgbClr val="6E4A9E"/>
                </a:solidFill>
              </a:rPr>
              <a:t> : mots séparés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776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 miljoen vijfhonderdduizend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Règle officielle (Taalunie). En pratique, on écrit les montants en chiffres : les lettres servent aux contrats.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1 200 = twaalfhonderd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 MONTANT</a:t>
            </a:r>
            <a:endParaRPr lang="en-US" sz="1600" dirty="0"/>
          </a:p>
        </p:txBody>
      </p:sp>
      <p:pic>
        <p:nvPicPr>
          <p:cNvPr id="8" name="Image 0" descr="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€ 1.200</a:t>
            </a:r>
            <a:r>
              <a:rPr lang="en-US" sz="1800" dirty="0">
                <a:solidFill>
                  <a:schemeClr val="tx1"/>
                </a:solidFill>
              </a:rPr>
              <a:t> =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duizend tweehonderd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tx1"/>
                </a:solidFill>
              </a:rPr>
              <a:t>twaalfhonderd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deux sont corrects ; </a:t>
            </a:r>
            <a:r>
              <a:rPr lang="en-US" sz="1800" i="1" dirty="0">
                <a:solidFill>
                  <a:schemeClr val="tx1"/>
                </a:solidFill>
              </a:rPr>
              <a:t>twaalfhonderd</a:t>
            </a:r>
            <a:r>
              <a:rPr lang="en-US" sz="1800" dirty="0">
                <a:solidFill>
                  <a:schemeClr val="tx1"/>
                </a:solidFill>
              </a:rPr>
              <a:t> est très courant à l’oral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7064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UNE ANNÉE</a:t>
            </a:r>
            <a:endParaRPr lang="en-US" sz="1600" dirty="0"/>
          </a:p>
        </p:txBody>
      </p:sp>
      <p:pic>
        <p:nvPicPr>
          <p:cNvPr id="13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22402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1995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negentienhonderd</a:t>
            </a:r>
            <a:r>
              <a:rPr lang="en-US" sz="1800" i="1" dirty="0">
                <a:solidFill>
                  <a:schemeClr val="tx1"/>
                </a:solidFill>
              </a:rPr>
              <a:t>vijfennegentig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2026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tweeduizend</a:t>
            </a:r>
            <a:r>
              <a:rPr lang="en-US" sz="1800" i="1" dirty="0">
                <a:solidFill>
                  <a:schemeClr val="tx1"/>
                </a:solidFill>
              </a:rPr>
              <a:t> zesentwintig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avant 2000 : toujours en centaines, comme « dix-neuf cent »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in 1995</a:t>
            </a:r>
            <a:r>
              <a:rPr lang="en-US" sz="1800" dirty="0">
                <a:solidFill>
                  <a:schemeClr val="tx1"/>
                </a:solidFill>
              </a:rPr>
              <a:t> (pas besoin de </a:t>
            </a:r>
            <a:r>
              <a:rPr lang="en-US" sz="1800" i="1" dirty="0">
                <a:solidFill>
                  <a:schemeClr val="tx1"/>
                </a:solidFill>
              </a:rPr>
              <a:t>het jaar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 marché comme au bureau : </a:t>
            </a:r>
            <a:r>
              <a:rPr lang="en-US" sz="1700" i="1" dirty="0">
                <a:solidFill>
                  <a:schemeClr val="bg1"/>
                </a:solidFill>
              </a:rPr>
              <a:t>Het kost twaalfhonderd euro.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Het kost duizend tweehonderd euro.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Euro et cent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€ 12,50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27064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2824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€ 0,99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33104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negenennegentig cent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€ 1.499,99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154680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duizend vierhonderdnegenennegentig euro negenennegentig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27064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92824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€ 25,–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833104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vijfentwintig euro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84632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8463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point</a:t>
            </a:r>
            <a:r>
              <a:rPr lang="en-US" sz="1800" dirty="0">
                <a:solidFill>
                  <a:schemeClr val="tx1"/>
                </a:solidFill>
              </a:rPr>
              <a:t> = milliers · </a:t>
            </a:r>
            <a:r>
              <a:rPr lang="en-US" sz="1800" b="1" dirty="0">
                <a:solidFill>
                  <a:schemeClr val="tx1"/>
                </a:solidFill>
              </a:rPr>
              <a:t>virgule</a:t>
            </a:r>
            <a:r>
              <a:rPr lang="en-US" sz="1800" dirty="0">
                <a:solidFill>
                  <a:schemeClr val="tx1"/>
                </a:solidFill>
              </a:rPr>
              <a:t> = centimes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27064" y="4846320"/>
            <a:ext cx="5413248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euro</a:t>
            </a:r>
            <a:r>
              <a:rPr lang="en-US" sz="1800" dirty="0">
                <a:solidFill>
                  <a:schemeClr val="tx1"/>
                </a:solidFill>
              </a:rPr>
              <a:t> sans </a:t>
            </a:r>
            <a:r>
              <a:rPr lang="en-US" sz="1800" i="1" dirty="0">
                <a:solidFill>
                  <a:schemeClr val="tx1"/>
                </a:solidFill>
              </a:rPr>
              <a:t>-s</a:t>
            </a:r>
            <a:r>
              <a:rPr lang="en-US" sz="1800" dirty="0">
                <a:solidFill>
                  <a:schemeClr val="tx1"/>
                </a:solidFill>
              </a:rPr>
              <a:t> · forme courte : </a:t>
            </a: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euro</a:t>
            </a:r>
            <a:r>
              <a:rPr lang="en-US" sz="1700" dirty="0">
                <a:solidFill>
                  <a:schemeClr val="bg1"/>
                </a:solidFill>
              </a:rPr>
              <a:t> se prononce « eu-ro » · sans nombre : </a:t>
            </a:r>
            <a:r>
              <a:rPr lang="en-US" sz="1700" i="1" dirty="0">
                <a:solidFill>
                  <a:schemeClr val="bg1"/>
                </a:solidFill>
              </a:rPr>
              <a:t>Het kost duizenden euro’s.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milliard, biljoen, euros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mille euros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duizend euros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0920" y="246888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20370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2037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duizend euro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million »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miljoen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60920" y="324612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98094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9809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milliard »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biljoen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0920" y="402336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75818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miljard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480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1 250 € 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€ 1,250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60920" y="480060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53542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5354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€ </a:t>
            </a:r>
            <a:r>
              <a:rPr lang="en-US" sz="1900" b="1" i="1" dirty="0">
                <a:solidFill>
                  <a:schemeClr val="tx1"/>
                </a:solidFill>
              </a:rPr>
              <a:t>1.250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een biljoen</a:t>
            </a:r>
            <a:r>
              <a:rPr lang="en-US" sz="1700" dirty="0">
                <a:solidFill>
                  <a:schemeClr val="bg1"/>
                </a:solidFill>
              </a:rPr>
              <a:t> = 1 000 milliards (le « billion » français) · l’anglais </a:t>
            </a:r>
            <a:r>
              <a:rPr lang="en-US" sz="1700" i="1" dirty="0">
                <a:solidFill>
                  <a:schemeClr val="bg1"/>
                </a:solidFill>
              </a:rPr>
              <a:t>billion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miljard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Arrondir et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14400" y="2468880"/>
            <a:ext cx="1033272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€ 900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9758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894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6394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530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124712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69848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703320" y="2194560"/>
            <a:ext cx="1085850" cy="2286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46888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6888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bijna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presque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 flipH="1">
            <a:off x="6080760" y="2194560"/>
            <a:ext cx="228600" cy="2286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7492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ongeveer · rond de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environ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 flipH="1">
            <a:off x="7630668" y="2194560"/>
            <a:ext cx="1284732" cy="22860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8096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ruim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 peu plus de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91672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3566160"/>
            <a:ext cx="10698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meer dan / minder dan 1.000 euro</a:t>
            </a:r>
            <a:r>
              <a:rPr lang="en-US" sz="1800" dirty="0">
                <a:solidFill>
                  <a:schemeClr val="tx1"/>
                </a:solidFill>
              </a:rPr>
              <a:t> (plus de / moins de)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een paar honderd euro</a:t>
            </a:r>
            <a:r>
              <a:rPr lang="en-US" sz="1800" dirty="0">
                <a:solidFill>
                  <a:schemeClr val="tx1"/>
                </a:solidFill>
              </a:rPr>
              <a:t> (quelques centaines d’euros) · </a:t>
            </a:r>
            <a:r>
              <a:rPr lang="en-US" sz="1800" i="1" dirty="0">
                <a:solidFill>
                  <a:schemeClr val="tx1"/>
                </a:solidFill>
              </a:rPr>
              <a:t>duizenden euro’s</a:t>
            </a:r>
            <a:r>
              <a:rPr lang="en-US" sz="1800" dirty="0">
                <a:solidFill>
                  <a:schemeClr val="tx1"/>
                </a:solidFill>
              </a:rPr>
              <a:t> (des milliers d’euros)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stad heeft ruim een miljoen inwoners.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ruim</a:t>
            </a:r>
            <a:r>
              <a:rPr lang="en-US" sz="1700" dirty="0">
                <a:solidFill>
                  <a:schemeClr val="bg1"/>
                </a:solidFill>
              </a:rPr>
              <a:t> est très fréquent dans les médias : </a:t>
            </a:r>
            <a:r>
              <a:rPr lang="en-US" sz="1700" i="1" dirty="0">
                <a:solidFill>
                  <a:schemeClr val="bg1"/>
                </a:solidFill>
              </a:rPr>
              <a:t>ruim 1.000 deelnemers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travail : facture, loyer, salaire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12064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12064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FACTUUR · PEETERS &amp; 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 laptops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€ 12.000,00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24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installatie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2724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€ 200,00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" y="3218688"/>
            <a:ext cx="4663440" cy="914"/>
          </a:xfrm>
          <a:prstGeom prst="line">
            <a:avLst/>
          </a:prstGeom>
          <a:noFill/>
          <a:ln w="9525">
            <a:solidFill>
              <a:srgbClr val="4A5A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55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subtotaal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3255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€ 12.200,00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7856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btw 21 %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7856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€ 2.562,00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4279392"/>
            <a:ext cx="46634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15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totaal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€ 14.762,00</a:t>
            </a:r>
            <a:endParaRPr lang="en-US" sz="1600" dirty="0"/>
          </a:p>
        </p:txBody>
      </p:sp>
      <p:pic>
        <p:nvPicPr>
          <p:cNvPr id="20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2588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btw</a:t>
            </a:r>
            <a:r>
              <a:rPr lang="en-US" sz="1300" i="1" dirty="0">
                <a:solidFill>
                  <a:schemeClr val="accent5"/>
                </a:solidFill>
              </a:rPr>
              <a:t> = la TVA (21 % en Belgique)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897880" y="155448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685800" cy="6858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5544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huur is € 1.150 per maand.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loyer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897880" y="274320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6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926080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858000" y="274320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brutoloon is € 3.200, netto ongeveer € 2.100.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salaire brut / net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897880" y="4023360"/>
            <a:ext cx="574243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080760" y="4069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Questions utiles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Hoeveel kost het? · Wat is de prijs?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inclusief btw?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Lisez le total : </a:t>
            </a:r>
            <a:r>
              <a:rPr lang="en-US" sz="1700" i="1" dirty="0">
                <a:solidFill>
                  <a:schemeClr val="bg1"/>
                </a:solidFill>
              </a:rPr>
              <a:t>veertienduizend zevenhonderdtweeënzestig euro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6E4A9E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twee miljoen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4206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554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536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3017520" y="2395728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vijfhonderdzesendertigduizend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1554480"/>
            <a:ext cx="4142232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481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498080" y="2395728"/>
            <a:ext cx="414223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0" y="23957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vierhonderdeenentachtig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315468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154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 de </a:t>
            </a:r>
            <a:r>
              <a:rPr lang="en-US" sz="1700" b="1" i="1" dirty="0">
                <a:solidFill>
                  <a:schemeClr val="bg1"/>
                </a:solidFill>
              </a:rPr>
              <a:t>een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31546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honderd · duizend</a:t>
            </a:r>
            <a:r>
              <a:rPr lang="en-US" sz="1900" dirty="0">
                <a:solidFill>
                  <a:schemeClr val="tx1"/>
                </a:solidFill>
              </a:rPr>
              <a:t> — mais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402336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Un seul mot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108960" y="402336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jusqu’à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r>
              <a:rPr lang="en-US" sz="1900" dirty="0">
                <a:solidFill>
                  <a:schemeClr val="tx1"/>
                </a:solidFill>
              </a:rPr>
              <a:t>, puis une espace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89204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8920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Montant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108960" y="489204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i="1" dirty="0">
                <a:solidFill>
                  <a:schemeClr val="tx1"/>
                </a:solidFill>
              </a:rPr>
              <a:t>euro</a:t>
            </a:r>
            <a:r>
              <a:rPr lang="en-US" sz="1900" dirty="0">
                <a:solidFill>
                  <a:schemeClr val="tx1"/>
                </a:solidFill>
              </a:rPr>
              <a:t> sans </a:t>
            </a:r>
            <a:r>
              <a:rPr lang="en-US" sz="1900" i="1" dirty="0">
                <a:solidFill>
                  <a:schemeClr val="tx1"/>
                </a:solidFill>
              </a:rPr>
              <a:t>-s</a:t>
            </a:r>
            <a:endParaRPr lang="en-US" sz="1900" dirty="0"/>
          </a:p>
        </p:txBody>
      </p:sp>
      <p:pic>
        <p:nvPicPr>
          <p:cNvPr id="3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enFa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 lettres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Head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dictée des prix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tranches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alenda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Année ou montant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rrowsAltV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Hoger, lager!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L’appartement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honderdvijfendertig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069080" y="271373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vierhonderdtachtig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duizend tweehonderd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twaalfhonderd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tweeduizend drieëntwintig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vijftienduizend zevenhonderdvijftig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een miljoen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pic>
        <p:nvPicPr>
          <p:cNvPr id="38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€ 650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€ 1.999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€ 24,95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€ 8.500</a:t>
            </a:r>
            <a:endParaRPr lang="en-US" sz="2400" dirty="0"/>
          </a:p>
        </p:txBody>
      </p:sp>
      <p:sp>
        <p:nvSpPr>
          <p:cNvPr id="34" name="Shape 30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€ 1.200.000</a:t>
            </a:r>
            <a:endParaRPr lang="en-US" sz="1800" dirty="0"/>
          </a:p>
        </p:txBody>
      </p:sp>
      <p:pic>
        <p:nvPicPr>
          <p:cNvPr id="39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2 : </a:t>
            </a:r>
            <a:r>
              <a:rPr lang="en-US" sz="1400" i="1" dirty="0">
                <a:solidFill>
                  <a:schemeClr val="accent5"/>
                </a:solidFill>
              </a:rPr>
              <a:t>twaalfhonderd</a:t>
            </a:r>
            <a:r>
              <a:rPr lang="en-US" sz="1400" i="1" dirty="0">
                <a:solidFill>
                  <a:schemeClr val="accent5"/>
                </a:solidFill>
              </a:rPr>
              <a:t> = 1 200 · 4 : </a:t>
            </a:r>
            <a:r>
              <a:rPr lang="en-US" sz="1400" i="1" dirty="0">
                <a:solidFill>
                  <a:schemeClr val="accent5"/>
                </a:solidFill>
              </a:rPr>
              <a:t>vierentwintig euro vijfennegentig</a:t>
            </a:r>
            <a:r>
              <a:rPr lang="en-US" sz="1400" i="1" dirty="0">
                <a:solidFill>
                  <a:schemeClr val="accent5"/>
                </a:solidFill>
              </a:rPr>
              <a:t> · 6 : </a:t>
            </a:r>
            <a:r>
              <a:rPr lang="en-US" sz="1400" i="1" dirty="0">
                <a:solidFill>
                  <a:schemeClr val="accent5"/>
                </a:solidFill>
              </a:rPr>
              <a:t>een miljoen tweehonderdduizend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514600" y="2060448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2060448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vijftig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60000">
            <a:off x="386334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86334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drieduizend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60000">
            <a:off x="566928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6928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vierhonderd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 rot="60000">
            <a:off x="2514600" y="2932176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2932176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achthonderd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320540" y="2932176"/>
            <a:ext cx="18516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320540" y="2932176"/>
            <a:ext cx="18516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twaalfduizend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2514600" y="3803904"/>
            <a:ext cx="32232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14600" y="3803904"/>
            <a:ext cx="32232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driehonderdvijfenzeventig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920740" y="3803904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920740" y="3803904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514600" y="4675632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514600" y="4675632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3863340" y="4675632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863340" y="4675632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tweehonderdvijftig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rot="-60000">
            <a:off x="2514600" y="5547360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14600" y="5547360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vijfhonderdduizend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-60000">
            <a:off x="5120640" y="5547360"/>
            <a:ext cx="17373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120640" y="5547360"/>
            <a:ext cx="17373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 miljoen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514600" y="1996440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51760" y="1996440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drieduizend vierhonderdvijftig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514600" y="2868168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51760" y="2868168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twaalfduizend achthonderd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2514600" y="3739896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51760" y="3739896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duizend driehonderdvijfenzeventig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1624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51760" y="4611624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tweehonderdvijftigduizend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514600" y="5483352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5483352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 miljoen vijfhonderdduizend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dirty="0">
                <a:solidFill>
                  <a:schemeClr val="tx1"/>
                </a:solidFill>
              </a:rPr>
              <a:t>een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dirty="0">
                <a:solidFill>
                  <a:schemeClr val="tx1"/>
                </a:solidFill>
              </a:rPr>
              <a:t>euros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dirty="0">
                <a:solidFill>
                  <a:schemeClr val="tx1"/>
                </a:solidFill>
              </a:rPr>
              <a:t>twee 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dirty="0">
                <a:solidFill>
                  <a:schemeClr val="tx1"/>
                </a:solidFill>
              </a:rPr>
              <a:t>drieentwintig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dirty="0">
                <a:solidFill>
                  <a:schemeClr val="tx1"/>
                </a:solidFill>
              </a:rPr>
              <a:t>€ 12,223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900" b="1" i="1" dirty="0">
                <a:solidFill>
                  <a:schemeClr val="accent3"/>
                </a:solidFill>
              </a:rPr>
              <a:t>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strike="sngStrike" dirty="0">
                <a:solidFill>
                  <a:schemeClr val="accent6"/>
                </a:solidFill>
              </a:rPr>
              <a:t>euros</a:t>
            </a:r>
            <a:r>
              <a:rPr lang="en-US" sz="1900" b="1" i="1" dirty="0">
                <a:solidFill>
                  <a:schemeClr val="accent3"/>
                </a:solidFill>
              </a:rPr>
              <a:t> euro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honderd</a:t>
            </a:r>
            <a:r>
              <a:rPr lang="en-US" sz="1900" b="1" i="1" dirty="0">
                <a:solidFill>
                  <a:schemeClr val="accent3"/>
                </a:solidFill>
              </a:rPr>
              <a:t> tweehonderd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strike="sngStrike" dirty="0">
                <a:solidFill>
                  <a:schemeClr val="accent6"/>
                </a:solidFill>
              </a:rPr>
              <a:t>drieentwintig</a:t>
            </a:r>
            <a:r>
              <a:rPr lang="en-US" sz="1900" b="1" i="1" dirty="0">
                <a:solidFill>
                  <a:schemeClr val="accent3"/>
                </a:solidFill>
              </a:rPr>
              <a:t> drieëntwintig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strike="sngStrike" dirty="0">
                <a:solidFill>
                  <a:schemeClr val="accent6"/>
                </a:solidFill>
              </a:rPr>
              <a:t>€ 12,223</a:t>
            </a:r>
            <a:r>
              <a:rPr lang="en-US" sz="1900" b="1" i="1" dirty="0">
                <a:solidFill>
                  <a:schemeClr val="accent3"/>
                </a:solidFill>
              </a:rPr>
              <a:t> € 12.223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twaalfduizend euro</a:t>
            </a:r>
            <a:r>
              <a:rPr lang="en-US" sz="1400" i="1" dirty="0">
                <a:solidFill>
                  <a:schemeClr val="accent5"/>
                </a:solidFill>
              </a:rPr>
              <a:t> est correct. Total : 12 000 + 200 + 23 = 12 223 €.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8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3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8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5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3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8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1" name="Shape 2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3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9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negentienhonderdvijfentachtig</a:t>
            </a:r>
            <a:endParaRPr lang="en-US" sz="1800" dirty="0"/>
          </a:p>
        </p:txBody>
      </p:sp>
      <p:pic>
        <p:nvPicPr>
          <p:cNvPr id="15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069080" y="2732024"/>
            <a:ext cx="7498080" cy="33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duizend negenhonderdvijfentachtig euro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069080" y="3034426"/>
            <a:ext cx="7498080" cy="27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negentienhonderdvijfentachtig euro</a:t>
            </a:r>
            <a:endParaRPr lang="en-US" sz="1300" dirty="0"/>
          </a:p>
        </p:txBody>
      </p:sp>
      <p:pic>
        <p:nvPicPr>
          <p:cNvPr id="2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</a:t>
            </a:r>
            <a:endParaRPr lang="en-US" sz="1800" dirty="0"/>
          </a:p>
        </p:txBody>
      </p:sp>
      <p:pic>
        <p:nvPicPr>
          <p:cNvPr id="28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 euro</a:t>
            </a:r>
            <a:endParaRPr lang="en-US" sz="1800" dirty="0"/>
          </a:p>
        </p:txBody>
      </p:sp>
      <p:pic>
        <p:nvPicPr>
          <p:cNvPr id="34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negentienhonderdachtenvijftig</a:t>
            </a:r>
            <a:endParaRPr lang="en-US" sz="1800" dirty="0"/>
          </a:p>
        </p:txBody>
      </p:sp>
      <p:pic>
        <p:nvPicPr>
          <p:cNvPr id="40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duizend negenhonderdachtenvijftig euro vijftig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Hoger, lager!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tweedehandsauto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5156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1752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smartphone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42900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42900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77724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week vakantie in Spanje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23360"/>
            <a:ext cx="777240" cy="7772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elektrische fiets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5156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5156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fork and knife with pla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023360"/>
            <a:ext cx="777240" cy="7772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nieuwe keuken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42900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42900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4023360"/>
            <a:ext cx="777240" cy="77724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9496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studio in Gent (huur per maand)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580644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8064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pic>
        <p:nvPicPr>
          <p:cNvPr id="36" name="Image 6" descr="up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548640" cy="548640"/>
          </a:xfrm>
          <a:prstGeom prst="rect">
            <a:avLst/>
          </a:prstGeom>
        </p:spPr>
      </p:pic>
      <p:pic>
        <p:nvPicPr>
          <p:cNvPr id="37" name="Image 7" descr="down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1600200"/>
            <a:ext cx="548640" cy="54864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52560" y="160020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Hoger! Lager!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863840" y="2377440"/>
            <a:ext cx="3776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Une équipe propose un prix : </a:t>
            </a:r>
            <a:r>
              <a:rPr lang="en-US" sz="1500" i="1" dirty="0">
                <a:solidFill>
                  <a:schemeClr val="tx1"/>
                </a:solidFill>
              </a:rPr>
              <a:t>Ik denk vierduizend euro.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répond : </a:t>
            </a:r>
            <a:r>
              <a:rPr lang="en-US" sz="1500" i="1" dirty="0">
                <a:solidFill>
                  <a:schemeClr val="tx1"/>
                </a:solidFill>
              </a:rPr>
              <a:t>Hoger!</a:t>
            </a:r>
            <a:r>
              <a:rPr lang="en-US" sz="1500" dirty="0">
                <a:solidFill>
                  <a:schemeClr val="tx1"/>
                </a:solidFill>
              </a:rPr>
              <a:t> (plus) ou </a:t>
            </a:r>
            <a:r>
              <a:rPr lang="en-US" sz="1500" i="1" dirty="0">
                <a:solidFill>
                  <a:schemeClr val="tx1"/>
                </a:solidFill>
              </a:rPr>
              <a:t>Lager!</a:t>
            </a:r>
            <a:r>
              <a:rPr lang="en-US" sz="1500" dirty="0">
                <a:solidFill>
                  <a:schemeClr val="tx1"/>
                </a:solidFill>
              </a:rPr>
              <a:t> (moins)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prix exact en moins de 5 essais = 1 point.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7863840" y="525780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Montants dits en entier, sans chiffres écrits 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visite un appartement à Etterbeek. Il pose des questions sur les coûts et essaie de négocier.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le prix, les charges et la garantie ; négociez le loyer.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 immobilier</a:t>
            </a:r>
            <a:r>
              <a:rPr lang="en-US" sz="1700" dirty="0">
                <a:solidFill>
                  <a:schemeClr val="tx1"/>
                </a:solidFill>
              </a:rPr>
              <a:t> : présentez l’appartement et défendez votre prix (montants à voix haute !).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kost het per maand? · Zijn de kosten inbegrepen? · Hoeveel is de waarborg? · Dat is te duur voor mij. · Kan het voor duizend euro? · Wat is uw laatste prijs?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57032" y="1664208"/>
            <a:ext cx="2525573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TE HUUR · ETTERBEEK</a:t>
            </a:r>
            <a:endParaRPr lang="en-US" sz="1200" dirty="0"/>
          </a:p>
        </p:txBody>
      </p:sp>
      <p:pic>
        <p:nvPicPr>
          <p:cNvPr id="21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212140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appartement · 2 slaapkamers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70 m² · 2e verdieping · lift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57032" y="30358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57032" y="3081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20072" y="3081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€ 1.150 / maand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8257032" y="37216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57032" y="37673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kosten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9720072" y="3767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€ 120 / maand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8257032" y="44074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57032" y="4453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huurwaarborg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20072" y="44531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€ 2.300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257032" y="50932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57032" y="51389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vrij vanaf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720072" y="5138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maart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4.375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€ 1.299,95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Het kost een duizend euros.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Discuter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ear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Graag of houden van?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zwem graag · Ik hou van de zee.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26 — Hoeveel kost het? — Les montants au-delà de 1 000 €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2026-10-05T15:46:48Z</dcterms:created>
  <dcterms:modified xsi:type="dcterms:W3CDTF">2026-10-05T15:46:48Z</dcterms:modified>
</cp:coreProperties>
</file>