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85b265b4-47e7-535f-e3f4-148c4dbd5f8a}">
          <p14:sldIdLst>
            <p14:sldId id="256"/>
          </p14:sldIdLst>
        </p14:section>
        <p14:section name="Découvrir" id="{0530669f-d0f2-b2d6-7568-7ce9f523fde9}">
          <p14:sldIdLst>
            <p14:sldId id="257"/>
            <p14:sldId id="258"/>
          </p14:sldIdLst>
        </p14:section>
        <p14:section name="Comprendre" id="{fdf2ee7b-daff-cb22-83f3-1250b9ffd95a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JIJ NU ! — Oefeningen" id="{bdc15263-c342-6f2b-82cd-ae7ce9a341c4}">
          <p14:sldIdLst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</p14:sldIdLst>
        </p14:section>
        <p14:section name="Clôture" id="{b3cdef64-dbf3-c512-53fe-333706c2345f}">
          <p14:sldIdLst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Annoncer le thème : deux sens du « se » français.
Question d'entrée : « Dans ils se lavent et ils s'aident, le se veut-il dire la même chose ? » Non : soi-même / l'un l'autre. Le néerlandais a deux mots.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Rendre les objectifs explicites.
Ces verbes sont partout au travail : se présenter, s'inscrire, s'excuser, se tromper, se sentir bien ou mal.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Découvrir zich et elkaar par l'image.
Faites mimer : zich = je montre ma poitrine ; elkaar = je montre l'autre, puis moi. Les apprenants formulent eux-mêmes la règle.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Conjuguer un verbe réfléchi.
Seul zich est un mot nouveau : me, je, ons sont les pronoms connus. Avec u : u vergist zich et u vergist u sont corrects ; en Belgique, u … u est fréquent. mij est possible, surtout à l'écrit et en Belgique (Ik vergis mij) ; jou n'est jamais réfléchi (✗ Jij wast jou).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Exprimer la réciprocité avec elkaar.
elkaar ne s'emploie qu'avec un sujet pluriel (wij, jullie, zij, ou deux noms). Tot ziens! — We zien elkaar maandag! est une formule de fin de journée très courante.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Choisir entre zich et elkaar.
Faites jouer la paire Ze wassen zich / Ze wassen elkaar avec deux apprenants. Le schéma est la référence de tous les exercices.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Repérer les verbes pronominaux français qui ne sont pas réfléchis en néerlandais.
Réflexe : on ne met zich que si le verbe néerlandais est réfléchi (diapo 8). Erreur très fréquente : ✗ Ik noem me Lotte (calque de « je m'appelle ») → Ik heet Lotte. En Flandre, Zet u! / Zet je! (= asseyez-vous) est très courant : la règle « se ≠ zich » a quelques exceptions régionales.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Apprendre 12 verbes réfléchis fréquents.
Ces verbes s'apprennent avec zich, comme les verbes à préposition (M23). Exemples utiles : Ik voel me niet goed. · Ik vraag me af of… · Maak je geen zorgen! (Ne t'inquiète pas !) · Haast je!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Placer le pronom réfléchi dans tous les types de phrases.
Le pronom réfléchi suit le verbe conjugué (et le sujet inversé). Au passé composé : toujours hebben (Ik heb me vergist, ✗ Ik ben me vergist). Herinner je je…? : deux je qui se suivent, c'est normal 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Utiliser elkaar après une préposition.
Avec une préposition, pas de er (M23) : elkaar désigne des personnes. Expressions utiles : met elkaar praten (se parler), van elkaar leren (apprendre les uns des autres).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Traduire un « se » ambigu selon le sens.
Le français laisse le contexte trancher ; le néerlandais oblige à choisir. zichzelf insiste sur « soi-même » (diapo 12).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Reconnaître la forme d'insistance en -zelf.
À reconnaître. -zelf s'utilise pour insister ou après une préposition : Hij praat over zichzelf. À ne pas confondre avec zelf seul : Ik heb het zelf gedaan (moi-même, sans aide).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Synthèse à photographier.
Ce schéma est la référence pour tous les exercices.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Annoncer la séquence d'exercices.
Exercices 1 et 2 en séance 1, les autres en séance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Conjuguer le pronom réfléchi.
N° 4 : la particule in va au bout (M11). N° 7 : les deux formes sont correctes.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Conjuguer le pronom réfléchi.
N° 4 : la particule in va au bout (M11). N° 7 : les deux formes sont correctes.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Choisir entre le réfléchi et le réciproque.
Faites poser la question-test à chaque phrase : « Qui reçoit l'action ? » N° 7 : me (1re personne, réfléchi).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Choisir entre le réfléchi et le réciproque.
Faites poser la question-test à chaque phrase : « Qui reçoit l'action ? » N° 7 : me (1re personne, réfléchi).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Traduire les verbes pronominaux français, réfléchis ou non.
Trois pièges (1, 2, 5) : pas de zich. N° 6 : hebben au passé composé. N° 3 : Ik herinner me hem (ou Ik kan me hem herinneren).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Traduire les verbes pronominaux français, réfléchis ou non.
Trois pièges (1, 2, 5) : pas de zich. N° 6 : hebben au passé composé. N° 3 : Ik herinner me hem (ou Ik kan me hem herinneren).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Corriger les erreurs typiques dans un message.
Leurre : We zien elkaar maandag! est correct. N° 2 : opstaan n'est pas réfléchi et prend zijn (M15) : Ik ben opgestaan.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Corriger les erreurs typiques dans un message.
Leurre : We zien elkaar maandag! est correct. N° 2 : opstaan n'est pas réfléchi et prend zijn (M15) : Ik ben opgestaan.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Placer le pronom réfléchi et elkaar dans la phrase.
Faites colorer le verbe conjugué (rouge) et le pronom (bleu), comme sur la diapo 9. Acceptez aussi les inversions correctes : Gisteren heb ik me vergist. · Morgen zien we elkaar.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Placer le pronom réfléchi et elkaar dans la phrase.
Faites colorer le verbe conjugué (rouge) et le pronom (bleu), comme sur la diapo 9. Acceptez aussi les inversions correctes : Gisteren heb ik me vergist. · Morgen zien we elkaar.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Produire zich ou elkaar à l'oral, en jouant.
Exigez la phrase complète avec le bon pronom. Variante : au passé composé (Hij heeft zich gehaast).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Mise en situation : se présenter et faire connaissance lors d'un événement professionnel.
Chaque apprenant reçoit un badge (nom fictif). Objectif : parler à 3 personnes, utiliser au moins deux fois zich et deux fois elkaar. Zullen we elkaar mailen? = On s'écrit 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Vérifier les 3 objectifs.
Réponses :
1. ons · zich.
2. elkaar.
3. Ik sta om 7 uur op.
Teaser M29 : Als ik de lotto won, zou ik… · Zou je me kunnen helpen?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1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Néerlandais 1 · UE1 · Module 28 · Zich of elkaar?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1_DARK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Néerlandais 1 · UE1 · Module 28 · Zich of elkaar?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3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1_COVER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63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Néerlandais 1 · UE1 · Langue en situation, en milieu professionnel · A. Jouniaux · IRAM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737360"/>
            <a:ext cx="56692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2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749040"/>
            <a:ext cx="56692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image" Target="../media/image-25-7.png"/><Relationship Id="rId8" Type="http://schemas.openxmlformats.org/officeDocument/2006/relationships/image" Target="../media/image-25-8.png"/><Relationship Id="rId9" Type="http://schemas.openxmlformats.org/officeDocument/2006/relationships/image" Target="../media/image-25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image" Target="../media/image-27-7.png"/><Relationship Id="rId8" Type="http://schemas.openxmlformats.org/officeDocument/2006/relationships/image" Target="../media/image-27-8.png"/><Relationship Id="rId9" Type="http://schemas.openxmlformats.org/officeDocument/2006/relationships/image" Target="../media/image-27-9.png"/><Relationship Id="rId10" Type="http://schemas.openxmlformats.org/officeDocument/2006/relationships/image" Target="../media/image-27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548640" y="640080"/>
            <a:ext cx="2128114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</a:rPr>
              <a:t>MODULE 28 / 32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737360"/>
            <a:ext cx="5669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</a:rPr>
              <a:t>Zich of elkaar?</a:t>
            </a:r>
            <a:endParaRPr lang="en-US" sz="42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74904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000" i="1" dirty="0">
                <a:solidFill>
                  <a:schemeClr val="bg2"/>
                </a:solidFill>
              </a:rPr>
              <a:t>Les verbes réfléchis et réciproques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Hij wast zich · Ze helpen elkaar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0" y="914400"/>
            <a:ext cx="5212080" cy="164592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6" name="Image 0" descr="mirr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188720"/>
            <a:ext cx="1097280" cy="10972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909560" y="91440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i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Hij wast </a:t>
            </a:r>
            <a:r>
              <a:rPr lang="en-US" sz="2400" b="1" i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zich</a:t>
            </a:r>
            <a:r>
              <a:rPr lang="en-US" sz="2400" i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6400800" y="2788920"/>
            <a:ext cx="5212080" cy="164592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9" name="Image 1" descr="handshak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3063240"/>
            <a:ext cx="1097280" cy="10972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909560" y="278892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i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Ze helpen </a:t>
            </a:r>
            <a:r>
              <a:rPr lang="en-US" sz="2400" b="1" i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elkaar</a:t>
            </a:r>
            <a:r>
              <a:rPr lang="en-US" sz="2400" i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Missie van vandaag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013155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MISSIE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2865120" cy="393192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524000" y="1874520"/>
            <a:ext cx="914400" cy="91440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0" descr="UserCirc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3456" y="2093976"/>
            <a:ext cx="475488" cy="47548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31520" y="2926080"/>
            <a:ext cx="249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Conjuguer</a:t>
            </a:r>
            <a:endParaRPr lang="en-US" sz="24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3566160"/>
            <a:ext cx="240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Je conjugue un verbe réfléchi : </a:t>
            </a:r>
            <a:r>
              <a:rPr lang="en-US" sz="2000" i="1" dirty="0">
                <a:solidFill>
                  <a:schemeClr val="tx1"/>
                </a:solidFill>
              </a:rPr>
              <a:t>ik vergis me, hij vergist zich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3688080" y="1554480"/>
            <a:ext cx="2865120" cy="393192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663440" y="187452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1" descr="Retwee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2896" y="2093976"/>
            <a:ext cx="475488" cy="47548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870960" y="2926080"/>
            <a:ext cx="249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Distinguer</a:t>
            </a:r>
            <a:endParaRPr lang="en-US" sz="2400" dirty="0"/>
          </a:p>
        </p:txBody>
      </p:sp>
      <p:sp>
        <p:nvSpPr>
          <p:cNvPr id="14" name="Text 9"/>
          <p:cNvSpPr txBox="1"/>
          <p:nvPr/>
        </p:nvSpPr>
        <p:spPr>
          <a:xfrm>
            <a:off x="3916680" y="3566160"/>
            <a:ext cx="240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Je choisis </a:t>
            </a:r>
            <a:r>
              <a:rPr lang="en-US" sz="2000" i="1" dirty="0">
                <a:solidFill>
                  <a:schemeClr val="tx1"/>
                </a:solidFill>
              </a:rPr>
              <a:t>zich</a:t>
            </a:r>
            <a:r>
              <a:rPr lang="en-US" sz="2000" dirty="0">
                <a:solidFill>
                  <a:schemeClr val="tx1"/>
                </a:solidFill>
              </a:rPr>
              <a:t> ou </a:t>
            </a:r>
            <a:r>
              <a:rPr lang="en-US" sz="2000" i="1" dirty="0">
                <a:solidFill>
                  <a:schemeClr val="tx1"/>
                </a:solidFill>
              </a:rPr>
              <a:t>elkaar</a:t>
            </a:r>
            <a:r>
              <a:rPr lang="en-US" sz="2000" dirty="0">
                <a:solidFill>
                  <a:schemeClr val="tx1"/>
                </a:solidFill>
              </a:rPr>
              <a:t> : </a:t>
            </a:r>
            <a:r>
              <a:rPr lang="en-US" sz="2000" i="1" dirty="0">
                <a:solidFill>
                  <a:schemeClr val="tx1"/>
                </a:solidFill>
              </a:rPr>
              <a:t>Ze bellen elkaar.</a:t>
            </a:r>
            <a:endParaRPr lang="en-US" sz="2000" dirty="0"/>
          </a:p>
        </p:txBody>
      </p:sp>
      <p:sp>
        <p:nvSpPr>
          <p:cNvPr id="15" name="Shape 10"/>
          <p:cNvSpPr/>
          <p:nvPr/>
        </p:nvSpPr>
        <p:spPr>
          <a:xfrm>
            <a:off x="6827520" y="1554480"/>
            <a:ext cx="2865120" cy="393192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802880" y="1874520"/>
            <a:ext cx="914400" cy="914400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2" descr="ClipboardLis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2336" y="2093976"/>
            <a:ext cx="475488" cy="47548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010400" y="2926080"/>
            <a:ext cx="249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Utiliser</a:t>
            </a:r>
            <a:endParaRPr lang="en-US" sz="2400" dirty="0"/>
          </a:p>
        </p:txBody>
      </p:sp>
      <p:sp>
        <p:nvSpPr>
          <p:cNvPr id="19" name="Text 13"/>
          <p:cNvSpPr txBox="1"/>
          <p:nvPr/>
        </p:nvSpPr>
        <p:spPr>
          <a:xfrm>
            <a:off x="7056120" y="3566160"/>
            <a:ext cx="240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J’utilise les verbes du quotidien : </a:t>
            </a:r>
            <a:r>
              <a:rPr lang="en-US" sz="2000" i="1" dirty="0">
                <a:solidFill>
                  <a:schemeClr val="tx1"/>
                </a:solidFill>
              </a:rPr>
              <a:t>Mag ik me even voorstellen?</a:t>
            </a:r>
            <a:endParaRPr lang="en-US" sz="2000" dirty="0"/>
          </a:p>
        </p:txBody>
      </p:sp>
      <p:pic>
        <p:nvPicPr>
          <p:cNvPr id="20" name="Image 3" descr="man teach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0" y="1737360"/>
            <a:ext cx="1737360" cy="1737360"/>
          </a:xfrm>
          <a:prstGeom prst="rect">
            <a:avLst/>
          </a:prstGeom>
        </p:spPr>
      </p:pic>
      <p:pic>
        <p:nvPicPr>
          <p:cNvPr id="21" name="Image 4" descr="speech ballo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81360" y="1463040"/>
            <a:ext cx="731520" cy="731520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548640" y="5669280"/>
            <a:ext cx="11091672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9525">
            <a:solidFill>
              <a:srgbClr val="17375E"/>
            </a:solidFill>
            <a:prstDash val="solid"/>
          </a:ln>
        </p:spPr>
      </p:sp>
      <p:pic>
        <p:nvPicPr>
          <p:cNvPr id="23" name="Image 5" descr="Lightbulb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5788152"/>
            <a:ext cx="329184" cy="329184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188720" y="566928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Partout au travail : se présenter, s’inscrire, s’excuser, se tromper, se sentir bien ou mal.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Échauffement — Qui fait quoi à qui 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770278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ÉCHAUFFEMENT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2635758" cy="3429000"/>
          </a:xfrm>
          <a:prstGeom prst="roundRect">
            <a:avLst>
              <a:gd name="adj" fmla="val 3469"/>
            </a:avLst>
          </a:prstGeom>
          <a:solidFill>
            <a:srgbClr val="FFFFFF"/>
          </a:solidFill>
          <a:ln w="19050">
            <a:solidFill>
              <a:srgbClr val="2A6FB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85800" y="169164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pic>
        <p:nvPicPr>
          <p:cNvPr id="8" name="Image 0" descr="mirr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2159" y="1920240"/>
            <a:ext cx="1188720" cy="11887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85800" y="3291840"/>
            <a:ext cx="236143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Karim scheert </a:t>
            </a:r>
            <a:r>
              <a:rPr lang="en-US" sz="1800" b="1" i="1" dirty="0">
                <a:solidFill>
                  <a:schemeClr val="accent2"/>
                </a:solidFill>
              </a:rPr>
              <a:t>zich</a:t>
            </a:r>
            <a:r>
              <a:rPr lang="en-US" sz="1800" i="1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3367278" y="1554480"/>
            <a:ext cx="2635758" cy="3429000"/>
          </a:xfrm>
          <a:prstGeom prst="roundRect">
            <a:avLst>
              <a:gd name="adj" fmla="val 3469"/>
            </a:avLst>
          </a:prstGeom>
          <a:solidFill>
            <a:srgbClr val="FFFFFF"/>
          </a:solidFill>
          <a:ln w="19050">
            <a:solidFill>
              <a:srgbClr val="2A6FB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504438" y="169164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3504438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pic>
        <p:nvPicPr>
          <p:cNvPr id="13" name="Image 1" descr="handshak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0797" y="1920240"/>
            <a:ext cx="1188720" cy="11887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504438" y="3291840"/>
            <a:ext cx="236143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Sofie en An geven </a:t>
            </a:r>
            <a:r>
              <a:rPr lang="en-US" sz="1800" b="1" i="1" dirty="0">
                <a:solidFill>
                  <a:schemeClr val="accent1"/>
                </a:solidFill>
              </a:rPr>
              <a:t>elkaar</a:t>
            </a:r>
            <a:r>
              <a:rPr lang="en-US" sz="1800" i="1" dirty="0">
                <a:solidFill>
                  <a:schemeClr val="tx1"/>
                </a:solidFill>
              </a:rPr>
              <a:t> een hand.</a:t>
            </a:r>
            <a:endParaRPr lang="en-US" sz="1800" dirty="0"/>
          </a:p>
        </p:txBody>
      </p:sp>
      <p:sp>
        <p:nvSpPr>
          <p:cNvPr id="15" name="Shape 10"/>
          <p:cNvSpPr/>
          <p:nvPr/>
        </p:nvSpPr>
        <p:spPr>
          <a:xfrm>
            <a:off x="6185916" y="1554480"/>
            <a:ext cx="2635758" cy="3429000"/>
          </a:xfrm>
          <a:prstGeom prst="roundRect">
            <a:avLst>
              <a:gd name="adj" fmla="val 3469"/>
            </a:avLst>
          </a:prstGeom>
          <a:solidFill>
            <a:srgbClr val="FFFFFF"/>
          </a:solidFill>
          <a:ln w="19050">
            <a:solidFill>
              <a:srgbClr val="2A6FB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323076" y="169164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323076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pic>
        <p:nvPicPr>
          <p:cNvPr id="18" name="Image 2" descr="woman raising han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9435" y="1920240"/>
            <a:ext cx="1188720" cy="11887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323076" y="3291840"/>
            <a:ext cx="236143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Lotte stelt </a:t>
            </a:r>
            <a:r>
              <a:rPr lang="en-US" sz="1800" b="1" i="1" dirty="0">
                <a:solidFill>
                  <a:schemeClr val="accent2"/>
                </a:solidFill>
              </a:rPr>
              <a:t>zich</a:t>
            </a:r>
            <a:r>
              <a:rPr lang="en-US" sz="1800" i="1" dirty="0">
                <a:solidFill>
                  <a:schemeClr val="tx1"/>
                </a:solidFill>
              </a:rPr>
              <a:t> voor.</a:t>
            </a:r>
            <a:endParaRPr lang="en-US" sz="1800" dirty="0"/>
          </a:p>
        </p:txBody>
      </p:sp>
      <p:sp>
        <p:nvSpPr>
          <p:cNvPr id="20" name="Shape 14"/>
          <p:cNvSpPr/>
          <p:nvPr/>
        </p:nvSpPr>
        <p:spPr>
          <a:xfrm>
            <a:off x="9004554" y="1554480"/>
            <a:ext cx="2635758" cy="3429000"/>
          </a:xfrm>
          <a:prstGeom prst="roundRect">
            <a:avLst>
              <a:gd name="adj" fmla="val 3469"/>
            </a:avLst>
          </a:prstGeom>
          <a:solidFill>
            <a:srgbClr val="FFFFFF"/>
          </a:solidFill>
          <a:ln w="19050">
            <a:solidFill>
              <a:srgbClr val="2A6FB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9141714" y="169164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9141714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pic>
        <p:nvPicPr>
          <p:cNvPr id="23" name="Image 3" descr="telephone receiv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8073" y="1920240"/>
            <a:ext cx="1188720" cy="118872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9141714" y="3291840"/>
            <a:ext cx="236143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Karim en Sofie bellen </a:t>
            </a:r>
            <a:r>
              <a:rPr lang="en-US" sz="1800" b="1" i="1" dirty="0">
                <a:solidFill>
                  <a:schemeClr val="accent1"/>
                </a:solidFill>
              </a:rPr>
              <a:t>elkaar</a:t>
            </a:r>
            <a:r>
              <a:rPr lang="en-US" sz="1800" i="1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25" name="Shape 18"/>
          <p:cNvSpPr/>
          <p:nvPr/>
        </p:nvSpPr>
        <p:spPr>
          <a:xfrm>
            <a:off x="548640" y="5166360"/>
            <a:ext cx="11091672" cy="1097280"/>
          </a:xfrm>
          <a:prstGeom prst="roundRect">
            <a:avLst>
              <a:gd name="adj" fmla="val 6667"/>
            </a:avLst>
          </a:prstGeom>
          <a:solidFill>
            <a:schemeClr val="accent1">
              <a:alpha val="15000"/>
            </a:schemeClr>
          </a:solidFill>
          <a:ln w="15875">
            <a:solidFill>
              <a:srgbClr val="D9700F"/>
            </a:solidFill>
            <a:prstDash val="solid"/>
          </a:ln>
        </p:spPr>
      </p:sp>
      <p:pic>
        <p:nvPicPr>
          <p:cNvPr id="26" name="Image 4" descr="thinking fac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303520"/>
            <a:ext cx="822960" cy="82296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828800" y="516636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Quand dit-on </a:t>
            </a:r>
            <a:r>
              <a:rPr lang="en-US" sz="1800" i="1" dirty="0">
                <a:solidFill>
                  <a:schemeClr val="tx1"/>
                </a:solidFill>
              </a:rPr>
              <a:t>zich</a:t>
            </a:r>
            <a:r>
              <a:rPr lang="en-US" sz="1800" dirty="0">
                <a:solidFill>
                  <a:schemeClr val="tx1"/>
                </a:solidFill>
              </a:rPr>
              <a:t> ? Quand dit-on </a:t>
            </a:r>
            <a:r>
              <a:rPr lang="en-US" sz="1800" i="1" dirty="0">
                <a:solidFill>
                  <a:schemeClr val="tx1"/>
                </a:solidFill>
              </a:rPr>
              <a:t>elkaar</a:t>
            </a:r>
            <a:r>
              <a:rPr lang="en-US" sz="1800" dirty="0">
                <a:solidFill>
                  <a:schemeClr val="tx1"/>
                </a:solidFill>
              </a:rPr>
              <a:t> ?</a:t>
            </a:r>
            <a:endParaRPr lang="en-US" sz="18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Montrez-vous (</a:t>
            </a:r>
            <a:r>
              <a:rPr lang="en-US" sz="1800" i="1" dirty="0">
                <a:solidFill>
                  <a:schemeClr val="tx1"/>
                </a:solidFill>
              </a:rPr>
              <a:t>zich</a:t>
            </a:r>
            <a:r>
              <a:rPr lang="en-US" sz="1800" dirty="0">
                <a:solidFill>
                  <a:schemeClr val="tx1"/>
                </a:solidFill>
              </a:rPr>
              <a:t>) ou montrez l’autre, puis vous (</a:t>
            </a:r>
            <a:r>
              <a:rPr lang="en-US" sz="1800" i="1" dirty="0">
                <a:solidFill>
                  <a:schemeClr val="tx1"/>
                </a:solidFill>
              </a:rPr>
              <a:t>elkaar</a:t>
            </a:r>
            <a:r>
              <a:rPr lang="en-US" sz="1800" dirty="0">
                <a:solidFill>
                  <a:schemeClr val="tx1"/>
                </a:solidFill>
              </a:rPr>
              <a:t>).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Le miroir : ik was me, hij wast zich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36853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GRAMMAIRE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6400800" cy="3886200"/>
          </a:xfrm>
          <a:prstGeom prst="roundRect">
            <a:avLst>
              <a:gd name="adj" fmla="val 2353"/>
            </a:avLst>
          </a:prstGeom>
          <a:solidFill>
            <a:schemeClr val="bg1"/>
          </a:solidFill>
          <a:ln w="25400">
            <a:solidFill>
              <a:srgbClr val="2A6FB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1554480"/>
            <a:ext cx="6400800" cy="502920"/>
          </a:xfrm>
          <a:prstGeom prst="roundRect">
            <a:avLst>
              <a:gd name="adj" fmla="val 18182"/>
            </a:avLst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55448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zich wassen (se laver)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148840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ik was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4023360" y="214884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i="1" dirty="0">
                <a:solidFill>
                  <a:schemeClr val="accent2"/>
                </a:solidFill>
              </a:rPr>
              <a:t>me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2606040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jij wast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4023360" y="260604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i="1" dirty="0">
                <a:solidFill>
                  <a:schemeClr val="accent2"/>
                </a:solidFill>
              </a:rPr>
              <a:t>je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3063240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u wast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4023360" y="306324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i="1" dirty="0">
                <a:solidFill>
                  <a:schemeClr val="accent2"/>
                </a:solidFill>
              </a:rPr>
              <a:t>u / zich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868680" y="3520440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hij, zij, het wast</a:t>
            </a:r>
            <a:endParaRPr lang="en-US" sz="1900" dirty="0"/>
          </a:p>
        </p:txBody>
      </p:sp>
      <p:sp>
        <p:nvSpPr>
          <p:cNvPr id="15" name="Text 12"/>
          <p:cNvSpPr txBox="1"/>
          <p:nvPr/>
        </p:nvSpPr>
        <p:spPr>
          <a:xfrm>
            <a:off x="4023360" y="352044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i="1" dirty="0">
                <a:solidFill>
                  <a:schemeClr val="accent2"/>
                </a:solidFill>
              </a:rPr>
              <a:t>zich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868680" y="3977640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wij wassen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4023360" y="397764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i="1" dirty="0">
                <a:solidFill>
                  <a:schemeClr val="accent2"/>
                </a:solidFill>
              </a:rPr>
              <a:t>ons</a:t>
            </a:r>
            <a:endParaRPr lang="en-US" sz="1900" dirty="0"/>
          </a:p>
        </p:txBody>
      </p:sp>
      <p:sp>
        <p:nvSpPr>
          <p:cNvPr id="18" name="Text 15"/>
          <p:cNvSpPr txBox="1"/>
          <p:nvPr/>
        </p:nvSpPr>
        <p:spPr>
          <a:xfrm>
            <a:off x="868680" y="4434840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jullie wassen</a:t>
            </a:r>
            <a:endParaRPr lang="en-US" sz="1900" dirty="0"/>
          </a:p>
        </p:txBody>
      </p:sp>
      <p:sp>
        <p:nvSpPr>
          <p:cNvPr id="19" name="Text 16"/>
          <p:cNvSpPr txBox="1"/>
          <p:nvPr/>
        </p:nvSpPr>
        <p:spPr>
          <a:xfrm>
            <a:off x="4023360" y="443484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i="1" dirty="0">
                <a:solidFill>
                  <a:schemeClr val="accent2"/>
                </a:solidFill>
              </a:rPr>
              <a:t>je</a:t>
            </a:r>
            <a:endParaRPr lang="en-US" sz="1900" dirty="0"/>
          </a:p>
        </p:txBody>
      </p:sp>
      <p:sp>
        <p:nvSpPr>
          <p:cNvPr id="20" name="Text 17"/>
          <p:cNvSpPr txBox="1"/>
          <p:nvPr/>
        </p:nvSpPr>
        <p:spPr>
          <a:xfrm>
            <a:off x="868680" y="4892040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zij wassen</a:t>
            </a:r>
            <a:endParaRPr lang="en-US" sz="1900" dirty="0"/>
          </a:p>
        </p:txBody>
      </p:sp>
      <p:sp>
        <p:nvSpPr>
          <p:cNvPr id="21" name="Text 18"/>
          <p:cNvSpPr txBox="1"/>
          <p:nvPr/>
        </p:nvSpPr>
        <p:spPr>
          <a:xfrm>
            <a:off x="4023360" y="489204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i="1" dirty="0">
                <a:solidFill>
                  <a:schemeClr val="accent2"/>
                </a:solidFill>
              </a:rPr>
              <a:t>zich</a:t>
            </a:r>
            <a:endParaRPr lang="en-US" sz="1900" dirty="0"/>
          </a:p>
        </p:txBody>
      </p:sp>
      <p:pic>
        <p:nvPicPr>
          <p:cNvPr id="22" name="Image 0" descr="mirr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600200"/>
            <a:ext cx="1280160" cy="1280160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7178040" y="3063240"/>
            <a:ext cx="4462272" cy="2377440"/>
          </a:xfrm>
          <a:prstGeom prst="roundRect">
            <a:avLst>
              <a:gd name="adj" fmla="val 3846"/>
            </a:avLst>
          </a:prstGeom>
          <a:solidFill>
            <a:srgbClr val="EAF1F8"/>
          </a:solidFill>
          <a:ln w="15875">
            <a:solidFill>
              <a:srgbClr val="2A6FB0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7315200" y="3108960"/>
            <a:ext cx="4206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Seul </a:t>
            </a:r>
            <a:r>
              <a:rPr lang="en-US" sz="1600" b="1" i="1" dirty="0">
                <a:solidFill>
                  <a:schemeClr val="tx1"/>
                </a:solidFill>
              </a:rPr>
              <a:t>zich</a:t>
            </a:r>
            <a:r>
              <a:rPr lang="en-US" sz="1600" b="1" dirty="0">
                <a:solidFill>
                  <a:schemeClr val="tx1"/>
                </a:solidFill>
              </a:rPr>
              <a:t> est nouveau</a:t>
            </a:r>
            <a:r>
              <a:rPr lang="en-US" sz="1600" dirty="0">
                <a:solidFill>
                  <a:schemeClr val="tx1"/>
                </a:solidFill>
              </a:rPr>
              <a:t> : </a:t>
            </a:r>
            <a:r>
              <a:rPr lang="en-US" sz="1600" i="1" dirty="0">
                <a:solidFill>
                  <a:schemeClr val="tx1"/>
                </a:solidFill>
              </a:rPr>
              <a:t>me, je, ons</a:t>
            </a:r>
            <a:r>
              <a:rPr lang="en-US" sz="1600" dirty="0">
                <a:solidFill>
                  <a:schemeClr val="tx1"/>
                </a:solidFill>
              </a:rPr>
              <a:t> sont déjà connus (M20).</a:t>
            </a:r>
            <a:endParaRPr lang="en-US" sz="16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600" i="1" dirty="0">
                <a:solidFill>
                  <a:schemeClr val="tx1"/>
                </a:solidFill>
              </a:rPr>
              <a:t>zich</a:t>
            </a:r>
            <a:r>
              <a:rPr lang="en-US" sz="1600" dirty="0">
                <a:solidFill>
                  <a:schemeClr val="tx1"/>
                </a:solidFill>
              </a:rPr>
              <a:t> = 3ᵉ personne (</a:t>
            </a:r>
            <a:r>
              <a:rPr lang="en-US" sz="1600" i="1" dirty="0">
                <a:solidFill>
                  <a:schemeClr val="tx1"/>
                </a:solidFill>
              </a:rPr>
              <a:t>hij, zij, het, zij</a:t>
            </a:r>
            <a:r>
              <a:rPr lang="en-US" sz="1600" dirty="0">
                <a:solidFill>
                  <a:schemeClr val="tx1"/>
                </a:solidFill>
              </a:rPr>
              <a:t>).</a:t>
            </a:r>
            <a:endParaRPr lang="en-US" sz="16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600" i="1" dirty="0">
                <a:solidFill>
                  <a:schemeClr val="tx1"/>
                </a:solidFill>
              </a:rPr>
              <a:t>u vergist </a:t>
            </a:r>
            <a:r>
              <a:rPr lang="en-US" sz="1600" b="1" i="1" dirty="0">
                <a:solidFill>
                  <a:schemeClr val="tx1"/>
                </a:solidFill>
              </a:rPr>
              <a:t>zich</a:t>
            </a:r>
            <a:r>
              <a:rPr lang="en-US" sz="1600" dirty="0">
                <a:solidFill>
                  <a:schemeClr val="tx1"/>
                </a:solidFill>
              </a:rPr>
              <a:t> ou </a:t>
            </a:r>
            <a:r>
              <a:rPr lang="en-US" sz="1600" i="1" dirty="0">
                <a:solidFill>
                  <a:schemeClr val="tx1"/>
                </a:solidFill>
              </a:rPr>
              <a:t>u vergist </a:t>
            </a:r>
            <a:r>
              <a:rPr lang="en-US" sz="1600" b="1" i="1" dirty="0">
                <a:solidFill>
                  <a:schemeClr val="tx1"/>
                </a:solidFill>
              </a:rPr>
              <a:t>u</a:t>
            </a:r>
            <a:r>
              <a:rPr lang="en-US" sz="1600" dirty="0">
                <a:solidFill>
                  <a:schemeClr val="tx1"/>
                </a:solidFill>
              </a:rPr>
              <a:t> : les deux sont corrects (BE : souvent </a:t>
            </a:r>
            <a:r>
              <a:rPr lang="en-US" sz="1600" i="1" dirty="0">
                <a:solidFill>
                  <a:schemeClr val="tx1"/>
                </a:solidFill>
              </a:rPr>
              <a:t>u</a:t>
            </a:r>
            <a:r>
              <a:rPr lang="en-US" sz="1600" dirty="0">
                <a:solidFill>
                  <a:schemeClr val="tx1"/>
                </a:solidFill>
              </a:rPr>
              <a:t>).</a:t>
            </a:r>
            <a:endParaRPr lang="en-US" sz="1600" dirty="0"/>
          </a:p>
        </p:txBody>
      </p:sp>
      <p:sp>
        <p:nvSpPr>
          <p:cNvPr id="25" name="Shape 21"/>
          <p:cNvSpPr/>
          <p:nvPr/>
        </p:nvSpPr>
        <p:spPr>
          <a:xfrm>
            <a:off x="548640" y="5623560"/>
            <a:ext cx="11091672" cy="621792"/>
          </a:xfrm>
          <a:prstGeom prst="roundRect">
            <a:avLst>
              <a:gd name="adj" fmla="val 11765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822960" y="5623560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Le pronom réfléchi renvoie au </a:t>
            </a:r>
            <a:r>
              <a:rPr lang="en-US" sz="1800" b="1" dirty="0">
                <a:solidFill>
                  <a:schemeClr val="bg1"/>
                </a:solidFill>
              </a:rPr>
              <a:t>sujet lui-même</a:t>
            </a:r>
            <a:r>
              <a:rPr lang="en-US" sz="1800" dirty="0">
                <a:solidFill>
                  <a:schemeClr val="bg1"/>
                </a:solidFill>
              </a:rPr>
              <a:t> : la flèche revient vers soi.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Le ping-pong : elkaar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36853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GRAMMAIRE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3575304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25400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erson stand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920240"/>
            <a:ext cx="754380" cy="754380"/>
          </a:xfrm>
          <a:prstGeom prst="rect">
            <a:avLst/>
          </a:prstGeom>
        </p:spPr>
      </p:pic>
      <p:pic>
        <p:nvPicPr>
          <p:cNvPr id="7" name="Image 1" descr="person stand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4580" y="1920240"/>
            <a:ext cx="754380" cy="75438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737360" y="2084832"/>
            <a:ext cx="658368" cy="315468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9" name="Shape 4"/>
          <p:cNvSpPr/>
          <p:nvPr/>
        </p:nvSpPr>
        <p:spPr>
          <a:xfrm flipH="1">
            <a:off x="1737360" y="2084832"/>
            <a:ext cx="658368" cy="315468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pic>
        <p:nvPicPr>
          <p:cNvPr id="10" name="Image 2" descr="telephone receiv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3824" y="1783080"/>
            <a:ext cx="731520" cy="73152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685800" y="2971800"/>
            <a:ext cx="33009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We bellen </a:t>
            </a:r>
            <a:r>
              <a:rPr lang="en-US" sz="2000" b="1" i="1" dirty="0">
                <a:solidFill>
                  <a:schemeClr val="accent1"/>
                </a:solidFill>
              </a:rPr>
              <a:t>elkaar</a:t>
            </a:r>
            <a:r>
              <a:rPr lang="en-US" sz="2000" i="1" dirty="0">
                <a:solidFill>
                  <a:schemeClr val="tx1"/>
                </a:solidFill>
              </a:rPr>
              <a:t> morgen.</a:t>
            </a:r>
            <a:endParaRPr lang="en-US" sz="2000" dirty="0"/>
          </a:p>
        </p:txBody>
      </p:sp>
      <p:sp>
        <p:nvSpPr>
          <p:cNvPr id="12" name="Shape 6"/>
          <p:cNvSpPr/>
          <p:nvPr/>
        </p:nvSpPr>
        <p:spPr>
          <a:xfrm>
            <a:off x="4306824" y="1600200"/>
            <a:ext cx="3575304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25400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13" name="Image 3" descr="person standi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9744" y="1920240"/>
            <a:ext cx="754380" cy="754380"/>
          </a:xfrm>
          <a:prstGeom prst="rect">
            <a:avLst/>
          </a:prstGeom>
        </p:spPr>
      </p:pic>
      <p:pic>
        <p:nvPicPr>
          <p:cNvPr id="14" name="Image 4" descr="person standi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2764" y="1920240"/>
            <a:ext cx="754380" cy="754380"/>
          </a:xfrm>
          <a:prstGeom prst="rect">
            <a:avLst/>
          </a:prstGeom>
        </p:spPr>
      </p:pic>
      <p:sp>
        <p:nvSpPr>
          <p:cNvPr id="15" name="Shape 7"/>
          <p:cNvSpPr/>
          <p:nvPr/>
        </p:nvSpPr>
        <p:spPr>
          <a:xfrm>
            <a:off x="5495544" y="2084832"/>
            <a:ext cx="658368" cy="315468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16" name="Shape 8"/>
          <p:cNvSpPr/>
          <p:nvPr/>
        </p:nvSpPr>
        <p:spPr>
          <a:xfrm flipH="1">
            <a:off x="5495544" y="2084832"/>
            <a:ext cx="658368" cy="315468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pic>
        <p:nvPicPr>
          <p:cNvPr id="17" name="Image 5" descr="busts in silhouett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22008" y="1783080"/>
            <a:ext cx="731520" cy="731520"/>
          </a:xfrm>
          <a:prstGeom prst="rect">
            <a:avLst/>
          </a:prstGeom>
        </p:spPr>
      </p:pic>
      <p:sp>
        <p:nvSpPr>
          <p:cNvPr id="18" name="Text 9"/>
          <p:cNvSpPr txBox="1"/>
          <p:nvPr/>
        </p:nvSpPr>
        <p:spPr>
          <a:xfrm>
            <a:off x="4443984" y="2971800"/>
            <a:ext cx="33009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Jullie kennen </a:t>
            </a:r>
            <a:r>
              <a:rPr lang="en-US" sz="2000" b="1" i="1" dirty="0">
                <a:solidFill>
                  <a:schemeClr val="accent1"/>
                </a:solidFill>
              </a:rPr>
              <a:t>elkaar</a:t>
            </a:r>
            <a:r>
              <a:rPr lang="en-US" sz="2000" i="1" dirty="0">
                <a:solidFill>
                  <a:schemeClr val="tx1"/>
                </a:solidFill>
              </a:rPr>
              <a:t> al lang.</a:t>
            </a:r>
            <a:endParaRPr lang="en-US" sz="2000" dirty="0"/>
          </a:p>
        </p:txBody>
      </p:sp>
      <p:sp>
        <p:nvSpPr>
          <p:cNvPr id="19" name="Shape 10"/>
          <p:cNvSpPr/>
          <p:nvPr/>
        </p:nvSpPr>
        <p:spPr>
          <a:xfrm>
            <a:off x="8065008" y="1600200"/>
            <a:ext cx="3575304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25400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20" name="Image 6" descr="person standi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67928" y="1920240"/>
            <a:ext cx="754380" cy="754380"/>
          </a:xfrm>
          <a:prstGeom prst="rect">
            <a:avLst/>
          </a:prstGeom>
        </p:spPr>
      </p:pic>
      <p:pic>
        <p:nvPicPr>
          <p:cNvPr id="21" name="Image 7" descr="person standi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70948" y="1920240"/>
            <a:ext cx="754380" cy="754380"/>
          </a:xfrm>
          <a:prstGeom prst="rect">
            <a:avLst/>
          </a:prstGeom>
        </p:spPr>
      </p:pic>
      <p:sp>
        <p:nvSpPr>
          <p:cNvPr id="22" name="Shape 11"/>
          <p:cNvSpPr/>
          <p:nvPr/>
        </p:nvSpPr>
        <p:spPr>
          <a:xfrm>
            <a:off x="9253728" y="2084832"/>
            <a:ext cx="658368" cy="315468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23" name="Shape 12"/>
          <p:cNvSpPr/>
          <p:nvPr/>
        </p:nvSpPr>
        <p:spPr>
          <a:xfrm flipH="1">
            <a:off x="9253728" y="2084832"/>
            <a:ext cx="658368" cy="315468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pic>
        <p:nvPicPr>
          <p:cNvPr id="24" name="Image 8" descr="handshake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80192" y="1783080"/>
            <a:ext cx="731520" cy="731520"/>
          </a:xfrm>
          <a:prstGeom prst="rect">
            <a:avLst/>
          </a:prstGeom>
        </p:spPr>
      </p:pic>
      <p:sp>
        <p:nvSpPr>
          <p:cNvPr id="25" name="Text 13"/>
          <p:cNvSpPr txBox="1"/>
          <p:nvPr/>
        </p:nvSpPr>
        <p:spPr>
          <a:xfrm>
            <a:off x="8202168" y="2971800"/>
            <a:ext cx="33009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Ze helpen </a:t>
            </a:r>
            <a:r>
              <a:rPr lang="en-US" sz="2000" b="1" i="1" dirty="0">
                <a:solidFill>
                  <a:schemeClr val="accent1"/>
                </a:solidFill>
              </a:rPr>
              <a:t>elkaar</a:t>
            </a:r>
            <a:r>
              <a:rPr lang="en-US" sz="2000" i="1" dirty="0">
                <a:solidFill>
                  <a:schemeClr val="tx1"/>
                </a:solidFill>
              </a:rPr>
              <a:t>.</a:t>
            </a:r>
            <a:endParaRPr lang="en-US" sz="2000" dirty="0"/>
          </a:p>
        </p:txBody>
      </p:sp>
      <p:sp>
        <p:nvSpPr>
          <p:cNvPr id="26" name="Shape 14"/>
          <p:cNvSpPr/>
          <p:nvPr/>
        </p:nvSpPr>
        <p:spPr>
          <a:xfrm>
            <a:off x="548640" y="4480560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FDF1E6"/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27" name="Text 15"/>
          <p:cNvSpPr txBox="1"/>
          <p:nvPr/>
        </p:nvSpPr>
        <p:spPr>
          <a:xfrm>
            <a:off x="777240" y="448056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chemeClr val="tx1"/>
                </a:solidFill>
              </a:rPr>
              <a:t>Tot ziens! — We zien </a:t>
            </a:r>
            <a:r>
              <a:rPr lang="en-US" sz="2100" b="1" i="1" dirty="0">
                <a:solidFill>
                  <a:schemeClr val="tx1"/>
                </a:solidFill>
              </a:rPr>
              <a:t>elkaar</a:t>
            </a:r>
            <a:r>
              <a:rPr lang="en-US" sz="2100" i="1" dirty="0">
                <a:solidFill>
                  <a:schemeClr val="tx1"/>
                </a:solidFill>
              </a:rPr>
              <a:t> maandag!</a:t>
            </a:r>
            <a:r>
              <a:rPr lang="en-US" sz="2100" dirty="0">
                <a:solidFill>
                  <a:schemeClr val="tx1"/>
                </a:solidFill>
              </a:rPr>
              <a:t> (On se voit lundi !)</a:t>
            </a:r>
            <a:endParaRPr lang="en-US" sz="2100" dirty="0"/>
          </a:p>
        </p:txBody>
      </p:sp>
      <p:sp>
        <p:nvSpPr>
          <p:cNvPr id="28" name="Shape 16"/>
          <p:cNvSpPr/>
          <p:nvPr/>
        </p:nvSpPr>
        <p:spPr>
          <a:xfrm>
            <a:off x="548640" y="5486400"/>
            <a:ext cx="11091672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17"/>
          <p:cNvSpPr txBox="1"/>
          <p:nvPr/>
        </p:nvSpPr>
        <p:spPr>
          <a:xfrm>
            <a:off x="822960" y="548640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bg1"/>
                </a:solidFill>
              </a:rPr>
              <a:t>elkaar</a:t>
            </a:r>
            <a:r>
              <a:rPr lang="en-US" sz="1900" dirty="0">
                <a:solidFill>
                  <a:schemeClr val="bg1"/>
                </a:solidFill>
              </a:rPr>
              <a:t> = l’un l’autre · toujours avec un sujet pluriel · </a:t>
            </a:r>
            <a:r>
              <a:rPr lang="en-US" sz="1900" b="1" dirty="0">
                <a:solidFill>
                  <a:schemeClr val="bg1"/>
                </a:solidFill>
              </a:rPr>
              <a:t>ne change jamais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zich ou elkaar ? Le miroir et le ping-pong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36853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GRAMMAIRE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892040" y="1600200"/>
            <a:ext cx="2404872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892040" y="1600200"/>
            <a:ext cx="2404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Qui reçoit l’action ?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4206240" cy="3886200"/>
          </a:xfrm>
          <a:prstGeom prst="roundRect">
            <a:avLst>
              <a:gd name="adj" fmla="val 2824"/>
            </a:avLst>
          </a:prstGeom>
          <a:solidFill>
            <a:schemeClr val="accent2">
              <a:alpha val="10000"/>
            </a:schemeClr>
          </a:solidFill>
          <a:ln w="25400">
            <a:solidFill>
              <a:srgbClr val="2A6FB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16916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chemeClr val="accent2"/>
                </a:solidFill>
              </a:rPr>
              <a:t>LE MIROIR</a:t>
            </a:r>
            <a:endParaRPr lang="en-US" sz="1500" dirty="0"/>
          </a:p>
        </p:txBody>
      </p:sp>
      <p:pic>
        <p:nvPicPr>
          <p:cNvPr id="9" name="Image 0" descr="person stand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5960" y="2240280"/>
            <a:ext cx="1024128" cy="102412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141525" y="2137867"/>
            <a:ext cx="731520" cy="643738"/>
          </a:xfrm>
          <a:prstGeom prst="arc">
            <a:avLst>
              <a:gd name="adj1" fmla="val 10800000"/>
              <a:gd name="adj2" fmla="val 21600000"/>
            </a:avLst>
          </a:prstGeom>
          <a:solidFill>
            <a:srgbClr val="FFFFFF">
              <a:alpha val="0"/>
            </a:srgbClr>
          </a:solidFill>
          <a:ln w="31750">
            <a:solidFill>
              <a:srgbClr val="2A6FB0"/>
            </a:solidFill>
            <a:prstDash val="solid"/>
            <a:headEnd type="triangle"/>
          </a:ln>
        </p:spPr>
      </p:sp>
      <p:sp>
        <p:nvSpPr>
          <p:cNvPr id="11" name="Text 7"/>
          <p:cNvSpPr txBox="1"/>
          <p:nvPr/>
        </p:nvSpPr>
        <p:spPr>
          <a:xfrm>
            <a:off x="731520" y="3429000"/>
            <a:ext cx="38404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→ la même personne</a:t>
            </a:r>
            <a:endParaRPr lang="en-US" sz="18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800" b="1" i="1" dirty="0">
                <a:solidFill>
                  <a:schemeClr val="tx1"/>
                </a:solidFill>
              </a:rPr>
              <a:t>zich</a:t>
            </a:r>
            <a:r>
              <a:rPr lang="en-US" sz="1800" b="1" dirty="0">
                <a:solidFill>
                  <a:schemeClr val="tx1"/>
                </a:solidFill>
              </a:rPr>
              <a:t> (</a:t>
            </a:r>
            <a:r>
              <a:rPr lang="en-US" sz="1800" b="1" i="1" dirty="0">
                <a:solidFill>
                  <a:schemeClr val="tx1"/>
                </a:solidFill>
              </a:rPr>
              <a:t>me, je, ons…</a:t>
            </a:r>
            <a:r>
              <a:rPr lang="en-US" sz="1800" b="1" dirty="0">
                <a:solidFill>
                  <a:schemeClr val="tx1"/>
                </a:solidFill>
              </a:rPr>
              <a:t>)</a:t>
            </a:r>
            <a:endParaRPr lang="en-US" sz="18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800" i="1" dirty="0">
                <a:solidFill>
                  <a:schemeClr val="tx1"/>
                </a:solidFill>
              </a:rPr>
              <a:t>Ze wassen </a:t>
            </a:r>
            <a:r>
              <a:rPr lang="en-US" sz="1800" b="1" i="1" dirty="0">
                <a:solidFill>
                  <a:schemeClr val="accent2"/>
                </a:solidFill>
              </a:rPr>
              <a:t>zich</a:t>
            </a:r>
            <a:r>
              <a:rPr lang="en-US" sz="1800" i="1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(chacun se lave)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7434072" y="1600200"/>
            <a:ext cx="4206240" cy="3886200"/>
          </a:xfrm>
          <a:prstGeom prst="roundRect">
            <a:avLst>
              <a:gd name="adj" fmla="val 2824"/>
            </a:avLst>
          </a:prstGeom>
          <a:solidFill>
            <a:schemeClr val="accent1">
              <a:alpha val="10000"/>
            </a:schemeClr>
          </a:solidFill>
          <a:ln w="25400">
            <a:solidFill>
              <a:srgbClr val="D9700F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434072" y="16916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chemeClr val="accent1"/>
                </a:solidFill>
              </a:rPr>
              <a:t>LE PING-PONG</a:t>
            </a:r>
            <a:endParaRPr lang="en-US" sz="1500" dirty="0"/>
          </a:p>
        </p:txBody>
      </p:sp>
      <p:pic>
        <p:nvPicPr>
          <p:cNvPr id="14" name="Image 1" descr="person stand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912" y="2340864"/>
            <a:ext cx="804672" cy="804672"/>
          </a:xfrm>
          <a:prstGeom prst="rect">
            <a:avLst/>
          </a:prstGeom>
        </p:spPr>
      </p:pic>
      <p:pic>
        <p:nvPicPr>
          <p:cNvPr id="15" name="Image 2" descr="person standi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2340864"/>
            <a:ext cx="804672" cy="804672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9171432" y="2516429"/>
            <a:ext cx="702259" cy="336499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17" name="Shape 11"/>
          <p:cNvSpPr/>
          <p:nvPr/>
        </p:nvSpPr>
        <p:spPr>
          <a:xfrm flipH="1">
            <a:off x="9171432" y="2516429"/>
            <a:ext cx="702259" cy="336499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18" name="Text 12"/>
          <p:cNvSpPr txBox="1"/>
          <p:nvPr/>
        </p:nvSpPr>
        <p:spPr>
          <a:xfrm>
            <a:off x="7616952" y="3429000"/>
            <a:ext cx="38404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→ l’autre, et inversement</a:t>
            </a:r>
            <a:endParaRPr lang="en-US" sz="18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800" b="1" i="1" dirty="0">
                <a:solidFill>
                  <a:schemeClr val="tx1"/>
                </a:solidFill>
              </a:rPr>
              <a:t>elkaar</a:t>
            </a:r>
            <a:endParaRPr lang="en-US" sz="18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800" i="1" dirty="0">
                <a:solidFill>
                  <a:schemeClr val="tx1"/>
                </a:solidFill>
              </a:rPr>
              <a:t>Ze wassen </a:t>
            </a:r>
            <a:r>
              <a:rPr lang="en-US" sz="1800" b="1" i="1" dirty="0">
                <a:solidFill>
                  <a:schemeClr val="accent1"/>
                </a:solidFill>
              </a:rPr>
              <a:t>elkaar</a:t>
            </a:r>
            <a:r>
              <a:rPr lang="en-US" sz="1800" i="1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(l’un lave l’autre)</a:t>
            </a:r>
            <a:endParaRPr lang="en-US" sz="1800" dirty="0"/>
          </a:p>
        </p:txBody>
      </p:sp>
      <p:sp>
        <p:nvSpPr>
          <p:cNvPr id="19" name="Shape 13"/>
          <p:cNvSpPr/>
          <p:nvPr/>
        </p:nvSpPr>
        <p:spPr>
          <a:xfrm flipH="1">
            <a:off x="4800600" y="2560320"/>
            <a:ext cx="1289304" cy="731520"/>
          </a:xfrm>
          <a:prstGeom prst="line">
            <a:avLst/>
          </a:prstGeom>
          <a:noFill/>
          <a:ln w="38100">
            <a:solidFill>
              <a:srgbClr val="2A6FB0"/>
            </a:solidFill>
            <a:prstDash val="solid"/>
            <a:tailEnd type="triangle"/>
          </a:ln>
        </p:spPr>
      </p:sp>
      <p:sp>
        <p:nvSpPr>
          <p:cNvPr id="20" name="Shape 14"/>
          <p:cNvSpPr/>
          <p:nvPr/>
        </p:nvSpPr>
        <p:spPr>
          <a:xfrm>
            <a:off x="6089904" y="2560320"/>
            <a:ext cx="1289304" cy="731520"/>
          </a:xfrm>
          <a:prstGeom prst="line">
            <a:avLst/>
          </a:prstGeom>
          <a:noFill/>
          <a:ln w="38100">
            <a:solidFill>
              <a:srgbClr val="D9700F"/>
            </a:solidFill>
            <a:prstDash val="solid"/>
            <a:tailEnd type="triangle"/>
          </a:ln>
        </p:spPr>
      </p:sp>
      <p:pic>
        <p:nvPicPr>
          <p:cNvPr id="21" name="Image 3" descr="people huggi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1264" y="3474720"/>
            <a:ext cx="1097280" cy="109728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4480560" y="46634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Jouez la paire avec deux apprenants !</a:t>
            </a:r>
            <a:endParaRPr lang="en-US" sz="1400" dirty="0"/>
          </a:p>
        </p:txBody>
      </p:sp>
      <p:sp>
        <p:nvSpPr>
          <p:cNvPr id="23" name="Shape 16"/>
          <p:cNvSpPr/>
          <p:nvPr/>
        </p:nvSpPr>
        <p:spPr>
          <a:xfrm>
            <a:off x="548640" y="5715000"/>
            <a:ext cx="11091672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17"/>
          <p:cNvSpPr txBox="1"/>
          <p:nvPr/>
        </p:nvSpPr>
        <p:spPr>
          <a:xfrm>
            <a:off x="822960" y="57150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Le schéma est la référence de tous les exercices.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PIÈGE : « se » ≠ zich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878178" cy="310896"/>
          </a:xfrm>
          <a:prstGeom prst="roundRect">
            <a:avLst>
              <a:gd name="adj" fmla="val 14706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PIÈGE FR ≠ NL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11091672" cy="4023360"/>
          </a:xfrm>
          <a:prstGeom prst="roundRect">
            <a:avLst>
              <a:gd name="adj" fmla="val 1818"/>
            </a:avLst>
          </a:prstGeom>
          <a:solidFill>
            <a:schemeClr val="accent6">
              <a:alpha val="6000"/>
            </a:schemeClr>
          </a:solidFill>
          <a:ln w="12700">
            <a:solidFill>
              <a:srgbClr val="B83227">
                <a:alpha val="60000"/>
              </a:srgbClr>
            </a:solidFill>
            <a:prstDash val="solid"/>
          </a:ln>
        </p:spPr>
      </p:sp>
      <p:sp>
        <p:nvSpPr>
          <p:cNvPr id="6" name="tag"/>
          <p:cNvSpPr/>
          <p:nvPr/>
        </p:nvSpPr>
        <p:spPr>
          <a:xfrm>
            <a:off x="731520" y="1691640"/>
            <a:ext cx="1230782" cy="292608"/>
          </a:xfrm>
          <a:prstGeom prst="roundRect">
            <a:avLst>
              <a:gd name="adj" fmla="val 15625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⚠ PIÈGE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103120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« se lever »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3657600" y="2103120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✗ </a:t>
            </a:r>
            <a:r>
              <a:rPr lang="en-US" sz="1500" i="1" strike="sngStrike" dirty="0">
                <a:solidFill>
                  <a:schemeClr val="accent6"/>
                </a:solidFill>
              </a:rPr>
              <a:t>zich opstaan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812280" y="2359152"/>
            <a:ext cx="365760" cy="914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7223760" y="2130552"/>
            <a:ext cx="4251960" cy="457200"/>
          </a:xfrm>
          <a:prstGeom prst="roundRect">
            <a:avLst>
              <a:gd name="adj" fmla="val 20000"/>
            </a:avLst>
          </a:prstGeom>
          <a:solidFill>
            <a:schemeClr val="accent3">
              <a:alpha val="12000"/>
            </a:scheme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60920" y="213055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✓ </a:t>
            </a:r>
            <a:r>
              <a:rPr lang="en-US" sz="1700" i="1" dirty="0">
                <a:solidFill>
                  <a:schemeClr val="tx1"/>
                </a:solidFill>
              </a:rPr>
              <a:t>opstaan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2679192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« s’appeler »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3657600" y="2679192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✗ </a:t>
            </a:r>
            <a:r>
              <a:rPr lang="en-US" sz="1500" i="1" strike="sngStrike" dirty="0">
                <a:solidFill>
                  <a:schemeClr val="accent6"/>
                </a:solidFill>
              </a:rPr>
              <a:t>zich noemen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812280" y="2935224"/>
            <a:ext cx="365760" cy="914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7223760" y="2706624"/>
            <a:ext cx="4251960" cy="457200"/>
          </a:xfrm>
          <a:prstGeom prst="roundRect">
            <a:avLst>
              <a:gd name="adj" fmla="val 20000"/>
            </a:avLst>
          </a:prstGeom>
          <a:solidFill>
            <a:schemeClr val="accent3">
              <a:alpha val="12000"/>
            </a:scheme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360920" y="2706624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✓ </a:t>
            </a:r>
            <a:r>
              <a:rPr lang="en-US" sz="1700" i="1" dirty="0">
                <a:solidFill>
                  <a:schemeClr val="tx1"/>
                </a:solidFill>
              </a:rPr>
              <a:t>heten — Ik heet Lotte.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868680" y="3255264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« se marier »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3657600" y="3255264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✗ </a:t>
            </a:r>
            <a:r>
              <a:rPr lang="en-US" sz="1500" i="1" strike="sngStrike" dirty="0">
                <a:solidFill>
                  <a:schemeClr val="accent6"/>
                </a:solidFill>
              </a:rPr>
              <a:t>zich trouwen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812280" y="3511296"/>
            <a:ext cx="365760" cy="914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7223760" y="3282696"/>
            <a:ext cx="4251960" cy="457200"/>
          </a:xfrm>
          <a:prstGeom prst="roundRect">
            <a:avLst>
              <a:gd name="adj" fmla="val 20000"/>
            </a:avLst>
          </a:prstGeom>
          <a:solidFill>
            <a:schemeClr val="accent3">
              <a:alpha val="12000"/>
            </a:scheme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360920" y="3282696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✓ </a:t>
            </a:r>
            <a:r>
              <a:rPr lang="en-US" sz="1700" i="1" dirty="0">
                <a:solidFill>
                  <a:schemeClr val="tx1"/>
                </a:solidFill>
              </a:rPr>
              <a:t>trouwen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868680" y="3831336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« s’asseoir »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3657600" y="3831336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✗ </a:t>
            </a:r>
            <a:r>
              <a:rPr lang="en-US" sz="1500" i="1" strike="sngStrike" dirty="0">
                <a:solidFill>
                  <a:schemeClr val="accent6"/>
                </a:solidFill>
              </a:rPr>
              <a:t>zich zitten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6812280" y="4087368"/>
            <a:ext cx="365760" cy="914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7223760" y="3858768"/>
            <a:ext cx="4251960" cy="457200"/>
          </a:xfrm>
          <a:prstGeom prst="roundRect">
            <a:avLst>
              <a:gd name="adj" fmla="val 20000"/>
            </a:avLst>
          </a:prstGeom>
          <a:solidFill>
            <a:schemeClr val="accent3">
              <a:alpha val="12000"/>
            </a:scheme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360920" y="385876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✓ </a:t>
            </a:r>
            <a:r>
              <a:rPr lang="en-US" sz="1700" i="1" dirty="0">
                <a:solidFill>
                  <a:schemeClr val="tx1"/>
                </a:solidFill>
              </a:rPr>
              <a:t>gaan zitten (M17)</a:t>
            </a:r>
            <a:endParaRPr lang="en-US" sz="1700" dirty="0"/>
          </a:p>
        </p:txBody>
      </p:sp>
      <p:sp>
        <p:nvSpPr>
          <p:cNvPr id="27" name="Text 24"/>
          <p:cNvSpPr txBox="1"/>
          <p:nvPr/>
        </p:nvSpPr>
        <p:spPr>
          <a:xfrm>
            <a:off x="868680" y="4407408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« se promener »</a:t>
            </a:r>
            <a:endParaRPr lang="en-US" sz="1700" dirty="0"/>
          </a:p>
        </p:txBody>
      </p:sp>
      <p:sp>
        <p:nvSpPr>
          <p:cNvPr id="28" name="Text 25"/>
          <p:cNvSpPr txBox="1"/>
          <p:nvPr/>
        </p:nvSpPr>
        <p:spPr>
          <a:xfrm>
            <a:off x="3657600" y="4407408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✗ </a:t>
            </a:r>
            <a:r>
              <a:rPr lang="en-US" sz="1500" i="1" strike="sngStrike" dirty="0">
                <a:solidFill>
                  <a:schemeClr val="accent6"/>
                </a:solidFill>
              </a:rPr>
              <a:t>zich wandelen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6812280" y="4663440"/>
            <a:ext cx="365760" cy="914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7223760" y="4434840"/>
            <a:ext cx="4251960" cy="457200"/>
          </a:xfrm>
          <a:prstGeom prst="roundRect">
            <a:avLst>
              <a:gd name="adj" fmla="val 20000"/>
            </a:avLst>
          </a:prstGeom>
          <a:solidFill>
            <a:schemeClr val="accent3">
              <a:alpha val="12000"/>
            </a:scheme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360920" y="443484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✓ </a:t>
            </a:r>
            <a:r>
              <a:rPr lang="en-US" sz="1700" i="1" dirty="0">
                <a:solidFill>
                  <a:schemeClr val="tx1"/>
                </a:solidFill>
              </a:rPr>
              <a:t>wandelen</a:t>
            </a:r>
            <a:endParaRPr lang="en-US" sz="1700" dirty="0"/>
          </a:p>
        </p:txBody>
      </p:sp>
      <p:sp>
        <p:nvSpPr>
          <p:cNvPr id="32" name="Text 29"/>
          <p:cNvSpPr txBox="1"/>
          <p:nvPr/>
        </p:nvSpPr>
        <p:spPr>
          <a:xfrm>
            <a:off x="868680" y="4983480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« se passer »</a:t>
            </a:r>
            <a:endParaRPr lang="en-US" sz="1700" dirty="0"/>
          </a:p>
        </p:txBody>
      </p:sp>
      <p:sp>
        <p:nvSpPr>
          <p:cNvPr id="33" name="Text 30"/>
          <p:cNvSpPr txBox="1"/>
          <p:nvPr/>
        </p:nvSpPr>
        <p:spPr>
          <a:xfrm>
            <a:off x="3657600" y="4983480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✗ </a:t>
            </a:r>
            <a:r>
              <a:rPr lang="en-US" sz="1500" i="1" strike="sngStrike" dirty="0">
                <a:solidFill>
                  <a:schemeClr val="accent6"/>
                </a:solidFill>
              </a:rPr>
              <a:t>zich passeren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6812280" y="5239512"/>
            <a:ext cx="365760" cy="914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35" name="Shape 32"/>
          <p:cNvSpPr/>
          <p:nvPr/>
        </p:nvSpPr>
        <p:spPr>
          <a:xfrm>
            <a:off x="7223760" y="5010912"/>
            <a:ext cx="4251960" cy="457200"/>
          </a:xfrm>
          <a:prstGeom prst="roundRect">
            <a:avLst>
              <a:gd name="adj" fmla="val 20000"/>
            </a:avLst>
          </a:prstGeom>
          <a:solidFill>
            <a:schemeClr val="accent3">
              <a:alpha val="12000"/>
            </a:scheme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360920" y="501091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✓ </a:t>
            </a:r>
            <a:r>
              <a:rPr lang="en-US" sz="1700" i="1" dirty="0">
                <a:solidFill>
                  <a:schemeClr val="tx1"/>
                </a:solidFill>
              </a:rPr>
              <a:t>gebeuren — Wat is er gebeurd?</a:t>
            </a:r>
            <a:endParaRPr lang="en-US" sz="1700" dirty="0"/>
          </a:p>
        </p:txBody>
      </p:sp>
      <p:sp>
        <p:nvSpPr>
          <p:cNvPr id="37" name="Shape 34"/>
          <p:cNvSpPr/>
          <p:nvPr/>
        </p:nvSpPr>
        <p:spPr>
          <a:xfrm>
            <a:off x="548640" y="5715000"/>
            <a:ext cx="11091672" cy="566928"/>
          </a:xfrm>
          <a:prstGeom prst="roundRect">
            <a:avLst>
              <a:gd name="adj" fmla="val 12903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822960" y="571500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Erreur fréquente : ✗ </a:t>
            </a:r>
            <a:r>
              <a:rPr lang="en-US" sz="1600" i="1" strike="sngStrike" dirty="0">
                <a:solidFill>
                  <a:schemeClr val="accent6"/>
                </a:solidFill>
              </a:rPr>
              <a:t>Ik noem me Lotte</a:t>
            </a:r>
            <a:r>
              <a:rPr lang="en-US" sz="1600" dirty="0">
                <a:solidFill>
                  <a:schemeClr val="bg1"/>
                </a:solidFill>
              </a:rPr>
              <a:t> → ✓ </a:t>
            </a:r>
            <a:r>
              <a:rPr lang="en-US" sz="1600" i="1" dirty="0">
                <a:solidFill>
                  <a:schemeClr val="bg1"/>
                </a:solidFill>
              </a:rPr>
              <a:t>Ik heet Lotte.</a:t>
            </a:r>
            <a:r>
              <a:rPr lang="en-US" sz="1600" dirty="0">
                <a:solidFill>
                  <a:schemeClr val="bg1"/>
                </a:solidFill>
              </a:rPr>
              <a:t> · </a:t>
            </a:r>
            <a:r>
              <a:rPr lang="en-US" sz="1600" i="1" dirty="0">
                <a:solidFill>
                  <a:schemeClr val="bg1"/>
                </a:solidFill>
              </a:rPr>
              <a:t>zich</a:t>
            </a:r>
            <a:r>
              <a:rPr lang="en-US" sz="1600" dirty="0">
                <a:solidFill>
                  <a:schemeClr val="bg1"/>
                </a:solidFill>
              </a:rPr>
              <a:t> seulement si le verbe néerlandais l’exige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Les verbes réfléchis du quotidien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52651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VOCABULAIRE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2649474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6" name="Image 0" descr="woman raising ha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856232"/>
            <a:ext cx="566928" cy="56692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325880" y="1664208"/>
            <a:ext cx="178079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zich</a:t>
            </a:r>
            <a:r>
              <a:rPr lang="en-US" sz="1600" dirty="0">
                <a:solidFill>
                  <a:schemeClr val="tx1"/>
                </a:solidFill>
              </a:rPr>
              <a:t> voorstellen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1325880" y="2322576"/>
            <a:ext cx="178079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se présenter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3362706" y="1554480"/>
            <a:ext cx="2649474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10" name="Image 1" descr="thought ballo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2434" y="1856232"/>
            <a:ext cx="566928" cy="56692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139946" y="1664208"/>
            <a:ext cx="178079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zich</a:t>
            </a:r>
            <a:r>
              <a:rPr lang="en-US" sz="1600" dirty="0">
                <a:solidFill>
                  <a:schemeClr val="tx1"/>
                </a:solidFill>
              </a:rPr>
              <a:t> herinneren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4139946" y="2322576"/>
            <a:ext cx="178079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se souvenir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6176772" y="1554480"/>
            <a:ext cx="2649474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14" name="Image 2" descr="face with hand over mout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856232"/>
            <a:ext cx="566928" cy="56692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954012" y="1664208"/>
            <a:ext cx="178079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zich</a:t>
            </a:r>
            <a:r>
              <a:rPr lang="en-US" sz="1600" dirty="0">
                <a:solidFill>
                  <a:schemeClr val="tx1"/>
                </a:solidFill>
              </a:rPr>
              <a:t> vergissen</a:t>
            </a:r>
            <a:endParaRPr lang="en-US" sz="1600" dirty="0"/>
          </a:p>
        </p:txBody>
      </p:sp>
      <p:sp>
        <p:nvSpPr>
          <p:cNvPr id="16" name="Text 10"/>
          <p:cNvSpPr txBox="1"/>
          <p:nvPr/>
        </p:nvSpPr>
        <p:spPr>
          <a:xfrm>
            <a:off x="6954012" y="2322576"/>
            <a:ext cx="178079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se tromper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8990838" y="1554480"/>
            <a:ext cx="2649474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18" name="Image 3" descr="person runni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0566" y="1856232"/>
            <a:ext cx="566928" cy="566928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9768078" y="1664208"/>
            <a:ext cx="178079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zich</a:t>
            </a:r>
            <a:r>
              <a:rPr lang="en-US" sz="1600" dirty="0">
                <a:solidFill>
                  <a:schemeClr val="tx1"/>
                </a:solidFill>
              </a:rPr>
              <a:t> haasten</a:t>
            </a:r>
            <a:endParaRPr lang="en-US" sz="1600" dirty="0"/>
          </a:p>
        </p:txBody>
      </p:sp>
      <p:sp>
        <p:nvSpPr>
          <p:cNvPr id="20" name="Text 13"/>
          <p:cNvSpPr txBox="1"/>
          <p:nvPr/>
        </p:nvSpPr>
        <p:spPr>
          <a:xfrm>
            <a:off x="9768078" y="2322576"/>
            <a:ext cx="178079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se dépêcher</a:t>
            </a:r>
            <a:endParaRPr lang="en-US" sz="1400" dirty="0"/>
          </a:p>
        </p:txBody>
      </p:sp>
      <p:sp>
        <p:nvSpPr>
          <p:cNvPr id="21" name="Shape 14"/>
          <p:cNvSpPr/>
          <p:nvPr/>
        </p:nvSpPr>
        <p:spPr>
          <a:xfrm>
            <a:off x="548640" y="2880360"/>
            <a:ext cx="2649474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22" name="Image 4" descr="face with thermomete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182112"/>
            <a:ext cx="566928" cy="566928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1325880" y="2990088"/>
            <a:ext cx="178079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zich</a:t>
            </a:r>
            <a:r>
              <a:rPr lang="en-US" sz="1600" dirty="0">
                <a:solidFill>
                  <a:schemeClr val="tx1"/>
                </a:solidFill>
              </a:rPr>
              <a:t> voelen</a:t>
            </a:r>
            <a:endParaRPr lang="en-US" sz="1600" dirty="0"/>
          </a:p>
        </p:txBody>
      </p:sp>
      <p:sp>
        <p:nvSpPr>
          <p:cNvPr id="24" name="Text 16"/>
          <p:cNvSpPr txBox="1"/>
          <p:nvPr/>
        </p:nvSpPr>
        <p:spPr>
          <a:xfrm>
            <a:off x="1325880" y="3648456"/>
            <a:ext cx="178079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se sentir</a:t>
            </a:r>
            <a:endParaRPr lang="en-US" sz="1400" dirty="0"/>
          </a:p>
        </p:txBody>
      </p:sp>
      <p:sp>
        <p:nvSpPr>
          <p:cNvPr id="25" name="Shape 17"/>
          <p:cNvSpPr/>
          <p:nvPr/>
        </p:nvSpPr>
        <p:spPr>
          <a:xfrm>
            <a:off x="3362706" y="2880360"/>
            <a:ext cx="2649474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26" name="Image 5" descr="t shir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2434" y="3182112"/>
            <a:ext cx="566928" cy="566928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4139946" y="2990088"/>
            <a:ext cx="178079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zich</a:t>
            </a:r>
            <a:r>
              <a:rPr lang="en-US" sz="1600" dirty="0">
                <a:solidFill>
                  <a:schemeClr val="tx1"/>
                </a:solidFill>
              </a:rPr>
              <a:t> aankleden</a:t>
            </a:r>
            <a:endParaRPr lang="en-US" sz="1600" dirty="0"/>
          </a:p>
        </p:txBody>
      </p:sp>
      <p:sp>
        <p:nvSpPr>
          <p:cNvPr id="28" name="Text 19"/>
          <p:cNvSpPr txBox="1"/>
          <p:nvPr/>
        </p:nvSpPr>
        <p:spPr>
          <a:xfrm>
            <a:off x="4139946" y="3648456"/>
            <a:ext cx="178079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s’habiller</a:t>
            </a:r>
            <a:endParaRPr lang="en-US" sz="1400" dirty="0"/>
          </a:p>
        </p:txBody>
      </p:sp>
      <p:sp>
        <p:nvSpPr>
          <p:cNvPr id="29" name="Shape 20"/>
          <p:cNvSpPr/>
          <p:nvPr/>
        </p:nvSpPr>
        <p:spPr>
          <a:xfrm>
            <a:off x="6176772" y="2880360"/>
            <a:ext cx="2649474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30" name="Image 6" descr="yawning fac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3182112"/>
            <a:ext cx="566928" cy="566928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6954012" y="2990088"/>
            <a:ext cx="178079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zich</a:t>
            </a:r>
            <a:r>
              <a:rPr lang="en-US" sz="1600" dirty="0">
                <a:solidFill>
                  <a:schemeClr val="tx1"/>
                </a:solidFill>
              </a:rPr>
              <a:t> vervelen</a:t>
            </a:r>
            <a:endParaRPr lang="en-US" sz="1600" dirty="0"/>
          </a:p>
        </p:txBody>
      </p:sp>
      <p:sp>
        <p:nvSpPr>
          <p:cNvPr id="32" name="Text 22"/>
          <p:cNvSpPr txBox="1"/>
          <p:nvPr/>
        </p:nvSpPr>
        <p:spPr>
          <a:xfrm>
            <a:off x="6954012" y="3648456"/>
            <a:ext cx="178079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s’ennuyer</a:t>
            </a:r>
            <a:endParaRPr lang="en-US" sz="1400" dirty="0"/>
          </a:p>
        </p:txBody>
      </p:sp>
      <p:sp>
        <p:nvSpPr>
          <p:cNvPr id="33" name="Shape 23"/>
          <p:cNvSpPr/>
          <p:nvPr/>
        </p:nvSpPr>
        <p:spPr>
          <a:xfrm>
            <a:off x="8990838" y="2880360"/>
            <a:ext cx="2649474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34" name="Image 7" descr="worried face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00566" y="3182112"/>
            <a:ext cx="566928" cy="566928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9768078" y="2990088"/>
            <a:ext cx="178079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zich</a:t>
            </a:r>
            <a:r>
              <a:rPr lang="en-US" sz="1600" dirty="0">
                <a:solidFill>
                  <a:schemeClr val="tx1"/>
                </a:solidFill>
              </a:rPr>
              <a:t> zorgen maken</a:t>
            </a:r>
            <a:endParaRPr lang="en-US" sz="1600" dirty="0"/>
          </a:p>
        </p:txBody>
      </p:sp>
      <p:sp>
        <p:nvSpPr>
          <p:cNvPr id="36" name="Text 25"/>
          <p:cNvSpPr txBox="1"/>
          <p:nvPr/>
        </p:nvSpPr>
        <p:spPr>
          <a:xfrm>
            <a:off x="9768078" y="3648456"/>
            <a:ext cx="178079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s’inquiéter</a:t>
            </a:r>
            <a:endParaRPr lang="en-US" sz="1400" dirty="0"/>
          </a:p>
        </p:txBody>
      </p:sp>
      <p:sp>
        <p:nvSpPr>
          <p:cNvPr id="37" name="Shape 26"/>
          <p:cNvSpPr/>
          <p:nvPr/>
        </p:nvSpPr>
        <p:spPr>
          <a:xfrm>
            <a:off x="548640" y="4206240"/>
            <a:ext cx="2649474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38" name="Image 8" descr="writing hand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368" y="4507992"/>
            <a:ext cx="566928" cy="566928"/>
          </a:xfrm>
          <a:prstGeom prst="rect">
            <a:avLst/>
          </a:prstGeom>
        </p:spPr>
      </p:pic>
      <p:sp>
        <p:nvSpPr>
          <p:cNvPr id="39" name="Text 27"/>
          <p:cNvSpPr txBox="1"/>
          <p:nvPr/>
        </p:nvSpPr>
        <p:spPr>
          <a:xfrm>
            <a:off x="1325880" y="4315968"/>
            <a:ext cx="178079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zich</a:t>
            </a:r>
            <a:r>
              <a:rPr lang="en-US" sz="1600" dirty="0">
                <a:solidFill>
                  <a:schemeClr val="tx1"/>
                </a:solidFill>
              </a:rPr>
              <a:t> inschrijven</a:t>
            </a:r>
            <a:endParaRPr lang="en-US" sz="1600" dirty="0"/>
          </a:p>
        </p:txBody>
      </p:sp>
      <p:sp>
        <p:nvSpPr>
          <p:cNvPr id="40" name="Text 28"/>
          <p:cNvSpPr txBox="1"/>
          <p:nvPr/>
        </p:nvSpPr>
        <p:spPr>
          <a:xfrm>
            <a:off x="1325880" y="4974336"/>
            <a:ext cx="178079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s’inscrire</a:t>
            </a:r>
            <a:endParaRPr lang="en-US" sz="1400" dirty="0"/>
          </a:p>
        </p:txBody>
      </p:sp>
      <p:sp>
        <p:nvSpPr>
          <p:cNvPr id="41" name="Shape 29"/>
          <p:cNvSpPr/>
          <p:nvPr/>
        </p:nvSpPr>
        <p:spPr>
          <a:xfrm>
            <a:off x="3362706" y="4206240"/>
            <a:ext cx="2649474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42" name="Image 9" descr="bullseye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72434" y="4507992"/>
            <a:ext cx="566928" cy="566928"/>
          </a:xfrm>
          <a:prstGeom prst="rect">
            <a:avLst/>
          </a:prstGeom>
        </p:spPr>
      </p:pic>
      <p:sp>
        <p:nvSpPr>
          <p:cNvPr id="43" name="Text 30"/>
          <p:cNvSpPr txBox="1"/>
          <p:nvPr/>
        </p:nvSpPr>
        <p:spPr>
          <a:xfrm>
            <a:off x="4139946" y="4315968"/>
            <a:ext cx="178079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zich</a:t>
            </a:r>
            <a:r>
              <a:rPr lang="en-US" sz="1600" dirty="0">
                <a:solidFill>
                  <a:schemeClr val="tx1"/>
                </a:solidFill>
              </a:rPr>
              <a:t> concentreren</a:t>
            </a:r>
            <a:endParaRPr lang="en-US" sz="1600" dirty="0"/>
          </a:p>
        </p:txBody>
      </p:sp>
      <p:sp>
        <p:nvSpPr>
          <p:cNvPr id="44" name="Text 31"/>
          <p:cNvSpPr txBox="1"/>
          <p:nvPr/>
        </p:nvSpPr>
        <p:spPr>
          <a:xfrm>
            <a:off x="4139946" y="4974336"/>
            <a:ext cx="178079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se concentrer</a:t>
            </a:r>
            <a:endParaRPr lang="en-US" sz="1400" dirty="0"/>
          </a:p>
        </p:txBody>
      </p:sp>
      <p:sp>
        <p:nvSpPr>
          <p:cNvPr id="45" name="Shape 32"/>
          <p:cNvSpPr/>
          <p:nvPr/>
        </p:nvSpPr>
        <p:spPr>
          <a:xfrm>
            <a:off x="6176772" y="4206240"/>
            <a:ext cx="2649474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46" name="Image 10" descr="thinking face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86500" y="4507992"/>
            <a:ext cx="566928" cy="566928"/>
          </a:xfrm>
          <a:prstGeom prst="rect">
            <a:avLst/>
          </a:prstGeom>
        </p:spPr>
      </p:pic>
      <p:sp>
        <p:nvSpPr>
          <p:cNvPr id="47" name="Text 33"/>
          <p:cNvSpPr txBox="1"/>
          <p:nvPr/>
        </p:nvSpPr>
        <p:spPr>
          <a:xfrm>
            <a:off x="6954012" y="4315968"/>
            <a:ext cx="178079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zich</a:t>
            </a:r>
            <a:r>
              <a:rPr lang="en-US" sz="1600" dirty="0">
                <a:solidFill>
                  <a:schemeClr val="tx1"/>
                </a:solidFill>
              </a:rPr>
              <a:t> afvragen</a:t>
            </a:r>
            <a:endParaRPr lang="en-US" sz="1600" dirty="0"/>
          </a:p>
        </p:txBody>
      </p:sp>
      <p:sp>
        <p:nvSpPr>
          <p:cNvPr id="48" name="Text 34"/>
          <p:cNvSpPr txBox="1"/>
          <p:nvPr/>
        </p:nvSpPr>
        <p:spPr>
          <a:xfrm>
            <a:off x="6954012" y="4974336"/>
            <a:ext cx="178079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se demander</a:t>
            </a:r>
            <a:endParaRPr lang="en-US" sz="1400" dirty="0"/>
          </a:p>
        </p:txBody>
      </p:sp>
      <p:sp>
        <p:nvSpPr>
          <p:cNvPr id="49" name="Shape 35"/>
          <p:cNvSpPr/>
          <p:nvPr/>
        </p:nvSpPr>
        <p:spPr>
          <a:xfrm>
            <a:off x="8990838" y="4206240"/>
            <a:ext cx="2649474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50" name="Image 11" descr="folded hands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00566" y="4507992"/>
            <a:ext cx="566928" cy="566928"/>
          </a:xfrm>
          <a:prstGeom prst="rect">
            <a:avLst/>
          </a:prstGeom>
        </p:spPr>
      </p:pic>
      <p:sp>
        <p:nvSpPr>
          <p:cNvPr id="51" name="Text 36"/>
          <p:cNvSpPr txBox="1"/>
          <p:nvPr/>
        </p:nvSpPr>
        <p:spPr>
          <a:xfrm>
            <a:off x="9768078" y="4315968"/>
            <a:ext cx="178079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zich</a:t>
            </a:r>
            <a:r>
              <a:rPr lang="en-US" sz="1600" dirty="0">
                <a:solidFill>
                  <a:schemeClr val="tx1"/>
                </a:solidFill>
              </a:rPr>
              <a:t> verontschuldigen</a:t>
            </a:r>
            <a:endParaRPr lang="en-US" sz="1600" dirty="0"/>
          </a:p>
        </p:txBody>
      </p:sp>
      <p:sp>
        <p:nvSpPr>
          <p:cNvPr id="52" name="Text 37"/>
          <p:cNvSpPr txBox="1"/>
          <p:nvPr/>
        </p:nvSpPr>
        <p:spPr>
          <a:xfrm>
            <a:off x="9768078" y="4974336"/>
            <a:ext cx="178079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s’excuser</a:t>
            </a:r>
            <a:endParaRPr lang="en-US" sz="1400" dirty="0"/>
          </a:p>
        </p:txBody>
      </p:sp>
      <p:sp>
        <p:nvSpPr>
          <p:cNvPr id="53" name="Shape 38"/>
          <p:cNvSpPr/>
          <p:nvPr/>
        </p:nvSpPr>
        <p:spPr>
          <a:xfrm>
            <a:off x="548640" y="5669280"/>
            <a:ext cx="11091672" cy="594360"/>
          </a:xfrm>
          <a:prstGeom prst="roundRect">
            <a:avLst>
              <a:gd name="adj" fmla="val 12308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Text 39"/>
          <p:cNvSpPr txBox="1"/>
          <p:nvPr/>
        </p:nvSpPr>
        <p:spPr>
          <a:xfrm>
            <a:off x="822960" y="56692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bg1"/>
                </a:solidFill>
              </a:rPr>
              <a:t>Ik voel me niet goed. · Ik vraag me af of… · Maak je geen zorgen! · Haast je!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La place du pronom réfléchi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36853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GRAMMAIRE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72768"/>
            <a:ext cx="577901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572768"/>
            <a:ext cx="57790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Ik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1217981" y="1572768"/>
            <a:ext cx="1359457" cy="548640"/>
          </a:xfrm>
          <a:prstGeom prst="roundRect">
            <a:avLst>
              <a:gd name="adj" fmla="val 13333"/>
            </a:avLst>
          </a:prstGeom>
          <a:solidFill>
            <a:srgbClr val="FBEDEB"/>
          </a:solidFill>
          <a:ln w="31750">
            <a:solidFill>
              <a:srgbClr val="B8322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217981" y="1572768"/>
            <a:ext cx="135945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vergis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2668878" y="1572768"/>
            <a:ext cx="880165" cy="54864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668878" y="1572768"/>
            <a:ext cx="88016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me.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548640" y="2231136"/>
            <a:ext cx="1678985" cy="548640"/>
          </a:xfrm>
          <a:prstGeom prst="roundRect">
            <a:avLst>
              <a:gd name="adj" fmla="val 13333"/>
            </a:avLst>
          </a:prstGeom>
          <a:solidFill>
            <a:srgbClr val="FBEDEB"/>
          </a:solidFill>
          <a:ln w="31750">
            <a:solidFill>
              <a:srgbClr val="B8322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2231136"/>
            <a:ext cx="167898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Herinner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2319065" y="2231136"/>
            <a:ext cx="577901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319065" y="2231136"/>
            <a:ext cx="57790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je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2988406" y="2231136"/>
            <a:ext cx="720401" cy="54864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988406" y="2231136"/>
            <a:ext cx="72040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je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3800246" y="2231136"/>
            <a:ext cx="1433779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800246" y="2231136"/>
            <a:ext cx="143377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dat nog?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548640" y="2889504"/>
            <a:ext cx="577901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48640" y="2889504"/>
            <a:ext cx="57790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Ik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1217981" y="2889504"/>
            <a:ext cx="880165" cy="548640"/>
          </a:xfrm>
          <a:prstGeom prst="roundRect">
            <a:avLst>
              <a:gd name="adj" fmla="val 13333"/>
            </a:avLst>
          </a:prstGeom>
          <a:solidFill>
            <a:srgbClr val="FBEDEB"/>
          </a:solidFill>
          <a:ln w="31750">
            <a:solidFill>
              <a:srgbClr val="B8322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217981" y="2889504"/>
            <a:ext cx="88016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heb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2189586" y="2889504"/>
            <a:ext cx="720401" cy="54864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2189586" y="2889504"/>
            <a:ext cx="72040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me</a:t>
            </a:r>
            <a:endParaRPr lang="en-US" sz="2000" dirty="0"/>
          </a:p>
        </p:txBody>
      </p:sp>
      <p:sp>
        <p:nvSpPr>
          <p:cNvPr id="25" name="Shape 22"/>
          <p:cNvSpPr/>
          <p:nvPr/>
        </p:nvSpPr>
        <p:spPr>
          <a:xfrm>
            <a:off x="3001427" y="2889504"/>
            <a:ext cx="1678985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25400">
            <a:solidFill>
              <a:srgbClr val="B83227"/>
            </a:solidFill>
            <a:prstDash val="dash"/>
          </a:ln>
        </p:spPr>
      </p:sp>
      <p:sp>
        <p:nvSpPr>
          <p:cNvPr id="26" name="Text 23"/>
          <p:cNvSpPr txBox="1"/>
          <p:nvPr/>
        </p:nvSpPr>
        <p:spPr>
          <a:xfrm>
            <a:off x="3001427" y="2889504"/>
            <a:ext cx="167898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vergist.</a:t>
            </a:r>
            <a:endParaRPr lang="en-US" sz="2000" dirty="0"/>
          </a:p>
        </p:txBody>
      </p:sp>
      <p:sp>
        <p:nvSpPr>
          <p:cNvPr id="27" name="Shape 24"/>
          <p:cNvSpPr/>
          <p:nvPr/>
        </p:nvSpPr>
        <p:spPr>
          <a:xfrm>
            <a:off x="548640" y="3547872"/>
            <a:ext cx="577901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48640" y="3547872"/>
            <a:ext cx="57790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Ik</a:t>
            </a:r>
            <a:endParaRPr lang="en-US" sz="2000" dirty="0"/>
          </a:p>
        </p:txBody>
      </p:sp>
      <p:sp>
        <p:nvSpPr>
          <p:cNvPr id="29" name="Shape 26"/>
          <p:cNvSpPr/>
          <p:nvPr/>
        </p:nvSpPr>
        <p:spPr>
          <a:xfrm>
            <a:off x="1217981" y="3547872"/>
            <a:ext cx="1039929" cy="548640"/>
          </a:xfrm>
          <a:prstGeom prst="roundRect">
            <a:avLst>
              <a:gd name="adj" fmla="val 13333"/>
            </a:avLst>
          </a:prstGeom>
          <a:solidFill>
            <a:srgbClr val="FBEDEB"/>
          </a:solidFill>
          <a:ln w="31750">
            <a:solidFill>
              <a:srgbClr val="B83227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217981" y="3547872"/>
            <a:ext cx="103992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moet</a:t>
            </a:r>
            <a:endParaRPr lang="en-US" sz="2000" dirty="0"/>
          </a:p>
        </p:txBody>
      </p:sp>
      <p:sp>
        <p:nvSpPr>
          <p:cNvPr id="31" name="Shape 28"/>
          <p:cNvSpPr/>
          <p:nvPr/>
        </p:nvSpPr>
        <p:spPr>
          <a:xfrm>
            <a:off x="2349350" y="3547872"/>
            <a:ext cx="720401" cy="54864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2349350" y="3547872"/>
            <a:ext cx="72040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me</a:t>
            </a:r>
            <a:endParaRPr lang="en-US" sz="2000" dirty="0"/>
          </a:p>
        </p:txBody>
      </p:sp>
      <p:sp>
        <p:nvSpPr>
          <p:cNvPr id="33" name="Shape 30"/>
          <p:cNvSpPr/>
          <p:nvPr/>
        </p:nvSpPr>
        <p:spPr>
          <a:xfrm>
            <a:off x="3161191" y="3547872"/>
            <a:ext cx="1678985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25400">
            <a:solidFill>
              <a:srgbClr val="B83227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3161191" y="3547872"/>
            <a:ext cx="167898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haasten.</a:t>
            </a:r>
            <a:endParaRPr lang="en-US" sz="2000" dirty="0"/>
          </a:p>
        </p:txBody>
      </p:sp>
      <p:sp>
        <p:nvSpPr>
          <p:cNvPr id="35" name="Shape 32"/>
          <p:cNvSpPr/>
          <p:nvPr/>
        </p:nvSpPr>
        <p:spPr>
          <a:xfrm>
            <a:off x="548640" y="4206240"/>
            <a:ext cx="100584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48640" y="420624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Lotte</a:t>
            </a:r>
            <a:endParaRPr lang="en-US" sz="2000" dirty="0"/>
          </a:p>
        </p:txBody>
      </p:sp>
      <p:sp>
        <p:nvSpPr>
          <p:cNvPr id="37" name="Shape 34"/>
          <p:cNvSpPr/>
          <p:nvPr/>
        </p:nvSpPr>
        <p:spPr>
          <a:xfrm>
            <a:off x="1645920" y="4206240"/>
            <a:ext cx="1199693" cy="548640"/>
          </a:xfrm>
          <a:prstGeom prst="roundRect">
            <a:avLst>
              <a:gd name="adj" fmla="val 13333"/>
            </a:avLst>
          </a:prstGeom>
          <a:solidFill>
            <a:srgbClr val="FBEDEB"/>
          </a:solidFill>
          <a:ln w="31750">
            <a:solidFill>
              <a:srgbClr val="B83227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1645920" y="4206240"/>
            <a:ext cx="119969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stelt</a:t>
            </a:r>
            <a:endParaRPr lang="en-US" sz="2000" dirty="0"/>
          </a:p>
        </p:txBody>
      </p:sp>
      <p:sp>
        <p:nvSpPr>
          <p:cNvPr id="39" name="Shape 36"/>
          <p:cNvSpPr/>
          <p:nvPr/>
        </p:nvSpPr>
        <p:spPr>
          <a:xfrm>
            <a:off x="2937053" y="4206240"/>
            <a:ext cx="1039929" cy="54864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2937053" y="4206240"/>
            <a:ext cx="103992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zich</a:t>
            </a:r>
            <a:endParaRPr lang="en-US" sz="2000" dirty="0"/>
          </a:p>
        </p:txBody>
      </p:sp>
      <p:sp>
        <p:nvSpPr>
          <p:cNvPr id="41" name="Shape 38"/>
          <p:cNvSpPr/>
          <p:nvPr/>
        </p:nvSpPr>
        <p:spPr>
          <a:xfrm>
            <a:off x="4068422" y="4206240"/>
            <a:ext cx="1199693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25400">
            <a:solidFill>
              <a:srgbClr val="B83227"/>
            </a:solidFill>
            <a:prstDash val="dash"/>
          </a:ln>
        </p:spPr>
      </p:sp>
      <p:sp>
        <p:nvSpPr>
          <p:cNvPr id="42" name="Text 39"/>
          <p:cNvSpPr txBox="1"/>
          <p:nvPr/>
        </p:nvSpPr>
        <p:spPr>
          <a:xfrm>
            <a:off x="4068422" y="4206240"/>
            <a:ext cx="119969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voor.</a:t>
            </a:r>
            <a:endParaRPr lang="en-US" sz="2000" dirty="0"/>
          </a:p>
        </p:txBody>
      </p:sp>
      <p:sp>
        <p:nvSpPr>
          <p:cNvPr id="43" name="Shape 40"/>
          <p:cNvSpPr/>
          <p:nvPr/>
        </p:nvSpPr>
        <p:spPr>
          <a:xfrm>
            <a:off x="548640" y="4864608"/>
            <a:ext cx="2004365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548640" y="4864608"/>
            <a:ext cx="200436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…, omdat hij</a:t>
            </a:r>
            <a:endParaRPr lang="en-US" sz="2000" dirty="0"/>
          </a:p>
        </p:txBody>
      </p:sp>
      <p:sp>
        <p:nvSpPr>
          <p:cNvPr id="45" name="Shape 42"/>
          <p:cNvSpPr/>
          <p:nvPr/>
        </p:nvSpPr>
        <p:spPr>
          <a:xfrm>
            <a:off x="2644445" y="4864608"/>
            <a:ext cx="1039929" cy="54864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2644445" y="4864608"/>
            <a:ext cx="103992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zich</a:t>
            </a:r>
            <a:endParaRPr lang="en-US" sz="2000" dirty="0"/>
          </a:p>
        </p:txBody>
      </p:sp>
      <p:sp>
        <p:nvSpPr>
          <p:cNvPr id="47" name="Shape 44"/>
          <p:cNvSpPr/>
          <p:nvPr/>
        </p:nvSpPr>
        <p:spPr>
          <a:xfrm>
            <a:off x="3775814" y="4864608"/>
            <a:ext cx="1576426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3775814" y="4864608"/>
            <a:ext cx="157642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niet goed</a:t>
            </a:r>
            <a:endParaRPr lang="en-US" sz="2000" dirty="0"/>
          </a:p>
        </p:txBody>
      </p:sp>
      <p:sp>
        <p:nvSpPr>
          <p:cNvPr id="49" name="Shape 46"/>
          <p:cNvSpPr/>
          <p:nvPr/>
        </p:nvSpPr>
        <p:spPr>
          <a:xfrm>
            <a:off x="5443679" y="4864608"/>
            <a:ext cx="1359457" cy="548640"/>
          </a:xfrm>
          <a:prstGeom prst="roundRect">
            <a:avLst>
              <a:gd name="adj" fmla="val 13333"/>
            </a:avLst>
          </a:prstGeom>
          <a:solidFill>
            <a:srgbClr val="FBEDEB"/>
          </a:solidFill>
          <a:ln w="31750">
            <a:solidFill>
              <a:srgbClr val="B83227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5443679" y="4864608"/>
            <a:ext cx="135945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voelt.</a:t>
            </a:r>
            <a:endParaRPr lang="en-US" sz="2000" dirty="0"/>
          </a:p>
        </p:txBody>
      </p:sp>
      <p:sp>
        <p:nvSpPr>
          <p:cNvPr id="51" name="Shape 48"/>
          <p:cNvSpPr/>
          <p:nvPr/>
        </p:nvSpPr>
        <p:spPr>
          <a:xfrm>
            <a:off x="7863840" y="1572768"/>
            <a:ext cx="3776472" cy="3840480"/>
          </a:xfrm>
          <a:prstGeom prst="roundRect">
            <a:avLst>
              <a:gd name="adj" fmla="val 2421"/>
            </a:avLst>
          </a:prstGeom>
          <a:solidFill>
            <a:srgbClr val="EAF1F8"/>
          </a:solidFill>
          <a:ln w="19050">
            <a:solidFill>
              <a:srgbClr val="2A6FB0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8001000" y="1645920"/>
            <a:ext cx="352044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Après le verbe conjugué</a:t>
            </a:r>
            <a:r>
              <a:rPr lang="en-US" sz="1600" dirty="0">
                <a:solidFill>
                  <a:schemeClr val="tx1"/>
                </a:solidFill>
              </a:rPr>
              <a:t> (et le sujet inversé)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Passé composé : toujours </a:t>
            </a:r>
            <a:r>
              <a:rPr lang="en-US" sz="1600" b="1" i="1" dirty="0">
                <a:solidFill>
                  <a:schemeClr val="tx1"/>
                </a:solidFill>
              </a:rPr>
              <a:t>hebben</a:t>
            </a:r>
            <a:r>
              <a:rPr lang="en-US" sz="1600" dirty="0">
                <a:solidFill>
                  <a:schemeClr val="tx1"/>
                </a:solidFill>
              </a:rPr>
              <a:t> — ✗ </a:t>
            </a:r>
            <a:r>
              <a:rPr lang="en-US" sz="1600" i="1" strike="sngStrike" dirty="0">
                <a:solidFill>
                  <a:schemeClr val="accent6"/>
                </a:solidFill>
              </a:rPr>
              <a:t>Ik ben me vergist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600" i="1" dirty="0">
                <a:solidFill>
                  <a:schemeClr val="tx1"/>
                </a:solidFill>
              </a:rPr>
              <a:t>Herinner je je…?</a:t>
            </a:r>
            <a:r>
              <a:rPr lang="en-US" sz="1600" dirty="0">
                <a:solidFill>
                  <a:schemeClr val="tx1"/>
                </a:solidFill>
              </a:rPr>
              <a:t> : deux </a:t>
            </a:r>
            <a:r>
              <a:rPr lang="en-US" sz="1600" i="1" dirty="0">
                <a:solidFill>
                  <a:schemeClr val="tx1"/>
                </a:solidFill>
              </a:rPr>
              <a:t>je</a:t>
            </a:r>
            <a:r>
              <a:rPr lang="en-US" sz="1600" dirty="0">
                <a:solidFill>
                  <a:schemeClr val="tx1"/>
                </a:solidFill>
              </a:rPr>
              <a:t> qui se suivent, c’est normal !</a:t>
            </a:r>
            <a:endParaRPr lang="en-US" sz="1600" dirty="0"/>
          </a:p>
        </p:txBody>
      </p:sp>
      <p:sp>
        <p:nvSpPr>
          <p:cNvPr id="53" name="Shape 50"/>
          <p:cNvSpPr/>
          <p:nvPr/>
        </p:nvSpPr>
        <p:spPr>
          <a:xfrm>
            <a:off x="548640" y="5623560"/>
            <a:ext cx="11091672" cy="621792"/>
          </a:xfrm>
          <a:prstGeom prst="roundRect">
            <a:avLst>
              <a:gd name="adj" fmla="val 11765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822960" y="5623560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Particule au bout (M11) : </a:t>
            </a:r>
            <a:r>
              <a:rPr lang="en-US" sz="1700" i="1" dirty="0">
                <a:solidFill>
                  <a:schemeClr val="bg1"/>
                </a:solidFill>
              </a:rPr>
              <a:t>Lotte stelt zich voor.</a:t>
            </a:r>
            <a:r>
              <a:rPr lang="en-US" sz="1700" dirty="0">
                <a:solidFill>
                  <a:schemeClr val="bg1"/>
                </a:solidFill>
              </a:rPr>
              <a:t> · Subordonnée : le verbe part à la fin (M9).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elkaar avec une préposition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36853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GRAMMAIRE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2635758" cy="2834640"/>
          </a:xfrm>
          <a:prstGeom prst="roundRect">
            <a:avLst>
              <a:gd name="adj" fmla="val 4163"/>
            </a:avLst>
          </a:prstGeom>
          <a:solidFill>
            <a:srgbClr val="FFFFFF"/>
          </a:solidFill>
          <a:ln w="22225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6" name="Image 0" descr="hous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7879" y="1783080"/>
            <a:ext cx="1097280" cy="10972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58368" y="3017520"/>
            <a:ext cx="241630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Ze wonen </a:t>
            </a:r>
            <a:r>
              <a:rPr lang="en-US" sz="1800" b="1" i="1" dirty="0">
                <a:solidFill>
                  <a:schemeClr val="accent1"/>
                </a:solidFill>
              </a:rPr>
              <a:t>naast elkaar</a:t>
            </a:r>
            <a:r>
              <a:rPr lang="en-US" sz="1800" i="1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3367278" y="1600200"/>
            <a:ext cx="2635758" cy="2834640"/>
          </a:xfrm>
          <a:prstGeom prst="roundRect">
            <a:avLst>
              <a:gd name="adj" fmla="val 4163"/>
            </a:avLst>
          </a:prstGeom>
          <a:solidFill>
            <a:srgbClr val="FFFFFF"/>
          </a:solidFill>
          <a:ln w="22225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9" name="Image 1" descr="handshak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6517" y="1783080"/>
            <a:ext cx="1097280" cy="109728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3477006" y="3017520"/>
            <a:ext cx="241630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We werken </a:t>
            </a:r>
            <a:r>
              <a:rPr lang="en-US" sz="1800" b="1" i="1" dirty="0">
                <a:solidFill>
                  <a:schemeClr val="accent1"/>
                </a:solidFill>
              </a:rPr>
              <a:t>met elkaar</a:t>
            </a:r>
            <a:r>
              <a:rPr lang="en-US" sz="1800" i="1" dirty="0">
                <a:solidFill>
                  <a:schemeClr val="tx1"/>
                </a:solidFill>
              </a:rPr>
              <a:t> samen.</a:t>
            </a:r>
            <a:endParaRPr lang="en-US" sz="1800" dirty="0"/>
          </a:p>
        </p:txBody>
      </p:sp>
      <p:sp>
        <p:nvSpPr>
          <p:cNvPr id="11" name="Shape 6"/>
          <p:cNvSpPr/>
          <p:nvPr/>
        </p:nvSpPr>
        <p:spPr>
          <a:xfrm>
            <a:off x="6185916" y="1600200"/>
            <a:ext cx="2635758" cy="2834640"/>
          </a:xfrm>
          <a:prstGeom prst="roundRect">
            <a:avLst>
              <a:gd name="adj" fmla="val 4163"/>
            </a:avLst>
          </a:prstGeom>
          <a:solidFill>
            <a:srgbClr val="FFFFFF"/>
          </a:solidFill>
          <a:ln w="22225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12" name="Image 2" descr="two heart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5155" y="1783080"/>
            <a:ext cx="1097280" cy="109728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6295644" y="3017520"/>
            <a:ext cx="241630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Ze houden </a:t>
            </a:r>
            <a:r>
              <a:rPr lang="en-US" sz="1800" b="1" i="1" dirty="0">
                <a:solidFill>
                  <a:schemeClr val="accent1"/>
                </a:solidFill>
              </a:rPr>
              <a:t>van elkaar</a:t>
            </a:r>
            <a:r>
              <a:rPr lang="en-US" sz="1800" i="1" dirty="0">
                <a:solidFill>
                  <a:schemeClr val="tx1"/>
                </a:solidFill>
              </a:rPr>
              <a:t>. (M27)</a:t>
            </a:r>
            <a:endParaRPr lang="en-US" sz="1800" dirty="0"/>
          </a:p>
        </p:txBody>
      </p:sp>
      <p:sp>
        <p:nvSpPr>
          <p:cNvPr id="14" name="Shape 8"/>
          <p:cNvSpPr/>
          <p:nvPr/>
        </p:nvSpPr>
        <p:spPr>
          <a:xfrm>
            <a:off x="9004554" y="1600200"/>
            <a:ext cx="2635758" cy="2834640"/>
          </a:xfrm>
          <a:prstGeom prst="roundRect">
            <a:avLst>
              <a:gd name="adj" fmla="val 4163"/>
            </a:avLst>
          </a:prstGeom>
          <a:solidFill>
            <a:srgbClr val="FFFFFF"/>
          </a:solidFill>
          <a:ln w="22225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15" name="Image 3" descr="hourglass not do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3793" y="1783080"/>
            <a:ext cx="1097280" cy="109728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9114282" y="3017520"/>
            <a:ext cx="241630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We wachten </a:t>
            </a:r>
            <a:r>
              <a:rPr lang="en-US" sz="1800" b="1" i="1" dirty="0">
                <a:solidFill>
                  <a:schemeClr val="accent1"/>
                </a:solidFill>
              </a:rPr>
              <a:t>op elkaar</a:t>
            </a:r>
            <a:r>
              <a:rPr lang="en-US" sz="1800" i="1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17" name="Shape 10"/>
          <p:cNvSpPr/>
          <p:nvPr/>
        </p:nvSpPr>
        <p:spPr>
          <a:xfrm>
            <a:off x="548640" y="4617720"/>
            <a:ext cx="11091672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8" name="Text 11"/>
          <p:cNvSpPr txBox="1"/>
          <p:nvPr/>
        </p:nvSpPr>
        <p:spPr>
          <a:xfrm>
            <a:off x="777240" y="461772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Le français dit « l’un à côté de l’autre, ensemble, l’un l’autre » : le néerlandais dit toujours </a:t>
            </a:r>
            <a:r>
              <a:rPr lang="en-US" sz="1700" i="1" dirty="0">
                <a:solidFill>
                  <a:schemeClr val="tx1"/>
                </a:solidFill>
              </a:rPr>
              <a:t>elkaar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19" name="Shape 12"/>
          <p:cNvSpPr/>
          <p:nvPr/>
        </p:nvSpPr>
        <p:spPr>
          <a:xfrm>
            <a:off x="548640" y="5577840"/>
            <a:ext cx="11091672" cy="658368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3"/>
          <p:cNvSpPr txBox="1"/>
          <p:nvPr/>
        </p:nvSpPr>
        <p:spPr>
          <a:xfrm>
            <a:off x="822960" y="5577840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Pas de </a:t>
            </a:r>
            <a:r>
              <a:rPr lang="en-US" sz="1700" i="1" dirty="0">
                <a:solidFill>
                  <a:schemeClr val="bg1"/>
                </a:solidFill>
              </a:rPr>
              <a:t>er</a:t>
            </a:r>
            <a:r>
              <a:rPr lang="en-US" sz="1700" dirty="0">
                <a:solidFill>
                  <a:schemeClr val="bg1"/>
                </a:solidFill>
              </a:rPr>
              <a:t> (M23) : </a:t>
            </a:r>
            <a:r>
              <a:rPr lang="en-US" sz="1700" i="1" dirty="0">
                <a:solidFill>
                  <a:schemeClr val="bg1"/>
                </a:solidFill>
              </a:rPr>
              <a:t>elkaar</a:t>
            </a:r>
            <a:r>
              <a:rPr lang="en-US" sz="1700" dirty="0">
                <a:solidFill>
                  <a:schemeClr val="bg1"/>
                </a:solidFill>
              </a:rPr>
              <a:t> = des personnes · </a:t>
            </a:r>
            <a:r>
              <a:rPr lang="en-US" sz="1700" i="1" dirty="0">
                <a:solidFill>
                  <a:schemeClr val="bg1"/>
                </a:solidFill>
              </a:rPr>
              <a:t>met elkaar praten</a:t>
            </a:r>
            <a:r>
              <a:rPr lang="en-US" sz="1700" dirty="0">
                <a:solidFill>
                  <a:schemeClr val="bg1"/>
                </a:solidFill>
              </a:rPr>
              <a:t> (se parler) · </a:t>
            </a:r>
            <a:r>
              <a:rPr lang="en-US" sz="1700" i="1" dirty="0">
                <a:solidFill>
                  <a:schemeClr val="bg1"/>
                </a:solidFill>
              </a:rPr>
              <a:t>van elkaar leren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PIÈGE : un « se », deux sens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878178" cy="310896"/>
          </a:xfrm>
          <a:prstGeom prst="roundRect">
            <a:avLst>
              <a:gd name="adj" fmla="val 14706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PIÈGE FR ≠ NL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11091672" cy="4023360"/>
          </a:xfrm>
          <a:prstGeom prst="roundRect">
            <a:avLst>
              <a:gd name="adj" fmla="val 1818"/>
            </a:avLst>
          </a:prstGeom>
          <a:solidFill>
            <a:schemeClr val="accent6">
              <a:alpha val="6000"/>
            </a:schemeClr>
          </a:solidFill>
          <a:ln w="12700">
            <a:solidFill>
              <a:srgbClr val="B83227">
                <a:alpha val="60000"/>
              </a:srgbClr>
            </a:solidFill>
            <a:prstDash val="solid"/>
          </a:ln>
        </p:spPr>
      </p:sp>
      <p:sp>
        <p:nvSpPr>
          <p:cNvPr id="6" name="tag"/>
          <p:cNvSpPr/>
          <p:nvPr/>
        </p:nvSpPr>
        <p:spPr>
          <a:xfrm>
            <a:off x="731520" y="1691640"/>
            <a:ext cx="1230782" cy="292608"/>
          </a:xfrm>
          <a:prstGeom prst="roundRect">
            <a:avLst>
              <a:gd name="adj" fmla="val 15625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⚠ PIÈGE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103120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« Nous nous connaissons »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669280" y="2404872"/>
            <a:ext cx="365760" cy="914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6080760" y="2139696"/>
            <a:ext cx="4206240" cy="530352"/>
          </a:xfrm>
          <a:prstGeom prst="roundRect">
            <a:avLst>
              <a:gd name="adj" fmla="val 17241"/>
            </a:avLst>
          </a:prstGeom>
          <a:solidFill>
            <a:schemeClr val="accent3">
              <a:alpha val="12000"/>
            </a:scheme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217920" y="2139696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✓ </a:t>
            </a:r>
            <a:r>
              <a:rPr lang="en-US" sz="1800" i="1" dirty="0">
                <a:solidFill>
                  <a:schemeClr val="tx1"/>
                </a:solidFill>
              </a:rPr>
              <a:t>We kennen </a:t>
            </a:r>
            <a:r>
              <a:rPr lang="en-US" sz="1800" b="1" i="1" dirty="0">
                <a:solidFill>
                  <a:schemeClr val="accent1"/>
                </a:solidFill>
              </a:rPr>
              <a:t>elkaar</a:t>
            </a:r>
            <a:r>
              <a:rPr lang="en-US" sz="1800" i="1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11" name="tag"/>
          <p:cNvSpPr/>
          <p:nvPr/>
        </p:nvSpPr>
        <p:spPr>
          <a:xfrm>
            <a:off x="10387584" y="2258568"/>
            <a:ext cx="1175004" cy="292608"/>
          </a:xfrm>
          <a:prstGeom prst="roundRect">
            <a:avLst>
              <a:gd name="adj" fmla="val 1562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ping-pong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2788920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« Ils se lavent »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5669280" y="3090672"/>
            <a:ext cx="365760" cy="914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6080760" y="2825496"/>
            <a:ext cx="4206240" cy="530352"/>
          </a:xfrm>
          <a:prstGeom prst="roundRect">
            <a:avLst>
              <a:gd name="adj" fmla="val 17241"/>
            </a:avLst>
          </a:prstGeom>
          <a:solidFill>
            <a:schemeClr val="accent3">
              <a:alpha val="12000"/>
            </a:scheme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217920" y="2825496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✓ </a:t>
            </a:r>
            <a:r>
              <a:rPr lang="en-US" sz="1800" i="1" dirty="0">
                <a:solidFill>
                  <a:schemeClr val="tx1"/>
                </a:solidFill>
              </a:rPr>
              <a:t>Ze wassen </a:t>
            </a:r>
            <a:r>
              <a:rPr lang="en-US" sz="1800" b="1" i="1" dirty="0">
                <a:solidFill>
                  <a:schemeClr val="accent2"/>
                </a:solidFill>
              </a:rPr>
              <a:t>zich</a:t>
            </a:r>
            <a:r>
              <a:rPr lang="en-US" sz="1800" i="1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16" name="tag"/>
          <p:cNvSpPr/>
          <p:nvPr/>
        </p:nvSpPr>
        <p:spPr>
          <a:xfrm>
            <a:off x="10387584" y="2944368"/>
            <a:ext cx="905256" cy="292608"/>
          </a:xfrm>
          <a:prstGeom prst="roundRect">
            <a:avLst>
              <a:gd name="adj" fmla="val 15625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miroir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868680" y="3474720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« Ils se regardent » (dans le miroir)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5669280" y="3776472"/>
            <a:ext cx="365760" cy="914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6080760" y="3511296"/>
            <a:ext cx="4206240" cy="530352"/>
          </a:xfrm>
          <a:prstGeom prst="roundRect">
            <a:avLst>
              <a:gd name="adj" fmla="val 17241"/>
            </a:avLst>
          </a:prstGeom>
          <a:solidFill>
            <a:schemeClr val="accent3">
              <a:alpha val="12000"/>
            </a:scheme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217920" y="3511296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✓ </a:t>
            </a:r>
            <a:r>
              <a:rPr lang="en-US" sz="1800" i="1" dirty="0">
                <a:solidFill>
                  <a:schemeClr val="tx1"/>
                </a:solidFill>
              </a:rPr>
              <a:t>Ze kijken naar </a:t>
            </a:r>
            <a:r>
              <a:rPr lang="en-US" sz="1800" b="1" i="1" dirty="0">
                <a:solidFill>
                  <a:schemeClr val="accent2"/>
                </a:solidFill>
              </a:rPr>
              <a:t>zichzelf</a:t>
            </a:r>
            <a:r>
              <a:rPr lang="en-US" sz="1800" i="1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21" name="tag"/>
          <p:cNvSpPr/>
          <p:nvPr/>
        </p:nvSpPr>
        <p:spPr>
          <a:xfrm>
            <a:off x="10387584" y="3630168"/>
            <a:ext cx="905256" cy="292608"/>
          </a:xfrm>
          <a:prstGeom prst="roundRect">
            <a:avLst>
              <a:gd name="adj" fmla="val 15625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miroir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868680" y="4160520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« Ils se regardent » (l’un l’autre)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5669280" y="4462272"/>
            <a:ext cx="365760" cy="914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6080760" y="4197096"/>
            <a:ext cx="4206240" cy="530352"/>
          </a:xfrm>
          <a:prstGeom prst="roundRect">
            <a:avLst>
              <a:gd name="adj" fmla="val 17241"/>
            </a:avLst>
          </a:prstGeom>
          <a:solidFill>
            <a:schemeClr val="accent3">
              <a:alpha val="12000"/>
            </a:scheme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217920" y="4197096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✓ </a:t>
            </a:r>
            <a:r>
              <a:rPr lang="en-US" sz="1800" i="1" dirty="0">
                <a:solidFill>
                  <a:schemeClr val="tx1"/>
                </a:solidFill>
              </a:rPr>
              <a:t>Ze kijken naar </a:t>
            </a:r>
            <a:r>
              <a:rPr lang="en-US" sz="1800" b="1" i="1" dirty="0">
                <a:solidFill>
                  <a:schemeClr val="accent1"/>
                </a:solidFill>
              </a:rPr>
              <a:t>elkaar</a:t>
            </a:r>
            <a:r>
              <a:rPr lang="en-US" sz="1800" i="1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26" name="tag"/>
          <p:cNvSpPr/>
          <p:nvPr/>
        </p:nvSpPr>
        <p:spPr>
          <a:xfrm>
            <a:off x="10387584" y="4315968"/>
            <a:ext cx="1175004" cy="292608"/>
          </a:xfrm>
          <a:prstGeom prst="roundRect">
            <a:avLst>
              <a:gd name="adj" fmla="val 1562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ping-pong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868680" y="4846320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« On s’appelle demain ? »</a:t>
            </a:r>
            <a:endParaRPr lang="en-US" sz="1700" dirty="0"/>
          </a:p>
        </p:txBody>
      </p:sp>
      <p:sp>
        <p:nvSpPr>
          <p:cNvPr id="28" name="Shape 25"/>
          <p:cNvSpPr/>
          <p:nvPr/>
        </p:nvSpPr>
        <p:spPr>
          <a:xfrm>
            <a:off x="5669280" y="5148072"/>
            <a:ext cx="365760" cy="914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6080760" y="4882896"/>
            <a:ext cx="4206240" cy="530352"/>
          </a:xfrm>
          <a:prstGeom prst="roundRect">
            <a:avLst>
              <a:gd name="adj" fmla="val 17241"/>
            </a:avLst>
          </a:prstGeom>
          <a:solidFill>
            <a:schemeClr val="accent3">
              <a:alpha val="12000"/>
            </a:scheme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217920" y="4882896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✓ </a:t>
            </a:r>
            <a:r>
              <a:rPr lang="en-US" sz="1800" i="1" dirty="0">
                <a:solidFill>
                  <a:schemeClr val="tx1"/>
                </a:solidFill>
              </a:rPr>
              <a:t>Bellen we </a:t>
            </a:r>
            <a:r>
              <a:rPr lang="en-US" sz="1800" b="1" i="1" dirty="0">
                <a:solidFill>
                  <a:schemeClr val="accent1"/>
                </a:solidFill>
              </a:rPr>
              <a:t>elkaar</a:t>
            </a:r>
            <a:r>
              <a:rPr lang="en-US" sz="1800" i="1" dirty="0">
                <a:solidFill>
                  <a:schemeClr val="tx1"/>
                </a:solidFill>
              </a:rPr>
              <a:t> morgen?</a:t>
            </a:r>
            <a:endParaRPr lang="en-US" sz="1800" dirty="0"/>
          </a:p>
        </p:txBody>
      </p:sp>
      <p:sp>
        <p:nvSpPr>
          <p:cNvPr id="31" name="tag"/>
          <p:cNvSpPr/>
          <p:nvPr/>
        </p:nvSpPr>
        <p:spPr>
          <a:xfrm>
            <a:off x="10387584" y="5001768"/>
            <a:ext cx="1175004" cy="292608"/>
          </a:xfrm>
          <a:prstGeom prst="roundRect">
            <a:avLst>
              <a:gd name="adj" fmla="val 1562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ping-pong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48640" y="5715000"/>
            <a:ext cx="11091672" cy="566928"/>
          </a:xfrm>
          <a:prstGeom prst="roundRect">
            <a:avLst>
              <a:gd name="adj" fmla="val 12903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22960" y="571500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Le français laisse le contexte trancher ; le néerlandais oblige à choisir.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+ APERÇU : zichzelf, mezelf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38682" cy="310896"/>
          </a:xfrm>
          <a:prstGeom prst="roundRect">
            <a:avLst>
              <a:gd name="adj" fmla="val 14706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+ APERÇU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7315200" cy="804672"/>
          </a:xfrm>
          <a:prstGeom prst="roundRect">
            <a:avLst>
              <a:gd name="adj" fmla="val 11364"/>
            </a:avLst>
          </a:prstGeom>
          <a:solidFill>
            <a:srgbClr val="EAF1F8"/>
          </a:solidFill>
          <a:ln w="15875">
            <a:solidFill>
              <a:srgbClr val="2A6FB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45920"/>
            <a:ext cx="4572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i="1" dirty="0">
                <a:solidFill>
                  <a:schemeClr val="tx1"/>
                </a:solidFill>
              </a:rPr>
              <a:t>Hij denkt alleen aan </a:t>
            </a:r>
            <a:r>
              <a:rPr lang="en-US" sz="2100" b="1" i="1" dirty="0">
                <a:solidFill>
                  <a:schemeClr val="accent2"/>
                </a:solidFill>
              </a:rPr>
              <a:t>zichzelf</a:t>
            </a:r>
            <a:r>
              <a:rPr lang="en-US" sz="2100" i="1" dirty="0">
                <a:solidFill>
                  <a:schemeClr val="tx1"/>
                </a:solidFill>
              </a:rPr>
              <a:t>.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5394960" y="1645920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à lui-même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606040"/>
            <a:ext cx="7315200" cy="804672"/>
          </a:xfrm>
          <a:prstGeom prst="roundRect">
            <a:avLst>
              <a:gd name="adj" fmla="val 11364"/>
            </a:avLst>
          </a:prstGeom>
          <a:solidFill>
            <a:srgbClr val="EAF1F8"/>
          </a:solidFill>
          <a:ln w="15875">
            <a:solidFill>
              <a:srgbClr val="2A6FB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2606040"/>
            <a:ext cx="4572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i="1" dirty="0">
                <a:solidFill>
                  <a:schemeClr val="tx1"/>
                </a:solidFill>
              </a:rPr>
              <a:t>Stel </a:t>
            </a:r>
            <a:r>
              <a:rPr lang="en-US" sz="2100" b="1" i="1" dirty="0">
                <a:solidFill>
                  <a:schemeClr val="accent2"/>
                </a:solidFill>
              </a:rPr>
              <a:t>jezelf</a:t>
            </a:r>
            <a:r>
              <a:rPr lang="en-US" sz="2100" i="1" dirty="0">
                <a:solidFill>
                  <a:schemeClr val="tx1"/>
                </a:solidFill>
              </a:rPr>
              <a:t> eens voor!</a:t>
            </a:r>
            <a:endParaRPr lang="en-US" sz="2100" dirty="0"/>
          </a:p>
        </p:txBody>
      </p:sp>
      <p:sp>
        <p:nvSpPr>
          <p:cNvPr id="10" name="Text 7"/>
          <p:cNvSpPr txBox="1"/>
          <p:nvPr/>
        </p:nvSpPr>
        <p:spPr>
          <a:xfrm>
            <a:off x="5394960" y="2606040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présente-toi donc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48640" y="3566160"/>
            <a:ext cx="7315200" cy="804672"/>
          </a:xfrm>
          <a:prstGeom prst="roundRect">
            <a:avLst>
              <a:gd name="adj" fmla="val 11364"/>
            </a:avLst>
          </a:prstGeom>
          <a:solidFill>
            <a:srgbClr val="EAF1F8"/>
          </a:solidFill>
          <a:ln w="15875">
            <a:solidFill>
              <a:srgbClr val="2A6FB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3566160"/>
            <a:ext cx="4572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i="1" dirty="0">
                <a:solidFill>
                  <a:schemeClr val="tx1"/>
                </a:solidFill>
              </a:rPr>
              <a:t>Ik ken </a:t>
            </a:r>
            <a:r>
              <a:rPr lang="en-US" sz="2100" b="1" i="1" dirty="0">
                <a:solidFill>
                  <a:schemeClr val="accent2"/>
                </a:solidFill>
              </a:rPr>
              <a:t>mezelf</a:t>
            </a:r>
            <a:r>
              <a:rPr lang="en-US" sz="2100" i="1" dirty="0">
                <a:solidFill>
                  <a:schemeClr val="tx1"/>
                </a:solidFill>
              </a:rPr>
              <a:t>.</a:t>
            </a:r>
            <a:endParaRPr lang="en-US" sz="2100" dirty="0"/>
          </a:p>
        </p:txBody>
      </p:sp>
      <p:sp>
        <p:nvSpPr>
          <p:cNvPr id="13" name="Text 10"/>
          <p:cNvSpPr txBox="1"/>
          <p:nvPr/>
        </p:nvSpPr>
        <p:spPr>
          <a:xfrm>
            <a:off x="5394960" y="3566160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je me connais (moi-même)</a:t>
            </a:r>
            <a:endParaRPr lang="en-US" sz="1500" dirty="0"/>
          </a:p>
        </p:txBody>
      </p:sp>
      <p:pic>
        <p:nvPicPr>
          <p:cNvPr id="14" name="Image 0" descr="flashl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1691640"/>
            <a:ext cx="1188720" cy="118872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8138160" y="3108960"/>
            <a:ext cx="3502152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275320" y="3108960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mezelf · jezelf · uzelf · zichzelf · onszelf</a:t>
            </a:r>
            <a:endParaRPr lang="en-US" sz="1700" dirty="0"/>
          </a:p>
        </p:txBody>
      </p:sp>
      <p:sp>
        <p:nvSpPr>
          <p:cNvPr id="17" name="Shape 13"/>
          <p:cNvSpPr/>
          <p:nvPr/>
        </p:nvSpPr>
        <p:spPr>
          <a:xfrm>
            <a:off x="548640" y="4663440"/>
            <a:ext cx="11091672" cy="731520"/>
          </a:xfrm>
          <a:prstGeom prst="roundRect">
            <a:avLst>
              <a:gd name="adj" fmla="val 12500"/>
            </a:avLst>
          </a:prstGeom>
          <a:solidFill>
            <a:srgbClr val="FDF1E6"/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777240" y="466344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≠ </a:t>
            </a:r>
            <a:r>
              <a:rPr lang="en-US" sz="1900" i="1" dirty="0">
                <a:solidFill>
                  <a:schemeClr val="tx1"/>
                </a:solidFill>
              </a:rPr>
              <a:t>zelf</a:t>
            </a:r>
            <a:r>
              <a:rPr lang="en-US" sz="1900" dirty="0">
                <a:solidFill>
                  <a:schemeClr val="tx1"/>
                </a:solidFill>
              </a:rPr>
              <a:t> seul : </a:t>
            </a:r>
            <a:r>
              <a:rPr lang="en-US" sz="1900" i="1" dirty="0">
                <a:solidFill>
                  <a:schemeClr val="tx1"/>
                </a:solidFill>
              </a:rPr>
              <a:t>Ik heb het </a:t>
            </a:r>
            <a:r>
              <a:rPr lang="en-US" sz="1900" b="1" i="1" dirty="0">
                <a:solidFill>
                  <a:schemeClr val="tx1"/>
                </a:solidFill>
              </a:rPr>
              <a:t>zelf</a:t>
            </a:r>
            <a:r>
              <a:rPr lang="en-US" sz="1900" i="1" dirty="0">
                <a:solidFill>
                  <a:schemeClr val="tx1"/>
                </a:solidFill>
              </a:rPr>
              <a:t> gedaan.</a:t>
            </a:r>
            <a:r>
              <a:rPr lang="en-US" sz="1900" dirty="0">
                <a:solidFill>
                  <a:schemeClr val="tx1"/>
                </a:solidFill>
              </a:rPr>
              <a:t> (moi-même, sans aide)</a:t>
            </a:r>
            <a:endParaRPr lang="en-US" sz="1900" dirty="0"/>
          </a:p>
        </p:txBody>
      </p:sp>
      <p:sp>
        <p:nvSpPr>
          <p:cNvPr id="19" name="Shape 15"/>
          <p:cNvSpPr/>
          <p:nvPr/>
        </p:nvSpPr>
        <p:spPr>
          <a:xfrm>
            <a:off x="548640" y="5577840"/>
            <a:ext cx="11091672" cy="658368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822960" y="5577840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À reconnaître : </a:t>
            </a:r>
            <a:r>
              <a:rPr lang="en-US" sz="1700" i="1" dirty="0">
                <a:solidFill>
                  <a:schemeClr val="bg1"/>
                </a:solidFill>
              </a:rPr>
              <a:t>-zelf</a:t>
            </a:r>
            <a:r>
              <a:rPr lang="en-US" sz="1700" dirty="0">
                <a:solidFill>
                  <a:schemeClr val="bg1"/>
                </a:solidFill>
              </a:rPr>
              <a:t> insiste, ou suit une préposition (</a:t>
            </a:r>
            <a:r>
              <a:rPr lang="en-US" sz="1700" i="1" dirty="0">
                <a:solidFill>
                  <a:schemeClr val="bg1"/>
                </a:solidFill>
              </a:rPr>
              <a:t>Hij praat over zichzelf.</a:t>
            </a:r>
            <a:r>
              <a:rPr lang="en-US" sz="1700" dirty="0">
                <a:solidFill>
                  <a:schemeClr val="bg1"/>
                </a:solidFill>
              </a:rPr>
              <a:t>)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À retenir : le miroir et le ping-pong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446581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5413248" cy="2377440"/>
          </a:xfrm>
          <a:prstGeom prst="roundRect">
            <a:avLst>
              <a:gd name="adj" fmla="val 3846"/>
            </a:avLst>
          </a:prstGeom>
          <a:solidFill>
            <a:schemeClr val="bg1"/>
          </a:solidFill>
          <a:ln w="25400">
            <a:solidFill>
              <a:srgbClr val="2A6FB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1554480"/>
            <a:ext cx="5413248" cy="502920"/>
          </a:xfrm>
          <a:prstGeom prst="roundRect">
            <a:avLst>
              <a:gd name="adj" fmla="val 18182"/>
            </a:avLst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554480"/>
            <a:ext cx="5047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zich — soi-même</a:t>
            </a:r>
            <a:endParaRPr lang="en-US" sz="1700" dirty="0"/>
          </a:p>
        </p:txBody>
      </p:sp>
      <p:pic>
        <p:nvPicPr>
          <p:cNvPr id="8" name="Image 0" descr="person stand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2194560"/>
            <a:ext cx="832104" cy="83210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531766" y="2052828"/>
            <a:ext cx="594360" cy="640080"/>
          </a:xfrm>
          <a:prstGeom prst="arc">
            <a:avLst>
              <a:gd name="adj1" fmla="val 10800000"/>
              <a:gd name="adj2" fmla="val 21600000"/>
            </a:avLst>
          </a:prstGeom>
          <a:solidFill>
            <a:srgbClr val="FFFFFF">
              <a:alpha val="0"/>
            </a:srgbClr>
          </a:solidFill>
          <a:ln w="31750">
            <a:solidFill>
              <a:srgbClr val="2A6FB0"/>
            </a:solidFill>
            <a:prstDash val="solid"/>
            <a:headEnd type="triangle"/>
          </a:ln>
        </p:spPr>
      </p:sp>
      <p:sp>
        <p:nvSpPr>
          <p:cNvPr id="10" name="Text 6"/>
          <p:cNvSpPr txBox="1"/>
          <p:nvPr/>
        </p:nvSpPr>
        <p:spPr>
          <a:xfrm>
            <a:off x="777240" y="2148840"/>
            <a:ext cx="3291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800" i="1" dirty="0">
                <a:solidFill>
                  <a:schemeClr val="tx1"/>
                </a:solidFill>
              </a:rPr>
              <a:t>me · je · u / zich · zich</a:t>
            </a:r>
            <a:endParaRPr lang="en-US" sz="18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800" i="1" dirty="0">
                <a:solidFill>
                  <a:schemeClr val="tx1"/>
                </a:solidFill>
              </a:rPr>
              <a:t>ons · je · zich</a:t>
            </a:r>
            <a:endParaRPr lang="en-US" sz="18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800" i="1" dirty="0">
                <a:solidFill>
                  <a:schemeClr val="tx1"/>
                </a:solidFill>
              </a:rPr>
              <a:t>Ik vergis </a:t>
            </a:r>
            <a:r>
              <a:rPr lang="en-US" sz="1800" b="1" i="1" dirty="0">
                <a:solidFill>
                  <a:schemeClr val="tx1"/>
                </a:solidFill>
              </a:rPr>
              <a:t>me</a:t>
            </a:r>
            <a:r>
              <a:rPr lang="en-US" sz="1800" i="1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6227064" y="1554480"/>
            <a:ext cx="5413248" cy="2377440"/>
          </a:xfrm>
          <a:prstGeom prst="roundRect">
            <a:avLst>
              <a:gd name="adj" fmla="val 3846"/>
            </a:avLst>
          </a:prstGeom>
          <a:solidFill>
            <a:schemeClr val="bg1"/>
          </a:solidFill>
          <a:ln w="25400">
            <a:solidFill>
              <a:srgbClr val="D9700F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227064" y="1554480"/>
            <a:ext cx="5413248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409944" y="1554480"/>
            <a:ext cx="5047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elkaar — l’un l’autre</a:t>
            </a:r>
            <a:endParaRPr lang="en-US" sz="1700" dirty="0"/>
          </a:p>
        </p:txBody>
      </p:sp>
      <p:pic>
        <p:nvPicPr>
          <p:cNvPr id="14" name="Image 1" descr="person stand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7504" y="2359152"/>
            <a:ext cx="653796" cy="653796"/>
          </a:xfrm>
          <a:prstGeom prst="rect">
            <a:avLst/>
          </a:prstGeom>
        </p:spPr>
      </p:pic>
      <p:pic>
        <p:nvPicPr>
          <p:cNvPr id="15" name="Image 2" descr="person standi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6788" y="2359152"/>
            <a:ext cx="653796" cy="653796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10341864" y="2501798"/>
            <a:ext cx="570586" cy="273406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17" name="Shape 11"/>
          <p:cNvSpPr/>
          <p:nvPr/>
        </p:nvSpPr>
        <p:spPr>
          <a:xfrm flipH="1">
            <a:off x="10341864" y="2501798"/>
            <a:ext cx="570586" cy="273406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18" name="Text 12"/>
          <p:cNvSpPr txBox="1"/>
          <p:nvPr/>
        </p:nvSpPr>
        <p:spPr>
          <a:xfrm>
            <a:off x="6455664" y="2148840"/>
            <a:ext cx="3291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invariable</a:t>
            </a:r>
            <a:endParaRPr lang="en-US" sz="18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800" i="1" dirty="0">
                <a:solidFill>
                  <a:schemeClr val="tx1"/>
                </a:solidFill>
              </a:rPr>
              <a:t>We zien </a:t>
            </a:r>
            <a:r>
              <a:rPr lang="en-US" sz="1800" b="1" i="1" dirty="0">
                <a:solidFill>
                  <a:schemeClr val="tx1"/>
                </a:solidFill>
              </a:rPr>
              <a:t>elkaar</a:t>
            </a:r>
            <a:r>
              <a:rPr lang="en-US" sz="1800" i="1" dirty="0">
                <a:solidFill>
                  <a:schemeClr val="tx1"/>
                </a:solidFill>
              </a:rPr>
              <a:t> morgen.</a:t>
            </a:r>
            <a:endParaRPr lang="en-US" sz="18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800" i="1" dirty="0">
                <a:solidFill>
                  <a:schemeClr val="tx1"/>
                </a:solidFill>
              </a:rPr>
              <a:t>Ze wonen </a:t>
            </a:r>
            <a:r>
              <a:rPr lang="en-US" sz="1800" b="1" i="1" dirty="0">
                <a:solidFill>
                  <a:schemeClr val="tx1"/>
                </a:solidFill>
              </a:rPr>
              <a:t>naast elkaar</a:t>
            </a:r>
            <a:r>
              <a:rPr lang="en-US" sz="1800" i="1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19" name="Shape 13"/>
          <p:cNvSpPr/>
          <p:nvPr/>
        </p:nvSpPr>
        <p:spPr>
          <a:xfrm>
            <a:off x="548640" y="4114800"/>
            <a:ext cx="11091672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777240" y="4114800"/>
            <a:ext cx="10698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Place</a:t>
            </a:r>
            <a:r>
              <a:rPr lang="en-US" sz="1800" dirty="0">
                <a:solidFill>
                  <a:schemeClr val="tx1"/>
                </a:solidFill>
              </a:rPr>
              <a:t> : après le verbe conjugué · </a:t>
            </a:r>
            <a:r>
              <a:rPr lang="en-US" sz="1800" b="1" dirty="0">
                <a:solidFill>
                  <a:schemeClr val="tx1"/>
                </a:solidFill>
              </a:rPr>
              <a:t>passé composé</a:t>
            </a:r>
            <a:r>
              <a:rPr lang="en-US" sz="1800" dirty="0">
                <a:solidFill>
                  <a:schemeClr val="tx1"/>
                </a:solidFill>
              </a:rPr>
              <a:t> avec </a:t>
            </a:r>
            <a:r>
              <a:rPr lang="en-US" sz="1800" i="1" dirty="0">
                <a:solidFill>
                  <a:schemeClr val="tx1"/>
                </a:solidFill>
              </a:rPr>
              <a:t>hebben</a:t>
            </a:r>
            <a:r>
              <a:rPr lang="en-US" sz="1800" dirty="0">
                <a:solidFill>
                  <a:schemeClr val="tx1"/>
                </a:solidFill>
              </a:rPr>
              <a:t> (</a:t>
            </a:r>
            <a:r>
              <a:rPr lang="en-US" sz="1800" i="1" dirty="0">
                <a:solidFill>
                  <a:schemeClr val="tx1"/>
                </a:solidFill>
              </a:rPr>
              <a:t>Ik heb me vergist</a:t>
            </a:r>
            <a:r>
              <a:rPr lang="en-US" sz="1800" dirty="0">
                <a:solidFill>
                  <a:schemeClr val="tx1"/>
                </a:solidFill>
              </a:rPr>
              <a:t>)</a:t>
            </a:r>
            <a:endParaRPr lang="en-US" sz="1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« se » ≠ toujours </a:t>
            </a:r>
            <a:r>
              <a:rPr lang="en-US" sz="1800" i="1" dirty="0">
                <a:solidFill>
                  <a:schemeClr val="tx1"/>
                </a:solidFill>
              </a:rPr>
              <a:t>zich</a:t>
            </a:r>
            <a:r>
              <a:rPr lang="en-US" sz="1800" dirty="0">
                <a:solidFill>
                  <a:schemeClr val="tx1"/>
                </a:solidFill>
              </a:rPr>
              <a:t> : </a:t>
            </a:r>
            <a:r>
              <a:rPr lang="en-US" sz="1800" i="1" dirty="0">
                <a:solidFill>
                  <a:schemeClr val="tx1"/>
                </a:solidFill>
              </a:rPr>
              <a:t>opstaan, heten, trouwen, gaan zitten, wandelen</a:t>
            </a:r>
            <a:endParaRPr lang="en-US" sz="1800" dirty="0"/>
          </a:p>
        </p:txBody>
      </p:sp>
      <p:pic>
        <p:nvPicPr>
          <p:cNvPr id="21" name="Image 3" descr="Camer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7120" y="960120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Oefeningen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173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JIJ NU !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548640" y="26060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" y="27432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pic>
        <p:nvPicPr>
          <p:cNvPr id="9" name="Image 0" descr="Us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3130" y="2770632"/>
            <a:ext cx="384048" cy="38404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85800" y="32644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Le bon pronom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38404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2960370" y="26060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097530" y="27432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3097530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pic>
        <p:nvPicPr>
          <p:cNvPr id="15" name="Image 1" descr="ExchangeAl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4860" y="2770632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097530" y="32644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zich ou elkaar ?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3097530" y="38404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★★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5372100" y="26060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509260" y="27432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5509260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pic>
        <p:nvPicPr>
          <p:cNvPr id="21" name="Image 2" descr="Languag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6590" y="2770632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509260" y="32644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Le faux « se »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5509260" y="38404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★★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7783830" y="26060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920990" y="27432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7920990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pic>
        <p:nvPicPr>
          <p:cNvPr id="27" name="Image 3" descr="Search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0" y="2770632"/>
            <a:ext cx="384048" cy="384048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7920990" y="32644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Le détective</a:t>
            </a:r>
            <a:endParaRPr lang="en-US" sz="1600" dirty="0"/>
          </a:p>
        </p:txBody>
      </p:sp>
      <p:sp>
        <p:nvSpPr>
          <p:cNvPr id="29" name="Text 22"/>
          <p:cNvSpPr txBox="1"/>
          <p:nvPr/>
        </p:nvSpPr>
        <p:spPr>
          <a:xfrm>
            <a:off x="7920990" y="38404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★★</a:t>
            </a:r>
            <a:endParaRPr lang="en-US" sz="1400" dirty="0"/>
          </a:p>
        </p:txBody>
      </p:sp>
      <p:sp>
        <p:nvSpPr>
          <p:cNvPr id="30" name="Shape 23"/>
          <p:cNvSpPr/>
          <p:nvPr/>
        </p:nvSpPr>
        <p:spPr>
          <a:xfrm>
            <a:off x="548640" y="44348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685800" y="45720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685800" y="4572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pic>
        <p:nvPicPr>
          <p:cNvPr id="33" name="Image 4" descr="ListOl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3130" y="4599432"/>
            <a:ext cx="384048" cy="384048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685800" y="50932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Remettez en ordre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685800" y="56692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★★</a:t>
            </a:r>
            <a:endParaRPr lang="en-US" sz="1400" dirty="0"/>
          </a:p>
        </p:txBody>
      </p:sp>
      <p:sp>
        <p:nvSpPr>
          <p:cNvPr id="36" name="Shape 28"/>
          <p:cNvSpPr/>
          <p:nvPr/>
        </p:nvSpPr>
        <p:spPr>
          <a:xfrm>
            <a:off x="2960370" y="44348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3097530" y="45720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0"/>
          <p:cNvSpPr txBox="1"/>
          <p:nvPr/>
        </p:nvSpPr>
        <p:spPr>
          <a:xfrm>
            <a:off x="3097530" y="4572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pic>
        <p:nvPicPr>
          <p:cNvPr id="39" name="Image 5" descr="TheaterMask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4860" y="4599432"/>
            <a:ext cx="384048" cy="384048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3097530" y="50932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Mime !</a:t>
            </a:r>
            <a:endParaRPr lang="en-US" sz="1600" dirty="0"/>
          </a:p>
        </p:txBody>
      </p:sp>
      <p:sp>
        <p:nvSpPr>
          <p:cNvPr id="41" name="Text 32"/>
          <p:cNvSpPr txBox="1"/>
          <p:nvPr/>
        </p:nvSpPr>
        <p:spPr>
          <a:xfrm>
            <a:off x="3097530" y="56692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</a:t>
            </a:r>
            <a:endParaRPr lang="en-US" sz="1400" dirty="0"/>
          </a:p>
        </p:txBody>
      </p:sp>
      <p:sp>
        <p:nvSpPr>
          <p:cNvPr id="42" name="Shape 33"/>
          <p:cNvSpPr/>
          <p:nvPr/>
        </p:nvSpPr>
        <p:spPr>
          <a:xfrm>
            <a:off x="5372100" y="44348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43" name="Shape 34"/>
          <p:cNvSpPr/>
          <p:nvPr/>
        </p:nvSpPr>
        <p:spPr>
          <a:xfrm>
            <a:off x="5509260" y="45720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35"/>
          <p:cNvSpPr txBox="1"/>
          <p:nvPr/>
        </p:nvSpPr>
        <p:spPr>
          <a:xfrm>
            <a:off x="5509260" y="4572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pic>
        <p:nvPicPr>
          <p:cNvPr id="45" name="Image 6" descr="Handshak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06590" y="4599432"/>
            <a:ext cx="384048" cy="384048"/>
          </a:xfrm>
          <a:prstGeom prst="rect">
            <a:avLst/>
          </a:prstGeom>
        </p:spPr>
      </p:pic>
      <p:sp>
        <p:nvSpPr>
          <p:cNvPr id="46" name="Text 36"/>
          <p:cNvSpPr txBox="1"/>
          <p:nvPr/>
        </p:nvSpPr>
        <p:spPr>
          <a:xfrm>
            <a:off x="5509260" y="50932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Le réseautage</a:t>
            </a:r>
            <a:endParaRPr lang="en-US" sz="1600" dirty="0"/>
          </a:p>
        </p:txBody>
      </p:sp>
      <p:sp>
        <p:nvSpPr>
          <p:cNvPr id="47" name="Text 37"/>
          <p:cNvSpPr txBox="1"/>
          <p:nvPr/>
        </p:nvSpPr>
        <p:spPr>
          <a:xfrm>
            <a:off x="5509260" y="56692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★★★</a:t>
            </a:r>
            <a:endParaRPr lang="en-US" sz="1400" dirty="0"/>
          </a:p>
        </p:txBody>
      </p:sp>
      <p:pic>
        <p:nvPicPr>
          <p:cNvPr id="48" name="Image 7" descr="man teacher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58400" y="3657600"/>
            <a:ext cx="1645920" cy="16459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3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1 — Le bon pronom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Complétez avec le pronom réfléchi : </a:t>
            </a:r>
            <a:r>
              <a:rPr lang="en-US" sz="1700" i="1" dirty="0">
                <a:solidFill>
                  <a:schemeClr val="accent5"/>
                </a:solidFill>
              </a:rPr>
              <a:t>me, je, u, zich, ons</a:t>
            </a:r>
            <a:r>
              <a:rPr lang="en-US" sz="1700" i="1" dirty="0">
                <a:solidFill>
                  <a:schemeClr val="accent5"/>
                </a:solidFill>
              </a:rPr>
              <a:t>.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2115312"/>
            <a:ext cx="5340096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6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1  </a:t>
            </a:r>
            <a:r>
              <a:rPr lang="en-US" sz="2200" i="1" dirty="0">
                <a:solidFill>
                  <a:schemeClr val="tx1"/>
                </a:solidFill>
              </a:rPr>
              <a:t>Ik vergis </a:t>
            </a:r>
            <a:r>
              <a:rPr lang="en-US" sz="2200" i="1" dirty="0">
                <a:solidFill>
                  <a:schemeClr val="accent5"/>
                </a:solidFill>
              </a:rPr>
              <a:t>…………</a:t>
            </a:r>
            <a:r>
              <a:rPr lang="en-US" sz="2200" i="1" dirty="0">
                <a:solidFill>
                  <a:schemeClr val="tx1"/>
                </a:solidFill>
              </a:rPr>
              <a:t>.</a:t>
            </a:r>
            <a:endParaRPr lang="en-US" sz="2200" dirty="0"/>
          </a:p>
          <a:p>
            <a:pPr indent="0" marL="0">
              <a:spcAft>
                <a:spcPts val="26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2  </a:t>
            </a:r>
            <a:r>
              <a:rPr lang="en-US" sz="2200" i="1" dirty="0">
                <a:solidFill>
                  <a:schemeClr val="tx1"/>
                </a:solidFill>
              </a:rPr>
              <a:t>Jij haast </a:t>
            </a:r>
            <a:r>
              <a:rPr lang="en-US" sz="2200" i="1" dirty="0">
                <a:solidFill>
                  <a:schemeClr val="accent5"/>
                </a:solidFill>
              </a:rPr>
              <a:t>…………</a:t>
            </a:r>
            <a:r>
              <a:rPr lang="en-US" sz="2200" i="1" dirty="0">
                <a:solidFill>
                  <a:schemeClr val="tx1"/>
                </a:solidFill>
              </a:rPr>
              <a:t>.</a:t>
            </a:r>
            <a:endParaRPr lang="en-US" sz="2200" dirty="0"/>
          </a:p>
          <a:p>
            <a:pPr indent="0" marL="0">
              <a:spcAft>
                <a:spcPts val="26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3  </a:t>
            </a:r>
            <a:r>
              <a:rPr lang="en-US" sz="2200" i="1" dirty="0">
                <a:solidFill>
                  <a:schemeClr val="tx1"/>
                </a:solidFill>
              </a:rPr>
              <a:t>Karim voelt </a:t>
            </a:r>
            <a:r>
              <a:rPr lang="en-US" sz="2200" i="1" dirty="0">
                <a:solidFill>
                  <a:schemeClr val="accent5"/>
                </a:solidFill>
              </a:rPr>
              <a:t>…………</a:t>
            </a:r>
            <a:r>
              <a:rPr lang="en-US" sz="2200" i="1" dirty="0">
                <a:solidFill>
                  <a:schemeClr val="tx1"/>
                </a:solidFill>
              </a:rPr>
              <a:t> niet goed.</a:t>
            </a:r>
            <a:endParaRPr lang="en-US" sz="2200" dirty="0"/>
          </a:p>
          <a:p>
            <a:pPr indent="0" marL="0">
              <a:spcAft>
                <a:spcPts val="26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4  </a:t>
            </a:r>
            <a:r>
              <a:rPr lang="en-US" sz="2200" i="1" dirty="0">
                <a:solidFill>
                  <a:schemeClr val="tx1"/>
                </a:solidFill>
              </a:rPr>
              <a:t>Wij schrijven </a:t>
            </a:r>
            <a:r>
              <a:rPr lang="en-US" sz="2200" i="1" dirty="0">
                <a:solidFill>
                  <a:schemeClr val="accent5"/>
                </a:solidFill>
              </a:rPr>
              <a:t>…………</a:t>
            </a:r>
            <a:r>
              <a:rPr lang="en-US" sz="2200" i="1" dirty="0">
                <a:solidFill>
                  <a:schemeClr val="tx1"/>
                </a:solidFill>
              </a:rPr>
              <a:t> in.</a:t>
            </a:r>
            <a:endParaRPr lang="en-US" sz="2200" dirty="0"/>
          </a:p>
        </p:txBody>
      </p:sp>
      <p:sp>
        <p:nvSpPr>
          <p:cNvPr id="9" name="Text 5"/>
          <p:cNvSpPr txBox="1"/>
          <p:nvPr/>
        </p:nvSpPr>
        <p:spPr>
          <a:xfrm>
            <a:off x="6300216" y="2115312"/>
            <a:ext cx="5340096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6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5  </a:t>
            </a:r>
            <a:r>
              <a:rPr lang="en-US" sz="2200" i="1" dirty="0">
                <a:solidFill>
                  <a:schemeClr val="tx1"/>
                </a:solidFill>
              </a:rPr>
              <a:t>Jullie vervelen </a:t>
            </a:r>
            <a:r>
              <a:rPr lang="en-US" sz="2200" i="1" dirty="0">
                <a:solidFill>
                  <a:schemeClr val="accent5"/>
                </a:solidFill>
              </a:rPr>
              <a:t>…………</a:t>
            </a:r>
            <a:r>
              <a:rPr lang="en-US" sz="2200" i="1" dirty="0">
                <a:solidFill>
                  <a:schemeClr val="tx1"/>
                </a:solidFill>
              </a:rPr>
              <a:t>.</a:t>
            </a:r>
            <a:endParaRPr lang="en-US" sz="2200" dirty="0"/>
          </a:p>
          <a:p>
            <a:pPr indent="0" marL="0">
              <a:spcAft>
                <a:spcPts val="26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6  </a:t>
            </a:r>
            <a:r>
              <a:rPr lang="en-US" sz="2200" i="1" dirty="0">
                <a:solidFill>
                  <a:schemeClr val="tx1"/>
                </a:solidFill>
              </a:rPr>
              <a:t>Ze maken </a:t>
            </a:r>
            <a:r>
              <a:rPr lang="en-US" sz="2200" i="1" dirty="0">
                <a:solidFill>
                  <a:schemeClr val="accent5"/>
                </a:solidFill>
              </a:rPr>
              <a:t>…………</a:t>
            </a:r>
            <a:r>
              <a:rPr lang="en-US" sz="2200" i="1" dirty="0">
                <a:solidFill>
                  <a:schemeClr val="tx1"/>
                </a:solidFill>
              </a:rPr>
              <a:t> zorgen.</a:t>
            </a:r>
            <a:endParaRPr lang="en-US" sz="2200" dirty="0"/>
          </a:p>
          <a:p>
            <a:pPr indent="0" marL="0">
              <a:spcAft>
                <a:spcPts val="26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7  </a:t>
            </a:r>
            <a:r>
              <a:rPr lang="en-US" sz="2200" i="1" dirty="0">
                <a:solidFill>
                  <a:schemeClr val="tx1"/>
                </a:solidFill>
              </a:rPr>
              <a:t>Herinnert u </a:t>
            </a:r>
            <a:r>
              <a:rPr lang="en-US" sz="2200" i="1" dirty="0">
                <a:solidFill>
                  <a:schemeClr val="accent5"/>
                </a:solidFill>
              </a:rPr>
              <a:t>…………</a:t>
            </a:r>
            <a:r>
              <a:rPr lang="en-US" sz="2200" i="1" dirty="0">
                <a:solidFill>
                  <a:schemeClr val="tx1"/>
                </a:solidFill>
              </a:rPr>
              <a:t> mijn naam?</a:t>
            </a:r>
            <a:endParaRPr lang="en-US" sz="2200" dirty="0"/>
          </a:p>
          <a:p>
            <a:pPr indent="0" marL="0">
              <a:spcAft>
                <a:spcPts val="26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8  </a:t>
            </a:r>
            <a:r>
              <a:rPr lang="en-US" sz="2200" i="1" dirty="0">
                <a:solidFill>
                  <a:schemeClr val="tx1"/>
                </a:solidFill>
              </a:rPr>
              <a:t>Lotte stelt </a:t>
            </a:r>
            <a:r>
              <a:rPr lang="en-US" sz="2200" i="1" dirty="0">
                <a:solidFill>
                  <a:schemeClr val="accent5"/>
                </a:solidFill>
              </a:rPr>
              <a:t>…………</a:t>
            </a:r>
            <a:r>
              <a:rPr lang="en-US" sz="2200" i="1" dirty="0">
                <a:solidFill>
                  <a:schemeClr val="tx1"/>
                </a:solidFill>
              </a:rPr>
              <a:t> voor.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1 — Le bon pronom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Complétez avec le pronom réfléchi : </a:t>
            </a:r>
            <a:r>
              <a:rPr lang="en-US" sz="1700" i="1" dirty="0">
                <a:solidFill>
                  <a:schemeClr val="accent5"/>
                </a:solidFill>
              </a:rPr>
              <a:t>me, je, u, zich, ons</a:t>
            </a:r>
            <a:r>
              <a:rPr lang="en-US" sz="1700" i="1" dirty="0">
                <a:solidFill>
                  <a:schemeClr val="accent5"/>
                </a:solidFill>
              </a:rPr>
              <a:t>.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2115312"/>
            <a:ext cx="5340096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6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1  </a:t>
            </a:r>
            <a:r>
              <a:rPr lang="en-US" sz="2200" i="1" dirty="0">
                <a:solidFill>
                  <a:schemeClr val="tx1"/>
                </a:solidFill>
              </a:rPr>
              <a:t>Ik vergis </a:t>
            </a:r>
            <a:r>
              <a:rPr lang="en-US" sz="2200" b="1" i="1" dirty="0">
                <a:solidFill>
                  <a:schemeClr val="accent3"/>
                </a:solidFill>
              </a:rPr>
              <a:t>me</a:t>
            </a:r>
            <a:r>
              <a:rPr lang="en-US" sz="2200" i="1" dirty="0">
                <a:solidFill>
                  <a:schemeClr val="tx1"/>
                </a:solidFill>
              </a:rPr>
              <a:t>.</a:t>
            </a:r>
            <a:endParaRPr lang="en-US" sz="2200" dirty="0"/>
          </a:p>
          <a:p>
            <a:pPr indent="0" marL="0">
              <a:spcAft>
                <a:spcPts val="26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2  </a:t>
            </a:r>
            <a:r>
              <a:rPr lang="en-US" sz="2200" i="1" dirty="0">
                <a:solidFill>
                  <a:schemeClr val="tx1"/>
                </a:solidFill>
              </a:rPr>
              <a:t>Jij haast </a:t>
            </a:r>
            <a:r>
              <a:rPr lang="en-US" sz="2200" b="1" i="1" dirty="0">
                <a:solidFill>
                  <a:schemeClr val="accent3"/>
                </a:solidFill>
              </a:rPr>
              <a:t>je</a:t>
            </a:r>
            <a:r>
              <a:rPr lang="en-US" sz="2200" i="1" dirty="0">
                <a:solidFill>
                  <a:schemeClr val="tx1"/>
                </a:solidFill>
              </a:rPr>
              <a:t>.</a:t>
            </a:r>
            <a:endParaRPr lang="en-US" sz="2200" dirty="0"/>
          </a:p>
          <a:p>
            <a:pPr indent="0" marL="0">
              <a:spcAft>
                <a:spcPts val="26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3  </a:t>
            </a:r>
            <a:r>
              <a:rPr lang="en-US" sz="2200" i="1" dirty="0">
                <a:solidFill>
                  <a:schemeClr val="tx1"/>
                </a:solidFill>
              </a:rPr>
              <a:t>Karim voelt </a:t>
            </a:r>
            <a:r>
              <a:rPr lang="en-US" sz="2200" b="1" i="1" dirty="0">
                <a:solidFill>
                  <a:schemeClr val="accent3"/>
                </a:solidFill>
              </a:rPr>
              <a:t>zich</a:t>
            </a:r>
            <a:r>
              <a:rPr lang="en-US" sz="2200" i="1" dirty="0">
                <a:solidFill>
                  <a:schemeClr val="tx1"/>
                </a:solidFill>
              </a:rPr>
              <a:t> niet goed.</a:t>
            </a:r>
            <a:endParaRPr lang="en-US" sz="2200" dirty="0"/>
          </a:p>
          <a:p>
            <a:pPr indent="0" marL="0">
              <a:spcAft>
                <a:spcPts val="26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4  </a:t>
            </a:r>
            <a:r>
              <a:rPr lang="en-US" sz="2200" i="1" dirty="0">
                <a:solidFill>
                  <a:schemeClr val="tx1"/>
                </a:solidFill>
              </a:rPr>
              <a:t>Wij schrijven </a:t>
            </a:r>
            <a:r>
              <a:rPr lang="en-US" sz="2200" b="1" i="1" dirty="0">
                <a:solidFill>
                  <a:schemeClr val="accent3"/>
                </a:solidFill>
              </a:rPr>
              <a:t>ons</a:t>
            </a:r>
            <a:r>
              <a:rPr lang="en-US" sz="2200" i="1" dirty="0">
                <a:solidFill>
                  <a:schemeClr val="tx1"/>
                </a:solidFill>
              </a:rPr>
              <a:t> in.</a:t>
            </a:r>
            <a:endParaRPr lang="en-US" sz="2200" dirty="0"/>
          </a:p>
        </p:txBody>
      </p:sp>
      <p:sp>
        <p:nvSpPr>
          <p:cNvPr id="10" name="Text 6"/>
          <p:cNvSpPr txBox="1"/>
          <p:nvPr/>
        </p:nvSpPr>
        <p:spPr>
          <a:xfrm>
            <a:off x="6300216" y="2115312"/>
            <a:ext cx="5340096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6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5  </a:t>
            </a:r>
            <a:r>
              <a:rPr lang="en-US" sz="2200" i="1" dirty="0">
                <a:solidFill>
                  <a:schemeClr val="tx1"/>
                </a:solidFill>
              </a:rPr>
              <a:t>Jullie vervelen </a:t>
            </a:r>
            <a:r>
              <a:rPr lang="en-US" sz="2200" b="1" i="1" dirty="0">
                <a:solidFill>
                  <a:schemeClr val="accent3"/>
                </a:solidFill>
              </a:rPr>
              <a:t>je</a:t>
            </a:r>
            <a:r>
              <a:rPr lang="en-US" sz="2200" i="1" dirty="0">
                <a:solidFill>
                  <a:schemeClr val="tx1"/>
                </a:solidFill>
              </a:rPr>
              <a:t>.</a:t>
            </a:r>
            <a:endParaRPr lang="en-US" sz="2200" dirty="0"/>
          </a:p>
          <a:p>
            <a:pPr indent="0" marL="0">
              <a:spcAft>
                <a:spcPts val="26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6  </a:t>
            </a:r>
            <a:r>
              <a:rPr lang="en-US" sz="2200" i="1" dirty="0">
                <a:solidFill>
                  <a:schemeClr val="tx1"/>
                </a:solidFill>
              </a:rPr>
              <a:t>Ze maken </a:t>
            </a:r>
            <a:r>
              <a:rPr lang="en-US" sz="2200" b="1" i="1" dirty="0">
                <a:solidFill>
                  <a:schemeClr val="accent3"/>
                </a:solidFill>
              </a:rPr>
              <a:t>zich</a:t>
            </a:r>
            <a:r>
              <a:rPr lang="en-US" sz="2200" i="1" dirty="0">
                <a:solidFill>
                  <a:schemeClr val="tx1"/>
                </a:solidFill>
              </a:rPr>
              <a:t> zorgen.</a:t>
            </a:r>
            <a:endParaRPr lang="en-US" sz="2200" dirty="0"/>
          </a:p>
          <a:p>
            <a:pPr indent="0" marL="0">
              <a:spcAft>
                <a:spcPts val="26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7  </a:t>
            </a:r>
            <a:r>
              <a:rPr lang="en-US" sz="2200" i="1" dirty="0">
                <a:solidFill>
                  <a:schemeClr val="tx1"/>
                </a:solidFill>
              </a:rPr>
              <a:t>Herinnert u </a:t>
            </a:r>
            <a:r>
              <a:rPr lang="en-US" sz="2200" b="1" i="1" dirty="0">
                <a:solidFill>
                  <a:schemeClr val="accent3"/>
                </a:solidFill>
              </a:rPr>
              <a:t>zich</a:t>
            </a:r>
            <a:r>
              <a:rPr lang="en-US" sz="2200" b="1" i="1" dirty="0">
                <a:solidFill>
                  <a:schemeClr val="accent3"/>
                </a:solidFill>
              </a:rPr>
              <a:t> (of: u)</a:t>
            </a:r>
            <a:r>
              <a:rPr lang="en-US" sz="2200" i="1" dirty="0">
                <a:solidFill>
                  <a:schemeClr val="tx1"/>
                </a:solidFill>
              </a:rPr>
              <a:t> mijn naam?</a:t>
            </a:r>
            <a:endParaRPr lang="en-US" sz="2200" dirty="0"/>
          </a:p>
          <a:p>
            <a:pPr indent="0" marL="0">
              <a:spcAft>
                <a:spcPts val="26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8  </a:t>
            </a:r>
            <a:r>
              <a:rPr lang="en-US" sz="2200" i="1" dirty="0">
                <a:solidFill>
                  <a:schemeClr val="tx1"/>
                </a:solidFill>
              </a:rPr>
              <a:t>Lotte stelt </a:t>
            </a:r>
            <a:r>
              <a:rPr lang="en-US" sz="2200" b="1" i="1" dirty="0">
                <a:solidFill>
                  <a:schemeClr val="accent3"/>
                </a:solidFill>
              </a:rPr>
              <a:t>zich</a:t>
            </a:r>
            <a:r>
              <a:rPr lang="en-US" sz="2200" i="1" dirty="0">
                <a:solidFill>
                  <a:schemeClr val="tx1"/>
                </a:solidFill>
              </a:rPr>
              <a:t> voor.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2 — zich ou elkaar 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Complétez. Posez la question-test : qui reçoit l’action ?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548640" y="1987296"/>
            <a:ext cx="5408676" cy="979932"/>
          </a:xfrm>
          <a:prstGeom prst="roundRect">
            <a:avLst>
              <a:gd name="adj" fmla="val 7465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58368" y="1987296"/>
            <a:ext cx="365760" cy="979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1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1051560" y="1987296"/>
            <a:ext cx="3488436" cy="979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Sofie en Karim kennen </a:t>
            </a:r>
            <a:r>
              <a:rPr lang="en-US" sz="1900" i="1" dirty="0">
                <a:solidFill>
                  <a:schemeClr val="accent5"/>
                </a:solidFill>
              </a:rPr>
              <a:t>…………</a:t>
            </a:r>
            <a:r>
              <a:rPr lang="en-US" sz="1900" i="1" dirty="0">
                <a:solidFill>
                  <a:schemeClr val="tx1"/>
                </a:solidFill>
              </a:rPr>
              <a:t> al lang.</a:t>
            </a:r>
            <a:endParaRPr lang="en-US" sz="1900" dirty="0"/>
          </a:p>
        </p:txBody>
      </p:sp>
      <p:sp>
        <p:nvSpPr>
          <p:cNvPr id="11" name="Shape 7"/>
          <p:cNvSpPr/>
          <p:nvPr/>
        </p:nvSpPr>
        <p:spPr>
          <a:xfrm>
            <a:off x="548640" y="3076956"/>
            <a:ext cx="5408676" cy="979932"/>
          </a:xfrm>
          <a:prstGeom prst="roundRect">
            <a:avLst>
              <a:gd name="adj" fmla="val 7465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58368" y="3076956"/>
            <a:ext cx="365760" cy="979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2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1051560" y="3076956"/>
            <a:ext cx="3488436" cy="979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Lotte kleedt </a:t>
            </a:r>
            <a:r>
              <a:rPr lang="en-US" sz="1900" i="1" dirty="0">
                <a:solidFill>
                  <a:schemeClr val="accent5"/>
                </a:solidFill>
              </a:rPr>
              <a:t>…………</a:t>
            </a:r>
            <a:r>
              <a:rPr lang="en-US" sz="1900" i="1" dirty="0">
                <a:solidFill>
                  <a:schemeClr val="tx1"/>
                </a:solidFill>
              </a:rPr>
              <a:t> snel aan.</a:t>
            </a:r>
            <a:endParaRPr lang="en-US" sz="1900" dirty="0"/>
          </a:p>
        </p:txBody>
      </p:sp>
      <p:sp>
        <p:nvSpPr>
          <p:cNvPr id="14" name="Shape 10"/>
          <p:cNvSpPr/>
          <p:nvPr/>
        </p:nvSpPr>
        <p:spPr>
          <a:xfrm>
            <a:off x="548640" y="4166616"/>
            <a:ext cx="5408676" cy="979932"/>
          </a:xfrm>
          <a:prstGeom prst="roundRect">
            <a:avLst>
              <a:gd name="adj" fmla="val 7465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58368" y="4166616"/>
            <a:ext cx="365760" cy="979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3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1051560" y="4166616"/>
            <a:ext cx="3488436" cy="979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We zien </a:t>
            </a:r>
            <a:r>
              <a:rPr lang="en-US" sz="1900" i="1" dirty="0">
                <a:solidFill>
                  <a:schemeClr val="accent5"/>
                </a:solidFill>
              </a:rPr>
              <a:t>…………</a:t>
            </a:r>
            <a:r>
              <a:rPr lang="en-US" sz="1900" i="1" dirty="0">
                <a:solidFill>
                  <a:schemeClr val="tx1"/>
                </a:solidFill>
              </a:rPr>
              <a:t> morgen!</a:t>
            </a:r>
            <a:endParaRPr lang="en-US" sz="1900" dirty="0"/>
          </a:p>
        </p:txBody>
      </p:sp>
      <p:sp>
        <p:nvSpPr>
          <p:cNvPr id="17" name="Shape 13"/>
          <p:cNvSpPr/>
          <p:nvPr/>
        </p:nvSpPr>
        <p:spPr>
          <a:xfrm>
            <a:off x="548640" y="5256276"/>
            <a:ext cx="5408676" cy="979932"/>
          </a:xfrm>
          <a:prstGeom prst="roundRect">
            <a:avLst>
              <a:gd name="adj" fmla="val 7465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58368" y="5256276"/>
            <a:ext cx="365760" cy="979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4</a:t>
            </a:r>
            <a:endParaRPr lang="en-US" sz="1700" dirty="0"/>
          </a:p>
        </p:txBody>
      </p:sp>
      <p:sp>
        <p:nvSpPr>
          <p:cNvPr id="19" name="Text 15"/>
          <p:cNvSpPr txBox="1"/>
          <p:nvPr/>
        </p:nvSpPr>
        <p:spPr>
          <a:xfrm>
            <a:off x="1051560" y="5256276"/>
            <a:ext cx="3488436" cy="979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Hij vergist </a:t>
            </a:r>
            <a:r>
              <a:rPr lang="en-US" sz="1900" i="1" dirty="0">
                <a:solidFill>
                  <a:schemeClr val="accent5"/>
                </a:solidFill>
              </a:rPr>
              <a:t>…………</a:t>
            </a:r>
            <a:r>
              <a:rPr lang="en-US" sz="1900" i="1" dirty="0">
                <a:solidFill>
                  <a:schemeClr val="tx1"/>
                </a:solidFill>
              </a:rPr>
              <a:t> vaak.</a:t>
            </a:r>
            <a:endParaRPr lang="en-US" sz="1900" dirty="0"/>
          </a:p>
        </p:txBody>
      </p:sp>
      <p:sp>
        <p:nvSpPr>
          <p:cNvPr id="20" name="Shape 16"/>
          <p:cNvSpPr/>
          <p:nvPr/>
        </p:nvSpPr>
        <p:spPr>
          <a:xfrm>
            <a:off x="6231636" y="1987296"/>
            <a:ext cx="5408676" cy="979932"/>
          </a:xfrm>
          <a:prstGeom prst="roundRect">
            <a:avLst>
              <a:gd name="adj" fmla="val 7465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341364" y="1987296"/>
            <a:ext cx="365760" cy="979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5</a:t>
            </a:r>
            <a:endParaRPr lang="en-US" sz="1700" dirty="0"/>
          </a:p>
        </p:txBody>
      </p:sp>
      <p:sp>
        <p:nvSpPr>
          <p:cNvPr id="22" name="Text 18"/>
          <p:cNvSpPr txBox="1"/>
          <p:nvPr/>
        </p:nvSpPr>
        <p:spPr>
          <a:xfrm>
            <a:off x="6734556" y="1987296"/>
            <a:ext cx="3488436" cy="979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Jullie helpen </a:t>
            </a:r>
            <a:r>
              <a:rPr lang="en-US" sz="1900" i="1" dirty="0">
                <a:solidFill>
                  <a:schemeClr val="accent5"/>
                </a:solidFill>
              </a:rPr>
              <a:t>…………</a:t>
            </a:r>
            <a:r>
              <a:rPr lang="en-US" sz="1900" i="1" dirty="0">
                <a:solidFill>
                  <a:schemeClr val="tx1"/>
                </a:solidFill>
              </a:rPr>
              <a:t> altijd.</a:t>
            </a:r>
            <a:endParaRPr lang="en-US" sz="1900" dirty="0"/>
          </a:p>
        </p:txBody>
      </p:sp>
      <p:sp>
        <p:nvSpPr>
          <p:cNvPr id="23" name="Shape 19"/>
          <p:cNvSpPr/>
          <p:nvPr/>
        </p:nvSpPr>
        <p:spPr>
          <a:xfrm>
            <a:off x="6231636" y="3076956"/>
            <a:ext cx="5408676" cy="979932"/>
          </a:xfrm>
          <a:prstGeom prst="roundRect">
            <a:avLst>
              <a:gd name="adj" fmla="val 7465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6341364" y="3076956"/>
            <a:ext cx="365760" cy="979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6</a:t>
            </a:r>
            <a:endParaRPr lang="en-US" sz="1700" dirty="0"/>
          </a:p>
        </p:txBody>
      </p:sp>
      <p:sp>
        <p:nvSpPr>
          <p:cNvPr id="25" name="Text 21"/>
          <p:cNvSpPr txBox="1"/>
          <p:nvPr/>
        </p:nvSpPr>
        <p:spPr>
          <a:xfrm>
            <a:off x="6734556" y="3076956"/>
            <a:ext cx="3488436" cy="979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De collega’s bellen </a:t>
            </a:r>
            <a:r>
              <a:rPr lang="en-US" sz="1900" i="1" dirty="0">
                <a:solidFill>
                  <a:schemeClr val="accent5"/>
                </a:solidFill>
              </a:rPr>
              <a:t>…………</a:t>
            </a:r>
            <a:r>
              <a:rPr lang="en-US" sz="1900" i="1" dirty="0">
                <a:solidFill>
                  <a:schemeClr val="tx1"/>
                </a:solidFill>
              </a:rPr>
              <a:t> elke week.</a:t>
            </a:r>
            <a:endParaRPr lang="en-US" sz="1900" dirty="0"/>
          </a:p>
        </p:txBody>
      </p:sp>
      <p:sp>
        <p:nvSpPr>
          <p:cNvPr id="26" name="Shape 22"/>
          <p:cNvSpPr/>
          <p:nvPr/>
        </p:nvSpPr>
        <p:spPr>
          <a:xfrm>
            <a:off x="6231636" y="4166616"/>
            <a:ext cx="5408676" cy="979932"/>
          </a:xfrm>
          <a:prstGeom prst="roundRect">
            <a:avLst>
              <a:gd name="adj" fmla="val 7465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6341364" y="4166616"/>
            <a:ext cx="365760" cy="979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7</a:t>
            </a:r>
            <a:endParaRPr lang="en-US" sz="1700" dirty="0"/>
          </a:p>
        </p:txBody>
      </p:sp>
      <p:sp>
        <p:nvSpPr>
          <p:cNvPr id="28" name="Text 24"/>
          <p:cNvSpPr txBox="1"/>
          <p:nvPr/>
        </p:nvSpPr>
        <p:spPr>
          <a:xfrm>
            <a:off x="6734556" y="4166616"/>
            <a:ext cx="3488436" cy="979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Ik voel </a:t>
            </a:r>
            <a:r>
              <a:rPr lang="en-US" sz="1900" i="1" dirty="0">
                <a:solidFill>
                  <a:schemeClr val="accent5"/>
                </a:solidFill>
              </a:rPr>
              <a:t>…………</a:t>
            </a:r>
            <a:r>
              <a:rPr lang="en-US" sz="1900" i="1" dirty="0">
                <a:solidFill>
                  <a:schemeClr val="tx1"/>
                </a:solidFill>
              </a:rPr>
              <a:t> niet goed.</a:t>
            </a:r>
            <a:endParaRPr lang="en-US" sz="1900" dirty="0"/>
          </a:p>
        </p:txBody>
      </p:sp>
      <p:sp>
        <p:nvSpPr>
          <p:cNvPr id="29" name="Shape 25"/>
          <p:cNvSpPr/>
          <p:nvPr/>
        </p:nvSpPr>
        <p:spPr>
          <a:xfrm>
            <a:off x="6231636" y="5256276"/>
            <a:ext cx="5408676" cy="979932"/>
          </a:xfrm>
          <a:prstGeom prst="roundRect">
            <a:avLst>
              <a:gd name="adj" fmla="val 7465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6341364" y="5256276"/>
            <a:ext cx="365760" cy="979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8</a:t>
            </a:r>
            <a:endParaRPr lang="en-US" sz="1700" dirty="0"/>
          </a:p>
        </p:txBody>
      </p:sp>
      <p:sp>
        <p:nvSpPr>
          <p:cNvPr id="31" name="Text 27"/>
          <p:cNvSpPr txBox="1"/>
          <p:nvPr/>
        </p:nvSpPr>
        <p:spPr>
          <a:xfrm>
            <a:off x="6734556" y="5256276"/>
            <a:ext cx="3488436" cy="979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Ze wonen naast </a:t>
            </a:r>
            <a:r>
              <a:rPr lang="en-US" sz="1900" i="1" dirty="0">
                <a:solidFill>
                  <a:schemeClr val="accent5"/>
                </a:solidFill>
              </a:rPr>
              <a:t>…………</a:t>
            </a:r>
            <a:r>
              <a:rPr lang="en-US" sz="1900" i="1" dirty="0">
                <a:solidFill>
                  <a:schemeClr val="tx1"/>
                </a:solidFill>
              </a:rPr>
              <a:t>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2 — zich ou elkaar 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Complétez. Posez la question-test : qui reçoit l’action ?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48640" y="1987296"/>
            <a:ext cx="5408676" cy="979932"/>
          </a:xfrm>
          <a:prstGeom prst="roundRect">
            <a:avLst>
              <a:gd name="adj" fmla="val 7465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58368" y="1987296"/>
            <a:ext cx="365760" cy="979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1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1051560" y="1987296"/>
            <a:ext cx="3488436" cy="979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Sofie en Karim kennen </a:t>
            </a:r>
            <a:r>
              <a:rPr lang="en-US" sz="1900" b="1" i="1" dirty="0">
                <a:solidFill>
                  <a:schemeClr val="accent3"/>
                </a:solidFill>
              </a:rPr>
              <a:t>elkaar</a:t>
            </a:r>
            <a:r>
              <a:rPr lang="en-US" sz="1900" i="1" dirty="0">
                <a:solidFill>
                  <a:schemeClr val="tx1"/>
                </a:solidFill>
              </a:rPr>
              <a:t> al lang.</a:t>
            </a:r>
            <a:endParaRPr lang="en-US" sz="1900" dirty="0"/>
          </a:p>
        </p:txBody>
      </p:sp>
      <p:sp>
        <p:nvSpPr>
          <p:cNvPr id="12" name="tag"/>
          <p:cNvSpPr/>
          <p:nvPr/>
        </p:nvSpPr>
        <p:spPr>
          <a:xfrm>
            <a:off x="4695444" y="2330958"/>
            <a:ext cx="1175004" cy="292608"/>
          </a:xfrm>
          <a:prstGeom prst="roundRect">
            <a:avLst>
              <a:gd name="adj" fmla="val 1562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ping-pong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548640" y="3076956"/>
            <a:ext cx="5408676" cy="979932"/>
          </a:xfrm>
          <a:prstGeom prst="roundRect">
            <a:avLst>
              <a:gd name="adj" fmla="val 7465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58368" y="3076956"/>
            <a:ext cx="365760" cy="979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2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1051560" y="3076956"/>
            <a:ext cx="3488436" cy="979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Lotte kleedt </a:t>
            </a:r>
            <a:r>
              <a:rPr lang="en-US" sz="1900" b="1" i="1" dirty="0">
                <a:solidFill>
                  <a:schemeClr val="accent3"/>
                </a:solidFill>
              </a:rPr>
              <a:t>zich</a:t>
            </a:r>
            <a:r>
              <a:rPr lang="en-US" sz="1900" i="1" dirty="0">
                <a:solidFill>
                  <a:schemeClr val="tx1"/>
                </a:solidFill>
              </a:rPr>
              <a:t> snel aan.</a:t>
            </a:r>
            <a:endParaRPr lang="en-US" sz="1900" dirty="0"/>
          </a:p>
        </p:txBody>
      </p:sp>
      <p:sp>
        <p:nvSpPr>
          <p:cNvPr id="16" name="tag"/>
          <p:cNvSpPr/>
          <p:nvPr/>
        </p:nvSpPr>
        <p:spPr>
          <a:xfrm>
            <a:off x="4695444" y="3420618"/>
            <a:ext cx="905256" cy="292608"/>
          </a:xfrm>
          <a:prstGeom prst="roundRect">
            <a:avLst>
              <a:gd name="adj" fmla="val 15625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miroir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548640" y="4166616"/>
            <a:ext cx="5408676" cy="979932"/>
          </a:xfrm>
          <a:prstGeom prst="roundRect">
            <a:avLst>
              <a:gd name="adj" fmla="val 7465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58368" y="4166616"/>
            <a:ext cx="365760" cy="979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3</a:t>
            </a:r>
            <a:endParaRPr lang="en-US" sz="1700" dirty="0"/>
          </a:p>
        </p:txBody>
      </p:sp>
      <p:sp>
        <p:nvSpPr>
          <p:cNvPr id="19" name="Text 15"/>
          <p:cNvSpPr txBox="1"/>
          <p:nvPr/>
        </p:nvSpPr>
        <p:spPr>
          <a:xfrm>
            <a:off x="1051560" y="4166616"/>
            <a:ext cx="3488436" cy="979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We zien </a:t>
            </a:r>
            <a:r>
              <a:rPr lang="en-US" sz="1900" b="1" i="1" dirty="0">
                <a:solidFill>
                  <a:schemeClr val="accent3"/>
                </a:solidFill>
              </a:rPr>
              <a:t>elkaar</a:t>
            </a:r>
            <a:r>
              <a:rPr lang="en-US" sz="1900" i="1" dirty="0">
                <a:solidFill>
                  <a:schemeClr val="tx1"/>
                </a:solidFill>
              </a:rPr>
              <a:t> morgen!</a:t>
            </a:r>
            <a:endParaRPr lang="en-US" sz="1900" dirty="0"/>
          </a:p>
        </p:txBody>
      </p:sp>
      <p:sp>
        <p:nvSpPr>
          <p:cNvPr id="20" name="tag"/>
          <p:cNvSpPr/>
          <p:nvPr/>
        </p:nvSpPr>
        <p:spPr>
          <a:xfrm>
            <a:off x="4695444" y="4510278"/>
            <a:ext cx="1175004" cy="292608"/>
          </a:xfrm>
          <a:prstGeom prst="roundRect">
            <a:avLst>
              <a:gd name="adj" fmla="val 1562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ping-pong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548640" y="5256276"/>
            <a:ext cx="5408676" cy="979932"/>
          </a:xfrm>
          <a:prstGeom prst="roundRect">
            <a:avLst>
              <a:gd name="adj" fmla="val 7465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58368" y="5256276"/>
            <a:ext cx="365760" cy="979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4</a:t>
            </a:r>
            <a:endParaRPr lang="en-US" sz="1700" dirty="0"/>
          </a:p>
        </p:txBody>
      </p:sp>
      <p:sp>
        <p:nvSpPr>
          <p:cNvPr id="23" name="Text 19"/>
          <p:cNvSpPr txBox="1"/>
          <p:nvPr/>
        </p:nvSpPr>
        <p:spPr>
          <a:xfrm>
            <a:off x="1051560" y="5256276"/>
            <a:ext cx="3488436" cy="979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Hij vergist </a:t>
            </a:r>
            <a:r>
              <a:rPr lang="en-US" sz="1900" b="1" i="1" dirty="0">
                <a:solidFill>
                  <a:schemeClr val="accent3"/>
                </a:solidFill>
              </a:rPr>
              <a:t>zich</a:t>
            </a:r>
            <a:r>
              <a:rPr lang="en-US" sz="1900" i="1" dirty="0">
                <a:solidFill>
                  <a:schemeClr val="tx1"/>
                </a:solidFill>
              </a:rPr>
              <a:t> vaak.</a:t>
            </a:r>
            <a:endParaRPr lang="en-US" sz="1900" dirty="0"/>
          </a:p>
        </p:txBody>
      </p:sp>
      <p:sp>
        <p:nvSpPr>
          <p:cNvPr id="24" name="tag"/>
          <p:cNvSpPr/>
          <p:nvPr/>
        </p:nvSpPr>
        <p:spPr>
          <a:xfrm>
            <a:off x="4695444" y="5599938"/>
            <a:ext cx="905256" cy="292608"/>
          </a:xfrm>
          <a:prstGeom prst="roundRect">
            <a:avLst>
              <a:gd name="adj" fmla="val 15625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miroir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6231636" y="1987296"/>
            <a:ext cx="5408676" cy="979932"/>
          </a:xfrm>
          <a:prstGeom prst="roundRect">
            <a:avLst>
              <a:gd name="adj" fmla="val 7465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6341364" y="1987296"/>
            <a:ext cx="365760" cy="979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5</a:t>
            </a:r>
            <a:endParaRPr lang="en-US" sz="1700" dirty="0"/>
          </a:p>
        </p:txBody>
      </p:sp>
      <p:sp>
        <p:nvSpPr>
          <p:cNvPr id="27" name="Text 23"/>
          <p:cNvSpPr txBox="1"/>
          <p:nvPr/>
        </p:nvSpPr>
        <p:spPr>
          <a:xfrm>
            <a:off x="6734556" y="1987296"/>
            <a:ext cx="3488436" cy="979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Jullie helpen </a:t>
            </a:r>
            <a:r>
              <a:rPr lang="en-US" sz="1900" b="1" i="1" dirty="0">
                <a:solidFill>
                  <a:schemeClr val="accent3"/>
                </a:solidFill>
              </a:rPr>
              <a:t>elkaar</a:t>
            </a:r>
            <a:r>
              <a:rPr lang="en-US" sz="1900" i="1" dirty="0">
                <a:solidFill>
                  <a:schemeClr val="tx1"/>
                </a:solidFill>
              </a:rPr>
              <a:t> altijd.</a:t>
            </a:r>
            <a:endParaRPr lang="en-US" sz="1900" dirty="0"/>
          </a:p>
        </p:txBody>
      </p:sp>
      <p:sp>
        <p:nvSpPr>
          <p:cNvPr id="28" name="tag"/>
          <p:cNvSpPr/>
          <p:nvPr/>
        </p:nvSpPr>
        <p:spPr>
          <a:xfrm>
            <a:off x="10378440" y="2330958"/>
            <a:ext cx="1175004" cy="292608"/>
          </a:xfrm>
          <a:prstGeom prst="roundRect">
            <a:avLst>
              <a:gd name="adj" fmla="val 1562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ping-pong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6231636" y="3076956"/>
            <a:ext cx="5408676" cy="979932"/>
          </a:xfrm>
          <a:prstGeom prst="roundRect">
            <a:avLst>
              <a:gd name="adj" fmla="val 7465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6341364" y="3076956"/>
            <a:ext cx="365760" cy="979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6</a:t>
            </a:r>
            <a:endParaRPr lang="en-US" sz="1700" dirty="0"/>
          </a:p>
        </p:txBody>
      </p:sp>
      <p:sp>
        <p:nvSpPr>
          <p:cNvPr id="31" name="Text 27"/>
          <p:cNvSpPr txBox="1"/>
          <p:nvPr/>
        </p:nvSpPr>
        <p:spPr>
          <a:xfrm>
            <a:off x="6734556" y="3076956"/>
            <a:ext cx="3488436" cy="979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De collega’s bellen </a:t>
            </a:r>
            <a:r>
              <a:rPr lang="en-US" sz="1900" b="1" i="1" dirty="0">
                <a:solidFill>
                  <a:schemeClr val="accent3"/>
                </a:solidFill>
              </a:rPr>
              <a:t>elkaar</a:t>
            </a:r>
            <a:r>
              <a:rPr lang="en-US" sz="1900" i="1" dirty="0">
                <a:solidFill>
                  <a:schemeClr val="tx1"/>
                </a:solidFill>
              </a:rPr>
              <a:t> elke week.</a:t>
            </a:r>
            <a:endParaRPr lang="en-US" sz="1900" dirty="0"/>
          </a:p>
        </p:txBody>
      </p:sp>
      <p:sp>
        <p:nvSpPr>
          <p:cNvPr id="32" name="tag"/>
          <p:cNvSpPr/>
          <p:nvPr/>
        </p:nvSpPr>
        <p:spPr>
          <a:xfrm>
            <a:off x="10378440" y="3420618"/>
            <a:ext cx="1175004" cy="292608"/>
          </a:xfrm>
          <a:prstGeom prst="roundRect">
            <a:avLst>
              <a:gd name="adj" fmla="val 1562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ping-pong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6231636" y="4166616"/>
            <a:ext cx="5408676" cy="979932"/>
          </a:xfrm>
          <a:prstGeom prst="roundRect">
            <a:avLst>
              <a:gd name="adj" fmla="val 7465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6341364" y="4166616"/>
            <a:ext cx="365760" cy="979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7</a:t>
            </a:r>
            <a:endParaRPr lang="en-US" sz="1700" dirty="0"/>
          </a:p>
        </p:txBody>
      </p:sp>
      <p:sp>
        <p:nvSpPr>
          <p:cNvPr id="35" name="Text 31"/>
          <p:cNvSpPr txBox="1"/>
          <p:nvPr/>
        </p:nvSpPr>
        <p:spPr>
          <a:xfrm>
            <a:off x="6734556" y="4166616"/>
            <a:ext cx="3488436" cy="979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Ik voel </a:t>
            </a:r>
            <a:r>
              <a:rPr lang="en-US" sz="1900" b="1" i="1" dirty="0">
                <a:solidFill>
                  <a:schemeClr val="accent3"/>
                </a:solidFill>
              </a:rPr>
              <a:t>me</a:t>
            </a:r>
            <a:r>
              <a:rPr lang="en-US" sz="1900" i="1" dirty="0">
                <a:solidFill>
                  <a:schemeClr val="tx1"/>
                </a:solidFill>
              </a:rPr>
              <a:t> niet goed.</a:t>
            </a:r>
            <a:endParaRPr lang="en-US" sz="1900" dirty="0"/>
          </a:p>
        </p:txBody>
      </p:sp>
      <p:sp>
        <p:nvSpPr>
          <p:cNvPr id="36" name="tag"/>
          <p:cNvSpPr/>
          <p:nvPr/>
        </p:nvSpPr>
        <p:spPr>
          <a:xfrm>
            <a:off x="10378440" y="4510278"/>
            <a:ext cx="905256" cy="292608"/>
          </a:xfrm>
          <a:prstGeom prst="roundRect">
            <a:avLst>
              <a:gd name="adj" fmla="val 15625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miroir</a:t>
            </a:r>
            <a:endParaRPr lang="en-US" sz="1000" dirty="0"/>
          </a:p>
        </p:txBody>
      </p:sp>
      <p:sp>
        <p:nvSpPr>
          <p:cNvPr id="37" name="Shape 33"/>
          <p:cNvSpPr/>
          <p:nvPr/>
        </p:nvSpPr>
        <p:spPr>
          <a:xfrm>
            <a:off x="6231636" y="5256276"/>
            <a:ext cx="5408676" cy="979932"/>
          </a:xfrm>
          <a:prstGeom prst="roundRect">
            <a:avLst>
              <a:gd name="adj" fmla="val 7465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6341364" y="5256276"/>
            <a:ext cx="365760" cy="979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8</a:t>
            </a:r>
            <a:endParaRPr lang="en-US" sz="1700" dirty="0"/>
          </a:p>
        </p:txBody>
      </p:sp>
      <p:sp>
        <p:nvSpPr>
          <p:cNvPr id="39" name="Text 35"/>
          <p:cNvSpPr txBox="1"/>
          <p:nvPr/>
        </p:nvSpPr>
        <p:spPr>
          <a:xfrm>
            <a:off x="6734556" y="5256276"/>
            <a:ext cx="3488436" cy="979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Ze wonen naast </a:t>
            </a:r>
            <a:r>
              <a:rPr lang="en-US" sz="1900" b="1" i="1" dirty="0">
                <a:solidFill>
                  <a:schemeClr val="accent3"/>
                </a:solidFill>
              </a:rPr>
              <a:t>elkaar</a:t>
            </a:r>
            <a:r>
              <a:rPr lang="en-US" sz="1900" i="1" dirty="0">
                <a:solidFill>
                  <a:schemeClr val="tx1"/>
                </a:solidFill>
              </a:rPr>
              <a:t>.</a:t>
            </a:r>
            <a:endParaRPr lang="en-US" sz="1900" dirty="0"/>
          </a:p>
        </p:txBody>
      </p:sp>
      <p:sp>
        <p:nvSpPr>
          <p:cNvPr id="40" name="tag"/>
          <p:cNvSpPr/>
          <p:nvPr/>
        </p:nvSpPr>
        <p:spPr>
          <a:xfrm>
            <a:off x="10378440" y="5599938"/>
            <a:ext cx="1175004" cy="292608"/>
          </a:xfrm>
          <a:prstGeom prst="roundRect">
            <a:avLst>
              <a:gd name="adj" fmla="val 1562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ping-pong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3 — Le faux « se »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Traduisez. Attention : trois verbes ne sont pas réfléchis en néerlandais !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548640" y="2112772"/>
            <a:ext cx="365760" cy="365760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21127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1005840" y="1978152"/>
            <a:ext cx="493776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1143000" y="1978152"/>
            <a:ext cx="47548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Je me lève à 7 heures.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6035040" y="2295652"/>
            <a:ext cx="457200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6537960" y="1978152"/>
            <a:ext cx="5102352" cy="616712"/>
          </a:xfrm>
          <a:prstGeom prst="roundRect">
            <a:avLst>
              <a:gd name="adj" fmla="val 1186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48640" y="2839212"/>
            <a:ext cx="365760" cy="365760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48640" y="28392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1005840" y="2704592"/>
            <a:ext cx="493776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1143000" y="2704592"/>
            <a:ext cx="47548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Elle s’appelle Lotte.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6035040" y="3022092"/>
            <a:ext cx="457200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19" name="Shape 15"/>
          <p:cNvSpPr/>
          <p:nvPr/>
        </p:nvSpPr>
        <p:spPr>
          <a:xfrm>
            <a:off x="6537960" y="2704592"/>
            <a:ext cx="5102352" cy="616712"/>
          </a:xfrm>
          <a:prstGeom prst="roundRect">
            <a:avLst>
              <a:gd name="adj" fmla="val 1186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48640" y="3565652"/>
            <a:ext cx="365760" cy="365760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548640" y="35656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1005840" y="3431032"/>
            <a:ext cx="493776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1143000" y="3431032"/>
            <a:ext cx="47548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Je me souviens de lui.</a:t>
            </a:r>
            <a:endParaRPr lang="en-US" sz="1800" dirty="0"/>
          </a:p>
        </p:txBody>
      </p:sp>
      <p:sp>
        <p:nvSpPr>
          <p:cNvPr id="24" name="Shape 20"/>
          <p:cNvSpPr/>
          <p:nvPr/>
        </p:nvSpPr>
        <p:spPr>
          <a:xfrm>
            <a:off x="6035040" y="3748532"/>
            <a:ext cx="457200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25" name="Shape 21"/>
          <p:cNvSpPr/>
          <p:nvPr/>
        </p:nvSpPr>
        <p:spPr>
          <a:xfrm>
            <a:off x="6537960" y="3431032"/>
            <a:ext cx="5102352" cy="616712"/>
          </a:xfrm>
          <a:prstGeom prst="roundRect">
            <a:avLst>
              <a:gd name="adj" fmla="val 1186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548640" y="4292092"/>
            <a:ext cx="365760" cy="365760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548640" y="42920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1005840" y="4157472"/>
            <a:ext cx="493776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1143000" y="4157472"/>
            <a:ext cx="47548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On se voit demain !</a:t>
            </a:r>
            <a:endParaRPr lang="en-US" sz="1800" dirty="0"/>
          </a:p>
        </p:txBody>
      </p:sp>
      <p:sp>
        <p:nvSpPr>
          <p:cNvPr id="30" name="Shape 26"/>
          <p:cNvSpPr/>
          <p:nvPr/>
        </p:nvSpPr>
        <p:spPr>
          <a:xfrm>
            <a:off x="6035040" y="4474972"/>
            <a:ext cx="457200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31" name="Shape 27"/>
          <p:cNvSpPr/>
          <p:nvPr/>
        </p:nvSpPr>
        <p:spPr>
          <a:xfrm>
            <a:off x="6537960" y="4157472"/>
            <a:ext cx="5102352" cy="616712"/>
          </a:xfrm>
          <a:prstGeom prst="roundRect">
            <a:avLst>
              <a:gd name="adj" fmla="val 1186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548640" y="5018532"/>
            <a:ext cx="365760" cy="365760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548640" y="50185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1005840" y="4883912"/>
            <a:ext cx="493776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1143000" y="4883912"/>
            <a:ext cx="47548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Ils se marient en mai.</a:t>
            </a:r>
            <a:endParaRPr lang="en-US" sz="1800" dirty="0"/>
          </a:p>
        </p:txBody>
      </p:sp>
      <p:sp>
        <p:nvSpPr>
          <p:cNvPr id="36" name="Shape 32"/>
          <p:cNvSpPr/>
          <p:nvPr/>
        </p:nvSpPr>
        <p:spPr>
          <a:xfrm>
            <a:off x="6035040" y="5201412"/>
            <a:ext cx="457200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37" name="Shape 33"/>
          <p:cNvSpPr/>
          <p:nvPr/>
        </p:nvSpPr>
        <p:spPr>
          <a:xfrm>
            <a:off x="6537960" y="4883912"/>
            <a:ext cx="5102352" cy="616712"/>
          </a:xfrm>
          <a:prstGeom prst="roundRect">
            <a:avLst>
              <a:gd name="adj" fmla="val 1186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548640" y="5744972"/>
            <a:ext cx="365760" cy="365760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548640" y="57449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40" name="Shape 36"/>
          <p:cNvSpPr/>
          <p:nvPr/>
        </p:nvSpPr>
        <p:spPr>
          <a:xfrm>
            <a:off x="1005840" y="5610352"/>
            <a:ext cx="493776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1143000" y="5610352"/>
            <a:ext cx="47548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Je me suis trompé.</a:t>
            </a:r>
            <a:endParaRPr lang="en-US" sz="1800" dirty="0"/>
          </a:p>
        </p:txBody>
      </p:sp>
      <p:sp>
        <p:nvSpPr>
          <p:cNvPr id="42" name="Shape 38"/>
          <p:cNvSpPr/>
          <p:nvPr/>
        </p:nvSpPr>
        <p:spPr>
          <a:xfrm>
            <a:off x="6035040" y="5927852"/>
            <a:ext cx="457200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43" name="Shape 39"/>
          <p:cNvSpPr/>
          <p:nvPr/>
        </p:nvSpPr>
        <p:spPr>
          <a:xfrm>
            <a:off x="6537960" y="5610352"/>
            <a:ext cx="5102352" cy="616712"/>
          </a:xfrm>
          <a:prstGeom prst="roundRect">
            <a:avLst>
              <a:gd name="adj" fmla="val 1186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3 — Le faux « se »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Traduisez. Attention : trois verbes ne sont pas réfléchis en néerlandais !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48640" y="2112772"/>
            <a:ext cx="365760" cy="365760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48640" y="21127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1005840" y="1978152"/>
            <a:ext cx="493776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143000" y="1978152"/>
            <a:ext cx="47548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Je me lève à 7 heures.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6035040" y="2295652"/>
            <a:ext cx="457200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6537960" y="1978152"/>
            <a:ext cx="5102352" cy="616712"/>
          </a:xfrm>
          <a:prstGeom prst="roundRect">
            <a:avLst>
              <a:gd name="adj" fmla="val 11862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675120" y="1978152"/>
            <a:ext cx="489204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i="1" dirty="0">
                <a:solidFill>
                  <a:schemeClr val="accent3"/>
                </a:solidFill>
              </a:rPr>
              <a:t>Ik sta om 7 uur op.</a:t>
            </a:r>
            <a:endParaRPr lang="en-US" sz="1900" dirty="0"/>
          </a:p>
        </p:txBody>
      </p:sp>
      <p:sp>
        <p:nvSpPr>
          <p:cNvPr id="16" name="Shape 12"/>
          <p:cNvSpPr/>
          <p:nvPr/>
        </p:nvSpPr>
        <p:spPr>
          <a:xfrm>
            <a:off x="548640" y="2839212"/>
            <a:ext cx="365760" cy="365760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48640" y="28392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1005840" y="2704592"/>
            <a:ext cx="493776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1143000" y="2704592"/>
            <a:ext cx="47548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Elle s’appelle Lotte.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6035040" y="3022092"/>
            <a:ext cx="457200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21" name="Shape 17"/>
          <p:cNvSpPr/>
          <p:nvPr/>
        </p:nvSpPr>
        <p:spPr>
          <a:xfrm>
            <a:off x="6537960" y="2704592"/>
            <a:ext cx="5102352" cy="616712"/>
          </a:xfrm>
          <a:prstGeom prst="roundRect">
            <a:avLst>
              <a:gd name="adj" fmla="val 11862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675120" y="2704592"/>
            <a:ext cx="489204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i="1" dirty="0">
                <a:solidFill>
                  <a:schemeClr val="accent3"/>
                </a:solidFill>
              </a:rPr>
              <a:t>Ze heet Lotte.</a:t>
            </a:r>
            <a:endParaRPr lang="en-US" sz="1900" dirty="0"/>
          </a:p>
        </p:txBody>
      </p:sp>
      <p:sp>
        <p:nvSpPr>
          <p:cNvPr id="23" name="Shape 19"/>
          <p:cNvSpPr/>
          <p:nvPr/>
        </p:nvSpPr>
        <p:spPr>
          <a:xfrm>
            <a:off x="548640" y="3565652"/>
            <a:ext cx="365760" cy="365760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548640" y="35656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1005840" y="3431032"/>
            <a:ext cx="493776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1143000" y="3431032"/>
            <a:ext cx="47548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Je me souviens de lui.</a:t>
            </a:r>
            <a:endParaRPr lang="en-US" sz="1800" dirty="0"/>
          </a:p>
        </p:txBody>
      </p:sp>
      <p:sp>
        <p:nvSpPr>
          <p:cNvPr id="27" name="Shape 23"/>
          <p:cNvSpPr/>
          <p:nvPr/>
        </p:nvSpPr>
        <p:spPr>
          <a:xfrm>
            <a:off x="6035040" y="3748532"/>
            <a:ext cx="457200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28" name="Shape 24"/>
          <p:cNvSpPr/>
          <p:nvPr/>
        </p:nvSpPr>
        <p:spPr>
          <a:xfrm>
            <a:off x="6537960" y="3431032"/>
            <a:ext cx="5102352" cy="616712"/>
          </a:xfrm>
          <a:prstGeom prst="roundRect">
            <a:avLst>
              <a:gd name="adj" fmla="val 11862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6675120" y="3431032"/>
            <a:ext cx="489204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i="1" dirty="0">
                <a:solidFill>
                  <a:schemeClr val="accent3"/>
                </a:solidFill>
              </a:rPr>
              <a:t>Ik herinner me hem.</a:t>
            </a:r>
            <a:endParaRPr lang="en-US" sz="1900" dirty="0"/>
          </a:p>
        </p:txBody>
      </p:sp>
      <p:sp>
        <p:nvSpPr>
          <p:cNvPr id="30" name="Shape 26"/>
          <p:cNvSpPr/>
          <p:nvPr/>
        </p:nvSpPr>
        <p:spPr>
          <a:xfrm>
            <a:off x="548640" y="4292092"/>
            <a:ext cx="365760" cy="365760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548640" y="42920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32" name="Shape 28"/>
          <p:cNvSpPr/>
          <p:nvPr/>
        </p:nvSpPr>
        <p:spPr>
          <a:xfrm>
            <a:off x="1005840" y="4157472"/>
            <a:ext cx="493776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1143000" y="4157472"/>
            <a:ext cx="47548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On se voit demain !</a:t>
            </a:r>
            <a:endParaRPr lang="en-US" sz="1800" dirty="0"/>
          </a:p>
        </p:txBody>
      </p:sp>
      <p:sp>
        <p:nvSpPr>
          <p:cNvPr id="34" name="Shape 30"/>
          <p:cNvSpPr/>
          <p:nvPr/>
        </p:nvSpPr>
        <p:spPr>
          <a:xfrm>
            <a:off x="6035040" y="4474972"/>
            <a:ext cx="457200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35" name="Shape 31"/>
          <p:cNvSpPr/>
          <p:nvPr/>
        </p:nvSpPr>
        <p:spPr>
          <a:xfrm>
            <a:off x="6537960" y="4157472"/>
            <a:ext cx="5102352" cy="616712"/>
          </a:xfrm>
          <a:prstGeom prst="roundRect">
            <a:avLst>
              <a:gd name="adj" fmla="val 11862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6675120" y="4157472"/>
            <a:ext cx="489204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i="1" dirty="0">
                <a:solidFill>
                  <a:schemeClr val="accent3"/>
                </a:solidFill>
              </a:rPr>
              <a:t>We zien elkaar morgen!</a:t>
            </a:r>
            <a:endParaRPr lang="en-US" sz="1900" dirty="0"/>
          </a:p>
        </p:txBody>
      </p:sp>
      <p:sp>
        <p:nvSpPr>
          <p:cNvPr id="37" name="Shape 33"/>
          <p:cNvSpPr/>
          <p:nvPr/>
        </p:nvSpPr>
        <p:spPr>
          <a:xfrm>
            <a:off x="548640" y="5018532"/>
            <a:ext cx="365760" cy="365760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548640" y="50185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39" name="Shape 35"/>
          <p:cNvSpPr/>
          <p:nvPr/>
        </p:nvSpPr>
        <p:spPr>
          <a:xfrm>
            <a:off x="1005840" y="4883912"/>
            <a:ext cx="493776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1143000" y="4883912"/>
            <a:ext cx="47548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Ils se marient en mai.</a:t>
            </a:r>
            <a:endParaRPr lang="en-US" sz="1800" dirty="0"/>
          </a:p>
        </p:txBody>
      </p:sp>
      <p:sp>
        <p:nvSpPr>
          <p:cNvPr id="41" name="Shape 37"/>
          <p:cNvSpPr/>
          <p:nvPr/>
        </p:nvSpPr>
        <p:spPr>
          <a:xfrm>
            <a:off x="6035040" y="5201412"/>
            <a:ext cx="457200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42" name="Shape 38"/>
          <p:cNvSpPr/>
          <p:nvPr/>
        </p:nvSpPr>
        <p:spPr>
          <a:xfrm>
            <a:off x="6537960" y="4883912"/>
            <a:ext cx="5102352" cy="616712"/>
          </a:xfrm>
          <a:prstGeom prst="roundRect">
            <a:avLst>
              <a:gd name="adj" fmla="val 11862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6675120" y="4883912"/>
            <a:ext cx="489204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i="1" dirty="0">
                <a:solidFill>
                  <a:schemeClr val="accent3"/>
                </a:solidFill>
              </a:rPr>
              <a:t>Ze trouwen in mei.</a:t>
            </a:r>
            <a:endParaRPr lang="en-US" sz="1900" dirty="0"/>
          </a:p>
        </p:txBody>
      </p:sp>
      <p:sp>
        <p:nvSpPr>
          <p:cNvPr id="44" name="Shape 40"/>
          <p:cNvSpPr/>
          <p:nvPr/>
        </p:nvSpPr>
        <p:spPr>
          <a:xfrm>
            <a:off x="548640" y="5744972"/>
            <a:ext cx="365760" cy="365760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548640" y="57449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46" name="Shape 42"/>
          <p:cNvSpPr/>
          <p:nvPr/>
        </p:nvSpPr>
        <p:spPr>
          <a:xfrm>
            <a:off x="1005840" y="5610352"/>
            <a:ext cx="493776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1143000" y="5610352"/>
            <a:ext cx="47548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Je me suis trompé.</a:t>
            </a:r>
            <a:endParaRPr lang="en-US" sz="1800" dirty="0"/>
          </a:p>
        </p:txBody>
      </p:sp>
      <p:sp>
        <p:nvSpPr>
          <p:cNvPr id="48" name="Shape 44"/>
          <p:cNvSpPr/>
          <p:nvPr/>
        </p:nvSpPr>
        <p:spPr>
          <a:xfrm>
            <a:off x="6035040" y="5927852"/>
            <a:ext cx="457200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49" name="Shape 45"/>
          <p:cNvSpPr/>
          <p:nvPr/>
        </p:nvSpPr>
        <p:spPr>
          <a:xfrm>
            <a:off x="6537960" y="5610352"/>
            <a:ext cx="5102352" cy="616712"/>
          </a:xfrm>
          <a:prstGeom prst="roundRect">
            <a:avLst>
              <a:gd name="adj" fmla="val 11862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50" name="Text 46"/>
          <p:cNvSpPr txBox="1"/>
          <p:nvPr/>
        </p:nvSpPr>
        <p:spPr>
          <a:xfrm>
            <a:off x="6675120" y="5610352"/>
            <a:ext cx="489204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i="1" dirty="0">
                <a:solidFill>
                  <a:schemeClr val="accent3"/>
                </a:solidFill>
              </a:rPr>
              <a:t>Ik heb me vergist.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4 — Le détective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Lotte écrit à Sofie. Trouvez les 5 erreurs.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548640" y="1932432"/>
            <a:ext cx="8229600" cy="4358640"/>
          </a:xfrm>
          <a:prstGeom prst="roundRect">
            <a:avLst>
              <a:gd name="adj" fmla="val 1678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548640" y="1932432"/>
            <a:ext cx="8229600" cy="457200"/>
          </a:xfrm>
          <a:prstGeom prst="roundRect">
            <a:avLst>
              <a:gd name="adj" fmla="val 8000"/>
            </a:avLst>
          </a:prstGeom>
          <a:solidFill>
            <a:srgbClr val="E6EB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77240" y="19324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Chat · Lotte → Sofie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868680" y="2572512"/>
            <a:ext cx="7589520" cy="353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00" i="1" dirty="0">
                <a:solidFill>
                  <a:schemeClr val="tx1"/>
                </a:solidFill>
              </a:rPr>
              <a:t>Hoi Sofie! </a:t>
            </a:r>
            <a:r>
              <a:rPr lang="en-US" sz="1900" i="1" dirty="0">
                <a:solidFill>
                  <a:schemeClr val="tx1"/>
                </a:solidFill>
              </a:rPr>
              <a:t>Ik noem me</a:t>
            </a:r>
            <a:r>
              <a:rPr lang="en-US" sz="1900" i="1" dirty="0">
                <a:solidFill>
                  <a:schemeClr val="tx1"/>
                </a:solidFill>
              </a:rPr>
              <a:t> Lotte, ik ben de nieuwe stagiaire. Vanmorgen </a:t>
            </a:r>
            <a:r>
              <a:rPr lang="en-US" sz="1900" i="1" dirty="0">
                <a:solidFill>
                  <a:schemeClr val="tx1"/>
                </a:solidFill>
              </a:rPr>
              <a:t>heb ik me om zes uur opgestaan</a:t>
            </a:r>
            <a:r>
              <a:rPr lang="en-US" sz="1900" i="1" dirty="0">
                <a:solidFill>
                  <a:schemeClr val="tx1"/>
                </a:solidFill>
              </a:rPr>
              <a:t>. Karim en ik bellen </a:t>
            </a:r>
            <a:r>
              <a:rPr lang="en-US" sz="1900" i="1" dirty="0">
                <a:solidFill>
                  <a:schemeClr val="tx1"/>
                </a:solidFill>
              </a:rPr>
              <a:t>ons</a:t>
            </a:r>
            <a:r>
              <a:rPr lang="en-US" sz="1900" i="1" dirty="0">
                <a:solidFill>
                  <a:schemeClr val="tx1"/>
                </a:solidFill>
              </a:rPr>
              <a:t> morgen over het project. </a:t>
            </a:r>
            <a:r>
              <a:rPr lang="en-US" sz="1900" i="1" dirty="0">
                <a:solidFill>
                  <a:schemeClr val="tx1"/>
                </a:solidFill>
              </a:rPr>
              <a:t>Ik ben me</a:t>
            </a:r>
            <a:r>
              <a:rPr lang="en-US" sz="1900" i="1" dirty="0">
                <a:solidFill>
                  <a:schemeClr val="tx1"/>
                </a:solidFill>
              </a:rPr>
              <a:t> gisteren vergist in de planning, sorry! Karim voelt </a:t>
            </a:r>
            <a:r>
              <a:rPr lang="en-US" sz="1900" i="1" dirty="0">
                <a:solidFill>
                  <a:schemeClr val="tx1"/>
                </a:solidFill>
              </a:rPr>
              <a:t>hem</a:t>
            </a:r>
            <a:r>
              <a:rPr lang="en-US" sz="1900" i="1" dirty="0">
                <a:solidFill>
                  <a:schemeClr val="tx1"/>
                </a:solidFill>
              </a:rPr>
              <a:t> vandaag niet goed. We zien elkaar maandag! Lotte</a:t>
            </a:r>
            <a:endParaRPr lang="en-US" sz="1900" dirty="0"/>
          </a:p>
        </p:txBody>
      </p:sp>
      <p:pic>
        <p:nvPicPr>
          <p:cNvPr id="12" name="Image 1" descr="magnifying glass tilted lef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2023872"/>
            <a:ext cx="1463040" cy="146304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9052560" y="3715512"/>
            <a:ext cx="2587752" cy="822960"/>
          </a:xfrm>
          <a:prstGeom prst="roundRect">
            <a:avLst>
              <a:gd name="adj" fmla="val 8889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9052560" y="3715512"/>
            <a:ext cx="2587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5 erreurs ?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4 — Le détective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Lotte écrit à Sofie. Trouvez les 5 erreurs.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48640" y="1932432"/>
            <a:ext cx="8229600" cy="4358640"/>
          </a:xfrm>
          <a:prstGeom prst="roundRect">
            <a:avLst>
              <a:gd name="adj" fmla="val 1678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548640" y="1932432"/>
            <a:ext cx="8229600" cy="457200"/>
          </a:xfrm>
          <a:prstGeom prst="roundRect">
            <a:avLst>
              <a:gd name="adj" fmla="val 8000"/>
            </a:avLst>
          </a:prstGeom>
          <a:solidFill>
            <a:srgbClr val="E6EB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77240" y="19324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Chat · Lotte → Sofie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868680" y="2572512"/>
            <a:ext cx="7589520" cy="353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00" i="1" dirty="0">
                <a:solidFill>
                  <a:schemeClr val="tx1"/>
                </a:solidFill>
              </a:rPr>
              <a:t>Hoi Sofie! </a:t>
            </a:r>
            <a:r>
              <a:rPr lang="en-US" sz="1900" i="1" strike="sngStrike" dirty="0">
                <a:solidFill>
                  <a:schemeClr val="accent6"/>
                </a:solidFill>
              </a:rPr>
              <a:t>Ik noem me</a:t>
            </a:r>
            <a:r>
              <a:rPr lang="en-US" sz="1900" b="1" i="1" dirty="0">
                <a:solidFill>
                  <a:schemeClr val="accent3"/>
                </a:solidFill>
              </a:rPr>
              <a:t> Ik heet</a:t>
            </a:r>
            <a:r>
              <a:rPr lang="en-US" sz="1900" i="1" dirty="0">
                <a:solidFill>
                  <a:schemeClr val="tx1"/>
                </a:solidFill>
              </a:rPr>
              <a:t> Lotte, ik ben de nieuwe stagiaire. Vanmorgen </a:t>
            </a:r>
            <a:r>
              <a:rPr lang="en-US" sz="1900" i="1" strike="sngStrike" dirty="0">
                <a:solidFill>
                  <a:schemeClr val="accent6"/>
                </a:solidFill>
              </a:rPr>
              <a:t>heb ik me om zes uur opgestaan</a:t>
            </a:r>
            <a:r>
              <a:rPr lang="en-US" sz="1900" b="1" i="1" dirty="0">
                <a:solidFill>
                  <a:schemeClr val="accent3"/>
                </a:solidFill>
              </a:rPr>
              <a:t> ben ik om zes uur opgestaan</a:t>
            </a:r>
            <a:r>
              <a:rPr lang="en-US" sz="1900" i="1" dirty="0">
                <a:solidFill>
                  <a:schemeClr val="tx1"/>
                </a:solidFill>
              </a:rPr>
              <a:t>. Karim en ik bellen </a:t>
            </a:r>
            <a:r>
              <a:rPr lang="en-US" sz="1900" i="1" strike="sngStrike" dirty="0">
                <a:solidFill>
                  <a:schemeClr val="accent6"/>
                </a:solidFill>
              </a:rPr>
              <a:t>ons</a:t>
            </a:r>
            <a:r>
              <a:rPr lang="en-US" sz="1900" b="1" i="1" dirty="0">
                <a:solidFill>
                  <a:schemeClr val="accent3"/>
                </a:solidFill>
              </a:rPr>
              <a:t> elkaar</a:t>
            </a:r>
            <a:r>
              <a:rPr lang="en-US" sz="1900" i="1" dirty="0">
                <a:solidFill>
                  <a:schemeClr val="tx1"/>
                </a:solidFill>
              </a:rPr>
              <a:t> morgen over het project. </a:t>
            </a:r>
            <a:r>
              <a:rPr lang="en-US" sz="1900" i="1" strike="sngStrike" dirty="0">
                <a:solidFill>
                  <a:schemeClr val="accent6"/>
                </a:solidFill>
              </a:rPr>
              <a:t>Ik ben me</a:t>
            </a:r>
            <a:r>
              <a:rPr lang="en-US" sz="1900" b="1" i="1" dirty="0">
                <a:solidFill>
                  <a:schemeClr val="accent3"/>
                </a:solidFill>
              </a:rPr>
              <a:t> Ik heb me</a:t>
            </a:r>
            <a:r>
              <a:rPr lang="en-US" sz="1900" i="1" dirty="0">
                <a:solidFill>
                  <a:schemeClr val="tx1"/>
                </a:solidFill>
              </a:rPr>
              <a:t> gisteren vergist in de planning, sorry! Karim voelt </a:t>
            </a:r>
            <a:r>
              <a:rPr lang="en-US" sz="1900" i="1" strike="sngStrike" dirty="0">
                <a:solidFill>
                  <a:schemeClr val="accent6"/>
                </a:solidFill>
              </a:rPr>
              <a:t>hem</a:t>
            </a:r>
            <a:r>
              <a:rPr lang="en-US" sz="1900" b="1" i="1" dirty="0">
                <a:solidFill>
                  <a:schemeClr val="accent3"/>
                </a:solidFill>
              </a:rPr>
              <a:t> zich</a:t>
            </a:r>
            <a:r>
              <a:rPr lang="en-US" sz="1900" i="1" dirty="0">
                <a:solidFill>
                  <a:schemeClr val="tx1"/>
                </a:solidFill>
              </a:rPr>
              <a:t> vandaag niet goed. We zien elkaar maandag! Lotte</a:t>
            </a:r>
            <a:endParaRPr lang="en-US" sz="1900" dirty="0"/>
          </a:p>
        </p:txBody>
      </p:sp>
      <p:pic>
        <p:nvPicPr>
          <p:cNvPr id="13" name="Image 1" descr="magnifying glass tilted lef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2023872"/>
            <a:ext cx="1463040" cy="146304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9052560" y="3715512"/>
            <a:ext cx="2587752" cy="822960"/>
          </a:xfrm>
          <a:prstGeom prst="roundRect">
            <a:avLst>
              <a:gd name="adj" fmla="val 8889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9052560" y="3715512"/>
            <a:ext cx="2587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5 erreurs ✓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9052560" y="4721352"/>
            <a:ext cx="25877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Leurre : </a:t>
            </a:r>
            <a:r>
              <a:rPr lang="en-US" sz="1400" i="1" dirty="0">
                <a:solidFill>
                  <a:schemeClr val="accent5"/>
                </a:solidFill>
              </a:rPr>
              <a:t>We zien elkaar maandag!</a:t>
            </a:r>
            <a:r>
              <a:rPr lang="en-US" sz="1400" i="1" dirty="0">
                <a:solidFill>
                  <a:schemeClr val="accent5"/>
                </a:solidFill>
              </a:rPr>
              <a:t> est correct. </a:t>
            </a:r>
            <a:r>
              <a:rPr lang="en-US" sz="1400" i="1" dirty="0">
                <a:solidFill>
                  <a:schemeClr val="accent5"/>
                </a:solidFill>
              </a:rPr>
              <a:t>opstaan</a:t>
            </a:r>
            <a:r>
              <a:rPr lang="en-US" sz="1400" i="1" dirty="0">
                <a:solidFill>
                  <a:schemeClr val="accent5"/>
                </a:solidFill>
              </a:rPr>
              <a:t> n’est pas réfléchi et prend </a:t>
            </a:r>
            <a:r>
              <a:rPr lang="en-US" sz="1400" i="1" dirty="0">
                <a:solidFill>
                  <a:schemeClr val="accent5"/>
                </a:solidFill>
              </a:rPr>
              <a:t>zijn</a:t>
            </a:r>
            <a:r>
              <a:rPr lang="en-US" sz="1400" i="1" dirty="0">
                <a:solidFill>
                  <a:schemeClr val="accent5"/>
                </a:solidFill>
              </a:rPr>
              <a:t> (M15).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5 — Remettez en ordre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Remettez les mots dans l’ordre. Où va le pronom ?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548640" y="2185416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2185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 rot="-120000">
            <a:off x="1097280" y="2060448"/>
            <a:ext cx="685800" cy="615696"/>
          </a:xfrm>
          <a:prstGeom prst="roundRect">
            <a:avLst>
              <a:gd name="adj" fmla="val 14851"/>
            </a:avLst>
          </a:prstGeom>
          <a:solidFill>
            <a:srgbClr val="FFFFFF"/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1097280" y="2060448"/>
            <a:ext cx="68580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me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 rot="60000">
            <a:off x="2011680" y="2060448"/>
            <a:ext cx="1508760" cy="615696"/>
          </a:xfrm>
          <a:prstGeom prst="roundRect">
            <a:avLst>
              <a:gd name="adj" fmla="val 14851"/>
            </a:avLst>
          </a:prstGeom>
          <a:solidFill>
            <a:srgbClr val="FFFFFF"/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2011680" y="2060448"/>
            <a:ext cx="150876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gisteren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 rot="120000">
            <a:off x="3749040" y="2060448"/>
            <a:ext cx="1371600" cy="615696"/>
          </a:xfrm>
          <a:prstGeom prst="roundRect">
            <a:avLst>
              <a:gd name="adj" fmla="val 14851"/>
            </a:avLst>
          </a:prstGeom>
          <a:solidFill>
            <a:srgbClr val="FFFFFF"/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3749040" y="2060448"/>
            <a:ext cx="137160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vergist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 rot="-60000">
            <a:off x="5349240" y="2060448"/>
            <a:ext cx="685800" cy="615696"/>
          </a:xfrm>
          <a:prstGeom prst="roundRect">
            <a:avLst>
              <a:gd name="adj" fmla="val 14851"/>
            </a:avLst>
          </a:prstGeom>
          <a:solidFill>
            <a:srgbClr val="FFFFFF"/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349240" y="2060448"/>
            <a:ext cx="68580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ik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6263640" y="2060448"/>
            <a:ext cx="822960" cy="615696"/>
          </a:xfrm>
          <a:prstGeom prst="roundRect">
            <a:avLst>
              <a:gd name="adj" fmla="val 14851"/>
            </a:avLst>
          </a:prstGeom>
          <a:solidFill>
            <a:srgbClr val="FFFFFF"/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263640" y="2060448"/>
            <a:ext cx="82296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heb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548640" y="3057144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548640" y="3057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 rot="-120000">
            <a:off x="1097280" y="2932176"/>
            <a:ext cx="685800" cy="615696"/>
          </a:xfrm>
          <a:prstGeom prst="roundRect">
            <a:avLst>
              <a:gd name="adj" fmla="val 14851"/>
            </a:avLst>
          </a:prstGeom>
          <a:solidFill>
            <a:srgbClr val="FFFFFF"/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1097280" y="2932176"/>
            <a:ext cx="68580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je</a:t>
            </a:r>
            <a:endParaRPr lang="en-US" sz="1800" dirty="0"/>
          </a:p>
        </p:txBody>
      </p:sp>
      <p:sp>
        <p:nvSpPr>
          <p:cNvPr id="24" name="Shape 20"/>
          <p:cNvSpPr/>
          <p:nvPr/>
        </p:nvSpPr>
        <p:spPr>
          <a:xfrm rot="60000">
            <a:off x="2011680" y="2932176"/>
            <a:ext cx="822960" cy="615696"/>
          </a:xfrm>
          <a:prstGeom prst="roundRect">
            <a:avLst>
              <a:gd name="adj" fmla="val 14851"/>
            </a:avLst>
          </a:prstGeom>
          <a:solidFill>
            <a:srgbClr val="FFFFFF"/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2011680" y="2932176"/>
            <a:ext cx="82296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nog</a:t>
            </a:r>
            <a:endParaRPr lang="en-US" sz="1800" dirty="0"/>
          </a:p>
        </p:txBody>
      </p:sp>
      <p:sp>
        <p:nvSpPr>
          <p:cNvPr id="26" name="Shape 22"/>
          <p:cNvSpPr/>
          <p:nvPr/>
        </p:nvSpPr>
        <p:spPr>
          <a:xfrm rot="120000">
            <a:off x="3063240" y="2932176"/>
            <a:ext cx="1508760" cy="615696"/>
          </a:xfrm>
          <a:prstGeom prst="roundRect">
            <a:avLst>
              <a:gd name="adj" fmla="val 14851"/>
            </a:avLst>
          </a:prstGeom>
          <a:solidFill>
            <a:srgbClr val="FFFFFF"/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3063240" y="2932176"/>
            <a:ext cx="150876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herinner</a:t>
            </a:r>
            <a:endParaRPr lang="en-US" sz="1800" dirty="0"/>
          </a:p>
        </p:txBody>
      </p:sp>
      <p:sp>
        <p:nvSpPr>
          <p:cNvPr id="28" name="Shape 24"/>
          <p:cNvSpPr/>
          <p:nvPr/>
        </p:nvSpPr>
        <p:spPr>
          <a:xfrm rot="-60000">
            <a:off x="4800600" y="2932176"/>
            <a:ext cx="822960" cy="615696"/>
          </a:xfrm>
          <a:prstGeom prst="roundRect">
            <a:avLst>
              <a:gd name="adj" fmla="val 14851"/>
            </a:avLst>
          </a:prstGeom>
          <a:solidFill>
            <a:srgbClr val="FFFFFF"/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4800600" y="2932176"/>
            <a:ext cx="82296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dat</a:t>
            </a:r>
            <a:endParaRPr lang="en-US" sz="1800" dirty="0"/>
          </a:p>
        </p:txBody>
      </p:sp>
      <p:sp>
        <p:nvSpPr>
          <p:cNvPr id="30" name="Shape 26"/>
          <p:cNvSpPr/>
          <p:nvPr/>
        </p:nvSpPr>
        <p:spPr>
          <a:xfrm>
            <a:off x="5852160" y="2932176"/>
            <a:ext cx="685800" cy="615696"/>
          </a:xfrm>
          <a:prstGeom prst="roundRect">
            <a:avLst>
              <a:gd name="adj" fmla="val 14851"/>
            </a:avLst>
          </a:prstGeom>
          <a:solidFill>
            <a:srgbClr val="FFFFFF"/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5852160" y="2932176"/>
            <a:ext cx="68580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je</a:t>
            </a:r>
            <a:endParaRPr lang="en-US" sz="1800" dirty="0"/>
          </a:p>
        </p:txBody>
      </p:sp>
      <p:sp>
        <p:nvSpPr>
          <p:cNvPr id="32" name="Shape 28"/>
          <p:cNvSpPr/>
          <p:nvPr/>
        </p:nvSpPr>
        <p:spPr>
          <a:xfrm rot="60000">
            <a:off x="6766560" y="2932176"/>
            <a:ext cx="548640" cy="61569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6766560" y="2932176"/>
            <a:ext cx="54864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?</a:t>
            </a:r>
            <a:endParaRPr lang="en-US" sz="1800" dirty="0"/>
          </a:p>
        </p:txBody>
      </p:sp>
      <p:sp>
        <p:nvSpPr>
          <p:cNvPr id="34" name="Shape 30"/>
          <p:cNvSpPr/>
          <p:nvPr/>
        </p:nvSpPr>
        <p:spPr>
          <a:xfrm>
            <a:off x="548640" y="392887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548640" y="3928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36" name="Shape 32"/>
          <p:cNvSpPr/>
          <p:nvPr/>
        </p:nvSpPr>
        <p:spPr>
          <a:xfrm rot="-120000">
            <a:off x="1097280" y="3803904"/>
            <a:ext cx="960120" cy="615696"/>
          </a:xfrm>
          <a:prstGeom prst="roundRect">
            <a:avLst>
              <a:gd name="adj" fmla="val 14851"/>
            </a:avLst>
          </a:prstGeom>
          <a:solidFill>
            <a:srgbClr val="FFFFFF"/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1097280" y="3803904"/>
            <a:ext cx="96012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zich</a:t>
            </a:r>
            <a:endParaRPr lang="en-US" sz="1800" dirty="0"/>
          </a:p>
        </p:txBody>
      </p:sp>
      <p:sp>
        <p:nvSpPr>
          <p:cNvPr id="38" name="Shape 34"/>
          <p:cNvSpPr/>
          <p:nvPr/>
        </p:nvSpPr>
        <p:spPr>
          <a:xfrm rot="60000">
            <a:off x="2286000" y="3803904"/>
            <a:ext cx="960120" cy="615696"/>
          </a:xfrm>
          <a:prstGeom prst="roundRect">
            <a:avLst>
              <a:gd name="adj" fmla="val 14851"/>
            </a:avLst>
          </a:prstGeom>
          <a:solidFill>
            <a:srgbClr val="FFFFFF"/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2286000" y="3803904"/>
            <a:ext cx="96012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voor</a:t>
            </a:r>
            <a:endParaRPr lang="en-US" sz="1800" dirty="0"/>
          </a:p>
        </p:txBody>
      </p:sp>
      <p:sp>
        <p:nvSpPr>
          <p:cNvPr id="40" name="Shape 36"/>
          <p:cNvSpPr/>
          <p:nvPr/>
        </p:nvSpPr>
        <p:spPr>
          <a:xfrm rot="120000">
            <a:off x="3474720" y="3803904"/>
            <a:ext cx="1097280" cy="615696"/>
          </a:xfrm>
          <a:prstGeom prst="roundRect">
            <a:avLst>
              <a:gd name="adj" fmla="val 14851"/>
            </a:avLst>
          </a:prstGeom>
          <a:solidFill>
            <a:srgbClr val="FFFFFF"/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3474720" y="3803904"/>
            <a:ext cx="109728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stelt</a:t>
            </a:r>
            <a:endParaRPr lang="en-US" sz="1800" dirty="0"/>
          </a:p>
        </p:txBody>
      </p:sp>
      <p:sp>
        <p:nvSpPr>
          <p:cNvPr id="42" name="Shape 38"/>
          <p:cNvSpPr/>
          <p:nvPr/>
        </p:nvSpPr>
        <p:spPr>
          <a:xfrm rot="-60000">
            <a:off x="4800600" y="3803904"/>
            <a:ext cx="2743200" cy="615696"/>
          </a:xfrm>
          <a:prstGeom prst="roundRect">
            <a:avLst>
              <a:gd name="adj" fmla="val 14851"/>
            </a:avLst>
          </a:prstGeom>
          <a:solidFill>
            <a:srgbClr val="FFFFFF"/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4800600" y="3803904"/>
            <a:ext cx="274320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de nieuwe collega</a:t>
            </a:r>
            <a:endParaRPr lang="en-US" sz="1800" dirty="0"/>
          </a:p>
        </p:txBody>
      </p:sp>
      <p:sp>
        <p:nvSpPr>
          <p:cNvPr id="44" name="Shape 40"/>
          <p:cNvSpPr/>
          <p:nvPr/>
        </p:nvSpPr>
        <p:spPr>
          <a:xfrm>
            <a:off x="548640" y="4800600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548640" y="4800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46" name="Shape 42"/>
          <p:cNvSpPr/>
          <p:nvPr/>
        </p:nvSpPr>
        <p:spPr>
          <a:xfrm rot="-120000">
            <a:off x="1097280" y="4675632"/>
            <a:ext cx="1234440" cy="615696"/>
          </a:xfrm>
          <a:prstGeom prst="roundRect">
            <a:avLst>
              <a:gd name="adj" fmla="val 14851"/>
            </a:avLst>
          </a:prstGeom>
          <a:solidFill>
            <a:srgbClr val="FFFFFF"/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1097280" y="4675632"/>
            <a:ext cx="123444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elkaar</a:t>
            </a:r>
            <a:endParaRPr lang="en-US" sz="1800" dirty="0"/>
          </a:p>
        </p:txBody>
      </p:sp>
      <p:sp>
        <p:nvSpPr>
          <p:cNvPr id="48" name="Shape 44"/>
          <p:cNvSpPr/>
          <p:nvPr/>
        </p:nvSpPr>
        <p:spPr>
          <a:xfrm rot="60000">
            <a:off x="2560320" y="4675632"/>
            <a:ext cx="1234440" cy="615696"/>
          </a:xfrm>
          <a:prstGeom prst="roundRect">
            <a:avLst>
              <a:gd name="adj" fmla="val 14851"/>
            </a:avLst>
          </a:prstGeom>
          <a:solidFill>
            <a:srgbClr val="FFFFFF"/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49" name="Text 45"/>
          <p:cNvSpPr txBox="1"/>
          <p:nvPr/>
        </p:nvSpPr>
        <p:spPr>
          <a:xfrm>
            <a:off x="2560320" y="4675632"/>
            <a:ext cx="123444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morgen</a:t>
            </a:r>
            <a:endParaRPr lang="en-US" sz="1800" dirty="0"/>
          </a:p>
        </p:txBody>
      </p:sp>
      <p:sp>
        <p:nvSpPr>
          <p:cNvPr id="50" name="Shape 46"/>
          <p:cNvSpPr/>
          <p:nvPr/>
        </p:nvSpPr>
        <p:spPr>
          <a:xfrm rot="120000">
            <a:off x="4023360" y="4675632"/>
            <a:ext cx="960120" cy="615696"/>
          </a:xfrm>
          <a:prstGeom prst="roundRect">
            <a:avLst>
              <a:gd name="adj" fmla="val 14851"/>
            </a:avLst>
          </a:prstGeom>
          <a:solidFill>
            <a:srgbClr val="FFFFFF"/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51" name="Text 47"/>
          <p:cNvSpPr txBox="1"/>
          <p:nvPr/>
        </p:nvSpPr>
        <p:spPr>
          <a:xfrm>
            <a:off x="4023360" y="4675632"/>
            <a:ext cx="96012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zien</a:t>
            </a:r>
            <a:endParaRPr lang="en-US" sz="1800" dirty="0"/>
          </a:p>
        </p:txBody>
      </p:sp>
      <p:sp>
        <p:nvSpPr>
          <p:cNvPr id="52" name="Shape 48"/>
          <p:cNvSpPr/>
          <p:nvPr/>
        </p:nvSpPr>
        <p:spPr>
          <a:xfrm rot="-60000">
            <a:off x="5212080" y="4675632"/>
            <a:ext cx="685800" cy="615696"/>
          </a:xfrm>
          <a:prstGeom prst="roundRect">
            <a:avLst>
              <a:gd name="adj" fmla="val 14851"/>
            </a:avLst>
          </a:prstGeom>
          <a:solidFill>
            <a:srgbClr val="FFFFFF"/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53" name="Text 49"/>
          <p:cNvSpPr txBox="1"/>
          <p:nvPr/>
        </p:nvSpPr>
        <p:spPr>
          <a:xfrm>
            <a:off x="5212080" y="4675632"/>
            <a:ext cx="68580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we</a:t>
            </a:r>
            <a:endParaRPr lang="en-US" sz="1800" dirty="0"/>
          </a:p>
        </p:txBody>
      </p:sp>
      <p:sp>
        <p:nvSpPr>
          <p:cNvPr id="54" name="Shape 50"/>
          <p:cNvSpPr/>
          <p:nvPr/>
        </p:nvSpPr>
        <p:spPr>
          <a:xfrm>
            <a:off x="548640" y="5672328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Text 51"/>
          <p:cNvSpPr txBox="1"/>
          <p:nvPr/>
        </p:nvSpPr>
        <p:spPr>
          <a:xfrm>
            <a:off x="548640" y="5672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56" name="Shape 52"/>
          <p:cNvSpPr/>
          <p:nvPr/>
        </p:nvSpPr>
        <p:spPr>
          <a:xfrm rot="-120000">
            <a:off x="1097280" y="5547360"/>
            <a:ext cx="1234440" cy="615696"/>
          </a:xfrm>
          <a:prstGeom prst="roundRect">
            <a:avLst>
              <a:gd name="adj" fmla="val 14851"/>
            </a:avLst>
          </a:prstGeom>
          <a:solidFill>
            <a:srgbClr val="FFFFFF"/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57" name="Text 53"/>
          <p:cNvSpPr txBox="1"/>
          <p:nvPr/>
        </p:nvSpPr>
        <p:spPr>
          <a:xfrm>
            <a:off x="1097280" y="5547360"/>
            <a:ext cx="123444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moeten</a:t>
            </a:r>
            <a:endParaRPr lang="en-US" sz="1800" dirty="0"/>
          </a:p>
        </p:txBody>
      </p:sp>
      <p:sp>
        <p:nvSpPr>
          <p:cNvPr id="58" name="Shape 54"/>
          <p:cNvSpPr/>
          <p:nvPr/>
        </p:nvSpPr>
        <p:spPr>
          <a:xfrm rot="60000">
            <a:off x="2560320" y="5547360"/>
            <a:ext cx="822960" cy="615696"/>
          </a:xfrm>
          <a:prstGeom prst="roundRect">
            <a:avLst>
              <a:gd name="adj" fmla="val 14851"/>
            </a:avLst>
          </a:prstGeom>
          <a:solidFill>
            <a:srgbClr val="FFFFFF"/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59" name="Text 55"/>
          <p:cNvSpPr txBox="1"/>
          <p:nvPr/>
        </p:nvSpPr>
        <p:spPr>
          <a:xfrm>
            <a:off x="2560320" y="5547360"/>
            <a:ext cx="82296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ons</a:t>
            </a:r>
            <a:endParaRPr lang="en-US" sz="1800" dirty="0"/>
          </a:p>
        </p:txBody>
      </p:sp>
      <p:sp>
        <p:nvSpPr>
          <p:cNvPr id="60" name="Shape 56"/>
          <p:cNvSpPr/>
          <p:nvPr/>
        </p:nvSpPr>
        <p:spPr>
          <a:xfrm rot="120000">
            <a:off x="3611880" y="5547360"/>
            <a:ext cx="685800" cy="615696"/>
          </a:xfrm>
          <a:prstGeom prst="roundRect">
            <a:avLst>
              <a:gd name="adj" fmla="val 14851"/>
            </a:avLst>
          </a:prstGeom>
          <a:solidFill>
            <a:srgbClr val="FFFFFF"/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61" name="Text 57"/>
          <p:cNvSpPr txBox="1"/>
          <p:nvPr/>
        </p:nvSpPr>
        <p:spPr>
          <a:xfrm>
            <a:off x="3611880" y="5547360"/>
            <a:ext cx="68580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we</a:t>
            </a:r>
            <a:endParaRPr lang="en-US" sz="1800" dirty="0"/>
          </a:p>
        </p:txBody>
      </p:sp>
      <p:sp>
        <p:nvSpPr>
          <p:cNvPr id="62" name="Shape 58"/>
          <p:cNvSpPr/>
          <p:nvPr/>
        </p:nvSpPr>
        <p:spPr>
          <a:xfrm rot="-60000">
            <a:off x="4526280" y="5547360"/>
            <a:ext cx="1371600" cy="615696"/>
          </a:xfrm>
          <a:prstGeom prst="roundRect">
            <a:avLst>
              <a:gd name="adj" fmla="val 14851"/>
            </a:avLst>
          </a:prstGeom>
          <a:solidFill>
            <a:srgbClr val="FFFFFF"/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63" name="Text 59"/>
          <p:cNvSpPr txBox="1"/>
          <p:nvPr/>
        </p:nvSpPr>
        <p:spPr>
          <a:xfrm>
            <a:off x="4526280" y="5547360"/>
            <a:ext cx="137160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haasten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5 — Remettez en ordre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Remettez les mots dans l’ordre. Où va le pronom ?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48640" y="2185416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48640" y="2185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1097280" y="1996440"/>
            <a:ext cx="10543032" cy="743712"/>
          </a:xfrm>
          <a:prstGeom prst="roundRect">
            <a:avLst>
              <a:gd name="adj" fmla="val 9836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234440" y="1996440"/>
            <a:ext cx="10332720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i="1" dirty="0">
                <a:solidFill>
                  <a:schemeClr val="accent3"/>
                </a:solidFill>
              </a:rPr>
              <a:t>Ik heb me gisteren vergist.</a:t>
            </a:r>
            <a:endParaRPr lang="en-US" sz="2100" dirty="0"/>
          </a:p>
        </p:txBody>
      </p:sp>
      <p:sp>
        <p:nvSpPr>
          <p:cNvPr id="13" name="Shape 9"/>
          <p:cNvSpPr/>
          <p:nvPr/>
        </p:nvSpPr>
        <p:spPr>
          <a:xfrm>
            <a:off x="548640" y="3057144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48640" y="3057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1097280" y="2868168"/>
            <a:ext cx="10543032" cy="743712"/>
          </a:xfrm>
          <a:prstGeom prst="roundRect">
            <a:avLst>
              <a:gd name="adj" fmla="val 9836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1234440" y="2868168"/>
            <a:ext cx="10332720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i="1" dirty="0">
                <a:solidFill>
                  <a:schemeClr val="accent3"/>
                </a:solidFill>
              </a:rPr>
              <a:t>Herinner je je dat nog?</a:t>
            </a:r>
            <a:endParaRPr lang="en-US" sz="2100" dirty="0"/>
          </a:p>
        </p:txBody>
      </p:sp>
      <p:sp>
        <p:nvSpPr>
          <p:cNvPr id="17" name="Shape 13"/>
          <p:cNvSpPr/>
          <p:nvPr/>
        </p:nvSpPr>
        <p:spPr>
          <a:xfrm>
            <a:off x="548640" y="392887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48640" y="3928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1097280" y="3739896"/>
            <a:ext cx="10543032" cy="743712"/>
          </a:xfrm>
          <a:prstGeom prst="roundRect">
            <a:avLst>
              <a:gd name="adj" fmla="val 9836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1234440" y="3739896"/>
            <a:ext cx="10332720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i="1" dirty="0">
                <a:solidFill>
                  <a:schemeClr val="accent3"/>
                </a:solidFill>
              </a:rPr>
              <a:t>De nieuwe collega stelt zich voor.</a:t>
            </a:r>
            <a:endParaRPr lang="en-US" sz="2100" dirty="0"/>
          </a:p>
        </p:txBody>
      </p:sp>
      <p:sp>
        <p:nvSpPr>
          <p:cNvPr id="21" name="Shape 17"/>
          <p:cNvSpPr/>
          <p:nvPr/>
        </p:nvSpPr>
        <p:spPr>
          <a:xfrm>
            <a:off x="548640" y="4800600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548640" y="4800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1097280" y="4611624"/>
            <a:ext cx="10543032" cy="743712"/>
          </a:xfrm>
          <a:prstGeom prst="roundRect">
            <a:avLst>
              <a:gd name="adj" fmla="val 9836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1234440" y="4611624"/>
            <a:ext cx="10332720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i="1" dirty="0">
                <a:solidFill>
                  <a:schemeClr val="accent3"/>
                </a:solidFill>
              </a:rPr>
              <a:t>We zien elkaar morgen.</a:t>
            </a:r>
            <a:endParaRPr lang="en-US" sz="2100" dirty="0"/>
          </a:p>
        </p:txBody>
      </p:sp>
      <p:sp>
        <p:nvSpPr>
          <p:cNvPr id="25" name="Shape 21"/>
          <p:cNvSpPr/>
          <p:nvPr/>
        </p:nvSpPr>
        <p:spPr>
          <a:xfrm>
            <a:off x="548640" y="5672328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548640" y="5672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1097280" y="5483352"/>
            <a:ext cx="10543032" cy="743712"/>
          </a:xfrm>
          <a:prstGeom prst="roundRect">
            <a:avLst>
              <a:gd name="adj" fmla="val 9836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1234440" y="5483352"/>
            <a:ext cx="10332720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i="1" dirty="0">
                <a:solidFill>
                  <a:schemeClr val="accent3"/>
                </a:solidFill>
              </a:rPr>
              <a:t>We moeten ons haasten.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6 — Mime !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1783080" cy="20116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25400">
            <a:solidFill>
              <a:srgbClr val="2A6FB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7" name="tag"/>
          <p:cNvSpPr/>
          <p:nvPr/>
        </p:nvSpPr>
        <p:spPr>
          <a:xfrm>
            <a:off x="658368" y="1709928"/>
            <a:ext cx="725424" cy="27432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seul</a:t>
            </a:r>
            <a:endParaRPr lang="en-US" sz="1000" dirty="0"/>
          </a:p>
        </p:txBody>
      </p:sp>
      <p:pic>
        <p:nvPicPr>
          <p:cNvPr id="8" name="Image 0" descr="t shi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2057400"/>
            <a:ext cx="731520" cy="7315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21792" y="2880360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chemeClr val="tx1"/>
                </a:solidFill>
              </a:rPr>
              <a:t>zich aankleden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2441448" y="1600200"/>
            <a:ext cx="1783080" cy="20116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25400">
            <a:solidFill>
              <a:srgbClr val="2A6FB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1" name="tag"/>
          <p:cNvSpPr/>
          <p:nvPr/>
        </p:nvSpPr>
        <p:spPr>
          <a:xfrm>
            <a:off x="2551176" y="1709928"/>
            <a:ext cx="725424" cy="27432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seul</a:t>
            </a:r>
            <a:endParaRPr lang="en-US" sz="1000" dirty="0"/>
          </a:p>
        </p:txBody>
      </p:sp>
      <p:pic>
        <p:nvPicPr>
          <p:cNvPr id="12" name="Image 1" descr="person runn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7228" y="2057400"/>
            <a:ext cx="731520" cy="7315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2514600" y="2880360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chemeClr val="tx1"/>
                </a:solidFill>
              </a:rPr>
              <a:t>zich haasten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4334256" y="1600200"/>
            <a:ext cx="1783080" cy="20116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25400">
            <a:solidFill>
              <a:srgbClr val="2A6FB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5" name="tag"/>
          <p:cNvSpPr/>
          <p:nvPr/>
        </p:nvSpPr>
        <p:spPr>
          <a:xfrm>
            <a:off x="4443984" y="1709928"/>
            <a:ext cx="725424" cy="27432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seul</a:t>
            </a:r>
            <a:endParaRPr lang="en-US" sz="1000" dirty="0"/>
          </a:p>
        </p:txBody>
      </p:sp>
      <p:pic>
        <p:nvPicPr>
          <p:cNvPr id="16" name="Image 2" descr="yawning fac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0036" y="2057400"/>
            <a:ext cx="731520" cy="7315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4407408" y="2880360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chemeClr val="tx1"/>
                </a:solidFill>
              </a:rPr>
              <a:t>zich vervelen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6227064" y="1600200"/>
            <a:ext cx="1783080" cy="20116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25400">
            <a:solidFill>
              <a:srgbClr val="2A6FB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9" name="tag"/>
          <p:cNvSpPr/>
          <p:nvPr/>
        </p:nvSpPr>
        <p:spPr>
          <a:xfrm>
            <a:off x="6336792" y="1709928"/>
            <a:ext cx="725424" cy="27432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seul</a:t>
            </a:r>
            <a:endParaRPr lang="en-US" sz="1000" dirty="0"/>
          </a:p>
        </p:txBody>
      </p:sp>
      <p:pic>
        <p:nvPicPr>
          <p:cNvPr id="20" name="Image 3" descr="bullsey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2844" y="2057400"/>
            <a:ext cx="731520" cy="7315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6300216" y="2880360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chemeClr val="tx1"/>
                </a:solidFill>
              </a:rPr>
              <a:t>zich concentreren</a:t>
            </a:r>
            <a:endParaRPr lang="en-US" sz="1400" dirty="0"/>
          </a:p>
        </p:txBody>
      </p:sp>
      <p:sp>
        <p:nvSpPr>
          <p:cNvPr id="22" name="Shape 15"/>
          <p:cNvSpPr/>
          <p:nvPr/>
        </p:nvSpPr>
        <p:spPr>
          <a:xfrm>
            <a:off x="548640" y="3749040"/>
            <a:ext cx="1783080" cy="20116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25400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3" name="tag"/>
          <p:cNvSpPr/>
          <p:nvPr/>
        </p:nvSpPr>
        <p:spPr>
          <a:xfrm>
            <a:off x="658368" y="3858768"/>
            <a:ext cx="1014984" cy="27432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à deux</a:t>
            </a:r>
            <a:endParaRPr lang="en-US" sz="1000" dirty="0"/>
          </a:p>
        </p:txBody>
      </p:sp>
      <p:pic>
        <p:nvPicPr>
          <p:cNvPr id="24" name="Image 4" descr="handshak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4420" y="4206240"/>
            <a:ext cx="731520" cy="73152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621792" y="5029200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chemeClr val="tx1"/>
                </a:solidFill>
              </a:rPr>
              <a:t>elkaar een hand geven</a:t>
            </a:r>
            <a:endParaRPr lang="en-US" sz="1400" dirty="0"/>
          </a:p>
        </p:txBody>
      </p:sp>
      <p:sp>
        <p:nvSpPr>
          <p:cNvPr id="26" name="Shape 18"/>
          <p:cNvSpPr/>
          <p:nvPr/>
        </p:nvSpPr>
        <p:spPr>
          <a:xfrm>
            <a:off x="2441448" y="3749040"/>
            <a:ext cx="1783080" cy="20116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25400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7" name="tag"/>
          <p:cNvSpPr/>
          <p:nvPr/>
        </p:nvSpPr>
        <p:spPr>
          <a:xfrm>
            <a:off x="2551176" y="3858768"/>
            <a:ext cx="1014984" cy="27432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à deux</a:t>
            </a:r>
            <a:endParaRPr lang="en-US" sz="1000" dirty="0"/>
          </a:p>
        </p:txBody>
      </p:sp>
      <p:pic>
        <p:nvPicPr>
          <p:cNvPr id="28" name="Image 5" descr="telephone receive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67228" y="4206240"/>
            <a:ext cx="731520" cy="731520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2514600" y="5029200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chemeClr val="tx1"/>
                </a:solidFill>
              </a:rPr>
              <a:t>elkaar bellen</a:t>
            </a:r>
            <a:endParaRPr lang="en-US" sz="1400" dirty="0"/>
          </a:p>
        </p:txBody>
      </p:sp>
      <p:sp>
        <p:nvSpPr>
          <p:cNvPr id="30" name="Shape 21"/>
          <p:cNvSpPr/>
          <p:nvPr/>
        </p:nvSpPr>
        <p:spPr>
          <a:xfrm>
            <a:off x="4334256" y="3749040"/>
            <a:ext cx="1783080" cy="20116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25400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31" name="tag"/>
          <p:cNvSpPr/>
          <p:nvPr/>
        </p:nvSpPr>
        <p:spPr>
          <a:xfrm>
            <a:off x="4443984" y="3858768"/>
            <a:ext cx="1014984" cy="27432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à deux</a:t>
            </a:r>
            <a:endParaRPr lang="en-US" sz="1000" dirty="0"/>
          </a:p>
        </p:txBody>
      </p:sp>
      <p:pic>
        <p:nvPicPr>
          <p:cNvPr id="32" name="Image 6" descr="people huggi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60036" y="4206240"/>
            <a:ext cx="731520" cy="731520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4407408" y="5029200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chemeClr val="tx1"/>
                </a:solidFill>
              </a:rPr>
              <a:t>elkaar helpen</a:t>
            </a:r>
            <a:endParaRPr lang="en-US" sz="1400" dirty="0"/>
          </a:p>
        </p:txBody>
      </p:sp>
      <p:sp>
        <p:nvSpPr>
          <p:cNvPr id="34" name="Shape 24"/>
          <p:cNvSpPr/>
          <p:nvPr/>
        </p:nvSpPr>
        <p:spPr>
          <a:xfrm>
            <a:off x="6227064" y="3749040"/>
            <a:ext cx="1783080" cy="20116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25400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35" name="tag"/>
          <p:cNvSpPr/>
          <p:nvPr/>
        </p:nvSpPr>
        <p:spPr>
          <a:xfrm>
            <a:off x="6336792" y="3858768"/>
            <a:ext cx="1014984" cy="27432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à deux</a:t>
            </a:r>
            <a:endParaRPr lang="en-US" sz="1000" dirty="0"/>
          </a:p>
        </p:txBody>
      </p:sp>
      <p:pic>
        <p:nvPicPr>
          <p:cNvPr id="36" name="Image 7" descr="hourglass not done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52844" y="4206240"/>
            <a:ext cx="731520" cy="731520"/>
          </a:xfrm>
          <a:prstGeom prst="rect">
            <a:avLst/>
          </a:prstGeom>
        </p:spPr>
      </p:pic>
      <p:sp>
        <p:nvSpPr>
          <p:cNvPr id="37" name="Text 26"/>
          <p:cNvSpPr txBox="1"/>
          <p:nvPr/>
        </p:nvSpPr>
        <p:spPr>
          <a:xfrm>
            <a:off x="6300216" y="5029200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chemeClr val="tx1"/>
                </a:solidFill>
              </a:rPr>
              <a:t>op elkaar wachten</a:t>
            </a:r>
            <a:endParaRPr lang="en-US" sz="1400" dirty="0"/>
          </a:p>
        </p:txBody>
      </p:sp>
      <p:pic>
        <p:nvPicPr>
          <p:cNvPr id="38" name="Image 8" descr="performing arts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21040" y="1600200"/>
            <a:ext cx="731520" cy="731520"/>
          </a:xfrm>
          <a:prstGeom prst="rect">
            <a:avLst/>
          </a:prstGeom>
        </p:spPr>
      </p:pic>
      <p:sp>
        <p:nvSpPr>
          <p:cNvPr id="39" name="Text 27"/>
          <p:cNvSpPr txBox="1"/>
          <p:nvPr/>
        </p:nvSpPr>
        <p:spPr>
          <a:xfrm>
            <a:off x="9144000" y="1600200"/>
            <a:ext cx="2496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Mime!</a:t>
            </a:r>
            <a:endParaRPr lang="en-US" sz="2800" dirty="0"/>
          </a:p>
        </p:txBody>
      </p:sp>
      <p:sp>
        <p:nvSpPr>
          <p:cNvPr id="40" name="Text 28"/>
          <p:cNvSpPr txBox="1"/>
          <p:nvPr/>
        </p:nvSpPr>
        <p:spPr>
          <a:xfrm>
            <a:off x="8321040" y="2514600"/>
            <a:ext cx="331927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1.</a:t>
            </a:r>
            <a:r>
              <a:rPr lang="en-US" sz="1500" dirty="0">
                <a:solidFill>
                  <a:schemeClr val="tx1"/>
                </a:solidFill>
              </a:rPr>
              <a:t> Tirez une carte et mimez, seul ou à deux.</a:t>
            </a:r>
            <a:endParaRPr lang="en-US" sz="15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2.</a:t>
            </a:r>
            <a:r>
              <a:rPr lang="en-US" sz="1500" dirty="0">
                <a:solidFill>
                  <a:schemeClr val="tx1"/>
                </a:solidFill>
              </a:rPr>
              <a:t> La classe devine avec une phrase complète : </a:t>
            </a:r>
            <a:r>
              <a:rPr lang="en-US" sz="1500" i="1" dirty="0">
                <a:solidFill>
                  <a:schemeClr val="tx1"/>
                </a:solidFill>
              </a:rPr>
              <a:t>Hij haast zich! · Ze bellen elkaar!</a:t>
            </a:r>
            <a:endParaRPr lang="en-US" sz="15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3.</a:t>
            </a:r>
            <a:r>
              <a:rPr lang="en-US" sz="1500" dirty="0">
                <a:solidFill>
                  <a:schemeClr val="tx1"/>
                </a:solidFill>
              </a:rPr>
              <a:t> Phrase juste = 1 point.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7 — Le réseautage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2200046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MISE EN SITUATION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★★★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1481328"/>
            <a:ext cx="7251192" cy="755904"/>
          </a:xfrm>
          <a:prstGeom prst="roundRect">
            <a:avLst>
              <a:gd name="adj" fmla="val 9677"/>
            </a:avLst>
          </a:prstGeom>
          <a:solidFill>
            <a:srgbClr val="6E4A9E">
              <a:alpha val="10000"/>
            </a:srgbClr>
          </a:solidFill>
          <a:ln w="12700">
            <a:solidFill>
              <a:srgbClr val="6E4A9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481328"/>
            <a:ext cx="6793992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Soirée de réseautage à Bruxelles : on se présente, on vérifie si on se connaît et on prévoit de se revoir.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48640" y="2420112"/>
            <a:ext cx="3488436" cy="2087880"/>
          </a:xfrm>
          <a:prstGeom prst="roundRect">
            <a:avLst>
              <a:gd name="adj" fmla="val 3504"/>
            </a:avLst>
          </a:prstGeom>
          <a:solidFill>
            <a:schemeClr val="bg1"/>
          </a:solidFill>
          <a:ln w="19050">
            <a:solidFill>
              <a:srgbClr val="2A6FB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13232" y="2557272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13232" y="2557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325880" y="2511552"/>
            <a:ext cx="2574036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Participant·e A</a:t>
            </a:r>
            <a:r>
              <a:rPr lang="en-US" sz="1700" dirty="0">
                <a:solidFill>
                  <a:schemeClr val="tx1"/>
                </a:solidFill>
              </a:rPr>
              <a:t> : présentez-vous et demandez si vous vous connaissez : </a:t>
            </a:r>
            <a:r>
              <a:rPr lang="en-US" sz="1700" i="1" dirty="0">
                <a:solidFill>
                  <a:schemeClr val="tx1"/>
                </a:solidFill>
              </a:rPr>
              <a:t>Kennen we elkaar?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4311396" y="2420112"/>
            <a:ext cx="3488436" cy="2087880"/>
          </a:xfrm>
          <a:prstGeom prst="roundRect">
            <a:avLst>
              <a:gd name="adj" fmla="val 3504"/>
            </a:avLst>
          </a:prstGeom>
          <a:solidFill>
            <a:schemeClr val="bg1"/>
          </a:solidFill>
          <a:ln w="19050">
            <a:solidFill>
              <a:srgbClr val="6E4A9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75988" y="2557272"/>
            <a:ext cx="457200" cy="457200"/>
          </a:xfrm>
          <a:prstGeom prst="ellipse">
            <a:avLst/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475988" y="2557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5088636" y="2511552"/>
            <a:ext cx="2574036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Participant·e B</a:t>
            </a:r>
            <a:r>
              <a:rPr lang="en-US" sz="1700" dirty="0">
                <a:solidFill>
                  <a:schemeClr val="tx1"/>
                </a:solidFill>
              </a:rPr>
              <a:t> : répondez, excusez-vous si vous vous trompez, proposez de vous revoir.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548640" y="4690872"/>
            <a:ext cx="7251192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1520" y="47640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BANQUE DE PHRASES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731520" y="5056632"/>
            <a:ext cx="688543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Mag ik me even voorstellen? · Kennen we elkaar? · Ik herinner me uw naam. · Sorry, ik vergis me. · We zien elkaar volgende week! · Zullen we elkaar mailen?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074152" y="1481328"/>
            <a:ext cx="3566160" cy="4809744"/>
          </a:xfrm>
          <a:prstGeom prst="roundRect">
            <a:avLst>
              <a:gd name="adj" fmla="val 1026"/>
            </a:avLst>
          </a:prstGeom>
          <a:solidFill>
            <a:srgbClr val="FFFFFF"/>
          </a:solidFill>
          <a:ln w="12700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074152" y="1481328"/>
            <a:ext cx="3566160" cy="4572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11312" y="148132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DEELNEMERS · NETWERKAVOND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8165592" y="2029968"/>
            <a:ext cx="3383280" cy="950976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 w="12700">
            <a:solidFill>
              <a:srgbClr val="2A6FB0"/>
            </a:solidFill>
            <a:prstDash val="solid"/>
          </a:ln>
        </p:spPr>
      </p:sp>
      <p:pic>
        <p:nvPicPr>
          <p:cNvPr id="23" name="Image 0" descr="woman office work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7032" y="2231136"/>
            <a:ext cx="548640" cy="548640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8897112" y="2029968"/>
            <a:ext cx="26060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Eva Wouters</a:t>
            </a:r>
            <a:endParaRPr lang="en-US" sz="12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Maesbouw · Brussel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8165592" y="3072384"/>
            <a:ext cx="3383280" cy="950976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 w="12700">
            <a:solidFill>
              <a:srgbClr val="2A6FB0"/>
            </a:solidFill>
            <a:prstDash val="solid"/>
          </a:ln>
        </p:spPr>
      </p:sp>
      <p:pic>
        <p:nvPicPr>
          <p:cNvPr id="26" name="Image 1" descr="man office work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7032" y="3273552"/>
            <a:ext cx="548640" cy="548640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8897112" y="3072384"/>
            <a:ext cx="26060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Tom De Smet</a:t>
            </a:r>
            <a:endParaRPr lang="en-US" sz="12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Koopzo · Leuven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8165592" y="4114800"/>
            <a:ext cx="3383280" cy="950976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 w="12700">
            <a:solidFill>
              <a:srgbClr val="2A6FB0"/>
            </a:solidFill>
            <a:prstDash val="solid"/>
          </a:ln>
        </p:spPr>
      </p:sp>
      <p:pic>
        <p:nvPicPr>
          <p:cNvPr id="29" name="Image 2" descr="woma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7032" y="4315968"/>
            <a:ext cx="548640" cy="548640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8897112" y="4114800"/>
            <a:ext cx="26060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Nadia El Amrani</a:t>
            </a:r>
            <a:endParaRPr lang="en-US" sz="12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Sportclub Vitaal · Gent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8165592" y="5157216"/>
            <a:ext cx="3383280" cy="950976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 w="12700">
            <a:solidFill>
              <a:srgbClr val="2A6FB0"/>
            </a:solidFill>
            <a:prstDash val="solid"/>
          </a:ln>
        </p:spPr>
      </p:sp>
      <p:pic>
        <p:nvPicPr>
          <p:cNvPr id="32" name="Image 3" descr="man bear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7032" y="5358384"/>
            <a:ext cx="548640" cy="548640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8897112" y="5157216"/>
            <a:ext cx="26060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Pieter Claes</a:t>
            </a:r>
            <a:endParaRPr lang="en-US" sz="12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freelance · Mechelen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Ticket de sortie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2092147" cy="310896"/>
          </a:xfrm>
          <a:prstGeom prst="roundRect">
            <a:avLst>
              <a:gd name="adj" fmla="val 14706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TICKET DE SORTIE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6035040" cy="112776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20" y="1889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889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1627632"/>
            <a:ext cx="5074920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Complétez : </a:t>
            </a:r>
            <a:r>
              <a:rPr lang="en-US" sz="2000" i="1" dirty="0">
                <a:solidFill>
                  <a:schemeClr val="tx1"/>
                </a:solidFill>
              </a:rPr>
              <a:t>Wij schrijven …… in. · Hij vergist …… 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548640" y="2865120"/>
            <a:ext cx="6035040" cy="112776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1520" y="32004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371600" y="2938272"/>
            <a:ext cx="5074920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zich</a:t>
            </a:r>
            <a:r>
              <a:rPr lang="en-US" sz="2000" dirty="0">
                <a:solidFill>
                  <a:schemeClr val="tx1"/>
                </a:solidFill>
              </a:rPr>
              <a:t> ou </a:t>
            </a:r>
            <a:r>
              <a:rPr lang="en-US" sz="2000" i="1" dirty="0">
                <a:solidFill>
                  <a:schemeClr val="tx1"/>
                </a:solidFill>
              </a:rPr>
              <a:t>elkaar</a:t>
            </a:r>
            <a:r>
              <a:rPr lang="en-US" sz="2000" dirty="0">
                <a:solidFill>
                  <a:schemeClr val="tx1"/>
                </a:solidFill>
              </a:rPr>
              <a:t> : </a:t>
            </a:r>
            <a:r>
              <a:rPr lang="en-US" sz="2000" i="1" dirty="0">
                <a:solidFill>
                  <a:schemeClr val="tx1"/>
                </a:solidFill>
              </a:rPr>
              <a:t>Ze kennen …… al jaren.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548640" y="4175760"/>
            <a:ext cx="6035040" cy="112776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31520" y="45110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4511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371600" y="4248912"/>
            <a:ext cx="5074920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Traduisez : « Je me lève à 7 heures. »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6949440" y="15544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chemeClr val="accent5"/>
                </a:solidFill>
              </a:rPr>
              <a:t>AUTO-ÉVALUATION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949440" y="2011680"/>
            <a:ext cx="4690872" cy="758952"/>
          </a:xfrm>
          <a:prstGeom prst="roundRect">
            <a:avLst>
              <a:gd name="adj" fmla="val 9639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132320" y="2011680"/>
            <a:ext cx="23317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Conjuguer</a:t>
            </a:r>
            <a:endParaRPr lang="en-US" sz="1600" dirty="0"/>
          </a:p>
        </p:txBody>
      </p:sp>
      <p:pic>
        <p:nvPicPr>
          <p:cNvPr id="20" name="Image 0" descr="RegFrow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0" y="2162556"/>
            <a:ext cx="457200" cy="457200"/>
          </a:xfrm>
          <a:prstGeom prst="rect">
            <a:avLst/>
          </a:prstGeom>
        </p:spPr>
      </p:pic>
      <p:pic>
        <p:nvPicPr>
          <p:cNvPr id="21" name="Image 1" descr="RegMe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2162556"/>
            <a:ext cx="457200" cy="457200"/>
          </a:xfrm>
          <a:prstGeom prst="rect">
            <a:avLst/>
          </a:prstGeom>
        </p:spPr>
      </p:pic>
      <p:pic>
        <p:nvPicPr>
          <p:cNvPr id="22" name="Image 2" descr="RegSmi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2162556"/>
            <a:ext cx="457200" cy="45720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6949440" y="2880360"/>
            <a:ext cx="4690872" cy="758952"/>
          </a:xfrm>
          <a:prstGeom prst="roundRect">
            <a:avLst>
              <a:gd name="adj" fmla="val 9639"/>
            </a:avLst>
          </a:prstGeom>
          <a:solidFill>
            <a:schemeClr val="bg1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7132320" y="2880360"/>
            <a:ext cx="23317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Distinguer</a:t>
            </a:r>
            <a:endParaRPr lang="en-US" sz="1600" dirty="0"/>
          </a:p>
        </p:txBody>
      </p:sp>
      <p:pic>
        <p:nvPicPr>
          <p:cNvPr id="25" name="Image 3" descr="RegFrow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480" y="3031236"/>
            <a:ext cx="457200" cy="457200"/>
          </a:xfrm>
          <a:prstGeom prst="rect">
            <a:avLst/>
          </a:prstGeom>
        </p:spPr>
      </p:pic>
      <p:pic>
        <p:nvPicPr>
          <p:cNvPr id="26" name="Image 4" descr="RegMeh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80" y="3031236"/>
            <a:ext cx="457200" cy="457200"/>
          </a:xfrm>
          <a:prstGeom prst="rect">
            <a:avLst/>
          </a:prstGeom>
        </p:spPr>
      </p:pic>
      <p:pic>
        <p:nvPicPr>
          <p:cNvPr id="27" name="Image 5" descr="RegSmil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27080" y="3031236"/>
            <a:ext cx="457200" cy="457200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6949440" y="3749040"/>
            <a:ext cx="4690872" cy="758952"/>
          </a:xfrm>
          <a:prstGeom prst="roundRect">
            <a:avLst>
              <a:gd name="adj" fmla="val 9639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29" name="Text 20"/>
          <p:cNvSpPr txBox="1"/>
          <p:nvPr/>
        </p:nvSpPr>
        <p:spPr>
          <a:xfrm>
            <a:off x="7132320" y="3749040"/>
            <a:ext cx="23317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Utiliser</a:t>
            </a:r>
            <a:endParaRPr lang="en-US" sz="1600" dirty="0"/>
          </a:p>
        </p:txBody>
      </p:sp>
      <p:pic>
        <p:nvPicPr>
          <p:cNvPr id="30" name="Image 6" descr="RegFrow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55480" y="3899916"/>
            <a:ext cx="457200" cy="457200"/>
          </a:xfrm>
          <a:prstGeom prst="rect">
            <a:avLst/>
          </a:prstGeom>
        </p:spPr>
      </p:pic>
      <p:pic>
        <p:nvPicPr>
          <p:cNvPr id="31" name="Image 7" descr="RegMeh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41280" y="3899916"/>
            <a:ext cx="457200" cy="457200"/>
          </a:xfrm>
          <a:prstGeom prst="rect">
            <a:avLst/>
          </a:prstGeom>
        </p:spPr>
      </p:pic>
      <p:pic>
        <p:nvPicPr>
          <p:cNvPr id="32" name="Image 8" descr="RegSmile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27080" y="3899916"/>
            <a:ext cx="457200" cy="457200"/>
          </a:xfrm>
          <a:prstGeom prst="rect">
            <a:avLst/>
          </a:prstGeom>
        </p:spPr>
      </p:pic>
      <p:sp>
        <p:nvSpPr>
          <p:cNvPr id="33" name="Shape 21"/>
          <p:cNvSpPr/>
          <p:nvPr/>
        </p:nvSpPr>
        <p:spPr>
          <a:xfrm>
            <a:off x="548640" y="5532120"/>
            <a:ext cx="11091672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4" name="Image 9" descr="Lightbulb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7240" y="5715000"/>
            <a:ext cx="365760" cy="365760"/>
          </a:xfrm>
          <a:prstGeom prst="rect">
            <a:avLst/>
          </a:prstGeom>
        </p:spPr>
      </p:pic>
      <p:sp>
        <p:nvSpPr>
          <p:cNvPr id="35" name="Text 22"/>
          <p:cNvSpPr txBox="1"/>
          <p:nvPr/>
        </p:nvSpPr>
        <p:spPr>
          <a:xfrm>
            <a:off x="1325880" y="553212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Volgende keer : Als ik tijd had…</a:t>
            </a:r>
            <a:r>
              <a:rPr lang="en-US" sz="1800" dirty="0">
                <a:solidFill>
                  <a:schemeClr val="bg1"/>
                </a:solidFill>
              </a:rPr>
              <a:t> — </a:t>
            </a:r>
            <a:r>
              <a:rPr lang="en-US" sz="1800" i="1" dirty="0">
                <a:solidFill>
                  <a:schemeClr val="bg1"/>
                </a:solidFill>
              </a:rPr>
              <a:t>Zou je me kunnen helpen?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derlands 1">
  <a:themeElements>
    <a:clrScheme name="Nederlands 1">
      <a:dk1>
        <a:srgbClr val="1B2333"/>
      </a:dk1>
      <a:lt1>
        <a:srgbClr val="FFFFFF"/>
      </a:lt1>
      <a:dk2>
        <a:srgbClr val="17375E"/>
      </a:dk2>
      <a:lt2>
        <a:srgbClr val="EEF3F8"/>
      </a:lt2>
      <a:accent1>
        <a:srgbClr val="D9700F"/>
      </a:accent1>
      <a:accent2>
        <a:srgbClr val="2A6FB0"/>
      </a:accent2>
      <a:accent3>
        <a:srgbClr val="2E7D4F"/>
      </a:accent3>
      <a:accent4>
        <a:srgbClr val="B4236A"/>
      </a:accent4>
      <a:accent5>
        <a:srgbClr val="4A5A70"/>
      </a:accent5>
      <a:accent6>
        <a:srgbClr val="B83227"/>
      </a:accent6>
      <a:hlink>
        <a:srgbClr val="2A6FB0"/>
      </a:hlink>
      <a:folHlink>
        <a:srgbClr val="B4236A"/>
      </a:folHlink>
    </a:clrScheme>
    <a:fontScheme name="Nederlands 1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IRAM — Néerlandais 1 (UE1)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28 — Zich of elkaar? — Les verbes réfléchis et réciproques</dc:title>
  <dc:subject>Néerlandais 1 — Langue en situation, en milieu professionnel</dc:subject>
  <dc:creator>A. Jouniaux</dc:creator>
  <cp:lastModifiedBy>A. Jouniaux</cp:lastModifiedBy>
  <cp:revision>1</cp:revision>
  <dcterms:created xsi:type="dcterms:W3CDTF">2026-10-06T11:50:09Z</dcterms:created>
  <dcterms:modified xsi:type="dcterms:W3CDTF">2026-10-06T11:50:09Z</dcterms:modified>
</cp:coreProperties>
</file>