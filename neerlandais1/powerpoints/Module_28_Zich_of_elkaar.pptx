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74230646-e257-bf1a-8756-53f739cc9149}">
          <p14:sldIdLst>
            <p14:sldId id="256"/>
          </p14:sldIdLst>
        </p14:section>
        <p14:section name="Découvrir" id="{335a0f03-8951-2efe-0913-1f903aa72562}">
          <p14:sldIdLst>
            <p14:sldId id="257"/>
            <p14:sldId id="258"/>
          </p14:sldIdLst>
        </p14:section>
        <p14:section name="Comprendre" id="{fb03a8d9-11e7-daba-cc23-ae4bd98571f6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2381ba65-fe32-74d1-251b-16f49a2ab4d4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9f07f4ea-c959-628b-c5a6-349c2973ca1c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deux sens du « se » français.
Question d'entrée : « Dans ils se lavent et ils s'aident, le se veut-il dire la même chose ? » Non : soi-même / l'un l'autre. Le néerlandais a deux mots.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Ces verbes sont partout au travail : se présenter, s'inscrire, s'excuser, se tromper, se sentir bien ou 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zich et elkaar par l'image.
Faites mimer : zich = je montre ma poitrine ; elkaar = je montre l'autre, puis moi. Les apprenants formulent eux-mêmes la règle.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un verbe réfléchi.
Seul zich est un mot nouveau : me, je, ons sont les pronoms connus. Avec u : u vergist zich et u vergist u sont corrects ; en Belgique, u … u est fréquent. mij est possible, surtout à l'écrit et en Belgique (Ik vergis mij) ; jou n'est jamais réfléchi (✗ Jij wast jou).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la réciprocité avec elkaar.
elkaar ne s'emploie qu'avec un sujet pluriel (wij, jullie, zij, ou deux noms). Tot ziens! — We zien elkaar maandag! est une formule de fin de journée très courante.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zich et elkaar.
Faites jouer la paire Ze wassen zich / Ze wassen elkaar avec deux apprenants. Le schéma est la référence de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les verbes pronominaux français qui ne sont pas réfléchis en néerlandais.
Réflexe : on ne met zich que si le verbe néerlandais est réfléchi (diapo 8). Erreur très fréquente : ✗ Ik noem me Lotte (calque de « je m'appelle ») → Ik heet Lotte. En Flandre, Zet u! / Zet je! (= asseyez-vous) est très courant : la règle « se ≠ zich » a quelques exceptions régionales.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Apprendre 12 verbes réfléchis fréquents.
Ces verbes s'apprennent avec zich, comme les verbes à préposition (M23). Exemples utiles : Ik voel me niet goed. · Ik vraag me af of… · Maak je geen zorgen! (Ne t'inquiète pas !) · Haast je!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le pronom réfléchi dans tous les types de phrases.
Le pronom réfléchi suit le verbe conjugué (et le sujet inversé). Au passé composé : toujours hebben (Ik heb me vergist, ✗ Ik ben me vergist). Herinner je je…? : deux je qui se suivent, c'est normal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elkaar après une préposition.
Avec une préposition, pas de er (M23) : elkaar désigne des personnes. Expressions utiles : met elkaar praten (se parler), van elkaar leren (apprendre les uns des autres).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un « se » ambigu selon le sens.
Le français laisse le contexte trancher ; le néerlandais oblige à choisir. zichzelf insiste sur « soi-même »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la forme d'insistance en -zelf.
À reconnaître. -zelf s'utilise pour insister ou après une préposition : Hij praat over zichzelf. À ne pas confondre avec zelf seul : Ik heb het zelf gedaan (moi-même, sans aide).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le pronom réfléchi.
N° 4 : la particule in va au bout (M11). N° 7 : les deux formes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Conjuguer le pronom réfléchi.
N° 4 : la particule in va au bout (M11). N° 7 : les deux formes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le réfléchi et le réciproque.
Faites poser la question-test à chaque phrase : « Qui reçoit l'action ? » N° 7 : me (1re personne, réfléchi).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le réfléchi et le réciproque.
Faites poser la question-test à chaque phrase : « Qui reçoit l'action ? » N° 7 : me (1re personne, réfléchi).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les verbes pronominaux français, réfléchis ou non.
Trois pièges (1, 2, 5) : pas de zich. N° 6 : hebben au passé composé. N° 3 : Ik herinner me hem (ou Ik kan me hem herinneren).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Traduire les verbes pronominaux français, réfléchis ou non.
Trois pièges (1, 2, 5) : pas de zich. N° 6 : hebben au passé composé. N° 3 : Ik herinner me hem (ou Ik kan me hem herinneren).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 : We zien elkaar maandag! est correct. N° 2 : opstaan n'est pas réfléchi et prend zijn (M15) : Ik ben opgestaan.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 : We zien elkaar maandag! est correct. N° 2 : opstaan n'est pas réfléchi et prend zijn (M15) : Ik ben opgestaan.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le pronom réfléchi et elkaar dans la phrase.
Faites colorer le verbe conjugué (rouge) et le pronom (bleu), comme sur la diapo 9. Acceptez aussi les inversions correctes : Gisteren heb ik me vergist. · Morgen zien we elkaar.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Placer le pronom réfléchi et elkaar dans la phrase.
Faites colorer le verbe conjugué (rouge) et le pronom (bleu), comme sur la diapo 9. Acceptez aussi les inversions correctes : Gisteren heb ik me vergist. · Morgen zien we elkaar.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Produire zich ou elkaar à l'oral, en jouant.
Exigez la phrase complète avec le bon pronom. Variante : au passé composé (Hij heeft zich gehaast).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se présenter et faire connaissance lors d'un événement professionnel.
Chaque apprenant reçoit un badge (nom fictif). Objectif : parler à 3 personnes, utiliser au moins deux fois zich et deux fois elkaar. Zullen we elkaar mailen? = On s'écrit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ons · zich.
2. elkaar.
3. Ik sta om 7 uur op.
Teaser M29 : Als ik de lotto won, zou ik… · Zou je me kunnen helpen?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28 · Zich of elkaar?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28 · Zich of elkaar?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28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Zich of elkaar?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verbes réfléchis et réciproques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Hij wast zich · Ze helpen elkaar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irr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1887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9144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Hij wast </a:t>
            </a:r>
            <a:r>
              <a:rPr lang="en-US" sz="2400" b="1" i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zich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6400800" y="278892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063240"/>
            <a:ext cx="1097280" cy="1097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909560" y="278892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Ze helpen </a:t>
            </a:r>
            <a:r>
              <a:rPr lang="en-US" sz="2400" b="1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elkaar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User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Conjuguer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conjugue un verbe réfléchi : </a:t>
            </a:r>
            <a:r>
              <a:rPr lang="en-US" sz="2000" i="1" dirty="0">
                <a:solidFill>
                  <a:schemeClr val="tx1"/>
                </a:solidFill>
              </a:rPr>
              <a:t>ik vergis me, hij vergist zich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Retwe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Distinguer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</a:t>
            </a:r>
            <a:r>
              <a:rPr lang="en-US" sz="2000" i="1" dirty="0">
                <a:solidFill>
                  <a:schemeClr val="tx1"/>
                </a:solidFill>
              </a:rPr>
              <a:t>zich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elkaar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Ze bellen elkaar.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lipboard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Utiliser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J’utilise les verbes du quotidien : </a:t>
            </a:r>
            <a:r>
              <a:rPr lang="en-US" sz="2000" i="1" dirty="0">
                <a:solidFill>
                  <a:schemeClr val="tx1"/>
                </a:solidFill>
              </a:rPr>
              <a:t>Mag ik me even voorstellen?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Partout au travail : se présenter, s’inscrire, s’excuser, se tromper, se sentir bien ou mal.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Qui fait quoi à qui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</a:t>
            </a:r>
            <a:endParaRPr lang="en-US" sz="1400" dirty="0"/>
          </a:p>
        </p:txBody>
      </p:sp>
      <p:pic>
        <p:nvPicPr>
          <p:cNvPr id="8" name="Image 0" descr="mirr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2159" y="1920240"/>
            <a:ext cx="1188720" cy="1188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scheert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3367278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3504438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504438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</a:t>
            </a:r>
            <a:endParaRPr lang="en-US" sz="1400" dirty="0"/>
          </a:p>
        </p:txBody>
      </p:sp>
      <p:pic>
        <p:nvPicPr>
          <p:cNvPr id="13" name="Image 1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0797" y="1920240"/>
            <a:ext cx="1188720" cy="11887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504438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en An geven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 een hand.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6185916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323076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23076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</a:t>
            </a:r>
            <a:endParaRPr lang="en-US" sz="1400" dirty="0"/>
          </a:p>
        </p:txBody>
      </p:sp>
      <p:pic>
        <p:nvPicPr>
          <p:cNvPr id="18" name="Image 2" descr="woman rais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9435" y="1920240"/>
            <a:ext cx="1188720" cy="11887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323076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Lotte stelt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 voor.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9004554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9141714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9141714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</a:t>
            </a:r>
            <a:endParaRPr lang="en-US" sz="1400" dirty="0"/>
          </a:p>
        </p:txBody>
      </p:sp>
      <p:pic>
        <p:nvPicPr>
          <p:cNvPr id="23" name="Image 3" descr="telephone receiv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8073" y="1920240"/>
            <a:ext cx="1188720" cy="11887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141714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en Sofie bellen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hape 18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6" name="Image 4" descr="think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Quand dit-on </a:t>
            </a:r>
            <a:r>
              <a:rPr lang="en-US" sz="1800" i="1" dirty="0">
                <a:solidFill>
                  <a:schemeClr val="tx1"/>
                </a:solidFill>
              </a:rPr>
              <a:t>zich</a:t>
            </a:r>
            <a:r>
              <a:rPr lang="en-US" sz="1800" dirty="0">
                <a:solidFill>
                  <a:schemeClr val="tx1"/>
                </a:solidFill>
              </a:rPr>
              <a:t> ? Quand dit-on </a:t>
            </a:r>
            <a:r>
              <a:rPr lang="en-US" sz="1800" i="1" dirty="0">
                <a:solidFill>
                  <a:schemeClr val="tx1"/>
                </a:solidFill>
              </a:rPr>
              <a:t>elkaar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Montrez-vous (</a:t>
            </a:r>
            <a:r>
              <a:rPr lang="en-US" sz="1800" i="1" dirty="0">
                <a:solidFill>
                  <a:schemeClr val="tx1"/>
                </a:solidFill>
              </a:rPr>
              <a:t>zich</a:t>
            </a:r>
            <a:r>
              <a:rPr lang="en-US" sz="1800" dirty="0">
                <a:solidFill>
                  <a:schemeClr val="tx1"/>
                </a:solidFill>
              </a:rPr>
              <a:t>) ou montrez l’autre, puis vous (</a:t>
            </a:r>
            <a:r>
              <a:rPr lang="en-US" sz="1800" i="1" dirty="0">
                <a:solidFill>
                  <a:schemeClr val="tx1"/>
                </a:solidFill>
              </a:rPr>
              <a:t>elkaar</a:t>
            </a:r>
            <a:r>
              <a:rPr lang="en-US" sz="1800" dirty="0">
                <a:solidFill>
                  <a:schemeClr val="tx1"/>
                </a:solidFill>
              </a:rPr>
              <a:t>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miroir : ik was me, hij wast zich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400800" cy="3886200"/>
          </a:xfrm>
          <a:prstGeom prst="roundRect">
            <a:avLst>
              <a:gd name="adj" fmla="val 2353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6400800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zich wassen (se laver)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1488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was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4023360" y="21488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me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jij wast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4023360" y="26060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je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0632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u wast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4023360" y="30632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u / zich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35204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hij, zij, het wast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4023360" y="35204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zich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9776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wij wassen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4023360" y="39776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ons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44348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 wassen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4023360" y="44348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je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48920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zij wassen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4023360" y="48920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zich</a:t>
            </a:r>
            <a:endParaRPr lang="en-US" sz="1900" dirty="0"/>
          </a:p>
        </p:txBody>
      </p:sp>
      <p:pic>
        <p:nvPicPr>
          <p:cNvPr id="22" name="Image 0" descr="mirr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600200"/>
            <a:ext cx="1280160" cy="128016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178040" y="3063240"/>
            <a:ext cx="4462272" cy="2377440"/>
          </a:xfrm>
          <a:prstGeom prst="roundRect">
            <a:avLst>
              <a:gd name="adj" fmla="val 3846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315200" y="3108960"/>
            <a:ext cx="4206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Seul </a:t>
            </a:r>
            <a:r>
              <a:rPr lang="en-US" sz="1600" b="1" i="1" dirty="0">
                <a:solidFill>
                  <a:schemeClr val="tx1"/>
                </a:solidFill>
              </a:rPr>
              <a:t>zich</a:t>
            </a:r>
            <a:r>
              <a:rPr lang="en-US" sz="1600" b="1" dirty="0">
                <a:solidFill>
                  <a:schemeClr val="tx1"/>
                </a:solidFill>
              </a:rPr>
              <a:t> est nouveau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me, je, ons</a:t>
            </a:r>
            <a:r>
              <a:rPr lang="en-US" sz="1600" dirty="0">
                <a:solidFill>
                  <a:schemeClr val="tx1"/>
                </a:solidFill>
              </a:rPr>
              <a:t> sont déjà connus (M20).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= 3ᵉ personne (</a:t>
            </a:r>
            <a:r>
              <a:rPr lang="en-US" sz="1600" i="1" dirty="0">
                <a:solidFill>
                  <a:schemeClr val="tx1"/>
                </a:solidFill>
              </a:rPr>
              <a:t>hij, zij, het, zij</a:t>
            </a:r>
            <a:r>
              <a:rPr lang="en-US" sz="1600" dirty="0">
                <a:solidFill>
                  <a:schemeClr val="tx1"/>
                </a:solidFill>
              </a:rPr>
              <a:t>).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 vergist </a:t>
            </a:r>
            <a:r>
              <a:rPr lang="en-US" sz="1600" b="1" i="1" dirty="0">
                <a:solidFill>
                  <a:schemeClr val="tx1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i="1" dirty="0">
                <a:solidFill>
                  <a:schemeClr val="tx1"/>
                </a:solidFill>
              </a:rPr>
              <a:t>u vergist </a:t>
            </a:r>
            <a:r>
              <a:rPr lang="en-US" sz="1600" b="1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 : les deux sont corrects (BE : souvent </a:t>
            </a:r>
            <a:r>
              <a:rPr lang="en-US" sz="1600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).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pronom réfléchi renvoie au </a:t>
            </a:r>
            <a:r>
              <a:rPr lang="en-US" sz="1800" b="1" dirty="0">
                <a:solidFill>
                  <a:schemeClr val="bg1"/>
                </a:solidFill>
              </a:rPr>
              <a:t>sujet lui-même</a:t>
            </a:r>
            <a:r>
              <a:rPr lang="en-US" sz="1800" dirty="0">
                <a:solidFill>
                  <a:schemeClr val="bg1"/>
                </a:solidFill>
              </a:rPr>
              <a:t> : la flèche revient vers soi.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ping-pong : elkaar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75304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erson 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920240"/>
            <a:ext cx="754380" cy="754380"/>
          </a:xfrm>
          <a:prstGeom prst="rect">
            <a:avLst/>
          </a:prstGeom>
        </p:spPr>
      </p:pic>
      <p:pic>
        <p:nvPicPr>
          <p:cNvPr id="7" name="Image 1" descr="person stan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4580" y="1920240"/>
            <a:ext cx="754380" cy="75438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1737360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9" name="Shape 4"/>
          <p:cNvSpPr/>
          <p:nvPr/>
        </p:nvSpPr>
        <p:spPr>
          <a:xfrm flipH="1">
            <a:off x="1737360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0" name="Image 2" descr="telephone receiv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3824" y="1783080"/>
            <a:ext cx="731520" cy="7315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685800" y="2971800"/>
            <a:ext cx="3300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We bellen </a:t>
            </a:r>
            <a:r>
              <a:rPr lang="en-US" sz="2000" b="1" i="1" dirty="0">
                <a:solidFill>
                  <a:schemeClr val="accent1"/>
                </a:solidFill>
              </a:rPr>
              <a:t>elkaar</a:t>
            </a:r>
            <a:r>
              <a:rPr lang="en-US" sz="2000" i="1" dirty="0">
                <a:solidFill>
                  <a:schemeClr val="tx1"/>
                </a:solidFill>
              </a:rPr>
              <a:t> morgen.</a:t>
            </a:r>
            <a:endParaRPr lang="en-US" sz="2000" dirty="0"/>
          </a:p>
        </p:txBody>
      </p:sp>
      <p:sp>
        <p:nvSpPr>
          <p:cNvPr id="12" name="Shape 6"/>
          <p:cNvSpPr/>
          <p:nvPr/>
        </p:nvSpPr>
        <p:spPr>
          <a:xfrm>
            <a:off x="4306824" y="1600200"/>
            <a:ext cx="3575304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3" descr="person stan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9744" y="1920240"/>
            <a:ext cx="754380" cy="754380"/>
          </a:xfrm>
          <a:prstGeom prst="rect">
            <a:avLst/>
          </a:prstGeom>
        </p:spPr>
      </p:pic>
      <p:pic>
        <p:nvPicPr>
          <p:cNvPr id="14" name="Image 4" descr="person stand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764" y="1920240"/>
            <a:ext cx="754380" cy="754380"/>
          </a:xfrm>
          <a:prstGeom prst="rect">
            <a:avLst/>
          </a:prstGeom>
        </p:spPr>
      </p:pic>
      <p:sp>
        <p:nvSpPr>
          <p:cNvPr id="15" name="Shape 7"/>
          <p:cNvSpPr/>
          <p:nvPr/>
        </p:nvSpPr>
        <p:spPr>
          <a:xfrm>
            <a:off x="5495544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6" name="Shape 8"/>
          <p:cNvSpPr/>
          <p:nvPr/>
        </p:nvSpPr>
        <p:spPr>
          <a:xfrm flipH="1">
            <a:off x="5495544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7" name="Image 5" descr="busts in silhouet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2008" y="1783080"/>
            <a:ext cx="731520" cy="731520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4443984" y="2971800"/>
            <a:ext cx="3300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Jullie kennen </a:t>
            </a:r>
            <a:r>
              <a:rPr lang="en-US" sz="2000" b="1" i="1" dirty="0">
                <a:solidFill>
                  <a:schemeClr val="accent1"/>
                </a:solidFill>
              </a:rPr>
              <a:t>elkaar</a:t>
            </a:r>
            <a:r>
              <a:rPr lang="en-US" sz="2000" i="1" dirty="0">
                <a:solidFill>
                  <a:schemeClr val="tx1"/>
                </a:solidFill>
              </a:rPr>
              <a:t> al lang.</a:t>
            </a:r>
            <a:endParaRPr lang="en-US" sz="2000" dirty="0"/>
          </a:p>
        </p:txBody>
      </p:sp>
      <p:sp>
        <p:nvSpPr>
          <p:cNvPr id="19" name="Shape 10"/>
          <p:cNvSpPr/>
          <p:nvPr/>
        </p:nvSpPr>
        <p:spPr>
          <a:xfrm>
            <a:off x="8065008" y="1600200"/>
            <a:ext cx="3575304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0" name="Image 6" descr="person stand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67928" y="1920240"/>
            <a:ext cx="754380" cy="754380"/>
          </a:xfrm>
          <a:prstGeom prst="rect">
            <a:avLst/>
          </a:prstGeom>
        </p:spPr>
      </p:pic>
      <p:pic>
        <p:nvPicPr>
          <p:cNvPr id="21" name="Image 7" descr="person stand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0948" y="1920240"/>
            <a:ext cx="754380" cy="754380"/>
          </a:xfrm>
          <a:prstGeom prst="rect">
            <a:avLst/>
          </a:prstGeom>
        </p:spPr>
      </p:pic>
      <p:sp>
        <p:nvSpPr>
          <p:cNvPr id="22" name="Shape 11"/>
          <p:cNvSpPr/>
          <p:nvPr/>
        </p:nvSpPr>
        <p:spPr>
          <a:xfrm>
            <a:off x="9253728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2"/>
          <p:cNvSpPr/>
          <p:nvPr/>
        </p:nvSpPr>
        <p:spPr>
          <a:xfrm flipH="1">
            <a:off x="9253728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4" name="Image 8" descr="handshak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80192" y="1783080"/>
            <a:ext cx="731520" cy="731520"/>
          </a:xfrm>
          <a:prstGeom prst="rect">
            <a:avLst/>
          </a:prstGeom>
        </p:spPr>
      </p:pic>
      <p:sp>
        <p:nvSpPr>
          <p:cNvPr id="25" name="Text 13"/>
          <p:cNvSpPr txBox="1"/>
          <p:nvPr/>
        </p:nvSpPr>
        <p:spPr>
          <a:xfrm>
            <a:off x="8202168" y="2971800"/>
            <a:ext cx="3300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Ze helpen </a:t>
            </a:r>
            <a:r>
              <a:rPr lang="en-US" sz="2000" b="1" i="1" dirty="0">
                <a:solidFill>
                  <a:schemeClr val="accent1"/>
                </a:solidFill>
              </a:rPr>
              <a:t>elkaar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6" name="Shape 14"/>
          <p:cNvSpPr/>
          <p:nvPr/>
        </p:nvSpPr>
        <p:spPr>
          <a:xfrm>
            <a:off x="548640" y="448056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777240" y="448056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Tot ziens! — We zien </a:t>
            </a:r>
            <a:r>
              <a:rPr lang="en-US" sz="2100" b="1" i="1" dirty="0">
                <a:solidFill>
                  <a:schemeClr val="tx1"/>
                </a:solidFill>
              </a:rPr>
              <a:t>elkaar</a:t>
            </a:r>
            <a:r>
              <a:rPr lang="en-US" sz="2100" i="1" dirty="0">
                <a:solidFill>
                  <a:schemeClr val="tx1"/>
                </a:solidFill>
              </a:rPr>
              <a:t> maandag!</a:t>
            </a:r>
            <a:r>
              <a:rPr lang="en-US" sz="2100" dirty="0">
                <a:solidFill>
                  <a:schemeClr val="tx1"/>
                </a:solidFill>
              </a:rPr>
              <a:t> (On se voit lundi !)</a:t>
            </a:r>
            <a:endParaRPr lang="en-US" sz="2100" dirty="0"/>
          </a:p>
        </p:txBody>
      </p:sp>
      <p:sp>
        <p:nvSpPr>
          <p:cNvPr id="28" name="Shape 16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17"/>
          <p:cNvSpPr txBox="1"/>
          <p:nvPr/>
        </p:nvSpPr>
        <p:spPr>
          <a:xfrm>
            <a:off x="82296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bg1"/>
                </a:solidFill>
              </a:rPr>
              <a:t>elkaar</a:t>
            </a:r>
            <a:r>
              <a:rPr lang="en-US" sz="1900" dirty="0">
                <a:solidFill>
                  <a:schemeClr val="bg1"/>
                </a:solidFill>
              </a:rPr>
              <a:t> = l’un l’autre · toujours avec un sujet pluriel · </a:t>
            </a:r>
            <a:r>
              <a:rPr lang="en-US" sz="1900" b="1" dirty="0">
                <a:solidFill>
                  <a:schemeClr val="bg1"/>
                </a:solidFill>
              </a:rPr>
              <a:t>ne change jamais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zich ou elkaar ? Le miroir et le ping-pong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4892040" y="1600200"/>
            <a:ext cx="2404872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892040" y="1600200"/>
            <a:ext cx="2404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Qui reçoit l’action 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4206240" cy="3886200"/>
          </a:xfrm>
          <a:prstGeom prst="roundRect">
            <a:avLst>
              <a:gd name="adj" fmla="val 2824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6916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accent2"/>
                </a:solidFill>
              </a:rPr>
              <a:t>LE MIROIR</a:t>
            </a:r>
            <a:endParaRPr lang="en-US" sz="1500" dirty="0"/>
          </a:p>
        </p:txBody>
      </p:sp>
      <p:pic>
        <p:nvPicPr>
          <p:cNvPr id="9" name="Image 0" descr="person 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2240280"/>
            <a:ext cx="1024128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141525" y="2137867"/>
            <a:ext cx="731520" cy="643738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1750">
            <a:solidFill>
              <a:srgbClr val="2A6FB0"/>
            </a:solidFill>
            <a:prstDash val="solid"/>
            <a:headEnd type="triangle"/>
          </a:ln>
        </p:spPr>
      </p:sp>
      <p:sp>
        <p:nvSpPr>
          <p:cNvPr id="11" name="Text 7"/>
          <p:cNvSpPr txBox="1"/>
          <p:nvPr/>
        </p:nvSpPr>
        <p:spPr>
          <a:xfrm>
            <a:off x="731520" y="342900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la même personne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zich</a:t>
            </a:r>
            <a:r>
              <a:rPr lang="en-US" sz="1800" b="1" dirty="0">
                <a:solidFill>
                  <a:schemeClr val="tx1"/>
                </a:solidFill>
              </a:rPr>
              <a:t> (</a:t>
            </a:r>
            <a:r>
              <a:rPr lang="en-US" sz="1800" b="1" i="1" dirty="0">
                <a:solidFill>
                  <a:schemeClr val="tx1"/>
                </a:solidFill>
              </a:rPr>
              <a:t>me, je, ons…</a:t>
            </a:r>
            <a:r>
              <a:rPr lang="en-US" sz="1800" b="1" dirty="0">
                <a:solidFill>
                  <a:schemeClr val="tx1"/>
                </a:solidFill>
              </a:rPr>
              <a:t>)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Ze wassen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(chacun se lave)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7434072" y="1600200"/>
            <a:ext cx="4206240" cy="3886200"/>
          </a:xfrm>
          <a:prstGeom prst="roundRect">
            <a:avLst>
              <a:gd name="adj" fmla="val 2824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434072" y="16916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LE PING-PONG</a:t>
            </a:r>
            <a:endParaRPr lang="en-US" sz="1500" dirty="0"/>
          </a:p>
        </p:txBody>
      </p:sp>
      <p:pic>
        <p:nvPicPr>
          <p:cNvPr id="14" name="Image 1" descr="person stan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9912" y="2340864"/>
            <a:ext cx="804672" cy="804672"/>
          </a:xfrm>
          <a:prstGeom prst="rect">
            <a:avLst/>
          </a:prstGeom>
        </p:spPr>
      </p:pic>
      <p:pic>
        <p:nvPicPr>
          <p:cNvPr id="15" name="Image 2" descr="person stan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2340864"/>
            <a:ext cx="804672" cy="804672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9171432" y="2516429"/>
            <a:ext cx="702259" cy="336499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1"/>
          <p:cNvSpPr/>
          <p:nvPr/>
        </p:nvSpPr>
        <p:spPr>
          <a:xfrm flipH="1">
            <a:off x="9171432" y="2516429"/>
            <a:ext cx="702259" cy="336499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Text 12"/>
          <p:cNvSpPr txBox="1"/>
          <p:nvPr/>
        </p:nvSpPr>
        <p:spPr>
          <a:xfrm>
            <a:off x="7616952" y="342900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l’autre, et inversement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elkaar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Ze wassen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(l’un lave l’autre)</a:t>
            </a:r>
            <a:endParaRPr lang="en-US" sz="1800" dirty="0"/>
          </a:p>
        </p:txBody>
      </p:sp>
      <p:sp>
        <p:nvSpPr>
          <p:cNvPr id="19" name="Shape 13"/>
          <p:cNvSpPr/>
          <p:nvPr/>
        </p:nvSpPr>
        <p:spPr>
          <a:xfrm flipH="1">
            <a:off x="4800600" y="2560320"/>
            <a:ext cx="1289304" cy="731520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0" name="Shape 14"/>
          <p:cNvSpPr/>
          <p:nvPr/>
        </p:nvSpPr>
        <p:spPr>
          <a:xfrm>
            <a:off x="6089904" y="2560320"/>
            <a:ext cx="1289304" cy="731520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1" name="Image 3" descr="people hugg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1264" y="3474720"/>
            <a:ext cx="1097280" cy="109728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480560" y="4663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Jouez la paire avec deux apprenants !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 schéma est la référence de tous les exercices.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se » ≠ zich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lever »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657600" y="210312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opstaan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12280" y="235915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223760" y="2130552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60920" y="213055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opstaan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67919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s’appeler »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657600" y="267919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noemen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812280" y="2935224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223760" y="2706624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60920" y="2706624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heten — Ik heet Lotte.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25526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marier »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3657600" y="3255264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trouwen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812280" y="3511296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223760" y="3282696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60920" y="328269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trouwen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383133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s’asseoir »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3657600" y="383133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zitten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6812280" y="4087368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223760" y="3858768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60920" y="385876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gaan zitten (M17)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440740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promener »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3657600" y="440740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wandelen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6812280" y="466344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7223760" y="4434840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360920" y="44348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wandelen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868680" y="498348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passer »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3657600" y="498348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passeren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6812280" y="523951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7223760" y="5010912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360920" y="501091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gebeuren — Wat is er gebeurd?</a:t>
            </a:r>
            <a:endParaRPr lang="en-US" sz="1700" dirty="0"/>
          </a:p>
        </p:txBody>
      </p:sp>
      <p:sp>
        <p:nvSpPr>
          <p:cNvPr id="37" name="Shape 34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Erreur fréquente : ✗ </a:t>
            </a:r>
            <a:r>
              <a:rPr lang="en-US" sz="1600" i="1" strike="sngStrike" dirty="0">
                <a:solidFill>
                  <a:schemeClr val="accent6"/>
                </a:solidFill>
              </a:rPr>
              <a:t>Ik noem me Lotte</a:t>
            </a:r>
            <a:r>
              <a:rPr lang="en-US" sz="1600" dirty="0">
                <a:solidFill>
                  <a:schemeClr val="bg1"/>
                </a:solidFill>
              </a:rPr>
              <a:t> → ✓ </a:t>
            </a:r>
            <a:r>
              <a:rPr lang="en-US" sz="1600" i="1" dirty="0">
                <a:solidFill>
                  <a:schemeClr val="bg1"/>
                </a:solidFill>
              </a:rPr>
              <a:t>Ik heet Lotte.</a:t>
            </a:r>
            <a:r>
              <a:rPr lang="en-US" sz="1600" dirty="0">
                <a:solidFill>
                  <a:schemeClr val="bg1"/>
                </a:solidFill>
              </a:rPr>
              <a:t> · </a:t>
            </a:r>
            <a:r>
              <a:rPr lang="en-US" sz="1600" i="1" dirty="0">
                <a:solidFill>
                  <a:schemeClr val="bg1"/>
                </a:solidFill>
              </a:rPr>
              <a:t>zich</a:t>
            </a:r>
            <a:r>
              <a:rPr lang="en-US" sz="1600" dirty="0">
                <a:solidFill>
                  <a:schemeClr val="bg1"/>
                </a:solidFill>
              </a:rPr>
              <a:t> seulement si le verbe néerlandais l’exige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verbes réfléchis du quotidien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woman raising h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856232"/>
            <a:ext cx="566928" cy="56692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25880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voorstellen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1325880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présenter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3362706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thought ballo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2434" y="1856232"/>
            <a:ext cx="566928" cy="5669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139946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herinneren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4139946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souvenir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176772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face with hand over mout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1856232"/>
            <a:ext cx="566928" cy="56692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54012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vergissen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6954012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tromper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8990838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3" descr="person runn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0566" y="1856232"/>
            <a:ext cx="566928" cy="566928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768078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haasten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9768078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dépêcher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548640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face with thermome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182112"/>
            <a:ext cx="566928" cy="566928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325880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voelen</a:t>
            </a:r>
            <a:endParaRPr lang="en-US" sz="1600" dirty="0"/>
          </a:p>
        </p:txBody>
      </p:sp>
      <p:sp>
        <p:nvSpPr>
          <p:cNvPr id="24" name="Text 16"/>
          <p:cNvSpPr txBox="1"/>
          <p:nvPr/>
        </p:nvSpPr>
        <p:spPr>
          <a:xfrm>
            <a:off x="1325880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sentir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3362706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t shir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2434" y="3182112"/>
            <a:ext cx="566928" cy="566928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139946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aankleden</a:t>
            </a:r>
            <a:endParaRPr lang="en-US" sz="1600" dirty="0"/>
          </a:p>
        </p:txBody>
      </p:sp>
      <p:sp>
        <p:nvSpPr>
          <p:cNvPr id="28" name="Text 19"/>
          <p:cNvSpPr txBox="1"/>
          <p:nvPr/>
        </p:nvSpPr>
        <p:spPr>
          <a:xfrm>
            <a:off x="4139946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s’habiller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6176772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6" descr="yawn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3182112"/>
            <a:ext cx="566928" cy="566928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6954012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vervelen</a:t>
            </a:r>
            <a:endParaRPr lang="en-US" sz="1600" dirty="0"/>
          </a:p>
        </p:txBody>
      </p:sp>
      <p:sp>
        <p:nvSpPr>
          <p:cNvPr id="32" name="Text 22"/>
          <p:cNvSpPr txBox="1"/>
          <p:nvPr/>
        </p:nvSpPr>
        <p:spPr>
          <a:xfrm>
            <a:off x="6954012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s’ennuyer</a:t>
            </a:r>
            <a:endParaRPr lang="en-US" sz="1400" dirty="0"/>
          </a:p>
        </p:txBody>
      </p:sp>
      <p:sp>
        <p:nvSpPr>
          <p:cNvPr id="33" name="Shape 23"/>
          <p:cNvSpPr/>
          <p:nvPr/>
        </p:nvSpPr>
        <p:spPr>
          <a:xfrm>
            <a:off x="8990838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7" descr="worried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0566" y="3182112"/>
            <a:ext cx="566928" cy="566928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768078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zorgen maken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9768078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s’inquiéter</a:t>
            </a:r>
            <a:endParaRPr lang="en-US" sz="1400" dirty="0"/>
          </a:p>
        </p:txBody>
      </p:sp>
      <p:sp>
        <p:nvSpPr>
          <p:cNvPr id="37" name="Shape 26"/>
          <p:cNvSpPr/>
          <p:nvPr/>
        </p:nvSpPr>
        <p:spPr>
          <a:xfrm>
            <a:off x="548640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8" name="Image 8" descr="writing hand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68" y="4507992"/>
            <a:ext cx="566928" cy="566928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1325880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inschrijven</a:t>
            </a:r>
            <a:endParaRPr lang="en-US" sz="1600" dirty="0"/>
          </a:p>
        </p:txBody>
      </p:sp>
      <p:sp>
        <p:nvSpPr>
          <p:cNvPr id="40" name="Text 28"/>
          <p:cNvSpPr txBox="1"/>
          <p:nvPr/>
        </p:nvSpPr>
        <p:spPr>
          <a:xfrm>
            <a:off x="1325880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s’inscrire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3362706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2" name="Image 9" descr="bullsey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72434" y="4507992"/>
            <a:ext cx="566928" cy="566928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4139946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concentreren</a:t>
            </a:r>
            <a:endParaRPr lang="en-US" sz="1600" dirty="0"/>
          </a:p>
        </p:txBody>
      </p:sp>
      <p:sp>
        <p:nvSpPr>
          <p:cNvPr id="44" name="Text 31"/>
          <p:cNvSpPr txBox="1"/>
          <p:nvPr/>
        </p:nvSpPr>
        <p:spPr>
          <a:xfrm>
            <a:off x="4139946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concentrer</a:t>
            </a:r>
            <a:endParaRPr lang="en-US" sz="1400" dirty="0"/>
          </a:p>
        </p:txBody>
      </p:sp>
      <p:sp>
        <p:nvSpPr>
          <p:cNvPr id="45" name="Shape 32"/>
          <p:cNvSpPr/>
          <p:nvPr/>
        </p:nvSpPr>
        <p:spPr>
          <a:xfrm>
            <a:off x="6176772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6" name="Image 10" descr="thinking fac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86500" y="4507992"/>
            <a:ext cx="566928" cy="566928"/>
          </a:xfrm>
          <a:prstGeom prst="rect">
            <a:avLst/>
          </a:prstGeom>
        </p:spPr>
      </p:pic>
      <p:sp>
        <p:nvSpPr>
          <p:cNvPr id="47" name="Text 33"/>
          <p:cNvSpPr txBox="1"/>
          <p:nvPr/>
        </p:nvSpPr>
        <p:spPr>
          <a:xfrm>
            <a:off x="6954012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afvragen</a:t>
            </a:r>
            <a:endParaRPr lang="en-US" sz="1600" dirty="0"/>
          </a:p>
        </p:txBody>
      </p:sp>
      <p:sp>
        <p:nvSpPr>
          <p:cNvPr id="48" name="Text 34"/>
          <p:cNvSpPr txBox="1"/>
          <p:nvPr/>
        </p:nvSpPr>
        <p:spPr>
          <a:xfrm>
            <a:off x="6954012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demander</a:t>
            </a:r>
            <a:endParaRPr lang="en-US" sz="1400" dirty="0"/>
          </a:p>
        </p:txBody>
      </p:sp>
      <p:sp>
        <p:nvSpPr>
          <p:cNvPr id="49" name="Shape 35"/>
          <p:cNvSpPr/>
          <p:nvPr/>
        </p:nvSpPr>
        <p:spPr>
          <a:xfrm>
            <a:off x="8990838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50" name="Image 11" descr="folded hands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00566" y="4507992"/>
            <a:ext cx="566928" cy="566928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9768078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verontschuldigen</a:t>
            </a:r>
            <a:endParaRPr lang="en-US" sz="1600" dirty="0"/>
          </a:p>
        </p:txBody>
      </p:sp>
      <p:sp>
        <p:nvSpPr>
          <p:cNvPr id="52" name="Text 37"/>
          <p:cNvSpPr txBox="1"/>
          <p:nvPr/>
        </p:nvSpPr>
        <p:spPr>
          <a:xfrm>
            <a:off x="9768078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s’excuser</a:t>
            </a:r>
            <a:endParaRPr lang="en-US" sz="1400" dirty="0"/>
          </a:p>
        </p:txBody>
      </p:sp>
      <p:sp>
        <p:nvSpPr>
          <p:cNvPr id="53" name="Shape 38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39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Ik voel me niet goed. · Ik vraag me af of… · Maak je geen zorgen! · Haast je!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du pronom réfléchi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72768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1217981" y="1572768"/>
            <a:ext cx="1359457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17981" y="1572768"/>
            <a:ext cx="135945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vergis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2668878" y="1572768"/>
            <a:ext cx="880165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68878" y="1572768"/>
            <a:ext cx="88016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me.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48640" y="2231136"/>
            <a:ext cx="1678985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231136"/>
            <a:ext cx="16789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Herinner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2319065" y="2231136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319065" y="2231136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2988406" y="2231136"/>
            <a:ext cx="720401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88406" y="2231136"/>
            <a:ext cx="7204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je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3800246" y="2231136"/>
            <a:ext cx="1433779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00246" y="2231136"/>
            <a:ext cx="14337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dat nog?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548640" y="2889504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2889504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1217981" y="2889504"/>
            <a:ext cx="880165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217981" y="2889504"/>
            <a:ext cx="88016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heb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2189586" y="2889504"/>
            <a:ext cx="720401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189586" y="2889504"/>
            <a:ext cx="7204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me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3001427" y="2889504"/>
            <a:ext cx="167898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3001427" y="2889504"/>
            <a:ext cx="16789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vergist.</a:t>
            </a:r>
            <a:endParaRPr lang="en-US" sz="2000" dirty="0"/>
          </a:p>
        </p:txBody>
      </p:sp>
      <p:sp>
        <p:nvSpPr>
          <p:cNvPr id="27" name="Shape 24"/>
          <p:cNvSpPr/>
          <p:nvPr/>
        </p:nvSpPr>
        <p:spPr>
          <a:xfrm>
            <a:off x="548640" y="3547872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48640" y="3547872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1217981" y="3547872"/>
            <a:ext cx="1039929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217981" y="3547872"/>
            <a:ext cx="10399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moet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2349350" y="3547872"/>
            <a:ext cx="720401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349350" y="3547872"/>
            <a:ext cx="7204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me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3161191" y="3547872"/>
            <a:ext cx="167898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3161191" y="3547872"/>
            <a:ext cx="16789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haasten.</a:t>
            </a:r>
            <a:endParaRPr lang="en-US" sz="2000" dirty="0"/>
          </a:p>
        </p:txBody>
      </p:sp>
      <p:sp>
        <p:nvSpPr>
          <p:cNvPr id="35" name="Shape 32"/>
          <p:cNvSpPr/>
          <p:nvPr/>
        </p:nvSpPr>
        <p:spPr>
          <a:xfrm>
            <a:off x="548640" y="4206240"/>
            <a:ext cx="100584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48640" y="42062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Lotte</a:t>
            </a:r>
            <a:endParaRPr lang="en-US" sz="2000" dirty="0"/>
          </a:p>
        </p:txBody>
      </p:sp>
      <p:sp>
        <p:nvSpPr>
          <p:cNvPr id="37" name="Shape 34"/>
          <p:cNvSpPr/>
          <p:nvPr/>
        </p:nvSpPr>
        <p:spPr>
          <a:xfrm>
            <a:off x="1645920" y="4206240"/>
            <a:ext cx="1199693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645920" y="4206240"/>
            <a:ext cx="11996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stelt</a:t>
            </a:r>
            <a:endParaRPr lang="en-US" sz="2000" dirty="0"/>
          </a:p>
        </p:txBody>
      </p:sp>
      <p:sp>
        <p:nvSpPr>
          <p:cNvPr id="39" name="Shape 36"/>
          <p:cNvSpPr/>
          <p:nvPr/>
        </p:nvSpPr>
        <p:spPr>
          <a:xfrm>
            <a:off x="2937053" y="4206240"/>
            <a:ext cx="1039929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937053" y="4206240"/>
            <a:ext cx="10399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zich</a:t>
            </a:r>
            <a:endParaRPr lang="en-US" sz="2000" dirty="0"/>
          </a:p>
        </p:txBody>
      </p:sp>
      <p:sp>
        <p:nvSpPr>
          <p:cNvPr id="41" name="Shape 38"/>
          <p:cNvSpPr/>
          <p:nvPr/>
        </p:nvSpPr>
        <p:spPr>
          <a:xfrm>
            <a:off x="4068422" y="4206240"/>
            <a:ext cx="1199693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2" name="Text 39"/>
          <p:cNvSpPr txBox="1"/>
          <p:nvPr/>
        </p:nvSpPr>
        <p:spPr>
          <a:xfrm>
            <a:off x="4068422" y="4206240"/>
            <a:ext cx="11996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voor.</a:t>
            </a:r>
            <a:endParaRPr lang="en-US" sz="2000" dirty="0"/>
          </a:p>
        </p:txBody>
      </p:sp>
      <p:sp>
        <p:nvSpPr>
          <p:cNvPr id="43" name="Shape 40"/>
          <p:cNvSpPr/>
          <p:nvPr/>
        </p:nvSpPr>
        <p:spPr>
          <a:xfrm>
            <a:off x="548640" y="4864608"/>
            <a:ext cx="2004365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48640" y="4864608"/>
            <a:ext cx="200436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…, omdat hij</a:t>
            </a:r>
            <a:endParaRPr lang="en-US" sz="2000" dirty="0"/>
          </a:p>
        </p:txBody>
      </p:sp>
      <p:sp>
        <p:nvSpPr>
          <p:cNvPr id="45" name="Shape 42"/>
          <p:cNvSpPr/>
          <p:nvPr/>
        </p:nvSpPr>
        <p:spPr>
          <a:xfrm>
            <a:off x="2644445" y="4864608"/>
            <a:ext cx="1039929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644445" y="4864608"/>
            <a:ext cx="10399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zich</a:t>
            </a:r>
            <a:endParaRPr lang="en-US" sz="2000" dirty="0"/>
          </a:p>
        </p:txBody>
      </p:sp>
      <p:sp>
        <p:nvSpPr>
          <p:cNvPr id="47" name="Shape 44"/>
          <p:cNvSpPr/>
          <p:nvPr/>
        </p:nvSpPr>
        <p:spPr>
          <a:xfrm>
            <a:off x="3775814" y="4864608"/>
            <a:ext cx="1576426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3775814" y="4864608"/>
            <a:ext cx="15764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niet goed</a:t>
            </a:r>
            <a:endParaRPr lang="en-US" sz="2000" dirty="0"/>
          </a:p>
        </p:txBody>
      </p:sp>
      <p:sp>
        <p:nvSpPr>
          <p:cNvPr id="49" name="Shape 46"/>
          <p:cNvSpPr/>
          <p:nvPr/>
        </p:nvSpPr>
        <p:spPr>
          <a:xfrm>
            <a:off x="5443679" y="4864608"/>
            <a:ext cx="1359457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443679" y="4864608"/>
            <a:ext cx="135945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voelt.</a:t>
            </a:r>
            <a:endParaRPr lang="en-US" sz="2000" dirty="0"/>
          </a:p>
        </p:txBody>
      </p:sp>
      <p:sp>
        <p:nvSpPr>
          <p:cNvPr id="51" name="Shape 48"/>
          <p:cNvSpPr/>
          <p:nvPr/>
        </p:nvSpPr>
        <p:spPr>
          <a:xfrm>
            <a:off x="7863840" y="1572768"/>
            <a:ext cx="3776472" cy="3840480"/>
          </a:xfrm>
          <a:prstGeom prst="roundRect">
            <a:avLst>
              <a:gd name="adj" fmla="val 2421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001000" y="1645920"/>
            <a:ext cx="352044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Après le verbe conjugué</a:t>
            </a:r>
            <a:r>
              <a:rPr lang="en-US" sz="1600" dirty="0">
                <a:solidFill>
                  <a:schemeClr val="tx1"/>
                </a:solidFill>
              </a:rPr>
              <a:t> (et le sujet inversé)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Passé composé : toujours </a:t>
            </a:r>
            <a:r>
              <a:rPr lang="en-US" sz="1600" b="1" i="1" dirty="0">
                <a:solidFill>
                  <a:schemeClr val="tx1"/>
                </a:solidFill>
              </a:rPr>
              <a:t>hebben</a:t>
            </a:r>
            <a:r>
              <a:rPr lang="en-US" sz="1600" dirty="0">
                <a:solidFill>
                  <a:schemeClr val="tx1"/>
                </a:solidFill>
              </a:rPr>
              <a:t> — ✗ </a:t>
            </a:r>
            <a:r>
              <a:rPr lang="en-US" sz="1600" i="1" strike="sngStrike" dirty="0">
                <a:solidFill>
                  <a:schemeClr val="accent6"/>
                </a:solidFill>
              </a:rPr>
              <a:t>Ik ben me vergist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Herinner je je…?</a:t>
            </a:r>
            <a:r>
              <a:rPr lang="en-US" sz="1600" dirty="0">
                <a:solidFill>
                  <a:schemeClr val="tx1"/>
                </a:solidFill>
              </a:rPr>
              <a:t> : deux </a:t>
            </a:r>
            <a:r>
              <a:rPr lang="en-US" sz="1600" i="1" dirty="0">
                <a:solidFill>
                  <a:schemeClr val="tx1"/>
                </a:solidFill>
              </a:rPr>
              <a:t>je</a:t>
            </a:r>
            <a:r>
              <a:rPr lang="en-US" sz="1600" dirty="0">
                <a:solidFill>
                  <a:schemeClr val="tx1"/>
                </a:solidFill>
              </a:rPr>
              <a:t> qui se suivent, c’est normal !</a:t>
            </a:r>
            <a:endParaRPr lang="en-US" sz="1600" dirty="0"/>
          </a:p>
        </p:txBody>
      </p:sp>
      <p:sp>
        <p:nvSpPr>
          <p:cNvPr id="53" name="Shape 50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Particule au bout (M11) : </a:t>
            </a:r>
            <a:r>
              <a:rPr lang="en-US" sz="1700" i="1" dirty="0">
                <a:solidFill>
                  <a:schemeClr val="bg1"/>
                </a:solidFill>
              </a:rPr>
              <a:t>Lotte stelt zich voor.</a:t>
            </a:r>
            <a:r>
              <a:rPr lang="en-US" sz="1700" dirty="0">
                <a:solidFill>
                  <a:schemeClr val="bg1"/>
                </a:solidFill>
              </a:rPr>
              <a:t> · Subordonnée : le verbe part à la fin (M9).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elkaar avec une préposition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s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7879" y="1783080"/>
            <a:ext cx="1097280" cy="10972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58368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 wonen </a:t>
            </a:r>
            <a:r>
              <a:rPr lang="en-US" sz="1800" b="1" i="1" dirty="0">
                <a:solidFill>
                  <a:schemeClr val="accent1"/>
                </a:solidFill>
              </a:rPr>
              <a:t>naast 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3367278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6517" y="1783080"/>
            <a:ext cx="1097280" cy="10972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477006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werken </a:t>
            </a:r>
            <a:r>
              <a:rPr lang="en-US" sz="1800" b="1" i="1" dirty="0">
                <a:solidFill>
                  <a:schemeClr val="accent1"/>
                </a:solidFill>
              </a:rPr>
              <a:t>met elkaar</a:t>
            </a:r>
            <a:r>
              <a:rPr lang="en-US" sz="1800" i="1" dirty="0">
                <a:solidFill>
                  <a:schemeClr val="tx1"/>
                </a:solidFill>
              </a:rPr>
              <a:t> samen.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6185916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two hear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5155" y="1783080"/>
            <a:ext cx="1097280" cy="10972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295644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 houden </a:t>
            </a:r>
            <a:r>
              <a:rPr lang="en-US" sz="1800" b="1" i="1" dirty="0">
                <a:solidFill>
                  <a:schemeClr val="accent1"/>
                </a:solidFill>
              </a:rPr>
              <a:t>van elkaar</a:t>
            </a:r>
            <a:r>
              <a:rPr lang="en-US" sz="1800" i="1" dirty="0">
                <a:solidFill>
                  <a:schemeClr val="tx1"/>
                </a:solidFill>
              </a:rPr>
              <a:t>. (M27)</a:t>
            </a:r>
            <a:endParaRPr lang="en-US" sz="1800" dirty="0"/>
          </a:p>
        </p:txBody>
      </p:sp>
      <p:sp>
        <p:nvSpPr>
          <p:cNvPr id="14" name="Shape 8"/>
          <p:cNvSpPr/>
          <p:nvPr/>
        </p:nvSpPr>
        <p:spPr>
          <a:xfrm>
            <a:off x="9004554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hourglass not d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3793" y="1783080"/>
            <a:ext cx="1097280" cy="109728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9114282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wachten </a:t>
            </a:r>
            <a:r>
              <a:rPr lang="en-US" sz="1800" b="1" i="1" dirty="0">
                <a:solidFill>
                  <a:schemeClr val="accent1"/>
                </a:solidFill>
              </a:rPr>
              <a:t>op 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0"/>
          <p:cNvSpPr/>
          <p:nvPr/>
        </p:nvSpPr>
        <p:spPr>
          <a:xfrm>
            <a:off x="548640" y="461772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777240" y="461772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français dit « l’un à côté de l’autre, ensemble, l’un l’autre » : le néerlandais dit toujours </a:t>
            </a:r>
            <a:r>
              <a:rPr lang="en-US" sz="1700" i="1" dirty="0">
                <a:solidFill>
                  <a:schemeClr val="tx1"/>
                </a:solidFill>
              </a:rPr>
              <a:t>elkaar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9" name="Shape 12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Pas de </a:t>
            </a:r>
            <a:r>
              <a:rPr lang="en-US" sz="1700" i="1" dirty="0">
                <a:solidFill>
                  <a:schemeClr val="bg1"/>
                </a:solidFill>
              </a:rPr>
              <a:t>er</a:t>
            </a:r>
            <a:r>
              <a:rPr lang="en-US" sz="1700" dirty="0">
                <a:solidFill>
                  <a:schemeClr val="bg1"/>
                </a:solidFill>
              </a:rPr>
              <a:t> (M23) : </a:t>
            </a:r>
            <a:r>
              <a:rPr lang="en-US" sz="1700" i="1" dirty="0">
                <a:solidFill>
                  <a:schemeClr val="bg1"/>
                </a:solidFill>
              </a:rPr>
              <a:t>elkaar</a:t>
            </a:r>
            <a:r>
              <a:rPr lang="en-US" sz="1700" dirty="0">
                <a:solidFill>
                  <a:schemeClr val="bg1"/>
                </a:solidFill>
              </a:rPr>
              <a:t> = des personnes · </a:t>
            </a:r>
            <a:r>
              <a:rPr lang="en-US" sz="1700" i="1" dirty="0">
                <a:solidFill>
                  <a:schemeClr val="bg1"/>
                </a:solidFill>
              </a:rPr>
              <a:t>met elkaar praten</a:t>
            </a:r>
            <a:r>
              <a:rPr lang="en-US" sz="1700" dirty="0">
                <a:solidFill>
                  <a:schemeClr val="bg1"/>
                </a:solidFill>
              </a:rPr>
              <a:t> (se parler) · </a:t>
            </a:r>
            <a:r>
              <a:rPr lang="en-US" sz="1700" i="1" dirty="0">
                <a:solidFill>
                  <a:schemeClr val="bg1"/>
                </a:solidFill>
              </a:rPr>
              <a:t>van elkaar leren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un « se », deux sens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Nous nous connaissons »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0" y="24048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6080760" y="21396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0" y="21396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We kennen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1" name="tag"/>
          <p:cNvSpPr/>
          <p:nvPr/>
        </p:nvSpPr>
        <p:spPr>
          <a:xfrm>
            <a:off x="10387584" y="225856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7889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se lavent »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669280" y="30906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080760" y="28254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0" y="28254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wassen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6" name="tag"/>
          <p:cNvSpPr/>
          <p:nvPr/>
        </p:nvSpPr>
        <p:spPr>
          <a:xfrm>
            <a:off x="10387584" y="294436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4747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se regardent » (dans le miroir)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5669280" y="37764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6080760" y="35112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17920" y="35112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kijken naar </a:t>
            </a:r>
            <a:r>
              <a:rPr lang="en-US" sz="1800" b="1" i="1" dirty="0">
                <a:solidFill>
                  <a:schemeClr val="accent2"/>
                </a:solidFill>
              </a:rPr>
              <a:t>zichzelf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1" name="tag"/>
          <p:cNvSpPr/>
          <p:nvPr/>
        </p:nvSpPr>
        <p:spPr>
          <a:xfrm>
            <a:off x="10387584" y="363016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41605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se regardent » (l’un l’autre)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5669280" y="44622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6080760" y="41970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217920" y="41970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kijken naar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6" name="tag"/>
          <p:cNvSpPr/>
          <p:nvPr/>
        </p:nvSpPr>
        <p:spPr>
          <a:xfrm>
            <a:off x="10387584" y="431596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48463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On s’appelle demain ? »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5669280" y="51480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6080760" y="48828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17920" y="48828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Bellen we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 morgen?</a:t>
            </a:r>
            <a:endParaRPr lang="en-US" sz="1800" dirty="0"/>
          </a:p>
        </p:txBody>
      </p:sp>
      <p:sp>
        <p:nvSpPr>
          <p:cNvPr id="31" name="tag"/>
          <p:cNvSpPr/>
          <p:nvPr/>
        </p:nvSpPr>
        <p:spPr>
          <a:xfrm>
            <a:off x="10387584" y="500176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français laisse le contexte trancher ; le néerlandais oblige à choisir.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APERÇU : zichzelf, mezelf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7315200" cy="804672"/>
          </a:xfrm>
          <a:prstGeom prst="roundRect">
            <a:avLst>
              <a:gd name="adj" fmla="val 11364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45920"/>
            <a:ext cx="4572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Hij denkt alleen aan </a:t>
            </a:r>
            <a:r>
              <a:rPr lang="en-US" sz="2100" b="1" i="1" dirty="0">
                <a:solidFill>
                  <a:schemeClr val="accent2"/>
                </a:solidFill>
              </a:rPr>
              <a:t>zichzelf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5394960" y="164592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à lui-même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606040"/>
            <a:ext cx="7315200" cy="804672"/>
          </a:xfrm>
          <a:prstGeom prst="roundRect">
            <a:avLst>
              <a:gd name="adj" fmla="val 11364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606040"/>
            <a:ext cx="4572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Stel </a:t>
            </a:r>
            <a:r>
              <a:rPr lang="en-US" sz="2100" b="1" i="1" dirty="0">
                <a:solidFill>
                  <a:schemeClr val="accent2"/>
                </a:solidFill>
              </a:rPr>
              <a:t>jezelf</a:t>
            </a:r>
            <a:r>
              <a:rPr lang="en-US" sz="2100" i="1" dirty="0">
                <a:solidFill>
                  <a:schemeClr val="tx1"/>
                </a:solidFill>
              </a:rPr>
              <a:t> eens voor!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5394960" y="260604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présente-toi donc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3566160"/>
            <a:ext cx="7315200" cy="804672"/>
          </a:xfrm>
          <a:prstGeom prst="roundRect">
            <a:avLst>
              <a:gd name="adj" fmla="val 11364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566160"/>
            <a:ext cx="4572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ken </a:t>
            </a:r>
            <a:r>
              <a:rPr lang="en-US" sz="2100" b="1" i="1" dirty="0">
                <a:solidFill>
                  <a:schemeClr val="accent2"/>
                </a:solidFill>
              </a:rPr>
              <a:t>mezelf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356616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me connais (moi-même)</a:t>
            </a:r>
            <a:endParaRPr lang="en-US" sz="1500" dirty="0"/>
          </a:p>
        </p:txBody>
      </p:sp>
      <p:pic>
        <p:nvPicPr>
          <p:cNvPr id="14" name="Image 0" descr="flashl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691640"/>
            <a:ext cx="1188720" cy="118872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8138160" y="3108960"/>
            <a:ext cx="350215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75320" y="3108960"/>
            <a:ext cx="3246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mezelf · jezelf · uzelf · zichzelf · onszelf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46634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77240" y="46634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≠ </a:t>
            </a:r>
            <a:r>
              <a:rPr lang="en-US" sz="1900" i="1" dirty="0">
                <a:solidFill>
                  <a:schemeClr val="tx1"/>
                </a:solidFill>
              </a:rPr>
              <a:t>zelf</a:t>
            </a:r>
            <a:r>
              <a:rPr lang="en-US" sz="1900" dirty="0">
                <a:solidFill>
                  <a:schemeClr val="tx1"/>
                </a:solidFill>
              </a:rPr>
              <a:t> seul : </a:t>
            </a:r>
            <a:r>
              <a:rPr lang="en-US" sz="1900" i="1" dirty="0">
                <a:solidFill>
                  <a:schemeClr val="tx1"/>
                </a:solidFill>
              </a:rPr>
              <a:t>Ik heb het </a:t>
            </a:r>
            <a:r>
              <a:rPr lang="en-US" sz="1900" b="1" i="1" dirty="0">
                <a:solidFill>
                  <a:schemeClr val="tx1"/>
                </a:solidFill>
              </a:rPr>
              <a:t>zelf</a:t>
            </a:r>
            <a:r>
              <a:rPr lang="en-US" sz="1900" i="1" dirty="0">
                <a:solidFill>
                  <a:schemeClr val="tx1"/>
                </a:solidFill>
              </a:rPr>
              <a:t> gedaan.</a:t>
            </a:r>
            <a:r>
              <a:rPr lang="en-US" sz="1900" dirty="0">
                <a:solidFill>
                  <a:schemeClr val="tx1"/>
                </a:solidFill>
              </a:rPr>
              <a:t> (moi-même, sans aide)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reconnaître : </a:t>
            </a:r>
            <a:r>
              <a:rPr lang="en-US" sz="1700" i="1" dirty="0">
                <a:solidFill>
                  <a:schemeClr val="bg1"/>
                </a:solidFill>
              </a:rPr>
              <a:t>-zelf</a:t>
            </a:r>
            <a:r>
              <a:rPr lang="en-US" sz="1700" dirty="0">
                <a:solidFill>
                  <a:schemeClr val="bg1"/>
                </a:solidFill>
              </a:rPr>
              <a:t> insiste, ou suit une préposition (</a:t>
            </a:r>
            <a:r>
              <a:rPr lang="en-US" sz="1700" i="1" dirty="0">
                <a:solidFill>
                  <a:schemeClr val="bg1"/>
                </a:solidFill>
              </a:rPr>
              <a:t>Hij praat over zichzelf.</a:t>
            </a:r>
            <a:r>
              <a:rPr lang="en-US" sz="1700" dirty="0">
                <a:solidFill>
                  <a:schemeClr val="bg1"/>
                </a:solidFill>
              </a:rPr>
              <a:t>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 miroir et le ping-pong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zich — soi-même</a:t>
            </a:r>
            <a:endParaRPr lang="en-US" sz="1700" dirty="0"/>
          </a:p>
        </p:txBody>
      </p:sp>
      <p:pic>
        <p:nvPicPr>
          <p:cNvPr id="8" name="Image 0" descr="person 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2194560"/>
            <a:ext cx="832104" cy="83210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531766" y="2052828"/>
            <a:ext cx="594360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1750">
            <a:solidFill>
              <a:srgbClr val="2A6FB0"/>
            </a:solidFill>
            <a:prstDash val="solid"/>
            <a:headEnd type="triangle"/>
          </a:ln>
        </p:spPr>
      </p:sp>
      <p:sp>
        <p:nvSpPr>
          <p:cNvPr id="10" name="Text 6"/>
          <p:cNvSpPr txBox="1"/>
          <p:nvPr/>
        </p:nvSpPr>
        <p:spPr>
          <a:xfrm>
            <a:off x="777240" y="2148840"/>
            <a:ext cx="3291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 · je · u / zich · zich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ons · je · zich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vergis </a:t>
            </a:r>
            <a:r>
              <a:rPr lang="en-US" sz="1800" b="1" i="1" dirty="0">
                <a:solidFill>
                  <a:schemeClr val="tx1"/>
                </a:solidFill>
              </a:rPr>
              <a:t>me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6227064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9944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elkaar — l’un l’autre</a:t>
            </a:r>
            <a:endParaRPr lang="en-US" sz="1700" dirty="0"/>
          </a:p>
        </p:txBody>
      </p:sp>
      <p:pic>
        <p:nvPicPr>
          <p:cNvPr id="14" name="Image 1" descr="person stan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7504" y="2359152"/>
            <a:ext cx="653796" cy="653796"/>
          </a:xfrm>
          <a:prstGeom prst="rect">
            <a:avLst/>
          </a:prstGeom>
        </p:spPr>
      </p:pic>
      <p:pic>
        <p:nvPicPr>
          <p:cNvPr id="15" name="Image 2" descr="person stan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6788" y="2359152"/>
            <a:ext cx="653796" cy="653796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10341864" y="2501798"/>
            <a:ext cx="570586" cy="273406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1"/>
          <p:cNvSpPr/>
          <p:nvPr/>
        </p:nvSpPr>
        <p:spPr>
          <a:xfrm flipH="1">
            <a:off x="10341864" y="2501798"/>
            <a:ext cx="570586" cy="273406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Text 12"/>
          <p:cNvSpPr txBox="1"/>
          <p:nvPr/>
        </p:nvSpPr>
        <p:spPr>
          <a:xfrm>
            <a:off x="6455664" y="2148840"/>
            <a:ext cx="3291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invariable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 zien </a:t>
            </a:r>
            <a:r>
              <a:rPr lang="en-US" sz="1800" b="1" i="1" dirty="0">
                <a:solidFill>
                  <a:schemeClr val="tx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 morgen.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Ze wonen </a:t>
            </a:r>
            <a:r>
              <a:rPr lang="en-US" sz="1800" b="1" i="1" dirty="0">
                <a:solidFill>
                  <a:schemeClr val="tx1"/>
                </a:solidFill>
              </a:rPr>
              <a:t>naast 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9" name="Shape 13"/>
          <p:cNvSpPr/>
          <p:nvPr/>
        </p:nvSpPr>
        <p:spPr>
          <a:xfrm>
            <a:off x="548640" y="4114800"/>
            <a:ext cx="11091672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777240" y="4114800"/>
            <a:ext cx="10698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Place</a:t>
            </a:r>
            <a:r>
              <a:rPr lang="en-US" sz="1800" dirty="0">
                <a:solidFill>
                  <a:schemeClr val="tx1"/>
                </a:solidFill>
              </a:rPr>
              <a:t> : après le verbe conjugué · </a:t>
            </a:r>
            <a:r>
              <a:rPr lang="en-US" sz="1800" b="1" dirty="0">
                <a:solidFill>
                  <a:schemeClr val="tx1"/>
                </a:solidFill>
              </a:rPr>
              <a:t>passé composé</a:t>
            </a:r>
            <a:r>
              <a:rPr lang="en-US" sz="1800" dirty="0">
                <a:solidFill>
                  <a:schemeClr val="tx1"/>
                </a:solidFill>
              </a:rPr>
              <a:t> avec </a:t>
            </a:r>
            <a:r>
              <a:rPr lang="en-US" sz="1800" i="1" dirty="0">
                <a:solidFill>
                  <a:schemeClr val="tx1"/>
                </a:solidFill>
              </a:rPr>
              <a:t>hebben</a:t>
            </a:r>
            <a:r>
              <a:rPr lang="en-US" sz="1800" dirty="0">
                <a:solidFill>
                  <a:schemeClr val="tx1"/>
                </a:solidFill>
              </a:rPr>
              <a:t> (</a:t>
            </a:r>
            <a:r>
              <a:rPr lang="en-US" sz="1800" i="1" dirty="0">
                <a:solidFill>
                  <a:schemeClr val="tx1"/>
                </a:solidFill>
              </a:rPr>
              <a:t>Ik heb me vergist</a:t>
            </a:r>
            <a:r>
              <a:rPr lang="en-US" sz="1800" dirty="0">
                <a:solidFill>
                  <a:schemeClr val="tx1"/>
                </a:solidFill>
              </a:rPr>
              <a:t>)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se » ≠ toujours </a:t>
            </a:r>
            <a:r>
              <a:rPr lang="en-US" sz="1800" i="1" dirty="0">
                <a:solidFill>
                  <a:schemeClr val="tx1"/>
                </a:solidFill>
              </a:rPr>
              <a:t>zich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opstaan, heten, trouwen, gaan zitten, wandelen</a:t>
            </a:r>
            <a:endParaRPr lang="en-US" sz="1800" dirty="0"/>
          </a:p>
        </p:txBody>
      </p:sp>
      <p:pic>
        <p:nvPicPr>
          <p:cNvPr id="21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pronom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xchang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zich ou elkaar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faux « se »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ListO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Remettez en ordre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heaterMas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Mime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Handshak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réseautage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pronom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pronom réfléchi : </a:t>
            </a:r>
            <a:r>
              <a:rPr lang="en-US" sz="1700" i="1" dirty="0">
                <a:solidFill>
                  <a:schemeClr val="accent5"/>
                </a:solidFill>
              </a:rPr>
              <a:t>me, je, u, zich, ons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Ik vergis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Jij haast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Karim voelt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niet goed.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Wij schrijven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in.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Jullie vervelen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Ze maken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zorgen.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Herinnert u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mijn naam?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Lotte stelt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voor.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pronom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pronom réfléchi : </a:t>
            </a:r>
            <a:r>
              <a:rPr lang="en-US" sz="1700" i="1" dirty="0">
                <a:solidFill>
                  <a:schemeClr val="accent5"/>
                </a:solidFill>
              </a:rPr>
              <a:t>me, je, u, zich, ons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Ik vergis </a:t>
            </a:r>
            <a:r>
              <a:rPr lang="en-US" sz="2200" b="1" i="1" dirty="0">
                <a:solidFill>
                  <a:schemeClr val="accent3"/>
                </a:solidFill>
              </a:rPr>
              <a:t>me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Jij haast </a:t>
            </a:r>
            <a:r>
              <a:rPr lang="en-US" sz="2200" b="1" i="1" dirty="0">
                <a:solidFill>
                  <a:schemeClr val="accent3"/>
                </a:solidFill>
              </a:rPr>
              <a:t>je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Karim voelt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i="1" dirty="0">
                <a:solidFill>
                  <a:schemeClr val="tx1"/>
                </a:solidFill>
              </a:rPr>
              <a:t> niet goed.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Wij schrijven </a:t>
            </a:r>
            <a:r>
              <a:rPr lang="en-US" sz="2200" b="1" i="1" dirty="0">
                <a:solidFill>
                  <a:schemeClr val="accent3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in.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Jullie vervelen </a:t>
            </a:r>
            <a:r>
              <a:rPr lang="en-US" sz="2200" b="1" i="1" dirty="0">
                <a:solidFill>
                  <a:schemeClr val="accent3"/>
                </a:solidFill>
              </a:rPr>
              <a:t>je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Ze maken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i="1" dirty="0">
                <a:solidFill>
                  <a:schemeClr val="tx1"/>
                </a:solidFill>
              </a:rPr>
              <a:t> zorgen.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Herinnert u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b="1" i="1" dirty="0">
                <a:solidFill>
                  <a:schemeClr val="accent3"/>
                </a:solidFill>
              </a:rPr>
              <a:t> (of: u)</a:t>
            </a:r>
            <a:r>
              <a:rPr lang="en-US" sz="2200" i="1" dirty="0">
                <a:solidFill>
                  <a:schemeClr val="tx1"/>
                </a:solidFill>
              </a:rPr>
              <a:t> mijn naam?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Lotte stelt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i="1" dirty="0">
                <a:solidFill>
                  <a:schemeClr val="tx1"/>
                </a:solidFill>
              </a:rPr>
              <a:t> voor.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zich ou elkaar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Posez la question-test : qui reçoit l’action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1051560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en Karim kennen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al lang.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1051560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Lotte kleedt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snel aan.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1051560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 zien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morgen!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1051560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vergist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vaak.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734556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 helpen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altijd.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6734556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collega’s bellen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elke week.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sp>
        <p:nvSpPr>
          <p:cNvPr id="28" name="Text 24"/>
          <p:cNvSpPr txBox="1"/>
          <p:nvPr/>
        </p:nvSpPr>
        <p:spPr>
          <a:xfrm>
            <a:off x="6734556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voel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niet goed.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sp>
        <p:nvSpPr>
          <p:cNvPr id="31" name="Text 27"/>
          <p:cNvSpPr txBox="1"/>
          <p:nvPr/>
        </p:nvSpPr>
        <p:spPr>
          <a:xfrm>
            <a:off x="6734556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Ze wonen naast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zich ou elkaar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Posez la question-test : qui reçoit l’action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1051560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en Karim kennen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al lang.</a:t>
            </a:r>
            <a:endParaRPr lang="en-US" sz="1900" dirty="0"/>
          </a:p>
        </p:txBody>
      </p:sp>
      <p:sp>
        <p:nvSpPr>
          <p:cNvPr id="12" name="tag"/>
          <p:cNvSpPr/>
          <p:nvPr/>
        </p:nvSpPr>
        <p:spPr>
          <a:xfrm>
            <a:off x="4695444" y="233095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1051560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Lotte kleedt </a:t>
            </a:r>
            <a:r>
              <a:rPr lang="en-US" sz="1900" b="1" i="1" dirty="0">
                <a:solidFill>
                  <a:schemeClr val="accent3"/>
                </a:solidFill>
              </a:rPr>
              <a:t>zich</a:t>
            </a:r>
            <a:r>
              <a:rPr lang="en-US" sz="1900" i="1" dirty="0">
                <a:solidFill>
                  <a:schemeClr val="tx1"/>
                </a:solidFill>
              </a:rPr>
              <a:t> snel aan.</a:t>
            </a:r>
            <a:endParaRPr lang="en-US" sz="1900" dirty="0"/>
          </a:p>
        </p:txBody>
      </p:sp>
      <p:sp>
        <p:nvSpPr>
          <p:cNvPr id="16" name="tag"/>
          <p:cNvSpPr/>
          <p:nvPr/>
        </p:nvSpPr>
        <p:spPr>
          <a:xfrm>
            <a:off x="4695444" y="342061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1051560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 zien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morgen!</a:t>
            </a:r>
            <a:endParaRPr lang="en-US" sz="1900" dirty="0"/>
          </a:p>
        </p:txBody>
      </p:sp>
      <p:sp>
        <p:nvSpPr>
          <p:cNvPr id="20" name="tag"/>
          <p:cNvSpPr/>
          <p:nvPr/>
        </p:nvSpPr>
        <p:spPr>
          <a:xfrm>
            <a:off x="4695444" y="451027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sp>
        <p:nvSpPr>
          <p:cNvPr id="23" name="Text 19"/>
          <p:cNvSpPr txBox="1"/>
          <p:nvPr/>
        </p:nvSpPr>
        <p:spPr>
          <a:xfrm>
            <a:off x="1051560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vergist </a:t>
            </a:r>
            <a:r>
              <a:rPr lang="en-US" sz="1900" b="1" i="1" dirty="0">
                <a:solidFill>
                  <a:schemeClr val="accent3"/>
                </a:solidFill>
              </a:rPr>
              <a:t>zich</a:t>
            </a:r>
            <a:r>
              <a:rPr lang="en-US" sz="1900" i="1" dirty="0">
                <a:solidFill>
                  <a:schemeClr val="tx1"/>
                </a:solidFill>
              </a:rPr>
              <a:t> vaak.</a:t>
            </a:r>
            <a:endParaRPr lang="en-US" sz="1900" dirty="0"/>
          </a:p>
        </p:txBody>
      </p:sp>
      <p:sp>
        <p:nvSpPr>
          <p:cNvPr id="24" name="tag"/>
          <p:cNvSpPr/>
          <p:nvPr/>
        </p:nvSpPr>
        <p:spPr>
          <a:xfrm>
            <a:off x="4695444" y="559993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6734556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 helpen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altijd.</a:t>
            </a:r>
            <a:endParaRPr lang="en-US" sz="1900" dirty="0"/>
          </a:p>
        </p:txBody>
      </p:sp>
      <p:sp>
        <p:nvSpPr>
          <p:cNvPr id="28" name="tag"/>
          <p:cNvSpPr/>
          <p:nvPr/>
        </p:nvSpPr>
        <p:spPr>
          <a:xfrm>
            <a:off x="10378440" y="233095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sp>
        <p:nvSpPr>
          <p:cNvPr id="31" name="Text 27"/>
          <p:cNvSpPr txBox="1"/>
          <p:nvPr/>
        </p:nvSpPr>
        <p:spPr>
          <a:xfrm>
            <a:off x="6734556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collega’s bellen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elke week.</a:t>
            </a:r>
            <a:endParaRPr lang="en-US" sz="1900" dirty="0"/>
          </a:p>
        </p:txBody>
      </p:sp>
      <p:sp>
        <p:nvSpPr>
          <p:cNvPr id="32" name="tag"/>
          <p:cNvSpPr/>
          <p:nvPr/>
        </p:nvSpPr>
        <p:spPr>
          <a:xfrm>
            <a:off x="10378440" y="342061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sp>
        <p:nvSpPr>
          <p:cNvPr id="35" name="Text 31"/>
          <p:cNvSpPr txBox="1"/>
          <p:nvPr/>
        </p:nvSpPr>
        <p:spPr>
          <a:xfrm>
            <a:off x="6734556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voel </a:t>
            </a:r>
            <a:r>
              <a:rPr lang="en-US" sz="1900" b="1" i="1" dirty="0">
                <a:solidFill>
                  <a:schemeClr val="accent3"/>
                </a:solidFill>
              </a:rPr>
              <a:t>me</a:t>
            </a:r>
            <a:r>
              <a:rPr lang="en-US" sz="1900" i="1" dirty="0">
                <a:solidFill>
                  <a:schemeClr val="tx1"/>
                </a:solidFill>
              </a:rPr>
              <a:t> niet goed.</a:t>
            </a:r>
            <a:endParaRPr lang="en-US" sz="1900" dirty="0"/>
          </a:p>
        </p:txBody>
      </p:sp>
      <p:sp>
        <p:nvSpPr>
          <p:cNvPr id="36" name="tag"/>
          <p:cNvSpPr/>
          <p:nvPr/>
        </p:nvSpPr>
        <p:spPr>
          <a:xfrm>
            <a:off x="10378440" y="451027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sp>
        <p:nvSpPr>
          <p:cNvPr id="39" name="Text 35"/>
          <p:cNvSpPr txBox="1"/>
          <p:nvPr/>
        </p:nvSpPr>
        <p:spPr>
          <a:xfrm>
            <a:off x="6734556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Ze wonen naast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40" name="tag"/>
          <p:cNvSpPr/>
          <p:nvPr/>
        </p:nvSpPr>
        <p:spPr>
          <a:xfrm>
            <a:off x="10378440" y="559993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faux « se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: trois verbes ne sont pas réfléchis en néerlandais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lève à 7 heures.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Elle s’appelle Lotte.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souviens de lui.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On se voit demain !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Ils se marient en mai.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suis trompé.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faux « se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: trois verbes ne sont pas réfléchis en néerlandais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lève à 7 heures.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675120" y="19781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Ik sta om 7 uur op.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Elle s’appelle Lotte.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675120" y="270459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Ze heet Lotte.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souviens de lui.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75120" y="343103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Ik herinner me hem.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On se voit demain !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675120" y="415747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We zien elkaar morgen!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Ils se marient en mai.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675120" y="488391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Ze trouwen in mei.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suis trompé.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675120" y="56103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Ik heb me vergist.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écrit à Sofie.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Chat · Lotte → Sofie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Hoi Sofie! </a:t>
            </a:r>
            <a:r>
              <a:rPr lang="en-US" sz="1900" i="1" dirty="0">
                <a:solidFill>
                  <a:schemeClr val="tx1"/>
                </a:solidFill>
              </a:rPr>
              <a:t>Ik noem me</a:t>
            </a:r>
            <a:r>
              <a:rPr lang="en-US" sz="1900" i="1" dirty="0">
                <a:solidFill>
                  <a:schemeClr val="tx1"/>
                </a:solidFill>
              </a:rPr>
              <a:t> Lotte, ik ben de nieuwe stagiaire. Vanmorgen </a:t>
            </a:r>
            <a:r>
              <a:rPr lang="en-US" sz="1900" i="1" dirty="0">
                <a:solidFill>
                  <a:schemeClr val="tx1"/>
                </a:solidFill>
              </a:rPr>
              <a:t>heb ik me om zes uur opgestaan</a:t>
            </a:r>
            <a:r>
              <a:rPr lang="en-US" sz="1900" i="1" dirty="0">
                <a:solidFill>
                  <a:schemeClr val="tx1"/>
                </a:solidFill>
              </a:rPr>
              <a:t>. Karim en ik bellen </a:t>
            </a:r>
            <a:r>
              <a:rPr lang="en-US" sz="1900" i="1" dirty="0">
                <a:solidFill>
                  <a:schemeClr val="tx1"/>
                </a:solidFill>
              </a:rPr>
              <a:t>ons</a:t>
            </a:r>
            <a:r>
              <a:rPr lang="en-US" sz="1900" i="1" dirty="0">
                <a:solidFill>
                  <a:schemeClr val="tx1"/>
                </a:solidFill>
              </a:rPr>
              <a:t> morgen over het project. </a:t>
            </a:r>
            <a:r>
              <a:rPr lang="en-US" sz="1900" i="1" dirty="0">
                <a:solidFill>
                  <a:schemeClr val="tx1"/>
                </a:solidFill>
              </a:rPr>
              <a:t>Ik ben me</a:t>
            </a:r>
            <a:r>
              <a:rPr lang="en-US" sz="1900" i="1" dirty="0">
                <a:solidFill>
                  <a:schemeClr val="tx1"/>
                </a:solidFill>
              </a:rPr>
              <a:t> gisteren vergist in de planning, sorry! Karim voelt </a:t>
            </a:r>
            <a:r>
              <a:rPr lang="en-US" sz="1900" i="1" dirty="0">
                <a:solidFill>
                  <a:schemeClr val="tx1"/>
                </a:solidFill>
              </a:rPr>
              <a:t>hem</a:t>
            </a:r>
            <a:r>
              <a:rPr lang="en-US" sz="1900" i="1" dirty="0">
                <a:solidFill>
                  <a:schemeClr val="tx1"/>
                </a:solidFill>
              </a:rPr>
              <a:t> vandaag niet goed. We zien elkaar maandag! Lotte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écrit à Sofie.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Chat · Lotte → Sofie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Hoi Sofie! </a:t>
            </a:r>
            <a:r>
              <a:rPr lang="en-US" sz="1900" i="1" strike="sngStrike" dirty="0">
                <a:solidFill>
                  <a:schemeClr val="accent6"/>
                </a:solidFill>
              </a:rPr>
              <a:t>Ik noem me</a:t>
            </a:r>
            <a:r>
              <a:rPr lang="en-US" sz="1900" b="1" i="1" dirty="0">
                <a:solidFill>
                  <a:schemeClr val="accent3"/>
                </a:solidFill>
              </a:rPr>
              <a:t> Ik heet</a:t>
            </a:r>
            <a:r>
              <a:rPr lang="en-US" sz="1900" i="1" dirty="0">
                <a:solidFill>
                  <a:schemeClr val="tx1"/>
                </a:solidFill>
              </a:rPr>
              <a:t> Lotte, ik ben de nieuwe stagiaire. Vanmorgen </a:t>
            </a:r>
            <a:r>
              <a:rPr lang="en-US" sz="1900" i="1" strike="sngStrike" dirty="0">
                <a:solidFill>
                  <a:schemeClr val="accent6"/>
                </a:solidFill>
              </a:rPr>
              <a:t>heb ik me om zes uur opgestaan</a:t>
            </a:r>
            <a:r>
              <a:rPr lang="en-US" sz="1900" b="1" i="1" dirty="0">
                <a:solidFill>
                  <a:schemeClr val="accent3"/>
                </a:solidFill>
              </a:rPr>
              <a:t> ben ik om zes uur opgestaan</a:t>
            </a:r>
            <a:r>
              <a:rPr lang="en-US" sz="1900" i="1" dirty="0">
                <a:solidFill>
                  <a:schemeClr val="tx1"/>
                </a:solidFill>
              </a:rPr>
              <a:t>. Karim en ik bellen </a:t>
            </a:r>
            <a:r>
              <a:rPr lang="en-US" sz="1900" i="1" strike="sngStrike" dirty="0">
                <a:solidFill>
                  <a:schemeClr val="accent6"/>
                </a:solidFill>
              </a:rPr>
              <a:t>ons</a:t>
            </a:r>
            <a:r>
              <a:rPr lang="en-US" sz="1900" b="1" i="1" dirty="0">
                <a:solidFill>
                  <a:schemeClr val="accent3"/>
                </a:solidFill>
              </a:rPr>
              <a:t> elkaar</a:t>
            </a:r>
            <a:r>
              <a:rPr lang="en-US" sz="1900" i="1" dirty="0">
                <a:solidFill>
                  <a:schemeClr val="tx1"/>
                </a:solidFill>
              </a:rPr>
              <a:t> morgen over het project. </a:t>
            </a:r>
            <a:r>
              <a:rPr lang="en-US" sz="1900" i="1" strike="sngStrike" dirty="0">
                <a:solidFill>
                  <a:schemeClr val="accent6"/>
                </a:solidFill>
              </a:rPr>
              <a:t>Ik ben me</a:t>
            </a:r>
            <a:r>
              <a:rPr lang="en-US" sz="1900" b="1" i="1" dirty="0">
                <a:solidFill>
                  <a:schemeClr val="accent3"/>
                </a:solidFill>
              </a:rPr>
              <a:t> Ik heb me</a:t>
            </a:r>
            <a:r>
              <a:rPr lang="en-US" sz="1900" i="1" dirty="0">
                <a:solidFill>
                  <a:schemeClr val="tx1"/>
                </a:solidFill>
              </a:rPr>
              <a:t> gisteren vergist in de planning, sorry! Karim voelt </a:t>
            </a:r>
            <a:r>
              <a:rPr lang="en-US" sz="1900" i="1" strike="sngStrike" dirty="0">
                <a:solidFill>
                  <a:schemeClr val="accent6"/>
                </a:solidFill>
              </a:rPr>
              <a:t>hem</a:t>
            </a:r>
            <a:r>
              <a:rPr lang="en-US" sz="1900" b="1" i="1" dirty="0">
                <a:solidFill>
                  <a:schemeClr val="accent3"/>
                </a:solidFill>
              </a:rPr>
              <a:t> zich</a:t>
            </a:r>
            <a:r>
              <a:rPr lang="en-US" sz="1900" i="1" dirty="0">
                <a:solidFill>
                  <a:schemeClr val="tx1"/>
                </a:solidFill>
              </a:rPr>
              <a:t> vandaag niet goed. We zien elkaar maandag! Lotte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We zien elkaar maandag!</a:t>
            </a:r>
            <a:r>
              <a:rPr lang="en-US" sz="1400" i="1" dirty="0">
                <a:solidFill>
                  <a:schemeClr val="accent5"/>
                </a:solidFill>
              </a:rPr>
              <a:t> est correct. </a:t>
            </a:r>
            <a:r>
              <a:rPr lang="en-US" sz="1400" i="1" dirty="0">
                <a:solidFill>
                  <a:schemeClr val="accent5"/>
                </a:solidFill>
              </a:rPr>
              <a:t>opstaan</a:t>
            </a:r>
            <a:r>
              <a:rPr lang="en-US" sz="1400" i="1" dirty="0">
                <a:solidFill>
                  <a:schemeClr val="accent5"/>
                </a:solidFill>
              </a:rPr>
              <a:t> n’est pas réfléchi et prend </a:t>
            </a:r>
            <a:r>
              <a:rPr lang="en-US" sz="1400" i="1" dirty="0">
                <a:solidFill>
                  <a:schemeClr val="accent5"/>
                </a:solidFill>
              </a:rPr>
              <a:t>zijn</a:t>
            </a:r>
            <a:r>
              <a:rPr lang="en-US" sz="1400" i="1" dirty="0">
                <a:solidFill>
                  <a:schemeClr val="accent5"/>
                </a:solidFill>
              </a:rPr>
              <a:t> (M15).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le pronom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 rot="-120000">
            <a:off x="109728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 rot="60000">
            <a:off x="2011680" y="2060448"/>
            <a:ext cx="15087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011680" y="2060448"/>
            <a:ext cx="15087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gisteren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 rot="120000">
            <a:off x="3749040" y="2060448"/>
            <a:ext cx="13716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749040" y="2060448"/>
            <a:ext cx="13716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vergist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 rot="-60000">
            <a:off x="534924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34924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263640" y="2060448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263640" y="2060448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heb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 rot="-120000">
            <a:off x="1097280" y="2932176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97280" y="2932176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je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 rot="60000">
            <a:off x="2011680" y="2932176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2011680" y="2932176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nog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 rot="120000">
            <a:off x="3063240" y="2932176"/>
            <a:ext cx="15087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063240" y="2932176"/>
            <a:ext cx="15087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herinner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 rot="-60000">
            <a:off x="4800600" y="2932176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00600" y="2932176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dat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852160" y="2932176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852160" y="2932176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je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 rot="60000">
            <a:off x="6766560" y="2932176"/>
            <a:ext cx="548640" cy="6156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766560" y="2932176"/>
            <a:ext cx="5486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 rot="-120000">
            <a:off x="1097280" y="3803904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1097280" y="3803904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zich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 rot="60000">
            <a:off x="2286000" y="3803904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2286000" y="3803904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voor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 rot="120000">
            <a:off x="3474720" y="3803904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474720" y="3803904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stelt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 rot="-60000">
            <a:off x="4800600" y="3803904"/>
            <a:ext cx="27432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4800600" y="3803904"/>
            <a:ext cx="27432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nieuwe collega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 rot="-120000">
            <a:off x="1097280" y="4675632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97280" y="4675632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elkaar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 rot="60000">
            <a:off x="2560320" y="4675632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2560320" y="4675632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morgen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 rot="120000">
            <a:off x="4023360" y="4675632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4023360" y="4675632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zien</a:t>
            </a:r>
            <a:endParaRPr lang="en-US" sz="1800" dirty="0"/>
          </a:p>
        </p:txBody>
      </p:sp>
      <p:sp>
        <p:nvSpPr>
          <p:cNvPr id="52" name="Shape 48"/>
          <p:cNvSpPr/>
          <p:nvPr/>
        </p:nvSpPr>
        <p:spPr>
          <a:xfrm rot="-60000">
            <a:off x="5212080" y="4675632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5212080" y="4675632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6" name="Shape 52"/>
          <p:cNvSpPr/>
          <p:nvPr/>
        </p:nvSpPr>
        <p:spPr>
          <a:xfrm rot="-120000">
            <a:off x="1097280" y="5547360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1097280" y="5547360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moeten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 rot="60000">
            <a:off x="256032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256032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ons</a:t>
            </a:r>
            <a:endParaRPr lang="en-US" sz="1800" dirty="0"/>
          </a:p>
        </p:txBody>
      </p:sp>
      <p:sp>
        <p:nvSpPr>
          <p:cNvPr id="60" name="Shape 56"/>
          <p:cNvSpPr/>
          <p:nvPr/>
        </p:nvSpPr>
        <p:spPr>
          <a:xfrm rot="120000">
            <a:off x="3611880" y="5547360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3611880" y="5547360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</a:t>
            </a:r>
            <a:endParaRPr lang="en-US" sz="1800" dirty="0"/>
          </a:p>
        </p:txBody>
      </p:sp>
      <p:sp>
        <p:nvSpPr>
          <p:cNvPr id="62" name="Shape 58"/>
          <p:cNvSpPr/>
          <p:nvPr/>
        </p:nvSpPr>
        <p:spPr>
          <a:xfrm rot="-60000">
            <a:off x="4526280" y="5547360"/>
            <a:ext cx="13716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4526280" y="5547360"/>
            <a:ext cx="13716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haasten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le pronom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97280" y="1996440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234440" y="1996440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Ik heb me gisteren vergist.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1097280" y="2868168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234440" y="2868168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Herinner je je dat nog?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97280" y="3739896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234440" y="3739896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De nieuwe collega stelt zich voor.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1097280" y="4611624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234440" y="4611624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We zien elkaar morgen.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97280" y="5483352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234440" y="5483352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We moeten ons haasten.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Mime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tag"/>
          <p:cNvSpPr/>
          <p:nvPr/>
        </p:nvSpPr>
        <p:spPr>
          <a:xfrm>
            <a:off x="658368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8" name="Image 0" descr="t shi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2057400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1792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aankleden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441448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ag"/>
          <p:cNvSpPr/>
          <p:nvPr/>
        </p:nvSpPr>
        <p:spPr>
          <a:xfrm>
            <a:off x="2551176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12" name="Image 1" descr="person run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7228" y="2057400"/>
            <a:ext cx="731520" cy="7315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514600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haasten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334256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ag"/>
          <p:cNvSpPr/>
          <p:nvPr/>
        </p:nvSpPr>
        <p:spPr>
          <a:xfrm>
            <a:off x="4443984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16" name="Image 2" descr="yawn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0036" y="2057400"/>
            <a:ext cx="731520" cy="7315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407408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vervelen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6227064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ag"/>
          <p:cNvSpPr/>
          <p:nvPr/>
        </p:nvSpPr>
        <p:spPr>
          <a:xfrm>
            <a:off x="6336792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20" name="Image 3" descr="bullsey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2844" y="2057400"/>
            <a:ext cx="731520" cy="7315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300216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concentreren</a:t>
            </a:r>
            <a:endParaRPr lang="en-US" sz="1400" dirty="0"/>
          </a:p>
        </p:txBody>
      </p:sp>
      <p:sp>
        <p:nvSpPr>
          <p:cNvPr id="22" name="Shape 15"/>
          <p:cNvSpPr/>
          <p:nvPr/>
        </p:nvSpPr>
        <p:spPr>
          <a:xfrm>
            <a:off x="548640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ag"/>
          <p:cNvSpPr/>
          <p:nvPr/>
        </p:nvSpPr>
        <p:spPr>
          <a:xfrm>
            <a:off x="658368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24" name="Image 4" descr="handsh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420" y="4206240"/>
            <a:ext cx="731520" cy="7315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21792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elkaar een hand geven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2441448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ag"/>
          <p:cNvSpPr/>
          <p:nvPr/>
        </p:nvSpPr>
        <p:spPr>
          <a:xfrm>
            <a:off x="2551176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28" name="Image 5" descr="telephone receiv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67228" y="42062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2514600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elkaar bellen</a:t>
            </a:r>
            <a:endParaRPr lang="en-US" sz="1400" dirty="0"/>
          </a:p>
        </p:txBody>
      </p:sp>
      <p:sp>
        <p:nvSpPr>
          <p:cNvPr id="30" name="Shape 21"/>
          <p:cNvSpPr/>
          <p:nvPr/>
        </p:nvSpPr>
        <p:spPr>
          <a:xfrm>
            <a:off x="4334256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tag"/>
          <p:cNvSpPr/>
          <p:nvPr/>
        </p:nvSpPr>
        <p:spPr>
          <a:xfrm>
            <a:off x="4443984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32" name="Image 6" descr="people hug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60036" y="4206240"/>
            <a:ext cx="731520" cy="73152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4407408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elkaar helpen</a:t>
            </a:r>
            <a:endParaRPr lang="en-US" sz="1400" dirty="0"/>
          </a:p>
        </p:txBody>
      </p:sp>
      <p:sp>
        <p:nvSpPr>
          <p:cNvPr id="34" name="Shape 24"/>
          <p:cNvSpPr/>
          <p:nvPr/>
        </p:nvSpPr>
        <p:spPr>
          <a:xfrm>
            <a:off x="6227064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5" name="tag"/>
          <p:cNvSpPr/>
          <p:nvPr/>
        </p:nvSpPr>
        <p:spPr>
          <a:xfrm>
            <a:off x="6336792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36" name="Image 7" descr="hourglass not don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2844" y="4206240"/>
            <a:ext cx="731520" cy="731520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6300216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op elkaar wachten</a:t>
            </a:r>
            <a:endParaRPr lang="en-US" sz="1400" dirty="0"/>
          </a:p>
        </p:txBody>
      </p:sp>
      <p:pic>
        <p:nvPicPr>
          <p:cNvPr id="38" name="Image 8" descr="performing art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21040" y="1600200"/>
            <a:ext cx="731520" cy="731520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9144000" y="1600200"/>
            <a:ext cx="2496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Mime!</a:t>
            </a:r>
            <a:endParaRPr lang="en-US" sz="2800" dirty="0"/>
          </a:p>
        </p:txBody>
      </p:sp>
      <p:sp>
        <p:nvSpPr>
          <p:cNvPr id="40" name="Text 28"/>
          <p:cNvSpPr txBox="1"/>
          <p:nvPr/>
        </p:nvSpPr>
        <p:spPr>
          <a:xfrm>
            <a:off x="8321040" y="2514600"/>
            <a:ext cx="33192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Tirez une carte et mimez, seul ou à deux.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La classe devine avec une phrase complète : </a:t>
            </a:r>
            <a:r>
              <a:rPr lang="en-US" sz="1500" i="1" dirty="0">
                <a:solidFill>
                  <a:schemeClr val="tx1"/>
                </a:solidFill>
              </a:rPr>
              <a:t>Hij haast zich! · Ze bellen elkaar!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Phrase juste = 1 point.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réseautage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Soirée de réseautage à Bruxelles : on se présente, on vérifie si on se connaît et on prévoit de se revoir.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Participant·e A</a:t>
            </a:r>
            <a:r>
              <a:rPr lang="en-US" sz="1700" dirty="0">
                <a:solidFill>
                  <a:schemeClr val="tx1"/>
                </a:solidFill>
              </a:rPr>
              <a:t> : présentez-vous et demandez si vous vous connaissez : </a:t>
            </a:r>
            <a:r>
              <a:rPr lang="en-US" sz="1700" i="1" dirty="0">
                <a:solidFill>
                  <a:schemeClr val="tx1"/>
                </a:solidFill>
              </a:rPr>
              <a:t>Kennen we elkaar?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Participant·e B</a:t>
            </a:r>
            <a:r>
              <a:rPr lang="en-US" sz="1700" dirty="0">
                <a:solidFill>
                  <a:schemeClr val="tx1"/>
                </a:solidFill>
              </a:rPr>
              <a:t> : répondez, excusez-vous si vous vous trompez, proposez de vous revoir.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Mag ik me even voorstellen? · Kennen we elkaar? · Ik herinner me uw naam. · Sorry, ik vergis me. · We zien elkaar volgende week! · Zullen we elkaar mailen?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DEELNEMERS · NETWERKAVOND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165592" y="2029968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23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231136"/>
            <a:ext cx="548640" cy="54864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897112" y="2029968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Eva Wouters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Maesbouw · Brussel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65592" y="3072384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26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3273552"/>
            <a:ext cx="548640" cy="54864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897112" y="3072384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Tom De Smet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Koopzo · Leuven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8165592" y="4114800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29" name="Image 2" descr="wo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4315968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897112" y="4114800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Nadia El Amrani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Sportclub Vitaal · Gent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8165592" y="5157216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32" name="Image 3" descr="man be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5358384"/>
            <a:ext cx="548640" cy="5486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897112" y="5157216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Pieter Claes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freelance · Mechelen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Complétez : </a:t>
            </a:r>
            <a:r>
              <a:rPr lang="en-US" sz="2000" i="1" dirty="0">
                <a:solidFill>
                  <a:schemeClr val="tx1"/>
                </a:solidFill>
              </a:rPr>
              <a:t>Wij schrijven …… in. · Hij vergist …… 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zich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elkaar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Ze kennen …… al jaren.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Je me lève à 7 heures.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Conjuguer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Distinguer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Utiliser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Lightbulb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Als ik tijd had…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Zou je me kunnen helpen?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28 — Zich of elkaar? — Les verbes réfléchis et réciproques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2026-10-05T15:46:49Z</dcterms:created>
  <dcterms:modified xsi:type="dcterms:W3CDTF">2026-10-05T15:46:49Z</dcterms:modified>
</cp:coreProperties>
</file>