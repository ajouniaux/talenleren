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4cce8fea-6d56-3319-603b-0858048c9f65}">
          <p14:sldIdLst>
            <p14:sldId id="256"/>
          </p14:sldIdLst>
        </p14:section>
        <p14:section name="Découvrir" id="{cf76e9a3-fc11-7953-0805-c30c56e7c975}">
          <p14:sldIdLst>
            <p14:sldId id="257"/>
            <p14:sldId id="258"/>
          </p14:sldIdLst>
        </p14:section>
        <p14:section name="Comprendre" id="{e310bfbd-2d37-52c8-1b4b-90611f77a70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d734b8e9-de45-3cec-db5d-f6234384bff7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e32c10f5-52c1-4ae2-318d-0013637d2f37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deux sens du « se » français.
Question d'entrée : « Dans ils se lavent et ils s'aident, le se veut-il dire la même chose ? » Non : soi-même / l'un l'autre. Le néerlandais a deux mots.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verbes sont partout au travail : se présenter, s'inscrire, s'excuser, se tromper, se sentir bien ou 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zich et elkaar par l'image.
Faites mimer : zich = je montre ma poitrine ; elkaar = je montre l'autre, puis moi. Les apprenants formulent eux-mêmes la règle.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un verbe réfléchi.
Seul zich est un mot nouveau : me, je, ons sont les pronoms connus. Avec u : u vergist zich et u vergist u sont corrects ; en Belgique, u … u est fréquent. mij est possible, surtout à l'écrit et en Belgique (Ik vergis mij) ; jou n'est jamais réfléchi (✗ Jij wast jou).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la réciprocité avec elkaar.
elkaar ne s'emploie qu'avec un sujet pluriel (wij, jullie, zij, ou deux noms). Tot ziens! — We zien elkaar maandag! est une formule de fin de journée très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zich et elkaar.
Faites jouer la paire Ze wassen zich / Ze wassen elkaar avec deux apprenants.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verbes pronominaux français qui ne sont pas réfléchis en néerlandais.
Réflexe : on ne met zich que si le verbe néerlandais est réfléchi (diapo 8). Erreur très fréquente : ✗ Ik noem me Lotte (calque de « je m'appelle ») → Ik heet Lotte. En Flandre, Zet u! / Zet je! (= asseyez-vous) est très courant : la règle « se ≠ zich » a quelques exceptions régionales.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Apprendre 12 verbes réfléchis fréquents.
Ces verbes s'apprennent avec zich, comme les verbes à préposition (M23). Exemples utiles : Ik voel me niet goed. · Ik vraag me af of… · Maak je geen zorgen! (Ne t'inquiète pas !) · Haast je!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dans tous les types de phrases.
Le pronom réfléchi suit le verbe conjugué (et le sujet inversé). Au passé composé : toujours hebben (Ik heb me vergist, ✗ Ik ben me vergist). Herinner je je…? : deux je qui se suivent, c'est normal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elkaar après une préposition.
Avec une préposition, pas de er (M23) : elkaar désigne des personnes. Expressions utiles : met elkaar praten (se parler), van elkaar leren (apprendre les uns des autres).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un « se » ambigu selon le sens.
Le français laisse le contexte trancher ; le néerlandais oblige à choisir. zichzelf insiste sur « soi-même »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forme d'insistance en -zelf.
À reconnaître. -zelf s'utilise pour insister ou après une préposition : Hij praat over zichzelf. À ne pas confondre avec zelf seul : Ik heb het zelf gedaan (moi-même, sans aide).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zich ou elkaar à l'oral, en jouant.
Exigez la phrase complète avec le bon pronom. Variante : au passé composé (Hij heeft zich gehaast).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se présenter et faire connaissance lors d'un événement professionnel.
Chaque apprenant reçoit un badge (nom fictif). Objectif : parler à 3 personnes, utiliser au moins deux fois zich et deux fois elkaar. Zullen we elkaar mailen? = On s'écrit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ons · zich.
2. elkaar.
3. Ik sta om 7 uur op.
Teaser M29 : Als ik de lotto won, zou ik… · Zou je me kunnen helpen?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Zich of elkaar?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réfléchis et réciproques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Hij wast zich · Ze helpen elkaar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Hij wast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zich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Ze helpen </a:t>
            </a:r>
            <a:r>
              <a:rPr lang="en-US" sz="24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elkaar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User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Conjuguer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conjugue un verbe réfléchi : </a:t>
            </a:r>
            <a:r>
              <a:rPr lang="en-US" sz="2000" i="1" dirty="0">
                <a:solidFill>
                  <a:schemeClr val="tx1"/>
                </a:solidFill>
              </a:rPr>
              <a:t>ik vergis me, hij vergist zich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Retw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Distinguer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bellen elkaar.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Utiliser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verbes du quotidien : </a:t>
            </a:r>
            <a:r>
              <a:rPr lang="en-US" sz="2000" i="1" dirty="0">
                <a:solidFill>
                  <a:schemeClr val="tx1"/>
                </a:solidFill>
              </a:rPr>
              <a:t>Mag ik me even voorstellen?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Partout au travail : se présenter, s’inscrire, s’excuser, se tromper, se sentir bien ou mal.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Qui fait quoi à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8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92024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scheert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504438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0443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920240"/>
            <a:ext cx="1188720" cy="11887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04438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en An geven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een hand.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23076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23076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8" name="Image 2" descr="wo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920240"/>
            <a:ext cx="1188720" cy="11887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323076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Lotte stelt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 voor.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141714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141714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23" name="Image 3" descr="telephone recei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920240"/>
            <a:ext cx="1188720" cy="11887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1714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en Sofie bellen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6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Quand dit-on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? Quand dit-on 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Montrez-vous (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) ou montrez l’autre, puis vous (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miroir : ik was me, hij wast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400800" cy="388620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400800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wassen (se laver)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48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was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2148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me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wast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606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632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 wast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30632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u / zich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5204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hij, zij, het wast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35204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776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 wassen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39776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ons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434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wassen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4023360" y="4434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92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 wassen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4892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pic>
        <p:nvPicPr>
          <p:cNvPr id="22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00200"/>
            <a:ext cx="1280160" cy="128016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178040" y="3063240"/>
            <a:ext cx="4462272" cy="2377440"/>
          </a:xfrm>
          <a:prstGeom prst="roundRect">
            <a:avLst>
              <a:gd name="adj" fmla="val 3846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315200" y="310896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Seul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b="1" dirty="0">
                <a:solidFill>
                  <a:schemeClr val="tx1"/>
                </a:solidFill>
              </a:rPr>
              <a:t> est nouveau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me, je, ons</a:t>
            </a:r>
            <a:r>
              <a:rPr lang="en-US" sz="1600" dirty="0">
                <a:solidFill>
                  <a:schemeClr val="tx1"/>
                </a:solidFill>
              </a:rPr>
              <a:t> sont déjà connus (M20).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= 3ᵉ personne (</a:t>
            </a:r>
            <a:r>
              <a:rPr lang="en-US" sz="1600" i="1" dirty="0">
                <a:solidFill>
                  <a:schemeClr val="tx1"/>
                </a:solidFill>
              </a:rPr>
              <a:t>hij, zij, het, zij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les deux sont corrects (BE : souvent </a:t>
            </a: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pronom réfléchi renvoie au </a:t>
            </a:r>
            <a:r>
              <a:rPr lang="en-US" sz="1800" b="1" dirty="0">
                <a:solidFill>
                  <a:schemeClr val="bg1"/>
                </a:solidFill>
              </a:rPr>
              <a:t>sujet lui-même</a:t>
            </a:r>
            <a:r>
              <a:rPr lang="en-US" sz="1800" dirty="0">
                <a:solidFill>
                  <a:schemeClr val="bg1"/>
                </a:solidFill>
              </a:rPr>
              <a:t> : la flèche revient vers soi.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ping-pong : elkaar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754380" cy="754380"/>
          </a:xfrm>
          <a:prstGeom prst="rect">
            <a:avLst/>
          </a:prstGeom>
        </p:spPr>
      </p:pic>
      <p:pic>
        <p:nvPicPr>
          <p:cNvPr id="7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580" y="1920240"/>
            <a:ext cx="754380" cy="7543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" name="Shape 4"/>
          <p:cNvSpPr/>
          <p:nvPr/>
        </p:nvSpPr>
        <p:spPr>
          <a:xfrm flipH="1"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0" name="Image 2" descr="telephone recei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3824" y="1783080"/>
            <a:ext cx="731520" cy="7315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85800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bellen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morgen.</a:t>
            </a:r>
            <a:endParaRPr lang="en-US" sz="2000" dirty="0"/>
          </a:p>
        </p:txBody>
      </p:sp>
      <p:sp>
        <p:nvSpPr>
          <p:cNvPr id="12" name="Shape 6"/>
          <p:cNvSpPr/>
          <p:nvPr/>
        </p:nvSpPr>
        <p:spPr>
          <a:xfrm>
            <a:off x="4306824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person 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1920240"/>
            <a:ext cx="754380" cy="754380"/>
          </a:xfrm>
          <a:prstGeom prst="rect">
            <a:avLst/>
          </a:prstGeom>
        </p:spPr>
      </p:pic>
      <p:pic>
        <p:nvPicPr>
          <p:cNvPr id="14" name="Image 4" descr="person stand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764" y="1920240"/>
            <a:ext cx="754380" cy="754380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8"/>
          <p:cNvSpPr/>
          <p:nvPr/>
        </p:nvSpPr>
        <p:spPr>
          <a:xfrm flipH="1"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7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2008" y="1783080"/>
            <a:ext cx="731520" cy="73152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4443984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Jullie kennen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al lang.</a:t>
            </a:r>
            <a:endParaRPr lang="en-US" sz="2000" dirty="0"/>
          </a:p>
        </p:txBody>
      </p:sp>
      <p:sp>
        <p:nvSpPr>
          <p:cNvPr id="19" name="Shape 10"/>
          <p:cNvSpPr/>
          <p:nvPr/>
        </p:nvSpPr>
        <p:spPr>
          <a:xfrm>
            <a:off x="8065008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person stand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7928" y="1920240"/>
            <a:ext cx="754380" cy="754380"/>
          </a:xfrm>
          <a:prstGeom prst="rect">
            <a:avLst/>
          </a:prstGeom>
        </p:spPr>
      </p:pic>
      <p:pic>
        <p:nvPicPr>
          <p:cNvPr id="21" name="Image 7" descr="person stand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0948" y="1920240"/>
            <a:ext cx="754380" cy="754380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2"/>
          <p:cNvSpPr/>
          <p:nvPr/>
        </p:nvSpPr>
        <p:spPr>
          <a:xfrm flipH="1"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8" descr="handsh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0192" y="1783080"/>
            <a:ext cx="731520" cy="73152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8202168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 helpen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6" name="Shape 14"/>
          <p:cNvSpPr/>
          <p:nvPr/>
        </p:nvSpPr>
        <p:spPr>
          <a:xfrm>
            <a:off x="548640" y="448056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777240" y="448056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Tot ziens! — We zien </a:t>
            </a:r>
            <a:r>
              <a:rPr lang="en-US" sz="2100" b="1" i="1" dirty="0">
                <a:solidFill>
                  <a:schemeClr val="tx1"/>
                </a:solidFill>
              </a:rPr>
              <a:t>elkaar</a:t>
            </a:r>
            <a:r>
              <a:rPr lang="en-US" sz="2100" i="1" dirty="0">
                <a:solidFill>
                  <a:schemeClr val="tx1"/>
                </a:solidFill>
              </a:rPr>
              <a:t> maandag!</a:t>
            </a:r>
            <a:r>
              <a:rPr lang="en-US" sz="2100" dirty="0">
                <a:solidFill>
                  <a:schemeClr val="tx1"/>
                </a:solidFill>
              </a:rPr>
              <a:t> (On se voit lundi !)</a:t>
            </a:r>
            <a:endParaRPr lang="en-US" sz="2100" dirty="0"/>
          </a:p>
        </p:txBody>
      </p:sp>
      <p:sp>
        <p:nvSpPr>
          <p:cNvPr id="28" name="Shape 1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bg1"/>
                </a:solidFill>
              </a:rPr>
              <a:t>elkaar</a:t>
            </a:r>
            <a:r>
              <a:rPr lang="en-US" sz="1900" dirty="0">
                <a:solidFill>
                  <a:schemeClr val="bg1"/>
                </a:solidFill>
              </a:rPr>
              <a:t> = l’un l’autre · toujours avec un sujet pluriel · </a:t>
            </a:r>
            <a:r>
              <a:rPr lang="en-US" sz="1900" b="1" dirty="0">
                <a:solidFill>
                  <a:schemeClr val="bg1"/>
                </a:solidFill>
              </a:rPr>
              <a:t>ne change jamais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zich ou elkaar ?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892040" y="1600200"/>
            <a:ext cx="24048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92040" y="1600200"/>
            <a:ext cx="2404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Qui reçoit l’action 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LE MIROIR</a:t>
            </a:r>
            <a:endParaRPr lang="en-US" sz="1500" dirty="0"/>
          </a:p>
        </p:txBody>
      </p:sp>
      <p:pic>
        <p:nvPicPr>
          <p:cNvPr id="9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240280"/>
            <a:ext cx="1024128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141525" y="2137867"/>
            <a:ext cx="731520" cy="643738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1" name="Text 7"/>
          <p:cNvSpPr txBox="1"/>
          <p:nvPr/>
        </p:nvSpPr>
        <p:spPr>
          <a:xfrm>
            <a:off x="731520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la même personne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zich</a:t>
            </a:r>
            <a:r>
              <a:rPr lang="en-US" sz="1800" b="1" dirty="0">
                <a:solidFill>
                  <a:schemeClr val="tx1"/>
                </a:solidFill>
              </a:rPr>
              <a:t> (</a:t>
            </a:r>
            <a:r>
              <a:rPr lang="en-US" sz="1800" b="1" i="1" dirty="0">
                <a:solidFill>
                  <a:schemeClr val="tx1"/>
                </a:solidFill>
              </a:rPr>
              <a:t>me, je, ons…</a:t>
            </a:r>
            <a:r>
              <a:rPr lang="en-US" sz="1800" b="1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(chacun se lave)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434072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34072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LE PING-PONG</a:t>
            </a:r>
            <a:endParaRPr lang="en-US" sz="15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912" y="2340864"/>
            <a:ext cx="804672" cy="804672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2340864"/>
            <a:ext cx="804672" cy="80467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7616952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l’autre, et inversement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(l’un lave l’autre)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 flipH="1">
            <a:off x="4800600" y="2560320"/>
            <a:ext cx="1289304" cy="731520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6089904" y="2560320"/>
            <a:ext cx="1289304" cy="7315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1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3474720"/>
            <a:ext cx="1097280" cy="10972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48056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Jouez la paire avec deux apprenants !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 schéma est la référence de tous les exercices.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se » ≠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lever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0312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opstaan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12280" y="235915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223760" y="213055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60920" y="213055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opstaan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7919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s’appeler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26791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noemen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812280" y="293522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223760" y="2706624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60920" y="27066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heten — Ik heet Lotte.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25526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marier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3255264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trouwen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812280" y="3511296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223760" y="3282696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60920" y="32826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trouwen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383133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s’asseoir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38313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zitten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812280" y="40873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23760" y="3858768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60920" y="385876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gaan zitten (M17)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4074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promener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0" y="44074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wandelen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812280" y="46634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223760" y="4434840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36092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wandelen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" y="49834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passer »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3657600" y="498348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passeren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812280" y="5239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223760" y="501091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60920" y="501091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gebeuren — Wat is er gebeurd?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Erreur fréquente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noem me Lotte</a:t>
            </a:r>
            <a:r>
              <a:rPr lang="en-US" sz="1600" dirty="0">
                <a:solidFill>
                  <a:schemeClr val="bg1"/>
                </a:solidFill>
              </a:rPr>
              <a:t> → ✓ </a:t>
            </a:r>
            <a:r>
              <a:rPr lang="en-US" sz="1600" i="1" dirty="0">
                <a:solidFill>
                  <a:schemeClr val="bg1"/>
                </a:solidFill>
              </a:rPr>
              <a:t>Ik heet Lotte.</a:t>
            </a:r>
            <a:r>
              <a:rPr lang="en-US" sz="1600" dirty="0">
                <a:solidFill>
                  <a:schemeClr val="bg1"/>
                </a:solidFill>
              </a:rPr>
              <a:t> · </a:t>
            </a:r>
            <a:r>
              <a:rPr lang="en-US" sz="1600" i="1" dirty="0">
                <a:solidFill>
                  <a:schemeClr val="bg1"/>
                </a:solidFill>
              </a:rPr>
              <a:t>zich</a:t>
            </a:r>
            <a:r>
              <a:rPr lang="en-US" sz="1600" dirty="0">
                <a:solidFill>
                  <a:schemeClr val="bg1"/>
                </a:solidFill>
              </a:rPr>
              <a:t> seulement si le verbe néerlandais l’exige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réfléchis du quotidien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rais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56232"/>
            <a:ext cx="566928" cy="56692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voorstellen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présenter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thought ballo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856232"/>
            <a:ext cx="566928" cy="5669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39946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herinneren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4139946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souvenir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face with hand over mou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856232"/>
            <a:ext cx="566928" cy="56692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54012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vergissen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6954012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tromper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person run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856232"/>
            <a:ext cx="566928" cy="56692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768078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haasten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9768078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dépêcher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548640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82112"/>
            <a:ext cx="566928" cy="56692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25880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voelen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1325880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sentir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62706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 shi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182112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39946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aankleden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4139946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s’habiller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6176772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yawn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182112"/>
            <a:ext cx="566928" cy="566928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54012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vervelen</a:t>
            </a:r>
            <a:endParaRPr lang="en-US" sz="1600" dirty="0"/>
          </a:p>
        </p:txBody>
      </p:sp>
      <p:sp>
        <p:nvSpPr>
          <p:cNvPr id="32" name="Text 22"/>
          <p:cNvSpPr txBox="1"/>
          <p:nvPr/>
        </p:nvSpPr>
        <p:spPr>
          <a:xfrm>
            <a:off x="6954012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s’ennuyer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990838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worri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182112"/>
            <a:ext cx="566928" cy="56692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768078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zorgen maken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9768078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s’inquiéter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548640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8" name="Image 8" descr="writing han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4507992"/>
            <a:ext cx="566928" cy="566928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1325880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inschrijven</a:t>
            </a:r>
            <a:endParaRPr lang="en-US" sz="1600" dirty="0"/>
          </a:p>
        </p:txBody>
      </p:sp>
      <p:sp>
        <p:nvSpPr>
          <p:cNvPr id="40" name="Text 28"/>
          <p:cNvSpPr txBox="1"/>
          <p:nvPr/>
        </p:nvSpPr>
        <p:spPr>
          <a:xfrm>
            <a:off x="1325880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s’inscrire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3362706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9" descr="bullsey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2434" y="4507992"/>
            <a:ext cx="566928" cy="566928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4139946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concentreren</a:t>
            </a:r>
            <a:endParaRPr lang="en-US" sz="1600" dirty="0"/>
          </a:p>
        </p:txBody>
      </p:sp>
      <p:sp>
        <p:nvSpPr>
          <p:cNvPr id="44" name="Text 31"/>
          <p:cNvSpPr txBox="1"/>
          <p:nvPr/>
        </p:nvSpPr>
        <p:spPr>
          <a:xfrm>
            <a:off x="4139946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concentrer</a:t>
            </a:r>
            <a:endParaRPr lang="en-US" sz="1400" dirty="0"/>
          </a:p>
        </p:txBody>
      </p:sp>
      <p:sp>
        <p:nvSpPr>
          <p:cNvPr id="45" name="Shape 32"/>
          <p:cNvSpPr/>
          <p:nvPr/>
        </p:nvSpPr>
        <p:spPr>
          <a:xfrm>
            <a:off x="6176772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6" name="Image 10" descr="thinking fac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86500" y="4507992"/>
            <a:ext cx="566928" cy="566928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6954012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afvragen</a:t>
            </a:r>
            <a:endParaRPr lang="en-US" sz="1600" dirty="0"/>
          </a:p>
        </p:txBody>
      </p:sp>
      <p:sp>
        <p:nvSpPr>
          <p:cNvPr id="48" name="Text 34"/>
          <p:cNvSpPr txBox="1"/>
          <p:nvPr/>
        </p:nvSpPr>
        <p:spPr>
          <a:xfrm>
            <a:off x="6954012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demander</a:t>
            </a:r>
            <a:endParaRPr lang="en-US" sz="1400" dirty="0"/>
          </a:p>
        </p:txBody>
      </p:sp>
      <p:sp>
        <p:nvSpPr>
          <p:cNvPr id="49" name="Shape 35"/>
          <p:cNvSpPr/>
          <p:nvPr/>
        </p:nvSpPr>
        <p:spPr>
          <a:xfrm>
            <a:off x="8990838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0" name="Image 11" descr="folded hand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00566" y="4507992"/>
            <a:ext cx="566928" cy="56692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9768078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verontschuldigen</a:t>
            </a:r>
            <a:endParaRPr lang="en-US" sz="1600" dirty="0"/>
          </a:p>
        </p:txBody>
      </p:sp>
      <p:sp>
        <p:nvSpPr>
          <p:cNvPr id="52" name="Text 37"/>
          <p:cNvSpPr txBox="1"/>
          <p:nvPr/>
        </p:nvSpPr>
        <p:spPr>
          <a:xfrm>
            <a:off x="9768078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s’excuser</a:t>
            </a:r>
            <a:endParaRPr lang="en-US" sz="1400" dirty="0"/>
          </a:p>
        </p:txBody>
      </p:sp>
      <p:sp>
        <p:nvSpPr>
          <p:cNvPr id="53" name="Shape 3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voel me niet goed. · Ik vraag me af of… · Maak je geen zorgen! · Haast je!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du pronom réfléchi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217981" y="157276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7981" y="157276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668878" y="1572768"/>
            <a:ext cx="880165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68878" y="1572768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2231136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231136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Herinner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319065" y="2231136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19065" y="2231136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2988406" y="2231136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88406" y="2231136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je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3800246" y="2231136"/>
            <a:ext cx="1433779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00246" y="2231136"/>
            <a:ext cx="14337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dat nog?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2889504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89504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1217981" y="2889504"/>
            <a:ext cx="88016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17981" y="2889504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heb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2189586" y="2889504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89586" y="2889504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3001427" y="2889504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3001427" y="2889504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vergist.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548640" y="3547872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3547872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1217981" y="3547872"/>
            <a:ext cx="1039929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17981" y="3547872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moet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2349350" y="3547872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349350" y="3547872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161191" y="3547872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3161191" y="3547872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haasten.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548640" y="4206240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42062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Lotte</a:t>
            </a:r>
            <a:endParaRPr lang="en-US" sz="2000" dirty="0"/>
          </a:p>
        </p:txBody>
      </p:sp>
      <p:sp>
        <p:nvSpPr>
          <p:cNvPr id="37" name="Shape 34"/>
          <p:cNvSpPr/>
          <p:nvPr/>
        </p:nvSpPr>
        <p:spPr>
          <a:xfrm>
            <a:off x="1645920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645920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stelt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2937053" y="4206240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37053" y="4206240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4068422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2" name="Text 39"/>
          <p:cNvSpPr txBox="1"/>
          <p:nvPr/>
        </p:nvSpPr>
        <p:spPr>
          <a:xfrm>
            <a:off x="4068422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voor.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548640" y="4864608"/>
            <a:ext cx="2004365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48640" y="4864608"/>
            <a:ext cx="20043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…, omdat hij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2644445" y="4864608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44445" y="4864608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7" name="Shape 44"/>
          <p:cNvSpPr/>
          <p:nvPr/>
        </p:nvSpPr>
        <p:spPr>
          <a:xfrm>
            <a:off x="3775814" y="4864608"/>
            <a:ext cx="1576426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775814" y="4864608"/>
            <a:ext cx="1576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niet goed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5443679" y="486460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679" y="486460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voelt.</a:t>
            </a:r>
            <a:endParaRPr lang="en-US" sz="2000" dirty="0"/>
          </a:p>
        </p:txBody>
      </p:sp>
      <p:sp>
        <p:nvSpPr>
          <p:cNvPr id="51" name="Shape 48"/>
          <p:cNvSpPr/>
          <p:nvPr/>
        </p:nvSpPr>
        <p:spPr>
          <a:xfrm>
            <a:off x="7863840" y="1572768"/>
            <a:ext cx="3776472" cy="3840480"/>
          </a:xfrm>
          <a:prstGeom prst="roundRect">
            <a:avLst>
              <a:gd name="adj" fmla="val 2421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001000" y="1645920"/>
            <a:ext cx="352044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Après le verbe conjugué</a:t>
            </a:r>
            <a:r>
              <a:rPr lang="en-US" sz="1600" dirty="0">
                <a:solidFill>
                  <a:schemeClr val="tx1"/>
                </a:solidFill>
              </a:rPr>
              <a:t> (et le sujet inversé)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Passé composé : toujours </a:t>
            </a:r>
            <a:r>
              <a:rPr lang="en-US" sz="1600" b="1" i="1" dirty="0">
                <a:solidFill>
                  <a:schemeClr val="tx1"/>
                </a:solidFill>
              </a:rPr>
              <a:t>hebben</a:t>
            </a:r>
            <a:r>
              <a:rPr lang="en-US" sz="1600" dirty="0">
                <a:solidFill>
                  <a:schemeClr val="tx1"/>
                </a:solidFill>
              </a:rPr>
              <a:t> —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ben me vergist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Herinner je je…?</a:t>
            </a:r>
            <a:r>
              <a:rPr lang="en-US" sz="1600" dirty="0">
                <a:solidFill>
                  <a:schemeClr val="tx1"/>
                </a:solidFill>
              </a:rPr>
              <a:t> : deux </a:t>
            </a:r>
            <a:r>
              <a:rPr lang="en-US" sz="1600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qui se suivent, c’est normal !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Particule au bout (M11) : </a:t>
            </a:r>
            <a:r>
              <a:rPr lang="en-US" sz="1700" i="1" dirty="0">
                <a:solidFill>
                  <a:schemeClr val="bg1"/>
                </a:solidFill>
              </a:rPr>
              <a:t>Lotte stelt zich voor.</a:t>
            </a:r>
            <a:r>
              <a:rPr lang="en-US" sz="1700" dirty="0">
                <a:solidFill>
                  <a:schemeClr val="bg1"/>
                </a:solidFill>
              </a:rPr>
              <a:t> · Subordonnée : le verbe part à la fin (M9).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elkaar avec une préposition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7879" y="1783080"/>
            <a:ext cx="1097280" cy="1097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accent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3367278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517" y="1783080"/>
            <a:ext cx="1097280" cy="10972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477006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werken </a:t>
            </a:r>
            <a:r>
              <a:rPr lang="en-US" sz="1800" b="1" i="1" dirty="0">
                <a:solidFill>
                  <a:schemeClr val="accent1"/>
                </a:solidFill>
              </a:rPr>
              <a:t>met elkaar</a:t>
            </a:r>
            <a:r>
              <a:rPr lang="en-US" sz="1800" i="1" dirty="0">
                <a:solidFill>
                  <a:schemeClr val="tx1"/>
                </a:solidFill>
              </a:rPr>
              <a:t> samen.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6185916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wo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155" y="1783080"/>
            <a:ext cx="1097280" cy="10972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295644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houden </a:t>
            </a:r>
            <a:r>
              <a:rPr lang="en-US" sz="1800" b="1" i="1" dirty="0">
                <a:solidFill>
                  <a:schemeClr val="accent1"/>
                </a:solidFill>
              </a:rPr>
              <a:t>van elkaar</a:t>
            </a:r>
            <a:r>
              <a:rPr lang="en-US" sz="1800" i="1" dirty="0">
                <a:solidFill>
                  <a:schemeClr val="tx1"/>
                </a:solidFill>
              </a:rPr>
              <a:t>. (M27)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9004554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3793" y="1783080"/>
            <a:ext cx="1097280" cy="10972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114282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wachten </a:t>
            </a:r>
            <a:r>
              <a:rPr lang="en-US" sz="1800" b="1" i="1" dirty="0">
                <a:solidFill>
                  <a:schemeClr val="accent1"/>
                </a:solidFill>
              </a:rPr>
              <a:t>op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français dit « l’un à côté de l’autre, ensemble, l’un l’autre » : le néerlandais dit toujours </a:t>
            </a:r>
            <a:r>
              <a:rPr lang="en-US" sz="1700" i="1" dirty="0">
                <a:solidFill>
                  <a:schemeClr val="tx1"/>
                </a:solidFill>
              </a:rPr>
              <a:t>elkaar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</a:t>
            </a:r>
            <a:r>
              <a:rPr lang="en-US" sz="1700" i="1" dirty="0">
                <a:solidFill>
                  <a:schemeClr val="bg1"/>
                </a:solidFill>
              </a:rPr>
              <a:t>er</a:t>
            </a:r>
            <a:r>
              <a:rPr lang="en-US" sz="1700" dirty="0">
                <a:solidFill>
                  <a:schemeClr val="bg1"/>
                </a:solidFill>
              </a:rPr>
              <a:t> (M23) : </a:t>
            </a:r>
            <a:r>
              <a:rPr lang="en-US" sz="1700" i="1" dirty="0">
                <a:solidFill>
                  <a:schemeClr val="bg1"/>
                </a:solidFill>
              </a:rPr>
              <a:t>elkaar</a:t>
            </a:r>
            <a:r>
              <a:rPr lang="en-US" sz="1700" dirty="0">
                <a:solidFill>
                  <a:schemeClr val="bg1"/>
                </a:solidFill>
              </a:rPr>
              <a:t> = des personnes · </a:t>
            </a:r>
            <a:r>
              <a:rPr lang="en-US" sz="1700" i="1" dirty="0">
                <a:solidFill>
                  <a:schemeClr val="bg1"/>
                </a:solidFill>
              </a:rPr>
              <a:t>met elkaar praten</a:t>
            </a:r>
            <a:r>
              <a:rPr lang="en-US" sz="1700" dirty="0">
                <a:solidFill>
                  <a:schemeClr val="bg1"/>
                </a:solidFill>
              </a:rPr>
              <a:t> (se parler) · </a:t>
            </a:r>
            <a:r>
              <a:rPr lang="en-US" sz="1700" i="1" dirty="0">
                <a:solidFill>
                  <a:schemeClr val="bg1"/>
                </a:solidFill>
              </a:rPr>
              <a:t>van elkaar leren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« se »,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Nous nous connaissons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6080760" y="21396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21396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We kennen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tag"/>
          <p:cNvSpPr/>
          <p:nvPr/>
        </p:nvSpPr>
        <p:spPr>
          <a:xfrm>
            <a:off x="10387584" y="22585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lavent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66928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080760" y="28254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0" y="28254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6" name="tag"/>
          <p:cNvSpPr/>
          <p:nvPr/>
        </p:nvSpPr>
        <p:spPr>
          <a:xfrm>
            <a:off x="10387584" y="29443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(dans le miroir)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566928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080760" y="35112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0" y="35112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2"/>
                </a:solidFill>
              </a:rPr>
              <a:t>zichzelf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tag"/>
          <p:cNvSpPr/>
          <p:nvPr/>
        </p:nvSpPr>
        <p:spPr>
          <a:xfrm>
            <a:off x="10387584" y="36301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(l’un l’autre)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566928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080760" y="41970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41970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6" name="tag"/>
          <p:cNvSpPr/>
          <p:nvPr/>
        </p:nvSpPr>
        <p:spPr>
          <a:xfrm>
            <a:off x="10387584" y="43159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On s’appelle demain ?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66928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080760" y="48828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17920" y="48828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Bellen we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31" name="tag"/>
          <p:cNvSpPr/>
          <p:nvPr/>
        </p:nvSpPr>
        <p:spPr>
          <a:xfrm>
            <a:off x="10387584" y="50017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laisse le contexte trancher ; le néerlandais oblige à choisir.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zichzelf, mezelf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4592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Hij denkt alleen aan </a:t>
            </a:r>
            <a:r>
              <a:rPr lang="en-US" sz="2100" b="1" i="1" dirty="0">
                <a:solidFill>
                  <a:schemeClr val="accent2"/>
                </a:solidFill>
              </a:rPr>
              <a:t>zichzelf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16459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lui-même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60604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Stel </a:t>
            </a:r>
            <a:r>
              <a:rPr lang="en-US" sz="2100" b="1" i="1" dirty="0">
                <a:solidFill>
                  <a:schemeClr val="accent2"/>
                </a:solidFill>
              </a:rPr>
              <a:t>jezelf</a:t>
            </a:r>
            <a:r>
              <a:rPr lang="en-US" sz="2100" i="1" dirty="0">
                <a:solidFill>
                  <a:schemeClr val="tx1"/>
                </a:solidFill>
              </a:rPr>
              <a:t> eens voor!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26060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présente-toi donc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56616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56616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ken </a:t>
            </a:r>
            <a:r>
              <a:rPr lang="en-US" sz="2100" b="1" i="1" dirty="0">
                <a:solidFill>
                  <a:schemeClr val="accent2"/>
                </a:solidFill>
              </a:rPr>
              <a:t>mezelf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56616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me connais (moi-même)</a:t>
            </a:r>
            <a:endParaRPr lang="en-US" sz="1500" dirty="0"/>
          </a:p>
        </p:txBody>
      </p:sp>
      <p:pic>
        <p:nvPicPr>
          <p:cNvPr id="14" name="Image 0" descr="flash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91640"/>
            <a:ext cx="1188720" cy="11887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138160" y="3108960"/>
            <a:ext cx="35021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75320" y="310896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mezelf · jezelf · uzelf · zichzelf · onszelf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6634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46634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≠ </a:t>
            </a:r>
            <a:r>
              <a:rPr lang="en-US" sz="1900" i="1" dirty="0">
                <a:solidFill>
                  <a:schemeClr val="tx1"/>
                </a:solidFill>
              </a:rPr>
              <a:t>zelf</a:t>
            </a:r>
            <a:r>
              <a:rPr lang="en-US" sz="1900" dirty="0">
                <a:solidFill>
                  <a:schemeClr val="tx1"/>
                </a:solidFill>
              </a:rPr>
              <a:t> seul : </a:t>
            </a:r>
            <a:r>
              <a:rPr lang="en-US" sz="1900" i="1" dirty="0">
                <a:solidFill>
                  <a:schemeClr val="tx1"/>
                </a:solidFill>
              </a:rPr>
              <a:t>Ik heb het </a:t>
            </a:r>
            <a:r>
              <a:rPr lang="en-US" sz="1900" b="1" i="1" dirty="0">
                <a:solidFill>
                  <a:schemeClr val="tx1"/>
                </a:solidFill>
              </a:rPr>
              <a:t>zelf</a:t>
            </a:r>
            <a:r>
              <a:rPr lang="en-US" sz="1900" i="1" dirty="0">
                <a:solidFill>
                  <a:schemeClr val="tx1"/>
                </a:solidFill>
              </a:rPr>
              <a:t> gedaan.</a:t>
            </a:r>
            <a:r>
              <a:rPr lang="en-US" sz="1900" dirty="0">
                <a:solidFill>
                  <a:schemeClr val="tx1"/>
                </a:solidFill>
              </a:rPr>
              <a:t> (moi-même, sans aide)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: </a:t>
            </a:r>
            <a:r>
              <a:rPr lang="en-US" sz="1700" i="1" dirty="0">
                <a:solidFill>
                  <a:schemeClr val="bg1"/>
                </a:solidFill>
              </a:rPr>
              <a:t>-zelf</a:t>
            </a:r>
            <a:r>
              <a:rPr lang="en-US" sz="1700" dirty="0">
                <a:solidFill>
                  <a:schemeClr val="bg1"/>
                </a:solidFill>
              </a:rPr>
              <a:t> insiste, ou suit une préposition (</a:t>
            </a:r>
            <a:r>
              <a:rPr lang="en-US" sz="1700" i="1" dirty="0">
                <a:solidFill>
                  <a:schemeClr val="bg1"/>
                </a:solidFill>
              </a:rPr>
              <a:t>Hij praat over zichzelf.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— soi-même</a:t>
            </a:r>
            <a:endParaRPr lang="en-US" sz="1700" dirty="0"/>
          </a:p>
        </p:txBody>
      </p:sp>
      <p:pic>
        <p:nvPicPr>
          <p:cNvPr id="8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194560"/>
            <a:ext cx="832104" cy="8321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31766" y="2052828"/>
            <a:ext cx="5943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0" name="Text 6"/>
          <p:cNvSpPr txBox="1"/>
          <p:nvPr/>
        </p:nvSpPr>
        <p:spPr>
          <a:xfrm>
            <a:off x="777240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 · je · u / zich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ons · je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vergis </a:t>
            </a:r>
            <a:r>
              <a:rPr lang="en-US" sz="1800" b="1" i="1" dirty="0">
                <a:solidFill>
                  <a:schemeClr val="tx1"/>
                </a:solidFill>
              </a:rPr>
              <a:t>me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elkaar — l’un l’autre</a:t>
            </a:r>
            <a:endParaRPr lang="en-US" sz="17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7504" y="2359152"/>
            <a:ext cx="653796" cy="653796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6788" y="2359152"/>
            <a:ext cx="653796" cy="65379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6455664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invariable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 zien </a:t>
            </a: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morgen.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tx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48640" y="4114800"/>
            <a:ext cx="110916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77240" y="41148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Place</a:t>
            </a:r>
            <a:r>
              <a:rPr lang="en-US" sz="1800" dirty="0">
                <a:solidFill>
                  <a:schemeClr val="tx1"/>
                </a:solidFill>
              </a:rPr>
              <a:t> : après le verbe conjugué · </a:t>
            </a:r>
            <a:r>
              <a:rPr lang="en-US" sz="1800" b="1" dirty="0">
                <a:solidFill>
                  <a:schemeClr val="tx1"/>
                </a:solidFill>
              </a:rPr>
              <a:t>passé composé</a:t>
            </a:r>
            <a:r>
              <a:rPr lang="en-US" sz="1800" dirty="0">
                <a:solidFill>
                  <a:schemeClr val="tx1"/>
                </a:solidFill>
              </a:rPr>
              <a:t> avec </a:t>
            </a:r>
            <a:r>
              <a:rPr lang="en-US" sz="1800" i="1" dirty="0">
                <a:solidFill>
                  <a:schemeClr val="tx1"/>
                </a:solidFill>
              </a:rPr>
              <a:t>hebben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i="1" dirty="0">
                <a:solidFill>
                  <a:schemeClr val="tx1"/>
                </a:solidFill>
              </a:rPr>
              <a:t>Ik heb me vergist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se » ≠ toujours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opstaan, heten, trouwen, gaan zitten, wandelen</a:t>
            </a:r>
            <a:endParaRPr lang="en-US" sz="18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pronom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zich ou elkaar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faux « se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Mime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réseautage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b="1" i="1" dirty="0">
                <a:solidFill>
                  <a:schemeClr val="accent3"/>
                </a:solidFill>
              </a:rPr>
              <a:t>me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b="1" i="1" dirty="0">
                <a:solidFill>
                  <a:schemeClr val="accent3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b="1" i="1" dirty="0">
                <a:solidFill>
                  <a:schemeClr val="accent3"/>
                </a:solidFill>
              </a:rPr>
              <a:t> (of: u)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2" name="tag"/>
          <p:cNvSpPr/>
          <p:nvPr/>
        </p:nvSpPr>
        <p:spPr>
          <a:xfrm>
            <a:off x="4695444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6" name="tag"/>
          <p:cNvSpPr/>
          <p:nvPr/>
        </p:nvSpPr>
        <p:spPr>
          <a:xfrm>
            <a:off x="4695444" y="342061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20" name="tag"/>
          <p:cNvSpPr/>
          <p:nvPr/>
        </p:nvSpPr>
        <p:spPr>
          <a:xfrm>
            <a:off x="4695444" y="451027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4" name="tag"/>
          <p:cNvSpPr/>
          <p:nvPr/>
        </p:nvSpPr>
        <p:spPr>
          <a:xfrm>
            <a:off x="4695444" y="559993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8" name="tag"/>
          <p:cNvSpPr/>
          <p:nvPr/>
        </p:nvSpPr>
        <p:spPr>
          <a:xfrm>
            <a:off x="10378440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10378440" y="342061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35" name="Text 31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b="1" i="1" dirty="0">
                <a:solidFill>
                  <a:schemeClr val="accent3"/>
                </a:solidFill>
              </a:rPr>
              <a:t>me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36" name="tag"/>
          <p:cNvSpPr/>
          <p:nvPr/>
        </p:nvSpPr>
        <p:spPr>
          <a:xfrm>
            <a:off x="10378440" y="451027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0" name="tag"/>
          <p:cNvSpPr/>
          <p:nvPr/>
        </p:nvSpPr>
        <p:spPr>
          <a:xfrm>
            <a:off x="10378440" y="559993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sta om 7 uur op.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heet Lotte.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herinner me hem.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We zien elkaar morgen!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trouwen in mei.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heb me vergist.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dirty="0">
                <a:solidFill>
                  <a:schemeClr val="tx1"/>
                </a:solidFill>
              </a:rPr>
              <a:t>Ik noem me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dirty="0">
                <a:solidFill>
                  <a:schemeClr val="tx1"/>
                </a:solidFill>
              </a:rPr>
              <a:t>heb ik me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dirty="0">
                <a:solidFill>
                  <a:schemeClr val="tx1"/>
                </a:solidFill>
              </a:rPr>
              <a:t>ons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dirty="0">
                <a:solidFill>
                  <a:schemeClr val="tx1"/>
                </a:solidFill>
              </a:rPr>
              <a:t>Ik ben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dirty="0">
                <a:solidFill>
                  <a:schemeClr val="tx1"/>
                </a:solidFill>
              </a:rPr>
              <a:t>hem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strike="sngStrike" dirty="0">
                <a:solidFill>
                  <a:schemeClr val="accent6"/>
                </a:solidFill>
              </a:rPr>
              <a:t>Ik noem me</a:t>
            </a:r>
            <a:r>
              <a:rPr lang="en-US" sz="1900" b="1" i="1" dirty="0">
                <a:solidFill>
                  <a:schemeClr val="accent3"/>
                </a:solidFill>
              </a:rPr>
              <a:t> Ik heet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strike="sngStrike" dirty="0">
                <a:solidFill>
                  <a:schemeClr val="accent6"/>
                </a:solidFill>
              </a:rPr>
              <a:t>heb ik me om zes uur opgestaan</a:t>
            </a:r>
            <a:r>
              <a:rPr lang="en-US" sz="1900" b="1" i="1" dirty="0">
                <a:solidFill>
                  <a:schemeClr val="accent3"/>
                </a:solidFill>
              </a:rPr>
              <a:t> ben ik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strike="sngStrike" dirty="0">
                <a:solidFill>
                  <a:schemeClr val="accent6"/>
                </a:solidFill>
              </a:rPr>
              <a:t>ons</a:t>
            </a:r>
            <a:r>
              <a:rPr lang="en-US" sz="1900" b="1" i="1" dirty="0">
                <a:solidFill>
                  <a:schemeClr val="accent3"/>
                </a:solidFill>
              </a:rPr>
              <a:t> elkaar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strike="sngStrike" dirty="0">
                <a:solidFill>
                  <a:schemeClr val="accent6"/>
                </a:solidFill>
              </a:rPr>
              <a:t>Ik ben me</a:t>
            </a:r>
            <a:r>
              <a:rPr lang="en-US" sz="1900" b="1" i="1" dirty="0">
                <a:solidFill>
                  <a:schemeClr val="accent3"/>
                </a:solidFill>
              </a:rPr>
              <a:t> Ik heb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strike="sngStrike" dirty="0">
                <a:solidFill>
                  <a:schemeClr val="accent6"/>
                </a:solidFill>
              </a:rPr>
              <a:t>hem</a:t>
            </a:r>
            <a:r>
              <a:rPr lang="en-US" sz="1900" b="1" i="1" dirty="0">
                <a:solidFill>
                  <a:schemeClr val="accent3"/>
                </a:solidFill>
              </a:rPr>
              <a:t> zich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We zien elkaar maandag!</a:t>
            </a:r>
            <a:r>
              <a:rPr lang="en-US" sz="1400" i="1" dirty="0">
                <a:solidFill>
                  <a:schemeClr val="accent5"/>
                </a:solidFill>
              </a:rPr>
              <a:t> est correct. </a:t>
            </a:r>
            <a:r>
              <a:rPr lang="en-US" sz="1400" i="1" dirty="0">
                <a:solidFill>
                  <a:schemeClr val="accent5"/>
                </a:solidFill>
              </a:rPr>
              <a:t>opstaan</a:t>
            </a:r>
            <a:r>
              <a:rPr lang="en-US" sz="1400" i="1" dirty="0">
                <a:solidFill>
                  <a:schemeClr val="accent5"/>
                </a:solidFill>
              </a:rPr>
              <a:t> n’est pas réfléchi et prend </a:t>
            </a:r>
            <a:r>
              <a:rPr lang="en-US" sz="1400" i="1" dirty="0">
                <a:solidFill>
                  <a:schemeClr val="accent5"/>
                </a:solidFill>
              </a:rPr>
              <a:t>zijn</a:t>
            </a:r>
            <a:r>
              <a:rPr lang="en-US" sz="1400" i="1" dirty="0">
                <a:solidFill>
                  <a:schemeClr val="accent5"/>
                </a:solidFill>
              </a:rPr>
              <a:t> (M15).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011680" y="2060448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011680" y="2060448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gisteren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749040" y="2060448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49040" y="2060448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vergist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34924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4924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63640" y="2060448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63640" y="2060448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heb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 rot="-120000">
            <a:off x="109728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60000">
            <a:off x="20116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0116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nog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120000">
            <a:off x="3063240" y="2932176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063240" y="2932176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herinner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 rot="-60000">
            <a:off x="480060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0060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85216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85216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 rot="60000">
            <a:off x="6766560" y="2932176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66560" y="2932176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 rot="-120000">
            <a:off x="10972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zich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60000">
            <a:off x="228600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28600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voor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 rot="120000">
            <a:off x="3474720" y="3803904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474720" y="3803904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stelt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 rot="-60000">
            <a:off x="4800600" y="3803904"/>
            <a:ext cx="27432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800600" y="3803904"/>
            <a:ext cx="27432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nieuwe collega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 rot="-120000">
            <a:off x="109728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60000">
            <a:off x="256032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56032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 rot="120000">
            <a:off x="4023360" y="4675632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4023360" y="4675632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zien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 rot="-60000">
            <a:off x="5212080" y="4675632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212080" y="4675632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6" name="Shape 52"/>
          <p:cNvSpPr/>
          <p:nvPr/>
        </p:nvSpPr>
        <p:spPr>
          <a:xfrm rot="-120000">
            <a:off x="1097280" y="5547360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547360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moeten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60000">
            <a:off x="25603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25603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ons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 rot="120000">
            <a:off x="3611880" y="5547360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611880" y="5547360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 rot="-60000">
            <a:off x="4526280" y="5547360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4526280" y="5547360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haasten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heb me gisteren vergist.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Herinner je je dat nog?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De nieuwe collega stelt zich voor.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zien elkaar morgen.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moeten ons haasten.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Mime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ag"/>
          <p:cNvSpPr/>
          <p:nvPr/>
        </p:nvSpPr>
        <p:spPr>
          <a:xfrm>
            <a:off x="658368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8" name="Image 0" descr="t shi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5740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aankleden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2551176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2" name="Image 1" descr="person 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228" y="2057400"/>
            <a:ext cx="731520" cy="7315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14600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haasten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ag"/>
          <p:cNvSpPr/>
          <p:nvPr/>
        </p:nvSpPr>
        <p:spPr>
          <a:xfrm>
            <a:off x="4443984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6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036" y="205740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407408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vervelen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ag"/>
          <p:cNvSpPr/>
          <p:nvPr/>
        </p:nvSpPr>
        <p:spPr>
          <a:xfrm>
            <a:off x="6336792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20" name="Image 3" descr="bulls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844" y="2057400"/>
            <a:ext cx="731520" cy="7315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300216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concentreren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ag"/>
          <p:cNvSpPr/>
          <p:nvPr/>
        </p:nvSpPr>
        <p:spPr>
          <a:xfrm>
            <a:off x="658368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4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" y="420624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21792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een hand geven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ag"/>
          <p:cNvSpPr/>
          <p:nvPr/>
        </p:nvSpPr>
        <p:spPr>
          <a:xfrm>
            <a:off x="2551176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8" name="Image 5" descr="telephone recei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228" y="42062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2514600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bellen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ag"/>
          <p:cNvSpPr/>
          <p:nvPr/>
        </p:nvSpPr>
        <p:spPr>
          <a:xfrm>
            <a:off x="4443984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2" name="Image 6" descr="people h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0036" y="4206240"/>
            <a:ext cx="731520" cy="73152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407408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helpen</a:t>
            </a:r>
            <a:endParaRPr lang="en-US" sz="1400" dirty="0"/>
          </a:p>
        </p:txBody>
      </p:sp>
      <p:sp>
        <p:nvSpPr>
          <p:cNvPr id="34" name="Shape 24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ag"/>
          <p:cNvSpPr/>
          <p:nvPr/>
        </p:nvSpPr>
        <p:spPr>
          <a:xfrm>
            <a:off x="6336792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6" name="Image 7" descr="hourglass not do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2844" y="4206240"/>
            <a:ext cx="731520" cy="73152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300216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op elkaar wachten</a:t>
            </a:r>
            <a:endParaRPr lang="en-US" sz="1400" dirty="0"/>
          </a:p>
        </p:txBody>
      </p:sp>
      <p:pic>
        <p:nvPicPr>
          <p:cNvPr id="38" name="Image 8" descr="performing art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Mime!</a:t>
            </a:r>
            <a:endParaRPr lang="en-US" sz="2800" dirty="0"/>
          </a:p>
        </p:txBody>
      </p:sp>
      <p:sp>
        <p:nvSpPr>
          <p:cNvPr id="40" name="Text 28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 et mimez, seul ou à deux.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La classe devine avec une phrase complète : </a:t>
            </a:r>
            <a:r>
              <a:rPr lang="en-US" sz="1500" i="1" dirty="0">
                <a:solidFill>
                  <a:schemeClr val="tx1"/>
                </a:solidFill>
              </a:rPr>
              <a:t>Hij haast zich! · Ze bellen elkaar!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Phrase juste = 1 point.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réseautage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Soirée de réseautage à Bruxelles : on se présente, on vérifie si on se connaît et on prévoit de se revoir.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A</a:t>
            </a:r>
            <a:r>
              <a:rPr lang="en-US" sz="1700" dirty="0">
                <a:solidFill>
                  <a:schemeClr val="tx1"/>
                </a:solidFill>
              </a:rPr>
              <a:t> : présentez-vous et demandez si vous vous connaissez : </a:t>
            </a:r>
            <a:r>
              <a:rPr lang="en-US" sz="1700" i="1" dirty="0">
                <a:solidFill>
                  <a:schemeClr val="tx1"/>
                </a:solidFill>
              </a:rPr>
              <a:t>Kennen we elkaar?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B</a:t>
            </a:r>
            <a:r>
              <a:rPr lang="en-US" sz="1700" dirty="0">
                <a:solidFill>
                  <a:schemeClr val="tx1"/>
                </a:solidFill>
              </a:rPr>
              <a:t> : répondez, excusez-vous si vous vous trompez, proposez de vous revoir.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me even voorstellen? · Kennen we elkaar? · Ik herinner me uw naam. · Sorry, ik vergis me. · We zien elkaar volgende week! · Zullen we elkaar mailen?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DEELNEMERS · NETWERKAVOND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Eva Wouters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Maesbouw · Brussel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6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Tom De Smet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Koopzo · Leuven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9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Nadia El Amrani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Sportclub Vitaal · Gent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32" name="Image 3" descr="man be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Pieter Claes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freelance · Mechelen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Wij schrijven …… in. · Hij vergist …… 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kennen …… al jaren.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Je me lève à 7 heures.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Conjuguer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Distinguer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Utiliser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ightbul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Als ik tijd had…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28 — Zich of elkaar? — Les verbes réfléchis et réciproques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2026-10-05T10:24:07Z</dcterms:created>
  <dcterms:modified xsi:type="dcterms:W3CDTF">2026-10-05T10:24:07Z</dcterms:modified>
</cp:coreProperties>
</file>