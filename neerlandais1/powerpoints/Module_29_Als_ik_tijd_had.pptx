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ccb75e59-0e99-6ff2-289b-2cde7e8a8647}">
          <p14:sldIdLst>
            <p14:sldId id="256"/>
          </p14:sldIdLst>
        </p14:section>
        <p14:section name="Découvrir" id="{48bc45eb-a79d-235e-053e-14b00cc49d80}">
          <p14:sldIdLst>
            <p14:sldId id="257"/>
            <p14:sldId id="258"/>
          </p14:sldIdLst>
        </p14:section>
        <p14:section name="Comprendre" id="{a724c489-e1f9-ebd9-1772-cc148f3dde9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07c78bbf-e25a-0655-63d6-aacfdc73863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d161bff9-448f-2fa3-a747-80ee99f3310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demander poliment, rêver, imaginer.
Question d'entrée : « Comment dit-on pourriez-vous m'aider ? et si je gagnais au lotto, je ferais un voyage ? » Un seul petit mot pour les deux : zou.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Le conditionnel est le temps de la politesse au travail : au téléphone, dans les e-mails, au guichet.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zou + infinitif dans des rêves.
Faites repérer zou (2e position) et l'infinitif au bout : c'est la pince du M12. Après als : won, had, was (imperfectum, M19). Puis : « Et vous ? Als ik de lotto won, zou ik…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Conjuguer le conditionnel.
Une seule forme à apprendre : zou (singulier) / zouden (pluriel). Le verbe principal ne se conjugue plus : il va au bout, comme avec un modal. Prononciation : zou rime avec jou.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Monter d'une marche dans l'échelle de politesse.
Plus la phrase est longue et indirecte, plus elle est polie. even (M16, M24) adoucit encore. Au téléphone, Zou u even willen wachten? est la formule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Commander et demander quelque chose poliment.
Ik had graag… (forme d'imperfectum) est la formule flamande typique au magasin et au café. Les trois sont corrects. Rappel M27 : graag = volontiers.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 conseil avec le conditionnel.
zou … moeten = devrait ; zou … kunnen = pourrait. Als ik jou was = à ta place (mot à mot : si j'étais toi). Faites donner un conseil à un voisin : Ik ben altijd moe. — Je zou…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une hypothèse sur le présent.
Même logique qu'en français : « si + imparfait, conditionnel ». Quand la subordonnée vient en premier, zou suit directement la virgule (M9). À l'oral, on entend aussi Als ik tijd had, ging ik mee (imperfectum dans les deux parties).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les calques du « si » et du conditionnel français.
Rappel M9 : als = si (condition), of = si (question indirecte). Les apprenants qui disent « si j'aurais » en français ne doivent pas transposer : en néerlandais aussi, l'imperfectum suffit après 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 conditionnel de l'information non confirmée.
Emploi fréquent dans les médias et les rumeurs. Synonyme : naar verluidt (selon certaines sources), blijkbaar (apparemment).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 regret et l'hypothèse sur le passé.
À reconnaître seulement : production libre en Néerlandais 2. La forme courte (was ik gekomen, had ik gedaan) est la plus fréquente à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des phrases au conditionnel avec modal, particule et subordonnée.
Avec deux infinitifs, l'ordre willen komen est le plus courant. Dans la subordonnée, zou rejoint l'infinitif à la fin. Zou je dat kunnen doen? : kunnen doen au 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à 3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une demande directe en demande polie.
Plusieurs réponses possibles (kunnen ou willen, je ou u). N° 3 : terugbellen reste collé à l'infinitif (M11).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Transformer une demande directe en demande polie.
Plusieurs réponses possibles (kunnen ou willen, je ou u). N° 3 : terugbellen reste collé à l'infinitif (M11).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Conjuguer zou / zouden et placer l'infinitif.
N° 5 : après la subordonnée, zou vient juste après la virgule (« verbe, verbe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Conjuguer zou / zouden et placer l'infinitif.
N° 5 : après la subordonnée, zou vient juste après la virgule (« verbe, verbe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une hypothèse sur le présent.
On inverse le sens : négatif → positif (geen tijd → tijd had). N° 4 : kennen → kende (imperfectum régulier, M19). Accepter aussi Ik zou meegaan als ik tijd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Construire une hypothèse sur le présent.
On inverse le sens : négatif → positif (geen tijd → tijd had). N° 4 : kennen → kende (imperfectum régulier, M19). Accepter aussi Ik zou meegaan als ik tijd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e-mail poli.
Leurre : Zou u mij de factuur kunnen sturen? est correct. N° 1 : Ik zou ook de offerte willen zien est aussi correct (graag n'est pas obligatoire). N° 4 : après la subordonnée, inversion (« verbe, verbe », M9). N° 5 : question indirecte → of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e-mail poli.
Leurre : Zou u mij de factuur kunnen sturen? est correct. N° 1 : Ik zou ook de offerte willen zien est aussi correct (graag n'est pas obligatoire). N° 4 : après la subordonnée, inversion (« verbe, verbe », M9). N° 5 : question indirecte → of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 conseil adapté à chaque problème.
Autres associations possibles si elles sont justifiées. Variante : Als ik jou was, zou ik…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Donner un conseil adapté à chaque problème.
Autres associations possibles si elles sont justifiées. Variante : Als ik jou was, zou ik…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Imaginer et parler au conditionnel, en jouant.
Exigez la structure complète : Als ik de lotto won, zou ik… omdat… onzichtbaar = invisible, een superkracht = un super-pouvoir.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finale : proposer, comparer et négocier poliment.
Synthèse du parcours : conditionnel, montants (M26), préférences (M27), elkaar (M28 : We zouden elkaar vaker kunnen zien). Le budget total ne doit pas dépasser 5 000 € : faites additionner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 et clore le parcours Néerlandais 1.
Réponses :
1. Zou je me kunnen helpen?
2. Je zou meer moeten slapen. (ou une autre idée)
3. Als ik tijd had, zou ik meegaan.
Bilan : faites relire la frise des 29 modules et choisir un module à retravailler. En Néerlandais 2 : om … te, les autres conjonctions, hoeven te, le passif, le conditionnel passé.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29 · Als ik tijd had…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29 · Als ik tijd had…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29 / 29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Als ik tijd had…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 conditionnel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Zou je me kunnen helpen? · Als ik de lotto won, zou ik een reis maken.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52120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folded 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430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35240" y="914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Zou</a:t>
            </a: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je me kunnen helpen?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0" y="2606040"/>
            <a:ext cx="5212080" cy="1920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5120" y="4572000"/>
            <a:ext cx="32004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4846320"/>
            <a:ext cx="201168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lugg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10896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18120" y="269748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Als ik de lotto won, </a:t>
            </a:r>
            <a:r>
              <a:rPr lang="en-US" sz="1800" b="1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zou</a:t>
            </a:r>
            <a:r>
              <a:rPr lang="en-US" sz="18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ik een reis maken.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aying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Demander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demande poliment : </a:t>
            </a:r>
            <a:r>
              <a:rPr lang="en-US" sz="2000" i="1" dirty="0">
                <a:solidFill>
                  <a:schemeClr val="tx1"/>
                </a:solidFill>
              </a:rPr>
              <a:t>Zou u even willen wachten?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Conseiller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donne un conseil : </a:t>
            </a:r>
            <a:r>
              <a:rPr lang="en-US" sz="2000" i="1" dirty="0">
                <a:solidFill>
                  <a:schemeClr val="tx1"/>
                </a:solidFill>
              </a:rPr>
              <a:t>Je zou meer moeten slapen.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Imaginer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fais une hypothèse : </a:t>
            </a:r>
            <a:r>
              <a:rPr lang="en-US" sz="2000" i="1" dirty="0">
                <a:solidFill>
                  <a:schemeClr val="tx1"/>
                </a:solidFill>
              </a:rPr>
              <a:t>Als ik tijd had, zou ik Spaans leren.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conditionnel est le temps de la politesse au travail : téléphone, e-mails, guichet.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Als ik de lotto won…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2377440"/>
          </a:xfrm>
          <a:prstGeom prst="ellipse">
            <a:avLst/>
          </a:prstGeom>
          <a:solidFill>
            <a:srgbClr val="F1EBF8"/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6" name="Image 0" descr="beach with umbrel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292" y="16916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37744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Als ik de lotto </a:t>
            </a:r>
            <a:r>
              <a:rPr lang="en-US" sz="1600" b="1" i="1" dirty="0">
                <a:solidFill>
                  <a:schemeClr val="tx1"/>
                </a:solidFill>
              </a:rPr>
              <a:t>won</a:t>
            </a:r>
            <a:r>
              <a:rPr lang="en-US" sz="1600" i="1" dirty="0">
                <a:solidFill>
                  <a:schemeClr val="tx1"/>
                </a:solidFill>
              </a:rPr>
              <a:t>, </a:t>
            </a:r>
            <a:r>
              <a:rPr lang="en-US" sz="1600" b="1" i="1" dirty="0">
                <a:solidFill>
                  <a:schemeClr val="accent6"/>
                </a:solidFill>
              </a:rPr>
              <a:t>zou</a:t>
            </a:r>
            <a:r>
              <a:rPr lang="en-US" sz="1600" i="1" dirty="0">
                <a:solidFill>
                  <a:schemeClr val="tx1"/>
                </a:solidFill>
              </a:rPr>
              <a:t> ik een huis aan zee </a:t>
            </a:r>
            <a:r>
              <a:rPr lang="en-US" sz="1600" b="1" i="1" dirty="0">
                <a:solidFill>
                  <a:schemeClr val="accent6"/>
                </a:solidFill>
              </a:rPr>
              <a:t>kopen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51560" y="3977640"/>
            <a:ext cx="228600" cy="164592"/>
          </a:xfrm>
          <a:prstGeom prst="ellipse">
            <a:avLst/>
          </a:prstGeom>
          <a:solidFill>
            <a:srgbClr val="F1EBF8"/>
          </a:solidFill>
          <a:ln w="12700">
            <a:solidFill>
              <a:srgbClr val="6E4A9E"/>
            </a:solidFill>
            <a:prstDash val="solid"/>
          </a:ln>
        </p:spPr>
      </p:sp>
      <p:pic>
        <p:nvPicPr>
          <p:cNvPr id="9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60520"/>
            <a:ext cx="777240" cy="7772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4160520"/>
            <a:ext cx="2356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Karim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4322064" y="1554480"/>
            <a:ext cx="3544824" cy="2377440"/>
          </a:xfrm>
          <a:prstGeom prst="ellipse">
            <a:avLst/>
          </a:prstGeom>
          <a:solidFill>
            <a:srgbClr val="F1EBF8"/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12" name="Image 2" descr="pizz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1691640"/>
            <a:ext cx="731520" cy="7315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642104" y="237744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Als ik meer tijd </a:t>
            </a:r>
            <a:r>
              <a:rPr lang="en-US" sz="1600" b="1" i="1" dirty="0">
                <a:solidFill>
                  <a:schemeClr val="tx1"/>
                </a:solidFill>
              </a:rPr>
              <a:t>had</a:t>
            </a:r>
            <a:r>
              <a:rPr lang="en-US" sz="1600" i="1" dirty="0">
                <a:solidFill>
                  <a:schemeClr val="tx1"/>
                </a:solidFill>
              </a:rPr>
              <a:t>, </a:t>
            </a:r>
            <a:r>
              <a:rPr lang="en-US" sz="1600" b="1" i="1" dirty="0">
                <a:solidFill>
                  <a:schemeClr val="accent6"/>
                </a:solidFill>
              </a:rPr>
              <a:t>zou</a:t>
            </a:r>
            <a:r>
              <a:rPr lang="en-US" sz="1600" i="1" dirty="0">
                <a:solidFill>
                  <a:schemeClr val="tx1"/>
                </a:solidFill>
              </a:rPr>
              <a:t> ik Italiaans </a:t>
            </a:r>
            <a:r>
              <a:rPr lang="en-US" sz="1600" b="1" i="1" dirty="0">
                <a:solidFill>
                  <a:schemeClr val="accent6"/>
                </a:solidFill>
              </a:rPr>
              <a:t>leren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4824984" y="3977640"/>
            <a:ext cx="228600" cy="164592"/>
          </a:xfrm>
          <a:prstGeom prst="ellipse">
            <a:avLst/>
          </a:prstGeom>
          <a:solidFill>
            <a:srgbClr val="F1EBF8"/>
          </a:solidFill>
          <a:ln w="12700">
            <a:solidFill>
              <a:srgbClr val="6E4A9E"/>
            </a:solidFill>
            <a:prstDash val="solid"/>
          </a:ln>
        </p:spPr>
      </p:sp>
      <p:pic>
        <p:nvPicPr>
          <p:cNvPr id="15" name="Image 3" descr="wo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944" y="4160520"/>
            <a:ext cx="777240" cy="7772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373624" y="4160520"/>
            <a:ext cx="2356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Sofie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8095488" y="1554480"/>
            <a:ext cx="3544824" cy="2377440"/>
          </a:xfrm>
          <a:prstGeom prst="ellipse">
            <a:avLst/>
          </a:prstGeom>
          <a:solidFill>
            <a:srgbClr val="F1EBF8"/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18" name="Image 4" descr="party popp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140" y="1691640"/>
            <a:ext cx="731520" cy="7315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415528" y="237744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Als ik directeur </a:t>
            </a:r>
            <a:r>
              <a:rPr lang="en-US" sz="1600" b="1" i="1" dirty="0">
                <a:solidFill>
                  <a:schemeClr val="tx1"/>
                </a:solidFill>
              </a:rPr>
              <a:t>was</a:t>
            </a:r>
            <a:r>
              <a:rPr lang="en-US" sz="1600" i="1" dirty="0">
                <a:solidFill>
                  <a:schemeClr val="tx1"/>
                </a:solidFill>
              </a:rPr>
              <a:t>, </a:t>
            </a:r>
            <a:r>
              <a:rPr lang="en-US" sz="1600" b="1" i="1" dirty="0">
                <a:solidFill>
                  <a:schemeClr val="accent6"/>
                </a:solidFill>
              </a:rPr>
              <a:t>zou</a:t>
            </a:r>
            <a:r>
              <a:rPr lang="en-US" sz="1600" i="1" dirty="0">
                <a:solidFill>
                  <a:schemeClr val="tx1"/>
                </a:solidFill>
              </a:rPr>
              <a:t> ik iedereen elke vrijdag vrijaf </a:t>
            </a:r>
            <a:r>
              <a:rPr lang="en-US" sz="1600" b="1" i="1" dirty="0">
                <a:solidFill>
                  <a:schemeClr val="accent6"/>
                </a:solidFill>
              </a:rPr>
              <a:t>geven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8598408" y="3977640"/>
            <a:ext cx="228600" cy="164592"/>
          </a:xfrm>
          <a:prstGeom prst="ellipse">
            <a:avLst/>
          </a:prstGeom>
          <a:solidFill>
            <a:srgbClr val="F1EBF8"/>
          </a:solidFill>
          <a:ln w="12700">
            <a:solidFill>
              <a:srgbClr val="6E4A9E"/>
            </a:solidFill>
            <a:prstDash val="solid"/>
          </a:ln>
        </p:spPr>
      </p:sp>
      <p:pic>
        <p:nvPicPr>
          <p:cNvPr id="21" name="Image 5" descr="woman red ha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368" y="4160520"/>
            <a:ext cx="777240" cy="77724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147048" y="4160520"/>
            <a:ext cx="2356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Lotte</a:t>
            </a:r>
            <a:endParaRPr lang="en-US" sz="2000" dirty="0"/>
          </a:p>
        </p:txBody>
      </p:sp>
      <p:sp>
        <p:nvSpPr>
          <p:cNvPr id="23" name="Shape 14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4" name="Image 6" descr="think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Où est le 2ᵉ verbe ? Quel temps suit </a:t>
            </a:r>
            <a:r>
              <a:rPr lang="en-US" sz="1800" i="1" dirty="0">
                <a:solidFill>
                  <a:schemeClr val="tx1"/>
                </a:solidFill>
              </a:rPr>
              <a:t>als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Et vous ? </a:t>
            </a:r>
            <a:r>
              <a:rPr lang="en-US" sz="1800" i="1" dirty="0">
                <a:solidFill>
                  <a:schemeClr val="tx1"/>
                </a:solidFill>
              </a:rPr>
              <a:t>Als ik de lotto won, zou ik…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forme : zou + infinitif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206240" cy="3840480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 w="2540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4206240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zou / zouden + infinitif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762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21762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151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jij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26151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05409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u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30540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4930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hij / zij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2377440" y="3493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931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wij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39319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zouden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3708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jullie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43708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zouden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8097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zij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2377440" y="48097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zouden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5074920" y="1691640"/>
            <a:ext cx="606430" cy="685800"/>
          </a:xfrm>
          <a:prstGeom prst="roundRect">
            <a:avLst>
              <a:gd name="adj" fmla="val 1206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4920" y="1691640"/>
            <a:ext cx="6064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5772790" y="1691640"/>
            <a:ext cx="928094" cy="685800"/>
          </a:xfrm>
          <a:prstGeom prst="roundRect">
            <a:avLst>
              <a:gd name="adj" fmla="val 10667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72790" y="1691640"/>
            <a:ext cx="9280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zou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6792324" y="1691640"/>
            <a:ext cx="1279575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92324" y="1691640"/>
            <a:ext cx="1279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graag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8163339" y="1691640"/>
            <a:ext cx="1704807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63339" y="1691640"/>
            <a:ext cx="17048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naar Gent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959586" y="1691640"/>
            <a:ext cx="127957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1" name="Text 28"/>
          <p:cNvSpPr txBox="1"/>
          <p:nvPr/>
        </p:nvSpPr>
        <p:spPr>
          <a:xfrm>
            <a:off x="9959586" y="1691640"/>
            <a:ext cx="1279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gaan.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5074920" y="2606040"/>
            <a:ext cx="928094" cy="685800"/>
          </a:xfrm>
          <a:prstGeom prst="roundRect">
            <a:avLst>
              <a:gd name="adj" fmla="val 10667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2606040"/>
            <a:ext cx="9280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Zou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6094454" y="2606040"/>
            <a:ext cx="606430" cy="685800"/>
          </a:xfrm>
          <a:prstGeom prst="roundRect">
            <a:avLst>
              <a:gd name="adj" fmla="val 1206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94454" y="2606040"/>
            <a:ext cx="6064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6792324" y="2606040"/>
            <a:ext cx="606430" cy="685800"/>
          </a:xfrm>
          <a:prstGeom prst="roundRect">
            <a:avLst>
              <a:gd name="adj" fmla="val 1206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92324" y="2606040"/>
            <a:ext cx="6064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me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7490194" y="2606040"/>
            <a:ext cx="14553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7490194" y="2606040"/>
            <a:ext cx="14553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kunnen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9036949" y="2606040"/>
            <a:ext cx="163105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41" name="Text 38"/>
          <p:cNvSpPr txBox="1"/>
          <p:nvPr/>
        </p:nvSpPr>
        <p:spPr>
          <a:xfrm>
            <a:off x="9036949" y="2606040"/>
            <a:ext cx="163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helpen?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5074920" y="3429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② </a:t>
            </a:r>
            <a:r>
              <a:rPr lang="en-US" sz="1500" i="1" dirty="0">
                <a:solidFill>
                  <a:schemeClr val="accent6"/>
                </a:solidFill>
              </a:rPr>
              <a:t>zou</a:t>
            </a:r>
            <a:r>
              <a:rPr lang="en-US" sz="1500" i="1" dirty="0">
                <a:solidFill>
                  <a:schemeClr val="accent6"/>
                </a:solidFill>
              </a:rPr>
              <a:t> en 2ᵉ position · infinitif(s) au bout : la pince du M12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074920" y="4023360"/>
            <a:ext cx="65653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257800" y="4069080"/>
            <a:ext cx="6263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zou</a:t>
            </a:r>
            <a:r>
              <a:rPr lang="en-US" sz="1700" dirty="0">
                <a:solidFill>
                  <a:schemeClr val="tx1"/>
                </a:solidFill>
              </a:rPr>
              <a:t> = l’imperfectum de </a:t>
            </a:r>
            <a:r>
              <a:rPr lang="en-US" sz="1700" i="1" dirty="0">
                <a:solidFill>
                  <a:schemeClr val="tx1"/>
                </a:solidFill>
              </a:rPr>
              <a:t>zullen</a:t>
            </a:r>
            <a:r>
              <a:rPr lang="en-US" sz="1700" dirty="0">
                <a:solidFill>
                  <a:schemeClr val="tx1"/>
                </a:solidFill>
              </a:rPr>
              <a:t> (M18)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verbe principal ne se conjugue plus.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zou</a:t>
            </a:r>
            <a:r>
              <a:rPr lang="en-US" sz="1700" dirty="0">
                <a:solidFill>
                  <a:schemeClr val="tx1"/>
                </a:solidFill>
              </a:rPr>
              <a:t> rime avec </a:t>
            </a:r>
            <a:r>
              <a:rPr lang="en-US" sz="1700" i="1" dirty="0">
                <a:solidFill>
                  <a:schemeClr val="tx1"/>
                </a:solidFill>
              </a:rPr>
              <a:t>jou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Une seule forme à retenir : </a:t>
            </a:r>
            <a:r>
              <a:rPr lang="en-US" sz="1900" i="1" dirty="0">
                <a:solidFill>
                  <a:schemeClr val="bg1"/>
                </a:solidFill>
              </a:rPr>
              <a:t>zou</a:t>
            </a:r>
            <a:r>
              <a:rPr lang="en-US" sz="1900" dirty="0">
                <a:solidFill>
                  <a:schemeClr val="bg1"/>
                </a:solidFill>
              </a:rPr>
              <a:t> (singulier) · </a:t>
            </a:r>
            <a:r>
              <a:rPr lang="en-US" sz="1900" i="1" dirty="0">
                <a:solidFill>
                  <a:schemeClr val="bg1"/>
                </a:solidFill>
              </a:rPr>
              <a:t>zouden</a:t>
            </a:r>
            <a:r>
              <a:rPr lang="en-US" sz="1900" dirty="0">
                <a:solidFill>
                  <a:schemeClr val="bg1"/>
                </a:solidFill>
              </a:rPr>
              <a:t> (pluriel)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Demander poliment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4480560"/>
            <a:ext cx="2145182" cy="64008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526280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direct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3520440"/>
            <a:ext cx="205374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3520440"/>
            <a:ext cx="1962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Help me!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85262" y="3931920"/>
            <a:ext cx="2145182" cy="118872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85262" y="3977640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adouci (M16)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30982" y="2971800"/>
            <a:ext cx="205374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876702" y="2971800"/>
            <a:ext cx="1962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Help je me even?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1885" y="3383280"/>
            <a:ext cx="2145182" cy="1737360"/>
          </a:xfrm>
          <a:prstGeom prst="roundRect">
            <a:avLst>
              <a:gd name="adj" fmla="val 315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1885" y="3429000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question (M12)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67605" y="2423160"/>
            <a:ext cx="205374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113325" y="2423160"/>
            <a:ext cx="1962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Kun je me helpen?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58507" y="2834640"/>
            <a:ext cx="2145182" cy="2286000"/>
          </a:xfrm>
          <a:prstGeom prst="roundRect">
            <a:avLst>
              <a:gd name="adj" fmla="val 2558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58507" y="2880360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conditionnel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04227" y="1874520"/>
            <a:ext cx="205374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349947" y="1874520"/>
            <a:ext cx="1962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Zou je me kunnen helpen?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495130" y="2286000"/>
            <a:ext cx="2145182" cy="2834640"/>
          </a:xfrm>
          <a:prstGeom prst="roundRect">
            <a:avLst>
              <a:gd name="adj" fmla="val 2558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95130" y="2331720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très poli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540850" y="1325880"/>
            <a:ext cx="205374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586570" y="1325880"/>
            <a:ext cx="1962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Zou u mij even willen helpen?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◀ moins poli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97112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plus poli ▶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Au téléphone : </a:t>
            </a:r>
            <a:r>
              <a:rPr lang="en-US" sz="1800" i="1" dirty="0">
                <a:solidFill>
                  <a:schemeClr val="bg1"/>
                </a:solidFill>
              </a:rPr>
              <a:t>Zou u even willen wachten?</a:t>
            </a:r>
            <a:r>
              <a:rPr lang="en-US" sz="1800" dirty="0">
                <a:solidFill>
                  <a:schemeClr val="bg1"/>
                </a:solidFill>
              </a:rPr>
              <a:t> · </a:t>
            </a:r>
            <a:r>
              <a:rPr lang="en-US" sz="1800" i="1" dirty="0">
                <a:solidFill>
                  <a:schemeClr val="bg1"/>
                </a:solidFill>
              </a:rPr>
              <a:t>Zou je de deur kunnen sluiten?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Je voudrais… : wil graag, zou graag, had graag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pic>
        <p:nvPicPr>
          <p:cNvPr id="5" name="Image 0" descr="br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188720" cy="1188720"/>
          </a:xfrm>
          <a:prstGeom prst="rect">
            <a:avLst/>
          </a:prstGeom>
        </p:spPr>
      </p:pic>
      <p:pic>
        <p:nvPicPr>
          <p:cNvPr id="6" name="Image 1" descr="croiss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17520"/>
            <a:ext cx="1005840" cy="10058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103120" y="1600200"/>
            <a:ext cx="6035040" cy="804672"/>
          </a:xfrm>
          <a:prstGeom prst="roundRect">
            <a:avLst>
              <a:gd name="adj" fmla="val 20455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2267712" y="1600200"/>
            <a:ext cx="5705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wil </a:t>
            </a:r>
            <a:r>
              <a:rPr lang="en-US" sz="2000" b="1" i="1" dirty="0">
                <a:solidFill>
                  <a:schemeClr val="tx1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 een brood.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8275320" y="16002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je voudrais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2103120" y="2560320"/>
            <a:ext cx="6035040" cy="804672"/>
          </a:xfrm>
          <a:prstGeom prst="roundRect">
            <a:avLst>
              <a:gd name="adj" fmla="val 20455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267712" y="2560320"/>
            <a:ext cx="5705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zou</a:t>
            </a:r>
            <a:r>
              <a:rPr lang="en-US" sz="2000" i="1" dirty="0">
                <a:solidFill>
                  <a:schemeClr val="tx1"/>
                </a:solidFill>
              </a:rPr>
              <a:t> graag een brood </a:t>
            </a:r>
            <a:r>
              <a:rPr lang="en-US" sz="2000" b="1" i="1" dirty="0">
                <a:solidFill>
                  <a:schemeClr val="tx1"/>
                </a:solidFill>
              </a:rPr>
              <a:t>willen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8275320" y="2560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je voudrais bien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2103120" y="3520440"/>
            <a:ext cx="6035040" cy="804672"/>
          </a:xfrm>
          <a:prstGeom prst="roundRect">
            <a:avLst>
              <a:gd name="adj" fmla="val 20455"/>
            </a:avLst>
          </a:prstGeom>
          <a:solidFill>
            <a:srgbClr val="6E4A9E">
              <a:alpha val="12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267712" y="3520440"/>
            <a:ext cx="5705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had</a:t>
            </a:r>
            <a:r>
              <a:rPr lang="en-US" sz="2000" i="1" dirty="0">
                <a:solidFill>
                  <a:schemeClr val="tx1"/>
                </a:solidFill>
              </a:rPr>
              <a:t> graag een brood.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275320" y="352044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BE, très courant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0744200" y="3703320"/>
            <a:ext cx="213360" cy="422453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957560" y="3703320"/>
            <a:ext cx="213360" cy="422453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1170920" y="3703320"/>
            <a:ext cx="213360" cy="422453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744200" y="3703320"/>
            <a:ext cx="640080" cy="422453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6">
              <a:alpha val="8000"/>
            </a:scheme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" y="45720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✗ </a:t>
            </a:r>
            <a:r>
              <a:rPr lang="en-US" sz="1900" i="1" strike="sngStrike" dirty="0">
                <a:solidFill>
                  <a:schemeClr val="accent6"/>
                </a:solidFill>
              </a:rPr>
              <a:t>Ik zou willen een brood</a:t>
            </a:r>
            <a:r>
              <a:rPr lang="en-US" sz="1900" dirty="0">
                <a:solidFill>
                  <a:schemeClr val="tx1"/>
                </a:solidFill>
              </a:rPr>
              <a:t> → ✓ </a:t>
            </a:r>
            <a:r>
              <a:rPr lang="en-US" sz="1900" i="1" dirty="0">
                <a:solidFill>
                  <a:schemeClr val="tx1"/>
                </a:solidFill>
              </a:rPr>
              <a:t>Ik zou graag een brood </a:t>
            </a:r>
            <a:r>
              <a:rPr lang="en-US" sz="1900" b="1" i="1" dirty="0">
                <a:solidFill>
                  <a:schemeClr val="tx1"/>
                </a:solidFill>
              </a:rPr>
              <a:t>willen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r>
              <a:rPr lang="en-US" sz="1900" dirty="0">
                <a:solidFill>
                  <a:schemeClr val="tx1"/>
                </a:solidFill>
              </a:rPr>
              <a:t> (l’infinitif va au bout)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Ik had graag…</a:t>
            </a:r>
            <a:r>
              <a:rPr lang="en-US" sz="1800" dirty="0">
                <a:solidFill>
                  <a:schemeClr val="bg1"/>
                </a:solidFill>
              </a:rPr>
              <a:t> : la formule flamande au magasin et au café. Les trois sont corrects.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Conseiller : je zou … moeten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pic>
        <p:nvPicPr>
          <p:cNvPr id="5" name="Image 0" descr="sleepy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822960" cy="822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08760" y="1709928"/>
            <a:ext cx="32004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645920" y="17099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altijd moe.</a:t>
            </a:r>
            <a:endParaRPr lang="en-US" sz="1700" dirty="0"/>
          </a:p>
        </p:txBody>
      </p:sp>
      <p:pic>
        <p:nvPicPr>
          <p:cNvPr id="8" name="Image 1" descr="light 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548640" cy="548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0" y="1645920"/>
            <a:ext cx="6153912" cy="91440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623560" y="16459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Je </a:t>
            </a:r>
            <a:r>
              <a:rPr lang="en-US" sz="1800" b="1" i="1" dirty="0">
                <a:solidFill>
                  <a:schemeClr val="tx1"/>
                </a:solidFill>
              </a:rPr>
              <a:t>zou</a:t>
            </a:r>
            <a:r>
              <a:rPr lang="en-US" sz="1800" i="1" dirty="0">
                <a:solidFill>
                  <a:schemeClr val="tx1"/>
                </a:solidFill>
              </a:rPr>
              <a:t> meer </a:t>
            </a:r>
            <a:r>
              <a:rPr lang="en-US" sz="1800" b="1" i="1" dirty="0">
                <a:solidFill>
                  <a:schemeClr val="tx1"/>
                </a:solidFill>
              </a:rPr>
              <a:t>moeten</a:t>
            </a:r>
            <a:r>
              <a:rPr lang="en-US" sz="1800" i="1" dirty="0">
                <a:solidFill>
                  <a:schemeClr val="tx1"/>
                </a:solidFill>
              </a:rPr>
              <a:t> slapen.</a:t>
            </a:r>
            <a:endParaRPr lang="en-US" sz="1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tu devrais</a:t>
            </a:r>
            <a:endParaRPr lang="en-US" sz="1800" dirty="0"/>
          </a:p>
        </p:txBody>
      </p:sp>
      <p:pic>
        <p:nvPicPr>
          <p:cNvPr id="11" name="Image 2" descr="anxious face with sw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822960" cy="8229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508760" y="2898648"/>
            <a:ext cx="32004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645920" y="28986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heb zo veel stress.</a:t>
            </a:r>
            <a:endParaRPr lang="en-US" sz="1700" dirty="0"/>
          </a:p>
        </p:txBody>
      </p:sp>
      <p:pic>
        <p:nvPicPr>
          <p:cNvPr id="14" name="Image 3" descr="light 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17520"/>
            <a:ext cx="548640" cy="54864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486400" y="2834640"/>
            <a:ext cx="6153912" cy="91440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5623560" y="2834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Je </a:t>
            </a:r>
            <a:r>
              <a:rPr lang="en-US" sz="1800" b="1" i="1" dirty="0">
                <a:solidFill>
                  <a:schemeClr val="tx1"/>
                </a:solidFill>
              </a:rPr>
              <a:t>zou</a:t>
            </a:r>
            <a:r>
              <a:rPr lang="en-US" sz="1800" i="1" dirty="0">
                <a:solidFill>
                  <a:schemeClr val="tx1"/>
                </a:solidFill>
              </a:rPr>
              <a:t> een pauze </a:t>
            </a:r>
            <a:r>
              <a:rPr lang="en-US" sz="1800" b="1" i="1" dirty="0">
                <a:solidFill>
                  <a:schemeClr val="tx1"/>
                </a:solidFill>
              </a:rPr>
              <a:t>kunnen</a:t>
            </a:r>
            <a:r>
              <a:rPr lang="en-US" sz="1800" i="1" dirty="0">
                <a:solidFill>
                  <a:schemeClr val="tx1"/>
                </a:solidFill>
              </a:rPr>
              <a:t> nemen.</a:t>
            </a:r>
            <a:endParaRPr lang="en-US" sz="1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tu pourrais</a:t>
            </a:r>
            <a:endParaRPr lang="en-US" sz="1800" dirty="0"/>
          </a:p>
        </p:txBody>
      </p:sp>
      <p:pic>
        <p:nvPicPr>
          <p:cNvPr id="17" name="Image 4" descr="face with thermome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69080"/>
            <a:ext cx="822960" cy="82296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508760" y="4087368"/>
            <a:ext cx="32004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1645920" y="4087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voel me ziek.</a:t>
            </a:r>
            <a:endParaRPr lang="en-US" sz="1700" dirty="0"/>
          </a:p>
        </p:txBody>
      </p:sp>
      <p:pic>
        <p:nvPicPr>
          <p:cNvPr id="20" name="Image 5" descr="light 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206240"/>
            <a:ext cx="548640" cy="54864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486400" y="4023360"/>
            <a:ext cx="6153912" cy="91440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5623560" y="4023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Als ik jou </a:t>
            </a:r>
            <a:r>
              <a:rPr lang="en-US" sz="1800" b="1" i="1" dirty="0">
                <a:solidFill>
                  <a:schemeClr val="tx1"/>
                </a:solidFill>
              </a:rPr>
              <a:t>was</a:t>
            </a:r>
            <a:r>
              <a:rPr lang="en-US" sz="1800" i="1" dirty="0">
                <a:solidFill>
                  <a:schemeClr val="tx1"/>
                </a:solidFill>
              </a:rPr>
              <a:t>, </a:t>
            </a:r>
            <a:r>
              <a:rPr lang="en-US" sz="1800" b="1" i="1" dirty="0">
                <a:solidFill>
                  <a:schemeClr val="tx1"/>
                </a:solidFill>
              </a:rPr>
              <a:t>zou</a:t>
            </a:r>
            <a:r>
              <a:rPr lang="en-US" sz="1800" i="1" dirty="0">
                <a:solidFill>
                  <a:schemeClr val="tx1"/>
                </a:solidFill>
              </a:rPr>
              <a:t> ik de dokter </a:t>
            </a:r>
            <a:r>
              <a:rPr lang="en-US" sz="1800" b="1" i="1" dirty="0">
                <a:solidFill>
                  <a:schemeClr val="tx1"/>
                </a:solidFill>
              </a:rPr>
              <a:t>bellen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à ta place, je…</a:t>
            </a:r>
            <a:endParaRPr lang="en-US" sz="1800" dirty="0"/>
          </a:p>
        </p:txBody>
      </p:sp>
      <p:sp>
        <p:nvSpPr>
          <p:cNvPr id="23" name="Shape 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zou … moeten</a:t>
            </a:r>
            <a:r>
              <a:rPr lang="en-US" sz="1700" dirty="0">
                <a:solidFill>
                  <a:schemeClr val="bg1"/>
                </a:solidFill>
              </a:rPr>
              <a:t> = devrait · </a:t>
            </a:r>
            <a:r>
              <a:rPr lang="en-US" sz="1700" i="1" dirty="0">
                <a:solidFill>
                  <a:schemeClr val="bg1"/>
                </a:solidFill>
              </a:rPr>
              <a:t>zou … kunnen</a:t>
            </a:r>
            <a:r>
              <a:rPr lang="en-US" sz="1700" dirty="0">
                <a:solidFill>
                  <a:schemeClr val="bg1"/>
                </a:solidFill>
              </a:rPr>
              <a:t> = pourrait · </a:t>
            </a:r>
            <a:r>
              <a:rPr lang="en-US" sz="1700" i="1" dirty="0">
                <a:solidFill>
                  <a:schemeClr val="bg1"/>
                </a:solidFill>
              </a:rPr>
              <a:t>Ik zou dat niet doen.</a:t>
            </a:r>
            <a:r>
              <a:rPr lang="en-US" sz="1700" dirty="0">
                <a:solidFill>
                  <a:schemeClr val="bg1"/>
                </a:solidFill>
              </a:rPr>
              <a:t> = je ne ferais pas ça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L’hypothèse : als + imperfectum, zou + infinitif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E4A9E"/>
                </a:solidFill>
              </a:rPr>
              <a:t>LE WAGON </a:t>
            </a:r>
            <a:r>
              <a:rPr lang="en-US" sz="1200" b="1" i="1" spc="200" kern="0" dirty="0">
                <a:solidFill>
                  <a:srgbClr val="6E4A9E"/>
                </a:solidFill>
              </a:rPr>
              <a:t>ALS</a:t>
            </a:r>
            <a:r>
              <a:rPr lang="en-US" sz="1200" b="1" spc="200" kern="0" dirty="0">
                <a:solidFill>
                  <a:srgbClr val="6E4A9E"/>
                </a:solidFill>
              </a:rPr>
              <a:t> (M9)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175540" cy="731520"/>
          </a:xfrm>
          <a:prstGeom prst="roundRect">
            <a:avLst>
              <a:gd name="adj" fmla="val 10000"/>
            </a:avLst>
          </a:prstGeom>
          <a:solidFill>
            <a:srgbClr val="F1EBF8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20240"/>
            <a:ext cx="21755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Als ik tijd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815620" y="1920240"/>
            <a:ext cx="1167740" cy="731520"/>
          </a:xfrm>
          <a:prstGeom prst="roundRect">
            <a:avLst>
              <a:gd name="adj" fmla="val 10000"/>
            </a:avLst>
          </a:prstGeom>
          <a:solidFill>
            <a:srgbClr val="F1EBF8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5620" y="1920240"/>
            <a:ext cx="1167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had,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074800" y="1920240"/>
            <a:ext cx="976023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74800" y="1920240"/>
            <a:ext cx="9760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zou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142264" y="1920240"/>
            <a:ext cx="634959" cy="73152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42264" y="1920240"/>
            <a:ext cx="63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ik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868663" y="1920240"/>
            <a:ext cx="1934607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868663" y="1920240"/>
            <a:ext cx="1934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meegaan.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« verbe, verbe » autour de la virgule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246120"/>
            <a:ext cx="634959" cy="73152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63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Ik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275039" y="3246120"/>
            <a:ext cx="976023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75039" y="3246120"/>
            <a:ext cx="9760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zou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2342503" y="324612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2342503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meegaan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4308463" y="3246120"/>
            <a:ext cx="2175540" cy="731520"/>
          </a:xfrm>
          <a:prstGeom prst="roundRect">
            <a:avLst>
              <a:gd name="adj" fmla="val 10000"/>
            </a:avLst>
          </a:prstGeom>
          <a:solidFill>
            <a:srgbClr val="F1EBF8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08463" y="3246120"/>
            <a:ext cx="21755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als ik tijd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6575443" y="3246120"/>
            <a:ext cx="1167740" cy="731520"/>
          </a:xfrm>
          <a:prstGeom prst="roundRect">
            <a:avLst>
              <a:gd name="adj" fmla="val 10000"/>
            </a:avLst>
          </a:prstGeom>
          <a:solidFill>
            <a:srgbClr val="F1EBF8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75443" y="3246120"/>
            <a:ext cx="1167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had.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8229600" y="1554480"/>
            <a:ext cx="3410712" cy="2514600"/>
          </a:xfrm>
          <a:prstGeom prst="roundRect">
            <a:avLst>
              <a:gd name="adj" fmla="val 3636"/>
            </a:avLst>
          </a:prstGeom>
          <a:solidFill>
            <a:srgbClr val="F1EBF8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1600200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Après </a:t>
            </a:r>
            <a:r>
              <a:rPr lang="en-US" sz="1700" b="1" i="1" dirty="0">
                <a:solidFill>
                  <a:schemeClr val="tx1"/>
                </a:solidFill>
              </a:rPr>
              <a:t>als</a:t>
            </a:r>
            <a:r>
              <a:rPr lang="en-US" sz="1700" dirty="0">
                <a:solidFill>
                  <a:schemeClr val="tx1"/>
                </a:solidFill>
              </a:rPr>
              <a:t> : imperfectum (M19)</a:t>
            </a:r>
            <a:endParaRPr lang="en-US" sz="17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had · was · kon · wist · won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48640" y="434340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343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Même logique qu’en français : « si + imparfait, conditionnel » → </a:t>
            </a:r>
            <a:r>
              <a:rPr lang="en-US" sz="1800" i="1" dirty="0">
                <a:solidFill>
                  <a:schemeClr val="tx1"/>
                </a:solidFill>
              </a:rPr>
              <a:t>als + imperfectum, zou + infinitif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À l’oral, on entend aussi : </a:t>
            </a:r>
            <a:r>
              <a:rPr lang="en-US" sz="1800" i="1" dirty="0">
                <a:solidFill>
                  <a:schemeClr val="bg1"/>
                </a:solidFill>
              </a:rPr>
              <a:t>Als ik tijd had, ging ik mee.</a:t>
            </a:r>
            <a:r>
              <a:rPr lang="en-US" sz="1800" dirty="0">
                <a:solidFill>
                  <a:schemeClr val="bg1"/>
                </a:solidFill>
              </a:rPr>
              <a:t> (imperfectum des deux côtés)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si, si, si…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4884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si j’</a:t>
            </a:r>
            <a:r>
              <a:rPr lang="en-US" sz="1700" b="1" dirty="0">
                <a:solidFill>
                  <a:schemeClr val="tx1"/>
                </a:solidFill>
              </a:rPr>
              <a:t>avais</a:t>
            </a:r>
            <a:r>
              <a:rPr lang="en-US" sz="1700" dirty="0">
                <a:solidFill>
                  <a:schemeClr val="tx1"/>
                </a:solidFill>
              </a:rPr>
              <a:t> le temps »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60920" y="2487168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772400" y="2203704"/>
            <a:ext cx="3703320" cy="566928"/>
          </a:xfrm>
          <a:prstGeom prst="roundRect">
            <a:avLst>
              <a:gd name="adj" fmla="val 16129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220370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als ik tijd </a:t>
            </a:r>
            <a:r>
              <a:rPr lang="en-US" sz="1700" b="1" i="1" dirty="0">
                <a:solidFill>
                  <a:schemeClr val="tx1"/>
                </a:solidFill>
              </a:rPr>
              <a:t>had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95351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je </a:t>
            </a:r>
            <a:r>
              <a:rPr lang="en-US" sz="1700" b="1" dirty="0">
                <a:solidFill>
                  <a:schemeClr val="tx1"/>
                </a:solidFill>
              </a:rPr>
              <a:t>viendrais</a:t>
            </a:r>
            <a:r>
              <a:rPr lang="en-US" sz="1700" dirty="0">
                <a:solidFill>
                  <a:schemeClr val="tx1"/>
                </a:solidFill>
              </a:rPr>
              <a:t> »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95351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ik zou kom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60920" y="3291840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772400" y="3008376"/>
            <a:ext cx="3703320" cy="566928"/>
          </a:xfrm>
          <a:prstGeom prst="roundRect">
            <a:avLst>
              <a:gd name="adj" fmla="val 16129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3008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zou </a:t>
            </a:r>
            <a:r>
              <a:rPr lang="en-US" sz="1700" b="1" i="1" dirty="0">
                <a:solidFill>
                  <a:schemeClr val="tx1"/>
                </a:solidFill>
              </a:rPr>
              <a:t>komen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75818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je ne sais pas </a:t>
            </a:r>
            <a:r>
              <a:rPr lang="en-US" sz="1700" b="1" dirty="0">
                <a:solidFill>
                  <a:schemeClr val="tx1"/>
                </a:solidFill>
              </a:rPr>
              <a:t>s’</a:t>
            </a:r>
            <a:r>
              <a:rPr lang="en-US" sz="1700" dirty="0">
                <a:solidFill>
                  <a:schemeClr val="tx1"/>
                </a:solidFill>
              </a:rPr>
              <a:t>il viendrait »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75818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als hij zou komen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360920" y="4096512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772400" y="3813048"/>
            <a:ext cx="3703320" cy="566928"/>
          </a:xfrm>
          <a:prstGeom prst="roundRect">
            <a:avLst>
              <a:gd name="adj" fmla="val 16129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09560" y="38130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b="1" i="1" dirty="0">
                <a:solidFill>
                  <a:schemeClr val="tx1"/>
                </a:solidFill>
              </a:rPr>
              <a:t>of</a:t>
            </a:r>
            <a:r>
              <a:rPr lang="en-US" sz="1700" i="1" dirty="0">
                <a:solidFill>
                  <a:schemeClr val="tx1"/>
                </a:solidFill>
              </a:rPr>
              <a:t> hij zou komen (M9)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56285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je </a:t>
            </a:r>
            <a:r>
              <a:rPr lang="en-US" sz="1700" b="1" dirty="0">
                <a:solidFill>
                  <a:schemeClr val="tx1"/>
                </a:solidFill>
              </a:rPr>
              <a:t>voudrais</a:t>
            </a:r>
            <a:r>
              <a:rPr lang="en-US" sz="1700" dirty="0">
                <a:solidFill>
                  <a:schemeClr val="tx1"/>
                </a:solidFill>
              </a:rPr>
              <a:t> un café »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56285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ik zou willen een koffie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60920" y="4901184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772400" y="4617720"/>
            <a:ext cx="3703320" cy="566928"/>
          </a:xfrm>
          <a:prstGeom prst="roundRect">
            <a:avLst>
              <a:gd name="adj" fmla="val 16129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zou graag een koffie </a:t>
            </a:r>
            <a:r>
              <a:rPr lang="en-US" sz="1700" b="1" i="1" dirty="0">
                <a:solidFill>
                  <a:schemeClr val="tx1"/>
                </a:solidFill>
              </a:rPr>
              <a:t>willen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als</a:t>
            </a:r>
            <a:r>
              <a:rPr lang="en-US" sz="1700" dirty="0">
                <a:solidFill>
                  <a:schemeClr val="bg1"/>
                </a:solidFill>
              </a:rPr>
              <a:t> = si (condition) · </a:t>
            </a:r>
            <a:r>
              <a:rPr lang="en-US" sz="1700" i="1" dirty="0">
                <a:solidFill>
                  <a:schemeClr val="bg1"/>
                </a:solidFill>
              </a:rPr>
              <a:t>of</a:t>
            </a:r>
            <a:r>
              <a:rPr lang="en-US" sz="1700" dirty="0">
                <a:solidFill>
                  <a:schemeClr val="bg1"/>
                </a:solidFill>
              </a:rPr>
              <a:t> = si (question indirecte) · </a:t>
            </a:r>
            <a:r>
              <a:rPr lang="en-US" sz="1700" i="1" dirty="0">
                <a:solidFill>
                  <a:schemeClr val="bg1"/>
                </a:solidFill>
              </a:rPr>
              <a:t>als ik tijd zou hebben</a:t>
            </a:r>
            <a:r>
              <a:rPr lang="en-US" sz="1700" dirty="0">
                <a:solidFill>
                  <a:schemeClr val="bg1"/>
                </a:solidFill>
              </a:rPr>
              <a:t> se dit aussi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zou = il paraît que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8640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00200"/>
            <a:ext cx="5486400" cy="5486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DE BRUSSELSE KRANT</a:t>
            </a:r>
            <a:endParaRPr lang="en-US" sz="1500" dirty="0"/>
          </a:p>
        </p:txBody>
      </p:sp>
      <p:pic>
        <p:nvPicPr>
          <p:cNvPr id="8" name="Image 0" descr="newspa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22860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directeur </a:t>
            </a:r>
            <a:r>
              <a:rPr lang="en-US" sz="1900" b="1" i="1" dirty="0">
                <a:solidFill>
                  <a:schemeClr val="tx2"/>
                </a:solidFill>
              </a:rPr>
              <a:t>zou</a:t>
            </a:r>
            <a:r>
              <a:rPr lang="en-US" sz="1900" i="1" dirty="0">
                <a:solidFill>
                  <a:schemeClr val="tx1"/>
                </a:solidFill>
              </a:rPr>
              <a:t> ontslag </a:t>
            </a:r>
            <a:r>
              <a:rPr lang="en-US" sz="1900" b="1" i="1" dirty="0">
                <a:solidFill>
                  <a:schemeClr val="tx1"/>
                </a:solidFill>
              </a:rPr>
              <a:t>nemen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Le directeur démissionnerait (on le dit).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330952" cy="1188720"/>
          </a:xfrm>
          <a:prstGeom prst="roundRect">
            <a:avLst>
              <a:gd name="adj" fmla="val 13846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73952" y="1920240"/>
            <a:ext cx="5001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</a:t>
            </a:r>
            <a:r>
              <a:rPr lang="en-US" sz="1800" b="1" i="1" dirty="0">
                <a:solidFill>
                  <a:schemeClr val="tx2"/>
                </a:solidFill>
              </a:rPr>
              <a:t>zou</a:t>
            </a:r>
            <a:r>
              <a:rPr lang="en-US" sz="1800" i="1" dirty="0">
                <a:solidFill>
                  <a:schemeClr val="tx1"/>
                </a:solidFill>
              </a:rPr>
              <a:t> ziek </a:t>
            </a:r>
            <a:r>
              <a:rPr lang="en-US" sz="1800" b="1" i="1" dirty="0">
                <a:solidFill>
                  <a:schemeClr val="tx1"/>
                </a:solidFill>
              </a:rPr>
              <a:t>zijn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r>
              <a:rPr lang="en-US" sz="1800" dirty="0">
                <a:solidFill>
                  <a:schemeClr val="tx1"/>
                </a:solidFill>
              </a:rPr>
              <a:t> — Karim serait malade, paraît-il.</a:t>
            </a:r>
            <a:endParaRPr lang="en-US" sz="1800" dirty="0"/>
          </a:p>
        </p:txBody>
      </p:sp>
      <p:pic>
        <p:nvPicPr>
          <p:cNvPr id="12" name="Image 1" descr="speaking h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4612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3291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Synonymes : </a:t>
            </a:r>
            <a:r>
              <a:rPr lang="en-US" sz="1500" i="1" dirty="0">
                <a:solidFill>
                  <a:schemeClr val="accent5"/>
                </a:solidFill>
              </a:rPr>
              <a:t>naar verluidt</a:t>
            </a:r>
            <a:r>
              <a:rPr lang="en-US" sz="1500" i="1" dirty="0">
                <a:solidFill>
                  <a:schemeClr val="accent5"/>
                </a:solidFill>
              </a:rPr>
              <a:t> (selon certaines sources) · </a:t>
            </a:r>
            <a:r>
              <a:rPr lang="en-US" sz="1500" i="1" dirty="0">
                <a:solidFill>
                  <a:schemeClr val="accent5"/>
                </a:solidFill>
              </a:rPr>
              <a:t>blijkbaar</a:t>
            </a:r>
            <a:r>
              <a:rPr lang="en-US" sz="1500" i="1" dirty="0">
                <a:solidFill>
                  <a:schemeClr val="accent5"/>
                </a:solidFill>
              </a:rPr>
              <a:t> (apparemment)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Même emploi que le conditionnel journalistique français : l’information n’est pas confirmée.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 APERÇU : le conditionnel passé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APERÇU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2194560"/>
            <a:ext cx="10515600" cy="914"/>
          </a:xfrm>
          <a:prstGeom prst="line">
            <a:avLst/>
          </a:prstGeom>
          <a:noFill/>
          <a:ln w="381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3108960" y="201168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089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✗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hier (trop tard !)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5360" y="201168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maintenant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1EBF8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697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Als ik het </a:t>
            </a:r>
            <a:r>
              <a:rPr lang="en-US" sz="1900" b="1" i="1" dirty="0">
                <a:solidFill>
                  <a:schemeClr val="tx1"/>
                </a:solidFill>
              </a:rPr>
              <a:t>geweten had</a:t>
            </a:r>
            <a:r>
              <a:rPr lang="en-US" sz="1900" i="1" dirty="0">
                <a:solidFill>
                  <a:schemeClr val="tx1"/>
                </a:solidFill>
              </a:rPr>
              <a:t>, </a:t>
            </a:r>
            <a:r>
              <a:rPr lang="en-US" sz="1900" b="1" i="1" dirty="0">
                <a:solidFill>
                  <a:schemeClr val="tx1"/>
                </a:solidFill>
              </a:rPr>
              <a:t>was</a:t>
            </a:r>
            <a:r>
              <a:rPr lang="en-US" sz="1900" i="1" dirty="0">
                <a:solidFill>
                  <a:schemeClr val="tx1"/>
                </a:solidFill>
              </a:rPr>
              <a:t> ik </a:t>
            </a:r>
            <a:r>
              <a:rPr lang="en-US" sz="1900" b="1" i="1" dirty="0">
                <a:solidFill>
                  <a:schemeClr val="tx1"/>
                </a:solidFill>
              </a:rPr>
              <a:t>gekomen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697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Si je l’avais su, je serais venu.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56616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5661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= Als ik het geweten had, </a:t>
            </a:r>
            <a:r>
              <a:rPr lang="en-US" sz="1900" b="1" i="1" dirty="0">
                <a:solidFill>
                  <a:schemeClr val="tx1"/>
                </a:solidFill>
              </a:rPr>
              <a:t>zou</a:t>
            </a:r>
            <a:r>
              <a:rPr lang="en-US" sz="1900" i="1" dirty="0">
                <a:solidFill>
                  <a:schemeClr val="tx1"/>
                </a:solidFill>
              </a:rPr>
              <a:t> ik </a:t>
            </a:r>
            <a:r>
              <a:rPr lang="en-US" sz="1900" b="1" i="1" dirty="0">
                <a:solidFill>
                  <a:schemeClr val="tx1"/>
                </a:solidFill>
              </a:rPr>
              <a:t>gekomen zijn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(forme longue)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1EBF8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434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had</a:t>
            </a:r>
            <a:r>
              <a:rPr lang="en-US" sz="1900" i="1" dirty="0">
                <a:solidFill>
                  <a:schemeClr val="tx1"/>
                </a:solidFill>
              </a:rPr>
              <a:t> het graag </a:t>
            </a:r>
            <a:r>
              <a:rPr lang="en-US" sz="1900" b="1" i="1" dirty="0">
                <a:solidFill>
                  <a:schemeClr val="tx1"/>
                </a:solidFill>
              </a:rPr>
              <a:t>gedaan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4434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Je l’aurais fait volontiers.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À reconnaître seulement (Néerlandais 2). La forme courte (</a:t>
            </a:r>
            <a:r>
              <a:rPr lang="en-US" sz="1700" i="1" dirty="0">
                <a:solidFill>
                  <a:schemeClr val="bg1"/>
                </a:solidFill>
              </a:rPr>
              <a:t>was ik gekomen</a:t>
            </a:r>
            <a:r>
              <a:rPr lang="en-US" sz="1700" dirty="0">
                <a:solidFill>
                  <a:schemeClr val="bg1"/>
                </a:solidFill>
              </a:rPr>
              <a:t>) est la plus fréquente.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place de zou et de l’infinitif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232245" y="1600200"/>
            <a:ext cx="904129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32245" y="1600200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zou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227815" y="1600200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27815" y="160020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je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2911420" y="1600200"/>
            <a:ext cx="11912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11420" y="1600200"/>
            <a:ext cx="119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morgen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4194141" y="1600200"/>
            <a:ext cx="191064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194141" y="1600200"/>
            <a:ext cx="1910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opbellen.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2350008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350008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232245" y="2350008"/>
            <a:ext cx="904129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32245" y="2350008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zou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2227815" y="2350008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27815" y="2350008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3558889" y="2350008"/>
            <a:ext cx="2581651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3558889" y="2350008"/>
            <a:ext cx="25816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willen komen.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48640" y="3099816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099816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232245" y="3099816"/>
            <a:ext cx="904129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232245" y="3099816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zou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2227815" y="3099816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227815" y="3099816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3558889" y="3099816"/>
            <a:ext cx="140738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3558889" y="3099816"/>
            <a:ext cx="14073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komen.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548640" y="3849624"/>
            <a:ext cx="1940174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3849624"/>
            <a:ext cx="19401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…, omdat ik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2580254" y="3849624"/>
            <a:ext cx="1239634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580254" y="3849624"/>
            <a:ext cx="12396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graag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3911328" y="3849624"/>
            <a:ext cx="2078395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11328" y="3849624"/>
            <a:ext cx="20783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zou komen.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548640" y="4599432"/>
            <a:ext cx="904129" cy="603504"/>
          </a:xfrm>
          <a:prstGeom prst="roundRect">
            <a:avLst>
              <a:gd name="adj" fmla="val 1212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4599432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Zou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544209" y="4599432"/>
            <a:ext cx="592165" cy="603504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544209" y="4599432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je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2227815" y="4599432"/>
            <a:ext cx="741944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227815" y="4599432"/>
            <a:ext cx="741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dat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3061199" y="4599432"/>
            <a:ext cx="2413899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44" name="Text 41"/>
          <p:cNvSpPr txBox="1"/>
          <p:nvPr/>
        </p:nvSpPr>
        <p:spPr>
          <a:xfrm>
            <a:off x="3061199" y="4599432"/>
            <a:ext cx="24138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kunnen doen?</a:t>
            </a:r>
            <a:endParaRPr lang="en-US" sz="2100" dirty="0"/>
          </a:p>
        </p:txBody>
      </p:sp>
      <p:sp>
        <p:nvSpPr>
          <p:cNvPr id="45" name="Shape 42"/>
          <p:cNvSpPr/>
          <p:nvPr/>
        </p:nvSpPr>
        <p:spPr>
          <a:xfrm>
            <a:off x="7863840" y="1600200"/>
            <a:ext cx="3776472" cy="3602736"/>
          </a:xfrm>
          <a:prstGeom prst="roundRect">
            <a:avLst>
              <a:gd name="adj" fmla="val 2538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001000" y="1691640"/>
            <a:ext cx="3520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zou</a:t>
            </a:r>
            <a:r>
              <a:rPr lang="en-US" sz="1500" dirty="0">
                <a:solidFill>
                  <a:schemeClr val="tx1"/>
                </a:solidFill>
              </a:rPr>
              <a:t> en 2ᵉ position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infinitif(s) au </a:t>
            </a:r>
            <a:r>
              <a:rPr lang="en-US" sz="1500" b="1" dirty="0">
                <a:solidFill>
                  <a:schemeClr val="tx1"/>
                </a:solidFill>
              </a:rPr>
              <a:t>bout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particule collée : </a:t>
            </a:r>
            <a:r>
              <a:rPr lang="en-US" sz="1500" i="1" dirty="0">
                <a:solidFill>
                  <a:schemeClr val="tx1"/>
                </a:solidFill>
              </a:rPr>
              <a:t>opbellen</a:t>
            </a:r>
            <a:r>
              <a:rPr lang="en-US" sz="1500" dirty="0">
                <a:solidFill>
                  <a:schemeClr val="tx1"/>
                </a:solidFill>
              </a:rPr>
              <a:t> (M11)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subordonnée : </a:t>
            </a:r>
            <a:r>
              <a:rPr lang="en-US" sz="1500" i="1" dirty="0">
                <a:solidFill>
                  <a:schemeClr val="tx1"/>
                </a:solidFill>
              </a:rPr>
              <a:t>zou</a:t>
            </a:r>
            <a:r>
              <a:rPr lang="en-US" sz="1500" dirty="0">
                <a:solidFill>
                  <a:schemeClr val="tx1"/>
                </a:solidFill>
              </a:rPr>
              <a:t> rejoint l’infinitif à la fin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willen komen</a:t>
            </a:r>
            <a:r>
              <a:rPr lang="en-US" sz="1500" dirty="0">
                <a:solidFill>
                  <a:schemeClr val="tx1"/>
                </a:solidFill>
              </a:rPr>
              <a:t> : l’ordre le plus courant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Deux infinitifs ? </a:t>
            </a:r>
            <a:r>
              <a:rPr lang="en-US" sz="1800" i="1" dirty="0">
                <a:solidFill>
                  <a:schemeClr val="bg1"/>
                </a:solidFill>
              </a:rPr>
              <a:t>Ik zou graag </a:t>
            </a:r>
            <a:r>
              <a:rPr lang="en-US" sz="1800" b="1" i="1" dirty="0">
                <a:solidFill>
                  <a:schemeClr val="bg1"/>
                </a:solidFill>
              </a:rPr>
              <a:t>willen komen</a:t>
            </a:r>
            <a:r>
              <a:rPr lang="en-US" sz="1800" i="1" dirty="0">
                <a:solidFill>
                  <a:schemeClr val="bg1"/>
                </a:solidFill>
              </a:rPr>
              <a:t>.</a:t>
            </a:r>
            <a:r>
              <a:rPr lang="en-US" sz="1800" dirty="0">
                <a:solidFill>
                  <a:schemeClr val="bg1"/>
                </a:solidFill>
              </a:rPr>
              <a:t> — ou plus simple : </a:t>
            </a:r>
            <a:r>
              <a:rPr lang="en-US" sz="1800" i="1" dirty="0">
                <a:solidFill>
                  <a:schemeClr val="bg1"/>
                </a:solidFill>
              </a:rPr>
              <a:t>Ik zou graag </a:t>
            </a:r>
            <a:r>
              <a:rPr lang="en-US" sz="1800" b="1" i="1" dirty="0">
                <a:solidFill>
                  <a:schemeClr val="bg1"/>
                </a:solidFill>
              </a:rPr>
              <a:t>komen</a:t>
            </a:r>
            <a:r>
              <a:rPr lang="en-US" sz="1800" i="1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les trois portes du conditionnel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14344" cy="3520440"/>
          </a:xfrm>
          <a:prstGeom prst="roundRect">
            <a:avLst>
              <a:gd name="adj" fmla="val 13010"/>
            </a:avLst>
          </a:prstGeom>
          <a:solidFill>
            <a:schemeClr val="accent2">
              <a:alpha val="10000"/>
            </a:schemeClr>
          </a:solidFill>
          <a:ln w="31750">
            <a:solidFill>
              <a:srgbClr val="2A6FB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554480"/>
            <a:ext cx="3514344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Politesse</a:t>
            </a:r>
            <a:endParaRPr lang="en-US" sz="1900" dirty="0"/>
          </a:p>
        </p:txBody>
      </p:sp>
      <p:pic>
        <p:nvPicPr>
          <p:cNvPr id="8" name="Image 0" descr="folded 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332" y="228600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3200400"/>
            <a:ext cx="3148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Zou u … willen?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zou graag … willen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had graag …</a:t>
            </a:r>
            <a:r>
              <a:rPr lang="en-US" sz="1700" dirty="0">
                <a:solidFill>
                  <a:schemeClr val="tx1"/>
                </a:solidFill>
              </a:rPr>
              <a:t> (BE)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3605784" y="315468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37304" y="1554480"/>
            <a:ext cx="3514344" cy="3520440"/>
          </a:xfrm>
          <a:prstGeom prst="roundRect">
            <a:avLst>
              <a:gd name="adj" fmla="val 13010"/>
            </a:avLst>
          </a:prstGeom>
          <a:solidFill>
            <a:schemeClr val="accent3">
              <a:alpha val="10000"/>
            </a:schemeClr>
          </a:solidFill>
          <a:ln w="31750">
            <a:solidFill>
              <a:srgbClr val="2E7D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37304" y="1554480"/>
            <a:ext cx="3514344" cy="594360"/>
          </a:xfrm>
          <a:prstGeom prst="roundRect">
            <a:avLst>
              <a:gd name="adj" fmla="val 46154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37304" y="1554480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Conseil, souhait</a:t>
            </a:r>
            <a:endParaRPr lang="en-US" sz="1900" dirty="0"/>
          </a:p>
        </p:txBody>
      </p:sp>
      <p:pic>
        <p:nvPicPr>
          <p:cNvPr id="14" name="Image 1" descr="light 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2286000"/>
            <a:ext cx="822960" cy="8229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0184" y="3200400"/>
            <a:ext cx="3148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Je zou … moeten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Als ik jou was, zou ik …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394448" y="3154680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25968" y="1554480"/>
            <a:ext cx="3514344" cy="3520440"/>
          </a:xfrm>
          <a:prstGeom prst="roundRect">
            <a:avLst>
              <a:gd name="adj" fmla="val 13010"/>
            </a:avLst>
          </a:prstGeom>
          <a:solidFill>
            <a:srgbClr val="6E4A9E">
              <a:alpha val="10000"/>
            </a:srgbClr>
          </a:solidFill>
          <a:ln w="31750">
            <a:solidFill>
              <a:srgbClr val="6E4A9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25968" y="1554480"/>
            <a:ext cx="3514344" cy="594360"/>
          </a:xfrm>
          <a:prstGeom prst="roundRect">
            <a:avLst>
              <a:gd name="adj" fmla="val 4615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25968" y="1554480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Hypothèse</a:t>
            </a:r>
            <a:endParaRPr lang="en-US" sz="1900" dirty="0"/>
          </a:p>
        </p:txBody>
      </p:sp>
      <p:pic>
        <p:nvPicPr>
          <p:cNvPr id="20" name="Image 2" descr="thought ballo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660" y="2286000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08848" y="3200400"/>
            <a:ext cx="3148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Als ik tijd had,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zou ik …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als + imperf. · zou + inf.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11183112" y="3154680"/>
            <a:ext cx="164592" cy="164592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Forme : </a:t>
            </a:r>
            <a:r>
              <a:rPr lang="en-US" sz="2000" i="1" dirty="0">
                <a:solidFill>
                  <a:schemeClr val="bg1"/>
                </a:solidFill>
              </a:rPr>
              <a:t>zou / zouden</a:t>
            </a:r>
            <a:r>
              <a:rPr lang="en-US" sz="2000" dirty="0">
                <a:solidFill>
                  <a:schemeClr val="bg1"/>
                </a:solidFill>
              </a:rPr>
              <a:t> + infinitif au bout</a:t>
            </a:r>
            <a:endParaRPr lang="en-US" sz="2000" dirty="0"/>
          </a:p>
        </p:txBody>
      </p:sp>
      <p:pic>
        <p:nvPicPr>
          <p:cNvPr id="25" name="Image 3" descr="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Praying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Plus poli !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zou ou zouden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 j’avais…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bon conseil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Ques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Wat zou je doen als…?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EuroSig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budget de l’équipe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Plus poli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Rendez la demande plus polie avec </a:t>
            </a:r>
            <a:r>
              <a:rPr lang="en-US" sz="1700" i="1" dirty="0">
                <a:solidFill>
                  <a:schemeClr val="accent5"/>
                </a:solidFill>
              </a:rPr>
              <a:t>zou</a:t>
            </a:r>
            <a:r>
              <a:rPr lang="en-US" sz="1700" i="1" dirty="0">
                <a:solidFill>
                  <a:schemeClr val="accent5"/>
                </a:solidFill>
              </a:rPr>
              <a:t>. Plusieurs réponses possibles.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Help me!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120640" y="229565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5074920" y="19847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978152"/>
            <a:ext cx="56052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05840" y="270459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43000" y="270459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Wacht even!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5120640" y="302209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5074920" y="27111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35040" y="2704592"/>
            <a:ext cx="56052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05840" y="343103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3000" y="343103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Bel me terug!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5120640" y="374853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5074920" y="34376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035040" y="3431032"/>
            <a:ext cx="56052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005840" y="415747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43000" y="415747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wil een koffie.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5120640" y="447497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34" name="Text 30"/>
          <p:cNvSpPr txBox="1"/>
          <p:nvPr/>
        </p:nvSpPr>
        <p:spPr>
          <a:xfrm>
            <a:off x="5074920" y="41640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035040" y="4157472"/>
            <a:ext cx="56052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005840" y="488391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143000" y="488391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Stuur me het rapport.</a:t>
            </a:r>
            <a:endParaRPr lang="en-US" sz="1900" dirty="0"/>
          </a:p>
        </p:txBody>
      </p:sp>
      <p:sp>
        <p:nvSpPr>
          <p:cNvPr id="40" name="Shape 36"/>
          <p:cNvSpPr/>
          <p:nvPr/>
        </p:nvSpPr>
        <p:spPr>
          <a:xfrm>
            <a:off x="5120640" y="520141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41" name="Text 37"/>
          <p:cNvSpPr txBox="1"/>
          <p:nvPr/>
        </p:nvSpPr>
        <p:spPr>
          <a:xfrm>
            <a:off x="5074920" y="48905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035040" y="4883912"/>
            <a:ext cx="56052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1005840" y="561035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143000" y="56103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Sluit de deur.</a:t>
            </a:r>
            <a:endParaRPr lang="en-US" sz="1900" dirty="0"/>
          </a:p>
        </p:txBody>
      </p:sp>
      <p:sp>
        <p:nvSpPr>
          <p:cNvPr id="47" name="Shape 43"/>
          <p:cNvSpPr/>
          <p:nvPr/>
        </p:nvSpPr>
        <p:spPr>
          <a:xfrm>
            <a:off x="5120640" y="592785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48" name="Text 44"/>
          <p:cNvSpPr txBox="1"/>
          <p:nvPr/>
        </p:nvSpPr>
        <p:spPr>
          <a:xfrm>
            <a:off x="5074920" y="56169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6035040" y="5610352"/>
            <a:ext cx="56052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Plus poli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Rendez la demande plus polie avec </a:t>
            </a:r>
            <a:r>
              <a:rPr lang="en-US" sz="1700" i="1" dirty="0">
                <a:solidFill>
                  <a:schemeClr val="accent5"/>
                </a:solidFill>
              </a:rPr>
              <a:t>zou</a:t>
            </a:r>
            <a:r>
              <a:rPr lang="en-US" sz="1700" i="1" dirty="0">
                <a:solidFill>
                  <a:schemeClr val="accent5"/>
                </a:solidFill>
              </a:rPr>
              <a:t>. Plusieurs réponses possibles.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Help me!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120640" y="229565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074920" y="19847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978152"/>
            <a:ext cx="56052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172200" y="1978152"/>
            <a:ext cx="5394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Zou je me kunnen helpen?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05840" y="270459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3000" y="270459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Wacht even!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5120640" y="302209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074920" y="27111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35040" y="2704592"/>
            <a:ext cx="56052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72200" y="2704592"/>
            <a:ext cx="5394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Zou u even willen wachten?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05840" y="343103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43000" y="343103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Bel me terug!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5120640" y="374853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5074920" y="34376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035040" y="3431032"/>
            <a:ext cx="56052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172200" y="3431032"/>
            <a:ext cx="5394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Zou u me kunnen terugbellen?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1005840" y="415747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43000" y="415747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wil een koffie.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5120640" y="447497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38" name="Text 34"/>
          <p:cNvSpPr txBox="1"/>
          <p:nvPr/>
        </p:nvSpPr>
        <p:spPr>
          <a:xfrm>
            <a:off x="5074920" y="41640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035040" y="4157472"/>
            <a:ext cx="56052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172200" y="4157472"/>
            <a:ext cx="5394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zou graag een koffie willen.</a:t>
            </a:r>
            <a:r>
              <a:rPr lang="en-US" sz="1800" dirty="0">
                <a:solidFill>
                  <a:schemeClr val="accent3"/>
                </a:solidFill>
              </a:rPr>
              <a:t>  ·  ou </a:t>
            </a:r>
            <a:r>
              <a:rPr lang="en-US" sz="1800" i="1" dirty="0">
                <a:solidFill>
                  <a:schemeClr val="accent3"/>
                </a:solidFill>
              </a:rPr>
              <a:t>Ik had graag een koffie.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1005840" y="488391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488391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Stuur me het rapport.</a:t>
            </a:r>
            <a:endParaRPr lang="en-US" sz="1900" dirty="0"/>
          </a:p>
        </p:txBody>
      </p:sp>
      <p:sp>
        <p:nvSpPr>
          <p:cNvPr id="45" name="Shape 41"/>
          <p:cNvSpPr/>
          <p:nvPr/>
        </p:nvSpPr>
        <p:spPr>
          <a:xfrm>
            <a:off x="5120640" y="520141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46" name="Text 42"/>
          <p:cNvSpPr txBox="1"/>
          <p:nvPr/>
        </p:nvSpPr>
        <p:spPr>
          <a:xfrm>
            <a:off x="5074920" y="48905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035040" y="4883912"/>
            <a:ext cx="56052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172200" y="4883912"/>
            <a:ext cx="5394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Zou je me het rapport kunnen sturen?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1005840" y="5610352"/>
            <a:ext cx="4023360" cy="616712"/>
          </a:xfrm>
          <a:prstGeom prst="roundRect">
            <a:avLst>
              <a:gd name="adj" fmla="val 14827"/>
            </a:avLst>
          </a:prstGeom>
          <a:solidFill>
            <a:srgbClr val="FBEDEB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143000" y="56103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Sluit de deur.</a:t>
            </a:r>
            <a:endParaRPr lang="en-US" sz="1900" dirty="0"/>
          </a:p>
        </p:txBody>
      </p:sp>
      <p:sp>
        <p:nvSpPr>
          <p:cNvPr id="53" name="Shape 49"/>
          <p:cNvSpPr/>
          <p:nvPr/>
        </p:nvSpPr>
        <p:spPr>
          <a:xfrm>
            <a:off x="5120640" y="5927852"/>
            <a:ext cx="82296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54" name="Text 50"/>
          <p:cNvSpPr txBox="1"/>
          <p:nvPr/>
        </p:nvSpPr>
        <p:spPr>
          <a:xfrm>
            <a:off x="5074920" y="56169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 zou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6035040" y="5610352"/>
            <a:ext cx="56052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172200" y="5610352"/>
            <a:ext cx="5394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Zou je de deur willen sluiten?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zou ou zouden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zou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zouden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Wij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graag meer vakantie hebben.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u even willen wachten?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tx1"/>
                </a:solidFill>
              </a:rPr>
              <a:t>Karim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een nieuwe auto kopen.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tx1"/>
                </a:solidFill>
              </a:rPr>
              <a:t>Jullie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meer moeten sporten.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Als ik rijk was,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ik een huis kopen.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tx1"/>
                </a:solidFill>
              </a:rPr>
              <a:t>Sofie en Lotte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graag naar Parijs gaan.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jij dat kunnen doen?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  </a:t>
            </a: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dat niet doen.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zou ou zouden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zou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zouden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Wij </a:t>
            </a:r>
            <a:r>
              <a:rPr lang="en-US" sz="2000" b="1" i="1" dirty="0">
                <a:solidFill>
                  <a:schemeClr val="accent3"/>
                </a:solidFill>
              </a:rPr>
              <a:t>zouden</a:t>
            </a:r>
            <a:r>
              <a:rPr lang="en-US" sz="2000" i="1" dirty="0">
                <a:solidFill>
                  <a:schemeClr val="tx1"/>
                </a:solidFill>
              </a:rPr>
              <a:t> graag meer vakantie hebben.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b="1" i="1" dirty="0">
                <a:solidFill>
                  <a:schemeClr val="accent3"/>
                </a:solidFill>
              </a:rPr>
              <a:t>Zou</a:t>
            </a:r>
            <a:r>
              <a:rPr lang="en-US" sz="2000" i="1" dirty="0">
                <a:solidFill>
                  <a:schemeClr val="tx1"/>
                </a:solidFill>
              </a:rPr>
              <a:t> u even willen wachten?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tx1"/>
                </a:solidFill>
              </a:rPr>
              <a:t>Karim </a:t>
            </a:r>
            <a:r>
              <a:rPr lang="en-US" sz="2000" b="1" i="1" dirty="0">
                <a:solidFill>
                  <a:schemeClr val="accent3"/>
                </a:solidFill>
              </a:rPr>
              <a:t>zou</a:t>
            </a:r>
            <a:r>
              <a:rPr lang="en-US" sz="2000" i="1" dirty="0">
                <a:solidFill>
                  <a:schemeClr val="tx1"/>
                </a:solidFill>
              </a:rPr>
              <a:t> een nieuwe auto kopen.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tx1"/>
                </a:solidFill>
              </a:rPr>
              <a:t>Jullie </a:t>
            </a:r>
            <a:r>
              <a:rPr lang="en-US" sz="2000" b="1" i="1" dirty="0">
                <a:solidFill>
                  <a:schemeClr val="accent3"/>
                </a:solidFill>
              </a:rPr>
              <a:t>zouden</a:t>
            </a:r>
            <a:r>
              <a:rPr lang="en-US" sz="2000" i="1" dirty="0">
                <a:solidFill>
                  <a:schemeClr val="tx1"/>
                </a:solidFill>
              </a:rPr>
              <a:t> meer moeten sporten.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Als ik rijk was, </a:t>
            </a:r>
            <a:r>
              <a:rPr lang="en-US" sz="2000" b="1" i="1" dirty="0">
                <a:solidFill>
                  <a:schemeClr val="accent3"/>
                </a:solidFill>
              </a:rPr>
              <a:t>zou</a:t>
            </a:r>
            <a:r>
              <a:rPr lang="en-US" sz="2000" i="1" dirty="0">
                <a:solidFill>
                  <a:schemeClr val="tx1"/>
                </a:solidFill>
              </a:rPr>
              <a:t> ik een huis kopen.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tx1"/>
                </a:solidFill>
              </a:rPr>
              <a:t>Sofie en Lotte </a:t>
            </a:r>
            <a:r>
              <a:rPr lang="en-US" sz="2000" b="1" i="1" dirty="0">
                <a:solidFill>
                  <a:schemeClr val="accent3"/>
                </a:solidFill>
              </a:rPr>
              <a:t>zouden</a:t>
            </a:r>
            <a:r>
              <a:rPr lang="en-US" sz="2000" i="1" dirty="0">
                <a:solidFill>
                  <a:schemeClr val="tx1"/>
                </a:solidFill>
              </a:rPr>
              <a:t> graag naar Parijs gaan.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  </a:t>
            </a:r>
            <a:r>
              <a:rPr lang="en-US" sz="2000" b="1" i="1" dirty="0">
                <a:solidFill>
                  <a:schemeClr val="accent3"/>
                </a:solidFill>
              </a:rPr>
              <a:t>Zou</a:t>
            </a:r>
            <a:r>
              <a:rPr lang="en-US" sz="2000" i="1" dirty="0">
                <a:solidFill>
                  <a:schemeClr val="tx1"/>
                </a:solidFill>
              </a:rPr>
              <a:t> jij dat kunnen doen?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  </a:t>
            </a: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accent3"/>
                </a:solidFill>
              </a:rPr>
              <a:t>zou</a:t>
            </a:r>
            <a:r>
              <a:rPr lang="en-US" sz="2000" i="1" dirty="0">
                <a:solidFill>
                  <a:schemeClr val="tx1"/>
                </a:solidFill>
              </a:rPr>
              <a:t> dat niet doen.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Si j’avais…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Imaginez le contraire : </a:t>
            </a:r>
            <a:r>
              <a:rPr lang="en-US" sz="1700" i="1" dirty="0">
                <a:solidFill>
                  <a:schemeClr val="accent5"/>
                </a:solidFill>
              </a:rPr>
              <a:t>Als + imperfectum, zou + infinitif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87296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87296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heb geen tijd. Ik ga niet mee.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669280" y="2368296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217920" y="1987296"/>
            <a:ext cx="54223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859024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2859024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niet rijk. Ik koop geen huis.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669280" y="3240024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217920" y="2859024"/>
            <a:ext cx="54223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730752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3000" y="3730752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regent. We wandelen niet.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669280" y="4111752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217920" y="3730752"/>
            <a:ext cx="54223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602480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43000" y="4602480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ken zijn nummer niet. Ik bel hem niet.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669280" y="4983480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217920" y="4602480"/>
            <a:ext cx="54223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5474208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43000" y="5474208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Sofie is ziek. Ze komt niet naar het werk.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5669280" y="5855208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217920" y="5474208"/>
            <a:ext cx="5422392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Si j’avais…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Imaginez le contraire : </a:t>
            </a:r>
            <a:r>
              <a:rPr lang="en-US" sz="1700" i="1" dirty="0">
                <a:solidFill>
                  <a:schemeClr val="accent5"/>
                </a:solidFill>
              </a:rPr>
              <a:t>Als + imperfectum, zou + infinitif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87296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87296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heb geen tijd. Ik ga niet mee.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669280" y="2368296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217920" y="1987296"/>
            <a:ext cx="54223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55080" y="1987296"/>
            <a:ext cx="52120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Als ik tijd had, zou ik meegaan.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859024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43000" y="2859024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niet rijk. Ik koop geen huis.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669280" y="3240024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217920" y="2859024"/>
            <a:ext cx="54223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55080" y="2859024"/>
            <a:ext cx="52120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Als ik rijk was, zou ik een huis kopen.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730752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43000" y="3730752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regent. We wandelen niet.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669280" y="4111752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217920" y="3730752"/>
            <a:ext cx="54223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355080" y="3730752"/>
            <a:ext cx="52120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Als het niet regende, zouden we wandelen.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602480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143000" y="4602480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ken zijn nummer niet. Ik bel hem niet.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5669280" y="4983480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217920" y="4602480"/>
            <a:ext cx="54223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55080" y="4602480"/>
            <a:ext cx="52120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Als ik zijn nummer kende, zou ik hem bellen.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5474208"/>
            <a:ext cx="4572000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43000" y="5474208"/>
            <a:ext cx="43891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Sofie is ziek. Ze komt niet naar het werk.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5669280" y="5855208"/>
            <a:ext cx="45720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217920" y="5474208"/>
            <a:ext cx="5422392" cy="762000"/>
          </a:xfrm>
          <a:prstGeom prst="roundRect">
            <a:avLst>
              <a:gd name="adj" fmla="val 9600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355080" y="5474208"/>
            <a:ext cx="52120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Als Sofie niet ziek was, zou ze naar het werk komen.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meneer Maes.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Karim Benali · Aan: meneer Maes · Onderwerp: factuur en offerte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Geachte heer Maes,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Zou u mij de factuur kunnen sturen? </a:t>
            </a:r>
            <a:r>
              <a:rPr lang="en-US" sz="1800" i="1" dirty="0">
                <a:solidFill>
                  <a:schemeClr val="tx1"/>
                </a:solidFill>
              </a:rPr>
              <a:t>Ik zou willen ook de offerte zien.</a:t>
            </a:r>
            <a:r>
              <a:rPr lang="en-US" sz="1800" i="1" dirty="0">
                <a:solidFill>
                  <a:schemeClr val="tx1"/>
                </a:solidFill>
              </a:rPr>
              <a:t> Als ik meer tijd </a:t>
            </a:r>
            <a:r>
              <a:rPr lang="en-US" sz="1800" i="1" dirty="0">
                <a:solidFill>
                  <a:schemeClr val="tx1"/>
                </a:solidFill>
              </a:rPr>
              <a:t>zou had</a:t>
            </a:r>
            <a:r>
              <a:rPr lang="en-US" sz="1800" i="1" dirty="0">
                <a:solidFill>
                  <a:schemeClr val="tx1"/>
                </a:solidFill>
              </a:rPr>
              <a:t>, zou ik u zelf komen bezoeken. </a:t>
            </a:r>
            <a:r>
              <a:rPr lang="en-US" sz="1800" i="1" dirty="0">
                <a:solidFill>
                  <a:schemeClr val="tx1"/>
                </a:solidFill>
              </a:rPr>
              <a:t>Zouden u</a:t>
            </a:r>
            <a:r>
              <a:rPr lang="en-US" sz="1800" i="1" dirty="0">
                <a:solidFill>
                  <a:schemeClr val="tx1"/>
                </a:solidFill>
              </a:rPr>
              <a:t> volgende week kunnen bellen? Als u wilt, </a:t>
            </a:r>
            <a:r>
              <a:rPr lang="en-US" sz="1800" i="1" dirty="0">
                <a:solidFill>
                  <a:schemeClr val="tx1"/>
                </a:solidFill>
              </a:rPr>
              <a:t>ik zou</a:t>
            </a:r>
            <a:r>
              <a:rPr lang="en-US" sz="1800" i="1" dirty="0">
                <a:solidFill>
                  <a:schemeClr val="tx1"/>
                </a:solidFill>
              </a:rPr>
              <a:t> de vergadering kunnen verplaatsen. Ik weet niet </a:t>
            </a:r>
            <a:r>
              <a:rPr lang="en-US" sz="1800" i="1" dirty="0">
                <a:solidFill>
                  <a:schemeClr val="tx1"/>
                </a:solidFill>
              </a:rPr>
              <a:t>als</a:t>
            </a:r>
            <a:r>
              <a:rPr lang="en-US" sz="1800" i="1" dirty="0">
                <a:solidFill>
                  <a:schemeClr val="tx1"/>
                </a:solidFill>
              </a:rPr>
              <a:t> An zou komen.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Met vriendelijke groeten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Benali</a:t>
            </a:r>
            <a:endParaRPr lang="en-US" sz="18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meneer Maes.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Karim Benali · Aan: meneer Maes · Onderwerp: factuur en offerte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Geachte heer Maes,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Zou u mij de factuur kunnen sturen? </a:t>
            </a:r>
            <a:r>
              <a:rPr lang="en-US" sz="1800" i="1" strike="sngStrike" dirty="0">
                <a:solidFill>
                  <a:schemeClr val="accent6"/>
                </a:solidFill>
              </a:rPr>
              <a:t>Ik zou willen ook de offerte zien.</a:t>
            </a:r>
            <a:r>
              <a:rPr lang="en-US" sz="1800" b="1" i="1" dirty="0">
                <a:solidFill>
                  <a:schemeClr val="accent3"/>
                </a:solidFill>
              </a:rPr>
              <a:t> Ik zou ook graag de offerte willen zien.</a:t>
            </a:r>
            <a:r>
              <a:rPr lang="en-US" sz="1800" i="1" dirty="0">
                <a:solidFill>
                  <a:schemeClr val="tx1"/>
                </a:solidFill>
              </a:rPr>
              <a:t> Als ik meer tijd </a:t>
            </a:r>
            <a:r>
              <a:rPr lang="en-US" sz="1800" i="1" strike="sngStrike" dirty="0">
                <a:solidFill>
                  <a:schemeClr val="accent6"/>
                </a:solidFill>
              </a:rPr>
              <a:t>zou had</a:t>
            </a:r>
            <a:r>
              <a:rPr lang="en-US" sz="1800" b="1" i="1" dirty="0">
                <a:solidFill>
                  <a:schemeClr val="accent3"/>
                </a:solidFill>
              </a:rPr>
              <a:t> had</a:t>
            </a:r>
            <a:r>
              <a:rPr lang="en-US" sz="1800" i="1" dirty="0">
                <a:solidFill>
                  <a:schemeClr val="tx1"/>
                </a:solidFill>
              </a:rPr>
              <a:t>, zou ik u zelf komen bezoeken. </a:t>
            </a:r>
            <a:r>
              <a:rPr lang="en-US" sz="1800" i="1" strike="sngStrike" dirty="0">
                <a:solidFill>
                  <a:schemeClr val="accent6"/>
                </a:solidFill>
              </a:rPr>
              <a:t>Zouden u</a:t>
            </a:r>
            <a:r>
              <a:rPr lang="en-US" sz="1800" b="1" i="1" dirty="0">
                <a:solidFill>
                  <a:schemeClr val="accent3"/>
                </a:solidFill>
              </a:rPr>
              <a:t> Zou u</a:t>
            </a:r>
            <a:r>
              <a:rPr lang="en-US" sz="1800" i="1" dirty="0">
                <a:solidFill>
                  <a:schemeClr val="tx1"/>
                </a:solidFill>
              </a:rPr>
              <a:t> volgende week kunnen bellen? Als u wilt, </a:t>
            </a:r>
            <a:r>
              <a:rPr lang="en-US" sz="1800" i="1" strike="sngStrike" dirty="0">
                <a:solidFill>
                  <a:schemeClr val="accent6"/>
                </a:solidFill>
              </a:rPr>
              <a:t>ik zou</a:t>
            </a:r>
            <a:r>
              <a:rPr lang="en-US" sz="1800" b="1" i="1" dirty="0">
                <a:solidFill>
                  <a:schemeClr val="accent3"/>
                </a:solidFill>
              </a:rPr>
              <a:t> zou ik</a:t>
            </a:r>
            <a:r>
              <a:rPr lang="en-US" sz="1800" i="1" dirty="0">
                <a:solidFill>
                  <a:schemeClr val="tx1"/>
                </a:solidFill>
              </a:rPr>
              <a:t> de vergadering kunnen verplaatsen. Ik weet niet </a:t>
            </a:r>
            <a:r>
              <a:rPr lang="en-US" sz="1800" i="1" strike="sngStrike" dirty="0">
                <a:solidFill>
                  <a:schemeClr val="accent6"/>
                </a:solidFill>
              </a:rPr>
              <a:t>als</a:t>
            </a:r>
            <a:r>
              <a:rPr lang="en-US" sz="1800" b="1" i="1" dirty="0">
                <a:solidFill>
                  <a:schemeClr val="accent3"/>
                </a:solidFill>
              </a:rPr>
              <a:t> of</a:t>
            </a:r>
            <a:r>
              <a:rPr lang="en-US" sz="1800" i="1" dirty="0">
                <a:solidFill>
                  <a:schemeClr val="tx1"/>
                </a:solidFill>
              </a:rPr>
              <a:t> An zou komen.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Met vriendelijke groeten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Benali</a:t>
            </a:r>
            <a:endParaRPr lang="en-US" sz="18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Zou u mij de factuur kunnen sturen?</a:t>
            </a:r>
            <a:r>
              <a:rPr lang="en-US" sz="1400" i="1" dirty="0">
                <a:solidFill>
                  <a:schemeClr val="accent5"/>
                </a:solidFill>
              </a:rPr>
              <a:t> est correct. N° 1 : </a:t>
            </a:r>
            <a:r>
              <a:rPr lang="en-US" sz="1400" i="1" dirty="0">
                <a:solidFill>
                  <a:schemeClr val="accent5"/>
                </a:solidFill>
              </a:rPr>
              <a:t>Ik zou ook de offerte willen zien</a:t>
            </a:r>
            <a:r>
              <a:rPr lang="en-US" sz="1400" i="1" dirty="0">
                <a:solidFill>
                  <a:schemeClr val="accent5"/>
                </a:solidFill>
              </a:rPr>
              <a:t> est juste aussi. Après </a:t>
            </a:r>
            <a:r>
              <a:rPr lang="en-US" sz="1400" i="1" dirty="0">
                <a:solidFill>
                  <a:schemeClr val="accent5"/>
                </a:solidFill>
              </a:rPr>
              <a:t>als u wilt,</a:t>
            </a:r>
            <a:r>
              <a:rPr lang="en-US" sz="1400" i="1" dirty="0">
                <a:solidFill>
                  <a:schemeClr val="accent5"/>
                </a:solidFill>
              </a:rPr>
              <a:t> : inversion (M9).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bon conseil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chaque problème à un conseil, puis donnez le conseil avec </a:t>
            </a:r>
            <a:r>
              <a:rPr lang="en-US" sz="1700" i="1" dirty="0">
                <a:solidFill>
                  <a:schemeClr val="accent5"/>
                </a:solidFill>
              </a:rPr>
              <a:t>Je zou … moeten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7815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9" name="Image 1" descr="sleepy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67052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1978152"/>
            <a:ext cx="47548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Ik ben altijd moe.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548640" y="270459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2" name="Image 2" descr="face with thermome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349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2704592"/>
            <a:ext cx="47548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Ik heb hoofdpijn.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548640" y="343103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5" name="Image 3" descr="speaking he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19932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3431032"/>
            <a:ext cx="47548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Mijn Nederlands is niet goed genoeg.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548640" y="415747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8" name="Image 4" descr="alarm 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46372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88720" y="4157472"/>
            <a:ext cx="47548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Ik kom altijd te laat.</a:t>
            </a:r>
            <a:endParaRPr lang="en-US" sz="1700" dirty="0"/>
          </a:p>
        </p:txBody>
      </p:sp>
      <p:sp>
        <p:nvSpPr>
          <p:cNvPr id="20" name="Shape 12"/>
          <p:cNvSpPr/>
          <p:nvPr/>
        </p:nvSpPr>
        <p:spPr>
          <a:xfrm>
            <a:off x="548640" y="488391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1" name="Image 5" descr="card file bo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72812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88720" y="4883912"/>
            <a:ext cx="47548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Mijn bureau is een chaos.</a:t>
            </a:r>
            <a:endParaRPr lang="en-US" sz="1700" dirty="0"/>
          </a:p>
        </p:txBody>
      </p:sp>
      <p:sp>
        <p:nvSpPr>
          <p:cNvPr id="23" name="Shape 14"/>
          <p:cNvSpPr/>
          <p:nvPr/>
        </p:nvSpPr>
        <p:spPr>
          <a:xfrm>
            <a:off x="548640" y="561035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4" name="Image 6" descr="exploding he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699252"/>
            <a:ext cx="457200" cy="4572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88720" y="5610352"/>
            <a:ext cx="47548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Ik heb te veel werk.</a:t>
            </a:r>
            <a:endParaRPr lang="en-US" sz="1700" dirty="0"/>
          </a:p>
        </p:txBody>
      </p:sp>
      <p:sp>
        <p:nvSpPr>
          <p:cNvPr id="26" name="Shape 16"/>
          <p:cNvSpPr/>
          <p:nvPr/>
        </p:nvSpPr>
        <p:spPr>
          <a:xfrm>
            <a:off x="7726680" y="198729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7863840" y="198729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vroeger opstaan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7726680" y="271373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7863840" y="271373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een pauze nemen</a:t>
            </a:r>
            <a:endParaRPr lang="en-US" sz="1600" dirty="0"/>
          </a:p>
        </p:txBody>
      </p:sp>
      <p:sp>
        <p:nvSpPr>
          <p:cNvPr id="30" name="Shape 20"/>
          <p:cNvSpPr/>
          <p:nvPr/>
        </p:nvSpPr>
        <p:spPr>
          <a:xfrm>
            <a:off x="7726680" y="344017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7863840" y="344017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elke dag tien minuten oefenen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7726680" y="416661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7863840" y="416661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vroeger gaan slapen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7726680" y="489305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863840" y="489305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je collega om hulp vragen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7726680" y="561949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7863840" y="561949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alles opruimen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bon conseil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chaque problème à un conseil, puis donnez le conseil avec </a:t>
            </a:r>
            <a:r>
              <a:rPr lang="en-US" sz="1700" i="1" dirty="0">
                <a:solidFill>
                  <a:schemeClr val="accent5"/>
                </a:solidFill>
              </a:rPr>
              <a:t>Je zou … moeten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035040" y="2295652"/>
            <a:ext cx="164592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6035040" y="3022092"/>
            <a:ext cx="1645920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035040" y="3748532"/>
            <a:ext cx="1645920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 flipV="1">
            <a:off x="6035040" y="2295652"/>
            <a:ext cx="164592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035040" y="5201412"/>
            <a:ext cx="1645920" cy="72644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 flipV="1">
            <a:off x="6035040" y="5201412"/>
            <a:ext cx="1645920" cy="72644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" y="197815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6" name="Image 1" descr="sleepy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670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1987296"/>
            <a:ext cx="47548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i="1" dirty="0">
                <a:solidFill>
                  <a:schemeClr val="tx1"/>
                </a:solidFill>
              </a:rPr>
              <a:t>Ik ben altijd moe.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2277364"/>
            <a:ext cx="480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Je zou vroeger moeten gaan slapen.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270459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0" name="Image 2" descr="face with thermome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34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2713736"/>
            <a:ext cx="47548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i="1" dirty="0">
                <a:solidFill>
                  <a:schemeClr val="tx1"/>
                </a:solidFill>
              </a:rPr>
              <a:t>Ik heb hoofdpijn.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188720" y="3003804"/>
            <a:ext cx="480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Je zou een pauze moeten nemen.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43103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4" name="Image 3" descr="speaking he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19932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88720" y="3440176"/>
            <a:ext cx="47548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i="1" dirty="0">
                <a:solidFill>
                  <a:schemeClr val="tx1"/>
                </a:solidFill>
              </a:rPr>
              <a:t>Mijn Nederlands is niet goed genoeg.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1188720" y="3730244"/>
            <a:ext cx="480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Je zou elke dag tien minuten moeten oefenen.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48640" y="415747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8" name="Image 4" descr="alarm 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46372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88720" y="4166616"/>
            <a:ext cx="47548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i="1" dirty="0">
                <a:solidFill>
                  <a:schemeClr val="tx1"/>
                </a:solidFill>
              </a:rPr>
              <a:t>Ik kom altijd te laat.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188720" y="4456684"/>
            <a:ext cx="480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Je zou vroeger moeten opstaan.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48640" y="488391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2" name="Image 5" descr="card file bo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72812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188720" y="4893056"/>
            <a:ext cx="47548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i="1" dirty="0">
                <a:solidFill>
                  <a:schemeClr val="tx1"/>
                </a:solidFill>
              </a:rPr>
              <a:t>Mijn bureau is een chaos.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1188720" y="5183124"/>
            <a:ext cx="480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Je zou alles moeten opruimen.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548640" y="5610352"/>
            <a:ext cx="5486400" cy="635000"/>
          </a:xfrm>
          <a:prstGeom prst="roundRect">
            <a:avLst>
              <a:gd name="adj" fmla="val 1152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6" name="Image 6" descr="exploding he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699252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188720" y="5619496"/>
            <a:ext cx="47548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i="1" dirty="0">
                <a:solidFill>
                  <a:schemeClr val="tx1"/>
                </a:solidFill>
              </a:rPr>
              <a:t>Ik heb te veel werk.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1188720" y="5909564"/>
            <a:ext cx="4800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Je zou je collega om hulp moeten vragen.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7726680" y="198729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7863840" y="198729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vroeger opstaan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7726680" y="271373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7863840" y="271373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een pauze nemen</a:t>
            </a:r>
            <a:endParaRPr lang="en-US" sz="1600" dirty="0"/>
          </a:p>
        </p:txBody>
      </p:sp>
      <p:sp>
        <p:nvSpPr>
          <p:cNvPr id="43" name="Shape 33"/>
          <p:cNvSpPr/>
          <p:nvPr/>
        </p:nvSpPr>
        <p:spPr>
          <a:xfrm>
            <a:off x="7726680" y="344017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7863840" y="344017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elke dag tien minuten oefenen</a:t>
            </a:r>
            <a:endParaRPr lang="en-US" sz="1600" dirty="0"/>
          </a:p>
        </p:txBody>
      </p:sp>
      <p:sp>
        <p:nvSpPr>
          <p:cNvPr id="45" name="Shape 35"/>
          <p:cNvSpPr/>
          <p:nvPr/>
        </p:nvSpPr>
        <p:spPr>
          <a:xfrm>
            <a:off x="7726680" y="416661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7863840" y="416661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vroeger gaan slapen</a:t>
            </a:r>
            <a:endParaRPr lang="en-US" sz="1600" dirty="0"/>
          </a:p>
        </p:txBody>
      </p:sp>
      <p:sp>
        <p:nvSpPr>
          <p:cNvPr id="47" name="Shape 37"/>
          <p:cNvSpPr/>
          <p:nvPr/>
        </p:nvSpPr>
        <p:spPr>
          <a:xfrm>
            <a:off x="7726680" y="489305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7863840" y="489305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je collega om hulp vragen</a:t>
            </a:r>
            <a:endParaRPr lang="en-US" sz="1600" dirty="0"/>
          </a:p>
        </p:txBody>
      </p:sp>
      <p:sp>
        <p:nvSpPr>
          <p:cNvPr id="49" name="Shape 39"/>
          <p:cNvSpPr/>
          <p:nvPr/>
        </p:nvSpPr>
        <p:spPr>
          <a:xfrm>
            <a:off x="7726680" y="5619496"/>
            <a:ext cx="39136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7863840" y="5619496"/>
            <a:ext cx="37033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alles opruimen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Wat zou je doen als…?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7" name="Image 0" descr="money b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83080"/>
            <a:ext cx="822960" cy="822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697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de lotto won?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441448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gh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08" y="1783080"/>
            <a:ext cx="822960" cy="8229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532888" y="2697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een dag onzichtbaar was?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334256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cr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1783080"/>
            <a:ext cx="822960" cy="8229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25696" y="2697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minister was?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227064" y="160020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beach with umbrel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1783080"/>
            <a:ext cx="822960" cy="8229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318504" y="26974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vier weken vakantie had?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48640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woman superher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931920"/>
            <a:ext cx="822960" cy="8229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40080" y="4846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een superkracht had?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2441448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globe showing europe afri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508" y="3931920"/>
            <a:ext cx="822960" cy="8229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532888" y="4846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in een ander land woonde?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4334256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man office wor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316" y="3931920"/>
            <a:ext cx="822960" cy="8229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425696" y="4846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de baas was?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6227064" y="3749040"/>
            <a:ext cx="1783080" cy="20116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8" name="Image 7" descr="bab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7124" y="3931920"/>
            <a:ext cx="822960" cy="82296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318504" y="4846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… als je tien jaar jonger was?</a:t>
            </a:r>
            <a:endParaRPr lang="en-US" sz="1400" dirty="0"/>
          </a:p>
        </p:txBody>
      </p:sp>
      <p:pic>
        <p:nvPicPr>
          <p:cNvPr id="30" name="Image 8" descr="thought ballo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1600200"/>
            <a:ext cx="731520" cy="73152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144000" y="1600200"/>
            <a:ext cx="2496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Stel je voor!</a:t>
            </a:r>
            <a:endParaRPr lang="en-US" sz="2400" dirty="0"/>
          </a:p>
        </p:txBody>
      </p:sp>
      <p:sp>
        <p:nvSpPr>
          <p:cNvPr id="32" name="Text 20"/>
          <p:cNvSpPr txBox="1"/>
          <p:nvPr/>
        </p:nvSpPr>
        <p:spPr>
          <a:xfrm>
            <a:off x="8321040" y="2514600"/>
            <a:ext cx="33192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</a:t>
            </a:r>
            <a:r>
              <a:rPr lang="en-US" sz="1500" dirty="0">
                <a:solidFill>
                  <a:schemeClr val="tx1"/>
                </a:solidFill>
              </a:rPr>
              <a:t> Tirez une carte, posez la question à votre voisin·e.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Réponse avec </a:t>
            </a:r>
            <a:r>
              <a:rPr lang="en-US" sz="1500" i="1" dirty="0">
                <a:solidFill>
                  <a:schemeClr val="tx1"/>
                </a:solidFill>
              </a:rPr>
              <a:t>zou</a:t>
            </a:r>
            <a:r>
              <a:rPr lang="en-US" sz="1500" dirty="0">
                <a:solidFill>
                  <a:schemeClr val="tx1"/>
                </a:solidFill>
              </a:rPr>
              <a:t> + une raison : </a:t>
            </a:r>
            <a:r>
              <a:rPr lang="en-US" sz="1500" i="1" dirty="0">
                <a:solidFill>
                  <a:schemeClr val="tx1"/>
                </a:solidFill>
              </a:rPr>
              <a:t>Als ik de lotto won, zou ik… omdat…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</a:t>
            </a:r>
            <a:r>
              <a:rPr lang="en-US" sz="1500" dirty="0">
                <a:solidFill>
                  <a:schemeClr val="tx1"/>
                </a:solidFill>
              </a:rPr>
              <a:t> Le voisin pose la carte suivante à quelqu’un d’autre.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budget de l’équipe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L’équipe reçoit 5 000 € pour améliorer le bureau. Chacun propose, compare et défend son idée — poliment !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</a:t>
            </a:r>
            <a:r>
              <a:rPr lang="en-US" sz="1700" dirty="0">
                <a:solidFill>
                  <a:schemeClr val="tx1"/>
                </a:solidFill>
              </a:rPr>
              <a:t> (la cheffe) : animez la réunion et faites respecter le budget : </a:t>
            </a:r>
            <a:r>
              <a:rPr lang="en-US" sz="1700" i="1" dirty="0">
                <a:solidFill>
                  <a:schemeClr val="tx1"/>
                </a:solidFill>
              </a:rPr>
              <a:t>Wat zouden we kunnen doen?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L’équipe</a:t>
            </a:r>
            <a:r>
              <a:rPr lang="en-US" sz="1700" dirty="0">
                <a:solidFill>
                  <a:schemeClr val="tx1"/>
                </a:solidFill>
              </a:rPr>
              <a:t> : proposez, comparez les prix (M26), exprimez vos préférences (M27).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Wat zouden we kunnen doen? · Ik zou graag … · Als we … kochten, zouden we … · Ik zou liever … · Zou dat niet te duur zijn? · Dat zou ik niet doen. · We zouden elkaar vaker kunnen zien.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BEA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4572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IDEEËNBUS · BUDGET € 5.000</a:t>
            </a:r>
            <a:endParaRPr lang="en-US" sz="1100" dirty="0"/>
          </a:p>
        </p:txBody>
      </p:sp>
      <p:pic>
        <p:nvPicPr>
          <p:cNvPr id="22" name="Image 0" descr="hot be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204618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759952" y="2011680"/>
            <a:ext cx="18288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een koffiemachine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588752" y="2011680"/>
            <a:ext cx="9144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€ 1.200</a:t>
            </a:r>
            <a:endParaRPr lang="en-US" sz="1300" dirty="0"/>
          </a:p>
        </p:txBody>
      </p:sp>
      <p:pic>
        <p:nvPicPr>
          <p:cNvPr id="25" name="Image 1" descr="ch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3047695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59952" y="2854757"/>
            <a:ext cx="18288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nieuwe stoelen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0588752" y="2854757"/>
            <a:ext cx="9144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€ 3.500</a:t>
            </a:r>
            <a:endParaRPr lang="en-US" sz="1300" dirty="0"/>
          </a:p>
        </p:txBody>
      </p:sp>
      <p:pic>
        <p:nvPicPr>
          <p:cNvPr id="28" name="Image 2" descr="clinking gla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389077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759952" y="3697834"/>
            <a:ext cx="18288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een teamuitstap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0588752" y="3697834"/>
            <a:ext cx="9144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€ 2.000</a:t>
            </a:r>
            <a:endParaRPr lang="en-US" sz="1300" dirty="0"/>
          </a:p>
        </p:txBody>
      </p:sp>
      <p:pic>
        <p:nvPicPr>
          <p:cNvPr id="31" name="Image 3" descr="potted pl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733849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759952" y="4540910"/>
            <a:ext cx="18288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planten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0588752" y="4540910"/>
            <a:ext cx="9144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€ 400</a:t>
            </a:r>
            <a:endParaRPr lang="en-US" sz="1300" dirty="0"/>
          </a:p>
        </p:txBody>
      </p:sp>
      <p:pic>
        <p:nvPicPr>
          <p:cNvPr id="34" name="Image 4" descr="open 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5576926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759952" y="5383987"/>
            <a:ext cx="18288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een cursus Nederlands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0588752" y="5383987"/>
            <a:ext cx="9144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€ 1.800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 et bilan du parcours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Plus poli : </a:t>
            </a:r>
            <a:r>
              <a:rPr lang="en-US" sz="2000" i="1" dirty="0">
                <a:solidFill>
                  <a:schemeClr val="tx1"/>
                </a:solidFill>
              </a:rPr>
              <a:t>Help me!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Conseil : </a:t>
            </a:r>
            <a:r>
              <a:rPr lang="en-US" sz="2000" i="1" dirty="0">
                <a:solidFill>
                  <a:schemeClr val="tx1"/>
                </a:solidFill>
              </a:rPr>
              <a:t>Ik ben moe.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i="1" dirty="0">
                <a:solidFill>
                  <a:schemeClr val="tx1"/>
                </a:solidFill>
              </a:rPr>
              <a:t>Je zou…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Hypothèse : </a:t>
            </a:r>
            <a:r>
              <a:rPr lang="en-US" sz="2000" i="1" dirty="0">
                <a:solidFill>
                  <a:schemeClr val="tx1"/>
                </a:solidFill>
              </a:rPr>
              <a:t>Ik heb geen tijd. Ik ga niet mee.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Demander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Conseiller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Imaginer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Troph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Proficiat! Néerlandais 1 is klaar.</a:t>
            </a:r>
            <a:r>
              <a:rPr lang="en-US" sz="1800" dirty="0">
                <a:solidFill>
                  <a:schemeClr val="bg1"/>
                </a:solidFill>
              </a:rPr>
              <a:t> — Volgende stap : Néerlandais 2</a:t>
            </a:r>
            <a:endParaRPr lang="en-US" sz="1800" dirty="0"/>
          </a:p>
        </p:txBody>
      </p:sp>
      <p:sp>
        <p:nvSpPr>
          <p:cNvPr id="36" name="Text 23"/>
          <p:cNvSpPr txBox="1"/>
          <p:nvPr/>
        </p:nvSpPr>
        <p:spPr>
          <a:xfrm>
            <a:off x="6949440" y="4599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NÉERLANDAIS 1 · 29 MODULES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6949440" y="4919472"/>
            <a:ext cx="68580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6949440" y="49194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1–5</a:t>
            </a:r>
            <a:endParaRPr lang="en-US" sz="800" dirty="0"/>
          </a:p>
        </p:txBody>
      </p:sp>
      <p:sp>
        <p:nvSpPr>
          <p:cNvPr id="39" name="Shape 26"/>
          <p:cNvSpPr/>
          <p:nvPr/>
        </p:nvSpPr>
        <p:spPr>
          <a:xfrm>
            <a:off x="7671816" y="4919472"/>
            <a:ext cx="68580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7671816" y="49194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6–10</a:t>
            </a:r>
            <a:endParaRPr lang="en-US" sz="800" dirty="0"/>
          </a:p>
        </p:txBody>
      </p:sp>
      <p:sp>
        <p:nvSpPr>
          <p:cNvPr id="41" name="Shape 28"/>
          <p:cNvSpPr/>
          <p:nvPr/>
        </p:nvSpPr>
        <p:spPr>
          <a:xfrm>
            <a:off x="8394192" y="4919472"/>
            <a:ext cx="685800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8394192" y="49194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11–15</a:t>
            </a:r>
            <a:endParaRPr lang="en-US" sz="800" dirty="0"/>
          </a:p>
        </p:txBody>
      </p:sp>
      <p:sp>
        <p:nvSpPr>
          <p:cNvPr id="43" name="Shape 30"/>
          <p:cNvSpPr/>
          <p:nvPr/>
        </p:nvSpPr>
        <p:spPr>
          <a:xfrm>
            <a:off x="9116568" y="4919472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9116568" y="49194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16–19</a:t>
            </a:r>
            <a:endParaRPr lang="en-US" sz="800" dirty="0"/>
          </a:p>
        </p:txBody>
      </p:sp>
      <p:sp>
        <p:nvSpPr>
          <p:cNvPr id="45" name="Shape 32"/>
          <p:cNvSpPr/>
          <p:nvPr/>
        </p:nvSpPr>
        <p:spPr>
          <a:xfrm>
            <a:off x="9701784" y="4919472"/>
            <a:ext cx="685800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9701784" y="49194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20–24</a:t>
            </a:r>
            <a:endParaRPr lang="en-US" sz="800" dirty="0"/>
          </a:p>
        </p:txBody>
      </p:sp>
      <p:sp>
        <p:nvSpPr>
          <p:cNvPr id="47" name="Shape 34"/>
          <p:cNvSpPr/>
          <p:nvPr/>
        </p:nvSpPr>
        <p:spPr>
          <a:xfrm>
            <a:off x="10424160" y="4919472"/>
            <a:ext cx="685800" cy="41148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10424160" y="49194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25–29</a:t>
            </a:r>
            <a:endParaRPr lang="en-US" sz="800" dirty="0"/>
          </a:p>
        </p:txBody>
      </p:sp>
      <p:pic>
        <p:nvPicPr>
          <p:cNvPr id="49" name="Image 10" descr="troph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484632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29 — Als ik tijd had… — Le conditionnel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2026-10-05T06:01:44Z</dcterms:created>
  <dcterms:modified xsi:type="dcterms:W3CDTF">2026-10-05T06:01:44Z</dcterms:modified>
</cp:coreProperties>
</file>