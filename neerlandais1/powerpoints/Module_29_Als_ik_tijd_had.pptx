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3d7cc61b-45ea-1b1c-6ba9-c626576ec573}">
          <p14:sldIdLst>
            <p14:sldId id="256"/>
          </p14:sldIdLst>
        </p14:section>
        <p14:section name="Découvrir" id="{fc51cc19-36d7-7538-70e0-72b90299e0a0}">
          <p14:sldIdLst>
            <p14:sldId id="257"/>
            <p14:sldId id="258"/>
          </p14:sldIdLst>
        </p14:section>
        <p14:section name="Comprendre" id="{ae159897-4fdc-9d0b-2e7d-37a75e332f88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f48250e4-090d-ecec-5d2e-bf783dacf745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b445f7df-6bb2-697d-c726-b073b252d613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demander poliment, rêver, imaginer.
Question d'entrée : « Comment dit-on pourriez-vous m'aider ? et si je gagnais au lotto, je ferais un voyage ? » Un seul petit mot pour les deux : zou.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Le conditionnel est le temps de la politesse au travail : au téléphone, dans les e-mails, au guichet.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zou + infinitif dans des rêves.
Faites repérer zou (2e position) et l'infinitif au bout : c'est la pince du M12. Après als : won, had, was (imperfectum, M19). Puis : « Et vous ? Als ik de lotto won, zou ik…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le conditionnel.
Une seule forme à apprendre : zou (singulier) / zouden (pluriel). Le verbe principal ne se conjugue plus : il va au bout, comme avec un modal. Prononciation : zou rime avec jou.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Monter d'une marche dans l'échelle de politesse.
Plus la phrase est longue et indirecte, plus elle est polie. even (M16, M24) adoucit encore. Au téléphone, Zou u even willen wachten? est la formule standard.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Commander et demander quelque chose poliment.
Ik had graag… (forme d'imperfectum) est la formule flamande typique au magasin et au café. Les trois sont corrects. Rappel M27 : graag = volontiers.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avec le conditionnel.
zou … moeten = devrait ; zou … kunnen = pourrait. Als ik jou was = à ta place (mot à mot : si j'étais toi). Faites donner un conseil à un voisin : Ik ben altijd moe. — Je zou…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Faire une hypothèse sur le présent.
Même logique qu'en français : « si + imparfait, conditionnel ». Quand la subordonnée vient en premier, zou suit directement la virgule (M9). À l'oral, on entend aussi Als ik tijd had, ging ik mee (imperfectum dans les deux parties).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du « si » et du conditionnel français.
Rappel M9 : als = si (condition), of = si (question indirecte). Les apprenants qui disent « si j'aurais » en français ne doivent pas transposer : en néerlandais aussi, l'imperfectum suffit après 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conditionnel de l'information non confirmée.
Emploi fréquent dans les médias et les rumeurs. Synonyme : naar verluidt (selon certaines sources), blijkbaar (apparemment).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le regret et l'hypothèse sur le passé.
À reconnaître seulement : production libre en Néerlandais 2. La forme courte (was ik gekomen, had ik gedaan) est la plus fréquente à l'oral.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des phrases au conditionnel avec modal, particule et subordonnée.
Avec deux infinitifs, l'ordre willen komen est le plus courant. Dans la subordonnée, zou rejoint l'infinitif à la fin. Zou je dat kunnen doen? : kunnen doen au 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Transformer une demande directe en demande polie.
Plusieurs réponses possibles (kunnen ou willen, je ou u). N° 3 : terugbellen reste collé à l'infinitif (M11).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Conjuguer zou / zouden et placer l'infinitif.
N° 5 : après la subordonnée, zou vient juste après la virgule (« verbe, verbe 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Construire une hypothèse sur le présent.
On inverse le sens : négatif → positif (geen tijd → tijd had). N° 4 : kennen → kende (imperfectum régulier, M19). Accepter aussi Ik zou meegaan als ik tijd had.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 e-mail poli.
Leurre : Zou u mij de factuur kunnen sturen? est correct. N° 1 : Ik zou ook de offerte willen zien est aussi correct (graag n'est pas obligatoire). N° 4 : après la subordonnée, inversion (« verbe, verbe », M9). N° 5 : question indirecte → of (M9).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Donner un conseil adapté à chaque problème.
Autres associations possibles si elles sont justifiées. Variante : Als ik jou was, zou ik…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Imaginer et parler au conditionnel, en jouant.
Exigez la structure complète : Als ik de lotto won, zou ik… omdat… onzichtbaar = invisible, een superkracht = un super-pouvoir.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finale : proposer, comparer et négocier poliment.
Synthèse du bloc 6 : conditionnel, montants (M26), préférences (M27), elkaar (M28 : We zouden elkaar vaker kunnen zien). Le budget total ne doit pas dépasser 5 000 € : faites additionner à voix haute.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6.
Réponses :
1. Zou je me kunnen helpen?
2. Je zou meer moeten slapen. (ou une autre idée)
3. Als ik tijd had, zou ik meegaan.
Bilan : faites relire la frise des 29 modules et choisir un module à retravailler. Bloc 7 : le vocabulaire de l'entreprise (M30), les achterzetsels (M31) et la présentation personnelle et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29 · Als ik tijd had…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29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Als ik tijd had…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 conditionnel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Zou je me kunnen helpen? · Als ik de lotto won, zou ik een reis maken.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3716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14300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35240" y="9144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21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je me kunnen helpen?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0" y="2606040"/>
            <a:ext cx="5212080" cy="19202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675120" y="4572000"/>
            <a:ext cx="32004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46520" y="4846320"/>
            <a:ext cx="201168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1" name="Image 1" descr="lugg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3108960"/>
            <a:ext cx="914400" cy="9144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818120" y="269748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Als ik de lotto won, </a:t>
            </a:r>
            <a:r>
              <a:rPr lang="en-US" sz="1800" b="1" i="1" dirty="0">
                <a:solidFill>
                  <a:schemeClr val="tx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zou</a:t>
            </a:r>
            <a:r>
              <a:rPr lang="en-US" sz="18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ik een reis maken.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Demander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demande poliment : </a:t>
            </a:r>
            <a:r>
              <a:rPr lang="en-US" sz="2000" i="1" dirty="0">
                <a:solidFill>
                  <a:schemeClr val="tx1"/>
                </a:solidFill>
              </a:rPr>
              <a:t>Zou u even willen wachten?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Conseiller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donne un conseil : </a:t>
            </a:r>
            <a:r>
              <a:rPr lang="en-US" sz="2000" i="1" dirty="0">
                <a:solidFill>
                  <a:schemeClr val="tx1"/>
                </a:solidFill>
              </a:rPr>
              <a:t>Je zou meer moeten slapen.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Imaginer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fais une hypothèse : </a:t>
            </a:r>
            <a:r>
              <a:rPr lang="en-US" sz="2000" i="1" dirty="0">
                <a:solidFill>
                  <a:schemeClr val="tx1"/>
                </a:solidFill>
              </a:rPr>
              <a:t>Als ik tijd had, zou ik Spaans leren.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Le conditionnel est le temps de la politesse au travail : téléphone, e-mails, guichet.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Als ik de lotto won…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6" name="Image 0" descr="beach with umbrell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292" y="169164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68680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de lotto </a:t>
            </a:r>
            <a:r>
              <a:rPr lang="en-US" sz="1600" b="1" i="1" dirty="0">
                <a:solidFill>
                  <a:schemeClr val="tx1"/>
                </a:solidFill>
              </a:rPr>
              <a:t>won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een huis aan zee </a:t>
            </a:r>
            <a:r>
              <a:rPr lang="en-US" sz="1600" b="1" i="1" dirty="0">
                <a:solidFill>
                  <a:schemeClr val="accent6"/>
                </a:solidFill>
              </a:rPr>
              <a:t>kopen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1051560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9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160520"/>
            <a:ext cx="777240" cy="7772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600200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000" dirty="0"/>
          </a:p>
        </p:txBody>
      </p:sp>
      <p:sp>
        <p:nvSpPr>
          <p:cNvPr id="11" name="Shape 6"/>
          <p:cNvSpPr/>
          <p:nvPr/>
        </p:nvSpPr>
        <p:spPr>
          <a:xfrm>
            <a:off x="4322064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2" name="Image 2" descr="pizz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8716" y="1691640"/>
            <a:ext cx="731520" cy="73152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642104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meer tijd </a:t>
            </a:r>
            <a:r>
              <a:rPr lang="en-US" sz="1600" b="1" i="1" dirty="0">
                <a:solidFill>
                  <a:schemeClr val="tx1"/>
                </a:solidFill>
              </a:rPr>
              <a:t>had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Italiaans </a:t>
            </a:r>
            <a:r>
              <a:rPr lang="en-US" sz="1600" b="1" i="1" dirty="0">
                <a:solidFill>
                  <a:schemeClr val="accent6"/>
                </a:solidFill>
              </a:rPr>
              <a:t>leren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4824984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15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4160520"/>
            <a:ext cx="777240" cy="77724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373624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000" dirty="0"/>
          </a:p>
        </p:txBody>
      </p:sp>
      <p:sp>
        <p:nvSpPr>
          <p:cNvPr id="17" name="Shape 10"/>
          <p:cNvSpPr/>
          <p:nvPr/>
        </p:nvSpPr>
        <p:spPr>
          <a:xfrm>
            <a:off x="8095488" y="1554480"/>
            <a:ext cx="3544824" cy="2377440"/>
          </a:xfrm>
          <a:prstGeom prst="ellipse">
            <a:avLst/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pic>
        <p:nvPicPr>
          <p:cNvPr id="18" name="Image 4" descr="party popp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2140" y="1691640"/>
            <a:ext cx="731520" cy="7315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415528" y="2377440"/>
            <a:ext cx="29047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Als ik directeur </a:t>
            </a:r>
            <a:r>
              <a:rPr lang="en-US" sz="1600" b="1" i="1" dirty="0">
                <a:solidFill>
                  <a:schemeClr val="tx1"/>
                </a:solidFill>
              </a:rPr>
              <a:t>was</a:t>
            </a:r>
            <a:r>
              <a:rPr lang="en-US" sz="1600" i="1" dirty="0">
                <a:solidFill>
                  <a:schemeClr val="tx1"/>
                </a:solidFill>
              </a:rPr>
              <a:t>, </a:t>
            </a:r>
            <a:r>
              <a:rPr lang="en-US" sz="1600" b="1" i="1" dirty="0">
                <a:solidFill>
                  <a:schemeClr val="accent6"/>
                </a:solidFill>
              </a:rPr>
              <a:t>zou</a:t>
            </a:r>
            <a:r>
              <a:rPr lang="en-US" sz="1600" i="1" dirty="0">
                <a:solidFill>
                  <a:schemeClr val="tx1"/>
                </a:solidFill>
              </a:rPr>
              <a:t> ik iedereen elke vrijdag vrijaf </a:t>
            </a:r>
            <a:r>
              <a:rPr lang="en-US" sz="1600" b="1" i="1" dirty="0">
                <a:solidFill>
                  <a:schemeClr val="accent6"/>
                </a:solidFill>
              </a:rPr>
              <a:t>geven</a:t>
            </a:r>
            <a:r>
              <a:rPr lang="en-US" sz="1600" i="1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598408" y="3977640"/>
            <a:ext cx="228600" cy="164592"/>
          </a:xfrm>
          <a:prstGeom prst="ellipse">
            <a:avLst/>
          </a:prstGeom>
          <a:solidFill>
            <a:srgbClr val="F1EBF8"/>
          </a:solidFill>
          <a:ln w="12700">
            <a:solidFill>
              <a:srgbClr val="6E4A9E"/>
            </a:solidFill>
            <a:prstDash val="solid"/>
          </a:ln>
        </p:spPr>
      </p:sp>
      <p:pic>
        <p:nvPicPr>
          <p:cNvPr id="21" name="Image 5" descr="woman red hai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8368" y="4160520"/>
            <a:ext cx="777240" cy="77724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9147048" y="4160520"/>
            <a:ext cx="2356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000" dirty="0"/>
          </a:p>
        </p:txBody>
      </p:sp>
      <p:sp>
        <p:nvSpPr>
          <p:cNvPr id="23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4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Où est le 2ᵉ verbe ? Quel temps suit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Et vous ? </a:t>
            </a:r>
            <a:r>
              <a:rPr lang="en-US" sz="1800" i="1" dirty="0">
                <a:solidFill>
                  <a:schemeClr val="tx1"/>
                </a:solidFill>
              </a:rPr>
              <a:t>Als ik de lotto won, zou ik…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forme :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4206240" cy="3840480"/>
          </a:xfrm>
          <a:prstGeom prst="roundRect">
            <a:avLst>
              <a:gd name="adj" fmla="val 2381"/>
            </a:avLst>
          </a:prstGeom>
          <a:solidFill>
            <a:schemeClr val="bg1"/>
          </a:solidFill>
          <a:ln w="2540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4206240" cy="502920"/>
          </a:xfrm>
          <a:prstGeom prst="roundRect">
            <a:avLst>
              <a:gd name="adj" fmla="val 18182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zou / zouden + infinitif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217627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2377440" y="217627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61518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jij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2377440" y="261518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3054096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u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3054096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349300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hij / zij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2377440" y="3493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931920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wij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2377440" y="3931920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370832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jullie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4370832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809744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zij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377440" y="4809744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6"/>
                </a:solidFill>
              </a:rPr>
              <a:t>zouden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074920" y="16916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074920" y="16916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772790" y="16916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772790" y="16916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26" name="Shape 23"/>
          <p:cNvSpPr/>
          <p:nvPr/>
        </p:nvSpPr>
        <p:spPr>
          <a:xfrm>
            <a:off x="6792324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792324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graag</a:t>
            </a:r>
            <a:endParaRPr lang="en-US" sz="2200" dirty="0"/>
          </a:p>
        </p:txBody>
      </p:sp>
      <p:sp>
        <p:nvSpPr>
          <p:cNvPr id="28" name="Shape 25"/>
          <p:cNvSpPr/>
          <p:nvPr/>
        </p:nvSpPr>
        <p:spPr>
          <a:xfrm>
            <a:off x="8163339" y="1691640"/>
            <a:ext cx="1704807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163339" y="1691640"/>
            <a:ext cx="170480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naar Gent</a:t>
            </a:r>
            <a:endParaRPr lang="en-US" sz="2200" dirty="0"/>
          </a:p>
        </p:txBody>
      </p:sp>
      <p:sp>
        <p:nvSpPr>
          <p:cNvPr id="30" name="Shape 27"/>
          <p:cNvSpPr/>
          <p:nvPr/>
        </p:nvSpPr>
        <p:spPr>
          <a:xfrm>
            <a:off x="9959586" y="1691640"/>
            <a:ext cx="127957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1" name="Text 28"/>
          <p:cNvSpPr txBox="1"/>
          <p:nvPr/>
        </p:nvSpPr>
        <p:spPr>
          <a:xfrm>
            <a:off x="9959586" y="1691640"/>
            <a:ext cx="1279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gaan.</a:t>
            </a:r>
            <a:endParaRPr lang="en-US" sz="2200" dirty="0"/>
          </a:p>
        </p:txBody>
      </p:sp>
      <p:sp>
        <p:nvSpPr>
          <p:cNvPr id="32" name="Shape 29"/>
          <p:cNvSpPr/>
          <p:nvPr/>
        </p:nvSpPr>
        <p:spPr>
          <a:xfrm>
            <a:off x="5074920" y="2606040"/>
            <a:ext cx="928094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074920" y="2606040"/>
            <a:ext cx="9280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Zou</a:t>
            </a:r>
            <a:endParaRPr lang="en-US" sz="2200" dirty="0"/>
          </a:p>
        </p:txBody>
      </p:sp>
      <p:sp>
        <p:nvSpPr>
          <p:cNvPr id="34" name="Shape 31"/>
          <p:cNvSpPr/>
          <p:nvPr/>
        </p:nvSpPr>
        <p:spPr>
          <a:xfrm>
            <a:off x="609445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09445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6" name="Shape 33"/>
          <p:cNvSpPr/>
          <p:nvPr/>
        </p:nvSpPr>
        <p:spPr>
          <a:xfrm>
            <a:off x="6792324" y="2606040"/>
            <a:ext cx="606430" cy="685800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792324" y="2606040"/>
            <a:ext cx="60643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38" name="Shape 35"/>
          <p:cNvSpPr/>
          <p:nvPr/>
        </p:nvSpPr>
        <p:spPr>
          <a:xfrm>
            <a:off x="7490194" y="2606040"/>
            <a:ext cx="14553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9" name="Text 36"/>
          <p:cNvSpPr txBox="1"/>
          <p:nvPr/>
        </p:nvSpPr>
        <p:spPr>
          <a:xfrm>
            <a:off x="7490194" y="2606040"/>
            <a:ext cx="14553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kunnen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9036949" y="2606040"/>
            <a:ext cx="1631056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1" name="Text 38"/>
          <p:cNvSpPr txBox="1"/>
          <p:nvPr/>
        </p:nvSpPr>
        <p:spPr>
          <a:xfrm>
            <a:off x="9036949" y="2606040"/>
            <a:ext cx="163105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42" name="Text 39"/>
          <p:cNvSpPr txBox="1"/>
          <p:nvPr/>
        </p:nvSpPr>
        <p:spPr>
          <a:xfrm>
            <a:off x="5074920" y="342900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6"/>
                </a:solidFill>
              </a:rPr>
              <a:t>② </a:t>
            </a:r>
            <a:r>
              <a:rPr lang="en-US" sz="1500" i="1" dirty="0">
                <a:solidFill>
                  <a:schemeClr val="accent6"/>
                </a:solidFill>
              </a:rPr>
              <a:t>zou</a:t>
            </a:r>
            <a:r>
              <a:rPr lang="en-US" sz="1500" i="1" dirty="0">
                <a:solidFill>
                  <a:schemeClr val="accent6"/>
                </a:solidFill>
              </a:rPr>
              <a:t> en 2ᵉ position · infinitif(s) au bout : la pince du M12</a:t>
            </a:r>
            <a:endParaRPr lang="en-US" sz="1500" dirty="0"/>
          </a:p>
        </p:txBody>
      </p:sp>
      <p:sp>
        <p:nvSpPr>
          <p:cNvPr id="43" name="Shape 40"/>
          <p:cNvSpPr/>
          <p:nvPr/>
        </p:nvSpPr>
        <p:spPr>
          <a:xfrm>
            <a:off x="5074920" y="4023360"/>
            <a:ext cx="6565392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5257800" y="4069080"/>
            <a:ext cx="6263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= l’imperfectum de </a:t>
            </a:r>
            <a:r>
              <a:rPr lang="en-US" sz="1700" i="1" dirty="0">
                <a:solidFill>
                  <a:schemeClr val="tx1"/>
                </a:solidFill>
              </a:rPr>
              <a:t>zullen</a:t>
            </a:r>
            <a:r>
              <a:rPr lang="en-US" sz="1700" dirty="0">
                <a:solidFill>
                  <a:schemeClr val="tx1"/>
                </a:solidFill>
              </a:rPr>
              <a:t> (M18)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Le verbe principal ne se conjugue plus.</a:t>
            </a:r>
            <a:endParaRPr lang="en-US" sz="17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</a:t>
            </a:r>
            <a:r>
              <a:rPr lang="en-US" sz="1700" dirty="0">
                <a:solidFill>
                  <a:schemeClr val="tx1"/>
                </a:solidFill>
              </a:rPr>
              <a:t> rime avec </a:t>
            </a:r>
            <a:r>
              <a:rPr lang="en-US" sz="1700" i="1" dirty="0">
                <a:solidFill>
                  <a:schemeClr val="tx1"/>
                </a:solidFill>
              </a:rPr>
              <a:t>jou</a:t>
            </a:r>
            <a:r>
              <a:rPr lang="en-US" sz="1700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45" name="Shape 42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Une seule forme à retenir : </a:t>
            </a:r>
            <a:r>
              <a:rPr lang="en-US" sz="1900" i="1" dirty="0">
                <a:solidFill>
                  <a:schemeClr val="bg1"/>
                </a:solidFill>
              </a:rPr>
              <a:t>zou</a:t>
            </a:r>
            <a:r>
              <a:rPr lang="en-US" sz="1900" dirty="0">
                <a:solidFill>
                  <a:schemeClr val="bg1"/>
                </a:solidFill>
              </a:rPr>
              <a:t> (singulier) · </a:t>
            </a:r>
            <a:r>
              <a:rPr lang="en-US" sz="1900" i="1" dirty="0">
                <a:solidFill>
                  <a:schemeClr val="bg1"/>
                </a:solidFill>
              </a:rPr>
              <a:t>zouden</a:t>
            </a:r>
            <a:r>
              <a:rPr lang="en-US" sz="1900" dirty="0">
                <a:solidFill>
                  <a:schemeClr val="bg1"/>
                </a:solidFill>
              </a:rPr>
              <a:t> (pluriel)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Demander poliment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4480560"/>
            <a:ext cx="2145182" cy="640080"/>
          </a:xfrm>
          <a:prstGeom prst="roundRect">
            <a:avLst>
              <a:gd name="adj" fmla="val 8571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452628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direct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94360" y="352044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352044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me!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2785262" y="3931920"/>
            <a:ext cx="2145182" cy="1188720"/>
          </a:xfrm>
          <a:prstGeom prst="roundRect">
            <a:avLst>
              <a:gd name="adj" fmla="val 461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85262" y="397764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adouci (M16)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830982" y="297180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876702" y="297180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Help je me even?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021885" y="3383280"/>
            <a:ext cx="2145182" cy="1737360"/>
          </a:xfrm>
          <a:prstGeom prst="roundRect">
            <a:avLst>
              <a:gd name="adj" fmla="val 315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021885" y="342900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question (M12)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067605" y="242316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113325" y="242316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Kun je me helpen?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258507" y="2834640"/>
            <a:ext cx="2145182" cy="2286000"/>
          </a:xfrm>
          <a:prstGeom prst="roundRect">
            <a:avLst>
              <a:gd name="adj" fmla="val 255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258507" y="288036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conditionnel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304227" y="187452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49947" y="187452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je me kunnen helpen?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495130" y="2286000"/>
            <a:ext cx="2145182" cy="2834640"/>
          </a:xfrm>
          <a:prstGeom prst="roundRect">
            <a:avLst>
              <a:gd name="adj" fmla="val 2558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495130" y="2331720"/>
            <a:ext cx="21451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très poli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540850" y="1325880"/>
            <a:ext cx="2053742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586570" y="1325880"/>
            <a:ext cx="196230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Zou u mij even willen helpen?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moins poli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897112" y="51663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plus poli ▶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Au téléphone : </a:t>
            </a:r>
            <a:r>
              <a:rPr lang="en-US" sz="1800" i="1" dirty="0">
                <a:solidFill>
                  <a:schemeClr val="bg1"/>
                </a:solidFill>
              </a:rPr>
              <a:t>Zou u even willen wachten?</a:t>
            </a:r>
            <a:r>
              <a:rPr lang="en-US" sz="1800" dirty="0">
                <a:solidFill>
                  <a:schemeClr val="bg1"/>
                </a:solidFill>
              </a:rPr>
              <a:t> · </a:t>
            </a:r>
            <a:r>
              <a:rPr lang="en-US" sz="1800" i="1" dirty="0">
                <a:solidFill>
                  <a:schemeClr val="bg1"/>
                </a:solidFill>
              </a:rPr>
              <a:t>Zou je de deur kunnen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Je voudrais… : wil graag, zou graag, had graag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brea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691640"/>
            <a:ext cx="1188720" cy="1188720"/>
          </a:xfrm>
          <a:prstGeom prst="rect">
            <a:avLst/>
          </a:prstGeom>
        </p:spPr>
      </p:pic>
      <p:pic>
        <p:nvPicPr>
          <p:cNvPr id="6" name="Image 1" descr="croissan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017520"/>
            <a:ext cx="1005840" cy="1005840"/>
          </a:xfrm>
          <a:prstGeom prst="rect">
            <a:avLst/>
          </a:prstGeom>
        </p:spPr>
      </p:pic>
      <p:sp>
        <p:nvSpPr>
          <p:cNvPr id="7" name="Shape 2"/>
          <p:cNvSpPr/>
          <p:nvPr/>
        </p:nvSpPr>
        <p:spPr>
          <a:xfrm>
            <a:off x="2103120" y="160020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3"/>
          <p:cNvSpPr txBox="1"/>
          <p:nvPr/>
        </p:nvSpPr>
        <p:spPr>
          <a:xfrm>
            <a:off x="2267712" y="160020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wil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een brood.</a:t>
            </a:r>
            <a:endParaRPr lang="en-US" sz="2000" dirty="0"/>
          </a:p>
        </p:txBody>
      </p:sp>
      <p:sp>
        <p:nvSpPr>
          <p:cNvPr id="9" name="Text 4"/>
          <p:cNvSpPr txBox="1"/>
          <p:nvPr/>
        </p:nvSpPr>
        <p:spPr>
          <a:xfrm>
            <a:off x="8275320" y="160020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</a:t>
            </a:r>
            <a:endParaRPr lang="en-US" sz="1500" dirty="0"/>
          </a:p>
        </p:txBody>
      </p:sp>
      <p:sp>
        <p:nvSpPr>
          <p:cNvPr id="10" name="Shape 5"/>
          <p:cNvSpPr/>
          <p:nvPr/>
        </p:nvSpPr>
        <p:spPr>
          <a:xfrm>
            <a:off x="2103120" y="2560320"/>
            <a:ext cx="6035040" cy="804672"/>
          </a:xfrm>
          <a:prstGeom prst="roundRect">
            <a:avLst>
              <a:gd name="adj" fmla="val 20455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2267712" y="256032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graag een brood </a:t>
            </a:r>
            <a:r>
              <a:rPr lang="en-US" sz="2000" b="1" i="1" dirty="0">
                <a:solidFill>
                  <a:schemeClr val="tx1"/>
                </a:solidFill>
              </a:rPr>
              <a:t>willen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8275320" y="256032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voudrais bien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2103120" y="3520440"/>
            <a:ext cx="6035040" cy="804672"/>
          </a:xfrm>
          <a:prstGeom prst="roundRect">
            <a:avLst>
              <a:gd name="adj" fmla="val 20455"/>
            </a:avLst>
          </a:prstGeom>
          <a:solidFill>
            <a:srgbClr val="6E4A9E">
              <a:alpha val="12000"/>
            </a:srgbClr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2267712" y="3520440"/>
            <a:ext cx="57058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had</a:t>
            </a:r>
            <a:r>
              <a:rPr lang="en-US" sz="2000" i="1" dirty="0">
                <a:solidFill>
                  <a:schemeClr val="tx1"/>
                </a:solidFill>
              </a:rPr>
              <a:t> graag een brood.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8275320" y="3520440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BE, très courant</a:t>
            </a:r>
            <a:endParaRPr lang="en-US" sz="1500" dirty="0"/>
          </a:p>
        </p:txBody>
      </p:sp>
      <p:sp>
        <p:nvSpPr>
          <p:cNvPr id="16" name="Shape 11"/>
          <p:cNvSpPr/>
          <p:nvPr/>
        </p:nvSpPr>
        <p:spPr>
          <a:xfrm>
            <a:off x="10744200" y="3703320"/>
            <a:ext cx="213360" cy="422453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0957560" y="3703320"/>
            <a:ext cx="213360" cy="422453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11170920" y="3703320"/>
            <a:ext cx="213360" cy="422453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10744200" y="3703320"/>
            <a:ext cx="640080" cy="422453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48640" y="457200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777240" y="45720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✗ </a:t>
            </a:r>
            <a:r>
              <a:rPr lang="en-US" sz="1900" i="1" strike="sngStrike" dirty="0">
                <a:solidFill>
                  <a:schemeClr val="accent6"/>
                </a:solidFill>
              </a:rPr>
              <a:t>Ik zou willen een brood</a:t>
            </a:r>
            <a:r>
              <a:rPr lang="en-US" sz="1900" dirty="0">
                <a:solidFill>
                  <a:schemeClr val="tx1"/>
                </a:solidFill>
              </a:rPr>
              <a:t> → ✓ </a:t>
            </a:r>
            <a:r>
              <a:rPr lang="en-US" sz="1900" i="1" dirty="0">
                <a:solidFill>
                  <a:schemeClr val="tx1"/>
                </a:solidFill>
              </a:rPr>
              <a:t>Ik zou graag een brood </a:t>
            </a:r>
            <a:r>
              <a:rPr lang="en-US" sz="1900" b="1" i="1" dirty="0">
                <a:solidFill>
                  <a:schemeClr val="tx1"/>
                </a:solidFill>
              </a:rPr>
              <a:t>willen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(l’infinitif va au bout)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548640" y="5577840"/>
            <a:ext cx="11091672" cy="658368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22960" y="557784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Ik had graag…</a:t>
            </a:r>
            <a:r>
              <a:rPr lang="en-US" sz="1800" dirty="0">
                <a:solidFill>
                  <a:schemeClr val="bg1"/>
                </a:solidFill>
              </a:rPr>
              <a:t> : la formule flamande au magasin et au café. Les trois sont corrects.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Conseiller : je zou … moeten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sleepy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822960" cy="8229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508760" y="170992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645920" y="170992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pic>
        <p:nvPicPr>
          <p:cNvPr id="8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828800"/>
            <a:ext cx="548640" cy="5486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0" y="164592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5623560" y="16459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meer </a:t>
            </a:r>
            <a:r>
              <a:rPr lang="en-US" sz="1800" b="1" i="1" dirty="0">
                <a:solidFill>
                  <a:schemeClr val="tx1"/>
                </a:solidFill>
              </a:rPr>
              <a:t>moeten</a:t>
            </a:r>
            <a:r>
              <a:rPr lang="en-US" sz="1800" i="1" dirty="0">
                <a:solidFill>
                  <a:schemeClr val="tx1"/>
                </a:solidFill>
              </a:rPr>
              <a:t> slapen.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devrais</a:t>
            </a:r>
            <a:endParaRPr lang="en-US" sz="1800" dirty="0"/>
          </a:p>
        </p:txBody>
      </p:sp>
      <p:pic>
        <p:nvPicPr>
          <p:cNvPr id="11" name="Image 2" descr="anxious face with swea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80360"/>
            <a:ext cx="822960" cy="822960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1508760" y="289864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3" name="Text 7"/>
          <p:cNvSpPr txBox="1"/>
          <p:nvPr/>
        </p:nvSpPr>
        <p:spPr>
          <a:xfrm>
            <a:off x="1645920" y="289864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zo veel stress.</a:t>
            </a:r>
            <a:endParaRPr lang="en-US" sz="1700" dirty="0"/>
          </a:p>
        </p:txBody>
      </p:sp>
      <p:pic>
        <p:nvPicPr>
          <p:cNvPr id="14" name="Image 3" descr="light bulb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17520"/>
            <a:ext cx="548640" cy="548640"/>
          </a:xfrm>
          <a:prstGeom prst="rect">
            <a:avLst/>
          </a:prstGeom>
        </p:spPr>
      </p:pic>
      <p:sp>
        <p:nvSpPr>
          <p:cNvPr id="15" name="Shape 8"/>
          <p:cNvSpPr/>
          <p:nvPr/>
        </p:nvSpPr>
        <p:spPr>
          <a:xfrm>
            <a:off x="5486400" y="283464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623560" y="28346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een pauze </a:t>
            </a:r>
            <a:r>
              <a:rPr lang="en-US" sz="1800" b="1" i="1" dirty="0">
                <a:solidFill>
                  <a:schemeClr val="tx1"/>
                </a:solidFill>
              </a:rPr>
              <a:t>kunnen</a:t>
            </a:r>
            <a:r>
              <a:rPr lang="en-US" sz="1800" i="1" dirty="0">
                <a:solidFill>
                  <a:schemeClr val="tx1"/>
                </a:solidFill>
              </a:rPr>
              <a:t> nemen.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tu pourrais</a:t>
            </a:r>
            <a:endParaRPr lang="en-US" sz="1800" dirty="0"/>
          </a:p>
        </p:txBody>
      </p:sp>
      <p:pic>
        <p:nvPicPr>
          <p:cNvPr id="17" name="Image 4" descr="face with thermome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069080"/>
            <a:ext cx="822960" cy="822960"/>
          </a:xfrm>
          <a:prstGeom prst="rect">
            <a:avLst/>
          </a:prstGeom>
        </p:spPr>
      </p:pic>
      <p:sp>
        <p:nvSpPr>
          <p:cNvPr id="18" name="Shape 10"/>
          <p:cNvSpPr/>
          <p:nvPr/>
        </p:nvSpPr>
        <p:spPr>
          <a:xfrm>
            <a:off x="1508760" y="4087368"/>
            <a:ext cx="320040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1"/>
          <p:cNvSpPr txBox="1"/>
          <p:nvPr/>
        </p:nvSpPr>
        <p:spPr>
          <a:xfrm>
            <a:off x="1645920" y="40873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voel me ziek.</a:t>
            </a:r>
            <a:endParaRPr lang="en-US" sz="1700" dirty="0"/>
          </a:p>
        </p:txBody>
      </p:sp>
      <p:pic>
        <p:nvPicPr>
          <p:cNvPr id="20" name="Image 5" descr="light 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0" y="4206240"/>
            <a:ext cx="548640" cy="54864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486400" y="4023360"/>
            <a:ext cx="6153912" cy="914400"/>
          </a:xfrm>
          <a:prstGeom prst="roundRect">
            <a:avLst>
              <a:gd name="adj" fmla="val 10000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3"/>
          <p:cNvSpPr txBox="1"/>
          <p:nvPr/>
        </p:nvSpPr>
        <p:spPr>
          <a:xfrm>
            <a:off x="5623560" y="40233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Als ik jou </a:t>
            </a:r>
            <a:r>
              <a:rPr lang="en-US" sz="1800" b="1" i="1" dirty="0">
                <a:solidFill>
                  <a:schemeClr val="tx1"/>
                </a:solidFill>
              </a:rPr>
              <a:t>was</a:t>
            </a:r>
            <a:r>
              <a:rPr lang="en-US" sz="1800" i="1" dirty="0">
                <a:solidFill>
                  <a:schemeClr val="tx1"/>
                </a:solidFill>
              </a:rPr>
              <a:t>, </a:t>
            </a:r>
            <a:r>
              <a:rPr lang="en-US" sz="1800" b="1" i="1" dirty="0">
                <a:solidFill>
                  <a:schemeClr val="tx1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ik de dokter </a:t>
            </a:r>
            <a:r>
              <a:rPr lang="en-US" sz="1800" b="1" i="1" dirty="0">
                <a:solidFill>
                  <a:schemeClr val="tx1"/>
                </a:solidFill>
              </a:rPr>
              <a:t>bellen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à ta place, je…</a:t>
            </a:r>
            <a:endParaRPr lang="en-US" sz="1800" dirty="0"/>
          </a:p>
        </p:txBody>
      </p:sp>
      <p:sp>
        <p:nvSpPr>
          <p:cNvPr id="23" name="Shape 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822960" y="534924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zou … moeten</a:t>
            </a:r>
            <a:r>
              <a:rPr lang="en-US" sz="1700" dirty="0">
                <a:solidFill>
                  <a:schemeClr val="bg1"/>
                </a:solidFill>
              </a:rPr>
              <a:t> = devrait · </a:t>
            </a:r>
            <a:r>
              <a:rPr lang="en-US" sz="1700" i="1" dirty="0">
                <a:solidFill>
                  <a:schemeClr val="bg1"/>
                </a:solidFill>
              </a:rPr>
              <a:t>zou … kunnen</a:t>
            </a:r>
            <a:r>
              <a:rPr lang="en-US" sz="1700" dirty="0">
                <a:solidFill>
                  <a:schemeClr val="bg1"/>
                </a:solidFill>
              </a:rPr>
              <a:t> = pourrait · </a:t>
            </a:r>
            <a:r>
              <a:rPr lang="en-US" sz="1700" i="1" dirty="0">
                <a:solidFill>
                  <a:schemeClr val="bg1"/>
                </a:solidFill>
              </a:rPr>
              <a:t>Ik zou dat niet doen.</a:t>
            </a:r>
            <a:r>
              <a:rPr lang="en-US" sz="1700" dirty="0">
                <a:solidFill>
                  <a:schemeClr val="bg1"/>
                </a:solidFill>
              </a:rPr>
              <a:t> = je ne ferais pas ça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L’hypothèse : als + imperfectum, zou + 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E4A9E"/>
                </a:solidFill>
              </a:rPr>
              <a:t>LE WAGON </a:t>
            </a:r>
            <a:r>
              <a:rPr lang="en-US" sz="1200" b="1" i="1" spc="200" kern="0" dirty="0">
                <a:solidFill>
                  <a:srgbClr val="6E4A9E"/>
                </a:solidFill>
              </a:rPr>
              <a:t>ALS</a:t>
            </a:r>
            <a:r>
              <a:rPr lang="en-US" sz="1200" b="1" spc="200" kern="0" dirty="0">
                <a:solidFill>
                  <a:srgbClr val="6E4A9E"/>
                </a:solidFill>
              </a:rPr>
              <a:t> (M9)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92024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92024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815620" y="192024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815620" y="192024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had,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4074800" y="192024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74800" y="192024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5142264" y="192024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42264" y="192024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5868663" y="1920240"/>
            <a:ext cx="1934607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868663" y="1920240"/>
            <a:ext cx="19346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meegaan.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743200" y="2697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« verbe, verbe » autour de la virgule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48640" y="3246120"/>
            <a:ext cx="634959" cy="73152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246120"/>
            <a:ext cx="63495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1275039" y="3246120"/>
            <a:ext cx="976023" cy="731520"/>
          </a:xfrm>
          <a:prstGeom prst="roundRect">
            <a:avLst>
              <a:gd name="adj" fmla="val 10000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275039" y="3246120"/>
            <a:ext cx="9760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zou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2342503" y="3246120"/>
            <a:ext cx="187452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2342503" y="3246120"/>
            <a:ext cx="1874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meegaan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4308463" y="3246120"/>
            <a:ext cx="21755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308463" y="3246120"/>
            <a:ext cx="21755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als ik tijd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6575443" y="3246120"/>
            <a:ext cx="1167740" cy="731520"/>
          </a:xfrm>
          <a:prstGeom prst="roundRect">
            <a:avLst>
              <a:gd name="adj" fmla="val 10000"/>
            </a:avLst>
          </a:prstGeom>
          <a:solidFill>
            <a:srgbClr val="F1EBF8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75443" y="3246120"/>
            <a:ext cx="11677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had.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8229600" y="1554480"/>
            <a:ext cx="3410712" cy="2514600"/>
          </a:xfrm>
          <a:prstGeom prst="roundRect">
            <a:avLst>
              <a:gd name="adj" fmla="val 3636"/>
            </a:avLst>
          </a:prstGeom>
          <a:solidFill>
            <a:srgbClr val="F1EBF8"/>
          </a:solidFill>
          <a:ln w="19050">
            <a:solidFill>
              <a:srgbClr val="6E4A9E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366760" y="1600200"/>
            <a:ext cx="3154680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700" b="1" dirty="0">
                <a:solidFill>
                  <a:schemeClr val="tx1"/>
                </a:solidFill>
              </a:rPr>
              <a:t>Après </a:t>
            </a:r>
            <a:r>
              <a:rPr lang="en-US" sz="1700" b="1" i="1" dirty="0">
                <a:solidFill>
                  <a:schemeClr val="tx1"/>
                </a:solidFill>
              </a:rPr>
              <a:t>als</a:t>
            </a:r>
            <a:r>
              <a:rPr lang="en-US" sz="1700" dirty="0">
                <a:solidFill>
                  <a:schemeClr val="tx1"/>
                </a:solidFill>
              </a:rPr>
              <a:t> : imperfectum (M19)</a:t>
            </a:r>
            <a:endParaRPr lang="en-US" sz="17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had · was · kon · wist · won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4343400"/>
            <a:ext cx="11091672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343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Même logique qu’en français : « si + imparfait, conditionnel » → </a:t>
            </a:r>
            <a:r>
              <a:rPr lang="en-US" sz="1800" i="1" dirty="0">
                <a:solidFill>
                  <a:schemeClr val="tx1"/>
                </a:solidFill>
              </a:rPr>
              <a:t>als + imperfectum, zou + infinitif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À l’oral, on entend aussi : </a:t>
            </a:r>
            <a:r>
              <a:rPr lang="en-US" sz="1800" i="1" dirty="0">
                <a:solidFill>
                  <a:schemeClr val="bg1"/>
                </a:solidFill>
              </a:rPr>
              <a:t>Als ik tijd had, ging ik mee.</a:t>
            </a:r>
            <a:r>
              <a:rPr lang="en-US" sz="1800" dirty="0">
                <a:solidFill>
                  <a:schemeClr val="bg1"/>
                </a:solidFill>
              </a:rPr>
              <a:t> (imperfectum des deux côtés)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si, si, si…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48840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si j’</a:t>
            </a:r>
            <a:r>
              <a:rPr lang="en-US" sz="1700" b="1" dirty="0">
                <a:solidFill>
                  <a:schemeClr val="tx1"/>
                </a:solidFill>
              </a:rPr>
              <a:t>avais</a:t>
            </a:r>
            <a:r>
              <a:rPr lang="en-US" sz="1700" dirty="0">
                <a:solidFill>
                  <a:schemeClr val="tx1"/>
                </a:solidFill>
              </a:rPr>
              <a:t> le temps »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7360920" y="2487168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772400" y="2203704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09560" y="2203704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als ik tijd </a:t>
            </a:r>
            <a:r>
              <a:rPr lang="en-US" sz="1700" b="1" i="1" dirty="0">
                <a:solidFill>
                  <a:schemeClr val="tx1"/>
                </a:solidFill>
              </a:rPr>
              <a:t>had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953512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viendrais</a:t>
            </a:r>
            <a:r>
              <a:rPr lang="en-US" sz="1700" dirty="0">
                <a:solidFill>
                  <a:schemeClr val="tx1"/>
                </a:solidFill>
              </a:rPr>
              <a:t> »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953512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kom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7360920" y="3291840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72400" y="3008376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3008376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</a:t>
            </a:r>
            <a:r>
              <a:rPr lang="en-US" sz="1700" b="1" i="1" dirty="0">
                <a:solidFill>
                  <a:schemeClr val="tx1"/>
                </a:solidFill>
              </a:rPr>
              <a:t>komen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758184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ne sais pas </a:t>
            </a:r>
            <a:r>
              <a:rPr lang="en-US" sz="1700" b="1" dirty="0">
                <a:solidFill>
                  <a:schemeClr val="tx1"/>
                </a:solidFill>
              </a:rPr>
              <a:t>s’</a:t>
            </a:r>
            <a:r>
              <a:rPr lang="en-US" sz="1700" dirty="0">
                <a:solidFill>
                  <a:schemeClr val="tx1"/>
                </a:solidFill>
              </a:rPr>
              <a:t>il viendrait »</a:t>
            </a:r>
            <a:endParaRPr lang="en-US" sz="17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0" y="3758184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als hij zou komen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360920" y="4096512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7772400" y="3813048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909560" y="3813048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b="1" i="1" dirty="0">
                <a:solidFill>
                  <a:schemeClr val="tx1"/>
                </a:solidFill>
              </a:rPr>
              <a:t>of</a:t>
            </a:r>
            <a:r>
              <a:rPr lang="en-US" sz="1700" i="1" dirty="0">
                <a:solidFill>
                  <a:schemeClr val="tx1"/>
                </a:solidFill>
              </a:rPr>
              <a:t> hij zou komen (M9)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8680" y="4562856"/>
            <a:ext cx="3657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</a:t>
            </a:r>
            <a:r>
              <a:rPr lang="en-US" sz="1700" b="1" dirty="0">
                <a:solidFill>
                  <a:schemeClr val="tx1"/>
                </a:solidFill>
              </a:rPr>
              <a:t>voudrais</a:t>
            </a:r>
            <a:r>
              <a:rPr lang="en-US" sz="1700" dirty="0">
                <a:solidFill>
                  <a:schemeClr val="tx1"/>
                </a:solidFill>
              </a:rPr>
              <a:t> un café »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4572000" y="4562856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zou willen een koffie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7360920" y="4901184"/>
            <a:ext cx="36576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7772400" y="4617720"/>
            <a:ext cx="3703320" cy="566928"/>
          </a:xfrm>
          <a:prstGeom prst="roundRect">
            <a:avLst>
              <a:gd name="adj" fmla="val 16129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909560" y="4617720"/>
            <a:ext cx="3520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zou graag een koffie </a:t>
            </a:r>
            <a:r>
              <a:rPr lang="en-US" sz="1700" b="1" i="1" dirty="0">
                <a:solidFill>
                  <a:schemeClr val="tx1"/>
                </a:solidFill>
              </a:rPr>
              <a:t>willen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als</a:t>
            </a:r>
            <a:r>
              <a:rPr lang="en-US" sz="1700" dirty="0">
                <a:solidFill>
                  <a:schemeClr val="bg1"/>
                </a:solidFill>
              </a:rPr>
              <a:t> = si (condition) · </a:t>
            </a:r>
            <a:r>
              <a:rPr lang="en-US" sz="1700" i="1" dirty="0">
                <a:solidFill>
                  <a:schemeClr val="bg1"/>
                </a:solidFill>
              </a:rPr>
              <a:t>of</a:t>
            </a:r>
            <a:r>
              <a:rPr lang="en-US" sz="1700" dirty="0">
                <a:solidFill>
                  <a:schemeClr val="bg1"/>
                </a:solidFill>
              </a:rPr>
              <a:t> = si (question indirecte) · </a:t>
            </a:r>
            <a:r>
              <a:rPr lang="en-US" sz="1700" i="1" dirty="0">
                <a:solidFill>
                  <a:schemeClr val="bg1"/>
                </a:solidFill>
              </a:rPr>
              <a:t>als ik tijd zou hebben</a:t>
            </a:r>
            <a:r>
              <a:rPr lang="en-US" sz="1700" dirty="0">
                <a:solidFill>
                  <a:schemeClr val="bg1"/>
                </a:solidFill>
              </a:rPr>
              <a:t> se dit aussi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zou = il paraît que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86400" cy="3291840"/>
          </a:xfrm>
          <a:prstGeom prst="roundRect">
            <a:avLst>
              <a:gd name="adj" fmla="val 1111"/>
            </a:avLst>
          </a:prstGeom>
          <a:solidFill>
            <a:srgbClr val="FFFFFF"/>
          </a:solidFill>
          <a:ln w="25400">
            <a:solidFill>
              <a:srgbClr val="17375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600200"/>
            <a:ext cx="5486400" cy="54864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60020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DE BRUSSELSE KRANT</a:t>
            </a:r>
            <a:endParaRPr lang="en-US" sz="1500" dirty="0"/>
          </a:p>
        </p:txBody>
      </p:sp>
      <p:pic>
        <p:nvPicPr>
          <p:cNvPr id="8" name="Image 0" descr="newspap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37744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965960" y="228600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De directeur </a:t>
            </a:r>
            <a:r>
              <a:rPr lang="en-US" sz="1900" b="1" i="1" dirty="0">
                <a:solidFill>
                  <a:schemeClr val="tx2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ontslag </a:t>
            </a:r>
            <a:r>
              <a:rPr lang="en-US" sz="1900" b="1" i="1" dirty="0">
                <a:solidFill>
                  <a:schemeClr val="tx1"/>
                </a:solidFill>
              </a:rPr>
              <a:t>nemen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Le directeur démissionnerait (on le dit).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309360" y="1920240"/>
            <a:ext cx="5330952" cy="1188720"/>
          </a:xfrm>
          <a:prstGeom prst="roundRect">
            <a:avLst>
              <a:gd name="adj" fmla="val 13846"/>
            </a:avLst>
          </a:prstGeom>
          <a:solidFill>
            <a:schemeClr val="accent1">
              <a:alpha val="12000"/>
            </a:schemeClr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73952" y="1920240"/>
            <a:ext cx="500176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</a:t>
            </a:r>
            <a:r>
              <a:rPr lang="en-US" sz="1800" b="1" i="1" dirty="0">
                <a:solidFill>
                  <a:schemeClr val="tx2"/>
                </a:solidFill>
              </a:rPr>
              <a:t>zou</a:t>
            </a:r>
            <a:r>
              <a:rPr lang="en-US" sz="1800" i="1" dirty="0">
                <a:solidFill>
                  <a:schemeClr val="tx1"/>
                </a:solidFill>
              </a:rPr>
              <a:t> ziek </a:t>
            </a:r>
            <a:r>
              <a:rPr lang="en-US" sz="1800" b="1" i="1" dirty="0">
                <a:solidFill>
                  <a:schemeClr val="tx1"/>
                </a:solidFill>
              </a:rPr>
              <a:t>zijn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Karim serait malade, paraît-il.</a:t>
            </a:r>
            <a:endParaRPr lang="en-US" sz="1800" dirty="0"/>
          </a:p>
        </p:txBody>
      </p:sp>
      <p:pic>
        <p:nvPicPr>
          <p:cNvPr id="12" name="Image 1" descr="speaking he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0" y="3246120"/>
            <a:ext cx="822960" cy="82296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6309360" y="3291840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Synonymes : </a:t>
            </a:r>
            <a:r>
              <a:rPr lang="en-US" sz="1500" i="1" dirty="0">
                <a:solidFill>
                  <a:schemeClr val="accent5"/>
                </a:solidFill>
              </a:rPr>
              <a:t>naar verluidt</a:t>
            </a:r>
            <a:r>
              <a:rPr lang="en-US" sz="1500" i="1" dirty="0">
                <a:solidFill>
                  <a:schemeClr val="accent5"/>
                </a:solidFill>
              </a:rPr>
              <a:t> (selon certaines sources) · </a:t>
            </a:r>
            <a:r>
              <a:rPr lang="en-US" sz="1500" i="1" dirty="0">
                <a:solidFill>
                  <a:schemeClr val="accent5"/>
                </a:solidFill>
              </a:rPr>
              <a:t>blijkbaar</a:t>
            </a:r>
            <a:r>
              <a:rPr lang="en-US" sz="1500" i="1" dirty="0">
                <a:solidFill>
                  <a:schemeClr val="accent5"/>
                </a:solidFill>
              </a:rPr>
              <a:t> (apparemment)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Même emploi que le conditionnel journalistique français : l’information n’est pas confirmée.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+ APERÇU : le conditionnel passé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8682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+ APERÇU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2194560"/>
            <a:ext cx="10515600" cy="914"/>
          </a:xfrm>
          <a:prstGeom prst="line">
            <a:avLst/>
          </a:prstGeom>
          <a:noFill/>
          <a:ln w="381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3108960" y="2011680"/>
            <a:ext cx="365760" cy="365760"/>
          </a:xfrm>
          <a:prstGeom prst="ellipse">
            <a:avLst/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108960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✗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hier (trop tard !)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0" y="201168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0" y="16002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tx2"/>
                </a:solidFill>
              </a:rPr>
              <a:t>maintenant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48640" y="269748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26974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Als ik het </a:t>
            </a:r>
            <a:r>
              <a:rPr lang="en-US" sz="1900" b="1" i="1" dirty="0">
                <a:solidFill>
                  <a:schemeClr val="tx1"/>
                </a:solidFill>
              </a:rPr>
              <a:t>geweten had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tx1"/>
                </a:solidFill>
              </a:rPr>
              <a:t>was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26974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Si je l’avais su, je serais venu.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48640" y="35661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356616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= Als ik het geweten had, </a:t>
            </a:r>
            <a:r>
              <a:rPr lang="en-US" sz="1900" b="1" i="1" dirty="0">
                <a:solidFill>
                  <a:schemeClr val="tx1"/>
                </a:solidFill>
              </a:rPr>
              <a:t>zou</a:t>
            </a:r>
            <a:r>
              <a:rPr lang="en-US" sz="1900" i="1" dirty="0">
                <a:solidFill>
                  <a:schemeClr val="tx1"/>
                </a:solidFill>
              </a:rPr>
              <a:t> ik </a:t>
            </a:r>
            <a:r>
              <a:rPr lang="en-US" sz="1900" b="1" i="1" dirty="0">
                <a:solidFill>
                  <a:schemeClr val="tx1"/>
                </a:solidFill>
              </a:rPr>
              <a:t>gekomen zijn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566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(forme longue)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548640" y="4434840"/>
            <a:ext cx="11091672" cy="731520"/>
          </a:xfrm>
          <a:prstGeom prst="roundRect">
            <a:avLst>
              <a:gd name="adj" fmla="val 12500"/>
            </a:avLst>
          </a:prstGeom>
          <a:solidFill>
            <a:srgbClr val="F1EBF8"/>
          </a:solidFill>
          <a:ln w="15875">
            <a:solidFill>
              <a:srgbClr val="6E4A9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43484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</a:t>
            </a:r>
            <a:r>
              <a:rPr lang="en-US" sz="1900" b="1" i="1" dirty="0">
                <a:solidFill>
                  <a:schemeClr val="tx1"/>
                </a:solidFill>
              </a:rPr>
              <a:t>had</a:t>
            </a:r>
            <a:r>
              <a:rPr lang="en-US" sz="1900" i="1" dirty="0">
                <a:solidFill>
                  <a:schemeClr val="tx1"/>
                </a:solidFill>
              </a:rPr>
              <a:t> het graag </a:t>
            </a:r>
            <a:r>
              <a:rPr lang="en-US" sz="1900" b="1" i="1" dirty="0">
                <a:solidFill>
                  <a:schemeClr val="tx1"/>
                </a:solidFill>
              </a:rPr>
              <a:t>gedaan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0" y="44348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Je l’aurais fait volontiers.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2960" y="54864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À reconnaître seulement (Néerlandais 2). La forme courte (</a:t>
            </a:r>
            <a:r>
              <a:rPr lang="en-US" sz="1700" i="1" dirty="0">
                <a:solidFill>
                  <a:schemeClr val="bg1"/>
                </a:solidFill>
              </a:rPr>
              <a:t>was ik gekomen</a:t>
            </a:r>
            <a:r>
              <a:rPr lang="en-US" sz="1700" dirty="0">
                <a:solidFill>
                  <a:schemeClr val="bg1"/>
                </a:solidFill>
              </a:rPr>
              <a:t>) est la plus fréquente.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zou et de l’infinitif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2911420" y="1600200"/>
            <a:ext cx="119128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11420" y="1600200"/>
            <a:ext cx="1191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morgen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4194141" y="1600200"/>
            <a:ext cx="1910642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4194141" y="1600200"/>
            <a:ext cx="191064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opbellen.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558889" y="2350008"/>
            <a:ext cx="2581651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3558889" y="2350008"/>
            <a:ext cx="258165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willen komen.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1232245" y="3099816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232245" y="3099816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2227815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2227815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3558889" y="3099816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30" name="Text 27"/>
          <p:cNvSpPr txBox="1"/>
          <p:nvPr/>
        </p:nvSpPr>
        <p:spPr>
          <a:xfrm>
            <a:off x="3558889" y="3099816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komen.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548640" y="3849624"/>
            <a:ext cx="194017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48640" y="3849624"/>
            <a:ext cx="194017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 ik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2580254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580254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911328" y="3849624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911328" y="3849624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 komen.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548640" y="4599432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48640" y="4599432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Zou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1544209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544209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je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2227815" y="4599432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2227815" y="4599432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3061199" y="4599432"/>
            <a:ext cx="2413899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44" name="Text 41"/>
          <p:cNvSpPr txBox="1"/>
          <p:nvPr/>
        </p:nvSpPr>
        <p:spPr>
          <a:xfrm>
            <a:off x="3061199" y="4599432"/>
            <a:ext cx="241389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kunnen doen?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7863840" y="1600200"/>
            <a:ext cx="3776472" cy="3602736"/>
          </a:xfrm>
          <a:prstGeom prst="roundRect">
            <a:avLst>
              <a:gd name="adj" fmla="val 2538"/>
            </a:avLst>
          </a:prstGeom>
          <a:solidFill>
            <a:srgbClr val="FBEDEB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001000" y="1691640"/>
            <a:ext cx="352044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en 2ᵉ position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infinitif(s) au </a:t>
            </a:r>
            <a:r>
              <a:rPr lang="en-US" sz="1500" b="1" dirty="0">
                <a:solidFill>
                  <a:schemeClr val="tx1"/>
                </a:solidFill>
              </a:rPr>
              <a:t>bout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particule collée : </a:t>
            </a:r>
            <a:r>
              <a:rPr lang="en-US" sz="1500" i="1" dirty="0">
                <a:solidFill>
                  <a:schemeClr val="tx1"/>
                </a:solidFill>
              </a:rPr>
              <a:t>opbellen</a:t>
            </a:r>
            <a:r>
              <a:rPr lang="en-US" sz="1500" dirty="0">
                <a:solidFill>
                  <a:schemeClr val="tx1"/>
                </a:solidFill>
              </a:rPr>
              <a:t> (M11)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subordonnée :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rejoint l’infinitif à la fin</a:t>
            </a:r>
            <a:endParaRPr lang="en-US" sz="15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willen komen</a:t>
            </a:r>
            <a:r>
              <a:rPr lang="en-US" sz="1500" dirty="0">
                <a:solidFill>
                  <a:schemeClr val="tx1"/>
                </a:solidFill>
              </a:rPr>
              <a:t> : l’ordre le plus courant</a:t>
            </a:r>
            <a:endParaRPr lang="en-US" sz="1500" dirty="0"/>
          </a:p>
        </p:txBody>
      </p:sp>
      <p:sp>
        <p:nvSpPr>
          <p:cNvPr id="47" name="Shape 44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Deux infinitifs ?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willen 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r>
              <a:rPr lang="en-US" sz="1800" dirty="0">
                <a:solidFill>
                  <a:schemeClr val="bg1"/>
                </a:solidFill>
              </a:rPr>
              <a:t> — ou plus simple : </a:t>
            </a:r>
            <a:r>
              <a:rPr lang="en-US" sz="1800" i="1" dirty="0">
                <a:solidFill>
                  <a:schemeClr val="bg1"/>
                </a:solidFill>
              </a:rPr>
              <a:t>Ik zou graag </a:t>
            </a:r>
            <a:r>
              <a:rPr lang="en-US" sz="1800" b="1" i="1" dirty="0">
                <a:solidFill>
                  <a:schemeClr val="bg1"/>
                </a:solidFill>
              </a:rPr>
              <a:t>komen</a:t>
            </a:r>
            <a:r>
              <a:rPr lang="en-US" sz="1800" i="1" dirty="0">
                <a:solidFill>
                  <a:schemeClr val="bg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les trois portes du conditionnel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2">
              <a:alpha val="10000"/>
            </a:schemeClr>
          </a:solidFill>
          <a:ln w="31750">
            <a:solidFill>
              <a:srgbClr val="2A6FB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Politesse</a:t>
            </a:r>
            <a:endParaRPr lang="en-US" sz="1900" dirty="0"/>
          </a:p>
        </p:txBody>
      </p:sp>
      <p:pic>
        <p:nvPicPr>
          <p:cNvPr id="8" name="Image 0" descr="folded 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94332" y="2286000"/>
            <a:ext cx="822960" cy="8229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31520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u … willen?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zou graag … willen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had graag …</a:t>
            </a:r>
            <a:r>
              <a:rPr lang="en-US" sz="1700" dirty="0">
                <a:solidFill>
                  <a:schemeClr val="tx1"/>
                </a:solidFill>
              </a:rPr>
              <a:t> (BE)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3605784" y="3154680"/>
            <a:ext cx="164592" cy="164592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337304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chemeClr val="accent3">
              <a:alpha val="10000"/>
            </a:schemeClr>
          </a:solidFill>
          <a:ln w="31750">
            <a:solidFill>
              <a:srgbClr val="2E7D4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337304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337304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Conseil, souhait</a:t>
            </a:r>
            <a:endParaRPr lang="en-US" sz="1900" dirty="0"/>
          </a:p>
        </p:txBody>
      </p:sp>
      <p:pic>
        <p:nvPicPr>
          <p:cNvPr id="14" name="Image 1" descr="light 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2996" y="2286000"/>
            <a:ext cx="822960" cy="8229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20184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Je zou … moeten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jou was, zou ik …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7394448" y="3154680"/>
            <a:ext cx="164592" cy="164592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125968" y="1554480"/>
            <a:ext cx="3514344" cy="3520440"/>
          </a:xfrm>
          <a:prstGeom prst="roundRect">
            <a:avLst>
              <a:gd name="adj" fmla="val 13010"/>
            </a:avLst>
          </a:prstGeom>
          <a:solidFill>
            <a:srgbClr val="6E4A9E">
              <a:alpha val="10000"/>
            </a:srgbClr>
          </a:solidFill>
          <a:ln w="31750">
            <a:solidFill>
              <a:srgbClr val="6E4A9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125968" y="1554480"/>
            <a:ext cx="3514344" cy="594360"/>
          </a:xfrm>
          <a:prstGeom prst="roundRect">
            <a:avLst>
              <a:gd name="adj" fmla="val 46154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125968" y="1554480"/>
            <a:ext cx="3514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Hypothèse</a:t>
            </a:r>
            <a:endParaRPr lang="en-US" sz="1900" dirty="0"/>
          </a:p>
        </p:txBody>
      </p:sp>
      <p:pic>
        <p:nvPicPr>
          <p:cNvPr id="20" name="Image 2" descr="thought ballo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660" y="2286000"/>
            <a:ext cx="822960" cy="8229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08848" y="3200400"/>
            <a:ext cx="314858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Als ik tijd had,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zou ik …</a:t>
            </a:r>
            <a:endParaRPr lang="en-US" sz="17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als + imperf. · zou + inf.</a:t>
            </a:r>
            <a:endParaRPr lang="en-US" sz="1700" dirty="0"/>
          </a:p>
        </p:txBody>
      </p:sp>
      <p:sp>
        <p:nvSpPr>
          <p:cNvPr id="22" name="Shape 16"/>
          <p:cNvSpPr/>
          <p:nvPr/>
        </p:nvSpPr>
        <p:spPr>
          <a:xfrm>
            <a:off x="11183112" y="3154680"/>
            <a:ext cx="164592" cy="164592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548640" y="53492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Forme : </a:t>
            </a:r>
            <a:r>
              <a:rPr lang="en-US" sz="2000" i="1" dirty="0">
                <a:solidFill>
                  <a:schemeClr val="bg1"/>
                </a:solidFill>
              </a:rPr>
              <a:t>zou / zouden</a:t>
            </a:r>
            <a:r>
              <a:rPr lang="en-US" sz="2000" dirty="0">
                <a:solidFill>
                  <a:schemeClr val="bg1"/>
                </a:solidFill>
              </a:rPr>
              <a:t> + infinitif au bout</a:t>
            </a:r>
            <a:endParaRPr lang="en-US" sz="2000" dirty="0"/>
          </a:p>
        </p:txBody>
      </p:sp>
      <p:pic>
        <p:nvPicPr>
          <p:cNvPr id="25" name="Image 3" descr="Camer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PrayingHan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poli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zou ou zouden ?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Clo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Si j’avais…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bon conseil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Ques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Wat zou je doen als…?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EuroSig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budget de l’équipe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2" name="Shape 8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3" name="Text 9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19" name="Shape 15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0" name="Text 16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3" name="Shape 29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0" name="Shape 36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1" name="Text 37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2" name="Shape 38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5" name="Shape 41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47" name="Shape 43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8" name="Text 44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poli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Rendez la demande plus polie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. Plusieurs réponses possibles.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Help me!</a:t>
            </a:r>
            <a:endParaRPr lang="en-US" sz="1900" dirty="0"/>
          </a:p>
        </p:txBody>
      </p:sp>
      <p:sp>
        <p:nvSpPr>
          <p:cNvPr id="13" name="Shape 9"/>
          <p:cNvSpPr/>
          <p:nvPr/>
        </p:nvSpPr>
        <p:spPr>
          <a:xfrm>
            <a:off x="5120640" y="22956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14" name="Text 10"/>
          <p:cNvSpPr txBox="1"/>
          <p:nvPr/>
        </p:nvSpPr>
        <p:spPr>
          <a:xfrm>
            <a:off x="5074920" y="19847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035040" y="19781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172200" y="19781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kunnen helpen?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05840" y="270459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143000" y="270459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5120640" y="302209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22" name="Text 18"/>
          <p:cNvSpPr txBox="1"/>
          <p:nvPr/>
        </p:nvSpPr>
        <p:spPr>
          <a:xfrm>
            <a:off x="5074920" y="27111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6035040" y="270459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172200" y="270459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even willen wachten?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05840" y="343103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143000" y="343103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Bel me terug!</a:t>
            </a:r>
            <a:endParaRPr lang="en-US" sz="1900" dirty="0"/>
          </a:p>
        </p:txBody>
      </p:sp>
      <p:sp>
        <p:nvSpPr>
          <p:cNvPr id="29" name="Shape 25"/>
          <p:cNvSpPr/>
          <p:nvPr/>
        </p:nvSpPr>
        <p:spPr>
          <a:xfrm>
            <a:off x="5120640" y="374853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0" name="Text 26"/>
          <p:cNvSpPr txBox="1"/>
          <p:nvPr/>
        </p:nvSpPr>
        <p:spPr>
          <a:xfrm>
            <a:off x="5074920" y="34376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035040" y="343103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172200" y="343103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u me kunnen terugbellen?</a:t>
            </a:r>
            <a:endParaRPr lang="en-US" sz="1800" dirty="0"/>
          </a:p>
        </p:txBody>
      </p:sp>
      <p:sp>
        <p:nvSpPr>
          <p:cNvPr id="33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5" name="Shape 31"/>
          <p:cNvSpPr/>
          <p:nvPr/>
        </p:nvSpPr>
        <p:spPr>
          <a:xfrm>
            <a:off x="1005840" y="415747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1143000" y="415747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Ik wil een koffie.</a:t>
            </a:r>
            <a:endParaRPr lang="en-US" sz="1900" dirty="0"/>
          </a:p>
        </p:txBody>
      </p:sp>
      <p:sp>
        <p:nvSpPr>
          <p:cNvPr id="37" name="Shape 33"/>
          <p:cNvSpPr/>
          <p:nvPr/>
        </p:nvSpPr>
        <p:spPr>
          <a:xfrm>
            <a:off x="5120640" y="447497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38" name="Text 34"/>
          <p:cNvSpPr txBox="1"/>
          <p:nvPr/>
        </p:nvSpPr>
        <p:spPr>
          <a:xfrm>
            <a:off x="5074920" y="41640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6035040" y="415747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6172200" y="415747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zou graag een koffie willen.</a:t>
            </a:r>
            <a:r>
              <a:rPr lang="en-US" sz="1800" dirty="0">
                <a:solidFill>
                  <a:schemeClr val="accent3"/>
                </a:solidFill>
              </a:rPr>
              <a:t>  ·  ou </a:t>
            </a:r>
            <a:r>
              <a:rPr lang="en-US" sz="1800" i="1" dirty="0">
                <a:solidFill>
                  <a:schemeClr val="accent3"/>
                </a:solidFill>
              </a:rPr>
              <a:t>Ik had graag een koffie.</a:t>
            </a:r>
            <a:endParaRPr lang="en-US" sz="1800" dirty="0"/>
          </a:p>
        </p:txBody>
      </p:sp>
      <p:sp>
        <p:nvSpPr>
          <p:cNvPr id="41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1005840" y="488391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1143000" y="488391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Stuur me het rapport.</a:t>
            </a:r>
            <a:endParaRPr lang="en-US" sz="1900" dirty="0"/>
          </a:p>
        </p:txBody>
      </p:sp>
      <p:sp>
        <p:nvSpPr>
          <p:cNvPr id="45" name="Shape 41"/>
          <p:cNvSpPr/>
          <p:nvPr/>
        </p:nvSpPr>
        <p:spPr>
          <a:xfrm>
            <a:off x="5120640" y="520141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46" name="Text 42"/>
          <p:cNvSpPr txBox="1"/>
          <p:nvPr/>
        </p:nvSpPr>
        <p:spPr>
          <a:xfrm>
            <a:off x="5074920" y="489051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6035040" y="488391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172200" y="488391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me het rapport kunnen sturen?</a:t>
            </a:r>
            <a:endParaRPr lang="en-US" sz="1800" dirty="0"/>
          </a:p>
        </p:txBody>
      </p:sp>
      <p:sp>
        <p:nvSpPr>
          <p:cNvPr id="4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51" name="Shape 47"/>
          <p:cNvSpPr/>
          <p:nvPr/>
        </p:nvSpPr>
        <p:spPr>
          <a:xfrm>
            <a:off x="1005840" y="5610352"/>
            <a:ext cx="4023360" cy="616712"/>
          </a:xfrm>
          <a:prstGeom prst="roundRect">
            <a:avLst>
              <a:gd name="adj" fmla="val 14827"/>
            </a:avLst>
          </a:prstGeom>
          <a:solidFill>
            <a:srgbClr val="FBEDEB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1143000" y="5610352"/>
            <a:ext cx="38404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Sluit de deur.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120640" y="5927852"/>
            <a:ext cx="822960" cy="914"/>
          </a:xfrm>
          <a:prstGeom prst="line">
            <a:avLst/>
          </a:prstGeom>
          <a:noFill/>
          <a:ln w="38100">
            <a:solidFill>
              <a:srgbClr val="2A6FB0"/>
            </a:solidFill>
            <a:prstDash val="solid"/>
            <a:tailEnd type="triangle"/>
          </a:ln>
        </p:spPr>
      </p:sp>
      <p:sp>
        <p:nvSpPr>
          <p:cNvPr id="54" name="Text 50"/>
          <p:cNvSpPr txBox="1"/>
          <p:nvPr/>
        </p:nvSpPr>
        <p:spPr>
          <a:xfrm>
            <a:off x="5074920" y="56169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2"/>
                </a:solidFill>
              </a:rPr>
              <a:t>+ zou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6035040" y="5610352"/>
            <a:ext cx="56052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6" name="Text 52"/>
          <p:cNvSpPr txBox="1"/>
          <p:nvPr/>
        </p:nvSpPr>
        <p:spPr>
          <a:xfrm>
            <a:off x="6172200" y="5610352"/>
            <a:ext cx="53949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Zou je de deur willen sluiten?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zou ou zouden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zou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zouden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1  </a:t>
            </a:r>
            <a:r>
              <a:rPr lang="en-US" sz="2000" i="1" dirty="0">
                <a:solidFill>
                  <a:schemeClr val="tx1"/>
                </a:solidFill>
              </a:rPr>
              <a:t>Wij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meer vakantie hebben.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2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u even willen wachten?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3  </a:t>
            </a:r>
            <a:r>
              <a:rPr lang="en-US" sz="2000" i="1" dirty="0">
                <a:solidFill>
                  <a:schemeClr val="tx1"/>
                </a:solidFill>
              </a:rPr>
              <a:t>Karim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een nieuwe auto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4  </a:t>
            </a:r>
            <a:r>
              <a:rPr lang="en-US" sz="2000" i="1" dirty="0">
                <a:solidFill>
                  <a:schemeClr val="tx1"/>
                </a:solidFill>
              </a:rPr>
              <a:t>Jullie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meer moeten sporten.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6300216" y="2115312"/>
            <a:ext cx="534009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5  </a:t>
            </a:r>
            <a:r>
              <a:rPr lang="en-US" sz="2000" i="1" dirty="0">
                <a:solidFill>
                  <a:schemeClr val="tx1"/>
                </a:solidFill>
              </a:rPr>
              <a:t>Als ik rijk was,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ik een huis kopen.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6  </a:t>
            </a:r>
            <a:r>
              <a:rPr lang="en-US" sz="2000" i="1" dirty="0">
                <a:solidFill>
                  <a:schemeClr val="tx1"/>
                </a:solidFill>
              </a:rPr>
              <a:t>Sofie en Lotte </a:t>
            </a:r>
            <a:r>
              <a:rPr lang="en-US" sz="2000" b="1" i="1" dirty="0">
                <a:solidFill>
                  <a:schemeClr val="accent3"/>
                </a:solidFill>
              </a:rPr>
              <a:t>zouden</a:t>
            </a:r>
            <a:r>
              <a:rPr lang="en-US" sz="2000" i="1" dirty="0">
                <a:solidFill>
                  <a:schemeClr val="tx1"/>
                </a:solidFill>
              </a:rPr>
              <a:t> graag naar Parijs gaan.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7 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jij dat kunnen doen?</a:t>
            </a:r>
            <a:endParaRPr lang="en-US" sz="2000" dirty="0"/>
          </a:p>
          <a:p>
            <a:pPr indent="0" marL="0">
              <a:spcAft>
                <a:spcPts val="2200"/>
              </a:spcAft>
              <a:buNone/>
            </a:pPr>
            <a:r>
              <a:rPr lang="en-US" sz="2000" b="1" dirty="0">
                <a:solidFill>
                  <a:schemeClr val="tx2"/>
                </a:solidFill>
              </a:rPr>
              <a:t>8 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zou</a:t>
            </a:r>
            <a:r>
              <a:rPr lang="en-US" sz="2000" i="1" dirty="0">
                <a:solidFill>
                  <a:schemeClr val="tx1"/>
                </a:solidFill>
              </a:rPr>
              <a:t> dat niet doen.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Si j’avais…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Imaginez le contraire : </a:t>
            </a:r>
            <a:r>
              <a:rPr lang="en-US" sz="1700" i="1" dirty="0">
                <a:solidFill>
                  <a:schemeClr val="accent5"/>
                </a:solidFill>
              </a:rPr>
              <a:t>Als + imperfectum, zou + infinitif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87296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87296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heb geen tijd. Ik ga niet mee.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669280" y="2368296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217920" y="1987296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355080" y="1987296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tijd had, zou ik meegaan.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859024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859024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niet rijk. Ik koop geen huis.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669280" y="3240024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217920" y="2859024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355080" y="2859024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rijk was, zou ik een huis kopen.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730752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730752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Het regent. We wandelen niet.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5669280" y="4111752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217920" y="3730752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355080" y="3730752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het niet regende, zouden we wandelen.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602480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602480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ken zijn nummer niet. Ik bel hem niet.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5669280" y="4983480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217920" y="4602480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355080" y="4602480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ik zijn nummer kende, zou ik hem bellen.</a:t>
            </a:r>
            <a:endParaRPr lang="en-US" sz="1700" dirty="0"/>
          </a:p>
        </p:txBody>
      </p:sp>
      <p:sp>
        <p:nvSpPr>
          <p:cNvPr id="37" name="Shape 33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5474208"/>
            <a:ext cx="4572000" cy="762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5474208"/>
            <a:ext cx="43891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Sofie is ziek. Ze komt niet naar het werk.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5669280" y="5855208"/>
            <a:ext cx="457200" cy="914"/>
          </a:xfrm>
          <a:prstGeom prst="line">
            <a:avLst/>
          </a:prstGeom>
          <a:noFill/>
          <a:ln w="38100">
            <a:solidFill>
              <a:srgbClr val="6E4A9E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217920" y="5474208"/>
            <a:ext cx="54223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355080" y="5474208"/>
            <a:ext cx="521208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i="1" dirty="0">
                <a:solidFill>
                  <a:schemeClr val="accent3"/>
                </a:solidFill>
              </a:rPr>
              <a:t>Als Sofie niet ziek was, zou ze naar het werk komen.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dirty="0">
                <a:solidFill>
                  <a:schemeClr val="tx1"/>
                </a:solidFill>
              </a:rPr>
              <a:t>Ik zou willen ook de offerte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dirty="0">
                <a:solidFill>
                  <a:schemeClr val="tx1"/>
                </a:solidFill>
              </a:rPr>
              <a:t>zou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dirty="0">
                <a:solidFill>
                  <a:schemeClr val="tx1"/>
                </a:solidFill>
              </a:rPr>
              <a:t>Zouden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dirty="0">
                <a:solidFill>
                  <a:schemeClr val="tx1"/>
                </a:solidFill>
              </a:rPr>
              <a:t>ik zou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dirty="0">
                <a:solidFill>
                  <a:schemeClr val="tx1"/>
                </a:solidFill>
              </a:rPr>
              <a:t>als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écrit à meneer Maes.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Van: Karim Benali · Aan: meneer Maes · Onderwerp: factuur en offerte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Geachte heer Maes,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Zou u mij de factuur kunnen sturen?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 willen ook de offerte zien.</a:t>
            </a:r>
            <a:r>
              <a:rPr lang="en-US" sz="1800" b="1" i="1" dirty="0">
                <a:solidFill>
                  <a:schemeClr val="accent3"/>
                </a:solidFill>
              </a:rPr>
              <a:t> Ik zou ook graag de offerte willen zien.</a:t>
            </a:r>
            <a:r>
              <a:rPr lang="en-US" sz="1800" i="1" dirty="0">
                <a:solidFill>
                  <a:schemeClr val="tx1"/>
                </a:solidFill>
              </a:rPr>
              <a:t> Als ik meer tijd </a:t>
            </a:r>
            <a:r>
              <a:rPr lang="en-US" sz="1800" i="1" strike="sngStrike" dirty="0">
                <a:solidFill>
                  <a:schemeClr val="accent6"/>
                </a:solidFill>
              </a:rPr>
              <a:t>zou had</a:t>
            </a:r>
            <a:r>
              <a:rPr lang="en-US" sz="1800" b="1" i="1" dirty="0">
                <a:solidFill>
                  <a:schemeClr val="accent3"/>
                </a:solidFill>
              </a:rPr>
              <a:t> had</a:t>
            </a:r>
            <a:r>
              <a:rPr lang="en-US" sz="1800" i="1" dirty="0">
                <a:solidFill>
                  <a:schemeClr val="tx1"/>
                </a:solidFill>
              </a:rPr>
              <a:t>, zou ik u zelf komen bezoeken. </a:t>
            </a:r>
            <a:r>
              <a:rPr lang="en-US" sz="1800" i="1" strike="sngStrike" dirty="0">
                <a:solidFill>
                  <a:schemeClr val="accent6"/>
                </a:solidFill>
              </a:rPr>
              <a:t>Zouden u</a:t>
            </a:r>
            <a:r>
              <a:rPr lang="en-US" sz="1800" b="1" i="1" dirty="0">
                <a:solidFill>
                  <a:schemeClr val="accent3"/>
                </a:solidFill>
              </a:rPr>
              <a:t> Zou u</a:t>
            </a:r>
            <a:r>
              <a:rPr lang="en-US" sz="1800" i="1" dirty="0">
                <a:solidFill>
                  <a:schemeClr val="tx1"/>
                </a:solidFill>
              </a:rPr>
              <a:t> volgende week kunnen bellen? Als u wilt, </a:t>
            </a:r>
            <a:r>
              <a:rPr lang="en-US" sz="1800" i="1" strike="sngStrike" dirty="0">
                <a:solidFill>
                  <a:schemeClr val="accent6"/>
                </a:solidFill>
              </a:rPr>
              <a:t>ik zou</a:t>
            </a:r>
            <a:r>
              <a:rPr lang="en-US" sz="1800" b="1" i="1" dirty="0">
                <a:solidFill>
                  <a:schemeClr val="accent3"/>
                </a:solidFill>
              </a:rPr>
              <a:t> zou ik</a:t>
            </a:r>
            <a:r>
              <a:rPr lang="en-US" sz="1800" i="1" dirty="0">
                <a:solidFill>
                  <a:schemeClr val="tx1"/>
                </a:solidFill>
              </a:rPr>
              <a:t> de vergadering kunnen verplaatsen. Ik weet niet </a:t>
            </a:r>
            <a:r>
              <a:rPr lang="en-US" sz="1800" i="1" strike="sngStrike" dirty="0">
                <a:solidFill>
                  <a:schemeClr val="accent6"/>
                </a:solidFill>
              </a:rPr>
              <a:t>als</a:t>
            </a:r>
            <a:r>
              <a:rPr lang="en-US" sz="1800" b="1" i="1" dirty="0">
                <a:solidFill>
                  <a:schemeClr val="accent3"/>
                </a:solidFill>
              </a:rPr>
              <a:t> of</a:t>
            </a:r>
            <a:r>
              <a:rPr lang="en-US" sz="1800" i="1" dirty="0">
                <a:solidFill>
                  <a:schemeClr val="tx1"/>
                </a:solidFill>
              </a:rPr>
              <a:t> An zou komen.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Met vriendelijke groeten</a:t>
            </a:r>
            <a:endParaRPr lang="en-US" sz="1800" dirty="0"/>
          </a:p>
          <a:p>
            <a:pPr algn="l"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Karim Benali</a:t>
            </a:r>
            <a:endParaRPr lang="en-US" sz="18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Zou u mij de factuur kunnen sturen?</a:t>
            </a:r>
            <a:r>
              <a:rPr lang="en-US" sz="1400" i="1" dirty="0">
                <a:solidFill>
                  <a:schemeClr val="accent5"/>
                </a:solidFill>
              </a:rPr>
              <a:t> est correct. N° 1 : </a:t>
            </a:r>
            <a:r>
              <a:rPr lang="en-US" sz="1400" i="1" dirty="0">
                <a:solidFill>
                  <a:schemeClr val="accent5"/>
                </a:solidFill>
              </a:rPr>
              <a:t>Ik zou ook de offerte willen zien</a:t>
            </a:r>
            <a:r>
              <a:rPr lang="en-US" sz="1400" i="1" dirty="0">
                <a:solidFill>
                  <a:schemeClr val="accent5"/>
                </a:solidFill>
              </a:rPr>
              <a:t> est juste aussi. Après </a:t>
            </a:r>
            <a:r>
              <a:rPr lang="en-US" sz="1400" i="1" dirty="0">
                <a:solidFill>
                  <a:schemeClr val="accent5"/>
                </a:solidFill>
              </a:rPr>
              <a:t>als u wilt,</a:t>
            </a:r>
            <a:r>
              <a:rPr lang="en-US" sz="1400" i="1" dirty="0">
                <a:solidFill>
                  <a:schemeClr val="accent5"/>
                </a:solidFill>
              </a:rPr>
              <a:t> : inversion (M9).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9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188720" y="19781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ben altijd moe.</a:t>
            </a:r>
            <a:endParaRPr lang="en-US" sz="1700" dirty="0"/>
          </a:p>
        </p:txBody>
      </p:sp>
      <p:sp>
        <p:nvSpPr>
          <p:cNvPr id="11" name="Shape 6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2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1188720" y="270459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hoofdpijn.</a:t>
            </a:r>
            <a:endParaRPr lang="en-US" sz="1700" dirty="0"/>
          </a:p>
        </p:txBody>
      </p:sp>
      <p:sp>
        <p:nvSpPr>
          <p:cNvPr id="14" name="Shape 8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5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343103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Nederlands is niet goed genoeg.</a:t>
            </a:r>
            <a:endParaRPr lang="en-US" sz="1700" dirty="0"/>
          </a:p>
        </p:txBody>
      </p:sp>
      <p:sp>
        <p:nvSpPr>
          <p:cNvPr id="17" name="Shape 1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188720" y="415747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kom altijd te laat.</a:t>
            </a:r>
            <a:endParaRPr lang="en-US" sz="1700" dirty="0"/>
          </a:p>
        </p:txBody>
      </p:sp>
      <p:sp>
        <p:nvSpPr>
          <p:cNvPr id="20" name="Shape 12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1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1188720" y="488391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Mijn bureau is een chaos.</a:t>
            </a:r>
            <a:endParaRPr lang="en-US" sz="1700" dirty="0"/>
          </a:p>
        </p:txBody>
      </p:sp>
      <p:sp>
        <p:nvSpPr>
          <p:cNvPr id="23" name="Shape 14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610352"/>
            <a:ext cx="475488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</a:t>
            </a:r>
            <a:r>
              <a:rPr lang="en-US" sz="1700" i="1" dirty="0">
                <a:solidFill>
                  <a:schemeClr val="tx1"/>
                </a:solidFill>
              </a:rPr>
              <a:t>Ik heb te veel werk.</a:t>
            </a:r>
            <a:endParaRPr lang="en-US" sz="1700" dirty="0"/>
          </a:p>
        </p:txBody>
      </p:sp>
      <p:sp>
        <p:nvSpPr>
          <p:cNvPr id="26" name="Shape 16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7" name="Text 17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9" name="Text 19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30" name="Shape 20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1" name="Text 21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32" name="Shape 22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36" name="Shape 26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bon conseil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Reliez chaque problème à un conseil, puis donnez le conseil avec </a:t>
            </a:r>
            <a:r>
              <a:rPr lang="en-US" sz="1700" i="1" dirty="0">
                <a:solidFill>
                  <a:schemeClr val="accent5"/>
                </a:solidFill>
              </a:rPr>
              <a:t>Je zou … moeten</a:t>
            </a:r>
            <a:r>
              <a:rPr lang="en-US" sz="1700" i="1" dirty="0">
                <a:solidFill>
                  <a:schemeClr val="accent5"/>
                </a:solidFill>
              </a:rPr>
              <a:t>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6035040" y="302209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1" name="Shape 7"/>
          <p:cNvSpPr/>
          <p:nvPr/>
        </p:nvSpPr>
        <p:spPr>
          <a:xfrm>
            <a:off x="6035040" y="3748532"/>
            <a:ext cx="1645920" cy="914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 flipV="1">
            <a:off x="6035040" y="2295652"/>
            <a:ext cx="1645920" cy="217932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 flipV="1">
            <a:off x="6035040" y="5201412"/>
            <a:ext cx="1645920" cy="726440"/>
          </a:xfrm>
          <a:prstGeom prst="line">
            <a:avLst/>
          </a:prstGeom>
          <a:noFill/>
          <a:ln w="25400">
            <a:solidFill>
              <a:srgbClr val="17375E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548640" y="19781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16" name="Image 1" descr="sleepy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067052"/>
            <a:ext cx="457200" cy="45720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188720" y="19872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ben altijd moe.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188720" y="22773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gaan slapen.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548640" y="270459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0" name="Image 2" descr="face with thermome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793492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188720" y="271373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hoofdpijn.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188720" y="300380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een pauze moeten nemen.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548640" y="343103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speaking hea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519932"/>
            <a:ext cx="457200" cy="4572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188720" y="344017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Nederlands is niet goed genoeg.</a:t>
            </a:r>
            <a:endParaRPr lang="en-US" sz="1400" dirty="0"/>
          </a:p>
        </p:txBody>
      </p:sp>
      <p:sp>
        <p:nvSpPr>
          <p:cNvPr id="26" name="Text 19"/>
          <p:cNvSpPr txBox="1"/>
          <p:nvPr/>
        </p:nvSpPr>
        <p:spPr>
          <a:xfrm>
            <a:off x="1188720" y="373024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elke dag tien minuten moeten oefenen.</a:t>
            </a:r>
            <a:endParaRPr lang="en-US" sz="1300" dirty="0"/>
          </a:p>
        </p:txBody>
      </p:sp>
      <p:sp>
        <p:nvSpPr>
          <p:cNvPr id="27" name="Shape 20"/>
          <p:cNvSpPr/>
          <p:nvPr/>
        </p:nvSpPr>
        <p:spPr>
          <a:xfrm>
            <a:off x="548640" y="415747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8" name="Image 4" descr="alarm clo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46372"/>
            <a:ext cx="457200" cy="45720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1188720" y="416661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kom altijd te laat.</a:t>
            </a:r>
            <a:endParaRPr lang="en-US" sz="1400" dirty="0"/>
          </a:p>
        </p:txBody>
      </p:sp>
      <p:sp>
        <p:nvSpPr>
          <p:cNvPr id="30" name="Text 22"/>
          <p:cNvSpPr txBox="1"/>
          <p:nvPr/>
        </p:nvSpPr>
        <p:spPr>
          <a:xfrm>
            <a:off x="1188720" y="445668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vroeger moeten opstaan.</a:t>
            </a:r>
            <a:endParaRPr lang="en-US" sz="1300" dirty="0"/>
          </a:p>
        </p:txBody>
      </p:sp>
      <p:sp>
        <p:nvSpPr>
          <p:cNvPr id="31" name="Shape 23"/>
          <p:cNvSpPr/>
          <p:nvPr/>
        </p:nvSpPr>
        <p:spPr>
          <a:xfrm>
            <a:off x="548640" y="488391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5" descr="card file box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72812"/>
            <a:ext cx="457200" cy="457200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1188720" y="489305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Mijn bureau is een chaos.</a:t>
            </a:r>
            <a:endParaRPr lang="en-US" sz="1400" dirty="0"/>
          </a:p>
        </p:txBody>
      </p:sp>
      <p:sp>
        <p:nvSpPr>
          <p:cNvPr id="34" name="Text 25"/>
          <p:cNvSpPr txBox="1"/>
          <p:nvPr/>
        </p:nvSpPr>
        <p:spPr>
          <a:xfrm>
            <a:off x="1188720" y="518312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alles moeten opruimen.</a:t>
            </a:r>
            <a:endParaRPr lang="en-US" sz="1300" dirty="0"/>
          </a:p>
        </p:txBody>
      </p:sp>
      <p:sp>
        <p:nvSpPr>
          <p:cNvPr id="35" name="Shape 26"/>
          <p:cNvSpPr/>
          <p:nvPr/>
        </p:nvSpPr>
        <p:spPr>
          <a:xfrm>
            <a:off x="548640" y="5610352"/>
            <a:ext cx="5486400" cy="635000"/>
          </a:xfrm>
          <a:prstGeom prst="roundRect">
            <a:avLst>
              <a:gd name="adj" fmla="val 1152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6" name="Image 6" descr="exploding head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699252"/>
            <a:ext cx="457200" cy="457200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188720" y="5619496"/>
            <a:ext cx="475488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6</a:t>
            </a:r>
            <a:r>
              <a:rPr lang="en-US" sz="1400" dirty="0">
                <a:solidFill>
                  <a:schemeClr val="tx1"/>
                </a:solidFill>
              </a:rPr>
              <a:t>  </a:t>
            </a:r>
            <a:r>
              <a:rPr lang="en-US" sz="1400" i="1" dirty="0">
                <a:solidFill>
                  <a:schemeClr val="tx1"/>
                </a:solidFill>
              </a:rPr>
              <a:t>Ik heb te veel werk.</a:t>
            </a:r>
            <a:endParaRPr lang="en-US" sz="1400" dirty="0"/>
          </a:p>
        </p:txBody>
      </p:sp>
      <p:sp>
        <p:nvSpPr>
          <p:cNvPr id="38" name="Text 28"/>
          <p:cNvSpPr txBox="1"/>
          <p:nvPr/>
        </p:nvSpPr>
        <p:spPr>
          <a:xfrm>
            <a:off x="1188720" y="5909564"/>
            <a:ext cx="48006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i="1" dirty="0">
                <a:solidFill>
                  <a:schemeClr val="accent3"/>
                </a:solidFill>
              </a:rPr>
              <a:t>Je zou je collega om hulp moeten vragen.</a:t>
            </a:r>
            <a:endParaRPr lang="en-US" sz="1300" dirty="0"/>
          </a:p>
        </p:txBody>
      </p:sp>
      <p:sp>
        <p:nvSpPr>
          <p:cNvPr id="39" name="Shape 29"/>
          <p:cNvSpPr/>
          <p:nvPr/>
        </p:nvSpPr>
        <p:spPr>
          <a:xfrm>
            <a:off x="7726680" y="19872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7863840" y="19872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opstaan</a:t>
            </a:r>
            <a:endParaRPr lang="en-US" sz="1600" dirty="0"/>
          </a:p>
        </p:txBody>
      </p:sp>
      <p:sp>
        <p:nvSpPr>
          <p:cNvPr id="41" name="Shape 31"/>
          <p:cNvSpPr/>
          <p:nvPr/>
        </p:nvSpPr>
        <p:spPr>
          <a:xfrm>
            <a:off x="7726680" y="271373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2" name="Text 32"/>
          <p:cNvSpPr txBox="1"/>
          <p:nvPr/>
        </p:nvSpPr>
        <p:spPr>
          <a:xfrm>
            <a:off x="7863840" y="271373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een pauze nemen</a:t>
            </a:r>
            <a:endParaRPr lang="en-US" sz="1600" dirty="0"/>
          </a:p>
        </p:txBody>
      </p:sp>
      <p:sp>
        <p:nvSpPr>
          <p:cNvPr id="43" name="Shape 33"/>
          <p:cNvSpPr/>
          <p:nvPr/>
        </p:nvSpPr>
        <p:spPr>
          <a:xfrm>
            <a:off x="7726680" y="344017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4" name="Text 34"/>
          <p:cNvSpPr txBox="1"/>
          <p:nvPr/>
        </p:nvSpPr>
        <p:spPr>
          <a:xfrm>
            <a:off x="7863840" y="344017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elke dag tien minuten oefenen</a:t>
            </a:r>
            <a:endParaRPr lang="en-US" sz="1600" dirty="0"/>
          </a:p>
        </p:txBody>
      </p:sp>
      <p:sp>
        <p:nvSpPr>
          <p:cNvPr id="45" name="Shape 35"/>
          <p:cNvSpPr/>
          <p:nvPr/>
        </p:nvSpPr>
        <p:spPr>
          <a:xfrm>
            <a:off x="7726680" y="416661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863840" y="416661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vroeger gaan slapen</a:t>
            </a:r>
            <a:endParaRPr lang="en-US" sz="1600" dirty="0"/>
          </a:p>
        </p:txBody>
      </p:sp>
      <p:sp>
        <p:nvSpPr>
          <p:cNvPr id="47" name="Shape 37"/>
          <p:cNvSpPr/>
          <p:nvPr/>
        </p:nvSpPr>
        <p:spPr>
          <a:xfrm>
            <a:off x="7726680" y="489305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48" name="Text 38"/>
          <p:cNvSpPr txBox="1"/>
          <p:nvPr/>
        </p:nvSpPr>
        <p:spPr>
          <a:xfrm>
            <a:off x="7863840" y="489305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je collega om hulp vragen</a:t>
            </a:r>
            <a:endParaRPr lang="en-US" sz="1600" dirty="0"/>
          </a:p>
        </p:txBody>
      </p:sp>
      <p:sp>
        <p:nvSpPr>
          <p:cNvPr id="49" name="Shape 39"/>
          <p:cNvSpPr/>
          <p:nvPr/>
        </p:nvSpPr>
        <p:spPr>
          <a:xfrm>
            <a:off x="7726680" y="5619496"/>
            <a:ext cx="391363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0"/>
          <p:cNvSpPr txBox="1"/>
          <p:nvPr/>
        </p:nvSpPr>
        <p:spPr>
          <a:xfrm>
            <a:off x="7863840" y="5619496"/>
            <a:ext cx="370332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</a:t>
            </a:r>
            <a:r>
              <a:rPr lang="en-US" sz="1600" dirty="0">
                <a:solidFill>
                  <a:schemeClr val="tx1"/>
                </a:solidFill>
              </a:rPr>
              <a:t>  </a:t>
            </a:r>
            <a:r>
              <a:rPr lang="en-US" sz="1600" i="1" dirty="0">
                <a:solidFill>
                  <a:schemeClr val="tx1"/>
                </a:solidFill>
              </a:rPr>
              <a:t>alles opruimen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Wat zou je doen als…?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7" name="Image 0" descr="money ba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83080"/>
            <a:ext cx="822960" cy="82296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lotto won?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2441448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gho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1508" y="1783080"/>
            <a:ext cx="822960" cy="8229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532888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dag onzichtbaar was?</a:t>
            </a:r>
            <a:endParaRPr lang="en-US" sz="1400" dirty="0"/>
          </a:p>
        </p:txBody>
      </p:sp>
      <p:sp>
        <p:nvSpPr>
          <p:cNvPr id="12" name="Shape 7"/>
          <p:cNvSpPr/>
          <p:nvPr/>
        </p:nvSpPr>
        <p:spPr>
          <a:xfrm>
            <a:off x="4334256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2" descr="crow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4316" y="1783080"/>
            <a:ext cx="822960" cy="82296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425696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minister was?</a:t>
            </a:r>
            <a:endParaRPr lang="en-US" sz="1400" dirty="0"/>
          </a:p>
        </p:txBody>
      </p:sp>
      <p:sp>
        <p:nvSpPr>
          <p:cNvPr id="15" name="Shape 9"/>
          <p:cNvSpPr/>
          <p:nvPr/>
        </p:nvSpPr>
        <p:spPr>
          <a:xfrm>
            <a:off x="6227064" y="160020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3" descr="beach with umbrella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7124" y="1783080"/>
            <a:ext cx="822960" cy="82296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6318504" y="269748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vier weken vakantie had?</a:t>
            </a:r>
            <a:endParaRPr lang="en-US" sz="1400" dirty="0"/>
          </a:p>
        </p:txBody>
      </p:sp>
      <p:sp>
        <p:nvSpPr>
          <p:cNvPr id="18" name="Shape 11"/>
          <p:cNvSpPr/>
          <p:nvPr/>
        </p:nvSpPr>
        <p:spPr>
          <a:xfrm>
            <a:off x="548640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9" name="Image 4" descr="woman superhero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931920"/>
            <a:ext cx="822960" cy="822960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40080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een superkracht had?</a:t>
            </a:r>
            <a:endParaRPr lang="en-US" sz="1400" dirty="0"/>
          </a:p>
        </p:txBody>
      </p:sp>
      <p:sp>
        <p:nvSpPr>
          <p:cNvPr id="21" name="Shape 13"/>
          <p:cNvSpPr/>
          <p:nvPr/>
        </p:nvSpPr>
        <p:spPr>
          <a:xfrm>
            <a:off x="2441448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2" name="Image 5" descr="globe showing europe afric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21508" y="3931920"/>
            <a:ext cx="822960" cy="822960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2532888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in een ander land woonde?</a:t>
            </a:r>
            <a:endParaRPr lang="en-US" sz="1400" dirty="0"/>
          </a:p>
        </p:txBody>
      </p:sp>
      <p:sp>
        <p:nvSpPr>
          <p:cNvPr id="24" name="Shape 15"/>
          <p:cNvSpPr/>
          <p:nvPr/>
        </p:nvSpPr>
        <p:spPr>
          <a:xfrm>
            <a:off x="4334256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5" name="Image 6" descr="man office work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14316" y="3931920"/>
            <a:ext cx="822960" cy="82296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4425696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de baas was?</a:t>
            </a:r>
            <a:endParaRPr lang="en-US" sz="1400" dirty="0"/>
          </a:p>
        </p:txBody>
      </p:sp>
      <p:sp>
        <p:nvSpPr>
          <p:cNvPr id="27" name="Shape 17"/>
          <p:cNvSpPr/>
          <p:nvPr/>
        </p:nvSpPr>
        <p:spPr>
          <a:xfrm>
            <a:off x="6227064" y="3749040"/>
            <a:ext cx="1783080" cy="201168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2540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8" name="Image 7" descr="bab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07124" y="3931920"/>
            <a:ext cx="822960" cy="822960"/>
          </a:xfrm>
          <a:prstGeom prst="rect">
            <a:avLst/>
          </a:prstGeom>
        </p:spPr>
      </p:pic>
      <p:sp>
        <p:nvSpPr>
          <p:cNvPr id="29" name="Text 18"/>
          <p:cNvSpPr txBox="1"/>
          <p:nvPr/>
        </p:nvSpPr>
        <p:spPr>
          <a:xfrm>
            <a:off x="6318504" y="4846320"/>
            <a:ext cx="1600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als je tien jaar jonger was?</a:t>
            </a:r>
            <a:endParaRPr lang="en-US" sz="1400" dirty="0"/>
          </a:p>
        </p:txBody>
      </p:sp>
      <p:pic>
        <p:nvPicPr>
          <p:cNvPr id="30" name="Image 8" descr="thought ballo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21040" y="1600200"/>
            <a:ext cx="731520" cy="731520"/>
          </a:xfrm>
          <a:prstGeom prst="rect">
            <a:avLst/>
          </a:prstGeom>
        </p:spPr>
      </p:pic>
      <p:sp>
        <p:nvSpPr>
          <p:cNvPr id="31" name="Text 19"/>
          <p:cNvSpPr txBox="1"/>
          <p:nvPr/>
        </p:nvSpPr>
        <p:spPr>
          <a:xfrm>
            <a:off x="9144000" y="1600200"/>
            <a:ext cx="24963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6E4A9E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Stel je voor!</a:t>
            </a:r>
            <a:endParaRPr lang="en-US" sz="2400" dirty="0"/>
          </a:p>
        </p:txBody>
      </p:sp>
      <p:sp>
        <p:nvSpPr>
          <p:cNvPr id="32" name="Text 20"/>
          <p:cNvSpPr txBox="1"/>
          <p:nvPr/>
        </p:nvSpPr>
        <p:spPr>
          <a:xfrm>
            <a:off x="8321040" y="2514600"/>
            <a:ext cx="331927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Tirez une carte, posez la question à votre voisin·e.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Réponse avec </a:t>
            </a:r>
            <a:r>
              <a:rPr lang="en-US" sz="1500" i="1" dirty="0">
                <a:solidFill>
                  <a:schemeClr val="tx1"/>
                </a:solidFill>
              </a:rPr>
              <a:t>zou</a:t>
            </a:r>
            <a:r>
              <a:rPr lang="en-US" sz="1500" dirty="0">
                <a:solidFill>
                  <a:schemeClr val="tx1"/>
                </a:solidFill>
              </a:rPr>
              <a:t> + une raison : </a:t>
            </a:r>
            <a:r>
              <a:rPr lang="en-US" sz="1500" i="1" dirty="0">
                <a:solidFill>
                  <a:schemeClr val="tx1"/>
                </a:solidFill>
              </a:rPr>
              <a:t>Als ik de lotto won, zou ik… omdat…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Le voisin pose la carte suivante à quelqu’un d’autre.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Le budget de l’équipe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L’équipe reçoit 5 000 € pour améliorer le bureau. Chacun propose, compare et défend son idée — poliment !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animez la réunion et faites respecter le budget : </a:t>
            </a:r>
            <a:r>
              <a:rPr lang="en-US" sz="1700" i="1" dirty="0">
                <a:solidFill>
                  <a:schemeClr val="tx1"/>
                </a:solidFill>
              </a:rPr>
              <a:t>Wat zouden we kunnen doen?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L’équipe</a:t>
            </a:r>
            <a:r>
              <a:rPr lang="en-US" sz="1700" dirty="0">
                <a:solidFill>
                  <a:schemeClr val="tx1"/>
                </a:solidFill>
              </a:rPr>
              <a:t> : proposez, comparez les prix (M26), exprimez vos préférences (M27).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zouden we kunnen doen? · Ik zou graag … · Als we … kochten, zouden we … · Ik zou liever … · Zou dat niet te duur zijn? · Dat zou ik niet doen. · We zouden elkaar vaker kunnen zien.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BEA"/>
          </a:solidFill>
          <a:ln w="1905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IDEEËNBUS · BUDGET € 5.000</a:t>
            </a:r>
            <a:endParaRPr lang="en-US" sz="1100" dirty="0"/>
          </a:p>
        </p:txBody>
      </p:sp>
      <p:pic>
        <p:nvPicPr>
          <p:cNvPr id="22" name="Image 0" descr="hot beve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1312" y="2204618"/>
            <a:ext cx="457200" cy="4572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759952" y="201168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koffiemachine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10588752" y="201168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€ 1.200</a:t>
            </a:r>
            <a:endParaRPr lang="en-US" sz="1300" dirty="0"/>
          </a:p>
        </p:txBody>
      </p:sp>
      <p:pic>
        <p:nvPicPr>
          <p:cNvPr id="25" name="Image 1" descr="chai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3047695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759952" y="285475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nieuwe stoelen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10588752" y="285475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€ 3.500</a:t>
            </a:r>
            <a:endParaRPr lang="en-US" sz="1300" dirty="0"/>
          </a:p>
        </p:txBody>
      </p:sp>
      <p:pic>
        <p:nvPicPr>
          <p:cNvPr id="28" name="Image 2" descr="clinking glass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1312" y="389077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759952" y="3697834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teamuitstap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10588752" y="3697834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€ 2.000</a:t>
            </a:r>
            <a:endParaRPr lang="en-US" sz="1300" dirty="0"/>
          </a:p>
        </p:txBody>
      </p:sp>
      <p:pic>
        <p:nvPicPr>
          <p:cNvPr id="31" name="Image 3" descr="potted plan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1312" y="4733849"/>
            <a:ext cx="457200" cy="4572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759952" y="4540910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planten</a:t>
            </a:r>
            <a:endParaRPr lang="en-US" sz="1200" dirty="0"/>
          </a:p>
        </p:txBody>
      </p:sp>
      <p:sp>
        <p:nvSpPr>
          <p:cNvPr id="33" name="Text 26"/>
          <p:cNvSpPr txBox="1"/>
          <p:nvPr/>
        </p:nvSpPr>
        <p:spPr>
          <a:xfrm>
            <a:off x="10588752" y="4540910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€ 400</a:t>
            </a:r>
            <a:endParaRPr lang="en-US" sz="1300" dirty="0"/>
          </a:p>
        </p:txBody>
      </p:sp>
      <p:pic>
        <p:nvPicPr>
          <p:cNvPr id="34" name="Image 4" descr="open boo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1312" y="5576926"/>
            <a:ext cx="457200" cy="457200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8759952" y="5383987"/>
            <a:ext cx="18288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chemeClr val="tx1"/>
                </a:solidFill>
              </a:rPr>
              <a:t>een cursus Nederlands</a:t>
            </a:r>
            <a:endParaRPr lang="en-US" sz="1200" dirty="0"/>
          </a:p>
        </p:txBody>
      </p:sp>
      <p:sp>
        <p:nvSpPr>
          <p:cNvPr id="36" name="Text 28"/>
          <p:cNvSpPr txBox="1"/>
          <p:nvPr/>
        </p:nvSpPr>
        <p:spPr>
          <a:xfrm>
            <a:off x="10588752" y="5383987"/>
            <a:ext cx="914400" cy="843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€ 1.800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6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poli : </a:t>
            </a:r>
            <a:r>
              <a:rPr lang="en-US" sz="2000" i="1" dirty="0">
                <a:solidFill>
                  <a:schemeClr val="tx1"/>
                </a:solidFill>
              </a:rPr>
              <a:t>Help me!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Conseil : </a:t>
            </a:r>
            <a:r>
              <a:rPr lang="en-US" sz="2000" i="1" dirty="0">
                <a:solidFill>
                  <a:schemeClr val="tx1"/>
                </a:solidFill>
              </a:rPr>
              <a:t>Ik ben moe.</a:t>
            </a:r>
            <a:r>
              <a:rPr lang="en-US" sz="2000" dirty="0">
                <a:solidFill>
                  <a:schemeClr val="tx1"/>
                </a:solidFill>
              </a:rPr>
              <a:t> → </a:t>
            </a:r>
            <a:r>
              <a:rPr lang="en-US" sz="2000" i="1" dirty="0">
                <a:solidFill>
                  <a:schemeClr val="tx1"/>
                </a:solidFill>
              </a:rPr>
              <a:t>Je zou…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Hypothèse : </a:t>
            </a:r>
            <a:r>
              <a:rPr lang="en-US" sz="2000" i="1" dirty="0">
                <a:solidFill>
                  <a:schemeClr val="tx1"/>
                </a:solidFill>
              </a:rPr>
              <a:t>Ik heb geen tijd. Ik ga niet mee.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Demander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Conseiller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Imaginer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6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7, M30 </a:t>
            </a:r>
            <a:r>
              <a:rPr lang="en-US" sz="1800" i="1" dirty="0">
                <a:solidFill>
                  <a:schemeClr val="bg1"/>
                </a:solidFill>
              </a:rPr>
              <a:t>Het bedrijf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6 · 29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1–5</a:t>
            </a:r>
            <a:endParaRPr lang="en-US" sz="800" dirty="0"/>
          </a:p>
        </p:txBody>
      </p:sp>
      <p:sp>
        <p:nvSpPr>
          <p:cNvPr id="39" name="Shape 26"/>
          <p:cNvSpPr/>
          <p:nvPr/>
        </p:nvSpPr>
        <p:spPr>
          <a:xfrm>
            <a:off x="7671816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671816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6–10</a:t>
            </a:r>
            <a:endParaRPr lang="en-US" sz="800" dirty="0"/>
          </a:p>
        </p:txBody>
      </p:sp>
      <p:sp>
        <p:nvSpPr>
          <p:cNvPr id="41" name="Shape 28"/>
          <p:cNvSpPr/>
          <p:nvPr/>
        </p:nvSpPr>
        <p:spPr>
          <a:xfrm>
            <a:off x="8394192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394192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11–15</a:t>
            </a:r>
            <a:endParaRPr lang="en-US" sz="800" dirty="0"/>
          </a:p>
        </p:txBody>
      </p:sp>
      <p:sp>
        <p:nvSpPr>
          <p:cNvPr id="43" name="Shape 30"/>
          <p:cNvSpPr/>
          <p:nvPr/>
        </p:nvSpPr>
        <p:spPr>
          <a:xfrm>
            <a:off x="9116568" y="4919472"/>
            <a:ext cx="5486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116568" y="4919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16–19</a:t>
            </a:r>
            <a:endParaRPr lang="en-US" sz="800" dirty="0"/>
          </a:p>
        </p:txBody>
      </p:sp>
      <p:sp>
        <p:nvSpPr>
          <p:cNvPr id="45" name="Shape 32"/>
          <p:cNvSpPr/>
          <p:nvPr/>
        </p:nvSpPr>
        <p:spPr>
          <a:xfrm>
            <a:off x="9701784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9701784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20–24</a:t>
            </a:r>
            <a:endParaRPr lang="en-US" sz="800" dirty="0"/>
          </a:p>
        </p:txBody>
      </p:sp>
      <p:sp>
        <p:nvSpPr>
          <p:cNvPr id="47" name="Shape 34"/>
          <p:cNvSpPr/>
          <p:nvPr/>
        </p:nvSpPr>
        <p:spPr>
          <a:xfrm>
            <a:off x="10424160" y="4919472"/>
            <a:ext cx="685800" cy="41148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0424160" y="4919472"/>
            <a:ext cx="685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25–29</a:t>
            </a:r>
            <a:endParaRPr lang="en-US" sz="800" dirty="0"/>
          </a:p>
        </p:txBody>
      </p:sp>
      <p:pic>
        <p:nvPicPr>
          <p:cNvPr id="49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29 — Als ik tijd had… — Le conditionnel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2026-10-05T10:51:22Z</dcterms:created>
  <dcterms:modified xsi:type="dcterms:W3CDTF">2026-10-05T10:51:22Z</dcterms:modified>
</cp:coreProperties>
</file>