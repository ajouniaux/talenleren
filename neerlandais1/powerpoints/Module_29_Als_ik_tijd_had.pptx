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0831b51-7a25-6a93-a9b5-68222d20fe1b}">
          <p14:sldIdLst>
            <p14:sldId id="256"/>
          </p14:sldIdLst>
        </p14:section>
        <p14:section name="Découvrir" id="{cf74c011-dd5b-4e44-4f0c-ff95658c2ae2}">
          <p14:sldIdLst>
            <p14:sldId id="257"/>
            <p14:sldId id="258"/>
          </p14:sldIdLst>
        </p14:section>
        <p14:section name="Comprendre" id="{c59015b4-ce9a-5533-754e-f9abeb8d4c5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57cab07d-d66d-a204-98b8-a13cf378f38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844a58c9-cdd1-45f0-94fa-4ce8922600c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demander poliment, rêver, imaginer.
Question d'entrée : « Comment dit-on pourriez-vous m'aider ? et si je gagnais au lotto, je ferais un voyage ? » Un seul petit mot pour les deux : zou.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 conditionnel est le temps de la politesse au travail : au téléphone, dans les e-mails, au guichet.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zou + infinitif dans des rêves.
Faites repérer zou (2e position) et l'infinitif au bout : c'est la pince du M12. Après als : won, had, was (imperfectum, M19). Puis : « Et vous ? Als ik de lotto won, zou ik…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conditionnel.
Une seule forme à apprendre : zou (singulier) / zouden (pluriel). Le verbe principal ne se conjugue plus : il va au bout, comme avec un modal. Prononciation : zou rime avec jou.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Monter d'une marche dans l'échelle de politesse.
Plus la phrase est longue et indirecte, plus elle est polie. even (M16, M24) adoucit encore. Au téléphone, Zou u even willen wachten? est la formule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Commander et demander quelque chose poliment.
Ik had graag… (forme d'imperfectum) est la formule flamande typique au magasin et au café. Les trois sont corrects. Rappel M27 : graag = volontiers.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avec le conditionnel.
zou … moeten = devrait ; zou … kunnen = pourrait. Als ik jou was = à ta place (mot à mot : si j'étais toi). Faites donner un conseil à un voisin : Ik ben altijd moe. — Je zou…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une hypothèse sur le présent.
Même logique qu'en français : « si + imparfait, conditionnel ». Quand la subordonnée vient en premier, zou suit directement la virgule (M9). À l'oral, on entend aussi Als ik tijd had, ging ik mee (imperfectum dans les deux parties).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« si » et du conditionnel français.
Rappel M9 : als = si (condition), of = si (question indirecte). Les apprenants qui disent « si j'aurais » en français ne doivent pas transposer : en néerlandais aussi, l'imperfectum suffit après 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conditionnel de l'information non confirmée.
Emploi fréquent dans les médias et les rumeurs. Synonyme : naar verluidt (selon certaines sources), blijkbaar (apparemment).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regret et l'hypothèse sur le passé.
À reconnaître seulement : production libre en Néerlandais 2. La forme courte (was ik gekomen, had ik gedaan) est la plus fréquente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des phrases au conditionnel avec modal, particule et subordonnée.
Avec deux infinitifs, l'ordre willen komen est le plus courant. Dans la subordonnée, zou rejoint l'infinitif à la fin. Zou je dat kunnen doen? : kunnen doen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Imaginer et parler au conditionnel, en jouant.
Exigez la structure complète : Als ik de lotto won, zou ik… omdat… onzichtbaar = invisible, een superkracht = un super-pouvoir.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finale : proposer, comparer et négocier poliment.
Synthèse du bloc 6 : conditionnel, montants (M26), préférences (M27), elkaar (M28 : We zouden elkaar vaker kunnen zien). Le budget total ne doit pas dépasser 5 000 € : faites additionner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6.
Réponses :
1. Zou je me kunnen helpen?
2. Je zou meer moeten slapen. (ou une autre idée)
3. Als ik tijd had, zou ik meegaan.
Bilan : faites relire la frise des 29 modules et choisir un module à retravailler. Bloc 7 : le vocabulaire de l'entreprise (M30), les achterzetsels (M31) et la présentation personnelle et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Als ik tijd had…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 conditionnel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Zou je me kunnen helpen? · Als ik de lotto won, zou ik een reis maken.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430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35240" y="9144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me kunnen helpen?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606040"/>
            <a:ext cx="5212080" cy="1920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675120" y="4572000"/>
            <a:ext cx="32004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46520" y="4846320"/>
            <a:ext cx="201168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lugg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108960"/>
            <a:ext cx="914400" cy="914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69748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 ik de lotto won, </a:t>
            </a:r>
            <a:r>
              <a:rPr lang="en-US" sz="18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ik een reis maken.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poliment : </a:t>
            </a:r>
            <a:r>
              <a:rPr lang="en-US" sz="2000" i="1" dirty="0">
                <a:solidFill>
                  <a:schemeClr val="tx1"/>
                </a:solidFill>
              </a:rPr>
              <a:t>Zou u even willen wachten?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Conseiller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un conseil : </a:t>
            </a:r>
            <a:r>
              <a:rPr lang="en-US" sz="2000" i="1" dirty="0">
                <a:solidFill>
                  <a:schemeClr val="tx1"/>
                </a:solidFill>
              </a:rPr>
              <a:t>Je zou meer moeten slapen.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Imaginer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une hypothèse : </a:t>
            </a:r>
            <a:r>
              <a:rPr lang="en-US" sz="2000" i="1" dirty="0">
                <a:solidFill>
                  <a:schemeClr val="tx1"/>
                </a:solidFill>
              </a:rPr>
              <a:t>Als ik tijd had, zou ik Spaans leren.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conditionnel est le temps de la politesse au travail : téléphone, e-mails, guichet.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Als ik de lotto won…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6" name="Image 0" descr="beach with umbre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5292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de lotto </a:t>
            </a:r>
            <a:r>
              <a:rPr lang="en-US" sz="1600" b="1" i="1" dirty="0">
                <a:solidFill>
                  <a:schemeClr val="tx1"/>
                </a:solidFill>
              </a:rPr>
              <a:t>won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een huis aan zee </a:t>
            </a:r>
            <a:r>
              <a:rPr lang="en-US" sz="1600" b="1" i="1" dirty="0">
                <a:solidFill>
                  <a:schemeClr val="accent6"/>
                </a:solidFill>
              </a:rPr>
              <a:t>kopen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1051560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60520"/>
            <a:ext cx="777240" cy="7772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00200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4322064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2" name="Image 2" descr="pizz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642104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meer tijd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Italiaans </a:t>
            </a:r>
            <a:r>
              <a:rPr lang="en-US" sz="1600" b="1" i="1" dirty="0">
                <a:solidFill>
                  <a:schemeClr val="accent6"/>
                </a:solidFill>
              </a:rPr>
              <a:t>leren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824984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4160520"/>
            <a:ext cx="777240" cy="77724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73624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8095488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8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2140" y="169164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415528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directeur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iedereen elke vrijdag vrijaf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598408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21" name="Image 5" descr="woman red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4160520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147048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4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Où est le 2ᵉ verbe ? Quel temps suit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Et vous ? </a:t>
            </a:r>
            <a:r>
              <a:rPr lang="en-US" sz="1800" i="1" dirty="0">
                <a:solidFill>
                  <a:schemeClr val="tx1"/>
                </a:solidFill>
              </a:rPr>
              <a:t>Als ik de lotto won, zou ik…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forme :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206240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206240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zou / zouden + infinitif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7627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217627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151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2377440" y="261518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5409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305409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49300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/ zij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2377440" y="3493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319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2377440" y="39319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37083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43708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097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377440" y="48097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074920" y="16916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74920" y="16916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772790" y="16916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72790" y="16916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6792324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92324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graag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8163339" y="1691640"/>
            <a:ext cx="1704807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63339" y="1691640"/>
            <a:ext cx="17048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naar Gent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9959586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1" name="Text 28"/>
          <p:cNvSpPr txBox="1"/>
          <p:nvPr/>
        </p:nvSpPr>
        <p:spPr>
          <a:xfrm>
            <a:off x="9959586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gaan.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074920" y="26060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74920" y="26060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609445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9445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79232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9232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7490194" y="2606040"/>
            <a:ext cx="14553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7490194" y="2606040"/>
            <a:ext cx="14553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kunnen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9036949" y="2606040"/>
            <a:ext cx="16310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9036949" y="2606040"/>
            <a:ext cx="16310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42" name="Text 39"/>
          <p:cNvSpPr txBox="1"/>
          <p:nvPr/>
        </p:nvSpPr>
        <p:spPr>
          <a:xfrm>
            <a:off x="5074920" y="3429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② </a:t>
            </a:r>
            <a:r>
              <a:rPr lang="en-US" sz="1500" i="1" dirty="0">
                <a:solidFill>
                  <a:schemeClr val="accent6"/>
                </a:solidFill>
              </a:rPr>
              <a:t>zou</a:t>
            </a:r>
            <a:r>
              <a:rPr lang="en-US" sz="1500" i="1" dirty="0">
                <a:solidFill>
                  <a:schemeClr val="accent6"/>
                </a:solidFill>
              </a:rPr>
              <a:t> en 2ᵉ position · infinitif(s) au bout : la pince du M12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5074920" y="4023360"/>
            <a:ext cx="6565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257800" y="4069080"/>
            <a:ext cx="6263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= l’imperfectum de </a:t>
            </a:r>
            <a:r>
              <a:rPr lang="en-US" sz="1700" i="1" dirty="0">
                <a:solidFill>
                  <a:schemeClr val="tx1"/>
                </a:solidFill>
              </a:rPr>
              <a:t>zullen</a:t>
            </a:r>
            <a:r>
              <a:rPr lang="en-US" sz="1700" dirty="0">
                <a:solidFill>
                  <a:schemeClr val="tx1"/>
                </a:solidFill>
              </a:rPr>
              <a:t> (M18)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verbe principal ne se conjugue plus.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rime avec </a:t>
            </a:r>
            <a:r>
              <a:rPr lang="en-US" sz="1700" i="1" dirty="0">
                <a:solidFill>
                  <a:schemeClr val="tx1"/>
                </a:solidFill>
              </a:rPr>
              <a:t>jou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Une seule forme à retenir : </a:t>
            </a:r>
            <a:r>
              <a:rPr lang="en-US" sz="1900" i="1" dirty="0">
                <a:solidFill>
                  <a:schemeClr val="bg1"/>
                </a:solidFill>
              </a:rPr>
              <a:t>zou</a:t>
            </a:r>
            <a:r>
              <a:rPr lang="en-US" sz="1900" dirty="0">
                <a:solidFill>
                  <a:schemeClr val="bg1"/>
                </a:solidFill>
              </a:rPr>
              <a:t> (singulier) · </a:t>
            </a:r>
            <a:r>
              <a:rPr lang="en-US" sz="1900" i="1" dirty="0">
                <a:solidFill>
                  <a:schemeClr val="bg1"/>
                </a:solidFill>
              </a:rPr>
              <a:t>zouden</a:t>
            </a:r>
            <a:r>
              <a:rPr lang="en-US" sz="1900" dirty="0">
                <a:solidFill>
                  <a:schemeClr val="bg1"/>
                </a:solidFill>
              </a:rPr>
              <a:t> (pluriel)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Demander poliment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480560"/>
            <a:ext cx="2145182" cy="64008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2628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direct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94360" y="352044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352044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me!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785262" y="3931920"/>
            <a:ext cx="2145182" cy="118872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397764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adouci (M16)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30982" y="297180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876702" y="297180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je me even?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021885" y="3383280"/>
            <a:ext cx="2145182" cy="1737360"/>
          </a:xfrm>
          <a:prstGeom prst="roundRect">
            <a:avLst>
              <a:gd name="adj" fmla="val 315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342900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question (M12)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67605" y="242316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113325" y="242316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Kun je me helpen?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58507" y="2834640"/>
            <a:ext cx="2145182" cy="2286000"/>
          </a:xfrm>
          <a:prstGeom prst="roundRect">
            <a:avLst>
              <a:gd name="adj" fmla="val 255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288036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conditionnel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304227" y="187452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49947" y="187452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je me kunnen helpen?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495130" y="2286000"/>
            <a:ext cx="2145182" cy="2834640"/>
          </a:xfrm>
          <a:prstGeom prst="roundRect">
            <a:avLst>
              <a:gd name="adj" fmla="val 255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233172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très poli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540850" y="132588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586570" y="132588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u mij even willen helpen?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moins poli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97112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plus poli ▶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 téléphone : </a:t>
            </a:r>
            <a:r>
              <a:rPr lang="en-US" sz="1800" i="1" dirty="0">
                <a:solidFill>
                  <a:schemeClr val="bg1"/>
                </a:solidFill>
              </a:rPr>
              <a:t>Zou u even willen wachten?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Zou je de deur kunnen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Je voudrais… : wil graag, zou graag, had graag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br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188720" cy="1188720"/>
          </a:xfrm>
          <a:prstGeom prst="rect">
            <a:avLst/>
          </a:prstGeom>
        </p:spPr>
      </p:pic>
      <p:pic>
        <p:nvPicPr>
          <p:cNvPr id="6" name="Image 1" descr="croiss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7520"/>
            <a:ext cx="1005840" cy="10058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2103120" y="160020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267712" y="160020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wil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een brood.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8275320" y="160020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2103120" y="256032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2267712" y="256032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graag een brood </a:t>
            </a:r>
            <a:r>
              <a:rPr lang="en-US" sz="2000" b="1" i="1" dirty="0">
                <a:solidFill>
                  <a:schemeClr val="tx1"/>
                </a:solidFill>
              </a:rPr>
              <a:t>willen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275320" y="25603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 bien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2103120" y="3520440"/>
            <a:ext cx="6035040" cy="804672"/>
          </a:xfrm>
          <a:prstGeom prst="roundRect">
            <a:avLst>
              <a:gd name="adj" fmla="val 20455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267712" y="352044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graag een brood.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35204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BE, très courant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0744200" y="3703320"/>
            <a:ext cx="213360" cy="422453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957560" y="3703320"/>
            <a:ext cx="213360" cy="422453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1170920" y="3703320"/>
            <a:ext cx="213360" cy="422453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0744200" y="3703320"/>
            <a:ext cx="640080" cy="422453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457200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Ik zou willen een brood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i="1" dirty="0">
                <a:solidFill>
                  <a:schemeClr val="tx1"/>
                </a:solidFill>
              </a:rPr>
              <a:t>Ik zou graag een brood </a:t>
            </a:r>
            <a:r>
              <a:rPr lang="en-US" sz="1900" b="1" i="1" dirty="0">
                <a:solidFill>
                  <a:schemeClr val="tx1"/>
                </a:solidFill>
              </a:rPr>
              <a:t>willen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(l’infinitif va au bout)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had graag…</a:t>
            </a:r>
            <a:r>
              <a:rPr lang="en-US" sz="1800" dirty="0">
                <a:solidFill>
                  <a:schemeClr val="bg1"/>
                </a:solidFill>
              </a:rPr>
              <a:t> : la formule flamande au magasin et au café. Les trois sont corrects.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Conseiller : je zou … moeten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sleepy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822960" cy="8229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508760" y="170992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645920" y="17099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pic>
        <p:nvPicPr>
          <p:cNvPr id="8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28800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0" y="164592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2356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meer </a:t>
            </a:r>
            <a:r>
              <a:rPr lang="en-US" sz="1800" b="1" i="1" dirty="0">
                <a:solidFill>
                  <a:schemeClr val="tx1"/>
                </a:solidFill>
              </a:rPr>
              <a:t>moeten</a:t>
            </a:r>
            <a:r>
              <a:rPr lang="en-US" sz="1800" i="1" dirty="0">
                <a:solidFill>
                  <a:schemeClr val="tx1"/>
                </a:solidFill>
              </a:rPr>
              <a:t> slapen.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devrais</a:t>
            </a:r>
            <a:endParaRPr lang="en-US" sz="1800" dirty="0"/>
          </a:p>
        </p:txBody>
      </p:sp>
      <p:pic>
        <p:nvPicPr>
          <p:cNvPr id="11" name="Image 2" descr="anxious face with swe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822960" cy="82296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508760" y="289864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645920" y="289864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zo veel stress.</a:t>
            </a:r>
            <a:endParaRPr lang="en-US" sz="1700" dirty="0"/>
          </a:p>
        </p:txBody>
      </p:sp>
      <p:pic>
        <p:nvPicPr>
          <p:cNvPr id="14" name="Image 3" descr="light 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017520"/>
            <a:ext cx="548640" cy="54864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5486400" y="283464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623560" y="28346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een pauze </a:t>
            </a:r>
            <a:r>
              <a:rPr lang="en-US" sz="1800" b="1" i="1" dirty="0">
                <a:solidFill>
                  <a:schemeClr val="tx1"/>
                </a:solidFill>
              </a:rPr>
              <a:t>kunnen</a:t>
            </a:r>
            <a:r>
              <a:rPr lang="en-US" sz="1800" i="1" dirty="0">
                <a:solidFill>
                  <a:schemeClr val="tx1"/>
                </a:solidFill>
              </a:rPr>
              <a:t> nemen.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pourrais</a:t>
            </a:r>
            <a:endParaRPr lang="en-US" sz="1800" dirty="0"/>
          </a:p>
        </p:txBody>
      </p:sp>
      <p:pic>
        <p:nvPicPr>
          <p:cNvPr id="17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69080"/>
            <a:ext cx="822960" cy="822960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508760" y="408736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645920" y="40873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voel me ziek.</a:t>
            </a:r>
            <a:endParaRPr lang="en-US" sz="1700" dirty="0"/>
          </a:p>
        </p:txBody>
      </p:sp>
      <p:pic>
        <p:nvPicPr>
          <p:cNvPr id="20" name="Image 5" descr="light 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206240"/>
            <a:ext cx="548640" cy="54864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486400" y="402336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5623560" y="40233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Als ik jou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ik de dokter </a:t>
            </a:r>
            <a:r>
              <a:rPr lang="en-US" sz="1800" b="1" i="1" dirty="0">
                <a:solidFill>
                  <a:schemeClr val="tx1"/>
                </a:solidFill>
              </a:rPr>
              <a:t>bellen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ta place, je…</a:t>
            </a:r>
            <a:endParaRPr lang="en-US" sz="1800" dirty="0"/>
          </a:p>
        </p:txBody>
      </p:sp>
      <p:sp>
        <p:nvSpPr>
          <p:cNvPr id="23" name="Shape 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zou … moeten</a:t>
            </a:r>
            <a:r>
              <a:rPr lang="en-US" sz="1700" dirty="0">
                <a:solidFill>
                  <a:schemeClr val="bg1"/>
                </a:solidFill>
              </a:rPr>
              <a:t> = devrait · </a:t>
            </a:r>
            <a:r>
              <a:rPr lang="en-US" sz="1700" i="1" dirty="0">
                <a:solidFill>
                  <a:schemeClr val="bg1"/>
                </a:solidFill>
              </a:rPr>
              <a:t>zou … kunnen</a:t>
            </a:r>
            <a:r>
              <a:rPr lang="en-US" sz="1700" dirty="0">
                <a:solidFill>
                  <a:schemeClr val="bg1"/>
                </a:solidFill>
              </a:rPr>
              <a:t> = pourrait · </a:t>
            </a:r>
            <a:r>
              <a:rPr lang="en-US" sz="1700" i="1" dirty="0">
                <a:solidFill>
                  <a:schemeClr val="bg1"/>
                </a:solidFill>
              </a:rPr>
              <a:t>Ik zou dat niet doen.</a:t>
            </a:r>
            <a:r>
              <a:rPr lang="en-US" sz="1700" dirty="0">
                <a:solidFill>
                  <a:schemeClr val="bg1"/>
                </a:solidFill>
              </a:rPr>
              <a:t> = je ne ferais pas ça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L’hypothèse : als + imperfectum,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E4A9E"/>
                </a:solidFill>
              </a:rPr>
              <a:t>LE WAGON </a:t>
            </a:r>
            <a:r>
              <a:rPr lang="en-US" sz="1200" b="1" i="1" spc="200" kern="0" dirty="0">
                <a:solidFill>
                  <a:srgbClr val="6E4A9E"/>
                </a:solidFill>
              </a:rPr>
              <a:t>ALS</a:t>
            </a:r>
            <a:r>
              <a:rPr lang="en-US" sz="1200" b="1" spc="200" kern="0" dirty="0">
                <a:solidFill>
                  <a:srgbClr val="6E4A9E"/>
                </a:solidFill>
              </a:rPr>
              <a:t> (M9)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2024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815620" y="192024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5620" y="192024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had,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074800" y="192024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74800" y="192024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142264" y="192024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42264" y="192024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68663" y="1920240"/>
            <a:ext cx="1934607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868663" y="1920240"/>
            <a:ext cx="1934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meegaan.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« verbe, verbe » autour de la virgule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24612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24612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324612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324612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342503" y="324612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42503" y="32461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308463" y="324612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08463" y="324612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575443" y="324612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75443" y="324612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229600" y="155448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66760" y="1600200"/>
            <a:ext cx="31546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Après </a:t>
            </a: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dirty="0">
                <a:solidFill>
                  <a:schemeClr val="tx1"/>
                </a:solidFill>
              </a:rPr>
              <a:t> : imperfectum (M19)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had · was · kon · wist · won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34340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343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Même logique qu’en français : « si + imparfait, conditionnel » → </a:t>
            </a:r>
            <a:r>
              <a:rPr lang="en-US" sz="1800" i="1" dirty="0">
                <a:solidFill>
                  <a:schemeClr val="tx1"/>
                </a:solidFill>
              </a:rPr>
              <a:t>als + imperfectum, zou + infinitif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À l’oral, on entend aussi : </a:t>
            </a:r>
            <a:r>
              <a:rPr lang="en-US" sz="1800" i="1" dirty="0">
                <a:solidFill>
                  <a:schemeClr val="bg1"/>
                </a:solidFill>
              </a:rPr>
              <a:t>Als ik tijd had, ging ik mee.</a:t>
            </a:r>
            <a:r>
              <a:rPr lang="en-US" sz="1800" dirty="0">
                <a:solidFill>
                  <a:schemeClr val="bg1"/>
                </a:solidFill>
              </a:rPr>
              <a:t> (imperfectum des deux côtés)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si, si, si…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si j’</a:t>
            </a:r>
            <a:r>
              <a:rPr lang="en-US" sz="1700" b="1" dirty="0">
                <a:solidFill>
                  <a:schemeClr val="tx1"/>
                </a:solidFill>
              </a:rPr>
              <a:t>avais</a:t>
            </a:r>
            <a:r>
              <a:rPr lang="en-US" sz="1700" dirty="0">
                <a:solidFill>
                  <a:schemeClr val="tx1"/>
                </a:solidFill>
              </a:rPr>
              <a:t> le temps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360920" y="24871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772400" y="2203704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220370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tijd </a:t>
            </a:r>
            <a:r>
              <a:rPr lang="en-US" sz="1700" b="1" i="1" dirty="0">
                <a:solidFill>
                  <a:schemeClr val="tx1"/>
                </a:solidFill>
              </a:rPr>
              <a:t>had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95351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viendrais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953512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kom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360920" y="32918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772400" y="3008376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30083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</a:t>
            </a:r>
            <a:r>
              <a:rPr lang="en-US" sz="1700" b="1" i="1" dirty="0">
                <a:solidFill>
                  <a:schemeClr val="tx1"/>
                </a:solidFill>
              </a:rPr>
              <a:t>komen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75818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ne sais pas </a:t>
            </a:r>
            <a:r>
              <a:rPr lang="en-US" sz="1700" b="1" dirty="0">
                <a:solidFill>
                  <a:schemeClr val="tx1"/>
                </a:solidFill>
              </a:rPr>
              <a:t>s’</a:t>
            </a:r>
            <a:r>
              <a:rPr lang="en-US" sz="1700" dirty="0">
                <a:solidFill>
                  <a:schemeClr val="tx1"/>
                </a:solidFill>
              </a:rPr>
              <a:t>il viendrait »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3758184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als hij zou komen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360920" y="4096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772400" y="3813048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09560" y="3813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of</a:t>
            </a:r>
            <a:r>
              <a:rPr lang="en-US" sz="1700" i="1" dirty="0">
                <a:solidFill>
                  <a:schemeClr val="tx1"/>
                </a:solidFill>
              </a:rPr>
              <a:t> hij zou komen (M9)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562856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voudrais</a:t>
            </a:r>
            <a:r>
              <a:rPr lang="en-US" sz="1700" dirty="0">
                <a:solidFill>
                  <a:schemeClr val="tx1"/>
                </a:solidFill>
              </a:rPr>
              <a:t> un café »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0" y="4562856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willen een koffie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360920" y="490118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7772400" y="4617720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46177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graag een koffie </a:t>
            </a:r>
            <a:r>
              <a:rPr lang="en-US" sz="1700" b="1" i="1" dirty="0">
                <a:solidFill>
                  <a:schemeClr val="tx1"/>
                </a:solidFill>
              </a:rPr>
              <a:t>willen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 = si (condition) · </a:t>
            </a:r>
            <a:r>
              <a:rPr lang="en-US" sz="1700" i="1" dirty="0">
                <a:solidFill>
                  <a:schemeClr val="bg1"/>
                </a:solidFill>
              </a:rPr>
              <a:t>of</a:t>
            </a:r>
            <a:r>
              <a:rPr lang="en-US" sz="1700" dirty="0">
                <a:solidFill>
                  <a:schemeClr val="bg1"/>
                </a:solidFill>
              </a:rPr>
              <a:t> = si (question indirecte) · </a:t>
            </a:r>
            <a:r>
              <a:rPr lang="en-US" sz="1700" i="1" dirty="0">
                <a:solidFill>
                  <a:schemeClr val="bg1"/>
                </a:solidFill>
              </a:rPr>
              <a:t>als ik tijd zou hebben</a:t>
            </a:r>
            <a:r>
              <a:rPr lang="en-US" sz="1700" dirty="0">
                <a:solidFill>
                  <a:schemeClr val="bg1"/>
                </a:solidFill>
              </a:rPr>
              <a:t> se dit aussi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zou = il paraît que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864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8640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DE BRUSSELSE KRANT</a:t>
            </a:r>
            <a:endParaRPr lang="en-US" sz="1500" dirty="0"/>
          </a:p>
        </p:txBody>
      </p:sp>
      <p:pic>
        <p:nvPicPr>
          <p:cNvPr id="8" name="Image 0" descr="news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7744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65960" y="22860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directeur </a:t>
            </a:r>
            <a:r>
              <a:rPr lang="en-US" sz="1900" b="1" i="1" dirty="0">
                <a:solidFill>
                  <a:schemeClr val="tx2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ontslag </a:t>
            </a:r>
            <a:r>
              <a:rPr lang="en-US" sz="1900" b="1" i="1" dirty="0">
                <a:solidFill>
                  <a:schemeClr val="tx1"/>
                </a:solidFill>
              </a:rPr>
              <a:t>nemen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Le directeur démissionnerait (on le dit).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309360" y="1920240"/>
            <a:ext cx="5330952" cy="1188720"/>
          </a:xfrm>
          <a:prstGeom prst="roundRect">
            <a:avLst>
              <a:gd name="adj" fmla="val 13846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73952" y="1920240"/>
            <a:ext cx="5001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</a:t>
            </a:r>
            <a:r>
              <a:rPr lang="en-US" sz="1800" b="1" i="1" dirty="0">
                <a:solidFill>
                  <a:schemeClr val="tx2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ziek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Karim serait malade, paraît-il.</a:t>
            </a:r>
            <a:endParaRPr lang="en-US" sz="1800" dirty="0"/>
          </a:p>
        </p:txBody>
      </p:sp>
      <p:pic>
        <p:nvPicPr>
          <p:cNvPr id="12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4612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09360" y="329184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Synonymes : </a:t>
            </a:r>
            <a:r>
              <a:rPr lang="en-US" sz="1500" i="1" dirty="0">
                <a:solidFill>
                  <a:schemeClr val="accent5"/>
                </a:solidFill>
              </a:rPr>
              <a:t>naar verluidt</a:t>
            </a:r>
            <a:r>
              <a:rPr lang="en-US" sz="1500" i="1" dirty="0">
                <a:solidFill>
                  <a:schemeClr val="accent5"/>
                </a:solidFill>
              </a:rPr>
              <a:t> (selon certaines sources) · </a:t>
            </a:r>
            <a:r>
              <a:rPr lang="en-US" sz="1500" i="1" dirty="0">
                <a:solidFill>
                  <a:schemeClr val="accent5"/>
                </a:solidFill>
              </a:rPr>
              <a:t>blijkbaar</a:t>
            </a:r>
            <a:r>
              <a:rPr lang="en-US" sz="1500" i="1" dirty="0">
                <a:solidFill>
                  <a:schemeClr val="accent5"/>
                </a:solidFill>
              </a:rPr>
              <a:t> (apparemment)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emploi que le conditionnel journalistique français : l’information n’est pas confirmée.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conditionnel passé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194560"/>
            <a:ext cx="1051560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3108960" y="2011680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0896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✗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hier (trop tard !)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0" y="201168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maintenant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6974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26974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Als ik het </a:t>
            </a:r>
            <a:r>
              <a:rPr lang="en-US" sz="1900" b="1" i="1" dirty="0">
                <a:solidFill>
                  <a:schemeClr val="tx1"/>
                </a:solidFill>
              </a:rPr>
              <a:t>geweten had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tx1"/>
                </a:solidFill>
              </a:rPr>
              <a:t>was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697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Si je l’avais su, je serais venu.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5661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5661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= Als ik het geweten had, </a:t>
            </a:r>
            <a:r>
              <a:rPr lang="en-US" sz="1900" b="1" i="1" dirty="0">
                <a:solidFill>
                  <a:schemeClr val="tx1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 zijn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566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(forme longue)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434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4348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had</a:t>
            </a:r>
            <a:r>
              <a:rPr lang="en-US" sz="1900" i="1" dirty="0">
                <a:solidFill>
                  <a:schemeClr val="tx1"/>
                </a:solidFill>
              </a:rPr>
              <a:t> het graag </a:t>
            </a:r>
            <a:r>
              <a:rPr lang="en-US" sz="1900" b="1" i="1" dirty="0">
                <a:solidFill>
                  <a:schemeClr val="tx1"/>
                </a:solidFill>
              </a:rPr>
              <a:t>gedaan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44348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l’aurais fait volontiers.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 (Néerlandais 2). La forme courte (</a:t>
            </a:r>
            <a:r>
              <a:rPr lang="en-US" sz="1700" i="1" dirty="0">
                <a:solidFill>
                  <a:schemeClr val="bg1"/>
                </a:solidFill>
              </a:rPr>
              <a:t>was ik gekomen</a:t>
            </a:r>
            <a:r>
              <a:rPr lang="en-US" sz="1700" dirty="0">
                <a:solidFill>
                  <a:schemeClr val="bg1"/>
                </a:solidFill>
              </a:rPr>
              <a:t>) est la plus fréquente.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zou et de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2911420" y="1600200"/>
            <a:ext cx="119128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11420" y="160020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4194141" y="1600200"/>
            <a:ext cx="1910642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194141" y="1600200"/>
            <a:ext cx="19106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opbellen.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558889" y="2350008"/>
            <a:ext cx="2581651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3558889" y="2350008"/>
            <a:ext cx="25816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willen komen.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1232245" y="3099816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32245" y="3099816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2227815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227815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3558889" y="3099816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3558889" y="3099816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3849624"/>
            <a:ext cx="194017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3849624"/>
            <a:ext cx="19401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 ik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2580254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580254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911328" y="3849624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11328" y="3849624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 komen.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4599432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599432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544209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544209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2227815" y="4599432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227815" y="4599432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3061199" y="4599432"/>
            <a:ext cx="2413899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3061199" y="4599432"/>
            <a:ext cx="24138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kunnen doen?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7863840" y="1600200"/>
            <a:ext cx="3776472" cy="3602736"/>
          </a:xfrm>
          <a:prstGeom prst="roundRect">
            <a:avLst>
              <a:gd name="adj" fmla="val 2538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001000" y="1691640"/>
            <a:ext cx="35204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en 2ᵉ position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infinitif(s) au </a:t>
            </a:r>
            <a:r>
              <a:rPr lang="en-US" sz="1500" b="1" dirty="0">
                <a:solidFill>
                  <a:schemeClr val="tx1"/>
                </a:solidFill>
              </a:rPr>
              <a:t>bout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particule collée : </a:t>
            </a:r>
            <a:r>
              <a:rPr lang="en-US" sz="1500" i="1" dirty="0">
                <a:solidFill>
                  <a:schemeClr val="tx1"/>
                </a:solidFill>
              </a:rPr>
              <a:t>opbellen</a:t>
            </a:r>
            <a:r>
              <a:rPr lang="en-US" sz="1500" dirty="0">
                <a:solidFill>
                  <a:schemeClr val="tx1"/>
                </a:solidFill>
              </a:rPr>
              <a:t> (M11)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subordonnée :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rejoint l’infinitif à la fin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willen komen</a:t>
            </a:r>
            <a:r>
              <a:rPr lang="en-US" sz="1500" dirty="0">
                <a:solidFill>
                  <a:schemeClr val="tx1"/>
                </a:solidFill>
              </a:rPr>
              <a:t> : l’ordre le plus courant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Deux infinitifs ?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willen 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— ou plus simple :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les trois portes du conditionnel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2">
              <a:alpha val="10000"/>
            </a:schemeClr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Politesse</a:t>
            </a:r>
            <a:endParaRPr lang="en-US" sz="1900" dirty="0"/>
          </a:p>
        </p:txBody>
      </p:sp>
      <p:pic>
        <p:nvPicPr>
          <p:cNvPr id="8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332" y="228600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u … willen?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zou graag … willen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had graag …</a:t>
            </a:r>
            <a:r>
              <a:rPr lang="en-US" sz="1700" dirty="0">
                <a:solidFill>
                  <a:schemeClr val="tx1"/>
                </a:solidFill>
              </a:rPr>
              <a:t> (BE)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3605784" y="3154680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337304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3">
              <a:alpha val="10000"/>
            </a:schemeClr>
          </a:solidFill>
          <a:ln w="31750">
            <a:solidFill>
              <a:srgbClr val="2E7D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37304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7304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Conseil, souhait</a:t>
            </a:r>
            <a:endParaRPr lang="en-US" sz="1900" dirty="0"/>
          </a:p>
        </p:txBody>
      </p:sp>
      <p:pic>
        <p:nvPicPr>
          <p:cNvPr id="14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996" y="2286000"/>
            <a:ext cx="822960" cy="8229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20184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Je zou … moeten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jou was, zou ik …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394448" y="3154680"/>
            <a:ext cx="164592" cy="164592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25968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rgbClr val="6E4A9E">
              <a:alpha val="10000"/>
            </a:srgbClr>
          </a:solidFill>
          <a:ln w="31750">
            <a:solidFill>
              <a:srgbClr val="6E4A9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5968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125968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Hypothèse</a:t>
            </a:r>
            <a:endParaRPr lang="en-US" sz="1900" dirty="0"/>
          </a:p>
        </p:txBody>
      </p:sp>
      <p:pic>
        <p:nvPicPr>
          <p:cNvPr id="20" name="Image 2" descr="thought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1660" y="2286000"/>
            <a:ext cx="822960" cy="8229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08848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tijd had,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ik …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als + imperf. · zou + inf.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11183112" y="3154680"/>
            <a:ext cx="164592" cy="16459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Forme : </a:t>
            </a:r>
            <a:r>
              <a:rPr lang="en-US" sz="2000" i="1" dirty="0">
                <a:solidFill>
                  <a:schemeClr val="bg1"/>
                </a:solidFill>
              </a:rPr>
              <a:t>zou / zouden</a:t>
            </a:r>
            <a:r>
              <a:rPr lang="en-US" sz="2000" dirty="0">
                <a:solidFill>
                  <a:schemeClr val="bg1"/>
                </a:solidFill>
              </a:rPr>
              <a:t> + infinitif au bout</a:t>
            </a:r>
            <a:endParaRPr lang="en-US" sz="2000" dirty="0"/>
          </a:p>
        </p:txBody>
      </p:sp>
      <p:pic>
        <p:nvPicPr>
          <p:cNvPr id="25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zou ou zouden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 j’avais…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conseil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Ques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Wat zou je doen als…?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EuroSig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budget de l’équipe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72200" y="19781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270459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even willen wachten?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172200" y="343103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me kunnen terugbellen?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172200" y="415747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zou graag een koffie willen.</a:t>
            </a:r>
            <a:r>
              <a:rPr lang="en-US" sz="1800" dirty="0">
                <a:solidFill>
                  <a:schemeClr val="accent3"/>
                </a:solidFill>
              </a:rPr>
              <a:t>  ·  ou </a:t>
            </a:r>
            <a:r>
              <a:rPr lang="en-US" sz="1800" i="1" dirty="0">
                <a:solidFill>
                  <a:schemeClr val="accent3"/>
                </a:solidFill>
              </a:rPr>
              <a:t>Ik had graag een koffie.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172200" y="488391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het rapport kunnen sturen?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172200" y="56103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de deur willen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55080" y="1987296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tijd had, zou ik meegaan.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55080" y="2859024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rijk was, zou ik een huis kopen.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55080" y="3730752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het niet regende, zouden we wandelen.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55080" y="4602480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zijn nummer kende, zou ik hem bellen.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55080" y="5474208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Sofie niet ziek was, zou ze naar het werk komen.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dirty="0">
                <a:solidFill>
                  <a:schemeClr val="tx1"/>
                </a:solidFill>
              </a:rPr>
              <a:t>Ik zou willen ook de offerte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dirty="0">
                <a:solidFill>
                  <a:schemeClr val="tx1"/>
                </a:solidFill>
              </a:rPr>
              <a:t>zou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dirty="0">
                <a:solidFill>
                  <a:schemeClr val="tx1"/>
                </a:solidFill>
              </a:rPr>
              <a:t>Zouden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dirty="0">
                <a:solidFill>
                  <a:schemeClr val="tx1"/>
                </a:solidFill>
              </a:rPr>
              <a:t>ik zou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 willen ook de offerte zien.</a:t>
            </a:r>
            <a:r>
              <a:rPr lang="en-US" sz="1800" b="1" i="1" dirty="0">
                <a:solidFill>
                  <a:schemeClr val="accent3"/>
                </a:solidFill>
              </a:rPr>
              <a:t> Ik zou ook graag de offerte willen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strike="sngStrike" dirty="0">
                <a:solidFill>
                  <a:schemeClr val="accent6"/>
                </a:solidFill>
              </a:rPr>
              <a:t>zou had</a:t>
            </a:r>
            <a:r>
              <a:rPr lang="en-US" sz="1800" b="1" i="1" dirty="0">
                <a:solidFill>
                  <a:schemeClr val="accent3"/>
                </a:solidFill>
              </a:rPr>
              <a:t>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strike="sngStrike" dirty="0">
                <a:solidFill>
                  <a:schemeClr val="accent6"/>
                </a:solidFill>
              </a:rPr>
              <a:t>Zouden u</a:t>
            </a:r>
            <a:r>
              <a:rPr lang="en-US" sz="1800" b="1" i="1" dirty="0">
                <a:solidFill>
                  <a:schemeClr val="accent3"/>
                </a:solidFill>
              </a:rPr>
              <a:t> Zou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</a:t>
            </a:r>
            <a:r>
              <a:rPr lang="en-US" sz="1800" b="1" i="1" dirty="0">
                <a:solidFill>
                  <a:schemeClr val="accent3"/>
                </a:solidFill>
              </a:rPr>
              <a:t> zou ik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strike="sngStrike" dirty="0">
                <a:solidFill>
                  <a:schemeClr val="accent6"/>
                </a:solidFill>
              </a:rPr>
              <a:t>als</a:t>
            </a:r>
            <a:r>
              <a:rPr lang="en-US" sz="1800" b="1" i="1" dirty="0">
                <a:solidFill>
                  <a:schemeClr val="accent3"/>
                </a:solidFill>
              </a:rPr>
              <a:t> of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Zou u mij de factuur kunnen sturen?</a:t>
            </a:r>
            <a:r>
              <a:rPr lang="en-US" sz="1400" i="1" dirty="0">
                <a:solidFill>
                  <a:schemeClr val="accent5"/>
                </a:solidFill>
              </a:rPr>
              <a:t> est correct. N° 1 : </a:t>
            </a:r>
            <a:r>
              <a:rPr lang="en-US" sz="1400" i="1" dirty="0">
                <a:solidFill>
                  <a:schemeClr val="accent5"/>
                </a:solidFill>
              </a:rPr>
              <a:t>Ik zou ook de offerte willen zien</a:t>
            </a:r>
            <a:r>
              <a:rPr lang="en-US" sz="1400" i="1" dirty="0">
                <a:solidFill>
                  <a:schemeClr val="accent5"/>
                </a:solidFill>
              </a:rPr>
              <a:t> est juste aussi. Après </a:t>
            </a:r>
            <a:r>
              <a:rPr lang="en-US" sz="1400" i="1" dirty="0">
                <a:solidFill>
                  <a:schemeClr val="accent5"/>
                </a:solidFill>
              </a:rPr>
              <a:t>als u wilt,</a:t>
            </a:r>
            <a:r>
              <a:rPr lang="en-US" sz="1400" i="1" dirty="0">
                <a:solidFill>
                  <a:schemeClr val="accent5"/>
                </a:solidFill>
              </a:rPr>
              <a:t> : inversion (M9).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9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19781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88720" y="270459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hoofdpijn.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343103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Nederlands is niet goed genoeg.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88720" y="415747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kom altijd te laat.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1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8720" y="488391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bureau is een chaos.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188720" y="56103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te veel werk.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30" name="Shape 20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32" name="Shape 22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035040" y="302209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035040" y="374853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88720" y="19872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ben altijd moe.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88720" y="22773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gaan slapen.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88720" y="271373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hoofdpijn.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188720" y="300380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een pauze moeten nemen.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188720" y="344017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Nederlands is niet goed genoeg.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188720" y="373024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elke dag tien minuten moeten oefenen.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188720" y="416661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kom altijd te laat.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1188720" y="445668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opstaan.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188720" y="489305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bureau is een chaos.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1188720" y="518312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alles moeten opruimen.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6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188720" y="56194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te veel werk.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1188720" y="59095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je collega om hulp moeten vragen.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Wat zou je doen als…?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oney b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783080"/>
            <a:ext cx="822960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lotto won?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508" y="178308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532888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dag onzichtbaar was?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cr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4316" y="1783080"/>
            <a:ext cx="822960" cy="822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425696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minister was?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beach with 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124" y="1783080"/>
            <a:ext cx="822960" cy="8229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318504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vier weken vakantie had?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woman superher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931920"/>
            <a:ext cx="822960" cy="8229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40080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superkracht had?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globe showing europe afric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1508" y="3931920"/>
            <a:ext cx="822960" cy="8229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532888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in een ander land woonde?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4316" y="3931920"/>
            <a:ext cx="822960" cy="82296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425696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baas was?</a:t>
            </a:r>
            <a:endParaRPr lang="en-US" sz="1400" dirty="0"/>
          </a:p>
        </p:txBody>
      </p:sp>
      <p:sp>
        <p:nvSpPr>
          <p:cNvPr id="27" name="Shape 17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bab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7124" y="3931920"/>
            <a:ext cx="822960" cy="82296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6318504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tien jaar jonger was?</a:t>
            </a:r>
            <a:endParaRPr lang="en-US" sz="1400" dirty="0"/>
          </a:p>
        </p:txBody>
      </p:sp>
      <p:pic>
        <p:nvPicPr>
          <p:cNvPr id="30" name="Image 8" descr="thought ballo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Stel je voor!</a:t>
            </a:r>
            <a:endParaRPr lang="en-US" sz="2400" dirty="0"/>
          </a:p>
        </p:txBody>
      </p:sp>
      <p:sp>
        <p:nvSpPr>
          <p:cNvPr id="32" name="Text 20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carte, posez la question à votre voisin·e.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Réponse avec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+ une raison : </a:t>
            </a:r>
            <a:r>
              <a:rPr lang="en-US" sz="1500" i="1" dirty="0">
                <a:solidFill>
                  <a:schemeClr val="tx1"/>
                </a:solidFill>
              </a:rPr>
              <a:t>Als ik de lotto won, zou ik… omdat…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voisin pose la carte suivante à quelqu’un d’autre.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budget de l’équipe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L’équipe reçoit 5 000 € pour améliorer le bureau. Chacun propose, compare et défend son idée — poliment !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animez la réunion et faites respecter le budget : </a:t>
            </a:r>
            <a:r>
              <a:rPr lang="en-US" sz="1700" i="1" dirty="0">
                <a:solidFill>
                  <a:schemeClr val="tx1"/>
                </a:solidFill>
              </a:rPr>
              <a:t>Wat zouden we kunnen doen?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L’équipe</a:t>
            </a:r>
            <a:r>
              <a:rPr lang="en-US" sz="1700" dirty="0">
                <a:solidFill>
                  <a:schemeClr val="tx1"/>
                </a:solidFill>
              </a:rPr>
              <a:t> : proposez, comparez les prix (M26), exprimez vos préférences (M27).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zouden we kunnen doen? · Ik zou graag … · Als we … kochten, zouden we … · Ik zou liever … · Zou dat niet te duur zijn? · Dat zou ik niet doen. · We zouden elkaar vaker kunnen zien.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IDEEËNBUS · BUDGET € 5.000</a:t>
            </a:r>
            <a:endParaRPr lang="en-US" sz="1100" dirty="0"/>
          </a:p>
        </p:txBody>
      </p:sp>
      <p:pic>
        <p:nvPicPr>
          <p:cNvPr id="22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204618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59952" y="201168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koffiemachine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88752" y="201168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€ 1.200</a:t>
            </a:r>
            <a:endParaRPr lang="en-US" sz="1300" dirty="0"/>
          </a:p>
        </p:txBody>
      </p:sp>
      <p:pic>
        <p:nvPicPr>
          <p:cNvPr id="2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3047695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59952" y="285475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nieuwe stoelen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0588752" y="285475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€ 3.500</a:t>
            </a:r>
            <a:endParaRPr lang="en-US" sz="1300" dirty="0"/>
          </a:p>
        </p:txBody>
      </p:sp>
      <p:pic>
        <p:nvPicPr>
          <p:cNvPr id="28" name="Image 2" descr="clinking 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890772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759952" y="3697834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teamuitstap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588752" y="3697834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€ 2.000</a:t>
            </a:r>
            <a:endParaRPr lang="en-US" sz="1300" dirty="0"/>
          </a:p>
        </p:txBody>
      </p:sp>
      <p:pic>
        <p:nvPicPr>
          <p:cNvPr id="31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733849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759952" y="454091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planten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10588752" y="454091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€ 400</a:t>
            </a:r>
            <a:endParaRPr lang="en-US" sz="1300" dirty="0"/>
          </a:p>
        </p:txBody>
      </p:sp>
      <p:pic>
        <p:nvPicPr>
          <p:cNvPr id="34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5576926"/>
            <a:ext cx="457200" cy="4572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759952" y="538398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cursus Nederlands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10588752" y="538398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€ 1.800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6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 : </a:t>
            </a:r>
            <a:r>
              <a:rPr lang="en-US" sz="2000" i="1" dirty="0">
                <a:solidFill>
                  <a:schemeClr val="tx1"/>
                </a:solidFill>
              </a:rPr>
              <a:t>Help me!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Conseil : </a:t>
            </a:r>
            <a:r>
              <a:rPr lang="en-US" sz="2000" i="1" dirty="0">
                <a:solidFill>
                  <a:schemeClr val="tx1"/>
                </a:solidFill>
              </a:rPr>
              <a:t>Ik ben moe.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i="1" dirty="0">
                <a:solidFill>
                  <a:schemeClr val="tx1"/>
                </a:solidFill>
              </a:rPr>
              <a:t>Je zou…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Hypothèse : </a:t>
            </a:r>
            <a:r>
              <a:rPr lang="en-US" sz="2000" i="1" dirty="0">
                <a:solidFill>
                  <a:schemeClr val="tx1"/>
                </a:solidFill>
              </a:rPr>
              <a:t>Ik heb geen tijd. Ik ga niet mee.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Conseiller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Imaginer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6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7, M30 </a:t>
            </a:r>
            <a:r>
              <a:rPr lang="en-US" sz="1800" i="1" dirty="0">
                <a:solidFill>
                  <a:schemeClr val="bg1"/>
                </a:solidFill>
              </a:rPr>
              <a:t>Het bedrijf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6 · 29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1–5</a:t>
            </a:r>
            <a:endParaRPr lang="en-US" sz="800" dirty="0"/>
          </a:p>
        </p:txBody>
      </p:sp>
      <p:sp>
        <p:nvSpPr>
          <p:cNvPr id="39" name="Shape 26"/>
          <p:cNvSpPr/>
          <p:nvPr/>
        </p:nvSpPr>
        <p:spPr>
          <a:xfrm>
            <a:off x="7671816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671816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6–10</a:t>
            </a:r>
            <a:endParaRPr lang="en-US" sz="800" dirty="0"/>
          </a:p>
        </p:txBody>
      </p:sp>
      <p:sp>
        <p:nvSpPr>
          <p:cNvPr id="41" name="Shape 28"/>
          <p:cNvSpPr/>
          <p:nvPr/>
        </p:nvSpPr>
        <p:spPr>
          <a:xfrm>
            <a:off x="8394192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394192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11–15</a:t>
            </a:r>
            <a:endParaRPr lang="en-US" sz="800" dirty="0"/>
          </a:p>
        </p:txBody>
      </p:sp>
      <p:sp>
        <p:nvSpPr>
          <p:cNvPr id="43" name="Shape 30"/>
          <p:cNvSpPr/>
          <p:nvPr/>
        </p:nvSpPr>
        <p:spPr>
          <a:xfrm>
            <a:off x="9116568" y="4919472"/>
            <a:ext cx="5486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116568" y="49194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16–19</a:t>
            </a:r>
            <a:endParaRPr lang="en-US" sz="800" dirty="0"/>
          </a:p>
        </p:txBody>
      </p:sp>
      <p:sp>
        <p:nvSpPr>
          <p:cNvPr id="45" name="Shape 32"/>
          <p:cNvSpPr/>
          <p:nvPr/>
        </p:nvSpPr>
        <p:spPr>
          <a:xfrm>
            <a:off x="9701784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9701784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20–24</a:t>
            </a:r>
            <a:endParaRPr lang="en-US" sz="800" dirty="0"/>
          </a:p>
        </p:txBody>
      </p:sp>
      <p:sp>
        <p:nvSpPr>
          <p:cNvPr id="47" name="Shape 34"/>
          <p:cNvSpPr/>
          <p:nvPr/>
        </p:nvSpPr>
        <p:spPr>
          <a:xfrm>
            <a:off x="1042416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042416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25–29</a:t>
            </a:r>
            <a:endParaRPr lang="en-US" sz="800" dirty="0"/>
          </a:p>
        </p:txBody>
      </p:sp>
      <p:pic>
        <p:nvPicPr>
          <p:cNvPr id="49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29 — Als ik tijd had… — Le conditionnel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2026-10-06T17:53:47Z</dcterms:created>
  <dcterms:modified xsi:type="dcterms:W3CDTF">2026-10-06T17:53:47Z</dcterms:modified>
</cp:coreProperties>
</file>