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5361135e-0aac-2e25-363b-7a1bc9fb3026}">
          <p14:sldIdLst>
            <p14:sldId id="256"/>
          </p14:sldIdLst>
        </p14:section>
        <p14:section name="Découvrir" id="{943026fa-9a0a-4eaa-ac09-8faf4b615e4e}">
          <p14:sldIdLst>
            <p14:sldId id="257"/>
            <p14:sldId id="258"/>
            <p14:sldId id="259"/>
          </p14:sldIdLst>
        </p14:section>
        <p14:section name="Les cinq emplois" id="{897a78b2-544d-6039-c47c-41054036693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lacer et distinguer" id="{0adca79c-b4ac-7b44-eca2-e4f6980e56b5}">
          <p14:sldIdLst>
            <p14:sldId id="266"/>
            <p14:sldId id="267"/>
            <p14:sldId id="268"/>
            <p14:sldId id="269"/>
            <p14:sldId id="270"/>
          </p14:sldIdLst>
        </p14:section>
        <p14:section name="JIJ NU ! — Oefeningen" id="{d4d3ad66-d22d-81d7-9126-ef1c6d1ee94b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e018f4f6-71ab-f757-6bc2-b83bece08b5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un petit mot, cinq rôles.
Le titre est déjà un exemple : Er zijn er vijf = il y en a cinq. On y reviendra diapo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les 3 objectifs.
er est un des mots les plus fréquents du néerlandais. Les francophones l'oublient souvent (~~Ik heb twee~~) ou le traduisent par 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les cinq emplois par la traduction.
Réponses : il y a · y · en · y · on (on sonne). Notez les cinq traductions au tableau : ce sont les cinq emplois de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la carte des cinq emplois (schéma E1).
Les emplois peuvent se combiner (diapo 13 : Er zijn er drie). Le ④ a été vu au M23 : ici, on le replace dans l'ensemble.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er présentatif (« il y a »).
Le verbe s'accorde avec le sujet qui suit : Er is een probleem / Er zijn twee problemen. Er werkt hier niemand = personne ne travaille ici (er avec un sujet indéfini négatif).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Éviter er avec un sujet défini.
Le français dit parfois « il y a le directeur qui t'attend » ; en néerlandais : De directeur wacht op je. Test : le nom est-il précédé de een, geen, veel, twee… ? Oui → er. (De brief ligt er nog est correct : c'est le er de lieu.)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Remplacer un lieu déjà nommé par er.
Avec un mouvement : er … naartoe (Ik ga er morgen naartoe), comme naar … toe (M31). Le français « y » est très proche : j'y habite, j'y vais.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er avec un nombre ou une quantité.
L'oubli de er est l'erreur la plus fréquente : ~~Ik heb twee~~. Faites des « interviews rapides » en chaîne : Hoeveel broers / zussen / talen / fietsen heb je?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Replacer er + préposition (M23) dans l'ensemble.
Rappel M23 : pour une personne, on garde le pronom (Ik denk aan hem). met → mee : Ik ben er blij mee. Lien avec le complément Aan, af, op, uit… (diapo 25) : Ik kijk ernaar 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et utiliser er wordt + participe (« on »).
Formules utiles : Er wordt gebeld · Er wordt aan gewerkt · Hier wordt Nederlands gesproken. Au passé : Er werd gebeld (on a sonné). Le passif complet sera un module à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Placer er dans la phrase.
Avec un pronom objet, celui-ci vient d'abord : Ik heb het er gelegd (B2). L'erreur typique est de mettre er au bout, comme « là » en français : ~~Ik ben geweest er~~ (exercice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er (neutre) et daar (insistance).
Faites lire les deux colonnes avec l'intonation : er est avalé (prononcé « eur »), daar est accentué. En tête de phrase, on met toujours daar (sauf « il y a » et le passif).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la combinaison er ① + er ③ (schéma E2).
Le parallèle est presque parfait : c'est l'occasion de montrer que la logique existe aussi en français. Er is er één = il y en a un (één accentué : le chiffre).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Identifier l'emploi de er avec une méthode (schéma E3).
L'ordre compte : Er zijn er drie contient ① et ③ ; l'aiguillage repère d'abord le ③ (drie), puis le ① en relisant le début de la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Invitez à photographier la diapo.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 1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Identifier l'emploi de er (1 à 5) et traduire.
Faites utiliser l'aiguillage (diapo 14) à voix haute. N° 1 : er staan = il y a (position, M17).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Identifier l'emploi de er (1 à 5) et traduire.
Faites utiliser l'aiguillage (diapo 14) à voix haute. N° 1 : er staan = il y a (position, M17).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Répondre sans répéter le mot, avec er.
N° 4 : aussi Ja, daar denk ik aan (on insiste). N° 2 : aussi Ja, ik ben er al geweest. Prolongez par des questions personnelles.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Répondre sans répéter le mot, avec er.
N° 4 : aussi Ja, daar denk ik aan (on insiste). N° 2 : aussi Ja, ik ben er al geweest. Prolongez par des questions personnelles.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entre er et daar.
N° 4 et 8 : er en tête, mais seulement pour « il y a » (①) et le passif (⑤). N° 2 et 7 : en tête et accentué → daar. N° 1 et 6 : daar est aussi possible (Ja, ik woon daar · Ik heb daar geen zin 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entre er et daar.
N° 4 et 8 : er en tête, mais seulement pour « il y a » (①) et le passif (⑤). N° 2 et 7 : en tête et accentué → daar. N° 1 et 6 : daar est aussi possible (Ja, ik woon daar · Ik heb daar geen zin 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dans un message réaliste.
Leurre correct : Er wordt nog gewerkt aan de lift (⑤). Faites associer chaque erreur à un emploi : place, ①, piège du sujet défini, ③, 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dans un message réaliste.
Leurre correct : Er wordt nog gewerkt aan de lift (⑤). Faites associer chaque erreur à un emploi : place, ①, piège du sujet défini, ③, 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Produire des questions et des réponses avec er ① et ③, de façon ludique.
Par deux : A ne regarde pas l'image et pose 8 questions ; B regarde et répond avec deux er. Ensuite, A dessine le bureau d'après les réponses de B, puis on compare. Variante : décrire son propre bureau ou sa cuisine.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faire visiter et décrire un lieu de travail avec au moins 8 er.
Lien avec M30 (le plan du rez-de-chaussée). de refter (BE) = la cantine. Comptez les er de B et vérifiez la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Er is een probleem.
2. Ik heb er twee.
3. ④ er + préposition (denken aan) = j'y 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· B1 · Les emplois de 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· B1 · Les emplois de 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image" Target="../media/image-25-19.png"/><Relationship Id="rId20" Type="http://schemas.openxmlformats.org/officeDocument/2006/relationships/image" Target="../media/image-25-20.png"/><Relationship Id="rId21" Type="http://schemas.openxmlformats.org/officeDocument/2006/relationships/image" Target="../media/image-25-21.pn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372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COMPLÉMENT · B1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Er zijn er vijf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Les cinq emplois de er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il y a · y · en · y / en · 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V="1">
            <a:off x="9144000" y="960120"/>
            <a:ext cx="914" cy="1783080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76072"/>
            <a:ext cx="1554480" cy="768096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66760" y="576072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il y 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flipV="1">
            <a:off x="9144000" y="2192198"/>
            <a:ext cx="1826257" cy="551002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93017" y="1808150"/>
            <a:ext cx="1554480" cy="768096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93017" y="1808150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y · là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0" y="2743200"/>
            <a:ext cx="1128689" cy="1442542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5449" y="3801694"/>
            <a:ext cx="1554480" cy="768096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95449" y="3801694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 flipH="1">
            <a:off x="8015311" y="2743200"/>
            <a:ext cx="1128689" cy="1442542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38071" y="3801694"/>
            <a:ext cx="1554480" cy="768096"/>
          </a:xfrm>
          <a:prstGeom prst="roundRect">
            <a:avLst>
              <a:gd name="adj" fmla="val 19048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38071" y="3801694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y · en (+ prép.)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H="1" flipV="1">
            <a:off x="7317743" y="2192198"/>
            <a:ext cx="1826257" cy="551002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0503" y="1808150"/>
            <a:ext cx="1554480" cy="768096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40503" y="1808150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66760" y="2194560"/>
            <a:ext cx="15544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66760" y="21945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er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Reconnaître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reconnais les cinq emplois de er.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Exchang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Traduire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fais le lien avec il y a, y, en, on.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Utiliser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décris un lieu, je compte, je réponds sans répéter.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petit mot, cinq rôles : er ne se traduit jamais mot à mot.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mot, cinq traductions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ey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594360" cy="594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463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B83227"/>
                </a:solidFill>
              </a:rPr>
              <a:t>Er</a:t>
            </a:r>
            <a:r>
              <a:rPr lang="en-US" sz="2100" i="1" dirty="0">
                <a:solidFill>
                  <a:schemeClr val="tx1"/>
                </a:solidFill>
              </a:rPr>
              <a:t> is een probleem.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458200" y="1719072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586216" y="1719072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714232" y="1719072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458200" y="1719072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961120" y="1591056"/>
            <a:ext cx="251460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8961120" y="1591056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er = ?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2350008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round push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41448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23500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Brussel? Ik woon </a:t>
            </a:r>
            <a:r>
              <a:rPr lang="en-US" sz="2100" b="1" i="1" dirty="0">
                <a:solidFill>
                  <a:srgbClr val="B83227"/>
                </a:solidFill>
              </a:rPr>
              <a:t>er</a:t>
            </a:r>
            <a:r>
              <a:rPr lang="en-US" sz="2100" i="1" dirty="0">
                <a:solidFill>
                  <a:schemeClr val="tx1"/>
                </a:solidFill>
              </a:rPr>
              <a:t> al tien jaar.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8458200" y="2606040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586216" y="2606040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714232" y="2606040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58200" y="2606040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0" y="2478024"/>
            <a:ext cx="251460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8961120" y="2478024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er = ?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3236976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4" name="Image 2" descr="input numb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28416"/>
            <a:ext cx="594360" cy="5943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323697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Collega’s? Ik heb </a:t>
            </a:r>
            <a:r>
              <a:rPr lang="en-US" sz="2100" b="1" i="1" dirty="0">
                <a:solidFill>
                  <a:srgbClr val="B83227"/>
                </a:solidFill>
              </a:rPr>
              <a:t>er</a:t>
            </a:r>
            <a:r>
              <a:rPr lang="en-US" sz="2100" i="1" dirty="0">
                <a:solidFill>
                  <a:schemeClr val="tx1"/>
                </a:solidFill>
              </a:rPr>
              <a:t> twaalf.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458200" y="3493008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586216" y="3493008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714232" y="3493008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458200" y="3493008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961120" y="3364992"/>
            <a:ext cx="251460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dash"/>
          </a:ln>
        </p:spPr>
      </p:sp>
      <p:sp>
        <p:nvSpPr>
          <p:cNvPr id="31" name="Text 25"/>
          <p:cNvSpPr txBox="1"/>
          <p:nvPr/>
        </p:nvSpPr>
        <p:spPr>
          <a:xfrm>
            <a:off x="8961120" y="3364992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er = ?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548640" y="4123944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3" name="Image 3" descr="thinking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15384"/>
            <a:ext cx="594360" cy="5943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63040" y="412394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De vergadering? Ik denk </a:t>
            </a:r>
            <a:r>
              <a:rPr lang="en-US" sz="2100" b="1" i="1" dirty="0">
                <a:solidFill>
                  <a:srgbClr val="B83227"/>
                </a:solidFill>
              </a:rPr>
              <a:t>er</a:t>
            </a:r>
            <a:r>
              <a:rPr lang="en-US" sz="2100" i="1" dirty="0">
                <a:solidFill>
                  <a:schemeClr val="tx1"/>
                </a:solidFill>
              </a:rPr>
              <a:t>aan.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8458200" y="4379976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586216" y="4379976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714232" y="4379976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458200" y="4379976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961120" y="4251960"/>
            <a:ext cx="251460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8961120" y="4251960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er = ?</a:t>
            </a:r>
            <a:endParaRPr lang="en-US" sz="1700" dirty="0"/>
          </a:p>
        </p:txBody>
      </p:sp>
      <p:sp>
        <p:nvSpPr>
          <p:cNvPr id="41" name="Shape 34"/>
          <p:cNvSpPr/>
          <p:nvPr/>
        </p:nvSpPr>
        <p:spPr>
          <a:xfrm>
            <a:off x="548640" y="5010912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42" name="Image 4" descr="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02352"/>
            <a:ext cx="594360" cy="59436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463040" y="501091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B83227"/>
                </a:solidFill>
              </a:rPr>
              <a:t>Er</a:t>
            </a:r>
            <a:r>
              <a:rPr lang="en-US" sz="2100" i="1" dirty="0">
                <a:solidFill>
                  <a:schemeClr val="tx1"/>
                </a:solidFill>
              </a:rPr>
              <a:t> wordt gebeld!</a:t>
            </a:r>
            <a:endParaRPr lang="en-US" sz="1800" dirty="0"/>
          </a:p>
        </p:txBody>
      </p:sp>
      <p:sp>
        <p:nvSpPr>
          <p:cNvPr id="44" name="Shape 36"/>
          <p:cNvSpPr/>
          <p:nvPr/>
        </p:nvSpPr>
        <p:spPr>
          <a:xfrm>
            <a:off x="8458200" y="5266944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586216" y="5266944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8714232" y="5266944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8458200" y="5266944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8961120" y="5138928"/>
            <a:ext cx="251460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9050">
            <a:solidFill>
              <a:srgbClr val="D9700F"/>
            </a:solidFill>
            <a:prstDash val="dash"/>
          </a:ln>
        </p:spPr>
      </p:sp>
      <p:sp>
        <p:nvSpPr>
          <p:cNvPr id="49" name="Text 41"/>
          <p:cNvSpPr txBox="1"/>
          <p:nvPr/>
        </p:nvSpPr>
        <p:spPr>
          <a:xfrm>
            <a:off x="8961120" y="5138928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er = ?</a:t>
            </a:r>
            <a:endParaRPr lang="en-US" sz="1700" dirty="0"/>
          </a:p>
        </p:txBody>
      </p:sp>
      <p:sp>
        <p:nvSpPr>
          <p:cNvPr id="50" name="Text 4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Par deux : traduisez chaque phrase. Comment dit-on </a:t>
            </a:r>
            <a:r>
              <a:rPr lang="en-US" sz="1600" i="1" dirty="0">
                <a:solidFill>
                  <a:schemeClr val="tx2"/>
                </a:solidFill>
              </a:rPr>
              <a:t>er</a:t>
            </a:r>
            <a:r>
              <a:rPr lang="en-US" sz="1600" dirty="0">
                <a:solidFill>
                  <a:schemeClr val="tx2"/>
                </a:solidFill>
              </a:rPr>
              <a:t> en français 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cinq emplois de 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LA CARTE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86661" cy="40233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63040"/>
            <a:ext cx="2086661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2086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· er présentatif</a:t>
            </a:r>
            <a:endParaRPr lang="en-US" sz="1300" dirty="0"/>
          </a:p>
        </p:txBody>
      </p:sp>
      <p:pic>
        <p:nvPicPr>
          <p:cNvPr id="8" name="Image 0" descr="ey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2057400"/>
            <a:ext cx="914400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3063240"/>
            <a:ext cx="1995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il y a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3703320"/>
            <a:ext cx="186720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A6FB0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 is een probleem.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70916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il y a un problème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99893" y="1463040"/>
            <a:ext cx="2086661" cy="40233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99893" y="1463040"/>
            <a:ext cx="2086661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799893" y="1463040"/>
            <a:ext cx="2086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 · er de lieu</a:t>
            </a:r>
            <a:endParaRPr lang="en-US" sz="1300" dirty="0"/>
          </a:p>
        </p:txBody>
      </p:sp>
      <p:pic>
        <p:nvPicPr>
          <p:cNvPr id="15" name="Image 1" descr="round push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023" y="205740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845613" y="3063240"/>
            <a:ext cx="1995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y · là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2909621" y="3703320"/>
            <a:ext cx="186720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woon </a:t>
            </a:r>
            <a:r>
              <a:rPr lang="en-US" sz="1500" b="1" i="1" dirty="0">
                <a:solidFill>
                  <a:srgbClr val="2E7D4F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 al tien jaar.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891333" y="470916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j’y habite depuis dix ans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51146" y="1463040"/>
            <a:ext cx="2086661" cy="40233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51146" y="1463040"/>
            <a:ext cx="2086661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051146" y="1463040"/>
            <a:ext cx="2086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 · er + nombre</a:t>
            </a:r>
            <a:endParaRPr lang="en-US" sz="1300" dirty="0"/>
          </a:p>
        </p:txBody>
      </p:sp>
      <p:pic>
        <p:nvPicPr>
          <p:cNvPr id="22" name="Image 2" descr="input numb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6" y="2057400"/>
            <a:ext cx="914400" cy="9144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096866" y="3063240"/>
            <a:ext cx="1995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en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5160874" y="3703320"/>
            <a:ext cx="186720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</a:t>
            </a:r>
            <a:r>
              <a:rPr lang="en-US" sz="1500" b="1" i="1" dirty="0">
                <a:solidFill>
                  <a:srgbClr val="D9700F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 twee.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5142586" y="470916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j’en ai deux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302398" y="1463040"/>
            <a:ext cx="2086661" cy="40233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02398" y="1463040"/>
            <a:ext cx="2086661" cy="457200"/>
          </a:xfrm>
          <a:prstGeom prst="roundRect">
            <a:avLst>
              <a:gd name="adj" fmla="val 24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02398" y="1463040"/>
            <a:ext cx="2086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 · er + préposition</a:t>
            </a:r>
            <a:endParaRPr lang="en-US" sz="1300" dirty="0"/>
          </a:p>
        </p:txBody>
      </p:sp>
      <p:pic>
        <p:nvPicPr>
          <p:cNvPr id="29" name="Image 3" descr="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529" y="2057400"/>
            <a:ext cx="914400" cy="9144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48118" y="3063240"/>
            <a:ext cx="1995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y · en (+ prép.)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7412126" y="3703320"/>
            <a:ext cx="186720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denk </a:t>
            </a:r>
            <a:r>
              <a:rPr lang="en-US" sz="1500" b="1" i="1" dirty="0">
                <a:solidFill>
                  <a:srgbClr val="6E4A9E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aan.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7393838" y="470916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j’y pense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9553651" y="1463040"/>
            <a:ext cx="2086661" cy="40233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553651" y="1463040"/>
            <a:ext cx="2086661" cy="457200"/>
          </a:xfrm>
          <a:prstGeom prst="roundRect">
            <a:avLst>
              <a:gd name="adj" fmla="val 24000"/>
            </a:avLst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553651" y="1463040"/>
            <a:ext cx="2086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 · er + passif</a:t>
            </a:r>
            <a:endParaRPr lang="en-US" sz="1300" dirty="0"/>
          </a:p>
        </p:txBody>
      </p:sp>
      <p:pic>
        <p:nvPicPr>
          <p:cNvPr id="36" name="Image 4" descr="ge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9782" y="2057400"/>
            <a:ext cx="914400" cy="9144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599371" y="3063240"/>
            <a:ext cx="1995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on</a:t>
            </a:r>
            <a:endParaRPr lang="en-US" sz="2200" dirty="0"/>
          </a:p>
        </p:txBody>
      </p:sp>
      <p:sp>
        <p:nvSpPr>
          <p:cNvPr id="38" name="Text 30"/>
          <p:cNvSpPr txBox="1"/>
          <p:nvPr/>
        </p:nvSpPr>
        <p:spPr>
          <a:xfrm>
            <a:off x="9663379" y="3703320"/>
            <a:ext cx="186720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E7C86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 wordt gebeld.</a:t>
            </a:r>
            <a:endParaRPr lang="en-US" sz="1800" dirty="0"/>
          </a:p>
        </p:txBody>
      </p:sp>
      <p:sp>
        <p:nvSpPr>
          <p:cNvPr id="39" name="Text 31"/>
          <p:cNvSpPr txBox="1"/>
          <p:nvPr/>
        </p:nvSpPr>
        <p:spPr>
          <a:xfrm>
            <a:off x="9645091" y="470916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on sonne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82296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er</a:t>
            </a:r>
            <a:r>
              <a:rPr lang="en-US" sz="1600" dirty="0">
                <a:solidFill>
                  <a:schemeClr val="bg1"/>
                </a:solidFill>
              </a:rPr>
              <a:t> n’est </a:t>
            </a:r>
            <a:r>
              <a:rPr lang="en-US" sz="1600" b="1" dirty="0">
                <a:solidFill>
                  <a:schemeClr val="bg1"/>
                </a:solidFill>
              </a:rPr>
              <a:t>jamais accentué</a:t>
            </a:r>
            <a:r>
              <a:rPr lang="en-US" sz="1600" dirty="0">
                <a:solidFill>
                  <a:schemeClr val="bg1"/>
                </a:solidFill>
              </a:rPr>
              <a:t>. Il ne commence la phrase qu’en ① (</a:t>
            </a:r>
            <a:r>
              <a:rPr lang="en-US" sz="1600" i="1" dirty="0">
                <a:solidFill>
                  <a:schemeClr val="bg1"/>
                </a:solidFill>
              </a:rPr>
              <a:t>Er is…</a:t>
            </a:r>
            <a:r>
              <a:rPr lang="en-US" sz="1600" dirty="0">
                <a:solidFill>
                  <a:schemeClr val="bg1"/>
                </a:solidFill>
              </a:rPr>
              <a:t>) et en ⑤ (</a:t>
            </a:r>
            <a:r>
              <a:rPr lang="en-US" sz="1600" i="1" dirty="0">
                <a:solidFill>
                  <a:schemeClr val="bg1"/>
                </a:solidFill>
              </a:rPr>
              <a:t>Er wordt…</a:t>
            </a:r>
            <a:r>
              <a:rPr lang="en-US" sz="1600" dirty="0">
                <a:solidFill>
                  <a:schemeClr val="bg1"/>
                </a:solidFill>
              </a:rPr>
              <a:t>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 is, er zijn… : il y a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66055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EMPLOI 1 / 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0" cy="4114800"/>
          </a:xfrm>
          <a:prstGeom prst="roundRect">
            <a:avLst>
              <a:gd name="adj" fmla="val 2667"/>
            </a:avLst>
          </a:prstGeom>
          <a:solidFill>
            <a:schemeClr val="accent2">
              <a:alpha val="12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62763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1</a:t>
            </a:r>
            <a:endParaRPr lang="en-US" sz="182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er présentatif</a:t>
            </a:r>
            <a:endParaRPr lang="en-US" sz="1700" dirty="0"/>
          </a:p>
        </p:txBody>
      </p:sp>
      <p:pic>
        <p:nvPicPr>
          <p:cNvPr id="9" name="Image 0" descr="ey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468880"/>
            <a:ext cx="1280160" cy="1280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886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2"/>
                </a:solidFill>
              </a:rPr>
              <a:t>er</a:t>
            </a:r>
            <a:r>
              <a:rPr lang="en-US" sz="2600" dirty="0">
                <a:solidFill>
                  <a:schemeClr val="tx2"/>
                </a:solidFill>
              </a:rPr>
              <a:t> = </a:t>
            </a:r>
            <a:r>
              <a:rPr lang="en-US" sz="2600" b="1" dirty="0">
                <a:solidFill>
                  <a:schemeClr val="tx2"/>
                </a:solidFill>
              </a:rPr>
              <a:t>il y a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572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er</a:t>
            </a:r>
            <a:r>
              <a:rPr lang="en-US" sz="1400" dirty="0">
                <a:solidFill>
                  <a:schemeClr val="tx2"/>
                </a:solidFill>
              </a:rPr>
              <a:t> + verbe + sujet </a:t>
            </a:r>
            <a:r>
              <a:rPr lang="en-US" sz="1400" b="1" dirty="0">
                <a:solidFill>
                  <a:schemeClr val="tx2"/>
                </a:solidFill>
              </a:rPr>
              <a:t>indéfini</a:t>
            </a:r>
            <a:r>
              <a:rPr lang="en-US" sz="1400" dirty="0">
                <a:solidFill>
                  <a:schemeClr val="tx2"/>
                </a:solidFill>
              </a:rPr>
              <a:t> (</a:t>
            </a:r>
            <a:r>
              <a:rPr lang="en-US" sz="1400" i="1" dirty="0">
                <a:solidFill>
                  <a:schemeClr val="tx2"/>
                </a:solidFill>
              </a:rPr>
              <a:t>een, geen, veel, twee, niemand…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83480" y="1463040"/>
            <a:ext cx="66568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83480" y="1463040"/>
            <a:ext cx="91440" cy="74980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7340"/>
            <a:ext cx="521208" cy="5212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70448" y="1517904"/>
            <a:ext cx="5678424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2A6FB0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is een probleem met de printer.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870448" y="1912925"/>
            <a:ext cx="5678424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y a un problème avec l’imprimante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83480" y="2304288"/>
            <a:ext cx="66568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83480" y="2304288"/>
            <a:ext cx="91440" cy="74980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automob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418588"/>
            <a:ext cx="521208" cy="5212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70448" y="2359152"/>
            <a:ext cx="5678424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2A6FB0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staan vandaag veel files.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870448" y="2754173"/>
            <a:ext cx="5678424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y a beaucoup d’embouteillages aujourd’hui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983480" y="3145536"/>
            <a:ext cx="66568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983480" y="3145536"/>
            <a:ext cx="91440" cy="74980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do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259836"/>
            <a:ext cx="521208" cy="5212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870448" y="3200400"/>
            <a:ext cx="5678424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2A6FB0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staat een man voor de deur.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870448" y="3595421"/>
            <a:ext cx="5678424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y a un homme devant la porte (debout)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983480" y="3986784"/>
            <a:ext cx="66568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983480" y="3986784"/>
            <a:ext cx="91440" cy="74980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envelop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4101084"/>
            <a:ext cx="521208" cy="5212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870448" y="4041648"/>
            <a:ext cx="5678424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2A6FB0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ligt een brief op je bureau.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5870448" y="4436669"/>
            <a:ext cx="5678424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y a une lettre sur ton bureau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4983480" y="4828032"/>
            <a:ext cx="66568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983480" y="4828032"/>
            <a:ext cx="91440" cy="74980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busts in silhouet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4942332"/>
            <a:ext cx="521208" cy="52120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870448" y="4882896"/>
            <a:ext cx="5678424" cy="43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2A6FB0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werkt hier niemand.</a:t>
            </a:r>
            <a:endParaRPr lang="en-US" sz="1800" dirty="0"/>
          </a:p>
        </p:txBody>
      </p:sp>
      <p:sp>
        <p:nvSpPr>
          <p:cNvPr id="36" name="Text 27"/>
          <p:cNvSpPr txBox="1"/>
          <p:nvPr/>
        </p:nvSpPr>
        <p:spPr>
          <a:xfrm>
            <a:off x="5870448" y="5277917"/>
            <a:ext cx="5678424" cy="269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personne ne travaille ici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Comme au M17 : </a:t>
            </a:r>
            <a:r>
              <a:rPr lang="en-US" sz="1500" i="1" dirty="0">
                <a:solidFill>
                  <a:schemeClr val="accent5"/>
                </a:solidFill>
              </a:rPr>
              <a:t>er staat, er ligt, er zit, er hangt</a:t>
            </a:r>
            <a:r>
              <a:rPr lang="en-US" sz="1500" dirty="0">
                <a:solidFill>
                  <a:schemeClr val="accent5"/>
                </a:solidFill>
              </a:rPr>
              <a:t> = il y a (avec la position).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sujet défini ? Pas de « er = il y a »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498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08676" cy="3200400"/>
          </a:xfrm>
          <a:prstGeom prst="roundRect">
            <a:avLst>
              <a:gd name="adj" fmla="val 3429"/>
            </a:avLst>
          </a:prstGeom>
          <a:solidFill>
            <a:srgbClr val="EAF2FB"/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5042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SUJET INDÉFINI → 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2194560"/>
            <a:ext cx="704424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194560"/>
            <a:ext cx="704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563960" y="2194560"/>
            <a:ext cx="1007976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63960" y="2194560"/>
            <a:ext cx="100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ligt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654233" y="2194560"/>
            <a:ext cx="151223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4233" y="2194560"/>
            <a:ext cx="15122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een brief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248763" y="2194560"/>
            <a:ext cx="2054291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48763" y="219456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op je bureau.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278892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y a une lettre sur ton bureau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3383280"/>
            <a:ext cx="704424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383280"/>
            <a:ext cx="704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Is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1563960" y="3383280"/>
            <a:ext cx="704424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63960" y="3383280"/>
            <a:ext cx="704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er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2350681" y="3383280"/>
            <a:ext cx="69915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350681" y="3383280"/>
            <a:ext cx="699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nog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3132127" y="3383280"/>
            <a:ext cx="1241207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32127" y="3383280"/>
            <a:ext cx="12412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koffie?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97764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y a encore du café 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31636" y="1463040"/>
            <a:ext cx="5408676" cy="3200400"/>
          </a:xfrm>
          <a:prstGeom prst="roundRect">
            <a:avLst>
              <a:gd name="adj" fmla="val 3429"/>
            </a:avLst>
          </a:prstGeom>
          <a:solidFill>
            <a:srgbClr val="E6EBF2"/>
          </a:solidFill>
          <a:ln w="25400">
            <a:solidFill>
              <a:srgbClr val="4A5A7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14516" y="1554480"/>
            <a:ext cx="5042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SUJET DÉFINI → pas de er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460236" y="2194560"/>
            <a:ext cx="1376721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60236" y="2194560"/>
            <a:ext cx="13767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 brief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7919253" y="2194560"/>
            <a:ext cx="1007976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19253" y="2194560"/>
            <a:ext cx="1007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ligt</a:t>
            </a:r>
            <a:endParaRPr lang="en-US" sz="1900" dirty="0"/>
          </a:p>
        </p:txBody>
      </p:sp>
      <p:sp>
        <p:nvSpPr>
          <p:cNvPr id="31" name="Shape 28"/>
          <p:cNvSpPr/>
          <p:nvPr/>
        </p:nvSpPr>
        <p:spPr>
          <a:xfrm>
            <a:off x="9009525" y="2194560"/>
            <a:ext cx="2054291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09525" y="219456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op je bureau.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6460236" y="278892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la lettre est sur ton bureau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60236" y="3383280"/>
            <a:ext cx="151223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60236" y="3383280"/>
            <a:ext cx="15122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 koffie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8054767" y="3383280"/>
            <a:ext cx="1159752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54767" y="3383280"/>
            <a:ext cx="1159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staat</a:t>
            </a:r>
            <a:endParaRPr lang="en-US" sz="1900" dirty="0"/>
          </a:p>
        </p:txBody>
      </p:sp>
      <p:sp>
        <p:nvSpPr>
          <p:cNvPr id="38" name="Shape 35"/>
          <p:cNvSpPr/>
          <p:nvPr/>
        </p:nvSpPr>
        <p:spPr>
          <a:xfrm>
            <a:off x="9296815" y="3383280"/>
            <a:ext cx="2054291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96815" y="3383280"/>
            <a:ext cx="2054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in de keuken.</a:t>
            </a:r>
            <a:endParaRPr lang="en-US" sz="1900" dirty="0"/>
          </a:p>
        </p:txBody>
      </p:sp>
      <p:sp>
        <p:nvSpPr>
          <p:cNvPr id="40" name="Text 37"/>
          <p:cNvSpPr txBox="1"/>
          <p:nvPr/>
        </p:nvSpPr>
        <p:spPr>
          <a:xfrm>
            <a:off x="6460236" y="397764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le café est dans la cuisine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48640" y="489204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548640" y="48920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Er ligt de brief op je bureau.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5212080" y="4892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✗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5760720" y="4892040"/>
            <a:ext cx="5879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« il y a » + </a:t>
            </a:r>
            <a:r>
              <a:rPr lang="en-US" sz="1500" i="1" dirty="0">
                <a:solidFill>
                  <a:schemeClr val="tx2"/>
                </a:solidFill>
              </a:rPr>
              <a:t>le, la</a:t>
            </a:r>
            <a:r>
              <a:rPr lang="en-US" sz="1500" dirty="0">
                <a:solidFill>
                  <a:schemeClr val="tx2"/>
                </a:solidFill>
              </a:rPr>
              <a:t> ne se traduit pas avec </a:t>
            </a:r>
            <a:r>
              <a:rPr lang="en-US" sz="1500" i="1" dirty="0">
                <a:solidFill>
                  <a:schemeClr val="tx2"/>
                </a:solidFill>
              </a:rPr>
              <a:t>er</a:t>
            </a:r>
            <a:r>
              <a:rPr lang="en-US" sz="1500" dirty="0">
                <a:solidFill>
                  <a:schemeClr val="tx2"/>
                </a:solidFill>
              </a:rPr>
              <a:t> : le sujet passe en tête.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Questions : </a:t>
            </a:r>
            <a:r>
              <a:rPr lang="en-US" sz="1600" i="1" dirty="0">
                <a:solidFill>
                  <a:schemeClr val="bg1"/>
                </a:solidFill>
              </a:rPr>
              <a:t>Is er nog koffie? · Zijn er vragen?</a:t>
            </a:r>
            <a:r>
              <a:rPr lang="en-US" sz="1600" dirty="0">
                <a:solidFill>
                  <a:schemeClr val="bg1"/>
                </a:solidFill>
              </a:rPr>
              <a:t> — </a:t>
            </a:r>
            <a:r>
              <a:rPr lang="en-US" sz="1600" i="1" dirty="0">
                <a:solidFill>
                  <a:schemeClr val="bg1"/>
                </a:solidFill>
              </a:rPr>
              <a:t>er</a:t>
            </a:r>
            <a:r>
              <a:rPr lang="en-US" sz="1600" dirty="0">
                <a:solidFill>
                  <a:schemeClr val="bg1"/>
                </a:solidFill>
              </a:rPr>
              <a:t> après le verbe.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 = y, là : le lieu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66055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EMPLOI 2 / 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0" cy="4114800"/>
          </a:xfrm>
          <a:prstGeom prst="roundRect">
            <a:avLst>
              <a:gd name="adj" fmla="val 2667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627632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2</a:t>
            </a:r>
            <a:endParaRPr lang="en-US" sz="182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er de lieu</a:t>
            </a:r>
            <a:endParaRPr lang="en-US" sz="1700" dirty="0"/>
          </a:p>
        </p:txBody>
      </p:sp>
      <p:pic>
        <p:nvPicPr>
          <p:cNvPr id="9" name="Image 0" descr="round push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468880"/>
            <a:ext cx="1280160" cy="1280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886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2"/>
                </a:solidFill>
              </a:rPr>
              <a:t>er</a:t>
            </a:r>
            <a:r>
              <a:rPr lang="en-US" sz="2600" dirty="0">
                <a:solidFill>
                  <a:schemeClr val="tx2"/>
                </a:solidFill>
              </a:rPr>
              <a:t> = </a:t>
            </a:r>
            <a:r>
              <a:rPr lang="en-US" sz="2600" b="1" dirty="0">
                <a:solidFill>
                  <a:schemeClr val="tx2"/>
                </a:solidFill>
              </a:rPr>
              <a:t>y · là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572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er</a:t>
            </a:r>
            <a:r>
              <a:rPr lang="en-US" sz="1400" dirty="0">
                <a:solidFill>
                  <a:schemeClr val="tx2"/>
                </a:solidFill>
              </a:rPr>
              <a:t> remplace un lieu déjà nommé (= </a:t>
            </a:r>
            <a:r>
              <a:rPr lang="en-US" sz="1400" i="1" dirty="0">
                <a:solidFill>
                  <a:schemeClr val="tx2"/>
                </a:solidFill>
              </a:rPr>
              <a:t>daar</a:t>
            </a:r>
            <a:r>
              <a:rPr lang="en-US" sz="1400" dirty="0">
                <a:solidFill>
                  <a:schemeClr val="tx2"/>
                </a:solidFill>
              </a:rPr>
              <a:t>, sans accent)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83480" y="146304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83480" y="1463040"/>
            <a:ext cx="91440" cy="96012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world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734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80760" y="151790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Woon je in Brussel? — Ja, ik woon </a:t>
            </a:r>
            <a:r>
              <a:rPr lang="en-US" sz="1600" b="1" i="1" dirty="0">
                <a:solidFill>
                  <a:srgbClr val="2E7D4F"/>
                </a:solidFill>
              </a:rPr>
              <a:t>er</a:t>
            </a:r>
            <a:r>
              <a:rPr lang="en-US" sz="1600" i="1" dirty="0">
                <a:solidFill>
                  <a:schemeClr val="tx1"/>
                </a:solidFill>
              </a:rPr>
              <a:t> al tien jaar.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80760" y="203911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oui, j’y habite depuis dix ans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83480" y="251460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83480" y="2514600"/>
            <a:ext cx="91440" cy="96012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bicy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62890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080760" y="256946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Ben je al in Brugge geweest? — Ja, ik ben </a:t>
            </a:r>
            <a:r>
              <a:rPr lang="en-US" sz="1600" b="1" i="1" dirty="0">
                <a:solidFill>
                  <a:srgbClr val="2E7D4F"/>
                </a:solidFill>
              </a:rPr>
              <a:t>er</a:t>
            </a:r>
            <a:r>
              <a:rPr lang="en-US" sz="1600" i="1" dirty="0">
                <a:solidFill>
                  <a:schemeClr val="tx1"/>
                </a:solidFill>
              </a:rPr>
              <a:t> vorig jaar geweest.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080760" y="309067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oui, j’y suis allé·e l’an dernier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983480" y="356616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983480" y="3566160"/>
            <a:ext cx="91440" cy="96012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office buil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680460"/>
            <a:ext cx="731520" cy="7315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080760" y="362102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Werk je bij Koopzo? — Ja, ik werk </a:t>
            </a:r>
            <a:r>
              <a:rPr lang="en-US" sz="1600" b="1" i="1" dirty="0">
                <a:solidFill>
                  <a:srgbClr val="2E7D4F"/>
                </a:solidFill>
              </a:rPr>
              <a:t>er</a:t>
            </a:r>
            <a:r>
              <a:rPr lang="en-US" sz="1600" i="1" dirty="0">
                <a:solidFill>
                  <a:schemeClr val="tx1"/>
                </a:solidFill>
              </a:rPr>
              <a:t> sinds mei.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080760" y="414223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oui, j’y travaille depuis mai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983480" y="461772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983480" y="4617720"/>
            <a:ext cx="91440" cy="96012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bu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4732020"/>
            <a:ext cx="731520" cy="7315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080760" y="467258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Hoe ga je naar het werk? — Ik ga </a:t>
            </a:r>
            <a:r>
              <a:rPr lang="en-US" sz="1600" b="1" i="1" dirty="0">
                <a:solidFill>
                  <a:srgbClr val="2E7D4F"/>
                </a:solidFill>
              </a:rPr>
              <a:t>er</a:t>
            </a:r>
            <a:r>
              <a:rPr lang="en-US" sz="1600" i="1" dirty="0">
                <a:solidFill>
                  <a:schemeClr val="tx1"/>
                </a:solidFill>
              </a:rPr>
              <a:t> met de bus naartoe.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6080760" y="519379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j’y vais en bus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Insister ? </a:t>
            </a:r>
            <a:r>
              <a:rPr lang="en-US" sz="1500" b="1" i="1" dirty="0">
                <a:solidFill>
                  <a:schemeClr val="accent5"/>
                </a:solidFill>
              </a:rPr>
              <a:t>Daar</a:t>
            </a:r>
            <a:r>
              <a:rPr lang="en-US" sz="1500" i="1" dirty="0">
                <a:solidFill>
                  <a:schemeClr val="accent5"/>
                </a:solidFill>
              </a:rPr>
              <a:t> woon ik!</a:t>
            </a:r>
            <a:r>
              <a:rPr lang="en-US" sz="1500" dirty="0">
                <a:solidFill>
                  <a:schemeClr val="accent5"/>
                </a:solidFill>
              </a:rPr>
              <a:t> — </a:t>
            </a:r>
            <a:r>
              <a:rPr lang="en-US" sz="1500" i="1" dirty="0">
                <a:solidFill>
                  <a:schemeClr val="accent5"/>
                </a:solidFill>
              </a:rPr>
              <a:t>daar</a:t>
            </a:r>
            <a:r>
              <a:rPr lang="en-US" sz="1500" dirty="0">
                <a:solidFill>
                  <a:schemeClr val="accent5"/>
                </a:solidFill>
              </a:rPr>
              <a:t> est accentué et peut commencer la phrase (diapo 12).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 + nombre = 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66055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EMPLOI 3 / 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0" cy="4114800"/>
          </a:xfrm>
          <a:prstGeom prst="roundRect">
            <a:avLst>
              <a:gd name="adj" fmla="val 2667"/>
            </a:avLst>
          </a:prstGeom>
          <a:solidFill>
            <a:schemeClr val="accent1">
              <a:alpha val="12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62763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3</a:t>
            </a:r>
            <a:endParaRPr lang="en-US" sz="182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er + nombre</a:t>
            </a:r>
            <a:endParaRPr lang="en-US" sz="1700" dirty="0"/>
          </a:p>
        </p:txBody>
      </p:sp>
      <p:pic>
        <p:nvPicPr>
          <p:cNvPr id="9" name="Image 0" descr="input numb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468880"/>
            <a:ext cx="1280160" cy="1280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886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2"/>
                </a:solidFill>
              </a:rPr>
              <a:t>er</a:t>
            </a:r>
            <a:r>
              <a:rPr lang="en-US" sz="2600" dirty="0">
                <a:solidFill>
                  <a:schemeClr val="tx2"/>
                </a:solidFill>
              </a:rPr>
              <a:t> = </a:t>
            </a:r>
            <a:r>
              <a:rPr lang="en-US" sz="2600" b="1" dirty="0">
                <a:solidFill>
                  <a:schemeClr val="tx2"/>
                </a:solidFill>
              </a:rPr>
              <a:t>en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572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er</a:t>
            </a:r>
            <a:r>
              <a:rPr lang="en-US" sz="1400" dirty="0">
                <a:solidFill>
                  <a:schemeClr val="tx2"/>
                </a:solidFill>
              </a:rPr>
              <a:t> + nombre ou quantité (</a:t>
            </a:r>
            <a:r>
              <a:rPr lang="en-US" sz="1400" i="1" dirty="0">
                <a:solidFill>
                  <a:schemeClr val="tx2"/>
                </a:solidFill>
              </a:rPr>
              <a:t>twee, veel, weinig, een paar, geen…</a:t>
            </a:r>
            <a:r>
              <a:rPr lang="en-US" sz="1400" dirty="0">
                <a:solidFill>
                  <a:schemeClr val="tx2"/>
                </a:solidFill>
              </a:rPr>
              <a:t>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83480" y="146304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83480" y="1463040"/>
            <a:ext cx="91440" cy="9601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teddy b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734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80760" y="151790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Hoeveel kinderen heb je? — Ik heb </a:t>
            </a:r>
            <a:r>
              <a:rPr lang="en-US" sz="1600" b="1" i="1" dirty="0">
                <a:solidFill>
                  <a:srgbClr val="D9700F"/>
                </a:solidFill>
              </a:rPr>
              <a:t>er</a:t>
            </a:r>
            <a:r>
              <a:rPr lang="en-US" sz="1600" i="1" dirty="0">
                <a:solidFill>
                  <a:schemeClr val="tx1"/>
                </a:solidFill>
              </a:rPr>
              <a:t> twee.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80760" y="203911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j’en ai deux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83480" y="251460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83480" y="2514600"/>
            <a:ext cx="91440" cy="9601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62890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080760" y="256946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Heb je een pen voor mij? — Nee, ik heb </a:t>
            </a:r>
            <a:r>
              <a:rPr lang="en-US" sz="1600" b="1" i="1" dirty="0">
                <a:solidFill>
                  <a:srgbClr val="D9700F"/>
                </a:solidFill>
              </a:rPr>
              <a:t>er</a:t>
            </a:r>
            <a:r>
              <a:rPr lang="en-US" sz="1600" i="1" dirty="0">
                <a:solidFill>
                  <a:schemeClr val="tx1"/>
                </a:solidFill>
              </a:rPr>
              <a:t> geen.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080760" y="309067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non, je n’en ai pas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983480" y="356616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983480" y="3566160"/>
            <a:ext cx="91440" cy="9601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busts in silhoue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680460"/>
            <a:ext cx="731520" cy="7315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080760" y="362102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Heb je veel collega’s? — Ja, ik heb </a:t>
            </a:r>
            <a:r>
              <a:rPr lang="en-US" sz="1600" b="1" i="1" dirty="0">
                <a:solidFill>
                  <a:srgbClr val="D9700F"/>
                </a:solidFill>
              </a:rPr>
              <a:t>er</a:t>
            </a:r>
            <a:r>
              <a:rPr lang="en-US" sz="1600" i="1" dirty="0">
                <a:solidFill>
                  <a:schemeClr val="tx1"/>
                </a:solidFill>
              </a:rPr>
              <a:t> veel.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080760" y="414223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oui, j’en ai beaucoup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983480" y="461772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983480" y="4617720"/>
            <a:ext cx="91440" cy="9601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lapt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4732020"/>
            <a:ext cx="731520" cy="7315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080760" y="467258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Hoeveel laptops hebben we nog? — We hebben </a:t>
            </a:r>
            <a:r>
              <a:rPr lang="en-US" sz="1600" b="1" i="1" dirty="0">
                <a:solidFill>
                  <a:srgbClr val="D9700F"/>
                </a:solidFill>
              </a:rPr>
              <a:t>er</a:t>
            </a:r>
            <a:r>
              <a:rPr lang="en-US" sz="1600" i="1" dirty="0">
                <a:solidFill>
                  <a:schemeClr val="tx1"/>
                </a:solidFill>
              </a:rPr>
              <a:t> nog drie.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6080760" y="519379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il nous en reste trois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Piège : </a:t>
            </a:r>
            <a:r>
              <a:rPr lang="en-US" sz="1500" i="1" dirty="0">
                <a:solidFill>
                  <a:schemeClr val="accent6"/>
                </a:solidFill>
              </a:rPr>
              <a:t>Heb je </a:t>
            </a:r>
            <a:r>
              <a:rPr lang="en-US" sz="1500" b="1" i="1" dirty="0">
                <a:solidFill>
                  <a:schemeClr val="accent6"/>
                </a:solidFill>
              </a:rPr>
              <a:t>de</a:t>
            </a:r>
            <a:r>
              <a:rPr lang="en-US" sz="1500" i="1" dirty="0">
                <a:solidFill>
                  <a:schemeClr val="accent6"/>
                </a:solidFill>
              </a:rPr>
              <a:t> sleutel? — Ja, ik heb </a:t>
            </a:r>
            <a:r>
              <a:rPr lang="en-US" sz="1500" b="1" i="1" dirty="0">
                <a:solidFill>
                  <a:schemeClr val="accent6"/>
                </a:solidFill>
              </a:rPr>
              <a:t>hem</a:t>
            </a:r>
            <a:r>
              <a:rPr lang="en-US" sz="1500" i="1" dirty="0">
                <a:solidFill>
                  <a:schemeClr val="accent6"/>
                </a:solidFill>
              </a:rPr>
              <a:t>.</a:t>
            </a:r>
            <a:r>
              <a:rPr lang="en-US" sz="1500" dirty="0">
                <a:solidFill>
                  <a:schemeClr val="accent6"/>
                </a:solidFill>
              </a:rPr>
              <a:t> (la) ≠ </a:t>
            </a:r>
            <a:r>
              <a:rPr lang="en-US" sz="1500" i="1" dirty="0">
                <a:solidFill>
                  <a:schemeClr val="accent6"/>
                </a:solidFill>
              </a:rPr>
              <a:t>Heb je </a:t>
            </a:r>
            <a:r>
              <a:rPr lang="en-US" sz="1500" b="1" i="1" dirty="0">
                <a:solidFill>
                  <a:schemeClr val="accent6"/>
                </a:solidFill>
              </a:rPr>
              <a:t>een</a:t>
            </a:r>
            <a:r>
              <a:rPr lang="en-US" sz="1500" i="1" dirty="0">
                <a:solidFill>
                  <a:schemeClr val="accent6"/>
                </a:solidFill>
              </a:rPr>
              <a:t> sleutel? — Ja, ik heb </a:t>
            </a:r>
            <a:r>
              <a:rPr lang="en-US" sz="1500" b="1" i="1" dirty="0">
                <a:solidFill>
                  <a:schemeClr val="accent6"/>
                </a:solidFill>
              </a:rPr>
              <a:t>er</a:t>
            </a:r>
            <a:r>
              <a:rPr lang="en-US" sz="1500" i="1" dirty="0">
                <a:solidFill>
                  <a:schemeClr val="accent6"/>
                </a:solidFill>
              </a:rPr>
              <a:t> één.</a:t>
            </a:r>
            <a:r>
              <a:rPr lang="en-US" sz="1500" dirty="0">
                <a:solidFill>
                  <a:schemeClr val="accent6"/>
                </a:solidFill>
              </a:rPr>
              <a:t> (en)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 + préposition : Ik denk eraan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66055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EMPLOI 4 / 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6E4A9E">
              <a:alpha val="12000"/>
            </a:srgbClr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627632"/>
            <a:ext cx="640080" cy="64008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4</a:t>
            </a:r>
            <a:endParaRPr lang="en-US" sz="182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E4A9E"/>
                </a:solidFill>
              </a:rPr>
              <a:t>er + préposition</a:t>
            </a:r>
            <a:endParaRPr lang="en-US" sz="1700" dirty="0"/>
          </a:p>
        </p:txBody>
      </p:sp>
      <p:pic>
        <p:nvPicPr>
          <p:cNvPr id="9" name="Image 0" descr="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468880"/>
            <a:ext cx="1280160" cy="1280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886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2"/>
                </a:solidFill>
              </a:rPr>
              <a:t>er</a:t>
            </a:r>
            <a:r>
              <a:rPr lang="en-US" sz="2600" dirty="0">
                <a:solidFill>
                  <a:schemeClr val="tx2"/>
                </a:solidFill>
              </a:rPr>
              <a:t> = </a:t>
            </a:r>
            <a:r>
              <a:rPr lang="en-US" sz="2600" b="1" dirty="0">
                <a:solidFill>
                  <a:schemeClr val="tx2"/>
                </a:solidFill>
              </a:rPr>
              <a:t>y · en (+ prép.)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572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une chose + préposition → </a:t>
            </a:r>
            <a:r>
              <a:rPr lang="en-US" sz="1400" i="1" dirty="0">
                <a:solidFill>
                  <a:schemeClr val="tx2"/>
                </a:solidFill>
              </a:rPr>
              <a:t>er</a:t>
            </a:r>
            <a:r>
              <a:rPr lang="en-US" sz="1400" dirty="0">
                <a:solidFill>
                  <a:schemeClr val="tx2"/>
                </a:solidFill>
              </a:rPr>
              <a:t> + préposition (M23)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83480" y="146304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83480" y="1463040"/>
            <a:ext cx="91440" cy="9601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thinking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734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80760" y="151790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Denk je aan de vergadering? — Ja, ik denk </a:t>
            </a:r>
            <a:r>
              <a:rPr lang="en-US" sz="1700" b="1" i="1" dirty="0">
                <a:solidFill>
                  <a:srgbClr val="6E4A9E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aan.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80760" y="203911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oui, j’y pense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83480" y="251460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83480" y="2514600"/>
            <a:ext cx="91440" cy="9601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speech ballo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62890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080760" y="256946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Wat vind je </a:t>
            </a:r>
            <a:r>
              <a:rPr lang="en-US" sz="1700" b="1" i="1" dirty="0">
                <a:solidFill>
                  <a:srgbClr val="6E4A9E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van?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080760" y="309067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qu’en penses-tu ?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983480" y="356616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983480" y="3566160"/>
            <a:ext cx="91440" cy="9601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face savoring foo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680460"/>
            <a:ext cx="731520" cy="7315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080760" y="362102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Uit eten gaan? Ik heb </a:t>
            </a:r>
            <a:r>
              <a:rPr lang="en-US" sz="1700" b="1" i="1" dirty="0">
                <a:solidFill>
                  <a:srgbClr val="6E4A9E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echt zin in!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080760" y="414223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j’en ai vraiment envie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983480" y="461772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983480" y="4617720"/>
            <a:ext cx="91440" cy="960120"/>
          </a:xfrm>
          <a:prstGeom prst="rect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calend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4732020"/>
            <a:ext cx="731520" cy="7315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080760" y="467258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vakantie? Ik kijk </a:t>
            </a:r>
            <a:r>
              <a:rPr lang="en-US" sz="1700" b="1" i="1" dirty="0">
                <a:solidFill>
                  <a:srgbClr val="6E4A9E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naar uit.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6080760" y="519379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je l’attends avec impatience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er</a:t>
            </a:r>
            <a:r>
              <a:rPr lang="en-US" sz="1500" dirty="0">
                <a:solidFill>
                  <a:schemeClr val="accent5"/>
                </a:solidFill>
              </a:rPr>
              <a:t> et la préposition se séparent souvent : </a:t>
            </a:r>
            <a:r>
              <a:rPr lang="en-US" sz="1500" i="1" dirty="0">
                <a:solidFill>
                  <a:schemeClr val="accent5"/>
                </a:solidFill>
              </a:rPr>
              <a:t>Ik heb </a:t>
            </a:r>
            <a:r>
              <a:rPr lang="en-US" sz="1500" b="1" i="1" dirty="0">
                <a:solidFill>
                  <a:schemeClr val="accent5"/>
                </a:solidFill>
              </a:rPr>
              <a:t>er</a:t>
            </a:r>
            <a:r>
              <a:rPr lang="en-US" sz="1500" i="1" dirty="0">
                <a:solidFill>
                  <a:schemeClr val="accent5"/>
                </a:solidFill>
              </a:rPr>
              <a:t> echt zin </a:t>
            </a:r>
            <a:r>
              <a:rPr lang="en-US" sz="1500" b="1" i="1" dirty="0">
                <a:solidFill>
                  <a:schemeClr val="accent5"/>
                </a:solidFill>
              </a:rPr>
              <a:t>in</a:t>
            </a:r>
            <a:r>
              <a:rPr lang="en-US" sz="1500" i="1" dirty="0">
                <a:solidFill>
                  <a:schemeClr val="accent5"/>
                </a:solidFill>
              </a:rPr>
              <a:t>. · Ik denk </a:t>
            </a:r>
            <a:r>
              <a:rPr lang="en-US" sz="1500" b="1" i="1" dirty="0">
                <a:solidFill>
                  <a:schemeClr val="accent5"/>
                </a:solidFill>
              </a:rPr>
              <a:t>er</a:t>
            </a:r>
            <a:r>
              <a:rPr lang="en-US" sz="1500" i="1" dirty="0">
                <a:solidFill>
                  <a:schemeClr val="accent5"/>
                </a:solidFill>
              </a:rPr>
              <a:t> niet </a:t>
            </a:r>
            <a:r>
              <a:rPr lang="en-US" sz="1500" b="1" i="1" dirty="0">
                <a:solidFill>
                  <a:schemeClr val="accent5"/>
                </a:solidFill>
              </a:rPr>
              <a:t>aan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 wordt… : 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660550" cy="310896"/>
          </a:xfrm>
          <a:prstGeom prst="roundRect">
            <a:avLst>
              <a:gd name="adj" fmla="val 14706"/>
            </a:avLst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EMPLOI 5 / 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0E7C86">
              <a:alpha val="12000"/>
            </a:srgbClr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627632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5</a:t>
            </a:r>
            <a:endParaRPr lang="en-US" sz="182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6276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7C86"/>
                </a:solidFill>
              </a:rPr>
              <a:t>er + passif</a:t>
            </a:r>
            <a:endParaRPr lang="en-US" sz="1700" dirty="0"/>
          </a:p>
        </p:txBody>
      </p:sp>
      <p:pic>
        <p:nvPicPr>
          <p:cNvPr id="9" name="Image 0" descr="g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468880"/>
            <a:ext cx="1280160" cy="1280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886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2"/>
                </a:solidFill>
              </a:rPr>
              <a:t>er</a:t>
            </a:r>
            <a:r>
              <a:rPr lang="en-US" sz="2600" dirty="0">
                <a:solidFill>
                  <a:schemeClr val="tx2"/>
                </a:solidFill>
              </a:rPr>
              <a:t> = </a:t>
            </a:r>
            <a:r>
              <a:rPr lang="en-US" sz="2600" b="1" dirty="0">
                <a:solidFill>
                  <a:schemeClr val="tx2"/>
                </a:solidFill>
              </a:rPr>
              <a:t>on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572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er wordt</a:t>
            </a:r>
            <a:r>
              <a:rPr lang="en-US" sz="1400" dirty="0">
                <a:solidFill>
                  <a:schemeClr val="tx2"/>
                </a:solidFill>
              </a:rPr>
              <a:t> + participe passé, sans sujet : une action sans acteur précis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983480" y="146304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83480" y="1463040"/>
            <a:ext cx="91440" cy="960120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734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80760" y="151790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E7C86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wordt gebeld.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080760" y="203911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on sonne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83480" y="251460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83480" y="2514600"/>
            <a:ext cx="91440" cy="960120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no smo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62890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080760" y="256946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E7C86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wordt hier niet gerookt.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080760" y="309067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on ne fume pas ici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983480" y="356616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983480" y="3566160"/>
            <a:ext cx="91440" cy="960120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face with tears of jo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3680460"/>
            <a:ext cx="731520" cy="7315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080760" y="362102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E7C86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wordt veel gelachen in ons team.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080760" y="414223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on rit beaucoup dans notre équipe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983480" y="4617720"/>
            <a:ext cx="66568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983480" y="4617720"/>
            <a:ext cx="91440" cy="960120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building construc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4732020"/>
            <a:ext cx="731520" cy="7315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080760" y="4672584"/>
            <a:ext cx="5468112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0E7C86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wordt nog gewerkt aan de lift.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6080760" y="5193792"/>
            <a:ext cx="54681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on travaille encore sur l’ascenseur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C’est une forme du </a:t>
            </a:r>
            <a:r>
              <a:rPr lang="en-US" sz="1500" b="1" dirty="0">
                <a:solidFill>
                  <a:schemeClr val="accent5"/>
                </a:solidFill>
              </a:rPr>
              <a:t>passif</a:t>
            </a:r>
            <a:r>
              <a:rPr lang="en-US" sz="1500" dirty="0">
                <a:solidFill>
                  <a:schemeClr val="accent5"/>
                </a:solidFill>
              </a:rPr>
              <a:t> (</a:t>
            </a:r>
            <a:r>
              <a:rPr lang="en-US" sz="1500" i="1" dirty="0">
                <a:solidFill>
                  <a:schemeClr val="accent5"/>
                </a:solidFill>
              </a:rPr>
              <a:t>worden</a:t>
            </a:r>
            <a:r>
              <a:rPr lang="en-US" sz="1500" dirty="0">
                <a:solidFill>
                  <a:schemeClr val="accent5"/>
                </a:solidFill>
              </a:rPr>
              <a:t> + participe) : à reconnaître d’abord, à utiliser dans des formules.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Où placer er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LA PLACE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après le verbe conjugué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931920" y="1508760"/>
            <a:ext cx="606430" cy="640080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1508760"/>
            <a:ext cx="606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20646" y="1508760"/>
            <a:ext cx="1103834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20646" y="1508760"/>
            <a:ext cx="1103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woon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806776" y="1508760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776" y="1508760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er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641426" y="1508760"/>
            <a:ext cx="2332452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41426" y="1508760"/>
            <a:ext cx="23324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 tien jaar.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4963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inversion : après le sujet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931920" y="2496312"/>
            <a:ext cx="1547896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31920" y="2496312"/>
            <a:ext cx="154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Gisteren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562112" y="2496312"/>
            <a:ext cx="928094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62112" y="2496312"/>
            <a:ext cx="928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ben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572502" y="2496312"/>
            <a:ext cx="606430" cy="640080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72502" y="2496312"/>
            <a:ext cx="606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261228" y="2496312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61228" y="2496312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er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8095878" y="2496312"/>
            <a:ext cx="1547896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95878" y="2496312"/>
            <a:ext cx="154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geweest.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4838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subordonnée : après le sujet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931920" y="3483864"/>
            <a:ext cx="1547896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31920" y="3483864"/>
            <a:ext cx="154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…, omdat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5562112" y="3483864"/>
            <a:ext cx="606430" cy="640080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62112" y="3483864"/>
            <a:ext cx="606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6250838" y="3483864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50838" y="3483864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er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7085488" y="3483864"/>
            <a:ext cx="21755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85488" y="3483864"/>
            <a:ext cx="2175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 tien jaar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9343325" y="3483864"/>
            <a:ext cx="1279575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343325" y="3483864"/>
            <a:ext cx="1279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woon.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44714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question : après le sujet (ou le verbe)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3931920" y="4471416"/>
            <a:ext cx="928094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931920" y="4471416"/>
            <a:ext cx="928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Ben</a:t>
            </a:r>
            <a:endParaRPr lang="en-US" sz="2200" dirty="0"/>
          </a:p>
        </p:txBody>
      </p:sp>
      <p:sp>
        <p:nvSpPr>
          <p:cNvPr id="39" name="Shape 36"/>
          <p:cNvSpPr/>
          <p:nvPr/>
        </p:nvSpPr>
        <p:spPr>
          <a:xfrm>
            <a:off x="4942310" y="4471416"/>
            <a:ext cx="606430" cy="640080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942310" y="4471416"/>
            <a:ext cx="606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5631036" y="4471416"/>
            <a:ext cx="752354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31036" y="4471416"/>
            <a:ext cx="7523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er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6465686" y="4471416"/>
            <a:ext cx="606430" cy="640080"/>
          </a:xfrm>
          <a:prstGeom prst="roundRect">
            <a:avLst>
              <a:gd name="adj" fmla="val 15078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65686" y="4471416"/>
            <a:ext cx="6064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7154412" y="4471416"/>
            <a:ext cx="1547896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154412" y="4471416"/>
            <a:ext cx="1547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geweest?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er</a:t>
            </a:r>
            <a:r>
              <a:rPr lang="en-US" sz="1600" dirty="0">
                <a:solidFill>
                  <a:schemeClr val="bg1"/>
                </a:solidFill>
              </a:rPr>
              <a:t> se place </a:t>
            </a:r>
            <a:r>
              <a:rPr lang="en-US" sz="1600" b="1" dirty="0">
                <a:solidFill>
                  <a:schemeClr val="bg1"/>
                </a:solidFill>
              </a:rPr>
              <a:t>tôt</a:t>
            </a:r>
            <a:r>
              <a:rPr lang="en-US" sz="1600" dirty="0">
                <a:solidFill>
                  <a:schemeClr val="bg1"/>
                </a:solidFill>
              </a:rPr>
              <a:t> dans la phrase : juste après le verbe conjugué, ou après le sujet s’il vient derrière le verbe. Les compléments (</a:t>
            </a:r>
            <a:r>
              <a:rPr lang="en-US" sz="1600" i="1" dirty="0">
                <a:solidFill>
                  <a:schemeClr val="bg1"/>
                </a:solidFill>
              </a:rPr>
              <a:t>al tien jaar, vorig jaar</a:t>
            </a:r>
            <a:r>
              <a:rPr lang="en-US" sz="1600" dirty="0">
                <a:solidFill>
                  <a:schemeClr val="bg1"/>
                </a:solidFill>
              </a:rPr>
              <a:t>) suivent : </a:t>
            </a:r>
            <a:r>
              <a:rPr lang="en-US" sz="1600" i="1" dirty="0">
                <a:solidFill>
                  <a:schemeClr val="bg1"/>
                </a:solidFill>
              </a:rPr>
              <a:t>Ik ben er gisteren geweest.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 ou daar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66055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ER OU DAAR 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5042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pas d’accent, jamais en tête (sauf ① et ⑤)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1341059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926080"/>
            <a:ext cx="13410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woon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246315" y="2926080"/>
            <a:ext cx="736377" cy="603504"/>
          </a:xfrm>
          <a:prstGeom prst="roundRect">
            <a:avLst>
              <a:gd name="adj" fmla="val 15152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46315" y="2926080"/>
            <a:ext cx="7363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er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064988" y="2926080"/>
            <a:ext cx="2239731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64988" y="2926080"/>
            <a:ext cx="223973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al tien jaar.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822960" y="3931920"/>
            <a:ext cx="1341059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931920"/>
            <a:ext cx="13410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denk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2246315" y="3931920"/>
            <a:ext cx="736377" cy="603504"/>
          </a:xfrm>
          <a:prstGeom prst="roundRect">
            <a:avLst>
              <a:gd name="adj" fmla="val 15152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46315" y="3931920"/>
            <a:ext cx="7363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er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3064988" y="3931920"/>
            <a:ext cx="891723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64988" y="3931920"/>
            <a:ext cx="8917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niet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4039007" y="3931920"/>
            <a:ext cx="891723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39007" y="3931920"/>
            <a:ext cx="8917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aan.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6231636" y="1463040"/>
            <a:ext cx="5408676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414516" y="155448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DAAR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6414516" y="2194560"/>
            <a:ext cx="50429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accentué : on insiste, on montre ; peut commencer la phrase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05956" y="2926080"/>
            <a:ext cx="1071882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05956" y="2926080"/>
            <a:ext cx="10718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DAAR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7660134" y="2926080"/>
            <a:ext cx="1071882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660134" y="2926080"/>
            <a:ext cx="10718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woon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8814311" y="2926080"/>
            <a:ext cx="741944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814311" y="2926080"/>
            <a:ext cx="741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ik!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6505956" y="3931920"/>
            <a:ext cx="1071882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05956" y="3931920"/>
            <a:ext cx="10718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DAAR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7660134" y="3931920"/>
            <a:ext cx="1071882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660134" y="3931920"/>
            <a:ext cx="107188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denk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8814311" y="3931920"/>
            <a:ext cx="592165" cy="603504"/>
          </a:xfrm>
          <a:prstGeom prst="roundRect">
            <a:avLst>
              <a:gd name="adj" fmla="val 1544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814311" y="3931920"/>
            <a:ext cx="5921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9488773" y="3931920"/>
            <a:ext cx="891723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88773" y="3931920"/>
            <a:ext cx="8917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niet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10462792" y="3931920"/>
            <a:ext cx="891723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462792" y="3931920"/>
            <a:ext cx="89172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aan!</a:t>
            </a:r>
            <a:endParaRPr lang="en-US" sz="2100" dirty="0"/>
          </a:p>
        </p:txBody>
      </p:sp>
      <p:pic>
        <p:nvPicPr>
          <p:cNvPr id="41" name="Image 0" descr="backhand index pointing 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1554480"/>
            <a:ext cx="731520" cy="731520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22960" y="5577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En français aussi : </a:t>
            </a:r>
            <a:r>
              <a:rPr lang="en-US" sz="1600" i="1" dirty="0">
                <a:solidFill>
                  <a:schemeClr val="bg1"/>
                </a:solidFill>
              </a:rPr>
              <a:t>j’</a:t>
            </a:r>
            <a:r>
              <a:rPr lang="en-US" sz="1600" b="1" i="1" dirty="0">
                <a:solidFill>
                  <a:schemeClr val="bg1"/>
                </a:solidFill>
              </a:rPr>
              <a:t>y</a:t>
            </a:r>
            <a:r>
              <a:rPr lang="en-US" sz="1600" i="1" dirty="0">
                <a:solidFill>
                  <a:schemeClr val="bg1"/>
                </a:solidFill>
              </a:rPr>
              <a:t> habite</a:t>
            </a:r>
            <a:r>
              <a:rPr lang="en-US" sz="1600" dirty="0">
                <a:solidFill>
                  <a:schemeClr val="bg1"/>
                </a:solidFill>
              </a:rPr>
              <a:t> (neutre) ≠ </a:t>
            </a:r>
            <a:r>
              <a:rPr lang="en-US" sz="1600" i="1" dirty="0">
                <a:solidFill>
                  <a:schemeClr val="bg1"/>
                </a:solidFill>
              </a:rPr>
              <a:t>c’est </a:t>
            </a:r>
            <a:r>
              <a:rPr lang="en-US" sz="1600" b="1" i="1" dirty="0">
                <a:solidFill>
                  <a:schemeClr val="bg1"/>
                </a:solidFill>
              </a:rPr>
              <a:t>là</a:t>
            </a:r>
            <a:r>
              <a:rPr lang="en-US" sz="1600" i="1" dirty="0">
                <a:solidFill>
                  <a:schemeClr val="bg1"/>
                </a:solidFill>
              </a:rPr>
              <a:t> que j’habite !</a:t>
            </a:r>
            <a:r>
              <a:rPr lang="en-US" sz="1600" dirty="0">
                <a:solidFill>
                  <a:schemeClr val="bg1"/>
                </a:solidFill>
              </a:rPr>
              <a:t> (on insiste).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Deux er dans une phrase : Er zijn er drie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689458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B1+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Hoeveel vergaderzalen zijn er?</a:t>
            </a:r>
            <a:r>
              <a:rPr lang="en-US" sz="1700" dirty="0">
                <a:solidFill>
                  <a:schemeClr val="tx2"/>
                </a:solidFill>
              </a:rPr>
              <a:t> — combien de salles de réunion y a-t-il ?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502920" cy="110642"/>
          </a:xfrm>
          <a:prstGeom prst="rect">
            <a:avLst/>
          </a:prstGeom>
          <a:solidFill>
            <a:srgbClr val="B32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442362"/>
            <a:ext cx="502920" cy="11064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553005"/>
            <a:ext cx="502920" cy="110642"/>
          </a:xfrm>
          <a:prstGeom prst="rect">
            <a:avLst/>
          </a:prstGeom>
          <a:solidFill>
            <a:srgbClr val="2240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331720"/>
            <a:ext cx="502920" cy="33192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34440" y="2194560"/>
            <a:ext cx="880165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194560"/>
            <a:ext cx="8801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Er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2196901" y="2194560"/>
            <a:ext cx="1359457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96901" y="2194560"/>
            <a:ext cx="13594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zijn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3638654" y="2194560"/>
            <a:ext cx="880165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38654" y="2194560"/>
            <a:ext cx="8801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er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4601114" y="2194560"/>
            <a:ext cx="1362456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01114" y="219456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drie.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167640" cy="33192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280" y="4114800"/>
            <a:ext cx="167640" cy="33192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3920" y="4114800"/>
            <a:ext cx="167640" cy="33192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4114800"/>
            <a:ext cx="502920" cy="33192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34440" y="3977640"/>
            <a:ext cx="720547" cy="822960"/>
          </a:xfrm>
          <a:prstGeom prst="roundRect">
            <a:avLst>
              <a:gd name="adj" fmla="val 1269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234440" y="3977640"/>
            <a:ext cx="7205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Il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2037283" y="3977640"/>
            <a:ext cx="640519" cy="822960"/>
          </a:xfrm>
          <a:prstGeom prst="roundRect">
            <a:avLst>
              <a:gd name="adj" fmla="val 14276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37283" y="3977640"/>
            <a:ext cx="6405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y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2760098" y="3977640"/>
            <a:ext cx="880165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60098" y="3977640"/>
            <a:ext cx="8801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en</a:t>
            </a:r>
            <a:endParaRPr lang="en-US" sz="3000" dirty="0"/>
          </a:p>
        </p:txBody>
      </p:sp>
      <p:sp>
        <p:nvSpPr>
          <p:cNvPr id="28" name="Shape 25"/>
          <p:cNvSpPr/>
          <p:nvPr/>
        </p:nvSpPr>
        <p:spPr>
          <a:xfrm>
            <a:off x="3722559" y="3977640"/>
            <a:ext cx="640519" cy="822960"/>
          </a:xfrm>
          <a:prstGeom prst="roundRect">
            <a:avLst>
              <a:gd name="adj" fmla="val 1427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22559" y="3977640"/>
            <a:ext cx="6405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4445374" y="3977640"/>
            <a:ext cx="1576426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445374" y="3977640"/>
            <a:ext cx="1576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trois.</a:t>
            </a:r>
            <a:endParaRPr lang="en-US" sz="3000" dirty="0"/>
          </a:p>
        </p:txBody>
      </p:sp>
      <p:sp>
        <p:nvSpPr>
          <p:cNvPr id="32" name="Shape 29"/>
          <p:cNvSpPr/>
          <p:nvPr/>
        </p:nvSpPr>
        <p:spPr>
          <a:xfrm>
            <a:off x="1674522" y="3063240"/>
            <a:ext cx="683020" cy="868680"/>
          </a:xfrm>
          <a:prstGeom prst="line">
            <a:avLst/>
          </a:prstGeom>
          <a:noFill/>
          <a:ln w="38100">
            <a:solidFill>
              <a:srgbClr val="2A6FB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3200181" y="3063240"/>
            <a:ext cx="878556" cy="868680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949440" y="2103120"/>
            <a:ext cx="469087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132320" y="219456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① </a:t>
            </a:r>
            <a:r>
              <a:rPr lang="en-US" sz="1600" b="1" i="1" dirty="0">
                <a:solidFill>
                  <a:schemeClr val="tx1"/>
                </a:solidFill>
              </a:rPr>
              <a:t>Er</a:t>
            </a:r>
            <a:r>
              <a:rPr lang="en-US" sz="1600" b="1" dirty="0">
                <a:solidFill>
                  <a:schemeClr val="tx1"/>
                </a:solidFill>
              </a:rPr>
              <a:t> zijn…</a:t>
            </a:r>
            <a:r>
              <a:rPr lang="en-US" sz="1600" dirty="0">
                <a:solidFill>
                  <a:schemeClr val="tx1"/>
                </a:solidFill>
              </a:rPr>
              <a:t> = il y a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③ …</a:t>
            </a:r>
            <a:r>
              <a:rPr lang="en-US" sz="1600" b="1" i="1" dirty="0">
                <a:solidFill>
                  <a:schemeClr val="tx1"/>
                </a:solidFill>
              </a:rPr>
              <a:t>er</a:t>
            </a:r>
            <a:r>
              <a:rPr lang="en-US" sz="1600" b="1" dirty="0">
                <a:solidFill>
                  <a:schemeClr val="tx1"/>
                </a:solidFill>
              </a:rPr>
              <a:t> drie</a:t>
            </a:r>
            <a:r>
              <a:rPr lang="en-US" sz="1600" dirty="0">
                <a:solidFill>
                  <a:schemeClr val="tx1"/>
                </a:solidFill>
              </a:rPr>
              <a:t> = en … trois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Is er een lift? — Ja, er is er één.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Zijn er nog stoelen? — Nee, er zijn er geen meer.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48640" y="52578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" y="5257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 français a deux petits mots (</a:t>
            </a:r>
            <a:r>
              <a:rPr lang="en-US" sz="1700" i="1" dirty="0">
                <a:solidFill>
                  <a:schemeClr val="bg1"/>
                </a:solidFill>
              </a:rPr>
              <a:t>y</a:t>
            </a:r>
            <a:r>
              <a:rPr lang="en-US" sz="1700" dirty="0">
                <a:solidFill>
                  <a:schemeClr val="bg1"/>
                </a:solidFill>
              </a:rPr>
              <a:t> + </a:t>
            </a:r>
            <a:r>
              <a:rPr lang="en-US" sz="1700" i="1" dirty="0">
                <a:solidFill>
                  <a:schemeClr val="bg1"/>
                </a:solidFill>
              </a:rPr>
              <a:t>en</a:t>
            </a:r>
            <a:r>
              <a:rPr lang="en-US" sz="1700" dirty="0">
                <a:solidFill>
                  <a:schemeClr val="bg1"/>
                </a:solidFill>
              </a:rPr>
              <a:t>) ; le néerlandais en a deux aussi : </a:t>
            </a:r>
            <a:r>
              <a:rPr lang="en-US" sz="1700" i="1" dirty="0">
                <a:solidFill>
                  <a:schemeClr val="bg1"/>
                </a:solidFill>
              </a:rPr>
              <a:t>er</a:t>
            </a:r>
            <a:r>
              <a:rPr lang="en-US" sz="1700" dirty="0">
                <a:solidFill>
                  <a:schemeClr val="bg1"/>
                </a:solidFill>
              </a:rPr>
              <a:t> + </a:t>
            </a:r>
            <a:r>
              <a:rPr lang="en-US" sz="1700" i="1" dirty="0">
                <a:solidFill>
                  <a:schemeClr val="bg1"/>
                </a:solidFill>
              </a:rPr>
              <a:t>er</a:t>
            </a:r>
            <a:r>
              <a:rPr lang="en-US" sz="1700" dirty="0">
                <a:solidFill>
                  <a:schemeClr val="bg1"/>
                </a:solidFill>
              </a:rPr>
              <a:t> 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Quel er ? L’aiguillage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30782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MÉTHODE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</a:t>
            </a:r>
            <a:r>
              <a:rPr lang="en-US" sz="1600" dirty="0">
                <a:solidFill>
                  <a:schemeClr val="tx1"/>
                </a:solidFill>
              </a:rPr>
              <a:t>  Un nombre ou une quantité </a:t>
            </a:r>
            <a:r>
              <a:rPr lang="en-US" sz="1600" b="1" dirty="0">
                <a:solidFill>
                  <a:schemeClr val="tx1"/>
                </a:solidFill>
              </a:rPr>
              <a:t>seul·e</a:t>
            </a:r>
            <a:r>
              <a:rPr lang="en-US" sz="1600" dirty="0">
                <a:solidFill>
                  <a:schemeClr val="tx1"/>
                </a:solidFill>
              </a:rPr>
              <a:t>, sans nom après 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46304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oui →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156362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1563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3</a:t>
            </a:r>
            <a:endParaRPr lang="en-US" sz="156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146304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1463040"/>
            <a:ext cx="2496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heb er </a:t>
            </a:r>
            <a:r>
              <a:rPr lang="en-US" sz="1400" b="1" i="1" dirty="0">
                <a:solidFill>
                  <a:schemeClr val="tx1"/>
                </a:solidFill>
              </a:rPr>
              <a:t>twee</a:t>
            </a:r>
            <a:r>
              <a:rPr lang="en-US" sz="1400" i="1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194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non ↓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59152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" y="2359152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</a:t>
            </a:r>
            <a:r>
              <a:rPr lang="en-US" sz="1600" dirty="0">
                <a:solidFill>
                  <a:schemeClr val="tx1"/>
                </a:solidFill>
              </a:rPr>
              <a:t>  Une préposition collée ou au bout (sauf </a:t>
            </a:r>
            <a:r>
              <a:rPr lang="en-US" sz="1600" i="1" dirty="0">
                <a:solidFill>
                  <a:schemeClr val="tx1"/>
                </a:solidFill>
              </a:rPr>
              <a:t>naartoe</a:t>
            </a:r>
            <a:r>
              <a:rPr lang="en-US" sz="1600" dirty="0">
                <a:solidFill>
                  <a:schemeClr val="tx1"/>
                </a:solidFill>
              </a:rPr>
              <a:t> → lieu) 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235915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oui →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949440" y="2459736"/>
            <a:ext cx="548640" cy="54864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4</a:t>
            </a:r>
            <a:endParaRPr lang="en-US" sz="156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35915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E4A9E"/>
                </a:solidFill>
              </a:rPr>
              <a:t>y · en (+ prép.)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2359152"/>
            <a:ext cx="2496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denk er</a:t>
            </a:r>
            <a:r>
              <a:rPr lang="en-US" sz="1400" b="1" i="1" dirty="0">
                <a:solidFill>
                  <a:schemeClr val="tx1"/>
                </a:solidFill>
              </a:rPr>
              <a:t>aan</a:t>
            </a:r>
            <a:r>
              <a:rPr lang="en-US" sz="1400" i="1" dirty="0">
                <a:solidFill>
                  <a:schemeClr val="tx1"/>
                </a:solidFill>
              </a:rPr>
              <a:t>. · Ik heb er zin </a:t>
            </a:r>
            <a:r>
              <a:rPr lang="en-US" sz="1400" b="1" i="1" dirty="0">
                <a:solidFill>
                  <a:schemeClr val="tx1"/>
                </a:solidFill>
              </a:rPr>
              <a:t>in</a:t>
            </a:r>
            <a:r>
              <a:rPr lang="en-US" sz="1400" i="1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090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non ↓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255264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31520" y="3255264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i="1" dirty="0">
                <a:solidFill>
                  <a:schemeClr val="tx1"/>
                </a:solidFill>
              </a:rPr>
              <a:t>er wordt</a:t>
            </a:r>
            <a:r>
              <a:rPr lang="en-US" sz="1600" dirty="0">
                <a:solidFill>
                  <a:schemeClr val="tx1"/>
                </a:solidFill>
              </a:rPr>
              <a:t> + participe ?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080760" y="325526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oui →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949440" y="3355848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49440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5</a:t>
            </a:r>
            <a:endParaRPr lang="en-US" sz="156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3255264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86"/>
                </a:solidFill>
              </a:rPr>
              <a:t>on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3255264"/>
            <a:ext cx="2496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Er </a:t>
            </a:r>
            <a:r>
              <a:rPr lang="en-US" sz="1400" b="1" i="1" dirty="0">
                <a:solidFill>
                  <a:schemeClr val="tx1"/>
                </a:solidFill>
              </a:rPr>
              <a:t>wordt</a:t>
            </a:r>
            <a:r>
              <a:rPr lang="en-US" sz="1400" i="1" dirty="0">
                <a:solidFill>
                  <a:schemeClr val="tx1"/>
                </a:solidFill>
              </a:rPr>
              <a:t> gebeld.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986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non ↓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4151376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731520" y="4151376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4.</a:t>
            </a:r>
            <a:r>
              <a:rPr lang="en-US" sz="1600" dirty="0">
                <a:solidFill>
                  <a:schemeClr val="tx1"/>
                </a:solidFill>
              </a:rPr>
              <a:t>  Un sujet indéfini (</a:t>
            </a:r>
            <a:r>
              <a:rPr lang="en-US" sz="1600" i="1" dirty="0">
                <a:solidFill>
                  <a:schemeClr val="tx1"/>
                </a:solidFill>
              </a:rPr>
              <a:t>een, geen, veel…</a:t>
            </a:r>
            <a:r>
              <a:rPr lang="en-US" sz="1600" dirty="0">
                <a:solidFill>
                  <a:schemeClr val="tx1"/>
                </a:solidFill>
              </a:rPr>
              <a:t>) ?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080760" y="415137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oui →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949440" y="4251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494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1</a:t>
            </a:r>
            <a:endParaRPr lang="en-US" sz="1560" dirty="0"/>
          </a:p>
        </p:txBody>
      </p:sp>
      <p:sp>
        <p:nvSpPr>
          <p:cNvPr id="34" name="Text 31"/>
          <p:cNvSpPr txBox="1"/>
          <p:nvPr/>
        </p:nvSpPr>
        <p:spPr>
          <a:xfrm>
            <a:off x="7589520" y="4151376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il y a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4151376"/>
            <a:ext cx="2496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Er is </a:t>
            </a:r>
            <a:r>
              <a:rPr lang="en-US" sz="1400" b="1" i="1" dirty="0">
                <a:solidFill>
                  <a:schemeClr val="tx1"/>
                </a:solidFill>
              </a:rPr>
              <a:t>een</a:t>
            </a:r>
            <a:r>
              <a:rPr lang="en-US" sz="1400" i="1" dirty="0">
                <a:solidFill>
                  <a:schemeClr val="tx1"/>
                </a:solidFill>
              </a:rPr>
              <a:t> probleem.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4882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non ↓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8640" y="5047488"/>
            <a:ext cx="54864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731520" y="5047488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5.</a:t>
            </a:r>
            <a:r>
              <a:rPr lang="en-US" sz="1600" dirty="0">
                <a:solidFill>
                  <a:schemeClr val="tx1"/>
                </a:solidFill>
              </a:rPr>
              <a:t>  Il remplace un lieu ?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080760" y="504748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oui →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949440" y="514807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9494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2</a:t>
            </a:r>
            <a:endParaRPr lang="en-US" sz="1560" dirty="0"/>
          </a:p>
        </p:txBody>
      </p:sp>
      <p:sp>
        <p:nvSpPr>
          <p:cNvPr id="42" name="Text 39"/>
          <p:cNvSpPr txBox="1"/>
          <p:nvPr/>
        </p:nvSpPr>
        <p:spPr>
          <a:xfrm>
            <a:off x="7589520" y="504748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y · là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5047488"/>
            <a:ext cx="2496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Brussel? Ik woon </a:t>
            </a:r>
            <a:r>
              <a:rPr lang="en-US" sz="1400" b="1" i="1" dirty="0">
                <a:solidFill>
                  <a:schemeClr val="tx1"/>
                </a:solidFill>
              </a:rPr>
              <a:t>er</a:t>
            </a:r>
            <a:r>
              <a:rPr lang="en-US" sz="1400" i="1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Posez les questions dans cet ordre : la première réponse « oui » donne l’emploi.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les cinq emplois de 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86661" cy="31089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17650" y="157276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1765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1</a:t>
            </a:r>
            <a:endParaRPr lang="en-US" sz="156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94560"/>
            <a:ext cx="19952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il y 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9748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 + verbe + sujet indéfini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83280"/>
            <a:ext cx="190378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A6FB0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 is een probleem.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799893" y="1463040"/>
            <a:ext cx="2086661" cy="31089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8903" y="157276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8903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2</a:t>
            </a:r>
            <a:endParaRPr lang="en-US" sz="1560" dirty="0"/>
          </a:p>
        </p:txBody>
      </p:sp>
      <p:sp>
        <p:nvSpPr>
          <p:cNvPr id="14" name="Text 11"/>
          <p:cNvSpPr txBox="1"/>
          <p:nvPr/>
        </p:nvSpPr>
        <p:spPr>
          <a:xfrm>
            <a:off x="2845613" y="2194560"/>
            <a:ext cx="19952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y · là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891333" y="269748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remplace un lieu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891333" y="3383280"/>
            <a:ext cx="190378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woon </a:t>
            </a:r>
            <a:r>
              <a:rPr lang="en-US" sz="1500" b="1" i="1" dirty="0">
                <a:solidFill>
                  <a:srgbClr val="2E7D4F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 al tien jaar.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051146" y="1463040"/>
            <a:ext cx="2086661" cy="31089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20156" y="15727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20156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3</a:t>
            </a:r>
            <a:endParaRPr lang="en-US" sz="1560" dirty="0"/>
          </a:p>
        </p:txBody>
      </p:sp>
      <p:sp>
        <p:nvSpPr>
          <p:cNvPr id="20" name="Text 17"/>
          <p:cNvSpPr txBox="1"/>
          <p:nvPr/>
        </p:nvSpPr>
        <p:spPr>
          <a:xfrm>
            <a:off x="5096866" y="2194560"/>
            <a:ext cx="19952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en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142586" y="269748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avec un nombre, une quantité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142586" y="3383280"/>
            <a:ext cx="190378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heb </a:t>
            </a:r>
            <a:r>
              <a:rPr lang="en-US" sz="1500" b="1" i="1" dirty="0">
                <a:solidFill>
                  <a:srgbClr val="D9700F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 twee.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302398" y="1463040"/>
            <a:ext cx="2086661" cy="31089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071409" y="1572768"/>
            <a:ext cx="548640" cy="54864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71409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4</a:t>
            </a:r>
            <a:endParaRPr lang="en-US" sz="1560" dirty="0"/>
          </a:p>
        </p:txBody>
      </p:sp>
      <p:sp>
        <p:nvSpPr>
          <p:cNvPr id="26" name="Text 23"/>
          <p:cNvSpPr txBox="1"/>
          <p:nvPr/>
        </p:nvSpPr>
        <p:spPr>
          <a:xfrm>
            <a:off x="7348118" y="2194560"/>
            <a:ext cx="19952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4A9E"/>
                </a:solidFill>
              </a:rPr>
              <a:t>y · en (+ prép.)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393838" y="269748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chose + préposition (M23)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93838" y="3383280"/>
            <a:ext cx="190378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Ik denk </a:t>
            </a:r>
            <a:r>
              <a:rPr lang="en-US" sz="1500" b="1" i="1" dirty="0">
                <a:solidFill>
                  <a:srgbClr val="6E4A9E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aan.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553651" y="1463040"/>
            <a:ext cx="2086661" cy="3108960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322662" y="1572768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322662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5</a:t>
            </a:r>
            <a:endParaRPr lang="en-US" sz="1560" dirty="0"/>
          </a:p>
        </p:txBody>
      </p:sp>
      <p:sp>
        <p:nvSpPr>
          <p:cNvPr id="32" name="Text 29"/>
          <p:cNvSpPr txBox="1"/>
          <p:nvPr/>
        </p:nvSpPr>
        <p:spPr>
          <a:xfrm>
            <a:off x="9599371" y="2194560"/>
            <a:ext cx="19952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</a:rPr>
              <a:t>on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9645091" y="2697480"/>
            <a:ext cx="190378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 wordt + participe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645091" y="3383280"/>
            <a:ext cx="190378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E7C86"/>
                </a:solidFill>
              </a:rPr>
              <a:t>Er</a:t>
            </a:r>
            <a:r>
              <a:rPr lang="en-US" sz="1500" i="1" dirty="0">
                <a:solidFill>
                  <a:schemeClr val="tx1"/>
                </a:solidFill>
              </a:rPr>
              <a:t> wordt gebeld.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48640" y="4754880"/>
            <a:ext cx="11091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480060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Place</a:t>
            </a:r>
            <a:r>
              <a:rPr lang="en-US" sz="1500" dirty="0">
                <a:solidFill>
                  <a:schemeClr val="tx1"/>
                </a:solidFill>
              </a:rPr>
              <a:t> : juste après le verbe conjugué (ou après le sujet inversé) : </a:t>
            </a:r>
            <a:r>
              <a:rPr lang="en-US" sz="1500" i="1" dirty="0">
                <a:solidFill>
                  <a:schemeClr val="tx1"/>
                </a:solidFill>
              </a:rPr>
              <a:t>Ik woon er al tien jaar. · Gisteren ben ik er geweest.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Er ou daar ?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i="1" dirty="0">
                <a:solidFill>
                  <a:schemeClr val="tx1"/>
                </a:solidFill>
              </a:rPr>
              <a:t>er</a:t>
            </a:r>
            <a:r>
              <a:rPr lang="en-US" sz="1500" dirty="0">
                <a:solidFill>
                  <a:schemeClr val="tx1"/>
                </a:solidFill>
              </a:rPr>
              <a:t> sans accent, </a:t>
            </a:r>
            <a:r>
              <a:rPr lang="en-US" sz="1500" i="1" dirty="0">
                <a:solidFill>
                  <a:schemeClr val="tx1"/>
                </a:solidFill>
              </a:rPr>
              <a:t>daar</a:t>
            </a:r>
            <a:r>
              <a:rPr lang="en-US" sz="1500" dirty="0">
                <a:solidFill>
                  <a:schemeClr val="tx1"/>
                </a:solidFill>
              </a:rPr>
              <a:t> pour insister. · </a:t>
            </a:r>
            <a:r>
              <a:rPr lang="en-US" sz="1500" b="1" dirty="0">
                <a:solidFill>
                  <a:schemeClr val="tx1"/>
                </a:solidFill>
              </a:rPr>
              <a:t>Deux er</a:t>
            </a:r>
            <a:r>
              <a:rPr lang="en-US" sz="1500" dirty="0">
                <a:solidFill>
                  <a:schemeClr val="tx1"/>
                </a:solidFill>
              </a:rPr>
              <a:t> : </a:t>
            </a:r>
            <a:r>
              <a:rPr lang="en-US" sz="1500" i="1" dirty="0">
                <a:solidFill>
                  <a:schemeClr val="tx1"/>
                </a:solidFill>
              </a:rPr>
              <a:t>Er zijn er drie.</a:t>
            </a:r>
            <a:r>
              <a:rPr lang="en-US" sz="1500" dirty="0">
                <a:solidFill>
                  <a:schemeClr val="tx1"/>
                </a:solidFill>
              </a:rPr>
              <a:t> = il y en a trois.</a:t>
            </a:r>
            <a:endParaRPr lang="en-US" sz="1500" dirty="0"/>
          </a:p>
        </p:txBody>
      </p:sp>
      <p:pic>
        <p:nvPicPr>
          <p:cNvPr id="37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Quel er 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76428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0144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014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0144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Répondez avec 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0144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97992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1708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1708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Exchang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708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Er of daar?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1708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040" y="45994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376428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90144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90144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90144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Qu’y a-t-il dans le bureau ?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90144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97992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11708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11708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11708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visite du nouveau bureau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711708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2" name="Image 6" descr="man teach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Quel er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Quel emploi de </a:t>
            </a:r>
            <a:r>
              <a:rPr lang="en-US" sz="1700" i="1" dirty="0">
                <a:solidFill>
                  <a:schemeClr val="accent5"/>
                </a:solidFill>
              </a:rPr>
              <a:t>er</a:t>
            </a:r>
            <a:r>
              <a:rPr lang="en-US" sz="1700" i="1" dirty="0">
                <a:solidFill>
                  <a:schemeClr val="accent5"/>
                </a:solidFill>
              </a:rPr>
              <a:t> ? Donnez le numéro (1 à 5) et la traduction.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69008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969008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staan drie fietsen voor de deur.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225796" y="2072945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548640" y="2762098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2762098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Ik heb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geen zin in.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225796" y="286603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48640" y="3555187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555187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Ken je Gent? — Ja, ik woon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225796" y="365912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48640" y="4348277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4348277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Hoeveel broers heb je? — Ik heb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twee.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225796" y="445221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548640" y="5141366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5141366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wordt hier niet gerookt.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225796" y="5245303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6231636" y="1969008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368796" y="1969008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Is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nog melk?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10908792" y="2072945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6" name="Shape 22"/>
          <p:cNvSpPr/>
          <p:nvPr/>
        </p:nvSpPr>
        <p:spPr>
          <a:xfrm>
            <a:off x="6231636" y="2762098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68796" y="2762098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7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Wat vind je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van?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10908792" y="286603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9" name="Shape 25"/>
          <p:cNvSpPr/>
          <p:nvPr/>
        </p:nvSpPr>
        <p:spPr>
          <a:xfrm>
            <a:off x="6231636" y="3555187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68796" y="3555187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8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Brugge? Ik ga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morgen naartoe.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10908792" y="365912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32" name="Shape 28"/>
          <p:cNvSpPr/>
          <p:nvPr/>
        </p:nvSpPr>
        <p:spPr>
          <a:xfrm>
            <a:off x="6231636" y="4348277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68796" y="4348277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9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Heb je een fiets? — Ik heb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twee!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10908792" y="445221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35" name="Shape 31"/>
          <p:cNvSpPr/>
          <p:nvPr/>
        </p:nvSpPr>
        <p:spPr>
          <a:xfrm>
            <a:off x="6231636" y="5141366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68796" y="5141366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10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wordt gebeld.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10908792" y="5245303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Quel er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Quel emploi de </a:t>
            </a:r>
            <a:r>
              <a:rPr lang="en-US" sz="1700" i="1" dirty="0">
                <a:solidFill>
                  <a:schemeClr val="accent5"/>
                </a:solidFill>
              </a:rPr>
              <a:t>er</a:t>
            </a:r>
            <a:r>
              <a:rPr lang="en-US" sz="1700" i="1" dirty="0">
                <a:solidFill>
                  <a:schemeClr val="accent5"/>
                </a:solidFill>
              </a:rPr>
              <a:t> ? Donnez le numéro (1 à 5) et la traduction.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69008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969008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staan drie fietsen voor de deur.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225796" y="2072945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225796" y="207294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1</a:t>
            </a:r>
            <a:endParaRPr lang="en-US" sz="1456" dirty="0"/>
          </a:p>
        </p:txBody>
      </p:sp>
      <p:sp>
        <p:nvSpPr>
          <p:cNvPr id="13" name="Shape 9"/>
          <p:cNvSpPr/>
          <p:nvPr/>
        </p:nvSpPr>
        <p:spPr>
          <a:xfrm>
            <a:off x="548640" y="2762098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2762098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Ik heb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geen zin in.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225796" y="2866034"/>
            <a:ext cx="512064" cy="512064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225796" y="286603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4</a:t>
            </a:r>
            <a:endParaRPr lang="en-US" sz="1456" dirty="0"/>
          </a:p>
        </p:txBody>
      </p:sp>
      <p:sp>
        <p:nvSpPr>
          <p:cNvPr id="17" name="Shape 13"/>
          <p:cNvSpPr/>
          <p:nvPr/>
        </p:nvSpPr>
        <p:spPr>
          <a:xfrm>
            <a:off x="548640" y="3555187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3555187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Ken je Gent? — Ja, ik woon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225796" y="3659124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225796" y="36591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2</a:t>
            </a:r>
            <a:endParaRPr lang="en-US" sz="1456" dirty="0"/>
          </a:p>
        </p:txBody>
      </p:sp>
      <p:sp>
        <p:nvSpPr>
          <p:cNvPr id="21" name="Shape 17"/>
          <p:cNvSpPr/>
          <p:nvPr/>
        </p:nvSpPr>
        <p:spPr>
          <a:xfrm>
            <a:off x="548640" y="4348277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4348277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Hoeveel broers heb je? — Ik heb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twee.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5225796" y="445221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225796" y="445221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3</a:t>
            </a:r>
            <a:endParaRPr lang="en-US" sz="1456" dirty="0"/>
          </a:p>
        </p:txBody>
      </p:sp>
      <p:sp>
        <p:nvSpPr>
          <p:cNvPr id="25" name="Shape 21"/>
          <p:cNvSpPr/>
          <p:nvPr/>
        </p:nvSpPr>
        <p:spPr>
          <a:xfrm>
            <a:off x="548640" y="5141366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" y="5141366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wordt hier niet gerookt.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225796" y="5245303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225796" y="524530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5</a:t>
            </a:r>
            <a:endParaRPr lang="en-US" sz="1456" dirty="0"/>
          </a:p>
        </p:txBody>
      </p:sp>
      <p:sp>
        <p:nvSpPr>
          <p:cNvPr id="29" name="Shape 25"/>
          <p:cNvSpPr/>
          <p:nvPr/>
        </p:nvSpPr>
        <p:spPr>
          <a:xfrm>
            <a:off x="6231636" y="1969008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68796" y="1969008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Is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nog melk?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10908792" y="2072945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908792" y="207294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1</a:t>
            </a:r>
            <a:endParaRPr lang="en-US" sz="1456" dirty="0"/>
          </a:p>
        </p:txBody>
      </p:sp>
      <p:sp>
        <p:nvSpPr>
          <p:cNvPr id="33" name="Shape 29"/>
          <p:cNvSpPr/>
          <p:nvPr/>
        </p:nvSpPr>
        <p:spPr>
          <a:xfrm>
            <a:off x="6231636" y="2762098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368796" y="2762098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7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Wat vind je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van?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>
            <a:off x="10908792" y="2866034"/>
            <a:ext cx="512064" cy="512064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0908792" y="286603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4</a:t>
            </a:r>
            <a:endParaRPr lang="en-US" sz="1456" dirty="0"/>
          </a:p>
        </p:txBody>
      </p:sp>
      <p:sp>
        <p:nvSpPr>
          <p:cNvPr id="37" name="Shape 33"/>
          <p:cNvSpPr/>
          <p:nvPr/>
        </p:nvSpPr>
        <p:spPr>
          <a:xfrm>
            <a:off x="6231636" y="3555187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368796" y="3555187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8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Brugge? Ik ga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morgen naartoe.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>
            <a:off x="10908792" y="3659124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908792" y="36591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2</a:t>
            </a:r>
            <a:endParaRPr lang="en-US" sz="1456" dirty="0"/>
          </a:p>
        </p:txBody>
      </p:sp>
      <p:sp>
        <p:nvSpPr>
          <p:cNvPr id="41" name="Shape 37"/>
          <p:cNvSpPr/>
          <p:nvPr/>
        </p:nvSpPr>
        <p:spPr>
          <a:xfrm>
            <a:off x="6231636" y="4348277"/>
            <a:ext cx="5408676" cy="701650"/>
          </a:xfrm>
          <a:prstGeom prst="roundRect">
            <a:avLst>
              <a:gd name="adj" fmla="val 1303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368796" y="4348277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9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i="1" dirty="0">
                <a:solidFill>
                  <a:schemeClr val="tx1"/>
                </a:solidFill>
              </a:rPr>
              <a:t>Heb je een fiets? — Ik heb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twee!</a:t>
            </a:r>
            <a:endParaRPr lang="en-US" sz="1700" dirty="0"/>
          </a:p>
        </p:txBody>
      </p:sp>
      <p:sp>
        <p:nvSpPr>
          <p:cNvPr id="43" name="Shape 39"/>
          <p:cNvSpPr/>
          <p:nvPr/>
        </p:nvSpPr>
        <p:spPr>
          <a:xfrm>
            <a:off x="10908792" y="445221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0908792" y="445221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3</a:t>
            </a:r>
            <a:endParaRPr lang="en-US" sz="1456" dirty="0"/>
          </a:p>
        </p:txBody>
      </p:sp>
      <p:sp>
        <p:nvSpPr>
          <p:cNvPr id="45" name="Shape 41"/>
          <p:cNvSpPr/>
          <p:nvPr/>
        </p:nvSpPr>
        <p:spPr>
          <a:xfrm>
            <a:off x="6231636" y="5141366"/>
            <a:ext cx="5408676" cy="701650"/>
          </a:xfrm>
          <a:prstGeom prst="roundRect">
            <a:avLst>
              <a:gd name="adj" fmla="val 1303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368796" y="5141366"/>
            <a:ext cx="4448556" cy="70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10</a:t>
            </a:r>
            <a:r>
              <a:rPr lang="en-US" sz="1700" dirty="0">
                <a:solidFill>
                  <a:schemeClr val="tx1"/>
                </a:solidFill>
              </a:rPr>
              <a:t>  </a:t>
            </a:r>
            <a:r>
              <a:rPr lang="en-US" sz="1700" b="1" i="1" dirty="0">
                <a:solidFill>
                  <a:schemeClr val="tx1"/>
                </a:solidFill>
              </a:rPr>
              <a:t>Er</a:t>
            </a:r>
            <a:r>
              <a:rPr lang="en-US" sz="1700" i="1" dirty="0">
                <a:solidFill>
                  <a:schemeClr val="tx1"/>
                </a:solidFill>
              </a:rPr>
              <a:t> wordt gebeld.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10908792" y="5245303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0908792" y="524530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5</a:t>
            </a:r>
            <a:endParaRPr lang="en-US" sz="1456" dirty="0"/>
          </a:p>
        </p:txBody>
      </p:sp>
      <p:sp>
        <p:nvSpPr>
          <p:cNvPr id="49" name="Text 45"/>
          <p:cNvSpPr txBox="1"/>
          <p:nvPr/>
        </p:nvSpPr>
        <p:spPr>
          <a:xfrm>
            <a:off x="548640" y="5925312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① il y a · ② y · ③ en · ④ y / en + préposition · ⑤ 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Répondez avec 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Répondez sans répéter le mot : utilisez </a:t>
            </a:r>
            <a:r>
              <a:rPr lang="en-US" sz="1700" i="1" dirty="0">
                <a:solidFill>
                  <a:schemeClr val="accent5"/>
                </a:solidFill>
              </a:rPr>
              <a:t>er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78152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teddy b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5312"/>
            <a:ext cx="925576" cy="92557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94256" y="2042160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Hoeveel kinderen heb je?</a:t>
            </a:r>
            <a:r>
              <a:rPr lang="en-US" sz="1500" dirty="0">
                <a:solidFill>
                  <a:schemeClr val="tx2"/>
                </a:solidFill>
              </a:rPr>
              <a:t>  (2)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794256" y="2526914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315208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round pushp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2368"/>
            <a:ext cx="925576" cy="92557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794256" y="3379216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Ben je al in Brugge geweest?</a:t>
            </a:r>
            <a:r>
              <a:rPr lang="en-US" sz="1500" dirty="0">
                <a:solidFill>
                  <a:schemeClr val="tx2"/>
                </a:solidFill>
              </a:rPr>
              <a:t>  (ja, vorig jaar)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794256" y="3863970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Ja, ik ben </a:t>
            </a:r>
            <a:r>
              <a:rPr lang="en-US" sz="1800" i="1" dirty="0">
                <a:solidFill>
                  <a:schemeClr val="accent5"/>
                </a:solidFill>
              </a:rPr>
              <a:t>……………………</a:t>
            </a:r>
            <a:r>
              <a:rPr lang="en-US" sz="1800" i="1" dirty="0">
                <a:solidFill>
                  <a:schemeClr val="tx1"/>
                </a:solidFill>
              </a:rPr>
              <a:t> geweest.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548640" y="4652264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89424"/>
            <a:ext cx="925576" cy="92557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794256" y="4716272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Heb je een pen voor mij?</a:t>
            </a:r>
            <a:r>
              <a:rPr lang="en-US" sz="1500" dirty="0">
                <a:solidFill>
                  <a:schemeClr val="tx2"/>
                </a:solidFill>
              </a:rPr>
              <a:t>  (nee)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794256" y="5201026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Nee, ik heb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31636" y="1978152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thinking fa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796" y="2115312"/>
            <a:ext cx="925576" cy="92557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477252" y="2042160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Denk je aan de vergadering?</a:t>
            </a:r>
            <a:r>
              <a:rPr lang="en-US" sz="1500" dirty="0">
                <a:solidFill>
                  <a:schemeClr val="tx2"/>
                </a:solidFill>
              </a:rPr>
              <a:t>  (ja)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7477252" y="2526914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Ja, ik denk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6231636" y="3315208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5" name="Image 5" descr="office build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796" y="3452368"/>
            <a:ext cx="925576" cy="92557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477252" y="3379216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Werk je al lang in Gent?</a:t>
            </a:r>
            <a:r>
              <a:rPr lang="en-US" sz="1500" dirty="0">
                <a:solidFill>
                  <a:schemeClr val="tx2"/>
                </a:solidFill>
              </a:rPr>
              <a:t>  (5 jaar)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7477252" y="3863970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werk </a:t>
            </a:r>
            <a:r>
              <a:rPr lang="en-US" sz="1800" i="1" dirty="0">
                <a:solidFill>
                  <a:schemeClr val="accent5"/>
                </a:solidFill>
              </a:rPr>
              <a:t>………………………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8" name="Shape 19"/>
          <p:cNvSpPr/>
          <p:nvPr/>
        </p:nvSpPr>
        <p:spPr>
          <a:xfrm>
            <a:off x="6231636" y="4652264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9" name="Image 6" descr="busts in silhouet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796" y="4789424"/>
            <a:ext cx="925576" cy="92557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477252" y="4716272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Hoeveel collega’s heb je?</a:t>
            </a:r>
            <a:r>
              <a:rPr lang="en-US" sz="1500" dirty="0">
                <a:solidFill>
                  <a:schemeClr val="tx2"/>
                </a:solidFill>
              </a:rPr>
              <a:t>  (veel)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7477252" y="5201026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i="1" dirty="0">
                <a:solidFill>
                  <a:schemeClr val="accent5"/>
                </a:solidFill>
              </a:rPr>
              <a:t>…………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Répondez avec 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Répondez sans répéter le mot : utilisez </a:t>
            </a:r>
            <a:r>
              <a:rPr lang="en-US" sz="1700" i="1" dirty="0">
                <a:solidFill>
                  <a:schemeClr val="accent5"/>
                </a:solidFill>
              </a:rPr>
              <a:t>er</a:t>
            </a:r>
            <a:r>
              <a:rPr lang="en-US" sz="1700" i="1" dirty="0">
                <a:solidFill>
                  <a:schemeClr val="accent5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78152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teddy b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5312"/>
            <a:ext cx="925576" cy="92557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94256" y="2042160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Hoeveel kinderen heb je?</a:t>
            </a:r>
            <a:r>
              <a:rPr lang="en-US" sz="1500" dirty="0">
                <a:solidFill>
                  <a:schemeClr val="tx2"/>
                </a:solidFill>
              </a:rPr>
              <a:t>  (2)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794256" y="2526914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b="1" i="1" dirty="0">
                <a:solidFill>
                  <a:schemeClr val="accent3"/>
                </a:solidFill>
              </a:rPr>
              <a:t>er twee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3315208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round pushp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2368"/>
            <a:ext cx="925576" cy="92557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94256" y="3379216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Ben je al in Brugge geweest?</a:t>
            </a:r>
            <a:r>
              <a:rPr lang="en-US" sz="1500" dirty="0">
                <a:solidFill>
                  <a:schemeClr val="tx2"/>
                </a:solidFill>
              </a:rPr>
              <a:t>  (ja, vorig jaar)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794256" y="3863970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Ja, ik ben </a:t>
            </a:r>
            <a:r>
              <a:rPr lang="en-US" sz="1800" b="1" i="1" dirty="0">
                <a:solidFill>
                  <a:schemeClr val="accent3"/>
                </a:solidFill>
              </a:rPr>
              <a:t>er vorig jaar</a:t>
            </a:r>
            <a:r>
              <a:rPr lang="en-US" sz="1800" i="1" dirty="0">
                <a:solidFill>
                  <a:schemeClr val="tx1"/>
                </a:solidFill>
              </a:rPr>
              <a:t> geweest.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48640" y="4652264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89424"/>
            <a:ext cx="925576" cy="92557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794256" y="4716272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Heb je een pen voor mij?</a:t>
            </a:r>
            <a:r>
              <a:rPr lang="en-US" sz="1500" dirty="0">
                <a:solidFill>
                  <a:schemeClr val="tx2"/>
                </a:solidFill>
              </a:rPr>
              <a:t>  (nee)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794256" y="5201026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Nee, ik heb </a:t>
            </a:r>
            <a:r>
              <a:rPr lang="en-US" sz="1800" b="1" i="1" dirty="0">
                <a:solidFill>
                  <a:schemeClr val="accent3"/>
                </a:solidFill>
              </a:rPr>
              <a:t>er geen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6231636" y="1978152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thinking fa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796" y="2115312"/>
            <a:ext cx="925576" cy="92557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477252" y="2042160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Denk je aan de vergadering?</a:t>
            </a:r>
            <a:r>
              <a:rPr lang="en-US" sz="1500" dirty="0">
                <a:solidFill>
                  <a:schemeClr val="tx2"/>
                </a:solidFill>
              </a:rPr>
              <a:t>  (ja)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7477252" y="2526914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Ja, ik denk </a:t>
            </a:r>
            <a:r>
              <a:rPr lang="en-US" sz="1800" b="1" i="1" dirty="0">
                <a:solidFill>
                  <a:schemeClr val="accent3"/>
                </a:solidFill>
              </a:rPr>
              <a:t>eraan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6231636" y="3315208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5" descr="office build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796" y="3452368"/>
            <a:ext cx="925576" cy="92557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477252" y="3379216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Werk je al lang in Gent?</a:t>
            </a:r>
            <a:r>
              <a:rPr lang="en-US" sz="1500" dirty="0">
                <a:solidFill>
                  <a:schemeClr val="tx2"/>
                </a:solidFill>
              </a:rPr>
              <a:t>  (5 jaar)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7477252" y="3863970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werk </a:t>
            </a:r>
            <a:r>
              <a:rPr lang="en-US" sz="1800" b="1" i="1" dirty="0">
                <a:solidFill>
                  <a:schemeClr val="accent3"/>
                </a:solidFill>
              </a:rPr>
              <a:t>er al vijf jaar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9" name="Shape 20"/>
          <p:cNvSpPr/>
          <p:nvPr/>
        </p:nvSpPr>
        <p:spPr>
          <a:xfrm>
            <a:off x="6231636" y="4652264"/>
            <a:ext cx="5408676" cy="1209040"/>
          </a:xfrm>
          <a:prstGeom prst="roundRect">
            <a:avLst>
              <a:gd name="adj" fmla="val 907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0" name="Image 6" descr="busts in silhouet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796" y="4789424"/>
            <a:ext cx="925576" cy="92557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477252" y="4716272"/>
            <a:ext cx="4071620" cy="484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</a:t>
            </a:r>
            <a:r>
              <a:rPr lang="en-US" sz="1500" dirty="0">
                <a:solidFill>
                  <a:schemeClr val="tx2"/>
                </a:solidFill>
              </a:rPr>
              <a:t>  </a:t>
            </a:r>
            <a:r>
              <a:rPr lang="en-US" sz="1500" i="1" dirty="0">
                <a:solidFill>
                  <a:schemeClr val="tx2"/>
                </a:solidFill>
              </a:rPr>
              <a:t>Hoeveel collega’s heb je?</a:t>
            </a:r>
            <a:r>
              <a:rPr lang="en-US" sz="1500" dirty="0">
                <a:solidFill>
                  <a:schemeClr val="tx2"/>
                </a:solidFill>
              </a:rPr>
              <a:t>  (veel)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7477252" y="5201026"/>
            <a:ext cx="4071620" cy="63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b="1" i="1" dirty="0">
                <a:solidFill>
                  <a:schemeClr val="accent3"/>
                </a:solidFill>
              </a:rPr>
              <a:t>er veel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3" name="Text 23"/>
          <p:cNvSpPr txBox="1"/>
          <p:nvPr/>
        </p:nvSpPr>
        <p:spPr>
          <a:xfrm>
            <a:off x="548640" y="594360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N° 4 : aussi </a:t>
            </a:r>
            <a:r>
              <a:rPr lang="en-US" sz="1400" i="1" dirty="0">
                <a:solidFill>
                  <a:schemeClr val="accent5"/>
                </a:solidFill>
              </a:rPr>
              <a:t>Ja, daar denk ik aan.</a:t>
            </a:r>
            <a:r>
              <a:rPr lang="en-US" sz="1400" i="1" dirty="0">
                <a:solidFill>
                  <a:schemeClr val="accent5"/>
                </a:solidFill>
              </a:rPr>
              <a:t> (on insiste). N° 2 : aussi </a:t>
            </a:r>
            <a:r>
              <a:rPr lang="en-US" sz="1400" i="1" dirty="0">
                <a:solidFill>
                  <a:schemeClr val="accent5"/>
                </a:solidFill>
              </a:rPr>
              <a:t>Ja, ik ben er al geweest.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Er of daar?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er</a:t>
            </a:r>
            <a:r>
              <a:rPr lang="en-US" sz="1700" i="1" dirty="0">
                <a:solidFill>
                  <a:schemeClr val="accent5"/>
                </a:solidFill>
              </a:rPr>
              <a:t> ou </a:t>
            </a:r>
            <a:r>
              <a:rPr lang="en-US" sz="1700" i="1" dirty="0">
                <a:solidFill>
                  <a:schemeClr val="accent5"/>
                </a:solidFill>
              </a:rPr>
              <a:t>daar</a:t>
            </a:r>
            <a:r>
              <a:rPr lang="en-US" sz="1700" i="1" dirty="0">
                <a:solidFill>
                  <a:schemeClr val="accent5"/>
                </a:solidFill>
              </a:rPr>
              <a:t> (</a:t>
            </a:r>
            <a:r>
              <a:rPr lang="en-US" sz="1700" i="1" dirty="0">
                <a:solidFill>
                  <a:schemeClr val="accent5"/>
                </a:solidFill>
              </a:rPr>
              <a:t>daar</a:t>
            </a:r>
            <a:r>
              <a:rPr lang="en-US" sz="1700" i="1" dirty="0">
                <a:solidFill>
                  <a:schemeClr val="accent5"/>
                </a:solidFill>
              </a:rPr>
              <a:t> : pour insister ou montrer).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6959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  </a:t>
            </a:r>
            <a:r>
              <a:rPr lang="en-US" sz="2000" i="1" dirty="0">
                <a:solidFill>
                  <a:schemeClr val="tx1"/>
                </a:solidFill>
              </a:rPr>
              <a:t>Ken je Gent? — Ja, ik woon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 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woon ik! (en montrant la maison)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  </a:t>
            </a:r>
            <a:r>
              <a:rPr lang="en-US" sz="2000" i="1" dirty="0">
                <a:solidFill>
                  <a:schemeClr val="tx1"/>
                </a:solidFill>
              </a:rPr>
              <a:t>Hoeveel boeken heb je? — Ik heb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tien.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 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is niemand thuis.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06959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  </a:t>
            </a:r>
            <a:r>
              <a:rPr lang="en-US" sz="2000" i="1" dirty="0">
                <a:solidFill>
                  <a:schemeClr val="tx1"/>
                </a:solidFill>
              </a:rPr>
              <a:t>Is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nog koffie?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  </a:t>
            </a:r>
            <a:r>
              <a:rPr lang="en-US" sz="2000" i="1" dirty="0">
                <a:solidFill>
                  <a:schemeClr val="tx1"/>
                </a:solidFill>
              </a:rPr>
              <a:t>Ik heb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geen zin in.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 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heb ik echt geen zin in!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  </a:t>
            </a: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wordt gebeld.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Er of daar?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</a:t>
            </a:r>
            <a:r>
              <a:rPr lang="en-US" sz="1700" i="1" dirty="0">
                <a:solidFill>
                  <a:schemeClr val="accent5"/>
                </a:solidFill>
              </a:rPr>
              <a:t>er</a:t>
            </a:r>
            <a:r>
              <a:rPr lang="en-US" sz="1700" i="1" dirty="0">
                <a:solidFill>
                  <a:schemeClr val="accent5"/>
                </a:solidFill>
              </a:rPr>
              <a:t> ou </a:t>
            </a:r>
            <a:r>
              <a:rPr lang="en-US" sz="1700" i="1" dirty="0">
                <a:solidFill>
                  <a:schemeClr val="accent5"/>
                </a:solidFill>
              </a:rPr>
              <a:t>daar</a:t>
            </a:r>
            <a:r>
              <a:rPr lang="en-US" sz="1700" i="1" dirty="0">
                <a:solidFill>
                  <a:schemeClr val="accent5"/>
                </a:solidFill>
              </a:rPr>
              <a:t> (</a:t>
            </a:r>
            <a:r>
              <a:rPr lang="en-US" sz="1700" i="1" dirty="0">
                <a:solidFill>
                  <a:schemeClr val="accent5"/>
                </a:solidFill>
              </a:rPr>
              <a:t>daar</a:t>
            </a:r>
            <a:r>
              <a:rPr lang="en-US" sz="1700" i="1" dirty="0">
                <a:solidFill>
                  <a:schemeClr val="accent5"/>
                </a:solidFill>
              </a:rPr>
              <a:t> : pour insister ou montrer).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6959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  </a:t>
            </a:r>
            <a:r>
              <a:rPr lang="en-US" sz="2000" i="1" dirty="0">
                <a:solidFill>
                  <a:schemeClr val="tx1"/>
                </a:solidFill>
              </a:rPr>
              <a:t>Ken je Gent? — Ja, ik woon </a:t>
            </a:r>
            <a:r>
              <a:rPr lang="en-US" sz="2000" b="1" i="1" dirty="0">
                <a:solidFill>
                  <a:schemeClr val="accent3"/>
                </a:solidFill>
              </a:rPr>
              <a:t>er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  </a:t>
            </a:r>
            <a:r>
              <a:rPr lang="en-US" sz="2000" b="1" i="1" dirty="0">
                <a:solidFill>
                  <a:schemeClr val="accent3"/>
                </a:solidFill>
              </a:rPr>
              <a:t>Daar</a:t>
            </a:r>
            <a:r>
              <a:rPr lang="en-US" sz="2000" i="1" dirty="0">
                <a:solidFill>
                  <a:schemeClr val="tx1"/>
                </a:solidFill>
              </a:rPr>
              <a:t> woon ik! (en montrant la maison)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  </a:t>
            </a:r>
            <a:r>
              <a:rPr lang="en-US" sz="2000" i="1" dirty="0">
                <a:solidFill>
                  <a:schemeClr val="tx1"/>
                </a:solidFill>
              </a:rPr>
              <a:t>Hoeveel boeken heb je? — Ik heb </a:t>
            </a:r>
            <a:r>
              <a:rPr lang="en-US" sz="2000" b="1" i="1" dirty="0">
                <a:solidFill>
                  <a:schemeClr val="accent3"/>
                </a:solidFill>
              </a:rPr>
              <a:t>er</a:t>
            </a:r>
            <a:r>
              <a:rPr lang="en-US" sz="2000" i="1" dirty="0">
                <a:solidFill>
                  <a:schemeClr val="tx1"/>
                </a:solidFill>
              </a:rPr>
              <a:t> tien.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  </a:t>
            </a:r>
            <a:r>
              <a:rPr lang="en-US" sz="2000" b="1" i="1" dirty="0">
                <a:solidFill>
                  <a:schemeClr val="accent3"/>
                </a:solidFill>
              </a:rPr>
              <a:t>Er</a:t>
            </a:r>
            <a:r>
              <a:rPr lang="en-US" sz="2000" i="1" dirty="0">
                <a:solidFill>
                  <a:schemeClr val="tx1"/>
                </a:solidFill>
              </a:rPr>
              <a:t> is niemand thuis.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069592"/>
            <a:ext cx="53400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  </a:t>
            </a:r>
            <a:r>
              <a:rPr lang="en-US" sz="2000" i="1" dirty="0">
                <a:solidFill>
                  <a:schemeClr val="tx1"/>
                </a:solidFill>
              </a:rPr>
              <a:t>Is </a:t>
            </a:r>
            <a:r>
              <a:rPr lang="en-US" sz="2000" b="1" i="1" dirty="0">
                <a:solidFill>
                  <a:schemeClr val="accent3"/>
                </a:solidFill>
              </a:rPr>
              <a:t>er</a:t>
            </a:r>
            <a:r>
              <a:rPr lang="en-US" sz="2000" i="1" dirty="0">
                <a:solidFill>
                  <a:schemeClr val="tx1"/>
                </a:solidFill>
              </a:rPr>
              <a:t> nog koffie?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  </a:t>
            </a:r>
            <a:r>
              <a:rPr lang="en-US" sz="2000" i="1" dirty="0">
                <a:solidFill>
                  <a:schemeClr val="tx1"/>
                </a:solidFill>
              </a:rPr>
              <a:t>Ik heb </a:t>
            </a:r>
            <a:r>
              <a:rPr lang="en-US" sz="2000" b="1" i="1" dirty="0">
                <a:solidFill>
                  <a:schemeClr val="accent3"/>
                </a:solidFill>
              </a:rPr>
              <a:t>er</a:t>
            </a:r>
            <a:r>
              <a:rPr lang="en-US" sz="2000" i="1" dirty="0">
                <a:solidFill>
                  <a:schemeClr val="tx1"/>
                </a:solidFill>
              </a:rPr>
              <a:t> geen zin in.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  </a:t>
            </a:r>
            <a:r>
              <a:rPr lang="en-US" sz="2000" b="1" i="1" dirty="0">
                <a:solidFill>
                  <a:schemeClr val="accent3"/>
                </a:solidFill>
              </a:rPr>
              <a:t>Daar</a:t>
            </a:r>
            <a:r>
              <a:rPr lang="en-US" sz="2000" i="1" dirty="0">
                <a:solidFill>
                  <a:schemeClr val="tx1"/>
                </a:solidFill>
              </a:rPr>
              <a:t> heb ik echt geen zin in!</a:t>
            </a:r>
            <a:endParaRPr lang="en-US" sz="20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  </a:t>
            </a:r>
            <a:r>
              <a:rPr lang="en-US" sz="2000" b="1" i="1" dirty="0">
                <a:solidFill>
                  <a:schemeClr val="accent3"/>
                </a:solidFill>
              </a:rPr>
              <a:t>Er</a:t>
            </a:r>
            <a:r>
              <a:rPr lang="en-US" sz="2000" i="1" dirty="0">
                <a:solidFill>
                  <a:schemeClr val="tx1"/>
                </a:solidFill>
              </a:rPr>
              <a:t> wordt gebeld.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N° 4 et 8 : </a:t>
            </a:r>
            <a:r>
              <a:rPr lang="en-US" sz="1400" i="1" dirty="0">
                <a:solidFill>
                  <a:schemeClr val="accent5"/>
                </a:solidFill>
              </a:rPr>
              <a:t>er</a:t>
            </a:r>
            <a:r>
              <a:rPr lang="en-US" sz="1400" i="1" dirty="0">
                <a:solidFill>
                  <a:schemeClr val="accent5"/>
                </a:solidFill>
              </a:rPr>
              <a:t> en tête pour « il y a » (①) et le passif (⑤). N° 1 et 6 : </a:t>
            </a:r>
            <a:r>
              <a:rPr lang="en-US" sz="1400" i="1" dirty="0">
                <a:solidFill>
                  <a:schemeClr val="accent5"/>
                </a:solidFill>
              </a:rPr>
              <a:t>daar</a:t>
            </a:r>
            <a:r>
              <a:rPr lang="en-US" sz="1400" i="1" dirty="0">
                <a:solidFill>
                  <a:schemeClr val="accent5"/>
                </a:solidFill>
              </a:rPr>
              <a:t> est aussi possible.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Tom décrit le nouveau bureau.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2517"/>
            </a:avLst>
          </a:prstGeom>
          <a:solidFill>
            <a:srgbClr val="E7F6EC"/>
          </a:solidFill>
          <a:ln w="15875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1" descr="mobile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3872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20238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Tom</a:t>
            </a:r>
            <a:r>
              <a:rPr lang="en-US" sz="1400" dirty="0">
                <a:solidFill>
                  <a:schemeClr val="accent3"/>
                </a:solidFill>
              </a:rPr>
              <a:t> · vandaag 17:45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2618232"/>
            <a:ext cx="768096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Hoi Sofie! Ik heb het nieuwe kantoor gezien: ik ben </a:t>
            </a:r>
            <a:r>
              <a:rPr lang="en-US" sz="1900" i="1" dirty="0">
                <a:solidFill>
                  <a:schemeClr val="tx1"/>
                </a:solidFill>
              </a:rPr>
              <a:t>geweest er gisteren</a:t>
            </a:r>
            <a:r>
              <a:rPr lang="en-US" sz="1900" i="1" dirty="0">
                <a:solidFill>
                  <a:schemeClr val="tx1"/>
                </a:solidFill>
              </a:rPr>
              <a:t>. </a:t>
            </a:r>
            <a:r>
              <a:rPr lang="en-US" sz="1900" i="1" dirty="0">
                <a:solidFill>
                  <a:schemeClr val="tx1"/>
                </a:solidFill>
              </a:rPr>
              <a:t>Het is</a:t>
            </a:r>
            <a:r>
              <a:rPr lang="en-US" sz="1900" i="1" dirty="0">
                <a:solidFill>
                  <a:schemeClr val="tx1"/>
                </a:solidFill>
              </a:rPr>
              <a:t> een grote keuken en </a:t>
            </a:r>
            <a:r>
              <a:rPr lang="en-US" sz="1900" i="1" dirty="0">
                <a:solidFill>
                  <a:schemeClr val="tx1"/>
                </a:solidFill>
              </a:rPr>
              <a:t>er staat de koffiemachine</a:t>
            </a:r>
            <a:r>
              <a:rPr lang="en-US" sz="1900" i="1" dirty="0">
                <a:solidFill>
                  <a:schemeClr val="tx1"/>
                </a:solidFill>
              </a:rPr>
              <a:t> naast het raam. Vergaderzalen? We hebben </a:t>
            </a:r>
            <a:r>
              <a:rPr lang="en-US" sz="1900" i="1" dirty="0">
                <a:solidFill>
                  <a:schemeClr val="tx1"/>
                </a:solidFill>
              </a:rPr>
              <a:t>drie</a:t>
            </a:r>
            <a:r>
              <a:rPr lang="en-US" sz="1900" i="1" dirty="0">
                <a:solidFill>
                  <a:schemeClr val="tx1"/>
                </a:solidFill>
              </a:rPr>
              <a:t>! Er wordt nog gewerkt aan de lift, dus de verhuizing is pas in mei. Ik kijk </a:t>
            </a:r>
            <a:r>
              <a:rPr lang="en-US" sz="1900" i="1" dirty="0">
                <a:solidFill>
                  <a:schemeClr val="tx1"/>
                </a:solidFill>
              </a:rPr>
              <a:t>uit naar het</a:t>
            </a:r>
            <a:r>
              <a:rPr lang="en-US" sz="1900" i="1" dirty="0">
                <a:solidFill>
                  <a:schemeClr val="tx1"/>
                </a:solidFill>
              </a:rPr>
              <a:t>! Groetjes, Tom</a:t>
            </a:r>
            <a:endParaRPr lang="en-US" sz="1900" dirty="0"/>
          </a:p>
        </p:txBody>
      </p:sp>
      <p:pic>
        <p:nvPicPr>
          <p:cNvPr id="12" name="Image 2" descr="magnifying glass tilted 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Tom décrit le nouveau bureau.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2517"/>
            </a:avLst>
          </a:prstGeom>
          <a:solidFill>
            <a:srgbClr val="E7F6EC"/>
          </a:solidFill>
          <a:ln w="15875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mobile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3872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0238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Tom</a:t>
            </a:r>
            <a:r>
              <a:rPr lang="en-US" sz="1400" dirty="0">
                <a:solidFill>
                  <a:schemeClr val="accent3"/>
                </a:solidFill>
              </a:rPr>
              <a:t> · vandaag 17:45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2618232"/>
            <a:ext cx="768096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Hoi Sofie! Ik heb het nieuwe kantoor gezien: ik ben </a:t>
            </a:r>
            <a:r>
              <a:rPr lang="en-US" sz="1900" i="1" strike="sngStrike" dirty="0">
                <a:solidFill>
                  <a:schemeClr val="accent6"/>
                </a:solidFill>
              </a:rPr>
              <a:t>geweest er gisteren</a:t>
            </a:r>
            <a:r>
              <a:rPr lang="en-US" sz="1900" b="1" i="1" dirty="0">
                <a:solidFill>
                  <a:schemeClr val="accent3"/>
                </a:solidFill>
              </a:rPr>
              <a:t> er gisteren geweest</a:t>
            </a:r>
            <a:r>
              <a:rPr lang="en-US" sz="1900" i="1" dirty="0">
                <a:solidFill>
                  <a:schemeClr val="tx1"/>
                </a:solidFill>
              </a:rPr>
              <a:t>. </a:t>
            </a:r>
            <a:r>
              <a:rPr lang="en-US" sz="1900" i="1" strike="sngStrike" dirty="0">
                <a:solidFill>
                  <a:schemeClr val="accent6"/>
                </a:solidFill>
              </a:rPr>
              <a:t>Het is</a:t>
            </a:r>
            <a:r>
              <a:rPr lang="en-US" sz="1900" b="1" i="1" dirty="0">
                <a:solidFill>
                  <a:schemeClr val="accent3"/>
                </a:solidFill>
              </a:rPr>
              <a:t> Er is</a:t>
            </a:r>
            <a:r>
              <a:rPr lang="en-US" sz="1900" i="1" dirty="0">
                <a:solidFill>
                  <a:schemeClr val="tx1"/>
                </a:solidFill>
              </a:rPr>
              <a:t> een grote keuken en </a:t>
            </a:r>
            <a:r>
              <a:rPr lang="en-US" sz="1900" i="1" strike="sngStrike" dirty="0">
                <a:solidFill>
                  <a:schemeClr val="accent6"/>
                </a:solidFill>
              </a:rPr>
              <a:t>er staat de koffiemachine</a:t>
            </a:r>
            <a:r>
              <a:rPr lang="en-US" sz="1900" b="1" i="1" dirty="0">
                <a:solidFill>
                  <a:schemeClr val="accent3"/>
                </a:solidFill>
              </a:rPr>
              <a:t> de koffiemachine staat</a:t>
            </a:r>
            <a:r>
              <a:rPr lang="en-US" sz="1900" i="1" dirty="0">
                <a:solidFill>
                  <a:schemeClr val="tx1"/>
                </a:solidFill>
              </a:rPr>
              <a:t> naast het raam. Vergaderzalen? We hebben </a:t>
            </a:r>
            <a:r>
              <a:rPr lang="en-US" sz="1900" i="1" strike="sngStrike" dirty="0">
                <a:solidFill>
                  <a:schemeClr val="accent6"/>
                </a:solidFill>
              </a:rPr>
              <a:t>drie</a:t>
            </a:r>
            <a:r>
              <a:rPr lang="en-US" sz="1900" b="1" i="1" dirty="0">
                <a:solidFill>
                  <a:schemeClr val="accent3"/>
                </a:solidFill>
              </a:rPr>
              <a:t> er drie</a:t>
            </a:r>
            <a:r>
              <a:rPr lang="en-US" sz="1900" i="1" dirty="0">
                <a:solidFill>
                  <a:schemeClr val="tx1"/>
                </a:solidFill>
              </a:rPr>
              <a:t>! Er wordt nog gewerkt aan de lift, dus de verhuizing is pas in mei. Ik kijk </a:t>
            </a:r>
            <a:r>
              <a:rPr lang="en-US" sz="1900" i="1" strike="sngStrike" dirty="0">
                <a:solidFill>
                  <a:schemeClr val="accent6"/>
                </a:solidFill>
              </a:rPr>
              <a:t>uit naar het</a:t>
            </a:r>
            <a:r>
              <a:rPr lang="en-US" sz="1900" b="1" i="1" dirty="0">
                <a:solidFill>
                  <a:schemeClr val="accent3"/>
                </a:solidFill>
              </a:rPr>
              <a:t> ernaar uit</a:t>
            </a:r>
            <a:r>
              <a:rPr lang="en-US" sz="1900" i="1" dirty="0">
                <a:solidFill>
                  <a:schemeClr val="tx1"/>
                </a:solidFill>
              </a:rPr>
              <a:t>! Groetjes, Tom</a:t>
            </a:r>
            <a:endParaRPr lang="en-US" sz="1900" dirty="0"/>
          </a:p>
        </p:txBody>
      </p:sp>
      <p:pic>
        <p:nvPicPr>
          <p:cNvPr id="13" name="Image 2" descr="magnifying glass tilted 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9052560" y="4721352"/>
            <a:ext cx="25877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Correct : </a:t>
            </a:r>
            <a:r>
              <a:rPr lang="en-US" sz="1400" i="1" dirty="0">
                <a:solidFill>
                  <a:schemeClr val="accent5"/>
                </a:solidFill>
              </a:rPr>
              <a:t>Er wordt nog gewerkt aan de lift</a:t>
            </a:r>
            <a:r>
              <a:rPr lang="en-US" sz="1400" i="1" dirty="0">
                <a:solidFill>
                  <a:schemeClr val="accent5"/>
                </a:solidFill>
              </a:rPr>
              <a:t> (⑤). Erreurs : place ②, « il y a » ①, sujet défini, quantité ③, préposition ④.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Qu’y a-t-il dans le bureau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Par deux : A ne regarde pas l’image et pose des questions ; B regarde et répond avec </a:t>
            </a:r>
            <a:r>
              <a:rPr lang="en-US" sz="1700" i="1" dirty="0">
                <a:solidFill>
                  <a:schemeClr val="tx2"/>
                </a:solidFill>
              </a:rPr>
              <a:t>er</a:t>
            </a:r>
            <a:r>
              <a:rPr lang="en-US" sz="1700" dirty="0">
                <a:solidFill>
                  <a:schemeClr val="tx2"/>
                </a:solidFill>
              </a:rPr>
              <a:t>. Puis on inverse.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6583680" cy="4251960"/>
          </a:xfrm>
          <a:prstGeom prst="roundRect">
            <a:avLst>
              <a:gd name="adj" fmla="val 2581"/>
            </a:avLst>
          </a:prstGeom>
          <a:solidFill>
            <a:srgbClr val="FDF6E3"/>
          </a:solidFill>
          <a:ln w="15875">
            <a:solidFill>
              <a:srgbClr val="4A5A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57400"/>
            <a:ext cx="1463040" cy="1874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cha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94560"/>
            <a:ext cx="384048" cy="384048"/>
          </a:xfrm>
          <a:prstGeom prst="rect">
            <a:avLst/>
          </a:prstGeom>
        </p:spPr>
      </p:pic>
      <p:pic>
        <p:nvPicPr>
          <p:cNvPr id="10" name="Image 1" descr="cha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94560"/>
            <a:ext cx="384048" cy="384048"/>
          </a:xfrm>
          <a:prstGeom prst="rect">
            <a:avLst/>
          </a:prstGeom>
        </p:spPr>
      </p:pic>
      <p:pic>
        <p:nvPicPr>
          <p:cNvPr id="11" name="Image 2" descr="c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194560"/>
            <a:ext cx="384048" cy="384048"/>
          </a:xfrm>
          <a:prstGeom prst="rect">
            <a:avLst/>
          </a:prstGeom>
        </p:spPr>
      </p:pic>
      <p:pic>
        <p:nvPicPr>
          <p:cNvPr id="12" name="Image 3" descr="c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633472"/>
            <a:ext cx="384048" cy="38404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3152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Shape 7"/>
          <p:cNvSpPr/>
          <p:nvPr/>
        </p:nvSpPr>
        <p:spPr>
          <a:xfrm>
            <a:off x="2331720" y="2057400"/>
            <a:ext cx="1463040" cy="1874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4" descr="lapt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448" y="2194560"/>
            <a:ext cx="384048" cy="384048"/>
          </a:xfrm>
          <a:prstGeom prst="rect">
            <a:avLst/>
          </a:prstGeom>
        </p:spPr>
      </p:pic>
      <p:pic>
        <p:nvPicPr>
          <p:cNvPr id="16" name="Image 5" descr="lapto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2194560"/>
            <a:ext cx="384048" cy="384048"/>
          </a:xfrm>
          <a:prstGeom prst="rect">
            <a:avLst/>
          </a:prstGeom>
        </p:spPr>
      </p:pic>
      <p:pic>
        <p:nvPicPr>
          <p:cNvPr id="17" name="Image 6" descr="lapto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2194560"/>
            <a:ext cx="384048" cy="384048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233172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Shape 9"/>
          <p:cNvSpPr/>
          <p:nvPr/>
        </p:nvSpPr>
        <p:spPr>
          <a:xfrm>
            <a:off x="3931920" y="2057400"/>
            <a:ext cx="1463040" cy="1874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7" descr="potted pla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1648" y="2194560"/>
            <a:ext cx="548640" cy="548640"/>
          </a:xfrm>
          <a:prstGeom prst="rect">
            <a:avLst/>
          </a:prstGeom>
        </p:spPr>
      </p:pic>
      <p:pic>
        <p:nvPicPr>
          <p:cNvPr id="21" name="Image 8" descr="potted plan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152" y="2194560"/>
            <a:ext cx="548640" cy="548640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393192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23" name="Shape 11"/>
          <p:cNvSpPr/>
          <p:nvPr/>
        </p:nvSpPr>
        <p:spPr>
          <a:xfrm>
            <a:off x="5532120" y="2057400"/>
            <a:ext cx="1463040" cy="1874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9" descr="print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1848" y="2194560"/>
            <a:ext cx="548640" cy="54864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553212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26" name="Shape 13"/>
          <p:cNvSpPr/>
          <p:nvPr/>
        </p:nvSpPr>
        <p:spPr>
          <a:xfrm>
            <a:off x="731520" y="4114800"/>
            <a:ext cx="1463040" cy="1874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0" descr="book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" y="4251960"/>
            <a:ext cx="384048" cy="384048"/>
          </a:xfrm>
          <a:prstGeom prst="rect">
            <a:avLst/>
          </a:prstGeom>
        </p:spPr>
      </p:pic>
      <p:pic>
        <p:nvPicPr>
          <p:cNvPr id="28" name="Image 11" descr="book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4251960"/>
            <a:ext cx="384048" cy="384048"/>
          </a:xfrm>
          <a:prstGeom prst="rect">
            <a:avLst/>
          </a:prstGeom>
        </p:spPr>
      </p:pic>
      <p:pic>
        <p:nvPicPr>
          <p:cNvPr id="29" name="Image 12" descr="book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9072" y="4251960"/>
            <a:ext cx="384048" cy="384048"/>
          </a:xfrm>
          <a:prstGeom prst="rect">
            <a:avLst/>
          </a:prstGeom>
        </p:spPr>
      </p:pic>
      <p:pic>
        <p:nvPicPr>
          <p:cNvPr id="30" name="Image 13" descr="book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248" y="4690872"/>
            <a:ext cx="384048" cy="384048"/>
          </a:xfrm>
          <a:prstGeom prst="rect">
            <a:avLst/>
          </a:prstGeom>
        </p:spPr>
      </p:pic>
      <p:pic>
        <p:nvPicPr>
          <p:cNvPr id="31" name="Image 14" descr="book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0160" y="4690872"/>
            <a:ext cx="384048" cy="384048"/>
          </a:xfrm>
          <a:prstGeom prst="rect">
            <a:avLst/>
          </a:prstGeom>
        </p:spPr>
      </p:pic>
      <p:sp>
        <p:nvSpPr>
          <p:cNvPr id="32" name="Text 14"/>
          <p:cNvSpPr txBox="1"/>
          <p:nvPr/>
        </p:nvSpPr>
        <p:spPr>
          <a:xfrm>
            <a:off x="73152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</a:t>
            </a:r>
            <a:endParaRPr lang="en-US" sz="2000" dirty="0"/>
          </a:p>
        </p:txBody>
      </p:sp>
      <p:sp>
        <p:nvSpPr>
          <p:cNvPr id="33" name="Shape 15"/>
          <p:cNvSpPr/>
          <p:nvPr/>
        </p:nvSpPr>
        <p:spPr>
          <a:xfrm>
            <a:off x="2331720" y="4114800"/>
            <a:ext cx="1463040" cy="1874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15" descr="hot beverag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41448" y="4251960"/>
            <a:ext cx="548640" cy="548640"/>
          </a:xfrm>
          <a:prstGeom prst="rect">
            <a:avLst/>
          </a:prstGeom>
        </p:spPr>
      </p:pic>
      <p:pic>
        <p:nvPicPr>
          <p:cNvPr id="35" name="Image 16" descr="hot beverag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4952" y="4251960"/>
            <a:ext cx="548640" cy="548640"/>
          </a:xfrm>
          <a:prstGeom prst="rect">
            <a:avLst/>
          </a:prstGeom>
        </p:spPr>
      </p:pic>
      <p:sp>
        <p:nvSpPr>
          <p:cNvPr id="36" name="Text 16"/>
          <p:cNvSpPr txBox="1"/>
          <p:nvPr/>
        </p:nvSpPr>
        <p:spPr>
          <a:xfrm>
            <a:off x="233172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37" name="Shape 17"/>
          <p:cNvSpPr/>
          <p:nvPr/>
        </p:nvSpPr>
        <p:spPr>
          <a:xfrm>
            <a:off x="3931920" y="4114800"/>
            <a:ext cx="1463040" cy="1874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7" descr="door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1648" y="4251960"/>
            <a:ext cx="548640" cy="548640"/>
          </a:xfrm>
          <a:prstGeom prst="rect">
            <a:avLst/>
          </a:prstGeom>
        </p:spPr>
      </p:pic>
      <p:sp>
        <p:nvSpPr>
          <p:cNvPr id="39" name="Text 18"/>
          <p:cNvSpPr txBox="1"/>
          <p:nvPr/>
        </p:nvSpPr>
        <p:spPr>
          <a:xfrm>
            <a:off x="393192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40" name="Shape 19"/>
          <p:cNvSpPr/>
          <p:nvPr/>
        </p:nvSpPr>
        <p:spPr>
          <a:xfrm>
            <a:off x="5532120" y="4114800"/>
            <a:ext cx="1463040" cy="1874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8" descr="clipboard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41848" y="4251960"/>
            <a:ext cx="384048" cy="384048"/>
          </a:xfrm>
          <a:prstGeom prst="rect">
            <a:avLst/>
          </a:prstGeom>
        </p:spPr>
      </p:pic>
      <p:pic>
        <p:nvPicPr>
          <p:cNvPr id="42" name="Image 19" descr="clipboard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80760" y="4251960"/>
            <a:ext cx="384048" cy="384048"/>
          </a:xfrm>
          <a:prstGeom prst="rect">
            <a:avLst/>
          </a:prstGeom>
        </p:spPr>
      </p:pic>
      <p:pic>
        <p:nvPicPr>
          <p:cNvPr id="43" name="Image 20" descr="clipboard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9672" y="4251960"/>
            <a:ext cx="384048" cy="384048"/>
          </a:xfrm>
          <a:prstGeom prst="rect">
            <a:avLst/>
          </a:prstGeom>
        </p:spPr>
      </p:pic>
      <p:sp>
        <p:nvSpPr>
          <p:cNvPr id="44" name="Text 20"/>
          <p:cNvSpPr txBox="1"/>
          <p:nvPr/>
        </p:nvSpPr>
        <p:spPr>
          <a:xfrm>
            <a:off x="553212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45" name="Shape 21"/>
          <p:cNvSpPr/>
          <p:nvPr/>
        </p:nvSpPr>
        <p:spPr>
          <a:xfrm>
            <a:off x="7360920" y="1920240"/>
            <a:ext cx="4279392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6" name="Text 22"/>
          <p:cNvSpPr txBox="1"/>
          <p:nvPr/>
        </p:nvSpPr>
        <p:spPr>
          <a:xfrm>
            <a:off x="7543800" y="2011680"/>
            <a:ext cx="3931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r>
              <a:rPr lang="en-US" sz="1600" dirty="0">
                <a:solidFill>
                  <a:schemeClr val="tx1"/>
                </a:solidFill>
              </a:rPr>
              <a:t> demande :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Is er een printer?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Hoeveel stoelen zijn er?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Staan er planten?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Is er een lamp?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r>
              <a:rPr lang="en-US" sz="1600" dirty="0">
                <a:solidFill>
                  <a:schemeClr val="tx1"/>
                </a:solidFill>
              </a:rPr>
              <a:t> répond :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Ja, er is er één.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Er zijn er vier.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Ja, er staan er twee.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Nee, er is er geen.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La visite du nouveau bureau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Peeters &amp; Co déménage. A (facility manager) fait visiter ; B (collègue) pose des questions. Objectif : 8 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 — facility manager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Présentez le bâtiment avec la fiche : ce qu’il y a, combien, ce qui manque encore.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 — collègue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Posez des questions (Is er… ? Hoeveel … zijn er ?) et réagissez (Wat vind je ervan?).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Is er …? · Zijn er …? · Hoeveel … zijn er? — Er zijn er … · Er is er geen. · Ik ben er al geweest. · Hoe ga je ernaartoe? · Wat vind je ervan? · Er wordt nog gewerkt aan … · Ik kijk ernaar uit!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486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NIEUW KANTOOR · FICHE</a:t>
            </a:r>
            <a:endParaRPr lang="en-US" sz="1300" dirty="0"/>
          </a:p>
        </p:txBody>
      </p:sp>
      <p:pic>
        <p:nvPicPr>
          <p:cNvPr id="22" name="Image 0" descr="busts in silhouet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219456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851392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2 vergaderzalen</a:t>
            </a:r>
            <a:endParaRPr lang="en-US" sz="1400" dirty="0"/>
          </a:p>
        </p:txBody>
      </p:sp>
      <p:pic>
        <p:nvPicPr>
          <p:cNvPr id="24" name="Image 1" descr="fork and knife with p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85292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851392" y="28072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1 keuken, 1 refter</a:t>
            </a:r>
            <a:endParaRPr lang="en-US" sz="1400" dirty="0"/>
          </a:p>
        </p:txBody>
      </p:sp>
      <p:pic>
        <p:nvPicPr>
          <p:cNvPr id="26" name="Image 2" descr="lap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3511296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851392" y="34655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40 bureaus</a:t>
            </a:r>
            <a:endParaRPr lang="en-US" sz="1400" dirty="0"/>
          </a:p>
        </p:txBody>
      </p:sp>
      <p:pic>
        <p:nvPicPr>
          <p:cNvPr id="28" name="Image 3" descr="p butt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416966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851392" y="41239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parking: 15 plaatsen</a:t>
            </a:r>
            <a:endParaRPr lang="en-US" sz="1400" dirty="0"/>
          </a:p>
        </p:txBody>
      </p:sp>
      <p:pic>
        <p:nvPicPr>
          <p:cNvPr id="30" name="Image 4" descr="elevat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4828032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51392" y="47823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lift: nog niet klaar</a:t>
            </a:r>
            <a:endParaRPr lang="en-US" sz="1400" dirty="0"/>
          </a:p>
        </p:txBody>
      </p:sp>
      <p:pic>
        <p:nvPicPr>
          <p:cNvPr id="32" name="Image 5" descr="bu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5486400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851392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bushalte: 200 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En néerlandais : </a:t>
            </a:r>
            <a:r>
              <a:rPr lang="en-US" sz="2000" i="1" dirty="0">
                <a:solidFill>
                  <a:schemeClr val="tx1"/>
                </a:solidFill>
              </a:rPr>
              <a:t>Il y a un problème.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Répondez avec </a:t>
            </a:r>
            <a:r>
              <a:rPr lang="en-US" sz="2000" i="1" dirty="0">
                <a:solidFill>
                  <a:schemeClr val="tx1"/>
                </a:solidFill>
              </a:rPr>
              <a:t>er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Hoeveel kinderen heb je?</a:t>
            </a:r>
            <a:r>
              <a:rPr lang="en-US" sz="2000" dirty="0">
                <a:solidFill>
                  <a:schemeClr val="tx1"/>
                </a:solidFill>
              </a:rPr>
              <a:t> (2)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Quel emploi ? </a:t>
            </a:r>
            <a:r>
              <a:rPr lang="en-US" sz="2000" i="1" dirty="0">
                <a:solidFill>
                  <a:schemeClr val="tx1"/>
                </a:solidFill>
              </a:rPr>
              <a:t>Ik denk eraan.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Reconnaître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Traduire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Utiliser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Boo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Défi de la semaine</a:t>
            </a:r>
            <a:r>
              <a:rPr lang="en-US" sz="1800" dirty="0">
                <a:solidFill>
                  <a:schemeClr val="bg1"/>
                </a:solidFill>
              </a:rPr>
              <a:t> : décrivez votre bureau ou votre salon en 6 phrases avec </a:t>
            </a:r>
            <a:r>
              <a:rPr lang="en-US" sz="1800" i="1" dirty="0">
                <a:solidFill>
                  <a:schemeClr val="bg1"/>
                </a:solidFill>
              </a:rPr>
              <a:t>er</a:t>
            </a:r>
            <a:r>
              <a:rPr lang="en-US" sz="1800" dirty="0">
                <a:solidFill>
                  <a:schemeClr val="bg1"/>
                </a:solidFill>
              </a:rPr>
              <a:t> (</a:t>
            </a:r>
            <a:r>
              <a:rPr lang="en-US" sz="1800" i="1" dirty="0">
                <a:solidFill>
                  <a:schemeClr val="bg1"/>
                </a:solidFill>
              </a:rPr>
              <a:t>Er staat… · Er zijn er…</a:t>
            </a:r>
            <a:r>
              <a:rPr lang="en-US" sz="1800" dirty="0">
                <a:solidFill>
                  <a:schemeClr val="bg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zijn er vijf — Les cinq emplois de er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2026-10-06T11:50:12Z</dcterms:created>
  <dcterms:modified xsi:type="dcterms:W3CDTF">2026-10-06T11:50:12Z</dcterms:modified>
</cp:coreProperties>
</file>