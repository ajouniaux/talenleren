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46e6a3d2-d553-d680-8fa2-257e87e85c64}">
          <p14:sldIdLst>
            <p14:sldId id="256"/>
          </p14:sldIdLst>
        </p14:section>
        <p14:section name="Découvrir" id="{d4c70497-7e13-206c-aa53-bde40c0568cf}">
          <p14:sldIdLst>
            <p14:sldId id="257"/>
            <p14:sldId id="258"/>
            <p14:sldId id="259"/>
          </p14:sldIdLst>
        </p14:section>
        <p14:section name="Les cinq emplois" id="{a3ee7bbb-5d33-d23f-c445-8cdd012bbd75}">
          <p14:sldIdLst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Placer et distinguer" id="{221c32ca-f703-3a7a-0e9e-54d0268ee428}">
          <p14:sldIdLst>
            <p14:sldId id="266"/>
            <p14:sldId id="267"/>
            <p14:sldId id="268"/>
            <p14:sldId id="269"/>
            <p14:sldId id="270"/>
          </p14:sldIdLst>
        </p14:section>
        <p14:section name="JIJ NU ! — Oefeningen" id="{b45acbc7-116f-a6c5-bad9-57e6158c2b98}">
          <p14:sldIdLst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19ff0b1b-f5c3-bd3c-425d-229db49e740d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un petit mot, cinq rôles.
Le titre est déjà un exemple : Er zijn er vijf = il y en a cinq. On y reviendra diapo 13.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Présenter les 3 objectifs.
er est un des mots les plus fréquents du néerlandais. Les francophones l'oublient souvent (~~Ik heb twee~~) ou le traduisent par het.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les cinq emplois par la traduction.
Réponses : il y a · y · en · y · on (on sonne). Notez les cinq traductions au tableau : ce sont les cinq emplois de la diapo suivante.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Présenter la carte des cinq emplois (schéma E1).
Les emplois peuvent se combiner (diapo 13 : Er zijn er drie). Le ④ a été vu au M23 : ici, on le replace dans l'ensemble.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er présentatif (« il y a »).
Le verbe s'accorde avec le sujet qui suit : Er is een probleem / Er zijn twee problemen. Er werkt hier niemand = personne ne travaille ici (er avec un sujet indéfini négatif).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Éviter er avec un sujet défini.
Le français dit parfois « il y a le directeur qui t'attend » ; en néerlandais : De directeur wacht op je. Test : le nom est-il précédé de een, geen, veel, twee… ? Oui → er. (De brief ligt er nog est correct : c'est le er de lieu.)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Remplacer un lieu déjà nommé par er.
Avec un mouvement : er … naartoe (Ik ga er morgen naartoe), comme naar … toe (M31). Le français « y » est très proche : j'y habite, j'y vais.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er avec un nombre ou une quantité.
L'oubli de er est l'erreur la plus fréquente : ~~Ik heb twee~~. Faites des « interviews rapides » en chaîne : Hoeveel broers / zussen / talen / fietsen heb je?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Replacer er + préposition (M23) dans l'ensemble.
Rappel M23 : pour une personne, on garde le pronom (Ik denk aan hem). met → mee : Ik ben er blij mee. Lien avec le complément Aan, af, op, uit… (diapo 25) : Ik kijk ernaar uit.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et utiliser er wordt + participe (« on »).
Formules utiles : Er wordt gebeld · Er wordt aan gewerkt · Hier wordt Nederlands gesproken. Au passé : Er werd gebeld (on a sonné). Le passif complet sera un module à part.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Placer er dans la phrase.
Avec un pronom objet, celui-ci vient d'abord : Ik heb het er gelegd (B2). L'erreur typique est de mettre er au bout, comme « là » en français : ~~Ik ben geweest er~~ (exercice 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entre er (neutre) et daar (insistance).
Faites lire les deux colonnes avec l'intonation : er est avalé (prononcé « eur »), daar est accentué. En tête de phrase, on met toujours daar (sauf « il y a » et le passif).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Comprendre la combinaison er ① + er ③ (schéma E2).
Le parallèle est presque parfait : c'est l'occasion de montrer que la logique existe aussi en français. Er is er één = il y en a un (één accentué : le chiffre).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Identifier l'emploi de er avec une méthode (schéma E3).
L'ordre compte : Er zijn er drie contient ① et ③ ; l'aiguillage repère d'abord le ③ (drie), puis le ① en relisant le début de la phrase.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Invitez à photographier la diapo.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 1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Identifier l'emploi de er (1 à 5) et traduire.
Faites utiliser l'aiguillage (diapo 14) à voix haute. N° 1 : er staan = il y a (position, M17).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Identifier l'emploi de er (1 à 5) et traduire.
Faites utiliser l'aiguillage (diapo 14) à voix haute. N° 1 : er staan = il y a (position, M17).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Répondre sans répéter le mot, avec er.
N° 4 : aussi Ja, daar denk ik aan (on insiste). N° 2 : aussi Ja, ik ben er al geweest. Prolongez par des questions personnelles.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Répondre sans répéter le mot, avec er.
N° 4 : aussi Ja, daar denk ik aan (on insiste). N° 2 : aussi Ja, ik ben er al geweest. Prolongez par des questions personnelles.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entre er et daar.
N° 4 et 8 : er en tête, mais seulement pour « il y a » (①) et le passif (⑤). N° 2 et 7 : en tête et accentué → daar. N° 1 et 6 : daar est aussi possible (Ja, ik woon daar · Ik heb daar geen zin in).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entre er et daar.
N° 4 et 8 : er en tête, mais seulement pour « il y a » (①) et le passif (⑤). N° 2 et 7 : en tête et accentué → daar. N° 1 et 6 : daar est aussi possible (Ja, ik woon daar · Ik heb daar geen zin in).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dans un message réaliste.
Leurre correct : Er wordt nog gewerkt aan de lift (⑤). Faites associer chaque erreur à un emploi : place, ①, piège du sujet défini, ③, ④.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dans un message réaliste.
Leurre correct : Er wordt nog gewerkt aan de lift (⑤). Faites associer chaque erreur à un emploi : place, ①, piège du sujet défini, ③, ④.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Produire des questions et des réponses avec er ① et ③, de façon ludique.
Par deux : A ne regarde pas l'image et pose 8 questions ; B regarde et répond avec deux er. Ensuite, A dessine le bureau d'après les réponses de B, puis on compare. Variante : décrire son propre bureau ou sa cuisine.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faire visiter et décrire un lieu de travail avec au moins 8 er.
Lien avec M30 (le plan du rez-de-chaussée). de refter (BE) = la cantine. Comptez les er de B et vérifiez la place.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Er is een probleem.
2. Ik heb er twee.
3. ④ er + préposition (denken aan) = j'y pense.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· B1 · Les emplois de er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· B1 · Les emplois de er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image" Target="../media/image-19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image" Target="../media/image-25-9.png"/><Relationship Id="rId10" Type="http://schemas.openxmlformats.org/officeDocument/2006/relationships/image" Target="../media/image-25-10.png"/><Relationship Id="rId11" Type="http://schemas.openxmlformats.org/officeDocument/2006/relationships/image" Target="../media/image-25-11.png"/><Relationship Id="rId12" Type="http://schemas.openxmlformats.org/officeDocument/2006/relationships/image" Target="../media/image-25-12.png"/><Relationship Id="rId13" Type="http://schemas.openxmlformats.org/officeDocument/2006/relationships/image" Target="../media/image-25-13.png"/><Relationship Id="rId14" Type="http://schemas.openxmlformats.org/officeDocument/2006/relationships/image" Target="../media/image-25-14.png"/><Relationship Id="rId15" Type="http://schemas.openxmlformats.org/officeDocument/2006/relationships/image" Target="../media/image-25-15.png"/><Relationship Id="rId16" Type="http://schemas.openxmlformats.org/officeDocument/2006/relationships/image" Target="../media/image-25-16.png"/><Relationship Id="rId17" Type="http://schemas.openxmlformats.org/officeDocument/2006/relationships/image" Target="../media/image-25-17.png"/><Relationship Id="rId18" Type="http://schemas.openxmlformats.org/officeDocument/2006/relationships/image" Target="../media/image-25-18.png"/><Relationship Id="rId19" Type="http://schemas.openxmlformats.org/officeDocument/2006/relationships/image" Target="../media/image-25-19.png"/><Relationship Id="rId20" Type="http://schemas.openxmlformats.org/officeDocument/2006/relationships/image" Target="../media/image-25-20.png"/><Relationship Id="rId21" Type="http://schemas.openxmlformats.org/officeDocument/2006/relationships/image" Target="../media/image-25-21.png"/><Relationship Id="rId22" Type="http://schemas.openxmlformats.org/officeDocument/2006/relationships/slideLayout" Target="../slideLayouts/slideLayout2.xml"/><Relationship Id="rId2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36372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COMPLÉMENT · B1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Er zijn er vijf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Les cinq emplois de er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il y a · y · en · y / en · 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 flipV="1">
            <a:off x="9144000" y="960120"/>
            <a:ext cx="914" cy="1783080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366760" y="576072"/>
            <a:ext cx="1554480" cy="768096"/>
          </a:xfrm>
          <a:prstGeom prst="roundRect">
            <a:avLst>
              <a:gd name="adj" fmla="val 19048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366760" y="576072"/>
            <a:ext cx="15544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il y a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 flipV="1">
            <a:off x="9144000" y="2192198"/>
            <a:ext cx="1826257" cy="551002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193017" y="1808150"/>
            <a:ext cx="1554480" cy="768096"/>
          </a:xfrm>
          <a:prstGeom prst="roundRect">
            <a:avLst>
              <a:gd name="adj" fmla="val 19048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193017" y="1808150"/>
            <a:ext cx="15544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y · là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9144000" y="2743200"/>
            <a:ext cx="1128689" cy="1442542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495449" y="3801694"/>
            <a:ext cx="1554480" cy="768096"/>
          </a:xfrm>
          <a:prstGeom prst="roundRect">
            <a:avLst>
              <a:gd name="adj" fmla="val 1904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495449" y="3801694"/>
            <a:ext cx="15544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en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 flipH="1">
            <a:off x="8015311" y="2743200"/>
            <a:ext cx="1128689" cy="1442542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238071" y="3801694"/>
            <a:ext cx="1554480" cy="768096"/>
          </a:xfrm>
          <a:prstGeom prst="roundRect">
            <a:avLst>
              <a:gd name="adj" fmla="val 19048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238071" y="3801694"/>
            <a:ext cx="15544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y · en (+ prép.)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 flipH="1" flipV="1">
            <a:off x="7317743" y="2192198"/>
            <a:ext cx="1826257" cy="551002"/>
          </a:xfrm>
          <a:prstGeom prst="line">
            <a:avLst/>
          </a:prstGeom>
          <a:noFill/>
          <a:ln w="38100">
            <a:solidFill>
              <a:srgbClr val="0E7C8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40503" y="1808150"/>
            <a:ext cx="1554480" cy="768096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40503" y="1808150"/>
            <a:ext cx="15544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on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8366760" y="2194560"/>
            <a:ext cx="1554480" cy="10972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366760" y="219456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er</a:t>
            </a:r>
            <a:endParaRPr lang="en-US" sz="4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Ey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Reconnaître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reconnais les cinq emplois de er.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ExchangeA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Traduire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fais le lien avec il y a, y, en, on.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Comment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Utiliser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décris un lieu, je compte, je réponds sans répéter.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Un petit mot, cinq rôles : er ne se traduit jamais mot à mot.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Un mot, cinq traductions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11091672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ey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54480"/>
            <a:ext cx="594360" cy="5943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63040" y="1463040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rgbClr val="B83227"/>
                </a:solidFill>
              </a:rPr>
              <a:t>Er</a:t>
            </a:r>
            <a:r>
              <a:rPr lang="en-US" sz="2100" i="1" dirty="0">
                <a:solidFill>
                  <a:schemeClr val="tx1"/>
                </a:solidFill>
              </a:rPr>
              <a:t> is een probleem.</a:t>
            </a:r>
            <a:endParaRPr lang="en-US" sz="1800" dirty="0"/>
          </a:p>
        </p:txBody>
      </p:sp>
      <p:sp>
        <p:nvSpPr>
          <p:cNvPr id="8" name="Shape 4"/>
          <p:cNvSpPr/>
          <p:nvPr/>
        </p:nvSpPr>
        <p:spPr>
          <a:xfrm>
            <a:off x="8458200" y="1719072"/>
            <a:ext cx="128016" cy="253472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8586216" y="1719072"/>
            <a:ext cx="128016" cy="2534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8714232" y="1719072"/>
            <a:ext cx="128016" cy="253472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8458200" y="1719072"/>
            <a:ext cx="384048" cy="253472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8961120" y="1591056"/>
            <a:ext cx="2514600" cy="521208"/>
          </a:xfrm>
          <a:prstGeom prst="roundRect">
            <a:avLst>
              <a:gd name="adj" fmla="val 17544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dash"/>
          </a:ln>
        </p:spPr>
      </p:sp>
      <p:sp>
        <p:nvSpPr>
          <p:cNvPr id="13" name="Text 9"/>
          <p:cNvSpPr txBox="1"/>
          <p:nvPr/>
        </p:nvSpPr>
        <p:spPr>
          <a:xfrm>
            <a:off x="8961120" y="1591056"/>
            <a:ext cx="25146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er = ?</a:t>
            </a:r>
            <a:endParaRPr lang="en-US" sz="1700" dirty="0"/>
          </a:p>
        </p:txBody>
      </p:sp>
      <p:sp>
        <p:nvSpPr>
          <p:cNvPr id="14" name="Shape 10"/>
          <p:cNvSpPr/>
          <p:nvPr/>
        </p:nvSpPr>
        <p:spPr>
          <a:xfrm>
            <a:off x="548640" y="2350008"/>
            <a:ext cx="11091672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5" name="Image 1" descr="round pushp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441448"/>
            <a:ext cx="594360" cy="5943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463040" y="2350008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Brussel? Ik woon </a:t>
            </a:r>
            <a:r>
              <a:rPr lang="en-US" sz="2100" b="1" i="1" dirty="0">
                <a:solidFill>
                  <a:srgbClr val="B83227"/>
                </a:solidFill>
              </a:rPr>
              <a:t>er</a:t>
            </a:r>
            <a:r>
              <a:rPr lang="en-US" sz="2100" i="1" dirty="0">
                <a:solidFill>
                  <a:schemeClr val="tx1"/>
                </a:solidFill>
              </a:rPr>
              <a:t> al tien jaar.</a:t>
            </a:r>
            <a:endParaRPr lang="en-US" sz="1800" dirty="0"/>
          </a:p>
        </p:txBody>
      </p:sp>
      <p:sp>
        <p:nvSpPr>
          <p:cNvPr id="17" name="Shape 12"/>
          <p:cNvSpPr/>
          <p:nvPr/>
        </p:nvSpPr>
        <p:spPr>
          <a:xfrm>
            <a:off x="8458200" y="2606040"/>
            <a:ext cx="128016" cy="253472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8586216" y="2606040"/>
            <a:ext cx="128016" cy="2534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8714232" y="2606040"/>
            <a:ext cx="128016" cy="253472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8458200" y="2606040"/>
            <a:ext cx="384048" cy="253472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8961120" y="2478024"/>
            <a:ext cx="2514600" cy="521208"/>
          </a:xfrm>
          <a:prstGeom prst="roundRect">
            <a:avLst>
              <a:gd name="adj" fmla="val 17544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dash"/>
          </a:ln>
        </p:spPr>
      </p:sp>
      <p:sp>
        <p:nvSpPr>
          <p:cNvPr id="22" name="Text 17"/>
          <p:cNvSpPr txBox="1"/>
          <p:nvPr/>
        </p:nvSpPr>
        <p:spPr>
          <a:xfrm>
            <a:off x="8961120" y="2478024"/>
            <a:ext cx="25146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er = ?</a:t>
            </a:r>
            <a:endParaRPr lang="en-US" sz="1700" dirty="0"/>
          </a:p>
        </p:txBody>
      </p:sp>
      <p:sp>
        <p:nvSpPr>
          <p:cNvPr id="23" name="Shape 18"/>
          <p:cNvSpPr/>
          <p:nvPr/>
        </p:nvSpPr>
        <p:spPr>
          <a:xfrm>
            <a:off x="548640" y="3236976"/>
            <a:ext cx="11091672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4" name="Image 2" descr="input numbe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328416"/>
            <a:ext cx="594360" cy="59436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463040" y="3236976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Collega’s? Ik heb </a:t>
            </a:r>
            <a:r>
              <a:rPr lang="en-US" sz="2100" b="1" i="1" dirty="0">
                <a:solidFill>
                  <a:srgbClr val="B83227"/>
                </a:solidFill>
              </a:rPr>
              <a:t>er</a:t>
            </a:r>
            <a:r>
              <a:rPr lang="en-US" sz="2100" i="1" dirty="0">
                <a:solidFill>
                  <a:schemeClr val="tx1"/>
                </a:solidFill>
              </a:rPr>
              <a:t> twaalf.</a:t>
            </a:r>
            <a:endParaRPr lang="en-US" sz="1800" dirty="0"/>
          </a:p>
        </p:txBody>
      </p:sp>
      <p:sp>
        <p:nvSpPr>
          <p:cNvPr id="26" name="Shape 20"/>
          <p:cNvSpPr/>
          <p:nvPr/>
        </p:nvSpPr>
        <p:spPr>
          <a:xfrm>
            <a:off x="8458200" y="3493008"/>
            <a:ext cx="128016" cy="253472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8586216" y="3493008"/>
            <a:ext cx="128016" cy="2534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8714232" y="3493008"/>
            <a:ext cx="128016" cy="253472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8458200" y="3493008"/>
            <a:ext cx="384048" cy="253472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8961120" y="3364992"/>
            <a:ext cx="2514600" cy="521208"/>
          </a:xfrm>
          <a:prstGeom prst="roundRect">
            <a:avLst>
              <a:gd name="adj" fmla="val 17544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dash"/>
          </a:ln>
        </p:spPr>
      </p:sp>
      <p:sp>
        <p:nvSpPr>
          <p:cNvPr id="31" name="Text 25"/>
          <p:cNvSpPr txBox="1"/>
          <p:nvPr/>
        </p:nvSpPr>
        <p:spPr>
          <a:xfrm>
            <a:off x="8961120" y="3364992"/>
            <a:ext cx="25146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er = ?</a:t>
            </a:r>
            <a:endParaRPr lang="en-US" sz="1700" dirty="0"/>
          </a:p>
        </p:txBody>
      </p:sp>
      <p:sp>
        <p:nvSpPr>
          <p:cNvPr id="32" name="Shape 26"/>
          <p:cNvSpPr/>
          <p:nvPr/>
        </p:nvSpPr>
        <p:spPr>
          <a:xfrm>
            <a:off x="548640" y="4123944"/>
            <a:ext cx="11091672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3" name="Image 3" descr="thinking fac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4215384"/>
            <a:ext cx="594360" cy="594360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1463040" y="4123944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De vergadering? Ik denk </a:t>
            </a:r>
            <a:r>
              <a:rPr lang="en-US" sz="2100" b="1" i="1" dirty="0">
                <a:solidFill>
                  <a:srgbClr val="B83227"/>
                </a:solidFill>
              </a:rPr>
              <a:t>er</a:t>
            </a:r>
            <a:r>
              <a:rPr lang="en-US" sz="2100" i="1" dirty="0">
                <a:solidFill>
                  <a:schemeClr val="tx1"/>
                </a:solidFill>
              </a:rPr>
              <a:t>aan.</a:t>
            </a:r>
            <a:endParaRPr lang="en-US" sz="1800" dirty="0"/>
          </a:p>
        </p:txBody>
      </p:sp>
      <p:sp>
        <p:nvSpPr>
          <p:cNvPr id="35" name="Shape 28"/>
          <p:cNvSpPr/>
          <p:nvPr/>
        </p:nvSpPr>
        <p:spPr>
          <a:xfrm>
            <a:off x="8458200" y="4379976"/>
            <a:ext cx="128016" cy="253472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29"/>
          <p:cNvSpPr/>
          <p:nvPr/>
        </p:nvSpPr>
        <p:spPr>
          <a:xfrm>
            <a:off x="8586216" y="4379976"/>
            <a:ext cx="128016" cy="2534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0"/>
          <p:cNvSpPr/>
          <p:nvPr/>
        </p:nvSpPr>
        <p:spPr>
          <a:xfrm>
            <a:off x="8714232" y="4379976"/>
            <a:ext cx="128016" cy="253472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1"/>
          <p:cNvSpPr/>
          <p:nvPr/>
        </p:nvSpPr>
        <p:spPr>
          <a:xfrm>
            <a:off x="8458200" y="4379976"/>
            <a:ext cx="384048" cy="253472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39" name="Shape 32"/>
          <p:cNvSpPr/>
          <p:nvPr/>
        </p:nvSpPr>
        <p:spPr>
          <a:xfrm>
            <a:off x="8961120" y="4251960"/>
            <a:ext cx="2514600" cy="521208"/>
          </a:xfrm>
          <a:prstGeom prst="roundRect">
            <a:avLst>
              <a:gd name="adj" fmla="val 17544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dash"/>
          </a:ln>
        </p:spPr>
      </p:sp>
      <p:sp>
        <p:nvSpPr>
          <p:cNvPr id="40" name="Text 33"/>
          <p:cNvSpPr txBox="1"/>
          <p:nvPr/>
        </p:nvSpPr>
        <p:spPr>
          <a:xfrm>
            <a:off x="8961120" y="4251960"/>
            <a:ext cx="25146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er = ?</a:t>
            </a:r>
            <a:endParaRPr lang="en-US" sz="1700" dirty="0"/>
          </a:p>
        </p:txBody>
      </p:sp>
      <p:sp>
        <p:nvSpPr>
          <p:cNvPr id="41" name="Shape 34"/>
          <p:cNvSpPr/>
          <p:nvPr/>
        </p:nvSpPr>
        <p:spPr>
          <a:xfrm>
            <a:off x="548640" y="5010912"/>
            <a:ext cx="11091672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42" name="Image 4" descr="bel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5102352"/>
            <a:ext cx="594360" cy="594360"/>
          </a:xfrm>
          <a:prstGeom prst="rect">
            <a:avLst/>
          </a:prstGeom>
        </p:spPr>
      </p:pic>
      <p:sp>
        <p:nvSpPr>
          <p:cNvPr id="43" name="Text 35"/>
          <p:cNvSpPr txBox="1"/>
          <p:nvPr/>
        </p:nvSpPr>
        <p:spPr>
          <a:xfrm>
            <a:off x="1463040" y="5010912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rgbClr val="B83227"/>
                </a:solidFill>
              </a:rPr>
              <a:t>Er</a:t>
            </a:r>
            <a:r>
              <a:rPr lang="en-US" sz="2100" i="1" dirty="0">
                <a:solidFill>
                  <a:schemeClr val="tx1"/>
                </a:solidFill>
              </a:rPr>
              <a:t> wordt gebeld!</a:t>
            </a:r>
            <a:endParaRPr lang="en-US" sz="1800" dirty="0"/>
          </a:p>
        </p:txBody>
      </p:sp>
      <p:sp>
        <p:nvSpPr>
          <p:cNvPr id="44" name="Shape 36"/>
          <p:cNvSpPr/>
          <p:nvPr/>
        </p:nvSpPr>
        <p:spPr>
          <a:xfrm>
            <a:off x="8458200" y="5266944"/>
            <a:ext cx="128016" cy="253472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Shape 37"/>
          <p:cNvSpPr/>
          <p:nvPr/>
        </p:nvSpPr>
        <p:spPr>
          <a:xfrm>
            <a:off x="8586216" y="5266944"/>
            <a:ext cx="128016" cy="2534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38"/>
          <p:cNvSpPr/>
          <p:nvPr/>
        </p:nvSpPr>
        <p:spPr>
          <a:xfrm>
            <a:off x="8714232" y="5266944"/>
            <a:ext cx="128016" cy="253472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39"/>
          <p:cNvSpPr/>
          <p:nvPr/>
        </p:nvSpPr>
        <p:spPr>
          <a:xfrm>
            <a:off x="8458200" y="5266944"/>
            <a:ext cx="384048" cy="253472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48" name="Shape 40"/>
          <p:cNvSpPr/>
          <p:nvPr/>
        </p:nvSpPr>
        <p:spPr>
          <a:xfrm>
            <a:off x="8961120" y="5138928"/>
            <a:ext cx="2514600" cy="521208"/>
          </a:xfrm>
          <a:prstGeom prst="roundRect">
            <a:avLst>
              <a:gd name="adj" fmla="val 17544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dash"/>
          </a:ln>
        </p:spPr>
      </p:sp>
      <p:sp>
        <p:nvSpPr>
          <p:cNvPr id="49" name="Text 41"/>
          <p:cNvSpPr txBox="1"/>
          <p:nvPr/>
        </p:nvSpPr>
        <p:spPr>
          <a:xfrm>
            <a:off x="8961120" y="5138928"/>
            <a:ext cx="25146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er = ?</a:t>
            </a:r>
            <a:endParaRPr lang="en-US" sz="1700" dirty="0"/>
          </a:p>
        </p:txBody>
      </p:sp>
      <p:sp>
        <p:nvSpPr>
          <p:cNvPr id="50" name="Text 42"/>
          <p:cNvSpPr txBox="1"/>
          <p:nvPr/>
        </p:nvSpPr>
        <p:spPr>
          <a:xfrm>
            <a:off x="548640" y="59436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Par deux : traduisez chaque phrase. Comment dit-on </a:t>
            </a:r>
            <a:r>
              <a:rPr lang="en-US" sz="1600" i="1" dirty="0">
                <a:solidFill>
                  <a:schemeClr val="tx2"/>
                </a:solidFill>
              </a:rPr>
              <a:t>er</a:t>
            </a:r>
            <a:r>
              <a:rPr lang="en-US" sz="1600" dirty="0">
                <a:solidFill>
                  <a:schemeClr val="tx2"/>
                </a:solidFill>
              </a:rPr>
              <a:t> en français 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cinq emplois de er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LA CARTE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2086661" cy="4023360"/>
          </a:xfrm>
          <a:prstGeom prst="roundRect">
            <a:avLst>
              <a:gd name="adj" fmla="val 5259"/>
            </a:avLst>
          </a:prstGeom>
          <a:solidFill>
            <a:srgbClr val="FFFFFF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463040"/>
            <a:ext cx="2086661" cy="457200"/>
          </a:xfrm>
          <a:prstGeom prst="roundRect">
            <a:avLst>
              <a:gd name="adj" fmla="val 24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463040"/>
            <a:ext cx="208666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 · er présentatif</a:t>
            </a:r>
            <a:endParaRPr lang="en-US" sz="1300" dirty="0"/>
          </a:p>
        </p:txBody>
      </p:sp>
      <p:pic>
        <p:nvPicPr>
          <p:cNvPr id="8" name="Image 0" descr="ey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4770" y="2057400"/>
            <a:ext cx="914400" cy="9144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94360" y="3063240"/>
            <a:ext cx="199522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il y a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658368" y="3703320"/>
            <a:ext cx="186720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2A6FB0"/>
                </a:solidFill>
              </a:rPr>
              <a:t>Er</a:t>
            </a:r>
            <a:r>
              <a:rPr lang="en-US" sz="1500" i="1" dirty="0">
                <a:solidFill>
                  <a:schemeClr val="tx1"/>
                </a:solidFill>
              </a:rPr>
              <a:t> is een probleem.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4709160"/>
            <a:ext cx="190378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il y a un problème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2799893" y="1463040"/>
            <a:ext cx="2086661" cy="4023360"/>
          </a:xfrm>
          <a:prstGeom prst="roundRect">
            <a:avLst>
              <a:gd name="adj" fmla="val 5259"/>
            </a:avLst>
          </a:prstGeom>
          <a:solidFill>
            <a:srgbClr val="FFFFFF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2799893" y="1463040"/>
            <a:ext cx="2086661" cy="457200"/>
          </a:xfrm>
          <a:prstGeom prst="roundRect">
            <a:avLst>
              <a:gd name="adj" fmla="val 24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799893" y="1463040"/>
            <a:ext cx="208666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 · er de lieu</a:t>
            </a:r>
            <a:endParaRPr lang="en-US" sz="1300" dirty="0"/>
          </a:p>
        </p:txBody>
      </p:sp>
      <p:pic>
        <p:nvPicPr>
          <p:cNvPr id="15" name="Image 1" descr="round pushp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6023" y="2057400"/>
            <a:ext cx="914400" cy="9144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2845613" y="3063240"/>
            <a:ext cx="199522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y · là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2909621" y="3703320"/>
            <a:ext cx="186720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woon </a:t>
            </a:r>
            <a:r>
              <a:rPr lang="en-US" sz="1500" b="1" i="1" dirty="0">
                <a:solidFill>
                  <a:srgbClr val="2E7D4F"/>
                </a:solidFill>
              </a:rPr>
              <a:t>er</a:t>
            </a:r>
            <a:r>
              <a:rPr lang="en-US" sz="1500" i="1" dirty="0">
                <a:solidFill>
                  <a:schemeClr val="tx1"/>
                </a:solidFill>
              </a:rPr>
              <a:t> al tien jaar.</a:t>
            </a:r>
            <a:endParaRPr lang="en-US" sz="1800" dirty="0"/>
          </a:p>
        </p:txBody>
      </p:sp>
      <p:sp>
        <p:nvSpPr>
          <p:cNvPr id="18" name="Text 13"/>
          <p:cNvSpPr txBox="1"/>
          <p:nvPr/>
        </p:nvSpPr>
        <p:spPr>
          <a:xfrm>
            <a:off x="2891333" y="4709160"/>
            <a:ext cx="190378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j’y habite depuis dix ans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5051146" y="1463040"/>
            <a:ext cx="2086661" cy="4023360"/>
          </a:xfrm>
          <a:prstGeom prst="roundRect">
            <a:avLst>
              <a:gd name="adj" fmla="val 5259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5051146" y="1463040"/>
            <a:ext cx="2086661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5051146" y="1463040"/>
            <a:ext cx="208666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 · er + nombre</a:t>
            </a:r>
            <a:endParaRPr lang="en-US" sz="1300" dirty="0"/>
          </a:p>
        </p:txBody>
      </p:sp>
      <p:pic>
        <p:nvPicPr>
          <p:cNvPr id="22" name="Image 2" descr="input numbe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7276" y="2057400"/>
            <a:ext cx="914400" cy="9144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5096866" y="3063240"/>
            <a:ext cx="199522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en</a:t>
            </a:r>
            <a:endParaRPr lang="en-US" sz="2200" dirty="0"/>
          </a:p>
        </p:txBody>
      </p:sp>
      <p:sp>
        <p:nvSpPr>
          <p:cNvPr id="24" name="Text 18"/>
          <p:cNvSpPr txBox="1"/>
          <p:nvPr/>
        </p:nvSpPr>
        <p:spPr>
          <a:xfrm>
            <a:off x="5160874" y="3703320"/>
            <a:ext cx="186720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heb </a:t>
            </a:r>
            <a:r>
              <a:rPr lang="en-US" sz="1500" b="1" i="1" dirty="0">
                <a:solidFill>
                  <a:srgbClr val="D9700F"/>
                </a:solidFill>
              </a:rPr>
              <a:t>er</a:t>
            </a:r>
            <a:r>
              <a:rPr lang="en-US" sz="1500" i="1" dirty="0">
                <a:solidFill>
                  <a:schemeClr val="tx1"/>
                </a:solidFill>
              </a:rPr>
              <a:t> twee.</a:t>
            </a:r>
            <a:endParaRPr lang="en-US" sz="1800" dirty="0"/>
          </a:p>
        </p:txBody>
      </p:sp>
      <p:sp>
        <p:nvSpPr>
          <p:cNvPr id="25" name="Text 19"/>
          <p:cNvSpPr txBox="1"/>
          <p:nvPr/>
        </p:nvSpPr>
        <p:spPr>
          <a:xfrm>
            <a:off x="5142586" y="4709160"/>
            <a:ext cx="190378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j’en ai deux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7302398" y="1463040"/>
            <a:ext cx="2086661" cy="4023360"/>
          </a:xfrm>
          <a:prstGeom prst="roundRect">
            <a:avLst>
              <a:gd name="adj" fmla="val 5259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7302398" y="1463040"/>
            <a:ext cx="2086661" cy="457200"/>
          </a:xfrm>
          <a:prstGeom prst="roundRect">
            <a:avLst>
              <a:gd name="adj" fmla="val 24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7302398" y="1463040"/>
            <a:ext cx="208666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 · er + préposition</a:t>
            </a:r>
            <a:endParaRPr lang="en-US" sz="1300" dirty="0"/>
          </a:p>
        </p:txBody>
      </p:sp>
      <p:pic>
        <p:nvPicPr>
          <p:cNvPr id="29" name="Image 3" descr="lin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8529" y="2057400"/>
            <a:ext cx="914400" cy="914400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7348118" y="3063240"/>
            <a:ext cx="199522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6E4A9E"/>
                </a:solidFill>
              </a:rPr>
              <a:t>y · en (+ prép.)</a:t>
            </a:r>
            <a:endParaRPr lang="en-US" sz="1700" dirty="0"/>
          </a:p>
        </p:txBody>
      </p:sp>
      <p:sp>
        <p:nvSpPr>
          <p:cNvPr id="31" name="Text 24"/>
          <p:cNvSpPr txBox="1"/>
          <p:nvPr/>
        </p:nvSpPr>
        <p:spPr>
          <a:xfrm>
            <a:off x="7412126" y="3703320"/>
            <a:ext cx="186720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denk </a:t>
            </a:r>
            <a:r>
              <a:rPr lang="en-US" sz="1500" b="1" i="1" dirty="0">
                <a:solidFill>
                  <a:srgbClr val="6E4A9E"/>
                </a:solidFill>
              </a:rPr>
              <a:t>er</a:t>
            </a:r>
            <a:r>
              <a:rPr lang="en-US" sz="1500" i="1" dirty="0">
                <a:solidFill>
                  <a:schemeClr val="tx1"/>
                </a:solidFill>
              </a:rPr>
              <a:t>aan.</a:t>
            </a:r>
            <a:endParaRPr lang="en-US" sz="1800" dirty="0"/>
          </a:p>
        </p:txBody>
      </p:sp>
      <p:sp>
        <p:nvSpPr>
          <p:cNvPr id="32" name="Text 25"/>
          <p:cNvSpPr txBox="1"/>
          <p:nvPr/>
        </p:nvSpPr>
        <p:spPr>
          <a:xfrm>
            <a:off x="7393838" y="4709160"/>
            <a:ext cx="190378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j’y pense</a:t>
            </a:r>
            <a:endParaRPr lang="en-US" sz="1200" dirty="0"/>
          </a:p>
        </p:txBody>
      </p:sp>
      <p:sp>
        <p:nvSpPr>
          <p:cNvPr id="33" name="Shape 26"/>
          <p:cNvSpPr/>
          <p:nvPr/>
        </p:nvSpPr>
        <p:spPr>
          <a:xfrm>
            <a:off x="9553651" y="1463040"/>
            <a:ext cx="2086661" cy="4023360"/>
          </a:xfrm>
          <a:prstGeom prst="roundRect">
            <a:avLst>
              <a:gd name="adj" fmla="val 5259"/>
            </a:avLst>
          </a:prstGeom>
          <a:solidFill>
            <a:srgbClr val="FFFFFF"/>
          </a:solidFill>
          <a:ln w="25400">
            <a:solidFill>
              <a:srgbClr val="0E7C8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9553651" y="1463040"/>
            <a:ext cx="2086661" cy="457200"/>
          </a:xfrm>
          <a:prstGeom prst="roundRect">
            <a:avLst>
              <a:gd name="adj" fmla="val 24000"/>
            </a:avLst>
          </a:prstGeom>
          <a:solidFill>
            <a:srgbClr val="0E7C8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9553651" y="1463040"/>
            <a:ext cx="208666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 · er + passif</a:t>
            </a:r>
            <a:endParaRPr lang="en-US" sz="1300" dirty="0"/>
          </a:p>
        </p:txBody>
      </p:sp>
      <p:pic>
        <p:nvPicPr>
          <p:cNvPr id="36" name="Image 4" descr="gea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39782" y="2057400"/>
            <a:ext cx="914400" cy="914400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9599371" y="3063240"/>
            <a:ext cx="199522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7C86"/>
                </a:solidFill>
              </a:rPr>
              <a:t>on</a:t>
            </a:r>
            <a:endParaRPr lang="en-US" sz="2200" dirty="0"/>
          </a:p>
        </p:txBody>
      </p:sp>
      <p:sp>
        <p:nvSpPr>
          <p:cNvPr id="38" name="Text 30"/>
          <p:cNvSpPr txBox="1"/>
          <p:nvPr/>
        </p:nvSpPr>
        <p:spPr>
          <a:xfrm>
            <a:off x="9663379" y="3703320"/>
            <a:ext cx="186720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0E7C86"/>
                </a:solidFill>
              </a:rPr>
              <a:t>Er</a:t>
            </a:r>
            <a:r>
              <a:rPr lang="en-US" sz="1500" i="1" dirty="0">
                <a:solidFill>
                  <a:schemeClr val="tx1"/>
                </a:solidFill>
              </a:rPr>
              <a:t> wordt gebeld.</a:t>
            </a:r>
            <a:endParaRPr lang="en-US" sz="1800" dirty="0"/>
          </a:p>
        </p:txBody>
      </p:sp>
      <p:sp>
        <p:nvSpPr>
          <p:cNvPr id="39" name="Text 31"/>
          <p:cNvSpPr txBox="1"/>
          <p:nvPr/>
        </p:nvSpPr>
        <p:spPr>
          <a:xfrm>
            <a:off x="9645091" y="4709160"/>
            <a:ext cx="190378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on sonne</a:t>
            </a:r>
            <a:endParaRPr lang="en-US" sz="1200" dirty="0"/>
          </a:p>
        </p:txBody>
      </p:sp>
      <p:sp>
        <p:nvSpPr>
          <p:cNvPr id="40" name="Shape 32"/>
          <p:cNvSpPr/>
          <p:nvPr/>
        </p:nvSpPr>
        <p:spPr>
          <a:xfrm>
            <a:off x="548640" y="5623560"/>
            <a:ext cx="11091672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3"/>
          <p:cNvSpPr txBox="1"/>
          <p:nvPr/>
        </p:nvSpPr>
        <p:spPr>
          <a:xfrm>
            <a:off x="822960" y="562356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bg1"/>
                </a:solidFill>
              </a:rPr>
              <a:t>er</a:t>
            </a:r>
            <a:r>
              <a:rPr lang="en-US" sz="1600" dirty="0">
                <a:solidFill>
                  <a:schemeClr val="bg1"/>
                </a:solidFill>
              </a:rPr>
              <a:t> n’est </a:t>
            </a:r>
            <a:r>
              <a:rPr lang="en-US" sz="1600" b="1" dirty="0">
                <a:solidFill>
                  <a:schemeClr val="bg1"/>
                </a:solidFill>
              </a:rPr>
              <a:t>jamais accentué</a:t>
            </a:r>
            <a:r>
              <a:rPr lang="en-US" sz="1600" dirty="0">
                <a:solidFill>
                  <a:schemeClr val="bg1"/>
                </a:solidFill>
              </a:rPr>
              <a:t>. Il ne commence la phrase qu’en ① (</a:t>
            </a:r>
            <a:r>
              <a:rPr lang="en-US" sz="1600" i="1" dirty="0">
                <a:solidFill>
                  <a:schemeClr val="bg1"/>
                </a:solidFill>
              </a:rPr>
              <a:t>Er is…</a:t>
            </a:r>
            <a:r>
              <a:rPr lang="en-US" sz="1600" dirty="0">
                <a:solidFill>
                  <a:schemeClr val="bg1"/>
                </a:solidFill>
              </a:rPr>
              <a:t>) et en ⑤ (</a:t>
            </a:r>
            <a:r>
              <a:rPr lang="en-US" sz="1600" i="1" dirty="0">
                <a:solidFill>
                  <a:schemeClr val="bg1"/>
                </a:solidFill>
              </a:rPr>
              <a:t>Er wordt…</a:t>
            </a:r>
            <a:r>
              <a:rPr lang="en-US" sz="1600" dirty="0">
                <a:solidFill>
                  <a:schemeClr val="bg1"/>
                </a:solidFill>
              </a:rPr>
              <a:t>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Er is, er zijn… : il y a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660550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EMPLOI 1 / 5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4206240" cy="4114800"/>
          </a:xfrm>
          <a:prstGeom prst="roundRect">
            <a:avLst>
              <a:gd name="adj" fmla="val 2667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627632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62763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chemeClr val="bg1"/>
                </a:solidFill>
              </a:rPr>
              <a:t>1</a:t>
            </a:r>
            <a:endParaRPr lang="en-US" sz="1820" dirty="0"/>
          </a:p>
        </p:txBody>
      </p:sp>
      <p:sp>
        <p:nvSpPr>
          <p:cNvPr id="8" name="Text 5"/>
          <p:cNvSpPr txBox="1"/>
          <p:nvPr/>
        </p:nvSpPr>
        <p:spPr>
          <a:xfrm>
            <a:off x="1508760" y="1627632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er présentatif</a:t>
            </a:r>
            <a:endParaRPr lang="en-US" sz="1700" dirty="0"/>
          </a:p>
        </p:txBody>
      </p:sp>
      <p:pic>
        <p:nvPicPr>
          <p:cNvPr id="9" name="Image 0" descr="ey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20240" y="2468880"/>
            <a:ext cx="1280160" cy="128016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31520" y="388620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i="1" dirty="0">
                <a:solidFill>
                  <a:schemeClr val="tx2"/>
                </a:solidFill>
              </a:rPr>
              <a:t>er</a:t>
            </a:r>
            <a:r>
              <a:rPr lang="en-US" sz="2600" dirty="0">
                <a:solidFill>
                  <a:schemeClr val="tx2"/>
                </a:solidFill>
              </a:rPr>
              <a:t> = </a:t>
            </a:r>
            <a:r>
              <a:rPr lang="en-US" sz="2600" b="1" dirty="0">
                <a:solidFill>
                  <a:schemeClr val="tx2"/>
                </a:solidFill>
              </a:rPr>
              <a:t>il y a</a:t>
            </a:r>
            <a:endParaRPr lang="en-US" sz="2600" dirty="0"/>
          </a:p>
        </p:txBody>
      </p:sp>
      <p:sp>
        <p:nvSpPr>
          <p:cNvPr id="11" name="Text 7"/>
          <p:cNvSpPr txBox="1"/>
          <p:nvPr/>
        </p:nvSpPr>
        <p:spPr>
          <a:xfrm>
            <a:off x="731520" y="457200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er</a:t>
            </a:r>
            <a:r>
              <a:rPr lang="en-US" sz="1400" dirty="0">
                <a:solidFill>
                  <a:schemeClr val="tx2"/>
                </a:solidFill>
              </a:rPr>
              <a:t> + verbe + sujet </a:t>
            </a:r>
            <a:r>
              <a:rPr lang="en-US" sz="1400" b="1" dirty="0">
                <a:solidFill>
                  <a:schemeClr val="tx2"/>
                </a:solidFill>
              </a:rPr>
              <a:t>indéfini</a:t>
            </a:r>
            <a:r>
              <a:rPr lang="en-US" sz="1400" dirty="0">
                <a:solidFill>
                  <a:schemeClr val="tx2"/>
                </a:solidFill>
              </a:rPr>
              <a:t> (</a:t>
            </a:r>
            <a:r>
              <a:rPr lang="en-US" sz="1400" i="1" dirty="0">
                <a:solidFill>
                  <a:schemeClr val="tx2"/>
                </a:solidFill>
              </a:rPr>
              <a:t>een, geen, veel, twee, niemand…</a:t>
            </a:r>
            <a:r>
              <a:rPr lang="en-US" sz="1400" dirty="0">
                <a:solidFill>
                  <a:schemeClr val="tx2"/>
                </a:solidFill>
              </a:rPr>
              <a:t>)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4983480" y="1463040"/>
            <a:ext cx="6656832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983480" y="1463040"/>
            <a:ext cx="91440" cy="749808"/>
          </a:xfrm>
          <a:prstGeom prst="rect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4" name="Image 1" descr="warn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4648" y="1577340"/>
            <a:ext cx="521208" cy="52120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870448" y="1517904"/>
            <a:ext cx="5678424" cy="4348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rgbClr val="2A6FB0"/>
                </a:solidFill>
              </a:rPr>
              <a:t>Er</a:t>
            </a:r>
            <a:r>
              <a:rPr lang="en-US" sz="1800" i="1" dirty="0">
                <a:solidFill>
                  <a:schemeClr val="tx1"/>
                </a:solidFill>
              </a:rPr>
              <a:t> is een probleem met de printer.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5870448" y="1912925"/>
            <a:ext cx="5678424" cy="2699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il y a un problème avec l’imprimante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4983480" y="2304288"/>
            <a:ext cx="6656832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4983480" y="2304288"/>
            <a:ext cx="91440" cy="749808"/>
          </a:xfrm>
          <a:prstGeom prst="rect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9" name="Image 2" descr="automob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4648" y="2418588"/>
            <a:ext cx="521208" cy="521208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5870448" y="2359152"/>
            <a:ext cx="5678424" cy="4348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rgbClr val="2A6FB0"/>
                </a:solidFill>
              </a:rPr>
              <a:t>Er</a:t>
            </a:r>
            <a:r>
              <a:rPr lang="en-US" sz="1800" i="1" dirty="0">
                <a:solidFill>
                  <a:schemeClr val="tx1"/>
                </a:solidFill>
              </a:rPr>
              <a:t> staan vandaag veel files.</a:t>
            </a:r>
            <a:endParaRPr lang="en-US" sz="1800" dirty="0"/>
          </a:p>
        </p:txBody>
      </p:sp>
      <p:sp>
        <p:nvSpPr>
          <p:cNvPr id="21" name="Text 15"/>
          <p:cNvSpPr txBox="1"/>
          <p:nvPr/>
        </p:nvSpPr>
        <p:spPr>
          <a:xfrm>
            <a:off x="5870448" y="2754173"/>
            <a:ext cx="5678424" cy="2699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il y a beaucoup d’embouteillages aujourd’hui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4983480" y="3145536"/>
            <a:ext cx="6656832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4983480" y="3145536"/>
            <a:ext cx="91440" cy="749808"/>
          </a:xfrm>
          <a:prstGeom prst="rect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4" name="Image 3" descr="doo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4648" y="3259836"/>
            <a:ext cx="521208" cy="521208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5870448" y="3200400"/>
            <a:ext cx="5678424" cy="4348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rgbClr val="2A6FB0"/>
                </a:solidFill>
              </a:rPr>
              <a:t>Er</a:t>
            </a:r>
            <a:r>
              <a:rPr lang="en-US" sz="1800" i="1" dirty="0">
                <a:solidFill>
                  <a:schemeClr val="tx1"/>
                </a:solidFill>
              </a:rPr>
              <a:t> staat een man voor de deur.</a:t>
            </a:r>
            <a:endParaRPr lang="en-US" sz="1800" dirty="0"/>
          </a:p>
        </p:txBody>
      </p:sp>
      <p:sp>
        <p:nvSpPr>
          <p:cNvPr id="26" name="Text 19"/>
          <p:cNvSpPr txBox="1"/>
          <p:nvPr/>
        </p:nvSpPr>
        <p:spPr>
          <a:xfrm>
            <a:off x="5870448" y="3595421"/>
            <a:ext cx="5678424" cy="2699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il y a un homme devant la porte (debout)</a:t>
            </a:r>
            <a:endParaRPr lang="en-US" sz="1300" dirty="0"/>
          </a:p>
        </p:txBody>
      </p:sp>
      <p:sp>
        <p:nvSpPr>
          <p:cNvPr id="27" name="Shape 20"/>
          <p:cNvSpPr/>
          <p:nvPr/>
        </p:nvSpPr>
        <p:spPr>
          <a:xfrm>
            <a:off x="4983480" y="3986784"/>
            <a:ext cx="6656832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Shape 21"/>
          <p:cNvSpPr/>
          <p:nvPr/>
        </p:nvSpPr>
        <p:spPr>
          <a:xfrm>
            <a:off x="4983480" y="3986784"/>
            <a:ext cx="91440" cy="749808"/>
          </a:xfrm>
          <a:prstGeom prst="rect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9" name="Image 4" descr="envelop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84648" y="4101084"/>
            <a:ext cx="521208" cy="521208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5870448" y="4041648"/>
            <a:ext cx="5678424" cy="4348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rgbClr val="2A6FB0"/>
                </a:solidFill>
              </a:rPr>
              <a:t>Er</a:t>
            </a:r>
            <a:r>
              <a:rPr lang="en-US" sz="1800" i="1" dirty="0">
                <a:solidFill>
                  <a:schemeClr val="tx1"/>
                </a:solidFill>
              </a:rPr>
              <a:t> ligt een brief op je bureau.</a:t>
            </a:r>
            <a:endParaRPr lang="en-US" sz="1800" dirty="0"/>
          </a:p>
        </p:txBody>
      </p:sp>
      <p:sp>
        <p:nvSpPr>
          <p:cNvPr id="31" name="Text 23"/>
          <p:cNvSpPr txBox="1"/>
          <p:nvPr/>
        </p:nvSpPr>
        <p:spPr>
          <a:xfrm>
            <a:off x="5870448" y="4436669"/>
            <a:ext cx="5678424" cy="2699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il y a une lettre sur ton bureau</a:t>
            </a:r>
            <a:endParaRPr lang="en-US" sz="1300" dirty="0"/>
          </a:p>
        </p:txBody>
      </p:sp>
      <p:sp>
        <p:nvSpPr>
          <p:cNvPr id="32" name="Shape 24"/>
          <p:cNvSpPr/>
          <p:nvPr/>
        </p:nvSpPr>
        <p:spPr>
          <a:xfrm>
            <a:off x="4983480" y="4828032"/>
            <a:ext cx="6656832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3" name="Shape 25"/>
          <p:cNvSpPr/>
          <p:nvPr/>
        </p:nvSpPr>
        <p:spPr>
          <a:xfrm>
            <a:off x="4983480" y="4828032"/>
            <a:ext cx="91440" cy="749808"/>
          </a:xfrm>
          <a:prstGeom prst="rect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5" descr="busts in silhouett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84648" y="4942332"/>
            <a:ext cx="521208" cy="521208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5870448" y="4882896"/>
            <a:ext cx="5678424" cy="4348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rgbClr val="2A6FB0"/>
                </a:solidFill>
              </a:rPr>
              <a:t>Er</a:t>
            </a:r>
            <a:r>
              <a:rPr lang="en-US" sz="1800" i="1" dirty="0">
                <a:solidFill>
                  <a:schemeClr val="tx1"/>
                </a:solidFill>
              </a:rPr>
              <a:t> werkt hier niemand.</a:t>
            </a:r>
            <a:endParaRPr lang="en-US" sz="1800" dirty="0"/>
          </a:p>
        </p:txBody>
      </p:sp>
      <p:sp>
        <p:nvSpPr>
          <p:cNvPr id="36" name="Text 27"/>
          <p:cNvSpPr txBox="1"/>
          <p:nvPr/>
        </p:nvSpPr>
        <p:spPr>
          <a:xfrm>
            <a:off x="5870448" y="5277917"/>
            <a:ext cx="5678424" cy="2699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personne ne travaille ici</a:t>
            </a:r>
            <a:endParaRPr lang="en-US" sz="1300" dirty="0"/>
          </a:p>
        </p:txBody>
      </p:sp>
      <p:sp>
        <p:nvSpPr>
          <p:cNvPr id="37" name="Text 28"/>
          <p:cNvSpPr txBox="1"/>
          <p:nvPr/>
        </p:nvSpPr>
        <p:spPr>
          <a:xfrm>
            <a:off x="548640" y="57607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Comme au M17 : </a:t>
            </a:r>
            <a:r>
              <a:rPr lang="en-US" sz="1500" i="1" dirty="0">
                <a:solidFill>
                  <a:schemeClr val="accent5"/>
                </a:solidFill>
              </a:rPr>
              <a:t>er staat, er ligt, er zit, er hangt</a:t>
            </a:r>
            <a:r>
              <a:rPr lang="en-US" sz="1500" dirty="0">
                <a:solidFill>
                  <a:schemeClr val="accent5"/>
                </a:solidFill>
              </a:rPr>
              <a:t> = il y a (avec la position).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Un sujet défini ? Pas de « er = il y a »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4984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5408676" cy="3200400"/>
          </a:xfrm>
          <a:prstGeom prst="roundRect">
            <a:avLst>
              <a:gd name="adj" fmla="val 3429"/>
            </a:avLst>
          </a:prstGeom>
          <a:solidFill>
            <a:srgbClr val="EAF2FB"/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554480"/>
            <a:ext cx="50429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SUJET INDÉFINI → er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777240" y="2194560"/>
            <a:ext cx="704424" cy="54864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2194560"/>
            <a:ext cx="7044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Er</a:t>
            </a:r>
            <a:endParaRPr lang="en-US" sz="1900" dirty="0"/>
          </a:p>
        </p:txBody>
      </p:sp>
      <p:sp>
        <p:nvSpPr>
          <p:cNvPr id="9" name="Shape 6"/>
          <p:cNvSpPr/>
          <p:nvPr/>
        </p:nvSpPr>
        <p:spPr>
          <a:xfrm>
            <a:off x="1563960" y="2194560"/>
            <a:ext cx="1007976" cy="54864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563960" y="2194560"/>
            <a:ext cx="10079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ligt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2654233" y="2194560"/>
            <a:ext cx="1512235" cy="5486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654233" y="2194560"/>
            <a:ext cx="15122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een brief</a:t>
            </a:r>
            <a:endParaRPr lang="en-US" sz="1900" dirty="0"/>
          </a:p>
        </p:txBody>
      </p:sp>
      <p:sp>
        <p:nvSpPr>
          <p:cNvPr id="13" name="Shape 10"/>
          <p:cNvSpPr/>
          <p:nvPr/>
        </p:nvSpPr>
        <p:spPr>
          <a:xfrm>
            <a:off x="4248763" y="2194560"/>
            <a:ext cx="2054291" cy="5486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248763" y="2194560"/>
            <a:ext cx="205429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op je bureau.</a:t>
            </a:r>
            <a:endParaRPr lang="en-US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777240" y="2788920"/>
            <a:ext cx="49514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il y a une lettre sur ton bureau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777240" y="3383280"/>
            <a:ext cx="704424" cy="54864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77240" y="3383280"/>
            <a:ext cx="7044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Is</a:t>
            </a:r>
            <a:endParaRPr lang="en-US" sz="1900" dirty="0"/>
          </a:p>
        </p:txBody>
      </p:sp>
      <p:sp>
        <p:nvSpPr>
          <p:cNvPr id="18" name="Shape 15"/>
          <p:cNvSpPr/>
          <p:nvPr/>
        </p:nvSpPr>
        <p:spPr>
          <a:xfrm>
            <a:off x="1563960" y="3383280"/>
            <a:ext cx="704424" cy="54864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563960" y="3383280"/>
            <a:ext cx="7044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er</a:t>
            </a:r>
            <a:endParaRPr lang="en-US" sz="1900" dirty="0"/>
          </a:p>
        </p:txBody>
      </p:sp>
      <p:sp>
        <p:nvSpPr>
          <p:cNvPr id="20" name="Shape 17"/>
          <p:cNvSpPr/>
          <p:nvPr/>
        </p:nvSpPr>
        <p:spPr>
          <a:xfrm>
            <a:off x="2350681" y="3383280"/>
            <a:ext cx="699150" cy="5486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350681" y="3383280"/>
            <a:ext cx="6991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nog</a:t>
            </a:r>
            <a:endParaRPr lang="en-US" sz="1900" dirty="0"/>
          </a:p>
        </p:txBody>
      </p:sp>
      <p:sp>
        <p:nvSpPr>
          <p:cNvPr id="22" name="Shape 19"/>
          <p:cNvSpPr/>
          <p:nvPr/>
        </p:nvSpPr>
        <p:spPr>
          <a:xfrm>
            <a:off x="3132127" y="3383280"/>
            <a:ext cx="1241207" cy="5486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3132127" y="3383280"/>
            <a:ext cx="12412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koffie?</a:t>
            </a:r>
            <a:endParaRPr lang="en-US" sz="1900" dirty="0"/>
          </a:p>
        </p:txBody>
      </p:sp>
      <p:sp>
        <p:nvSpPr>
          <p:cNvPr id="24" name="Text 21"/>
          <p:cNvSpPr txBox="1"/>
          <p:nvPr/>
        </p:nvSpPr>
        <p:spPr>
          <a:xfrm>
            <a:off x="777240" y="3977640"/>
            <a:ext cx="49514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il y a encore du café ?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6231636" y="1463040"/>
            <a:ext cx="5408676" cy="3200400"/>
          </a:xfrm>
          <a:prstGeom prst="roundRect">
            <a:avLst>
              <a:gd name="adj" fmla="val 3429"/>
            </a:avLst>
          </a:prstGeom>
          <a:solidFill>
            <a:srgbClr val="E6EBF2"/>
          </a:solidFill>
          <a:ln w="25400">
            <a:solidFill>
              <a:srgbClr val="4A5A7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414516" y="1554480"/>
            <a:ext cx="50429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SUJET DÉFINI → pas de er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6460236" y="2194560"/>
            <a:ext cx="1376721" cy="5486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460236" y="2194560"/>
            <a:ext cx="137672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De brief</a:t>
            </a:r>
            <a:endParaRPr lang="en-US" sz="1900" dirty="0"/>
          </a:p>
        </p:txBody>
      </p:sp>
      <p:sp>
        <p:nvSpPr>
          <p:cNvPr id="29" name="Shape 26"/>
          <p:cNvSpPr/>
          <p:nvPr/>
        </p:nvSpPr>
        <p:spPr>
          <a:xfrm>
            <a:off x="7919253" y="2194560"/>
            <a:ext cx="1007976" cy="54864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919253" y="2194560"/>
            <a:ext cx="10079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ligt</a:t>
            </a:r>
            <a:endParaRPr lang="en-US" sz="1900" dirty="0"/>
          </a:p>
        </p:txBody>
      </p:sp>
      <p:sp>
        <p:nvSpPr>
          <p:cNvPr id="31" name="Shape 28"/>
          <p:cNvSpPr/>
          <p:nvPr/>
        </p:nvSpPr>
        <p:spPr>
          <a:xfrm>
            <a:off x="9009525" y="2194560"/>
            <a:ext cx="2054291" cy="5486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009525" y="2194560"/>
            <a:ext cx="205429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op je bureau.</a:t>
            </a:r>
            <a:endParaRPr lang="en-US" sz="1900" dirty="0"/>
          </a:p>
        </p:txBody>
      </p:sp>
      <p:sp>
        <p:nvSpPr>
          <p:cNvPr id="33" name="Text 30"/>
          <p:cNvSpPr txBox="1"/>
          <p:nvPr/>
        </p:nvSpPr>
        <p:spPr>
          <a:xfrm>
            <a:off x="6460236" y="2788920"/>
            <a:ext cx="49514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la lettre est sur ton bureau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6460236" y="3383280"/>
            <a:ext cx="1512235" cy="5486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60236" y="3383280"/>
            <a:ext cx="15122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De koffie</a:t>
            </a:r>
            <a:endParaRPr lang="en-US" sz="1900" dirty="0"/>
          </a:p>
        </p:txBody>
      </p:sp>
      <p:sp>
        <p:nvSpPr>
          <p:cNvPr id="36" name="Shape 33"/>
          <p:cNvSpPr/>
          <p:nvPr/>
        </p:nvSpPr>
        <p:spPr>
          <a:xfrm>
            <a:off x="8054767" y="3383280"/>
            <a:ext cx="1159752" cy="54864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8054767" y="3383280"/>
            <a:ext cx="1159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staat</a:t>
            </a:r>
            <a:endParaRPr lang="en-US" sz="1900" dirty="0"/>
          </a:p>
        </p:txBody>
      </p:sp>
      <p:sp>
        <p:nvSpPr>
          <p:cNvPr id="38" name="Shape 35"/>
          <p:cNvSpPr/>
          <p:nvPr/>
        </p:nvSpPr>
        <p:spPr>
          <a:xfrm>
            <a:off x="9296815" y="3383280"/>
            <a:ext cx="2054291" cy="5486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9296815" y="3383280"/>
            <a:ext cx="205429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in de keuken.</a:t>
            </a:r>
            <a:endParaRPr lang="en-US" sz="1900" dirty="0"/>
          </a:p>
        </p:txBody>
      </p:sp>
      <p:sp>
        <p:nvSpPr>
          <p:cNvPr id="40" name="Text 37"/>
          <p:cNvSpPr txBox="1"/>
          <p:nvPr/>
        </p:nvSpPr>
        <p:spPr>
          <a:xfrm>
            <a:off x="6460236" y="3977640"/>
            <a:ext cx="49514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le café est dans la cuisine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548640" y="4892040"/>
            <a:ext cx="457200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dash"/>
          </a:ln>
        </p:spPr>
      </p:sp>
      <p:sp>
        <p:nvSpPr>
          <p:cNvPr id="42" name="Text 39"/>
          <p:cNvSpPr txBox="1"/>
          <p:nvPr/>
        </p:nvSpPr>
        <p:spPr>
          <a:xfrm>
            <a:off x="548640" y="489204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strike="sngStrike" dirty="0">
                <a:solidFill>
                  <a:schemeClr val="accent6"/>
                </a:solidFill>
              </a:rPr>
              <a:t>Er ligt de brief op je bureau.</a:t>
            </a:r>
            <a:endParaRPr lang="en-US" sz="2000" dirty="0"/>
          </a:p>
        </p:txBody>
      </p:sp>
      <p:sp>
        <p:nvSpPr>
          <p:cNvPr id="43" name="Text 40"/>
          <p:cNvSpPr txBox="1"/>
          <p:nvPr/>
        </p:nvSpPr>
        <p:spPr>
          <a:xfrm>
            <a:off x="5212080" y="489204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6"/>
                </a:solidFill>
              </a:rPr>
              <a:t>✗</a:t>
            </a:r>
            <a:endParaRPr lang="en-US" sz="2600" dirty="0"/>
          </a:p>
        </p:txBody>
      </p:sp>
      <p:sp>
        <p:nvSpPr>
          <p:cNvPr id="44" name="Text 41"/>
          <p:cNvSpPr txBox="1"/>
          <p:nvPr/>
        </p:nvSpPr>
        <p:spPr>
          <a:xfrm>
            <a:off x="5760720" y="4892040"/>
            <a:ext cx="58795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« il y a » + </a:t>
            </a:r>
            <a:r>
              <a:rPr lang="en-US" sz="1500" i="1" dirty="0">
                <a:solidFill>
                  <a:schemeClr val="tx2"/>
                </a:solidFill>
              </a:rPr>
              <a:t>le, la</a:t>
            </a:r>
            <a:r>
              <a:rPr lang="en-US" sz="1500" dirty="0">
                <a:solidFill>
                  <a:schemeClr val="tx2"/>
                </a:solidFill>
              </a:rPr>
              <a:t> ne se traduit pas avec </a:t>
            </a:r>
            <a:r>
              <a:rPr lang="en-US" sz="1500" i="1" dirty="0">
                <a:solidFill>
                  <a:schemeClr val="tx2"/>
                </a:solidFill>
              </a:rPr>
              <a:t>er</a:t>
            </a:r>
            <a:r>
              <a:rPr lang="en-US" sz="1500" dirty="0">
                <a:solidFill>
                  <a:schemeClr val="tx2"/>
                </a:solidFill>
              </a:rPr>
              <a:t> : le sujet passe en tête.</a:t>
            </a:r>
            <a:endParaRPr lang="en-US" sz="1500" dirty="0"/>
          </a:p>
        </p:txBody>
      </p:sp>
      <p:sp>
        <p:nvSpPr>
          <p:cNvPr id="45" name="Shape 42"/>
          <p:cNvSpPr/>
          <p:nvPr/>
        </p:nvSpPr>
        <p:spPr>
          <a:xfrm>
            <a:off x="548640" y="5669280"/>
            <a:ext cx="11091672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822960" y="56692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Questions : </a:t>
            </a:r>
            <a:r>
              <a:rPr lang="en-US" sz="1600" i="1" dirty="0">
                <a:solidFill>
                  <a:schemeClr val="bg1"/>
                </a:solidFill>
              </a:rPr>
              <a:t>Is er nog koffie? · Zijn er vragen?</a:t>
            </a:r>
            <a:r>
              <a:rPr lang="en-US" sz="1600" dirty="0">
                <a:solidFill>
                  <a:schemeClr val="bg1"/>
                </a:solidFill>
              </a:rPr>
              <a:t> — </a:t>
            </a:r>
            <a:r>
              <a:rPr lang="en-US" sz="1600" i="1" dirty="0">
                <a:solidFill>
                  <a:schemeClr val="bg1"/>
                </a:solidFill>
              </a:rPr>
              <a:t>er</a:t>
            </a:r>
            <a:r>
              <a:rPr lang="en-US" sz="1600" dirty="0">
                <a:solidFill>
                  <a:schemeClr val="bg1"/>
                </a:solidFill>
              </a:rPr>
              <a:t> après le verbe.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Er = y, là : le lieu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660550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EMPLOI 2 / 5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4206240" cy="4114800"/>
          </a:xfrm>
          <a:prstGeom prst="roundRect">
            <a:avLst>
              <a:gd name="adj" fmla="val 2667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627632"/>
            <a:ext cx="640080" cy="64008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62763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chemeClr val="bg1"/>
                </a:solidFill>
              </a:rPr>
              <a:t>2</a:t>
            </a:r>
            <a:endParaRPr lang="en-US" sz="1820" dirty="0"/>
          </a:p>
        </p:txBody>
      </p:sp>
      <p:sp>
        <p:nvSpPr>
          <p:cNvPr id="8" name="Text 5"/>
          <p:cNvSpPr txBox="1"/>
          <p:nvPr/>
        </p:nvSpPr>
        <p:spPr>
          <a:xfrm>
            <a:off x="1508760" y="1627632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3"/>
                </a:solidFill>
              </a:rPr>
              <a:t>er de lieu</a:t>
            </a:r>
            <a:endParaRPr lang="en-US" sz="1700" dirty="0"/>
          </a:p>
        </p:txBody>
      </p:sp>
      <p:pic>
        <p:nvPicPr>
          <p:cNvPr id="9" name="Image 0" descr="round pushp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20240" y="2468880"/>
            <a:ext cx="1280160" cy="128016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31520" y="388620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i="1" dirty="0">
                <a:solidFill>
                  <a:schemeClr val="tx2"/>
                </a:solidFill>
              </a:rPr>
              <a:t>er</a:t>
            </a:r>
            <a:r>
              <a:rPr lang="en-US" sz="2600" dirty="0">
                <a:solidFill>
                  <a:schemeClr val="tx2"/>
                </a:solidFill>
              </a:rPr>
              <a:t> = </a:t>
            </a:r>
            <a:r>
              <a:rPr lang="en-US" sz="2600" b="1" dirty="0">
                <a:solidFill>
                  <a:schemeClr val="tx2"/>
                </a:solidFill>
              </a:rPr>
              <a:t>y · là</a:t>
            </a:r>
            <a:endParaRPr lang="en-US" sz="2600" dirty="0"/>
          </a:p>
        </p:txBody>
      </p:sp>
      <p:sp>
        <p:nvSpPr>
          <p:cNvPr id="11" name="Text 7"/>
          <p:cNvSpPr txBox="1"/>
          <p:nvPr/>
        </p:nvSpPr>
        <p:spPr>
          <a:xfrm>
            <a:off x="731520" y="457200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er</a:t>
            </a:r>
            <a:r>
              <a:rPr lang="en-US" sz="1400" dirty="0">
                <a:solidFill>
                  <a:schemeClr val="tx2"/>
                </a:solidFill>
              </a:rPr>
              <a:t> remplace un lieu déjà nommé (= </a:t>
            </a:r>
            <a:r>
              <a:rPr lang="en-US" sz="1400" i="1" dirty="0">
                <a:solidFill>
                  <a:schemeClr val="tx2"/>
                </a:solidFill>
              </a:rPr>
              <a:t>daar</a:t>
            </a:r>
            <a:r>
              <a:rPr lang="en-US" sz="1400" dirty="0">
                <a:solidFill>
                  <a:schemeClr val="tx2"/>
                </a:solidFill>
              </a:rPr>
              <a:t>, sans accent)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4983480" y="1463040"/>
            <a:ext cx="6656832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983480" y="1463040"/>
            <a:ext cx="91440" cy="960120"/>
          </a:xfrm>
          <a:prstGeom prst="rect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4" name="Image 1" descr="world ma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4648" y="1577340"/>
            <a:ext cx="731520" cy="7315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080760" y="1517904"/>
            <a:ext cx="5468112" cy="556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Woon je in Brussel? — Ja, ik woon </a:t>
            </a:r>
            <a:r>
              <a:rPr lang="en-US" sz="1600" b="1" i="1" dirty="0">
                <a:solidFill>
                  <a:srgbClr val="2E7D4F"/>
                </a:solidFill>
              </a:rPr>
              <a:t>er</a:t>
            </a:r>
            <a:r>
              <a:rPr lang="en-US" sz="1600" i="1" dirty="0">
                <a:solidFill>
                  <a:schemeClr val="tx1"/>
                </a:solidFill>
              </a:rPr>
              <a:t> al tien jaar.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6080760" y="2039112"/>
            <a:ext cx="5468112" cy="345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oui, j’y habite depuis dix ans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4983480" y="2514600"/>
            <a:ext cx="6656832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4983480" y="2514600"/>
            <a:ext cx="91440" cy="960120"/>
          </a:xfrm>
          <a:prstGeom prst="rect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9" name="Image 2" descr="bicyc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4648" y="2628900"/>
            <a:ext cx="731520" cy="73152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080760" y="2569464"/>
            <a:ext cx="5468112" cy="556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Ben je al in Brugge geweest? — Ja, ik ben </a:t>
            </a:r>
            <a:r>
              <a:rPr lang="en-US" sz="1600" b="1" i="1" dirty="0">
                <a:solidFill>
                  <a:srgbClr val="2E7D4F"/>
                </a:solidFill>
              </a:rPr>
              <a:t>er</a:t>
            </a:r>
            <a:r>
              <a:rPr lang="en-US" sz="1600" i="1" dirty="0">
                <a:solidFill>
                  <a:schemeClr val="tx1"/>
                </a:solidFill>
              </a:rPr>
              <a:t> vorig jaar geweest.</a:t>
            </a:r>
            <a:endParaRPr lang="en-US" sz="1800" dirty="0"/>
          </a:p>
        </p:txBody>
      </p:sp>
      <p:sp>
        <p:nvSpPr>
          <p:cNvPr id="21" name="Text 15"/>
          <p:cNvSpPr txBox="1"/>
          <p:nvPr/>
        </p:nvSpPr>
        <p:spPr>
          <a:xfrm>
            <a:off x="6080760" y="3090672"/>
            <a:ext cx="5468112" cy="345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oui, j’y suis allé·e l’an dernier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4983480" y="3566160"/>
            <a:ext cx="6656832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4983480" y="3566160"/>
            <a:ext cx="91440" cy="960120"/>
          </a:xfrm>
          <a:prstGeom prst="rect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4" name="Image 3" descr="office build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4648" y="3680460"/>
            <a:ext cx="731520" cy="73152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6080760" y="3621024"/>
            <a:ext cx="5468112" cy="556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Werk je bij Koopzo? — Ja, ik werk </a:t>
            </a:r>
            <a:r>
              <a:rPr lang="en-US" sz="1600" b="1" i="1" dirty="0">
                <a:solidFill>
                  <a:srgbClr val="2E7D4F"/>
                </a:solidFill>
              </a:rPr>
              <a:t>er</a:t>
            </a:r>
            <a:r>
              <a:rPr lang="en-US" sz="1600" i="1" dirty="0">
                <a:solidFill>
                  <a:schemeClr val="tx1"/>
                </a:solidFill>
              </a:rPr>
              <a:t> sinds mei.</a:t>
            </a:r>
            <a:endParaRPr lang="en-US" sz="1800" dirty="0"/>
          </a:p>
        </p:txBody>
      </p:sp>
      <p:sp>
        <p:nvSpPr>
          <p:cNvPr id="26" name="Text 19"/>
          <p:cNvSpPr txBox="1"/>
          <p:nvPr/>
        </p:nvSpPr>
        <p:spPr>
          <a:xfrm>
            <a:off x="6080760" y="4142232"/>
            <a:ext cx="5468112" cy="345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oui, j’y travaille depuis mai</a:t>
            </a:r>
            <a:endParaRPr lang="en-US" sz="1300" dirty="0"/>
          </a:p>
        </p:txBody>
      </p:sp>
      <p:sp>
        <p:nvSpPr>
          <p:cNvPr id="27" name="Shape 20"/>
          <p:cNvSpPr/>
          <p:nvPr/>
        </p:nvSpPr>
        <p:spPr>
          <a:xfrm>
            <a:off x="4983480" y="4617720"/>
            <a:ext cx="6656832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Shape 21"/>
          <p:cNvSpPr/>
          <p:nvPr/>
        </p:nvSpPr>
        <p:spPr>
          <a:xfrm>
            <a:off x="4983480" y="4617720"/>
            <a:ext cx="91440" cy="960120"/>
          </a:xfrm>
          <a:prstGeom prst="rect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9" name="Image 4" descr="bu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84648" y="4732020"/>
            <a:ext cx="731520" cy="731520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6080760" y="4672584"/>
            <a:ext cx="5468112" cy="556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Hoe ga je naar het werk? — Ik ga </a:t>
            </a:r>
            <a:r>
              <a:rPr lang="en-US" sz="1600" b="1" i="1" dirty="0">
                <a:solidFill>
                  <a:srgbClr val="2E7D4F"/>
                </a:solidFill>
              </a:rPr>
              <a:t>er</a:t>
            </a:r>
            <a:r>
              <a:rPr lang="en-US" sz="1600" i="1" dirty="0">
                <a:solidFill>
                  <a:schemeClr val="tx1"/>
                </a:solidFill>
              </a:rPr>
              <a:t> met de bus naartoe.</a:t>
            </a:r>
            <a:endParaRPr lang="en-US" sz="1800" dirty="0"/>
          </a:p>
        </p:txBody>
      </p:sp>
      <p:sp>
        <p:nvSpPr>
          <p:cNvPr id="31" name="Text 23"/>
          <p:cNvSpPr txBox="1"/>
          <p:nvPr/>
        </p:nvSpPr>
        <p:spPr>
          <a:xfrm>
            <a:off x="6080760" y="5193792"/>
            <a:ext cx="5468112" cy="345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j’y vais en bus</a:t>
            </a:r>
            <a:endParaRPr lang="en-US" sz="1300" dirty="0"/>
          </a:p>
        </p:txBody>
      </p:sp>
      <p:sp>
        <p:nvSpPr>
          <p:cNvPr id="32" name="Text 24"/>
          <p:cNvSpPr txBox="1"/>
          <p:nvPr/>
        </p:nvSpPr>
        <p:spPr>
          <a:xfrm>
            <a:off x="548640" y="57607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Insister ? </a:t>
            </a:r>
            <a:r>
              <a:rPr lang="en-US" sz="1500" b="1" i="1" dirty="0">
                <a:solidFill>
                  <a:schemeClr val="accent5"/>
                </a:solidFill>
              </a:rPr>
              <a:t>Daar</a:t>
            </a:r>
            <a:r>
              <a:rPr lang="en-US" sz="1500" i="1" dirty="0">
                <a:solidFill>
                  <a:schemeClr val="accent5"/>
                </a:solidFill>
              </a:rPr>
              <a:t> woon ik!</a:t>
            </a:r>
            <a:r>
              <a:rPr lang="en-US" sz="1500" dirty="0">
                <a:solidFill>
                  <a:schemeClr val="accent5"/>
                </a:solidFill>
              </a:rPr>
              <a:t> — </a:t>
            </a:r>
            <a:r>
              <a:rPr lang="en-US" sz="1500" i="1" dirty="0">
                <a:solidFill>
                  <a:schemeClr val="accent5"/>
                </a:solidFill>
              </a:rPr>
              <a:t>daar</a:t>
            </a:r>
            <a:r>
              <a:rPr lang="en-US" sz="1500" dirty="0">
                <a:solidFill>
                  <a:schemeClr val="accent5"/>
                </a:solidFill>
              </a:rPr>
              <a:t> est accentué et peut commencer la phrase (diapo 12).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Er + nombre = 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660550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EMPLOI 3 / 5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4206240" cy="4114800"/>
          </a:xfrm>
          <a:prstGeom prst="roundRect">
            <a:avLst>
              <a:gd name="adj" fmla="val 2667"/>
            </a:avLst>
          </a:prstGeom>
          <a:solidFill>
            <a:schemeClr val="accent1">
              <a:alpha val="12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627632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62763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chemeClr val="bg1"/>
                </a:solidFill>
              </a:rPr>
              <a:t>3</a:t>
            </a:r>
            <a:endParaRPr lang="en-US" sz="1820" dirty="0"/>
          </a:p>
        </p:txBody>
      </p:sp>
      <p:sp>
        <p:nvSpPr>
          <p:cNvPr id="8" name="Text 5"/>
          <p:cNvSpPr txBox="1"/>
          <p:nvPr/>
        </p:nvSpPr>
        <p:spPr>
          <a:xfrm>
            <a:off x="1508760" y="1627632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er + nombre</a:t>
            </a:r>
            <a:endParaRPr lang="en-US" sz="1700" dirty="0"/>
          </a:p>
        </p:txBody>
      </p:sp>
      <p:pic>
        <p:nvPicPr>
          <p:cNvPr id="9" name="Image 0" descr="input numb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20240" y="2468880"/>
            <a:ext cx="1280160" cy="128016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31520" y="388620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i="1" dirty="0">
                <a:solidFill>
                  <a:schemeClr val="tx2"/>
                </a:solidFill>
              </a:rPr>
              <a:t>er</a:t>
            </a:r>
            <a:r>
              <a:rPr lang="en-US" sz="2600" dirty="0">
                <a:solidFill>
                  <a:schemeClr val="tx2"/>
                </a:solidFill>
              </a:rPr>
              <a:t> = </a:t>
            </a:r>
            <a:r>
              <a:rPr lang="en-US" sz="2600" b="1" dirty="0">
                <a:solidFill>
                  <a:schemeClr val="tx2"/>
                </a:solidFill>
              </a:rPr>
              <a:t>en</a:t>
            </a:r>
            <a:endParaRPr lang="en-US" sz="2600" dirty="0"/>
          </a:p>
        </p:txBody>
      </p:sp>
      <p:sp>
        <p:nvSpPr>
          <p:cNvPr id="11" name="Text 7"/>
          <p:cNvSpPr txBox="1"/>
          <p:nvPr/>
        </p:nvSpPr>
        <p:spPr>
          <a:xfrm>
            <a:off x="731520" y="457200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er</a:t>
            </a:r>
            <a:r>
              <a:rPr lang="en-US" sz="1400" dirty="0">
                <a:solidFill>
                  <a:schemeClr val="tx2"/>
                </a:solidFill>
              </a:rPr>
              <a:t> + nombre ou quantité (</a:t>
            </a:r>
            <a:r>
              <a:rPr lang="en-US" sz="1400" i="1" dirty="0">
                <a:solidFill>
                  <a:schemeClr val="tx2"/>
                </a:solidFill>
              </a:rPr>
              <a:t>twee, veel, weinig, een paar, geen…</a:t>
            </a:r>
            <a:r>
              <a:rPr lang="en-US" sz="1400" dirty="0">
                <a:solidFill>
                  <a:schemeClr val="tx2"/>
                </a:solidFill>
              </a:rPr>
              <a:t>)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4983480" y="1463040"/>
            <a:ext cx="6656832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983480" y="1463040"/>
            <a:ext cx="91440" cy="96012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4" name="Image 1" descr="teddy be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4648" y="1577340"/>
            <a:ext cx="731520" cy="7315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080760" y="1517904"/>
            <a:ext cx="5468112" cy="556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Hoeveel kinderen heb je? — Ik heb </a:t>
            </a:r>
            <a:r>
              <a:rPr lang="en-US" sz="1600" b="1" i="1" dirty="0">
                <a:solidFill>
                  <a:srgbClr val="D9700F"/>
                </a:solidFill>
              </a:rPr>
              <a:t>er</a:t>
            </a:r>
            <a:r>
              <a:rPr lang="en-US" sz="1600" i="1" dirty="0">
                <a:solidFill>
                  <a:schemeClr val="tx1"/>
                </a:solidFill>
              </a:rPr>
              <a:t> twee.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6080760" y="2039112"/>
            <a:ext cx="5468112" cy="345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j’en ai deux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4983480" y="2514600"/>
            <a:ext cx="6656832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4983480" y="2514600"/>
            <a:ext cx="91440" cy="96012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9" name="Image 2" descr="pe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4648" y="2628900"/>
            <a:ext cx="731520" cy="73152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080760" y="2569464"/>
            <a:ext cx="5468112" cy="556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Heb je een pen voor mij? — Nee, ik heb </a:t>
            </a:r>
            <a:r>
              <a:rPr lang="en-US" sz="1600" b="1" i="1" dirty="0">
                <a:solidFill>
                  <a:srgbClr val="D9700F"/>
                </a:solidFill>
              </a:rPr>
              <a:t>er</a:t>
            </a:r>
            <a:r>
              <a:rPr lang="en-US" sz="1600" i="1" dirty="0">
                <a:solidFill>
                  <a:schemeClr val="tx1"/>
                </a:solidFill>
              </a:rPr>
              <a:t> geen.</a:t>
            </a:r>
            <a:endParaRPr lang="en-US" sz="1800" dirty="0"/>
          </a:p>
        </p:txBody>
      </p:sp>
      <p:sp>
        <p:nvSpPr>
          <p:cNvPr id="21" name="Text 15"/>
          <p:cNvSpPr txBox="1"/>
          <p:nvPr/>
        </p:nvSpPr>
        <p:spPr>
          <a:xfrm>
            <a:off x="6080760" y="3090672"/>
            <a:ext cx="5468112" cy="345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non, je n’en ai pas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4983480" y="3566160"/>
            <a:ext cx="6656832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4983480" y="3566160"/>
            <a:ext cx="91440" cy="96012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4" name="Image 3" descr="busts in silhouett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4648" y="3680460"/>
            <a:ext cx="731520" cy="73152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6080760" y="3621024"/>
            <a:ext cx="5468112" cy="556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Heb je veel collega’s? — Ja, ik heb </a:t>
            </a:r>
            <a:r>
              <a:rPr lang="en-US" sz="1600" b="1" i="1" dirty="0">
                <a:solidFill>
                  <a:srgbClr val="D9700F"/>
                </a:solidFill>
              </a:rPr>
              <a:t>er</a:t>
            </a:r>
            <a:r>
              <a:rPr lang="en-US" sz="1600" i="1" dirty="0">
                <a:solidFill>
                  <a:schemeClr val="tx1"/>
                </a:solidFill>
              </a:rPr>
              <a:t> veel.</a:t>
            </a:r>
            <a:endParaRPr lang="en-US" sz="1800" dirty="0"/>
          </a:p>
        </p:txBody>
      </p:sp>
      <p:sp>
        <p:nvSpPr>
          <p:cNvPr id="26" name="Text 19"/>
          <p:cNvSpPr txBox="1"/>
          <p:nvPr/>
        </p:nvSpPr>
        <p:spPr>
          <a:xfrm>
            <a:off x="6080760" y="4142232"/>
            <a:ext cx="5468112" cy="345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oui, j’en ai beaucoup</a:t>
            </a:r>
            <a:endParaRPr lang="en-US" sz="1300" dirty="0"/>
          </a:p>
        </p:txBody>
      </p:sp>
      <p:sp>
        <p:nvSpPr>
          <p:cNvPr id="27" name="Shape 20"/>
          <p:cNvSpPr/>
          <p:nvPr/>
        </p:nvSpPr>
        <p:spPr>
          <a:xfrm>
            <a:off x="4983480" y="4617720"/>
            <a:ext cx="6656832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Shape 21"/>
          <p:cNvSpPr/>
          <p:nvPr/>
        </p:nvSpPr>
        <p:spPr>
          <a:xfrm>
            <a:off x="4983480" y="4617720"/>
            <a:ext cx="91440" cy="96012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9" name="Image 4" descr="laptop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84648" y="4732020"/>
            <a:ext cx="731520" cy="731520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6080760" y="4672584"/>
            <a:ext cx="5468112" cy="556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Hoeveel laptops hebben we nog? — We hebben </a:t>
            </a:r>
            <a:r>
              <a:rPr lang="en-US" sz="1600" b="1" i="1" dirty="0">
                <a:solidFill>
                  <a:srgbClr val="D9700F"/>
                </a:solidFill>
              </a:rPr>
              <a:t>er</a:t>
            </a:r>
            <a:r>
              <a:rPr lang="en-US" sz="1600" i="1" dirty="0">
                <a:solidFill>
                  <a:schemeClr val="tx1"/>
                </a:solidFill>
              </a:rPr>
              <a:t> nog drie.</a:t>
            </a:r>
            <a:endParaRPr lang="en-US" sz="1800" dirty="0"/>
          </a:p>
        </p:txBody>
      </p:sp>
      <p:sp>
        <p:nvSpPr>
          <p:cNvPr id="31" name="Text 23"/>
          <p:cNvSpPr txBox="1"/>
          <p:nvPr/>
        </p:nvSpPr>
        <p:spPr>
          <a:xfrm>
            <a:off x="6080760" y="5193792"/>
            <a:ext cx="5468112" cy="345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il nous en reste trois</a:t>
            </a:r>
            <a:endParaRPr lang="en-US" sz="1300" dirty="0"/>
          </a:p>
        </p:txBody>
      </p:sp>
      <p:sp>
        <p:nvSpPr>
          <p:cNvPr id="32" name="Text 24"/>
          <p:cNvSpPr txBox="1"/>
          <p:nvPr/>
        </p:nvSpPr>
        <p:spPr>
          <a:xfrm>
            <a:off x="548640" y="57607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Piège : </a:t>
            </a:r>
            <a:r>
              <a:rPr lang="en-US" sz="1500" i="1" dirty="0">
                <a:solidFill>
                  <a:schemeClr val="accent6"/>
                </a:solidFill>
              </a:rPr>
              <a:t>Heb je </a:t>
            </a:r>
            <a:r>
              <a:rPr lang="en-US" sz="1500" b="1" i="1" dirty="0">
                <a:solidFill>
                  <a:schemeClr val="accent6"/>
                </a:solidFill>
              </a:rPr>
              <a:t>de</a:t>
            </a:r>
            <a:r>
              <a:rPr lang="en-US" sz="1500" i="1" dirty="0">
                <a:solidFill>
                  <a:schemeClr val="accent6"/>
                </a:solidFill>
              </a:rPr>
              <a:t> sleutel? — Ja, ik heb </a:t>
            </a:r>
            <a:r>
              <a:rPr lang="en-US" sz="1500" b="1" i="1" dirty="0">
                <a:solidFill>
                  <a:schemeClr val="accent6"/>
                </a:solidFill>
              </a:rPr>
              <a:t>hem</a:t>
            </a:r>
            <a:r>
              <a:rPr lang="en-US" sz="1500" i="1" dirty="0">
                <a:solidFill>
                  <a:schemeClr val="accent6"/>
                </a:solidFill>
              </a:rPr>
              <a:t>.</a:t>
            </a:r>
            <a:r>
              <a:rPr lang="en-US" sz="1500" dirty="0">
                <a:solidFill>
                  <a:schemeClr val="accent6"/>
                </a:solidFill>
              </a:rPr>
              <a:t> (la) ≠ </a:t>
            </a:r>
            <a:r>
              <a:rPr lang="en-US" sz="1500" i="1" dirty="0">
                <a:solidFill>
                  <a:schemeClr val="accent6"/>
                </a:solidFill>
              </a:rPr>
              <a:t>Heb je </a:t>
            </a:r>
            <a:r>
              <a:rPr lang="en-US" sz="1500" b="1" i="1" dirty="0">
                <a:solidFill>
                  <a:schemeClr val="accent6"/>
                </a:solidFill>
              </a:rPr>
              <a:t>een</a:t>
            </a:r>
            <a:r>
              <a:rPr lang="en-US" sz="1500" i="1" dirty="0">
                <a:solidFill>
                  <a:schemeClr val="accent6"/>
                </a:solidFill>
              </a:rPr>
              <a:t> sleutel? — Ja, ik heb </a:t>
            </a:r>
            <a:r>
              <a:rPr lang="en-US" sz="1500" b="1" i="1" dirty="0">
                <a:solidFill>
                  <a:schemeClr val="accent6"/>
                </a:solidFill>
              </a:rPr>
              <a:t>er</a:t>
            </a:r>
            <a:r>
              <a:rPr lang="en-US" sz="1500" i="1" dirty="0">
                <a:solidFill>
                  <a:schemeClr val="accent6"/>
                </a:solidFill>
              </a:rPr>
              <a:t> één.</a:t>
            </a:r>
            <a:r>
              <a:rPr lang="en-US" sz="1500" dirty="0">
                <a:solidFill>
                  <a:schemeClr val="accent6"/>
                </a:solidFill>
              </a:rPr>
              <a:t> (en)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Er + préposition : Ik denk eraan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660550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EMPLOI 4 / 5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4206240" cy="4114800"/>
          </a:xfrm>
          <a:prstGeom prst="roundRect">
            <a:avLst>
              <a:gd name="adj" fmla="val 2667"/>
            </a:avLst>
          </a:prstGeom>
          <a:solidFill>
            <a:srgbClr val="6E4A9E">
              <a:alpha val="12000"/>
            </a:srgbClr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627632"/>
            <a:ext cx="640080" cy="64008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62763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chemeClr val="bg1"/>
                </a:solidFill>
              </a:rPr>
              <a:t>4</a:t>
            </a:r>
            <a:endParaRPr lang="en-US" sz="1820" dirty="0"/>
          </a:p>
        </p:txBody>
      </p:sp>
      <p:sp>
        <p:nvSpPr>
          <p:cNvPr id="8" name="Text 5"/>
          <p:cNvSpPr txBox="1"/>
          <p:nvPr/>
        </p:nvSpPr>
        <p:spPr>
          <a:xfrm>
            <a:off x="1508760" y="1627632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6E4A9E"/>
                </a:solidFill>
              </a:rPr>
              <a:t>er + préposition</a:t>
            </a:r>
            <a:endParaRPr lang="en-US" sz="1700" dirty="0"/>
          </a:p>
        </p:txBody>
      </p:sp>
      <p:pic>
        <p:nvPicPr>
          <p:cNvPr id="9" name="Image 0" descr="li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20240" y="2468880"/>
            <a:ext cx="1280160" cy="128016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31520" y="388620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i="1" dirty="0">
                <a:solidFill>
                  <a:schemeClr val="tx2"/>
                </a:solidFill>
              </a:rPr>
              <a:t>er</a:t>
            </a:r>
            <a:r>
              <a:rPr lang="en-US" sz="2600" dirty="0">
                <a:solidFill>
                  <a:schemeClr val="tx2"/>
                </a:solidFill>
              </a:rPr>
              <a:t> = </a:t>
            </a:r>
            <a:r>
              <a:rPr lang="en-US" sz="2600" b="1" dirty="0">
                <a:solidFill>
                  <a:schemeClr val="tx2"/>
                </a:solidFill>
              </a:rPr>
              <a:t>y · en (+ prép.)</a:t>
            </a:r>
            <a:endParaRPr lang="en-US" sz="2600" dirty="0"/>
          </a:p>
        </p:txBody>
      </p:sp>
      <p:sp>
        <p:nvSpPr>
          <p:cNvPr id="11" name="Text 7"/>
          <p:cNvSpPr txBox="1"/>
          <p:nvPr/>
        </p:nvSpPr>
        <p:spPr>
          <a:xfrm>
            <a:off x="731520" y="457200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une chose + préposition → </a:t>
            </a:r>
            <a:r>
              <a:rPr lang="en-US" sz="1400" i="1" dirty="0">
                <a:solidFill>
                  <a:schemeClr val="tx2"/>
                </a:solidFill>
              </a:rPr>
              <a:t>er</a:t>
            </a:r>
            <a:r>
              <a:rPr lang="en-US" sz="1400" dirty="0">
                <a:solidFill>
                  <a:schemeClr val="tx2"/>
                </a:solidFill>
              </a:rPr>
              <a:t> + préposition (M23)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4983480" y="1463040"/>
            <a:ext cx="6656832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983480" y="1463040"/>
            <a:ext cx="91440" cy="960120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4" name="Image 1" descr="thinking fa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4648" y="1577340"/>
            <a:ext cx="731520" cy="7315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080760" y="1517904"/>
            <a:ext cx="5468112" cy="556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Denk je aan de vergadering? — Ja, ik denk </a:t>
            </a:r>
            <a:r>
              <a:rPr lang="en-US" sz="1700" b="1" i="1" dirty="0">
                <a:solidFill>
                  <a:srgbClr val="6E4A9E"/>
                </a:solidFill>
              </a:rPr>
              <a:t>er</a:t>
            </a:r>
            <a:r>
              <a:rPr lang="en-US" sz="1700" i="1" dirty="0">
                <a:solidFill>
                  <a:schemeClr val="tx1"/>
                </a:solidFill>
              </a:rPr>
              <a:t>aan.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6080760" y="2039112"/>
            <a:ext cx="5468112" cy="345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oui, j’y pense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4983480" y="2514600"/>
            <a:ext cx="6656832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4983480" y="2514600"/>
            <a:ext cx="91440" cy="960120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9" name="Image 2" descr="speech ballo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4648" y="2628900"/>
            <a:ext cx="731520" cy="73152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080760" y="2569464"/>
            <a:ext cx="5468112" cy="556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Wat vind je </a:t>
            </a:r>
            <a:r>
              <a:rPr lang="en-US" sz="1700" b="1" i="1" dirty="0">
                <a:solidFill>
                  <a:srgbClr val="6E4A9E"/>
                </a:solidFill>
              </a:rPr>
              <a:t>er</a:t>
            </a:r>
            <a:r>
              <a:rPr lang="en-US" sz="1700" i="1" dirty="0">
                <a:solidFill>
                  <a:schemeClr val="tx1"/>
                </a:solidFill>
              </a:rPr>
              <a:t>van?</a:t>
            </a:r>
            <a:endParaRPr lang="en-US" sz="1800" dirty="0"/>
          </a:p>
        </p:txBody>
      </p:sp>
      <p:sp>
        <p:nvSpPr>
          <p:cNvPr id="21" name="Text 15"/>
          <p:cNvSpPr txBox="1"/>
          <p:nvPr/>
        </p:nvSpPr>
        <p:spPr>
          <a:xfrm>
            <a:off x="6080760" y="3090672"/>
            <a:ext cx="5468112" cy="345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qu’en penses-tu ?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4983480" y="3566160"/>
            <a:ext cx="6656832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4983480" y="3566160"/>
            <a:ext cx="91440" cy="960120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4" name="Image 3" descr="face savoring foo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4648" y="3680460"/>
            <a:ext cx="731520" cy="73152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6080760" y="3621024"/>
            <a:ext cx="5468112" cy="556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Uit eten gaan? Ik heb </a:t>
            </a:r>
            <a:r>
              <a:rPr lang="en-US" sz="1700" b="1" i="1" dirty="0">
                <a:solidFill>
                  <a:srgbClr val="6E4A9E"/>
                </a:solidFill>
              </a:rPr>
              <a:t>er</a:t>
            </a:r>
            <a:r>
              <a:rPr lang="en-US" sz="1700" i="1" dirty="0">
                <a:solidFill>
                  <a:schemeClr val="tx1"/>
                </a:solidFill>
              </a:rPr>
              <a:t> echt zin in!</a:t>
            </a:r>
            <a:endParaRPr lang="en-US" sz="1800" dirty="0"/>
          </a:p>
        </p:txBody>
      </p:sp>
      <p:sp>
        <p:nvSpPr>
          <p:cNvPr id="26" name="Text 19"/>
          <p:cNvSpPr txBox="1"/>
          <p:nvPr/>
        </p:nvSpPr>
        <p:spPr>
          <a:xfrm>
            <a:off x="6080760" y="4142232"/>
            <a:ext cx="5468112" cy="345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j’en ai vraiment envie</a:t>
            </a:r>
            <a:endParaRPr lang="en-US" sz="1300" dirty="0"/>
          </a:p>
        </p:txBody>
      </p:sp>
      <p:sp>
        <p:nvSpPr>
          <p:cNvPr id="27" name="Shape 20"/>
          <p:cNvSpPr/>
          <p:nvPr/>
        </p:nvSpPr>
        <p:spPr>
          <a:xfrm>
            <a:off x="4983480" y="4617720"/>
            <a:ext cx="6656832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Shape 21"/>
          <p:cNvSpPr/>
          <p:nvPr/>
        </p:nvSpPr>
        <p:spPr>
          <a:xfrm>
            <a:off x="4983480" y="4617720"/>
            <a:ext cx="91440" cy="960120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9" name="Image 4" descr="calenda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84648" y="4732020"/>
            <a:ext cx="731520" cy="731520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6080760" y="4672584"/>
            <a:ext cx="5468112" cy="556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vakantie? Ik kijk </a:t>
            </a:r>
            <a:r>
              <a:rPr lang="en-US" sz="1700" b="1" i="1" dirty="0">
                <a:solidFill>
                  <a:srgbClr val="6E4A9E"/>
                </a:solidFill>
              </a:rPr>
              <a:t>er</a:t>
            </a:r>
            <a:r>
              <a:rPr lang="en-US" sz="1700" i="1" dirty="0">
                <a:solidFill>
                  <a:schemeClr val="tx1"/>
                </a:solidFill>
              </a:rPr>
              <a:t>naar uit.</a:t>
            </a:r>
            <a:endParaRPr lang="en-US" sz="1800" dirty="0"/>
          </a:p>
        </p:txBody>
      </p:sp>
      <p:sp>
        <p:nvSpPr>
          <p:cNvPr id="31" name="Text 23"/>
          <p:cNvSpPr txBox="1"/>
          <p:nvPr/>
        </p:nvSpPr>
        <p:spPr>
          <a:xfrm>
            <a:off x="6080760" y="5193792"/>
            <a:ext cx="5468112" cy="345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je l’attends avec impatience</a:t>
            </a:r>
            <a:endParaRPr lang="en-US" sz="1300" dirty="0"/>
          </a:p>
        </p:txBody>
      </p:sp>
      <p:sp>
        <p:nvSpPr>
          <p:cNvPr id="32" name="Text 24"/>
          <p:cNvSpPr txBox="1"/>
          <p:nvPr/>
        </p:nvSpPr>
        <p:spPr>
          <a:xfrm>
            <a:off x="548640" y="57607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er</a:t>
            </a:r>
            <a:r>
              <a:rPr lang="en-US" sz="1500" dirty="0">
                <a:solidFill>
                  <a:schemeClr val="accent5"/>
                </a:solidFill>
              </a:rPr>
              <a:t> et la préposition se séparent souvent : </a:t>
            </a:r>
            <a:r>
              <a:rPr lang="en-US" sz="1500" i="1" dirty="0">
                <a:solidFill>
                  <a:schemeClr val="accent5"/>
                </a:solidFill>
              </a:rPr>
              <a:t>Ik heb </a:t>
            </a:r>
            <a:r>
              <a:rPr lang="en-US" sz="1500" b="1" i="1" dirty="0">
                <a:solidFill>
                  <a:schemeClr val="accent5"/>
                </a:solidFill>
              </a:rPr>
              <a:t>er</a:t>
            </a:r>
            <a:r>
              <a:rPr lang="en-US" sz="1500" i="1" dirty="0">
                <a:solidFill>
                  <a:schemeClr val="accent5"/>
                </a:solidFill>
              </a:rPr>
              <a:t> echt zin </a:t>
            </a:r>
            <a:r>
              <a:rPr lang="en-US" sz="1500" b="1" i="1" dirty="0">
                <a:solidFill>
                  <a:schemeClr val="accent5"/>
                </a:solidFill>
              </a:rPr>
              <a:t>in</a:t>
            </a:r>
            <a:r>
              <a:rPr lang="en-US" sz="1500" i="1" dirty="0">
                <a:solidFill>
                  <a:schemeClr val="accent5"/>
                </a:solidFill>
              </a:rPr>
              <a:t>. · Ik denk </a:t>
            </a:r>
            <a:r>
              <a:rPr lang="en-US" sz="1500" b="1" i="1" dirty="0">
                <a:solidFill>
                  <a:schemeClr val="accent5"/>
                </a:solidFill>
              </a:rPr>
              <a:t>er</a:t>
            </a:r>
            <a:r>
              <a:rPr lang="en-US" sz="1500" i="1" dirty="0">
                <a:solidFill>
                  <a:schemeClr val="accent5"/>
                </a:solidFill>
              </a:rPr>
              <a:t> niet </a:t>
            </a:r>
            <a:r>
              <a:rPr lang="en-US" sz="1500" b="1" i="1" dirty="0">
                <a:solidFill>
                  <a:schemeClr val="accent5"/>
                </a:solidFill>
              </a:rPr>
              <a:t>aan</a:t>
            </a:r>
            <a:r>
              <a:rPr lang="en-US" sz="1500" i="1" dirty="0">
                <a:solidFill>
                  <a:schemeClr val="accent5"/>
                </a:solidFill>
              </a:rPr>
              <a:t>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Er wordt… : on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660550" cy="310896"/>
          </a:xfrm>
          <a:prstGeom prst="roundRect">
            <a:avLst>
              <a:gd name="adj" fmla="val 14706"/>
            </a:avLst>
          </a:prstGeom>
          <a:solidFill>
            <a:srgbClr val="0E7C8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EMPLOI 5 / 5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4206240" cy="4114800"/>
          </a:xfrm>
          <a:prstGeom prst="roundRect">
            <a:avLst>
              <a:gd name="adj" fmla="val 2667"/>
            </a:avLst>
          </a:prstGeom>
          <a:solidFill>
            <a:srgbClr val="0E7C86">
              <a:alpha val="12000"/>
            </a:srgbClr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627632"/>
            <a:ext cx="640080" cy="64008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62763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chemeClr val="bg1"/>
                </a:solidFill>
              </a:rPr>
              <a:t>5</a:t>
            </a:r>
            <a:endParaRPr lang="en-US" sz="1820" dirty="0"/>
          </a:p>
        </p:txBody>
      </p:sp>
      <p:sp>
        <p:nvSpPr>
          <p:cNvPr id="8" name="Text 5"/>
          <p:cNvSpPr txBox="1"/>
          <p:nvPr/>
        </p:nvSpPr>
        <p:spPr>
          <a:xfrm>
            <a:off x="1508760" y="1627632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E7C86"/>
                </a:solidFill>
              </a:rPr>
              <a:t>er + passif</a:t>
            </a:r>
            <a:endParaRPr lang="en-US" sz="1700" dirty="0"/>
          </a:p>
        </p:txBody>
      </p:sp>
      <p:pic>
        <p:nvPicPr>
          <p:cNvPr id="9" name="Image 0" descr="ge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20240" y="2468880"/>
            <a:ext cx="1280160" cy="128016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31520" y="388620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i="1" dirty="0">
                <a:solidFill>
                  <a:schemeClr val="tx2"/>
                </a:solidFill>
              </a:rPr>
              <a:t>er</a:t>
            </a:r>
            <a:r>
              <a:rPr lang="en-US" sz="2600" dirty="0">
                <a:solidFill>
                  <a:schemeClr val="tx2"/>
                </a:solidFill>
              </a:rPr>
              <a:t> = </a:t>
            </a:r>
            <a:r>
              <a:rPr lang="en-US" sz="2600" b="1" dirty="0">
                <a:solidFill>
                  <a:schemeClr val="tx2"/>
                </a:solidFill>
              </a:rPr>
              <a:t>on</a:t>
            </a:r>
            <a:endParaRPr lang="en-US" sz="2600" dirty="0"/>
          </a:p>
        </p:txBody>
      </p:sp>
      <p:sp>
        <p:nvSpPr>
          <p:cNvPr id="11" name="Text 7"/>
          <p:cNvSpPr txBox="1"/>
          <p:nvPr/>
        </p:nvSpPr>
        <p:spPr>
          <a:xfrm>
            <a:off x="731520" y="457200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er wordt</a:t>
            </a:r>
            <a:r>
              <a:rPr lang="en-US" sz="1400" dirty="0">
                <a:solidFill>
                  <a:schemeClr val="tx2"/>
                </a:solidFill>
              </a:rPr>
              <a:t> + participe passé, sans sujet : une action sans acteur précis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4983480" y="1463040"/>
            <a:ext cx="6656832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983480" y="1463040"/>
            <a:ext cx="91440" cy="960120"/>
          </a:xfrm>
          <a:prstGeom prst="rect">
            <a:avLst/>
          </a:prstGeom>
          <a:solidFill>
            <a:srgbClr val="0E7C8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4" name="Image 1" descr="bel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4648" y="1577340"/>
            <a:ext cx="731520" cy="7315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080760" y="1517904"/>
            <a:ext cx="5468112" cy="556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rgbClr val="0E7C86"/>
                </a:solidFill>
              </a:rPr>
              <a:t>Er</a:t>
            </a:r>
            <a:r>
              <a:rPr lang="en-US" sz="1800" i="1" dirty="0">
                <a:solidFill>
                  <a:schemeClr val="tx1"/>
                </a:solidFill>
              </a:rPr>
              <a:t> wordt gebeld.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6080760" y="2039112"/>
            <a:ext cx="5468112" cy="345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on sonne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4983480" y="2514600"/>
            <a:ext cx="6656832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4983480" y="2514600"/>
            <a:ext cx="91440" cy="960120"/>
          </a:xfrm>
          <a:prstGeom prst="rect">
            <a:avLst/>
          </a:prstGeom>
          <a:solidFill>
            <a:srgbClr val="0E7C8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9" name="Image 2" descr="no smok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4648" y="2628900"/>
            <a:ext cx="731520" cy="73152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080760" y="2569464"/>
            <a:ext cx="5468112" cy="556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rgbClr val="0E7C86"/>
                </a:solidFill>
              </a:rPr>
              <a:t>Er</a:t>
            </a:r>
            <a:r>
              <a:rPr lang="en-US" sz="1800" i="1" dirty="0">
                <a:solidFill>
                  <a:schemeClr val="tx1"/>
                </a:solidFill>
              </a:rPr>
              <a:t> wordt hier niet gerookt.</a:t>
            </a:r>
            <a:endParaRPr lang="en-US" sz="1800" dirty="0"/>
          </a:p>
        </p:txBody>
      </p:sp>
      <p:sp>
        <p:nvSpPr>
          <p:cNvPr id="21" name="Text 15"/>
          <p:cNvSpPr txBox="1"/>
          <p:nvPr/>
        </p:nvSpPr>
        <p:spPr>
          <a:xfrm>
            <a:off x="6080760" y="3090672"/>
            <a:ext cx="5468112" cy="345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on ne fume pas ici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4983480" y="3566160"/>
            <a:ext cx="6656832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4983480" y="3566160"/>
            <a:ext cx="91440" cy="960120"/>
          </a:xfrm>
          <a:prstGeom prst="rect">
            <a:avLst/>
          </a:prstGeom>
          <a:solidFill>
            <a:srgbClr val="0E7C8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4" name="Image 3" descr="face with tears of jo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4648" y="3680460"/>
            <a:ext cx="731520" cy="73152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6080760" y="3621024"/>
            <a:ext cx="5468112" cy="556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rgbClr val="0E7C86"/>
                </a:solidFill>
              </a:rPr>
              <a:t>Er</a:t>
            </a:r>
            <a:r>
              <a:rPr lang="en-US" sz="1800" i="1" dirty="0">
                <a:solidFill>
                  <a:schemeClr val="tx1"/>
                </a:solidFill>
              </a:rPr>
              <a:t> wordt veel gelachen in ons team.</a:t>
            </a:r>
            <a:endParaRPr lang="en-US" sz="1800" dirty="0"/>
          </a:p>
        </p:txBody>
      </p:sp>
      <p:sp>
        <p:nvSpPr>
          <p:cNvPr id="26" name="Text 19"/>
          <p:cNvSpPr txBox="1"/>
          <p:nvPr/>
        </p:nvSpPr>
        <p:spPr>
          <a:xfrm>
            <a:off x="6080760" y="4142232"/>
            <a:ext cx="5468112" cy="345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on rit beaucoup dans notre équipe</a:t>
            </a:r>
            <a:endParaRPr lang="en-US" sz="1300" dirty="0"/>
          </a:p>
        </p:txBody>
      </p:sp>
      <p:sp>
        <p:nvSpPr>
          <p:cNvPr id="27" name="Shape 20"/>
          <p:cNvSpPr/>
          <p:nvPr/>
        </p:nvSpPr>
        <p:spPr>
          <a:xfrm>
            <a:off x="4983480" y="4617720"/>
            <a:ext cx="6656832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Shape 21"/>
          <p:cNvSpPr/>
          <p:nvPr/>
        </p:nvSpPr>
        <p:spPr>
          <a:xfrm>
            <a:off x="4983480" y="4617720"/>
            <a:ext cx="91440" cy="960120"/>
          </a:xfrm>
          <a:prstGeom prst="rect">
            <a:avLst/>
          </a:prstGeom>
          <a:solidFill>
            <a:srgbClr val="0E7C8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9" name="Image 4" descr="building constructi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84648" y="4732020"/>
            <a:ext cx="731520" cy="731520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6080760" y="4672584"/>
            <a:ext cx="5468112" cy="556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rgbClr val="0E7C86"/>
                </a:solidFill>
              </a:rPr>
              <a:t>Er</a:t>
            </a:r>
            <a:r>
              <a:rPr lang="en-US" sz="1800" i="1" dirty="0">
                <a:solidFill>
                  <a:schemeClr val="tx1"/>
                </a:solidFill>
              </a:rPr>
              <a:t> wordt nog gewerkt aan de lift.</a:t>
            </a:r>
            <a:endParaRPr lang="en-US" sz="1800" dirty="0"/>
          </a:p>
        </p:txBody>
      </p:sp>
      <p:sp>
        <p:nvSpPr>
          <p:cNvPr id="31" name="Text 23"/>
          <p:cNvSpPr txBox="1"/>
          <p:nvPr/>
        </p:nvSpPr>
        <p:spPr>
          <a:xfrm>
            <a:off x="6080760" y="5193792"/>
            <a:ext cx="5468112" cy="345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on travaille encore sur l’ascenseur</a:t>
            </a:r>
            <a:endParaRPr lang="en-US" sz="1300" dirty="0"/>
          </a:p>
        </p:txBody>
      </p:sp>
      <p:sp>
        <p:nvSpPr>
          <p:cNvPr id="32" name="Text 24"/>
          <p:cNvSpPr txBox="1"/>
          <p:nvPr/>
        </p:nvSpPr>
        <p:spPr>
          <a:xfrm>
            <a:off x="548640" y="57607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C’est une forme du </a:t>
            </a:r>
            <a:r>
              <a:rPr lang="en-US" sz="1500" b="1" dirty="0">
                <a:solidFill>
                  <a:schemeClr val="accent5"/>
                </a:solidFill>
              </a:rPr>
              <a:t>passif</a:t>
            </a:r>
            <a:r>
              <a:rPr lang="en-US" sz="1500" dirty="0">
                <a:solidFill>
                  <a:schemeClr val="accent5"/>
                </a:solidFill>
              </a:rPr>
              <a:t> (</a:t>
            </a:r>
            <a:r>
              <a:rPr lang="en-US" sz="1500" i="1" dirty="0">
                <a:solidFill>
                  <a:schemeClr val="accent5"/>
                </a:solidFill>
              </a:rPr>
              <a:t>worden</a:t>
            </a:r>
            <a:r>
              <a:rPr lang="en-US" sz="1500" dirty="0">
                <a:solidFill>
                  <a:schemeClr val="accent5"/>
                </a:solidFill>
              </a:rPr>
              <a:t> + participe) : à reconnaître d’abord, à utiliser dans des formules.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Où placer er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LA PLACE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087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après le verbe conjugué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3931920" y="1508760"/>
            <a:ext cx="606430" cy="640080"/>
          </a:xfrm>
          <a:prstGeom prst="roundRect">
            <a:avLst>
              <a:gd name="adj" fmla="val 1507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931920" y="1508760"/>
            <a:ext cx="60643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620646" y="1508760"/>
            <a:ext cx="1103834" cy="64008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620646" y="1508760"/>
            <a:ext cx="110383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woon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5806776" y="1508760"/>
            <a:ext cx="752354" cy="640080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806776" y="1508760"/>
            <a:ext cx="7523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er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6641426" y="1508760"/>
            <a:ext cx="2332452" cy="640080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641426" y="1508760"/>
            <a:ext cx="23324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al tien jaar.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24963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inversion : après le sujet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931920" y="2496312"/>
            <a:ext cx="1547896" cy="640080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931920" y="2496312"/>
            <a:ext cx="1547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Gisteren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5562112" y="2496312"/>
            <a:ext cx="928094" cy="64008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562112" y="2496312"/>
            <a:ext cx="92809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ben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6572502" y="2496312"/>
            <a:ext cx="606430" cy="640080"/>
          </a:xfrm>
          <a:prstGeom prst="roundRect">
            <a:avLst>
              <a:gd name="adj" fmla="val 1507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572502" y="2496312"/>
            <a:ext cx="60643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21" name="Shape 18"/>
          <p:cNvSpPr/>
          <p:nvPr/>
        </p:nvSpPr>
        <p:spPr>
          <a:xfrm>
            <a:off x="7261228" y="2496312"/>
            <a:ext cx="752354" cy="640080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261228" y="2496312"/>
            <a:ext cx="7523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er</a:t>
            </a:r>
            <a:endParaRPr lang="en-US" sz="2200" dirty="0"/>
          </a:p>
        </p:txBody>
      </p:sp>
      <p:sp>
        <p:nvSpPr>
          <p:cNvPr id="23" name="Shape 20"/>
          <p:cNvSpPr/>
          <p:nvPr/>
        </p:nvSpPr>
        <p:spPr>
          <a:xfrm>
            <a:off x="8095878" y="2496312"/>
            <a:ext cx="1547896" cy="640080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095878" y="2496312"/>
            <a:ext cx="1547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geweest.</a:t>
            </a:r>
            <a:endParaRPr lang="en-US" sz="220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348386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subordonnée : après le sujet</a:t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3931920" y="3483864"/>
            <a:ext cx="1547896" cy="640080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3931920" y="3483864"/>
            <a:ext cx="1547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…, omdat</a:t>
            </a:r>
            <a:endParaRPr lang="en-US" sz="2200" dirty="0"/>
          </a:p>
        </p:txBody>
      </p:sp>
      <p:sp>
        <p:nvSpPr>
          <p:cNvPr id="28" name="Shape 25"/>
          <p:cNvSpPr/>
          <p:nvPr/>
        </p:nvSpPr>
        <p:spPr>
          <a:xfrm>
            <a:off x="5562112" y="3483864"/>
            <a:ext cx="606430" cy="640080"/>
          </a:xfrm>
          <a:prstGeom prst="roundRect">
            <a:avLst>
              <a:gd name="adj" fmla="val 1507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562112" y="3483864"/>
            <a:ext cx="60643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30" name="Shape 27"/>
          <p:cNvSpPr/>
          <p:nvPr/>
        </p:nvSpPr>
        <p:spPr>
          <a:xfrm>
            <a:off x="6250838" y="3483864"/>
            <a:ext cx="752354" cy="640080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250838" y="3483864"/>
            <a:ext cx="7523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er</a:t>
            </a:r>
            <a:endParaRPr lang="en-US" sz="2200" dirty="0"/>
          </a:p>
        </p:txBody>
      </p:sp>
      <p:sp>
        <p:nvSpPr>
          <p:cNvPr id="32" name="Shape 29"/>
          <p:cNvSpPr/>
          <p:nvPr/>
        </p:nvSpPr>
        <p:spPr>
          <a:xfrm>
            <a:off x="7085488" y="3483864"/>
            <a:ext cx="2175540" cy="640080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085488" y="3483864"/>
            <a:ext cx="21755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al tien jaar</a:t>
            </a:r>
            <a:endParaRPr lang="en-US" sz="2200" dirty="0"/>
          </a:p>
        </p:txBody>
      </p:sp>
      <p:sp>
        <p:nvSpPr>
          <p:cNvPr id="34" name="Shape 31"/>
          <p:cNvSpPr/>
          <p:nvPr/>
        </p:nvSpPr>
        <p:spPr>
          <a:xfrm>
            <a:off x="9343325" y="3483864"/>
            <a:ext cx="1279575" cy="64008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9343325" y="3483864"/>
            <a:ext cx="1279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woon.</a:t>
            </a:r>
            <a:endParaRPr lang="en-US" sz="2200" dirty="0"/>
          </a:p>
        </p:txBody>
      </p:sp>
      <p:sp>
        <p:nvSpPr>
          <p:cNvPr id="36" name="Text 33"/>
          <p:cNvSpPr txBox="1"/>
          <p:nvPr/>
        </p:nvSpPr>
        <p:spPr>
          <a:xfrm>
            <a:off x="548640" y="447141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question : après le sujet (ou le verbe)</a:t>
            </a:r>
            <a:endParaRPr lang="en-US" sz="1500" dirty="0"/>
          </a:p>
        </p:txBody>
      </p:sp>
      <p:sp>
        <p:nvSpPr>
          <p:cNvPr id="37" name="Shape 34"/>
          <p:cNvSpPr/>
          <p:nvPr/>
        </p:nvSpPr>
        <p:spPr>
          <a:xfrm>
            <a:off x="3931920" y="4471416"/>
            <a:ext cx="928094" cy="64008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3931920" y="4471416"/>
            <a:ext cx="92809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Ben</a:t>
            </a:r>
            <a:endParaRPr lang="en-US" sz="2200" dirty="0"/>
          </a:p>
        </p:txBody>
      </p:sp>
      <p:sp>
        <p:nvSpPr>
          <p:cNvPr id="39" name="Shape 36"/>
          <p:cNvSpPr/>
          <p:nvPr/>
        </p:nvSpPr>
        <p:spPr>
          <a:xfrm>
            <a:off x="4942310" y="4471416"/>
            <a:ext cx="606430" cy="640080"/>
          </a:xfrm>
          <a:prstGeom prst="roundRect">
            <a:avLst>
              <a:gd name="adj" fmla="val 1507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942310" y="4471416"/>
            <a:ext cx="60643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je</a:t>
            </a:r>
            <a:endParaRPr lang="en-US" sz="2200" dirty="0"/>
          </a:p>
        </p:txBody>
      </p:sp>
      <p:sp>
        <p:nvSpPr>
          <p:cNvPr id="41" name="Shape 38"/>
          <p:cNvSpPr/>
          <p:nvPr/>
        </p:nvSpPr>
        <p:spPr>
          <a:xfrm>
            <a:off x="5631036" y="4471416"/>
            <a:ext cx="752354" cy="640080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631036" y="4471416"/>
            <a:ext cx="7523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er</a:t>
            </a:r>
            <a:endParaRPr lang="en-US" sz="2200" dirty="0"/>
          </a:p>
        </p:txBody>
      </p:sp>
      <p:sp>
        <p:nvSpPr>
          <p:cNvPr id="43" name="Shape 40"/>
          <p:cNvSpPr/>
          <p:nvPr/>
        </p:nvSpPr>
        <p:spPr>
          <a:xfrm>
            <a:off x="6465686" y="4471416"/>
            <a:ext cx="606430" cy="640080"/>
          </a:xfrm>
          <a:prstGeom prst="roundRect">
            <a:avLst>
              <a:gd name="adj" fmla="val 1507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6465686" y="4471416"/>
            <a:ext cx="60643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al</a:t>
            </a:r>
            <a:endParaRPr lang="en-US" sz="2200" dirty="0"/>
          </a:p>
        </p:txBody>
      </p:sp>
      <p:sp>
        <p:nvSpPr>
          <p:cNvPr id="45" name="Shape 42"/>
          <p:cNvSpPr/>
          <p:nvPr/>
        </p:nvSpPr>
        <p:spPr>
          <a:xfrm>
            <a:off x="7154412" y="4471416"/>
            <a:ext cx="1547896" cy="640080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7154412" y="4471416"/>
            <a:ext cx="1547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geweest?</a:t>
            </a:r>
            <a:endParaRPr lang="en-US" sz="2200" dirty="0"/>
          </a:p>
        </p:txBody>
      </p:sp>
      <p:sp>
        <p:nvSpPr>
          <p:cNvPr id="47" name="Shape 44"/>
          <p:cNvSpPr/>
          <p:nvPr/>
        </p:nvSpPr>
        <p:spPr>
          <a:xfrm>
            <a:off x="548640" y="548640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822960" y="548640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bg1"/>
                </a:solidFill>
              </a:rPr>
              <a:t>er</a:t>
            </a:r>
            <a:r>
              <a:rPr lang="en-US" sz="1600" dirty="0">
                <a:solidFill>
                  <a:schemeClr val="bg1"/>
                </a:solidFill>
              </a:rPr>
              <a:t> se place </a:t>
            </a:r>
            <a:r>
              <a:rPr lang="en-US" sz="1600" b="1" dirty="0">
                <a:solidFill>
                  <a:schemeClr val="bg1"/>
                </a:solidFill>
              </a:rPr>
              <a:t>tôt</a:t>
            </a:r>
            <a:r>
              <a:rPr lang="en-US" sz="1600" dirty="0">
                <a:solidFill>
                  <a:schemeClr val="bg1"/>
                </a:solidFill>
              </a:rPr>
              <a:t> dans la phrase : juste après le verbe conjugué, ou après le sujet s’il vient derrière le verbe. Les compléments (</a:t>
            </a:r>
            <a:r>
              <a:rPr lang="en-US" sz="1600" i="1" dirty="0">
                <a:solidFill>
                  <a:schemeClr val="bg1"/>
                </a:solidFill>
              </a:rPr>
              <a:t>al tien jaar, vorig jaar</a:t>
            </a:r>
            <a:r>
              <a:rPr lang="en-US" sz="1600" dirty="0">
                <a:solidFill>
                  <a:schemeClr val="bg1"/>
                </a:solidFill>
              </a:rPr>
              <a:t>) suivent : </a:t>
            </a:r>
            <a:r>
              <a:rPr lang="en-US" sz="1600" i="1" dirty="0">
                <a:solidFill>
                  <a:schemeClr val="bg1"/>
                </a:solidFill>
              </a:rPr>
              <a:t>Ik ben er gisteren geweest.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Er ou daar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660550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ER OU DAAR ?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5408676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31520" y="1554480"/>
            <a:ext cx="50429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er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194560"/>
            <a:ext cx="50429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pas d’accent, jamais en tête (sauf ① et ⑤)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22960" y="2926080"/>
            <a:ext cx="1341059" cy="603504"/>
          </a:xfrm>
          <a:prstGeom prst="roundRect">
            <a:avLst>
              <a:gd name="adj" fmla="val 1515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22960" y="2926080"/>
            <a:ext cx="13410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 woon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2246315" y="2926080"/>
            <a:ext cx="736377" cy="603504"/>
          </a:xfrm>
          <a:prstGeom prst="roundRect">
            <a:avLst>
              <a:gd name="adj" fmla="val 1515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246315" y="2926080"/>
            <a:ext cx="73637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er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3064988" y="2926080"/>
            <a:ext cx="2239731" cy="603504"/>
          </a:xfrm>
          <a:prstGeom prst="roundRect">
            <a:avLst>
              <a:gd name="adj" fmla="val 1515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064988" y="2926080"/>
            <a:ext cx="223973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al tien jaar.</a:t>
            </a:r>
            <a:endParaRPr lang="en-US" sz="2100" dirty="0"/>
          </a:p>
        </p:txBody>
      </p:sp>
      <p:sp>
        <p:nvSpPr>
          <p:cNvPr id="14" name="Shape 11"/>
          <p:cNvSpPr/>
          <p:nvPr/>
        </p:nvSpPr>
        <p:spPr>
          <a:xfrm>
            <a:off x="822960" y="3931920"/>
            <a:ext cx="1341059" cy="603504"/>
          </a:xfrm>
          <a:prstGeom prst="roundRect">
            <a:avLst>
              <a:gd name="adj" fmla="val 1515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22960" y="3931920"/>
            <a:ext cx="13410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 denk</a:t>
            </a:r>
            <a:endParaRPr lang="en-US" sz="2100" dirty="0"/>
          </a:p>
        </p:txBody>
      </p:sp>
      <p:sp>
        <p:nvSpPr>
          <p:cNvPr id="16" name="Shape 13"/>
          <p:cNvSpPr/>
          <p:nvPr/>
        </p:nvSpPr>
        <p:spPr>
          <a:xfrm>
            <a:off x="2246315" y="3931920"/>
            <a:ext cx="736377" cy="603504"/>
          </a:xfrm>
          <a:prstGeom prst="roundRect">
            <a:avLst>
              <a:gd name="adj" fmla="val 1515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246315" y="3931920"/>
            <a:ext cx="73637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er</a:t>
            </a:r>
            <a:endParaRPr lang="en-US" sz="2100" dirty="0"/>
          </a:p>
        </p:txBody>
      </p:sp>
      <p:sp>
        <p:nvSpPr>
          <p:cNvPr id="18" name="Shape 15"/>
          <p:cNvSpPr/>
          <p:nvPr/>
        </p:nvSpPr>
        <p:spPr>
          <a:xfrm>
            <a:off x="3064988" y="3931920"/>
            <a:ext cx="891723" cy="603504"/>
          </a:xfrm>
          <a:prstGeom prst="roundRect">
            <a:avLst>
              <a:gd name="adj" fmla="val 1515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064988" y="3931920"/>
            <a:ext cx="89172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niet</a:t>
            </a:r>
            <a:endParaRPr lang="en-US" sz="2100" dirty="0"/>
          </a:p>
        </p:txBody>
      </p:sp>
      <p:sp>
        <p:nvSpPr>
          <p:cNvPr id="20" name="Shape 17"/>
          <p:cNvSpPr/>
          <p:nvPr/>
        </p:nvSpPr>
        <p:spPr>
          <a:xfrm>
            <a:off x="4039007" y="3931920"/>
            <a:ext cx="891723" cy="603504"/>
          </a:xfrm>
          <a:prstGeom prst="roundRect">
            <a:avLst>
              <a:gd name="adj" fmla="val 1515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039007" y="3931920"/>
            <a:ext cx="89172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aan.</a:t>
            </a:r>
            <a:endParaRPr lang="en-US" sz="2100" dirty="0"/>
          </a:p>
        </p:txBody>
      </p:sp>
      <p:sp>
        <p:nvSpPr>
          <p:cNvPr id="22" name="Shape 19"/>
          <p:cNvSpPr/>
          <p:nvPr/>
        </p:nvSpPr>
        <p:spPr>
          <a:xfrm>
            <a:off x="6231636" y="1463040"/>
            <a:ext cx="5408676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6414516" y="1554480"/>
            <a:ext cx="50429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DAAR</a:t>
            </a:r>
            <a:endParaRPr lang="en-US" sz="3000" dirty="0"/>
          </a:p>
        </p:txBody>
      </p:sp>
      <p:sp>
        <p:nvSpPr>
          <p:cNvPr id="24" name="Text 21"/>
          <p:cNvSpPr txBox="1"/>
          <p:nvPr/>
        </p:nvSpPr>
        <p:spPr>
          <a:xfrm>
            <a:off x="6414516" y="2194560"/>
            <a:ext cx="50429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accentué : on insiste, on montre ; peut commencer la phrase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6505956" y="2926080"/>
            <a:ext cx="1071882" cy="603504"/>
          </a:xfrm>
          <a:prstGeom prst="roundRect">
            <a:avLst>
              <a:gd name="adj" fmla="val 15152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505956" y="2926080"/>
            <a:ext cx="107188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DAAR</a:t>
            </a:r>
            <a:endParaRPr lang="en-US" sz="2100" dirty="0"/>
          </a:p>
        </p:txBody>
      </p:sp>
      <p:sp>
        <p:nvSpPr>
          <p:cNvPr id="27" name="Shape 24"/>
          <p:cNvSpPr/>
          <p:nvPr/>
        </p:nvSpPr>
        <p:spPr>
          <a:xfrm>
            <a:off x="7660134" y="2926080"/>
            <a:ext cx="1071882" cy="603504"/>
          </a:xfrm>
          <a:prstGeom prst="roundRect">
            <a:avLst>
              <a:gd name="adj" fmla="val 1515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660134" y="2926080"/>
            <a:ext cx="107188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woon</a:t>
            </a:r>
            <a:endParaRPr lang="en-US" sz="2100" dirty="0"/>
          </a:p>
        </p:txBody>
      </p:sp>
      <p:sp>
        <p:nvSpPr>
          <p:cNvPr id="29" name="Shape 26"/>
          <p:cNvSpPr/>
          <p:nvPr/>
        </p:nvSpPr>
        <p:spPr>
          <a:xfrm>
            <a:off x="8814311" y="2926080"/>
            <a:ext cx="741944" cy="603504"/>
          </a:xfrm>
          <a:prstGeom prst="roundRect">
            <a:avLst>
              <a:gd name="adj" fmla="val 1515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814311" y="2926080"/>
            <a:ext cx="7419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ik!</a:t>
            </a:r>
            <a:endParaRPr lang="en-US" sz="2100" dirty="0"/>
          </a:p>
        </p:txBody>
      </p:sp>
      <p:sp>
        <p:nvSpPr>
          <p:cNvPr id="31" name="Shape 28"/>
          <p:cNvSpPr/>
          <p:nvPr/>
        </p:nvSpPr>
        <p:spPr>
          <a:xfrm>
            <a:off x="6505956" y="3931920"/>
            <a:ext cx="1071882" cy="603504"/>
          </a:xfrm>
          <a:prstGeom prst="roundRect">
            <a:avLst>
              <a:gd name="adj" fmla="val 15152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505956" y="3931920"/>
            <a:ext cx="107188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DAAR</a:t>
            </a:r>
            <a:endParaRPr lang="en-US" sz="2100" dirty="0"/>
          </a:p>
        </p:txBody>
      </p:sp>
      <p:sp>
        <p:nvSpPr>
          <p:cNvPr id="33" name="Shape 30"/>
          <p:cNvSpPr/>
          <p:nvPr/>
        </p:nvSpPr>
        <p:spPr>
          <a:xfrm>
            <a:off x="7660134" y="3931920"/>
            <a:ext cx="1071882" cy="603504"/>
          </a:xfrm>
          <a:prstGeom prst="roundRect">
            <a:avLst>
              <a:gd name="adj" fmla="val 1515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660134" y="3931920"/>
            <a:ext cx="107188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denk</a:t>
            </a:r>
            <a:endParaRPr lang="en-US" sz="2100" dirty="0"/>
          </a:p>
        </p:txBody>
      </p:sp>
      <p:sp>
        <p:nvSpPr>
          <p:cNvPr id="35" name="Shape 32"/>
          <p:cNvSpPr/>
          <p:nvPr/>
        </p:nvSpPr>
        <p:spPr>
          <a:xfrm>
            <a:off x="8814311" y="3931920"/>
            <a:ext cx="592165" cy="603504"/>
          </a:xfrm>
          <a:prstGeom prst="roundRect">
            <a:avLst>
              <a:gd name="adj" fmla="val 1544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814311" y="3931920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</a:t>
            </a:r>
            <a:endParaRPr lang="en-US" sz="2100" dirty="0"/>
          </a:p>
        </p:txBody>
      </p:sp>
      <p:sp>
        <p:nvSpPr>
          <p:cNvPr id="37" name="Shape 34"/>
          <p:cNvSpPr/>
          <p:nvPr/>
        </p:nvSpPr>
        <p:spPr>
          <a:xfrm>
            <a:off x="9488773" y="3931920"/>
            <a:ext cx="891723" cy="603504"/>
          </a:xfrm>
          <a:prstGeom prst="roundRect">
            <a:avLst>
              <a:gd name="adj" fmla="val 1515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9488773" y="3931920"/>
            <a:ext cx="89172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niet</a:t>
            </a:r>
            <a:endParaRPr lang="en-US" sz="2100" dirty="0"/>
          </a:p>
        </p:txBody>
      </p:sp>
      <p:sp>
        <p:nvSpPr>
          <p:cNvPr id="39" name="Shape 36"/>
          <p:cNvSpPr/>
          <p:nvPr/>
        </p:nvSpPr>
        <p:spPr>
          <a:xfrm>
            <a:off x="10462792" y="3931920"/>
            <a:ext cx="891723" cy="603504"/>
          </a:xfrm>
          <a:prstGeom prst="roundRect">
            <a:avLst>
              <a:gd name="adj" fmla="val 1515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0462792" y="3931920"/>
            <a:ext cx="89172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aan!</a:t>
            </a:r>
            <a:endParaRPr lang="en-US" sz="2100" dirty="0"/>
          </a:p>
        </p:txBody>
      </p:sp>
      <p:pic>
        <p:nvPicPr>
          <p:cNvPr id="41" name="Image 0" descr="backhand index pointing 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80192" y="1554480"/>
            <a:ext cx="731520" cy="731520"/>
          </a:xfrm>
          <a:prstGeom prst="rect">
            <a:avLst/>
          </a:prstGeom>
        </p:spPr>
      </p:pic>
      <p:sp>
        <p:nvSpPr>
          <p:cNvPr id="42" name="Shape 38"/>
          <p:cNvSpPr/>
          <p:nvPr/>
        </p:nvSpPr>
        <p:spPr>
          <a:xfrm>
            <a:off x="548640" y="5577840"/>
            <a:ext cx="11091672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822960" y="557784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En français aussi : </a:t>
            </a:r>
            <a:r>
              <a:rPr lang="en-US" sz="1600" i="1" dirty="0">
                <a:solidFill>
                  <a:schemeClr val="bg1"/>
                </a:solidFill>
              </a:rPr>
              <a:t>j’</a:t>
            </a:r>
            <a:r>
              <a:rPr lang="en-US" sz="1600" b="1" i="1" dirty="0">
                <a:solidFill>
                  <a:schemeClr val="bg1"/>
                </a:solidFill>
              </a:rPr>
              <a:t>y</a:t>
            </a:r>
            <a:r>
              <a:rPr lang="en-US" sz="1600" i="1" dirty="0">
                <a:solidFill>
                  <a:schemeClr val="bg1"/>
                </a:solidFill>
              </a:rPr>
              <a:t> habite</a:t>
            </a:r>
            <a:r>
              <a:rPr lang="en-US" sz="1600" dirty="0">
                <a:solidFill>
                  <a:schemeClr val="bg1"/>
                </a:solidFill>
              </a:rPr>
              <a:t> (neutre) ≠ </a:t>
            </a:r>
            <a:r>
              <a:rPr lang="en-US" sz="1600" i="1" dirty="0">
                <a:solidFill>
                  <a:schemeClr val="bg1"/>
                </a:solidFill>
              </a:rPr>
              <a:t>c’est </a:t>
            </a:r>
            <a:r>
              <a:rPr lang="en-US" sz="1600" b="1" i="1" dirty="0">
                <a:solidFill>
                  <a:schemeClr val="bg1"/>
                </a:solidFill>
              </a:rPr>
              <a:t>là</a:t>
            </a:r>
            <a:r>
              <a:rPr lang="en-US" sz="1600" i="1" dirty="0">
                <a:solidFill>
                  <a:schemeClr val="bg1"/>
                </a:solidFill>
              </a:rPr>
              <a:t> que j’habite !</a:t>
            </a:r>
            <a:r>
              <a:rPr lang="en-US" sz="1600" dirty="0">
                <a:solidFill>
                  <a:schemeClr val="bg1"/>
                </a:solidFill>
              </a:rPr>
              <a:t> (on insiste).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Deux er dans une phrase : Er zijn er drie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689458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B1+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630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2"/>
                </a:solidFill>
              </a:rPr>
              <a:t>Hoeveel vergaderzalen zijn er?</a:t>
            </a:r>
            <a:r>
              <a:rPr lang="en-US" sz="1700" dirty="0">
                <a:solidFill>
                  <a:schemeClr val="tx2"/>
                </a:solidFill>
              </a:rPr>
              <a:t> — combien de salles de réunion y a-t-il ?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548640" y="2331720"/>
            <a:ext cx="502920" cy="110642"/>
          </a:xfrm>
          <a:prstGeom prst="rect">
            <a:avLst/>
          </a:prstGeom>
          <a:solidFill>
            <a:srgbClr val="B320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48640" y="2442362"/>
            <a:ext cx="502920" cy="11064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48640" y="2553005"/>
            <a:ext cx="502920" cy="110642"/>
          </a:xfrm>
          <a:prstGeom prst="rect">
            <a:avLst/>
          </a:prstGeom>
          <a:solidFill>
            <a:srgbClr val="22408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8640" y="2331720"/>
            <a:ext cx="502920" cy="33192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234440" y="2194560"/>
            <a:ext cx="880165" cy="822960"/>
          </a:xfrm>
          <a:prstGeom prst="roundRect">
            <a:avLst>
              <a:gd name="adj" fmla="val 1111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234440" y="2194560"/>
            <a:ext cx="88016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Er</a:t>
            </a:r>
            <a:endParaRPr lang="en-US" sz="3000" dirty="0"/>
          </a:p>
        </p:txBody>
      </p:sp>
      <p:sp>
        <p:nvSpPr>
          <p:cNvPr id="12" name="Shape 9"/>
          <p:cNvSpPr/>
          <p:nvPr/>
        </p:nvSpPr>
        <p:spPr>
          <a:xfrm>
            <a:off x="2196901" y="2194560"/>
            <a:ext cx="1359457" cy="822960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196901" y="2194560"/>
            <a:ext cx="135945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zijn</a:t>
            </a:r>
            <a:endParaRPr lang="en-US" sz="3000" dirty="0"/>
          </a:p>
        </p:txBody>
      </p:sp>
      <p:sp>
        <p:nvSpPr>
          <p:cNvPr id="14" name="Shape 11"/>
          <p:cNvSpPr/>
          <p:nvPr/>
        </p:nvSpPr>
        <p:spPr>
          <a:xfrm>
            <a:off x="3638654" y="2194560"/>
            <a:ext cx="880165" cy="822960"/>
          </a:xfrm>
          <a:prstGeom prst="roundRect">
            <a:avLst>
              <a:gd name="adj" fmla="val 1111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638654" y="2194560"/>
            <a:ext cx="88016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er</a:t>
            </a:r>
            <a:endParaRPr lang="en-US" sz="3000" dirty="0"/>
          </a:p>
        </p:txBody>
      </p:sp>
      <p:sp>
        <p:nvSpPr>
          <p:cNvPr id="16" name="Shape 13"/>
          <p:cNvSpPr/>
          <p:nvPr/>
        </p:nvSpPr>
        <p:spPr>
          <a:xfrm>
            <a:off x="4601114" y="2194560"/>
            <a:ext cx="1362456" cy="822960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601114" y="2194560"/>
            <a:ext cx="1362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</a:rPr>
              <a:t>drie.</a:t>
            </a:r>
            <a:endParaRPr lang="en-US" sz="3000" dirty="0"/>
          </a:p>
        </p:txBody>
      </p:sp>
      <p:sp>
        <p:nvSpPr>
          <p:cNvPr id="18" name="Shape 15"/>
          <p:cNvSpPr/>
          <p:nvPr/>
        </p:nvSpPr>
        <p:spPr>
          <a:xfrm>
            <a:off x="548640" y="4114800"/>
            <a:ext cx="167640" cy="33192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16280" y="4114800"/>
            <a:ext cx="167640" cy="33192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83920" y="4114800"/>
            <a:ext cx="167640" cy="33192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48640" y="4114800"/>
            <a:ext cx="502920" cy="33192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234440" y="3977640"/>
            <a:ext cx="720547" cy="822960"/>
          </a:xfrm>
          <a:prstGeom prst="roundRect">
            <a:avLst>
              <a:gd name="adj" fmla="val 1269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1234440" y="3977640"/>
            <a:ext cx="72054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</a:rPr>
              <a:t>Il</a:t>
            </a:r>
            <a:endParaRPr lang="en-US" sz="3000" dirty="0"/>
          </a:p>
        </p:txBody>
      </p:sp>
      <p:sp>
        <p:nvSpPr>
          <p:cNvPr id="24" name="Shape 21"/>
          <p:cNvSpPr/>
          <p:nvPr/>
        </p:nvSpPr>
        <p:spPr>
          <a:xfrm>
            <a:off x="2037283" y="3977640"/>
            <a:ext cx="640519" cy="822960"/>
          </a:xfrm>
          <a:prstGeom prst="roundRect">
            <a:avLst>
              <a:gd name="adj" fmla="val 14276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037283" y="3977640"/>
            <a:ext cx="64051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y</a:t>
            </a:r>
            <a:endParaRPr lang="en-US" sz="3000" dirty="0"/>
          </a:p>
        </p:txBody>
      </p:sp>
      <p:sp>
        <p:nvSpPr>
          <p:cNvPr id="26" name="Shape 23"/>
          <p:cNvSpPr/>
          <p:nvPr/>
        </p:nvSpPr>
        <p:spPr>
          <a:xfrm>
            <a:off x="2760098" y="3977640"/>
            <a:ext cx="880165" cy="822960"/>
          </a:xfrm>
          <a:prstGeom prst="roundRect">
            <a:avLst>
              <a:gd name="adj" fmla="val 1111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760098" y="3977640"/>
            <a:ext cx="88016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en</a:t>
            </a:r>
            <a:endParaRPr lang="en-US" sz="3000" dirty="0"/>
          </a:p>
        </p:txBody>
      </p:sp>
      <p:sp>
        <p:nvSpPr>
          <p:cNvPr id="28" name="Shape 25"/>
          <p:cNvSpPr/>
          <p:nvPr/>
        </p:nvSpPr>
        <p:spPr>
          <a:xfrm>
            <a:off x="3722559" y="3977640"/>
            <a:ext cx="640519" cy="822960"/>
          </a:xfrm>
          <a:prstGeom prst="roundRect">
            <a:avLst>
              <a:gd name="adj" fmla="val 1427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722559" y="3977640"/>
            <a:ext cx="64051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a</a:t>
            </a:r>
            <a:endParaRPr lang="en-US" sz="3000" dirty="0"/>
          </a:p>
        </p:txBody>
      </p:sp>
      <p:sp>
        <p:nvSpPr>
          <p:cNvPr id="30" name="Shape 27"/>
          <p:cNvSpPr/>
          <p:nvPr/>
        </p:nvSpPr>
        <p:spPr>
          <a:xfrm>
            <a:off x="4445374" y="3977640"/>
            <a:ext cx="1576426" cy="822960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4445374" y="3977640"/>
            <a:ext cx="157642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</a:rPr>
              <a:t>trois.</a:t>
            </a:r>
            <a:endParaRPr lang="en-US" sz="3000" dirty="0"/>
          </a:p>
        </p:txBody>
      </p:sp>
      <p:sp>
        <p:nvSpPr>
          <p:cNvPr id="32" name="Shape 29"/>
          <p:cNvSpPr/>
          <p:nvPr/>
        </p:nvSpPr>
        <p:spPr>
          <a:xfrm>
            <a:off x="1674522" y="3063240"/>
            <a:ext cx="683020" cy="868680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H="1">
            <a:off x="3200181" y="3063240"/>
            <a:ext cx="878556" cy="868680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949440" y="2103120"/>
            <a:ext cx="4690872" cy="27432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132320" y="2194560"/>
            <a:ext cx="43891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① </a:t>
            </a:r>
            <a:r>
              <a:rPr lang="en-US" sz="1600" b="1" i="1" dirty="0">
                <a:solidFill>
                  <a:schemeClr val="tx1"/>
                </a:solidFill>
              </a:rPr>
              <a:t>Er</a:t>
            </a:r>
            <a:r>
              <a:rPr lang="en-US" sz="1600" b="1" dirty="0">
                <a:solidFill>
                  <a:schemeClr val="tx1"/>
                </a:solidFill>
              </a:rPr>
              <a:t> zijn…</a:t>
            </a:r>
            <a:r>
              <a:rPr lang="en-US" sz="1600" dirty="0">
                <a:solidFill>
                  <a:schemeClr val="tx1"/>
                </a:solidFill>
              </a:rPr>
              <a:t> = il y a</a:t>
            </a:r>
            <a:endParaRPr lang="en-US" sz="16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③ …</a:t>
            </a:r>
            <a:r>
              <a:rPr lang="en-US" sz="1600" b="1" i="1" dirty="0">
                <a:solidFill>
                  <a:schemeClr val="tx1"/>
                </a:solidFill>
              </a:rPr>
              <a:t>er</a:t>
            </a:r>
            <a:r>
              <a:rPr lang="en-US" sz="1600" b="1" dirty="0">
                <a:solidFill>
                  <a:schemeClr val="tx1"/>
                </a:solidFill>
              </a:rPr>
              <a:t> drie</a:t>
            </a:r>
            <a:r>
              <a:rPr lang="en-US" sz="1600" dirty="0">
                <a:solidFill>
                  <a:schemeClr val="tx1"/>
                </a:solidFill>
              </a:rPr>
              <a:t> = en … trois</a:t>
            </a:r>
            <a:endParaRPr lang="en-US" sz="1600" dirty="0"/>
          </a:p>
          <a:p>
            <a:pPr algn="l" indent="0" marL="0">
              <a:spcAft>
                <a:spcPts val="400"/>
              </a:spcAft>
              <a:buNone/>
            </a:pPr>
            <a:endParaRPr lang="en-US" sz="16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Is er een lift? — Ja, er is er één.</a:t>
            </a:r>
            <a:endParaRPr lang="en-US" sz="16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Zijn er nog stoelen? — Nee, er zijn er geen meer.</a:t>
            </a:r>
            <a:endParaRPr lang="en-US" sz="1600" dirty="0"/>
          </a:p>
        </p:txBody>
      </p:sp>
      <p:sp>
        <p:nvSpPr>
          <p:cNvPr id="36" name="Shape 33"/>
          <p:cNvSpPr/>
          <p:nvPr/>
        </p:nvSpPr>
        <p:spPr>
          <a:xfrm>
            <a:off x="548640" y="525780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822960" y="52578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Le français a deux petits mots (</a:t>
            </a:r>
            <a:r>
              <a:rPr lang="en-US" sz="1700" i="1" dirty="0">
                <a:solidFill>
                  <a:schemeClr val="bg1"/>
                </a:solidFill>
              </a:rPr>
              <a:t>y</a:t>
            </a:r>
            <a:r>
              <a:rPr lang="en-US" sz="1700" dirty="0">
                <a:solidFill>
                  <a:schemeClr val="bg1"/>
                </a:solidFill>
              </a:rPr>
              <a:t> + </a:t>
            </a:r>
            <a:r>
              <a:rPr lang="en-US" sz="1700" i="1" dirty="0">
                <a:solidFill>
                  <a:schemeClr val="bg1"/>
                </a:solidFill>
              </a:rPr>
              <a:t>en</a:t>
            </a:r>
            <a:r>
              <a:rPr lang="en-US" sz="1700" dirty="0">
                <a:solidFill>
                  <a:schemeClr val="bg1"/>
                </a:solidFill>
              </a:rPr>
              <a:t>) ; le néerlandais en a deux aussi : </a:t>
            </a:r>
            <a:r>
              <a:rPr lang="en-US" sz="1700" i="1" dirty="0">
                <a:solidFill>
                  <a:schemeClr val="bg1"/>
                </a:solidFill>
              </a:rPr>
              <a:t>er</a:t>
            </a:r>
            <a:r>
              <a:rPr lang="en-US" sz="1700" dirty="0">
                <a:solidFill>
                  <a:schemeClr val="bg1"/>
                </a:solidFill>
              </a:rPr>
              <a:t> + </a:t>
            </a:r>
            <a:r>
              <a:rPr lang="en-US" sz="1700" i="1" dirty="0">
                <a:solidFill>
                  <a:schemeClr val="bg1"/>
                </a:solidFill>
              </a:rPr>
              <a:t>er</a:t>
            </a:r>
            <a:r>
              <a:rPr lang="en-US" sz="1700" dirty="0">
                <a:solidFill>
                  <a:schemeClr val="bg1"/>
                </a:solidFill>
              </a:rPr>
              <a:t> !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Quel er ? L’aiguillage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30782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MÉTHODE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548640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31520" y="1463040"/>
            <a:ext cx="5212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1.</a:t>
            </a:r>
            <a:r>
              <a:rPr lang="en-US" sz="1600" dirty="0">
                <a:solidFill>
                  <a:schemeClr val="tx1"/>
                </a:solidFill>
              </a:rPr>
              <a:t>  Un nombre ou une quantité </a:t>
            </a:r>
            <a:r>
              <a:rPr lang="en-US" sz="1600" b="1" dirty="0">
                <a:solidFill>
                  <a:schemeClr val="tx1"/>
                </a:solidFill>
              </a:rPr>
              <a:t>seul·e</a:t>
            </a:r>
            <a:r>
              <a:rPr lang="en-US" sz="1600" dirty="0">
                <a:solidFill>
                  <a:schemeClr val="tx1"/>
                </a:solidFill>
              </a:rPr>
              <a:t>, sans nom après ?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080760" y="1463040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oui →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949440" y="1563624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949440" y="1563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chemeClr val="bg1"/>
                </a:solidFill>
              </a:rPr>
              <a:t>3</a:t>
            </a:r>
            <a:endParaRPr lang="en-US" sz="1560" dirty="0"/>
          </a:p>
        </p:txBody>
      </p:sp>
      <p:sp>
        <p:nvSpPr>
          <p:cNvPr id="10" name="Text 7"/>
          <p:cNvSpPr txBox="1"/>
          <p:nvPr/>
        </p:nvSpPr>
        <p:spPr>
          <a:xfrm>
            <a:off x="7589520" y="1463040"/>
            <a:ext cx="1554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en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9144000" y="1463040"/>
            <a:ext cx="24963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Ik heb er </a:t>
            </a:r>
            <a:r>
              <a:rPr lang="en-US" sz="1400" b="1" i="1" dirty="0">
                <a:solidFill>
                  <a:schemeClr val="tx1"/>
                </a:solidFill>
              </a:rPr>
              <a:t>twee</a:t>
            </a:r>
            <a:r>
              <a:rPr lang="en-US" sz="1400" i="1" dirty="0">
                <a:solidFill>
                  <a:schemeClr val="tx1"/>
                </a:solidFill>
              </a:rPr>
              <a:t>.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219456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non ↓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48640" y="2359152"/>
            <a:ext cx="548640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731520" y="2359152"/>
            <a:ext cx="5212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2.</a:t>
            </a:r>
            <a:r>
              <a:rPr lang="en-US" sz="1600" dirty="0">
                <a:solidFill>
                  <a:schemeClr val="tx1"/>
                </a:solidFill>
              </a:rPr>
              <a:t>  Une préposition collée ou au bout (sauf </a:t>
            </a:r>
            <a:r>
              <a:rPr lang="en-US" sz="1600" i="1" dirty="0">
                <a:solidFill>
                  <a:schemeClr val="tx1"/>
                </a:solidFill>
              </a:rPr>
              <a:t>naartoe</a:t>
            </a:r>
            <a:r>
              <a:rPr lang="en-US" sz="1600" dirty="0">
                <a:solidFill>
                  <a:schemeClr val="tx1"/>
                </a:solidFill>
              </a:rPr>
              <a:t> → lieu) ?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6080760" y="2359152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oui →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6949440" y="2459736"/>
            <a:ext cx="548640" cy="54864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949440" y="245973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chemeClr val="bg1"/>
                </a:solidFill>
              </a:rPr>
              <a:t>4</a:t>
            </a:r>
            <a:endParaRPr lang="en-US" sz="1560" dirty="0"/>
          </a:p>
        </p:txBody>
      </p:sp>
      <p:sp>
        <p:nvSpPr>
          <p:cNvPr id="18" name="Text 15"/>
          <p:cNvSpPr txBox="1"/>
          <p:nvPr/>
        </p:nvSpPr>
        <p:spPr>
          <a:xfrm>
            <a:off x="7589520" y="2359152"/>
            <a:ext cx="1554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E4A9E"/>
                </a:solidFill>
              </a:rPr>
              <a:t>y · en (+ prép.)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9144000" y="2359152"/>
            <a:ext cx="24963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Ik denk er</a:t>
            </a:r>
            <a:r>
              <a:rPr lang="en-US" sz="1400" b="1" i="1" dirty="0">
                <a:solidFill>
                  <a:schemeClr val="tx1"/>
                </a:solidFill>
              </a:rPr>
              <a:t>aan</a:t>
            </a:r>
            <a:r>
              <a:rPr lang="en-US" sz="1400" i="1" dirty="0">
                <a:solidFill>
                  <a:schemeClr val="tx1"/>
                </a:solidFill>
              </a:rPr>
              <a:t>. · Ik heb er zin </a:t>
            </a:r>
            <a:r>
              <a:rPr lang="en-US" sz="1400" b="1" i="1" dirty="0">
                <a:solidFill>
                  <a:schemeClr val="tx1"/>
                </a:solidFill>
              </a:rPr>
              <a:t>in</a:t>
            </a:r>
            <a:r>
              <a:rPr lang="en-US" sz="1400" i="1" dirty="0">
                <a:solidFill>
                  <a:schemeClr val="tx1"/>
                </a:solidFill>
              </a:rPr>
              <a:t>.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309067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non ↓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548640" y="3255264"/>
            <a:ext cx="548640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731520" y="3255264"/>
            <a:ext cx="5212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3.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er wordt</a:t>
            </a:r>
            <a:r>
              <a:rPr lang="en-US" sz="1600" dirty="0">
                <a:solidFill>
                  <a:schemeClr val="tx1"/>
                </a:solidFill>
              </a:rPr>
              <a:t> + participe ?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6080760" y="3255264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oui →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6949440" y="3355848"/>
            <a:ext cx="548640" cy="54864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949440" y="33558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chemeClr val="bg1"/>
                </a:solidFill>
              </a:rPr>
              <a:t>5</a:t>
            </a:r>
            <a:endParaRPr lang="en-US" sz="1560" dirty="0"/>
          </a:p>
        </p:txBody>
      </p:sp>
      <p:sp>
        <p:nvSpPr>
          <p:cNvPr id="26" name="Text 23"/>
          <p:cNvSpPr txBox="1"/>
          <p:nvPr/>
        </p:nvSpPr>
        <p:spPr>
          <a:xfrm>
            <a:off x="7589520" y="3255264"/>
            <a:ext cx="1554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E7C86"/>
                </a:solidFill>
              </a:rPr>
              <a:t>on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9144000" y="3255264"/>
            <a:ext cx="24963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Er </a:t>
            </a:r>
            <a:r>
              <a:rPr lang="en-US" sz="1400" b="1" i="1" dirty="0">
                <a:solidFill>
                  <a:schemeClr val="tx1"/>
                </a:solidFill>
              </a:rPr>
              <a:t>wordt</a:t>
            </a:r>
            <a:r>
              <a:rPr lang="en-US" sz="1400" i="1" dirty="0">
                <a:solidFill>
                  <a:schemeClr val="tx1"/>
                </a:solidFill>
              </a:rPr>
              <a:t> gebeld.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3986784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non ↓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548640" y="4151376"/>
            <a:ext cx="548640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731520" y="4151376"/>
            <a:ext cx="5212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4.</a:t>
            </a:r>
            <a:r>
              <a:rPr lang="en-US" sz="1600" dirty="0">
                <a:solidFill>
                  <a:schemeClr val="tx1"/>
                </a:solidFill>
              </a:rPr>
              <a:t>  Un sujet indéfini (</a:t>
            </a:r>
            <a:r>
              <a:rPr lang="en-US" sz="1600" i="1" dirty="0">
                <a:solidFill>
                  <a:schemeClr val="tx1"/>
                </a:solidFill>
              </a:rPr>
              <a:t>een, geen, veel…</a:t>
            </a:r>
            <a:r>
              <a:rPr lang="en-US" sz="1600" dirty="0">
                <a:solidFill>
                  <a:schemeClr val="tx1"/>
                </a:solidFill>
              </a:rPr>
              <a:t>) ?</a:t>
            </a:r>
            <a:endParaRPr lang="en-US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6080760" y="4151376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oui →</a:t>
            </a:r>
            <a:endParaRPr lang="en-US" sz="1500" dirty="0"/>
          </a:p>
        </p:txBody>
      </p:sp>
      <p:sp>
        <p:nvSpPr>
          <p:cNvPr id="32" name="Shape 29"/>
          <p:cNvSpPr/>
          <p:nvPr/>
        </p:nvSpPr>
        <p:spPr>
          <a:xfrm>
            <a:off x="6949440" y="425196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949440" y="4251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chemeClr val="bg1"/>
                </a:solidFill>
              </a:rPr>
              <a:t>1</a:t>
            </a:r>
            <a:endParaRPr lang="en-US" sz="1560" dirty="0"/>
          </a:p>
        </p:txBody>
      </p:sp>
      <p:sp>
        <p:nvSpPr>
          <p:cNvPr id="34" name="Text 31"/>
          <p:cNvSpPr txBox="1"/>
          <p:nvPr/>
        </p:nvSpPr>
        <p:spPr>
          <a:xfrm>
            <a:off x="7589520" y="4151376"/>
            <a:ext cx="1554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il y a</a:t>
            </a:r>
            <a:endParaRPr lang="en-US" sz="1600" dirty="0"/>
          </a:p>
        </p:txBody>
      </p:sp>
      <p:sp>
        <p:nvSpPr>
          <p:cNvPr id="35" name="Text 32"/>
          <p:cNvSpPr txBox="1"/>
          <p:nvPr/>
        </p:nvSpPr>
        <p:spPr>
          <a:xfrm>
            <a:off x="9144000" y="4151376"/>
            <a:ext cx="24963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Er is </a:t>
            </a:r>
            <a:r>
              <a:rPr lang="en-US" sz="1400" b="1" i="1" dirty="0">
                <a:solidFill>
                  <a:schemeClr val="tx1"/>
                </a:solidFill>
              </a:rPr>
              <a:t>een</a:t>
            </a:r>
            <a:r>
              <a:rPr lang="en-US" sz="1400" i="1" dirty="0">
                <a:solidFill>
                  <a:schemeClr val="tx1"/>
                </a:solidFill>
              </a:rPr>
              <a:t> probleem.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548640" y="488289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non ↓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548640" y="5047488"/>
            <a:ext cx="548640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8" name="Text 35"/>
          <p:cNvSpPr txBox="1"/>
          <p:nvPr/>
        </p:nvSpPr>
        <p:spPr>
          <a:xfrm>
            <a:off x="731520" y="5047488"/>
            <a:ext cx="5212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5.</a:t>
            </a:r>
            <a:r>
              <a:rPr lang="en-US" sz="1600" dirty="0">
                <a:solidFill>
                  <a:schemeClr val="tx1"/>
                </a:solidFill>
              </a:rPr>
              <a:t>  Il remplace un lieu ?</a:t>
            </a:r>
            <a:endParaRPr lang="en-US" sz="1600" dirty="0"/>
          </a:p>
        </p:txBody>
      </p:sp>
      <p:sp>
        <p:nvSpPr>
          <p:cNvPr id="39" name="Text 36"/>
          <p:cNvSpPr txBox="1"/>
          <p:nvPr/>
        </p:nvSpPr>
        <p:spPr>
          <a:xfrm>
            <a:off x="6080760" y="5047488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oui →</a:t>
            </a:r>
            <a:endParaRPr lang="en-US" sz="1500" dirty="0"/>
          </a:p>
        </p:txBody>
      </p:sp>
      <p:sp>
        <p:nvSpPr>
          <p:cNvPr id="40" name="Shape 37"/>
          <p:cNvSpPr/>
          <p:nvPr/>
        </p:nvSpPr>
        <p:spPr>
          <a:xfrm>
            <a:off x="6949440" y="5148072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6949440" y="51480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chemeClr val="bg1"/>
                </a:solidFill>
              </a:rPr>
              <a:t>2</a:t>
            </a:r>
            <a:endParaRPr lang="en-US" sz="1560" dirty="0"/>
          </a:p>
        </p:txBody>
      </p:sp>
      <p:sp>
        <p:nvSpPr>
          <p:cNvPr id="42" name="Text 39"/>
          <p:cNvSpPr txBox="1"/>
          <p:nvPr/>
        </p:nvSpPr>
        <p:spPr>
          <a:xfrm>
            <a:off x="7589520" y="5047488"/>
            <a:ext cx="1554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y · là</a:t>
            </a:r>
            <a:endParaRPr lang="en-US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9144000" y="5047488"/>
            <a:ext cx="24963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Brussel? Ik woon </a:t>
            </a:r>
            <a:r>
              <a:rPr lang="en-US" sz="1400" b="1" i="1" dirty="0">
                <a:solidFill>
                  <a:schemeClr val="tx1"/>
                </a:solidFill>
              </a:rPr>
              <a:t>er</a:t>
            </a:r>
            <a:r>
              <a:rPr lang="en-US" sz="1400" i="1" dirty="0">
                <a:solidFill>
                  <a:schemeClr val="tx1"/>
                </a:solidFill>
              </a:rPr>
              <a:t>.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548640" y="598932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Posez les questions dans cet ordre : la première réponse « oui » donne l’emploi.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les cinq emplois de er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2086661" cy="3108960"/>
          </a:xfrm>
          <a:prstGeom prst="roundRect">
            <a:avLst>
              <a:gd name="adj" fmla="val 5259"/>
            </a:avLst>
          </a:prstGeom>
          <a:solidFill>
            <a:srgbClr val="FFFFFF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317650" y="1572768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317650" y="15727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chemeClr val="bg1"/>
                </a:solidFill>
              </a:rPr>
              <a:t>1</a:t>
            </a:r>
            <a:endParaRPr lang="en-US" sz="156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2194560"/>
            <a:ext cx="199522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il y a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2697480"/>
            <a:ext cx="190378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er + verbe + sujet indéfini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3383280"/>
            <a:ext cx="1903781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2A6FB0"/>
                </a:solidFill>
              </a:rPr>
              <a:t>Er</a:t>
            </a:r>
            <a:r>
              <a:rPr lang="en-US" sz="1500" i="1" dirty="0">
                <a:solidFill>
                  <a:schemeClr val="tx1"/>
                </a:solidFill>
              </a:rPr>
              <a:t> is een probleem.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2799893" y="1463040"/>
            <a:ext cx="2086661" cy="3108960"/>
          </a:xfrm>
          <a:prstGeom prst="roundRect">
            <a:avLst>
              <a:gd name="adj" fmla="val 5259"/>
            </a:avLst>
          </a:prstGeom>
          <a:solidFill>
            <a:srgbClr val="FFFFFF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68903" y="1572768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568903" y="15727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chemeClr val="bg1"/>
                </a:solidFill>
              </a:rPr>
              <a:t>2</a:t>
            </a:r>
            <a:endParaRPr lang="en-US" sz="1560" dirty="0"/>
          </a:p>
        </p:txBody>
      </p:sp>
      <p:sp>
        <p:nvSpPr>
          <p:cNvPr id="14" name="Text 11"/>
          <p:cNvSpPr txBox="1"/>
          <p:nvPr/>
        </p:nvSpPr>
        <p:spPr>
          <a:xfrm>
            <a:off x="2845613" y="2194560"/>
            <a:ext cx="199522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y · là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2891333" y="2697480"/>
            <a:ext cx="190378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remplace un lieu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2891333" y="3383280"/>
            <a:ext cx="1903781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woon </a:t>
            </a:r>
            <a:r>
              <a:rPr lang="en-US" sz="1500" b="1" i="1" dirty="0">
                <a:solidFill>
                  <a:srgbClr val="2E7D4F"/>
                </a:solidFill>
              </a:rPr>
              <a:t>er</a:t>
            </a:r>
            <a:r>
              <a:rPr lang="en-US" sz="1500" i="1" dirty="0">
                <a:solidFill>
                  <a:schemeClr val="tx1"/>
                </a:solidFill>
              </a:rPr>
              <a:t> al tien jaar.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051146" y="1463040"/>
            <a:ext cx="2086661" cy="3108960"/>
          </a:xfrm>
          <a:prstGeom prst="roundRect">
            <a:avLst>
              <a:gd name="adj" fmla="val 5259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5820156" y="157276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820156" y="15727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chemeClr val="bg1"/>
                </a:solidFill>
              </a:rPr>
              <a:t>3</a:t>
            </a:r>
            <a:endParaRPr lang="en-US" sz="1560" dirty="0"/>
          </a:p>
        </p:txBody>
      </p:sp>
      <p:sp>
        <p:nvSpPr>
          <p:cNvPr id="20" name="Text 17"/>
          <p:cNvSpPr txBox="1"/>
          <p:nvPr/>
        </p:nvSpPr>
        <p:spPr>
          <a:xfrm>
            <a:off x="5096866" y="2194560"/>
            <a:ext cx="199522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en</a:t>
            </a:r>
            <a:endParaRPr lang="en-US" sz="2200" dirty="0"/>
          </a:p>
        </p:txBody>
      </p:sp>
      <p:sp>
        <p:nvSpPr>
          <p:cNvPr id="21" name="Text 18"/>
          <p:cNvSpPr txBox="1"/>
          <p:nvPr/>
        </p:nvSpPr>
        <p:spPr>
          <a:xfrm>
            <a:off x="5142586" y="2697480"/>
            <a:ext cx="190378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avec un nombre, une quantité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5142586" y="3383280"/>
            <a:ext cx="1903781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heb </a:t>
            </a:r>
            <a:r>
              <a:rPr lang="en-US" sz="1500" b="1" i="1" dirty="0">
                <a:solidFill>
                  <a:srgbClr val="D9700F"/>
                </a:solidFill>
              </a:rPr>
              <a:t>er</a:t>
            </a:r>
            <a:r>
              <a:rPr lang="en-US" sz="1500" i="1" dirty="0">
                <a:solidFill>
                  <a:schemeClr val="tx1"/>
                </a:solidFill>
              </a:rPr>
              <a:t> twee.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7302398" y="1463040"/>
            <a:ext cx="2086661" cy="3108960"/>
          </a:xfrm>
          <a:prstGeom prst="roundRect">
            <a:avLst>
              <a:gd name="adj" fmla="val 5259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8071409" y="1572768"/>
            <a:ext cx="548640" cy="54864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071409" y="15727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chemeClr val="bg1"/>
                </a:solidFill>
              </a:rPr>
              <a:t>4</a:t>
            </a:r>
            <a:endParaRPr lang="en-US" sz="1560" dirty="0"/>
          </a:p>
        </p:txBody>
      </p:sp>
      <p:sp>
        <p:nvSpPr>
          <p:cNvPr id="26" name="Text 23"/>
          <p:cNvSpPr txBox="1"/>
          <p:nvPr/>
        </p:nvSpPr>
        <p:spPr>
          <a:xfrm>
            <a:off x="7348118" y="2194560"/>
            <a:ext cx="199522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E4A9E"/>
                </a:solidFill>
              </a:rPr>
              <a:t>y · en (+ prép.)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7393838" y="2697480"/>
            <a:ext cx="190378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chose + préposition (M23)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7393838" y="3383280"/>
            <a:ext cx="1903781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denk </a:t>
            </a:r>
            <a:r>
              <a:rPr lang="en-US" sz="1500" b="1" i="1" dirty="0">
                <a:solidFill>
                  <a:srgbClr val="6E4A9E"/>
                </a:solidFill>
              </a:rPr>
              <a:t>er</a:t>
            </a:r>
            <a:r>
              <a:rPr lang="en-US" sz="1500" i="1" dirty="0">
                <a:solidFill>
                  <a:schemeClr val="tx1"/>
                </a:solidFill>
              </a:rPr>
              <a:t>aan.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9553651" y="1463040"/>
            <a:ext cx="2086661" cy="3108960"/>
          </a:xfrm>
          <a:prstGeom prst="roundRect">
            <a:avLst>
              <a:gd name="adj" fmla="val 5259"/>
            </a:avLst>
          </a:prstGeom>
          <a:solidFill>
            <a:srgbClr val="FFFFFF"/>
          </a:solidFill>
          <a:ln w="25400">
            <a:solidFill>
              <a:srgbClr val="0E7C8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10322662" y="1572768"/>
            <a:ext cx="548640" cy="54864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10322662" y="15727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chemeClr val="bg1"/>
                </a:solidFill>
              </a:rPr>
              <a:t>5</a:t>
            </a:r>
            <a:endParaRPr lang="en-US" sz="1560" dirty="0"/>
          </a:p>
        </p:txBody>
      </p:sp>
      <p:sp>
        <p:nvSpPr>
          <p:cNvPr id="32" name="Text 29"/>
          <p:cNvSpPr txBox="1"/>
          <p:nvPr/>
        </p:nvSpPr>
        <p:spPr>
          <a:xfrm>
            <a:off x="9599371" y="2194560"/>
            <a:ext cx="199522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7C86"/>
                </a:solidFill>
              </a:rPr>
              <a:t>on</a:t>
            </a:r>
            <a:endParaRPr lang="en-US" sz="2200" dirty="0"/>
          </a:p>
        </p:txBody>
      </p:sp>
      <p:sp>
        <p:nvSpPr>
          <p:cNvPr id="33" name="Text 30"/>
          <p:cNvSpPr txBox="1"/>
          <p:nvPr/>
        </p:nvSpPr>
        <p:spPr>
          <a:xfrm>
            <a:off x="9645091" y="2697480"/>
            <a:ext cx="190378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er wordt + participe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9645091" y="3383280"/>
            <a:ext cx="1903781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0E7C86"/>
                </a:solidFill>
              </a:rPr>
              <a:t>Er</a:t>
            </a:r>
            <a:r>
              <a:rPr lang="en-US" sz="1500" i="1" dirty="0">
                <a:solidFill>
                  <a:schemeClr val="tx1"/>
                </a:solidFill>
              </a:rPr>
              <a:t> wordt gebeld.</a:t>
            </a:r>
            <a:endParaRPr lang="en-US" sz="1800" dirty="0"/>
          </a:p>
        </p:txBody>
      </p:sp>
      <p:sp>
        <p:nvSpPr>
          <p:cNvPr id="35" name="Shape 32"/>
          <p:cNvSpPr/>
          <p:nvPr/>
        </p:nvSpPr>
        <p:spPr>
          <a:xfrm>
            <a:off x="548640" y="4754880"/>
            <a:ext cx="11091672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77240" y="4800600"/>
            <a:ext cx="10698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Place</a:t>
            </a:r>
            <a:r>
              <a:rPr lang="en-US" sz="1500" dirty="0">
                <a:solidFill>
                  <a:schemeClr val="tx1"/>
                </a:solidFill>
              </a:rPr>
              <a:t> : juste après le verbe conjugué (ou après le sujet inversé) : </a:t>
            </a:r>
            <a:r>
              <a:rPr lang="en-US" sz="1500" i="1" dirty="0">
                <a:solidFill>
                  <a:schemeClr val="tx1"/>
                </a:solidFill>
              </a:rPr>
              <a:t>Ik woon er al tien jaar. · Gisteren ben ik er geweest.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Er ou daar ?</a:t>
            </a:r>
            <a:r>
              <a:rPr lang="en-US" sz="1500" dirty="0">
                <a:solidFill>
                  <a:schemeClr val="tx1"/>
                </a:solidFill>
              </a:rPr>
              <a:t> </a:t>
            </a:r>
            <a:r>
              <a:rPr lang="en-US" sz="1500" i="1" dirty="0">
                <a:solidFill>
                  <a:schemeClr val="tx1"/>
                </a:solidFill>
              </a:rPr>
              <a:t>er</a:t>
            </a:r>
            <a:r>
              <a:rPr lang="en-US" sz="1500" dirty="0">
                <a:solidFill>
                  <a:schemeClr val="tx1"/>
                </a:solidFill>
              </a:rPr>
              <a:t> sans accent, </a:t>
            </a:r>
            <a:r>
              <a:rPr lang="en-US" sz="1500" i="1" dirty="0">
                <a:solidFill>
                  <a:schemeClr val="tx1"/>
                </a:solidFill>
              </a:rPr>
              <a:t>daar</a:t>
            </a:r>
            <a:r>
              <a:rPr lang="en-US" sz="1500" dirty="0">
                <a:solidFill>
                  <a:schemeClr val="tx1"/>
                </a:solidFill>
              </a:rPr>
              <a:t> pour insister. · </a:t>
            </a:r>
            <a:r>
              <a:rPr lang="en-US" sz="1500" b="1" dirty="0">
                <a:solidFill>
                  <a:schemeClr val="tx1"/>
                </a:solidFill>
              </a:rPr>
              <a:t>Deux er</a:t>
            </a:r>
            <a:r>
              <a:rPr lang="en-US" sz="1500" dirty="0">
                <a:solidFill>
                  <a:schemeClr val="tx1"/>
                </a:solidFill>
              </a:rPr>
              <a:t> : </a:t>
            </a:r>
            <a:r>
              <a:rPr lang="en-US" sz="1500" i="1" dirty="0">
                <a:solidFill>
                  <a:schemeClr val="tx1"/>
                </a:solidFill>
              </a:rPr>
              <a:t>Er zijn er drie.</a:t>
            </a:r>
            <a:r>
              <a:rPr lang="en-US" sz="1500" dirty="0">
                <a:solidFill>
                  <a:schemeClr val="tx1"/>
                </a:solidFill>
              </a:rPr>
              <a:t> = il y en a trois.</a:t>
            </a:r>
            <a:endParaRPr lang="en-US" sz="1500" dirty="0"/>
          </a:p>
        </p:txBody>
      </p:sp>
      <p:pic>
        <p:nvPicPr>
          <p:cNvPr id="37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Fil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8704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Quel er ?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376428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90144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90144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Commen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268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90144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Répondez avec er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90144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697992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11708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711708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ExchangeAl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11708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Er of daar?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711708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54864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Sear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7040" y="45994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68580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68580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376428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390144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390144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Ey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0268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390144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Qu’y a-t-il dans le bureau ?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390144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697992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711708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711708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User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832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711708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visite du nouveau bureau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711708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2" name="Image 6" descr="man teach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Quel er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Quel emploi de </a:t>
            </a:r>
            <a:r>
              <a:rPr lang="en-US" sz="1700" i="1" dirty="0">
                <a:solidFill>
                  <a:schemeClr val="accent5"/>
                </a:solidFill>
              </a:rPr>
              <a:t>er</a:t>
            </a:r>
            <a:r>
              <a:rPr lang="en-US" sz="1700" i="1" dirty="0">
                <a:solidFill>
                  <a:schemeClr val="accent5"/>
                </a:solidFill>
              </a:rPr>
              <a:t> ? Donnez le numéro (1 à 5) et la traduction.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69008"/>
            <a:ext cx="5408676" cy="701650"/>
          </a:xfrm>
          <a:prstGeom prst="roundRect">
            <a:avLst>
              <a:gd name="adj" fmla="val 13032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85800" y="1969008"/>
            <a:ext cx="4448556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b="1" i="1" dirty="0">
                <a:solidFill>
                  <a:schemeClr val="tx1"/>
                </a:solidFill>
              </a:rPr>
              <a:t>Er</a:t>
            </a:r>
            <a:r>
              <a:rPr lang="en-US" sz="1700" i="1" dirty="0">
                <a:solidFill>
                  <a:schemeClr val="tx1"/>
                </a:solidFill>
              </a:rPr>
              <a:t> staan drie fietsen voor de deur.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5225796" y="2072945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dash"/>
          </a:ln>
        </p:spPr>
      </p:sp>
      <p:sp>
        <p:nvSpPr>
          <p:cNvPr id="11" name="Shape 7"/>
          <p:cNvSpPr/>
          <p:nvPr/>
        </p:nvSpPr>
        <p:spPr>
          <a:xfrm>
            <a:off x="548640" y="2762098"/>
            <a:ext cx="5408676" cy="701650"/>
          </a:xfrm>
          <a:prstGeom prst="roundRect">
            <a:avLst>
              <a:gd name="adj" fmla="val 13032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85800" y="2762098"/>
            <a:ext cx="4448556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2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Ik heb </a:t>
            </a:r>
            <a:r>
              <a:rPr lang="en-US" sz="1700" b="1" i="1" dirty="0">
                <a:solidFill>
                  <a:schemeClr val="tx1"/>
                </a:solidFill>
              </a:rPr>
              <a:t>er</a:t>
            </a:r>
            <a:r>
              <a:rPr lang="en-US" sz="1700" i="1" dirty="0">
                <a:solidFill>
                  <a:schemeClr val="tx1"/>
                </a:solidFill>
              </a:rPr>
              <a:t> geen zin in.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5225796" y="2866034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dash"/>
          </a:ln>
        </p:spPr>
      </p:sp>
      <p:sp>
        <p:nvSpPr>
          <p:cNvPr id="14" name="Shape 10"/>
          <p:cNvSpPr/>
          <p:nvPr/>
        </p:nvSpPr>
        <p:spPr>
          <a:xfrm>
            <a:off x="548640" y="3555187"/>
            <a:ext cx="5408676" cy="701650"/>
          </a:xfrm>
          <a:prstGeom prst="roundRect">
            <a:avLst>
              <a:gd name="adj" fmla="val 13032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555187"/>
            <a:ext cx="4448556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3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Ken je Gent? — Ja, ik woon </a:t>
            </a:r>
            <a:r>
              <a:rPr lang="en-US" sz="1700" b="1" i="1" dirty="0">
                <a:solidFill>
                  <a:schemeClr val="tx1"/>
                </a:solidFill>
              </a:rPr>
              <a:t>er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5225796" y="3659124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dash"/>
          </a:ln>
        </p:spPr>
      </p:sp>
      <p:sp>
        <p:nvSpPr>
          <p:cNvPr id="17" name="Shape 13"/>
          <p:cNvSpPr/>
          <p:nvPr/>
        </p:nvSpPr>
        <p:spPr>
          <a:xfrm>
            <a:off x="548640" y="4348277"/>
            <a:ext cx="5408676" cy="701650"/>
          </a:xfrm>
          <a:prstGeom prst="roundRect">
            <a:avLst>
              <a:gd name="adj" fmla="val 13032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85800" y="4348277"/>
            <a:ext cx="4448556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4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Hoeveel broers heb je? — Ik heb </a:t>
            </a:r>
            <a:r>
              <a:rPr lang="en-US" sz="1700" b="1" i="1" dirty="0">
                <a:solidFill>
                  <a:schemeClr val="tx1"/>
                </a:solidFill>
              </a:rPr>
              <a:t>er</a:t>
            </a:r>
            <a:r>
              <a:rPr lang="en-US" sz="1700" i="1" dirty="0">
                <a:solidFill>
                  <a:schemeClr val="tx1"/>
                </a:solidFill>
              </a:rPr>
              <a:t> twee.</a:t>
            </a:r>
            <a:endParaRPr lang="en-US" sz="1700" dirty="0"/>
          </a:p>
        </p:txBody>
      </p:sp>
      <p:sp>
        <p:nvSpPr>
          <p:cNvPr id="19" name="Shape 15"/>
          <p:cNvSpPr/>
          <p:nvPr/>
        </p:nvSpPr>
        <p:spPr>
          <a:xfrm>
            <a:off x="5225796" y="4452214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dash"/>
          </a:ln>
        </p:spPr>
      </p:sp>
      <p:sp>
        <p:nvSpPr>
          <p:cNvPr id="20" name="Shape 16"/>
          <p:cNvSpPr/>
          <p:nvPr/>
        </p:nvSpPr>
        <p:spPr>
          <a:xfrm>
            <a:off x="548640" y="5141366"/>
            <a:ext cx="5408676" cy="701650"/>
          </a:xfrm>
          <a:prstGeom prst="roundRect">
            <a:avLst>
              <a:gd name="adj" fmla="val 13032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85800" y="5141366"/>
            <a:ext cx="4448556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5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b="1" i="1" dirty="0">
                <a:solidFill>
                  <a:schemeClr val="tx1"/>
                </a:solidFill>
              </a:rPr>
              <a:t>Er</a:t>
            </a:r>
            <a:r>
              <a:rPr lang="en-US" sz="1700" i="1" dirty="0">
                <a:solidFill>
                  <a:schemeClr val="tx1"/>
                </a:solidFill>
              </a:rPr>
              <a:t> wordt hier niet gerookt.</a:t>
            </a:r>
            <a:endParaRPr lang="en-US" sz="1700" dirty="0"/>
          </a:p>
        </p:txBody>
      </p:sp>
      <p:sp>
        <p:nvSpPr>
          <p:cNvPr id="22" name="Shape 18"/>
          <p:cNvSpPr/>
          <p:nvPr/>
        </p:nvSpPr>
        <p:spPr>
          <a:xfrm>
            <a:off x="5225796" y="5245303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dash"/>
          </a:ln>
        </p:spPr>
      </p:sp>
      <p:sp>
        <p:nvSpPr>
          <p:cNvPr id="23" name="Shape 19"/>
          <p:cNvSpPr/>
          <p:nvPr/>
        </p:nvSpPr>
        <p:spPr>
          <a:xfrm>
            <a:off x="6231636" y="1969008"/>
            <a:ext cx="5408676" cy="701650"/>
          </a:xfrm>
          <a:prstGeom prst="roundRect">
            <a:avLst>
              <a:gd name="adj" fmla="val 13032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368796" y="1969008"/>
            <a:ext cx="4448556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6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Is </a:t>
            </a:r>
            <a:r>
              <a:rPr lang="en-US" sz="1700" b="1" i="1" dirty="0">
                <a:solidFill>
                  <a:schemeClr val="tx1"/>
                </a:solidFill>
              </a:rPr>
              <a:t>er</a:t>
            </a:r>
            <a:r>
              <a:rPr lang="en-US" sz="1700" i="1" dirty="0">
                <a:solidFill>
                  <a:schemeClr val="tx1"/>
                </a:solidFill>
              </a:rPr>
              <a:t> nog melk?</a:t>
            </a:r>
            <a:endParaRPr lang="en-US" sz="1700" dirty="0"/>
          </a:p>
        </p:txBody>
      </p:sp>
      <p:sp>
        <p:nvSpPr>
          <p:cNvPr id="25" name="Shape 21"/>
          <p:cNvSpPr/>
          <p:nvPr/>
        </p:nvSpPr>
        <p:spPr>
          <a:xfrm>
            <a:off x="10908792" y="2072945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dash"/>
          </a:ln>
        </p:spPr>
      </p:sp>
      <p:sp>
        <p:nvSpPr>
          <p:cNvPr id="26" name="Shape 22"/>
          <p:cNvSpPr/>
          <p:nvPr/>
        </p:nvSpPr>
        <p:spPr>
          <a:xfrm>
            <a:off x="6231636" y="2762098"/>
            <a:ext cx="5408676" cy="701650"/>
          </a:xfrm>
          <a:prstGeom prst="roundRect">
            <a:avLst>
              <a:gd name="adj" fmla="val 13032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6368796" y="2762098"/>
            <a:ext cx="4448556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7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Wat vind je </a:t>
            </a:r>
            <a:r>
              <a:rPr lang="en-US" sz="1700" b="1" i="1" dirty="0">
                <a:solidFill>
                  <a:schemeClr val="tx1"/>
                </a:solidFill>
              </a:rPr>
              <a:t>er</a:t>
            </a:r>
            <a:r>
              <a:rPr lang="en-US" sz="1700" i="1" dirty="0">
                <a:solidFill>
                  <a:schemeClr val="tx1"/>
                </a:solidFill>
              </a:rPr>
              <a:t>van?</a:t>
            </a:r>
            <a:endParaRPr lang="en-US" sz="1700" dirty="0"/>
          </a:p>
        </p:txBody>
      </p:sp>
      <p:sp>
        <p:nvSpPr>
          <p:cNvPr id="28" name="Shape 24"/>
          <p:cNvSpPr/>
          <p:nvPr/>
        </p:nvSpPr>
        <p:spPr>
          <a:xfrm>
            <a:off x="10908792" y="2866034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dash"/>
          </a:ln>
        </p:spPr>
      </p:sp>
      <p:sp>
        <p:nvSpPr>
          <p:cNvPr id="29" name="Shape 25"/>
          <p:cNvSpPr/>
          <p:nvPr/>
        </p:nvSpPr>
        <p:spPr>
          <a:xfrm>
            <a:off x="6231636" y="3555187"/>
            <a:ext cx="5408676" cy="701650"/>
          </a:xfrm>
          <a:prstGeom prst="roundRect">
            <a:avLst>
              <a:gd name="adj" fmla="val 13032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368796" y="3555187"/>
            <a:ext cx="4448556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8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Brugge? Ik ga </a:t>
            </a:r>
            <a:r>
              <a:rPr lang="en-US" sz="1700" b="1" i="1" dirty="0">
                <a:solidFill>
                  <a:schemeClr val="tx1"/>
                </a:solidFill>
              </a:rPr>
              <a:t>er</a:t>
            </a:r>
            <a:r>
              <a:rPr lang="en-US" sz="1700" i="1" dirty="0">
                <a:solidFill>
                  <a:schemeClr val="tx1"/>
                </a:solidFill>
              </a:rPr>
              <a:t> morgen naartoe.</a:t>
            </a:r>
            <a:endParaRPr lang="en-US" sz="1700" dirty="0"/>
          </a:p>
        </p:txBody>
      </p:sp>
      <p:sp>
        <p:nvSpPr>
          <p:cNvPr id="31" name="Shape 27"/>
          <p:cNvSpPr/>
          <p:nvPr/>
        </p:nvSpPr>
        <p:spPr>
          <a:xfrm>
            <a:off x="10908792" y="3659124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dash"/>
          </a:ln>
        </p:spPr>
      </p:sp>
      <p:sp>
        <p:nvSpPr>
          <p:cNvPr id="32" name="Shape 28"/>
          <p:cNvSpPr/>
          <p:nvPr/>
        </p:nvSpPr>
        <p:spPr>
          <a:xfrm>
            <a:off x="6231636" y="4348277"/>
            <a:ext cx="5408676" cy="701650"/>
          </a:xfrm>
          <a:prstGeom prst="roundRect">
            <a:avLst>
              <a:gd name="adj" fmla="val 13032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6368796" y="4348277"/>
            <a:ext cx="4448556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9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Heb je een fiets? — Ik heb </a:t>
            </a:r>
            <a:r>
              <a:rPr lang="en-US" sz="1700" b="1" i="1" dirty="0">
                <a:solidFill>
                  <a:schemeClr val="tx1"/>
                </a:solidFill>
              </a:rPr>
              <a:t>er</a:t>
            </a:r>
            <a:r>
              <a:rPr lang="en-US" sz="1700" i="1" dirty="0">
                <a:solidFill>
                  <a:schemeClr val="tx1"/>
                </a:solidFill>
              </a:rPr>
              <a:t> twee!</a:t>
            </a:r>
            <a:endParaRPr lang="en-US" sz="1700" dirty="0"/>
          </a:p>
        </p:txBody>
      </p:sp>
      <p:sp>
        <p:nvSpPr>
          <p:cNvPr id="34" name="Shape 30"/>
          <p:cNvSpPr/>
          <p:nvPr/>
        </p:nvSpPr>
        <p:spPr>
          <a:xfrm>
            <a:off x="10908792" y="4452214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dash"/>
          </a:ln>
        </p:spPr>
      </p:sp>
      <p:sp>
        <p:nvSpPr>
          <p:cNvPr id="35" name="Shape 31"/>
          <p:cNvSpPr/>
          <p:nvPr/>
        </p:nvSpPr>
        <p:spPr>
          <a:xfrm>
            <a:off x="6231636" y="5141366"/>
            <a:ext cx="5408676" cy="701650"/>
          </a:xfrm>
          <a:prstGeom prst="roundRect">
            <a:avLst>
              <a:gd name="adj" fmla="val 13032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368796" y="5141366"/>
            <a:ext cx="4448556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10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b="1" i="1" dirty="0">
                <a:solidFill>
                  <a:schemeClr val="tx1"/>
                </a:solidFill>
              </a:rPr>
              <a:t>Er</a:t>
            </a:r>
            <a:r>
              <a:rPr lang="en-US" sz="1700" i="1" dirty="0">
                <a:solidFill>
                  <a:schemeClr val="tx1"/>
                </a:solidFill>
              </a:rPr>
              <a:t> wordt gebeld.</a:t>
            </a:r>
            <a:endParaRPr lang="en-US" sz="1700" dirty="0"/>
          </a:p>
        </p:txBody>
      </p:sp>
      <p:sp>
        <p:nvSpPr>
          <p:cNvPr id="37" name="Shape 33"/>
          <p:cNvSpPr/>
          <p:nvPr/>
        </p:nvSpPr>
        <p:spPr>
          <a:xfrm>
            <a:off x="10908792" y="5245303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Quel er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Quel emploi de </a:t>
            </a:r>
            <a:r>
              <a:rPr lang="en-US" sz="1700" i="1" dirty="0">
                <a:solidFill>
                  <a:schemeClr val="accent5"/>
                </a:solidFill>
              </a:rPr>
              <a:t>er</a:t>
            </a:r>
            <a:r>
              <a:rPr lang="en-US" sz="1700" i="1" dirty="0">
                <a:solidFill>
                  <a:schemeClr val="accent5"/>
                </a:solidFill>
              </a:rPr>
              <a:t> ? Donnez le numéro (1 à 5) et la traduction.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69008"/>
            <a:ext cx="5408676" cy="701650"/>
          </a:xfrm>
          <a:prstGeom prst="roundRect">
            <a:avLst>
              <a:gd name="adj" fmla="val 13032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85800" y="1969008"/>
            <a:ext cx="4448556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b="1" i="1" dirty="0">
                <a:solidFill>
                  <a:schemeClr val="tx1"/>
                </a:solidFill>
              </a:rPr>
              <a:t>Er</a:t>
            </a:r>
            <a:r>
              <a:rPr lang="en-US" sz="1700" i="1" dirty="0">
                <a:solidFill>
                  <a:schemeClr val="tx1"/>
                </a:solidFill>
              </a:rPr>
              <a:t> staan drie fietsen voor de deur.</a:t>
            </a:r>
            <a:endParaRPr lang="en-US" sz="1700" dirty="0"/>
          </a:p>
        </p:txBody>
      </p:sp>
      <p:sp>
        <p:nvSpPr>
          <p:cNvPr id="11" name="Shape 7"/>
          <p:cNvSpPr/>
          <p:nvPr/>
        </p:nvSpPr>
        <p:spPr>
          <a:xfrm>
            <a:off x="5225796" y="2072945"/>
            <a:ext cx="512064" cy="51206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225796" y="2072945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6" b="1" dirty="0">
                <a:solidFill>
                  <a:schemeClr val="bg1"/>
                </a:solidFill>
              </a:rPr>
              <a:t>1</a:t>
            </a:r>
            <a:endParaRPr lang="en-US" sz="1456" dirty="0"/>
          </a:p>
        </p:txBody>
      </p:sp>
      <p:sp>
        <p:nvSpPr>
          <p:cNvPr id="13" name="Shape 9"/>
          <p:cNvSpPr/>
          <p:nvPr/>
        </p:nvSpPr>
        <p:spPr>
          <a:xfrm>
            <a:off x="548640" y="2762098"/>
            <a:ext cx="5408676" cy="701650"/>
          </a:xfrm>
          <a:prstGeom prst="roundRect">
            <a:avLst>
              <a:gd name="adj" fmla="val 13032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85800" y="2762098"/>
            <a:ext cx="4448556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2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Ik heb </a:t>
            </a:r>
            <a:r>
              <a:rPr lang="en-US" sz="1700" b="1" i="1" dirty="0">
                <a:solidFill>
                  <a:schemeClr val="tx1"/>
                </a:solidFill>
              </a:rPr>
              <a:t>er</a:t>
            </a:r>
            <a:r>
              <a:rPr lang="en-US" sz="1700" i="1" dirty="0">
                <a:solidFill>
                  <a:schemeClr val="tx1"/>
                </a:solidFill>
              </a:rPr>
              <a:t> geen zin in.</a:t>
            </a:r>
            <a:endParaRPr lang="en-US" sz="1700" dirty="0"/>
          </a:p>
        </p:txBody>
      </p:sp>
      <p:sp>
        <p:nvSpPr>
          <p:cNvPr id="15" name="Shape 11"/>
          <p:cNvSpPr/>
          <p:nvPr/>
        </p:nvSpPr>
        <p:spPr>
          <a:xfrm>
            <a:off x="5225796" y="2866034"/>
            <a:ext cx="512064" cy="51206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225796" y="286603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6" b="1" dirty="0">
                <a:solidFill>
                  <a:schemeClr val="bg1"/>
                </a:solidFill>
              </a:rPr>
              <a:t>4</a:t>
            </a:r>
            <a:endParaRPr lang="en-US" sz="1456" dirty="0"/>
          </a:p>
        </p:txBody>
      </p:sp>
      <p:sp>
        <p:nvSpPr>
          <p:cNvPr id="17" name="Shape 13"/>
          <p:cNvSpPr/>
          <p:nvPr/>
        </p:nvSpPr>
        <p:spPr>
          <a:xfrm>
            <a:off x="548640" y="3555187"/>
            <a:ext cx="5408676" cy="701650"/>
          </a:xfrm>
          <a:prstGeom prst="roundRect">
            <a:avLst>
              <a:gd name="adj" fmla="val 13032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85800" y="3555187"/>
            <a:ext cx="4448556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3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Ken je Gent? — Ja, ik woon </a:t>
            </a:r>
            <a:r>
              <a:rPr lang="en-US" sz="1700" b="1" i="1" dirty="0">
                <a:solidFill>
                  <a:schemeClr val="tx1"/>
                </a:solidFill>
              </a:rPr>
              <a:t>er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9" name="Shape 15"/>
          <p:cNvSpPr/>
          <p:nvPr/>
        </p:nvSpPr>
        <p:spPr>
          <a:xfrm>
            <a:off x="5225796" y="3659124"/>
            <a:ext cx="512064" cy="51206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225796" y="365912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6" b="1" dirty="0">
                <a:solidFill>
                  <a:schemeClr val="bg1"/>
                </a:solidFill>
              </a:rPr>
              <a:t>2</a:t>
            </a:r>
            <a:endParaRPr lang="en-US" sz="1456" dirty="0"/>
          </a:p>
        </p:txBody>
      </p:sp>
      <p:sp>
        <p:nvSpPr>
          <p:cNvPr id="21" name="Shape 17"/>
          <p:cNvSpPr/>
          <p:nvPr/>
        </p:nvSpPr>
        <p:spPr>
          <a:xfrm>
            <a:off x="548640" y="4348277"/>
            <a:ext cx="5408676" cy="701650"/>
          </a:xfrm>
          <a:prstGeom prst="roundRect">
            <a:avLst>
              <a:gd name="adj" fmla="val 13032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85800" y="4348277"/>
            <a:ext cx="4448556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4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Hoeveel broers heb je? — Ik heb </a:t>
            </a:r>
            <a:r>
              <a:rPr lang="en-US" sz="1700" b="1" i="1" dirty="0">
                <a:solidFill>
                  <a:schemeClr val="tx1"/>
                </a:solidFill>
              </a:rPr>
              <a:t>er</a:t>
            </a:r>
            <a:r>
              <a:rPr lang="en-US" sz="1700" i="1" dirty="0">
                <a:solidFill>
                  <a:schemeClr val="tx1"/>
                </a:solidFill>
              </a:rPr>
              <a:t> twee.</a:t>
            </a:r>
            <a:endParaRPr lang="en-US" sz="1700" dirty="0"/>
          </a:p>
        </p:txBody>
      </p:sp>
      <p:sp>
        <p:nvSpPr>
          <p:cNvPr id="23" name="Shape 19"/>
          <p:cNvSpPr/>
          <p:nvPr/>
        </p:nvSpPr>
        <p:spPr>
          <a:xfrm>
            <a:off x="5225796" y="4452214"/>
            <a:ext cx="512064" cy="51206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225796" y="445221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6" b="1" dirty="0">
                <a:solidFill>
                  <a:schemeClr val="bg1"/>
                </a:solidFill>
              </a:rPr>
              <a:t>3</a:t>
            </a:r>
            <a:endParaRPr lang="en-US" sz="1456" dirty="0"/>
          </a:p>
        </p:txBody>
      </p:sp>
      <p:sp>
        <p:nvSpPr>
          <p:cNvPr id="25" name="Shape 21"/>
          <p:cNvSpPr/>
          <p:nvPr/>
        </p:nvSpPr>
        <p:spPr>
          <a:xfrm>
            <a:off x="548640" y="5141366"/>
            <a:ext cx="5408676" cy="701650"/>
          </a:xfrm>
          <a:prstGeom prst="roundRect">
            <a:avLst>
              <a:gd name="adj" fmla="val 13032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85800" y="5141366"/>
            <a:ext cx="4448556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5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b="1" i="1" dirty="0">
                <a:solidFill>
                  <a:schemeClr val="tx1"/>
                </a:solidFill>
              </a:rPr>
              <a:t>Er</a:t>
            </a:r>
            <a:r>
              <a:rPr lang="en-US" sz="1700" i="1" dirty="0">
                <a:solidFill>
                  <a:schemeClr val="tx1"/>
                </a:solidFill>
              </a:rPr>
              <a:t> wordt hier niet gerookt.</a:t>
            </a:r>
            <a:endParaRPr lang="en-US" sz="1700" dirty="0"/>
          </a:p>
        </p:txBody>
      </p:sp>
      <p:sp>
        <p:nvSpPr>
          <p:cNvPr id="27" name="Shape 23"/>
          <p:cNvSpPr/>
          <p:nvPr/>
        </p:nvSpPr>
        <p:spPr>
          <a:xfrm>
            <a:off x="5225796" y="5245303"/>
            <a:ext cx="512064" cy="512064"/>
          </a:xfrm>
          <a:prstGeom prst="ellipse">
            <a:avLst/>
          </a:prstGeom>
          <a:solidFill>
            <a:srgbClr val="0E7C8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5225796" y="5245303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6" b="1" dirty="0">
                <a:solidFill>
                  <a:schemeClr val="bg1"/>
                </a:solidFill>
              </a:rPr>
              <a:t>5</a:t>
            </a:r>
            <a:endParaRPr lang="en-US" sz="1456" dirty="0"/>
          </a:p>
        </p:txBody>
      </p:sp>
      <p:sp>
        <p:nvSpPr>
          <p:cNvPr id="29" name="Shape 25"/>
          <p:cNvSpPr/>
          <p:nvPr/>
        </p:nvSpPr>
        <p:spPr>
          <a:xfrm>
            <a:off x="6231636" y="1969008"/>
            <a:ext cx="5408676" cy="701650"/>
          </a:xfrm>
          <a:prstGeom prst="roundRect">
            <a:avLst>
              <a:gd name="adj" fmla="val 13032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368796" y="1969008"/>
            <a:ext cx="4448556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6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Is </a:t>
            </a:r>
            <a:r>
              <a:rPr lang="en-US" sz="1700" b="1" i="1" dirty="0">
                <a:solidFill>
                  <a:schemeClr val="tx1"/>
                </a:solidFill>
              </a:rPr>
              <a:t>er</a:t>
            </a:r>
            <a:r>
              <a:rPr lang="en-US" sz="1700" i="1" dirty="0">
                <a:solidFill>
                  <a:schemeClr val="tx1"/>
                </a:solidFill>
              </a:rPr>
              <a:t> nog melk?</a:t>
            </a:r>
            <a:endParaRPr lang="en-US" sz="1700" dirty="0"/>
          </a:p>
        </p:txBody>
      </p:sp>
      <p:sp>
        <p:nvSpPr>
          <p:cNvPr id="31" name="Shape 27"/>
          <p:cNvSpPr/>
          <p:nvPr/>
        </p:nvSpPr>
        <p:spPr>
          <a:xfrm>
            <a:off x="10908792" y="2072945"/>
            <a:ext cx="512064" cy="51206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10908792" y="2072945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6" b="1" dirty="0">
                <a:solidFill>
                  <a:schemeClr val="bg1"/>
                </a:solidFill>
              </a:rPr>
              <a:t>1</a:t>
            </a:r>
            <a:endParaRPr lang="en-US" sz="1456" dirty="0"/>
          </a:p>
        </p:txBody>
      </p:sp>
      <p:sp>
        <p:nvSpPr>
          <p:cNvPr id="33" name="Shape 29"/>
          <p:cNvSpPr/>
          <p:nvPr/>
        </p:nvSpPr>
        <p:spPr>
          <a:xfrm>
            <a:off x="6231636" y="2762098"/>
            <a:ext cx="5408676" cy="701650"/>
          </a:xfrm>
          <a:prstGeom prst="roundRect">
            <a:avLst>
              <a:gd name="adj" fmla="val 13032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6368796" y="2762098"/>
            <a:ext cx="4448556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7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Wat vind je </a:t>
            </a:r>
            <a:r>
              <a:rPr lang="en-US" sz="1700" b="1" i="1" dirty="0">
                <a:solidFill>
                  <a:schemeClr val="tx1"/>
                </a:solidFill>
              </a:rPr>
              <a:t>er</a:t>
            </a:r>
            <a:r>
              <a:rPr lang="en-US" sz="1700" i="1" dirty="0">
                <a:solidFill>
                  <a:schemeClr val="tx1"/>
                </a:solidFill>
              </a:rPr>
              <a:t>van?</a:t>
            </a:r>
            <a:endParaRPr lang="en-US" sz="1700" dirty="0"/>
          </a:p>
        </p:txBody>
      </p:sp>
      <p:sp>
        <p:nvSpPr>
          <p:cNvPr id="35" name="Shape 31"/>
          <p:cNvSpPr/>
          <p:nvPr/>
        </p:nvSpPr>
        <p:spPr>
          <a:xfrm>
            <a:off x="10908792" y="2866034"/>
            <a:ext cx="512064" cy="51206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10908792" y="286603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6" b="1" dirty="0">
                <a:solidFill>
                  <a:schemeClr val="bg1"/>
                </a:solidFill>
              </a:rPr>
              <a:t>4</a:t>
            </a:r>
            <a:endParaRPr lang="en-US" sz="1456" dirty="0"/>
          </a:p>
        </p:txBody>
      </p:sp>
      <p:sp>
        <p:nvSpPr>
          <p:cNvPr id="37" name="Shape 33"/>
          <p:cNvSpPr/>
          <p:nvPr/>
        </p:nvSpPr>
        <p:spPr>
          <a:xfrm>
            <a:off x="6231636" y="3555187"/>
            <a:ext cx="5408676" cy="701650"/>
          </a:xfrm>
          <a:prstGeom prst="roundRect">
            <a:avLst>
              <a:gd name="adj" fmla="val 13032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6368796" y="3555187"/>
            <a:ext cx="4448556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8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Brugge? Ik ga </a:t>
            </a:r>
            <a:r>
              <a:rPr lang="en-US" sz="1700" b="1" i="1" dirty="0">
                <a:solidFill>
                  <a:schemeClr val="tx1"/>
                </a:solidFill>
              </a:rPr>
              <a:t>er</a:t>
            </a:r>
            <a:r>
              <a:rPr lang="en-US" sz="1700" i="1" dirty="0">
                <a:solidFill>
                  <a:schemeClr val="tx1"/>
                </a:solidFill>
              </a:rPr>
              <a:t> morgen naartoe.</a:t>
            </a:r>
            <a:endParaRPr lang="en-US" sz="1700" dirty="0"/>
          </a:p>
        </p:txBody>
      </p:sp>
      <p:sp>
        <p:nvSpPr>
          <p:cNvPr id="39" name="Shape 35"/>
          <p:cNvSpPr/>
          <p:nvPr/>
        </p:nvSpPr>
        <p:spPr>
          <a:xfrm>
            <a:off x="10908792" y="3659124"/>
            <a:ext cx="512064" cy="51206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0908792" y="365912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6" b="1" dirty="0">
                <a:solidFill>
                  <a:schemeClr val="bg1"/>
                </a:solidFill>
              </a:rPr>
              <a:t>2</a:t>
            </a:r>
            <a:endParaRPr lang="en-US" sz="1456" dirty="0"/>
          </a:p>
        </p:txBody>
      </p:sp>
      <p:sp>
        <p:nvSpPr>
          <p:cNvPr id="41" name="Shape 37"/>
          <p:cNvSpPr/>
          <p:nvPr/>
        </p:nvSpPr>
        <p:spPr>
          <a:xfrm>
            <a:off x="6231636" y="4348277"/>
            <a:ext cx="5408676" cy="701650"/>
          </a:xfrm>
          <a:prstGeom prst="roundRect">
            <a:avLst>
              <a:gd name="adj" fmla="val 13032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6368796" y="4348277"/>
            <a:ext cx="4448556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9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Heb je een fiets? — Ik heb </a:t>
            </a:r>
            <a:r>
              <a:rPr lang="en-US" sz="1700" b="1" i="1" dirty="0">
                <a:solidFill>
                  <a:schemeClr val="tx1"/>
                </a:solidFill>
              </a:rPr>
              <a:t>er</a:t>
            </a:r>
            <a:r>
              <a:rPr lang="en-US" sz="1700" i="1" dirty="0">
                <a:solidFill>
                  <a:schemeClr val="tx1"/>
                </a:solidFill>
              </a:rPr>
              <a:t> twee!</a:t>
            </a:r>
            <a:endParaRPr lang="en-US" sz="1700" dirty="0"/>
          </a:p>
        </p:txBody>
      </p:sp>
      <p:sp>
        <p:nvSpPr>
          <p:cNvPr id="43" name="Shape 39"/>
          <p:cNvSpPr/>
          <p:nvPr/>
        </p:nvSpPr>
        <p:spPr>
          <a:xfrm>
            <a:off x="10908792" y="4452214"/>
            <a:ext cx="512064" cy="51206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10908792" y="445221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6" b="1" dirty="0">
                <a:solidFill>
                  <a:schemeClr val="bg1"/>
                </a:solidFill>
              </a:rPr>
              <a:t>3</a:t>
            </a:r>
            <a:endParaRPr lang="en-US" sz="1456" dirty="0"/>
          </a:p>
        </p:txBody>
      </p:sp>
      <p:sp>
        <p:nvSpPr>
          <p:cNvPr id="45" name="Shape 41"/>
          <p:cNvSpPr/>
          <p:nvPr/>
        </p:nvSpPr>
        <p:spPr>
          <a:xfrm>
            <a:off x="6231636" y="5141366"/>
            <a:ext cx="5408676" cy="701650"/>
          </a:xfrm>
          <a:prstGeom prst="roundRect">
            <a:avLst>
              <a:gd name="adj" fmla="val 13032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6368796" y="5141366"/>
            <a:ext cx="4448556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10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b="1" i="1" dirty="0">
                <a:solidFill>
                  <a:schemeClr val="tx1"/>
                </a:solidFill>
              </a:rPr>
              <a:t>Er</a:t>
            </a:r>
            <a:r>
              <a:rPr lang="en-US" sz="1700" i="1" dirty="0">
                <a:solidFill>
                  <a:schemeClr val="tx1"/>
                </a:solidFill>
              </a:rPr>
              <a:t> wordt gebeld.</a:t>
            </a:r>
            <a:endParaRPr lang="en-US" sz="1700" dirty="0"/>
          </a:p>
        </p:txBody>
      </p:sp>
      <p:sp>
        <p:nvSpPr>
          <p:cNvPr id="47" name="Shape 43"/>
          <p:cNvSpPr/>
          <p:nvPr/>
        </p:nvSpPr>
        <p:spPr>
          <a:xfrm>
            <a:off x="10908792" y="5245303"/>
            <a:ext cx="512064" cy="512064"/>
          </a:xfrm>
          <a:prstGeom prst="ellipse">
            <a:avLst/>
          </a:prstGeom>
          <a:solidFill>
            <a:srgbClr val="0E7C8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10908792" y="5245303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6" b="1" dirty="0">
                <a:solidFill>
                  <a:schemeClr val="bg1"/>
                </a:solidFill>
              </a:rPr>
              <a:t>5</a:t>
            </a:r>
            <a:endParaRPr lang="en-US" sz="1456" dirty="0"/>
          </a:p>
        </p:txBody>
      </p:sp>
      <p:sp>
        <p:nvSpPr>
          <p:cNvPr id="49" name="Text 45"/>
          <p:cNvSpPr txBox="1"/>
          <p:nvPr/>
        </p:nvSpPr>
        <p:spPr>
          <a:xfrm>
            <a:off x="548640" y="5925312"/>
            <a:ext cx="11091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① il y a · ② y · ③ en · ④ y / en + préposition · ⑤ on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Répondez avec er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Répondez sans répéter le mot : utilisez </a:t>
            </a:r>
            <a:r>
              <a:rPr lang="en-US" sz="1700" i="1" dirty="0">
                <a:solidFill>
                  <a:schemeClr val="accent5"/>
                </a:solidFill>
              </a:rPr>
              <a:t>er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78152"/>
            <a:ext cx="5408676" cy="1209040"/>
          </a:xfrm>
          <a:prstGeom prst="roundRect">
            <a:avLst>
              <a:gd name="adj" fmla="val 9076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teddy be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115312"/>
            <a:ext cx="925576" cy="925576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794256" y="2042160"/>
            <a:ext cx="4071620" cy="484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1</a:t>
            </a:r>
            <a:r>
              <a:rPr lang="en-US" sz="1500" dirty="0">
                <a:solidFill>
                  <a:schemeClr val="tx2"/>
                </a:solidFill>
              </a:rPr>
              <a:t>  </a:t>
            </a:r>
            <a:r>
              <a:rPr lang="en-US" sz="1500" i="1" dirty="0">
                <a:solidFill>
                  <a:schemeClr val="tx2"/>
                </a:solidFill>
              </a:rPr>
              <a:t>Hoeveel kinderen heb je?</a:t>
            </a:r>
            <a:r>
              <a:rPr lang="en-US" sz="1500" dirty="0">
                <a:solidFill>
                  <a:schemeClr val="tx2"/>
                </a:solidFill>
              </a:rPr>
              <a:t>  (2)</a:t>
            </a:r>
            <a:endParaRPr lang="en-US" sz="1500" dirty="0"/>
          </a:p>
        </p:txBody>
      </p:sp>
      <p:sp>
        <p:nvSpPr>
          <p:cNvPr id="11" name="Text 6"/>
          <p:cNvSpPr txBox="1"/>
          <p:nvPr/>
        </p:nvSpPr>
        <p:spPr>
          <a:xfrm>
            <a:off x="1794256" y="2526914"/>
            <a:ext cx="4071620" cy="634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heb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548640" y="3315208"/>
            <a:ext cx="5408676" cy="1209040"/>
          </a:xfrm>
          <a:prstGeom prst="roundRect">
            <a:avLst>
              <a:gd name="adj" fmla="val 9076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3" name="Image 2" descr="round pushpi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452368"/>
            <a:ext cx="925576" cy="925576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794256" y="3379216"/>
            <a:ext cx="4071620" cy="484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2</a:t>
            </a:r>
            <a:r>
              <a:rPr lang="en-US" sz="1500" dirty="0">
                <a:solidFill>
                  <a:schemeClr val="tx2"/>
                </a:solidFill>
              </a:rPr>
              <a:t>  </a:t>
            </a:r>
            <a:r>
              <a:rPr lang="en-US" sz="1500" i="1" dirty="0">
                <a:solidFill>
                  <a:schemeClr val="tx2"/>
                </a:solidFill>
              </a:rPr>
              <a:t>Ben je al in Brugge geweest?</a:t>
            </a:r>
            <a:r>
              <a:rPr lang="en-US" sz="1500" dirty="0">
                <a:solidFill>
                  <a:schemeClr val="tx2"/>
                </a:solidFill>
              </a:rPr>
              <a:t>  (ja, vorig jaar)</a:t>
            </a:r>
            <a:endParaRPr lang="en-US" sz="1500" dirty="0"/>
          </a:p>
        </p:txBody>
      </p:sp>
      <p:sp>
        <p:nvSpPr>
          <p:cNvPr id="15" name="Text 9"/>
          <p:cNvSpPr txBox="1"/>
          <p:nvPr/>
        </p:nvSpPr>
        <p:spPr>
          <a:xfrm>
            <a:off x="1794256" y="3863970"/>
            <a:ext cx="4071620" cy="634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Ja, ik ben </a:t>
            </a:r>
            <a:r>
              <a:rPr lang="en-US" sz="1800" i="1" dirty="0">
                <a:solidFill>
                  <a:schemeClr val="accent5"/>
                </a:solidFill>
              </a:rPr>
              <a:t>……………………</a:t>
            </a:r>
            <a:r>
              <a:rPr lang="en-US" sz="1800" i="1" dirty="0">
                <a:solidFill>
                  <a:schemeClr val="tx1"/>
                </a:solidFill>
              </a:rPr>
              <a:t> geweest.</a:t>
            </a:r>
            <a:endParaRPr lang="en-US" sz="1800" dirty="0"/>
          </a:p>
        </p:txBody>
      </p:sp>
      <p:sp>
        <p:nvSpPr>
          <p:cNvPr id="16" name="Shape 10"/>
          <p:cNvSpPr/>
          <p:nvPr/>
        </p:nvSpPr>
        <p:spPr>
          <a:xfrm>
            <a:off x="548640" y="4652264"/>
            <a:ext cx="5408676" cy="1209040"/>
          </a:xfrm>
          <a:prstGeom prst="roundRect">
            <a:avLst>
              <a:gd name="adj" fmla="val 9076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7" name="Image 3" descr="pe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4789424"/>
            <a:ext cx="925576" cy="925576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794256" y="4716272"/>
            <a:ext cx="4071620" cy="484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3</a:t>
            </a:r>
            <a:r>
              <a:rPr lang="en-US" sz="1500" dirty="0">
                <a:solidFill>
                  <a:schemeClr val="tx2"/>
                </a:solidFill>
              </a:rPr>
              <a:t>  </a:t>
            </a:r>
            <a:r>
              <a:rPr lang="en-US" sz="1500" i="1" dirty="0">
                <a:solidFill>
                  <a:schemeClr val="tx2"/>
                </a:solidFill>
              </a:rPr>
              <a:t>Heb je een pen voor mij?</a:t>
            </a:r>
            <a:r>
              <a:rPr lang="en-US" sz="1500" dirty="0">
                <a:solidFill>
                  <a:schemeClr val="tx2"/>
                </a:solidFill>
              </a:rPr>
              <a:t>  (nee)</a:t>
            </a:r>
            <a:endParaRPr lang="en-US" sz="1500" dirty="0"/>
          </a:p>
        </p:txBody>
      </p:sp>
      <p:sp>
        <p:nvSpPr>
          <p:cNvPr id="19" name="Text 12"/>
          <p:cNvSpPr txBox="1"/>
          <p:nvPr/>
        </p:nvSpPr>
        <p:spPr>
          <a:xfrm>
            <a:off x="1794256" y="5201026"/>
            <a:ext cx="4071620" cy="634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Nee, ik heb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0" name="Shape 13"/>
          <p:cNvSpPr/>
          <p:nvPr/>
        </p:nvSpPr>
        <p:spPr>
          <a:xfrm>
            <a:off x="6231636" y="1978152"/>
            <a:ext cx="5408676" cy="1209040"/>
          </a:xfrm>
          <a:prstGeom prst="roundRect">
            <a:avLst>
              <a:gd name="adj" fmla="val 9076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1" name="Image 4" descr="thinking fac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8796" y="2115312"/>
            <a:ext cx="925576" cy="925576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7477252" y="2042160"/>
            <a:ext cx="4071620" cy="484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4</a:t>
            </a:r>
            <a:r>
              <a:rPr lang="en-US" sz="1500" dirty="0">
                <a:solidFill>
                  <a:schemeClr val="tx2"/>
                </a:solidFill>
              </a:rPr>
              <a:t>  </a:t>
            </a:r>
            <a:r>
              <a:rPr lang="en-US" sz="1500" i="1" dirty="0">
                <a:solidFill>
                  <a:schemeClr val="tx2"/>
                </a:solidFill>
              </a:rPr>
              <a:t>Denk je aan de vergadering?</a:t>
            </a:r>
            <a:r>
              <a:rPr lang="en-US" sz="1500" dirty="0">
                <a:solidFill>
                  <a:schemeClr val="tx2"/>
                </a:solidFill>
              </a:rPr>
              <a:t>  (ja)</a:t>
            </a:r>
            <a:endParaRPr lang="en-US" sz="1500" dirty="0"/>
          </a:p>
        </p:txBody>
      </p:sp>
      <p:sp>
        <p:nvSpPr>
          <p:cNvPr id="23" name="Text 15"/>
          <p:cNvSpPr txBox="1"/>
          <p:nvPr/>
        </p:nvSpPr>
        <p:spPr>
          <a:xfrm>
            <a:off x="7477252" y="2526914"/>
            <a:ext cx="4071620" cy="634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Ja, ik denk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4" name="Shape 16"/>
          <p:cNvSpPr/>
          <p:nvPr/>
        </p:nvSpPr>
        <p:spPr>
          <a:xfrm>
            <a:off x="6231636" y="3315208"/>
            <a:ext cx="5408676" cy="1209040"/>
          </a:xfrm>
          <a:prstGeom prst="roundRect">
            <a:avLst>
              <a:gd name="adj" fmla="val 9076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5" name="Image 5" descr="office buildi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8796" y="3452368"/>
            <a:ext cx="925576" cy="925576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7477252" y="3379216"/>
            <a:ext cx="4071620" cy="484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5</a:t>
            </a:r>
            <a:r>
              <a:rPr lang="en-US" sz="1500" dirty="0">
                <a:solidFill>
                  <a:schemeClr val="tx2"/>
                </a:solidFill>
              </a:rPr>
              <a:t>  </a:t>
            </a:r>
            <a:r>
              <a:rPr lang="en-US" sz="1500" i="1" dirty="0">
                <a:solidFill>
                  <a:schemeClr val="tx2"/>
                </a:solidFill>
              </a:rPr>
              <a:t>Werk je al lang in Gent?</a:t>
            </a:r>
            <a:r>
              <a:rPr lang="en-US" sz="1500" dirty="0">
                <a:solidFill>
                  <a:schemeClr val="tx2"/>
                </a:solidFill>
              </a:rPr>
              <a:t>  (5 jaar)</a:t>
            </a:r>
            <a:endParaRPr lang="en-US" sz="1500" dirty="0"/>
          </a:p>
        </p:txBody>
      </p:sp>
      <p:sp>
        <p:nvSpPr>
          <p:cNvPr id="27" name="Text 18"/>
          <p:cNvSpPr txBox="1"/>
          <p:nvPr/>
        </p:nvSpPr>
        <p:spPr>
          <a:xfrm>
            <a:off x="7477252" y="3863970"/>
            <a:ext cx="4071620" cy="634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werk </a:t>
            </a:r>
            <a:r>
              <a:rPr lang="en-US" sz="1800" i="1" dirty="0">
                <a:solidFill>
                  <a:schemeClr val="accent5"/>
                </a:solidFill>
              </a:rPr>
              <a:t>………………………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8" name="Shape 19"/>
          <p:cNvSpPr/>
          <p:nvPr/>
        </p:nvSpPr>
        <p:spPr>
          <a:xfrm>
            <a:off x="6231636" y="4652264"/>
            <a:ext cx="5408676" cy="1209040"/>
          </a:xfrm>
          <a:prstGeom prst="roundRect">
            <a:avLst>
              <a:gd name="adj" fmla="val 9076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9" name="Image 6" descr="busts in silhouett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8796" y="4789424"/>
            <a:ext cx="925576" cy="925576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7477252" y="4716272"/>
            <a:ext cx="4071620" cy="484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6</a:t>
            </a:r>
            <a:r>
              <a:rPr lang="en-US" sz="1500" dirty="0">
                <a:solidFill>
                  <a:schemeClr val="tx2"/>
                </a:solidFill>
              </a:rPr>
              <a:t>  </a:t>
            </a:r>
            <a:r>
              <a:rPr lang="en-US" sz="1500" i="1" dirty="0">
                <a:solidFill>
                  <a:schemeClr val="tx2"/>
                </a:solidFill>
              </a:rPr>
              <a:t>Hoeveel collega’s heb je?</a:t>
            </a:r>
            <a:r>
              <a:rPr lang="en-US" sz="1500" dirty="0">
                <a:solidFill>
                  <a:schemeClr val="tx2"/>
                </a:solidFill>
              </a:rPr>
              <a:t>  (veel)</a:t>
            </a:r>
            <a:endParaRPr lang="en-US" sz="1500" dirty="0"/>
          </a:p>
        </p:txBody>
      </p:sp>
      <p:sp>
        <p:nvSpPr>
          <p:cNvPr id="31" name="Text 21"/>
          <p:cNvSpPr txBox="1"/>
          <p:nvPr/>
        </p:nvSpPr>
        <p:spPr>
          <a:xfrm>
            <a:off x="7477252" y="5201026"/>
            <a:ext cx="4071620" cy="634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heb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Répondez avec er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Répondez sans répéter le mot : utilisez </a:t>
            </a:r>
            <a:r>
              <a:rPr lang="en-US" sz="1700" i="1" dirty="0">
                <a:solidFill>
                  <a:schemeClr val="accent5"/>
                </a:solidFill>
              </a:rPr>
              <a:t>er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78152"/>
            <a:ext cx="5408676" cy="1209040"/>
          </a:xfrm>
          <a:prstGeom prst="roundRect">
            <a:avLst>
              <a:gd name="adj" fmla="val 9076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teddy be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115312"/>
            <a:ext cx="925576" cy="92557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794256" y="2042160"/>
            <a:ext cx="4071620" cy="484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1</a:t>
            </a:r>
            <a:r>
              <a:rPr lang="en-US" sz="1500" dirty="0">
                <a:solidFill>
                  <a:schemeClr val="tx2"/>
                </a:solidFill>
              </a:rPr>
              <a:t>  </a:t>
            </a:r>
            <a:r>
              <a:rPr lang="en-US" sz="1500" i="1" dirty="0">
                <a:solidFill>
                  <a:schemeClr val="tx2"/>
                </a:solidFill>
              </a:rPr>
              <a:t>Hoeveel kinderen heb je?</a:t>
            </a:r>
            <a:r>
              <a:rPr lang="en-US" sz="1500" dirty="0">
                <a:solidFill>
                  <a:schemeClr val="tx2"/>
                </a:solidFill>
              </a:rPr>
              <a:t>  (2)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1794256" y="2526914"/>
            <a:ext cx="4071620" cy="634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heb </a:t>
            </a:r>
            <a:r>
              <a:rPr lang="en-US" sz="1800" b="1" i="1" dirty="0">
                <a:solidFill>
                  <a:schemeClr val="accent3"/>
                </a:solidFill>
              </a:rPr>
              <a:t>er twee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3" name="Shape 8"/>
          <p:cNvSpPr/>
          <p:nvPr/>
        </p:nvSpPr>
        <p:spPr>
          <a:xfrm>
            <a:off x="548640" y="3315208"/>
            <a:ext cx="5408676" cy="1209040"/>
          </a:xfrm>
          <a:prstGeom prst="roundRect">
            <a:avLst>
              <a:gd name="adj" fmla="val 9076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4" name="Image 2" descr="round pushpi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452368"/>
            <a:ext cx="925576" cy="92557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794256" y="3379216"/>
            <a:ext cx="4071620" cy="484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2</a:t>
            </a:r>
            <a:r>
              <a:rPr lang="en-US" sz="1500" dirty="0">
                <a:solidFill>
                  <a:schemeClr val="tx2"/>
                </a:solidFill>
              </a:rPr>
              <a:t>  </a:t>
            </a:r>
            <a:r>
              <a:rPr lang="en-US" sz="1500" i="1" dirty="0">
                <a:solidFill>
                  <a:schemeClr val="tx2"/>
                </a:solidFill>
              </a:rPr>
              <a:t>Ben je al in Brugge geweest?</a:t>
            </a:r>
            <a:r>
              <a:rPr lang="en-US" sz="1500" dirty="0">
                <a:solidFill>
                  <a:schemeClr val="tx2"/>
                </a:solidFill>
              </a:rPr>
              <a:t>  (ja, vorig jaar)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1794256" y="3863970"/>
            <a:ext cx="4071620" cy="634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Ja, ik ben </a:t>
            </a:r>
            <a:r>
              <a:rPr lang="en-US" sz="1800" b="1" i="1" dirty="0">
                <a:solidFill>
                  <a:schemeClr val="accent3"/>
                </a:solidFill>
              </a:rPr>
              <a:t>er vorig jaar</a:t>
            </a:r>
            <a:r>
              <a:rPr lang="en-US" sz="1800" i="1" dirty="0">
                <a:solidFill>
                  <a:schemeClr val="tx1"/>
                </a:solidFill>
              </a:rPr>
              <a:t> geweest.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548640" y="4652264"/>
            <a:ext cx="5408676" cy="1209040"/>
          </a:xfrm>
          <a:prstGeom prst="roundRect">
            <a:avLst>
              <a:gd name="adj" fmla="val 9076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8" name="Image 3" descr="pe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4789424"/>
            <a:ext cx="925576" cy="925576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794256" y="4716272"/>
            <a:ext cx="4071620" cy="484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3</a:t>
            </a:r>
            <a:r>
              <a:rPr lang="en-US" sz="1500" dirty="0">
                <a:solidFill>
                  <a:schemeClr val="tx2"/>
                </a:solidFill>
              </a:rPr>
              <a:t>  </a:t>
            </a:r>
            <a:r>
              <a:rPr lang="en-US" sz="1500" i="1" dirty="0">
                <a:solidFill>
                  <a:schemeClr val="tx2"/>
                </a:solidFill>
              </a:rPr>
              <a:t>Heb je een pen voor mij?</a:t>
            </a:r>
            <a:r>
              <a:rPr lang="en-US" sz="1500" dirty="0">
                <a:solidFill>
                  <a:schemeClr val="tx2"/>
                </a:solidFill>
              </a:rPr>
              <a:t>  (nee)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1794256" y="5201026"/>
            <a:ext cx="4071620" cy="634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Nee, ik heb </a:t>
            </a:r>
            <a:r>
              <a:rPr lang="en-US" sz="1800" b="1" i="1" dirty="0">
                <a:solidFill>
                  <a:schemeClr val="accent3"/>
                </a:solidFill>
              </a:rPr>
              <a:t>er geen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1" name="Shape 14"/>
          <p:cNvSpPr/>
          <p:nvPr/>
        </p:nvSpPr>
        <p:spPr>
          <a:xfrm>
            <a:off x="6231636" y="1978152"/>
            <a:ext cx="5408676" cy="1209040"/>
          </a:xfrm>
          <a:prstGeom prst="roundRect">
            <a:avLst>
              <a:gd name="adj" fmla="val 9076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4" descr="thinking fac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8796" y="2115312"/>
            <a:ext cx="925576" cy="925576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7477252" y="2042160"/>
            <a:ext cx="4071620" cy="484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4</a:t>
            </a:r>
            <a:r>
              <a:rPr lang="en-US" sz="1500" dirty="0">
                <a:solidFill>
                  <a:schemeClr val="tx2"/>
                </a:solidFill>
              </a:rPr>
              <a:t>  </a:t>
            </a:r>
            <a:r>
              <a:rPr lang="en-US" sz="1500" i="1" dirty="0">
                <a:solidFill>
                  <a:schemeClr val="tx2"/>
                </a:solidFill>
              </a:rPr>
              <a:t>Denk je aan de vergadering?</a:t>
            </a:r>
            <a:r>
              <a:rPr lang="en-US" sz="1500" dirty="0">
                <a:solidFill>
                  <a:schemeClr val="tx2"/>
                </a:solidFill>
              </a:rPr>
              <a:t>  (ja)</a:t>
            </a:r>
            <a:endParaRPr lang="en-US" sz="1500" dirty="0"/>
          </a:p>
        </p:txBody>
      </p:sp>
      <p:sp>
        <p:nvSpPr>
          <p:cNvPr id="24" name="Text 16"/>
          <p:cNvSpPr txBox="1"/>
          <p:nvPr/>
        </p:nvSpPr>
        <p:spPr>
          <a:xfrm>
            <a:off x="7477252" y="2526914"/>
            <a:ext cx="4071620" cy="634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Ja, ik denk </a:t>
            </a:r>
            <a:r>
              <a:rPr lang="en-US" sz="1800" b="1" i="1" dirty="0">
                <a:solidFill>
                  <a:schemeClr val="accent3"/>
                </a:solidFill>
              </a:rPr>
              <a:t>eraan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hape 17"/>
          <p:cNvSpPr/>
          <p:nvPr/>
        </p:nvSpPr>
        <p:spPr>
          <a:xfrm>
            <a:off x="6231636" y="3315208"/>
            <a:ext cx="5408676" cy="1209040"/>
          </a:xfrm>
          <a:prstGeom prst="roundRect">
            <a:avLst>
              <a:gd name="adj" fmla="val 9076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6" name="Image 5" descr="office buildi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8796" y="3452368"/>
            <a:ext cx="925576" cy="925576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7477252" y="3379216"/>
            <a:ext cx="4071620" cy="484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5</a:t>
            </a:r>
            <a:r>
              <a:rPr lang="en-US" sz="1500" dirty="0">
                <a:solidFill>
                  <a:schemeClr val="tx2"/>
                </a:solidFill>
              </a:rPr>
              <a:t>  </a:t>
            </a:r>
            <a:r>
              <a:rPr lang="en-US" sz="1500" i="1" dirty="0">
                <a:solidFill>
                  <a:schemeClr val="tx2"/>
                </a:solidFill>
              </a:rPr>
              <a:t>Werk je al lang in Gent?</a:t>
            </a:r>
            <a:r>
              <a:rPr lang="en-US" sz="1500" dirty="0">
                <a:solidFill>
                  <a:schemeClr val="tx2"/>
                </a:solidFill>
              </a:rPr>
              <a:t>  (5 jaar)</a:t>
            </a:r>
            <a:endParaRPr lang="en-US" sz="1500" dirty="0"/>
          </a:p>
        </p:txBody>
      </p:sp>
      <p:sp>
        <p:nvSpPr>
          <p:cNvPr id="28" name="Text 19"/>
          <p:cNvSpPr txBox="1"/>
          <p:nvPr/>
        </p:nvSpPr>
        <p:spPr>
          <a:xfrm>
            <a:off x="7477252" y="3863970"/>
            <a:ext cx="4071620" cy="634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werk </a:t>
            </a:r>
            <a:r>
              <a:rPr lang="en-US" sz="1800" b="1" i="1" dirty="0">
                <a:solidFill>
                  <a:schemeClr val="accent3"/>
                </a:solidFill>
              </a:rPr>
              <a:t>er al vijf jaar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9" name="Shape 20"/>
          <p:cNvSpPr/>
          <p:nvPr/>
        </p:nvSpPr>
        <p:spPr>
          <a:xfrm>
            <a:off x="6231636" y="4652264"/>
            <a:ext cx="5408676" cy="1209040"/>
          </a:xfrm>
          <a:prstGeom prst="roundRect">
            <a:avLst>
              <a:gd name="adj" fmla="val 9076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0" name="Image 6" descr="busts in silhouett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8796" y="4789424"/>
            <a:ext cx="925576" cy="925576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7477252" y="4716272"/>
            <a:ext cx="4071620" cy="484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6</a:t>
            </a:r>
            <a:r>
              <a:rPr lang="en-US" sz="1500" dirty="0">
                <a:solidFill>
                  <a:schemeClr val="tx2"/>
                </a:solidFill>
              </a:rPr>
              <a:t>  </a:t>
            </a:r>
            <a:r>
              <a:rPr lang="en-US" sz="1500" i="1" dirty="0">
                <a:solidFill>
                  <a:schemeClr val="tx2"/>
                </a:solidFill>
              </a:rPr>
              <a:t>Hoeveel collega’s heb je?</a:t>
            </a:r>
            <a:r>
              <a:rPr lang="en-US" sz="1500" dirty="0">
                <a:solidFill>
                  <a:schemeClr val="tx2"/>
                </a:solidFill>
              </a:rPr>
              <a:t>  (veel)</a:t>
            </a:r>
            <a:endParaRPr lang="en-US" sz="1500" dirty="0"/>
          </a:p>
        </p:txBody>
      </p:sp>
      <p:sp>
        <p:nvSpPr>
          <p:cNvPr id="32" name="Text 22"/>
          <p:cNvSpPr txBox="1"/>
          <p:nvPr/>
        </p:nvSpPr>
        <p:spPr>
          <a:xfrm>
            <a:off x="7477252" y="5201026"/>
            <a:ext cx="4071620" cy="634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heb </a:t>
            </a:r>
            <a:r>
              <a:rPr lang="en-US" sz="1800" b="1" i="1" dirty="0">
                <a:solidFill>
                  <a:schemeClr val="accent3"/>
                </a:solidFill>
              </a:rPr>
              <a:t>er veel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33" name="Text 23"/>
          <p:cNvSpPr txBox="1"/>
          <p:nvPr/>
        </p:nvSpPr>
        <p:spPr>
          <a:xfrm>
            <a:off x="548640" y="5943600"/>
            <a:ext cx="11091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N° 4 : aussi </a:t>
            </a:r>
            <a:r>
              <a:rPr lang="en-US" sz="1400" i="1" dirty="0">
                <a:solidFill>
                  <a:schemeClr val="accent5"/>
                </a:solidFill>
              </a:rPr>
              <a:t>Ja, daar denk ik aan.</a:t>
            </a:r>
            <a:r>
              <a:rPr lang="en-US" sz="1400" i="1" dirty="0">
                <a:solidFill>
                  <a:schemeClr val="accent5"/>
                </a:solidFill>
              </a:rPr>
              <a:t> (on insiste). N° 2 : aussi </a:t>
            </a:r>
            <a:r>
              <a:rPr lang="en-US" sz="1400" i="1" dirty="0">
                <a:solidFill>
                  <a:schemeClr val="accent5"/>
                </a:solidFill>
              </a:rPr>
              <a:t>Ja, ik ben er al geweest.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Er of daar?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</a:t>
            </a:r>
            <a:r>
              <a:rPr lang="en-US" sz="1700" i="1" dirty="0">
                <a:solidFill>
                  <a:schemeClr val="accent5"/>
                </a:solidFill>
              </a:rPr>
              <a:t>er</a:t>
            </a:r>
            <a:r>
              <a:rPr lang="en-US" sz="1700" i="1" dirty="0">
                <a:solidFill>
                  <a:schemeClr val="accent5"/>
                </a:solidFill>
              </a:rPr>
              <a:t> ou </a:t>
            </a:r>
            <a:r>
              <a:rPr lang="en-US" sz="1700" i="1" dirty="0">
                <a:solidFill>
                  <a:schemeClr val="accent5"/>
                </a:solidFill>
              </a:rPr>
              <a:t>daar</a:t>
            </a:r>
            <a:r>
              <a:rPr lang="en-US" sz="1700" i="1" dirty="0">
                <a:solidFill>
                  <a:schemeClr val="accent5"/>
                </a:solidFill>
              </a:rPr>
              <a:t> (</a:t>
            </a:r>
            <a:r>
              <a:rPr lang="en-US" sz="1700" i="1" dirty="0">
                <a:solidFill>
                  <a:schemeClr val="accent5"/>
                </a:solidFill>
              </a:rPr>
              <a:t>daar</a:t>
            </a:r>
            <a:r>
              <a:rPr lang="en-US" sz="1700" i="1" dirty="0">
                <a:solidFill>
                  <a:schemeClr val="accent5"/>
                </a:solidFill>
              </a:rPr>
              <a:t> : pour insister ou montrer).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069592"/>
            <a:ext cx="534009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1  </a:t>
            </a:r>
            <a:r>
              <a:rPr lang="en-US" sz="2000" i="1" dirty="0">
                <a:solidFill>
                  <a:schemeClr val="tx1"/>
                </a:solidFill>
              </a:rPr>
              <a:t>Ken je Gent? — Ja, ik woon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  <a:p>
            <a:pPr indent="0" marL="0">
              <a:spcAft>
                <a:spcPts val="20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2 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woon ik! (en montrant la maison)</a:t>
            </a:r>
            <a:endParaRPr lang="en-US" sz="2000" dirty="0"/>
          </a:p>
          <a:p>
            <a:pPr indent="0" marL="0">
              <a:spcAft>
                <a:spcPts val="20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3  </a:t>
            </a:r>
            <a:r>
              <a:rPr lang="en-US" sz="2000" i="1" dirty="0">
                <a:solidFill>
                  <a:schemeClr val="tx1"/>
                </a:solidFill>
              </a:rPr>
              <a:t>Hoeveel boeken heb je? — Ik heb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tien.</a:t>
            </a:r>
            <a:endParaRPr lang="en-US" sz="2000" dirty="0"/>
          </a:p>
          <a:p>
            <a:pPr indent="0" marL="0">
              <a:spcAft>
                <a:spcPts val="20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4 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is niemand thuis.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069592"/>
            <a:ext cx="534009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5  </a:t>
            </a:r>
            <a:r>
              <a:rPr lang="en-US" sz="2000" i="1" dirty="0">
                <a:solidFill>
                  <a:schemeClr val="tx1"/>
                </a:solidFill>
              </a:rPr>
              <a:t>Is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nog koffie?</a:t>
            </a:r>
            <a:endParaRPr lang="en-US" sz="2000" dirty="0"/>
          </a:p>
          <a:p>
            <a:pPr indent="0" marL="0">
              <a:spcAft>
                <a:spcPts val="20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6  </a:t>
            </a:r>
            <a:r>
              <a:rPr lang="en-US" sz="2000" i="1" dirty="0">
                <a:solidFill>
                  <a:schemeClr val="tx1"/>
                </a:solidFill>
              </a:rPr>
              <a:t>Ik heb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geen zin in.</a:t>
            </a:r>
            <a:endParaRPr lang="en-US" sz="2000" dirty="0"/>
          </a:p>
          <a:p>
            <a:pPr indent="0" marL="0">
              <a:spcAft>
                <a:spcPts val="20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7 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heb ik echt geen zin in!</a:t>
            </a:r>
            <a:endParaRPr lang="en-US" sz="2000" dirty="0"/>
          </a:p>
          <a:p>
            <a:pPr indent="0" marL="0">
              <a:spcAft>
                <a:spcPts val="20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8 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wordt gebeld.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Er of daar?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</a:t>
            </a:r>
            <a:r>
              <a:rPr lang="en-US" sz="1700" i="1" dirty="0">
                <a:solidFill>
                  <a:schemeClr val="accent5"/>
                </a:solidFill>
              </a:rPr>
              <a:t>er</a:t>
            </a:r>
            <a:r>
              <a:rPr lang="en-US" sz="1700" i="1" dirty="0">
                <a:solidFill>
                  <a:schemeClr val="accent5"/>
                </a:solidFill>
              </a:rPr>
              <a:t> ou </a:t>
            </a:r>
            <a:r>
              <a:rPr lang="en-US" sz="1700" i="1" dirty="0">
                <a:solidFill>
                  <a:schemeClr val="accent5"/>
                </a:solidFill>
              </a:rPr>
              <a:t>daar</a:t>
            </a:r>
            <a:r>
              <a:rPr lang="en-US" sz="1700" i="1" dirty="0">
                <a:solidFill>
                  <a:schemeClr val="accent5"/>
                </a:solidFill>
              </a:rPr>
              <a:t> (</a:t>
            </a:r>
            <a:r>
              <a:rPr lang="en-US" sz="1700" i="1" dirty="0">
                <a:solidFill>
                  <a:schemeClr val="accent5"/>
                </a:solidFill>
              </a:rPr>
              <a:t>daar</a:t>
            </a:r>
            <a:r>
              <a:rPr lang="en-US" sz="1700" i="1" dirty="0">
                <a:solidFill>
                  <a:schemeClr val="accent5"/>
                </a:solidFill>
              </a:rPr>
              <a:t> : pour insister ou montrer).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069592"/>
            <a:ext cx="534009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1  </a:t>
            </a:r>
            <a:r>
              <a:rPr lang="en-US" sz="2000" i="1" dirty="0">
                <a:solidFill>
                  <a:schemeClr val="tx1"/>
                </a:solidFill>
              </a:rPr>
              <a:t>Ken je Gent? — Ja, ik woon </a:t>
            </a:r>
            <a:r>
              <a:rPr lang="en-US" sz="2000" b="1" i="1" dirty="0">
                <a:solidFill>
                  <a:schemeClr val="accent3"/>
                </a:solidFill>
              </a:rPr>
              <a:t>er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  <a:p>
            <a:pPr indent="0" marL="0">
              <a:spcAft>
                <a:spcPts val="20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2  </a:t>
            </a:r>
            <a:r>
              <a:rPr lang="en-US" sz="2000" b="1" i="1" dirty="0">
                <a:solidFill>
                  <a:schemeClr val="accent3"/>
                </a:solidFill>
              </a:rPr>
              <a:t>Daar</a:t>
            </a:r>
            <a:r>
              <a:rPr lang="en-US" sz="2000" i="1" dirty="0">
                <a:solidFill>
                  <a:schemeClr val="tx1"/>
                </a:solidFill>
              </a:rPr>
              <a:t> woon ik! (en montrant la maison)</a:t>
            </a:r>
            <a:endParaRPr lang="en-US" sz="2000" dirty="0"/>
          </a:p>
          <a:p>
            <a:pPr indent="0" marL="0">
              <a:spcAft>
                <a:spcPts val="20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3  </a:t>
            </a:r>
            <a:r>
              <a:rPr lang="en-US" sz="2000" i="1" dirty="0">
                <a:solidFill>
                  <a:schemeClr val="tx1"/>
                </a:solidFill>
              </a:rPr>
              <a:t>Hoeveel boeken heb je? — Ik heb </a:t>
            </a:r>
            <a:r>
              <a:rPr lang="en-US" sz="2000" b="1" i="1" dirty="0">
                <a:solidFill>
                  <a:schemeClr val="accent3"/>
                </a:solidFill>
              </a:rPr>
              <a:t>er</a:t>
            </a:r>
            <a:r>
              <a:rPr lang="en-US" sz="2000" i="1" dirty="0">
                <a:solidFill>
                  <a:schemeClr val="tx1"/>
                </a:solidFill>
              </a:rPr>
              <a:t> tien.</a:t>
            </a:r>
            <a:endParaRPr lang="en-US" sz="2000" dirty="0"/>
          </a:p>
          <a:p>
            <a:pPr indent="0" marL="0">
              <a:spcAft>
                <a:spcPts val="20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4  </a:t>
            </a:r>
            <a:r>
              <a:rPr lang="en-US" sz="2000" b="1" i="1" dirty="0">
                <a:solidFill>
                  <a:schemeClr val="accent3"/>
                </a:solidFill>
              </a:rPr>
              <a:t>Er</a:t>
            </a:r>
            <a:r>
              <a:rPr lang="en-US" sz="2000" i="1" dirty="0">
                <a:solidFill>
                  <a:schemeClr val="tx1"/>
                </a:solidFill>
              </a:rPr>
              <a:t> is niemand thuis.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069592"/>
            <a:ext cx="534009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5  </a:t>
            </a:r>
            <a:r>
              <a:rPr lang="en-US" sz="2000" i="1" dirty="0">
                <a:solidFill>
                  <a:schemeClr val="tx1"/>
                </a:solidFill>
              </a:rPr>
              <a:t>Is </a:t>
            </a:r>
            <a:r>
              <a:rPr lang="en-US" sz="2000" b="1" i="1" dirty="0">
                <a:solidFill>
                  <a:schemeClr val="accent3"/>
                </a:solidFill>
              </a:rPr>
              <a:t>er</a:t>
            </a:r>
            <a:r>
              <a:rPr lang="en-US" sz="2000" i="1" dirty="0">
                <a:solidFill>
                  <a:schemeClr val="tx1"/>
                </a:solidFill>
              </a:rPr>
              <a:t> nog koffie?</a:t>
            </a:r>
            <a:endParaRPr lang="en-US" sz="2000" dirty="0"/>
          </a:p>
          <a:p>
            <a:pPr indent="0" marL="0">
              <a:spcAft>
                <a:spcPts val="20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6  </a:t>
            </a:r>
            <a:r>
              <a:rPr lang="en-US" sz="2000" i="1" dirty="0">
                <a:solidFill>
                  <a:schemeClr val="tx1"/>
                </a:solidFill>
              </a:rPr>
              <a:t>Ik heb </a:t>
            </a:r>
            <a:r>
              <a:rPr lang="en-US" sz="2000" b="1" i="1" dirty="0">
                <a:solidFill>
                  <a:schemeClr val="accent3"/>
                </a:solidFill>
              </a:rPr>
              <a:t>er</a:t>
            </a:r>
            <a:r>
              <a:rPr lang="en-US" sz="2000" i="1" dirty="0">
                <a:solidFill>
                  <a:schemeClr val="tx1"/>
                </a:solidFill>
              </a:rPr>
              <a:t> geen zin in.</a:t>
            </a:r>
            <a:endParaRPr lang="en-US" sz="2000" dirty="0"/>
          </a:p>
          <a:p>
            <a:pPr indent="0" marL="0">
              <a:spcAft>
                <a:spcPts val="20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7  </a:t>
            </a:r>
            <a:r>
              <a:rPr lang="en-US" sz="2000" b="1" i="1" dirty="0">
                <a:solidFill>
                  <a:schemeClr val="accent3"/>
                </a:solidFill>
              </a:rPr>
              <a:t>Daar</a:t>
            </a:r>
            <a:r>
              <a:rPr lang="en-US" sz="2000" i="1" dirty="0">
                <a:solidFill>
                  <a:schemeClr val="tx1"/>
                </a:solidFill>
              </a:rPr>
              <a:t> heb ik echt geen zin in!</a:t>
            </a:r>
            <a:endParaRPr lang="en-US" sz="2000" dirty="0"/>
          </a:p>
          <a:p>
            <a:pPr indent="0" marL="0">
              <a:spcAft>
                <a:spcPts val="20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8  </a:t>
            </a:r>
            <a:r>
              <a:rPr lang="en-US" sz="2000" b="1" i="1" dirty="0">
                <a:solidFill>
                  <a:schemeClr val="accent3"/>
                </a:solidFill>
              </a:rPr>
              <a:t>Er</a:t>
            </a:r>
            <a:r>
              <a:rPr lang="en-US" sz="2000" i="1" dirty="0">
                <a:solidFill>
                  <a:schemeClr val="tx1"/>
                </a:solidFill>
              </a:rPr>
              <a:t> wordt gebeld.</a:t>
            </a:r>
            <a:endParaRPr lang="en-US" sz="20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585216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N° 4 et 8 : </a:t>
            </a:r>
            <a:r>
              <a:rPr lang="en-US" sz="1400" i="1" dirty="0">
                <a:solidFill>
                  <a:schemeClr val="accent5"/>
                </a:solidFill>
              </a:rPr>
              <a:t>er</a:t>
            </a:r>
            <a:r>
              <a:rPr lang="en-US" sz="1400" i="1" dirty="0">
                <a:solidFill>
                  <a:schemeClr val="accent5"/>
                </a:solidFill>
              </a:rPr>
              <a:t> en tête pour « il y a » (①) et le passif (⑤). N° 1 et 6 : </a:t>
            </a:r>
            <a:r>
              <a:rPr lang="en-US" sz="1400" i="1" dirty="0">
                <a:solidFill>
                  <a:schemeClr val="accent5"/>
                </a:solidFill>
              </a:rPr>
              <a:t>daar</a:t>
            </a:r>
            <a:r>
              <a:rPr lang="en-US" sz="1400" i="1" dirty="0">
                <a:solidFill>
                  <a:schemeClr val="accent5"/>
                </a:solidFill>
              </a:rPr>
              <a:t> est aussi possible.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Tom décrit le nouveau bureau.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2517"/>
            </a:avLst>
          </a:prstGeom>
          <a:solidFill>
            <a:srgbClr val="E7F6EC"/>
          </a:solidFill>
          <a:ln w="15875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mobile pho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023872"/>
            <a:ext cx="457200" cy="45720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234440" y="2023872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Tom</a:t>
            </a:r>
            <a:r>
              <a:rPr lang="en-US" sz="1400" dirty="0">
                <a:solidFill>
                  <a:schemeClr val="accent3"/>
                </a:solidFill>
              </a:rPr>
              <a:t> · vandaag 17:45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868680" y="2618232"/>
            <a:ext cx="768096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Hoi Sofie! Ik heb het nieuwe kantoor gezien: ik ben </a:t>
            </a:r>
            <a:r>
              <a:rPr lang="en-US" sz="1900" i="1" dirty="0">
                <a:solidFill>
                  <a:schemeClr val="tx1"/>
                </a:solidFill>
              </a:rPr>
              <a:t>geweest er gisteren</a:t>
            </a:r>
            <a:r>
              <a:rPr lang="en-US" sz="1900" i="1" dirty="0">
                <a:solidFill>
                  <a:schemeClr val="tx1"/>
                </a:solidFill>
              </a:rPr>
              <a:t>. </a:t>
            </a:r>
            <a:r>
              <a:rPr lang="en-US" sz="1900" i="1" dirty="0">
                <a:solidFill>
                  <a:schemeClr val="tx1"/>
                </a:solidFill>
              </a:rPr>
              <a:t>Het is</a:t>
            </a:r>
            <a:r>
              <a:rPr lang="en-US" sz="1900" i="1" dirty="0">
                <a:solidFill>
                  <a:schemeClr val="tx1"/>
                </a:solidFill>
              </a:rPr>
              <a:t> een grote keuken en </a:t>
            </a:r>
            <a:r>
              <a:rPr lang="en-US" sz="1900" i="1" dirty="0">
                <a:solidFill>
                  <a:schemeClr val="tx1"/>
                </a:solidFill>
              </a:rPr>
              <a:t>er staat de koffiemachine</a:t>
            </a:r>
            <a:r>
              <a:rPr lang="en-US" sz="1900" i="1" dirty="0">
                <a:solidFill>
                  <a:schemeClr val="tx1"/>
                </a:solidFill>
              </a:rPr>
              <a:t> naast het raam. Vergaderzalen? We hebben </a:t>
            </a:r>
            <a:r>
              <a:rPr lang="en-US" sz="1900" i="1" dirty="0">
                <a:solidFill>
                  <a:schemeClr val="tx1"/>
                </a:solidFill>
              </a:rPr>
              <a:t>drie</a:t>
            </a:r>
            <a:r>
              <a:rPr lang="en-US" sz="1900" i="1" dirty="0">
                <a:solidFill>
                  <a:schemeClr val="tx1"/>
                </a:solidFill>
              </a:rPr>
              <a:t>! Er wordt nog gewerkt aan de lift, dus de verhuizing is pas in mei. Ik kijk </a:t>
            </a:r>
            <a:r>
              <a:rPr lang="en-US" sz="1900" i="1" dirty="0">
                <a:solidFill>
                  <a:schemeClr val="tx1"/>
                </a:solidFill>
              </a:rPr>
              <a:t>uit naar het</a:t>
            </a:r>
            <a:r>
              <a:rPr lang="en-US" sz="1900" i="1" dirty="0">
                <a:solidFill>
                  <a:schemeClr val="tx1"/>
                </a:solidFill>
              </a:rPr>
              <a:t>! Groetjes, Tom</a:t>
            </a:r>
            <a:endParaRPr lang="en-US" sz="1900" dirty="0"/>
          </a:p>
        </p:txBody>
      </p:sp>
      <p:pic>
        <p:nvPicPr>
          <p:cNvPr id="12" name="Image 2" descr="magnifying glass tilted lef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Tom décrit le nouveau bureau.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2517"/>
            </a:avLst>
          </a:prstGeom>
          <a:solidFill>
            <a:srgbClr val="E7F6EC"/>
          </a:solidFill>
          <a:ln w="15875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mobile pho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023872"/>
            <a:ext cx="457200" cy="4572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34440" y="2023872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Tom</a:t>
            </a:r>
            <a:r>
              <a:rPr lang="en-US" sz="1400" dirty="0">
                <a:solidFill>
                  <a:schemeClr val="accent3"/>
                </a:solidFill>
              </a:rPr>
              <a:t> · vandaag 17:45</a:t>
            </a:r>
            <a:endParaRPr lang="en-US" sz="1400" dirty="0"/>
          </a:p>
        </p:txBody>
      </p:sp>
      <p:sp>
        <p:nvSpPr>
          <p:cNvPr id="12" name="Text 7"/>
          <p:cNvSpPr txBox="1"/>
          <p:nvPr/>
        </p:nvSpPr>
        <p:spPr>
          <a:xfrm>
            <a:off x="868680" y="2618232"/>
            <a:ext cx="768096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Hoi Sofie! Ik heb het nieuwe kantoor gezien: ik ben </a:t>
            </a:r>
            <a:r>
              <a:rPr lang="en-US" sz="1900" i="1" strike="sngStrike" dirty="0">
                <a:solidFill>
                  <a:schemeClr val="accent6"/>
                </a:solidFill>
              </a:rPr>
              <a:t>geweest er gisteren</a:t>
            </a:r>
            <a:r>
              <a:rPr lang="en-US" sz="1900" b="1" i="1" dirty="0">
                <a:solidFill>
                  <a:schemeClr val="accent3"/>
                </a:solidFill>
              </a:rPr>
              <a:t> er gisteren geweest</a:t>
            </a:r>
            <a:r>
              <a:rPr lang="en-US" sz="1900" i="1" dirty="0">
                <a:solidFill>
                  <a:schemeClr val="tx1"/>
                </a:solidFill>
              </a:rPr>
              <a:t>. </a:t>
            </a:r>
            <a:r>
              <a:rPr lang="en-US" sz="1900" i="1" strike="sngStrike" dirty="0">
                <a:solidFill>
                  <a:schemeClr val="accent6"/>
                </a:solidFill>
              </a:rPr>
              <a:t>Het is</a:t>
            </a:r>
            <a:r>
              <a:rPr lang="en-US" sz="1900" b="1" i="1" dirty="0">
                <a:solidFill>
                  <a:schemeClr val="accent3"/>
                </a:solidFill>
              </a:rPr>
              <a:t> Er is</a:t>
            </a:r>
            <a:r>
              <a:rPr lang="en-US" sz="1900" i="1" dirty="0">
                <a:solidFill>
                  <a:schemeClr val="tx1"/>
                </a:solidFill>
              </a:rPr>
              <a:t> een grote keuken en </a:t>
            </a:r>
            <a:r>
              <a:rPr lang="en-US" sz="1900" i="1" strike="sngStrike" dirty="0">
                <a:solidFill>
                  <a:schemeClr val="accent6"/>
                </a:solidFill>
              </a:rPr>
              <a:t>er staat de koffiemachine</a:t>
            </a:r>
            <a:r>
              <a:rPr lang="en-US" sz="1900" b="1" i="1" dirty="0">
                <a:solidFill>
                  <a:schemeClr val="accent3"/>
                </a:solidFill>
              </a:rPr>
              <a:t> de koffiemachine staat</a:t>
            </a:r>
            <a:r>
              <a:rPr lang="en-US" sz="1900" i="1" dirty="0">
                <a:solidFill>
                  <a:schemeClr val="tx1"/>
                </a:solidFill>
              </a:rPr>
              <a:t> naast het raam. Vergaderzalen? We hebben </a:t>
            </a:r>
            <a:r>
              <a:rPr lang="en-US" sz="1900" i="1" strike="sngStrike" dirty="0">
                <a:solidFill>
                  <a:schemeClr val="accent6"/>
                </a:solidFill>
              </a:rPr>
              <a:t>drie</a:t>
            </a:r>
            <a:r>
              <a:rPr lang="en-US" sz="1900" b="1" i="1" dirty="0">
                <a:solidFill>
                  <a:schemeClr val="accent3"/>
                </a:solidFill>
              </a:rPr>
              <a:t> er drie</a:t>
            </a:r>
            <a:r>
              <a:rPr lang="en-US" sz="1900" i="1" dirty="0">
                <a:solidFill>
                  <a:schemeClr val="tx1"/>
                </a:solidFill>
              </a:rPr>
              <a:t>! Er wordt nog gewerkt aan de lift, dus de verhuizing is pas in mei. Ik kijk </a:t>
            </a:r>
            <a:r>
              <a:rPr lang="en-US" sz="1900" i="1" strike="sngStrike" dirty="0">
                <a:solidFill>
                  <a:schemeClr val="accent6"/>
                </a:solidFill>
              </a:rPr>
              <a:t>uit naar het</a:t>
            </a:r>
            <a:r>
              <a:rPr lang="en-US" sz="1900" b="1" i="1" dirty="0">
                <a:solidFill>
                  <a:schemeClr val="accent3"/>
                </a:solidFill>
              </a:rPr>
              <a:t> ernaar uit</a:t>
            </a:r>
            <a:r>
              <a:rPr lang="en-US" sz="1900" i="1" dirty="0">
                <a:solidFill>
                  <a:schemeClr val="tx1"/>
                </a:solidFill>
              </a:rPr>
              <a:t>! Groetjes, Tom</a:t>
            </a:r>
            <a:endParaRPr lang="en-US" sz="1900" dirty="0"/>
          </a:p>
        </p:txBody>
      </p:sp>
      <p:pic>
        <p:nvPicPr>
          <p:cNvPr id="13" name="Image 2" descr="magnifying glass tilted lef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0"/>
          <p:cNvSpPr txBox="1"/>
          <p:nvPr/>
        </p:nvSpPr>
        <p:spPr>
          <a:xfrm>
            <a:off x="9052560" y="4721352"/>
            <a:ext cx="258775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Correct : </a:t>
            </a:r>
            <a:r>
              <a:rPr lang="en-US" sz="1400" i="1" dirty="0">
                <a:solidFill>
                  <a:schemeClr val="accent5"/>
                </a:solidFill>
              </a:rPr>
              <a:t>Er wordt nog gewerkt aan de lift</a:t>
            </a:r>
            <a:r>
              <a:rPr lang="en-US" sz="1400" i="1" dirty="0">
                <a:solidFill>
                  <a:schemeClr val="accent5"/>
                </a:solidFill>
              </a:rPr>
              <a:t> (⑤). Erreurs : place ②, « il y a » ①, sujet défini, quantité ③, préposition ④.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Qu’y a-t-il dans le bureau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4173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Par deux : A ne regarde pas l’image et pose des questions ; B regarde et répond avec </a:t>
            </a:r>
            <a:r>
              <a:rPr lang="en-US" sz="1700" i="1" dirty="0">
                <a:solidFill>
                  <a:schemeClr val="tx2"/>
                </a:solidFill>
              </a:rPr>
              <a:t>er</a:t>
            </a:r>
            <a:r>
              <a:rPr lang="en-US" sz="1700" dirty="0">
                <a:solidFill>
                  <a:schemeClr val="tx2"/>
                </a:solidFill>
              </a:rPr>
              <a:t>. Puis on inverse.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548640" y="1920240"/>
            <a:ext cx="6583680" cy="4251960"/>
          </a:xfrm>
          <a:prstGeom prst="roundRect">
            <a:avLst>
              <a:gd name="adj" fmla="val 2581"/>
            </a:avLst>
          </a:prstGeom>
          <a:solidFill>
            <a:srgbClr val="FDF6E3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2057400"/>
            <a:ext cx="1463040" cy="1874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9" name="Image 0" descr="chai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2194560"/>
            <a:ext cx="384048" cy="384048"/>
          </a:xfrm>
          <a:prstGeom prst="rect">
            <a:avLst/>
          </a:prstGeom>
        </p:spPr>
      </p:pic>
      <p:pic>
        <p:nvPicPr>
          <p:cNvPr id="10" name="Image 1" descr="chai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2194560"/>
            <a:ext cx="384048" cy="384048"/>
          </a:xfrm>
          <a:prstGeom prst="rect">
            <a:avLst/>
          </a:prstGeom>
        </p:spPr>
      </p:pic>
      <p:pic>
        <p:nvPicPr>
          <p:cNvPr id="11" name="Image 2" descr="chai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9072" y="2194560"/>
            <a:ext cx="384048" cy="384048"/>
          </a:xfrm>
          <a:prstGeom prst="rect">
            <a:avLst/>
          </a:prstGeom>
        </p:spPr>
      </p:pic>
      <p:pic>
        <p:nvPicPr>
          <p:cNvPr id="12" name="Image 3" descr="chai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2633472"/>
            <a:ext cx="384048" cy="384048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731520" y="33832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4</a:t>
            </a:r>
            <a:endParaRPr lang="en-US" sz="2000" dirty="0"/>
          </a:p>
        </p:txBody>
      </p:sp>
      <p:sp>
        <p:nvSpPr>
          <p:cNvPr id="14" name="Shape 7"/>
          <p:cNvSpPr/>
          <p:nvPr/>
        </p:nvSpPr>
        <p:spPr>
          <a:xfrm>
            <a:off x="2331720" y="2057400"/>
            <a:ext cx="1463040" cy="1874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5" name="Image 4" descr="laptop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41448" y="2194560"/>
            <a:ext cx="384048" cy="384048"/>
          </a:xfrm>
          <a:prstGeom prst="rect">
            <a:avLst/>
          </a:prstGeom>
        </p:spPr>
      </p:pic>
      <p:pic>
        <p:nvPicPr>
          <p:cNvPr id="16" name="Image 5" descr="laptop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80360" y="2194560"/>
            <a:ext cx="384048" cy="384048"/>
          </a:xfrm>
          <a:prstGeom prst="rect">
            <a:avLst/>
          </a:prstGeom>
        </p:spPr>
      </p:pic>
      <p:pic>
        <p:nvPicPr>
          <p:cNvPr id="17" name="Image 6" descr="laptop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19272" y="2194560"/>
            <a:ext cx="384048" cy="384048"/>
          </a:xfrm>
          <a:prstGeom prst="rect">
            <a:avLst/>
          </a:prstGeom>
        </p:spPr>
      </p:pic>
      <p:sp>
        <p:nvSpPr>
          <p:cNvPr id="18" name="Text 8"/>
          <p:cNvSpPr txBox="1"/>
          <p:nvPr/>
        </p:nvSpPr>
        <p:spPr>
          <a:xfrm>
            <a:off x="2331720" y="33832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3</a:t>
            </a:r>
            <a:endParaRPr lang="en-US" sz="2000" dirty="0"/>
          </a:p>
        </p:txBody>
      </p:sp>
      <p:sp>
        <p:nvSpPr>
          <p:cNvPr id="19" name="Shape 9"/>
          <p:cNvSpPr/>
          <p:nvPr/>
        </p:nvSpPr>
        <p:spPr>
          <a:xfrm>
            <a:off x="3931920" y="2057400"/>
            <a:ext cx="1463040" cy="1874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0" name="Image 7" descr="potted plan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41648" y="2194560"/>
            <a:ext cx="548640" cy="548640"/>
          </a:xfrm>
          <a:prstGeom prst="rect">
            <a:avLst/>
          </a:prstGeom>
        </p:spPr>
      </p:pic>
      <p:pic>
        <p:nvPicPr>
          <p:cNvPr id="21" name="Image 8" descr="potted plant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45152" y="2194560"/>
            <a:ext cx="548640" cy="548640"/>
          </a:xfrm>
          <a:prstGeom prst="rect">
            <a:avLst/>
          </a:prstGeom>
        </p:spPr>
      </p:pic>
      <p:sp>
        <p:nvSpPr>
          <p:cNvPr id="22" name="Text 10"/>
          <p:cNvSpPr txBox="1"/>
          <p:nvPr/>
        </p:nvSpPr>
        <p:spPr>
          <a:xfrm>
            <a:off x="3931920" y="33832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2</a:t>
            </a:r>
            <a:endParaRPr lang="en-US" sz="2000" dirty="0"/>
          </a:p>
        </p:txBody>
      </p:sp>
      <p:sp>
        <p:nvSpPr>
          <p:cNvPr id="23" name="Shape 11"/>
          <p:cNvSpPr/>
          <p:nvPr/>
        </p:nvSpPr>
        <p:spPr>
          <a:xfrm>
            <a:off x="5532120" y="2057400"/>
            <a:ext cx="1463040" cy="1874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4" name="Image 9" descr="printer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41848" y="2194560"/>
            <a:ext cx="548640" cy="548640"/>
          </a:xfrm>
          <a:prstGeom prst="rect">
            <a:avLst/>
          </a:prstGeom>
        </p:spPr>
      </p:pic>
      <p:sp>
        <p:nvSpPr>
          <p:cNvPr id="25" name="Text 12"/>
          <p:cNvSpPr txBox="1"/>
          <p:nvPr/>
        </p:nvSpPr>
        <p:spPr>
          <a:xfrm>
            <a:off x="5532120" y="33832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1</a:t>
            </a:r>
            <a:endParaRPr lang="en-US" sz="2000" dirty="0"/>
          </a:p>
        </p:txBody>
      </p:sp>
      <p:sp>
        <p:nvSpPr>
          <p:cNvPr id="26" name="Shape 13"/>
          <p:cNvSpPr/>
          <p:nvPr/>
        </p:nvSpPr>
        <p:spPr>
          <a:xfrm>
            <a:off x="731520" y="4114800"/>
            <a:ext cx="1463040" cy="1874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7" name="Image 10" descr="books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1248" y="4251960"/>
            <a:ext cx="384048" cy="384048"/>
          </a:xfrm>
          <a:prstGeom prst="rect">
            <a:avLst/>
          </a:prstGeom>
        </p:spPr>
      </p:pic>
      <p:pic>
        <p:nvPicPr>
          <p:cNvPr id="28" name="Image 11" descr="books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80160" y="4251960"/>
            <a:ext cx="384048" cy="384048"/>
          </a:xfrm>
          <a:prstGeom prst="rect">
            <a:avLst/>
          </a:prstGeom>
        </p:spPr>
      </p:pic>
      <p:pic>
        <p:nvPicPr>
          <p:cNvPr id="29" name="Image 12" descr="books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719072" y="4251960"/>
            <a:ext cx="384048" cy="384048"/>
          </a:xfrm>
          <a:prstGeom prst="rect">
            <a:avLst/>
          </a:prstGeom>
        </p:spPr>
      </p:pic>
      <p:pic>
        <p:nvPicPr>
          <p:cNvPr id="30" name="Image 13" descr="books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41248" y="4690872"/>
            <a:ext cx="384048" cy="384048"/>
          </a:xfrm>
          <a:prstGeom prst="rect">
            <a:avLst/>
          </a:prstGeom>
        </p:spPr>
      </p:pic>
      <p:pic>
        <p:nvPicPr>
          <p:cNvPr id="31" name="Image 14" descr="books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280160" y="4690872"/>
            <a:ext cx="384048" cy="384048"/>
          </a:xfrm>
          <a:prstGeom prst="rect">
            <a:avLst/>
          </a:prstGeom>
        </p:spPr>
      </p:pic>
      <p:sp>
        <p:nvSpPr>
          <p:cNvPr id="32" name="Text 14"/>
          <p:cNvSpPr txBox="1"/>
          <p:nvPr/>
        </p:nvSpPr>
        <p:spPr>
          <a:xfrm>
            <a:off x="731520" y="54406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5</a:t>
            </a:r>
            <a:endParaRPr lang="en-US" sz="2000" dirty="0"/>
          </a:p>
        </p:txBody>
      </p:sp>
      <p:sp>
        <p:nvSpPr>
          <p:cNvPr id="33" name="Shape 15"/>
          <p:cNvSpPr/>
          <p:nvPr/>
        </p:nvSpPr>
        <p:spPr>
          <a:xfrm>
            <a:off x="2331720" y="4114800"/>
            <a:ext cx="1463040" cy="1874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15" descr="hot beverage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441448" y="4251960"/>
            <a:ext cx="548640" cy="548640"/>
          </a:xfrm>
          <a:prstGeom prst="rect">
            <a:avLst/>
          </a:prstGeom>
        </p:spPr>
      </p:pic>
      <p:pic>
        <p:nvPicPr>
          <p:cNvPr id="35" name="Image 16" descr="hot beverage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044952" y="4251960"/>
            <a:ext cx="548640" cy="548640"/>
          </a:xfrm>
          <a:prstGeom prst="rect">
            <a:avLst/>
          </a:prstGeom>
        </p:spPr>
      </p:pic>
      <p:sp>
        <p:nvSpPr>
          <p:cNvPr id="36" name="Text 16"/>
          <p:cNvSpPr txBox="1"/>
          <p:nvPr/>
        </p:nvSpPr>
        <p:spPr>
          <a:xfrm>
            <a:off x="2331720" y="54406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2</a:t>
            </a:r>
            <a:endParaRPr lang="en-US" sz="2000" dirty="0"/>
          </a:p>
        </p:txBody>
      </p:sp>
      <p:sp>
        <p:nvSpPr>
          <p:cNvPr id="37" name="Shape 17"/>
          <p:cNvSpPr/>
          <p:nvPr/>
        </p:nvSpPr>
        <p:spPr>
          <a:xfrm>
            <a:off x="3931920" y="4114800"/>
            <a:ext cx="1463040" cy="1874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8" name="Image 17" descr="door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041648" y="4251960"/>
            <a:ext cx="548640" cy="548640"/>
          </a:xfrm>
          <a:prstGeom prst="rect">
            <a:avLst/>
          </a:prstGeom>
        </p:spPr>
      </p:pic>
      <p:sp>
        <p:nvSpPr>
          <p:cNvPr id="39" name="Text 18"/>
          <p:cNvSpPr txBox="1"/>
          <p:nvPr/>
        </p:nvSpPr>
        <p:spPr>
          <a:xfrm>
            <a:off x="3931920" y="54406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1</a:t>
            </a:r>
            <a:endParaRPr lang="en-US" sz="2000" dirty="0"/>
          </a:p>
        </p:txBody>
      </p:sp>
      <p:sp>
        <p:nvSpPr>
          <p:cNvPr id="40" name="Shape 19"/>
          <p:cNvSpPr/>
          <p:nvPr/>
        </p:nvSpPr>
        <p:spPr>
          <a:xfrm>
            <a:off x="5532120" y="4114800"/>
            <a:ext cx="1463040" cy="1874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1" name="Image 18" descr="clipboard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641848" y="4251960"/>
            <a:ext cx="384048" cy="384048"/>
          </a:xfrm>
          <a:prstGeom prst="rect">
            <a:avLst/>
          </a:prstGeom>
        </p:spPr>
      </p:pic>
      <p:pic>
        <p:nvPicPr>
          <p:cNvPr id="42" name="Image 19" descr="clipboard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080760" y="4251960"/>
            <a:ext cx="384048" cy="384048"/>
          </a:xfrm>
          <a:prstGeom prst="rect">
            <a:avLst/>
          </a:prstGeom>
        </p:spPr>
      </p:pic>
      <p:pic>
        <p:nvPicPr>
          <p:cNvPr id="43" name="Image 20" descr="clipboard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519672" y="4251960"/>
            <a:ext cx="384048" cy="384048"/>
          </a:xfrm>
          <a:prstGeom prst="rect">
            <a:avLst/>
          </a:prstGeom>
        </p:spPr>
      </p:pic>
      <p:sp>
        <p:nvSpPr>
          <p:cNvPr id="44" name="Text 20"/>
          <p:cNvSpPr txBox="1"/>
          <p:nvPr/>
        </p:nvSpPr>
        <p:spPr>
          <a:xfrm>
            <a:off x="5532120" y="54406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3</a:t>
            </a:r>
            <a:endParaRPr lang="en-US" sz="2000" dirty="0"/>
          </a:p>
        </p:txBody>
      </p:sp>
      <p:sp>
        <p:nvSpPr>
          <p:cNvPr id="45" name="Shape 21"/>
          <p:cNvSpPr/>
          <p:nvPr/>
        </p:nvSpPr>
        <p:spPr>
          <a:xfrm>
            <a:off x="7360920" y="1920240"/>
            <a:ext cx="4279392" cy="425196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6" name="Text 22"/>
          <p:cNvSpPr txBox="1"/>
          <p:nvPr/>
        </p:nvSpPr>
        <p:spPr>
          <a:xfrm>
            <a:off x="7543800" y="2011680"/>
            <a:ext cx="3931920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A</a:t>
            </a:r>
            <a:r>
              <a:rPr lang="en-US" sz="1600" dirty="0">
                <a:solidFill>
                  <a:schemeClr val="tx1"/>
                </a:solidFill>
              </a:rPr>
              <a:t> demande :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Is er een printer?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Hoeveel stoelen zijn er?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Staan er planten?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Is er een lamp?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B</a:t>
            </a:r>
            <a:r>
              <a:rPr lang="en-US" sz="1600" dirty="0">
                <a:solidFill>
                  <a:schemeClr val="tx1"/>
                </a:solidFill>
              </a:rPr>
              <a:t> répond :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Ja, er is er één.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Er zijn er vier.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Ja, er staan er twee.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Nee, er is er geen.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La visite du nouveau bureau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Peeters &amp; Co déménage. A (facility manager) fait visiter ; B (collègue) pose des questions. Objectif : 8 er.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A — facility manager</a:t>
            </a:r>
            <a:endParaRPr lang="en-US" sz="17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Présentez le bâtiment avec la fiche : ce qu’il y a, combien, ce qui manque encore.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B — collègue</a:t>
            </a:r>
            <a:endParaRPr lang="en-US" sz="17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Posez des questions (Is er… ? Hoeveel … zijn er ?) et réagissez (Wat vind je ervan?).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Is er …? · Zijn er …? · Hoeveel … zijn er? — Er zijn er … · Er is er geen. · Ik ben er al geweest. · Hoe ga je ernaartoe? · Wat vind je ervan? · Er wordt nog gewerkt aan … · Ik kijk ernaar uit!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54864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00" kern="0" dirty="0">
                <a:solidFill>
                  <a:schemeClr val="bg1"/>
                </a:solidFill>
              </a:rPr>
              <a:t>NIEUW KANTOOR · FICHE</a:t>
            </a:r>
            <a:endParaRPr lang="en-US" sz="1300" dirty="0"/>
          </a:p>
        </p:txBody>
      </p:sp>
      <p:pic>
        <p:nvPicPr>
          <p:cNvPr id="22" name="Image 0" descr="busts in silhouet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7032" y="2194560"/>
            <a:ext cx="457200" cy="457200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8851392" y="21488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2 vergaderzalen</a:t>
            </a:r>
            <a:endParaRPr lang="en-US" sz="1400" dirty="0"/>
          </a:p>
        </p:txBody>
      </p:sp>
      <p:pic>
        <p:nvPicPr>
          <p:cNvPr id="24" name="Image 1" descr="fork and knife with pla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7032" y="2852928"/>
            <a:ext cx="457200" cy="457200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8851392" y="2807208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1 keuken, 1 refter</a:t>
            </a:r>
            <a:endParaRPr lang="en-US" sz="1400" dirty="0"/>
          </a:p>
        </p:txBody>
      </p:sp>
      <p:pic>
        <p:nvPicPr>
          <p:cNvPr id="26" name="Image 2" descr="lapto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7032" y="3511296"/>
            <a:ext cx="457200" cy="45720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8851392" y="346557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40 bureaus</a:t>
            </a:r>
            <a:endParaRPr lang="en-US" sz="1400" dirty="0"/>
          </a:p>
        </p:txBody>
      </p:sp>
      <p:pic>
        <p:nvPicPr>
          <p:cNvPr id="28" name="Image 3" descr="p butt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7032" y="4169664"/>
            <a:ext cx="457200" cy="457200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8851392" y="4123944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parking: 15 plaatsen</a:t>
            </a:r>
            <a:endParaRPr lang="en-US" sz="1400" dirty="0"/>
          </a:p>
        </p:txBody>
      </p:sp>
      <p:pic>
        <p:nvPicPr>
          <p:cNvPr id="30" name="Image 4" descr="elevato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57032" y="4828032"/>
            <a:ext cx="457200" cy="45720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8851392" y="4782312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lift: nog niet klaar</a:t>
            </a:r>
            <a:endParaRPr lang="en-US" sz="1400" dirty="0"/>
          </a:p>
        </p:txBody>
      </p:sp>
      <p:pic>
        <p:nvPicPr>
          <p:cNvPr id="32" name="Image 5" descr="bu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57032" y="5486400"/>
            <a:ext cx="457200" cy="457200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8851392" y="54406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bushalte: 200 m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En néerlandais : </a:t>
            </a:r>
            <a:r>
              <a:rPr lang="en-US" sz="2000" i="1" dirty="0">
                <a:solidFill>
                  <a:schemeClr val="tx1"/>
                </a:solidFill>
              </a:rPr>
              <a:t>Il y a un problème.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Répondez avec </a:t>
            </a:r>
            <a:r>
              <a:rPr lang="en-US" sz="2000" i="1" dirty="0">
                <a:solidFill>
                  <a:schemeClr val="tx1"/>
                </a:solidFill>
              </a:rPr>
              <a:t>er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Hoeveel kinderen heb je?</a:t>
            </a:r>
            <a:r>
              <a:rPr lang="en-US" sz="2000" dirty="0">
                <a:solidFill>
                  <a:schemeClr val="tx1"/>
                </a:solidFill>
              </a:rPr>
              <a:t> (2)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Quel emploi ? </a:t>
            </a:r>
            <a:r>
              <a:rPr lang="en-US" sz="2000" i="1" dirty="0">
                <a:solidFill>
                  <a:schemeClr val="tx1"/>
                </a:solidFill>
              </a:rPr>
              <a:t>Ik denk eraan.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Reconnaître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Traduire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Utiliser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Book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Défi de la semaine</a:t>
            </a:r>
            <a:r>
              <a:rPr lang="en-US" sz="1800" dirty="0">
                <a:solidFill>
                  <a:schemeClr val="bg1"/>
                </a:solidFill>
              </a:rPr>
              <a:t> : décrivez votre bureau ou votre salon en 6 phrases avec </a:t>
            </a:r>
            <a:r>
              <a:rPr lang="en-US" sz="1800" i="1" dirty="0">
                <a:solidFill>
                  <a:schemeClr val="bg1"/>
                </a:solidFill>
              </a:rPr>
              <a:t>er</a:t>
            </a:r>
            <a:r>
              <a:rPr lang="en-US" sz="1800" dirty="0">
                <a:solidFill>
                  <a:schemeClr val="bg1"/>
                </a:solidFill>
              </a:rPr>
              <a:t> (</a:t>
            </a:r>
            <a:r>
              <a:rPr lang="en-US" sz="1800" i="1" dirty="0">
                <a:solidFill>
                  <a:schemeClr val="bg1"/>
                </a:solidFill>
              </a:rPr>
              <a:t>Er staat… · Er zijn er…</a:t>
            </a:r>
            <a:r>
              <a:rPr lang="en-US" sz="1800" dirty="0">
                <a:solidFill>
                  <a:schemeClr val="bg1"/>
                </a:solidFill>
              </a:rPr>
              <a:t>).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Er zijn er vijf — Les cinq emplois de er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2026-10-06T17:53:50Z</dcterms:created>
  <dcterms:modified xsi:type="dcterms:W3CDTF">2026-10-06T17:53:50Z</dcterms:modified>
</cp:coreProperties>
</file>