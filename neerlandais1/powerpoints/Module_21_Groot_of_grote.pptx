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697ebfd-22e1-437e-032b-4ff09461bcd5}">
          <p14:sldIdLst>
            <p14:sldId id="256"/>
          </p14:sldIdLst>
        </p14:section>
        <p14:section name="Découvrir" id="{de6976f2-b38e-927f-8a03-2835cd6f0db3}">
          <p14:sldIdLst>
            <p14:sldId id="257"/>
            <p14:sldId id="258"/>
          </p14:sldIdLst>
        </p14:section>
        <p14:section name="Comprendre" id="{b5a45b1c-48f2-1dfe-41ff-e6ec79a9fc4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469315bd-8ec9-1675-10ac-2465e0b30556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6b8cbe6-39b0-154c-28b0-495097189b61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décrire avec des adjectifs.
Écrivez au tableau een groot huis et een grote auto : « Pourquoi un -e d'un côté et pas de l'autre ? » La réponse arrive diapo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Petites annonces, descriptions de produits, courriels de réclamation : l'adjectif est partout. Une seule terminaison à maîtriser,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l'adjectif et sa terminaison dans des textes courts.
Faites classer les adjectifs en deux colonnes, avec ou sans -e. Indice : regardez le mot qui suit (de ou het) et sa place. ruim = spacieux.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l'adjectif épithète (avant le nom) et l'attribut (après zijn).
Premier réflexe : l'adjectif est-il collé devant un nom ? Si non (après zijn, worden, blijven), on ne touche à rien. Le français place souvent l'adjectif après le nom : en néerlandais, jamais.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règle du -e avec le schéma S17 « la case sans -e ».
Faites lire le tableau en chœur. « Rien » = pas d'article : warm water, lekker brood (het). Avec geen : geen groot huis. Partout ailleurs :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 l'accord français.
Le féminin français (« grande ») n'a rien à voir avec le -e néerlandais. Trois réflexes : la place (avant le nom), l'attribut (pas de -e), la case een +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correctement la forme en -e (règles du M1 et du M4).
C'est exactement la règle du pluriel (M1 : boom → bomen, kat → katten) et le z / v du M4 à l'envers. Les adjectifs en -ig, -lijk ne bougent pas : vriendelijke, rustige.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après les démonstratifs et les possessifs (M20).
Après un déterminant défini ou un possessif, c'est toujours -e, même avec un mot het (mijn nieuwe huis). Lien M20 : ons oude kantoor (ons + het, mais l'adjectif prend -e).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les adjectifs les plus utiles par paires.
druk = agité, occupé ; licht = clair ou léger (selon le contexte). on- = le contraire (M14). Faites décrire un objet de la classe avec deux adjectifs : een kleine, oude stoel.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adjectifs invariables.
Ces adjectifs finissent déjà par -en (matière) ou par -e / -a (oranje, roze, lila) : on n'ajoute rien. Mais mooi → mooie, blij → blije. de oranje auto, het houten huis : invariables dans tous les cas.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aux adjectifs de nationalité (lien M7).
Au M7, Belgische était appris « en bloc » ; maintenant, la règle l'explique. een Belgisch bedrijf = la case sans -e (een + het). Majuscule : comme au M7.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et former le comparatif et le superlatif.
dan = que (comparaison). Le comparatif suit les mêmes règles d'orthographe (groot → groter). À reconnaître et à utiliser dans les exercices 6 et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Appliquer l'organigramme.
N° 7 : de koffie, sans article → -e. N° 8 : het water, sans article → pas de -e. N° 9 : attribut.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Écrire la forme en -e (syllabes, f / s).
Faites justifier par la syllabe-porte (M1) : gro·te (porte ouverte, une seule voyelle), wit·te (porte fermée, consonne doublée). klein → kleine : diphtongue, rien ne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Accorder les adjectifs dans un texte authentique.
mooi appartement : pas d'article + het → pas de -e (style des petites annonces). het terras, het gezin : avec een → pas de -e.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description.
Leurres : een licht appartement, twee kleine slaapkamers, een oranje bank, een witte kat sont corrects. Chaque erreur renvoie à une diapo (5, 7, 4, 10,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une personne à l'oral avec des adjectifs.
kort haar : het haar, sans article → pas de -e. het witte haar : mot het avec het → -e ; krullend = bouclé. Variante : un apprenant décrit un camarade, la classe devine.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Comparer avec le comparatif + dan.
N° 2 : duurder (-der après r). N° 6 : goed → beter (irrégulier) ; laissez la classe débattre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chercher un logement.
het eerste / het tweede (le premier, le second) : -e après het. Faites conclure par un choix argumenté avec deux comparatifs.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een groot huis · de grote auto.
2. witte · lieve.
3. een rood huis.
Teaser M22 : de collega die naast me zit.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21 · Groot of grote?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image" Target="../media/image-2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21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Groot of grote?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L’accord de l’adjectif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een groot huis · de grote auto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097280"/>
            <a:ext cx="1691640" cy="1691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groot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huis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9098280" y="914400"/>
            <a:ext cx="2514600" cy="310896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automob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1097280"/>
            <a:ext cx="1691640" cy="16916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98280" y="2926080"/>
            <a:ext cx="2514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 </a:t>
            </a:r>
            <a:r>
              <a:rPr lang="en-US" sz="2400" b="1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grot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auto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8229600" y="42062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6C27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 ?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rrow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mets l’adjectif avant le nom : </a:t>
            </a:r>
            <a:r>
              <a:rPr lang="en-US" sz="2000" i="1" dirty="0">
                <a:solidFill>
                  <a:schemeClr val="tx1"/>
                </a:solidFill>
              </a:rPr>
              <a:t>een rode auto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ajouter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een groot huis / het grote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décris une personne, un objet, un logement.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Petites annonces, descriptions de produits, réclamations : l’adjectif est partout. Une seule terminaison : </a:t>
            </a:r>
            <a:r>
              <a:rPr lang="en-US" sz="1700" i="1" dirty="0">
                <a:solidFill>
                  <a:schemeClr val="tx1"/>
                </a:solidFill>
              </a:rPr>
              <a:t>-e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petites annonces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rot="-90000">
            <a:off x="548640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ound pushp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4644" y="1508760"/>
            <a:ext cx="411480" cy="411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HUUR</a:t>
            </a:r>
            <a:endParaRPr lang="en-US" sz="1800" dirty="0"/>
          </a:p>
        </p:txBody>
      </p:sp>
      <p:pic>
        <p:nvPicPr>
          <p:cNvPr id="8" name="Image 1" descr="house with gard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892" y="2377440"/>
            <a:ext cx="1005840" cy="10058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77240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ruim</a:t>
            </a:r>
            <a:r>
              <a:rPr lang="en-US" sz="1900" i="1" dirty="0">
                <a:solidFill>
                  <a:schemeClr val="tx1"/>
                </a:solidFill>
              </a:rPr>
              <a:t> appartement met </a:t>
            </a:r>
            <a:r>
              <a:rPr lang="en-US" sz="1900" b="1" i="1" dirty="0">
                <a:solidFill>
                  <a:schemeClr val="tx1"/>
                </a:solidFill>
              </a:rPr>
              <a:t>grote</a:t>
            </a:r>
            <a:r>
              <a:rPr lang="en-US" sz="1900" i="1" dirty="0">
                <a:solidFill>
                  <a:schemeClr val="tx1"/>
                </a:solidFill>
              </a:rPr>
              <a:t> tuin</a:t>
            </a:r>
            <a:endParaRPr lang="en-US" sz="1900" dirty="0"/>
          </a:p>
        </p:txBody>
      </p:sp>
      <p:sp>
        <p:nvSpPr>
          <p:cNvPr id="10" name="Shape 5"/>
          <p:cNvSpPr/>
          <p:nvPr/>
        </p:nvSpPr>
        <p:spPr>
          <a:xfrm rot="90000">
            <a:off x="4337304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2" descr="round pushp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3308" y="150876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37304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TE KOOP</a:t>
            </a:r>
            <a:endParaRPr lang="en-US" sz="1800" dirty="0"/>
          </a:p>
        </p:txBody>
      </p:sp>
      <p:pic>
        <p:nvPicPr>
          <p:cNvPr id="13" name="Image 3" descr="bicyc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556" y="2377440"/>
            <a:ext cx="1005840" cy="10058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65904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oude</a:t>
            </a:r>
            <a:r>
              <a:rPr lang="en-US" sz="1900" i="1" dirty="0">
                <a:solidFill>
                  <a:schemeClr val="tx1"/>
                </a:solidFill>
              </a:rPr>
              <a:t> fiets, </a:t>
            </a:r>
            <a:r>
              <a:rPr lang="en-US" sz="1900" b="1" i="1" dirty="0">
                <a:solidFill>
                  <a:schemeClr val="tx1"/>
                </a:solidFill>
              </a:rPr>
              <a:t>rood</a:t>
            </a:r>
            <a:r>
              <a:rPr lang="en-US" sz="1900" i="1" dirty="0">
                <a:solidFill>
                  <a:schemeClr val="tx1"/>
                </a:solidFill>
              </a:rPr>
              <a:t>, 50 euro</a:t>
            </a:r>
            <a:endParaRPr lang="en-US" sz="1900" dirty="0"/>
          </a:p>
        </p:txBody>
      </p:sp>
      <p:sp>
        <p:nvSpPr>
          <p:cNvPr id="15" name="Shape 8"/>
          <p:cNvSpPr/>
          <p:nvPr/>
        </p:nvSpPr>
        <p:spPr>
          <a:xfrm rot="-90000">
            <a:off x="8125968" y="1691640"/>
            <a:ext cx="3514344" cy="3017520"/>
          </a:xfrm>
          <a:prstGeom prst="roundRect">
            <a:avLst>
              <a:gd name="adj" fmla="val 2424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round pushp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1972" y="1508760"/>
            <a:ext cx="411480" cy="41148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8125968" y="1920240"/>
            <a:ext cx="3514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spc="200" kern="0" dirty="0">
                <a:solidFill>
                  <a:schemeClr val="accent6"/>
                </a:solidFill>
              </a:rPr>
              <a:t>GEZOCHT</a:t>
            </a:r>
            <a:endParaRPr lang="en-US" sz="1800" dirty="0"/>
          </a:p>
        </p:txBody>
      </p:sp>
      <p:pic>
        <p:nvPicPr>
          <p:cNvPr id="18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0220" y="2377440"/>
            <a:ext cx="1005840" cy="1005840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8354568" y="3429000"/>
            <a:ext cx="3057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vriendelijke</a:t>
            </a:r>
            <a:r>
              <a:rPr lang="en-US" sz="1900" i="1" dirty="0">
                <a:solidFill>
                  <a:schemeClr val="tx1"/>
                </a:solidFill>
              </a:rPr>
              <a:t> receptionist voor een </a:t>
            </a:r>
            <a:r>
              <a:rPr lang="en-US" sz="1900" b="1" i="1" dirty="0">
                <a:solidFill>
                  <a:schemeClr val="tx1"/>
                </a:solidFill>
              </a:rPr>
              <a:t>klein</a:t>
            </a:r>
            <a:r>
              <a:rPr lang="en-US" sz="1900" i="1" dirty="0">
                <a:solidFill>
                  <a:schemeClr val="tx1"/>
                </a:solidFill>
              </a:rPr>
              <a:t> hotel</a:t>
            </a:r>
            <a:endParaRPr lang="en-US" sz="1900" dirty="0"/>
          </a:p>
        </p:txBody>
      </p:sp>
      <p:sp>
        <p:nvSpPr>
          <p:cNvPr id="20" name="Shape 11"/>
          <p:cNvSpPr/>
          <p:nvPr/>
        </p:nvSpPr>
        <p:spPr>
          <a:xfrm>
            <a:off x="548640" y="5029200"/>
            <a:ext cx="11091672" cy="1234440"/>
          </a:xfrm>
          <a:prstGeom prst="roundRect">
            <a:avLst>
              <a:gd name="adj" fmla="val 5926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1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230368"/>
            <a:ext cx="822960" cy="822960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828800" y="5029200"/>
            <a:ext cx="9601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Pourquoi </a:t>
            </a:r>
            <a:r>
              <a:rPr lang="en-US" sz="1900" i="1" dirty="0">
                <a:solidFill>
                  <a:schemeClr val="tx1"/>
                </a:solidFill>
              </a:rPr>
              <a:t>ruim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grote</a:t>
            </a:r>
            <a:r>
              <a:rPr lang="en-US" sz="1900" dirty="0">
                <a:solidFill>
                  <a:schemeClr val="tx1"/>
                </a:solidFill>
              </a:rPr>
              <a:t> ? </a:t>
            </a:r>
            <a:r>
              <a:rPr lang="en-US" sz="1900" i="1" dirty="0">
                <a:solidFill>
                  <a:schemeClr val="tx1"/>
                </a:solidFill>
              </a:rPr>
              <a:t>oude</a:t>
            </a:r>
            <a:r>
              <a:rPr lang="en-US" sz="1900" dirty="0">
                <a:solidFill>
                  <a:schemeClr val="tx1"/>
                </a:solidFill>
              </a:rPr>
              <a:t> mais </a:t>
            </a:r>
            <a:r>
              <a:rPr lang="en-US" sz="1900" i="1" dirty="0">
                <a:solidFill>
                  <a:schemeClr val="tx1"/>
                </a:solidFill>
              </a:rPr>
              <a:t>rood</a:t>
            </a:r>
            <a:r>
              <a:rPr lang="en-US" sz="1900" dirty="0">
                <a:solidFill>
                  <a:schemeClr val="tx1"/>
                </a:solidFill>
              </a:rPr>
              <a:t> ?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Indice : regardez le mot qui suit (</a:t>
            </a:r>
            <a:r>
              <a:rPr lang="en-US" sz="1900" i="1" dirty="0">
                <a:solidFill>
                  <a:schemeClr val="tx1"/>
                </a:solidFill>
              </a:rPr>
              <a:t>de</a:t>
            </a:r>
            <a:r>
              <a:rPr lang="en-US" sz="1900" dirty="0">
                <a:solidFill>
                  <a:schemeClr val="tx1"/>
                </a:solidFill>
              </a:rPr>
              <a:t> ou </a:t>
            </a:r>
            <a:r>
              <a:rPr lang="en-US" sz="1900" i="1" dirty="0">
                <a:solidFill>
                  <a:schemeClr val="tx1"/>
                </a:solidFill>
              </a:rPr>
              <a:t>het</a:t>
            </a:r>
            <a:r>
              <a:rPr lang="en-US" sz="1900" dirty="0">
                <a:solidFill>
                  <a:schemeClr val="tx1"/>
                </a:solidFill>
              </a:rPr>
              <a:t>) et la place de l’adjectif.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Avant le nom ou après zijn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4"/>
                </a:solidFill>
              </a:rPr>
              <a:t>AVANT LE NOM → </a:t>
            </a:r>
            <a:r>
              <a:rPr lang="en-US" sz="1500" b="1" i="1" spc="100" kern="0" dirty="0">
                <a:solidFill>
                  <a:schemeClr val="accent4"/>
                </a:solidFill>
              </a:rPr>
              <a:t>-e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73152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1371600" y="196596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1965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rod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2926080" y="1965960"/>
            <a:ext cx="128016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926080" y="196596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auto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4846320" y="1965960"/>
            <a:ext cx="8686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965960"/>
            <a:ext cx="868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een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06440" y="1965960"/>
            <a:ext cx="17373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06440" y="19659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</a:t>
            </a:r>
            <a:r>
              <a:rPr lang="en-US" sz="2400" b="1" dirty="0">
                <a:solidFill>
                  <a:schemeClr val="accent4"/>
                </a:solidFill>
              </a:rPr>
              <a:t>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7635240" y="196596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19659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collega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chemeClr val="accent5"/>
                </a:solidFill>
              </a:rPr>
              <a:t>APRÈS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ZIJN</a:t>
            </a:r>
            <a:r>
              <a:rPr lang="en-US" sz="1500" b="1" spc="100" kern="0" dirty="0">
                <a:solidFill>
                  <a:schemeClr val="accent5"/>
                </a:solidFill>
              </a:rPr>
              <a:t> (ATTRIBUT) → jamais de </a:t>
            </a:r>
            <a:r>
              <a:rPr lang="en-US" sz="1500" b="1" i="1" spc="100" kern="0" dirty="0">
                <a:solidFill>
                  <a:schemeClr val="accent5"/>
                </a:solidFill>
              </a:rPr>
              <a:t>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155448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auto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94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94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3017520" y="3383280"/>
            <a:ext cx="128016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17520" y="33832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rood.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4846320" y="3383280"/>
            <a:ext cx="1828800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846320" y="338328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collega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3383280"/>
            <a:ext cx="731520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766560" y="3383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is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7589520" y="3383280"/>
            <a:ext cx="1463040" cy="731520"/>
          </a:xfrm>
          <a:prstGeom prst="roundRect">
            <a:avLst>
              <a:gd name="adj" fmla="val 10000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589520" y="33832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nieuw.</a:t>
            </a:r>
            <a:endParaRPr lang="en-US" sz="24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3891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FRANÇAIS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4864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une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1463040" y="4709160"/>
            <a:ext cx="128016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463040" y="470916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voiture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283464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rgbClr val="F4F5F7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83464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rouge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3977640" y="470916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39" name="Shape 36"/>
          <p:cNvSpPr/>
          <p:nvPr/>
        </p:nvSpPr>
        <p:spPr>
          <a:xfrm>
            <a:off x="4480560" y="4709160"/>
            <a:ext cx="82296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480560" y="470916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een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394960" y="4709160"/>
            <a:ext cx="1188720" cy="594360"/>
          </a:xfrm>
          <a:prstGeom prst="roundRect">
            <a:avLst>
              <a:gd name="adj" fmla="val 12308"/>
            </a:avLst>
          </a:prstGeom>
          <a:solidFill>
            <a:srgbClr val="FBEAF2"/>
          </a:solidFill>
          <a:ln w="31750">
            <a:solidFill>
              <a:srgbClr val="B4236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394960" y="47091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rod</a:t>
            </a:r>
            <a:r>
              <a:rPr lang="en-US" sz="2000" b="1" dirty="0">
                <a:solidFill>
                  <a:schemeClr val="accent4"/>
                </a:solidFill>
              </a:rPr>
              <a:t>e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6675120" y="4709160"/>
            <a:ext cx="1097280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675120" y="47091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auto</a:t>
            </a:r>
            <a:endParaRPr lang="en-US" sz="2000" dirty="0"/>
          </a:p>
        </p:txBody>
      </p:sp>
      <p:sp>
        <p:nvSpPr>
          <p:cNvPr id="45" name="Shape 42"/>
          <p:cNvSpPr/>
          <p:nvPr/>
        </p:nvSpPr>
        <p:spPr>
          <a:xfrm>
            <a:off x="8229600" y="4389120"/>
            <a:ext cx="3410712" cy="1874520"/>
          </a:xfrm>
          <a:prstGeom prst="roundRect">
            <a:avLst>
              <a:gd name="adj" fmla="val 487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8412480" y="4553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8543" y="4689775"/>
            <a:ext cx="294803" cy="294803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9125712" y="4535424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Réflexe</a:t>
            </a:r>
            <a:endParaRPr lang="en-US" sz="1900" dirty="0"/>
          </a:p>
        </p:txBody>
      </p:sp>
      <p:sp>
        <p:nvSpPr>
          <p:cNvPr id="49" name="Text 45"/>
          <p:cNvSpPr txBox="1"/>
          <p:nvPr/>
        </p:nvSpPr>
        <p:spPr>
          <a:xfrm>
            <a:off x="8430768" y="5257800"/>
            <a:ext cx="3008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L’adjectif est </a:t>
            </a:r>
            <a:r>
              <a:rPr lang="en-US" sz="1500" b="1" dirty="0">
                <a:solidFill>
                  <a:schemeClr val="tx1"/>
                </a:solidFill>
              </a:rPr>
              <a:t>collé devant un nom</a:t>
            </a:r>
            <a:r>
              <a:rPr lang="en-US" sz="1500" dirty="0">
                <a:solidFill>
                  <a:schemeClr val="tx1"/>
                </a:solidFill>
              </a:rPr>
              <a:t> ? Sinon, on n’y touche pas.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règle : -e partout… sauf une case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251460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de / het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15544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avec </a:t>
            </a:r>
            <a:r>
              <a:rPr lang="en-US" sz="1600" b="1" i="1" dirty="0">
                <a:solidFill>
                  <a:schemeClr val="accent5"/>
                </a:solidFill>
              </a:rPr>
              <a:t>een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554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pluriel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DE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251460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51460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577840" y="20574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5577840" y="20574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641080" y="20574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641080" y="20574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stoelen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548640" y="3429000"/>
            <a:ext cx="182880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342900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mot HET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251460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51460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5577840" y="3429000"/>
            <a:ext cx="2926080" cy="1188720"/>
          </a:xfrm>
          <a:prstGeom prst="roundRect">
            <a:avLst>
              <a:gd name="adj" fmla="val 6154"/>
            </a:avLst>
          </a:prstGeom>
          <a:solidFill>
            <a:srgbClr val="FBEDEB"/>
          </a:solidFill>
          <a:ln w="44450">
            <a:solidFill>
              <a:srgbClr val="B8322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7840" y="342900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een </a:t>
            </a:r>
            <a:r>
              <a:rPr lang="en-US" sz="2200" b="1" i="1" dirty="0">
                <a:solidFill>
                  <a:schemeClr val="tx1"/>
                </a:solidFill>
              </a:rPr>
              <a:t>groot</a:t>
            </a:r>
            <a:r>
              <a:rPr lang="en-US" sz="2200" i="1" dirty="0">
                <a:solidFill>
                  <a:schemeClr val="tx1"/>
                </a:solidFill>
              </a:rPr>
              <a:t> huis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641080" y="3429000"/>
            <a:ext cx="2999232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8641080" y="3429000"/>
            <a:ext cx="29992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huizen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00800" y="4617720"/>
            <a:ext cx="1750466" cy="347472"/>
          </a:xfrm>
          <a:prstGeom prst="roundRect">
            <a:avLst>
              <a:gd name="adj" fmla="val 13158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pas de -e !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La seule case sans </a:t>
            </a:r>
            <a:r>
              <a:rPr lang="en-US" sz="1900" i="1" dirty="0">
                <a:solidFill>
                  <a:schemeClr val="bg1"/>
                </a:solidFill>
              </a:rPr>
              <a:t>-e</a:t>
            </a:r>
            <a:r>
              <a:rPr lang="en-US" sz="1900" dirty="0">
                <a:solidFill>
                  <a:schemeClr val="bg1"/>
                </a:solidFill>
              </a:rPr>
              <a:t> : </a:t>
            </a:r>
            <a:r>
              <a:rPr lang="en-US" sz="1900" b="1" i="1" dirty="0">
                <a:solidFill>
                  <a:schemeClr val="bg1"/>
                </a:solidFill>
              </a:rPr>
              <a:t>een / geen / rien</a:t>
            </a:r>
            <a:r>
              <a:rPr lang="en-US" sz="1900" b="1" dirty="0">
                <a:solidFill>
                  <a:schemeClr val="bg1"/>
                </a:solidFill>
              </a:rPr>
              <a:t> + mot </a:t>
            </a:r>
            <a:r>
              <a:rPr lang="en-US" sz="1900" b="1" i="1" dirty="0">
                <a:solidFill>
                  <a:schemeClr val="bg1"/>
                </a:solidFill>
              </a:rPr>
              <a:t>het</a:t>
            </a:r>
            <a:r>
              <a:rPr lang="en-US" sz="1900" b="1" dirty="0">
                <a:solidFill>
                  <a:schemeClr val="bg1"/>
                </a:solidFill>
              </a:rPr>
              <a:t> au singulier</a:t>
            </a:r>
            <a:r>
              <a:rPr lang="en-US" sz="1900" dirty="0">
                <a:solidFill>
                  <a:schemeClr val="bg1"/>
                </a:solidFill>
              </a:rPr>
              <a:t> (</a:t>
            </a:r>
            <a:r>
              <a:rPr lang="en-US" sz="1900" i="1" dirty="0">
                <a:solidFill>
                  <a:schemeClr val="bg1"/>
                </a:solidFill>
              </a:rPr>
              <a:t>een groot huis, warm water</a:t>
            </a:r>
            <a:r>
              <a:rPr lang="en-US" sz="1900" dirty="0">
                <a:solidFill>
                  <a:schemeClr val="bg1"/>
                </a:solidFill>
              </a:rPr>
              <a:t>).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l’accord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hou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48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maison »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846320" y="2148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grote huis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543800" y="2578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909560" y="2221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221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 huis (</a:t>
            </a:r>
            <a:r>
              <a:rPr lang="en-US" sz="1800" dirty="0">
                <a:solidFill>
                  <a:schemeClr val="tx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)</a:t>
            </a:r>
            <a:endParaRPr lang="en-US" sz="1800" dirty="0"/>
          </a:p>
        </p:txBody>
      </p:sp>
      <p:pic>
        <p:nvPicPr>
          <p:cNvPr id="13" name="Image 1" descr="hou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83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91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maison est grand</a:t>
            </a:r>
            <a:r>
              <a:rPr lang="en-US" sz="1700" b="1" dirty="0">
                <a:solidFill>
                  <a:schemeClr val="tx1"/>
                </a:solidFill>
              </a:rPr>
              <a:t>e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846320" y="3291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Het huis is grote.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7543800" y="3721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909560" y="3364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0" y="3364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huis is </a:t>
            </a:r>
            <a:r>
              <a:rPr lang="en-US" sz="1800" b="1" i="1" dirty="0">
                <a:solidFill>
                  <a:schemeClr val="tx1"/>
                </a:solidFill>
              </a:rPr>
              <a:t>groot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pic>
        <p:nvPicPr>
          <p:cNvPr id="19" name="Image 2" descr="automob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526280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434840"/>
            <a:ext cx="3246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une voiture rouge »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4846320" y="443484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een auto rode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543800" y="4864608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909560" y="4507992"/>
            <a:ext cx="356616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046720" y="450799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een </a:t>
            </a:r>
            <a:r>
              <a:rPr lang="en-US" sz="1800" b="1" i="1" dirty="0">
                <a:solidFill>
                  <a:schemeClr val="tx1"/>
                </a:solidFill>
              </a:rPr>
              <a:t>rode</a:t>
            </a:r>
            <a:r>
              <a:rPr lang="en-US" sz="1800" i="1" dirty="0">
                <a:solidFill>
                  <a:schemeClr val="tx1"/>
                </a:solidFill>
              </a:rPr>
              <a:t> auto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Trois réflexes : la </a:t>
            </a:r>
            <a:r>
              <a:rPr lang="en-US" sz="1800" b="1" dirty="0">
                <a:solidFill>
                  <a:schemeClr val="bg1"/>
                </a:solidFill>
              </a:rPr>
              <a:t>place</a:t>
            </a:r>
            <a:r>
              <a:rPr lang="en-US" sz="1800" dirty="0">
                <a:solidFill>
                  <a:schemeClr val="bg1"/>
                </a:solidFill>
              </a:rPr>
              <a:t> (avant le nom) · l’</a:t>
            </a:r>
            <a:r>
              <a:rPr lang="en-US" sz="1800" b="1" dirty="0">
                <a:solidFill>
                  <a:schemeClr val="bg1"/>
                </a:solidFill>
              </a:rPr>
              <a:t>attribut</a:t>
            </a:r>
            <a:r>
              <a:rPr lang="en-US" sz="1800" dirty="0">
                <a:solidFill>
                  <a:schemeClr val="bg1"/>
                </a:solidFill>
              </a:rPr>
              <a:t> (pas de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) · la case </a:t>
            </a:r>
            <a:r>
              <a:rPr lang="en-US" sz="1800" i="1" dirty="0">
                <a:solidFill>
                  <a:schemeClr val="bg1"/>
                </a:solidFill>
              </a:rPr>
              <a:t>een + het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du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longue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enlève une voyelle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groot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2148840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grote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duur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2148840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dure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rood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148840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rode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448970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breed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2148840" y="4489704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brede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4322064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322064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322064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voyelle courte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4322064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on double la consonne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642104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wit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922264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witte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4642104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dik</a:t>
            </a:r>
            <a:endParaRPr lang="en-US" sz="2100" dirty="0"/>
          </a:p>
        </p:txBody>
      </p:sp>
      <p:sp>
        <p:nvSpPr>
          <p:cNvPr id="24" name="Text 21"/>
          <p:cNvSpPr txBox="1"/>
          <p:nvPr/>
        </p:nvSpPr>
        <p:spPr>
          <a:xfrm>
            <a:off x="5922264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dikke</a:t>
            </a:r>
            <a:endParaRPr lang="en-US" sz="2100" dirty="0"/>
          </a:p>
        </p:txBody>
      </p:sp>
      <p:sp>
        <p:nvSpPr>
          <p:cNvPr id="25" name="Text 22"/>
          <p:cNvSpPr txBox="1"/>
          <p:nvPr/>
        </p:nvSpPr>
        <p:spPr>
          <a:xfrm>
            <a:off x="4642104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snel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5922264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snelle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8095488" y="1554480"/>
            <a:ext cx="3544824" cy="379476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095488" y="1554480"/>
            <a:ext cx="3544824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95488" y="1572768"/>
            <a:ext cx="3544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f / s → v / z</a:t>
            </a:r>
            <a:endParaRPr lang="en-US" sz="1900" dirty="0"/>
          </a:p>
        </p:txBody>
      </p:sp>
      <p:sp>
        <p:nvSpPr>
          <p:cNvPr id="30" name="Text 27"/>
          <p:cNvSpPr txBox="1"/>
          <p:nvPr/>
        </p:nvSpPr>
        <p:spPr>
          <a:xfrm>
            <a:off x="8095488" y="1938528"/>
            <a:ext cx="35448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souvent ; mais Franse, Engelse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415528" y="2514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lief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9695688" y="2514600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lieve</a:t>
            </a:r>
            <a:endParaRPr lang="en-US" sz="2100" dirty="0"/>
          </a:p>
        </p:txBody>
      </p:sp>
      <p:sp>
        <p:nvSpPr>
          <p:cNvPr id="33" name="Text 30"/>
          <p:cNvSpPr txBox="1"/>
          <p:nvPr/>
        </p:nvSpPr>
        <p:spPr>
          <a:xfrm>
            <a:off x="8415528" y="317296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grijs</a:t>
            </a:r>
            <a:endParaRPr lang="en-US" sz="2100" dirty="0"/>
          </a:p>
        </p:txBody>
      </p:sp>
      <p:sp>
        <p:nvSpPr>
          <p:cNvPr id="34" name="Text 31"/>
          <p:cNvSpPr txBox="1"/>
          <p:nvPr/>
        </p:nvSpPr>
        <p:spPr>
          <a:xfrm>
            <a:off x="9695688" y="3172968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grijze</a:t>
            </a:r>
            <a:endParaRPr lang="en-US" sz="2100" dirty="0"/>
          </a:p>
        </p:txBody>
      </p:sp>
      <p:sp>
        <p:nvSpPr>
          <p:cNvPr id="35" name="Text 32"/>
          <p:cNvSpPr txBox="1"/>
          <p:nvPr/>
        </p:nvSpPr>
        <p:spPr>
          <a:xfrm>
            <a:off x="8415528" y="3831336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boos</a:t>
            </a:r>
            <a:endParaRPr lang="en-US" sz="2100" dirty="0"/>
          </a:p>
        </p:txBody>
      </p:sp>
      <p:sp>
        <p:nvSpPr>
          <p:cNvPr id="36" name="Text 33"/>
          <p:cNvSpPr txBox="1"/>
          <p:nvPr/>
        </p:nvSpPr>
        <p:spPr>
          <a:xfrm>
            <a:off x="9695688" y="3831336"/>
            <a:ext cx="1807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→ </a:t>
            </a:r>
            <a:r>
              <a:rPr lang="en-US" sz="2100" b="1" i="1" dirty="0">
                <a:solidFill>
                  <a:schemeClr val="tx1"/>
                </a:solidFill>
              </a:rPr>
              <a:t>boze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règle que le pluriel (M1) · </a:t>
            </a:r>
            <a:r>
              <a:rPr lang="en-US" sz="1800" i="1" dirty="0">
                <a:solidFill>
                  <a:schemeClr val="bg1"/>
                </a:solidFill>
              </a:rPr>
              <a:t>-ig, -lijk</a:t>
            </a:r>
            <a:r>
              <a:rPr lang="en-US" sz="1800" dirty="0">
                <a:solidFill>
                  <a:schemeClr val="bg1"/>
                </a:solidFill>
              </a:rPr>
              <a:t> ne bougent pas : </a:t>
            </a:r>
            <a:r>
              <a:rPr lang="en-US" sz="1800" i="1" dirty="0">
                <a:solidFill>
                  <a:schemeClr val="bg1"/>
                </a:solidFill>
              </a:rPr>
              <a:t>rustige, vriendelijke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deze, dit, mijn, ons… : toujours -e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691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91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834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834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deze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77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77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120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20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63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263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dat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06640" y="160020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06640" y="160020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mijn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548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jouw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1691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691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zijn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834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34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3977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77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ons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5120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0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onze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6263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263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hun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406640" y="2240280"/>
            <a:ext cx="1005840" cy="502920"/>
          </a:xfrm>
          <a:prstGeom prst="roundRect">
            <a:avLst>
              <a:gd name="adj" fmla="val 4545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406640" y="224028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uw</a:t>
            </a:r>
            <a:endParaRPr lang="en-US" sz="1600" dirty="0"/>
          </a:p>
        </p:txBody>
      </p:sp>
      <p:sp>
        <p:nvSpPr>
          <p:cNvPr id="33" name="Shape 30"/>
          <p:cNvSpPr/>
          <p:nvPr/>
        </p:nvSpPr>
        <p:spPr>
          <a:xfrm>
            <a:off x="8595360" y="2194560"/>
            <a:ext cx="6400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326880" y="1645920"/>
            <a:ext cx="1143000" cy="11430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326880" y="16459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-e</a:t>
            </a:r>
            <a:endParaRPr lang="en-US" sz="3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31089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dit grot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huis · mijn nieuw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laptop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ons oud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kantoor · dat mooi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gebouw</a:t>
            </a:r>
            <a:endParaRPr lang="en-US" sz="22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2200" i="1" dirty="0">
                <a:solidFill>
                  <a:schemeClr val="tx1"/>
                </a:solidFill>
              </a:rPr>
              <a:t>uw volgend</a:t>
            </a:r>
            <a:r>
              <a:rPr lang="en-US" sz="2200" b="1" i="1" dirty="0">
                <a:solidFill>
                  <a:schemeClr val="accent4"/>
                </a:solidFill>
              </a:rPr>
              <a:t>e</a:t>
            </a:r>
            <a:r>
              <a:rPr lang="en-US" sz="2200" i="1" dirty="0">
                <a:solidFill>
                  <a:schemeClr val="tx1"/>
                </a:solidFill>
              </a:rPr>
              <a:t> afspraak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5000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7240" y="47548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Surtout </a:t>
            </a:r>
            <a:r>
              <a:rPr lang="en-US" sz="1800" b="1" i="1" dirty="0">
                <a:solidFill>
                  <a:schemeClr val="tx1"/>
                </a:solidFill>
              </a:rPr>
              <a:t>een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geen</a:t>
            </a:r>
            <a:r>
              <a:rPr lang="en-US" sz="1800" dirty="0">
                <a:solidFill>
                  <a:schemeClr val="tx1"/>
                </a:solidFill>
              </a:rPr>
              <a:t> et l’</a:t>
            </a:r>
            <a:r>
              <a:rPr lang="en-US" sz="1800" b="1" dirty="0">
                <a:solidFill>
                  <a:schemeClr val="tx1"/>
                </a:solidFill>
              </a:rPr>
              <a:t>absence d’article</a:t>
            </a:r>
            <a:r>
              <a:rPr lang="en-US" sz="1800" dirty="0">
                <a:solidFill>
                  <a:schemeClr val="tx1"/>
                </a:solidFill>
              </a:rPr>
              <a:t> ouvrent la case sans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(avec un mot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). Aussi </a:t>
            </a:r>
            <a:r>
              <a:rPr lang="en-US" sz="1800" i="1" dirty="0">
                <a:solidFill>
                  <a:schemeClr val="tx1"/>
                </a:solidFill>
              </a:rPr>
              <a:t>zo’n, elk, welk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zo’n groot huis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Même </a:t>
            </a:r>
            <a:r>
              <a:rPr lang="en-US" sz="1800" i="1" dirty="0">
                <a:solidFill>
                  <a:schemeClr val="tx1"/>
                </a:solidFill>
              </a:rPr>
              <a:t>ons</a:t>
            </a:r>
            <a:r>
              <a:rPr lang="en-US" sz="1800" dirty="0">
                <a:solidFill>
                  <a:schemeClr val="tx1"/>
                </a:solidFill>
              </a:rPr>
              <a:t> (+ </a:t>
            </a:r>
            <a:r>
              <a:rPr lang="en-US" sz="1800" i="1" dirty="0">
                <a:solidFill>
                  <a:schemeClr val="tx1"/>
                </a:solidFill>
              </a:rPr>
              <a:t>het</a:t>
            </a:r>
            <a:r>
              <a:rPr lang="en-US" sz="1800" dirty="0">
                <a:solidFill>
                  <a:schemeClr val="tx1"/>
                </a:solidFill>
              </a:rPr>
              <a:t>) donne </a:t>
            </a:r>
            <a:r>
              <a:rPr lang="en-US" sz="1800" i="1" dirty="0">
                <a:solidFill>
                  <a:schemeClr val="tx1"/>
                </a:solidFill>
              </a:rPr>
              <a:t>ons </a:t>
            </a:r>
            <a:r>
              <a:rPr lang="en-US" sz="1800" b="1" i="1" dirty="0">
                <a:solidFill>
                  <a:schemeClr val="tx1"/>
                </a:solidFill>
              </a:rPr>
              <a:t>oude</a:t>
            </a:r>
            <a:r>
              <a:rPr lang="en-US" sz="1800" i="1" dirty="0">
                <a:solidFill>
                  <a:schemeClr val="tx1"/>
                </a:solidFill>
              </a:rPr>
              <a:t> kantoor</a:t>
            </a:r>
            <a:r>
              <a:rPr lang="en-US" sz="1800" dirty="0">
                <a:solidFill>
                  <a:schemeClr val="tx1"/>
                </a:solidFill>
              </a:rPr>
              <a:t> : après un possessif, toujours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Décrire : les adjectifs contraires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PERSONNES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7" name="Image 0" descr="ba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84248"/>
            <a:ext cx="640080" cy="6400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jong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3063240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3429000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11" name="Image 1" descr="older pers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984248"/>
            <a:ext cx="640080" cy="6400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48640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3" name="Image 2" descr="man rais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71800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3063240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3429000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17" name="Image 3" descr="chil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71800"/>
            <a:ext cx="640080" cy="64008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548640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9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959352"/>
            <a:ext cx="640080" cy="64008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3716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vriendelijk</a:t>
            </a:r>
            <a:endParaRPr lang="en-US" sz="1700" dirty="0"/>
          </a:p>
        </p:txBody>
      </p:sp>
      <p:sp>
        <p:nvSpPr>
          <p:cNvPr id="21" name="Text 13"/>
          <p:cNvSpPr txBox="1"/>
          <p:nvPr/>
        </p:nvSpPr>
        <p:spPr>
          <a:xfrm>
            <a:off x="3063240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3429000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onvriendelijk</a:t>
            </a:r>
            <a:endParaRPr lang="en-US" sz="1700" dirty="0"/>
          </a:p>
        </p:txBody>
      </p:sp>
      <p:pic>
        <p:nvPicPr>
          <p:cNvPr id="23" name="Image 5" descr="pout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3959352"/>
            <a:ext cx="640080" cy="640080"/>
          </a:xfrm>
          <a:prstGeom prst="rect">
            <a:avLst/>
          </a:prstGeom>
        </p:spPr>
      </p:pic>
      <p:sp>
        <p:nvSpPr>
          <p:cNvPr id="24" name="Shape 15"/>
          <p:cNvSpPr/>
          <p:nvPr/>
        </p:nvSpPr>
        <p:spPr>
          <a:xfrm>
            <a:off x="548640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5" name="Image 6" descr="person runn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946904"/>
            <a:ext cx="640080" cy="6400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3716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druk</a:t>
            </a:r>
            <a:endParaRPr lang="en-US" sz="1700" dirty="0"/>
          </a:p>
        </p:txBody>
      </p:sp>
      <p:sp>
        <p:nvSpPr>
          <p:cNvPr id="27" name="Text 17"/>
          <p:cNvSpPr txBox="1"/>
          <p:nvPr/>
        </p:nvSpPr>
        <p:spPr>
          <a:xfrm>
            <a:off x="3063240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28" name="Text 18"/>
          <p:cNvSpPr txBox="1"/>
          <p:nvPr/>
        </p:nvSpPr>
        <p:spPr>
          <a:xfrm>
            <a:off x="3429000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rustig</a:t>
            </a:r>
            <a:endParaRPr lang="en-US" sz="1700" dirty="0"/>
          </a:p>
        </p:txBody>
      </p:sp>
      <p:pic>
        <p:nvPicPr>
          <p:cNvPr id="29" name="Image 7" descr="relieved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4946904"/>
            <a:ext cx="640080" cy="640080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6199632" y="1508760"/>
            <a:ext cx="5440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OBJETS ET LIEUX</a:t>
            </a:r>
            <a:endParaRPr lang="en-US" sz="1300" dirty="0"/>
          </a:p>
        </p:txBody>
      </p:sp>
      <p:sp>
        <p:nvSpPr>
          <p:cNvPr id="31" name="Shape 20"/>
          <p:cNvSpPr/>
          <p:nvPr/>
        </p:nvSpPr>
        <p:spPr>
          <a:xfrm>
            <a:off x="6199632" y="1874520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8" descr="new butt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0" y="1984248"/>
            <a:ext cx="640080" cy="640080"/>
          </a:xfrm>
          <a:prstGeom prst="rect">
            <a:avLst/>
          </a:prstGeom>
        </p:spPr>
      </p:pic>
      <p:sp>
        <p:nvSpPr>
          <p:cNvPr id="33" name="Text 21"/>
          <p:cNvSpPr txBox="1"/>
          <p:nvPr/>
        </p:nvSpPr>
        <p:spPr>
          <a:xfrm>
            <a:off x="70225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nieuw</a:t>
            </a:r>
            <a:endParaRPr lang="en-US" sz="1700" dirty="0"/>
          </a:p>
        </p:txBody>
      </p:sp>
      <p:sp>
        <p:nvSpPr>
          <p:cNvPr id="34" name="Text 22"/>
          <p:cNvSpPr txBox="1"/>
          <p:nvPr/>
        </p:nvSpPr>
        <p:spPr>
          <a:xfrm>
            <a:off x="8714232" y="1874520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35" name="Text 23"/>
          <p:cNvSpPr txBox="1"/>
          <p:nvPr/>
        </p:nvSpPr>
        <p:spPr>
          <a:xfrm>
            <a:off x="9079992" y="18745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oud</a:t>
            </a:r>
            <a:endParaRPr lang="en-US" sz="1700" dirty="0"/>
          </a:p>
        </p:txBody>
      </p:sp>
      <p:pic>
        <p:nvPicPr>
          <p:cNvPr id="36" name="Image 9" descr="derelict hou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08792" y="1984248"/>
            <a:ext cx="640080" cy="640080"/>
          </a:xfrm>
          <a:prstGeom prst="rect">
            <a:avLst/>
          </a:prstGeom>
        </p:spPr>
      </p:pic>
      <p:sp>
        <p:nvSpPr>
          <p:cNvPr id="37" name="Shape 24"/>
          <p:cNvSpPr/>
          <p:nvPr/>
        </p:nvSpPr>
        <p:spPr>
          <a:xfrm>
            <a:off x="6199632" y="2862072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09360" y="2971800"/>
            <a:ext cx="640080" cy="640080"/>
          </a:xfrm>
          <a:prstGeom prst="rect">
            <a:avLst/>
          </a:prstGeom>
        </p:spPr>
      </p:pic>
      <p:sp>
        <p:nvSpPr>
          <p:cNvPr id="39" name="Text 25"/>
          <p:cNvSpPr txBox="1"/>
          <p:nvPr/>
        </p:nvSpPr>
        <p:spPr>
          <a:xfrm>
            <a:off x="70225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duur</a:t>
            </a:r>
            <a:endParaRPr lang="en-US" sz="1700" dirty="0"/>
          </a:p>
        </p:txBody>
      </p:sp>
      <p:sp>
        <p:nvSpPr>
          <p:cNvPr id="40" name="Text 26"/>
          <p:cNvSpPr txBox="1"/>
          <p:nvPr/>
        </p:nvSpPr>
        <p:spPr>
          <a:xfrm>
            <a:off x="8714232" y="2862072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1" name="Text 27"/>
          <p:cNvSpPr txBox="1"/>
          <p:nvPr/>
        </p:nvSpPr>
        <p:spPr>
          <a:xfrm>
            <a:off x="9079992" y="28620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goedkoop</a:t>
            </a:r>
            <a:endParaRPr lang="en-US" sz="1700" dirty="0"/>
          </a:p>
        </p:txBody>
      </p:sp>
      <p:pic>
        <p:nvPicPr>
          <p:cNvPr id="42" name="Image 11" descr="coi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08792" y="2971800"/>
            <a:ext cx="640080" cy="640080"/>
          </a:xfrm>
          <a:prstGeom prst="rect">
            <a:avLst/>
          </a:prstGeom>
        </p:spPr>
      </p:pic>
      <p:sp>
        <p:nvSpPr>
          <p:cNvPr id="43" name="Shape 28"/>
          <p:cNvSpPr/>
          <p:nvPr/>
        </p:nvSpPr>
        <p:spPr>
          <a:xfrm>
            <a:off x="6199632" y="3849624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12" descr="su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9360" y="3959352"/>
            <a:ext cx="640080" cy="640080"/>
          </a:xfrm>
          <a:prstGeom prst="rect">
            <a:avLst/>
          </a:prstGeom>
        </p:spPr>
      </p:pic>
      <p:sp>
        <p:nvSpPr>
          <p:cNvPr id="45" name="Text 29"/>
          <p:cNvSpPr txBox="1"/>
          <p:nvPr/>
        </p:nvSpPr>
        <p:spPr>
          <a:xfrm>
            <a:off x="70225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licht</a:t>
            </a:r>
            <a:endParaRPr lang="en-US" sz="1700" dirty="0"/>
          </a:p>
        </p:txBody>
      </p:sp>
      <p:sp>
        <p:nvSpPr>
          <p:cNvPr id="46" name="Text 30"/>
          <p:cNvSpPr txBox="1"/>
          <p:nvPr/>
        </p:nvSpPr>
        <p:spPr>
          <a:xfrm>
            <a:off x="8714232" y="3849624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47" name="Text 31"/>
          <p:cNvSpPr txBox="1"/>
          <p:nvPr/>
        </p:nvSpPr>
        <p:spPr>
          <a:xfrm>
            <a:off x="9079992" y="384962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donker</a:t>
            </a:r>
            <a:endParaRPr lang="en-US" sz="1700" dirty="0"/>
          </a:p>
        </p:txBody>
      </p:sp>
      <p:pic>
        <p:nvPicPr>
          <p:cNvPr id="48" name="Image 13" descr="crescent m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08792" y="3959352"/>
            <a:ext cx="640080" cy="640080"/>
          </a:xfrm>
          <a:prstGeom prst="rect">
            <a:avLst/>
          </a:prstGeom>
        </p:spPr>
      </p:pic>
      <p:sp>
        <p:nvSpPr>
          <p:cNvPr id="49" name="Shape 32"/>
          <p:cNvSpPr/>
          <p:nvPr/>
        </p:nvSpPr>
        <p:spPr>
          <a:xfrm>
            <a:off x="6199632" y="4837176"/>
            <a:ext cx="5440680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50" name="Image 14" descr="office buildi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09360" y="4946904"/>
            <a:ext cx="640080" cy="640080"/>
          </a:xfrm>
          <a:prstGeom prst="rect">
            <a:avLst/>
          </a:prstGeom>
        </p:spPr>
      </p:pic>
      <p:sp>
        <p:nvSpPr>
          <p:cNvPr id="51" name="Text 33"/>
          <p:cNvSpPr txBox="1"/>
          <p:nvPr/>
        </p:nvSpPr>
        <p:spPr>
          <a:xfrm>
            <a:off x="70225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groot</a:t>
            </a:r>
            <a:endParaRPr lang="en-US" sz="1700" dirty="0"/>
          </a:p>
        </p:txBody>
      </p:sp>
      <p:sp>
        <p:nvSpPr>
          <p:cNvPr id="52" name="Text 34"/>
          <p:cNvSpPr txBox="1"/>
          <p:nvPr/>
        </p:nvSpPr>
        <p:spPr>
          <a:xfrm>
            <a:off x="8714232" y="4837176"/>
            <a:ext cx="411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↔</a:t>
            </a:r>
            <a:endParaRPr lang="en-US" sz="2000" dirty="0"/>
          </a:p>
        </p:txBody>
      </p:sp>
      <p:sp>
        <p:nvSpPr>
          <p:cNvPr id="53" name="Text 35"/>
          <p:cNvSpPr txBox="1"/>
          <p:nvPr/>
        </p:nvSpPr>
        <p:spPr>
          <a:xfrm>
            <a:off x="9079992" y="4837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klein</a:t>
            </a:r>
            <a:endParaRPr lang="en-US" sz="1700" dirty="0"/>
          </a:p>
        </p:txBody>
      </p:sp>
      <p:pic>
        <p:nvPicPr>
          <p:cNvPr id="54" name="Image 15" descr="hous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08792" y="4946904"/>
            <a:ext cx="640080" cy="640080"/>
          </a:xfrm>
          <a:prstGeom prst="rect">
            <a:avLst/>
          </a:prstGeom>
        </p:spPr>
      </p:pic>
      <p:sp>
        <p:nvSpPr>
          <p:cNvPr id="55" name="Text 3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druk</a:t>
            </a:r>
            <a:r>
              <a:rPr lang="en-US" sz="1500" i="1" dirty="0">
                <a:solidFill>
                  <a:schemeClr val="accent5"/>
                </a:solidFill>
              </a:rPr>
              <a:t> = agité, occupé · </a:t>
            </a:r>
            <a:r>
              <a:rPr lang="en-US" sz="1500" i="1" dirty="0">
                <a:solidFill>
                  <a:schemeClr val="accent5"/>
                </a:solidFill>
              </a:rPr>
              <a:t>licht</a:t>
            </a:r>
            <a:r>
              <a:rPr lang="en-US" sz="1500" i="1" dirty="0">
                <a:solidFill>
                  <a:schemeClr val="accent5"/>
                </a:solidFill>
              </a:rPr>
              <a:t> = clair ou léger · </a:t>
            </a:r>
            <a:r>
              <a:rPr lang="en-US" sz="1500" i="1" dirty="0">
                <a:solidFill>
                  <a:schemeClr val="accent5"/>
                </a:solidFill>
              </a:rPr>
              <a:t>on-</a:t>
            </a:r>
            <a:r>
              <a:rPr lang="en-US" sz="1500" i="1" dirty="0">
                <a:solidFill>
                  <a:schemeClr val="accent5"/>
                </a:solidFill>
              </a:rPr>
              <a:t> = le contraire (M14) · </a:t>
            </a:r>
            <a:r>
              <a:rPr lang="en-US" sz="1500" i="1" dirty="0">
                <a:solidFill>
                  <a:schemeClr val="accent5"/>
                </a:solidFill>
              </a:rPr>
              <a:t>een kleine, oude stoel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adjectifs qui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214884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matières en </a:t>
            </a:r>
            <a:r>
              <a:rPr lang="en-US" sz="1700" b="1" i="1" dirty="0">
                <a:solidFill>
                  <a:schemeClr val="accent6"/>
                </a:solidFill>
              </a:rPr>
              <a:t>-en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4572000" y="214884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houten</a:t>
            </a:r>
            <a:r>
              <a:rPr lang="en-US" sz="1900" i="1" dirty="0">
                <a:solidFill>
                  <a:schemeClr val="tx1"/>
                </a:solidFill>
              </a:rPr>
              <a:t> tafel · een </a:t>
            </a:r>
            <a:r>
              <a:rPr lang="en-US" sz="1900" b="1" i="1" dirty="0">
                <a:solidFill>
                  <a:schemeClr val="tx1"/>
                </a:solidFill>
              </a:rPr>
              <a:t>gouden</a:t>
            </a:r>
            <a:r>
              <a:rPr lang="en-US" sz="1900" i="1" dirty="0">
                <a:solidFill>
                  <a:schemeClr val="tx1"/>
                </a:solidFill>
              </a:rPr>
              <a:t> ring · een </a:t>
            </a:r>
            <a:r>
              <a:rPr lang="en-US" sz="1900" b="1" i="1" dirty="0">
                <a:solidFill>
                  <a:schemeClr val="tx1"/>
                </a:solidFill>
              </a:rPr>
              <a:t>wollen</a:t>
            </a:r>
            <a:r>
              <a:rPr lang="en-US" sz="1900" i="1" dirty="0">
                <a:solidFill>
                  <a:schemeClr val="tx1"/>
                </a:solidFill>
              </a:rPr>
              <a:t> trui</a:t>
            </a:r>
            <a:endParaRPr lang="en-US" sz="1900" dirty="0"/>
          </a:p>
        </p:txBody>
      </p:sp>
      <p:pic>
        <p:nvPicPr>
          <p:cNvPr id="10" name="Image 1" descr="t shi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00400"/>
            <a:ext cx="685800" cy="685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4592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couleurs en </a:t>
            </a:r>
            <a:r>
              <a:rPr lang="en-US" sz="1700" b="1" i="1" dirty="0">
                <a:solidFill>
                  <a:schemeClr val="accent6"/>
                </a:solidFill>
              </a:rPr>
              <a:t>-e</a:t>
            </a:r>
            <a:r>
              <a:rPr lang="en-US" sz="1700" b="1" dirty="0">
                <a:solidFill>
                  <a:schemeClr val="accent6"/>
                </a:solidFill>
              </a:rPr>
              <a:t> ou </a:t>
            </a:r>
            <a:r>
              <a:rPr lang="en-US" sz="1700" b="1" i="1" dirty="0">
                <a:solidFill>
                  <a:schemeClr val="accent6"/>
                </a:solidFill>
              </a:rPr>
              <a:t>-a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4572000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oranje</a:t>
            </a:r>
            <a:r>
              <a:rPr lang="en-US" sz="1900" i="1" dirty="0">
                <a:solidFill>
                  <a:schemeClr val="tx1"/>
                </a:solidFill>
              </a:rPr>
              <a:t> jas · een </a:t>
            </a:r>
            <a:r>
              <a:rPr lang="en-US" sz="1900" b="1" i="1" dirty="0">
                <a:solidFill>
                  <a:schemeClr val="tx1"/>
                </a:solidFill>
              </a:rPr>
              <a:t>roze</a:t>
            </a:r>
            <a:r>
              <a:rPr lang="en-US" sz="1900" i="1" dirty="0">
                <a:solidFill>
                  <a:schemeClr val="tx1"/>
                </a:solidFill>
              </a:rPr>
              <a:t> trui · een </a:t>
            </a:r>
            <a:r>
              <a:rPr lang="en-US" sz="1900" b="1" i="1" dirty="0">
                <a:solidFill>
                  <a:schemeClr val="tx1"/>
                </a:solidFill>
              </a:rPr>
              <a:t>lila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endParaRPr lang="en-US" sz="1900" dirty="0"/>
          </a:p>
        </p:txBody>
      </p:sp>
      <p:pic>
        <p:nvPicPr>
          <p:cNvPr id="13" name="Image 2" descr="hand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60520"/>
            <a:ext cx="685800" cy="6858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45920" y="40690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6"/>
                </a:solidFill>
              </a:rPr>
              <a:t>mots étrangers</a:t>
            </a:r>
            <a:endParaRPr lang="en-US" sz="1700" dirty="0"/>
          </a:p>
        </p:txBody>
      </p:sp>
      <p:sp>
        <p:nvSpPr>
          <p:cNvPr id="15" name="Text 9"/>
          <p:cNvSpPr txBox="1"/>
          <p:nvPr/>
        </p:nvSpPr>
        <p:spPr>
          <a:xfrm>
            <a:off x="4572000" y="406908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plastic</a:t>
            </a:r>
            <a:r>
              <a:rPr lang="en-US" sz="1900" i="1" dirty="0">
                <a:solidFill>
                  <a:schemeClr val="tx1"/>
                </a:solidFill>
              </a:rPr>
              <a:t> tas</a:t>
            </a:r>
            <a:r>
              <a:rPr lang="en-US" sz="1900" dirty="0">
                <a:solidFill>
                  <a:schemeClr val="tx1"/>
                </a:solidFill>
              </a:rPr>
              <a:t> (BE : </a:t>
            </a:r>
            <a:r>
              <a:rPr lang="en-US" sz="1900" i="1" dirty="0">
                <a:solidFill>
                  <a:schemeClr val="tx1"/>
                </a:solidFill>
              </a:rPr>
              <a:t>een </a:t>
            </a:r>
            <a:r>
              <a:rPr lang="en-US" sz="1900" b="1" i="1" dirty="0">
                <a:solidFill>
                  <a:schemeClr val="tx1"/>
                </a:solidFill>
              </a:rPr>
              <a:t>plastieken</a:t>
            </a:r>
            <a:r>
              <a:rPr lang="en-US" sz="1900" i="1" dirty="0">
                <a:solidFill>
                  <a:schemeClr val="tx1"/>
                </a:solidFill>
              </a:rPr>
              <a:t> zak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777240" y="49834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✗ </a:t>
            </a:r>
            <a:r>
              <a:rPr lang="en-US" sz="1700" i="1" strike="sngStrike" dirty="0">
                <a:solidFill>
                  <a:schemeClr val="accent6"/>
                </a:solidFill>
              </a:rPr>
              <a:t>een houtene tafel</a:t>
            </a:r>
            <a:r>
              <a:rPr lang="en-US" sz="1700" dirty="0">
                <a:solidFill>
                  <a:schemeClr val="tx1"/>
                </a:solidFill>
              </a:rPr>
              <a:t> → ✓ </a:t>
            </a:r>
            <a:r>
              <a:rPr lang="en-US" sz="1700" b="1" i="1" dirty="0">
                <a:solidFill>
                  <a:schemeClr val="tx1"/>
                </a:solidFill>
              </a:rPr>
              <a:t>een houten tafel</a:t>
            </a:r>
            <a:r>
              <a:rPr lang="en-US" sz="1700" dirty="0">
                <a:solidFill>
                  <a:schemeClr val="tx1"/>
                </a:solidFill>
              </a:rPr>
              <a:t> — ils finissent déjà par </a:t>
            </a:r>
            <a:r>
              <a:rPr lang="en-US" sz="1700" i="1" dirty="0">
                <a:solidFill>
                  <a:schemeClr val="tx1"/>
                </a:solidFill>
              </a:rPr>
              <a:t>-en</a:t>
            </a:r>
            <a:r>
              <a:rPr lang="en-US" sz="1700" dirty="0">
                <a:solidFill>
                  <a:schemeClr val="tx1"/>
                </a:solidFill>
              </a:rPr>
              <a:t> (matière) ou </a:t>
            </a:r>
            <a:r>
              <a:rPr lang="en-US" sz="1700" i="1" dirty="0">
                <a:solidFill>
                  <a:schemeClr val="tx1"/>
                </a:solidFill>
              </a:rPr>
              <a:t>-e / -a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Invariables partout : </a:t>
            </a:r>
            <a:r>
              <a:rPr lang="en-US" sz="1800" i="1" dirty="0">
                <a:solidFill>
                  <a:schemeClr val="bg1"/>
                </a:solidFill>
              </a:rPr>
              <a:t>de oranje auto · het houten huis · houten stoelen</a:t>
            </a:r>
            <a:r>
              <a:rPr lang="en-US" sz="1800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M7 : Belgisch, Belgische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71600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874520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de collega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31636" y="16002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505956" y="19659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780276" y="19659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054596" y="19659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05956" y="19659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57516" y="17373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het 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bier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7557516" y="24688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bier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48640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97280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71600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22960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74520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een </a:t>
            </a:r>
            <a:r>
              <a:rPr lang="en-US" sz="2400" b="1" i="1" dirty="0">
                <a:solidFill>
                  <a:schemeClr val="tx1"/>
                </a:solidFill>
              </a:rPr>
              <a:t>Belgisch</a:t>
            </a:r>
            <a:r>
              <a:rPr lang="en-US" sz="2400" i="1" dirty="0">
                <a:solidFill>
                  <a:schemeClr val="tx1"/>
                </a:solidFill>
              </a:rPr>
              <a:t> bedrijf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1874520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het bedrijf · case sans -e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231636" y="3200400"/>
            <a:ext cx="5408676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505956" y="3566160"/>
            <a:ext cx="274320" cy="543154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780276" y="3566160"/>
            <a:ext cx="274320" cy="543154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054596" y="3566160"/>
            <a:ext cx="274320" cy="543154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505956" y="3566160"/>
            <a:ext cx="822960" cy="543154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557516" y="3337560"/>
            <a:ext cx="39456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Belgisch</a:t>
            </a:r>
            <a:r>
              <a:rPr lang="en-US" sz="2400" b="1" i="1" dirty="0">
                <a:solidFill>
                  <a:schemeClr val="accent4"/>
                </a:solidFill>
              </a:rPr>
              <a:t>e</a:t>
            </a:r>
            <a:r>
              <a:rPr lang="en-US" sz="2400" i="1" dirty="0">
                <a:solidFill>
                  <a:schemeClr val="tx1"/>
                </a:solidFill>
              </a:rPr>
              <a:t> frietjes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557516" y="4069080"/>
            <a:ext cx="3945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pluriel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48463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484632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Attribut : </a:t>
            </a:r>
            <a:r>
              <a:rPr lang="en-US" sz="1800" i="1" dirty="0">
                <a:solidFill>
                  <a:schemeClr val="tx1"/>
                </a:solidFill>
              </a:rPr>
              <a:t>Het bier is </a:t>
            </a:r>
            <a:r>
              <a:rPr lang="en-US" sz="1800" b="1" i="1" dirty="0">
                <a:solidFill>
                  <a:schemeClr val="tx1"/>
                </a:solidFill>
              </a:rPr>
              <a:t>Belgisch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(pas de </a:t>
            </a:r>
            <a:r>
              <a:rPr lang="en-US" sz="1800" i="1" dirty="0">
                <a:solidFill>
                  <a:schemeClr val="tx1"/>
                </a:solidFill>
              </a:rPr>
              <a:t>-e</a:t>
            </a:r>
            <a:r>
              <a:rPr lang="en-US" sz="1800" dirty="0">
                <a:solidFill>
                  <a:schemeClr val="tx1"/>
                </a:solidFill>
              </a:rPr>
              <a:t>) · majuscule comme au M7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 M7, </a:t>
            </a:r>
            <a:r>
              <a:rPr lang="en-US" sz="1500" i="1" dirty="0">
                <a:solidFill>
                  <a:schemeClr val="accent5"/>
                </a:solidFill>
              </a:rPr>
              <a:t>Belgische</a:t>
            </a:r>
            <a:r>
              <a:rPr lang="en-US" sz="1500" i="1" dirty="0">
                <a:solidFill>
                  <a:schemeClr val="accent5"/>
                </a:solidFill>
              </a:rPr>
              <a:t> était appris « en bloc » : maintenant, la règle l’explique.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BONUS : comparer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BONUS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108960"/>
            <a:ext cx="1783080" cy="1097280"/>
          </a:xfrm>
          <a:prstGeom prst="roundRect">
            <a:avLst>
              <a:gd name="adj" fmla="val 3333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004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groot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423160" y="2560320"/>
            <a:ext cx="1783080" cy="1645920"/>
          </a:xfrm>
          <a:prstGeom prst="roundRect">
            <a:avLst>
              <a:gd name="adj" fmla="val 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423160" y="26517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groter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297680" y="2011680"/>
            <a:ext cx="1783080" cy="2194560"/>
          </a:xfrm>
          <a:prstGeom prst="roundRect">
            <a:avLst>
              <a:gd name="adj" fmla="val 205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297680" y="2103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het grootst</a:t>
            </a:r>
            <a:endParaRPr lang="en-US" sz="1800" dirty="0"/>
          </a:p>
        </p:txBody>
      </p:sp>
      <p:pic>
        <p:nvPicPr>
          <p:cNvPr id="11" name="Image 0" descr="1st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34840" y="150876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Brussel is </a:t>
            </a:r>
            <a:r>
              <a:rPr lang="en-US" sz="1900" b="1" i="1" dirty="0">
                <a:solidFill>
                  <a:schemeClr val="tx1"/>
                </a:solidFill>
              </a:rPr>
              <a:t>groter dan</a:t>
            </a:r>
            <a:r>
              <a:rPr lang="en-US" sz="1900" i="1" dirty="0">
                <a:solidFill>
                  <a:schemeClr val="tx1"/>
                </a:solidFill>
              </a:rPr>
              <a:t> Gent.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800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duur → duur</a:t>
            </a:r>
            <a:r>
              <a:rPr lang="en-US" sz="1700" b="1" i="1" dirty="0">
                <a:solidFill>
                  <a:schemeClr val="tx1"/>
                </a:solidFill>
              </a:rPr>
              <a:t>der</a:t>
            </a:r>
            <a:r>
              <a:rPr lang="en-US" sz="1700" i="1" dirty="0">
                <a:solidFill>
                  <a:schemeClr val="tx1"/>
                </a:solidFill>
              </a:rPr>
              <a:t> → duurst</a:t>
            </a:r>
            <a:r>
              <a:rPr lang="en-US" sz="1700" dirty="0">
                <a:solidFill>
                  <a:schemeClr val="tx1"/>
                </a:solidFill>
              </a:rPr>
              <a:t> (après </a:t>
            </a:r>
            <a:r>
              <a:rPr lang="en-US" sz="1700" i="1" dirty="0">
                <a:solidFill>
                  <a:schemeClr val="tx1"/>
                </a:solidFill>
              </a:rPr>
              <a:t>r</a:t>
            </a:r>
            <a:r>
              <a:rPr lang="en-US" sz="1700" dirty="0">
                <a:solidFill>
                  <a:schemeClr val="tx1"/>
                </a:solidFill>
              </a:rPr>
              <a:t> : </a:t>
            </a:r>
            <a:r>
              <a:rPr lang="en-US" sz="1700" i="1" dirty="0">
                <a:solidFill>
                  <a:schemeClr val="tx1"/>
                </a:solidFill>
              </a:rPr>
              <a:t>-der</a:t>
            </a:r>
            <a:r>
              <a:rPr lang="en-US" sz="1700" dirty="0">
                <a:solidFill>
                  <a:schemeClr val="tx1"/>
                </a:solidFill>
              </a:rPr>
              <a:t>)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6400800" y="1554480"/>
            <a:ext cx="5239512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83680" y="1645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IRRÉGULIERS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583680" y="201168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goed → </a:t>
            </a:r>
            <a:r>
              <a:rPr lang="en-US" sz="2100" b="1" i="1" dirty="0">
                <a:solidFill>
                  <a:schemeClr val="tx1"/>
                </a:solidFill>
              </a:rPr>
              <a:t>beter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best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veel → </a:t>
            </a:r>
            <a:r>
              <a:rPr lang="en-US" sz="2100" b="1" i="1" dirty="0">
                <a:solidFill>
                  <a:schemeClr val="tx1"/>
                </a:solidFill>
              </a:rPr>
              <a:t>meer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meest</a:t>
            </a:r>
            <a:endParaRPr lang="en-US" sz="21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graag → </a:t>
            </a:r>
            <a:r>
              <a:rPr lang="en-US" sz="2100" b="1" i="1" dirty="0">
                <a:solidFill>
                  <a:schemeClr val="tx1"/>
                </a:solidFill>
              </a:rPr>
              <a:t>liever</a:t>
            </a:r>
            <a:r>
              <a:rPr lang="en-US" sz="2100" i="1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tx1"/>
                </a:solidFill>
              </a:rPr>
              <a:t>liefst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54406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22960" y="54406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Devant un nom, toujours la règle du </a:t>
            </a:r>
            <a:r>
              <a:rPr lang="en-US" sz="1800" i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grootste stad · een duurdere laptop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l’organigramme de l’adjectif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600200"/>
            <a:ext cx="438912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333"/>
                </a:solidFill>
              </a:rPr>
              <a:t>L’adjectif est-il devant un nom ?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4956048" y="2121408"/>
            <a:ext cx="48463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937760" y="1783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0" y="169164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23560" y="16916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De auto is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51760"/>
            <a:ext cx="914" cy="320040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834640" y="26700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2971800"/>
            <a:ext cx="4389120" cy="11430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333"/>
                </a:solidFill>
              </a:rPr>
              <a:t>Mot het au singulier avec een, geen ou rien 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56048" y="353872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937760" y="32004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0" y="3108960"/>
            <a:ext cx="338328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23560" y="310896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pas de -e : </a:t>
            </a:r>
            <a:r>
              <a:rPr lang="en-US" sz="1600" i="1" dirty="0">
                <a:solidFill>
                  <a:schemeClr val="bg1"/>
                </a:solidFill>
              </a:rPr>
              <a:t>een </a:t>
            </a:r>
            <a:r>
              <a:rPr lang="en-US" sz="1600" b="1" i="1" dirty="0">
                <a:solidFill>
                  <a:schemeClr val="bg1"/>
                </a:solidFill>
              </a:rPr>
              <a:t>rood</a:t>
            </a:r>
            <a:r>
              <a:rPr lang="en-US" sz="1600" i="1" dirty="0">
                <a:solidFill>
                  <a:schemeClr val="bg1"/>
                </a:solidFill>
              </a:rPr>
              <a:t> huis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743200" y="4114800"/>
            <a:ext cx="914" cy="320040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834640" y="413308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48640" y="4434840"/>
            <a:ext cx="8321040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443484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-e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de rode auto · een rode auto · het rode huis · rode auto’s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9098280" y="1600200"/>
            <a:ext cx="2542032" cy="3749040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98280" y="169164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ORTHOGRAPHE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35440" y="2057400"/>
            <a:ext cx="2286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groot → </a:t>
            </a:r>
            <a:r>
              <a:rPr lang="en-US" sz="1600" b="1" i="1" dirty="0">
                <a:solidFill>
                  <a:schemeClr val="tx1"/>
                </a:solidFill>
              </a:rPr>
              <a:t>grote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wit →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lief → </a:t>
            </a:r>
            <a:r>
              <a:rPr lang="en-US" sz="1600" b="1" i="1" dirty="0">
                <a:solidFill>
                  <a:schemeClr val="tx1"/>
                </a:solidFill>
              </a:rPr>
              <a:t>lieve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grijs → </a:t>
            </a:r>
            <a:r>
              <a:rPr lang="en-US" sz="1600" b="1" i="1" dirty="0">
                <a:solidFill>
                  <a:schemeClr val="tx1"/>
                </a:solidFill>
              </a:rPr>
              <a:t>grijze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invariables : </a:t>
            </a:r>
            <a:r>
              <a:rPr lang="en-US" sz="1600" i="1" dirty="0">
                <a:solidFill>
                  <a:schemeClr val="tx1"/>
                </a:solidFill>
              </a:rPr>
              <a:t>houten, oranje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5778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25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Groot of grote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pell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L’orthographe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om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petite annonce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Frien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Qui est-ce ?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ChartBa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Comparez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Ke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L’agence immobilière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dirty="0">
                <a:solidFill>
                  <a:schemeClr val="accent5"/>
                </a:solidFill>
              </a:rPr>
              <a:t>…………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Avec ou sans -e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entre parenthèses. Suivez l’organigramme !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groot</a:t>
            </a:r>
            <a:r>
              <a:rPr lang="en-US" sz="2200" dirty="0">
                <a:solidFill>
                  <a:schemeClr val="tx1"/>
                </a:solidFill>
              </a:rPr>
              <a:t> huis </a:t>
            </a:r>
            <a:r>
              <a:rPr lang="en-US" sz="2200" i="1" dirty="0">
                <a:solidFill>
                  <a:schemeClr val="tx1"/>
                </a:solidFill>
              </a:rPr>
              <a:t>(groot)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2  </a:t>
            </a:r>
            <a:r>
              <a:rPr lang="en-US" sz="2200" dirty="0">
                <a:solidFill>
                  <a:schemeClr val="tx1"/>
                </a:solidFill>
              </a:rPr>
              <a:t>de </a:t>
            </a:r>
            <a:r>
              <a:rPr lang="en-US" sz="2200" b="1" dirty="0">
                <a:solidFill>
                  <a:schemeClr val="accent3"/>
                </a:solidFill>
              </a:rPr>
              <a:t>nieuwe</a:t>
            </a:r>
            <a:r>
              <a:rPr lang="en-US" sz="2200" dirty="0">
                <a:solidFill>
                  <a:schemeClr val="tx1"/>
                </a:solidFill>
              </a:rPr>
              <a:t> collega </a:t>
            </a:r>
            <a:r>
              <a:rPr lang="en-US" sz="2200" i="1" dirty="0">
                <a:solidFill>
                  <a:schemeClr val="tx1"/>
                </a:solidFill>
              </a:rPr>
              <a:t>(nieuw)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3  </a:t>
            </a:r>
            <a:r>
              <a:rPr lang="en-US" sz="2200" dirty="0">
                <a:solidFill>
                  <a:schemeClr val="tx1"/>
                </a:solidFill>
              </a:rPr>
              <a:t>het </a:t>
            </a:r>
            <a:r>
              <a:rPr lang="en-US" sz="2200" b="1" dirty="0">
                <a:solidFill>
                  <a:schemeClr val="accent3"/>
                </a:solidFill>
              </a:rPr>
              <a:t>oude</a:t>
            </a:r>
            <a:r>
              <a:rPr lang="en-US" sz="2200" dirty="0">
                <a:solidFill>
                  <a:schemeClr val="tx1"/>
                </a:solidFill>
              </a:rPr>
              <a:t> kantoor </a:t>
            </a:r>
            <a:r>
              <a:rPr lang="en-US" sz="2200" i="1" dirty="0">
                <a:solidFill>
                  <a:schemeClr val="tx1"/>
                </a:solidFill>
              </a:rPr>
              <a:t>(oud)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4  </a:t>
            </a:r>
            <a:r>
              <a:rPr lang="en-US" sz="2200" dirty="0">
                <a:solidFill>
                  <a:schemeClr val="tx1"/>
                </a:solidFill>
              </a:rPr>
              <a:t>een </a:t>
            </a:r>
            <a:r>
              <a:rPr lang="en-US" sz="2200" b="1" dirty="0">
                <a:solidFill>
                  <a:schemeClr val="accent3"/>
                </a:solidFill>
              </a:rPr>
              <a:t>rode</a:t>
            </a:r>
            <a:r>
              <a:rPr lang="en-US" sz="2200" dirty="0">
                <a:solidFill>
                  <a:schemeClr val="tx1"/>
                </a:solidFill>
              </a:rPr>
              <a:t> auto </a:t>
            </a:r>
            <a:r>
              <a:rPr lang="en-US" sz="2200" i="1" dirty="0">
                <a:solidFill>
                  <a:schemeClr val="tx1"/>
                </a:solidFill>
              </a:rPr>
              <a:t>(rood)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5  </a:t>
            </a:r>
            <a:r>
              <a:rPr lang="en-US" sz="2200" dirty="0">
                <a:solidFill>
                  <a:schemeClr val="tx1"/>
                </a:solidFill>
              </a:rPr>
              <a:t>mijn </a:t>
            </a:r>
            <a:r>
              <a:rPr lang="en-US" sz="2200" b="1" dirty="0">
                <a:solidFill>
                  <a:schemeClr val="accent3"/>
                </a:solidFill>
              </a:rPr>
              <a:t>witte</a:t>
            </a:r>
            <a:r>
              <a:rPr lang="en-US" sz="2200" dirty="0">
                <a:solidFill>
                  <a:schemeClr val="tx1"/>
                </a:solidFill>
              </a:rPr>
              <a:t> hemd </a:t>
            </a:r>
            <a:r>
              <a:rPr lang="en-US" sz="2200" i="1" dirty="0">
                <a:solidFill>
                  <a:schemeClr val="tx1"/>
                </a:solidFill>
              </a:rPr>
              <a:t>(wit)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6  </a:t>
            </a:r>
            <a:r>
              <a:rPr lang="en-US" sz="2200" dirty="0">
                <a:solidFill>
                  <a:schemeClr val="tx1"/>
                </a:solidFill>
              </a:rPr>
              <a:t>geen </a:t>
            </a:r>
            <a:r>
              <a:rPr lang="en-US" sz="2200" b="1" dirty="0">
                <a:solidFill>
                  <a:schemeClr val="accent3"/>
                </a:solidFill>
              </a:rPr>
              <a:t>duur</a:t>
            </a:r>
            <a:r>
              <a:rPr lang="en-US" sz="2200" dirty="0">
                <a:solidFill>
                  <a:schemeClr val="tx1"/>
                </a:solidFill>
              </a:rPr>
              <a:t> hotel </a:t>
            </a:r>
            <a:r>
              <a:rPr lang="en-US" sz="2200" i="1" dirty="0">
                <a:solidFill>
                  <a:schemeClr val="tx1"/>
                </a:solidFill>
              </a:rPr>
              <a:t>(duur)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7  </a:t>
            </a:r>
            <a:r>
              <a:rPr lang="en-US" sz="2200" b="1" dirty="0">
                <a:solidFill>
                  <a:schemeClr val="accent3"/>
                </a:solidFill>
              </a:rPr>
              <a:t>lekkere</a:t>
            </a:r>
            <a:r>
              <a:rPr lang="en-US" sz="2200" dirty="0">
                <a:solidFill>
                  <a:schemeClr val="tx1"/>
                </a:solidFill>
              </a:rPr>
              <a:t> koffie </a:t>
            </a:r>
            <a:r>
              <a:rPr lang="en-US" sz="2200" i="1" dirty="0">
                <a:solidFill>
                  <a:schemeClr val="tx1"/>
                </a:solidFill>
              </a:rPr>
              <a:t>(lekker)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8  </a:t>
            </a:r>
            <a:r>
              <a:rPr lang="en-US" sz="2200" b="1" dirty="0">
                <a:solidFill>
                  <a:schemeClr val="accent3"/>
                </a:solidFill>
              </a:rPr>
              <a:t>warm</a:t>
            </a:r>
            <a:r>
              <a:rPr lang="en-US" sz="2200" dirty="0">
                <a:solidFill>
                  <a:schemeClr val="tx1"/>
                </a:solidFill>
              </a:rPr>
              <a:t> water </a:t>
            </a:r>
            <a:r>
              <a:rPr lang="en-US" sz="2200" i="1" dirty="0">
                <a:solidFill>
                  <a:schemeClr val="tx1"/>
                </a:solidFill>
              </a:rPr>
              <a:t>(warm)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9  </a:t>
            </a:r>
            <a:r>
              <a:rPr lang="en-US" sz="2200" dirty="0">
                <a:solidFill>
                  <a:schemeClr val="tx1"/>
                </a:solidFill>
              </a:rPr>
              <a:t>De vergadering is </a:t>
            </a:r>
            <a:r>
              <a:rPr lang="en-US" sz="2200" b="1" dirty="0">
                <a:solidFill>
                  <a:schemeClr val="accent3"/>
                </a:solidFill>
              </a:rPr>
              <a:t>lang</a:t>
            </a:r>
            <a:r>
              <a:rPr lang="en-US" sz="2200" dirty="0">
                <a:solidFill>
                  <a:schemeClr val="tx1"/>
                </a:solidFill>
              </a:rPr>
              <a:t>. </a:t>
            </a:r>
            <a:r>
              <a:rPr lang="en-US" sz="2200" i="1" dirty="0">
                <a:solidFill>
                  <a:schemeClr val="tx1"/>
                </a:solidFill>
              </a:rPr>
              <a:t>(lang)</a:t>
            </a:r>
            <a:endParaRPr lang="en-US" sz="22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10  </a:t>
            </a:r>
            <a:r>
              <a:rPr lang="en-US" sz="2200" dirty="0">
                <a:solidFill>
                  <a:schemeClr val="tx1"/>
                </a:solidFill>
              </a:rPr>
              <a:t>deze </a:t>
            </a:r>
            <a:r>
              <a:rPr lang="en-US" sz="2200" b="1" dirty="0">
                <a:solidFill>
                  <a:schemeClr val="accent3"/>
                </a:solidFill>
              </a:rPr>
              <a:t>mooie</a:t>
            </a:r>
            <a:r>
              <a:rPr lang="en-US" sz="2200" dirty="0">
                <a:solidFill>
                  <a:schemeClr val="tx1"/>
                </a:solidFill>
              </a:rPr>
              <a:t> foto’s </a:t>
            </a:r>
            <a:r>
              <a:rPr lang="en-US" sz="2200" i="1" dirty="0">
                <a:solidFill>
                  <a:schemeClr val="tx1"/>
                </a:solidFill>
              </a:rPr>
              <a:t>(mooi)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7 : </a:t>
            </a:r>
            <a:r>
              <a:rPr lang="en-US" sz="1500" i="1" dirty="0">
                <a:solidFill>
                  <a:schemeClr val="accent5"/>
                </a:solidFill>
              </a:rPr>
              <a:t>de</a:t>
            </a:r>
            <a:r>
              <a:rPr lang="en-US" sz="1500" i="1" dirty="0">
                <a:solidFill>
                  <a:schemeClr val="accent5"/>
                </a:solidFill>
              </a:rPr>
              <a:t> koffie, sans article →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8 : </a:t>
            </a:r>
            <a:r>
              <a:rPr lang="en-US" sz="1500" i="1" dirty="0">
                <a:solidFill>
                  <a:schemeClr val="accent5"/>
                </a:solidFill>
              </a:rPr>
              <a:t>het</a:t>
            </a:r>
            <a:r>
              <a:rPr lang="en-US" sz="1500" i="1" dirty="0">
                <a:solidFill>
                  <a:schemeClr val="accent5"/>
                </a:solidFill>
              </a:rPr>
              <a:t> water, sans article → pas de </a:t>
            </a:r>
            <a:r>
              <a:rPr lang="en-US" sz="1500" i="1" dirty="0">
                <a:solidFill>
                  <a:schemeClr val="accent5"/>
                </a:solidFill>
              </a:rPr>
              <a:t>-e</a:t>
            </a:r>
            <a:r>
              <a:rPr lang="en-US" sz="1500" i="1" dirty="0">
                <a:solidFill>
                  <a:schemeClr val="accent5"/>
                </a:solidFill>
              </a:rPr>
              <a:t> · n° 9 : attribut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36" name="Shape 32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2" name="Shape 38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54" name="Shape 50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0" name="Shape 56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66" name="Shape 6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L’orthographe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la forme avec -e. Pensez à la syllabe-porte (M1).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05840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groot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182112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39312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grote</a:t>
            </a:r>
            <a:endParaRPr lang="en-US" sz="22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05840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wit</a:t>
            </a:r>
            <a:endParaRPr lang="en-US" sz="2200" dirty="0"/>
          </a:p>
        </p:txBody>
      </p:sp>
      <p:sp>
        <p:nvSpPr>
          <p:cNvPr id="20" name="Shape 16"/>
          <p:cNvSpPr/>
          <p:nvPr/>
        </p:nvSpPr>
        <p:spPr>
          <a:xfrm>
            <a:off x="3182112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39312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witte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05840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lief</a:t>
            </a:r>
            <a:endParaRPr lang="en-US" sz="2200" dirty="0"/>
          </a:p>
        </p:txBody>
      </p:sp>
      <p:sp>
        <p:nvSpPr>
          <p:cNvPr id="27" name="Shape 23"/>
          <p:cNvSpPr/>
          <p:nvPr/>
        </p:nvSpPr>
        <p:spPr>
          <a:xfrm>
            <a:off x="3182112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39312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lieve</a:t>
            </a:r>
            <a:endParaRPr lang="en-US" sz="22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05840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grijs</a:t>
            </a:r>
            <a:endParaRPr lang="en-US" sz="2200" dirty="0"/>
          </a:p>
        </p:txBody>
      </p:sp>
      <p:sp>
        <p:nvSpPr>
          <p:cNvPr id="34" name="Shape 30"/>
          <p:cNvSpPr/>
          <p:nvPr/>
        </p:nvSpPr>
        <p:spPr>
          <a:xfrm>
            <a:off x="3182112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39312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grijze</a:t>
            </a:r>
            <a:endParaRPr lang="en-US" sz="22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05840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duur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3182112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39312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dure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6199632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2005584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656832" y="2005584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dik</a:t>
            </a:r>
            <a:endParaRPr lang="en-US" sz="2200" dirty="0"/>
          </a:p>
        </p:txBody>
      </p:sp>
      <p:sp>
        <p:nvSpPr>
          <p:cNvPr id="48" name="Shape 44"/>
          <p:cNvSpPr/>
          <p:nvPr/>
        </p:nvSpPr>
        <p:spPr>
          <a:xfrm>
            <a:off x="8833104" y="2350008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2005584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290304" y="2005584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dikke</a:t>
            </a:r>
            <a:endParaRPr lang="en-US" sz="2200" dirty="0"/>
          </a:p>
        </p:txBody>
      </p:sp>
      <p:sp>
        <p:nvSpPr>
          <p:cNvPr id="51" name="Shape 47"/>
          <p:cNvSpPr/>
          <p:nvPr/>
        </p:nvSpPr>
        <p:spPr>
          <a:xfrm>
            <a:off x="6199632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2877312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656832" y="2877312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rood</a:t>
            </a:r>
            <a:endParaRPr lang="en-US" sz="2200" dirty="0"/>
          </a:p>
        </p:txBody>
      </p:sp>
      <p:sp>
        <p:nvSpPr>
          <p:cNvPr id="55" name="Shape 51"/>
          <p:cNvSpPr/>
          <p:nvPr/>
        </p:nvSpPr>
        <p:spPr>
          <a:xfrm>
            <a:off x="8833104" y="3221736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2877312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290304" y="2877312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rode</a:t>
            </a:r>
            <a:endParaRPr lang="en-US" sz="2200" dirty="0"/>
          </a:p>
        </p:txBody>
      </p:sp>
      <p:sp>
        <p:nvSpPr>
          <p:cNvPr id="58" name="Shape 54"/>
          <p:cNvSpPr/>
          <p:nvPr/>
        </p:nvSpPr>
        <p:spPr>
          <a:xfrm>
            <a:off x="6199632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3749040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656832" y="3749040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boos</a:t>
            </a:r>
            <a:endParaRPr lang="en-US" sz="2200" dirty="0"/>
          </a:p>
        </p:txBody>
      </p:sp>
      <p:sp>
        <p:nvSpPr>
          <p:cNvPr id="62" name="Shape 58"/>
          <p:cNvSpPr/>
          <p:nvPr/>
        </p:nvSpPr>
        <p:spPr>
          <a:xfrm>
            <a:off x="8833104" y="4093464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3749040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290304" y="3749040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boze</a:t>
            </a:r>
            <a:endParaRPr lang="en-US" sz="2200" dirty="0"/>
          </a:p>
        </p:txBody>
      </p:sp>
      <p:sp>
        <p:nvSpPr>
          <p:cNvPr id="65" name="Shape 61"/>
          <p:cNvSpPr/>
          <p:nvPr/>
        </p:nvSpPr>
        <p:spPr>
          <a:xfrm>
            <a:off x="6199632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4620768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656832" y="4620768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klein</a:t>
            </a:r>
            <a:endParaRPr lang="en-US" sz="2200" dirty="0"/>
          </a:p>
        </p:txBody>
      </p:sp>
      <p:sp>
        <p:nvSpPr>
          <p:cNvPr id="69" name="Shape 65"/>
          <p:cNvSpPr/>
          <p:nvPr/>
        </p:nvSpPr>
        <p:spPr>
          <a:xfrm>
            <a:off x="8833104" y="4965192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4620768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290304" y="4620768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kleine</a:t>
            </a:r>
            <a:endParaRPr lang="en-US" sz="2200" dirty="0"/>
          </a:p>
        </p:txBody>
      </p:sp>
      <p:sp>
        <p:nvSpPr>
          <p:cNvPr id="72" name="Shape 68"/>
          <p:cNvSpPr/>
          <p:nvPr/>
        </p:nvSpPr>
        <p:spPr>
          <a:xfrm>
            <a:off x="6199632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5492496"/>
            <a:ext cx="210312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656832" y="5492496"/>
            <a:ext cx="2103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breed</a:t>
            </a:r>
            <a:endParaRPr lang="en-US" sz="2200" dirty="0"/>
          </a:p>
        </p:txBody>
      </p:sp>
      <p:sp>
        <p:nvSpPr>
          <p:cNvPr id="76" name="Shape 72"/>
          <p:cNvSpPr/>
          <p:nvPr/>
        </p:nvSpPr>
        <p:spPr>
          <a:xfrm>
            <a:off x="8833104" y="5836920"/>
            <a:ext cx="38404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5492496"/>
            <a:ext cx="233172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290304" y="5492496"/>
            <a:ext cx="23317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brede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dirty="0">
                <a:solidFill>
                  <a:schemeClr val="accent5"/>
                </a:solidFill>
              </a:rPr>
              <a:t>…………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2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3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La petite annonce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l’annonce avec la bonne forme de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412480" cy="4358640"/>
          </a:xfrm>
          <a:prstGeom prst="roundRect">
            <a:avLst>
              <a:gd name="adj" fmla="val 1678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67840"/>
            <a:ext cx="411480" cy="411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22960" y="2206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spc="200" kern="0" dirty="0">
                <a:solidFill>
                  <a:schemeClr val="accent6"/>
                </a:solidFill>
              </a:rPr>
              <a:t>TE HUUR — BRUSSEL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2801112"/>
            <a:ext cx="7818120" cy="3307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chemeClr val="accent3"/>
                </a:solidFill>
              </a:rPr>
              <a:t>Mooi</a:t>
            </a:r>
            <a:r>
              <a:rPr lang="en-US" sz="2100" dirty="0">
                <a:solidFill>
                  <a:schemeClr val="tx1"/>
                </a:solidFill>
              </a:rPr>
              <a:t> appartement </a:t>
            </a:r>
            <a:r>
              <a:rPr lang="en-US" sz="2100" i="1" dirty="0">
                <a:solidFill>
                  <a:schemeClr val="tx1"/>
                </a:solidFill>
              </a:rPr>
              <a:t>(mooi)</a:t>
            </a:r>
            <a:r>
              <a:rPr lang="en-US" sz="2100" dirty="0">
                <a:solidFill>
                  <a:schemeClr val="tx1"/>
                </a:solidFill>
              </a:rPr>
              <a:t> in een </a:t>
            </a:r>
            <a:r>
              <a:rPr lang="en-US" sz="2100" b="1" dirty="0">
                <a:solidFill>
                  <a:schemeClr val="accent3"/>
                </a:solidFill>
              </a:rPr>
              <a:t>rustige</a:t>
            </a:r>
            <a:r>
              <a:rPr lang="en-US" sz="2100" dirty="0">
                <a:solidFill>
                  <a:schemeClr val="tx1"/>
                </a:solidFill>
              </a:rPr>
              <a:t> straat </a:t>
            </a:r>
            <a:r>
              <a:rPr lang="en-US" sz="2100" i="1" dirty="0">
                <a:solidFill>
                  <a:schemeClr val="tx1"/>
                </a:solidFill>
              </a:rPr>
              <a:t>(rustig)</a:t>
            </a:r>
            <a:r>
              <a:rPr lang="en-US" sz="2100" dirty="0">
                <a:solidFill>
                  <a:schemeClr val="tx1"/>
                </a:solidFill>
              </a:rPr>
              <a:t>. Twee </a:t>
            </a:r>
            <a:r>
              <a:rPr lang="en-US" sz="2100" b="1" dirty="0">
                <a:solidFill>
                  <a:schemeClr val="accent3"/>
                </a:solidFill>
              </a:rPr>
              <a:t>grote</a:t>
            </a:r>
            <a:r>
              <a:rPr lang="en-US" sz="2100" dirty="0">
                <a:solidFill>
                  <a:schemeClr val="tx1"/>
                </a:solidFill>
              </a:rPr>
              <a:t> slaapkamers </a:t>
            </a:r>
            <a:r>
              <a:rPr lang="en-US" sz="2100" i="1" dirty="0">
                <a:solidFill>
                  <a:schemeClr val="tx1"/>
                </a:solidFill>
              </a:rPr>
              <a:t>(groot)</a:t>
            </a:r>
            <a:r>
              <a:rPr lang="en-US" sz="2100" dirty="0">
                <a:solidFill>
                  <a:schemeClr val="tx1"/>
                </a:solidFill>
              </a:rPr>
              <a:t> met </a:t>
            </a:r>
            <a:r>
              <a:rPr lang="en-US" sz="2100" b="1" dirty="0">
                <a:solidFill>
                  <a:schemeClr val="accent3"/>
                </a:solidFill>
              </a:rPr>
              <a:t>brede</a:t>
            </a:r>
            <a:r>
              <a:rPr lang="en-US" sz="2100" dirty="0">
                <a:solidFill>
                  <a:schemeClr val="tx1"/>
                </a:solidFill>
              </a:rPr>
              <a:t> ramen </a:t>
            </a:r>
            <a:r>
              <a:rPr lang="en-US" sz="2100" i="1" dirty="0">
                <a:solidFill>
                  <a:schemeClr val="tx1"/>
                </a:solidFill>
              </a:rPr>
              <a:t>(breed)</a:t>
            </a:r>
            <a:r>
              <a:rPr lang="en-US" sz="2100" dirty="0">
                <a:solidFill>
                  <a:schemeClr val="tx1"/>
                </a:solidFill>
              </a:rPr>
              <a:t>, een </a:t>
            </a:r>
            <a:r>
              <a:rPr lang="en-US" sz="2100" b="1" dirty="0">
                <a:solidFill>
                  <a:schemeClr val="accent3"/>
                </a:solidFill>
              </a:rPr>
              <a:t>moderne</a:t>
            </a:r>
            <a:r>
              <a:rPr lang="en-US" sz="2100" dirty="0">
                <a:solidFill>
                  <a:schemeClr val="tx1"/>
                </a:solidFill>
              </a:rPr>
              <a:t> keuken </a:t>
            </a:r>
            <a:r>
              <a:rPr lang="en-US" sz="2100" i="1" dirty="0">
                <a:solidFill>
                  <a:schemeClr val="tx1"/>
                </a:solidFill>
              </a:rPr>
              <a:t>(modern)</a:t>
            </a:r>
            <a:r>
              <a:rPr lang="en-US" sz="2100" dirty="0">
                <a:solidFill>
                  <a:schemeClr val="tx1"/>
                </a:solidFill>
              </a:rPr>
              <a:t> en een </a:t>
            </a:r>
            <a:r>
              <a:rPr lang="en-US" sz="2100" b="1" dirty="0">
                <a:solidFill>
                  <a:schemeClr val="accent3"/>
                </a:solidFill>
              </a:rPr>
              <a:t>klein</a:t>
            </a:r>
            <a:r>
              <a:rPr lang="en-US" sz="2100" dirty="0">
                <a:solidFill>
                  <a:schemeClr val="tx1"/>
                </a:solidFill>
              </a:rPr>
              <a:t> terras </a:t>
            </a:r>
            <a:r>
              <a:rPr lang="en-US" sz="2100" i="1" dirty="0">
                <a:solidFill>
                  <a:schemeClr val="tx1"/>
                </a:solidFill>
              </a:rPr>
              <a:t>(klein)</a:t>
            </a:r>
            <a:r>
              <a:rPr lang="en-US" sz="2100" dirty="0">
                <a:solidFill>
                  <a:schemeClr val="tx1"/>
                </a:solidFill>
              </a:rPr>
              <a:t>. Vlak bij het </a:t>
            </a:r>
            <a:r>
              <a:rPr lang="en-US" sz="2100" b="1" dirty="0">
                <a:solidFill>
                  <a:schemeClr val="accent3"/>
                </a:solidFill>
              </a:rPr>
              <a:t>nieuwe</a:t>
            </a:r>
            <a:r>
              <a:rPr lang="en-US" sz="2100" dirty="0">
                <a:solidFill>
                  <a:schemeClr val="tx1"/>
                </a:solidFill>
              </a:rPr>
              <a:t> station </a:t>
            </a:r>
            <a:r>
              <a:rPr lang="en-US" sz="2100" i="1" dirty="0">
                <a:solidFill>
                  <a:schemeClr val="tx1"/>
                </a:solidFill>
              </a:rPr>
              <a:t>(nieuw)</a:t>
            </a:r>
            <a:r>
              <a:rPr lang="en-US" sz="2100" dirty="0">
                <a:solidFill>
                  <a:schemeClr val="tx1"/>
                </a:solidFill>
              </a:rPr>
              <a:t>. Ideaal voor een </a:t>
            </a:r>
            <a:r>
              <a:rPr lang="en-US" sz="2100" b="1" dirty="0">
                <a:solidFill>
                  <a:schemeClr val="accent3"/>
                </a:solidFill>
              </a:rPr>
              <a:t>jong</a:t>
            </a:r>
            <a:r>
              <a:rPr lang="en-US" sz="2100" dirty="0">
                <a:solidFill>
                  <a:schemeClr val="tx1"/>
                </a:solidFill>
              </a:rPr>
              <a:t> gezin </a:t>
            </a:r>
            <a:r>
              <a:rPr lang="en-US" sz="2100" i="1" dirty="0">
                <a:solidFill>
                  <a:schemeClr val="tx1"/>
                </a:solidFill>
              </a:rPr>
              <a:t>(jong)</a:t>
            </a:r>
            <a:r>
              <a:rPr lang="en-US" sz="2100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2" descr="house with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0" y="2206752"/>
            <a:ext cx="1828800" cy="1828800"/>
          </a:xfrm>
          <a:prstGeom prst="rect">
            <a:avLst/>
          </a:prstGeom>
        </p:spPr>
      </p:pic>
      <p:pic>
        <p:nvPicPr>
          <p:cNvPr id="14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800" y="4218432"/>
            <a:ext cx="914400" cy="91440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9098280" y="5315712"/>
            <a:ext cx="25420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mooi appartement</a:t>
            </a:r>
            <a:r>
              <a:rPr lang="en-US" sz="1300" i="1" dirty="0">
                <a:solidFill>
                  <a:schemeClr val="accent5"/>
                </a:solidFill>
              </a:rPr>
              <a:t> : pas d’article +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· </a:t>
            </a:r>
            <a:r>
              <a:rPr lang="en-US" sz="1300" i="1" dirty="0">
                <a:solidFill>
                  <a:schemeClr val="accent5"/>
                </a:solidFill>
              </a:rPr>
              <a:t>een klein terras, een jong gezin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een + het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dirty="0">
                <a:solidFill>
                  <a:schemeClr val="tx1"/>
                </a:solidFill>
              </a:rPr>
              <a:t>een nieuwe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dirty="0">
                <a:solidFill>
                  <a:schemeClr val="tx1"/>
                </a:solidFill>
              </a:rPr>
              <a:t>groote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dirty="0">
                <a:solidFill>
                  <a:schemeClr val="tx1"/>
                </a:solidFill>
              </a:rPr>
              <a:t>mooie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dirty="0">
                <a:solidFill>
                  <a:schemeClr val="tx1"/>
                </a:solidFill>
              </a:rPr>
              <a:t>houtene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dirty="0">
                <a:solidFill>
                  <a:schemeClr val="tx1"/>
                </a:solidFill>
              </a:rPr>
              <a:t>Mijn oud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décrit son nouvel appartement.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Karim → Sofie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i="1" strike="sngStrike" dirty="0">
                <a:solidFill>
                  <a:schemeClr val="accent6"/>
                </a:solidFill>
              </a:rPr>
              <a:t>een nieuwe appartement</a:t>
            </a:r>
            <a:r>
              <a:rPr lang="en-US" sz="2100" b="1" i="1" dirty="0">
                <a:solidFill>
                  <a:schemeClr val="accent3"/>
                </a:solidFill>
              </a:rPr>
              <a:t> een nieuw appartement</a:t>
            </a:r>
            <a:r>
              <a:rPr lang="en-US" sz="2100" i="1" dirty="0">
                <a:solidFill>
                  <a:schemeClr val="tx1"/>
                </a:solidFill>
              </a:rPr>
              <a:t> in Brussel. Het is een licht appartement met een </a:t>
            </a:r>
            <a:r>
              <a:rPr lang="en-US" sz="2100" i="1" strike="sngStrike" dirty="0">
                <a:solidFill>
                  <a:schemeClr val="accent6"/>
                </a:solidFill>
              </a:rPr>
              <a:t>groote</a:t>
            </a:r>
            <a:r>
              <a:rPr lang="en-US" sz="2100" b="1" i="1" dirty="0">
                <a:solidFill>
                  <a:schemeClr val="accent3"/>
                </a:solidFill>
              </a:rPr>
              <a:t> grote</a:t>
            </a:r>
            <a:r>
              <a:rPr lang="en-US" sz="2100" i="1" dirty="0">
                <a:solidFill>
                  <a:schemeClr val="tx1"/>
                </a:solidFill>
              </a:rPr>
              <a:t> keuken en twee kleine slaapkamers. De woonkamer is </a:t>
            </a:r>
            <a:r>
              <a:rPr lang="en-US" sz="2100" i="1" strike="sngStrike" dirty="0">
                <a:solidFill>
                  <a:schemeClr val="accent6"/>
                </a:solidFill>
              </a:rPr>
              <a:t>mooie</a:t>
            </a:r>
            <a:r>
              <a:rPr lang="en-US" sz="2100" b="1" i="1" dirty="0">
                <a:solidFill>
                  <a:schemeClr val="accent3"/>
                </a:solidFill>
              </a:rPr>
              <a:t> mooi</a:t>
            </a:r>
            <a:r>
              <a:rPr lang="en-US" sz="2100" i="1" dirty="0">
                <a:solidFill>
                  <a:schemeClr val="tx1"/>
                </a:solidFill>
              </a:rPr>
              <a:t>. Ik heb een </a:t>
            </a:r>
            <a:r>
              <a:rPr lang="en-US" sz="2100" i="1" strike="sngStrike" dirty="0">
                <a:solidFill>
                  <a:schemeClr val="accent6"/>
                </a:solidFill>
              </a:rPr>
              <a:t>houtene</a:t>
            </a:r>
            <a:r>
              <a:rPr lang="en-US" sz="2100" b="1" i="1" dirty="0">
                <a:solidFill>
                  <a:schemeClr val="accent3"/>
                </a:solidFill>
              </a:rPr>
              <a:t> houten</a:t>
            </a:r>
            <a:r>
              <a:rPr lang="en-US" sz="2100" i="1" dirty="0">
                <a:solidFill>
                  <a:schemeClr val="tx1"/>
                </a:solidFill>
              </a:rPr>
              <a:t> tafel en een oranje bank gekocht. </a:t>
            </a:r>
            <a:r>
              <a:rPr lang="en-US" sz="2100" i="1" strike="sngStrike" dirty="0">
                <a:solidFill>
                  <a:schemeClr val="accent6"/>
                </a:solidFill>
              </a:rPr>
              <a:t>Mijn oud bureau</a:t>
            </a:r>
            <a:r>
              <a:rPr lang="en-US" sz="2100" b="1" i="1" dirty="0">
                <a:solidFill>
                  <a:schemeClr val="accent3"/>
                </a:solidFill>
              </a:rPr>
              <a:t> Mijn oude bureau</a:t>
            </a:r>
            <a:r>
              <a:rPr lang="en-US" sz="2100" i="1" dirty="0">
                <a:solidFill>
                  <a:schemeClr val="tx1"/>
                </a:solidFill>
              </a:rPr>
              <a:t> staat bij het raam. En ik heb een witte kat!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een licht appartement · twee kleine slaapkamers · een oranje bank · een witte kat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Qui est-ce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an be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83080"/>
            <a:ext cx="1188720" cy="1188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233172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red 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1783080"/>
            <a:ext cx="1188720" cy="11887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3172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411480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man white ha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783080"/>
            <a:ext cx="1188720" cy="11887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11480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5897880" y="160020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gir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83080"/>
            <a:ext cx="1188720" cy="11887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5897880" y="29718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Shape 11"/>
          <p:cNvSpPr/>
          <p:nvPr/>
        </p:nvSpPr>
        <p:spPr>
          <a:xfrm>
            <a:off x="54864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man bal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49040"/>
            <a:ext cx="1188720" cy="118872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54864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Shape 13"/>
          <p:cNvSpPr/>
          <p:nvPr/>
        </p:nvSpPr>
        <p:spPr>
          <a:xfrm>
            <a:off x="233172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woman curly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3749040"/>
            <a:ext cx="1188720" cy="118872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33172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6</a:t>
            </a:r>
            <a:endParaRPr lang="en-US" sz="1600" dirty="0"/>
          </a:p>
        </p:txBody>
      </p:sp>
      <p:sp>
        <p:nvSpPr>
          <p:cNvPr id="24" name="Shape 15"/>
          <p:cNvSpPr/>
          <p:nvPr/>
        </p:nvSpPr>
        <p:spPr>
          <a:xfrm>
            <a:off x="411480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blonde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749040"/>
            <a:ext cx="1188720" cy="118872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11480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7</a:t>
            </a:r>
            <a:endParaRPr lang="en-US" sz="1600" dirty="0"/>
          </a:p>
        </p:txBody>
      </p:sp>
      <p:sp>
        <p:nvSpPr>
          <p:cNvPr id="27" name="Shape 17"/>
          <p:cNvSpPr/>
          <p:nvPr/>
        </p:nvSpPr>
        <p:spPr>
          <a:xfrm>
            <a:off x="5897880" y="3566160"/>
            <a:ext cx="1645920" cy="182880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woman white hai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6480" y="3749040"/>
            <a:ext cx="1188720" cy="118872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5897880" y="49377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8</a:t>
            </a:r>
            <a:endParaRPr lang="en-US" sz="1600" dirty="0"/>
          </a:p>
        </p:txBody>
      </p:sp>
      <p:sp>
        <p:nvSpPr>
          <p:cNvPr id="30" name="Text 19"/>
          <p:cNvSpPr txBox="1"/>
          <p:nvPr/>
        </p:nvSpPr>
        <p:spPr>
          <a:xfrm>
            <a:off x="7818120" y="1600200"/>
            <a:ext cx="38221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A choisit un personnage en secret.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B pose des questions oui / non.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B trouve en moins de 6 questions.</a:t>
            </a:r>
            <a:endParaRPr lang="en-US" sz="1500" dirty="0"/>
          </a:p>
        </p:txBody>
      </p:sp>
      <p:sp>
        <p:nvSpPr>
          <p:cNvPr id="31" name="Shape 20"/>
          <p:cNvSpPr/>
          <p:nvPr/>
        </p:nvSpPr>
        <p:spPr>
          <a:xfrm>
            <a:off x="7818120" y="3154680"/>
            <a:ext cx="3822192" cy="1188720"/>
          </a:xfrm>
          <a:prstGeom prst="roundRect">
            <a:avLst>
              <a:gd name="adj" fmla="val 1384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1"/>
          <p:cNvSpPr txBox="1"/>
          <p:nvPr/>
        </p:nvSpPr>
        <p:spPr>
          <a:xfrm>
            <a:off x="7982712" y="3154680"/>
            <a:ext cx="34930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Heeft hij </a:t>
            </a:r>
            <a:r>
              <a:rPr lang="en-US" sz="1600" b="1" i="1" dirty="0">
                <a:solidFill>
                  <a:schemeClr val="tx1"/>
                </a:solidFill>
              </a:rPr>
              <a:t>kort</a:t>
            </a:r>
            <a:r>
              <a:rPr lang="en-US" sz="1600" i="1" dirty="0">
                <a:solidFill>
                  <a:schemeClr val="tx1"/>
                </a:solidFill>
              </a:rPr>
              <a:t> haar? · Is ze </a:t>
            </a:r>
            <a:r>
              <a:rPr lang="en-US" sz="1600" b="1" i="1" dirty="0">
                <a:solidFill>
                  <a:schemeClr val="tx1"/>
                </a:solidFill>
              </a:rPr>
              <a:t>jong</a:t>
            </a:r>
            <a:r>
              <a:rPr lang="en-US" sz="1600" i="1" dirty="0">
                <a:solidFill>
                  <a:schemeClr val="tx1"/>
                </a:solidFill>
              </a:rPr>
              <a:t>? · Heeft hij een </a:t>
            </a:r>
            <a:r>
              <a:rPr lang="en-US" sz="1600" b="1" i="1" dirty="0">
                <a:solidFill>
                  <a:schemeClr val="tx1"/>
                </a:solidFill>
              </a:rPr>
              <a:t>baard</a:t>
            </a:r>
            <a:r>
              <a:rPr lang="en-US" sz="1600" i="1" dirty="0">
                <a:solidFill>
                  <a:schemeClr val="tx1"/>
                </a:solidFill>
              </a:rPr>
              <a:t>?</a:t>
            </a:r>
            <a:endParaRPr lang="en-US" sz="1600" dirty="0"/>
          </a:p>
        </p:txBody>
      </p:sp>
      <p:sp>
        <p:nvSpPr>
          <p:cNvPr id="33" name="Shape 22"/>
          <p:cNvSpPr/>
          <p:nvPr/>
        </p:nvSpPr>
        <p:spPr>
          <a:xfrm>
            <a:off x="7818120" y="4480560"/>
            <a:ext cx="3822192" cy="822960"/>
          </a:xfrm>
          <a:prstGeom prst="roundRect">
            <a:avLst>
              <a:gd name="adj" fmla="val 2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3"/>
          <p:cNvSpPr txBox="1"/>
          <p:nvPr/>
        </p:nvSpPr>
        <p:spPr>
          <a:xfrm>
            <a:off x="7982712" y="4480560"/>
            <a:ext cx="34930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Het is de </a:t>
            </a:r>
            <a:r>
              <a:rPr lang="en-US" sz="1600" b="1" i="1" dirty="0">
                <a:solidFill>
                  <a:schemeClr val="tx1"/>
                </a:solidFill>
              </a:rPr>
              <a:t>oude</a:t>
            </a:r>
            <a:r>
              <a:rPr lang="en-US" sz="1600" i="1" dirty="0">
                <a:solidFill>
                  <a:schemeClr val="tx1"/>
                </a:solidFill>
              </a:rPr>
              <a:t> man met het </a:t>
            </a:r>
            <a:r>
              <a:rPr lang="en-US" sz="1600" b="1" i="1" dirty="0">
                <a:solidFill>
                  <a:schemeClr val="tx1"/>
                </a:solidFill>
              </a:rPr>
              <a:t>witte</a:t>
            </a:r>
            <a:r>
              <a:rPr lang="en-US" sz="1600" i="1" dirty="0">
                <a:solidFill>
                  <a:schemeClr val="tx1"/>
                </a:solidFill>
              </a:rPr>
              <a:t> haar!</a:t>
            </a:r>
            <a:endParaRPr lang="en-US" sz="1600" dirty="0"/>
          </a:p>
        </p:txBody>
      </p:sp>
      <p:sp>
        <p:nvSpPr>
          <p:cNvPr id="35" name="Text 24"/>
          <p:cNvSpPr txBox="1"/>
          <p:nvPr/>
        </p:nvSpPr>
        <p:spPr>
          <a:xfrm>
            <a:off x="548640" y="57150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Banque : </a:t>
            </a:r>
            <a:r>
              <a:rPr lang="en-US" sz="1500" i="1" dirty="0">
                <a:solidFill>
                  <a:schemeClr val="accent5"/>
                </a:solidFill>
              </a:rPr>
              <a:t>lang / kort haar · wit / rood / krullend haar · een baard · jong / oud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8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2" name="Text 7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4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8" name="Text 12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0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4" name="Text 17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6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0" name="Text 22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6" name="Text 27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37" name="Shape 28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8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2" name="Text 32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Comparez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Comparez avec le comparatif + dan.</a:t>
            </a:r>
            <a:endParaRPr lang="en-US" sz="1700" dirty="0"/>
          </a:p>
        </p:txBody>
      </p:sp>
      <p:pic>
        <p:nvPicPr>
          <p:cNvPr id="9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21332"/>
            <a:ext cx="548640" cy="5486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234440" y="19781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371600" y="19781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Brussel / Gent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257800" y="22956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3" name="Text 8"/>
          <p:cNvSpPr txBox="1"/>
          <p:nvPr/>
        </p:nvSpPr>
        <p:spPr>
          <a:xfrm>
            <a:off x="5212080" y="19324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groot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6446520" y="19781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0" y="19781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Brussel is groter dan Gent.</a:t>
            </a:r>
            <a:endParaRPr lang="en-US" sz="1800" dirty="0"/>
          </a:p>
        </p:txBody>
      </p:sp>
      <p:pic>
        <p:nvPicPr>
          <p:cNvPr id="16" name="Image 2" descr="tax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7772"/>
            <a:ext cx="548640" cy="54864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34440" y="270459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1371600" y="270459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taxi / de bus</a:t>
            </a:r>
            <a:endParaRPr lang="en-US" sz="1800" dirty="0"/>
          </a:p>
        </p:txBody>
      </p:sp>
      <p:sp>
        <p:nvSpPr>
          <p:cNvPr id="19" name="Shape 13"/>
          <p:cNvSpPr/>
          <p:nvPr/>
        </p:nvSpPr>
        <p:spPr>
          <a:xfrm>
            <a:off x="5257800" y="302209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0" name="Text 14"/>
          <p:cNvSpPr txBox="1"/>
          <p:nvPr/>
        </p:nvSpPr>
        <p:spPr>
          <a:xfrm>
            <a:off x="5212080" y="265887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duur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6446520" y="270459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83680" y="270459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Een taxi is duurder dan de bus.</a:t>
            </a:r>
            <a:endParaRPr lang="en-US" sz="1800" dirty="0"/>
          </a:p>
        </p:txBody>
      </p:sp>
      <p:pic>
        <p:nvPicPr>
          <p:cNvPr id="23" name="Image 3" descr="high speed t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474212"/>
            <a:ext cx="548640" cy="54864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234440" y="343103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1371600" y="343103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trein / de fiets</a:t>
            </a:r>
            <a:endParaRPr lang="en-US" sz="1800" dirty="0"/>
          </a:p>
        </p:txBody>
      </p:sp>
      <p:sp>
        <p:nvSpPr>
          <p:cNvPr id="26" name="Shape 19"/>
          <p:cNvSpPr/>
          <p:nvPr/>
        </p:nvSpPr>
        <p:spPr>
          <a:xfrm>
            <a:off x="5257800" y="374853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27" name="Text 20"/>
          <p:cNvSpPr txBox="1"/>
          <p:nvPr/>
        </p:nvSpPr>
        <p:spPr>
          <a:xfrm>
            <a:off x="5212080" y="338531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snel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446520" y="343103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0" y="343103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De trein is sneller dan de fiets.</a:t>
            </a:r>
            <a:endParaRPr lang="en-US" sz="1800" dirty="0"/>
          </a:p>
        </p:txBody>
      </p:sp>
      <p:pic>
        <p:nvPicPr>
          <p:cNvPr id="30" name="Image 4" descr="su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00652"/>
            <a:ext cx="548640" cy="54864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1234440" y="415747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1371600" y="415747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juli / maart</a:t>
            </a:r>
            <a:endParaRPr lang="en-US" sz="1800" dirty="0"/>
          </a:p>
        </p:txBody>
      </p:sp>
      <p:sp>
        <p:nvSpPr>
          <p:cNvPr id="33" name="Shape 25"/>
          <p:cNvSpPr/>
          <p:nvPr/>
        </p:nvSpPr>
        <p:spPr>
          <a:xfrm>
            <a:off x="5257800" y="447497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34" name="Text 26"/>
          <p:cNvSpPr txBox="1"/>
          <p:nvPr/>
        </p:nvSpPr>
        <p:spPr>
          <a:xfrm>
            <a:off x="5212080" y="411175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warm</a:t>
            </a:r>
            <a:endParaRPr lang="en-US" sz="1300" dirty="0"/>
          </a:p>
        </p:txBody>
      </p:sp>
      <p:sp>
        <p:nvSpPr>
          <p:cNvPr id="35" name="Shape 27"/>
          <p:cNvSpPr/>
          <p:nvPr/>
        </p:nvSpPr>
        <p:spPr>
          <a:xfrm>
            <a:off x="6446520" y="415747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583680" y="415747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Juli is warmer dan maart.</a:t>
            </a:r>
            <a:endParaRPr lang="en-US" sz="1800" dirty="0"/>
          </a:p>
        </p:txBody>
      </p:sp>
      <p:pic>
        <p:nvPicPr>
          <p:cNvPr id="37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927092"/>
            <a:ext cx="548640" cy="548640"/>
          </a:xfrm>
          <a:prstGeom prst="rect">
            <a:avLst/>
          </a:prstGeom>
        </p:spPr>
      </p:pic>
      <p:sp>
        <p:nvSpPr>
          <p:cNvPr id="38" name="Shape 29"/>
          <p:cNvSpPr/>
          <p:nvPr/>
        </p:nvSpPr>
        <p:spPr>
          <a:xfrm>
            <a:off x="1234440" y="488391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1371600" y="488391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laptop / jouw laptop</a:t>
            </a:r>
            <a:endParaRPr lang="en-US" sz="1800" dirty="0"/>
          </a:p>
        </p:txBody>
      </p:sp>
      <p:sp>
        <p:nvSpPr>
          <p:cNvPr id="40" name="Shape 31"/>
          <p:cNvSpPr/>
          <p:nvPr/>
        </p:nvSpPr>
        <p:spPr>
          <a:xfrm>
            <a:off x="5257800" y="520141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1" name="Text 32"/>
          <p:cNvSpPr txBox="1"/>
          <p:nvPr/>
        </p:nvSpPr>
        <p:spPr>
          <a:xfrm>
            <a:off x="5212080" y="483819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oud</a:t>
            </a:r>
            <a:endParaRPr lang="en-US" sz="1300" dirty="0"/>
          </a:p>
        </p:txBody>
      </p:sp>
      <p:sp>
        <p:nvSpPr>
          <p:cNvPr id="42" name="Shape 33"/>
          <p:cNvSpPr/>
          <p:nvPr/>
        </p:nvSpPr>
        <p:spPr>
          <a:xfrm>
            <a:off x="6446520" y="488391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4"/>
          <p:cNvSpPr txBox="1"/>
          <p:nvPr/>
        </p:nvSpPr>
        <p:spPr>
          <a:xfrm>
            <a:off x="6583680" y="488391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Mijn laptop is ouder dan jouw laptop.</a:t>
            </a:r>
            <a:endParaRPr lang="en-US" sz="1800" dirty="0"/>
          </a:p>
        </p:txBody>
      </p:sp>
      <p:pic>
        <p:nvPicPr>
          <p:cNvPr id="44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653532"/>
            <a:ext cx="548640" cy="54864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1234440" y="5610352"/>
            <a:ext cx="393192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1371600" y="5610352"/>
            <a:ext cx="3749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koffie / thee</a:t>
            </a:r>
            <a:endParaRPr lang="en-US" sz="1800" dirty="0"/>
          </a:p>
        </p:txBody>
      </p:sp>
      <p:sp>
        <p:nvSpPr>
          <p:cNvPr id="47" name="Shape 37"/>
          <p:cNvSpPr/>
          <p:nvPr/>
        </p:nvSpPr>
        <p:spPr>
          <a:xfrm>
            <a:off x="5257800" y="5927852"/>
            <a:ext cx="1097280" cy="914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48" name="Text 38"/>
          <p:cNvSpPr txBox="1"/>
          <p:nvPr/>
        </p:nvSpPr>
        <p:spPr>
          <a:xfrm>
            <a:off x="5212080" y="5564632"/>
            <a:ext cx="118872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4"/>
                </a:solidFill>
              </a:rPr>
              <a:t>goed</a:t>
            </a:r>
            <a:endParaRPr lang="en-US" sz="1300" dirty="0"/>
          </a:p>
        </p:txBody>
      </p:sp>
      <p:sp>
        <p:nvSpPr>
          <p:cNvPr id="49" name="Shape 39"/>
          <p:cNvSpPr/>
          <p:nvPr/>
        </p:nvSpPr>
        <p:spPr>
          <a:xfrm>
            <a:off x="6446520" y="5610352"/>
            <a:ext cx="519379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83680" y="5610352"/>
            <a:ext cx="4983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Koffie is beter dan thee!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L’agence immobilière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Karim cherche un appartement à Bruxelles. L’agent lui propose deux logements.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décrivez ce que vous cherchez, posez des questions, comparez et choisissez.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L’agent</a:t>
            </a:r>
            <a:r>
              <a:rPr lang="en-US" sz="1700" dirty="0">
                <a:solidFill>
                  <a:schemeClr val="tx1"/>
                </a:solidFill>
              </a:rPr>
              <a:t> : présentez les deux appartements avec des adjectifs.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zoek een rustig appartement. · Is de keuken groot? · Het eerste appartement is groter, maar duurder. · Ik neem het kleine appartement.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ag"/>
          <p:cNvSpPr/>
          <p:nvPr/>
        </p:nvSpPr>
        <p:spPr>
          <a:xfrm>
            <a:off x="8211312" y="1618488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A</a:t>
            </a:r>
            <a:endParaRPr lang="en-US" sz="1100" dirty="0"/>
          </a:p>
        </p:txBody>
      </p:sp>
      <p:pic>
        <p:nvPicPr>
          <p:cNvPr id="21" name="Image 0" descr="house with gard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71632" y="1572768"/>
            <a:ext cx="731520" cy="73152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257032" y="2075688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ruim appartement · 2 slaapkamers · grote tuin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257032" y="33375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1 100 €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8074152" y="3931920"/>
            <a:ext cx="3566160" cy="2359152"/>
          </a:xfrm>
          <a:prstGeom prst="roundRect">
            <a:avLst>
              <a:gd name="adj" fmla="val 3101"/>
            </a:avLst>
          </a:prstGeom>
          <a:solidFill>
            <a:srgbClr val="FFFDF2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ag"/>
          <p:cNvSpPr/>
          <p:nvPr/>
        </p:nvSpPr>
        <p:spPr>
          <a:xfrm>
            <a:off x="8211312" y="4069080"/>
            <a:ext cx="156347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TE HUUR · B</a:t>
            </a:r>
            <a:endParaRPr lang="en-US" sz="1100" dirty="0"/>
          </a:p>
        </p:txBody>
      </p:sp>
      <p:pic>
        <p:nvPicPr>
          <p:cNvPr id="2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4023360"/>
            <a:ext cx="731520" cy="73152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257032" y="4526280"/>
            <a:ext cx="3200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appartement · 1 slaapkamer · nieuwe keuken · vlak bij het station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257032" y="57881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850 €</a:t>
            </a:r>
            <a:r>
              <a:rPr lang="en-US" sz="1500" dirty="0">
                <a:solidFill>
                  <a:schemeClr val="accent6"/>
                </a:solidFill>
              </a:rPr>
              <a:t> / maand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een …… huis · de …… auto</a:t>
            </a:r>
            <a:r>
              <a:rPr lang="en-US" sz="2000" dirty="0">
                <a:solidFill>
                  <a:schemeClr val="tx1"/>
                </a:solidFill>
              </a:rPr>
              <a:t> (</a:t>
            </a:r>
            <a:r>
              <a:rPr lang="en-US" sz="2000" i="1" dirty="0">
                <a:solidFill>
                  <a:schemeClr val="tx1"/>
                </a:solidFill>
              </a:rPr>
              <a:t>groot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Ajoutez </a:t>
            </a:r>
            <a:r>
              <a:rPr lang="en-US" sz="2000" i="1" dirty="0">
                <a:solidFill>
                  <a:schemeClr val="tx1"/>
                </a:solidFill>
              </a:rPr>
              <a:t>-e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wit · lief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een rode huis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Die of dat?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de collega die naast me zit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21 — Groot of grote? — L’accord de l’adjectif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2026-10-05T19:06:53Z</dcterms:created>
  <dcterms:modified xsi:type="dcterms:W3CDTF">2026-10-05T19:06:53Z</dcterms:modified>
</cp:coreProperties>
</file>