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69495d25-6539-56ed-c501-97f334d68682}">
          <p14:sldIdLst>
            <p14:sldId id="256"/>
          </p14:sldIdLst>
        </p14:section>
        <p14:section name="Découvrir" id="{fcfb6c1d-9508-120d-bb0f-9aae6ce0289a}">
          <p14:sldIdLst>
            <p14:sldId id="257"/>
            <p14:sldId id="258"/>
          </p14:sldIdLst>
        </p14:section>
        <p14:section name="Comprendre" id="{0e693f92-4269-75f8-ed9b-96d95bdc8dcc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9ac8a86b-49af-e52e-de8e-8ef2202c9f03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89daa868-c43a-eec0-c755-e18175a62299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décrire avec des adjectifs.
Écrivez au tableau een groot huis et een grote auto : « Pourquoi un -e d'un côté et pas de l'autre ? » La réponse arrive diapo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Petites annonces, descriptions de produits, courriels de réclamation : l'adjectif est partout. Une seule terminaison à maîtriser,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l'adjectif et sa terminaison dans des textes courts.
Faites classer les adjectifs en deux colonnes, avec ou sans -e. Indice : regardez le mot qui suit (de ou het) et sa place. ruim = spacieux.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l'adjectif épithète (avant le nom) et l'attribut (après zijn).
Premier réflexe : l'adjectif est-il collé devant un nom ? Si non (après zijn, worden, blijven), on ne touche à rien. Le français place souvent l'adjectif après le nom : en néerlandais, jamais.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règle du -e avec le schéma S17 « la case sans -e ».
Faites lire le tableau en chœur. « Rien » = pas d'article : warm water, lekker brood (het). Avec geen : geen groot huis. Partout ailleurs :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 l'accord français.
Le féminin français (« grande ») n'a rien à voir avec le -e néerlandais. Trois réflexes : la place (avant le nom), l'attribut (pas de -e), la case een +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la forme en -e (règles du M1 et du M4).
C'est exactement la règle du pluriel (M1 : boom → bomen, kat → katten) et le z / v du M4 à l'envers. Les adjectifs en -ig, -lijk ne bougent pas : vriendelijke, rustige.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après les démonstratifs et les possessifs (M20).
Après un déterminant défini ou un possessif, c'est toujours -e, même avec un mot het (mijn nieuwe huis). Lien M20 : ons oude kantoor (ons + het, mais l'adjectif prend -e).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les adjectifs les plus utiles par paires.
druk = agité, occupé ; licht = clair ou léger (selon le contexte). on- = le contraire (M14). Faites décrire un objet de la classe avec deux adjectifs : een kleine, oude stoel.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adjectifs invariables.
Ces adjectifs finissent déjà par -en (matière) ou par -e / -a (oranje, roze, lila) : on n'ajoute rien. Mais mooi → mooie, blij → blije. de oranje auto, het houten huis : invariables dans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adjectifs de nationalité (lien M7).
Au M7, Belgische était appris « en bloc » ; maintenant, la règle l'explique. een Belgisch bedrijf = la case sans -e (een + het). Majuscule : comme au M7.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et former le comparatif et le superlatif.
dan = que (comparaison). Le comparatif suit les mêmes règles d'orthographe (groot → groter). À reconnaître et à utiliser dans les exercices 6 et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personne à l'oral avec des adjectifs.
kort haar : het haar, sans article → pas de -e. het witte haar : mot het avec het → -e ; krullend = bouclé. Variante : un apprenant décrit un camarade, la classe devine.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chercher un logement.
het eerste / het tweede (le premier, le second) : -e après het. Faites conclure par un choix argumenté avec deux comparatifs.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een groot huis · de grote auto.
2. witte · lieve.
3. een rood huis.
Teaser M22 : de collega die naast me zit.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21 / 29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Groot of grote?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L’accord de l’adjectif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een groot huis · de grote auto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097280"/>
            <a:ext cx="1691640" cy="1691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groot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huis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09828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automob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1097280"/>
            <a:ext cx="1691640" cy="16916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9828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grot</a:t>
            </a:r>
            <a:r>
              <a:rPr lang="en-US" sz="2400" b="1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auto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8229600" y="4206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6C27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 ?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rrow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l’adjectif avant le nom : </a:t>
            </a:r>
            <a:r>
              <a:rPr lang="en-US" sz="2000" i="1" dirty="0">
                <a:solidFill>
                  <a:schemeClr val="tx1"/>
                </a:solidFill>
              </a:rPr>
              <a:t>een rode auto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sais quand ajouter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een groot huis / het grote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une personne, un objet, un logement.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Petites annonces, descriptions de produits, réclamations : l’adjectif est partout. Une seule terminaison : </a:t>
            </a:r>
            <a:r>
              <a:rPr lang="en-US" sz="1700" i="1" dirty="0">
                <a:solidFill>
                  <a:schemeClr val="tx1"/>
                </a:solidFill>
              </a:rPr>
              <a:t>-e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petites annonces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rot="-90000">
            <a:off x="548640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ound pushp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4644" y="150876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HUUR</a:t>
            </a:r>
            <a:endParaRPr lang="en-US" sz="1800" dirty="0"/>
          </a:p>
        </p:txBody>
      </p:sp>
      <p:pic>
        <p:nvPicPr>
          <p:cNvPr id="8" name="Image 1" descr="house with gard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892" y="2377440"/>
            <a:ext cx="1005840" cy="100584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ruim</a:t>
            </a:r>
            <a:r>
              <a:rPr lang="en-US" sz="1900" i="1" dirty="0">
                <a:solidFill>
                  <a:schemeClr val="tx1"/>
                </a:solidFill>
              </a:rPr>
              <a:t> appartement met </a:t>
            </a:r>
            <a:r>
              <a:rPr lang="en-US" sz="1900" b="1" i="1" dirty="0">
                <a:solidFill>
                  <a:schemeClr val="tx1"/>
                </a:solidFill>
              </a:rPr>
              <a:t>grote</a:t>
            </a:r>
            <a:r>
              <a:rPr lang="en-US" sz="1900" i="1" dirty="0">
                <a:solidFill>
                  <a:schemeClr val="tx1"/>
                </a:solidFill>
              </a:rPr>
              <a:t> tuin</a:t>
            </a:r>
            <a:endParaRPr lang="en-US" sz="1900" dirty="0"/>
          </a:p>
        </p:txBody>
      </p:sp>
      <p:sp>
        <p:nvSpPr>
          <p:cNvPr id="10" name="Shape 5"/>
          <p:cNvSpPr/>
          <p:nvPr/>
        </p:nvSpPr>
        <p:spPr>
          <a:xfrm rot="90000">
            <a:off x="4337304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2" descr="round push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308" y="1508760"/>
            <a:ext cx="411480" cy="4114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37304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KOOP</a:t>
            </a:r>
            <a:endParaRPr lang="en-US" sz="1800" dirty="0"/>
          </a:p>
        </p:txBody>
      </p:sp>
      <p:pic>
        <p:nvPicPr>
          <p:cNvPr id="13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1556" y="2377440"/>
            <a:ext cx="1005840" cy="10058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565904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oude</a:t>
            </a:r>
            <a:r>
              <a:rPr lang="en-US" sz="1900" i="1" dirty="0">
                <a:solidFill>
                  <a:schemeClr val="tx1"/>
                </a:solidFill>
              </a:rPr>
              <a:t> fiets, </a:t>
            </a:r>
            <a:r>
              <a:rPr lang="en-US" sz="1900" b="1" i="1" dirty="0">
                <a:solidFill>
                  <a:schemeClr val="tx1"/>
                </a:solidFill>
              </a:rPr>
              <a:t>rood</a:t>
            </a:r>
            <a:r>
              <a:rPr lang="en-US" sz="1900" i="1" dirty="0">
                <a:solidFill>
                  <a:schemeClr val="tx1"/>
                </a:solidFill>
              </a:rPr>
              <a:t>, 50 euro</a:t>
            </a:r>
            <a:endParaRPr lang="en-US" sz="1900" dirty="0"/>
          </a:p>
        </p:txBody>
      </p:sp>
      <p:sp>
        <p:nvSpPr>
          <p:cNvPr id="15" name="Shape 8"/>
          <p:cNvSpPr/>
          <p:nvPr/>
        </p:nvSpPr>
        <p:spPr>
          <a:xfrm rot="-90000">
            <a:off x="8125968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round pushp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1972" y="1508760"/>
            <a:ext cx="411480" cy="41148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125968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GEZOCHT</a:t>
            </a:r>
            <a:endParaRPr lang="en-US" sz="1800" dirty="0"/>
          </a:p>
        </p:txBody>
      </p:sp>
      <p:pic>
        <p:nvPicPr>
          <p:cNvPr id="18" name="Image 5" descr="bellhop be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0220" y="2377440"/>
            <a:ext cx="1005840" cy="1005840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8354568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vriendelijke</a:t>
            </a:r>
            <a:r>
              <a:rPr lang="en-US" sz="1900" i="1" dirty="0">
                <a:solidFill>
                  <a:schemeClr val="tx1"/>
                </a:solidFill>
              </a:rPr>
              <a:t> receptionist voor een </a:t>
            </a:r>
            <a:r>
              <a:rPr lang="en-US" sz="1900" b="1" i="1" dirty="0">
                <a:solidFill>
                  <a:schemeClr val="tx1"/>
                </a:solidFill>
              </a:rPr>
              <a:t>klein</a:t>
            </a:r>
            <a:r>
              <a:rPr lang="en-US" sz="1900" i="1" dirty="0">
                <a:solidFill>
                  <a:schemeClr val="tx1"/>
                </a:solidFill>
              </a:rPr>
              <a:t> hotel</a:t>
            </a:r>
            <a:endParaRPr lang="en-US" sz="1900" dirty="0"/>
          </a:p>
        </p:txBody>
      </p:sp>
      <p:sp>
        <p:nvSpPr>
          <p:cNvPr id="20" name="Shape 11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1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230368"/>
            <a:ext cx="822960" cy="82296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828800" y="5029200"/>
            <a:ext cx="9601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ruim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grote</a:t>
            </a:r>
            <a:r>
              <a:rPr lang="en-US" sz="1900" dirty="0">
                <a:solidFill>
                  <a:schemeClr val="tx1"/>
                </a:solidFill>
              </a:rPr>
              <a:t> ? </a:t>
            </a:r>
            <a:r>
              <a:rPr lang="en-US" sz="1900" i="1" dirty="0">
                <a:solidFill>
                  <a:schemeClr val="tx1"/>
                </a:solidFill>
              </a:rPr>
              <a:t>oude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rood</a:t>
            </a:r>
            <a:r>
              <a:rPr lang="en-US" sz="1900" dirty="0">
                <a:solidFill>
                  <a:schemeClr val="tx1"/>
                </a:solidFill>
              </a:rPr>
              <a:t> ?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Indice : regardez le mot qui suit (</a:t>
            </a:r>
            <a:r>
              <a:rPr lang="en-US" sz="1900" i="1" dirty="0">
                <a:solidFill>
                  <a:schemeClr val="tx1"/>
                </a:solidFill>
              </a:rPr>
              <a:t>de</a:t>
            </a:r>
            <a:r>
              <a:rPr lang="en-US" sz="1900" dirty="0">
                <a:solidFill>
                  <a:schemeClr val="tx1"/>
                </a:solidFill>
              </a:rPr>
              <a:t> ou </a:t>
            </a:r>
            <a:r>
              <a:rPr lang="en-US" sz="1900" i="1" dirty="0">
                <a:solidFill>
                  <a:schemeClr val="tx1"/>
                </a:solidFill>
              </a:rPr>
              <a:t>het</a:t>
            </a:r>
            <a:r>
              <a:rPr lang="en-US" sz="1900" dirty="0">
                <a:solidFill>
                  <a:schemeClr val="tx1"/>
                </a:solidFill>
              </a:rPr>
              <a:t>) et la place de l’adjectif.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Avant le nom ou après zijn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4"/>
                </a:solidFill>
              </a:rPr>
              <a:t>AVANT LE NOM → </a:t>
            </a:r>
            <a:r>
              <a:rPr lang="en-US" sz="1500" b="1" i="1" spc="100" kern="0" dirty="0">
                <a:solidFill>
                  <a:schemeClr val="accent4"/>
                </a:solidFill>
              </a:rPr>
              <a:t>-e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73152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1371600" y="196596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1600" y="1965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rod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926080" y="196596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26080" y="19659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auto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4846320" y="1965960"/>
            <a:ext cx="868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46320" y="196596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een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806440" y="196596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06440" y="19659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7635240" y="196596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35240" y="1965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collega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5"/>
                </a:solidFill>
              </a:rPr>
              <a:t>APRÈS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ZIJN</a:t>
            </a:r>
            <a:r>
              <a:rPr lang="en-US" sz="1500" b="1" spc="100" kern="0" dirty="0">
                <a:solidFill>
                  <a:schemeClr val="accent5"/>
                </a:solidFill>
              </a:rPr>
              <a:t> (ATTRIBUT) → jamais de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-e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3832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auto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94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94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3017520" y="338328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017520" y="3383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rood.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4846320" y="3383280"/>
            <a:ext cx="182880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46320" y="3383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collega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766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66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7589520" y="338328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589520" y="33832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nieuw.</a:t>
            </a:r>
            <a:endParaRPr lang="en-US" sz="24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3891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FRANÇAIS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4864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une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1463040" y="4709160"/>
            <a:ext cx="12801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463040" y="4709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voiture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283464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83464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rouge</a:t>
            </a:r>
            <a:endParaRPr lang="en-US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3977640" y="470916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48056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8056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een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5394960" y="470916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394960" y="47091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rod</a:t>
            </a:r>
            <a:r>
              <a:rPr lang="en-US" sz="2000" b="1" dirty="0">
                <a:solidFill>
                  <a:schemeClr val="accent4"/>
                </a:solidFill>
              </a:rPr>
              <a:t>e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667512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67512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auto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8229600" y="4389120"/>
            <a:ext cx="3410712" cy="1874520"/>
          </a:xfrm>
          <a:prstGeom prst="roundRect">
            <a:avLst>
              <a:gd name="adj" fmla="val 487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8412480" y="4553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543" y="4689775"/>
            <a:ext cx="294803" cy="294803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9125712" y="453542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Réflexe</a:t>
            </a:r>
            <a:endParaRPr lang="en-US" sz="1900" dirty="0"/>
          </a:p>
        </p:txBody>
      </p:sp>
      <p:sp>
        <p:nvSpPr>
          <p:cNvPr id="49" name="Text 45"/>
          <p:cNvSpPr txBox="1"/>
          <p:nvPr/>
        </p:nvSpPr>
        <p:spPr>
          <a:xfrm>
            <a:off x="8430768" y="5257800"/>
            <a:ext cx="3008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L’adjectif est </a:t>
            </a:r>
            <a:r>
              <a:rPr lang="en-US" sz="1500" b="1" dirty="0">
                <a:solidFill>
                  <a:schemeClr val="tx1"/>
                </a:solidFill>
              </a:rPr>
              <a:t>collé devant un nom</a:t>
            </a:r>
            <a:r>
              <a:rPr lang="en-US" sz="1500" dirty="0">
                <a:solidFill>
                  <a:schemeClr val="tx1"/>
                </a:solidFill>
              </a:rPr>
              <a:t> ? Sinon, on n’y touche pas.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: -e partout… sauf une case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51460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de / het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een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1554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pluriel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DE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51460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51460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57784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57784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641080" y="20574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641080" y="20574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stoelen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48640" y="34290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HET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251460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251460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557784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rgbClr val="FBEDEB"/>
          </a:solidFill>
          <a:ln w="44450">
            <a:solidFill>
              <a:srgbClr val="B8322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7784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</a:t>
            </a:r>
            <a:r>
              <a:rPr lang="en-US" sz="2200" b="1" i="1" dirty="0">
                <a:solidFill>
                  <a:schemeClr val="tx1"/>
                </a:solidFill>
              </a:rPr>
              <a:t>groot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8641080" y="34290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8641080" y="34290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huizen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00800" y="4617720"/>
            <a:ext cx="1750466" cy="347472"/>
          </a:xfrm>
          <a:prstGeom prst="roundRect">
            <a:avLst>
              <a:gd name="adj" fmla="val 1315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pas de -e !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La seule case sans </a:t>
            </a:r>
            <a:r>
              <a:rPr lang="en-US" sz="1900" i="1" dirty="0">
                <a:solidFill>
                  <a:schemeClr val="bg1"/>
                </a:solidFill>
              </a:rPr>
              <a:t>-e</a:t>
            </a:r>
            <a:r>
              <a:rPr lang="en-US" sz="1900" dirty="0">
                <a:solidFill>
                  <a:schemeClr val="bg1"/>
                </a:solidFill>
              </a:rPr>
              <a:t> : </a:t>
            </a:r>
            <a:r>
              <a:rPr lang="en-US" sz="1900" b="1" i="1" dirty="0">
                <a:solidFill>
                  <a:schemeClr val="bg1"/>
                </a:solidFill>
              </a:rPr>
              <a:t>een / geen / rien</a:t>
            </a:r>
            <a:r>
              <a:rPr lang="en-US" sz="1900" b="1" dirty="0">
                <a:solidFill>
                  <a:schemeClr val="bg1"/>
                </a:solidFill>
              </a:rPr>
              <a:t> + mot </a:t>
            </a:r>
            <a:r>
              <a:rPr lang="en-US" sz="1900" b="1" i="1" dirty="0">
                <a:solidFill>
                  <a:schemeClr val="bg1"/>
                </a:solidFill>
              </a:rPr>
              <a:t>het</a:t>
            </a:r>
            <a:r>
              <a:rPr lang="en-US" sz="1900" b="1" dirty="0">
                <a:solidFill>
                  <a:schemeClr val="bg1"/>
                </a:solidFill>
              </a:rPr>
              <a:t> au singulier</a:t>
            </a:r>
            <a:r>
              <a:rPr lang="en-US" sz="1900" dirty="0">
                <a:solidFill>
                  <a:schemeClr val="bg1"/>
                </a:solidFill>
              </a:rPr>
              <a:t> (</a:t>
            </a:r>
            <a:r>
              <a:rPr lang="en-US" sz="1900" i="1" dirty="0">
                <a:solidFill>
                  <a:schemeClr val="bg1"/>
                </a:solidFill>
              </a:rPr>
              <a:t>een groot huis, warm water</a:t>
            </a:r>
            <a:r>
              <a:rPr lang="en-US" sz="1900" dirty="0">
                <a:solidFill>
                  <a:schemeClr val="bg1"/>
                </a:solidFill>
              </a:rPr>
              <a:t>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l’accord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grote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maison est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Het huis is grote.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huis is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pic>
        <p:nvPicPr>
          <p:cNvPr id="19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voiture rouge »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auto rode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rode</a:t>
            </a:r>
            <a:r>
              <a:rPr lang="en-US" sz="1800" i="1" dirty="0">
                <a:solidFill>
                  <a:schemeClr val="tx1"/>
                </a:solidFill>
              </a:rPr>
              <a:t> auto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Trois réflexes : la </a:t>
            </a:r>
            <a:r>
              <a:rPr lang="en-US" sz="1800" b="1" dirty="0">
                <a:solidFill>
                  <a:schemeClr val="bg1"/>
                </a:solidFill>
              </a:rPr>
              <a:t>place</a:t>
            </a:r>
            <a:r>
              <a:rPr lang="en-US" sz="1800" dirty="0">
                <a:solidFill>
                  <a:schemeClr val="bg1"/>
                </a:solidFill>
              </a:rPr>
              <a:t> (avant le nom) · l’</a:t>
            </a:r>
            <a:r>
              <a:rPr lang="en-US" sz="1800" b="1" dirty="0">
                <a:solidFill>
                  <a:schemeClr val="bg1"/>
                </a:solidFill>
              </a:rPr>
              <a:t>attribut</a:t>
            </a:r>
            <a:r>
              <a:rPr lang="en-US" sz="1800" dirty="0">
                <a:solidFill>
                  <a:schemeClr val="bg1"/>
                </a:solidFill>
              </a:rPr>
              <a:t> (pas de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) · la case </a:t>
            </a:r>
            <a:r>
              <a:rPr lang="en-US" sz="1800" i="1" dirty="0">
                <a:solidFill>
                  <a:schemeClr val="bg1"/>
                </a:solidFill>
              </a:rPr>
              <a:t>een + het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L’orthographe du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longue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enlève une voyelle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groot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2148840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grote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duur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2148840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dure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rood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rode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448970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breed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2148840" y="4489704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brede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4322064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322064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22064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courte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4322064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double la consonne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642104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wit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5922264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witte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4642104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dik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5922264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dikke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4642104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snel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5922264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snelle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8095488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095488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095488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f / s → v / z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095488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souvent ; mais Franse, Engelse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415528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lief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9695688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lieve</a:t>
            </a:r>
            <a:endParaRPr lang="en-US" sz="2100" dirty="0"/>
          </a:p>
        </p:txBody>
      </p:sp>
      <p:sp>
        <p:nvSpPr>
          <p:cNvPr id="33" name="Text 30"/>
          <p:cNvSpPr txBox="1"/>
          <p:nvPr/>
        </p:nvSpPr>
        <p:spPr>
          <a:xfrm>
            <a:off x="8415528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grijs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9695688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grijze</a:t>
            </a:r>
            <a:endParaRPr lang="en-US" sz="2100" dirty="0"/>
          </a:p>
        </p:txBody>
      </p:sp>
      <p:sp>
        <p:nvSpPr>
          <p:cNvPr id="35" name="Text 32"/>
          <p:cNvSpPr txBox="1"/>
          <p:nvPr/>
        </p:nvSpPr>
        <p:spPr>
          <a:xfrm>
            <a:off x="8415528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boos</a:t>
            </a:r>
            <a:endParaRPr lang="en-US" sz="2100" dirty="0"/>
          </a:p>
        </p:txBody>
      </p:sp>
      <p:sp>
        <p:nvSpPr>
          <p:cNvPr id="36" name="Text 33"/>
          <p:cNvSpPr txBox="1"/>
          <p:nvPr/>
        </p:nvSpPr>
        <p:spPr>
          <a:xfrm>
            <a:off x="9695688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boze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Même règle que le pluriel (M1) · </a:t>
            </a:r>
            <a:r>
              <a:rPr lang="en-US" sz="1800" i="1" dirty="0">
                <a:solidFill>
                  <a:schemeClr val="bg1"/>
                </a:solidFill>
              </a:rPr>
              <a:t>-ig, -lijk</a:t>
            </a:r>
            <a:r>
              <a:rPr lang="en-US" sz="1800" dirty="0">
                <a:solidFill>
                  <a:schemeClr val="bg1"/>
                </a:solidFill>
              </a:rPr>
              <a:t> ne bougent pas : </a:t>
            </a:r>
            <a:r>
              <a:rPr lang="en-US" sz="1800" i="1" dirty="0">
                <a:solidFill>
                  <a:schemeClr val="bg1"/>
                </a:solidFill>
              </a:rPr>
              <a:t>rustige, vriendelijke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Après deze, dit, mijn, ons… : toujours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1691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het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834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34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977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77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120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63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63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dat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406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06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mijn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48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jouw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691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691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zijn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834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34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haar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977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977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5120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120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onze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263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63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hun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406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406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uw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8595360" y="2194560"/>
            <a:ext cx="6400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9326880" y="1645920"/>
            <a:ext cx="1143000" cy="11430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326880" y="16459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</a:t>
            </a:r>
            <a:endParaRPr lang="en-US" sz="3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dit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 · mijn nieuw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laptop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ons oud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kantoor · dat mooi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gebouw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uw volgend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afspraak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5000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7240" y="47548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Surtout </a:t>
            </a:r>
            <a:r>
              <a:rPr lang="en-US" sz="1800" b="1" i="1" dirty="0">
                <a:solidFill>
                  <a:schemeClr val="tx1"/>
                </a:solidFill>
              </a:rPr>
              <a:t>een</a:t>
            </a:r>
            <a:r>
              <a:rPr lang="en-US" sz="1800" i="1" dirty="0">
                <a:solidFill>
                  <a:schemeClr val="tx1"/>
                </a:solidFill>
              </a:rPr>
              <a:t>, </a:t>
            </a:r>
            <a:r>
              <a:rPr lang="en-US" sz="1800" b="1" i="1" dirty="0">
                <a:solidFill>
                  <a:schemeClr val="tx1"/>
                </a:solidFill>
              </a:rPr>
              <a:t>geen</a:t>
            </a:r>
            <a:r>
              <a:rPr lang="en-US" sz="1800" dirty="0">
                <a:solidFill>
                  <a:schemeClr val="tx1"/>
                </a:solidFill>
              </a:rPr>
              <a:t> et l’</a:t>
            </a:r>
            <a:r>
              <a:rPr lang="en-US" sz="1800" b="1" dirty="0">
                <a:solidFill>
                  <a:schemeClr val="tx1"/>
                </a:solidFill>
              </a:rPr>
              <a:t>absence d’article</a:t>
            </a:r>
            <a:r>
              <a:rPr lang="en-US" sz="1800" dirty="0">
                <a:solidFill>
                  <a:schemeClr val="tx1"/>
                </a:solidFill>
              </a:rPr>
              <a:t> ouvrent la case sans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(avec un mot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). Aussi </a:t>
            </a:r>
            <a:r>
              <a:rPr lang="en-US" sz="1800" i="1" dirty="0">
                <a:solidFill>
                  <a:schemeClr val="tx1"/>
                </a:solidFill>
              </a:rPr>
              <a:t>zo’n, elk, welk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zo’n groot huis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Même </a:t>
            </a:r>
            <a:r>
              <a:rPr lang="en-US" sz="1800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(+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 donne </a:t>
            </a:r>
            <a:r>
              <a:rPr lang="en-US" sz="1800" i="1" dirty="0">
                <a:solidFill>
                  <a:schemeClr val="tx1"/>
                </a:solidFill>
              </a:rPr>
              <a:t>ons </a:t>
            </a:r>
            <a:r>
              <a:rPr lang="en-US" sz="1800" b="1" i="1" dirty="0">
                <a:solidFill>
                  <a:schemeClr val="tx1"/>
                </a:solidFill>
              </a:rPr>
              <a:t>oude</a:t>
            </a:r>
            <a:r>
              <a:rPr lang="en-US" sz="1800" i="1" dirty="0">
                <a:solidFill>
                  <a:schemeClr val="tx1"/>
                </a:solidFill>
              </a:rPr>
              <a:t> kantoor</a:t>
            </a:r>
            <a:r>
              <a:rPr lang="en-US" sz="1800" dirty="0">
                <a:solidFill>
                  <a:schemeClr val="tx1"/>
                </a:solidFill>
              </a:rPr>
              <a:t> : après un possessif, toujours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Décrire : les adjectifs contraires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PERSONNES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7" name="Image 0" descr="ba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84248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jong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3063240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11" name="Image 1" descr="older pers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984248"/>
            <a:ext cx="640080" cy="6400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3" name="Image 2" descr="man rais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971800"/>
            <a:ext cx="640080" cy="6400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3063240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6" name="Text 10"/>
          <p:cNvSpPr txBox="1"/>
          <p:nvPr/>
        </p:nvSpPr>
        <p:spPr>
          <a:xfrm>
            <a:off x="34290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17" name="Image 3" descr="chi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971800"/>
            <a:ext cx="640080" cy="64008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9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959352"/>
            <a:ext cx="640080" cy="64008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3716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vriendelijk</a:t>
            </a:r>
            <a:endParaRPr lang="en-US" sz="1700" dirty="0"/>
          </a:p>
        </p:txBody>
      </p:sp>
      <p:sp>
        <p:nvSpPr>
          <p:cNvPr id="21" name="Text 13"/>
          <p:cNvSpPr txBox="1"/>
          <p:nvPr/>
        </p:nvSpPr>
        <p:spPr>
          <a:xfrm>
            <a:off x="3063240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4290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onvriendelijk</a:t>
            </a:r>
            <a:endParaRPr lang="en-US" sz="1700" dirty="0"/>
          </a:p>
        </p:txBody>
      </p:sp>
      <p:pic>
        <p:nvPicPr>
          <p:cNvPr id="23" name="Image 5" descr="pout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3959352"/>
            <a:ext cx="640080" cy="640080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548640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5" name="Image 6" descr="person runn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946904"/>
            <a:ext cx="640080" cy="64008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3716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druk</a:t>
            </a:r>
            <a:endParaRPr lang="en-US" sz="1700" dirty="0"/>
          </a:p>
        </p:txBody>
      </p:sp>
      <p:sp>
        <p:nvSpPr>
          <p:cNvPr id="27" name="Text 17"/>
          <p:cNvSpPr txBox="1"/>
          <p:nvPr/>
        </p:nvSpPr>
        <p:spPr>
          <a:xfrm>
            <a:off x="3063240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34290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rustig</a:t>
            </a:r>
            <a:endParaRPr lang="en-US" sz="1700" dirty="0"/>
          </a:p>
        </p:txBody>
      </p:sp>
      <p:pic>
        <p:nvPicPr>
          <p:cNvPr id="29" name="Image 7" descr="relieved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800" y="4946904"/>
            <a:ext cx="640080" cy="64008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6199632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OBJETS ET LIEUX</a:t>
            </a:r>
            <a:endParaRPr lang="en-US" sz="1300" dirty="0"/>
          </a:p>
        </p:txBody>
      </p:sp>
      <p:sp>
        <p:nvSpPr>
          <p:cNvPr id="31" name="Shape 20"/>
          <p:cNvSpPr/>
          <p:nvPr/>
        </p:nvSpPr>
        <p:spPr>
          <a:xfrm>
            <a:off x="6199632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8" descr="new butt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1984248"/>
            <a:ext cx="640080" cy="640080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70225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nieuw</a:t>
            </a:r>
            <a:endParaRPr lang="en-US" sz="1700" dirty="0"/>
          </a:p>
        </p:txBody>
      </p:sp>
      <p:sp>
        <p:nvSpPr>
          <p:cNvPr id="34" name="Text 22"/>
          <p:cNvSpPr txBox="1"/>
          <p:nvPr/>
        </p:nvSpPr>
        <p:spPr>
          <a:xfrm>
            <a:off x="8714232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0799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36" name="Image 9" descr="derelict hou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08792" y="1984248"/>
            <a:ext cx="640080" cy="640080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6199632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10" descr="money ba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9360" y="2971800"/>
            <a:ext cx="640080" cy="640080"/>
          </a:xfrm>
          <a:prstGeom prst="rect">
            <a:avLst/>
          </a:prstGeom>
        </p:spPr>
      </p:pic>
      <p:sp>
        <p:nvSpPr>
          <p:cNvPr id="39" name="Text 25"/>
          <p:cNvSpPr txBox="1"/>
          <p:nvPr/>
        </p:nvSpPr>
        <p:spPr>
          <a:xfrm>
            <a:off x="70225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duur</a:t>
            </a:r>
            <a:endParaRPr lang="en-US" sz="1700" dirty="0"/>
          </a:p>
        </p:txBody>
      </p:sp>
      <p:sp>
        <p:nvSpPr>
          <p:cNvPr id="40" name="Text 26"/>
          <p:cNvSpPr txBox="1"/>
          <p:nvPr/>
        </p:nvSpPr>
        <p:spPr>
          <a:xfrm>
            <a:off x="8714232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1" name="Text 27"/>
          <p:cNvSpPr txBox="1"/>
          <p:nvPr/>
        </p:nvSpPr>
        <p:spPr>
          <a:xfrm>
            <a:off x="90799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goedkoop</a:t>
            </a:r>
            <a:endParaRPr lang="en-US" sz="1700" dirty="0"/>
          </a:p>
        </p:txBody>
      </p:sp>
      <p:pic>
        <p:nvPicPr>
          <p:cNvPr id="42" name="Image 11" descr="coi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8792" y="2971800"/>
            <a:ext cx="640080" cy="640080"/>
          </a:xfrm>
          <a:prstGeom prst="rect">
            <a:avLst/>
          </a:prstGeom>
        </p:spPr>
      </p:pic>
      <p:sp>
        <p:nvSpPr>
          <p:cNvPr id="43" name="Shape 28"/>
          <p:cNvSpPr/>
          <p:nvPr/>
        </p:nvSpPr>
        <p:spPr>
          <a:xfrm>
            <a:off x="6199632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12" descr="su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9360" y="3959352"/>
            <a:ext cx="640080" cy="64008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70225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licht</a:t>
            </a:r>
            <a:endParaRPr lang="en-US" sz="1700" dirty="0"/>
          </a:p>
        </p:txBody>
      </p:sp>
      <p:sp>
        <p:nvSpPr>
          <p:cNvPr id="46" name="Text 30"/>
          <p:cNvSpPr txBox="1"/>
          <p:nvPr/>
        </p:nvSpPr>
        <p:spPr>
          <a:xfrm>
            <a:off x="8714232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7" name="Text 31"/>
          <p:cNvSpPr txBox="1"/>
          <p:nvPr/>
        </p:nvSpPr>
        <p:spPr>
          <a:xfrm>
            <a:off x="90799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donker</a:t>
            </a:r>
            <a:endParaRPr lang="en-US" sz="1700" dirty="0"/>
          </a:p>
        </p:txBody>
      </p:sp>
      <p:pic>
        <p:nvPicPr>
          <p:cNvPr id="48" name="Image 13" descr="crescent m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08792" y="3959352"/>
            <a:ext cx="640080" cy="640080"/>
          </a:xfrm>
          <a:prstGeom prst="rect">
            <a:avLst/>
          </a:prstGeom>
        </p:spPr>
      </p:pic>
      <p:sp>
        <p:nvSpPr>
          <p:cNvPr id="49" name="Shape 32"/>
          <p:cNvSpPr/>
          <p:nvPr/>
        </p:nvSpPr>
        <p:spPr>
          <a:xfrm>
            <a:off x="6199632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50" name="Image 14" descr="office buildi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0" y="4946904"/>
            <a:ext cx="640080" cy="640080"/>
          </a:xfrm>
          <a:prstGeom prst="rect">
            <a:avLst/>
          </a:prstGeom>
        </p:spPr>
      </p:pic>
      <p:sp>
        <p:nvSpPr>
          <p:cNvPr id="51" name="Text 33"/>
          <p:cNvSpPr txBox="1"/>
          <p:nvPr/>
        </p:nvSpPr>
        <p:spPr>
          <a:xfrm>
            <a:off x="70225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52" name="Text 34"/>
          <p:cNvSpPr txBox="1"/>
          <p:nvPr/>
        </p:nvSpPr>
        <p:spPr>
          <a:xfrm>
            <a:off x="8714232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53" name="Text 35"/>
          <p:cNvSpPr txBox="1"/>
          <p:nvPr/>
        </p:nvSpPr>
        <p:spPr>
          <a:xfrm>
            <a:off x="90799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54" name="Image 15" descr="hous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908792" y="4946904"/>
            <a:ext cx="640080" cy="640080"/>
          </a:xfrm>
          <a:prstGeom prst="rect">
            <a:avLst/>
          </a:prstGeom>
        </p:spPr>
      </p:pic>
      <p:sp>
        <p:nvSpPr>
          <p:cNvPr id="55" name="Text 3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druk</a:t>
            </a:r>
            <a:r>
              <a:rPr lang="en-US" sz="1500" i="1" dirty="0">
                <a:solidFill>
                  <a:schemeClr val="accent5"/>
                </a:solidFill>
              </a:rPr>
              <a:t> = agité, occupé · </a:t>
            </a:r>
            <a:r>
              <a:rPr lang="en-US" sz="1500" i="1" dirty="0">
                <a:solidFill>
                  <a:schemeClr val="accent5"/>
                </a:solidFill>
              </a:rPr>
              <a:t>licht</a:t>
            </a:r>
            <a:r>
              <a:rPr lang="en-US" sz="1500" i="1" dirty="0">
                <a:solidFill>
                  <a:schemeClr val="accent5"/>
                </a:solidFill>
              </a:rPr>
              <a:t> = clair ou léger · </a:t>
            </a:r>
            <a:r>
              <a:rPr lang="en-US" sz="1500" i="1" dirty="0">
                <a:solidFill>
                  <a:schemeClr val="accent5"/>
                </a:solidFill>
              </a:rPr>
              <a:t>on-</a:t>
            </a:r>
            <a:r>
              <a:rPr lang="en-US" sz="1500" i="1" dirty="0">
                <a:solidFill>
                  <a:schemeClr val="accent5"/>
                </a:solidFill>
              </a:rPr>
              <a:t> = le contraire (M14) · </a:t>
            </a:r>
            <a:r>
              <a:rPr lang="en-US" sz="1500" i="1" dirty="0">
                <a:solidFill>
                  <a:schemeClr val="accent5"/>
                </a:solidFill>
              </a:rPr>
              <a:t>een kleine, oude stoel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adjectifs qui ne bougent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21488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matières en </a:t>
            </a:r>
            <a:r>
              <a:rPr lang="en-US" sz="1700" b="1" i="1" dirty="0">
                <a:solidFill>
                  <a:schemeClr val="accent6"/>
                </a:solidFill>
              </a:rPr>
              <a:t>-en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572000" y="214884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houten</a:t>
            </a:r>
            <a:r>
              <a:rPr lang="en-US" sz="1900" i="1" dirty="0">
                <a:solidFill>
                  <a:schemeClr val="tx1"/>
                </a:solidFill>
              </a:rPr>
              <a:t> tafel · een </a:t>
            </a:r>
            <a:r>
              <a:rPr lang="en-US" sz="1900" b="1" i="1" dirty="0">
                <a:solidFill>
                  <a:schemeClr val="tx1"/>
                </a:solidFill>
              </a:rPr>
              <a:t>gouden</a:t>
            </a:r>
            <a:r>
              <a:rPr lang="en-US" sz="1900" i="1" dirty="0">
                <a:solidFill>
                  <a:schemeClr val="tx1"/>
                </a:solidFill>
              </a:rPr>
              <a:t> ring · een </a:t>
            </a:r>
            <a:r>
              <a:rPr lang="en-US" sz="1900" b="1" i="1" dirty="0">
                <a:solidFill>
                  <a:schemeClr val="tx1"/>
                </a:solidFill>
              </a:rPr>
              <a:t>wollen</a:t>
            </a:r>
            <a:r>
              <a:rPr lang="en-US" sz="1900" i="1" dirty="0">
                <a:solidFill>
                  <a:schemeClr val="tx1"/>
                </a:solidFill>
              </a:rPr>
              <a:t> trui</a:t>
            </a:r>
            <a:endParaRPr lang="en-US" sz="1900" dirty="0"/>
          </a:p>
        </p:txBody>
      </p:sp>
      <p:pic>
        <p:nvPicPr>
          <p:cNvPr id="10" name="Image 1" descr="t shi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00400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45920" y="3108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couleurs en </a:t>
            </a:r>
            <a:r>
              <a:rPr lang="en-US" sz="1700" b="1" i="1" dirty="0">
                <a:solidFill>
                  <a:schemeClr val="accent6"/>
                </a:solidFill>
              </a:rPr>
              <a:t>-e</a:t>
            </a:r>
            <a:r>
              <a:rPr lang="en-US" sz="1700" b="1" dirty="0">
                <a:solidFill>
                  <a:schemeClr val="accent6"/>
                </a:solidFill>
              </a:rPr>
              <a:t> ou </a:t>
            </a:r>
            <a:r>
              <a:rPr lang="en-US" sz="1700" b="1" i="1" dirty="0">
                <a:solidFill>
                  <a:schemeClr val="accent6"/>
                </a:solidFill>
              </a:rPr>
              <a:t>-a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4572000" y="310896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oranje</a:t>
            </a:r>
            <a:r>
              <a:rPr lang="en-US" sz="1900" i="1" dirty="0">
                <a:solidFill>
                  <a:schemeClr val="tx1"/>
                </a:solidFill>
              </a:rPr>
              <a:t> jas · een </a:t>
            </a:r>
            <a:r>
              <a:rPr lang="en-US" sz="1900" b="1" i="1" dirty="0">
                <a:solidFill>
                  <a:schemeClr val="tx1"/>
                </a:solidFill>
              </a:rPr>
              <a:t>roze</a:t>
            </a:r>
            <a:r>
              <a:rPr lang="en-US" sz="1900" i="1" dirty="0">
                <a:solidFill>
                  <a:schemeClr val="tx1"/>
                </a:solidFill>
              </a:rPr>
              <a:t> trui · een </a:t>
            </a:r>
            <a:r>
              <a:rPr lang="en-US" sz="1900" b="1" i="1" dirty="0">
                <a:solidFill>
                  <a:schemeClr val="tx1"/>
                </a:solidFill>
              </a:rPr>
              <a:t>lila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endParaRPr lang="en-US" sz="1900" dirty="0"/>
          </a:p>
        </p:txBody>
      </p:sp>
      <p:pic>
        <p:nvPicPr>
          <p:cNvPr id="13" name="Image 2" descr="hand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60520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45920" y="40690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mots étrangers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4572000" y="406908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plastic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r>
              <a:rPr lang="en-US" sz="1900" dirty="0">
                <a:solidFill>
                  <a:schemeClr val="tx1"/>
                </a:solidFill>
              </a:rPr>
              <a:t> (BE : </a:t>
            </a: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plastieken</a:t>
            </a:r>
            <a:r>
              <a:rPr lang="en-US" sz="1900" i="1" dirty="0">
                <a:solidFill>
                  <a:schemeClr val="tx1"/>
                </a:solidFill>
              </a:rPr>
              <a:t> zak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777240" y="49834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een houtene tafel</a:t>
            </a:r>
            <a:r>
              <a:rPr lang="en-US" sz="1700" dirty="0">
                <a:solidFill>
                  <a:schemeClr val="tx1"/>
                </a:solidFill>
              </a:rPr>
              <a:t> → ✓ </a:t>
            </a:r>
            <a:r>
              <a:rPr lang="en-US" sz="1700" b="1" i="1" dirty="0">
                <a:solidFill>
                  <a:schemeClr val="tx1"/>
                </a:solidFill>
              </a:rPr>
              <a:t>een houten tafel</a:t>
            </a:r>
            <a:r>
              <a:rPr lang="en-US" sz="1700" dirty="0">
                <a:solidFill>
                  <a:schemeClr val="tx1"/>
                </a:solidFill>
              </a:rPr>
              <a:t> — ils finissent déjà par </a:t>
            </a:r>
            <a:r>
              <a:rPr lang="en-US" sz="1700" i="1" dirty="0">
                <a:solidFill>
                  <a:schemeClr val="tx1"/>
                </a:solidFill>
              </a:rPr>
              <a:t>-en</a:t>
            </a:r>
            <a:r>
              <a:rPr lang="en-US" sz="1700" dirty="0">
                <a:solidFill>
                  <a:schemeClr val="tx1"/>
                </a:solidFill>
              </a:rPr>
              <a:t> (matière) ou </a:t>
            </a:r>
            <a:r>
              <a:rPr lang="en-US" sz="1700" i="1" dirty="0">
                <a:solidFill>
                  <a:schemeClr val="tx1"/>
                </a:solidFill>
              </a:rPr>
              <a:t>-e / -a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Invariables partout : </a:t>
            </a:r>
            <a:r>
              <a:rPr lang="en-US" sz="1800" i="1" dirty="0">
                <a:solidFill>
                  <a:schemeClr val="bg1"/>
                </a:solidFill>
              </a:rPr>
              <a:t>de oranje auto · het houten huis · houten stoelen</a:t>
            </a:r>
            <a:r>
              <a:rPr lang="en-US" sz="1800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M7 : Belgisch, Belgische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71600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874520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collega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de collega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31636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05956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780276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54596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05956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57516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het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bier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7557516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bier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22960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97280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371600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874520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</a:t>
            </a:r>
            <a:r>
              <a:rPr lang="en-US" sz="2400" b="1" i="1" dirty="0">
                <a:solidFill>
                  <a:schemeClr val="tx1"/>
                </a:solidFill>
              </a:rPr>
              <a:t>Belgisch</a:t>
            </a:r>
            <a:r>
              <a:rPr lang="en-US" sz="2400" i="1" dirty="0">
                <a:solidFill>
                  <a:schemeClr val="tx1"/>
                </a:solidFill>
              </a:rPr>
              <a:t> bedrijf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1874520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bedrijf · case sans -e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231636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505956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80276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054596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505956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557516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frietjes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7557516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pluriel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48463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484632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Attribut : </a:t>
            </a:r>
            <a:r>
              <a:rPr lang="en-US" sz="1800" i="1" dirty="0">
                <a:solidFill>
                  <a:schemeClr val="tx1"/>
                </a:solidFill>
              </a:rPr>
              <a:t>Het bier is </a:t>
            </a:r>
            <a:r>
              <a:rPr lang="en-US" sz="1800" b="1" i="1" dirty="0">
                <a:solidFill>
                  <a:schemeClr val="tx1"/>
                </a:solidFill>
              </a:rPr>
              <a:t>Belgisch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(pas de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) · majuscule comme au M7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 M7, </a:t>
            </a:r>
            <a:r>
              <a:rPr lang="en-US" sz="1500" i="1" dirty="0">
                <a:solidFill>
                  <a:schemeClr val="accent5"/>
                </a:solidFill>
              </a:rPr>
              <a:t>Belgische</a:t>
            </a:r>
            <a:r>
              <a:rPr lang="en-US" sz="1500" i="1" dirty="0">
                <a:solidFill>
                  <a:schemeClr val="accent5"/>
                </a:solidFill>
              </a:rPr>
              <a:t> était appris « en bloc » : maintenant, la règle l’explique.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comparer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1783080" cy="1097280"/>
          </a:xfrm>
          <a:prstGeom prst="roundRect">
            <a:avLst>
              <a:gd name="adj" fmla="val 333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004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groot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423160" y="2560320"/>
            <a:ext cx="1783080" cy="1645920"/>
          </a:xfrm>
          <a:prstGeom prst="roundRect">
            <a:avLst>
              <a:gd name="adj" fmla="val 222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groter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297680" y="2011680"/>
            <a:ext cx="1783080" cy="2194560"/>
          </a:xfrm>
          <a:prstGeom prst="roundRect">
            <a:avLst>
              <a:gd name="adj" fmla="val 205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97680" y="2103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het grootst</a:t>
            </a:r>
            <a:endParaRPr lang="en-US" sz="1800" dirty="0"/>
          </a:p>
        </p:txBody>
      </p:sp>
      <p:pic>
        <p:nvPicPr>
          <p:cNvPr id="11" name="Image 0" descr="1st place med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50876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4343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Brussel is </a:t>
            </a:r>
            <a:r>
              <a:rPr lang="en-US" sz="1900" b="1" i="1" dirty="0">
                <a:solidFill>
                  <a:schemeClr val="tx1"/>
                </a:solidFill>
              </a:rPr>
              <a:t>groter dan</a:t>
            </a:r>
            <a:r>
              <a:rPr lang="en-US" sz="1900" i="1" dirty="0">
                <a:solidFill>
                  <a:schemeClr val="tx1"/>
                </a:solidFill>
              </a:rPr>
              <a:t> Gent.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8006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duur → duur</a:t>
            </a:r>
            <a:r>
              <a:rPr lang="en-US" sz="1700" b="1" i="1" dirty="0">
                <a:solidFill>
                  <a:schemeClr val="tx1"/>
                </a:solidFill>
              </a:rPr>
              <a:t>der</a:t>
            </a:r>
            <a:r>
              <a:rPr lang="en-US" sz="1700" i="1" dirty="0">
                <a:solidFill>
                  <a:schemeClr val="tx1"/>
                </a:solidFill>
              </a:rPr>
              <a:t> → duurst</a:t>
            </a:r>
            <a:r>
              <a:rPr lang="en-US" sz="1700" dirty="0">
                <a:solidFill>
                  <a:schemeClr val="tx1"/>
                </a:solidFill>
              </a:rPr>
              <a:t> (après </a:t>
            </a:r>
            <a:r>
              <a:rPr lang="en-US" sz="1700" i="1" dirty="0">
                <a:solidFill>
                  <a:schemeClr val="tx1"/>
                </a:solidFill>
              </a:rPr>
              <a:t>r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-der</a:t>
            </a:r>
            <a:r>
              <a:rPr lang="en-US" sz="1700" dirty="0">
                <a:solidFill>
                  <a:schemeClr val="tx1"/>
                </a:solidFill>
              </a:rPr>
              <a:t>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6400800" y="1554480"/>
            <a:ext cx="5239512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IRRÉGULIERS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201168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goed → </a:t>
            </a:r>
            <a:r>
              <a:rPr lang="en-US" sz="2100" b="1" i="1" dirty="0">
                <a:solidFill>
                  <a:schemeClr val="tx1"/>
                </a:solidFill>
              </a:rPr>
              <a:t>beter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best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veel → </a:t>
            </a:r>
            <a:r>
              <a:rPr lang="en-US" sz="2100" b="1" i="1" dirty="0">
                <a:solidFill>
                  <a:schemeClr val="tx1"/>
                </a:solidFill>
              </a:rPr>
              <a:t>meer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meest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graag → </a:t>
            </a:r>
            <a:r>
              <a:rPr lang="en-US" sz="2100" b="1" i="1" dirty="0">
                <a:solidFill>
                  <a:schemeClr val="tx1"/>
                </a:solidFill>
              </a:rPr>
              <a:t>liever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liefst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2960" y="54406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Devant un nom, toujours la règle du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grootste stad · een duurdere laptop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l’adjectif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438912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333"/>
                </a:solidFill>
              </a:rPr>
              <a:t>L’adjectif est-il devant un nom 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956048" y="2121408"/>
            <a:ext cx="48463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937760" y="1783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0" y="169164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23560" y="16916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De auto is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43200" y="2651760"/>
            <a:ext cx="914" cy="32004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834640" y="26700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2971800"/>
            <a:ext cx="4389120" cy="11430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Mot het au singulier avec een, geen ou rien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56048" y="353872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937760" y="3200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0" y="310896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23560" y="31089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een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 huis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743200" y="4114800"/>
            <a:ext cx="914" cy="32004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834640" y="4133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4434840"/>
            <a:ext cx="83210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43484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rode auto · een rode auto · het rode huis · rode auto’s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098280" y="1600200"/>
            <a:ext cx="2542032" cy="3749040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098280" y="169164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ORTHOGRAPHE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235440" y="2057400"/>
            <a:ext cx="2286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groot → </a:t>
            </a:r>
            <a:r>
              <a:rPr lang="en-US" sz="1600" b="1" i="1" dirty="0">
                <a:solidFill>
                  <a:schemeClr val="tx1"/>
                </a:solidFill>
              </a:rPr>
              <a:t>grote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wit →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lief → </a:t>
            </a:r>
            <a:r>
              <a:rPr lang="en-US" sz="1600" b="1" i="1" dirty="0">
                <a:solidFill>
                  <a:schemeClr val="tx1"/>
                </a:solidFill>
              </a:rPr>
              <a:t>lieve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grijs → </a:t>
            </a:r>
            <a:r>
              <a:rPr lang="en-US" sz="1600" b="1" i="1" dirty="0">
                <a:solidFill>
                  <a:schemeClr val="tx1"/>
                </a:solidFill>
              </a:rPr>
              <a:t>grijze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invariables : </a:t>
            </a:r>
            <a:r>
              <a:rPr lang="en-US" sz="1600" i="1" dirty="0">
                <a:solidFill>
                  <a:schemeClr val="tx1"/>
                </a:solidFill>
              </a:rPr>
              <a:t>houten, oranje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5778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5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Groot of grote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pell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L’orthographe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petite annonce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Frien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est-ce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hartB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Comparez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L’agence immobilière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groot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b="1" dirty="0">
                <a:solidFill>
                  <a:schemeClr val="accent3"/>
                </a:solidFill>
              </a:rPr>
              <a:t>nieuwe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b="1" dirty="0">
                <a:solidFill>
                  <a:schemeClr val="accent3"/>
                </a:solidFill>
              </a:rPr>
              <a:t>oude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rode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b="1" dirty="0">
                <a:solidFill>
                  <a:schemeClr val="accent3"/>
                </a:solidFill>
              </a:rPr>
              <a:t>witte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b="1" dirty="0">
                <a:solidFill>
                  <a:schemeClr val="accent3"/>
                </a:solidFill>
              </a:rPr>
              <a:t>duur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b="1" dirty="0">
                <a:solidFill>
                  <a:schemeClr val="accent3"/>
                </a:solidFill>
              </a:rPr>
              <a:t>lekkere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b="1" dirty="0">
                <a:solidFill>
                  <a:schemeClr val="accent3"/>
                </a:solidFill>
              </a:rPr>
              <a:t>warm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b="1" dirty="0">
                <a:solidFill>
                  <a:schemeClr val="accent3"/>
                </a:solidFill>
              </a:rPr>
              <a:t>lang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b="1" dirty="0">
                <a:solidFill>
                  <a:schemeClr val="accent3"/>
                </a:solidFill>
              </a:rPr>
              <a:t>mooie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7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koffie, sans article →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8 :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water, sans article → pas de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9 : attribut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54" name="Shape 50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0" name="Shape 56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66" name="Shape 6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39312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grote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39312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witte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39312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lieve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39312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grijze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39312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dure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290304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dikke</a:t>
            </a:r>
            <a:endParaRPr lang="en-US" sz="2200" dirty="0"/>
          </a:p>
        </p:txBody>
      </p:sp>
      <p:sp>
        <p:nvSpPr>
          <p:cNvPr id="51" name="Shape 47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55" name="Shape 51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290304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rode</a:t>
            </a:r>
            <a:endParaRPr lang="en-US" sz="2200" dirty="0"/>
          </a:p>
        </p:txBody>
      </p:sp>
      <p:sp>
        <p:nvSpPr>
          <p:cNvPr id="58" name="Shape 54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62" name="Shape 58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290304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boze</a:t>
            </a:r>
            <a:endParaRPr lang="en-US" sz="2200" dirty="0"/>
          </a:p>
        </p:txBody>
      </p:sp>
      <p:sp>
        <p:nvSpPr>
          <p:cNvPr id="65" name="Shape 61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9" name="Shape 65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290304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kleine</a:t>
            </a:r>
            <a:endParaRPr lang="en-US" sz="2200" dirty="0"/>
          </a:p>
        </p:txBody>
      </p:sp>
      <p:sp>
        <p:nvSpPr>
          <p:cNvPr id="72" name="Shape 6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76" name="Shape 7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290304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brede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2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3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b="1" dirty="0">
                <a:solidFill>
                  <a:schemeClr val="accent3"/>
                </a:solidFill>
              </a:rPr>
              <a:t>Mooi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b="1" dirty="0">
                <a:solidFill>
                  <a:schemeClr val="accent3"/>
                </a:solidFill>
              </a:rPr>
              <a:t>rustige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b="1" dirty="0">
                <a:solidFill>
                  <a:schemeClr val="accent3"/>
                </a:solidFill>
              </a:rPr>
              <a:t>grote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b="1" dirty="0">
                <a:solidFill>
                  <a:schemeClr val="accent3"/>
                </a:solidFill>
              </a:rPr>
              <a:t>brede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b="1" dirty="0">
                <a:solidFill>
                  <a:schemeClr val="accent3"/>
                </a:solidFill>
              </a:rPr>
              <a:t>moderne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b="1" dirty="0">
                <a:solidFill>
                  <a:schemeClr val="accent3"/>
                </a:solidFill>
              </a:rPr>
              <a:t>klein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b="1" dirty="0">
                <a:solidFill>
                  <a:schemeClr val="accent3"/>
                </a:solidFill>
              </a:rPr>
              <a:t>nieuwe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b="1" dirty="0">
                <a:solidFill>
                  <a:schemeClr val="accent3"/>
                </a:solidFill>
              </a:rPr>
              <a:t>jong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4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9098280" y="5315712"/>
            <a:ext cx="25420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mooi appartement</a:t>
            </a:r>
            <a:r>
              <a:rPr lang="en-US" sz="1300" i="1" dirty="0">
                <a:solidFill>
                  <a:schemeClr val="accent5"/>
                </a:solidFill>
              </a:rPr>
              <a:t> : pas d’article + </a:t>
            </a:r>
            <a:r>
              <a:rPr lang="en-US" sz="1300" i="1" dirty="0">
                <a:solidFill>
                  <a:schemeClr val="accent5"/>
                </a:solidFill>
              </a:rPr>
              <a:t>het</a:t>
            </a:r>
            <a:r>
              <a:rPr lang="en-US" sz="1300" i="1" dirty="0">
                <a:solidFill>
                  <a:schemeClr val="accent5"/>
                </a:solidFill>
              </a:rPr>
              <a:t> → pas de </a:t>
            </a:r>
            <a:r>
              <a:rPr lang="en-US" sz="1300" i="1" dirty="0">
                <a:solidFill>
                  <a:schemeClr val="accent5"/>
                </a:solidFill>
              </a:rPr>
              <a:t>-e</a:t>
            </a:r>
            <a:r>
              <a:rPr lang="en-US" sz="1300" i="1" dirty="0">
                <a:solidFill>
                  <a:schemeClr val="accent5"/>
                </a:solidFill>
              </a:rPr>
              <a:t> · </a:t>
            </a:r>
            <a:r>
              <a:rPr lang="en-US" sz="1300" i="1" dirty="0">
                <a:solidFill>
                  <a:schemeClr val="accent5"/>
                </a:solidFill>
              </a:rPr>
              <a:t>een klein terras, een jong gezin</a:t>
            </a:r>
            <a:r>
              <a:rPr lang="en-US" sz="1300" i="1" dirty="0">
                <a:solidFill>
                  <a:schemeClr val="accent5"/>
                </a:solidFill>
              </a:rPr>
              <a:t> : </a:t>
            </a:r>
            <a:r>
              <a:rPr lang="en-US" sz="1300" i="1" dirty="0">
                <a:solidFill>
                  <a:schemeClr val="accent5"/>
                </a:solidFill>
              </a:rPr>
              <a:t>een + het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dirty="0">
                <a:solidFill>
                  <a:schemeClr val="tx1"/>
                </a:solidFill>
              </a:rPr>
              <a:t>een nieuwe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dirty="0">
                <a:solidFill>
                  <a:schemeClr val="tx1"/>
                </a:solidFill>
              </a:rPr>
              <a:t>groote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dirty="0">
                <a:solidFill>
                  <a:schemeClr val="tx1"/>
                </a:solidFill>
              </a:rPr>
              <a:t>mooie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dirty="0">
                <a:solidFill>
                  <a:schemeClr val="tx1"/>
                </a:solidFill>
              </a:rPr>
              <a:t>houtene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dirty="0">
                <a:solidFill>
                  <a:schemeClr val="tx1"/>
                </a:solidFill>
              </a:rPr>
              <a:t>Mijn oud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strike="sngStrike" dirty="0">
                <a:solidFill>
                  <a:schemeClr val="accent6"/>
                </a:solidFill>
              </a:rPr>
              <a:t>een nieuwe appartement</a:t>
            </a:r>
            <a:r>
              <a:rPr lang="en-US" sz="2100" b="1" i="1" dirty="0">
                <a:solidFill>
                  <a:schemeClr val="accent3"/>
                </a:solidFill>
              </a:rPr>
              <a:t> een nieuw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strike="sngStrike" dirty="0">
                <a:solidFill>
                  <a:schemeClr val="accent6"/>
                </a:solidFill>
              </a:rPr>
              <a:t>groote</a:t>
            </a:r>
            <a:r>
              <a:rPr lang="en-US" sz="2100" b="1" i="1" dirty="0">
                <a:solidFill>
                  <a:schemeClr val="accent3"/>
                </a:solidFill>
              </a:rPr>
              <a:t> grote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strike="sngStrike" dirty="0">
                <a:solidFill>
                  <a:schemeClr val="accent6"/>
                </a:solidFill>
              </a:rPr>
              <a:t>mooie</a:t>
            </a:r>
            <a:r>
              <a:rPr lang="en-US" sz="2100" b="1" i="1" dirty="0">
                <a:solidFill>
                  <a:schemeClr val="accent3"/>
                </a:solidFill>
              </a:rPr>
              <a:t> mooi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strike="sngStrike" dirty="0">
                <a:solidFill>
                  <a:schemeClr val="accent6"/>
                </a:solidFill>
              </a:rPr>
              <a:t>houtene</a:t>
            </a:r>
            <a:r>
              <a:rPr lang="en-US" sz="2100" b="1" i="1" dirty="0">
                <a:solidFill>
                  <a:schemeClr val="accent3"/>
                </a:solidFill>
              </a:rPr>
              <a:t> houten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strike="sngStrike" dirty="0">
                <a:solidFill>
                  <a:schemeClr val="accent6"/>
                </a:solidFill>
              </a:rPr>
              <a:t>Mijn oud bureau</a:t>
            </a:r>
            <a:r>
              <a:rPr lang="en-US" sz="2100" b="1" i="1" dirty="0">
                <a:solidFill>
                  <a:schemeClr val="accent3"/>
                </a:solidFill>
              </a:rPr>
              <a:t> Mijn oude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een licht appartement · twee kleine slaapkamers · een oranje bank · een witte kat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Qui est-ce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be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1188720" cy="1188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233172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oman red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783080"/>
            <a:ext cx="1188720" cy="11887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33172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411480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man white 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783080"/>
            <a:ext cx="1188720" cy="11887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11480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89788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83080"/>
            <a:ext cx="1188720" cy="11887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89788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Shape 11"/>
          <p:cNvSpPr/>
          <p:nvPr/>
        </p:nvSpPr>
        <p:spPr>
          <a:xfrm>
            <a:off x="54864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man bal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49040"/>
            <a:ext cx="1188720" cy="118872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4864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Shape 13"/>
          <p:cNvSpPr/>
          <p:nvPr/>
        </p:nvSpPr>
        <p:spPr>
          <a:xfrm>
            <a:off x="233172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woman curly ha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749040"/>
            <a:ext cx="1188720" cy="118872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33172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6</a:t>
            </a:r>
            <a:endParaRPr lang="en-US" sz="1600" dirty="0"/>
          </a:p>
        </p:txBody>
      </p:sp>
      <p:sp>
        <p:nvSpPr>
          <p:cNvPr id="24" name="Shape 15"/>
          <p:cNvSpPr/>
          <p:nvPr/>
        </p:nvSpPr>
        <p:spPr>
          <a:xfrm>
            <a:off x="411480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man blonde 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749040"/>
            <a:ext cx="1188720" cy="118872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11480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7</a:t>
            </a:r>
            <a:endParaRPr lang="en-US" sz="1600" dirty="0"/>
          </a:p>
        </p:txBody>
      </p:sp>
      <p:sp>
        <p:nvSpPr>
          <p:cNvPr id="27" name="Shape 17"/>
          <p:cNvSpPr/>
          <p:nvPr/>
        </p:nvSpPr>
        <p:spPr>
          <a:xfrm>
            <a:off x="589788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woman white hai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0" y="3749040"/>
            <a:ext cx="1188720" cy="118872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589788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8</a:t>
            </a:r>
            <a:endParaRPr lang="en-US" sz="1600" dirty="0"/>
          </a:p>
        </p:txBody>
      </p:sp>
      <p:sp>
        <p:nvSpPr>
          <p:cNvPr id="30" name="Text 19"/>
          <p:cNvSpPr txBox="1"/>
          <p:nvPr/>
        </p:nvSpPr>
        <p:spPr>
          <a:xfrm>
            <a:off x="7818120" y="1600200"/>
            <a:ext cx="38221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A choisit un personnage en secret.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B pose des questions oui / non.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B trouve en moins de 6 questions.</a:t>
            </a:r>
            <a:endParaRPr lang="en-US" sz="1500" dirty="0"/>
          </a:p>
        </p:txBody>
      </p:sp>
      <p:sp>
        <p:nvSpPr>
          <p:cNvPr id="31" name="Shape 20"/>
          <p:cNvSpPr/>
          <p:nvPr/>
        </p:nvSpPr>
        <p:spPr>
          <a:xfrm>
            <a:off x="7818120" y="3154680"/>
            <a:ext cx="3822192" cy="1188720"/>
          </a:xfrm>
          <a:prstGeom prst="roundRect">
            <a:avLst>
              <a:gd name="adj" fmla="val 1384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7982712" y="3154680"/>
            <a:ext cx="34930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Heeft hij </a:t>
            </a:r>
            <a:r>
              <a:rPr lang="en-US" sz="1600" b="1" i="1" dirty="0">
                <a:solidFill>
                  <a:schemeClr val="tx1"/>
                </a:solidFill>
              </a:rPr>
              <a:t>kort</a:t>
            </a:r>
            <a:r>
              <a:rPr lang="en-US" sz="1600" i="1" dirty="0">
                <a:solidFill>
                  <a:schemeClr val="tx1"/>
                </a:solidFill>
              </a:rPr>
              <a:t> haar? · Is ze </a:t>
            </a:r>
            <a:r>
              <a:rPr lang="en-US" sz="1600" b="1" i="1" dirty="0">
                <a:solidFill>
                  <a:schemeClr val="tx1"/>
                </a:solidFill>
              </a:rPr>
              <a:t>jong</a:t>
            </a:r>
            <a:r>
              <a:rPr lang="en-US" sz="1600" i="1" dirty="0">
                <a:solidFill>
                  <a:schemeClr val="tx1"/>
                </a:solidFill>
              </a:rPr>
              <a:t>? · Heeft hij een </a:t>
            </a:r>
            <a:r>
              <a:rPr lang="en-US" sz="1600" b="1" i="1" dirty="0">
                <a:solidFill>
                  <a:schemeClr val="tx1"/>
                </a:solidFill>
              </a:rPr>
              <a:t>baard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sp>
        <p:nvSpPr>
          <p:cNvPr id="33" name="Shape 22"/>
          <p:cNvSpPr/>
          <p:nvPr/>
        </p:nvSpPr>
        <p:spPr>
          <a:xfrm>
            <a:off x="7818120" y="4480560"/>
            <a:ext cx="3822192" cy="82296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7982712" y="4480560"/>
            <a:ext cx="3493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Het is de </a:t>
            </a:r>
            <a:r>
              <a:rPr lang="en-US" sz="1600" b="1" i="1" dirty="0">
                <a:solidFill>
                  <a:schemeClr val="tx1"/>
                </a:solidFill>
              </a:rPr>
              <a:t>oude</a:t>
            </a:r>
            <a:r>
              <a:rPr lang="en-US" sz="1600" i="1" dirty="0">
                <a:solidFill>
                  <a:schemeClr val="tx1"/>
                </a:solidFill>
              </a:rPr>
              <a:t> man met het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r>
              <a:rPr lang="en-US" sz="1600" i="1" dirty="0">
                <a:solidFill>
                  <a:schemeClr val="tx1"/>
                </a:solidFill>
              </a:rPr>
              <a:t> haar!</a:t>
            </a:r>
            <a:endParaRPr lang="en-US" sz="1600" dirty="0"/>
          </a:p>
        </p:txBody>
      </p:sp>
      <p:sp>
        <p:nvSpPr>
          <p:cNvPr id="35" name="Text 24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Banque : </a:t>
            </a:r>
            <a:r>
              <a:rPr lang="en-US" sz="1500" i="1" dirty="0">
                <a:solidFill>
                  <a:schemeClr val="accent5"/>
                </a:solidFill>
              </a:rPr>
              <a:t>lang / kort haar · wit / rood / krullend haar · een baard · jong / oud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8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2" name="Text 7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4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0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4" name="Text 17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6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0" name="Text 22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2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6" name="Text 27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37" name="Shape 2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8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2" name="Text 32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9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3" name="Text 8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Brussel is groter dan Gent.</a:t>
            </a:r>
            <a:endParaRPr lang="en-US" sz="1800" dirty="0"/>
          </a:p>
        </p:txBody>
      </p:sp>
      <p:pic>
        <p:nvPicPr>
          <p:cNvPr id="16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Text 14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Een taxi is duurder dan de bus.</a:t>
            </a:r>
            <a:endParaRPr lang="en-US" sz="1800" dirty="0"/>
          </a:p>
        </p:txBody>
      </p:sp>
      <p:pic>
        <p:nvPicPr>
          <p:cNvPr id="23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6" name="Shape 19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7" name="Text 20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trein is sneller dan de fiets.</a:t>
            </a:r>
            <a:endParaRPr lang="en-US" sz="1800" dirty="0"/>
          </a:p>
        </p:txBody>
      </p:sp>
      <p:pic>
        <p:nvPicPr>
          <p:cNvPr id="30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33" name="Shape 25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Text 26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Juli is warmer dan maart.</a:t>
            </a:r>
            <a:endParaRPr lang="en-US" sz="1800" dirty="0"/>
          </a:p>
        </p:txBody>
      </p:sp>
      <p:pic>
        <p:nvPicPr>
          <p:cNvPr id="3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8" name="Shape 29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42" name="Shape 3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Mijn laptop is ouder dan jouw laptop.</a:t>
            </a:r>
            <a:endParaRPr lang="en-US" sz="1800" dirty="0"/>
          </a:p>
        </p:txBody>
      </p:sp>
      <p:pic>
        <p:nvPicPr>
          <p:cNvPr id="44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7" name="Shape 37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8" name="Text 38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9" name="Shape 39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Koffie is beter dan thee!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L’agence immobilière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cherche un appartement à Bruxelles. L’agent lui propose deux logements.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décrivez ce que vous cherchez, posez des questions, comparez et choisissez.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L’agent</a:t>
            </a:r>
            <a:r>
              <a:rPr lang="en-US" sz="1700" dirty="0">
                <a:solidFill>
                  <a:schemeClr val="tx1"/>
                </a:solidFill>
              </a:rPr>
              <a:t> : présentez les deux appartements avec des adjectifs.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zoek een rustig appartement. · Is de keuken groot? · Het eerste appartement is groter, maar duurder. · Ik neem het kleine appartement.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ag"/>
          <p:cNvSpPr/>
          <p:nvPr/>
        </p:nvSpPr>
        <p:spPr>
          <a:xfrm>
            <a:off x="8211312" y="1618488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A</a:t>
            </a:r>
            <a:endParaRPr lang="en-US" sz="1100" dirty="0"/>
          </a:p>
        </p:txBody>
      </p:sp>
      <p:pic>
        <p:nvPicPr>
          <p:cNvPr id="21" name="Image 0" descr="house with gard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1632" y="157276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257032" y="2075688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ruim appartement · 2 slaapkamers · grote tuin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257032" y="3337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1 100 €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8074152" y="3931920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ag"/>
          <p:cNvSpPr/>
          <p:nvPr/>
        </p:nvSpPr>
        <p:spPr>
          <a:xfrm>
            <a:off x="8211312" y="4069080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B</a:t>
            </a:r>
            <a:endParaRPr lang="en-US" sz="1100" dirty="0"/>
          </a:p>
        </p:txBody>
      </p:sp>
      <p:pic>
        <p:nvPicPr>
          <p:cNvPr id="2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402336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4526280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appartement · 1 slaapkamer · nieuwe keuken · vlak bij het station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257032" y="578815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850 €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een …… huis · de …… auto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groot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Ajoutez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wit · lief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een rode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UserFriend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Die of dat?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de collega die naast me zit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21 — Groot of grote? — L’accord de l’adjectif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2026-10-05T06:01:42Z</dcterms:created>
  <dcterms:modified xsi:type="dcterms:W3CDTF">2026-10-05T06:01:42Z</dcterms:modified>
</cp:coreProperties>
</file>