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4eccafea-c5da-2288-8da4-b45af3140601}">
          <p14:sldIdLst>
            <p14:sldId id="256"/>
          </p14:sldIdLst>
        </p14:section>
        <p14:section name="Découvrir" id="{d1097d02-e216-d6a8-a5a2-26b944dd711c}">
          <p14:sldIdLst>
            <p14:sldId id="257"/>
            <p14:sldId id="258"/>
          </p14:sldIdLst>
        </p14:section>
        <p14:section name="Comprendre" id="{fbad819d-4b1b-0b69-c265-ccb56eb36d7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bb01c3bd-0461-9990-82b1-63dc9dbf39d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96a37e31-9f3d-6022-008c-24627bc54af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et provoquer la surprise de half drie.
Montrez l'horloge et lisez Het is half drie. Laissez deviner : la plupart des francophones disent « 3 h 30 ». Réponse : 2 h 30. C'est le fil rouge du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L'heure sert partout : horaires de train, agenda, réunions, rendez-vous chez le médecin.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deux façons de dire l'heure dans un agenda.
Faites relier 08.30 → half negen, 12.30 → half één, 14.30 → half drie. Les apprenants découvrent seuls la règle : half annonce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l'heure des horaires et des agendas (24 h).
L'heure officielle sert pour les trains, la radio, les agendas, les e-mails. Elle est facile : c'est l'ordre du français (« quatorze heures trente »). Rappel M2 : eenentwintig, vijfenveertig (unités avant dizaines).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une heure pleine en heure courante.
één uur (avec accents) = 1 h ; een uur = une heure (durée). En heure courante, on compte de 1 à 12 : 15 h = drie uur 's namiddags (aux Pays-Bas : 's middags, voir diapo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logique de half : on est à mi-chemin de l'heure suivante.
Comparez avec l'allemand (halb drei) si certains apprenants le connaissent. Faites dire l'heure suivante avant de parler : « il est 8 h 30 → j'arrive à 9 h → half negen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quarts d'heure.
kwart over / kwart voor suit la logique du français : c'est le point rassurant de la leçon. Faites mimer over (la main passe par-dessus) et voor (la main s'arrête devant).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toutes les minutes grâce au schéma des quatre zones.
On compte toujours à partir du repère le plus proche (heure pleine ou half). 2 h 20 se dit aussi twintig over twee, et 2 h 40 twintig voor drie : c'est fréquent en Belgique et correct.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l'heure officielle à l'heure courante.
Méthode : ① ramener à 12 h (16 → 4) ; ② chercher la zone (S21) ; ③ penser à l'heure suivante pour half. À l'écrit (e-mail, agenda), l'heure officielle évite les malentendus.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une heure dans la journée.
L'apostrophe remplace un ancien des : 's se prononce « s ». En Belgique, 's middags désigne plutôt le temps de midi, et 's namiddags l'après-midi ; aux Pays-Bas, 's middags = l'après-midi. Exemple : Om drie uur 's namiddags.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français autour de l'heure.
om + heure, op + jour (op maandag, M18). anderhalf (une et demie) se dit aussi pour d'autres quantités : anderhalve liter. een halfuur s'écrit aussi een half uur. En Belgique, on entend souvent een kwartuur et Op welk uur? : ce n'est pas faux à l'oral, mais een kwartier et Hoe laat? / Om hoe laat? sont la norme (≈ gris sur la diapo).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l'heure dans un dialogue professionnel.
Wanneer past het u? = Quand cela vous convient-il ? rond / omstreeks / tegen = vers. te laat = en retard, op tijd = à l'heure, te vroeg = en avance. Faites jouer le dialogue en changeant les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l'heure courante à l'oral, vite.
Liste d'appel : kwart over twee · half vijf · tien voor half negen · vijf over half elf · kwart voor acht · tien over drie · half één · vijf voor zes · twintig over negen · kwart voor elf · tien over half zeven · vijf over twaalf. Variante : un·e apprenant·e appelle.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fixer un rendez-vous par téléphone.
B a l'agenda, A a ses propres contraintes (écrites au tableau : pas avant 10 heures, pas le mercredi). Exigez au moins trois heures courantes (half tien, kwart over twee…).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zestien uur vijfenveertig (ou kwart voor vijf).
2. half drie · tien voor half acht (ou twintig over zeven).
3. De vergadering duurt anderhalf uur.
Teaser M26 : Hoeveel kost het? — Duizend tweehonderd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25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 laat is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L’heure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Het is half drie. · Om hoe laat?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001000" y="685800"/>
            <a:ext cx="2834640" cy="283464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737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418320" y="785012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013594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449366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95483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49366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13594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18320" y="3180283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8759266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8276805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8100212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 flipV="1">
            <a:off x="8276805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 flipV="1">
            <a:off x="8759266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0" y="1069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12</a:t>
            </a:r>
            <a:endParaRPr lang="en-US" sz="2170" dirty="0"/>
          </a:p>
        </p:txBody>
      </p:sp>
      <p:sp>
        <p:nvSpPr>
          <p:cNvPr id="19" name="Text 17"/>
          <p:cNvSpPr txBox="1"/>
          <p:nvPr/>
        </p:nvSpPr>
        <p:spPr>
          <a:xfrm>
            <a:off x="999439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3</a:t>
            </a:r>
            <a:endParaRPr lang="en-US" sz="217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7706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6</a:t>
            </a:r>
            <a:endParaRPr lang="en-US" sz="2170" dirty="0"/>
          </a:p>
        </p:txBody>
      </p:sp>
      <p:sp>
        <p:nvSpPr>
          <p:cNvPr id="21" name="Text 19"/>
          <p:cNvSpPr txBox="1"/>
          <p:nvPr/>
        </p:nvSpPr>
        <p:spPr>
          <a:xfrm>
            <a:off x="829360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9</a:t>
            </a:r>
            <a:endParaRPr lang="en-US" sz="2170" dirty="0"/>
          </a:p>
        </p:txBody>
      </p:sp>
      <p:sp>
        <p:nvSpPr>
          <p:cNvPr id="22" name="Shape 20"/>
          <p:cNvSpPr/>
          <p:nvPr/>
        </p:nvSpPr>
        <p:spPr>
          <a:xfrm flipV="1">
            <a:off x="9418320" y="1919705"/>
            <a:ext cx="684513" cy="183415"/>
          </a:xfrm>
          <a:prstGeom prst="line">
            <a:avLst/>
          </a:prstGeom>
          <a:noFill/>
          <a:ln w="125984">
            <a:solidFill>
              <a:srgbClr val="1737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0" y="2103120"/>
            <a:ext cx="914" cy="1105510"/>
          </a:xfrm>
          <a:prstGeom prst="line">
            <a:avLst/>
          </a:prstGeom>
          <a:noFill/>
          <a:ln w="78740">
            <a:solidFill>
              <a:srgbClr val="D9700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04934" y="1989734"/>
            <a:ext cx="226771" cy="226771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0" y="3840480"/>
            <a:ext cx="365760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812280" y="3840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is </a:t>
            </a:r>
            <a:r>
              <a:rPr lang="en-US" sz="22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half drie</a:t>
            </a: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10469880" y="3913632"/>
            <a:ext cx="1188720" cy="640080"/>
          </a:xfrm>
          <a:prstGeom prst="roundRect">
            <a:avLst>
              <a:gd name="adj" fmla="val 1714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69880" y="391363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h 30 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l’heure officielle : </a:t>
            </a:r>
            <a:r>
              <a:rPr lang="en-US" sz="2000" i="1" dirty="0">
                <a:solidFill>
                  <a:schemeClr val="tx1"/>
                </a:solidFill>
              </a:rPr>
              <a:t>14.30 uur = veertien uur dertig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l’heure de tous les jours : </a:t>
            </a:r>
            <a:r>
              <a:rPr lang="en-US" sz="2000" i="1" dirty="0">
                <a:solidFill>
                  <a:schemeClr val="tx1"/>
                </a:solidFill>
              </a:rPr>
              <a:t>Het is kwart over twee.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alenda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Fixer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fixe un rendez-vous : </a:t>
            </a:r>
            <a:r>
              <a:rPr lang="en-US" sz="2000" i="1" dirty="0">
                <a:solidFill>
                  <a:schemeClr val="tx1"/>
                </a:solidFill>
              </a:rPr>
              <a:t>Kan het dinsdag om half tien?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sert partout : horaires de train, agenda, réunions, rendez-vous chez le médecin.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journée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4805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AGENDA · DINSDAG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042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304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07008" y="22585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07008" y="22585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08.30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42316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trein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31520" y="29900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29443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07008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09.00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28986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vergadering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31520" y="36758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675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207008" y="36301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07008" y="36301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12.30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2423160" y="35844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lunch met Sofie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31520" y="43616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207008" y="43159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07008" y="43159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14.30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423160" y="42702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afspraak met meneer Maes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303520" y="155448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68112" y="155448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negen</a:t>
            </a:r>
            <a:r>
              <a:rPr lang="en-US" sz="1700" i="1" dirty="0">
                <a:solidFill>
                  <a:schemeClr val="tx1"/>
                </a:solidFill>
              </a:rPr>
              <a:t> neem ik de trein.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5303520" y="242316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68112" y="242316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negen uur</a:t>
            </a:r>
            <a:r>
              <a:rPr lang="en-US" sz="1700" i="1" dirty="0">
                <a:solidFill>
                  <a:schemeClr val="tx1"/>
                </a:solidFill>
              </a:rPr>
              <a:t> heb ik een vergadering.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5303520" y="329184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68112" y="329184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één</a:t>
            </a:r>
            <a:r>
              <a:rPr lang="en-US" sz="1700" i="1" dirty="0">
                <a:solidFill>
                  <a:schemeClr val="tx1"/>
                </a:solidFill>
              </a:rPr>
              <a:t> eet ik met Sofie.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303520" y="416052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68112" y="416052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drie</a:t>
            </a:r>
            <a:r>
              <a:rPr lang="en-US" sz="1700" i="1" dirty="0">
                <a:solidFill>
                  <a:schemeClr val="tx1"/>
                </a:solidFill>
              </a:rPr>
              <a:t> komt meneer Maes.</a:t>
            </a:r>
            <a:endParaRPr lang="en-US" sz="1700" dirty="0"/>
          </a:p>
        </p:txBody>
      </p:sp>
      <p:pic>
        <p:nvPicPr>
          <p:cNvPr id="3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2377440"/>
            <a:ext cx="777240" cy="77724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8" name="Image 1" descr="think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bulle à une ligne de l’agenda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veut dire </a:t>
            </a:r>
            <a:r>
              <a:rPr lang="en-US" sz="1800" i="1" dirty="0">
                <a:solidFill>
                  <a:schemeClr val="tx1"/>
                </a:solidFill>
              </a:rPr>
              <a:t>half drie</a:t>
            </a:r>
            <a:r>
              <a:rPr lang="en-US" sz="1800" dirty="0">
                <a:solidFill>
                  <a:schemeClr val="tx1"/>
                </a:solidFill>
              </a:rPr>
              <a:t> ? 3 h 30… ou 2 h 30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L’heure officielle : 14.30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08.15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acht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vijftien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378708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07308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07308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12.00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515868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twaalf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208776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37376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37376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14.30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veertien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dertig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38844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67444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67444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21.45</a:t>
            </a:r>
            <a:endParaRPr lang="en-US" sz="4000" dirty="0"/>
          </a:p>
        </p:txBody>
      </p:sp>
      <p:sp>
        <p:nvSpPr>
          <p:cNvPr id="20" name="Text 17"/>
          <p:cNvSpPr txBox="1"/>
          <p:nvPr/>
        </p:nvSpPr>
        <p:spPr>
          <a:xfrm>
            <a:off x="9176004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eenentwintig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vijfenveertig</a:t>
            </a:r>
            <a:endParaRPr lang="en-US" sz="2000" dirty="0"/>
          </a:p>
        </p:txBody>
      </p:sp>
      <p:pic>
        <p:nvPicPr>
          <p:cNvPr id="21" name="Image 0" descr="st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17720"/>
            <a:ext cx="640080" cy="640080"/>
          </a:xfrm>
          <a:prstGeom prst="rect">
            <a:avLst/>
          </a:prstGeom>
        </p:spPr>
      </p:pic>
      <p:pic>
        <p:nvPicPr>
          <p:cNvPr id="22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17720"/>
            <a:ext cx="640080" cy="640080"/>
          </a:xfrm>
          <a:prstGeom prst="rect">
            <a:avLst/>
          </a:prstGeom>
        </p:spPr>
      </p:pic>
      <p:pic>
        <p:nvPicPr>
          <p:cNvPr id="23" name="Image 2" descr="rad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4617720"/>
            <a:ext cx="640080" cy="6400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34640" y="461772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Trains, radio, agendas, e-mails : c’est l’ordre du français (« quatorze heures trente »).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Règle : heure + </a:t>
            </a:r>
            <a:r>
              <a:rPr lang="en-US" sz="1900" b="1" dirty="0">
                <a:solidFill>
                  <a:schemeClr val="bg1"/>
                </a:solidFill>
              </a:rPr>
              <a:t>uur</a:t>
            </a:r>
            <a:r>
              <a:rPr lang="en-US" sz="1900" dirty="0">
                <a:solidFill>
                  <a:schemeClr val="bg1"/>
                </a:solidFill>
              </a:rPr>
              <a:t> + minutes · on écrit </a:t>
            </a:r>
            <a:r>
              <a:rPr lang="en-US" sz="1900" i="1" dirty="0">
                <a:solidFill>
                  <a:schemeClr val="bg1"/>
                </a:solidFill>
              </a:rPr>
              <a:t>14.30</a:t>
            </a:r>
            <a:r>
              <a:rPr lang="en-US" sz="1900" dirty="0">
                <a:solidFill>
                  <a:schemeClr val="bg1"/>
                </a:solidFill>
              </a:rPr>
              <a:t> ou </a:t>
            </a:r>
            <a:r>
              <a:rPr lang="en-US" sz="1900" i="1" dirty="0">
                <a:solidFill>
                  <a:schemeClr val="bg1"/>
                </a:solidFill>
              </a:rPr>
              <a:t>14:30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Heures pleines : Het is drie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686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17830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21671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4482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780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482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671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13578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10466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326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 flipV="1">
            <a:off x="10466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 flipV="1">
            <a:off x="13578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5087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574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783080" y="2164373"/>
            <a:ext cx="228600" cy="395947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17830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7099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één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33832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76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46817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9628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926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628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6817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976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38724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35612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34472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35612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 flipV="1">
            <a:off x="38724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0233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34747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4297680" y="2560320"/>
            <a:ext cx="457200" cy="914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42976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245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0632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drie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7" name="Shape 44"/>
          <p:cNvSpPr/>
          <p:nvPr/>
        </p:nvSpPr>
        <p:spPr>
          <a:xfrm>
            <a:off x="58978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68122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71963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74774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5072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4774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1963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8122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>
            <a:off x="63870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60758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59618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 flipV="1">
            <a:off x="60758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63870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5379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70866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65379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9893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 flipV="1">
            <a:off x="6812280" y="2103120"/>
            <a:ext cx="914" cy="457200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68122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7391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5778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twaalf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68" name="Shape 65"/>
          <p:cNvSpPr/>
          <p:nvPr/>
        </p:nvSpPr>
        <p:spPr>
          <a:xfrm>
            <a:off x="8183880" y="1645920"/>
            <a:ext cx="3456432" cy="2514600"/>
          </a:xfrm>
          <a:prstGeom prst="roundRect">
            <a:avLst>
              <a:gd name="adj" fmla="val 363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8366760" y="173736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Hoe laat is het?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Quelle heure est-il 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Om hoe laat…?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quelle heure… ? (BE)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43891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77240" y="43891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uur</a:t>
            </a:r>
            <a:r>
              <a:rPr lang="en-US" sz="1600" dirty="0">
                <a:solidFill>
                  <a:schemeClr val="tx1"/>
                </a:solidFill>
              </a:rPr>
              <a:t> reste au singulier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drie uren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twaalf uur ’s middags</a:t>
            </a:r>
            <a:r>
              <a:rPr lang="en-US" sz="1600" dirty="0">
                <a:solidFill>
                  <a:schemeClr val="tx1"/>
                </a:solidFill>
              </a:rPr>
              <a:t> (midi) · </a:t>
            </a:r>
            <a:r>
              <a:rPr lang="en-US" sz="1600" i="1" dirty="0">
                <a:solidFill>
                  <a:schemeClr val="tx1"/>
                </a:solidFill>
              </a:rPr>
              <a:t>middernacht</a:t>
            </a:r>
            <a:r>
              <a:rPr lang="en-US" sz="1600" dirty="0">
                <a:solidFill>
                  <a:schemeClr val="tx1"/>
                </a:solidFill>
              </a:rPr>
              <a:t> (minuit)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één uur</a:t>
            </a:r>
            <a:r>
              <a:rPr lang="en-US" sz="1600" dirty="0">
                <a:solidFill>
                  <a:schemeClr val="tx1"/>
                </a:solidFill>
              </a:rPr>
              <a:t> (1 h, avec accents) ≠ </a:t>
            </a:r>
            <a:r>
              <a:rPr lang="en-US" sz="1600" i="1" dirty="0">
                <a:solidFill>
                  <a:schemeClr val="tx1"/>
                </a:solidFill>
              </a:rPr>
              <a:t>een uur</a:t>
            </a:r>
            <a:r>
              <a:rPr lang="en-US" sz="1600" dirty="0">
                <a:solidFill>
                  <a:schemeClr val="tx1"/>
                </a:solidFill>
              </a:rPr>
              <a:t> (une heure, durée)</a:t>
            </a:r>
            <a:endParaRPr lang="en-US" sz="1600" dirty="0"/>
          </a:p>
        </p:txBody>
      </p:sp>
      <p:sp>
        <p:nvSpPr>
          <p:cNvPr id="72" name="Shape 6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 heure courante, on compte de 1 à 12 : 15 h = </a:t>
            </a:r>
            <a:r>
              <a:rPr lang="en-US" sz="1800" i="1" dirty="0">
                <a:solidFill>
                  <a:schemeClr val="bg1"/>
                </a:solidFill>
              </a:rPr>
              <a:t>drie uur ’s namiddags</a:t>
            </a:r>
            <a:r>
              <a:rPr lang="en-US" sz="1800" dirty="0">
                <a:solidFill>
                  <a:schemeClr val="bg1"/>
                </a:solidFill>
              </a:rPr>
              <a:t> (NL : </a:t>
            </a:r>
            <a:r>
              <a:rPr lang="en-US" sz="1800" i="1" dirty="0">
                <a:solidFill>
                  <a:schemeClr val="bg1"/>
                </a:solidFill>
              </a:rPr>
              <a:t>’s middags</a:t>
            </a:r>
            <a:r>
              <a:rPr lang="en-US" sz="1800" dirty="0">
                <a:solidFill>
                  <a:schemeClr val="bg1"/>
                </a:solidFill>
              </a:rPr>
              <a:t>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half drie = 2 h 30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deux heures et demie » → ✗ </a:t>
            </a:r>
            <a:r>
              <a:rPr lang="en-US" sz="2200" i="1" strike="sngStrike" dirty="0">
                <a:solidFill>
                  <a:schemeClr val="accent6"/>
                </a:solidFill>
              </a:rPr>
              <a:t>half twee</a:t>
            </a:r>
            <a:r>
              <a:rPr lang="en-US" sz="2200" dirty="0">
                <a:solidFill>
                  <a:schemeClr val="tx1"/>
                </a:solidFill>
              </a:rPr>
              <a:t> → ✓ </a:t>
            </a:r>
            <a:r>
              <a:rPr lang="en-US" sz="2200" b="1" i="1" dirty="0">
                <a:solidFill>
                  <a:schemeClr val="tx1"/>
                </a:solidFill>
              </a:rPr>
              <a:t>half drie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14400" y="2926080"/>
            <a:ext cx="65836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2926080"/>
            <a:ext cx="3291840" cy="6400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 uur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 uur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206240" y="2880360"/>
            <a:ext cx="914" cy="73152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94560" y="363931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half drie</a:t>
            </a:r>
            <a:r>
              <a:rPr lang="en-US" sz="1600" dirty="0">
                <a:solidFill>
                  <a:schemeClr val="tx1"/>
                </a:solidFill>
              </a:rPr>
              <a:t> = à mi-chemin vers 3 h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55280" y="269748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8321040" y="272308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8474659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858711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99018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8711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74659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21040" y="334121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H="1">
            <a:off x="8150962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802645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H="1">
            <a:off x="7980883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H="1" flipV="1">
            <a:off x="802645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 flipV="1">
            <a:off x="8150962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H="1">
            <a:off x="8144391" y="3063240"/>
            <a:ext cx="176649" cy="47333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21040" y="306324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1779" y="303397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82396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negen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 h 30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955280" y="356616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321040" y="359176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474659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858711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9018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58711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474659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321040" y="420989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8150962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802645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>
            <a:off x="7980883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802645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H="1" flipV="1">
            <a:off x="8150962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8321040" y="3755271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321040" y="393192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291779" y="390265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823960" y="3566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één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12 h 30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7955280" y="443484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8321040" y="446044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4659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858711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599018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58711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474659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321040" y="507857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8150962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802645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7980883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802645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 flipV="1">
            <a:off x="8150962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>
            <a:off x="8273707" y="4800600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321040" y="480060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291779" y="477133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823960" y="4434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zeven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 h 30</a:t>
            </a:r>
            <a:endParaRPr lang="en-US" sz="1600" dirty="0"/>
          </a:p>
        </p:txBody>
      </p:sp>
      <p:sp>
        <p:nvSpPr>
          <p:cNvPr id="65" name="Text 62"/>
          <p:cNvSpPr txBox="1"/>
          <p:nvPr/>
        </p:nvSpPr>
        <p:spPr>
          <a:xfrm>
            <a:off x="777240" y="4160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Astuce : </a:t>
            </a:r>
            <a:r>
              <a:rPr lang="en-US" sz="1900" b="1" i="1" dirty="0">
                <a:solidFill>
                  <a:schemeClr val="accent6"/>
                </a:solidFill>
              </a:rPr>
              <a:t>half</a:t>
            </a:r>
            <a:r>
              <a:rPr lang="en-US" sz="1900" b="1" dirty="0">
                <a:solidFill>
                  <a:schemeClr val="accent6"/>
                </a:solidFill>
              </a:rPr>
              <a:t> + l’heure </a:t>
            </a:r>
            <a:r>
              <a:rPr lang="en-US" sz="1900" b="1" dirty="0">
                <a:solidFill>
                  <a:schemeClr val="accent6"/>
                </a:solidFill>
              </a:rPr>
              <a:t>qui arrive</a:t>
            </a:r>
            <a:r>
              <a:rPr lang="en-US" sz="1900" b="1" dirty="0">
                <a:solidFill>
                  <a:schemeClr val="accent6"/>
                </a:solidFill>
              </a:rPr>
              <a:t>.</a:t>
            </a:r>
            <a:endParaRPr lang="en-US" sz="1900" dirty="0"/>
          </a:p>
        </p:txBody>
      </p:sp>
      <p:sp>
        <p:nvSpPr>
          <p:cNvPr id="66" name="Shape 6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l’allemand </a:t>
            </a:r>
            <a:r>
              <a:rPr lang="en-US" sz="1800" i="1" dirty="0">
                <a:solidFill>
                  <a:schemeClr val="bg1"/>
                </a:solidFill>
              </a:rPr>
              <a:t>halb drei</a:t>
            </a:r>
            <a:r>
              <a:rPr lang="en-US" sz="1800" dirty="0">
                <a:solidFill>
                  <a:schemeClr val="bg1"/>
                </a:solidFill>
              </a:rPr>
              <a:t> : on pense à l’heure suivante avant de parler.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kwart over, kwart voor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3778" y="2015338"/>
            <a:ext cx="2187245" cy="2187245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A6FB0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05740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255666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92214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6082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2214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5666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150464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110000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95189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110000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150464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8308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21" name="Text 18"/>
          <p:cNvSpPr txBox="1"/>
          <p:nvPr/>
        </p:nvSpPr>
        <p:spPr>
          <a:xfrm>
            <a:off x="249631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22" name="Text 19"/>
          <p:cNvSpPr txBox="1"/>
          <p:nvPr/>
        </p:nvSpPr>
        <p:spPr>
          <a:xfrm>
            <a:off x="178308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24" name="Shape 21"/>
          <p:cNvSpPr/>
          <p:nvPr/>
        </p:nvSpPr>
        <p:spPr>
          <a:xfrm>
            <a:off x="2057400" y="3108960"/>
            <a:ext cx="589275" cy="77580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57400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96230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38328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2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trois heures et quart »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621792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53796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33058" y="2015338"/>
            <a:ext cx="2187245" cy="2187245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D9700F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772668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22594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59142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3010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142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2594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2668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717392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676928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662117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676928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717392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4523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44" name="Text 41"/>
          <p:cNvSpPr txBox="1"/>
          <p:nvPr/>
        </p:nvSpPr>
        <p:spPr>
          <a:xfrm>
            <a:off x="816559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45" name="Text 42"/>
          <p:cNvSpPr txBox="1"/>
          <p:nvPr/>
        </p:nvSpPr>
        <p:spPr>
          <a:xfrm>
            <a:off x="745236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46" name="Text 43"/>
          <p:cNvSpPr txBox="1"/>
          <p:nvPr/>
        </p:nvSpPr>
        <p:spPr>
          <a:xfrm>
            <a:off x="673912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47" name="Shape 44"/>
          <p:cNvSpPr/>
          <p:nvPr/>
        </p:nvSpPr>
        <p:spPr>
          <a:xfrm>
            <a:off x="7726680" y="3108960"/>
            <a:ext cx="549117" cy="227452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H="1">
            <a:off x="6799478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63158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56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vier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quatre heures moins le quart »</a:t>
            </a:r>
            <a:endParaRPr lang="en-US" sz="2100" dirty="0"/>
          </a:p>
        </p:txBody>
      </p:sp>
      <p:sp>
        <p:nvSpPr>
          <p:cNvPr id="51" name="Shape 48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bg1"/>
                </a:solidFill>
              </a:rPr>
              <a:t>over</a:t>
            </a:r>
            <a:r>
              <a:rPr lang="en-US" sz="2000" dirty="0">
                <a:solidFill>
                  <a:schemeClr val="bg1"/>
                </a:solidFill>
              </a:rPr>
              <a:t> = après · </a:t>
            </a:r>
            <a:r>
              <a:rPr lang="en-US" sz="2000" i="1" dirty="0">
                <a:solidFill>
                  <a:schemeClr val="bg1"/>
                </a:solidFill>
              </a:rPr>
              <a:t>voor</a:t>
            </a:r>
            <a:r>
              <a:rPr lang="en-US" sz="2000" dirty="0">
                <a:solidFill>
                  <a:schemeClr val="bg1"/>
                </a:solidFill>
              </a:rPr>
              <a:t> = avant — comme en français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749040" cy="37490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697480" y="1777136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348477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4061121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122115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61121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477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97480" y="4945075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82582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1187735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954176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1187735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82582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231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12</a:t>
            </a:r>
            <a:endParaRPr lang="en-US" sz="2870" dirty="0"/>
          </a:p>
        </p:txBody>
      </p:sp>
      <p:sp>
        <p:nvSpPr>
          <p:cNvPr id="23" name="Text 20"/>
          <p:cNvSpPr txBox="1"/>
          <p:nvPr/>
        </p:nvSpPr>
        <p:spPr>
          <a:xfrm>
            <a:off x="3547872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3</a:t>
            </a:r>
            <a:endParaRPr lang="en-US" sz="2870" dirty="0"/>
          </a:p>
        </p:txBody>
      </p:sp>
      <p:sp>
        <p:nvSpPr>
          <p:cNvPr id="24" name="Text 21"/>
          <p:cNvSpPr txBox="1"/>
          <p:nvPr/>
        </p:nvSpPr>
        <p:spPr>
          <a:xfrm>
            <a:off x="2423160" y="4462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6</a:t>
            </a:r>
            <a:endParaRPr lang="en-US" sz="2870" dirty="0"/>
          </a:p>
        </p:txBody>
      </p:sp>
      <p:sp>
        <p:nvSpPr>
          <p:cNvPr id="25" name="Text 22"/>
          <p:cNvSpPr txBox="1"/>
          <p:nvPr/>
        </p:nvSpPr>
        <p:spPr>
          <a:xfrm>
            <a:off x="1298448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9</a:t>
            </a:r>
            <a:endParaRPr lang="en-US" sz="2870" dirty="0"/>
          </a:p>
        </p:txBody>
      </p:sp>
      <p:sp>
        <p:nvSpPr>
          <p:cNvPr id="26" name="Shape 23"/>
          <p:cNvSpPr/>
          <p:nvPr/>
        </p:nvSpPr>
        <p:spPr>
          <a:xfrm flipV="1">
            <a:off x="2697480" y="3051810"/>
            <a:ext cx="811691" cy="468630"/>
          </a:xfrm>
          <a:prstGeom prst="line">
            <a:avLst/>
          </a:prstGeom>
          <a:noFill/>
          <a:ln w="16662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697480" y="2058314"/>
            <a:ext cx="914" cy="1462126"/>
          </a:xfrm>
          <a:prstGeom prst="line">
            <a:avLst/>
          </a:prstGeom>
          <a:noFill/>
          <a:ln w="10414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547518" y="3370478"/>
            <a:ext cx="299923" cy="299923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29200" y="1645920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138928" y="1719072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468112" y="1742115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606369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707581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18292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581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06369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468112" y="2298436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5315041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5202986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5161971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5202986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5315041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5468112" y="1978696"/>
            <a:ext cx="149171" cy="69560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5468112" y="1919874"/>
            <a:ext cx="222364" cy="128382"/>
          </a:xfrm>
          <a:prstGeom prst="line">
            <a:avLst/>
          </a:prstGeom>
          <a:noFill/>
          <a:ln w="22225">
            <a:solidFill>
              <a:srgbClr val="2E7D4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441777" y="2021921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943600" y="164592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2 h 10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7040880" y="164592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twee</a:t>
            </a:r>
            <a:endParaRPr lang="en-US" sz="2100" dirty="0"/>
          </a:p>
        </p:txBody>
      </p:sp>
      <p:sp>
        <p:nvSpPr>
          <p:cNvPr id="48" name="tag"/>
          <p:cNvSpPr/>
          <p:nvPr/>
        </p:nvSpPr>
        <p:spPr>
          <a:xfrm>
            <a:off x="10424160" y="1892808"/>
            <a:ext cx="126674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0–15 min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029200" y="2578608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38928" y="2651760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468112" y="2674803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606369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5707581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718292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07581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5606369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468112" y="3231124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5315041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>
            <a:off x="5202986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>
            <a:off x="5161971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 flipV="1">
            <a:off x="5202986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H="1" flipV="1">
            <a:off x="5315041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68112" y="2924650"/>
            <a:ext cx="154666" cy="56294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468112" y="2980944"/>
            <a:ext cx="222364" cy="128382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441777" y="2954609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43600" y="257860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 h 20</a:t>
            </a:r>
            <a:endParaRPr lang="en-US" sz="1700" dirty="0"/>
          </a:p>
        </p:txBody>
      </p:sp>
      <p:sp>
        <p:nvSpPr>
          <p:cNvPr id="67" name="Text 64"/>
          <p:cNvSpPr txBox="1"/>
          <p:nvPr/>
        </p:nvSpPr>
        <p:spPr>
          <a:xfrm>
            <a:off x="7040880" y="2578608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68" name="tag"/>
          <p:cNvSpPr/>
          <p:nvPr/>
        </p:nvSpPr>
        <p:spPr>
          <a:xfrm>
            <a:off x="10424160" y="2825496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15–30 min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5029200" y="3511296"/>
            <a:ext cx="6611112" cy="804672"/>
          </a:xfrm>
          <a:prstGeom prst="roundRect">
            <a:avLst>
              <a:gd name="adj" fmla="val 11364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138928" y="3584448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5468112" y="3607491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V="1">
            <a:off x="5606369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5707581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718292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707581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606369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5468112" y="4163812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H="1">
            <a:off x="5315041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 flipH="1">
            <a:off x="5202986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H="1">
            <a:off x="5161971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H="1" flipV="1">
            <a:off x="5202986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H="1" flipV="1">
            <a:off x="5315041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V="1">
            <a:off x="5468112" y="3885051"/>
            <a:ext cx="162091" cy="28581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 flipH="1">
            <a:off x="5245748" y="3913632"/>
            <a:ext cx="222364" cy="128382"/>
          </a:xfrm>
          <a:prstGeom prst="line">
            <a:avLst/>
          </a:prstGeom>
          <a:noFill/>
          <a:ln w="22225">
            <a:solidFill>
              <a:srgbClr val="6E4A9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441777" y="3887297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943600" y="3511296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2 h 40</a:t>
            </a:r>
            <a:endParaRPr lang="en-US" sz="1700" dirty="0"/>
          </a:p>
        </p:txBody>
      </p:sp>
      <p:sp>
        <p:nvSpPr>
          <p:cNvPr id="87" name="Text 84"/>
          <p:cNvSpPr txBox="1"/>
          <p:nvPr/>
        </p:nvSpPr>
        <p:spPr>
          <a:xfrm>
            <a:off x="7040880" y="3511296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88" name="tag"/>
          <p:cNvSpPr/>
          <p:nvPr/>
        </p:nvSpPr>
        <p:spPr>
          <a:xfrm>
            <a:off x="10424160" y="3758184"/>
            <a:ext cx="136565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30–45 min</a:t>
            </a:r>
            <a:endParaRPr lang="en-US" sz="1100" dirty="0"/>
          </a:p>
        </p:txBody>
      </p:sp>
      <p:sp>
        <p:nvSpPr>
          <p:cNvPr id="89" name="Shape 86"/>
          <p:cNvSpPr/>
          <p:nvPr/>
        </p:nvSpPr>
        <p:spPr>
          <a:xfrm>
            <a:off x="5029200" y="4443984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5138928" y="4517136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V="1">
            <a:off x="5468112" y="4540179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5606369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5707581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5718292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707581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5606369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5468112" y="5096500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H="1">
            <a:off x="5315041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H="1">
            <a:off x="5202986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H="1">
            <a:off x="5161971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 flipH="1" flipV="1">
            <a:off x="5202986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 flipH="1" flipV="1">
            <a:off x="5315041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 flipV="1">
            <a:off x="5468112" y="4831975"/>
            <a:ext cx="163966" cy="14345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 flipH="1" flipV="1">
            <a:off x="5245748" y="4717938"/>
            <a:ext cx="222364" cy="128382"/>
          </a:xfrm>
          <a:prstGeom prst="line">
            <a:avLst/>
          </a:prstGeom>
          <a:noFill/>
          <a:ln w="22225">
            <a:solidFill>
              <a:srgbClr val="2A6FB0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5441777" y="4819985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5943600" y="444398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 h 50</a:t>
            </a:r>
            <a:endParaRPr lang="en-US" sz="1700" dirty="0"/>
          </a:p>
        </p:txBody>
      </p:sp>
      <p:sp>
        <p:nvSpPr>
          <p:cNvPr id="107" name="Text 104"/>
          <p:cNvSpPr txBox="1"/>
          <p:nvPr/>
        </p:nvSpPr>
        <p:spPr>
          <a:xfrm>
            <a:off x="7040880" y="4443984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108" name="tag"/>
          <p:cNvSpPr/>
          <p:nvPr/>
        </p:nvSpPr>
        <p:spPr>
          <a:xfrm>
            <a:off x="10424160" y="4690872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45–60 min</a:t>
            </a:r>
            <a:endParaRPr lang="en-US" sz="1100" dirty="0"/>
          </a:p>
        </p:txBody>
      </p:sp>
      <p:sp>
        <p:nvSpPr>
          <p:cNvPr id="109" name="Text 106"/>
          <p:cNvSpPr txBox="1"/>
          <p:nvPr/>
        </p:nvSpPr>
        <p:spPr>
          <a:xfrm>
            <a:off x="548640" y="5532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Repères : l’heure pleine, </a:t>
            </a:r>
            <a:r>
              <a:rPr lang="en-US" sz="1500" i="1" dirty="0">
                <a:solidFill>
                  <a:schemeClr val="accent5"/>
                </a:solidFill>
              </a:rPr>
              <a:t>kwart</a:t>
            </a:r>
            <a:r>
              <a:rPr lang="en-US" sz="1500" i="1" dirty="0">
                <a:solidFill>
                  <a:schemeClr val="accent5"/>
                </a:solidFill>
              </a:rPr>
              <a:t>, </a:t>
            </a:r>
            <a:r>
              <a:rPr lang="en-US" sz="1500" i="1" dirty="0">
                <a:solidFill>
                  <a:schemeClr val="accent5"/>
                </a:solidFill>
              </a:rPr>
              <a:t>half</a:t>
            </a:r>
            <a:endParaRPr lang="en-US" sz="1500" dirty="0"/>
          </a:p>
        </p:txBody>
      </p:sp>
      <p:sp>
        <p:nvSpPr>
          <p:cNvPr id="110" name="Shape 107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 h 20 = aussi </a:t>
            </a:r>
            <a:r>
              <a:rPr lang="en-US" sz="1600" i="1" dirty="0">
                <a:solidFill>
                  <a:schemeClr val="bg1"/>
                </a:solidFill>
              </a:rPr>
              <a:t>twintig over twee</a:t>
            </a:r>
            <a:r>
              <a:rPr lang="en-US" sz="1600" dirty="0">
                <a:solidFill>
                  <a:schemeClr val="bg1"/>
                </a:solidFill>
              </a:rPr>
              <a:t> · 2 h 40 = aussi </a:t>
            </a:r>
            <a:r>
              <a:rPr lang="en-US" sz="1600" i="1" dirty="0">
                <a:solidFill>
                  <a:schemeClr val="bg1"/>
                </a:solidFill>
              </a:rPr>
              <a:t>twintig voor drie</a:t>
            </a:r>
            <a:r>
              <a:rPr lang="en-US" sz="1600" dirty="0">
                <a:solidFill>
                  <a:schemeClr val="bg1"/>
                </a:solidFill>
              </a:rPr>
              <a:t> (fréquent en Belgique)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Officiel ou courant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AFFICHAGE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560320" y="1554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OFFICIELLE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5448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COURANTE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38528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938528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09.00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560320" y="1938528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97480" y="1938528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 uur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949440" y="1938528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86600" y="193852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negen uur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65176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2560320" y="2651760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697480" y="2651760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dertien uur vijftien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949440" y="2651760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86600" y="265176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548640" y="3364992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364992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16.30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560320" y="3364992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697480" y="3364992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zestien uur dertig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949440" y="3364992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86600" y="336499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half vijf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548640" y="4078224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4078224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18.45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560320" y="4078224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97480" y="4078224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achttien uur vijfenveertig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4078224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86600" y="407822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voor zeven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548640" y="4791456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91456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2560320" y="4791456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697480" y="4791456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twintig uur vijfentwintig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6949440" y="4791456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86600" y="479145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vijf voor half negen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Méthode : ① je ramène à 12 h (16 → 4) · ② je cherche la zone · ③ </a:t>
            </a:r>
            <a:r>
              <a:rPr lang="en-US" sz="1700" i="1" dirty="0">
                <a:solidFill>
                  <a:schemeClr val="bg1"/>
                </a:solidFill>
              </a:rPr>
              <a:t>half</a:t>
            </a:r>
            <a:r>
              <a:rPr lang="en-US" sz="1700" dirty="0">
                <a:solidFill>
                  <a:schemeClr val="bg1"/>
                </a:solidFill>
              </a:rPr>
              <a:t> → l’heure suivante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moments de la journée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sun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2471" y="173736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ochtends · ’s morgens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matin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33489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FF6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21" y="173736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404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middags</a:t>
            </a:r>
            <a:endParaRPr lang="en-US" sz="1900" dirty="0"/>
          </a:p>
        </p:txBody>
      </p:sp>
      <p:sp>
        <p:nvSpPr>
          <p:cNvPr id="12" name="Text 7"/>
          <p:cNvSpPr txBox="1"/>
          <p:nvPr/>
        </p:nvSpPr>
        <p:spPr>
          <a:xfrm>
            <a:off x="34404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midi / l’après-midi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1493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6E3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suns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171" y="173736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407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4"/>
                </a:solidFill>
              </a:rPr>
              <a:t>’s avonds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62407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soir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89496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crescent mo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521" y="173736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0411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2"/>
                </a:solidFill>
              </a:rPr>
              <a:t>’s nachts</a:t>
            </a:r>
            <a:endParaRPr lang="en-US" sz="1900" dirty="0"/>
          </a:p>
        </p:txBody>
      </p:sp>
      <p:sp>
        <p:nvSpPr>
          <p:cNvPr id="20" name="Text 13"/>
          <p:cNvSpPr txBox="1"/>
          <p:nvPr/>
        </p:nvSpPr>
        <p:spPr>
          <a:xfrm>
            <a:off x="90411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nuit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548640" y="4114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731520" y="4251960"/>
            <a:ext cx="182880" cy="362102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914400" y="4251960"/>
            <a:ext cx="182880" cy="362102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1097280" y="4251960"/>
            <a:ext cx="182880" cy="36210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31520" y="4251960"/>
            <a:ext cx="548640" cy="36210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463040" y="4114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Belgique :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voor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(le matin) ·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na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(l’après-midi) — </a:t>
            </a:r>
            <a:r>
              <a:rPr lang="en-US" sz="1700" i="1" dirty="0">
                <a:solidFill>
                  <a:schemeClr val="tx1"/>
                </a:solidFill>
              </a:rPr>
              <a:t>Om drie uur ’s namiddags.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Aujourd’hui :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ochtend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middag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avond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nacht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’s</a:t>
            </a:r>
            <a:r>
              <a:rPr lang="en-US" sz="1700" dirty="0">
                <a:solidFill>
                  <a:schemeClr val="bg1"/>
                </a:solidFill>
              </a:rPr>
              <a:t> remplace un ancien </a:t>
            </a:r>
            <a:r>
              <a:rPr lang="en-US" sz="1700" i="1" dirty="0">
                <a:solidFill>
                  <a:schemeClr val="bg1"/>
                </a:solidFill>
              </a:rPr>
              <a:t>des</a:t>
            </a:r>
            <a:r>
              <a:rPr lang="en-US" sz="1700" dirty="0">
                <a:solidFill>
                  <a:schemeClr val="bg1"/>
                </a:solidFill>
              </a:rPr>
              <a:t> : il se prononce « s » (</a:t>
            </a:r>
            <a:r>
              <a:rPr lang="en-US" sz="1700" i="1" dirty="0">
                <a:solidFill>
                  <a:schemeClr val="bg1"/>
                </a:solidFill>
              </a:rPr>
              <a:t>’s avonds</a:t>
            </a:r>
            <a:r>
              <a:rPr lang="en-US" sz="1700" dirty="0">
                <a:solidFill>
                  <a:schemeClr val="bg1"/>
                </a:solidFill>
              </a:rPr>
              <a:t> ≈ « savonts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à, pendant, et demie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à</a:t>
            </a:r>
            <a:r>
              <a:rPr lang="en-US" sz="1700" dirty="0">
                <a:solidFill>
                  <a:schemeClr val="tx1"/>
                </a:solidFill>
              </a:rPr>
              <a:t> trois heures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1031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op drie uur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6092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1396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1396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om</a:t>
            </a:r>
            <a:r>
              <a:rPr lang="en-US" sz="1800" i="1" dirty="0">
                <a:solidFill>
                  <a:schemeClr val="tx1"/>
                </a:solidFill>
              </a:rPr>
              <a:t> drie uur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deux heures » (durée)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889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twee uren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6092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8254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8254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twee uur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heure et demie » (durée)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34747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uur en half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6092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5112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5112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anderhalf</a:t>
            </a:r>
            <a:r>
              <a:rPr lang="en-US" sz="1800" i="1" dirty="0">
                <a:solidFill>
                  <a:schemeClr val="tx1"/>
                </a:solidFill>
              </a:rPr>
              <a:t> uur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 quart d’heure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41605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een kwartuur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736092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1970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1970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kwartier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À quelle heure ?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48463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Op welk uur?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36092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772400" y="48828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09560" y="48828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laat? · Om hoe laat?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om</a:t>
            </a:r>
            <a:r>
              <a:rPr lang="en-US" sz="1800" dirty="0">
                <a:solidFill>
                  <a:schemeClr val="bg1"/>
                </a:solidFill>
              </a:rPr>
              <a:t> + heure · </a:t>
            </a:r>
            <a:r>
              <a:rPr lang="en-US" sz="1800" i="1" dirty="0">
                <a:solidFill>
                  <a:schemeClr val="bg1"/>
                </a:solidFill>
              </a:rPr>
              <a:t>op</a:t>
            </a:r>
            <a:r>
              <a:rPr lang="en-US" sz="1800" dirty="0">
                <a:solidFill>
                  <a:schemeClr val="bg1"/>
                </a:solidFill>
              </a:rPr>
              <a:t> + jour (</a:t>
            </a:r>
            <a:r>
              <a:rPr lang="en-US" sz="1800" i="1" dirty="0">
                <a:solidFill>
                  <a:schemeClr val="bg1"/>
                </a:solidFill>
              </a:rPr>
              <a:t>op maandag</a:t>
            </a:r>
            <a:r>
              <a:rPr lang="en-US" sz="1800" dirty="0">
                <a:solidFill>
                  <a:schemeClr val="bg1"/>
                </a:solidFill>
              </a:rPr>
              <a:t>, M18) · </a:t>
            </a:r>
            <a:r>
              <a:rPr lang="en-US" sz="1800" i="1" dirty="0">
                <a:solidFill>
                  <a:schemeClr val="bg1"/>
                </a:solidFill>
              </a:rPr>
              <a:t>een halfuur</a:t>
            </a:r>
            <a:r>
              <a:rPr lang="en-US" sz="1800" dirty="0">
                <a:solidFill>
                  <a:schemeClr val="bg1"/>
                </a:solidFill>
              </a:rPr>
              <a:t> = une demi-heure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Fixer un rendez-vous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25880" y="1554480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490472" y="1554480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Wanneer past het u?</a:t>
            </a:r>
            <a:endParaRPr lang="en-US" sz="1600" dirty="0"/>
          </a:p>
        </p:txBody>
      </p:sp>
      <p:pic>
        <p:nvPicPr>
          <p:cNvPr id="8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395728"/>
            <a:ext cx="685800" cy="6858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83080" y="2395728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47672" y="2395728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Kan het dinsdag om </a:t>
            </a:r>
            <a:r>
              <a:rPr lang="en-US" sz="1600" b="1" i="1" dirty="0">
                <a:solidFill>
                  <a:schemeClr val="tx1"/>
                </a:solidFill>
              </a:rPr>
              <a:t>tien uur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1" name="Image 2" descr="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36976"/>
            <a:ext cx="685800" cy="68580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325880" y="3236976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490472" y="3236976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Om tien uur heb ik al een afspraak. Kan het om </a:t>
            </a:r>
            <a:r>
              <a:rPr lang="en-US" sz="1600" b="1" i="1" dirty="0">
                <a:solidFill>
                  <a:schemeClr val="tx1"/>
                </a:solidFill>
              </a:rPr>
              <a:t>half twaalf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4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4078224"/>
            <a:ext cx="685800" cy="6858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1783080" y="4078224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1947672" y="4078224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Prima. Tot dinsdag om half twaalf!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503920" y="1554480"/>
            <a:ext cx="3136392" cy="324612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1"/>
          <p:cNvSpPr/>
          <p:nvPr/>
        </p:nvSpPr>
        <p:spPr>
          <a:xfrm>
            <a:off x="8503920" y="1554480"/>
            <a:ext cx="313639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864108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DINSDAG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864108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09.00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60120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8641080" y="26334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10.00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9509760" y="2679192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601200" y="26334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afspraak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8641080" y="3163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11.00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9601200" y="31638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8641080" y="369417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11.30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9509760" y="3739896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3">
              <a:alpha val="2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601200" y="369417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Maes ✓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8641080" y="42245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12.30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9509760" y="4270248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01200" y="42245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lunch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3152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BANQUE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van negen tot vijf · tussen twee en drie · rond tien uur · precies om acht uur · Ik ben te laat · Ik ben op tijd · Ik ben te vroeg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" y="1691640"/>
            <a:ext cx="3017520" cy="3017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148840" y="1797253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2782519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3246405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5498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405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82519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148840" y="4347058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447267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933679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745693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933679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447267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74520" y="21122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12</a:t>
            </a:r>
            <a:endParaRPr lang="en-US" sz="2310" dirty="0"/>
          </a:p>
        </p:txBody>
      </p:sp>
      <p:sp>
        <p:nvSpPr>
          <p:cNvPr id="23" name="Text 20"/>
          <p:cNvSpPr txBox="1"/>
          <p:nvPr/>
        </p:nvSpPr>
        <p:spPr>
          <a:xfrm>
            <a:off x="2779776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3</a:t>
            </a:r>
            <a:endParaRPr lang="en-US" sz="2310" dirty="0"/>
          </a:p>
        </p:txBody>
      </p:sp>
      <p:sp>
        <p:nvSpPr>
          <p:cNvPr id="24" name="Text 21"/>
          <p:cNvSpPr txBox="1"/>
          <p:nvPr/>
        </p:nvSpPr>
        <p:spPr>
          <a:xfrm>
            <a:off x="1874520" y="39227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6</a:t>
            </a:r>
            <a:endParaRPr lang="en-US" sz="2310" dirty="0"/>
          </a:p>
        </p:txBody>
      </p:sp>
      <p:sp>
        <p:nvSpPr>
          <p:cNvPr id="25" name="Text 22"/>
          <p:cNvSpPr txBox="1"/>
          <p:nvPr/>
        </p:nvSpPr>
        <p:spPr>
          <a:xfrm>
            <a:off x="969264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9</a:t>
            </a:r>
            <a:endParaRPr lang="en-US" sz="2310" dirty="0"/>
          </a:p>
        </p:txBody>
      </p:sp>
      <p:sp>
        <p:nvSpPr>
          <p:cNvPr id="26" name="Shape 23"/>
          <p:cNvSpPr/>
          <p:nvPr/>
        </p:nvSpPr>
        <p:spPr>
          <a:xfrm flipV="1">
            <a:off x="2148840" y="2823210"/>
            <a:ext cx="653312" cy="377190"/>
          </a:xfrm>
          <a:prstGeom prst="line">
            <a:avLst/>
          </a:prstGeom>
          <a:noFill/>
          <a:ln w="134112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148840" y="2023567"/>
            <a:ext cx="914" cy="1176833"/>
          </a:xfrm>
          <a:prstGeom prst="line">
            <a:avLst/>
          </a:prstGeom>
          <a:noFill/>
          <a:ln w="8382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028139" y="3079699"/>
            <a:ext cx="241402" cy="24140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1353312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353312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 half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157984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57984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 half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962656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62656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023360" y="1600200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23360" y="160020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6002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Officiel</a:t>
            </a:r>
            <a:endParaRPr lang="en-US" sz="1900" dirty="0"/>
          </a:p>
        </p:txBody>
      </p:sp>
      <p:sp>
        <p:nvSpPr>
          <p:cNvPr id="40" name="Text 37"/>
          <p:cNvSpPr txBox="1"/>
          <p:nvPr/>
        </p:nvSpPr>
        <p:spPr>
          <a:xfrm>
            <a:off x="6035040" y="16002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heure + </a:t>
            </a:r>
            <a:r>
              <a:rPr lang="en-US" sz="1700" i="1" dirty="0">
                <a:solidFill>
                  <a:schemeClr val="tx1"/>
                </a:solidFill>
              </a:rPr>
              <a:t>uur</a:t>
            </a:r>
            <a:r>
              <a:rPr lang="en-US" sz="1700" dirty="0">
                <a:solidFill>
                  <a:schemeClr val="tx1"/>
                </a:solidFill>
              </a:rPr>
              <a:t> + minutes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14.30 uur = veertien uur dertig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4023360" y="2898648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023360" y="2898648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023360" y="289864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Courant</a:t>
            </a:r>
            <a:endParaRPr lang="en-US" sz="1900" dirty="0"/>
          </a:p>
        </p:txBody>
      </p:sp>
      <p:sp>
        <p:nvSpPr>
          <p:cNvPr id="44" name="Text 41"/>
          <p:cNvSpPr txBox="1"/>
          <p:nvPr/>
        </p:nvSpPr>
        <p:spPr>
          <a:xfrm>
            <a:off x="6035040" y="2898648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over · voor half · over half · voor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half drie</a:t>
            </a:r>
            <a:r>
              <a:rPr lang="en-US" sz="1700" dirty="0">
                <a:solidFill>
                  <a:schemeClr val="tx1"/>
                </a:solidFill>
              </a:rPr>
              <a:t> = </a:t>
            </a:r>
            <a:r>
              <a:rPr lang="en-US" sz="1700" b="1" dirty="0">
                <a:solidFill>
                  <a:schemeClr val="tx1"/>
                </a:solidFill>
              </a:rPr>
              <a:t>2 h 30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kwart over drie · kwart voor vier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4023360" y="4197096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023360" y="4197096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023360" y="4197096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Rendez-vous</a:t>
            </a:r>
            <a:endParaRPr lang="en-US" sz="1900" dirty="0"/>
          </a:p>
        </p:txBody>
      </p:sp>
      <p:sp>
        <p:nvSpPr>
          <p:cNvPr id="48" name="Text 45"/>
          <p:cNvSpPr txBox="1"/>
          <p:nvPr/>
        </p:nvSpPr>
        <p:spPr>
          <a:xfrm>
            <a:off x="6035040" y="4197096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om</a:t>
            </a:r>
            <a:r>
              <a:rPr lang="en-US" sz="1700" dirty="0">
                <a:solidFill>
                  <a:schemeClr val="tx1"/>
                </a:solidFill>
              </a:rPr>
              <a:t> + heure · </a:t>
            </a:r>
            <a:r>
              <a:rPr lang="en-US" sz="1700" i="1" dirty="0">
                <a:solidFill>
                  <a:schemeClr val="tx1"/>
                </a:solidFill>
              </a:rPr>
              <a:t>van … tot 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rond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anderhalf uur · een kwartier · een halfuur</a:t>
            </a:r>
            <a:endParaRPr lang="en-US" sz="1700" dirty="0"/>
          </a:p>
        </p:txBody>
      </p:sp>
      <p:pic>
        <p:nvPicPr>
          <p:cNvPr id="4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Hoe laat is het?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Officiel → courant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mot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Sur le quai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Lar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 des horloges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alenda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1" name="Shape 87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0" name="Text 106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1" name="Shape 107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Text 126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1" name="Shape 127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5" name="Shape 131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0" name="Text 146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1" name="Shape 147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1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6" name="Shape 152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4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9" name="Shape 155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5800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drie uur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504438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half drie</a:t>
            </a:r>
            <a:endParaRPr lang="en-US" sz="1500" dirty="0"/>
          </a:p>
        </p:txBody>
      </p:sp>
      <p:sp>
        <p:nvSpPr>
          <p:cNvPr id="51" name="Shape 47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323076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over vier</a:t>
            </a:r>
            <a:endParaRPr lang="en-US" sz="1500" dirty="0"/>
          </a:p>
        </p:txBody>
      </p:sp>
      <p:sp>
        <p:nvSpPr>
          <p:cNvPr id="72" name="Shape 68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5" name="Shape 71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141714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voor zeven</a:t>
            </a:r>
            <a:endParaRPr lang="en-US" sz="1500" dirty="0"/>
          </a:p>
        </p:txBody>
      </p:sp>
      <p:sp>
        <p:nvSpPr>
          <p:cNvPr id="93" name="Shape 89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1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6" name="Shape 92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3" name="Text 109"/>
          <p:cNvSpPr txBox="1"/>
          <p:nvPr/>
        </p:nvSpPr>
        <p:spPr>
          <a:xfrm>
            <a:off x="685800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over negen</a:t>
            </a:r>
            <a:endParaRPr lang="en-US" sz="1500" dirty="0"/>
          </a:p>
        </p:txBody>
      </p:sp>
      <p:sp>
        <p:nvSpPr>
          <p:cNvPr id="114" name="Shape 11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6" name="Text 112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7" name="Shape 113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4" name="Text 130"/>
          <p:cNvSpPr txBox="1"/>
          <p:nvPr/>
        </p:nvSpPr>
        <p:spPr>
          <a:xfrm>
            <a:off x="3504438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vijf voor half twaalf</a:t>
            </a:r>
            <a:endParaRPr lang="en-US" sz="1500" dirty="0"/>
          </a:p>
        </p:txBody>
      </p:sp>
      <p:sp>
        <p:nvSpPr>
          <p:cNvPr id="135" name="Shape 131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7" name="Text 133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8" name="Shape 134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1" name="Shape 147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5" name="Text 151"/>
          <p:cNvSpPr txBox="1"/>
          <p:nvPr/>
        </p:nvSpPr>
        <p:spPr>
          <a:xfrm>
            <a:off x="6323076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tien over half acht / twintig voor acht</a:t>
            </a:r>
            <a:endParaRPr lang="en-US" sz="1300" dirty="0"/>
          </a:p>
        </p:txBody>
      </p:sp>
      <p:sp>
        <p:nvSpPr>
          <p:cNvPr id="156" name="Shape 15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8" name="Text 154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9" name="Shape 155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8" name="Shape 164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9" name="Shape 165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8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73" name="Shape 169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5" name="Shape 171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6" name="Text 172"/>
          <p:cNvSpPr txBox="1"/>
          <p:nvPr/>
        </p:nvSpPr>
        <p:spPr>
          <a:xfrm>
            <a:off x="9141714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voor één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19872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half negen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11880" y="271373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344017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voor zes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11880" y="416661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tien voor half negen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twintig over acht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11880" y="489305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half elf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11880" y="56194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twee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i="1" dirty="0">
                <a:solidFill>
                  <a:schemeClr val="accent5"/>
                </a:solidFill>
              </a:rPr>
              <a:t>……………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i="1" dirty="0">
                <a:solidFill>
                  <a:schemeClr val="accent5"/>
                </a:solidFill>
              </a:rPr>
              <a:t>…………………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b="1" i="1" dirty="0">
                <a:solidFill>
                  <a:schemeClr val="accent3"/>
                </a:solidFill>
              </a:rPr>
              <a:t>om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b="1" i="1" dirty="0">
                <a:solidFill>
                  <a:schemeClr val="accent3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b="1" i="1" dirty="0">
                <a:solidFill>
                  <a:schemeClr val="accent3"/>
                </a:solidFill>
              </a:rPr>
              <a:t>tot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b="1" i="1" dirty="0">
                <a:solidFill>
                  <a:schemeClr val="accent3"/>
                </a:solidFill>
              </a:rPr>
              <a:t>anderhalf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b="1" i="1" dirty="0">
                <a:solidFill>
                  <a:schemeClr val="accent3"/>
                </a:solidFill>
              </a:rPr>
              <a:t>kwartiertje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b="1" i="1" dirty="0">
                <a:solidFill>
                  <a:schemeClr val="accent3"/>
                </a:solidFill>
              </a:rPr>
              <a:t>rond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b="1" i="1" dirty="0">
                <a:solidFill>
                  <a:schemeClr val="accent3"/>
                </a:solidFill>
              </a:rPr>
              <a:t>precies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b="1" i="1" dirty="0">
                <a:solidFill>
                  <a:schemeClr val="accent3"/>
                </a:solidFill>
              </a:rPr>
              <a:t>laat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b="1" i="1" dirty="0">
                <a:solidFill>
                  <a:schemeClr val="accent3"/>
                </a:solidFill>
              </a:rPr>
              <a:t>halfuur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dirty="0">
                <a:solidFill>
                  <a:schemeClr val="tx1"/>
                </a:solidFill>
              </a:rPr>
              <a:t>op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dirty="0">
                <a:solidFill>
                  <a:schemeClr val="tx1"/>
                </a:solidFill>
              </a:rPr>
              <a:t>twee uren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dirty="0">
                <a:solidFill>
                  <a:schemeClr val="tx1"/>
                </a:solidFill>
              </a:rPr>
              <a:t>een uur en half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dirty="0">
                <a:solidFill>
                  <a:schemeClr val="tx1"/>
                </a:solidFill>
              </a:rPr>
              <a:t>16.30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dirty="0">
                <a:solidFill>
                  <a:schemeClr val="tx1"/>
                </a:solidFill>
              </a:rPr>
              <a:t>kwart na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strike="sngStrike" dirty="0">
                <a:solidFill>
                  <a:schemeClr val="accent6"/>
                </a:solidFill>
              </a:rPr>
              <a:t>op drie uur</a:t>
            </a:r>
            <a:r>
              <a:rPr lang="en-US" sz="1900" b="1" i="1" dirty="0">
                <a:solidFill>
                  <a:schemeClr val="accent3"/>
                </a:solidFill>
              </a:rPr>
              <a:t> om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uren</a:t>
            </a:r>
            <a:r>
              <a:rPr lang="en-US" sz="1900" b="1" i="1" dirty="0">
                <a:solidFill>
                  <a:schemeClr val="accent3"/>
                </a:solidFill>
              </a:rPr>
              <a:t> twee uur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uur en half</a:t>
            </a:r>
            <a:r>
              <a:rPr lang="en-US" sz="1900" b="1" i="1" dirty="0">
                <a:solidFill>
                  <a:schemeClr val="accent3"/>
                </a:solidFill>
              </a:rPr>
              <a:t> anderhalf uur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strike="sngStrike" dirty="0">
                <a:solidFill>
                  <a:schemeClr val="accent6"/>
                </a:solidFill>
              </a:rPr>
              <a:t>16.30 uur</a:t>
            </a:r>
            <a:r>
              <a:rPr lang="en-US" sz="1900" b="1" i="1" dirty="0">
                <a:solidFill>
                  <a:schemeClr val="accent3"/>
                </a:solidFill>
              </a:rPr>
              <a:t> 15.30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strike="sngStrike" dirty="0">
                <a:solidFill>
                  <a:schemeClr val="accent6"/>
                </a:solidFill>
              </a:rPr>
              <a:t>kwart na vijf</a:t>
            </a:r>
            <a:r>
              <a:rPr lang="en-US" sz="1900" b="1" i="1" dirty="0">
                <a:solidFill>
                  <a:schemeClr val="accent3"/>
                </a:solidFill>
              </a:rPr>
              <a:t> kwart over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op dinsdag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op</a:t>
            </a:r>
            <a:r>
              <a:rPr lang="en-US" sz="1400" i="1" dirty="0">
                <a:solidFill>
                  <a:schemeClr val="accent5"/>
                </a:solidFill>
              </a:rPr>
              <a:t> + jour, </a:t>
            </a:r>
            <a:r>
              <a:rPr lang="en-US" sz="1400" i="1" dirty="0">
                <a:solidFill>
                  <a:schemeClr val="accent5"/>
                </a:solidFill>
              </a:rPr>
              <a:t>om</a:t>
            </a:r>
            <a:r>
              <a:rPr lang="en-US" sz="1400" i="1" dirty="0">
                <a:solidFill>
                  <a:schemeClr val="accent5"/>
                </a:solidFill>
              </a:rPr>
              <a:t> + heure). </a:t>
            </a:r>
            <a:r>
              <a:rPr lang="en-US" sz="1400" i="1" dirty="0">
                <a:solidFill>
                  <a:schemeClr val="accent5"/>
                </a:solidFill>
              </a:rPr>
              <a:t>half vier</a:t>
            </a:r>
            <a:r>
              <a:rPr lang="en-US" sz="1400" i="1" dirty="0">
                <a:solidFill>
                  <a:schemeClr val="accent5"/>
                </a:solidFill>
              </a:rPr>
              <a:t> = 15 h 30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14800" y="2590800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14.17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92240" y="2590800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114800" y="3319882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14.32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3319882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114800" y="4048963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14.45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92240" y="4048963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33" name="Shape 29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114800" y="4778045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15.04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92240" y="4778045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8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9" name="Shape 35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114800" y="5507126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15.21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492240" y="5507126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</a:t>
            </a:r>
            <a:endParaRPr lang="en-US" sz="2200" dirty="0"/>
          </a:p>
        </p:txBody>
      </p:sp>
      <p:pic>
        <p:nvPicPr>
          <p:cNvPr id="43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loto des horloges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7665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7957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9080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54543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6179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54543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080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7957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4571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77452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71186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77452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94571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1179576" y="2144050"/>
            <a:ext cx="232319" cy="96230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7957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3934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1901952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2029968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532888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74411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898743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915107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98743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4411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32888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229903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2127834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2065172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 flipV="1">
            <a:off x="2127834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229903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532888" y="2240280"/>
            <a:ext cx="177809" cy="17780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532888" y="224028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492654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901952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2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3255264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3886200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09742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4252055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68419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252055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09742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886200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H="1">
            <a:off x="365234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H="1">
            <a:off x="3481146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H="1">
            <a:off x="3418484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H="1" flipV="1">
            <a:off x="3481146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 flipV="1">
            <a:off x="365234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3649905" y="2240280"/>
            <a:ext cx="236295" cy="86004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886200" y="224028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845966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55264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3</a:t>
            </a:r>
            <a:endParaRPr lang="en-US" sz="1500" dirty="0"/>
          </a:p>
        </p:txBody>
      </p:sp>
      <p:sp>
        <p:nvSpPr>
          <p:cNvPr id="60" name="Shape 57"/>
          <p:cNvSpPr/>
          <p:nvPr/>
        </p:nvSpPr>
        <p:spPr>
          <a:xfrm>
            <a:off x="4608576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4736592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5239512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5073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5605367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621731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05367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45073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5239512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H="1">
            <a:off x="500565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H="1">
            <a:off x="4834458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H="1">
            <a:off x="4771796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H="1" flipV="1">
            <a:off x="4834458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H="1" flipV="1">
            <a:off x="500565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H="1" flipV="1">
            <a:off x="5069628" y="2054884"/>
            <a:ext cx="169884" cy="18539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 flipH="1">
            <a:off x="5043373" y="2240280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199278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08576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4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5961888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089904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V="1">
            <a:off x="6592824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680405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6958679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6975043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958679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680405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6592824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 flipH="1">
            <a:off x="635896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 flipH="1">
            <a:off x="6187770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6125108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H="1" flipV="1">
            <a:off x="6187770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H="1" flipV="1">
            <a:off x="635896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6393327" y="2240280"/>
            <a:ext cx="199497" cy="15307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H="1">
            <a:off x="620054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552590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961888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5</a:t>
            </a:r>
            <a:endParaRPr lang="en-US" sz="1500" dirty="0"/>
          </a:p>
        </p:txBody>
      </p:sp>
      <p:sp>
        <p:nvSpPr>
          <p:cNvPr id="96" name="Shape 93"/>
          <p:cNvSpPr/>
          <p:nvPr/>
        </p:nvSpPr>
        <p:spPr>
          <a:xfrm>
            <a:off x="731520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744321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794613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V="1">
            <a:off x="815736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V="1">
            <a:off x="831199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832835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831199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815736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794613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 flipH="1">
            <a:off x="771227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 flipH="1">
            <a:off x="754108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H="1">
            <a:off x="747842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H="1" flipV="1">
            <a:off x="754108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 flipH="1" flipV="1">
            <a:off x="771227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7946136" y="2240280"/>
            <a:ext cx="250503" cy="2191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7946136" y="2044141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790590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3" name="Text 110"/>
          <p:cNvSpPr txBox="1"/>
          <p:nvPr/>
        </p:nvSpPr>
        <p:spPr>
          <a:xfrm>
            <a:off x="731520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6</a:t>
            </a:r>
            <a:endParaRPr lang="en-US" sz="1500" dirty="0"/>
          </a:p>
        </p:txBody>
      </p:sp>
      <p:sp>
        <p:nvSpPr>
          <p:cNvPr id="114" name="Shape 111"/>
          <p:cNvSpPr/>
          <p:nvPr/>
        </p:nvSpPr>
        <p:spPr>
          <a:xfrm>
            <a:off x="54864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5" name="Shape 112"/>
          <p:cNvSpPr/>
          <p:nvPr/>
        </p:nvSpPr>
        <p:spPr>
          <a:xfrm>
            <a:off x="67665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 flipV="1">
            <a:off x="117957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139080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 flipV="1">
            <a:off x="154543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56179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154543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39080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117957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H="1">
            <a:off x="94571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 flipH="1">
            <a:off x="77452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H="1">
            <a:off x="71186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 flipH="1" flipV="1">
            <a:off x="77452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H="1" flipV="1">
            <a:off x="94571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 flipV="1">
            <a:off x="1179576" y="3917628"/>
            <a:ext cx="65083" cy="242892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1179576" y="416052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113934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1" name="Text 128"/>
          <p:cNvSpPr txBox="1"/>
          <p:nvPr/>
        </p:nvSpPr>
        <p:spPr>
          <a:xfrm>
            <a:off x="54864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7</a:t>
            </a:r>
            <a:endParaRPr lang="en-US" sz="1500" dirty="0"/>
          </a:p>
        </p:txBody>
      </p:sp>
      <p:sp>
        <p:nvSpPr>
          <p:cNvPr id="132" name="Shape 129"/>
          <p:cNvSpPr/>
          <p:nvPr/>
        </p:nvSpPr>
        <p:spPr>
          <a:xfrm>
            <a:off x="1901952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3" name="Shape 130"/>
          <p:cNvSpPr/>
          <p:nvPr/>
        </p:nvSpPr>
        <p:spPr>
          <a:xfrm>
            <a:off x="2029968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 flipV="1">
            <a:off x="2532888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74411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 flipV="1">
            <a:off x="2898743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2915107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2898743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274411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532888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 flipH="1">
            <a:off x="229903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 flipH="1">
            <a:off x="2127834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H="1">
            <a:off x="2065172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H="1" flipV="1">
            <a:off x="2127834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 flipH="1" flipV="1">
            <a:off x="229903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532888" y="4160520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H="1" flipV="1">
            <a:off x="2336749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2492654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9" name="Text 146"/>
          <p:cNvSpPr txBox="1"/>
          <p:nvPr/>
        </p:nvSpPr>
        <p:spPr>
          <a:xfrm>
            <a:off x="1901952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8</a:t>
            </a:r>
            <a:endParaRPr lang="en-US" sz="1500" dirty="0"/>
          </a:p>
        </p:txBody>
      </p:sp>
      <p:sp>
        <p:nvSpPr>
          <p:cNvPr id="150" name="Shape 147"/>
          <p:cNvSpPr/>
          <p:nvPr/>
        </p:nvSpPr>
        <p:spPr>
          <a:xfrm>
            <a:off x="3255264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1" name="Shape 148"/>
          <p:cNvSpPr/>
          <p:nvPr/>
        </p:nvSpPr>
        <p:spPr>
          <a:xfrm>
            <a:off x="3383280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 flipV="1">
            <a:off x="3886200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 flipV="1">
            <a:off x="409742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 flipV="1">
            <a:off x="4252055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4268419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4252055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409742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3886200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 flipH="1">
            <a:off x="365234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 flipH="1">
            <a:off x="3481146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 flipH="1">
            <a:off x="3418484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 flipH="1" flipV="1">
            <a:off x="3481146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 flipH="1" flipV="1">
            <a:off x="365234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 flipH="1" flipV="1">
            <a:off x="3638560" y="4116854"/>
            <a:ext cx="247640" cy="4366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3886200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3845966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Text 164"/>
          <p:cNvSpPr txBox="1"/>
          <p:nvPr/>
        </p:nvSpPr>
        <p:spPr>
          <a:xfrm>
            <a:off x="3255264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9</a:t>
            </a:r>
            <a:endParaRPr lang="en-US" sz="1500" dirty="0"/>
          </a:p>
        </p:txBody>
      </p:sp>
      <p:sp>
        <p:nvSpPr>
          <p:cNvPr id="168" name="Shape 165"/>
          <p:cNvSpPr/>
          <p:nvPr/>
        </p:nvSpPr>
        <p:spPr>
          <a:xfrm>
            <a:off x="4608576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9" name="Shape 166"/>
          <p:cNvSpPr/>
          <p:nvPr/>
        </p:nvSpPr>
        <p:spPr>
          <a:xfrm>
            <a:off x="4736592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 flipV="1">
            <a:off x="5239512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 flipV="1">
            <a:off x="545073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 flipV="1">
            <a:off x="5605367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5621731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5605367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545073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>
            <a:off x="5239512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 flipH="1">
            <a:off x="500565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 flipH="1">
            <a:off x="4834458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 flipH="1">
            <a:off x="4771796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 flipH="1" flipV="1">
            <a:off x="4834458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 flipH="1" flipV="1">
            <a:off x="500565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 flipH="1" flipV="1">
            <a:off x="5086433" y="3961023"/>
            <a:ext cx="153079" cy="199497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 flipH="1">
            <a:off x="4847234" y="416052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>
            <a:off x="5199278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5" name="Text 182"/>
          <p:cNvSpPr txBox="1"/>
          <p:nvPr/>
        </p:nvSpPr>
        <p:spPr>
          <a:xfrm>
            <a:off x="4608576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10</a:t>
            </a:r>
            <a:endParaRPr lang="en-US" sz="1500" dirty="0"/>
          </a:p>
        </p:txBody>
      </p:sp>
      <p:sp>
        <p:nvSpPr>
          <p:cNvPr id="186" name="Shape 183"/>
          <p:cNvSpPr/>
          <p:nvPr/>
        </p:nvSpPr>
        <p:spPr>
          <a:xfrm>
            <a:off x="5961888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7" name="Shape 184"/>
          <p:cNvSpPr/>
          <p:nvPr/>
        </p:nvSpPr>
        <p:spPr>
          <a:xfrm>
            <a:off x="6089904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 flipV="1">
            <a:off x="6592824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 flipV="1">
            <a:off x="680405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 flipV="1">
            <a:off x="6958679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>
            <a:off x="6975043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>
            <a:off x="6958679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>
            <a:off x="680405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6592824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 flipH="1">
            <a:off x="635896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 flipH="1">
            <a:off x="6187770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 flipH="1">
            <a:off x="6125108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 flipH="1" flipV="1">
            <a:off x="6187770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 flipH="1" flipV="1">
            <a:off x="635896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 flipH="1">
            <a:off x="6506820" y="4160520"/>
            <a:ext cx="86004" cy="236295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 flipH="1">
            <a:off x="6253102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>
            <a:off x="6552590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5961888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11</a:t>
            </a:r>
            <a:endParaRPr lang="en-US" sz="1500" dirty="0"/>
          </a:p>
        </p:txBody>
      </p:sp>
      <p:sp>
        <p:nvSpPr>
          <p:cNvPr id="204" name="Shape 201"/>
          <p:cNvSpPr/>
          <p:nvPr/>
        </p:nvSpPr>
        <p:spPr>
          <a:xfrm>
            <a:off x="731520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5" name="Shape 202"/>
          <p:cNvSpPr/>
          <p:nvPr/>
        </p:nvSpPr>
        <p:spPr>
          <a:xfrm>
            <a:off x="744321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 flipV="1">
            <a:off x="794613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 flipV="1">
            <a:off x="815736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 flipV="1">
            <a:off x="831199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832835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831199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815736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794613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 flipH="1">
            <a:off x="771227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4" name="Shape 211"/>
          <p:cNvSpPr/>
          <p:nvPr/>
        </p:nvSpPr>
        <p:spPr>
          <a:xfrm flipH="1">
            <a:off x="754108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 flipH="1">
            <a:off x="747842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 flipH="1" flipV="1">
            <a:off x="754108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 flipH="1" flipV="1">
            <a:off x="771227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 flipV="1">
            <a:off x="7946136" y="3909299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 flipV="1">
            <a:off x="7946136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0" name="Shape 217"/>
          <p:cNvSpPr/>
          <p:nvPr/>
        </p:nvSpPr>
        <p:spPr>
          <a:xfrm>
            <a:off x="790590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1" name="Text 218"/>
          <p:cNvSpPr txBox="1"/>
          <p:nvPr/>
        </p:nvSpPr>
        <p:spPr>
          <a:xfrm>
            <a:off x="731520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12</a:t>
            </a:r>
            <a:endParaRPr lang="en-US" sz="1500" dirty="0"/>
          </a:p>
        </p:txBody>
      </p:sp>
      <p:pic>
        <p:nvPicPr>
          <p:cNvPr id="222" name="Image 0" descr="game d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600200"/>
            <a:ext cx="731520" cy="731520"/>
          </a:xfrm>
          <a:prstGeom prst="rect">
            <a:avLst/>
          </a:prstGeom>
        </p:spPr>
      </p:pic>
      <p:sp>
        <p:nvSpPr>
          <p:cNvPr id="223" name="Text 219"/>
          <p:cNvSpPr txBox="1"/>
          <p:nvPr/>
        </p:nvSpPr>
        <p:spPr>
          <a:xfrm>
            <a:off x="9601200" y="1600200"/>
            <a:ext cx="2039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224" name="Text 220"/>
          <p:cNvSpPr txBox="1"/>
          <p:nvPr/>
        </p:nvSpPr>
        <p:spPr>
          <a:xfrm>
            <a:off x="8778240" y="2514600"/>
            <a:ext cx="28620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Choisissez 4 horloges en secret.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dit des heures : barrez vos horloges.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Les 4 barrées : «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» — et dites vos 4 heures sans faute.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L’agenda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Meneer Maes veut un rendez-vous de 45 minutes cette semaine. Sofie regarde son agenda.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Meneer Maes</a:t>
            </a:r>
            <a:r>
              <a:rPr lang="en-US" sz="1700" dirty="0">
                <a:solidFill>
                  <a:schemeClr val="tx1"/>
                </a:solidFill>
              </a:rPr>
              <a:t> : demandez un rendez-vous. Vos contraintes : pas avant 10 heures, pas le mercredi.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proposez des créneaux libres en heure courante (</a:t>
            </a:r>
            <a:r>
              <a:rPr lang="en-US" sz="1700" i="1" dirty="0">
                <a:solidFill>
                  <a:schemeClr val="tx1"/>
                </a:solidFill>
              </a:rPr>
              <a:t>half tien, kwart over twee…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Wanneer past het u? · Kan het … om …? · Dan heb ik al een afspraak. · Dat past. · Van … tot … ben ik vrij. · Tot dan!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AGENDA SOFIE · WEEK 14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622792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ma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198864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di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774936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wo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351008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do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927080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vr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119872" y="2148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9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8119872" y="312267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11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119872" y="4096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13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19872" y="50703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15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119872" y="604418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17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8641080" y="2258568"/>
            <a:ext cx="539496" cy="973836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41080" y="4693158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217152" y="2502027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17152" y="4206240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793224" y="2258568"/>
            <a:ext cx="539496" cy="389534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369296" y="3475863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369296" y="5180076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45368" y="2258568"/>
            <a:ext cx="539496" cy="146075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16.45 uur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Dites autrement : 2 h 30 · 7 h 20.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La réunion dure une heure et demie.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Fixer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EuroSig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Hoeveel kost het?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Duizend tweehonderd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25 — Hoe laat is het? — L’heure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2026-10-05T07:24:46Z</dcterms:created>
  <dcterms:modified xsi:type="dcterms:W3CDTF">2026-10-05T07:24:46Z</dcterms:modified>
</cp:coreProperties>
</file>