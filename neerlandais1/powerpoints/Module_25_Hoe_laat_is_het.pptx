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9392a7fb-c309-db6e-1b86-785960d3621b}">
          <p14:sldIdLst>
            <p14:sldId id="256"/>
          </p14:sldIdLst>
        </p14:section>
        <p14:section name="Découvrir" id="{560bbea8-5c36-2606-b073-00c1d863b022}">
          <p14:sldIdLst>
            <p14:sldId id="257"/>
            <p14:sldId id="258"/>
          </p14:sldIdLst>
        </p14:section>
        <p14:section name="Comprendre" id="{f86339a1-f613-fc8d-a9a3-bf9a20efa11b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5775630a-3d2a-ad0f-b3fe-63c3731b7e0f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eac60a48-1ab5-7c10-54ab-9ec3fc95fe73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et provoquer la surprise de half drie.
Montrez l'horloge et lisez Het is half drie. Laissez deviner : la plupart des francophones disent « 3 h 30 ». Réponse : 2 h 30. C'est le fil rouge du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L'heure sert partout : horaires de train, agenda, réunions, rendez-vous chez le médecin.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deux façons de dire l'heure dans un agenda.
Faites relier 08.30 → half negen, 12.30 → half één, 14.30 → half drie. Les apprenants découvrent seuls la règle : half annonce l'heure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l'heure des horaires et des agendas (24 h).
L'heure officielle sert pour les trains, la radio, les agendas, les e-mails. Elle est facile : c'est l'ordre du français (« quatorze heures trente »). Rappel M2 : eenentwintig, vijfenveertig (unités avant dizaines).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Demander et dire une heure pleine en heure courante.
één uur (avec accents) = 1 h ; een uur = une heure (durée). En heure courante, on compte de 1 à 12 : 15 h = drie uur 's namiddags (aux Pays-Bas : 's middags, voir diapo 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la logique de half : on est à mi-chemin de l'heure suivante.
Comparez avec l'allemand (halb drei) si certains apprenants le connaissent. Faites dire l'heure suivante avant de parler : « il est 8 h 30 → j'arrive à 9 h → half negen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les quarts d'heure.
kwart over / kwart voor suit la logique du français : c'est le point rassurant de la leçon. Faites mimer over (la main passe par-dessus) et voor (la main s'arrête devant).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toutes les minutes grâce au schéma des quatre zones.
On compte toujours à partir du repère le plus proche (heure pleine ou half). 2 h 20 se dit aussi twintig over twee, et 2 h 40 twintig voor drie : c'est fréquent en Belgique et correct. Le schéma est la référence de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Passer de l'heure officielle à l'heure courante.
Méthode : ① ramener à 12 h (16 → 4) ; ② chercher la zone (S21) ; ③ penser à l'heure suivante pour half. À l'écrit (e-mail, agenda), l'heure officielle évite les malentendus.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Situer une heure dans la journée.
L'apostrophe remplace un ancien des : 's se prononce « s ». En Belgique, 's middags désigne plutôt le temps de midi, et 's namiddags l'après-midi ; aux Pays-Bas, 's middags = l'après-midi. Exemple : Om drie uur 's namiddags.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calques du français autour de l'heure.
om + heure, op + jour (op maandag, M18). anderhalf (une et demie) se dit aussi pour d'autres quantités : anderhalve liter. een halfuur s'écrit aussi een half uur. En Belgique, on entend souvent een kwartuur et Op welk uur? : ce n'est pas faux à l'oral, mais een kwartier et Hoe laat? / Om hoe laat? sont la norme (≈ gris sur la diapo).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l'heure dans un dialogue professionnel.
Wanneer past het u? = Quand cela vous convient-il ? rond / omstreeks / tegen = vers. te laat = en retard, op tijd = à l'heure, te vroeg = en avance. Faites jouer le dialogue en changeant les heures.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une horloge à aiguilles en heure courante.
Faites d'abord situer chaque horloge dans une zone du schéma S21. N° 2 et 6 : penser à l'heure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Lire une horloge à aiguilles en heure courante.
Faites d'abord situer chaque horloge dans une zone du schéma S21. N° 2 et 6 : penser à l'heure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Convertir l'heure officielle en heure courante.
Rappelez la méthode en 3 étapes (diapo 9). Ajoutez le moment de la journée : kwart voor zes 's avonds.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Convertir l'heure officielle en heure courante.
Rappelez la méthode en 3 étapes (diapo 9). Ajoutez le moment de la journée : kwart voor zes 's avonds.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préposition ou la bonne durée.
Wacht een kwartiertje! : le diminutif adoucit (M14). halfuur : een halfuur pauze (ou een half uur).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bonne préposition ou la bonne durée.
Wacht een kwartiertje! : le diminutif adoucit (M14). halfuur : een halfuur pauze (ou een half uur).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e-mail.
Leurre : op dinsdag est correct (op + jour, om + heure). L'erreur half vier (16.30 uur) est celle que font la plupart des francophones : faites-la expliquer avec la jauge de la diapo 6. kwart na vijf s'entend en Belgique, mais kwart over vijf est la norme. La présentation de l'e-mail suit le M10 : Geachte heer, virgule, puis majuscule à la ligne.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e-mail.
Leurre : op dinsdag est correct (op + jour, om + heure). L'erreur half vier (16.30 uur) est celle que font la plupart des francophones : faites-la expliquer avec la jauge de la diapo 6. kwart na vijf s'entend en Belgique, mais kwart over vijf est la norme. La présentation de l'e-mail suit le M10 : Geachte heer, virgule, puis majuscule à la ligne.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des annonces de gare et noter les heures.
Lisez à vitesse réelle, deux fois. spoor = la voie. Prolongement : De trein heeft tien minuten vertraging (retard).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Comprendre des annonces de gare et noter les heures.
Lisez à vitesse réelle, deux fois. spoor = la voie. Prolongement : De trein heeft tien minuten vertraging (retard).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l'heure courante à l'oral, vite.
Liste d'appel : kwart over twee · half vijf · tien voor half negen · vijf over half elf · kwart voor acht · tien over drie · half één · vijf voor zes · twintig over negen · kwart voor elf · tien over half zeven · vijf over twaalf. Variante : un·e apprenant·e appelle.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fixer un rendez-vous par téléphone.
B a l'agenda, A a ses propres contraintes (écrites au tableau : pas avant 10 heures, pas le mercredi). Exigez au moins trois heures courantes (half tien, kwart over twee…).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zestien uur vijfenveertig (ou kwart voor vijf).
2. half drie · tien voor half acht (ou twintig over zeven).
3. De vergadering duurt anderhalf uur.
Teaser M26 : Hoeveel kost het? — Duizend tweehonderd euro.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25 · Hoe laat is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25 · Hoe laat is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25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Hoe laat is het?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L’heure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Het is half drie. · Om hoe laat?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001000" y="685800"/>
            <a:ext cx="2834640" cy="283464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17375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418320" y="785012"/>
            <a:ext cx="914" cy="24094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013594" y="961605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449366" y="1444066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495483" y="2103120"/>
            <a:ext cx="240944" cy="91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449366" y="2698394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13594" y="3134166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18320" y="3180283"/>
            <a:ext cx="914" cy="24094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>
            <a:off x="8759266" y="3134166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8276805" y="2698394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H="1">
            <a:off x="8100212" y="2103120"/>
            <a:ext cx="240944" cy="914"/>
          </a:xfrm>
          <a:prstGeom prst="line">
            <a:avLst/>
          </a:prstGeom>
          <a:noFill/>
          <a:ln w="47244">
            <a:solidFill>
              <a:srgbClr val="1737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 flipV="1">
            <a:off x="8276805" y="1444066"/>
            <a:ext cx="110469" cy="6377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 flipV="1">
            <a:off x="8759266" y="961605"/>
            <a:ext cx="63779" cy="11046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0" y="1069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12</a:t>
            </a:r>
            <a:endParaRPr lang="en-US" sz="2170" dirty="0"/>
          </a:p>
        </p:txBody>
      </p:sp>
      <p:sp>
        <p:nvSpPr>
          <p:cNvPr id="19" name="Text 17"/>
          <p:cNvSpPr txBox="1"/>
          <p:nvPr/>
        </p:nvSpPr>
        <p:spPr>
          <a:xfrm>
            <a:off x="9994392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3</a:t>
            </a:r>
            <a:endParaRPr lang="en-US" sz="2170" dirty="0"/>
          </a:p>
        </p:txBody>
      </p:sp>
      <p:sp>
        <p:nvSpPr>
          <p:cNvPr id="20" name="Text 18"/>
          <p:cNvSpPr txBox="1"/>
          <p:nvPr/>
        </p:nvSpPr>
        <p:spPr>
          <a:xfrm>
            <a:off x="9144000" y="27706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6</a:t>
            </a:r>
            <a:endParaRPr lang="en-US" sz="2170" dirty="0"/>
          </a:p>
        </p:txBody>
      </p:sp>
      <p:sp>
        <p:nvSpPr>
          <p:cNvPr id="21" name="Text 19"/>
          <p:cNvSpPr txBox="1"/>
          <p:nvPr/>
        </p:nvSpPr>
        <p:spPr>
          <a:xfrm>
            <a:off x="8293608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70" b="1" dirty="0">
                <a:solidFill>
                  <a:schemeClr val="tx2"/>
                </a:solidFill>
              </a:rPr>
              <a:t>9</a:t>
            </a:r>
            <a:endParaRPr lang="en-US" sz="2170" dirty="0"/>
          </a:p>
        </p:txBody>
      </p:sp>
      <p:sp>
        <p:nvSpPr>
          <p:cNvPr id="22" name="Shape 20"/>
          <p:cNvSpPr/>
          <p:nvPr/>
        </p:nvSpPr>
        <p:spPr>
          <a:xfrm flipV="1">
            <a:off x="9418320" y="1919705"/>
            <a:ext cx="684513" cy="183415"/>
          </a:xfrm>
          <a:prstGeom prst="line">
            <a:avLst/>
          </a:prstGeom>
          <a:noFill/>
          <a:ln w="125984">
            <a:solidFill>
              <a:srgbClr val="17375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18320" y="2103120"/>
            <a:ext cx="914" cy="1105510"/>
          </a:xfrm>
          <a:prstGeom prst="line">
            <a:avLst/>
          </a:prstGeom>
          <a:noFill/>
          <a:ln w="78740">
            <a:solidFill>
              <a:srgbClr val="D9700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04934" y="1989734"/>
            <a:ext cx="226771" cy="226771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75120" y="3840480"/>
            <a:ext cx="3657600" cy="777240"/>
          </a:xfrm>
          <a:prstGeom prst="roundRect">
            <a:avLst>
              <a:gd name="adj" fmla="val 2117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812280" y="384048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 is </a:t>
            </a:r>
            <a:r>
              <a:rPr lang="en-US" sz="2200" b="1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half drie</a:t>
            </a:r>
            <a:r>
              <a:rPr lang="en-US" sz="22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10469880" y="3913632"/>
            <a:ext cx="1188720" cy="640080"/>
          </a:xfrm>
          <a:prstGeom prst="roundRect">
            <a:avLst>
              <a:gd name="adj" fmla="val 1714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469880" y="391363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 h 30 ?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Reg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lis l’heure officielle : </a:t>
            </a:r>
            <a:r>
              <a:rPr lang="en-US" sz="2000" i="1" dirty="0">
                <a:solidFill>
                  <a:schemeClr val="tx1"/>
                </a:solidFill>
              </a:rPr>
              <a:t>14.30 uur = veertien uur dertig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Dire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l’heure de tous les jours : </a:t>
            </a:r>
            <a:r>
              <a:rPr lang="en-US" sz="2000" i="1" dirty="0">
                <a:solidFill>
                  <a:schemeClr val="tx1"/>
                </a:solidFill>
              </a:rPr>
              <a:t>Het is kwart over twee.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alendar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Fixer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fixe un rendez-vous : </a:t>
            </a:r>
            <a:r>
              <a:rPr lang="en-US" sz="2000" i="1" dirty="0">
                <a:solidFill>
                  <a:schemeClr val="tx1"/>
                </a:solidFill>
              </a:rPr>
              <a:t>Kan het dinsdag om half tien?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L’heure sert partout : horaires de train, agenda, réunions, rendez-vous chez le médecin.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la journée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48056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480560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bg1"/>
                </a:solidFill>
              </a:rPr>
              <a:t>AGENDA · DINSDAG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23042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2304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207008" y="22585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207008" y="22585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08.30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2423160" y="22128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trein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731520" y="29900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2990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207008" y="29443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207008" y="29443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09.00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2423160" y="28986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vergadering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731520" y="36758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3675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207008" y="36301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207008" y="36301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12.30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2423160" y="35844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lunch met Sofie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731520" y="436168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" y="4361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1207008" y="4315968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207008" y="43159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C266"/>
                </a:solidFill>
              </a:rPr>
              <a:t>14.30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2423160" y="42702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afspraak met meneer Maes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5303520" y="155448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68112" y="155448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half negen</a:t>
            </a:r>
            <a:r>
              <a:rPr lang="en-US" sz="1700" i="1" dirty="0">
                <a:solidFill>
                  <a:schemeClr val="tx1"/>
                </a:solidFill>
              </a:rPr>
              <a:t> neem ik de trein.</a:t>
            </a:r>
            <a:endParaRPr lang="en-US" sz="1700" dirty="0"/>
          </a:p>
        </p:txBody>
      </p:sp>
      <p:sp>
        <p:nvSpPr>
          <p:cNvPr id="30" name="Shape 27"/>
          <p:cNvSpPr/>
          <p:nvPr/>
        </p:nvSpPr>
        <p:spPr>
          <a:xfrm>
            <a:off x="5303520" y="242316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468112" y="242316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negen uur</a:t>
            </a:r>
            <a:r>
              <a:rPr lang="en-US" sz="1700" i="1" dirty="0">
                <a:solidFill>
                  <a:schemeClr val="tx1"/>
                </a:solidFill>
              </a:rPr>
              <a:t> heb ik een vergadering.</a:t>
            </a:r>
            <a:endParaRPr lang="en-US" sz="1700" dirty="0"/>
          </a:p>
        </p:txBody>
      </p:sp>
      <p:sp>
        <p:nvSpPr>
          <p:cNvPr id="32" name="Shape 29"/>
          <p:cNvSpPr/>
          <p:nvPr/>
        </p:nvSpPr>
        <p:spPr>
          <a:xfrm>
            <a:off x="5303520" y="329184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68112" y="329184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half één</a:t>
            </a:r>
            <a:r>
              <a:rPr lang="en-US" sz="1700" i="1" dirty="0">
                <a:solidFill>
                  <a:schemeClr val="tx1"/>
                </a:solidFill>
              </a:rPr>
              <a:t> eet ik met Sofie.</a:t>
            </a:r>
            <a:endParaRPr lang="en-US" sz="1700" dirty="0"/>
          </a:p>
        </p:txBody>
      </p:sp>
      <p:sp>
        <p:nvSpPr>
          <p:cNvPr id="34" name="Shape 31"/>
          <p:cNvSpPr/>
          <p:nvPr/>
        </p:nvSpPr>
        <p:spPr>
          <a:xfrm>
            <a:off x="5303520" y="4160520"/>
            <a:ext cx="5440680" cy="731520"/>
          </a:xfrm>
          <a:prstGeom prst="roundRect">
            <a:avLst>
              <a:gd name="adj" fmla="val 22500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468112" y="4160520"/>
            <a:ext cx="5111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Om </a:t>
            </a:r>
            <a:r>
              <a:rPr lang="en-US" sz="1700" b="1" i="1" dirty="0">
                <a:solidFill>
                  <a:schemeClr val="accent1"/>
                </a:solidFill>
              </a:rPr>
              <a:t>half drie</a:t>
            </a:r>
            <a:r>
              <a:rPr lang="en-US" sz="1700" i="1" dirty="0">
                <a:solidFill>
                  <a:schemeClr val="tx1"/>
                </a:solidFill>
              </a:rPr>
              <a:t> komt meneer Maes.</a:t>
            </a:r>
            <a:endParaRPr lang="en-US" sz="1700" dirty="0"/>
          </a:p>
        </p:txBody>
      </p:sp>
      <p:pic>
        <p:nvPicPr>
          <p:cNvPr id="3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0" y="2377440"/>
            <a:ext cx="777240" cy="777240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38" name="Image 1" descr="thinking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Associez chaque bulle à une ligne de l’agenda (A–D).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Que veut dire </a:t>
            </a:r>
            <a:r>
              <a:rPr lang="en-US" sz="1800" i="1" dirty="0">
                <a:solidFill>
                  <a:schemeClr val="tx1"/>
                </a:solidFill>
              </a:rPr>
              <a:t>half drie</a:t>
            </a:r>
            <a:r>
              <a:rPr lang="en-US" sz="1800" dirty="0">
                <a:solidFill>
                  <a:schemeClr val="tx1"/>
                </a:solidFill>
              </a:rPr>
              <a:t> ? 3 h 30… ou 2 h 30 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L’heure officielle : 14.30 uur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08.15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acht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r>
              <a:rPr lang="en-US" sz="2000" i="1" dirty="0">
                <a:solidFill>
                  <a:schemeClr val="tx1"/>
                </a:solidFill>
              </a:rPr>
              <a:t> vijftien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3378708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07308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07308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12.00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3515868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twaalf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208776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37376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37376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14.30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6345936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veertien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r>
              <a:rPr lang="en-US" sz="2000" i="1" dirty="0">
                <a:solidFill>
                  <a:schemeClr val="tx1"/>
                </a:solidFill>
              </a:rPr>
              <a:t> dertig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9038844" y="1600200"/>
            <a:ext cx="2601468" cy="283464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267444" y="1828800"/>
            <a:ext cx="2144268" cy="1097280"/>
          </a:xfrm>
          <a:prstGeom prst="roundRect">
            <a:avLst>
              <a:gd name="adj" fmla="val 6667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267444" y="1828800"/>
            <a:ext cx="214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266"/>
                </a:solidFill>
              </a:rPr>
              <a:t>21.45</a:t>
            </a:r>
            <a:endParaRPr lang="en-US" sz="4000" dirty="0"/>
          </a:p>
        </p:txBody>
      </p:sp>
      <p:sp>
        <p:nvSpPr>
          <p:cNvPr id="20" name="Text 17"/>
          <p:cNvSpPr txBox="1"/>
          <p:nvPr/>
        </p:nvSpPr>
        <p:spPr>
          <a:xfrm>
            <a:off x="9176004" y="3108960"/>
            <a:ext cx="23271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eenentwintig </a:t>
            </a:r>
            <a:r>
              <a:rPr lang="en-US" sz="2000" b="1" i="1" dirty="0">
                <a:solidFill>
                  <a:schemeClr val="tx1"/>
                </a:solidFill>
              </a:rPr>
              <a:t>uur</a:t>
            </a:r>
            <a:r>
              <a:rPr lang="en-US" sz="2000" i="1" dirty="0">
                <a:solidFill>
                  <a:schemeClr val="tx1"/>
                </a:solidFill>
              </a:rPr>
              <a:t> vijfenveertig</a:t>
            </a:r>
            <a:endParaRPr lang="en-US" sz="2000" dirty="0"/>
          </a:p>
        </p:txBody>
      </p:sp>
      <p:pic>
        <p:nvPicPr>
          <p:cNvPr id="21" name="Image 0" descr="st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17720"/>
            <a:ext cx="640080" cy="640080"/>
          </a:xfrm>
          <a:prstGeom prst="rect">
            <a:avLst/>
          </a:prstGeom>
        </p:spPr>
      </p:pic>
      <p:pic>
        <p:nvPicPr>
          <p:cNvPr id="22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4617720"/>
            <a:ext cx="640080" cy="640080"/>
          </a:xfrm>
          <a:prstGeom prst="rect">
            <a:avLst/>
          </a:prstGeom>
        </p:spPr>
      </p:pic>
      <p:pic>
        <p:nvPicPr>
          <p:cNvPr id="23" name="Image 2" descr="radi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4617720"/>
            <a:ext cx="640080" cy="64008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2834640" y="461772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Trains, radio, agendas, e-mails : c’est l’ordre du français (« quatorze heures trente »).</a:t>
            </a:r>
            <a:endParaRPr lang="en-US" sz="1700" dirty="0"/>
          </a:p>
        </p:txBody>
      </p:sp>
      <p:sp>
        <p:nvSpPr>
          <p:cNvPr id="25" name="Shape 19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Règle : heure + </a:t>
            </a:r>
            <a:r>
              <a:rPr lang="en-US" sz="1900" b="1" dirty="0">
                <a:solidFill>
                  <a:schemeClr val="bg1"/>
                </a:solidFill>
              </a:rPr>
              <a:t>uur</a:t>
            </a:r>
            <a:r>
              <a:rPr lang="en-US" sz="1900" dirty="0">
                <a:solidFill>
                  <a:schemeClr val="bg1"/>
                </a:solidFill>
              </a:rPr>
              <a:t> + minutes · on écrit </a:t>
            </a:r>
            <a:r>
              <a:rPr lang="en-US" sz="1900" i="1" dirty="0">
                <a:solidFill>
                  <a:schemeClr val="bg1"/>
                </a:solidFill>
              </a:rPr>
              <a:t>14.30</a:t>
            </a:r>
            <a:r>
              <a:rPr lang="en-US" sz="1900" dirty="0">
                <a:solidFill>
                  <a:schemeClr val="bg1"/>
                </a:solidFill>
              </a:rPr>
              <a:t> ou </a:t>
            </a:r>
            <a:r>
              <a:rPr lang="en-US" sz="1900" i="1" dirty="0">
                <a:solidFill>
                  <a:schemeClr val="bg1"/>
                </a:solidFill>
              </a:rPr>
              <a:t>14:30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Heures pleines : Het is drie uur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68680" y="1645920"/>
            <a:ext cx="1828800" cy="1828800"/>
          </a:xfrm>
          <a:prstGeom prst="ellipse">
            <a:avLst/>
          </a:prstGeom>
          <a:solidFill>
            <a:srgbClr val="FFFFFF"/>
          </a:solidFill>
          <a:ln w="4064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1783080" y="1709928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2167128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2448271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78024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48271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167128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83080" y="3255264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H="1">
            <a:off x="1357884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H="1">
            <a:off x="1046619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932688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H="1" flipV="1">
            <a:off x="1046619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 flipV="1">
            <a:off x="1357884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508760" y="18288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12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5740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508760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9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 flipV="1">
            <a:off x="1783080" y="2164373"/>
            <a:ext cx="228600" cy="395947"/>
          </a:xfrm>
          <a:prstGeom prst="line">
            <a:avLst/>
          </a:prstGeom>
          <a:noFill/>
          <a:ln w="81280">
            <a:solidFill>
              <a:srgbClr val="17375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1783080" y="1847088"/>
            <a:ext cx="914" cy="71323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709928" y="2487168"/>
            <a:ext cx="146304" cy="14630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3611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</a:t>
            </a:r>
            <a:r>
              <a:rPr lang="en-US" sz="1900" b="1" i="1" dirty="0">
                <a:solidFill>
                  <a:schemeClr val="tx1"/>
                </a:solidFill>
              </a:rPr>
              <a:t>één uur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26" name="Shape 23"/>
          <p:cNvSpPr/>
          <p:nvPr/>
        </p:nvSpPr>
        <p:spPr>
          <a:xfrm>
            <a:off x="3383280" y="1645920"/>
            <a:ext cx="1828800" cy="1828800"/>
          </a:xfrm>
          <a:prstGeom prst="ellipse">
            <a:avLst/>
          </a:prstGeom>
          <a:solidFill>
            <a:srgbClr val="FFFFFF"/>
          </a:solidFill>
          <a:ln w="40640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297680" y="1709928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4681728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962871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92624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962871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681728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97680" y="3255264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H="1">
            <a:off x="3872484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H="1">
            <a:off x="3561219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>
            <a:off x="3447288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H="1" flipV="1">
            <a:off x="3561219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H="1" flipV="1">
            <a:off x="3872484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023360" y="18288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12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023360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347472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9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4297680" y="2560320"/>
            <a:ext cx="457200" cy="914"/>
          </a:xfrm>
          <a:prstGeom prst="line">
            <a:avLst/>
          </a:prstGeom>
          <a:noFill/>
          <a:ln w="81280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4297680" y="1847088"/>
            <a:ext cx="914" cy="71323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224528" y="2487168"/>
            <a:ext cx="146304" cy="14630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063240" y="3611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</a:t>
            </a:r>
            <a:r>
              <a:rPr lang="en-US" sz="1900" b="1" i="1" dirty="0">
                <a:solidFill>
                  <a:schemeClr val="tx1"/>
                </a:solidFill>
              </a:rPr>
              <a:t>drie uur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47" name="Shape 44"/>
          <p:cNvSpPr/>
          <p:nvPr/>
        </p:nvSpPr>
        <p:spPr>
          <a:xfrm>
            <a:off x="5897880" y="1645920"/>
            <a:ext cx="1828800" cy="1828800"/>
          </a:xfrm>
          <a:prstGeom prst="ellipse">
            <a:avLst/>
          </a:prstGeom>
          <a:solidFill>
            <a:srgbClr val="FFFFFF"/>
          </a:solidFill>
          <a:ln w="40640">
            <a:solidFill>
              <a:srgbClr val="17375E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6812280" y="1709928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7196328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7477471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507224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477471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7196328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812280" y="3255264"/>
            <a:ext cx="914" cy="155448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H="1">
            <a:off x="6387084" y="3225511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H="1">
            <a:off x="6075819" y="2944368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H="1">
            <a:off x="5961888" y="2560320"/>
            <a:ext cx="155448" cy="914"/>
          </a:xfrm>
          <a:prstGeom prst="line">
            <a:avLst/>
          </a:prstGeom>
          <a:noFill/>
          <a:ln w="30480">
            <a:solidFill>
              <a:srgbClr val="17375E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H="1" flipV="1">
            <a:off x="6075819" y="2135124"/>
            <a:ext cx="71270" cy="4114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H="1" flipV="1">
            <a:off x="6387084" y="1823859"/>
            <a:ext cx="41148" cy="71270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537960" y="18288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12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708660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6537960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5989320" y="23774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9</a:t>
            </a:r>
            <a:endParaRPr lang="en-US" sz="1400" dirty="0"/>
          </a:p>
        </p:txBody>
      </p:sp>
      <p:sp>
        <p:nvSpPr>
          <p:cNvPr id="64" name="Shape 61"/>
          <p:cNvSpPr/>
          <p:nvPr/>
        </p:nvSpPr>
        <p:spPr>
          <a:xfrm flipV="1">
            <a:off x="6812280" y="2103120"/>
            <a:ext cx="914" cy="457200"/>
          </a:xfrm>
          <a:prstGeom prst="line">
            <a:avLst/>
          </a:prstGeom>
          <a:noFill/>
          <a:ln w="81280">
            <a:solidFill>
              <a:srgbClr val="17375E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 flipV="1">
            <a:off x="6812280" y="1847088"/>
            <a:ext cx="914" cy="71323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6739128" y="2487168"/>
            <a:ext cx="146304" cy="14630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5577840" y="3611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</a:t>
            </a:r>
            <a:r>
              <a:rPr lang="en-US" sz="1900" b="1" i="1" dirty="0">
                <a:solidFill>
                  <a:schemeClr val="tx1"/>
                </a:solidFill>
              </a:rPr>
              <a:t>twaalf uur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68" name="Shape 65"/>
          <p:cNvSpPr/>
          <p:nvPr/>
        </p:nvSpPr>
        <p:spPr>
          <a:xfrm>
            <a:off x="8183880" y="1645920"/>
            <a:ext cx="3456432" cy="2514600"/>
          </a:xfrm>
          <a:prstGeom prst="roundRect">
            <a:avLst>
              <a:gd name="adj" fmla="val 3636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8366760" y="1737360"/>
            <a:ext cx="31089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Hoe laat is het?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Quelle heure est-il 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Om hoe laat…?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À quelle heure… ? (BE)</a:t>
            </a:r>
            <a:endParaRPr lang="en-US" sz="1700" dirty="0"/>
          </a:p>
        </p:txBody>
      </p:sp>
      <p:sp>
        <p:nvSpPr>
          <p:cNvPr id="70" name="Shape 67"/>
          <p:cNvSpPr/>
          <p:nvPr/>
        </p:nvSpPr>
        <p:spPr>
          <a:xfrm>
            <a:off x="548640" y="43891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77240" y="438912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uur</a:t>
            </a:r>
            <a:r>
              <a:rPr lang="en-US" sz="1600" dirty="0">
                <a:solidFill>
                  <a:schemeClr val="tx1"/>
                </a:solidFill>
              </a:rPr>
              <a:t> reste au singulier : ✗ </a:t>
            </a:r>
            <a:r>
              <a:rPr lang="en-US" sz="1600" i="1" strike="sngStrike" dirty="0">
                <a:solidFill>
                  <a:schemeClr val="accent6"/>
                </a:solidFill>
              </a:rPr>
              <a:t>drie uren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twaalf uur ’s middags</a:t>
            </a:r>
            <a:r>
              <a:rPr lang="en-US" sz="1600" dirty="0">
                <a:solidFill>
                  <a:schemeClr val="tx1"/>
                </a:solidFill>
              </a:rPr>
              <a:t> (midi) · </a:t>
            </a:r>
            <a:r>
              <a:rPr lang="en-US" sz="1600" i="1" dirty="0">
                <a:solidFill>
                  <a:schemeClr val="tx1"/>
                </a:solidFill>
              </a:rPr>
              <a:t>middernacht</a:t>
            </a:r>
            <a:r>
              <a:rPr lang="en-US" sz="1600" dirty="0">
                <a:solidFill>
                  <a:schemeClr val="tx1"/>
                </a:solidFill>
              </a:rPr>
              <a:t> (minuit)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één uur</a:t>
            </a:r>
            <a:r>
              <a:rPr lang="en-US" sz="1600" dirty="0">
                <a:solidFill>
                  <a:schemeClr val="tx1"/>
                </a:solidFill>
              </a:rPr>
              <a:t> (1 h, avec accents) ≠ </a:t>
            </a:r>
            <a:r>
              <a:rPr lang="en-US" sz="1600" i="1" dirty="0">
                <a:solidFill>
                  <a:schemeClr val="tx1"/>
                </a:solidFill>
              </a:rPr>
              <a:t>een uur</a:t>
            </a:r>
            <a:r>
              <a:rPr lang="en-US" sz="1600" dirty="0">
                <a:solidFill>
                  <a:schemeClr val="tx1"/>
                </a:solidFill>
              </a:rPr>
              <a:t> (une heure, durée)</a:t>
            </a:r>
            <a:endParaRPr lang="en-US" sz="1600" dirty="0"/>
          </a:p>
        </p:txBody>
      </p:sp>
      <p:sp>
        <p:nvSpPr>
          <p:cNvPr id="72" name="Shape 69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En heure courante, on compte de 1 à 12 : 15 h = </a:t>
            </a:r>
            <a:r>
              <a:rPr lang="en-US" sz="1800" i="1" dirty="0">
                <a:solidFill>
                  <a:schemeClr val="bg1"/>
                </a:solidFill>
              </a:rPr>
              <a:t>drie uur ’s namiddags</a:t>
            </a:r>
            <a:r>
              <a:rPr lang="en-US" sz="1800" dirty="0">
                <a:solidFill>
                  <a:schemeClr val="bg1"/>
                </a:solidFill>
              </a:rPr>
              <a:t> (NL : </a:t>
            </a:r>
            <a:r>
              <a:rPr lang="en-US" sz="1800" i="1" dirty="0">
                <a:solidFill>
                  <a:schemeClr val="bg1"/>
                </a:solidFill>
              </a:rPr>
              <a:t>’s middags</a:t>
            </a:r>
            <a:r>
              <a:rPr lang="en-US" sz="1800" dirty="0">
                <a:solidFill>
                  <a:schemeClr val="bg1"/>
                </a:solidFill>
              </a:rPr>
              <a:t>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half drie = 2 h 30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031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« deux heures et demie » → ✗ </a:t>
            </a:r>
            <a:r>
              <a:rPr lang="en-US" sz="2200" i="1" strike="sngStrike" dirty="0">
                <a:solidFill>
                  <a:schemeClr val="accent6"/>
                </a:solidFill>
              </a:rPr>
              <a:t>half twee</a:t>
            </a:r>
            <a:r>
              <a:rPr lang="en-US" sz="2200" dirty="0">
                <a:solidFill>
                  <a:schemeClr val="tx1"/>
                </a:solidFill>
              </a:rPr>
              <a:t> → ✓ </a:t>
            </a:r>
            <a:r>
              <a:rPr lang="en-US" sz="2200" b="1" i="1" dirty="0">
                <a:solidFill>
                  <a:schemeClr val="tx1"/>
                </a:solidFill>
              </a:rPr>
              <a:t>half drie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914400" y="2926080"/>
            <a:ext cx="658368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2926080"/>
            <a:ext cx="3291840" cy="64008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36118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 uur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36118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3 uur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206240" y="2880360"/>
            <a:ext cx="914" cy="731520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94560" y="363931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half drie</a:t>
            </a:r>
            <a:r>
              <a:rPr lang="en-US" sz="1600" dirty="0">
                <a:solidFill>
                  <a:schemeClr val="tx1"/>
                </a:solidFill>
              </a:rPr>
              <a:t> = à mi-chemin vers 3 h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955280" y="2697480"/>
            <a:ext cx="731520" cy="731520"/>
          </a:xfrm>
          <a:prstGeom prst="ellipse">
            <a:avLst/>
          </a:prstGeom>
          <a:solidFill>
            <a:srgbClr val="FFFFFF"/>
          </a:solidFill>
          <a:ln w="16256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8321040" y="2723083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8474659" y="276865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8587116" y="289316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599018" y="306324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587116" y="321685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474659" y="33293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321040" y="3341218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H="1">
            <a:off x="8150962" y="33293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H="1">
            <a:off x="8026456" y="321685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H="1">
            <a:off x="7980883" y="306324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H="1" flipV="1">
            <a:off x="8026456" y="289316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H="1" flipV="1">
            <a:off x="8150962" y="276865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H="1">
            <a:off x="8144391" y="3063240"/>
            <a:ext cx="176649" cy="47333"/>
          </a:xfrm>
          <a:prstGeom prst="line">
            <a:avLst/>
          </a:prstGeom>
          <a:noFill/>
          <a:ln w="32512">
            <a:solidFill>
              <a:srgbClr val="17375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321040" y="3063240"/>
            <a:ext cx="914" cy="285293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291779" y="3033979"/>
            <a:ext cx="58522" cy="5852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823960" y="2697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half negen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8 h 30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955280" y="3566160"/>
            <a:ext cx="731520" cy="731520"/>
          </a:xfrm>
          <a:prstGeom prst="ellipse">
            <a:avLst/>
          </a:prstGeom>
          <a:solidFill>
            <a:srgbClr val="FFFFFF"/>
          </a:solidFill>
          <a:ln w="16256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8321040" y="3591763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8474659" y="363733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8587116" y="376184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599018" y="393192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587116" y="408553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474659" y="419799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321040" y="4209898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H="1">
            <a:off x="8150962" y="419799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8026456" y="408553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H="1">
            <a:off x="7980883" y="393192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 flipV="1">
            <a:off x="8026456" y="376184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H="1" flipV="1">
            <a:off x="8150962" y="363733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8321040" y="3755271"/>
            <a:ext cx="47333" cy="176649"/>
          </a:xfrm>
          <a:prstGeom prst="line">
            <a:avLst/>
          </a:prstGeom>
          <a:noFill/>
          <a:ln w="32512">
            <a:solidFill>
              <a:srgbClr val="17375E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321040" y="3931920"/>
            <a:ext cx="914" cy="285293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291779" y="3902659"/>
            <a:ext cx="58522" cy="5852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823960" y="35661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half één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12 h 30</a:t>
            </a:r>
            <a:endParaRPr lang="en-US" sz="1600" dirty="0"/>
          </a:p>
        </p:txBody>
      </p:sp>
      <p:sp>
        <p:nvSpPr>
          <p:cNvPr id="48" name="Shape 45"/>
          <p:cNvSpPr/>
          <p:nvPr/>
        </p:nvSpPr>
        <p:spPr>
          <a:xfrm>
            <a:off x="7955280" y="4434840"/>
            <a:ext cx="731520" cy="731520"/>
          </a:xfrm>
          <a:prstGeom prst="ellipse">
            <a:avLst/>
          </a:prstGeom>
          <a:solidFill>
            <a:srgbClr val="FFFFFF"/>
          </a:solidFill>
          <a:ln w="16256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8321040" y="4460443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474659" y="45060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8587116" y="463052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599018" y="480060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587116" y="495421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8474659" y="506667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8321040" y="5078578"/>
            <a:ext cx="914" cy="62179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H="1">
            <a:off x="8150962" y="506667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H="1">
            <a:off x="8026456" y="4954219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H="1">
            <a:off x="7980883" y="4800600"/>
            <a:ext cx="62179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H="1" flipV="1">
            <a:off x="8026456" y="4630522"/>
            <a:ext cx="28508" cy="1645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H="1" flipV="1">
            <a:off x="8150962" y="4506016"/>
            <a:ext cx="16459" cy="28508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H="1">
            <a:off x="8273707" y="4800600"/>
            <a:ext cx="47333" cy="176649"/>
          </a:xfrm>
          <a:prstGeom prst="line">
            <a:avLst/>
          </a:prstGeom>
          <a:noFill/>
          <a:ln w="32512">
            <a:solidFill>
              <a:srgbClr val="17375E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8321040" y="4800600"/>
            <a:ext cx="914" cy="285293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8291779" y="4771339"/>
            <a:ext cx="58522" cy="5852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823960" y="4434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half zeven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6 h 30</a:t>
            </a:r>
            <a:endParaRPr lang="en-US" sz="1600" dirty="0"/>
          </a:p>
        </p:txBody>
      </p:sp>
      <p:sp>
        <p:nvSpPr>
          <p:cNvPr id="65" name="Text 62"/>
          <p:cNvSpPr txBox="1"/>
          <p:nvPr/>
        </p:nvSpPr>
        <p:spPr>
          <a:xfrm>
            <a:off x="777240" y="416052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Astuce : </a:t>
            </a:r>
            <a:r>
              <a:rPr lang="en-US" sz="1900" b="1" i="1" dirty="0">
                <a:solidFill>
                  <a:schemeClr val="accent6"/>
                </a:solidFill>
              </a:rPr>
              <a:t>half</a:t>
            </a:r>
            <a:r>
              <a:rPr lang="en-US" sz="1900" b="1" dirty="0">
                <a:solidFill>
                  <a:schemeClr val="accent6"/>
                </a:solidFill>
              </a:rPr>
              <a:t> + l’heure </a:t>
            </a:r>
            <a:r>
              <a:rPr lang="en-US" sz="1900" b="1" dirty="0">
                <a:solidFill>
                  <a:schemeClr val="accent6"/>
                </a:solidFill>
              </a:rPr>
              <a:t>qui arrive</a:t>
            </a:r>
            <a:r>
              <a:rPr lang="en-US" sz="1900" b="1" dirty="0">
                <a:solidFill>
                  <a:schemeClr val="accent6"/>
                </a:solidFill>
              </a:rPr>
              <a:t>.</a:t>
            </a:r>
            <a:endParaRPr lang="en-US" sz="1900" dirty="0"/>
          </a:p>
        </p:txBody>
      </p:sp>
      <p:sp>
        <p:nvSpPr>
          <p:cNvPr id="66" name="Shape 63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Comme l’allemand </a:t>
            </a:r>
            <a:r>
              <a:rPr lang="en-US" sz="1800" i="1" dirty="0">
                <a:solidFill>
                  <a:schemeClr val="bg1"/>
                </a:solidFill>
              </a:rPr>
              <a:t>halb drei</a:t>
            </a:r>
            <a:r>
              <a:rPr lang="en-US" sz="1800" dirty="0">
                <a:solidFill>
                  <a:schemeClr val="bg1"/>
                </a:solidFill>
              </a:rPr>
              <a:t> : on pense à l’heure suivante avant de parler.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kwart over, kwart voor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22392" cy="3566160"/>
          </a:xfrm>
          <a:prstGeom prst="roundRect">
            <a:avLst>
              <a:gd name="adj" fmla="val 25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68680" y="1920240"/>
            <a:ext cx="2377440" cy="2377440"/>
          </a:xfrm>
          <a:prstGeom prst="ellipse">
            <a:avLst/>
          </a:prstGeom>
          <a:solidFill>
            <a:srgbClr val="FFFFFF"/>
          </a:solidFill>
          <a:ln w="52832">
            <a:solidFill>
              <a:srgbClr val="17375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63778" y="2015338"/>
            <a:ext cx="2187245" cy="2187245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2A6FB0">
              <a:alpha val="4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2057400" y="2003450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2556662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2922148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60827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22148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56662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57400" y="4012387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1504645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H="1">
            <a:off x="1100001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951890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 flipV="1">
            <a:off x="1100001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 flipV="1">
            <a:off x="1504645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83080" y="2212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12</a:t>
            </a:r>
            <a:endParaRPr lang="en-US" sz="1820" dirty="0"/>
          </a:p>
        </p:txBody>
      </p:sp>
      <p:sp>
        <p:nvSpPr>
          <p:cNvPr id="21" name="Text 18"/>
          <p:cNvSpPr txBox="1"/>
          <p:nvPr/>
        </p:nvSpPr>
        <p:spPr>
          <a:xfrm>
            <a:off x="2496312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3</a:t>
            </a:r>
            <a:endParaRPr lang="en-US" sz="1820" dirty="0"/>
          </a:p>
        </p:txBody>
      </p:sp>
      <p:sp>
        <p:nvSpPr>
          <p:cNvPr id="22" name="Text 19"/>
          <p:cNvSpPr txBox="1"/>
          <p:nvPr/>
        </p:nvSpPr>
        <p:spPr>
          <a:xfrm>
            <a:off x="1783080" y="3639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6</a:t>
            </a:r>
            <a:endParaRPr lang="en-US" sz="1820" dirty="0"/>
          </a:p>
        </p:txBody>
      </p:sp>
      <p:sp>
        <p:nvSpPr>
          <p:cNvPr id="23" name="Text 20"/>
          <p:cNvSpPr txBox="1"/>
          <p:nvPr/>
        </p:nvSpPr>
        <p:spPr>
          <a:xfrm>
            <a:off x="1069848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9</a:t>
            </a:r>
            <a:endParaRPr lang="en-US" sz="1820" dirty="0"/>
          </a:p>
        </p:txBody>
      </p:sp>
      <p:sp>
        <p:nvSpPr>
          <p:cNvPr id="24" name="Shape 21"/>
          <p:cNvSpPr/>
          <p:nvPr/>
        </p:nvSpPr>
        <p:spPr>
          <a:xfrm>
            <a:off x="2057400" y="3108960"/>
            <a:ext cx="589275" cy="77580"/>
          </a:xfrm>
          <a:prstGeom prst="line">
            <a:avLst/>
          </a:prstGeom>
          <a:noFill/>
          <a:ln w="105664">
            <a:solidFill>
              <a:srgbClr val="17375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57400" y="3108960"/>
            <a:ext cx="927202" cy="914"/>
          </a:xfrm>
          <a:prstGeom prst="line">
            <a:avLst/>
          </a:prstGeom>
          <a:noFill/>
          <a:ln w="66040">
            <a:solidFill>
              <a:srgbClr val="D9700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962302" y="3013862"/>
            <a:ext cx="190195" cy="190195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383280" y="192024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kwart </a:t>
            </a:r>
            <a:r>
              <a:rPr lang="en-US" sz="2100" b="1" i="1" dirty="0">
                <a:solidFill>
                  <a:schemeClr val="accent2"/>
                </a:solidFill>
              </a:rPr>
              <a:t>over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« trois heures et quart »</a:t>
            </a:r>
            <a:endParaRPr lang="en-US" sz="2100" dirty="0"/>
          </a:p>
        </p:txBody>
      </p:sp>
      <p:sp>
        <p:nvSpPr>
          <p:cNvPr id="28" name="Shape 25"/>
          <p:cNvSpPr/>
          <p:nvPr/>
        </p:nvSpPr>
        <p:spPr>
          <a:xfrm>
            <a:off x="6217920" y="1600200"/>
            <a:ext cx="5422392" cy="3566160"/>
          </a:xfrm>
          <a:prstGeom prst="roundRect">
            <a:avLst>
              <a:gd name="adj" fmla="val 25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6537960" y="1920240"/>
            <a:ext cx="2377440" cy="2377440"/>
          </a:xfrm>
          <a:prstGeom prst="ellipse">
            <a:avLst/>
          </a:prstGeom>
          <a:solidFill>
            <a:srgbClr val="FFFFFF"/>
          </a:solidFill>
          <a:ln w="52832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633058" y="2015338"/>
            <a:ext cx="2187245" cy="2187245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D9700F">
              <a:alpha val="4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7726680" y="2003450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8225942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8591428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630107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591428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25942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726680" y="4012387"/>
            <a:ext cx="914" cy="202082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H="1">
            <a:off x="7173925" y="3973708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H="1">
            <a:off x="6769281" y="3608222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6621170" y="3108960"/>
            <a:ext cx="202082" cy="914"/>
          </a:xfrm>
          <a:prstGeom prst="line">
            <a:avLst/>
          </a:prstGeom>
          <a:noFill/>
          <a:ln w="39624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H="1" flipV="1">
            <a:off x="6769281" y="2556205"/>
            <a:ext cx="92652" cy="5349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 flipV="1">
            <a:off x="7173925" y="2151561"/>
            <a:ext cx="53492" cy="92652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452360" y="2212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12</a:t>
            </a:r>
            <a:endParaRPr lang="en-US" sz="1820" dirty="0"/>
          </a:p>
        </p:txBody>
      </p:sp>
      <p:sp>
        <p:nvSpPr>
          <p:cNvPr id="44" name="Text 41"/>
          <p:cNvSpPr txBox="1"/>
          <p:nvPr/>
        </p:nvSpPr>
        <p:spPr>
          <a:xfrm>
            <a:off x="8165592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3</a:t>
            </a:r>
            <a:endParaRPr lang="en-US" sz="1820" dirty="0"/>
          </a:p>
        </p:txBody>
      </p:sp>
      <p:sp>
        <p:nvSpPr>
          <p:cNvPr id="45" name="Text 42"/>
          <p:cNvSpPr txBox="1"/>
          <p:nvPr/>
        </p:nvSpPr>
        <p:spPr>
          <a:xfrm>
            <a:off x="7452360" y="3639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6</a:t>
            </a:r>
            <a:endParaRPr lang="en-US" sz="1820" dirty="0"/>
          </a:p>
        </p:txBody>
      </p:sp>
      <p:sp>
        <p:nvSpPr>
          <p:cNvPr id="46" name="Text 43"/>
          <p:cNvSpPr txBox="1"/>
          <p:nvPr/>
        </p:nvSpPr>
        <p:spPr>
          <a:xfrm>
            <a:off x="6739128" y="2926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9</a:t>
            </a:r>
            <a:endParaRPr lang="en-US" sz="1820" dirty="0"/>
          </a:p>
        </p:txBody>
      </p:sp>
      <p:sp>
        <p:nvSpPr>
          <p:cNvPr id="47" name="Shape 44"/>
          <p:cNvSpPr/>
          <p:nvPr/>
        </p:nvSpPr>
        <p:spPr>
          <a:xfrm>
            <a:off x="7726680" y="3108960"/>
            <a:ext cx="549117" cy="227452"/>
          </a:xfrm>
          <a:prstGeom prst="line">
            <a:avLst/>
          </a:prstGeom>
          <a:noFill/>
          <a:ln w="105664">
            <a:solidFill>
              <a:srgbClr val="17375E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H="1">
            <a:off x="6799478" y="3108960"/>
            <a:ext cx="927202" cy="914"/>
          </a:xfrm>
          <a:prstGeom prst="line">
            <a:avLst/>
          </a:prstGeom>
          <a:noFill/>
          <a:ln w="66040">
            <a:solidFill>
              <a:srgbClr val="D9700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7631582" y="3013862"/>
            <a:ext cx="190195" cy="190195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052560" y="192024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kwart </a:t>
            </a:r>
            <a:r>
              <a:rPr lang="en-US" sz="2100" b="1" i="1" dirty="0">
                <a:solidFill>
                  <a:schemeClr val="accent1"/>
                </a:solidFill>
              </a:rPr>
              <a:t>voor</a:t>
            </a:r>
            <a:r>
              <a:rPr lang="en-US" sz="2100" i="1" dirty="0">
                <a:solidFill>
                  <a:schemeClr val="tx1"/>
                </a:solidFill>
              </a:rPr>
              <a:t> vier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« quatre heures moins le quart »</a:t>
            </a:r>
            <a:endParaRPr lang="en-US" sz="2100" dirty="0"/>
          </a:p>
        </p:txBody>
      </p:sp>
      <p:sp>
        <p:nvSpPr>
          <p:cNvPr id="51" name="Shape 48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bg1"/>
                </a:solidFill>
              </a:rPr>
              <a:t>over</a:t>
            </a:r>
            <a:r>
              <a:rPr lang="en-US" sz="2000" dirty="0">
                <a:solidFill>
                  <a:schemeClr val="bg1"/>
                </a:solidFill>
              </a:rPr>
              <a:t> = après · </a:t>
            </a:r>
            <a:r>
              <a:rPr lang="en-US" sz="2000" i="1" dirty="0">
                <a:solidFill>
                  <a:schemeClr val="bg1"/>
                </a:solidFill>
              </a:rPr>
              <a:t>voor</a:t>
            </a:r>
            <a:r>
              <a:rPr lang="en-US" sz="2000" dirty="0">
                <a:solidFill>
                  <a:schemeClr val="bg1"/>
                </a:solidFill>
              </a:rPr>
              <a:t> = avant — comme en français 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L’horloge en quatre zones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645920"/>
            <a:ext cx="3749040" cy="374904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2E7D4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0"/>
              <a:gd name="adj2" fmla="val 5400000"/>
            </a:avLst>
          </a:prstGeom>
          <a:solidFill>
            <a:srgbClr val="D9700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6E4A9E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72922" y="1795882"/>
            <a:ext cx="3449117" cy="3449117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2A6FB0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2697480" y="1777136"/>
            <a:ext cx="914" cy="318668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3484778" y="2010695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4061121" y="264878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122115" y="3520440"/>
            <a:ext cx="318668" cy="914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061121" y="430773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84778" y="4884081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697480" y="4945075"/>
            <a:ext cx="914" cy="318668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1825828" y="4884081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>
            <a:off x="1187735" y="430773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>
            <a:off x="954176" y="3520440"/>
            <a:ext cx="318668" cy="914"/>
          </a:xfrm>
          <a:prstGeom prst="line">
            <a:avLst/>
          </a:prstGeom>
          <a:noFill/>
          <a:ln w="62484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H="1" flipV="1">
            <a:off x="1187735" y="2648788"/>
            <a:ext cx="146104" cy="843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H="1" flipV="1">
            <a:off x="1825828" y="2010695"/>
            <a:ext cx="84353" cy="14610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423160" y="22128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12</a:t>
            </a:r>
            <a:endParaRPr lang="en-US" sz="2870" dirty="0"/>
          </a:p>
        </p:txBody>
      </p:sp>
      <p:sp>
        <p:nvSpPr>
          <p:cNvPr id="23" name="Text 20"/>
          <p:cNvSpPr txBox="1"/>
          <p:nvPr/>
        </p:nvSpPr>
        <p:spPr>
          <a:xfrm>
            <a:off x="3547872" y="3337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3</a:t>
            </a:r>
            <a:endParaRPr lang="en-US" sz="2870" dirty="0"/>
          </a:p>
        </p:txBody>
      </p:sp>
      <p:sp>
        <p:nvSpPr>
          <p:cNvPr id="24" name="Text 21"/>
          <p:cNvSpPr txBox="1"/>
          <p:nvPr/>
        </p:nvSpPr>
        <p:spPr>
          <a:xfrm>
            <a:off x="2423160" y="44622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6</a:t>
            </a:r>
            <a:endParaRPr lang="en-US" sz="2870" dirty="0"/>
          </a:p>
        </p:txBody>
      </p:sp>
      <p:sp>
        <p:nvSpPr>
          <p:cNvPr id="25" name="Text 22"/>
          <p:cNvSpPr txBox="1"/>
          <p:nvPr/>
        </p:nvSpPr>
        <p:spPr>
          <a:xfrm>
            <a:off x="1298448" y="3337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70" b="1" dirty="0">
                <a:solidFill>
                  <a:schemeClr val="tx2"/>
                </a:solidFill>
              </a:rPr>
              <a:t>9</a:t>
            </a:r>
            <a:endParaRPr lang="en-US" sz="2870" dirty="0"/>
          </a:p>
        </p:txBody>
      </p:sp>
      <p:sp>
        <p:nvSpPr>
          <p:cNvPr id="26" name="Shape 23"/>
          <p:cNvSpPr/>
          <p:nvPr/>
        </p:nvSpPr>
        <p:spPr>
          <a:xfrm flipV="1">
            <a:off x="2697480" y="3051810"/>
            <a:ext cx="811691" cy="468630"/>
          </a:xfrm>
          <a:prstGeom prst="line">
            <a:avLst/>
          </a:prstGeom>
          <a:noFill/>
          <a:ln w="166624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2697480" y="2058314"/>
            <a:ext cx="914" cy="1462126"/>
          </a:xfrm>
          <a:prstGeom prst="line">
            <a:avLst/>
          </a:prstGeom>
          <a:noFill/>
          <a:ln w="104140">
            <a:solidFill>
              <a:srgbClr val="D9700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547518" y="3370478"/>
            <a:ext cx="299923" cy="299923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029200" y="1645920"/>
            <a:ext cx="6611112" cy="804672"/>
          </a:xfrm>
          <a:prstGeom prst="roundRect">
            <a:avLst>
              <a:gd name="adj" fmla="val 11364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138928" y="1719072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5468112" y="1742115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5606369" y="1783130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707581" y="1895185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718292" y="2048256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707581" y="218651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606369" y="2287725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468112" y="2298436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H="1">
            <a:off x="5315041" y="2287725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H="1">
            <a:off x="5202986" y="218651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5161971" y="2048256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H="1" flipV="1">
            <a:off x="5202986" y="1895185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 flipV="1">
            <a:off x="5315041" y="1783130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5468112" y="1978696"/>
            <a:ext cx="149171" cy="69560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5468112" y="1919874"/>
            <a:ext cx="222364" cy="128382"/>
          </a:xfrm>
          <a:prstGeom prst="line">
            <a:avLst/>
          </a:prstGeom>
          <a:noFill/>
          <a:ln w="22225">
            <a:solidFill>
              <a:srgbClr val="2E7D4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441777" y="2021921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943600" y="1645920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2 h 10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7040880" y="1645920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over</a:t>
            </a:r>
            <a:r>
              <a:rPr lang="en-US" sz="2100" i="1" dirty="0">
                <a:solidFill>
                  <a:schemeClr val="tx1"/>
                </a:solidFill>
              </a:rPr>
              <a:t> twee</a:t>
            </a:r>
            <a:endParaRPr lang="en-US" sz="2100" dirty="0"/>
          </a:p>
        </p:txBody>
      </p:sp>
      <p:sp>
        <p:nvSpPr>
          <p:cNvPr id="48" name="tag"/>
          <p:cNvSpPr/>
          <p:nvPr/>
        </p:nvSpPr>
        <p:spPr>
          <a:xfrm>
            <a:off x="10424160" y="1892808"/>
            <a:ext cx="126674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0–15 min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5029200" y="2578608"/>
            <a:ext cx="6611112" cy="804672"/>
          </a:xfrm>
          <a:prstGeom prst="roundRect">
            <a:avLst>
              <a:gd name="adj" fmla="val 11364"/>
            </a:avLst>
          </a:prstGeom>
          <a:solidFill>
            <a:schemeClr val="accent1">
              <a:alpha val="12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138928" y="2651760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5468112" y="2674803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5606369" y="2715818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 flipV="1">
            <a:off x="5707581" y="282787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718292" y="2980944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707581" y="311920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5606369" y="3220413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468112" y="3231124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H="1">
            <a:off x="5315041" y="3220413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H="1">
            <a:off x="5202986" y="311920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H="1">
            <a:off x="5161971" y="2980944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H="1" flipV="1">
            <a:off x="5202986" y="2827873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H="1" flipV="1">
            <a:off x="5315041" y="2715818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5468112" y="2924650"/>
            <a:ext cx="154666" cy="56294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468112" y="2980944"/>
            <a:ext cx="222364" cy="128382"/>
          </a:xfrm>
          <a:prstGeom prst="line">
            <a:avLst/>
          </a:prstGeom>
          <a:noFill/>
          <a:ln w="22225">
            <a:solidFill>
              <a:srgbClr val="D9700F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5441777" y="2954609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5943600" y="2578608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2 h 20</a:t>
            </a:r>
            <a:endParaRPr lang="en-US" sz="1700" dirty="0"/>
          </a:p>
        </p:txBody>
      </p:sp>
      <p:sp>
        <p:nvSpPr>
          <p:cNvPr id="67" name="Text 64"/>
          <p:cNvSpPr txBox="1"/>
          <p:nvPr/>
        </p:nvSpPr>
        <p:spPr>
          <a:xfrm>
            <a:off x="7040880" y="2578608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voor half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</p:txBody>
      </p:sp>
      <p:sp>
        <p:nvSpPr>
          <p:cNvPr id="68" name="tag"/>
          <p:cNvSpPr/>
          <p:nvPr/>
        </p:nvSpPr>
        <p:spPr>
          <a:xfrm>
            <a:off x="10424160" y="2825496"/>
            <a:ext cx="1365656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15–30 min</a:t>
            </a:r>
            <a:endParaRPr lang="en-US" sz="1100" dirty="0"/>
          </a:p>
        </p:txBody>
      </p:sp>
      <p:sp>
        <p:nvSpPr>
          <p:cNvPr id="69" name="Shape 66"/>
          <p:cNvSpPr/>
          <p:nvPr/>
        </p:nvSpPr>
        <p:spPr>
          <a:xfrm>
            <a:off x="5029200" y="3511296"/>
            <a:ext cx="6611112" cy="804672"/>
          </a:xfrm>
          <a:prstGeom prst="roundRect">
            <a:avLst>
              <a:gd name="adj" fmla="val 11364"/>
            </a:avLst>
          </a:prstGeom>
          <a:solidFill>
            <a:srgbClr val="6E4A9E">
              <a:alpha val="12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138928" y="3584448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5468112" y="3607491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 flipV="1">
            <a:off x="5606369" y="3648506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5707581" y="376056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718292" y="3913632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707581" y="405188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5606369" y="4153101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5468112" y="4163812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 flipH="1">
            <a:off x="5315041" y="4153101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 flipH="1">
            <a:off x="5202986" y="405188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 flipH="1">
            <a:off x="5161971" y="3913632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H="1" flipV="1">
            <a:off x="5202986" y="3760561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H="1" flipV="1">
            <a:off x="5315041" y="3648506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 flipV="1">
            <a:off x="5468112" y="3885051"/>
            <a:ext cx="162091" cy="28581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 flipH="1">
            <a:off x="5245748" y="3913632"/>
            <a:ext cx="222364" cy="128382"/>
          </a:xfrm>
          <a:prstGeom prst="line">
            <a:avLst/>
          </a:prstGeom>
          <a:noFill/>
          <a:ln w="22225">
            <a:solidFill>
              <a:srgbClr val="6E4A9E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441777" y="3887297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5943600" y="3511296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E4A9E"/>
                </a:solidFill>
              </a:rPr>
              <a:t>2 h 40</a:t>
            </a:r>
            <a:endParaRPr lang="en-US" sz="1700" dirty="0"/>
          </a:p>
        </p:txBody>
      </p:sp>
      <p:sp>
        <p:nvSpPr>
          <p:cNvPr id="87" name="Text 84"/>
          <p:cNvSpPr txBox="1"/>
          <p:nvPr/>
        </p:nvSpPr>
        <p:spPr>
          <a:xfrm>
            <a:off x="7040880" y="3511296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over half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</p:txBody>
      </p:sp>
      <p:sp>
        <p:nvSpPr>
          <p:cNvPr id="88" name="tag"/>
          <p:cNvSpPr/>
          <p:nvPr/>
        </p:nvSpPr>
        <p:spPr>
          <a:xfrm>
            <a:off x="10424160" y="3758184"/>
            <a:ext cx="136565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30–45 min</a:t>
            </a:r>
            <a:endParaRPr lang="en-US" sz="1100" dirty="0"/>
          </a:p>
        </p:txBody>
      </p:sp>
      <p:sp>
        <p:nvSpPr>
          <p:cNvPr id="89" name="Shape 86"/>
          <p:cNvSpPr/>
          <p:nvPr/>
        </p:nvSpPr>
        <p:spPr>
          <a:xfrm>
            <a:off x="5029200" y="4443984"/>
            <a:ext cx="6611112" cy="804672"/>
          </a:xfrm>
          <a:prstGeom prst="roundRect">
            <a:avLst>
              <a:gd name="adj" fmla="val 11364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>
            <a:off x="5138928" y="4517136"/>
            <a:ext cx="658368" cy="6583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 flipV="1">
            <a:off x="5468112" y="4540179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V="1">
            <a:off x="5606369" y="4581194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V="1">
            <a:off x="5707581" y="469324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5718292" y="4846320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5707581" y="4984577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5606369" y="5085789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5468112" y="5096500"/>
            <a:ext cx="914" cy="55961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H="1">
            <a:off x="5315041" y="5085789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 flipH="1">
            <a:off x="5202986" y="4984577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 flipH="1">
            <a:off x="5161971" y="4846320"/>
            <a:ext cx="55961" cy="914"/>
          </a:xfrm>
          <a:prstGeom prst="line">
            <a:avLst/>
          </a:prstGeom>
          <a:noFill/>
          <a:ln w="15875">
            <a:solidFill>
              <a:srgbClr val="17375E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 flipH="1" flipV="1">
            <a:off x="5202986" y="4693249"/>
            <a:ext cx="25657" cy="1481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 flipH="1" flipV="1">
            <a:off x="5315041" y="4581194"/>
            <a:ext cx="14813" cy="25657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 flipV="1">
            <a:off x="5468112" y="4831975"/>
            <a:ext cx="163966" cy="14345"/>
          </a:xfrm>
          <a:prstGeom prst="line">
            <a:avLst/>
          </a:prstGeom>
          <a:noFill/>
          <a:ln w="31750">
            <a:solidFill>
              <a:srgbClr val="17375E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 flipH="1" flipV="1">
            <a:off x="5245748" y="4717938"/>
            <a:ext cx="222364" cy="128382"/>
          </a:xfrm>
          <a:prstGeom prst="line">
            <a:avLst/>
          </a:prstGeom>
          <a:noFill/>
          <a:ln w="22225">
            <a:solidFill>
              <a:srgbClr val="2A6FB0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5441777" y="4819985"/>
            <a:ext cx="52669" cy="52669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5943600" y="4443984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2 h 50</a:t>
            </a:r>
            <a:endParaRPr lang="en-US" sz="1700" dirty="0"/>
          </a:p>
        </p:txBody>
      </p:sp>
      <p:sp>
        <p:nvSpPr>
          <p:cNvPr id="107" name="Text 104"/>
          <p:cNvSpPr txBox="1"/>
          <p:nvPr/>
        </p:nvSpPr>
        <p:spPr>
          <a:xfrm>
            <a:off x="7040880" y="4443984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tien </a:t>
            </a:r>
            <a:r>
              <a:rPr lang="en-US" sz="2100" b="1" i="1" dirty="0">
                <a:solidFill>
                  <a:schemeClr val="tx1"/>
                </a:solidFill>
              </a:rPr>
              <a:t>voor</a:t>
            </a:r>
            <a:r>
              <a:rPr lang="en-US" sz="2100" i="1" dirty="0">
                <a:solidFill>
                  <a:schemeClr val="tx1"/>
                </a:solidFill>
              </a:rPr>
              <a:t> drie</a:t>
            </a:r>
            <a:endParaRPr lang="en-US" sz="2100" dirty="0"/>
          </a:p>
        </p:txBody>
      </p:sp>
      <p:sp>
        <p:nvSpPr>
          <p:cNvPr id="108" name="tag"/>
          <p:cNvSpPr/>
          <p:nvPr/>
        </p:nvSpPr>
        <p:spPr>
          <a:xfrm>
            <a:off x="10424160" y="4690872"/>
            <a:ext cx="1365656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45–60 min</a:t>
            </a:r>
            <a:endParaRPr lang="en-US" sz="1100" dirty="0"/>
          </a:p>
        </p:txBody>
      </p:sp>
      <p:sp>
        <p:nvSpPr>
          <p:cNvPr id="109" name="Text 106"/>
          <p:cNvSpPr txBox="1"/>
          <p:nvPr/>
        </p:nvSpPr>
        <p:spPr>
          <a:xfrm>
            <a:off x="548640" y="55321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Repères : l’heure pleine, </a:t>
            </a:r>
            <a:r>
              <a:rPr lang="en-US" sz="1500" i="1" dirty="0">
                <a:solidFill>
                  <a:schemeClr val="accent5"/>
                </a:solidFill>
              </a:rPr>
              <a:t>kwart</a:t>
            </a:r>
            <a:r>
              <a:rPr lang="en-US" sz="1500" i="1" dirty="0">
                <a:solidFill>
                  <a:schemeClr val="accent5"/>
                </a:solidFill>
              </a:rPr>
              <a:t>, </a:t>
            </a:r>
            <a:r>
              <a:rPr lang="en-US" sz="1500" i="1" dirty="0">
                <a:solidFill>
                  <a:schemeClr val="accent5"/>
                </a:solidFill>
              </a:rPr>
              <a:t>half</a:t>
            </a:r>
            <a:endParaRPr lang="en-US" sz="1500" dirty="0"/>
          </a:p>
        </p:txBody>
      </p:sp>
      <p:sp>
        <p:nvSpPr>
          <p:cNvPr id="110" name="Shape 107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1" name="Text 108"/>
          <p:cNvSpPr txBox="1"/>
          <p:nvPr/>
        </p:nvSpPr>
        <p:spPr>
          <a:xfrm>
            <a:off x="822960" y="55778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2 h 20 = aussi </a:t>
            </a:r>
            <a:r>
              <a:rPr lang="en-US" sz="1600" i="1" dirty="0">
                <a:solidFill>
                  <a:schemeClr val="bg1"/>
                </a:solidFill>
              </a:rPr>
              <a:t>twintig over twee</a:t>
            </a:r>
            <a:r>
              <a:rPr lang="en-US" sz="1600" dirty="0">
                <a:solidFill>
                  <a:schemeClr val="bg1"/>
                </a:solidFill>
              </a:rPr>
              <a:t> · 2 h 40 = aussi </a:t>
            </a:r>
            <a:r>
              <a:rPr lang="en-US" sz="1600" i="1" dirty="0">
                <a:solidFill>
                  <a:schemeClr val="bg1"/>
                </a:solidFill>
              </a:rPr>
              <a:t>twintig voor drie</a:t>
            </a:r>
            <a:r>
              <a:rPr lang="en-US" sz="1600" dirty="0">
                <a:solidFill>
                  <a:schemeClr val="bg1"/>
                </a:solidFill>
              </a:rPr>
              <a:t> (fréquent en Belgique)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Officiel ou courant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AFFICHAGE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2560320" y="15544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HEURE OFFICIELLE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1554480"/>
            <a:ext cx="4690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HEURE COURANTE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938528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1938528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09.00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2560320" y="1938528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697480" y="1938528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negen uur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949440" y="1938528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086600" y="193852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negen uur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2651760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13.15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2560320" y="2651760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697480" y="2651760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dertien uur vijftien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949440" y="2651760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086600" y="265176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kwart over één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548640" y="3364992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364992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16.30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560320" y="3364992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697480" y="3364992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zestien uur dertig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949440" y="3364992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086600" y="336499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half vijf</a:t>
            </a:r>
            <a:endParaRPr lang="en-US" sz="1900" dirty="0"/>
          </a:p>
        </p:txBody>
      </p:sp>
      <p:sp>
        <p:nvSpPr>
          <p:cNvPr id="26" name="Shape 23"/>
          <p:cNvSpPr/>
          <p:nvPr/>
        </p:nvSpPr>
        <p:spPr>
          <a:xfrm>
            <a:off x="548640" y="4078224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8640" y="4078224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18.45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560320" y="4078224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697480" y="4078224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achttien uur vijfenveertig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949440" y="4078224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086600" y="407822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kwart voor zeven</a:t>
            </a:r>
            <a:endParaRPr lang="en-US" sz="1900" dirty="0"/>
          </a:p>
        </p:txBody>
      </p:sp>
      <p:sp>
        <p:nvSpPr>
          <p:cNvPr id="32" name="Shape 29"/>
          <p:cNvSpPr/>
          <p:nvPr/>
        </p:nvSpPr>
        <p:spPr>
          <a:xfrm>
            <a:off x="548640" y="4791456"/>
            <a:ext cx="1737360" cy="585216"/>
          </a:xfrm>
          <a:prstGeom prst="roundRect">
            <a:avLst>
              <a:gd name="adj" fmla="val 12500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4791456"/>
            <a:ext cx="1737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20.25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2560320" y="4791456"/>
            <a:ext cx="4206240" cy="585216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697480" y="4791456"/>
            <a:ext cx="4023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twintig uur vijfentwintig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6949440" y="4791456"/>
            <a:ext cx="4690872" cy="585216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086600" y="479145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vijf voor half negen</a:t>
            </a:r>
            <a:endParaRPr lang="en-US" sz="1900" dirty="0"/>
          </a:p>
        </p:txBody>
      </p:sp>
      <p:sp>
        <p:nvSpPr>
          <p:cNvPr id="38" name="Shape 35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2960" y="55778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Méthode : ① je ramène à 12 h (16 → 4) · ② je cherche la zone · ③ </a:t>
            </a:r>
            <a:r>
              <a:rPr lang="en-US" sz="1700" i="1" dirty="0">
                <a:solidFill>
                  <a:schemeClr val="bg1"/>
                </a:solidFill>
              </a:rPr>
              <a:t>half</a:t>
            </a:r>
            <a:r>
              <a:rPr lang="en-US" sz="1700" dirty="0">
                <a:solidFill>
                  <a:schemeClr val="bg1"/>
                </a:solidFill>
              </a:rPr>
              <a:t> → l’heure suivante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moments de la journée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sunri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2471" y="173736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’s ochtends · ’s morgens</a:t>
            </a:r>
            <a:endParaRPr lang="en-US" sz="19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matin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334899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FFF6D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su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2821" y="1737360"/>
            <a:ext cx="822960" cy="8229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44043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’s middags</a:t>
            </a:r>
            <a:endParaRPr lang="en-US" sz="1900" dirty="0"/>
          </a:p>
        </p:txBody>
      </p:sp>
      <p:sp>
        <p:nvSpPr>
          <p:cNvPr id="12" name="Text 7"/>
          <p:cNvSpPr txBox="1"/>
          <p:nvPr/>
        </p:nvSpPr>
        <p:spPr>
          <a:xfrm>
            <a:off x="344043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à midi / l’après-midi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614934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F6E3E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suns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3171" y="1737360"/>
            <a:ext cx="822960" cy="8229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24078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4"/>
                </a:solidFill>
              </a:rPr>
              <a:t>’s avonds</a:t>
            </a:r>
            <a:endParaRPr lang="en-US" sz="1900" dirty="0"/>
          </a:p>
        </p:txBody>
      </p:sp>
      <p:sp>
        <p:nvSpPr>
          <p:cNvPr id="16" name="Text 10"/>
          <p:cNvSpPr txBox="1"/>
          <p:nvPr/>
        </p:nvSpPr>
        <p:spPr>
          <a:xfrm>
            <a:off x="624078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soir</a:t>
            </a:r>
            <a:endParaRPr lang="en-US" sz="1500" dirty="0"/>
          </a:p>
        </p:txBody>
      </p:sp>
      <p:sp>
        <p:nvSpPr>
          <p:cNvPr id="17" name="Shape 11"/>
          <p:cNvSpPr/>
          <p:nvPr/>
        </p:nvSpPr>
        <p:spPr>
          <a:xfrm>
            <a:off x="8949690" y="1600200"/>
            <a:ext cx="2690622" cy="2331720"/>
          </a:xfrm>
          <a:prstGeom prst="roundRect">
            <a:avLst>
              <a:gd name="adj" fmla="val 3922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3" descr="crescent mo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521" y="1737360"/>
            <a:ext cx="822960" cy="8229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041130" y="2651760"/>
            <a:ext cx="2507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2"/>
                </a:solidFill>
              </a:rPr>
              <a:t>’s nachts</a:t>
            </a:r>
            <a:endParaRPr lang="en-US" sz="1900" dirty="0"/>
          </a:p>
        </p:txBody>
      </p:sp>
      <p:sp>
        <p:nvSpPr>
          <p:cNvPr id="20" name="Text 13"/>
          <p:cNvSpPr txBox="1"/>
          <p:nvPr/>
        </p:nvSpPr>
        <p:spPr>
          <a:xfrm>
            <a:off x="9041130" y="3246120"/>
            <a:ext cx="2507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nuit</a:t>
            </a:r>
            <a:endParaRPr lang="en-US" sz="1500" dirty="0"/>
          </a:p>
        </p:txBody>
      </p:sp>
      <p:sp>
        <p:nvSpPr>
          <p:cNvPr id="21" name="Shape 14"/>
          <p:cNvSpPr/>
          <p:nvPr/>
        </p:nvSpPr>
        <p:spPr>
          <a:xfrm>
            <a:off x="548640" y="411480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731520" y="4251960"/>
            <a:ext cx="182880" cy="362102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914400" y="4251960"/>
            <a:ext cx="182880" cy="362102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1097280" y="4251960"/>
            <a:ext cx="182880" cy="36210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731520" y="4251960"/>
            <a:ext cx="548640" cy="36210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1463040" y="411480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Belgique : </a:t>
            </a:r>
            <a:r>
              <a:rPr lang="en-US" sz="1700" i="1" dirty="0">
                <a:solidFill>
                  <a:schemeClr val="tx1"/>
                </a:solidFill>
              </a:rPr>
              <a:t>’s </a:t>
            </a:r>
            <a:r>
              <a:rPr lang="en-US" sz="1700" b="1" i="1" dirty="0">
                <a:solidFill>
                  <a:schemeClr val="tx1"/>
                </a:solidFill>
              </a:rPr>
              <a:t>voor</a:t>
            </a:r>
            <a:r>
              <a:rPr lang="en-US" sz="1700" i="1" dirty="0">
                <a:solidFill>
                  <a:schemeClr val="tx1"/>
                </a:solidFill>
              </a:rPr>
              <a:t>middags</a:t>
            </a:r>
            <a:r>
              <a:rPr lang="en-US" sz="1700" dirty="0">
                <a:solidFill>
                  <a:schemeClr val="tx1"/>
                </a:solidFill>
              </a:rPr>
              <a:t> (le matin) · </a:t>
            </a:r>
            <a:r>
              <a:rPr lang="en-US" sz="1700" i="1" dirty="0">
                <a:solidFill>
                  <a:schemeClr val="tx1"/>
                </a:solidFill>
              </a:rPr>
              <a:t>’s </a:t>
            </a:r>
            <a:r>
              <a:rPr lang="en-US" sz="1700" b="1" i="1" dirty="0">
                <a:solidFill>
                  <a:schemeClr val="tx1"/>
                </a:solidFill>
              </a:rPr>
              <a:t>na</a:t>
            </a:r>
            <a:r>
              <a:rPr lang="en-US" sz="1700" i="1" dirty="0">
                <a:solidFill>
                  <a:schemeClr val="tx1"/>
                </a:solidFill>
              </a:rPr>
              <a:t>middags</a:t>
            </a:r>
            <a:r>
              <a:rPr lang="en-US" sz="1700" dirty="0">
                <a:solidFill>
                  <a:schemeClr val="tx1"/>
                </a:solidFill>
              </a:rPr>
              <a:t> (l’après-midi) — </a:t>
            </a:r>
            <a:r>
              <a:rPr lang="en-US" sz="1700" i="1" dirty="0">
                <a:solidFill>
                  <a:schemeClr val="tx1"/>
                </a:solidFill>
              </a:rPr>
              <a:t>Om drie uur ’s namiddags.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Aujourd’hui :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ochtend ·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middag ·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avond · </a:t>
            </a:r>
            <a:r>
              <a:rPr lang="en-US" sz="1900" b="1" i="1" dirty="0">
                <a:solidFill>
                  <a:schemeClr val="tx1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nacht</a:t>
            </a:r>
            <a:endParaRPr lang="en-US" sz="1900" dirty="0"/>
          </a:p>
        </p:txBody>
      </p:sp>
      <p:sp>
        <p:nvSpPr>
          <p:cNvPr id="28" name="Shape 21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’s</a:t>
            </a:r>
            <a:r>
              <a:rPr lang="en-US" sz="1700" dirty="0">
                <a:solidFill>
                  <a:schemeClr val="bg1"/>
                </a:solidFill>
              </a:rPr>
              <a:t> remplace un ancien </a:t>
            </a:r>
            <a:r>
              <a:rPr lang="en-US" sz="1700" i="1" dirty="0">
                <a:solidFill>
                  <a:schemeClr val="bg1"/>
                </a:solidFill>
              </a:rPr>
              <a:t>des</a:t>
            </a:r>
            <a:r>
              <a:rPr lang="en-US" sz="1700" dirty="0">
                <a:solidFill>
                  <a:schemeClr val="bg1"/>
                </a:solidFill>
              </a:rPr>
              <a:t> : il se prononce « s » (</a:t>
            </a:r>
            <a:r>
              <a:rPr lang="en-US" sz="1700" i="1" dirty="0">
                <a:solidFill>
                  <a:schemeClr val="bg1"/>
                </a:solidFill>
              </a:rPr>
              <a:t>’s avonds</a:t>
            </a:r>
            <a:r>
              <a:rPr lang="en-US" sz="1700" dirty="0">
                <a:solidFill>
                  <a:schemeClr val="bg1"/>
                </a:solidFill>
              </a:rPr>
              <a:t> ≈ « savonts »)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à, pendant, et demie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à</a:t>
            </a:r>
            <a:r>
              <a:rPr lang="en-US" sz="1700" dirty="0">
                <a:solidFill>
                  <a:schemeClr val="tx1"/>
                </a:solidFill>
              </a:rPr>
              <a:t> trois heures »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21031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op drie uur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360920" y="24048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772400" y="21396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09560" y="21396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1"/>
                </a:solidFill>
              </a:rPr>
              <a:t>om</a:t>
            </a:r>
            <a:r>
              <a:rPr lang="en-US" sz="1800" i="1" dirty="0">
                <a:solidFill>
                  <a:schemeClr val="tx1"/>
                </a:solidFill>
              </a:rPr>
              <a:t> drie uur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deux heures » (durée)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663440" y="27889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twee uren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60920" y="30906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772400" y="28254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09560" y="28254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twee uur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4747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une heure et demie » (durée)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4663440" y="34747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een uur en half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60920" y="37764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772400" y="35112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909560" y="35112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1"/>
                </a:solidFill>
              </a:rPr>
              <a:t>anderhalf</a:t>
            </a:r>
            <a:r>
              <a:rPr lang="en-US" sz="1800" i="1" dirty="0">
                <a:solidFill>
                  <a:schemeClr val="tx1"/>
                </a:solidFill>
              </a:rPr>
              <a:t> uur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1605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 quart d’heure »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4663440" y="41605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≈ </a:t>
            </a:r>
            <a:r>
              <a:rPr lang="en-US" sz="1500" i="1" dirty="0">
                <a:solidFill>
                  <a:schemeClr val="accent5"/>
                </a:solidFill>
              </a:rPr>
              <a:t>een kwartuur</a:t>
            </a:r>
            <a:r>
              <a:rPr lang="en-US" sz="1500" dirty="0">
                <a:solidFill>
                  <a:schemeClr val="accent5"/>
                </a:solidFill>
              </a:rPr>
              <a:t> (BE, oral)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7360920" y="44622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772400" y="41970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909560" y="41970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een </a:t>
            </a:r>
            <a:r>
              <a:rPr lang="en-US" sz="1800" b="1" i="1" dirty="0">
                <a:solidFill>
                  <a:schemeClr val="tx1"/>
                </a:solidFill>
              </a:rPr>
              <a:t>kwartier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846320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À quelle heure ? »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4663440" y="48463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≈ </a:t>
            </a:r>
            <a:r>
              <a:rPr lang="en-US" sz="1500" i="1" dirty="0">
                <a:solidFill>
                  <a:schemeClr val="accent5"/>
                </a:solidFill>
              </a:rPr>
              <a:t>Op welk uur?</a:t>
            </a:r>
            <a:r>
              <a:rPr lang="en-US" sz="1500" dirty="0">
                <a:solidFill>
                  <a:schemeClr val="accent5"/>
                </a:solidFill>
              </a:rPr>
              <a:t> (BE, oral)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7360920" y="51480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7772400" y="4882896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909560" y="4882896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Hoe laat? · Om hoe laat?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om</a:t>
            </a:r>
            <a:r>
              <a:rPr lang="en-US" sz="1800" dirty="0">
                <a:solidFill>
                  <a:schemeClr val="bg1"/>
                </a:solidFill>
              </a:rPr>
              <a:t> + heure · </a:t>
            </a:r>
            <a:r>
              <a:rPr lang="en-US" sz="1800" i="1" dirty="0">
                <a:solidFill>
                  <a:schemeClr val="bg1"/>
                </a:solidFill>
              </a:rPr>
              <a:t>op</a:t>
            </a:r>
            <a:r>
              <a:rPr lang="en-US" sz="1800" dirty="0">
                <a:solidFill>
                  <a:schemeClr val="bg1"/>
                </a:solidFill>
              </a:rPr>
              <a:t> + jour (</a:t>
            </a:r>
            <a:r>
              <a:rPr lang="en-US" sz="1800" i="1" dirty="0">
                <a:solidFill>
                  <a:schemeClr val="bg1"/>
                </a:solidFill>
              </a:rPr>
              <a:t>op maandag</a:t>
            </a:r>
            <a:r>
              <a:rPr lang="en-US" sz="1800" dirty="0">
                <a:solidFill>
                  <a:schemeClr val="bg1"/>
                </a:solidFill>
              </a:rPr>
              <a:t>, M18) · </a:t>
            </a:r>
            <a:r>
              <a:rPr lang="en-US" sz="1800" i="1" dirty="0">
                <a:solidFill>
                  <a:schemeClr val="bg1"/>
                </a:solidFill>
              </a:rPr>
              <a:t>een halfuur</a:t>
            </a:r>
            <a:r>
              <a:rPr lang="en-US" sz="1800" dirty="0">
                <a:solidFill>
                  <a:schemeClr val="bg1"/>
                </a:solidFill>
              </a:rPr>
              <a:t> = une demi-heure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Fixer un rendez-vous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pic>
        <p:nvPicPr>
          <p:cNvPr id="5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85800" cy="6858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325880" y="1554480"/>
            <a:ext cx="6400800" cy="713232"/>
          </a:xfrm>
          <a:prstGeom prst="roundRect">
            <a:avLst>
              <a:gd name="adj" fmla="val 2307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490472" y="1554480"/>
            <a:ext cx="607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Maes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Wanneer past het u?</a:t>
            </a:r>
            <a:endParaRPr lang="en-US" sz="1600" dirty="0"/>
          </a:p>
        </p:txBody>
      </p:sp>
      <p:pic>
        <p:nvPicPr>
          <p:cNvPr id="8" name="Image 1" descr="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395728"/>
            <a:ext cx="685800" cy="6858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783080" y="2395728"/>
            <a:ext cx="5669280" cy="713232"/>
          </a:xfrm>
          <a:prstGeom prst="roundRect">
            <a:avLst>
              <a:gd name="adj" fmla="val 23077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947672" y="2395728"/>
            <a:ext cx="5340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Kan het dinsdag om </a:t>
            </a:r>
            <a:r>
              <a:rPr lang="en-US" sz="1600" b="1" i="1" dirty="0">
                <a:solidFill>
                  <a:schemeClr val="tx1"/>
                </a:solidFill>
              </a:rPr>
              <a:t>tien uur</a:t>
            </a:r>
            <a:r>
              <a:rPr lang="en-US" sz="1600" i="1" dirty="0">
                <a:solidFill>
                  <a:schemeClr val="tx1"/>
                </a:solidFill>
              </a:rPr>
              <a:t>?</a:t>
            </a:r>
            <a:endParaRPr lang="en-US" sz="1600" dirty="0"/>
          </a:p>
        </p:txBody>
      </p:sp>
      <p:pic>
        <p:nvPicPr>
          <p:cNvPr id="11" name="Image 2" descr="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36976"/>
            <a:ext cx="685800" cy="68580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1325880" y="3236976"/>
            <a:ext cx="6400800" cy="713232"/>
          </a:xfrm>
          <a:prstGeom prst="roundRect">
            <a:avLst>
              <a:gd name="adj" fmla="val 2307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1490472" y="3236976"/>
            <a:ext cx="6071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Maes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Om tien uur heb ik al een afspraak. Kan het om </a:t>
            </a:r>
            <a:r>
              <a:rPr lang="en-US" sz="1600" b="1" i="1" dirty="0">
                <a:solidFill>
                  <a:schemeClr val="tx1"/>
                </a:solidFill>
              </a:rPr>
              <a:t>half twaalf</a:t>
            </a:r>
            <a:r>
              <a:rPr lang="en-US" sz="1600" i="1" dirty="0">
                <a:solidFill>
                  <a:schemeClr val="tx1"/>
                </a:solidFill>
              </a:rPr>
              <a:t>?</a:t>
            </a:r>
            <a:endParaRPr lang="en-US" sz="1600" dirty="0"/>
          </a:p>
        </p:txBody>
      </p:sp>
      <p:pic>
        <p:nvPicPr>
          <p:cNvPr id="14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4078224"/>
            <a:ext cx="685800" cy="685800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1783080" y="4078224"/>
            <a:ext cx="5669280" cy="713232"/>
          </a:xfrm>
          <a:prstGeom prst="roundRect">
            <a:avLst>
              <a:gd name="adj" fmla="val 23077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1947672" y="4078224"/>
            <a:ext cx="5340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Prima. Tot dinsdag om half twaalf!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8503920" y="1554480"/>
            <a:ext cx="3136392" cy="324612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1"/>
          <p:cNvSpPr/>
          <p:nvPr/>
        </p:nvSpPr>
        <p:spPr>
          <a:xfrm>
            <a:off x="8503920" y="1554480"/>
            <a:ext cx="3136392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8641080" y="1554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DINSDAG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8641080" y="2103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09.00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9601200" y="2103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2" name="Text 15"/>
          <p:cNvSpPr txBox="1"/>
          <p:nvPr/>
        </p:nvSpPr>
        <p:spPr>
          <a:xfrm>
            <a:off x="8641080" y="263347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10.00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9509760" y="2679192"/>
            <a:ext cx="2011680" cy="384048"/>
          </a:xfrm>
          <a:prstGeom prst="roundRect">
            <a:avLst>
              <a:gd name="adj" fmla="val 14286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9601200" y="263347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afspraak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8641080" y="316382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11.00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9601200" y="316382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8641080" y="369417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11.30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9509760" y="3739896"/>
            <a:ext cx="2011680" cy="384048"/>
          </a:xfrm>
          <a:prstGeom prst="roundRect">
            <a:avLst>
              <a:gd name="adj" fmla="val 14286"/>
            </a:avLst>
          </a:prstGeom>
          <a:solidFill>
            <a:schemeClr val="accent3">
              <a:alpha val="2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9601200" y="369417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Maes ✓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8641080" y="422452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12.30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9509760" y="4270248"/>
            <a:ext cx="2011680" cy="384048"/>
          </a:xfrm>
          <a:prstGeom prst="roundRect">
            <a:avLst>
              <a:gd name="adj" fmla="val 14286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601200" y="422452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lunch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548640" y="5029200"/>
            <a:ext cx="1109167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731520" y="5074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BANQUE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731520" y="5349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van negen tot vijf · tussen twee en drie · rond tien uur · precies om acht uur · Ik ben te laat · Ik ben op tijd · Ik ben te vroeg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l’horloge en quatre zones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40080" y="1691640"/>
            <a:ext cx="3017520" cy="30175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2E7D4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0"/>
              <a:gd name="adj2" fmla="val 5400000"/>
            </a:avLst>
          </a:prstGeom>
          <a:solidFill>
            <a:srgbClr val="D9700F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6E4A9E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0781" y="1812341"/>
            <a:ext cx="2776118" cy="2776118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2A6FB0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2148840" y="1797253"/>
            <a:ext cx="914" cy="256489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2782519" y="1985239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3246405" y="2498827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95498" y="3200400"/>
            <a:ext cx="256489" cy="914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46405" y="3834079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82519" y="4297965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148840" y="4347058"/>
            <a:ext cx="914" cy="256489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1447267" y="4297965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>
            <a:off x="933679" y="3834079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>
            <a:off x="745693" y="3200400"/>
            <a:ext cx="256489" cy="914"/>
          </a:xfrm>
          <a:prstGeom prst="line">
            <a:avLst/>
          </a:prstGeom>
          <a:noFill/>
          <a:ln w="50292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H="1" flipV="1">
            <a:off x="933679" y="2498827"/>
            <a:ext cx="117596" cy="67894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H="1" flipV="1">
            <a:off x="1447267" y="1985239"/>
            <a:ext cx="67894" cy="117596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874520" y="21122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12</a:t>
            </a:r>
            <a:endParaRPr lang="en-US" sz="2310" dirty="0"/>
          </a:p>
        </p:txBody>
      </p:sp>
      <p:sp>
        <p:nvSpPr>
          <p:cNvPr id="23" name="Text 20"/>
          <p:cNvSpPr txBox="1"/>
          <p:nvPr/>
        </p:nvSpPr>
        <p:spPr>
          <a:xfrm>
            <a:off x="2779776" y="3017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3</a:t>
            </a:r>
            <a:endParaRPr lang="en-US" sz="2310" dirty="0"/>
          </a:p>
        </p:txBody>
      </p:sp>
      <p:sp>
        <p:nvSpPr>
          <p:cNvPr id="24" name="Text 21"/>
          <p:cNvSpPr txBox="1"/>
          <p:nvPr/>
        </p:nvSpPr>
        <p:spPr>
          <a:xfrm>
            <a:off x="1874520" y="39227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6</a:t>
            </a:r>
            <a:endParaRPr lang="en-US" sz="2310" dirty="0"/>
          </a:p>
        </p:txBody>
      </p:sp>
      <p:sp>
        <p:nvSpPr>
          <p:cNvPr id="25" name="Text 22"/>
          <p:cNvSpPr txBox="1"/>
          <p:nvPr/>
        </p:nvSpPr>
        <p:spPr>
          <a:xfrm>
            <a:off x="969264" y="3017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chemeClr val="tx2"/>
                </a:solidFill>
              </a:rPr>
              <a:t>9</a:t>
            </a:r>
            <a:endParaRPr lang="en-US" sz="2310" dirty="0"/>
          </a:p>
        </p:txBody>
      </p:sp>
      <p:sp>
        <p:nvSpPr>
          <p:cNvPr id="26" name="Shape 23"/>
          <p:cNvSpPr/>
          <p:nvPr/>
        </p:nvSpPr>
        <p:spPr>
          <a:xfrm flipV="1">
            <a:off x="2148840" y="2823210"/>
            <a:ext cx="653312" cy="377190"/>
          </a:xfrm>
          <a:prstGeom prst="line">
            <a:avLst/>
          </a:prstGeom>
          <a:noFill/>
          <a:ln w="134112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2148840" y="2023567"/>
            <a:ext cx="914" cy="1176833"/>
          </a:xfrm>
          <a:prstGeom prst="line">
            <a:avLst/>
          </a:prstGeom>
          <a:noFill/>
          <a:ln w="83820">
            <a:solidFill>
              <a:srgbClr val="D9700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028139" y="3079699"/>
            <a:ext cx="241402" cy="24140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48640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over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1353312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353312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voor half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2157984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57984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over half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2962656" y="4892040"/>
            <a:ext cx="749808" cy="36576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962656" y="4892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voor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4023360" y="1600200"/>
            <a:ext cx="7616952" cy="1188720"/>
          </a:xfrm>
          <a:prstGeom prst="roundRect">
            <a:avLst>
              <a:gd name="adj" fmla="val 769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23360" y="1600200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023360" y="16002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Officiel</a:t>
            </a:r>
            <a:endParaRPr lang="en-US" sz="1900" dirty="0"/>
          </a:p>
        </p:txBody>
      </p:sp>
      <p:sp>
        <p:nvSpPr>
          <p:cNvPr id="40" name="Text 37"/>
          <p:cNvSpPr txBox="1"/>
          <p:nvPr/>
        </p:nvSpPr>
        <p:spPr>
          <a:xfrm>
            <a:off x="6035040" y="160020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heure + </a:t>
            </a:r>
            <a:r>
              <a:rPr lang="en-US" sz="1700" i="1" dirty="0">
                <a:solidFill>
                  <a:schemeClr val="tx1"/>
                </a:solidFill>
              </a:rPr>
              <a:t>uur</a:t>
            </a:r>
            <a:r>
              <a:rPr lang="en-US" sz="1700" dirty="0">
                <a:solidFill>
                  <a:schemeClr val="tx1"/>
                </a:solidFill>
              </a:rPr>
              <a:t> + minutes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14.30 uur = veertien uur dertig</a:t>
            </a:r>
            <a:endParaRPr lang="en-US" sz="1700" dirty="0"/>
          </a:p>
        </p:txBody>
      </p:sp>
      <p:sp>
        <p:nvSpPr>
          <p:cNvPr id="41" name="Shape 38"/>
          <p:cNvSpPr/>
          <p:nvPr/>
        </p:nvSpPr>
        <p:spPr>
          <a:xfrm>
            <a:off x="4023360" y="2898648"/>
            <a:ext cx="7616952" cy="1188720"/>
          </a:xfrm>
          <a:prstGeom prst="roundRect">
            <a:avLst>
              <a:gd name="adj" fmla="val 7692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023360" y="2898648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023360" y="2898648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Courant</a:t>
            </a:r>
            <a:endParaRPr lang="en-US" sz="1900" dirty="0"/>
          </a:p>
        </p:txBody>
      </p:sp>
      <p:sp>
        <p:nvSpPr>
          <p:cNvPr id="44" name="Text 41"/>
          <p:cNvSpPr txBox="1"/>
          <p:nvPr/>
        </p:nvSpPr>
        <p:spPr>
          <a:xfrm>
            <a:off x="6035040" y="2898648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over · voor half · over half · voor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half drie</a:t>
            </a:r>
            <a:r>
              <a:rPr lang="en-US" sz="1700" dirty="0">
                <a:solidFill>
                  <a:schemeClr val="tx1"/>
                </a:solidFill>
              </a:rPr>
              <a:t> = </a:t>
            </a:r>
            <a:r>
              <a:rPr lang="en-US" sz="1700" b="1" dirty="0">
                <a:solidFill>
                  <a:schemeClr val="tx1"/>
                </a:solidFill>
              </a:rPr>
              <a:t>2 h 30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kwart over drie · kwart voor vier</a:t>
            </a:r>
            <a:endParaRPr lang="en-US" sz="1700" dirty="0"/>
          </a:p>
        </p:txBody>
      </p:sp>
      <p:sp>
        <p:nvSpPr>
          <p:cNvPr id="45" name="Shape 42"/>
          <p:cNvSpPr/>
          <p:nvPr/>
        </p:nvSpPr>
        <p:spPr>
          <a:xfrm>
            <a:off x="4023360" y="4197096"/>
            <a:ext cx="7616952" cy="1188720"/>
          </a:xfrm>
          <a:prstGeom prst="roundRect">
            <a:avLst>
              <a:gd name="adj" fmla="val 7692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023360" y="4197096"/>
            <a:ext cx="1828800" cy="1188720"/>
          </a:xfrm>
          <a:prstGeom prst="roundRect">
            <a:avLst>
              <a:gd name="adj" fmla="val 769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023360" y="4197096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Rendez-vous</a:t>
            </a:r>
            <a:endParaRPr lang="en-US" sz="1900" dirty="0"/>
          </a:p>
        </p:txBody>
      </p:sp>
      <p:sp>
        <p:nvSpPr>
          <p:cNvPr id="48" name="Text 45"/>
          <p:cNvSpPr txBox="1"/>
          <p:nvPr/>
        </p:nvSpPr>
        <p:spPr>
          <a:xfrm>
            <a:off x="6035040" y="4197096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om</a:t>
            </a:r>
            <a:r>
              <a:rPr lang="en-US" sz="1700" dirty="0">
                <a:solidFill>
                  <a:schemeClr val="tx1"/>
                </a:solidFill>
              </a:rPr>
              <a:t> + heure · </a:t>
            </a:r>
            <a:r>
              <a:rPr lang="en-US" sz="1700" i="1" dirty="0">
                <a:solidFill>
                  <a:schemeClr val="tx1"/>
                </a:solidFill>
              </a:rPr>
              <a:t>van … tot …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rond</a:t>
            </a:r>
            <a:endParaRPr lang="en-US" sz="17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anderhalf uur · een kwartier · een halfuur</a:t>
            </a:r>
            <a:endParaRPr lang="en-US" sz="1700" dirty="0"/>
          </a:p>
        </p:txBody>
      </p:sp>
      <p:pic>
        <p:nvPicPr>
          <p:cNvPr id="49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Reg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Hoe laat is het?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Officiel → courant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PuzzlePie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mot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T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Sur le quai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hLar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loto des horloges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Calenda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L’agenda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Hoe laat is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l’heure de tous les jours. Pensez aux quatre zones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58368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1180719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1866519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154555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65412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387727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365412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154555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866519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flipH="1">
            <a:off x="1547622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 flipH="1">
            <a:off x="1314173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 flipH="1">
            <a:off x="122872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 flipH="1" flipV="1">
            <a:off x="1314173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 flipH="1" flipV="1">
            <a:off x="1547622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866519" y="2755392"/>
            <a:ext cx="342900" cy="91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 flipV="1">
            <a:off x="1866519" y="2220468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811655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85800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3477006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477006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3999357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 flipV="1">
            <a:off x="4685157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 flipV="1">
            <a:off x="4973193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 flipV="1">
            <a:off x="5184050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20636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184050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973193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685157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 flipH="1">
            <a:off x="4366260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 flipH="1">
            <a:off x="4132811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 flipH="1">
            <a:off x="404736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 flipH="1" flipV="1">
            <a:off x="4132811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 flipH="1" flipV="1">
            <a:off x="4366260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 flipV="1">
            <a:off x="4685157" y="2666643"/>
            <a:ext cx="331216" cy="88749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4685157" y="2755392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4630293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3504438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6295644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295644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6817995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 flipV="1">
            <a:off x="7503795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 flipV="1">
            <a:off x="7791831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 flipV="1">
            <a:off x="8002688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802500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8002688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7791831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7503795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 flipH="1">
            <a:off x="7184898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 flipH="1">
            <a:off x="6951449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 flipH="1">
            <a:off x="686600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 flipH="1" flipV="1">
            <a:off x="6951449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 flipH="1" flipV="1">
            <a:off x="7184898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7503795" y="2755392"/>
            <a:ext cx="272041" cy="20874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7503795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7448931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6323076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9114282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9114282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9636633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 flipV="1">
            <a:off x="10322433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 flipV="1">
            <a:off x="10610469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 flipV="1">
            <a:off x="10821326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1084364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10821326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10610469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10322433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 flipH="1">
            <a:off x="10003536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 flipH="1">
            <a:off x="9770087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 flipH="1">
            <a:off x="9684639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 flipH="1" flipV="1">
            <a:off x="9770087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 flipH="1" flipV="1">
            <a:off x="10003536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4" name="Shape 80"/>
          <p:cNvSpPr/>
          <p:nvPr/>
        </p:nvSpPr>
        <p:spPr>
          <a:xfrm flipH="1">
            <a:off x="10191211" y="2755392"/>
            <a:ext cx="131222" cy="316798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 flipH="1">
            <a:off x="9787509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>
            <a:off x="10267569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9141714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658368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86"/>
          <p:cNvSpPr txBox="1"/>
          <p:nvPr/>
        </p:nvSpPr>
        <p:spPr>
          <a:xfrm>
            <a:off x="658368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91" name="Shape 87"/>
          <p:cNvSpPr/>
          <p:nvPr/>
        </p:nvSpPr>
        <p:spPr>
          <a:xfrm>
            <a:off x="1180719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 flipV="1">
            <a:off x="1866519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 flipV="1">
            <a:off x="2154555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 flipV="1">
            <a:off x="2365412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2387727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6" name="Shape 92"/>
          <p:cNvSpPr/>
          <p:nvPr/>
        </p:nvSpPr>
        <p:spPr>
          <a:xfrm>
            <a:off x="2365412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2154555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1866519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 flipH="1">
            <a:off x="1547622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6"/>
          <p:cNvSpPr/>
          <p:nvPr/>
        </p:nvSpPr>
        <p:spPr>
          <a:xfrm flipH="1">
            <a:off x="1314173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 flipH="1">
            <a:off x="122872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 flipH="1" flipV="1">
            <a:off x="1314173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 flipH="1" flipV="1">
            <a:off x="1547622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 flipH="1" flipV="1">
            <a:off x="1524924" y="4996266"/>
            <a:ext cx="341595" cy="29886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 flipV="1">
            <a:off x="1866519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1811655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685800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8" name="Shape 104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3477006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0" name="Text 106"/>
          <p:cNvSpPr txBox="1"/>
          <p:nvPr/>
        </p:nvSpPr>
        <p:spPr>
          <a:xfrm>
            <a:off x="3477006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111" name="Shape 107"/>
          <p:cNvSpPr/>
          <p:nvPr/>
        </p:nvSpPr>
        <p:spPr>
          <a:xfrm>
            <a:off x="3999357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 flipV="1">
            <a:off x="4685157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 flipV="1">
            <a:off x="4973193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 flipV="1">
            <a:off x="5184050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520636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6" name="Shape 112"/>
          <p:cNvSpPr/>
          <p:nvPr/>
        </p:nvSpPr>
        <p:spPr>
          <a:xfrm>
            <a:off x="5184050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7" name="Shape 113"/>
          <p:cNvSpPr/>
          <p:nvPr/>
        </p:nvSpPr>
        <p:spPr>
          <a:xfrm>
            <a:off x="4973193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>
            <a:off x="4685157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 flipH="1">
            <a:off x="4366260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 flipH="1">
            <a:off x="4132811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 flipH="1">
            <a:off x="404736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 flipH="1" flipV="1">
            <a:off x="4132811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3" name="Shape 119"/>
          <p:cNvSpPr/>
          <p:nvPr/>
        </p:nvSpPr>
        <p:spPr>
          <a:xfrm flipH="1" flipV="1">
            <a:off x="4366260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4" name="Shape 120"/>
          <p:cNvSpPr/>
          <p:nvPr/>
        </p:nvSpPr>
        <p:spPr>
          <a:xfrm flipH="1" flipV="1">
            <a:off x="4582045" y="4699122"/>
            <a:ext cx="103112" cy="327030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>
            <a:off x="4685157" y="5026152"/>
            <a:ext cx="267462" cy="463258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4630293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7" name="Shape 123"/>
          <p:cNvSpPr/>
          <p:nvPr/>
        </p:nvSpPr>
        <p:spPr>
          <a:xfrm>
            <a:off x="3504438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8" name="Shape 124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6295644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0" name="Text 126"/>
          <p:cNvSpPr txBox="1"/>
          <p:nvPr/>
        </p:nvSpPr>
        <p:spPr>
          <a:xfrm>
            <a:off x="6295644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131" name="Shape 127"/>
          <p:cNvSpPr/>
          <p:nvPr/>
        </p:nvSpPr>
        <p:spPr>
          <a:xfrm>
            <a:off x="6817995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32" name="Shape 128"/>
          <p:cNvSpPr/>
          <p:nvPr/>
        </p:nvSpPr>
        <p:spPr>
          <a:xfrm flipV="1">
            <a:off x="7503795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 flipV="1">
            <a:off x="7791831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4" name="Shape 130"/>
          <p:cNvSpPr/>
          <p:nvPr/>
        </p:nvSpPr>
        <p:spPr>
          <a:xfrm flipV="1">
            <a:off x="8002688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5" name="Shape 131"/>
          <p:cNvSpPr/>
          <p:nvPr/>
        </p:nvSpPr>
        <p:spPr>
          <a:xfrm>
            <a:off x="802500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8002688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7" name="Shape 133"/>
          <p:cNvSpPr/>
          <p:nvPr/>
        </p:nvSpPr>
        <p:spPr>
          <a:xfrm>
            <a:off x="7791831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8" name="Shape 134"/>
          <p:cNvSpPr/>
          <p:nvPr/>
        </p:nvSpPr>
        <p:spPr>
          <a:xfrm>
            <a:off x="7503795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39" name="Shape 135"/>
          <p:cNvSpPr/>
          <p:nvPr/>
        </p:nvSpPr>
        <p:spPr>
          <a:xfrm flipH="1">
            <a:off x="7184898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 flipH="1">
            <a:off x="6951449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1" name="Shape 137"/>
          <p:cNvSpPr/>
          <p:nvPr/>
        </p:nvSpPr>
        <p:spPr>
          <a:xfrm flipH="1">
            <a:off x="686600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2" name="Shape 138"/>
          <p:cNvSpPr/>
          <p:nvPr/>
        </p:nvSpPr>
        <p:spPr>
          <a:xfrm flipH="1" flipV="1">
            <a:off x="6951449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 flipH="1" flipV="1">
            <a:off x="7184898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4" name="Shape 140"/>
          <p:cNvSpPr/>
          <p:nvPr/>
        </p:nvSpPr>
        <p:spPr>
          <a:xfrm flipH="1">
            <a:off x="7241118" y="5026152"/>
            <a:ext cx="262677" cy="220412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45" name="Shape 141"/>
          <p:cNvSpPr/>
          <p:nvPr/>
        </p:nvSpPr>
        <p:spPr>
          <a:xfrm flipH="1">
            <a:off x="7040537" y="5026152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46" name="Shape 142"/>
          <p:cNvSpPr/>
          <p:nvPr/>
        </p:nvSpPr>
        <p:spPr>
          <a:xfrm>
            <a:off x="7448931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>
            <a:off x="6323076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8" name="Shape 144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9" name="Shape 145"/>
          <p:cNvSpPr/>
          <p:nvPr/>
        </p:nvSpPr>
        <p:spPr>
          <a:xfrm>
            <a:off x="9114282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0" name="Text 146"/>
          <p:cNvSpPr txBox="1"/>
          <p:nvPr/>
        </p:nvSpPr>
        <p:spPr>
          <a:xfrm>
            <a:off x="9114282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151" name="Shape 147"/>
          <p:cNvSpPr/>
          <p:nvPr/>
        </p:nvSpPr>
        <p:spPr>
          <a:xfrm>
            <a:off x="9636633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52" name="Shape 148"/>
          <p:cNvSpPr/>
          <p:nvPr/>
        </p:nvSpPr>
        <p:spPr>
          <a:xfrm flipV="1">
            <a:off x="10322433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53" name="Shape 149"/>
          <p:cNvSpPr/>
          <p:nvPr/>
        </p:nvSpPr>
        <p:spPr>
          <a:xfrm flipV="1">
            <a:off x="10610469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4" name="Shape 150"/>
          <p:cNvSpPr/>
          <p:nvPr/>
        </p:nvSpPr>
        <p:spPr>
          <a:xfrm flipV="1">
            <a:off x="10821326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5" name="Shape 151"/>
          <p:cNvSpPr/>
          <p:nvPr/>
        </p:nvSpPr>
        <p:spPr>
          <a:xfrm>
            <a:off x="1084364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56" name="Shape 152"/>
          <p:cNvSpPr/>
          <p:nvPr/>
        </p:nvSpPr>
        <p:spPr>
          <a:xfrm>
            <a:off x="10821326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7" name="Shape 153"/>
          <p:cNvSpPr/>
          <p:nvPr/>
        </p:nvSpPr>
        <p:spPr>
          <a:xfrm>
            <a:off x="10610469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8" name="Shape 154"/>
          <p:cNvSpPr/>
          <p:nvPr/>
        </p:nvSpPr>
        <p:spPr>
          <a:xfrm>
            <a:off x="10322433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59" name="Shape 155"/>
          <p:cNvSpPr/>
          <p:nvPr/>
        </p:nvSpPr>
        <p:spPr>
          <a:xfrm flipH="1">
            <a:off x="10003536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0" name="Shape 156"/>
          <p:cNvSpPr/>
          <p:nvPr/>
        </p:nvSpPr>
        <p:spPr>
          <a:xfrm flipH="1">
            <a:off x="9770087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1" name="Shape 157"/>
          <p:cNvSpPr/>
          <p:nvPr/>
        </p:nvSpPr>
        <p:spPr>
          <a:xfrm flipH="1">
            <a:off x="9684639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2" name="Shape 158"/>
          <p:cNvSpPr/>
          <p:nvPr/>
        </p:nvSpPr>
        <p:spPr>
          <a:xfrm flipH="1" flipV="1">
            <a:off x="9770087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3" name="Shape 159"/>
          <p:cNvSpPr/>
          <p:nvPr/>
        </p:nvSpPr>
        <p:spPr>
          <a:xfrm flipH="1" flipV="1">
            <a:off x="10003536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4" name="Shape 160"/>
          <p:cNvSpPr/>
          <p:nvPr/>
        </p:nvSpPr>
        <p:spPr>
          <a:xfrm flipV="1">
            <a:off x="10322433" y="4715379"/>
            <a:ext cx="144916" cy="310773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65" name="Shape 161"/>
          <p:cNvSpPr/>
          <p:nvPr/>
        </p:nvSpPr>
        <p:spPr>
          <a:xfrm flipH="1" flipV="1">
            <a:off x="9859175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66" name="Shape 162"/>
          <p:cNvSpPr/>
          <p:nvPr/>
        </p:nvSpPr>
        <p:spPr>
          <a:xfrm>
            <a:off x="10267569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7" name="Shape 163"/>
          <p:cNvSpPr/>
          <p:nvPr/>
        </p:nvSpPr>
        <p:spPr>
          <a:xfrm>
            <a:off x="9141714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Hoe laat is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l’heure de tous les jours. Pensez aux quatre zones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58368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1180719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1866519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154555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365412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387727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365412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154555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866519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 flipH="1">
            <a:off x="1547622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 flipH="1">
            <a:off x="1314173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 flipH="1">
            <a:off x="122872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 flipH="1" flipV="1">
            <a:off x="1314173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 flipH="1" flipV="1">
            <a:off x="1547622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1866519" y="2755392"/>
            <a:ext cx="342900" cy="91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 flipV="1">
            <a:off x="1866519" y="2220468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811655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85800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85800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drie uur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3477006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3477006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3999357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 flipV="1">
            <a:off x="4685157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 flipV="1">
            <a:off x="4973193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 flipV="1">
            <a:off x="5184050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5206365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184050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4973193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4685157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 flipH="1">
            <a:off x="4366260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 flipH="1">
            <a:off x="4132811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 flipH="1">
            <a:off x="404736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 flipH="1" flipV="1">
            <a:off x="4132811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 flipH="1" flipV="1">
            <a:off x="4366260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 flipV="1">
            <a:off x="4685157" y="2666643"/>
            <a:ext cx="331216" cy="88749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4685157" y="2755392"/>
            <a:ext cx="914" cy="53492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4630293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3504438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3504438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half drie</a:t>
            </a:r>
            <a:endParaRPr lang="en-US" sz="1500" dirty="0"/>
          </a:p>
        </p:txBody>
      </p:sp>
      <p:sp>
        <p:nvSpPr>
          <p:cNvPr id="51" name="Shape 47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6295644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295644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4" name="Shape 50"/>
          <p:cNvSpPr/>
          <p:nvPr/>
        </p:nvSpPr>
        <p:spPr>
          <a:xfrm>
            <a:off x="6817995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 flipV="1">
            <a:off x="7503795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 flipV="1">
            <a:off x="7791831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 flipV="1">
            <a:off x="8002688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8025003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8002688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7791831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7503795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 flipH="1">
            <a:off x="7184898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 flipH="1">
            <a:off x="6951449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 flipH="1">
            <a:off x="686600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 flipH="1" flipV="1">
            <a:off x="6951449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 flipH="1" flipV="1">
            <a:off x="7184898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7503795" y="2755392"/>
            <a:ext cx="272041" cy="208744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7503795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7448931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6323076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6323076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kwart over vier</a:t>
            </a:r>
            <a:endParaRPr lang="en-US" sz="1500" dirty="0"/>
          </a:p>
        </p:txBody>
      </p:sp>
      <p:sp>
        <p:nvSpPr>
          <p:cNvPr id="72" name="Shape 68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>
            <a:off x="9114282" y="204216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9114282" y="2042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75" name="Shape 71"/>
          <p:cNvSpPr/>
          <p:nvPr/>
        </p:nvSpPr>
        <p:spPr>
          <a:xfrm>
            <a:off x="9636633" y="206959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 flipV="1">
            <a:off x="10322433" y="211759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 flipV="1">
            <a:off x="10610469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 flipV="1">
            <a:off x="10821326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10843641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10821326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10610469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10322433" y="327660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 flipH="1">
            <a:off x="10003536" y="325428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4" name="Shape 80"/>
          <p:cNvSpPr/>
          <p:nvPr/>
        </p:nvSpPr>
        <p:spPr>
          <a:xfrm flipH="1">
            <a:off x="9770087" y="304342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 flipH="1">
            <a:off x="9684639" y="275539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 flipH="1" flipV="1">
            <a:off x="9770087" y="243649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 flipH="1" flipV="1">
            <a:off x="10003536" y="220304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 flipH="1">
            <a:off x="10191211" y="2755392"/>
            <a:ext cx="131222" cy="316798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 flipH="1">
            <a:off x="9787509" y="2755392"/>
            <a:ext cx="53492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10267569" y="270052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9141714" y="345338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9141714" y="345338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kwart voor zeven</a:t>
            </a:r>
            <a:endParaRPr lang="en-US" sz="1500" dirty="0"/>
          </a:p>
        </p:txBody>
      </p:sp>
      <p:sp>
        <p:nvSpPr>
          <p:cNvPr id="93" name="Shape 89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658368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Text 91"/>
          <p:cNvSpPr txBox="1"/>
          <p:nvPr/>
        </p:nvSpPr>
        <p:spPr>
          <a:xfrm>
            <a:off x="658368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96" name="Shape 92"/>
          <p:cNvSpPr/>
          <p:nvPr/>
        </p:nvSpPr>
        <p:spPr>
          <a:xfrm>
            <a:off x="1180719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 flipV="1">
            <a:off x="1866519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 flipV="1">
            <a:off x="2154555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 flipV="1">
            <a:off x="2365412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6"/>
          <p:cNvSpPr/>
          <p:nvPr/>
        </p:nvSpPr>
        <p:spPr>
          <a:xfrm>
            <a:off x="2387727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>
            <a:off x="2365412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2154555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1866519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 flipH="1">
            <a:off x="1547622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 flipH="1">
            <a:off x="1314173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 flipH="1">
            <a:off x="122872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 flipH="1" flipV="1">
            <a:off x="1314173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8" name="Shape 104"/>
          <p:cNvSpPr/>
          <p:nvPr/>
        </p:nvSpPr>
        <p:spPr>
          <a:xfrm flipH="1" flipV="1">
            <a:off x="1547622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 flipH="1" flipV="1">
            <a:off x="1524924" y="4996266"/>
            <a:ext cx="341595" cy="29886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10" name="Shape 106"/>
          <p:cNvSpPr/>
          <p:nvPr/>
        </p:nvSpPr>
        <p:spPr>
          <a:xfrm flipV="1">
            <a:off x="1866519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1811655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685800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3" name="Text 109"/>
          <p:cNvSpPr txBox="1"/>
          <p:nvPr/>
        </p:nvSpPr>
        <p:spPr>
          <a:xfrm>
            <a:off x="685800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tien over negen</a:t>
            </a:r>
            <a:endParaRPr lang="en-US" sz="1500" dirty="0"/>
          </a:p>
        </p:txBody>
      </p:sp>
      <p:sp>
        <p:nvSpPr>
          <p:cNvPr id="114" name="Shape 110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3477006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6" name="Text 112"/>
          <p:cNvSpPr txBox="1"/>
          <p:nvPr/>
        </p:nvSpPr>
        <p:spPr>
          <a:xfrm>
            <a:off x="3477006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117" name="Shape 113"/>
          <p:cNvSpPr/>
          <p:nvPr/>
        </p:nvSpPr>
        <p:spPr>
          <a:xfrm>
            <a:off x="3999357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 flipV="1">
            <a:off x="4685157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 flipV="1">
            <a:off x="4973193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 flipV="1">
            <a:off x="5184050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>
            <a:off x="5206365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5184050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3" name="Shape 119"/>
          <p:cNvSpPr/>
          <p:nvPr/>
        </p:nvSpPr>
        <p:spPr>
          <a:xfrm>
            <a:off x="4973193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4" name="Shape 120"/>
          <p:cNvSpPr/>
          <p:nvPr/>
        </p:nvSpPr>
        <p:spPr>
          <a:xfrm>
            <a:off x="4685157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 flipH="1">
            <a:off x="4366260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 flipH="1">
            <a:off x="4132811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7" name="Shape 123"/>
          <p:cNvSpPr/>
          <p:nvPr/>
        </p:nvSpPr>
        <p:spPr>
          <a:xfrm flipH="1">
            <a:off x="404736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28" name="Shape 124"/>
          <p:cNvSpPr/>
          <p:nvPr/>
        </p:nvSpPr>
        <p:spPr>
          <a:xfrm flipH="1" flipV="1">
            <a:off x="4132811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 flipH="1" flipV="1">
            <a:off x="4366260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 flipH="1" flipV="1">
            <a:off x="4582045" y="4699122"/>
            <a:ext cx="103112" cy="327030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31" name="Shape 127"/>
          <p:cNvSpPr/>
          <p:nvPr/>
        </p:nvSpPr>
        <p:spPr>
          <a:xfrm>
            <a:off x="4685157" y="5026152"/>
            <a:ext cx="267462" cy="463258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32" name="Shape 128"/>
          <p:cNvSpPr/>
          <p:nvPr/>
        </p:nvSpPr>
        <p:spPr>
          <a:xfrm>
            <a:off x="4630293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>
            <a:off x="3504438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34" name="Text 130"/>
          <p:cNvSpPr txBox="1"/>
          <p:nvPr/>
        </p:nvSpPr>
        <p:spPr>
          <a:xfrm>
            <a:off x="3504438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vijf voor half twaalf</a:t>
            </a:r>
            <a:endParaRPr lang="en-US" sz="1500" dirty="0"/>
          </a:p>
        </p:txBody>
      </p:sp>
      <p:sp>
        <p:nvSpPr>
          <p:cNvPr id="135" name="Shape 131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6295644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7" name="Text 133"/>
          <p:cNvSpPr txBox="1"/>
          <p:nvPr/>
        </p:nvSpPr>
        <p:spPr>
          <a:xfrm>
            <a:off x="6295644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138" name="Shape 134"/>
          <p:cNvSpPr/>
          <p:nvPr/>
        </p:nvSpPr>
        <p:spPr>
          <a:xfrm>
            <a:off x="6817995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39" name="Shape 135"/>
          <p:cNvSpPr/>
          <p:nvPr/>
        </p:nvSpPr>
        <p:spPr>
          <a:xfrm flipV="1">
            <a:off x="7503795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 flipV="1">
            <a:off x="7791831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1" name="Shape 137"/>
          <p:cNvSpPr/>
          <p:nvPr/>
        </p:nvSpPr>
        <p:spPr>
          <a:xfrm flipV="1">
            <a:off x="8002688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2" name="Shape 138"/>
          <p:cNvSpPr/>
          <p:nvPr/>
        </p:nvSpPr>
        <p:spPr>
          <a:xfrm>
            <a:off x="8025003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>
            <a:off x="8002688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4" name="Shape 140"/>
          <p:cNvSpPr/>
          <p:nvPr/>
        </p:nvSpPr>
        <p:spPr>
          <a:xfrm>
            <a:off x="7791831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5" name="Shape 141"/>
          <p:cNvSpPr/>
          <p:nvPr/>
        </p:nvSpPr>
        <p:spPr>
          <a:xfrm>
            <a:off x="7503795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6" name="Shape 142"/>
          <p:cNvSpPr/>
          <p:nvPr/>
        </p:nvSpPr>
        <p:spPr>
          <a:xfrm flipH="1">
            <a:off x="7184898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 flipH="1">
            <a:off x="6951449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8" name="Shape 144"/>
          <p:cNvSpPr/>
          <p:nvPr/>
        </p:nvSpPr>
        <p:spPr>
          <a:xfrm flipH="1">
            <a:off x="686600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49" name="Shape 145"/>
          <p:cNvSpPr/>
          <p:nvPr/>
        </p:nvSpPr>
        <p:spPr>
          <a:xfrm flipH="1" flipV="1">
            <a:off x="6951449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0" name="Shape 146"/>
          <p:cNvSpPr/>
          <p:nvPr/>
        </p:nvSpPr>
        <p:spPr>
          <a:xfrm flipH="1" flipV="1">
            <a:off x="7184898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1" name="Shape 147"/>
          <p:cNvSpPr/>
          <p:nvPr/>
        </p:nvSpPr>
        <p:spPr>
          <a:xfrm flipH="1">
            <a:off x="7241118" y="5026152"/>
            <a:ext cx="262677" cy="220412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52" name="Shape 148"/>
          <p:cNvSpPr/>
          <p:nvPr/>
        </p:nvSpPr>
        <p:spPr>
          <a:xfrm flipH="1">
            <a:off x="7040537" y="5026152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53" name="Shape 149"/>
          <p:cNvSpPr/>
          <p:nvPr/>
        </p:nvSpPr>
        <p:spPr>
          <a:xfrm>
            <a:off x="7448931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4" name="Shape 150"/>
          <p:cNvSpPr/>
          <p:nvPr/>
        </p:nvSpPr>
        <p:spPr>
          <a:xfrm>
            <a:off x="6323076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55" name="Text 151"/>
          <p:cNvSpPr txBox="1"/>
          <p:nvPr/>
        </p:nvSpPr>
        <p:spPr>
          <a:xfrm>
            <a:off x="6323076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tien over half acht / twintig voor acht</a:t>
            </a:r>
            <a:endParaRPr lang="en-US" sz="1300" dirty="0"/>
          </a:p>
        </p:txBody>
      </p:sp>
      <p:sp>
        <p:nvSpPr>
          <p:cNvPr id="156" name="Shape 152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438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7" name="Shape 153"/>
          <p:cNvSpPr/>
          <p:nvPr/>
        </p:nvSpPr>
        <p:spPr>
          <a:xfrm>
            <a:off x="9114282" y="4312920"/>
            <a:ext cx="347472" cy="347472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8" name="Text 154"/>
          <p:cNvSpPr txBox="1"/>
          <p:nvPr/>
        </p:nvSpPr>
        <p:spPr>
          <a:xfrm>
            <a:off x="9114282" y="4312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159" name="Shape 155"/>
          <p:cNvSpPr/>
          <p:nvPr/>
        </p:nvSpPr>
        <p:spPr>
          <a:xfrm>
            <a:off x="9636633" y="4340352"/>
            <a:ext cx="1371600" cy="137160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7375E"/>
            </a:solidFill>
            <a:prstDash val="solid"/>
          </a:ln>
        </p:spPr>
      </p:sp>
      <p:sp>
        <p:nvSpPr>
          <p:cNvPr id="160" name="Shape 156"/>
          <p:cNvSpPr/>
          <p:nvPr/>
        </p:nvSpPr>
        <p:spPr>
          <a:xfrm flipV="1">
            <a:off x="10322433" y="4388358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1" name="Shape 157"/>
          <p:cNvSpPr/>
          <p:nvPr/>
        </p:nvSpPr>
        <p:spPr>
          <a:xfrm flipV="1">
            <a:off x="10610469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2" name="Shape 158"/>
          <p:cNvSpPr/>
          <p:nvPr/>
        </p:nvSpPr>
        <p:spPr>
          <a:xfrm flipV="1">
            <a:off x="10821326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3" name="Shape 159"/>
          <p:cNvSpPr/>
          <p:nvPr/>
        </p:nvSpPr>
        <p:spPr>
          <a:xfrm>
            <a:off x="10843641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4" name="Shape 160"/>
          <p:cNvSpPr/>
          <p:nvPr/>
        </p:nvSpPr>
        <p:spPr>
          <a:xfrm>
            <a:off x="10821326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5" name="Shape 161"/>
          <p:cNvSpPr/>
          <p:nvPr/>
        </p:nvSpPr>
        <p:spPr>
          <a:xfrm>
            <a:off x="10610469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6" name="Shape 162"/>
          <p:cNvSpPr/>
          <p:nvPr/>
        </p:nvSpPr>
        <p:spPr>
          <a:xfrm>
            <a:off x="10322433" y="5547360"/>
            <a:ext cx="914" cy="116586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67" name="Shape 163"/>
          <p:cNvSpPr/>
          <p:nvPr/>
        </p:nvSpPr>
        <p:spPr>
          <a:xfrm flipH="1">
            <a:off x="10003536" y="5525045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8" name="Shape 164"/>
          <p:cNvSpPr/>
          <p:nvPr/>
        </p:nvSpPr>
        <p:spPr>
          <a:xfrm flipH="1">
            <a:off x="9770087" y="5314188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9" name="Shape 165"/>
          <p:cNvSpPr/>
          <p:nvPr/>
        </p:nvSpPr>
        <p:spPr>
          <a:xfrm flipH="1">
            <a:off x="9684639" y="5026152"/>
            <a:ext cx="116586" cy="914"/>
          </a:xfrm>
          <a:prstGeom prst="line">
            <a:avLst/>
          </a:prstGeom>
          <a:noFill/>
          <a:ln w="22860">
            <a:solidFill>
              <a:srgbClr val="17375E"/>
            </a:solidFill>
            <a:prstDash val="solid"/>
          </a:ln>
        </p:spPr>
      </p:sp>
      <p:sp>
        <p:nvSpPr>
          <p:cNvPr id="170" name="Shape 166"/>
          <p:cNvSpPr/>
          <p:nvPr/>
        </p:nvSpPr>
        <p:spPr>
          <a:xfrm flipH="1" flipV="1">
            <a:off x="9770087" y="4707255"/>
            <a:ext cx="53453" cy="3086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1" name="Shape 167"/>
          <p:cNvSpPr/>
          <p:nvPr/>
        </p:nvSpPr>
        <p:spPr>
          <a:xfrm flipH="1" flipV="1">
            <a:off x="10003536" y="4473806"/>
            <a:ext cx="30861" cy="53453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2" name="Shape 168"/>
          <p:cNvSpPr/>
          <p:nvPr/>
        </p:nvSpPr>
        <p:spPr>
          <a:xfrm flipV="1">
            <a:off x="10322433" y="4715379"/>
            <a:ext cx="144916" cy="310773"/>
          </a:xfrm>
          <a:prstGeom prst="line">
            <a:avLst/>
          </a:prstGeom>
          <a:noFill/>
          <a:ln w="60960">
            <a:solidFill>
              <a:srgbClr val="17375E"/>
            </a:solidFill>
            <a:prstDash val="solid"/>
          </a:ln>
        </p:spPr>
      </p:sp>
      <p:sp>
        <p:nvSpPr>
          <p:cNvPr id="173" name="Shape 169"/>
          <p:cNvSpPr/>
          <p:nvPr/>
        </p:nvSpPr>
        <p:spPr>
          <a:xfrm flipH="1" flipV="1">
            <a:off x="9859175" y="4758690"/>
            <a:ext cx="463258" cy="26746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74" name="Shape 170"/>
          <p:cNvSpPr/>
          <p:nvPr/>
        </p:nvSpPr>
        <p:spPr>
          <a:xfrm>
            <a:off x="10267569" y="4971288"/>
            <a:ext cx="109728" cy="1097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5" name="Shape 171"/>
          <p:cNvSpPr/>
          <p:nvPr/>
        </p:nvSpPr>
        <p:spPr>
          <a:xfrm>
            <a:off x="9141714" y="5724144"/>
            <a:ext cx="2361438" cy="457200"/>
          </a:xfrm>
          <a:prstGeom prst="roundRect">
            <a:avLst>
              <a:gd name="adj" fmla="val 16000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6" name="Text 172"/>
          <p:cNvSpPr txBox="1"/>
          <p:nvPr/>
        </p:nvSpPr>
        <p:spPr>
          <a:xfrm>
            <a:off x="9141714" y="5724144"/>
            <a:ext cx="23614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tien voor één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Officiel → courant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Dites l’heure de tous les jours : ① ramenez à 12 h · ② cherchez la zone · ③ </a:t>
            </a:r>
            <a:r>
              <a:rPr lang="en-US" sz="1700" i="1" dirty="0">
                <a:solidFill>
                  <a:schemeClr val="accent5"/>
                </a:solidFill>
              </a:rPr>
              <a:t>half</a:t>
            </a:r>
            <a:r>
              <a:rPr lang="en-US" sz="1700" i="1" dirty="0">
                <a:solidFill>
                  <a:schemeClr val="accent5"/>
                </a:solidFill>
              </a:rPr>
              <a:t> → heure suivante.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51560" y="19872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9872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08.30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28803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474720" y="198729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51560" y="271373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271373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13.15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28803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474720" y="271373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51560" y="344017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51560" y="344017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17.45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28803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474720" y="344017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51560" y="416661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51560" y="416661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20.20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28803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474720" y="416661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51560" y="489305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51560" y="489305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22.35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28803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474720" y="489305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51560" y="56194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51560" y="56194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14.05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28803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3474720" y="5619496"/>
            <a:ext cx="81655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Officiel → courant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Dites l’heure de tous les jours : ① ramenez à 12 h · ② cherchez la zone · ③ </a:t>
            </a:r>
            <a:r>
              <a:rPr lang="en-US" sz="1700" i="1" dirty="0">
                <a:solidFill>
                  <a:schemeClr val="accent5"/>
                </a:solidFill>
              </a:rPr>
              <a:t>half</a:t>
            </a:r>
            <a:r>
              <a:rPr lang="en-US" sz="1700" i="1" dirty="0">
                <a:solidFill>
                  <a:schemeClr val="accent5"/>
                </a:solidFill>
              </a:rPr>
              <a:t> → heure suivante.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51560" y="19872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51560" y="19872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08.30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28803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474720" y="198729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11880" y="198729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half negen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51560" y="271373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51560" y="271373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13.15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28803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474720" y="271373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611880" y="271373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kwart over één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51560" y="344017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51560" y="344017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17.45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28803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474720" y="344017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11880" y="344017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kwart voor zes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51560" y="416661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51560" y="416661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20.20</a:t>
            </a:r>
            <a:endParaRPr lang="en-US" sz="2200" dirty="0"/>
          </a:p>
        </p:txBody>
      </p:sp>
      <p:sp>
        <p:nvSpPr>
          <p:cNvPr id="34" name="Shape 30"/>
          <p:cNvSpPr/>
          <p:nvPr/>
        </p:nvSpPr>
        <p:spPr>
          <a:xfrm>
            <a:off x="28803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474720" y="416661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611880" y="416661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tien voor half negen</a:t>
            </a:r>
            <a:r>
              <a:rPr lang="en-US" sz="1900" dirty="0">
                <a:solidFill>
                  <a:schemeClr val="accent3"/>
                </a:solidFill>
              </a:rPr>
              <a:t>  ·  ou </a:t>
            </a:r>
            <a:r>
              <a:rPr lang="en-US" sz="1900" i="1" dirty="0">
                <a:solidFill>
                  <a:schemeClr val="accent3"/>
                </a:solidFill>
              </a:rPr>
              <a:t>twintig over acht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51560" y="489305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51560" y="489305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22.35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28803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474720" y="489305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611880" y="489305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vijf over half elf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51560" y="5619496"/>
            <a:ext cx="1737360" cy="616712"/>
          </a:xfrm>
          <a:prstGeom prst="roundRect">
            <a:avLst>
              <a:gd name="adj" fmla="val 11862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51560" y="5619496"/>
            <a:ext cx="1737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14.05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28803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3474720" y="5619496"/>
            <a:ext cx="81655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3611880" y="5619496"/>
            <a:ext cx="7955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vijf over twee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bon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 mot de la banque.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De vergadering begint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negen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Ik werk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negen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vijf.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De film duurt </a:t>
            </a:r>
            <a:r>
              <a:rPr lang="en-US" sz="1900" i="1" dirty="0">
                <a:solidFill>
                  <a:schemeClr val="accent5"/>
                </a:solidFill>
              </a:rPr>
              <a:t>……………</a:t>
            </a:r>
            <a:r>
              <a:rPr lang="en-US" sz="1900" i="1" dirty="0">
                <a:solidFill>
                  <a:schemeClr val="tx1"/>
                </a:solidFill>
              </a:rPr>
              <a:t> uur. (1 h 30)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Wacht een </a:t>
            </a:r>
            <a:r>
              <a:rPr lang="en-US" sz="1900" i="1" dirty="0">
                <a:solidFill>
                  <a:schemeClr val="accent5"/>
                </a:solidFill>
              </a:rPr>
              <a:t>…………………</a:t>
            </a:r>
            <a:r>
              <a:rPr lang="en-US" sz="1900" i="1" dirty="0">
                <a:solidFill>
                  <a:schemeClr val="tx1"/>
                </a:solidFill>
              </a:rPr>
              <a:t>! (15 min)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Ik kom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drie uur, misschien iets later.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De trein vertrekt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om 8.12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Sorry, ik ben te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We hebben een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pauze. (30 min)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1920240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920240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rond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2852928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852928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halfuur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142232" y="5632704"/>
            <a:ext cx="55778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142232" y="5632704"/>
            <a:ext cx="5577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om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837176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37176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laat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5769864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769864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anderhalf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7296912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296912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van … tot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8823960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823960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precies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10113264" y="5632704"/>
            <a:ext cx="1627632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0113264" y="5632704"/>
            <a:ext cx="1627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kwartiertje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bon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 mot de la banque.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De vergadering begint </a:t>
            </a:r>
            <a:r>
              <a:rPr lang="en-US" sz="1900" b="1" i="1" dirty="0">
                <a:solidFill>
                  <a:schemeClr val="accent3"/>
                </a:solidFill>
              </a:rPr>
              <a:t>om</a:t>
            </a:r>
            <a:r>
              <a:rPr lang="en-US" sz="1900" i="1" dirty="0">
                <a:solidFill>
                  <a:schemeClr val="tx1"/>
                </a:solidFill>
              </a:rPr>
              <a:t> negen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Ik werk </a:t>
            </a:r>
            <a:r>
              <a:rPr lang="en-US" sz="1900" b="1" i="1" dirty="0">
                <a:solidFill>
                  <a:schemeClr val="accent3"/>
                </a:solidFill>
              </a:rPr>
              <a:t>van</a:t>
            </a:r>
            <a:r>
              <a:rPr lang="en-US" sz="1900" i="1" dirty="0">
                <a:solidFill>
                  <a:schemeClr val="tx1"/>
                </a:solidFill>
              </a:rPr>
              <a:t> negen </a:t>
            </a:r>
            <a:r>
              <a:rPr lang="en-US" sz="1900" b="1" i="1" dirty="0">
                <a:solidFill>
                  <a:schemeClr val="accent3"/>
                </a:solidFill>
              </a:rPr>
              <a:t>tot</a:t>
            </a:r>
            <a:r>
              <a:rPr lang="en-US" sz="1900" i="1" dirty="0">
                <a:solidFill>
                  <a:schemeClr val="tx1"/>
                </a:solidFill>
              </a:rPr>
              <a:t> vijf.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De film duurt </a:t>
            </a:r>
            <a:r>
              <a:rPr lang="en-US" sz="1900" b="1" i="1" dirty="0">
                <a:solidFill>
                  <a:schemeClr val="accent3"/>
                </a:solidFill>
              </a:rPr>
              <a:t>anderhalf</a:t>
            </a:r>
            <a:r>
              <a:rPr lang="en-US" sz="1900" i="1" dirty="0">
                <a:solidFill>
                  <a:schemeClr val="tx1"/>
                </a:solidFill>
              </a:rPr>
              <a:t> uur. (1 h 30)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Wacht een </a:t>
            </a:r>
            <a:r>
              <a:rPr lang="en-US" sz="1900" b="1" i="1" dirty="0">
                <a:solidFill>
                  <a:schemeClr val="accent3"/>
                </a:solidFill>
              </a:rPr>
              <a:t>kwartiertje</a:t>
            </a:r>
            <a:r>
              <a:rPr lang="en-US" sz="1900" i="1" dirty="0">
                <a:solidFill>
                  <a:schemeClr val="tx1"/>
                </a:solidFill>
              </a:rPr>
              <a:t>! (15 min)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23872"/>
            <a:ext cx="5340096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Ik kom </a:t>
            </a:r>
            <a:r>
              <a:rPr lang="en-US" sz="1900" b="1" i="1" dirty="0">
                <a:solidFill>
                  <a:schemeClr val="accent3"/>
                </a:solidFill>
              </a:rPr>
              <a:t>rond</a:t>
            </a:r>
            <a:r>
              <a:rPr lang="en-US" sz="1900" i="1" dirty="0">
                <a:solidFill>
                  <a:schemeClr val="tx1"/>
                </a:solidFill>
              </a:rPr>
              <a:t> drie uur, misschien iets later.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De trein vertrekt </a:t>
            </a:r>
            <a:r>
              <a:rPr lang="en-US" sz="1900" b="1" i="1" dirty="0">
                <a:solidFill>
                  <a:schemeClr val="accent3"/>
                </a:solidFill>
              </a:rPr>
              <a:t>precies</a:t>
            </a:r>
            <a:r>
              <a:rPr lang="en-US" sz="1900" i="1" dirty="0">
                <a:solidFill>
                  <a:schemeClr val="tx1"/>
                </a:solidFill>
              </a:rPr>
              <a:t> om 8.12 uur.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Sorry, ik ben te </a:t>
            </a:r>
            <a:r>
              <a:rPr lang="en-US" sz="1900" b="1" i="1" dirty="0">
                <a:solidFill>
                  <a:schemeClr val="accent3"/>
                </a:solidFill>
              </a:rPr>
              <a:t>laat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We hebben een </a:t>
            </a:r>
            <a:r>
              <a:rPr lang="en-US" sz="1900" b="1" i="1" dirty="0">
                <a:solidFill>
                  <a:schemeClr val="accent3"/>
                </a:solidFill>
              </a:rPr>
              <a:t>halfuur</a:t>
            </a:r>
            <a:r>
              <a:rPr lang="en-US" sz="1900" i="1" dirty="0">
                <a:solidFill>
                  <a:schemeClr val="tx1"/>
                </a:solidFill>
              </a:rPr>
              <a:t> pauze. (30 min)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1920240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920240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rond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2852928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852928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halfuur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142232" y="5632704"/>
            <a:ext cx="55778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142232" y="5632704"/>
            <a:ext cx="5577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om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4837176" y="5632704"/>
            <a:ext cx="79552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837176" y="5632704"/>
            <a:ext cx="7955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laat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769864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769864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anderhalf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7296912" y="5632704"/>
            <a:ext cx="1389888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296912" y="5632704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van … tot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8823960" y="5632704"/>
            <a:ext cx="1152144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823960" y="5632704"/>
            <a:ext cx="115214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precies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10113264" y="5632704"/>
            <a:ext cx="1627632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113264" y="5632704"/>
            <a:ext cx="1627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kwartiertje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vergadering dinsdag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heer Maes,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vergadering is op dinsdag </a:t>
            </a:r>
            <a:r>
              <a:rPr lang="en-US" sz="1900" i="1" dirty="0">
                <a:solidFill>
                  <a:schemeClr val="tx1"/>
                </a:solidFill>
              </a:rPr>
              <a:t>op drie uur</a:t>
            </a:r>
            <a:r>
              <a:rPr lang="en-US" sz="1900" i="1" dirty="0">
                <a:solidFill>
                  <a:schemeClr val="tx1"/>
                </a:solidFill>
              </a:rPr>
              <a:t>. Ze duurt </a:t>
            </a:r>
            <a:r>
              <a:rPr lang="en-US" sz="1900" i="1" dirty="0">
                <a:solidFill>
                  <a:schemeClr val="tx1"/>
                </a:solidFill>
              </a:rPr>
              <a:t>twee uren</a:t>
            </a:r>
            <a:r>
              <a:rPr lang="en-US" sz="1900" i="1" dirty="0">
                <a:solidFill>
                  <a:schemeClr val="tx1"/>
                </a:solidFill>
              </a:rPr>
              <a:t>. Daarna is er een pauze van </a:t>
            </a:r>
            <a:r>
              <a:rPr lang="en-US" sz="1900" i="1" dirty="0">
                <a:solidFill>
                  <a:schemeClr val="tx1"/>
                </a:solidFill>
              </a:rPr>
              <a:t>een uur en half</a:t>
            </a:r>
            <a:r>
              <a:rPr lang="en-US" sz="1900" i="1" dirty="0">
                <a:solidFill>
                  <a:schemeClr val="tx1"/>
                </a:solidFill>
              </a:rPr>
              <a:t>. Om half vier (</a:t>
            </a:r>
            <a:r>
              <a:rPr lang="en-US" sz="1900" i="1" dirty="0">
                <a:solidFill>
                  <a:schemeClr val="tx1"/>
                </a:solidFill>
              </a:rPr>
              <a:t>16.30 uur</a:t>
            </a:r>
            <a:r>
              <a:rPr lang="en-US" sz="1900" i="1" dirty="0">
                <a:solidFill>
                  <a:schemeClr val="tx1"/>
                </a:solidFill>
              </a:rPr>
              <a:t>) begint de presentatie. U kunt ook om </a:t>
            </a:r>
            <a:r>
              <a:rPr lang="en-US" sz="1900" i="1" dirty="0">
                <a:solidFill>
                  <a:schemeClr val="tx1"/>
                </a:solidFill>
              </a:rPr>
              <a:t>kwart na vijf</a:t>
            </a:r>
            <a:r>
              <a:rPr lang="en-US" sz="1900" i="1" dirty="0">
                <a:solidFill>
                  <a:schemeClr val="tx1"/>
                </a:solidFill>
              </a:rPr>
              <a:t> komen.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Karim Benali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vergadering dinsdag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heer Maes,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vergadering is op dinsdag </a:t>
            </a:r>
            <a:r>
              <a:rPr lang="en-US" sz="1900" i="1" strike="sngStrike" dirty="0">
                <a:solidFill>
                  <a:schemeClr val="accent6"/>
                </a:solidFill>
              </a:rPr>
              <a:t>op drie uur</a:t>
            </a:r>
            <a:r>
              <a:rPr lang="en-US" sz="1900" b="1" i="1" dirty="0">
                <a:solidFill>
                  <a:schemeClr val="accent3"/>
                </a:solidFill>
              </a:rPr>
              <a:t> om drie uur</a:t>
            </a:r>
            <a:r>
              <a:rPr lang="en-US" sz="1900" i="1" dirty="0">
                <a:solidFill>
                  <a:schemeClr val="tx1"/>
                </a:solidFill>
              </a:rPr>
              <a:t>. Ze duurt </a:t>
            </a:r>
            <a:r>
              <a:rPr lang="en-US" sz="1900" i="1" strike="sngStrike" dirty="0">
                <a:solidFill>
                  <a:schemeClr val="accent6"/>
                </a:solidFill>
              </a:rPr>
              <a:t>twee uren</a:t>
            </a:r>
            <a:r>
              <a:rPr lang="en-US" sz="1900" b="1" i="1" dirty="0">
                <a:solidFill>
                  <a:schemeClr val="accent3"/>
                </a:solidFill>
              </a:rPr>
              <a:t> twee uur</a:t>
            </a:r>
            <a:r>
              <a:rPr lang="en-US" sz="1900" i="1" dirty="0">
                <a:solidFill>
                  <a:schemeClr val="tx1"/>
                </a:solidFill>
              </a:rPr>
              <a:t>. Daarna is er een pauze van </a:t>
            </a:r>
            <a:r>
              <a:rPr lang="en-US" sz="1900" i="1" strike="sngStrike" dirty="0">
                <a:solidFill>
                  <a:schemeClr val="accent6"/>
                </a:solidFill>
              </a:rPr>
              <a:t>een uur en half</a:t>
            </a:r>
            <a:r>
              <a:rPr lang="en-US" sz="1900" b="1" i="1" dirty="0">
                <a:solidFill>
                  <a:schemeClr val="accent3"/>
                </a:solidFill>
              </a:rPr>
              <a:t> anderhalf uur</a:t>
            </a:r>
            <a:r>
              <a:rPr lang="en-US" sz="1900" i="1" dirty="0">
                <a:solidFill>
                  <a:schemeClr val="tx1"/>
                </a:solidFill>
              </a:rPr>
              <a:t>. Om half vier (</a:t>
            </a:r>
            <a:r>
              <a:rPr lang="en-US" sz="1900" i="1" strike="sngStrike" dirty="0">
                <a:solidFill>
                  <a:schemeClr val="accent6"/>
                </a:solidFill>
              </a:rPr>
              <a:t>16.30 uur</a:t>
            </a:r>
            <a:r>
              <a:rPr lang="en-US" sz="1900" b="1" i="1" dirty="0">
                <a:solidFill>
                  <a:schemeClr val="accent3"/>
                </a:solidFill>
              </a:rPr>
              <a:t> 15.30 uur</a:t>
            </a:r>
            <a:r>
              <a:rPr lang="en-US" sz="1900" i="1" dirty="0">
                <a:solidFill>
                  <a:schemeClr val="tx1"/>
                </a:solidFill>
              </a:rPr>
              <a:t>) begint de presentatie. U kunt ook om </a:t>
            </a:r>
            <a:r>
              <a:rPr lang="en-US" sz="1900" i="1" strike="sngStrike" dirty="0">
                <a:solidFill>
                  <a:schemeClr val="accent6"/>
                </a:solidFill>
              </a:rPr>
              <a:t>kwart na vijf</a:t>
            </a:r>
            <a:r>
              <a:rPr lang="en-US" sz="1900" b="1" i="1" dirty="0">
                <a:solidFill>
                  <a:schemeClr val="accent3"/>
                </a:solidFill>
              </a:rPr>
              <a:t> kwart over vijf</a:t>
            </a:r>
            <a:r>
              <a:rPr lang="en-US" sz="1900" i="1" dirty="0">
                <a:solidFill>
                  <a:schemeClr val="tx1"/>
                </a:solidFill>
              </a:rPr>
              <a:t> komen.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Karim Benali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op dinsdag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op</a:t>
            </a:r>
            <a:r>
              <a:rPr lang="en-US" sz="1400" i="1" dirty="0">
                <a:solidFill>
                  <a:schemeClr val="accent5"/>
                </a:solidFill>
              </a:rPr>
              <a:t> + jour, </a:t>
            </a:r>
            <a:r>
              <a:rPr lang="en-US" sz="1400" i="1" dirty="0">
                <a:solidFill>
                  <a:schemeClr val="accent5"/>
                </a:solidFill>
              </a:rPr>
              <a:t>om</a:t>
            </a:r>
            <a:r>
              <a:rPr lang="en-US" sz="1400" i="1" dirty="0">
                <a:solidFill>
                  <a:schemeClr val="accent5"/>
                </a:solidFill>
              </a:rPr>
              <a:t> + heure). </a:t>
            </a:r>
            <a:r>
              <a:rPr lang="en-US" sz="1400" i="1" dirty="0">
                <a:solidFill>
                  <a:schemeClr val="accent5"/>
                </a:solidFill>
              </a:rPr>
              <a:t>half vier</a:t>
            </a:r>
            <a:r>
              <a:rPr lang="en-US" sz="1400" i="1" dirty="0">
                <a:solidFill>
                  <a:schemeClr val="accent5"/>
                </a:solidFill>
              </a:rPr>
              <a:t> = 15 h 30 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Sur le quai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les annonces et complétez le tableau des départs.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412480" cy="4331208"/>
          </a:xfrm>
          <a:prstGeom prst="roundRect">
            <a:avLst>
              <a:gd name="adj" fmla="val 1689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202387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BESTEMMING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11480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VERTREK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49224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SPOOR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2481072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2481072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Antwerpen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4114800" y="2590800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492240" y="2590800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1520" y="3210154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3210154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Gent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4114800" y="3319882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92240" y="3319882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31520" y="3939235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2960" y="3939235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Leuven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4114800" y="4048963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492240" y="4048963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31520" y="4668317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22960" y="4668317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Luik</a:t>
            </a:r>
            <a:endParaRPr lang="en-US" sz="2200" dirty="0"/>
          </a:p>
        </p:txBody>
      </p:sp>
      <p:sp>
        <p:nvSpPr>
          <p:cNvPr id="26" name="Shape 22"/>
          <p:cNvSpPr/>
          <p:nvPr/>
        </p:nvSpPr>
        <p:spPr>
          <a:xfrm>
            <a:off x="4114800" y="4778045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492240" y="4778045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31520" y="5397398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22960" y="5397398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Brugge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4114800" y="5507126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492240" y="5507126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C3B5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2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115312"/>
            <a:ext cx="1280160" cy="128016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9144000" y="3578352"/>
            <a:ext cx="24963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L’enseignant·e lit 5 annonces, deux fois.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spoor</a:t>
            </a:r>
            <a:r>
              <a:rPr lang="en-US" sz="1400" dirty="0">
                <a:solidFill>
                  <a:schemeClr val="tx1"/>
                </a:solidFill>
              </a:rPr>
              <a:t> = la voie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vertrekken</a:t>
            </a:r>
            <a:r>
              <a:rPr lang="en-US" sz="1400" dirty="0">
                <a:solidFill>
                  <a:schemeClr val="tx1"/>
                </a:solidFill>
              </a:rPr>
              <a:t> = partir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Sur le quai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les annonces et complétez le tableau des départs.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412480" cy="4331208"/>
          </a:xfrm>
          <a:prstGeom prst="roundRect">
            <a:avLst>
              <a:gd name="adj" fmla="val 1689"/>
            </a:avLst>
          </a:prstGeom>
          <a:solidFill>
            <a:srgbClr val="1B2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202387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BESTEMMING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11480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VERTREK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0238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C266"/>
                </a:solidFill>
              </a:rPr>
              <a:t>SPOOR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31520" y="2481072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22960" y="2481072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Antwerpen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4114800" y="2590800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114800" y="2590800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14.17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492240" y="2590800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92240" y="2590800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3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31520" y="3210154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22960" y="3210154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Gent</a:t>
            </a:r>
            <a:endParaRPr lang="en-US" sz="2200" dirty="0"/>
          </a:p>
        </p:txBody>
      </p:sp>
      <p:sp>
        <p:nvSpPr>
          <p:cNvPr id="21" name="Shape 17"/>
          <p:cNvSpPr/>
          <p:nvPr/>
        </p:nvSpPr>
        <p:spPr>
          <a:xfrm>
            <a:off x="4114800" y="3319882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114800" y="3319882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14.32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6492240" y="3319882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92240" y="3319882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5</a:t>
            </a:r>
            <a:endParaRPr lang="en-US" sz="2200" dirty="0"/>
          </a:p>
        </p:txBody>
      </p:sp>
      <p:sp>
        <p:nvSpPr>
          <p:cNvPr id="25" name="Shape 21"/>
          <p:cNvSpPr/>
          <p:nvPr/>
        </p:nvSpPr>
        <p:spPr>
          <a:xfrm>
            <a:off x="731520" y="3939235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22960" y="3939235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Leuven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4114800" y="4048963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114800" y="4048963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14.45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048963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492240" y="4048963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731520" y="4668317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22960" y="4668317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Luik</a:t>
            </a:r>
            <a:endParaRPr lang="en-US" sz="2200" dirty="0"/>
          </a:p>
        </p:txBody>
      </p:sp>
      <p:sp>
        <p:nvSpPr>
          <p:cNvPr id="33" name="Shape 29"/>
          <p:cNvSpPr/>
          <p:nvPr/>
        </p:nvSpPr>
        <p:spPr>
          <a:xfrm>
            <a:off x="4114800" y="4778045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114800" y="4778045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15.04</a:t>
            </a:r>
            <a:endParaRPr lang="en-US" sz="2200" dirty="0"/>
          </a:p>
        </p:txBody>
      </p:sp>
      <p:sp>
        <p:nvSpPr>
          <p:cNvPr id="35" name="Shape 31"/>
          <p:cNvSpPr/>
          <p:nvPr/>
        </p:nvSpPr>
        <p:spPr>
          <a:xfrm>
            <a:off x="6492240" y="4778045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492240" y="4778045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8</a:t>
            </a:r>
            <a:endParaRPr lang="en-US" sz="2200" dirty="0"/>
          </a:p>
        </p:txBody>
      </p:sp>
      <p:sp>
        <p:nvSpPr>
          <p:cNvPr id="37" name="Shape 33"/>
          <p:cNvSpPr/>
          <p:nvPr/>
        </p:nvSpPr>
        <p:spPr>
          <a:xfrm>
            <a:off x="731520" y="5397398"/>
            <a:ext cx="8046720" cy="914"/>
          </a:xfrm>
          <a:prstGeom prst="line">
            <a:avLst/>
          </a:prstGeom>
          <a:noFill/>
          <a:ln w="9525">
            <a:solidFill>
              <a:srgbClr val="3A4A60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822960" y="5397398"/>
            <a:ext cx="3108960" cy="729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Brugge</a:t>
            </a:r>
            <a:endParaRPr lang="en-US" sz="2200" dirty="0"/>
          </a:p>
        </p:txBody>
      </p:sp>
      <p:sp>
        <p:nvSpPr>
          <p:cNvPr id="39" name="Shape 35"/>
          <p:cNvSpPr/>
          <p:nvPr/>
        </p:nvSpPr>
        <p:spPr>
          <a:xfrm>
            <a:off x="4114800" y="5507126"/>
            <a:ext cx="18288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4114800" y="5507126"/>
            <a:ext cx="18288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15.21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6492240" y="5507126"/>
            <a:ext cx="914400" cy="509626"/>
          </a:xfrm>
          <a:prstGeom prst="roundRect">
            <a:avLst>
              <a:gd name="adj" fmla="val 10766"/>
            </a:avLst>
          </a:prstGeom>
          <a:solidFill>
            <a:srgbClr val="2E7D4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6492240" y="5507126"/>
            <a:ext cx="914400" cy="5096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C266"/>
                </a:solidFill>
              </a:rPr>
              <a:t>2</a:t>
            </a:r>
            <a:endParaRPr lang="en-US" sz="2200" dirty="0"/>
          </a:p>
        </p:txBody>
      </p:sp>
      <p:pic>
        <p:nvPicPr>
          <p:cNvPr id="43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115312"/>
            <a:ext cx="1280160" cy="1280160"/>
          </a:xfrm>
          <a:prstGeom prst="rect">
            <a:avLst/>
          </a:prstGeom>
        </p:spPr>
      </p:pic>
      <p:sp>
        <p:nvSpPr>
          <p:cNvPr id="44" name="Text 39"/>
          <p:cNvSpPr txBox="1"/>
          <p:nvPr/>
        </p:nvSpPr>
        <p:spPr>
          <a:xfrm>
            <a:off x="9144000" y="3578352"/>
            <a:ext cx="24963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L’enseignant·e lit 5 annonces, deux fois.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spoor</a:t>
            </a:r>
            <a:r>
              <a:rPr lang="en-US" sz="1400" dirty="0">
                <a:solidFill>
                  <a:schemeClr val="tx1"/>
                </a:solidFill>
              </a:rPr>
              <a:t> = la voie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vertrekken</a:t>
            </a:r>
            <a:r>
              <a:rPr lang="en-US" sz="1400" dirty="0">
                <a:solidFill>
                  <a:schemeClr val="tx1"/>
                </a:solidFill>
              </a:rPr>
              <a:t> = partir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loto des horloges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76656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79576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390802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1545431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561795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545431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90802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79576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945718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H="1">
            <a:off x="774522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711860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H="1" flipV="1">
            <a:off x="774522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 flipV="1">
            <a:off x="945718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1179576" y="2144050"/>
            <a:ext cx="232319" cy="96230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179576" y="2240280"/>
            <a:ext cx="392278" cy="914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39342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1901952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2029968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2532888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2744114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898743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915107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898743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44114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532888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2299030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H="1">
            <a:off x="2127834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H="1">
            <a:off x="2065172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 flipV="1">
            <a:off x="2127834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H="1" flipV="1">
            <a:off x="2299030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532888" y="2240280"/>
            <a:ext cx="177809" cy="177809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532888" y="2240280"/>
            <a:ext cx="914" cy="392278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492654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901952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2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3255264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3383280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3886200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097426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4252055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268419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252055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097426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886200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H="1">
            <a:off x="3652342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H="1">
            <a:off x="3481146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 flipH="1">
            <a:off x="3418484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H="1" flipV="1">
            <a:off x="3481146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H="1" flipV="1">
            <a:off x="3652342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H="1">
            <a:off x="3649905" y="2240280"/>
            <a:ext cx="236295" cy="86004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886200" y="2240280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845966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3255264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3</a:t>
            </a:r>
            <a:endParaRPr lang="en-US" sz="1500" dirty="0"/>
          </a:p>
        </p:txBody>
      </p:sp>
      <p:sp>
        <p:nvSpPr>
          <p:cNvPr id="60" name="Shape 57"/>
          <p:cNvSpPr/>
          <p:nvPr/>
        </p:nvSpPr>
        <p:spPr>
          <a:xfrm>
            <a:off x="4608576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4736592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V="1">
            <a:off x="5239512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5450738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 flipV="1">
            <a:off x="5605367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5621731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5605367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5450738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5239512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H="1">
            <a:off x="5005654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 flipH="1">
            <a:off x="4834458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H="1">
            <a:off x="4771796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 flipH="1" flipV="1">
            <a:off x="4834458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H="1" flipV="1">
            <a:off x="5005654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 flipH="1" flipV="1">
            <a:off x="5069628" y="2054884"/>
            <a:ext cx="169884" cy="185396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 flipH="1">
            <a:off x="5043373" y="2240280"/>
            <a:ext cx="196139" cy="339722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5199278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608576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4</a:t>
            </a:r>
            <a:endParaRPr lang="en-US" sz="1500" dirty="0"/>
          </a:p>
        </p:txBody>
      </p:sp>
      <p:sp>
        <p:nvSpPr>
          <p:cNvPr id="78" name="Shape 75"/>
          <p:cNvSpPr/>
          <p:nvPr/>
        </p:nvSpPr>
        <p:spPr>
          <a:xfrm>
            <a:off x="5961888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6089904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 flipV="1">
            <a:off x="6592824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V="1">
            <a:off x="6804050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V="1">
            <a:off x="6958679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6975043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6958679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6804050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6592824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 flipH="1">
            <a:off x="6358966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 flipH="1">
            <a:off x="6187770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6125108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 flipH="1" flipV="1">
            <a:off x="6187770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 flipH="1" flipV="1">
            <a:off x="6358966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6393327" y="2240280"/>
            <a:ext cx="199497" cy="153079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H="1">
            <a:off x="6200546" y="2240280"/>
            <a:ext cx="392278" cy="914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6552590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961888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5</a:t>
            </a:r>
            <a:endParaRPr lang="en-US" sz="1500" dirty="0"/>
          </a:p>
        </p:txBody>
      </p:sp>
      <p:sp>
        <p:nvSpPr>
          <p:cNvPr id="96" name="Shape 93"/>
          <p:cNvSpPr/>
          <p:nvPr/>
        </p:nvSpPr>
        <p:spPr>
          <a:xfrm>
            <a:off x="7315200" y="160020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7443216" y="173736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7946136" y="177256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 flipV="1">
            <a:off x="8157362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 flipV="1">
            <a:off x="8311991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8328355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8311991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8157362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7946136" y="262249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 flipH="1">
            <a:off x="7712278" y="260613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 flipH="1">
            <a:off x="7541082" y="245150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 flipH="1">
            <a:off x="7478420" y="224028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 flipH="1" flipV="1">
            <a:off x="7541082" y="200642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 flipH="1" flipV="1">
            <a:off x="7712278" y="183522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7946136" y="2240280"/>
            <a:ext cx="250503" cy="21916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 flipV="1">
            <a:off x="7946136" y="2044141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7905902" y="220004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3" name="Text 110"/>
          <p:cNvSpPr txBox="1"/>
          <p:nvPr/>
        </p:nvSpPr>
        <p:spPr>
          <a:xfrm>
            <a:off x="7315200" y="2926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6</a:t>
            </a:r>
            <a:endParaRPr lang="en-US" sz="1500" dirty="0"/>
          </a:p>
        </p:txBody>
      </p:sp>
      <p:sp>
        <p:nvSpPr>
          <p:cNvPr id="114" name="Shape 111"/>
          <p:cNvSpPr/>
          <p:nvPr/>
        </p:nvSpPr>
        <p:spPr>
          <a:xfrm>
            <a:off x="548640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5" name="Shape 112"/>
          <p:cNvSpPr/>
          <p:nvPr/>
        </p:nvSpPr>
        <p:spPr>
          <a:xfrm>
            <a:off x="676656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 flipV="1">
            <a:off x="1179576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1390802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 flipV="1">
            <a:off x="1545431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>
            <a:off x="1561795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1545431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1390802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1179576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 flipH="1">
            <a:off x="945718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4" name="Shape 121"/>
          <p:cNvSpPr/>
          <p:nvPr/>
        </p:nvSpPr>
        <p:spPr>
          <a:xfrm flipH="1">
            <a:off x="774522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H="1">
            <a:off x="711860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 flipH="1" flipV="1">
            <a:off x="774522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H="1" flipV="1">
            <a:off x="945718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 flipV="1">
            <a:off x="1179576" y="3917628"/>
            <a:ext cx="65083" cy="242892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1179576" y="4160520"/>
            <a:ext cx="914" cy="392278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30" name="Shape 127"/>
          <p:cNvSpPr/>
          <p:nvPr/>
        </p:nvSpPr>
        <p:spPr>
          <a:xfrm>
            <a:off x="1139342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1" name="Text 128"/>
          <p:cNvSpPr txBox="1"/>
          <p:nvPr/>
        </p:nvSpPr>
        <p:spPr>
          <a:xfrm>
            <a:off x="548640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7</a:t>
            </a:r>
            <a:endParaRPr lang="en-US" sz="1500" dirty="0"/>
          </a:p>
        </p:txBody>
      </p:sp>
      <p:sp>
        <p:nvSpPr>
          <p:cNvPr id="132" name="Shape 129"/>
          <p:cNvSpPr/>
          <p:nvPr/>
        </p:nvSpPr>
        <p:spPr>
          <a:xfrm>
            <a:off x="1901952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3" name="Shape 130"/>
          <p:cNvSpPr/>
          <p:nvPr/>
        </p:nvSpPr>
        <p:spPr>
          <a:xfrm>
            <a:off x="2029968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34" name="Shape 131"/>
          <p:cNvSpPr/>
          <p:nvPr/>
        </p:nvSpPr>
        <p:spPr>
          <a:xfrm flipV="1">
            <a:off x="2532888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35" name="Shape 132"/>
          <p:cNvSpPr/>
          <p:nvPr/>
        </p:nvSpPr>
        <p:spPr>
          <a:xfrm flipV="1">
            <a:off x="2744114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6" name="Shape 133"/>
          <p:cNvSpPr/>
          <p:nvPr/>
        </p:nvSpPr>
        <p:spPr>
          <a:xfrm flipV="1">
            <a:off x="2898743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7" name="Shape 134"/>
          <p:cNvSpPr/>
          <p:nvPr/>
        </p:nvSpPr>
        <p:spPr>
          <a:xfrm>
            <a:off x="2915107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38" name="Shape 135"/>
          <p:cNvSpPr/>
          <p:nvPr/>
        </p:nvSpPr>
        <p:spPr>
          <a:xfrm>
            <a:off x="2898743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39" name="Shape 136"/>
          <p:cNvSpPr/>
          <p:nvPr/>
        </p:nvSpPr>
        <p:spPr>
          <a:xfrm>
            <a:off x="2744114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0" name="Shape 137"/>
          <p:cNvSpPr/>
          <p:nvPr/>
        </p:nvSpPr>
        <p:spPr>
          <a:xfrm>
            <a:off x="2532888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41" name="Shape 138"/>
          <p:cNvSpPr/>
          <p:nvPr/>
        </p:nvSpPr>
        <p:spPr>
          <a:xfrm flipH="1">
            <a:off x="2299030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2" name="Shape 139"/>
          <p:cNvSpPr/>
          <p:nvPr/>
        </p:nvSpPr>
        <p:spPr>
          <a:xfrm flipH="1">
            <a:off x="2127834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3" name="Shape 140"/>
          <p:cNvSpPr/>
          <p:nvPr/>
        </p:nvSpPr>
        <p:spPr>
          <a:xfrm flipH="1">
            <a:off x="2065172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44" name="Shape 141"/>
          <p:cNvSpPr/>
          <p:nvPr/>
        </p:nvSpPr>
        <p:spPr>
          <a:xfrm flipH="1" flipV="1">
            <a:off x="2127834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5" name="Shape 142"/>
          <p:cNvSpPr/>
          <p:nvPr/>
        </p:nvSpPr>
        <p:spPr>
          <a:xfrm flipH="1" flipV="1">
            <a:off x="2299030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46" name="Shape 143"/>
          <p:cNvSpPr/>
          <p:nvPr/>
        </p:nvSpPr>
        <p:spPr>
          <a:xfrm>
            <a:off x="2532888" y="4160520"/>
            <a:ext cx="10969" cy="251221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47" name="Shape 144"/>
          <p:cNvSpPr/>
          <p:nvPr/>
        </p:nvSpPr>
        <p:spPr>
          <a:xfrm flipH="1" flipV="1">
            <a:off x="2336749" y="3820798"/>
            <a:ext cx="196139" cy="339722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48" name="Shape 145"/>
          <p:cNvSpPr/>
          <p:nvPr/>
        </p:nvSpPr>
        <p:spPr>
          <a:xfrm>
            <a:off x="2492654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9" name="Text 146"/>
          <p:cNvSpPr txBox="1"/>
          <p:nvPr/>
        </p:nvSpPr>
        <p:spPr>
          <a:xfrm>
            <a:off x="1901952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8</a:t>
            </a:r>
            <a:endParaRPr lang="en-US" sz="1500" dirty="0"/>
          </a:p>
        </p:txBody>
      </p:sp>
      <p:sp>
        <p:nvSpPr>
          <p:cNvPr id="150" name="Shape 147"/>
          <p:cNvSpPr/>
          <p:nvPr/>
        </p:nvSpPr>
        <p:spPr>
          <a:xfrm>
            <a:off x="3255264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1" name="Shape 148"/>
          <p:cNvSpPr/>
          <p:nvPr/>
        </p:nvSpPr>
        <p:spPr>
          <a:xfrm>
            <a:off x="3383280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52" name="Shape 149"/>
          <p:cNvSpPr/>
          <p:nvPr/>
        </p:nvSpPr>
        <p:spPr>
          <a:xfrm flipV="1">
            <a:off x="3886200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3" name="Shape 150"/>
          <p:cNvSpPr/>
          <p:nvPr/>
        </p:nvSpPr>
        <p:spPr>
          <a:xfrm flipV="1">
            <a:off x="4097426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4" name="Shape 151"/>
          <p:cNvSpPr/>
          <p:nvPr/>
        </p:nvSpPr>
        <p:spPr>
          <a:xfrm flipV="1">
            <a:off x="4252055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5" name="Shape 152"/>
          <p:cNvSpPr/>
          <p:nvPr/>
        </p:nvSpPr>
        <p:spPr>
          <a:xfrm>
            <a:off x="4268419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6" name="Shape 153"/>
          <p:cNvSpPr/>
          <p:nvPr/>
        </p:nvSpPr>
        <p:spPr>
          <a:xfrm>
            <a:off x="4252055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7" name="Shape 154"/>
          <p:cNvSpPr/>
          <p:nvPr/>
        </p:nvSpPr>
        <p:spPr>
          <a:xfrm>
            <a:off x="4097426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58" name="Shape 155"/>
          <p:cNvSpPr/>
          <p:nvPr/>
        </p:nvSpPr>
        <p:spPr>
          <a:xfrm>
            <a:off x="3886200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59" name="Shape 156"/>
          <p:cNvSpPr/>
          <p:nvPr/>
        </p:nvSpPr>
        <p:spPr>
          <a:xfrm flipH="1">
            <a:off x="3652342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0" name="Shape 157"/>
          <p:cNvSpPr/>
          <p:nvPr/>
        </p:nvSpPr>
        <p:spPr>
          <a:xfrm flipH="1">
            <a:off x="3481146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1" name="Shape 158"/>
          <p:cNvSpPr/>
          <p:nvPr/>
        </p:nvSpPr>
        <p:spPr>
          <a:xfrm flipH="1">
            <a:off x="3418484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62" name="Shape 159"/>
          <p:cNvSpPr/>
          <p:nvPr/>
        </p:nvSpPr>
        <p:spPr>
          <a:xfrm flipH="1" flipV="1">
            <a:off x="3481146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3" name="Shape 160"/>
          <p:cNvSpPr/>
          <p:nvPr/>
        </p:nvSpPr>
        <p:spPr>
          <a:xfrm flipH="1" flipV="1">
            <a:off x="3652342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64" name="Shape 161"/>
          <p:cNvSpPr/>
          <p:nvPr/>
        </p:nvSpPr>
        <p:spPr>
          <a:xfrm flipH="1" flipV="1">
            <a:off x="3638560" y="4116854"/>
            <a:ext cx="247640" cy="43666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65" name="Shape 162"/>
          <p:cNvSpPr/>
          <p:nvPr/>
        </p:nvSpPr>
        <p:spPr>
          <a:xfrm>
            <a:off x="3886200" y="4160520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66" name="Shape 163"/>
          <p:cNvSpPr/>
          <p:nvPr/>
        </p:nvSpPr>
        <p:spPr>
          <a:xfrm>
            <a:off x="3845966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7" name="Text 164"/>
          <p:cNvSpPr txBox="1"/>
          <p:nvPr/>
        </p:nvSpPr>
        <p:spPr>
          <a:xfrm>
            <a:off x="3255264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9</a:t>
            </a:r>
            <a:endParaRPr lang="en-US" sz="1500" dirty="0"/>
          </a:p>
        </p:txBody>
      </p:sp>
      <p:sp>
        <p:nvSpPr>
          <p:cNvPr id="168" name="Shape 165"/>
          <p:cNvSpPr/>
          <p:nvPr/>
        </p:nvSpPr>
        <p:spPr>
          <a:xfrm>
            <a:off x="4608576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9" name="Shape 166"/>
          <p:cNvSpPr/>
          <p:nvPr/>
        </p:nvSpPr>
        <p:spPr>
          <a:xfrm>
            <a:off x="4736592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70" name="Shape 167"/>
          <p:cNvSpPr/>
          <p:nvPr/>
        </p:nvSpPr>
        <p:spPr>
          <a:xfrm flipV="1">
            <a:off x="5239512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71" name="Shape 168"/>
          <p:cNvSpPr/>
          <p:nvPr/>
        </p:nvSpPr>
        <p:spPr>
          <a:xfrm flipV="1">
            <a:off x="5450738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2" name="Shape 169"/>
          <p:cNvSpPr/>
          <p:nvPr/>
        </p:nvSpPr>
        <p:spPr>
          <a:xfrm flipV="1">
            <a:off x="5605367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3" name="Shape 170"/>
          <p:cNvSpPr/>
          <p:nvPr/>
        </p:nvSpPr>
        <p:spPr>
          <a:xfrm>
            <a:off x="5621731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74" name="Shape 171"/>
          <p:cNvSpPr/>
          <p:nvPr/>
        </p:nvSpPr>
        <p:spPr>
          <a:xfrm>
            <a:off x="5605367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5" name="Shape 172"/>
          <p:cNvSpPr/>
          <p:nvPr/>
        </p:nvSpPr>
        <p:spPr>
          <a:xfrm>
            <a:off x="5450738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6" name="Shape 173"/>
          <p:cNvSpPr/>
          <p:nvPr/>
        </p:nvSpPr>
        <p:spPr>
          <a:xfrm>
            <a:off x="5239512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77" name="Shape 174"/>
          <p:cNvSpPr/>
          <p:nvPr/>
        </p:nvSpPr>
        <p:spPr>
          <a:xfrm flipH="1">
            <a:off x="5005654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8" name="Shape 175"/>
          <p:cNvSpPr/>
          <p:nvPr/>
        </p:nvSpPr>
        <p:spPr>
          <a:xfrm flipH="1">
            <a:off x="4834458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79" name="Shape 176"/>
          <p:cNvSpPr/>
          <p:nvPr/>
        </p:nvSpPr>
        <p:spPr>
          <a:xfrm flipH="1">
            <a:off x="4771796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80" name="Shape 177"/>
          <p:cNvSpPr/>
          <p:nvPr/>
        </p:nvSpPr>
        <p:spPr>
          <a:xfrm flipH="1" flipV="1">
            <a:off x="4834458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1" name="Shape 178"/>
          <p:cNvSpPr/>
          <p:nvPr/>
        </p:nvSpPr>
        <p:spPr>
          <a:xfrm flipH="1" flipV="1">
            <a:off x="5005654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82" name="Shape 179"/>
          <p:cNvSpPr/>
          <p:nvPr/>
        </p:nvSpPr>
        <p:spPr>
          <a:xfrm flipH="1" flipV="1">
            <a:off x="5086433" y="3961023"/>
            <a:ext cx="153079" cy="199497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183" name="Shape 180"/>
          <p:cNvSpPr/>
          <p:nvPr/>
        </p:nvSpPr>
        <p:spPr>
          <a:xfrm flipH="1">
            <a:off x="4847234" y="4160520"/>
            <a:ext cx="392278" cy="914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184" name="Shape 181"/>
          <p:cNvSpPr/>
          <p:nvPr/>
        </p:nvSpPr>
        <p:spPr>
          <a:xfrm>
            <a:off x="5199278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5" name="Text 182"/>
          <p:cNvSpPr txBox="1"/>
          <p:nvPr/>
        </p:nvSpPr>
        <p:spPr>
          <a:xfrm>
            <a:off x="4608576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10</a:t>
            </a:r>
            <a:endParaRPr lang="en-US" sz="1500" dirty="0"/>
          </a:p>
        </p:txBody>
      </p:sp>
      <p:sp>
        <p:nvSpPr>
          <p:cNvPr id="186" name="Shape 183"/>
          <p:cNvSpPr/>
          <p:nvPr/>
        </p:nvSpPr>
        <p:spPr>
          <a:xfrm>
            <a:off x="5961888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7" name="Shape 184"/>
          <p:cNvSpPr/>
          <p:nvPr/>
        </p:nvSpPr>
        <p:spPr>
          <a:xfrm>
            <a:off x="6089904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188" name="Shape 185"/>
          <p:cNvSpPr/>
          <p:nvPr/>
        </p:nvSpPr>
        <p:spPr>
          <a:xfrm flipV="1">
            <a:off x="6592824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89" name="Shape 186"/>
          <p:cNvSpPr/>
          <p:nvPr/>
        </p:nvSpPr>
        <p:spPr>
          <a:xfrm flipV="1">
            <a:off x="6804050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0" name="Shape 187"/>
          <p:cNvSpPr/>
          <p:nvPr/>
        </p:nvSpPr>
        <p:spPr>
          <a:xfrm flipV="1">
            <a:off x="6958679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1" name="Shape 188"/>
          <p:cNvSpPr/>
          <p:nvPr/>
        </p:nvSpPr>
        <p:spPr>
          <a:xfrm>
            <a:off x="6975043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92" name="Shape 189"/>
          <p:cNvSpPr/>
          <p:nvPr/>
        </p:nvSpPr>
        <p:spPr>
          <a:xfrm>
            <a:off x="6958679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3" name="Shape 190"/>
          <p:cNvSpPr/>
          <p:nvPr/>
        </p:nvSpPr>
        <p:spPr>
          <a:xfrm>
            <a:off x="6804050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4" name="Shape 191"/>
          <p:cNvSpPr/>
          <p:nvPr/>
        </p:nvSpPr>
        <p:spPr>
          <a:xfrm>
            <a:off x="6592824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95" name="Shape 192"/>
          <p:cNvSpPr/>
          <p:nvPr/>
        </p:nvSpPr>
        <p:spPr>
          <a:xfrm flipH="1">
            <a:off x="6358966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6" name="Shape 193"/>
          <p:cNvSpPr/>
          <p:nvPr/>
        </p:nvSpPr>
        <p:spPr>
          <a:xfrm flipH="1">
            <a:off x="6187770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7" name="Shape 194"/>
          <p:cNvSpPr/>
          <p:nvPr/>
        </p:nvSpPr>
        <p:spPr>
          <a:xfrm flipH="1">
            <a:off x="6125108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198" name="Shape 195"/>
          <p:cNvSpPr/>
          <p:nvPr/>
        </p:nvSpPr>
        <p:spPr>
          <a:xfrm flipH="1" flipV="1">
            <a:off x="6187770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199" name="Shape 196"/>
          <p:cNvSpPr/>
          <p:nvPr/>
        </p:nvSpPr>
        <p:spPr>
          <a:xfrm flipH="1" flipV="1">
            <a:off x="6358966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0" name="Shape 197"/>
          <p:cNvSpPr/>
          <p:nvPr/>
        </p:nvSpPr>
        <p:spPr>
          <a:xfrm flipH="1">
            <a:off x="6506820" y="4160520"/>
            <a:ext cx="86004" cy="236295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201" name="Shape 198"/>
          <p:cNvSpPr/>
          <p:nvPr/>
        </p:nvSpPr>
        <p:spPr>
          <a:xfrm flipH="1">
            <a:off x="6253102" y="4160520"/>
            <a:ext cx="339722" cy="196139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202" name="Shape 199"/>
          <p:cNvSpPr/>
          <p:nvPr/>
        </p:nvSpPr>
        <p:spPr>
          <a:xfrm>
            <a:off x="6552590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5961888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11</a:t>
            </a:r>
            <a:endParaRPr lang="en-US" sz="1500" dirty="0"/>
          </a:p>
        </p:txBody>
      </p:sp>
      <p:sp>
        <p:nvSpPr>
          <p:cNvPr id="204" name="Shape 201"/>
          <p:cNvSpPr/>
          <p:nvPr/>
        </p:nvSpPr>
        <p:spPr>
          <a:xfrm>
            <a:off x="7315200" y="3520440"/>
            <a:ext cx="1261872" cy="17830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5" name="Shape 202"/>
          <p:cNvSpPr/>
          <p:nvPr/>
        </p:nvSpPr>
        <p:spPr>
          <a:xfrm>
            <a:off x="7443216" y="3657600"/>
            <a:ext cx="1005840" cy="1005840"/>
          </a:xfrm>
          <a:prstGeom prst="ellipse">
            <a:avLst/>
          </a:prstGeom>
          <a:solidFill>
            <a:srgbClr val="FFFFFF"/>
          </a:solidFill>
          <a:ln w="22352">
            <a:solidFill>
              <a:srgbClr val="17375E"/>
            </a:solidFill>
            <a:prstDash val="solid"/>
          </a:ln>
        </p:spPr>
      </p:sp>
      <p:sp>
        <p:nvSpPr>
          <p:cNvPr id="206" name="Shape 203"/>
          <p:cNvSpPr/>
          <p:nvPr/>
        </p:nvSpPr>
        <p:spPr>
          <a:xfrm flipV="1">
            <a:off x="7946136" y="3692804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07" name="Shape 204"/>
          <p:cNvSpPr/>
          <p:nvPr/>
        </p:nvSpPr>
        <p:spPr>
          <a:xfrm flipV="1">
            <a:off x="8157362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8" name="Shape 205"/>
          <p:cNvSpPr/>
          <p:nvPr/>
        </p:nvSpPr>
        <p:spPr>
          <a:xfrm flipV="1">
            <a:off x="8311991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09" name="Shape 206"/>
          <p:cNvSpPr/>
          <p:nvPr/>
        </p:nvSpPr>
        <p:spPr>
          <a:xfrm>
            <a:off x="8328355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10" name="Shape 207"/>
          <p:cNvSpPr/>
          <p:nvPr/>
        </p:nvSpPr>
        <p:spPr>
          <a:xfrm>
            <a:off x="8311991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1" name="Shape 208"/>
          <p:cNvSpPr/>
          <p:nvPr/>
        </p:nvSpPr>
        <p:spPr>
          <a:xfrm>
            <a:off x="8157362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2" name="Shape 209"/>
          <p:cNvSpPr/>
          <p:nvPr/>
        </p:nvSpPr>
        <p:spPr>
          <a:xfrm>
            <a:off x="7946136" y="4542739"/>
            <a:ext cx="914" cy="85496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13" name="Shape 210"/>
          <p:cNvSpPr/>
          <p:nvPr/>
        </p:nvSpPr>
        <p:spPr>
          <a:xfrm flipH="1">
            <a:off x="7712278" y="4526375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4" name="Shape 211"/>
          <p:cNvSpPr/>
          <p:nvPr/>
        </p:nvSpPr>
        <p:spPr>
          <a:xfrm flipH="1">
            <a:off x="7541082" y="4371746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5" name="Shape 212"/>
          <p:cNvSpPr/>
          <p:nvPr/>
        </p:nvSpPr>
        <p:spPr>
          <a:xfrm flipH="1">
            <a:off x="7478420" y="4160520"/>
            <a:ext cx="85496" cy="914"/>
          </a:xfrm>
          <a:prstGeom prst="line">
            <a:avLst/>
          </a:prstGeom>
          <a:noFill/>
          <a:ln w="16764">
            <a:solidFill>
              <a:srgbClr val="17375E"/>
            </a:solidFill>
            <a:prstDash val="solid"/>
          </a:ln>
        </p:spPr>
      </p:sp>
      <p:sp>
        <p:nvSpPr>
          <p:cNvPr id="216" name="Shape 213"/>
          <p:cNvSpPr/>
          <p:nvPr/>
        </p:nvSpPr>
        <p:spPr>
          <a:xfrm flipH="1" flipV="1">
            <a:off x="7541082" y="3926662"/>
            <a:ext cx="39199" cy="22631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7" name="Shape 214"/>
          <p:cNvSpPr/>
          <p:nvPr/>
        </p:nvSpPr>
        <p:spPr>
          <a:xfrm flipH="1" flipV="1">
            <a:off x="7712278" y="3755466"/>
            <a:ext cx="22631" cy="39199"/>
          </a:xfrm>
          <a:prstGeom prst="line">
            <a:avLst/>
          </a:prstGeom>
          <a:noFill/>
          <a:ln w="9525">
            <a:solidFill>
              <a:srgbClr val="17375E"/>
            </a:solidFill>
            <a:prstDash val="solid"/>
          </a:ln>
        </p:spPr>
      </p:sp>
      <p:sp>
        <p:nvSpPr>
          <p:cNvPr id="218" name="Shape 215"/>
          <p:cNvSpPr/>
          <p:nvPr/>
        </p:nvSpPr>
        <p:spPr>
          <a:xfrm flipV="1">
            <a:off x="7946136" y="3909299"/>
            <a:ext cx="10969" cy="251221"/>
          </a:xfrm>
          <a:prstGeom prst="line">
            <a:avLst/>
          </a:prstGeom>
          <a:noFill/>
          <a:ln w="44704">
            <a:solidFill>
              <a:srgbClr val="17375E"/>
            </a:solidFill>
            <a:prstDash val="solid"/>
          </a:ln>
        </p:spPr>
      </p:sp>
      <p:sp>
        <p:nvSpPr>
          <p:cNvPr id="219" name="Shape 216"/>
          <p:cNvSpPr/>
          <p:nvPr/>
        </p:nvSpPr>
        <p:spPr>
          <a:xfrm flipV="1">
            <a:off x="7946136" y="3820798"/>
            <a:ext cx="196139" cy="339722"/>
          </a:xfrm>
          <a:prstGeom prst="line">
            <a:avLst/>
          </a:prstGeom>
          <a:noFill/>
          <a:ln w="27940">
            <a:solidFill>
              <a:srgbClr val="D9700F"/>
            </a:solidFill>
            <a:prstDash val="solid"/>
          </a:ln>
        </p:spPr>
      </p:sp>
      <p:sp>
        <p:nvSpPr>
          <p:cNvPr id="220" name="Shape 217"/>
          <p:cNvSpPr/>
          <p:nvPr/>
        </p:nvSpPr>
        <p:spPr>
          <a:xfrm>
            <a:off x="7905902" y="4120286"/>
            <a:ext cx="80467" cy="80467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1" name="Text 218"/>
          <p:cNvSpPr txBox="1"/>
          <p:nvPr/>
        </p:nvSpPr>
        <p:spPr>
          <a:xfrm>
            <a:off x="7315200" y="4846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12</a:t>
            </a:r>
            <a:endParaRPr lang="en-US" sz="1500" dirty="0"/>
          </a:p>
        </p:txBody>
      </p:sp>
      <p:pic>
        <p:nvPicPr>
          <p:cNvPr id="222" name="Image 0" descr="game d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600200"/>
            <a:ext cx="731520" cy="731520"/>
          </a:xfrm>
          <a:prstGeom prst="rect">
            <a:avLst/>
          </a:prstGeom>
        </p:spPr>
      </p:pic>
      <p:sp>
        <p:nvSpPr>
          <p:cNvPr id="223" name="Text 219"/>
          <p:cNvSpPr txBox="1"/>
          <p:nvPr/>
        </p:nvSpPr>
        <p:spPr>
          <a:xfrm>
            <a:off x="9601200" y="1600200"/>
            <a:ext cx="2039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Bingo!</a:t>
            </a:r>
            <a:endParaRPr lang="en-US" sz="2800" dirty="0"/>
          </a:p>
        </p:txBody>
      </p:sp>
      <p:sp>
        <p:nvSpPr>
          <p:cNvPr id="224" name="Text 220"/>
          <p:cNvSpPr txBox="1"/>
          <p:nvPr/>
        </p:nvSpPr>
        <p:spPr>
          <a:xfrm>
            <a:off x="8778240" y="2514600"/>
            <a:ext cx="28620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Choisissez 4 horloges en secret.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L’enseignant·e dit des heures : barrez vos horloges.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Les 4 barrées : « </a:t>
            </a:r>
            <a:r>
              <a:rPr lang="en-US" sz="1500" i="1" dirty="0">
                <a:solidFill>
                  <a:schemeClr val="tx1"/>
                </a:solidFill>
              </a:rPr>
              <a:t>Bingo!</a:t>
            </a:r>
            <a:r>
              <a:rPr lang="en-US" sz="1500" dirty="0">
                <a:solidFill>
                  <a:schemeClr val="tx1"/>
                </a:solidFill>
              </a:rPr>
              <a:t> » — et dites vos 4 heures sans faute.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L’agenda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Meneer Maes veut un rendez-vous de 45 minutes cette semaine. Sofie regarde son agenda.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Meneer Maes</a:t>
            </a:r>
            <a:r>
              <a:rPr lang="en-US" sz="1700" dirty="0">
                <a:solidFill>
                  <a:schemeClr val="tx1"/>
                </a:solidFill>
              </a:rPr>
              <a:t> : demandez un rendez-vous. Vos contraintes : pas avant 10 heures, pas le mercredi.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proposez des créneaux libres en heure courante (</a:t>
            </a:r>
            <a:r>
              <a:rPr lang="en-US" sz="1700" i="1" dirty="0">
                <a:solidFill>
                  <a:schemeClr val="tx1"/>
                </a:solidFill>
              </a:rPr>
              <a:t>half tien, kwart over twee…</a:t>
            </a:r>
            <a:r>
              <a:rPr lang="en-US" sz="1700" dirty="0">
                <a:solidFill>
                  <a:schemeClr val="tx1"/>
                </a:solidFill>
              </a:rPr>
              <a:t>).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Wanneer past het u? · Kan het … om …? · Dan heb ik al een afspraak. · Dat past. · Van … tot … ben ik vrij. · Tot dan!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AGENDA SOFIE · WEEK 14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622792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ma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198864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di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774936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wo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351008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do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10927080" y="195681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vr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8119872" y="21488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9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8119872" y="312267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11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8119872" y="409651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13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8119872" y="507034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15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8119872" y="6044184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17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8641080" y="2258568"/>
            <a:ext cx="539496" cy="973836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41080" y="4693158"/>
            <a:ext cx="539496" cy="730377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217152" y="2502027"/>
            <a:ext cx="539496" cy="486918"/>
          </a:xfrm>
          <a:prstGeom prst="roundRect">
            <a:avLst>
              <a:gd name="adj" fmla="val 5634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217152" y="4206240"/>
            <a:ext cx="539496" cy="486918"/>
          </a:xfrm>
          <a:prstGeom prst="roundRect">
            <a:avLst>
              <a:gd name="adj" fmla="val 5634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793224" y="2258568"/>
            <a:ext cx="539496" cy="3895344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0369296" y="3475863"/>
            <a:ext cx="539496" cy="730377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369296" y="5180076"/>
            <a:ext cx="539496" cy="486918"/>
          </a:xfrm>
          <a:prstGeom prst="roundRect">
            <a:avLst>
              <a:gd name="adj" fmla="val 5634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945368" y="2258568"/>
            <a:ext cx="539496" cy="1460754"/>
          </a:xfrm>
          <a:prstGeom prst="roundRect">
            <a:avLst>
              <a:gd name="adj" fmla="val 5085"/>
            </a:avLst>
          </a:prstGeom>
          <a:solidFill>
            <a:schemeClr val="accent5">
              <a:alpha val="3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Lisez : </a:t>
            </a:r>
            <a:r>
              <a:rPr lang="en-US" sz="2000" i="1" dirty="0">
                <a:solidFill>
                  <a:schemeClr val="tx1"/>
                </a:solidFill>
              </a:rPr>
              <a:t>16.45 uur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Dites autrement : 2 h 30 · 7 h 20.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La réunion dure une heure et demie.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Dire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Fixer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EuroSig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Hoeveel kost het?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Duizend tweehonderd euro.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25 — Hoe laat is het? — L’heure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2026-10-06T17:53:46Z</dcterms:created>
  <dcterms:modified xsi:type="dcterms:W3CDTF">2026-10-06T17:53:46Z</dcterms:modified>
</cp:coreProperties>
</file>