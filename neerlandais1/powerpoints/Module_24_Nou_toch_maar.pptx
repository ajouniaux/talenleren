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f8d9ceae-4ed6-7f55-d723-8ff8594c2fc9}">
          <p14:sldIdLst>
            <p14:sldId id="256"/>
          </p14:sldIdLst>
        </p14:section>
        <p14:section name="Découvrir" id="{728f991b-2d6e-6482-1fbd-a3271e79f7af}">
          <p14:sldIdLst>
            <p14:sldId id="257"/>
            <p14:sldId id="258"/>
          </p14:sldIdLst>
        </p14:section>
        <p14:section name="Comprendre" id="{e76a9e1c-3b00-9a8c-827e-647f41f7799d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JIJ NU ! — Oefeningen" id="{35fdd469-0a93-4d16-24e0-65efe32a268e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Clôture" id="{6bdf8678-8913-11fb-d750-430ae606f6b4}">
          <p14:sldIdLst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: les petits mots qui changent le ton.
Lisez les deux bulles à voix haute : « Laquelle est la plus aimable ? Pourquoi ? » Les petits mots ne changent pas le sens, ils changent le ton.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Sans ces mots, le néerlandais sonne sec, voire impoli. Ils sont très fréquents à l'oral et dans les messages entre collègues.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Sentir l'effet des particules par comparaison.
Faites lire les deux versions par deux apprenants, avec l'intonation. Faites deviner la nuance : even adoucit, soms = « par hasard », hoor rassure.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Classer les particules selon leur rôle.
Une particule peut appartenir à deux familles (wel). L'intonation compte autant que le mot. Ce schéma sert de carte pour tout le module.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Adoucir une demande, une invitation, un conseil (lien M16).
Rappel M16. Nouveauté : even marche aussi dans les questions polies (Kun je even…?, Heb je even tijd?). Zeg het maar = « je vous écoute 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Comprendre les emplois de toch comme particule.
toch est la particule la plus fréquente. La question en toch correspond au « hein ? » ou « n'est-ce pas ? » du français. Rappel M13 : Toch wel! = « mais si ! 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nou et ses équivalents flamands.
nou est très néerlandais. En Flandre, nu le remplace dans la phrase (Wat doe je nu? Kom nu!), sans valeur de « maintenant » ; en début de phrase, on dit Allez, … ou Bon, … (Allez, ik ga naar huis), et En dan? pour Nou, en? (« et alors ? »). zeg s'entend aussi aux Pays-Bas. À reconnaître selon l'interlocuteur.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Nuancer une question.
soms dans une question = « par hasard » : demande plus polie. ook alweer = on a oublié et on s'excuse presque. eigenlijk ouvre une question plus personnelle, en passant.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Utiliser wel et hoor pour affirmer et rassurer.
wel répond à une négation (M13 : Ik werk niet. — Ik wel!). hoor est très fréquent et amical, surtout aux Pays-Bas ; en Flandre aussi, dans Ja hoor!. Dat lukt wel : le wel rassure.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Associer les « petits mots » français aux particules néerlandaises.
On ne traduit pas la particule, on traduit l'intention. Ne cherchez pas un équivalent pour chaque mot : écoutez la mélodie de la phrase.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Placer la particule au milieu de la phrase.
La particule vient après le verbe, les petits pronoms (me, je, het) et les éléments déjà connus (morgen, je pen) ; avant l'information nouvelle (een pen) et le 2e verbe. Comme niet (M13), elle se glisse dans la pince.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Distinguer la particule du mot « plein ».
Le contexte et l'intonation tranchent. Astuce : si on peut enlever le mot sans changer l'information, c'est une particule. wel opposé à niet (maar zij wel) est le sens plein : on ne peut pas l'enlever.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photographier.
Ce tableau est la référence pour tous les exercices. Placement : après le verbe et les pronoms (diapo 11).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Exercices 1 à 3 en séance 1, les autres en séance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Adoucir une phrase avec une particule.
Plusieurs solutions sont possibles (Wacht maar even!). Faites lire avec un sourire : l'intonation fait la moitié du travail.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Adoucir une phrase avec une particule.
Plusieurs solutions sont possibles (Wacht maar even!). Faites lire avec un sourire : l'intonation fait la moitié du travail.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la particule adaptée au contexte.
Une particule par phrase. N° 1 : even / toch aussi possibles ; n° 5 : soms aussi. La banque rend chaque réponse unique.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Choisir la particule adaptée au contexte.
Une particule par phrase. N° 1 : even / toch aussi possibles ; n° 5 : soms aussi. La banque rend chaque réponse unique.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une intention française par une particule.
Les deux « hein » (n° 1 et 6) donnent deux particules différentes : toch (question qui attend oui) et hoor (rassurer).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Rendre une intention française par une particule.
Les deux « hein » (n° 1 et 6) donnent deux particules différentes : toch (question qui attend oui) et hoor (rassurer).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Distinguer la particule du mot au sens plein.
Astuce : si on peut enlever le mot sans perdre l'information, c'est une particule. Paires en miroir : 1-2 (soms), 3-4 (even), 5-6 (maar), 7-8 (toch).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Distinguer la particule du mot au sens plein.
Astuce : si on peut enlever le mot sans perdre l'information, c'est une particule. Paires en miroir : 1-2 (soms), 3-4 (even), 5-6 (maar), 7-8 (toch).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Corriger la place et le choix des particules dans une conversation.
Leurres : Ja hoor et Je komt morgen wel naar de vergadering, toch? sont corrects (toch en fin de phrase = « hein ? »). papier est indénombrable : A4-papier sans een. N° 4 : Kijk even et Kijk maar sont aussi corrects.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Corriger la place et le choix des particules dans une conversation.
Leurres : Ja hoor et Je komt morgen wel naar de vergadering, toch? sont corrects (toch en fin de phrase = « hein ? »). papier est indénombrable : A4-papier sans een. N° 4 : Kijk even et Kijk maar sont aussi corrects.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Jouer une même phrase avec des particules et des émotions différentes.
Autres phrases de base : Ga zitten. · Wat doe je? · Heb je tijd? Exigez une vraie intonation : le jeu montre que la particule et la mélodie vont ensemble.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Mise en situation : demander un service à un collègue, de façon naturelle.
Chaque demande doit contenir au moins une particule, chaque réponse aussi. verzetten = déplacer (un rendez-vous). een lift = un trajet en voiture (Kan ik met je meerijden?). C'est la tâche finale orale du bloc 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 et clore le bloc 5.
Réponses :
1. Wacht even! · Heb je soms een pen?
2. Je komt toch morgen?
3. Kun je me even helpen?
Bilan : faites relire la frise des 24 modules et choisir un module à retravailler. Bloc 6 : l'heure (M25), les montants (M26), graag / houden van (M27), zich / elkaar (M28) et le conditionnel (M29). Bloc 7 : l'entreprise (M30), les achterzetsels (M31) et la présentation professionnelle (M32, bilan final du parcours).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24 · Nou, toch, maar…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24 · Nou, toch, maar…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image" Target="../media/image-15-8.png"/><Relationship Id="rId9" Type="http://schemas.openxmlformats.org/officeDocument/2006/relationships/image" Target="../media/image-15-9.png"/><Relationship Id="rId10" Type="http://schemas.openxmlformats.org/officeDocument/2006/relationships/image" Target="../media/image-15-10.png"/><Relationship Id="rId11" Type="http://schemas.openxmlformats.org/officeDocument/2006/relationships/image" Target="../media/image-15-11.png"/><Relationship Id="rId12" Type="http://schemas.openxmlformats.org/officeDocument/2006/relationships/image" Target="../media/image-15-12.png"/><Relationship Id="rId13" Type="http://schemas.openxmlformats.org/officeDocument/2006/relationships/image" Target="../media/image-15-13.png"/><Relationship Id="rId14" Type="http://schemas.openxmlformats.org/officeDocument/2006/relationships/slideLayout" Target="../slideLayouts/slideLayout2.xml"/><Relationship Id="rId1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image" Target="../media/image-16-7.png"/><Relationship Id="rId8" Type="http://schemas.openxmlformats.org/officeDocument/2006/relationships/image" Target="../media/image-16-8.png"/><Relationship Id="rId9" Type="http://schemas.openxmlformats.org/officeDocument/2006/relationships/image" Target="../media/image-16-9.png"/><Relationship Id="rId10" Type="http://schemas.openxmlformats.org/officeDocument/2006/relationships/image" Target="../media/image-16-10.png"/><Relationship Id="rId11" Type="http://schemas.openxmlformats.org/officeDocument/2006/relationships/image" Target="../media/image-16-11.png"/><Relationship Id="rId12" Type="http://schemas.openxmlformats.org/officeDocument/2006/relationships/image" Target="../media/image-16-12.png"/><Relationship Id="rId13" Type="http://schemas.openxmlformats.org/officeDocument/2006/relationships/image" Target="../media/image-16-13.png"/><Relationship Id="rId14" Type="http://schemas.openxmlformats.org/officeDocument/2006/relationships/slideLayout" Target="../slideLayouts/slideLayout2.xml"/><Relationship Id="rId1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image" Target="../media/image-26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image" Target="../media/image-27-7.png"/><Relationship Id="rId8" Type="http://schemas.openxmlformats.org/officeDocument/2006/relationships/image" Target="../media/image-27-8.png"/><Relationship Id="rId9" Type="http://schemas.openxmlformats.org/officeDocument/2006/relationships/image" Target="../media/image-27-9.png"/><Relationship Id="rId10" Type="http://schemas.openxmlformats.org/officeDocument/2006/relationships/image" Target="../media/image-27-10.png"/><Relationship Id="rId11" Type="http://schemas.openxmlformats.org/officeDocument/2006/relationships/image" Target="../media/image-27-11.png"/><Relationship Id="rId12" Type="http://schemas.openxmlformats.org/officeDocument/2006/relationships/slideLayout" Target="../slideLayouts/slideLayout2.xml"/><Relationship Id="rId13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128114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24 / 32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Nou, toch, maar…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Les particules modales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Kom maar even binnen, hoor!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400800" y="914400"/>
            <a:ext cx="5212080" cy="1463040"/>
          </a:xfrm>
          <a:prstGeom prst="roundRect">
            <a:avLst>
              <a:gd name="adj" fmla="val 125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6" name="Image 0" descr="neutral fa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9400" y="1188720"/>
            <a:ext cx="914400" cy="9144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772400" y="914400"/>
            <a:ext cx="3657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i="1" dirty="0">
                <a:solidFill>
                  <a:schemeClr val="accent5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Kom binnen.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10698480" y="100584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sec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400800" y="2743200"/>
            <a:ext cx="5212080" cy="1691640"/>
          </a:xfrm>
          <a:prstGeom prst="roundRect">
            <a:avLst>
              <a:gd name="adj" fmla="val 1081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0" name="Image 1" descr="smiling face with smiling ey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3108960"/>
            <a:ext cx="960120" cy="9601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772400" y="2743200"/>
            <a:ext cx="37033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Kom </a:t>
            </a:r>
            <a:r>
              <a:rPr lang="en-US" sz="2400" b="1" i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maar</a:t>
            </a:r>
            <a:r>
              <a:rPr lang="en-US" sz="24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</a:t>
            </a:r>
            <a:r>
              <a:rPr lang="en-US" sz="2400" b="1" i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even</a:t>
            </a:r>
            <a:r>
              <a:rPr lang="en-US" sz="24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binnen, </a:t>
            </a:r>
            <a:r>
              <a:rPr lang="en-US" sz="2400" b="1" i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hoor</a:t>
            </a:r>
            <a:r>
              <a:rPr lang="en-US" sz="24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!</a:t>
            </a:r>
            <a:endParaRPr lang="en-US" sz="2400" dirty="0"/>
          </a:p>
        </p:txBody>
      </p:sp>
      <p:sp>
        <p:nvSpPr>
          <p:cNvPr id="12" name="Text 8"/>
          <p:cNvSpPr txBox="1"/>
          <p:nvPr/>
        </p:nvSpPr>
        <p:spPr>
          <a:xfrm>
            <a:off x="10424160" y="283464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aimable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AssistiveListeningSystem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Reconnaître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comprends ce que les petits mots ajoutent : </a:t>
            </a:r>
            <a:r>
              <a:rPr lang="en-US" sz="2000" i="1" dirty="0">
                <a:solidFill>
                  <a:schemeClr val="tx1"/>
                </a:solidFill>
              </a:rPr>
              <a:t>Je komt toch?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Slider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Nuancer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J’adoucis une demande ou j’insiste : </a:t>
            </a:r>
            <a:r>
              <a:rPr lang="en-US" sz="2000" i="1" dirty="0">
                <a:solidFill>
                  <a:schemeClr val="tx1"/>
                </a:solidFill>
              </a:rPr>
              <a:t>Kun je me even helpen?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Comment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Le ton juste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parle comme un néerlandophone : </a:t>
            </a:r>
            <a:r>
              <a:rPr lang="en-US" sz="2000" i="1" dirty="0">
                <a:solidFill>
                  <a:schemeClr val="tx1"/>
                </a:solidFill>
              </a:rPr>
              <a:t>Geen probleem, hoor!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Sans ces petits mots, le néerlandais sonne sec. Ils sont partout à l’oral et dans les messages.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sec ou aimable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pic>
        <p:nvPicPr>
          <p:cNvPr id="5" name="Image 0" descr="neutral fa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09928"/>
            <a:ext cx="685800" cy="68580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1371600" y="1600200"/>
            <a:ext cx="3931920" cy="914400"/>
          </a:xfrm>
          <a:prstGeom prst="roundRect">
            <a:avLst>
              <a:gd name="adj" fmla="val 1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1554480" y="160020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accent5"/>
                </a:solidFill>
              </a:rPr>
              <a:t>Geef me je pen.</a:t>
            </a:r>
            <a:endParaRPr lang="en-US" sz="2000" dirty="0"/>
          </a:p>
        </p:txBody>
      </p:sp>
      <p:sp>
        <p:nvSpPr>
          <p:cNvPr id="8" name="Text 4"/>
          <p:cNvSpPr txBox="1"/>
          <p:nvPr/>
        </p:nvSpPr>
        <p:spPr>
          <a:xfrm>
            <a:off x="5349240" y="1600200"/>
            <a:ext cx="731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5"/>
                </a:solidFill>
              </a:rPr>
              <a:t>⇄</a:t>
            </a:r>
            <a:endParaRPr lang="en-US" sz="2600" dirty="0"/>
          </a:p>
        </p:txBody>
      </p:sp>
      <p:sp>
        <p:nvSpPr>
          <p:cNvPr id="9" name="Shape 5"/>
          <p:cNvSpPr/>
          <p:nvPr/>
        </p:nvSpPr>
        <p:spPr>
          <a:xfrm>
            <a:off x="6126480" y="1600200"/>
            <a:ext cx="4663440" cy="914400"/>
          </a:xfrm>
          <a:prstGeom prst="roundRect">
            <a:avLst>
              <a:gd name="adj" fmla="val 18000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291072" y="1600200"/>
            <a:ext cx="43342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Geef me </a:t>
            </a:r>
            <a:r>
              <a:rPr lang="en-US" sz="2000" b="1" i="1" dirty="0">
                <a:solidFill>
                  <a:schemeClr val="accent2"/>
                </a:solidFill>
              </a:rPr>
              <a:t>even</a:t>
            </a:r>
            <a:r>
              <a:rPr lang="en-US" sz="2000" i="1" dirty="0">
                <a:solidFill>
                  <a:schemeClr val="tx1"/>
                </a:solidFill>
              </a:rPr>
              <a:t> je pen, alsjeblieft.</a:t>
            </a:r>
            <a:endParaRPr lang="en-US" sz="2000" dirty="0"/>
          </a:p>
        </p:txBody>
      </p:sp>
      <p:pic>
        <p:nvPicPr>
          <p:cNvPr id="11" name="Image 1" descr="smiling face with smiling ey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4512" y="1709928"/>
            <a:ext cx="685800" cy="685800"/>
          </a:xfrm>
          <a:prstGeom prst="rect">
            <a:avLst/>
          </a:prstGeom>
        </p:spPr>
      </p:pic>
      <p:pic>
        <p:nvPicPr>
          <p:cNvPr id="12" name="Image 2" descr="neutral fac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807208"/>
            <a:ext cx="685800" cy="685800"/>
          </a:xfrm>
          <a:prstGeom prst="rect">
            <a:avLst/>
          </a:prstGeom>
        </p:spPr>
      </p:pic>
      <p:sp>
        <p:nvSpPr>
          <p:cNvPr id="13" name="Shape 7"/>
          <p:cNvSpPr/>
          <p:nvPr/>
        </p:nvSpPr>
        <p:spPr>
          <a:xfrm>
            <a:off x="1371600" y="2697480"/>
            <a:ext cx="3931920" cy="914400"/>
          </a:xfrm>
          <a:prstGeom prst="roundRect">
            <a:avLst>
              <a:gd name="adj" fmla="val 1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1554480" y="269748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accent5"/>
                </a:solidFill>
              </a:rPr>
              <a:t>Heb je een pen?</a:t>
            </a:r>
            <a:endParaRPr lang="en-US" sz="2000" dirty="0"/>
          </a:p>
        </p:txBody>
      </p:sp>
      <p:sp>
        <p:nvSpPr>
          <p:cNvPr id="15" name="Text 9"/>
          <p:cNvSpPr txBox="1"/>
          <p:nvPr/>
        </p:nvSpPr>
        <p:spPr>
          <a:xfrm>
            <a:off x="5349240" y="2697480"/>
            <a:ext cx="731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5"/>
                </a:solidFill>
              </a:rPr>
              <a:t>⇄</a:t>
            </a:r>
            <a:endParaRPr lang="en-US" sz="2600" dirty="0"/>
          </a:p>
        </p:txBody>
      </p:sp>
      <p:sp>
        <p:nvSpPr>
          <p:cNvPr id="16" name="Shape 10"/>
          <p:cNvSpPr/>
          <p:nvPr/>
        </p:nvSpPr>
        <p:spPr>
          <a:xfrm>
            <a:off x="6126480" y="2697480"/>
            <a:ext cx="4663440" cy="914400"/>
          </a:xfrm>
          <a:prstGeom prst="roundRect">
            <a:avLst>
              <a:gd name="adj" fmla="val 18000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6291072" y="2697480"/>
            <a:ext cx="43342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Heb je </a:t>
            </a:r>
            <a:r>
              <a:rPr lang="en-US" sz="2000" b="1" i="1" dirty="0">
                <a:solidFill>
                  <a:schemeClr val="accent4"/>
                </a:solidFill>
              </a:rPr>
              <a:t>soms</a:t>
            </a:r>
            <a:r>
              <a:rPr lang="en-US" sz="2000" i="1" dirty="0">
                <a:solidFill>
                  <a:schemeClr val="tx1"/>
                </a:solidFill>
              </a:rPr>
              <a:t> een pen?</a:t>
            </a:r>
            <a:endParaRPr lang="en-US" sz="2000" dirty="0"/>
          </a:p>
        </p:txBody>
      </p:sp>
      <p:pic>
        <p:nvPicPr>
          <p:cNvPr id="18" name="Image 3" descr="smiling face with smiling eye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54512" y="2807208"/>
            <a:ext cx="685800" cy="685800"/>
          </a:xfrm>
          <a:prstGeom prst="rect">
            <a:avLst/>
          </a:prstGeom>
        </p:spPr>
      </p:pic>
      <p:pic>
        <p:nvPicPr>
          <p:cNvPr id="19" name="Image 4" descr="neutral fac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3904488"/>
            <a:ext cx="685800" cy="685800"/>
          </a:xfrm>
          <a:prstGeom prst="rect">
            <a:avLst/>
          </a:prstGeom>
        </p:spPr>
      </p:pic>
      <p:sp>
        <p:nvSpPr>
          <p:cNvPr id="20" name="Shape 12"/>
          <p:cNvSpPr/>
          <p:nvPr/>
        </p:nvSpPr>
        <p:spPr>
          <a:xfrm>
            <a:off x="1371600" y="3794760"/>
            <a:ext cx="3931920" cy="914400"/>
          </a:xfrm>
          <a:prstGeom prst="roundRect">
            <a:avLst>
              <a:gd name="adj" fmla="val 1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3"/>
          <p:cNvSpPr txBox="1"/>
          <p:nvPr/>
        </p:nvSpPr>
        <p:spPr>
          <a:xfrm>
            <a:off x="1554480" y="379476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accent5"/>
                </a:solidFill>
              </a:rPr>
              <a:t>Het is goed.</a:t>
            </a:r>
            <a:endParaRPr lang="en-US" sz="2000" dirty="0"/>
          </a:p>
        </p:txBody>
      </p:sp>
      <p:sp>
        <p:nvSpPr>
          <p:cNvPr id="22" name="Text 14"/>
          <p:cNvSpPr txBox="1"/>
          <p:nvPr/>
        </p:nvSpPr>
        <p:spPr>
          <a:xfrm>
            <a:off x="5349240" y="3794760"/>
            <a:ext cx="731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5"/>
                </a:solidFill>
              </a:rPr>
              <a:t>⇄</a:t>
            </a:r>
            <a:endParaRPr lang="en-US" sz="2600" dirty="0"/>
          </a:p>
        </p:txBody>
      </p:sp>
      <p:sp>
        <p:nvSpPr>
          <p:cNvPr id="23" name="Shape 15"/>
          <p:cNvSpPr/>
          <p:nvPr/>
        </p:nvSpPr>
        <p:spPr>
          <a:xfrm>
            <a:off x="6126480" y="3794760"/>
            <a:ext cx="4663440" cy="914400"/>
          </a:xfrm>
          <a:prstGeom prst="roundRect">
            <a:avLst>
              <a:gd name="adj" fmla="val 18000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4" name="Text 16"/>
          <p:cNvSpPr txBox="1"/>
          <p:nvPr/>
        </p:nvSpPr>
        <p:spPr>
          <a:xfrm>
            <a:off x="6291072" y="3794760"/>
            <a:ext cx="43342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Het is goed, </a:t>
            </a:r>
            <a:r>
              <a:rPr lang="en-US" sz="2000" b="1" i="1" dirty="0">
                <a:solidFill>
                  <a:schemeClr val="accent3"/>
                </a:solidFill>
              </a:rPr>
              <a:t>hoor</a:t>
            </a:r>
            <a:r>
              <a:rPr lang="en-US" sz="2000" i="1" dirty="0">
                <a:solidFill>
                  <a:schemeClr val="tx1"/>
                </a:solidFill>
              </a:rPr>
              <a:t>!</a:t>
            </a:r>
            <a:endParaRPr lang="en-US" sz="2000" dirty="0"/>
          </a:p>
        </p:txBody>
      </p:sp>
      <p:pic>
        <p:nvPicPr>
          <p:cNvPr id="25" name="Image 5" descr="smiling face with smiling eye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54512" y="3904488"/>
            <a:ext cx="685800" cy="685800"/>
          </a:xfrm>
          <a:prstGeom prst="rect">
            <a:avLst/>
          </a:prstGeom>
        </p:spPr>
      </p:pic>
      <p:sp>
        <p:nvSpPr>
          <p:cNvPr id="26" name="Shape 17"/>
          <p:cNvSpPr/>
          <p:nvPr/>
        </p:nvSpPr>
        <p:spPr>
          <a:xfrm>
            <a:off x="548640" y="5166360"/>
            <a:ext cx="11091672" cy="1097280"/>
          </a:xfrm>
          <a:prstGeom prst="roundRect">
            <a:avLst>
              <a:gd name="adj" fmla="val 6667"/>
            </a:avLst>
          </a:prstGeom>
          <a:solidFill>
            <a:schemeClr val="accent1">
              <a:alpha val="15000"/>
            </a:schemeClr>
          </a:solidFill>
          <a:ln w="15875">
            <a:solidFill>
              <a:srgbClr val="D9700F"/>
            </a:solidFill>
            <a:prstDash val="solid"/>
          </a:ln>
        </p:spPr>
      </p:sp>
      <p:pic>
        <p:nvPicPr>
          <p:cNvPr id="27" name="Image 6" descr="thinking fac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5303520"/>
            <a:ext cx="822960" cy="822960"/>
          </a:xfrm>
          <a:prstGeom prst="rect">
            <a:avLst/>
          </a:prstGeom>
        </p:spPr>
      </p:pic>
      <p:sp>
        <p:nvSpPr>
          <p:cNvPr id="28" name="Text 18"/>
          <p:cNvSpPr txBox="1"/>
          <p:nvPr/>
        </p:nvSpPr>
        <p:spPr>
          <a:xfrm>
            <a:off x="1828800" y="516636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Quelle version préférez-vous entendre ?</a:t>
            </a:r>
            <a:endParaRPr lang="en-US" sz="18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Qu’ajoute le petit mot ? Le </a:t>
            </a:r>
            <a:r>
              <a:rPr lang="en-US" sz="1800" b="1" dirty="0">
                <a:solidFill>
                  <a:schemeClr val="tx1"/>
                </a:solidFill>
              </a:rPr>
              <a:t>sens</a:t>
            </a:r>
            <a:r>
              <a:rPr lang="en-US" sz="1800" dirty="0">
                <a:solidFill>
                  <a:schemeClr val="tx1"/>
                </a:solidFill>
              </a:rPr>
              <a:t> ne change pas… le </a:t>
            </a:r>
            <a:r>
              <a:rPr lang="en-US" sz="1800" b="1" dirty="0">
                <a:solidFill>
                  <a:schemeClr val="tx1"/>
                </a:solidFill>
              </a:rPr>
              <a:t>ton</a:t>
            </a:r>
            <a:r>
              <a:rPr lang="en-US" sz="1800" dirty="0">
                <a:solidFill>
                  <a:schemeClr val="tx1"/>
                </a:solidFill>
              </a:rPr>
              <a:t>, si.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La palette des nuances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pic>
        <p:nvPicPr>
          <p:cNvPr id="5" name="Image 0" descr="artist palet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81360" y="868680"/>
            <a:ext cx="731520" cy="73152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548640" y="1600200"/>
            <a:ext cx="5413248" cy="1874520"/>
          </a:xfrm>
          <a:prstGeom prst="roundRect">
            <a:avLst>
              <a:gd name="adj" fmla="val 5854"/>
            </a:avLst>
          </a:prstGeom>
          <a:solidFill>
            <a:schemeClr val="accent2">
              <a:alpha val="10000"/>
            </a:schemeClr>
          </a:solidFill>
          <a:ln w="25400">
            <a:solidFill>
              <a:srgbClr val="2A6FB0"/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777240" y="182880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1280160" y="1783080"/>
            <a:ext cx="4498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200" kern="0" dirty="0">
                <a:solidFill>
                  <a:schemeClr val="accent2"/>
                </a:solidFill>
              </a:rPr>
              <a:t>ADOUCIR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2258568"/>
            <a:ext cx="49560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even · maar · eens</a:t>
            </a:r>
            <a:endParaRPr lang="en-US" sz="2600" dirty="0"/>
          </a:p>
        </p:txBody>
      </p:sp>
      <p:sp>
        <p:nvSpPr>
          <p:cNvPr id="10" name="Text 6"/>
          <p:cNvSpPr txBox="1"/>
          <p:nvPr/>
        </p:nvSpPr>
        <p:spPr>
          <a:xfrm>
            <a:off x="777240" y="2862072"/>
            <a:ext cx="49560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Kijk </a:t>
            </a:r>
            <a:r>
              <a:rPr lang="en-US" sz="1900" b="1" i="1" dirty="0">
                <a:solidFill>
                  <a:schemeClr val="accent2"/>
                </a:solidFill>
              </a:rPr>
              <a:t>eens even</a:t>
            </a:r>
            <a:r>
              <a:rPr lang="en-US" sz="1900" i="1" dirty="0">
                <a:solidFill>
                  <a:schemeClr val="tx1"/>
                </a:solidFill>
              </a:rPr>
              <a:t>!</a:t>
            </a:r>
            <a:endParaRPr lang="en-US" sz="1900" dirty="0"/>
          </a:p>
        </p:txBody>
      </p:sp>
      <p:sp>
        <p:nvSpPr>
          <p:cNvPr id="11" name="Shape 7"/>
          <p:cNvSpPr/>
          <p:nvPr/>
        </p:nvSpPr>
        <p:spPr>
          <a:xfrm>
            <a:off x="6227064" y="1600200"/>
            <a:ext cx="5413248" cy="1874520"/>
          </a:xfrm>
          <a:prstGeom prst="roundRect">
            <a:avLst>
              <a:gd name="adj" fmla="val 5854"/>
            </a:avLst>
          </a:prstGeom>
          <a:solidFill>
            <a:schemeClr val="accent1">
              <a:alpha val="10000"/>
            </a:schemeClr>
          </a:solidFill>
          <a:ln w="25400">
            <a:solidFill>
              <a:srgbClr val="D9700F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55664" y="182880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958584" y="1783080"/>
            <a:ext cx="4498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200" kern="0" dirty="0">
                <a:solidFill>
                  <a:schemeClr val="accent1"/>
                </a:solidFill>
              </a:rPr>
              <a:t>INSISTER, RAPPELER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6455664" y="2258568"/>
            <a:ext cx="49560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toch · nou · wel</a:t>
            </a:r>
            <a:endParaRPr lang="en-US" sz="2600" dirty="0"/>
          </a:p>
        </p:txBody>
      </p:sp>
      <p:sp>
        <p:nvSpPr>
          <p:cNvPr id="15" name="Text 11"/>
          <p:cNvSpPr txBox="1"/>
          <p:nvPr/>
        </p:nvSpPr>
        <p:spPr>
          <a:xfrm>
            <a:off x="6455664" y="2862072"/>
            <a:ext cx="49560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Je weet het </a:t>
            </a:r>
            <a:r>
              <a:rPr lang="en-US" sz="1900" b="1" i="1" dirty="0">
                <a:solidFill>
                  <a:schemeClr val="accent1"/>
                </a:solidFill>
              </a:rPr>
              <a:t>toch</a:t>
            </a:r>
            <a:r>
              <a:rPr lang="en-US" sz="1900" i="1" dirty="0">
                <a:solidFill>
                  <a:schemeClr val="tx1"/>
                </a:solidFill>
              </a:rPr>
              <a:t>!</a:t>
            </a:r>
            <a:endParaRPr lang="en-US" sz="1900" dirty="0"/>
          </a:p>
        </p:txBody>
      </p:sp>
      <p:sp>
        <p:nvSpPr>
          <p:cNvPr id="16" name="Shape 12"/>
          <p:cNvSpPr/>
          <p:nvPr/>
        </p:nvSpPr>
        <p:spPr>
          <a:xfrm>
            <a:off x="548640" y="3657600"/>
            <a:ext cx="5413248" cy="1874520"/>
          </a:xfrm>
          <a:prstGeom prst="roundRect">
            <a:avLst>
              <a:gd name="adj" fmla="val 5854"/>
            </a:avLst>
          </a:prstGeom>
          <a:solidFill>
            <a:schemeClr val="accent4">
              <a:alpha val="10000"/>
            </a:schemeClr>
          </a:solidFill>
          <a:ln w="25400">
            <a:solidFill>
              <a:srgbClr val="B4236A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777240" y="3886200"/>
            <a:ext cx="384048" cy="384048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1280160" y="3840480"/>
            <a:ext cx="4498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200" kern="0" dirty="0">
                <a:solidFill>
                  <a:schemeClr val="accent4"/>
                </a:solidFill>
              </a:rPr>
              <a:t>QUESTIONNER</a:t>
            </a:r>
            <a:endParaRPr lang="en-US" sz="1500" dirty="0"/>
          </a:p>
        </p:txBody>
      </p:sp>
      <p:sp>
        <p:nvSpPr>
          <p:cNvPr id="19" name="Text 15"/>
          <p:cNvSpPr txBox="1"/>
          <p:nvPr/>
        </p:nvSpPr>
        <p:spPr>
          <a:xfrm>
            <a:off x="777240" y="4315968"/>
            <a:ext cx="49560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soms · dan · ook alweer</a:t>
            </a:r>
            <a:endParaRPr lang="en-US" sz="2600" dirty="0"/>
          </a:p>
        </p:txBody>
      </p:sp>
      <p:sp>
        <p:nvSpPr>
          <p:cNvPr id="20" name="Text 16"/>
          <p:cNvSpPr txBox="1"/>
          <p:nvPr/>
        </p:nvSpPr>
        <p:spPr>
          <a:xfrm>
            <a:off x="777240" y="4919472"/>
            <a:ext cx="49560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Hoe heet hij </a:t>
            </a:r>
            <a:r>
              <a:rPr lang="en-US" sz="1900" b="1" i="1" dirty="0">
                <a:solidFill>
                  <a:schemeClr val="accent4"/>
                </a:solidFill>
              </a:rPr>
              <a:t>ook alweer</a:t>
            </a:r>
            <a:r>
              <a:rPr lang="en-US" sz="1900" i="1" dirty="0">
                <a:solidFill>
                  <a:schemeClr val="tx1"/>
                </a:solidFill>
              </a:rPr>
              <a:t>?</a:t>
            </a:r>
            <a:r>
              <a:rPr lang="en-US" sz="1900" dirty="0">
                <a:solidFill>
                  <a:schemeClr val="tx1"/>
                </a:solidFill>
              </a:rPr>
              <a:t> (+ </a:t>
            </a:r>
            <a:r>
              <a:rPr lang="en-US" sz="1900" i="1" dirty="0">
                <a:solidFill>
                  <a:schemeClr val="tx1"/>
                </a:solidFill>
              </a:rPr>
              <a:t>eigenlijk</a:t>
            </a:r>
            <a:r>
              <a:rPr lang="en-US" sz="1900" dirty="0">
                <a:solidFill>
                  <a:schemeClr val="tx1"/>
                </a:solidFill>
              </a:rPr>
              <a:t>)</a:t>
            </a:r>
            <a:endParaRPr lang="en-US" sz="1900" dirty="0"/>
          </a:p>
        </p:txBody>
      </p:sp>
      <p:sp>
        <p:nvSpPr>
          <p:cNvPr id="21" name="Shape 17"/>
          <p:cNvSpPr/>
          <p:nvPr/>
        </p:nvSpPr>
        <p:spPr>
          <a:xfrm>
            <a:off x="6227064" y="3657600"/>
            <a:ext cx="5413248" cy="1874520"/>
          </a:xfrm>
          <a:prstGeom prst="roundRect">
            <a:avLst>
              <a:gd name="adj" fmla="val 5854"/>
            </a:avLst>
          </a:prstGeom>
          <a:solidFill>
            <a:schemeClr val="accent3">
              <a:alpha val="10000"/>
            </a:schemeClr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455664" y="3886200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6958584" y="3840480"/>
            <a:ext cx="4498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200" kern="0" dirty="0">
                <a:solidFill>
                  <a:schemeClr val="accent3"/>
                </a:solidFill>
              </a:rPr>
              <a:t>RASSURER</a:t>
            </a:r>
            <a:endParaRPr lang="en-US" sz="1500" dirty="0"/>
          </a:p>
        </p:txBody>
      </p:sp>
      <p:sp>
        <p:nvSpPr>
          <p:cNvPr id="24" name="Text 20"/>
          <p:cNvSpPr txBox="1"/>
          <p:nvPr/>
        </p:nvSpPr>
        <p:spPr>
          <a:xfrm>
            <a:off x="6455664" y="4315968"/>
            <a:ext cx="49560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hoor · wel</a:t>
            </a:r>
            <a:endParaRPr lang="en-US" sz="2600" dirty="0"/>
          </a:p>
        </p:txBody>
      </p:sp>
      <p:sp>
        <p:nvSpPr>
          <p:cNvPr id="25" name="Text 21"/>
          <p:cNvSpPr txBox="1"/>
          <p:nvPr/>
        </p:nvSpPr>
        <p:spPr>
          <a:xfrm>
            <a:off x="6455664" y="4919472"/>
            <a:ext cx="49560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Dat lukt </a:t>
            </a:r>
            <a:r>
              <a:rPr lang="en-US" sz="1900" b="1" i="1" dirty="0">
                <a:solidFill>
                  <a:schemeClr val="accent3"/>
                </a:solidFill>
              </a:rPr>
              <a:t>wel</a:t>
            </a:r>
            <a:r>
              <a:rPr lang="en-US" sz="1900" i="1" dirty="0">
                <a:solidFill>
                  <a:schemeClr val="tx1"/>
                </a:solidFill>
              </a:rPr>
              <a:t>, </a:t>
            </a:r>
            <a:r>
              <a:rPr lang="en-US" sz="1900" b="1" i="1" dirty="0">
                <a:solidFill>
                  <a:schemeClr val="accent3"/>
                </a:solidFill>
              </a:rPr>
              <a:t>hoor</a:t>
            </a:r>
            <a:r>
              <a:rPr lang="en-US" sz="1900" i="1" dirty="0">
                <a:solidFill>
                  <a:schemeClr val="tx1"/>
                </a:solidFill>
              </a:rPr>
              <a:t>!</a:t>
            </a:r>
            <a:endParaRPr lang="en-US" sz="1900" dirty="0"/>
          </a:p>
        </p:txBody>
      </p:sp>
      <p:sp>
        <p:nvSpPr>
          <p:cNvPr id="26" name="Shape 22"/>
          <p:cNvSpPr/>
          <p:nvPr/>
        </p:nvSpPr>
        <p:spPr>
          <a:xfrm>
            <a:off x="548640" y="5760720"/>
            <a:ext cx="11091672" cy="530352"/>
          </a:xfrm>
          <a:prstGeom prst="roundRect">
            <a:avLst>
              <a:gd name="adj" fmla="val 1379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822960" y="5760720"/>
            <a:ext cx="10607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Un mot peut avoir deux couleurs (</a:t>
            </a:r>
            <a:r>
              <a:rPr lang="en-US" sz="1700" i="1" dirty="0">
                <a:solidFill>
                  <a:schemeClr val="bg1"/>
                </a:solidFill>
              </a:rPr>
              <a:t>wel</a:t>
            </a:r>
            <a:r>
              <a:rPr lang="en-US" sz="1700" dirty="0">
                <a:solidFill>
                  <a:schemeClr val="bg1"/>
                </a:solidFill>
              </a:rPr>
              <a:t>). L’</a:t>
            </a:r>
            <a:r>
              <a:rPr lang="en-US" sz="1700" b="1" dirty="0">
                <a:solidFill>
                  <a:schemeClr val="bg1"/>
                </a:solidFill>
              </a:rPr>
              <a:t>intonation</a:t>
            </a:r>
            <a:r>
              <a:rPr lang="en-US" sz="1700" dirty="0">
                <a:solidFill>
                  <a:schemeClr val="bg1"/>
                </a:solidFill>
              </a:rPr>
              <a:t> compte autant que le mot.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Adoucir : even, maar, eens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44824" cy="3291840"/>
          </a:xfrm>
          <a:prstGeom prst="roundRect">
            <a:avLst>
              <a:gd name="adj" fmla="val 2222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hourglass not do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737360"/>
            <a:ext cx="731520" cy="7315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645920" y="1691640"/>
            <a:ext cx="2264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even</a:t>
            </a:r>
            <a:endParaRPr lang="en-US" sz="3200" dirty="0"/>
          </a:p>
        </p:txBody>
      </p:sp>
      <p:sp>
        <p:nvSpPr>
          <p:cNvPr id="8" name="Text 4"/>
          <p:cNvSpPr txBox="1"/>
          <p:nvPr/>
        </p:nvSpPr>
        <p:spPr>
          <a:xfrm>
            <a:off x="1645920" y="2212848"/>
            <a:ext cx="22646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un instant, juste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822960" y="2697480"/>
            <a:ext cx="299618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Kun je me </a:t>
            </a:r>
            <a:r>
              <a:rPr lang="en-US" sz="1900" b="1" i="1" dirty="0">
                <a:solidFill>
                  <a:schemeClr val="accent2"/>
                </a:solidFill>
              </a:rPr>
              <a:t>even</a:t>
            </a:r>
            <a:r>
              <a:rPr lang="en-US" sz="1900" i="1" dirty="0">
                <a:solidFill>
                  <a:schemeClr val="tx1"/>
                </a:solidFill>
              </a:rPr>
              <a:t> helpen?</a:t>
            </a:r>
            <a:endParaRPr lang="en-US" sz="19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Wacht </a:t>
            </a:r>
            <a:r>
              <a:rPr lang="en-US" sz="1900" b="1" i="1" dirty="0">
                <a:solidFill>
                  <a:schemeClr val="accent2"/>
                </a:solidFill>
              </a:rPr>
              <a:t>even</a:t>
            </a:r>
            <a:r>
              <a:rPr lang="en-US" sz="1900" i="1" dirty="0">
                <a:solidFill>
                  <a:schemeClr val="tx1"/>
                </a:solidFill>
              </a:rPr>
              <a:t>!</a:t>
            </a:r>
            <a:endParaRPr lang="en-US" sz="19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Heb je </a:t>
            </a:r>
            <a:r>
              <a:rPr lang="en-US" sz="1900" b="1" i="1" dirty="0">
                <a:solidFill>
                  <a:schemeClr val="accent2"/>
                </a:solidFill>
              </a:rPr>
              <a:t>even</a:t>
            </a:r>
            <a:r>
              <a:rPr lang="en-US" sz="1900" i="1" dirty="0">
                <a:solidFill>
                  <a:schemeClr val="tx1"/>
                </a:solidFill>
              </a:rPr>
              <a:t> tijd?</a:t>
            </a:r>
            <a:endParaRPr lang="en-US" sz="1900" dirty="0"/>
          </a:p>
        </p:txBody>
      </p:sp>
      <p:sp>
        <p:nvSpPr>
          <p:cNvPr id="10" name="Shape 6"/>
          <p:cNvSpPr/>
          <p:nvPr/>
        </p:nvSpPr>
        <p:spPr>
          <a:xfrm>
            <a:off x="4322064" y="1554480"/>
            <a:ext cx="3544824" cy="3291840"/>
          </a:xfrm>
          <a:prstGeom prst="roundRect">
            <a:avLst>
              <a:gd name="adj" fmla="val 2222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1" name="Image 1" descr="waving han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50664" y="1737360"/>
            <a:ext cx="731520" cy="7315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5419344" y="1691640"/>
            <a:ext cx="2264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maar</a:t>
            </a:r>
            <a:endParaRPr lang="en-US" sz="3200" dirty="0"/>
          </a:p>
        </p:txBody>
      </p:sp>
      <p:sp>
        <p:nvSpPr>
          <p:cNvPr id="13" name="Text 8"/>
          <p:cNvSpPr txBox="1"/>
          <p:nvPr/>
        </p:nvSpPr>
        <p:spPr>
          <a:xfrm>
            <a:off x="5419344" y="2212848"/>
            <a:ext cx="22646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vas-y, je t’en prie</a:t>
            </a:r>
            <a:endParaRPr lang="en-US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4596384" y="2697480"/>
            <a:ext cx="299618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Kom </a:t>
            </a:r>
            <a:r>
              <a:rPr lang="en-US" sz="1900" b="1" i="1" dirty="0">
                <a:solidFill>
                  <a:schemeClr val="accent2"/>
                </a:solidFill>
              </a:rPr>
              <a:t>maar</a:t>
            </a:r>
            <a:r>
              <a:rPr lang="en-US" sz="1900" i="1" dirty="0">
                <a:solidFill>
                  <a:schemeClr val="tx1"/>
                </a:solidFill>
              </a:rPr>
              <a:t> binnen!</a:t>
            </a:r>
            <a:endParaRPr lang="en-US" sz="19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Zeg het </a:t>
            </a:r>
            <a:r>
              <a:rPr lang="en-US" sz="1900" b="1" i="1" dirty="0">
                <a:solidFill>
                  <a:schemeClr val="accent2"/>
                </a:solidFill>
              </a:rPr>
              <a:t>maar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(= je vous écoute)</a:t>
            </a:r>
            <a:endParaRPr lang="en-US" sz="1900" dirty="0"/>
          </a:p>
        </p:txBody>
      </p:sp>
      <p:sp>
        <p:nvSpPr>
          <p:cNvPr id="15" name="Shape 10"/>
          <p:cNvSpPr/>
          <p:nvPr/>
        </p:nvSpPr>
        <p:spPr>
          <a:xfrm>
            <a:off x="8095488" y="1554480"/>
            <a:ext cx="3544824" cy="3291840"/>
          </a:xfrm>
          <a:prstGeom prst="roundRect">
            <a:avLst>
              <a:gd name="adj" fmla="val 2222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6" name="Image 2" descr="ey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4088" y="1737360"/>
            <a:ext cx="731520" cy="7315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9192768" y="1691640"/>
            <a:ext cx="2264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eens</a:t>
            </a:r>
            <a:endParaRPr lang="en-US" sz="3200" dirty="0"/>
          </a:p>
        </p:txBody>
      </p:sp>
      <p:sp>
        <p:nvSpPr>
          <p:cNvPr id="18" name="Text 12"/>
          <p:cNvSpPr txBox="1"/>
          <p:nvPr/>
        </p:nvSpPr>
        <p:spPr>
          <a:xfrm>
            <a:off x="9192768" y="2212848"/>
            <a:ext cx="22646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donc, pour voir</a:t>
            </a:r>
            <a:endParaRPr lang="en-US" sz="1400" dirty="0"/>
          </a:p>
        </p:txBody>
      </p:sp>
      <p:sp>
        <p:nvSpPr>
          <p:cNvPr id="19" name="Text 13"/>
          <p:cNvSpPr txBox="1"/>
          <p:nvPr/>
        </p:nvSpPr>
        <p:spPr>
          <a:xfrm>
            <a:off x="8369808" y="2697480"/>
            <a:ext cx="299618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Kijk </a:t>
            </a:r>
            <a:r>
              <a:rPr lang="en-US" sz="1900" b="1" i="1" dirty="0">
                <a:solidFill>
                  <a:schemeClr val="accent2"/>
                </a:solidFill>
              </a:rPr>
              <a:t>eens</a:t>
            </a:r>
            <a:r>
              <a:rPr lang="en-US" sz="1900" i="1" dirty="0">
                <a:solidFill>
                  <a:schemeClr val="tx1"/>
                </a:solidFill>
              </a:rPr>
              <a:t>!</a:t>
            </a:r>
            <a:endParaRPr lang="en-US" sz="19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Probeer het </a:t>
            </a:r>
            <a:r>
              <a:rPr lang="en-US" sz="1900" b="1" i="1" dirty="0">
                <a:solidFill>
                  <a:schemeClr val="accent2"/>
                </a:solidFill>
              </a:rPr>
              <a:t>eens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Kom </a:t>
            </a:r>
            <a:r>
              <a:rPr lang="en-US" sz="1900" b="1" i="1" dirty="0">
                <a:solidFill>
                  <a:schemeClr val="accent2"/>
                </a:solidFill>
              </a:rPr>
              <a:t>eens</a:t>
            </a:r>
            <a:r>
              <a:rPr lang="en-US" sz="1900" i="1" dirty="0">
                <a:solidFill>
                  <a:schemeClr val="tx1"/>
                </a:solidFill>
              </a:rPr>
              <a:t> langs!</a:t>
            </a:r>
            <a:endParaRPr lang="en-US" sz="1900" dirty="0"/>
          </a:p>
        </p:txBody>
      </p:sp>
      <p:sp>
        <p:nvSpPr>
          <p:cNvPr id="20" name="Shape 14"/>
          <p:cNvSpPr/>
          <p:nvPr/>
        </p:nvSpPr>
        <p:spPr>
          <a:xfrm>
            <a:off x="548640" y="502920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777240" y="5029200"/>
            <a:ext cx="10698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Combinaisons : </a:t>
            </a:r>
            <a:r>
              <a:rPr lang="en-US" sz="1800" i="1" dirty="0">
                <a:solidFill>
                  <a:schemeClr val="tx1"/>
                </a:solidFill>
              </a:rPr>
              <a:t>Wacht </a:t>
            </a:r>
            <a:r>
              <a:rPr lang="en-US" sz="1800" b="1" i="1" dirty="0">
                <a:solidFill>
                  <a:schemeClr val="accent2"/>
                </a:solidFill>
              </a:rPr>
              <a:t>maar even</a:t>
            </a:r>
            <a:r>
              <a:rPr lang="en-US" sz="1800" i="1" dirty="0">
                <a:solidFill>
                  <a:schemeClr val="tx1"/>
                </a:solidFill>
              </a:rPr>
              <a:t>. · Kijk </a:t>
            </a:r>
            <a:r>
              <a:rPr lang="en-US" sz="1800" b="1" i="1" dirty="0">
                <a:solidFill>
                  <a:schemeClr val="accent2"/>
                </a:solidFill>
              </a:rPr>
              <a:t>eens even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r>
              <a:rPr lang="en-US" sz="1800" dirty="0">
                <a:solidFill>
                  <a:schemeClr val="tx1"/>
                </a:solidFill>
              </a:rPr>
              <a:t> — Rappel M16 : l’impératif + petit mot</a:t>
            </a:r>
            <a:endParaRPr lang="en-US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548640" y="585216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Nouveau : </a:t>
            </a:r>
            <a:r>
              <a:rPr lang="en-US" sz="1500" i="1" dirty="0">
                <a:solidFill>
                  <a:schemeClr val="accent5"/>
                </a:solidFill>
              </a:rPr>
              <a:t>even</a:t>
            </a:r>
            <a:r>
              <a:rPr lang="en-US" sz="1500" i="1" dirty="0">
                <a:solidFill>
                  <a:schemeClr val="accent5"/>
                </a:solidFill>
              </a:rPr>
              <a:t> marche aussi dans les questions polies.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toch : trois nuances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44824" cy="2743200"/>
          </a:xfrm>
          <a:prstGeom prst="roundRect">
            <a:avLst>
              <a:gd name="adj" fmla="val 2667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3544824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554480"/>
            <a:ext cx="31790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rappel, évidence</a:t>
            </a:r>
            <a:endParaRPr lang="en-US" sz="1500" dirty="0"/>
          </a:p>
        </p:txBody>
      </p:sp>
      <p:pic>
        <p:nvPicPr>
          <p:cNvPr id="8" name="Image 0" descr="face with raised eyebro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16224" y="2148840"/>
            <a:ext cx="594360" cy="59436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77240" y="2148840"/>
            <a:ext cx="249326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Je weet </a:t>
            </a:r>
            <a:r>
              <a:rPr lang="en-US" sz="1800" b="1" i="1" dirty="0">
                <a:solidFill>
                  <a:schemeClr val="accent1"/>
                </a:solidFill>
              </a:rPr>
              <a:t>toch</a:t>
            </a:r>
            <a:r>
              <a:rPr lang="en-US" sz="1800" i="1" dirty="0">
                <a:solidFill>
                  <a:schemeClr val="tx1"/>
                </a:solidFill>
              </a:rPr>
              <a:t> dat de vergadering om 9 uur begint!</a:t>
            </a:r>
            <a:endParaRPr lang="en-US" sz="1800" dirty="0"/>
          </a:p>
        </p:txBody>
      </p:sp>
      <p:sp>
        <p:nvSpPr>
          <p:cNvPr id="10" name="Text 6"/>
          <p:cNvSpPr txBox="1"/>
          <p:nvPr/>
        </p:nvSpPr>
        <p:spPr>
          <a:xfrm>
            <a:off x="777240" y="3749040"/>
            <a:ext cx="3087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tu sais bien que…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4322064" y="1554480"/>
            <a:ext cx="3544824" cy="2743200"/>
          </a:xfrm>
          <a:prstGeom prst="roundRect">
            <a:avLst>
              <a:gd name="adj" fmla="val 2667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322064" y="1554480"/>
            <a:ext cx="3544824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4504944" y="1554480"/>
            <a:ext cx="31790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question qui attend « oui »</a:t>
            </a:r>
            <a:endParaRPr lang="en-US" sz="1500" dirty="0"/>
          </a:p>
        </p:txBody>
      </p:sp>
      <p:pic>
        <p:nvPicPr>
          <p:cNvPr id="14" name="Image 1" descr="slightly smiling fac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9648" y="2148840"/>
            <a:ext cx="594360" cy="59436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550664" y="2148840"/>
            <a:ext cx="249326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Je komt </a:t>
            </a:r>
            <a:r>
              <a:rPr lang="en-US" sz="1800" b="1" i="1" dirty="0">
                <a:solidFill>
                  <a:schemeClr val="accent1"/>
                </a:solidFill>
              </a:rPr>
              <a:t>toch</a:t>
            </a:r>
            <a:r>
              <a:rPr lang="en-US" sz="1800" i="1" dirty="0">
                <a:solidFill>
                  <a:schemeClr val="tx1"/>
                </a:solidFill>
              </a:rPr>
              <a:t> morgen?</a:t>
            </a:r>
            <a:endParaRPr lang="en-US" sz="1800" dirty="0"/>
          </a:p>
        </p:txBody>
      </p:sp>
      <p:sp>
        <p:nvSpPr>
          <p:cNvPr id="16" name="Text 11"/>
          <p:cNvSpPr txBox="1"/>
          <p:nvPr/>
        </p:nvSpPr>
        <p:spPr>
          <a:xfrm>
            <a:off x="4550664" y="3749040"/>
            <a:ext cx="3087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tu viens demain, hein ?</a:t>
            </a:r>
            <a:endParaRPr lang="en-US" sz="1400" dirty="0"/>
          </a:p>
        </p:txBody>
      </p:sp>
      <p:sp>
        <p:nvSpPr>
          <p:cNvPr id="17" name="Shape 12"/>
          <p:cNvSpPr/>
          <p:nvPr/>
        </p:nvSpPr>
        <p:spPr>
          <a:xfrm>
            <a:off x="8095488" y="1554480"/>
            <a:ext cx="3544824" cy="2743200"/>
          </a:xfrm>
          <a:prstGeom prst="roundRect">
            <a:avLst>
              <a:gd name="adj" fmla="val 2667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8095488" y="1554480"/>
            <a:ext cx="3544824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8278368" y="1554480"/>
            <a:ext cx="31790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insistance</a:t>
            </a:r>
            <a:endParaRPr lang="en-US" sz="1500" dirty="0"/>
          </a:p>
        </p:txBody>
      </p:sp>
      <p:pic>
        <p:nvPicPr>
          <p:cNvPr id="20" name="Image 2" descr="folded hand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63072" y="2148840"/>
            <a:ext cx="594360" cy="59436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8324088" y="2148840"/>
            <a:ext cx="249326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Kom </a:t>
            </a:r>
            <a:r>
              <a:rPr lang="en-US" sz="1800" b="1" i="1" dirty="0">
                <a:solidFill>
                  <a:schemeClr val="accent1"/>
                </a:solidFill>
              </a:rPr>
              <a:t>toch</a:t>
            </a:r>
            <a:r>
              <a:rPr lang="en-US" sz="1800" i="1" dirty="0">
                <a:solidFill>
                  <a:schemeClr val="tx1"/>
                </a:solidFill>
              </a:rPr>
              <a:t> binnen!</a:t>
            </a:r>
            <a:endParaRPr lang="en-US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8324088" y="3749040"/>
            <a:ext cx="3087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entre donc !</a:t>
            </a:r>
            <a:endParaRPr lang="en-US" sz="1400" dirty="0"/>
          </a:p>
        </p:txBody>
      </p:sp>
      <p:sp>
        <p:nvSpPr>
          <p:cNvPr id="23" name="Shape 17"/>
          <p:cNvSpPr/>
          <p:nvPr/>
        </p:nvSpPr>
        <p:spPr>
          <a:xfrm>
            <a:off x="548640" y="4526280"/>
            <a:ext cx="11091672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24" name="Image 3" descr="umbrella with rain drop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4636008"/>
            <a:ext cx="685800" cy="68580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1600200" y="452628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Sens plein : </a:t>
            </a:r>
            <a:r>
              <a:rPr lang="en-US" sz="1900" i="1" dirty="0">
                <a:solidFill>
                  <a:schemeClr val="tx1"/>
                </a:solidFill>
              </a:rPr>
              <a:t>Het regent, maar ik ga </a:t>
            </a:r>
            <a:r>
              <a:rPr lang="en-US" sz="1900" b="1" i="1" dirty="0">
                <a:solidFill>
                  <a:schemeClr val="tx1"/>
                </a:solidFill>
              </a:rPr>
              <a:t>toch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r>
              <a:rPr lang="en-US" sz="1900" dirty="0">
                <a:solidFill>
                  <a:schemeClr val="tx1"/>
                </a:solidFill>
              </a:rPr>
              <a:t> = quand même, pourtant</a:t>
            </a:r>
            <a:endParaRPr lang="en-US" sz="1900" dirty="0"/>
          </a:p>
        </p:txBody>
      </p:sp>
      <p:sp>
        <p:nvSpPr>
          <p:cNvPr id="26" name="Text 19"/>
          <p:cNvSpPr txBox="1"/>
          <p:nvPr/>
        </p:nvSpPr>
        <p:spPr>
          <a:xfrm>
            <a:off x="548640" y="562356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Rappel M13 : </a:t>
            </a:r>
            <a:r>
              <a:rPr lang="en-US" sz="1500" i="1" dirty="0">
                <a:solidFill>
                  <a:schemeClr val="accent5"/>
                </a:solidFill>
              </a:rPr>
              <a:t>Toch wel!</a:t>
            </a:r>
            <a:r>
              <a:rPr lang="en-US" sz="1500" i="1" dirty="0">
                <a:solidFill>
                  <a:schemeClr val="accent5"/>
                </a:solidFill>
              </a:rPr>
              <a:t> = « mais si ! » · </a:t>
            </a:r>
            <a:r>
              <a:rPr lang="en-US" sz="1500" i="1" dirty="0">
                <a:solidFill>
                  <a:schemeClr val="accent5"/>
                </a:solidFill>
              </a:rPr>
              <a:t>toch</a:t>
            </a:r>
            <a:r>
              <a:rPr lang="en-US" sz="1500" i="1" dirty="0">
                <a:solidFill>
                  <a:schemeClr val="accent5"/>
                </a:solidFill>
              </a:rPr>
              <a:t> = la particule la plus fréquente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nou… et en Flandre : allez, zeg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121054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CULTURE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685800" cy="150876"/>
          </a:xfrm>
          <a:prstGeom prst="rect">
            <a:avLst/>
          </a:prstGeom>
          <a:solidFill>
            <a:srgbClr val="B320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48640" y="1751076"/>
            <a:ext cx="685800" cy="15087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48640" y="1901952"/>
            <a:ext cx="685800" cy="150876"/>
          </a:xfrm>
          <a:prstGeom prst="rect">
            <a:avLst/>
          </a:prstGeom>
          <a:solidFill>
            <a:srgbClr val="22408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548640" y="1600200"/>
            <a:ext cx="685800" cy="452628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417320" y="155448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spc="100" kern="0" dirty="0">
                <a:solidFill>
                  <a:schemeClr val="accent2"/>
                </a:solidFill>
              </a:rPr>
              <a:t>AUX PAYS-BAS : nou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48640" y="2286000"/>
            <a:ext cx="3383280" cy="777240"/>
          </a:xfrm>
          <a:prstGeom prst="roundRect">
            <a:avLst>
              <a:gd name="adj" fmla="val 21176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13232" y="2286000"/>
            <a:ext cx="30540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Wat doe je </a:t>
            </a:r>
            <a:r>
              <a:rPr lang="en-US" sz="1900" b="1" i="1" dirty="0">
                <a:solidFill>
                  <a:schemeClr val="accent1"/>
                </a:solidFill>
              </a:rPr>
              <a:t>nou</a:t>
            </a:r>
            <a:r>
              <a:rPr lang="en-US" sz="1900" i="1" dirty="0">
                <a:solidFill>
                  <a:schemeClr val="tx1"/>
                </a:solidFill>
              </a:rPr>
              <a:t>?</a:t>
            </a:r>
            <a:endParaRPr lang="en-US" sz="1900" dirty="0"/>
          </a:p>
        </p:txBody>
      </p:sp>
      <p:sp>
        <p:nvSpPr>
          <p:cNvPr id="12" name="Text 9"/>
          <p:cNvSpPr txBox="1"/>
          <p:nvPr/>
        </p:nvSpPr>
        <p:spPr>
          <a:xfrm>
            <a:off x="4069080" y="2286000"/>
            <a:ext cx="1874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surprise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48640" y="3273552"/>
            <a:ext cx="3383280" cy="777240"/>
          </a:xfrm>
          <a:prstGeom prst="roundRect">
            <a:avLst>
              <a:gd name="adj" fmla="val 21176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13232" y="3273552"/>
            <a:ext cx="30540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Kom </a:t>
            </a:r>
            <a:r>
              <a:rPr lang="en-US" sz="1900" b="1" i="1" dirty="0">
                <a:solidFill>
                  <a:schemeClr val="accent1"/>
                </a:solidFill>
              </a:rPr>
              <a:t>nou</a:t>
            </a:r>
            <a:r>
              <a:rPr lang="en-US" sz="1900" i="1" dirty="0">
                <a:solidFill>
                  <a:schemeClr val="tx1"/>
                </a:solidFill>
              </a:rPr>
              <a:t>!</a:t>
            </a:r>
            <a:endParaRPr lang="en-US" sz="1900" dirty="0"/>
          </a:p>
        </p:txBody>
      </p:sp>
      <p:sp>
        <p:nvSpPr>
          <p:cNvPr id="15" name="Text 12"/>
          <p:cNvSpPr txBox="1"/>
          <p:nvPr/>
        </p:nvSpPr>
        <p:spPr>
          <a:xfrm>
            <a:off x="4069080" y="3273552"/>
            <a:ext cx="1874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impatience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548640" y="4261104"/>
            <a:ext cx="3383280" cy="777240"/>
          </a:xfrm>
          <a:prstGeom prst="roundRect">
            <a:avLst>
              <a:gd name="adj" fmla="val 21176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13232" y="4261104"/>
            <a:ext cx="30540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1"/>
                </a:solidFill>
              </a:rPr>
              <a:t>Nou</a:t>
            </a:r>
            <a:r>
              <a:rPr lang="en-US" sz="1900" i="1" dirty="0">
                <a:solidFill>
                  <a:schemeClr val="tx1"/>
                </a:solidFill>
              </a:rPr>
              <a:t>, ik ga naar huis.</a:t>
            </a:r>
            <a:endParaRPr lang="en-US" sz="1900" dirty="0"/>
          </a:p>
        </p:txBody>
      </p:sp>
      <p:sp>
        <p:nvSpPr>
          <p:cNvPr id="18" name="Text 15"/>
          <p:cNvSpPr txBox="1"/>
          <p:nvPr/>
        </p:nvSpPr>
        <p:spPr>
          <a:xfrm>
            <a:off x="4069080" y="4261104"/>
            <a:ext cx="1874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bon, eh bien…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6227064" y="1600200"/>
            <a:ext cx="228600" cy="452628"/>
          </a:xfrm>
          <a:prstGeom prst="rect">
            <a:avLst/>
          </a:prstGeom>
          <a:solidFill>
            <a:srgbClr val="1B1B1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455664" y="1600200"/>
            <a:ext cx="228600" cy="452628"/>
          </a:xfrm>
          <a:prstGeom prst="rect">
            <a:avLst/>
          </a:prstGeom>
          <a:solidFill>
            <a:srgbClr val="F7D11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684264" y="1600200"/>
            <a:ext cx="228600" cy="452628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227064" y="1600200"/>
            <a:ext cx="685800" cy="452628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095744" y="155448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spc="100" kern="0" dirty="0">
                <a:solidFill>
                  <a:schemeClr val="accent4"/>
                </a:solidFill>
              </a:rPr>
              <a:t>EN FLANDRE : allez, zeg</a:t>
            </a:r>
            <a:endParaRPr lang="en-US" sz="1700" dirty="0"/>
          </a:p>
        </p:txBody>
      </p:sp>
      <p:sp>
        <p:nvSpPr>
          <p:cNvPr id="24" name="Shape 21"/>
          <p:cNvSpPr/>
          <p:nvPr/>
        </p:nvSpPr>
        <p:spPr>
          <a:xfrm>
            <a:off x="6227064" y="2286000"/>
            <a:ext cx="3383280" cy="777240"/>
          </a:xfrm>
          <a:prstGeom prst="roundRect">
            <a:avLst>
              <a:gd name="adj" fmla="val 21176"/>
            </a:avLst>
          </a:prstGeom>
          <a:solidFill>
            <a:schemeClr val="accent4">
              <a:alpha val="12000"/>
            </a:schemeClr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391656" y="2286000"/>
            <a:ext cx="30540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1"/>
                </a:solidFill>
              </a:rPr>
              <a:t>Allez</a:t>
            </a:r>
            <a:r>
              <a:rPr lang="en-US" sz="1900" i="1" dirty="0">
                <a:solidFill>
                  <a:schemeClr val="tx1"/>
                </a:solidFill>
              </a:rPr>
              <a:t>, kom!</a:t>
            </a:r>
            <a:endParaRPr lang="en-US" sz="1900" dirty="0"/>
          </a:p>
        </p:txBody>
      </p:sp>
      <p:sp>
        <p:nvSpPr>
          <p:cNvPr id="26" name="Text 23"/>
          <p:cNvSpPr txBox="1"/>
          <p:nvPr/>
        </p:nvSpPr>
        <p:spPr>
          <a:xfrm>
            <a:off x="9747504" y="2286000"/>
            <a:ext cx="1874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allez, viens !</a:t>
            </a:r>
            <a:endParaRPr lang="en-US" sz="1500" dirty="0"/>
          </a:p>
        </p:txBody>
      </p:sp>
      <p:sp>
        <p:nvSpPr>
          <p:cNvPr id="27" name="Shape 24"/>
          <p:cNvSpPr/>
          <p:nvPr/>
        </p:nvSpPr>
        <p:spPr>
          <a:xfrm>
            <a:off x="6227064" y="3273552"/>
            <a:ext cx="3383280" cy="777240"/>
          </a:xfrm>
          <a:prstGeom prst="roundRect">
            <a:avLst>
              <a:gd name="adj" fmla="val 21176"/>
            </a:avLst>
          </a:prstGeom>
          <a:solidFill>
            <a:schemeClr val="accent4">
              <a:alpha val="12000"/>
            </a:schemeClr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391656" y="3273552"/>
            <a:ext cx="30540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1"/>
                </a:solidFill>
              </a:rPr>
              <a:t>Zeg</a:t>
            </a:r>
            <a:r>
              <a:rPr lang="en-US" sz="1900" i="1" dirty="0">
                <a:solidFill>
                  <a:schemeClr val="tx1"/>
                </a:solidFill>
              </a:rPr>
              <a:t>, heb je even tijd?</a:t>
            </a:r>
            <a:endParaRPr lang="en-US" sz="1900" dirty="0"/>
          </a:p>
        </p:txBody>
      </p:sp>
      <p:sp>
        <p:nvSpPr>
          <p:cNvPr id="29" name="Text 26"/>
          <p:cNvSpPr txBox="1"/>
          <p:nvPr/>
        </p:nvSpPr>
        <p:spPr>
          <a:xfrm>
            <a:off x="9747504" y="3273552"/>
            <a:ext cx="1874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dis, tu as un moment ?</a:t>
            </a:r>
            <a:endParaRPr lang="en-US" sz="1500" dirty="0"/>
          </a:p>
        </p:txBody>
      </p:sp>
      <p:sp>
        <p:nvSpPr>
          <p:cNvPr id="30" name="Shape 27"/>
          <p:cNvSpPr/>
          <p:nvPr/>
        </p:nvSpPr>
        <p:spPr>
          <a:xfrm>
            <a:off x="6227064" y="4261104"/>
            <a:ext cx="3383280" cy="777240"/>
          </a:xfrm>
          <a:prstGeom prst="roundRect">
            <a:avLst>
              <a:gd name="adj" fmla="val 21176"/>
            </a:avLst>
          </a:prstGeom>
          <a:solidFill>
            <a:schemeClr val="accent4">
              <a:alpha val="12000"/>
            </a:schemeClr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391656" y="4261104"/>
            <a:ext cx="30540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1"/>
                </a:solidFill>
              </a:rPr>
              <a:t>Allez</a:t>
            </a:r>
            <a:r>
              <a:rPr lang="en-US" sz="1900" i="1" dirty="0">
                <a:solidFill>
                  <a:schemeClr val="tx1"/>
                </a:solidFill>
              </a:rPr>
              <a:t>, tot morgen!</a:t>
            </a:r>
            <a:endParaRPr lang="en-US" sz="1900" dirty="0"/>
          </a:p>
        </p:txBody>
      </p:sp>
      <p:sp>
        <p:nvSpPr>
          <p:cNvPr id="32" name="Text 29"/>
          <p:cNvSpPr txBox="1"/>
          <p:nvPr/>
        </p:nvSpPr>
        <p:spPr>
          <a:xfrm>
            <a:off x="9747504" y="4261104"/>
            <a:ext cx="1874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bon, à demain !</a:t>
            </a:r>
            <a:endParaRPr lang="en-US" sz="1500" dirty="0"/>
          </a:p>
        </p:txBody>
      </p:sp>
      <p:sp>
        <p:nvSpPr>
          <p:cNvPr id="33" name="Shape 30"/>
          <p:cNvSpPr/>
          <p:nvPr/>
        </p:nvSpPr>
        <p:spPr>
          <a:xfrm>
            <a:off x="6089904" y="1645920"/>
            <a:ext cx="914" cy="3566160"/>
          </a:xfrm>
          <a:prstGeom prst="line">
            <a:avLst/>
          </a:prstGeom>
          <a:noFill/>
          <a:ln w="19050">
            <a:solidFill>
              <a:srgbClr val="D5DCE6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48640" y="553212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22960" y="553212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En Flandre : </a:t>
            </a:r>
            <a:r>
              <a:rPr lang="en-US" sz="1700" i="1" dirty="0">
                <a:solidFill>
                  <a:schemeClr val="bg1"/>
                </a:solidFill>
              </a:rPr>
              <a:t>Wat doe je </a:t>
            </a:r>
            <a:r>
              <a:rPr lang="en-US" sz="1700" b="1" i="1" dirty="0">
                <a:solidFill>
                  <a:schemeClr val="bg1"/>
                </a:solidFill>
              </a:rPr>
              <a:t>nu</a:t>
            </a:r>
            <a:r>
              <a:rPr lang="en-US" sz="1700" i="1" dirty="0">
                <a:solidFill>
                  <a:schemeClr val="bg1"/>
                </a:solidFill>
              </a:rPr>
              <a:t>? · Kom </a:t>
            </a:r>
            <a:r>
              <a:rPr lang="en-US" sz="1700" b="1" i="1" dirty="0">
                <a:solidFill>
                  <a:schemeClr val="bg1"/>
                </a:solidFill>
              </a:rPr>
              <a:t>nu</a:t>
            </a:r>
            <a:r>
              <a:rPr lang="en-US" sz="1700" i="1" dirty="0">
                <a:solidFill>
                  <a:schemeClr val="bg1"/>
                </a:solidFill>
              </a:rPr>
              <a:t>!</a:t>
            </a:r>
            <a:r>
              <a:rPr lang="en-US" sz="1700" dirty="0">
                <a:solidFill>
                  <a:schemeClr val="bg1"/>
                </a:solidFill>
              </a:rPr>
              <a:t> (</a:t>
            </a:r>
            <a:r>
              <a:rPr lang="en-US" sz="1700" i="1" dirty="0">
                <a:solidFill>
                  <a:schemeClr val="bg1"/>
                </a:solidFill>
              </a:rPr>
              <a:t>nu</a:t>
            </a:r>
            <a:r>
              <a:rPr lang="en-US" sz="1700" dirty="0">
                <a:solidFill>
                  <a:schemeClr val="bg1"/>
                </a:solidFill>
              </a:rPr>
              <a:t> sans valeur de « maintenant ») · </a:t>
            </a:r>
            <a:r>
              <a:rPr lang="en-US" sz="1700" i="1" dirty="0">
                <a:solidFill>
                  <a:schemeClr val="bg1"/>
                </a:solidFill>
              </a:rPr>
              <a:t>Allez, ik ga naar huis.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Questions : soms, dan, ook alweer…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413248" cy="1783080"/>
          </a:xfrm>
          <a:prstGeom prst="roundRect">
            <a:avLst>
              <a:gd name="adj" fmla="val 4103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pe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828800"/>
            <a:ext cx="822960" cy="82296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783080" y="169164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soms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4206240" y="169164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par hasard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1783080" y="2331720"/>
            <a:ext cx="39959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Heb je </a:t>
            </a:r>
            <a:r>
              <a:rPr lang="en-US" sz="1900" b="1" i="1" dirty="0">
                <a:solidFill>
                  <a:schemeClr val="accent4"/>
                </a:solidFill>
              </a:rPr>
              <a:t>soms</a:t>
            </a:r>
            <a:r>
              <a:rPr lang="en-US" sz="1900" i="1" dirty="0">
                <a:solidFill>
                  <a:schemeClr val="tx1"/>
                </a:solidFill>
              </a:rPr>
              <a:t> een pen?</a:t>
            </a:r>
            <a:endParaRPr lang="en-US" sz="1900" dirty="0"/>
          </a:p>
        </p:txBody>
      </p:sp>
      <p:sp>
        <p:nvSpPr>
          <p:cNvPr id="10" name="Shape 6"/>
          <p:cNvSpPr/>
          <p:nvPr/>
        </p:nvSpPr>
        <p:spPr>
          <a:xfrm>
            <a:off x="6227064" y="1554480"/>
            <a:ext cx="5413248" cy="1783080"/>
          </a:xfrm>
          <a:prstGeom prst="roundRect">
            <a:avLst>
              <a:gd name="adj" fmla="val 4103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1" name="Image 1" descr="teacup without hand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5664" y="1828800"/>
            <a:ext cx="822960" cy="82296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7461504" y="169164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dan</a:t>
            </a:r>
            <a:endParaRPr lang="en-US" sz="2800" dirty="0"/>
          </a:p>
        </p:txBody>
      </p:sp>
      <p:sp>
        <p:nvSpPr>
          <p:cNvPr id="13" name="Text 8"/>
          <p:cNvSpPr txBox="1"/>
          <p:nvPr/>
        </p:nvSpPr>
        <p:spPr>
          <a:xfrm>
            <a:off x="9884664" y="169164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alors, donc</a:t>
            </a:r>
            <a:endParaRPr lang="en-US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7461504" y="2331720"/>
            <a:ext cx="39959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Geen koffie? Wat wil je </a:t>
            </a:r>
            <a:r>
              <a:rPr lang="en-US" sz="1900" b="1" i="1" dirty="0">
                <a:solidFill>
                  <a:schemeClr val="accent4"/>
                </a:solidFill>
              </a:rPr>
              <a:t>dan</a:t>
            </a:r>
            <a:r>
              <a:rPr lang="en-US" sz="1900" i="1" dirty="0">
                <a:solidFill>
                  <a:schemeClr val="tx1"/>
                </a:solidFill>
              </a:rPr>
              <a:t>?</a:t>
            </a:r>
            <a:endParaRPr lang="en-US" sz="1900" dirty="0"/>
          </a:p>
        </p:txBody>
      </p:sp>
      <p:sp>
        <p:nvSpPr>
          <p:cNvPr id="15" name="Shape 10"/>
          <p:cNvSpPr/>
          <p:nvPr/>
        </p:nvSpPr>
        <p:spPr>
          <a:xfrm>
            <a:off x="548640" y="3520440"/>
            <a:ext cx="5413248" cy="1783080"/>
          </a:xfrm>
          <a:prstGeom prst="roundRect">
            <a:avLst>
              <a:gd name="adj" fmla="val 4103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6" name="Image 2" descr="thinking fac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794760"/>
            <a:ext cx="822960" cy="82296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783080" y="36576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ook alweer</a:t>
            </a:r>
            <a:endParaRPr lang="en-US" sz="2800" dirty="0"/>
          </a:p>
        </p:txBody>
      </p:sp>
      <p:sp>
        <p:nvSpPr>
          <p:cNvPr id="18" name="Text 12"/>
          <p:cNvSpPr txBox="1"/>
          <p:nvPr/>
        </p:nvSpPr>
        <p:spPr>
          <a:xfrm>
            <a:off x="4206240" y="365760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déjà</a:t>
            </a:r>
            <a:endParaRPr lang="en-US" sz="1400" dirty="0"/>
          </a:p>
        </p:txBody>
      </p:sp>
      <p:sp>
        <p:nvSpPr>
          <p:cNvPr id="19" name="Text 13"/>
          <p:cNvSpPr txBox="1"/>
          <p:nvPr/>
        </p:nvSpPr>
        <p:spPr>
          <a:xfrm>
            <a:off x="1783080" y="4297680"/>
            <a:ext cx="39959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Hoe heet die klant </a:t>
            </a:r>
            <a:r>
              <a:rPr lang="en-US" sz="1900" b="1" i="1" dirty="0">
                <a:solidFill>
                  <a:schemeClr val="accent4"/>
                </a:solidFill>
              </a:rPr>
              <a:t>ook alweer</a:t>
            </a:r>
            <a:r>
              <a:rPr lang="en-US" sz="1900" i="1" dirty="0">
                <a:solidFill>
                  <a:schemeClr val="tx1"/>
                </a:solidFill>
              </a:rPr>
              <a:t>?</a:t>
            </a:r>
            <a:endParaRPr lang="en-US" sz="1900" dirty="0"/>
          </a:p>
        </p:txBody>
      </p:sp>
      <p:sp>
        <p:nvSpPr>
          <p:cNvPr id="20" name="Shape 14"/>
          <p:cNvSpPr/>
          <p:nvPr/>
        </p:nvSpPr>
        <p:spPr>
          <a:xfrm>
            <a:off x="6227064" y="3520440"/>
            <a:ext cx="5413248" cy="1783080"/>
          </a:xfrm>
          <a:prstGeom prst="roundRect">
            <a:avLst>
              <a:gd name="adj" fmla="val 4103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1" name="Image 3" descr="hous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55664" y="3794760"/>
            <a:ext cx="822960" cy="82296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7461504" y="36576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eigenlijk</a:t>
            </a:r>
            <a:endParaRPr lang="en-US" sz="2800" dirty="0"/>
          </a:p>
        </p:txBody>
      </p:sp>
      <p:sp>
        <p:nvSpPr>
          <p:cNvPr id="23" name="Text 16"/>
          <p:cNvSpPr txBox="1"/>
          <p:nvPr/>
        </p:nvSpPr>
        <p:spPr>
          <a:xfrm>
            <a:off x="9884664" y="365760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au fait, en fait</a:t>
            </a:r>
            <a:endParaRPr lang="en-US" sz="1400" dirty="0"/>
          </a:p>
        </p:txBody>
      </p:sp>
      <p:sp>
        <p:nvSpPr>
          <p:cNvPr id="24" name="Text 17"/>
          <p:cNvSpPr txBox="1"/>
          <p:nvPr/>
        </p:nvSpPr>
        <p:spPr>
          <a:xfrm>
            <a:off x="7461504" y="4297680"/>
            <a:ext cx="39959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Waar woon je </a:t>
            </a:r>
            <a:r>
              <a:rPr lang="en-US" sz="1900" b="1" i="1" dirty="0">
                <a:solidFill>
                  <a:schemeClr val="accent4"/>
                </a:solidFill>
              </a:rPr>
              <a:t>eigenlijk</a:t>
            </a:r>
            <a:r>
              <a:rPr lang="en-US" sz="1900" i="1" dirty="0">
                <a:solidFill>
                  <a:schemeClr val="tx1"/>
                </a:solidFill>
              </a:rPr>
              <a:t>?</a:t>
            </a:r>
            <a:endParaRPr lang="en-US" sz="1900" dirty="0"/>
          </a:p>
        </p:txBody>
      </p:sp>
      <p:sp>
        <p:nvSpPr>
          <p:cNvPr id="25" name="Shape 18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19"/>
          <p:cNvSpPr txBox="1"/>
          <p:nvPr/>
        </p:nvSpPr>
        <p:spPr>
          <a:xfrm>
            <a:off x="822960" y="566928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bg1"/>
                </a:solidFill>
              </a:rPr>
              <a:t>soms</a:t>
            </a:r>
            <a:r>
              <a:rPr lang="en-US" sz="1700" dirty="0">
                <a:solidFill>
                  <a:schemeClr val="bg1"/>
                </a:solidFill>
              </a:rPr>
              <a:t> = question plus polie · </a:t>
            </a:r>
            <a:r>
              <a:rPr lang="en-US" sz="1700" i="1" dirty="0">
                <a:solidFill>
                  <a:schemeClr val="bg1"/>
                </a:solidFill>
              </a:rPr>
              <a:t>ook alweer</a:t>
            </a:r>
            <a:r>
              <a:rPr lang="en-US" sz="1700" dirty="0">
                <a:solidFill>
                  <a:schemeClr val="bg1"/>
                </a:solidFill>
              </a:rPr>
              <a:t> = « j’ai oublié… » · </a:t>
            </a:r>
            <a:r>
              <a:rPr lang="en-US" sz="1700" i="1" dirty="0">
                <a:solidFill>
                  <a:schemeClr val="bg1"/>
                </a:solidFill>
              </a:rPr>
              <a:t>eigenlijk</a:t>
            </a:r>
            <a:r>
              <a:rPr lang="en-US" sz="1700" dirty="0">
                <a:solidFill>
                  <a:schemeClr val="bg1"/>
                </a:solidFill>
              </a:rPr>
              <a:t> = question en passant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wel et hoor : affirmer, rassurer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3749040"/>
          </a:xfrm>
          <a:prstGeom prst="roundRect">
            <a:avLst>
              <a:gd name="adj" fmla="val 1951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6035040" cy="502920"/>
          </a:xfrm>
          <a:prstGeom prst="roundRect">
            <a:avLst>
              <a:gd name="adj" fmla="val 14545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554480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wel — trois emplois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148840"/>
            <a:ext cx="557784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4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contraste</a:t>
            </a:r>
            <a:r>
              <a:rPr lang="en-US" sz="1800" dirty="0">
                <a:solidFill>
                  <a:schemeClr val="tx1"/>
                </a:solidFill>
              </a:rPr>
              <a:t> : </a:t>
            </a:r>
            <a:r>
              <a:rPr lang="en-US" sz="1800" i="1" dirty="0">
                <a:solidFill>
                  <a:schemeClr val="tx1"/>
                </a:solidFill>
              </a:rPr>
              <a:t>Ik heb geen auto, maar </a:t>
            </a:r>
            <a:r>
              <a:rPr lang="en-US" sz="1800" b="1" i="1" dirty="0">
                <a:solidFill>
                  <a:schemeClr val="accent3"/>
                </a:solidFill>
              </a:rPr>
              <a:t>wel</a:t>
            </a:r>
            <a:r>
              <a:rPr lang="en-US" sz="1800" i="1" dirty="0">
                <a:solidFill>
                  <a:schemeClr val="tx1"/>
                </a:solidFill>
              </a:rPr>
              <a:t> een fiets.</a:t>
            </a:r>
            <a:endParaRPr lang="en-US" sz="18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nuance</a:t>
            </a:r>
            <a:r>
              <a:rPr lang="en-US" sz="1800" dirty="0">
                <a:solidFill>
                  <a:schemeClr val="tx1"/>
                </a:solidFill>
              </a:rPr>
              <a:t> : </a:t>
            </a:r>
            <a:r>
              <a:rPr lang="en-US" sz="1800" i="1" dirty="0">
                <a:solidFill>
                  <a:schemeClr val="tx1"/>
                </a:solidFill>
              </a:rPr>
              <a:t>Het is </a:t>
            </a:r>
            <a:r>
              <a:rPr lang="en-US" sz="1800" b="1" i="1" dirty="0">
                <a:solidFill>
                  <a:schemeClr val="accent3"/>
                </a:solidFill>
              </a:rPr>
              <a:t>wel</a:t>
            </a:r>
            <a:r>
              <a:rPr lang="en-US" sz="1800" i="1" dirty="0">
                <a:solidFill>
                  <a:schemeClr val="tx1"/>
                </a:solidFill>
              </a:rPr>
              <a:t> duur.</a:t>
            </a:r>
            <a:r>
              <a:rPr lang="en-US" sz="1800" dirty="0">
                <a:solidFill>
                  <a:schemeClr val="tx1"/>
                </a:solidFill>
              </a:rPr>
              <a:t> (quand même)</a:t>
            </a:r>
            <a:endParaRPr lang="en-US" sz="18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confiance</a:t>
            </a:r>
            <a:r>
              <a:rPr lang="en-US" sz="1800" dirty="0">
                <a:solidFill>
                  <a:schemeClr val="tx1"/>
                </a:solidFill>
              </a:rPr>
              <a:t> : </a:t>
            </a:r>
            <a:r>
              <a:rPr lang="en-US" sz="1800" i="1" dirty="0">
                <a:solidFill>
                  <a:schemeClr val="tx1"/>
                </a:solidFill>
              </a:rPr>
              <a:t>Dat lukt </a:t>
            </a:r>
            <a:r>
              <a:rPr lang="en-US" sz="1800" b="1" i="1" dirty="0">
                <a:solidFill>
                  <a:schemeClr val="accent3"/>
                </a:solidFill>
              </a:rPr>
              <a:t>wel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r>
              <a:rPr lang="en-US" sz="1800" dirty="0">
                <a:solidFill>
                  <a:schemeClr val="tx1"/>
                </a:solidFill>
              </a:rPr>
              <a:t> (ça va aller)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4754880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Rappel M13 : </a:t>
            </a:r>
            <a:r>
              <a:rPr lang="en-US" sz="1400" i="1" dirty="0">
                <a:solidFill>
                  <a:schemeClr val="accent5"/>
                </a:solidFill>
              </a:rPr>
              <a:t>Ik werk niet. — Ik </a:t>
            </a:r>
            <a:r>
              <a:rPr lang="en-US" sz="1400" b="1" i="1" dirty="0">
                <a:solidFill>
                  <a:schemeClr val="accent5"/>
                </a:solidFill>
              </a:rPr>
              <a:t>wel</a:t>
            </a:r>
            <a:r>
              <a:rPr lang="en-US" sz="1400" i="1" dirty="0">
                <a:solidFill>
                  <a:schemeClr val="accent5"/>
                </a:solidFill>
              </a:rPr>
              <a:t>!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812280" y="1554480"/>
            <a:ext cx="4828032" cy="3749040"/>
          </a:xfrm>
          <a:prstGeom prst="roundRect">
            <a:avLst>
              <a:gd name="adj" fmla="val 1951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812280" y="1554480"/>
            <a:ext cx="4828032" cy="502920"/>
          </a:xfrm>
          <a:prstGeom prst="roundRect">
            <a:avLst>
              <a:gd name="adj" fmla="val 14545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995160" y="1554480"/>
            <a:ext cx="44622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hoor — à la fin, ou après ja / nee</a:t>
            </a:r>
            <a:endParaRPr lang="en-US" sz="1800" dirty="0"/>
          </a:p>
        </p:txBody>
      </p:sp>
      <p:pic>
        <p:nvPicPr>
          <p:cNvPr id="13" name="Image 0" descr="thumbs u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63072" y="2148840"/>
            <a:ext cx="594360" cy="59436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7040880" y="2148840"/>
            <a:ext cx="3776472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rassurer, confirmer :</a:t>
            </a:r>
            <a:endParaRPr lang="en-US" sz="18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Geen probleem, </a:t>
            </a:r>
            <a:r>
              <a:rPr lang="en-US" sz="1800" b="1" i="1" dirty="0">
                <a:solidFill>
                  <a:schemeClr val="accent3"/>
                </a:solidFill>
              </a:rPr>
              <a:t>hoor</a:t>
            </a:r>
            <a:r>
              <a:rPr lang="en-US" sz="1800" i="1" dirty="0">
                <a:solidFill>
                  <a:schemeClr val="tx1"/>
                </a:solidFill>
              </a:rPr>
              <a:t>!</a:t>
            </a:r>
            <a:endParaRPr lang="en-US" sz="18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Ja </a:t>
            </a:r>
            <a:r>
              <a:rPr lang="en-US" sz="1800" b="1" i="1" dirty="0">
                <a:solidFill>
                  <a:schemeClr val="accent3"/>
                </a:solidFill>
              </a:rPr>
              <a:t>hoor</a:t>
            </a:r>
            <a:r>
              <a:rPr lang="en-US" sz="1800" i="1" dirty="0">
                <a:solidFill>
                  <a:schemeClr val="tx1"/>
                </a:solidFill>
              </a:rPr>
              <a:t>! · Nee </a:t>
            </a:r>
            <a:r>
              <a:rPr lang="en-US" sz="1800" b="1" i="1" dirty="0">
                <a:solidFill>
                  <a:schemeClr val="accent3"/>
                </a:solidFill>
              </a:rPr>
              <a:t>hoor</a:t>
            </a:r>
            <a:r>
              <a:rPr lang="en-US" sz="1800" i="1" dirty="0">
                <a:solidFill>
                  <a:schemeClr val="tx1"/>
                </a:solidFill>
              </a:rPr>
              <a:t>!</a:t>
            </a:r>
            <a:endParaRPr lang="en-US" sz="1800" dirty="0"/>
          </a:p>
        </p:txBody>
      </p:sp>
      <p:sp>
        <p:nvSpPr>
          <p:cNvPr id="15" name="Text 11"/>
          <p:cNvSpPr txBox="1"/>
          <p:nvPr/>
        </p:nvSpPr>
        <p:spPr>
          <a:xfrm>
            <a:off x="7040880" y="4754880"/>
            <a:ext cx="43708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très amical, surtout aux Pays-Bas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48640" y="553212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822960" y="553212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bg1"/>
                </a:solidFill>
              </a:rPr>
              <a:t>hoor</a:t>
            </a:r>
            <a:r>
              <a:rPr lang="en-US" sz="1800" dirty="0">
                <a:solidFill>
                  <a:schemeClr val="bg1"/>
                </a:solidFill>
              </a:rPr>
              <a:t> : </a:t>
            </a:r>
            <a:r>
              <a:rPr lang="en-US" sz="1800" b="1" dirty="0">
                <a:solidFill>
                  <a:schemeClr val="bg1"/>
                </a:solidFill>
              </a:rPr>
              <a:t>à la fin</a:t>
            </a:r>
            <a:r>
              <a:rPr lang="en-US" sz="1800" dirty="0">
                <a:solidFill>
                  <a:schemeClr val="bg1"/>
                </a:solidFill>
              </a:rPr>
              <a:t>, ou juste après </a:t>
            </a:r>
            <a:r>
              <a:rPr lang="en-US" sz="1800" i="1" dirty="0">
                <a:solidFill>
                  <a:schemeClr val="bg1"/>
                </a:solidFill>
              </a:rPr>
              <a:t>ja / nee</a:t>
            </a:r>
            <a:r>
              <a:rPr lang="en-US" sz="1800" dirty="0">
                <a:solidFill>
                  <a:schemeClr val="bg1"/>
                </a:solidFill>
              </a:rPr>
              <a:t> (</a:t>
            </a:r>
            <a:r>
              <a:rPr lang="en-US" sz="1800" i="1" dirty="0">
                <a:solidFill>
                  <a:schemeClr val="bg1"/>
                </a:solidFill>
              </a:rPr>
              <a:t>Ja hoor, kom maar!</a:t>
            </a:r>
            <a:r>
              <a:rPr lang="en-US" sz="1800" dirty="0">
                <a:solidFill>
                  <a:schemeClr val="bg1"/>
                </a:solidFill>
              </a:rPr>
              <a:t>). Il rend la phrase chaleureuse.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pas de traduction mot à mot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4023360"/>
          </a:xfrm>
          <a:prstGeom prst="roundRect">
            <a:avLst>
              <a:gd name="adj" fmla="val 1818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2103120"/>
            <a:ext cx="5852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« Tu viens, </a:t>
            </a:r>
            <a:r>
              <a:rPr lang="en-US" sz="1800" b="1" dirty="0">
                <a:solidFill>
                  <a:schemeClr val="tx1"/>
                </a:solidFill>
              </a:rPr>
              <a:t>hein</a:t>
            </a:r>
            <a:r>
              <a:rPr lang="en-US" sz="1800" dirty="0">
                <a:solidFill>
                  <a:schemeClr val="tx1"/>
                </a:solidFill>
              </a:rPr>
              <a:t> ? »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6766560" y="2404872"/>
            <a:ext cx="50292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7315200" y="2130552"/>
            <a:ext cx="4160520" cy="548640"/>
          </a:xfrm>
          <a:prstGeom prst="roundRect">
            <a:avLst>
              <a:gd name="adj" fmla="val 16667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452360" y="2130552"/>
            <a:ext cx="3977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Je komt </a:t>
            </a:r>
            <a:r>
              <a:rPr lang="en-US" sz="1800" b="1" i="1" dirty="0">
                <a:solidFill>
                  <a:schemeClr val="accent1"/>
                </a:solidFill>
              </a:rPr>
              <a:t>toch</a:t>
            </a:r>
            <a:r>
              <a:rPr lang="en-US" sz="1800" i="1" dirty="0">
                <a:solidFill>
                  <a:schemeClr val="tx1"/>
                </a:solidFill>
              </a:rPr>
              <a:t>?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2788920"/>
            <a:ext cx="5852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« Tu n’aurais pas un stylo, </a:t>
            </a:r>
            <a:r>
              <a:rPr lang="en-US" sz="1800" b="1" dirty="0">
                <a:solidFill>
                  <a:schemeClr val="tx1"/>
                </a:solidFill>
              </a:rPr>
              <a:t>par hasard</a:t>
            </a:r>
            <a:r>
              <a:rPr lang="en-US" sz="1800" dirty="0">
                <a:solidFill>
                  <a:schemeClr val="tx1"/>
                </a:solidFill>
              </a:rPr>
              <a:t> ? »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6766560" y="3090672"/>
            <a:ext cx="50292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3" name="Shape 10"/>
          <p:cNvSpPr/>
          <p:nvPr/>
        </p:nvSpPr>
        <p:spPr>
          <a:xfrm>
            <a:off x="7315200" y="2816352"/>
            <a:ext cx="4160520" cy="548640"/>
          </a:xfrm>
          <a:prstGeom prst="roundRect">
            <a:avLst>
              <a:gd name="adj" fmla="val 16667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452360" y="2816352"/>
            <a:ext cx="3977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Heb je </a:t>
            </a:r>
            <a:r>
              <a:rPr lang="en-US" sz="1800" b="1" i="1" dirty="0">
                <a:solidFill>
                  <a:schemeClr val="accent4"/>
                </a:solidFill>
              </a:rPr>
              <a:t>soms</a:t>
            </a:r>
            <a:r>
              <a:rPr lang="en-US" sz="1800" i="1" dirty="0">
                <a:solidFill>
                  <a:schemeClr val="tx1"/>
                </a:solidFill>
              </a:rPr>
              <a:t> een pen?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868680" y="3474720"/>
            <a:ext cx="5852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« Regarde </a:t>
            </a:r>
            <a:r>
              <a:rPr lang="en-US" sz="1800" b="1" dirty="0">
                <a:solidFill>
                  <a:schemeClr val="tx1"/>
                </a:solidFill>
              </a:rPr>
              <a:t>donc</a:t>
            </a:r>
            <a:r>
              <a:rPr lang="en-US" sz="1800" dirty="0">
                <a:solidFill>
                  <a:schemeClr val="tx1"/>
                </a:solidFill>
              </a:rPr>
              <a:t> ! »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6766560" y="3776472"/>
            <a:ext cx="50292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7315200" y="3502152"/>
            <a:ext cx="4160520" cy="548640"/>
          </a:xfrm>
          <a:prstGeom prst="roundRect">
            <a:avLst>
              <a:gd name="adj" fmla="val 16667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452360" y="3502152"/>
            <a:ext cx="3977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Kijk </a:t>
            </a:r>
            <a:r>
              <a:rPr lang="en-US" sz="1800" b="1" i="1" dirty="0">
                <a:solidFill>
                  <a:schemeClr val="accent2"/>
                </a:solidFill>
              </a:rPr>
              <a:t>eens</a:t>
            </a:r>
            <a:r>
              <a:rPr lang="en-US" sz="1800" i="1" dirty="0">
                <a:solidFill>
                  <a:schemeClr val="tx1"/>
                </a:solidFill>
              </a:rPr>
              <a:t>!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868680" y="4160520"/>
            <a:ext cx="5852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« Comment il s’appelle, </a:t>
            </a:r>
            <a:r>
              <a:rPr lang="en-US" sz="1800" b="1" dirty="0">
                <a:solidFill>
                  <a:schemeClr val="tx1"/>
                </a:solidFill>
              </a:rPr>
              <a:t>déjà</a:t>
            </a:r>
            <a:r>
              <a:rPr lang="en-US" sz="1800" dirty="0">
                <a:solidFill>
                  <a:schemeClr val="tx1"/>
                </a:solidFill>
              </a:rPr>
              <a:t> ? »</a:t>
            </a:r>
            <a:endParaRPr lang="en-US" sz="1800" dirty="0"/>
          </a:p>
        </p:txBody>
      </p:sp>
      <p:sp>
        <p:nvSpPr>
          <p:cNvPr id="20" name="Shape 17"/>
          <p:cNvSpPr/>
          <p:nvPr/>
        </p:nvSpPr>
        <p:spPr>
          <a:xfrm>
            <a:off x="6766560" y="4462272"/>
            <a:ext cx="50292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1" name="Shape 18"/>
          <p:cNvSpPr/>
          <p:nvPr/>
        </p:nvSpPr>
        <p:spPr>
          <a:xfrm>
            <a:off x="7315200" y="4187952"/>
            <a:ext cx="4160520" cy="548640"/>
          </a:xfrm>
          <a:prstGeom prst="roundRect">
            <a:avLst>
              <a:gd name="adj" fmla="val 16667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452360" y="4187952"/>
            <a:ext cx="3977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Hoe heet hij </a:t>
            </a:r>
            <a:r>
              <a:rPr lang="en-US" sz="1800" b="1" i="1" dirty="0">
                <a:solidFill>
                  <a:schemeClr val="accent4"/>
                </a:solidFill>
              </a:rPr>
              <a:t>ook alweer</a:t>
            </a:r>
            <a:r>
              <a:rPr lang="en-US" sz="1800" i="1" dirty="0">
                <a:solidFill>
                  <a:schemeClr val="tx1"/>
                </a:solidFill>
              </a:rPr>
              <a:t>?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868680" y="4846320"/>
            <a:ext cx="5852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« C’est cher, </a:t>
            </a:r>
            <a:r>
              <a:rPr lang="en-US" sz="1800" b="1" dirty="0">
                <a:solidFill>
                  <a:schemeClr val="tx1"/>
                </a:solidFill>
              </a:rPr>
              <a:t>quand même</a:t>
            </a:r>
            <a:r>
              <a:rPr lang="en-US" sz="1800" dirty="0">
                <a:solidFill>
                  <a:schemeClr val="tx1"/>
                </a:solidFill>
              </a:rPr>
              <a:t>. »</a:t>
            </a:r>
            <a:endParaRPr lang="en-US" sz="1800" dirty="0"/>
          </a:p>
        </p:txBody>
      </p:sp>
      <p:sp>
        <p:nvSpPr>
          <p:cNvPr id="24" name="Shape 21"/>
          <p:cNvSpPr/>
          <p:nvPr/>
        </p:nvSpPr>
        <p:spPr>
          <a:xfrm>
            <a:off x="6766560" y="5148072"/>
            <a:ext cx="50292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7315200" y="4873752"/>
            <a:ext cx="4160520" cy="548640"/>
          </a:xfrm>
          <a:prstGeom prst="roundRect">
            <a:avLst>
              <a:gd name="adj" fmla="val 16667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452360" y="4873752"/>
            <a:ext cx="3977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Het is </a:t>
            </a:r>
            <a:r>
              <a:rPr lang="en-US" sz="1800" b="1" i="1" dirty="0">
                <a:solidFill>
                  <a:schemeClr val="accent3"/>
                </a:solidFill>
              </a:rPr>
              <a:t>wel</a:t>
            </a:r>
            <a:r>
              <a:rPr lang="en-US" sz="1800" i="1" dirty="0">
                <a:solidFill>
                  <a:schemeClr val="tx1"/>
                </a:solidFill>
              </a:rPr>
              <a:t> duur.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548640" y="5760720"/>
            <a:ext cx="11091672" cy="530352"/>
          </a:xfrm>
          <a:prstGeom prst="roundRect">
            <a:avLst>
              <a:gd name="adj" fmla="val 1379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2960" y="5760720"/>
            <a:ext cx="10607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On ne traduit pas le mot : on traduit l’</a:t>
            </a:r>
            <a:r>
              <a:rPr lang="en-US" sz="1800" b="1" dirty="0">
                <a:solidFill>
                  <a:schemeClr val="bg1"/>
                </a:solidFill>
              </a:rPr>
              <a:t>intention</a:t>
            </a:r>
            <a:r>
              <a:rPr lang="en-US" sz="1800" dirty="0">
                <a:solidFill>
                  <a:schemeClr val="bg1"/>
                </a:solidFill>
              </a:rPr>
              <a:t>. Écoutez la mélodie de la phrase.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La place des particules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763341" cy="658368"/>
          </a:xfrm>
          <a:prstGeom prst="roundRect">
            <a:avLst>
              <a:gd name="adj" fmla="val 11111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600200"/>
            <a:ext cx="763341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Kun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1403421" y="1600200"/>
            <a:ext cx="606430" cy="658368"/>
          </a:xfrm>
          <a:prstGeom prst="roundRect">
            <a:avLst>
              <a:gd name="adj" fmla="val 12063"/>
            </a:avLst>
          </a:prstGeom>
          <a:solidFill>
            <a:srgbClr val="EAF1F8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403421" y="1600200"/>
            <a:ext cx="60643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je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2101291" y="1600200"/>
            <a:ext cx="606430" cy="658368"/>
          </a:xfrm>
          <a:prstGeom prst="roundRect">
            <a:avLst>
              <a:gd name="adj" fmla="val 12063"/>
            </a:avLst>
          </a:prstGeom>
          <a:solidFill>
            <a:srgbClr val="EAF1F8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101291" y="1600200"/>
            <a:ext cx="60643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me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2799161" y="1600200"/>
            <a:ext cx="920252" cy="658368"/>
          </a:xfrm>
          <a:prstGeom prst="roundRect">
            <a:avLst>
              <a:gd name="adj" fmla="val 11111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799161" y="1600200"/>
            <a:ext cx="9202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even</a:t>
            </a:r>
            <a:endParaRPr lang="en-US" sz="2200" dirty="0"/>
          </a:p>
        </p:txBody>
      </p:sp>
      <p:sp>
        <p:nvSpPr>
          <p:cNvPr id="13" name="Shape 10"/>
          <p:cNvSpPr/>
          <p:nvPr/>
        </p:nvSpPr>
        <p:spPr>
          <a:xfrm>
            <a:off x="3810853" y="1600200"/>
            <a:ext cx="1390985" cy="658368"/>
          </a:xfrm>
          <a:prstGeom prst="roundRect">
            <a:avLst>
              <a:gd name="adj" fmla="val 11111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810853" y="1600200"/>
            <a:ext cx="139098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helpen?</a:t>
            </a:r>
            <a:endParaRPr lang="en-US" sz="2200" dirty="0"/>
          </a:p>
        </p:txBody>
      </p:sp>
      <p:sp>
        <p:nvSpPr>
          <p:cNvPr id="15" name="Shape 12"/>
          <p:cNvSpPr/>
          <p:nvPr/>
        </p:nvSpPr>
        <p:spPr>
          <a:xfrm>
            <a:off x="548640" y="2441448"/>
            <a:ext cx="763341" cy="658368"/>
          </a:xfrm>
          <a:prstGeom prst="roundRect">
            <a:avLst>
              <a:gd name="adj" fmla="val 11111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48640" y="2441448"/>
            <a:ext cx="763341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Kom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1403421" y="2441448"/>
            <a:ext cx="920252" cy="658368"/>
          </a:xfrm>
          <a:prstGeom prst="roundRect">
            <a:avLst>
              <a:gd name="adj" fmla="val 11111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403421" y="2441448"/>
            <a:ext cx="9202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maar</a:t>
            </a:r>
            <a:endParaRPr lang="en-US" sz="2200" dirty="0"/>
          </a:p>
        </p:txBody>
      </p:sp>
      <p:sp>
        <p:nvSpPr>
          <p:cNvPr id="19" name="Shape 16"/>
          <p:cNvSpPr/>
          <p:nvPr/>
        </p:nvSpPr>
        <p:spPr>
          <a:xfrm>
            <a:off x="2415113" y="2441448"/>
            <a:ext cx="1390985" cy="658368"/>
          </a:xfrm>
          <a:prstGeom prst="roundRect">
            <a:avLst>
              <a:gd name="adj" fmla="val 1111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415113" y="2441448"/>
            <a:ext cx="139098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binnen!</a:t>
            </a:r>
            <a:endParaRPr lang="en-US" sz="2200" dirty="0"/>
          </a:p>
        </p:txBody>
      </p:sp>
      <p:sp>
        <p:nvSpPr>
          <p:cNvPr id="21" name="Shape 18"/>
          <p:cNvSpPr/>
          <p:nvPr/>
        </p:nvSpPr>
        <p:spPr>
          <a:xfrm>
            <a:off x="548640" y="3282696"/>
            <a:ext cx="606430" cy="658368"/>
          </a:xfrm>
          <a:prstGeom prst="roundRect">
            <a:avLst>
              <a:gd name="adj" fmla="val 1206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48640" y="3282696"/>
            <a:ext cx="60643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Ik</a:t>
            </a:r>
            <a:endParaRPr lang="en-US" sz="2200" dirty="0"/>
          </a:p>
        </p:txBody>
      </p:sp>
      <p:sp>
        <p:nvSpPr>
          <p:cNvPr id="23" name="Shape 20"/>
          <p:cNvSpPr/>
          <p:nvPr/>
        </p:nvSpPr>
        <p:spPr>
          <a:xfrm>
            <a:off x="1246510" y="3282696"/>
            <a:ext cx="763341" cy="658368"/>
          </a:xfrm>
          <a:prstGeom prst="roundRect">
            <a:avLst>
              <a:gd name="adj" fmla="val 11111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1246510" y="3282696"/>
            <a:ext cx="763341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kom</a:t>
            </a:r>
            <a:endParaRPr lang="en-US" sz="2200" dirty="0"/>
          </a:p>
        </p:txBody>
      </p:sp>
      <p:sp>
        <p:nvSpPr>
          <p:cNvPr id="25" name="Shape 22"/>
          <p:cNvSpPr/>
          <p:nvPr/>
        </p:nvSpPr>
        <p:spPr>
          <a:xfrm>
            <a:off x="2101291" y="3282696"/>
            <a:ext cx="1234074" cy="658368"/>
          </a:xfrm>
          <a:prstGeom prst="roundRect">
            <a:avLst>
              <a:gd name="adj" fmla="val 1111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2101291" y="3282696"/>
            <a:ext cx="123407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morgen</a:t>
            </a:r>
            <a:endParaRPr lang="en-US" sz="2200" dirty="0"/>
          </a:p>
        </p:txBody>
      </p:sp>
      <p:sp>
        <p:nvSpPr>
          <p:cNvPr id="27" name="Shape 24"/>
          <p:cNvSpPr/>
          <p:nvPr/>
        </p:nvSpPr>
        <p:spPr>
          <a:xfrm>
            <a:off x="3426805" y="3282696"/>
            <a:ext cx="920252" cy="658368"/>
          </a:xfrm>
          <a:prstGeom prst="roundRect">
            <a:avLst>
              <a:gd name="adj" fmla="val 11111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426805" y="3282696"/>
            <a:ext cx="9202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wel.</a:t>
            </a:r>
            <a:endParaRPr lang="en-US" sz="2200" dirty="0"/>
          </a:p>
        </p:txBody>
      </p:sp>
      <p:sp>
        <p:nvSpPr>
          <p:cNvPr id="29" name="Shape 26"/>
          <p:cNvSpPr/>
          <p:nvPr/>
        </p:nvSpPr>
        <p:spPr>
          <a:xfrm>
            <a:off x="548640" y="4123944"/>
            <a:ext cx="763341" cy="658368"/>
          </a:xfrm>
          <a:prstGeom prst="roundRect">
            <a:avLst>
              <a:gd name="adj" fmla="val 11111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548640" y="4123944"/>
            <a:ext cx="763341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Heb</a:t>
            </a:r>
            <a:endParaRPr lang="en-US" sz="2200" dirty="0"/>
          </a:p>
        </p:txBody>
      </p:sp>
      <p:sp>
        <p:nvSpPr>
          <p:cNvPr id="31" name="Shape 28"/>
          <p:cNvSpPr/>
          <p:nvPr/>
        </p:nvSpPr>
        <p:spPr>
          <a:xfrm>
            <a:off x="1403421" y="4123944"/>
            <a:ext cx="606430" cy="658368"/>
          </a:xfrm>
          <a:prstGeom prst="roundRect">
            <a:avLst>
              <a:gd name="adj" fmla="val 12063"/>
            </a:avLst>
          </a:prstGeom>
          <a:solidFill>
            <a:srgbClr val="EAF1F8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403421" y="4123944"/>
            <a:ext cx="60643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je</a:t>
            </a:r>
            <a:endParaRPr lang="en-US" sz="2200" dirty="0"/>
          </a:p>
        </p:txBody>
      </p:sp>
      <p:sp>
        <p:nvSpPr>
          <p:cNvPr id="33" name="Shape 30"/>
          <p:cNvSpPr/>
          <p:nvPr/>
        </p:nvSpPr>
        <p:spPr>
          <a:xfrm>
            <a:off x="2101291" y="4123944"/>
            <a:ext cx="920252" cy="658368"/>
          </a:xfrm>
          <a:prstGeom prst="roundRect">
            <a:avLst>
              <a:gd name="adj" fmla="val 11111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2101291" y="4123944"/>
            <a:ext cx="9202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soms</a:t>
            </a:r>
            <a:endParaRPr lang="en-US" sz="2200" dirty="0"/>
          </a:p>
        </p:txBody>
      </p:sp>
      <p:sp>
        <p:nvSpPr>
          <p:cNvPr id="35" name="Shape 32"/>
          <p:cNvSpPr/>
          <p:nvPr/>
        </p:nvSpPr>
        <p:spPr>
          <a:xfrm>
            <a:off x="3112983" y="4123944"/>
            <a:ext cx="1547896" cy="658368"/>
          </a:xfrm>
          <a:prstGeom prst="roundRect">
            <a:avLst>
              <a:gd name="adj" fmla="val 1111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3112983" y="4123944"/>
            <a:ext cx="15478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een pen?</a:t>
            </a:r>
            <a:endParaRPr lang="en-US" sz="2200" dirty="0"/>
          </a:p>
        </p:txBody>
      </p:sp>
      <p:sp>
        <p:nvSpPr>
          <p:cNvPr id="37" name="Shape 34"/>
          <p:cNvSpPr/>
          <p:nvPr/>
        </p:nvSpPr>
        <p:spPr>
          <a:xfrm>
            <a:off x="6949440" y="1600200"/>
            <a:ext cx="4690872" cy="182880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7132320" y="1764792"/>
            <a:ext cx="566928" cy="56692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9" name="Image 0" descr="MapSign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8383" y="1900855"/>
            <a:ext cx="294803" cy="294803"/>
          </a:xfrm>
          <a:prstGeom prst="rect">
            <a:avLst/>
          </a:prstGeom>
        </p:spPr>
      </p:pic>
      <p:sp>
        <p:nvSpPr>
          <p:cNvPr id="40" name="Text 36"/>
          <p:cNvSpPr txBox="1"/>
          <p:nvPr/>
        </p:nvSpPr>
        <p:spPr>
          <a:xfrm>
            <a:off x="7845552" y="1746504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La règle</a:t>
            </a:r>
            <a:endParaRPr lang="en-US" sz="1900" dirty="0"/>
          </a:p>
        </p:txBody>
      </p:sp>
      <p:sp>
        <p:nvSpPr>
          <p:cNvPr id="41" name="Text 37"/>
          <p:cNvSpPr txBox="1"/>
          <p:nvPr/>
        </p:nvSpPr>
        <p:spPr>
          <a:xfrm>
            <a:off x="7150608" y="2468880"/>
            <a:ext cx="4288536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après le verbe, les petits pronoms (</a:t>
            </a:r>
            <a:r>
              <a:rPr lang="en-US" sz="1500" i="1" dirty="0">
                <a:solidFill>
                  <a:schemeClr val="tx1"/>
                </a:solidFill>
              </a:rPr>
              <a:t>me, je</a:t>
            </a:r>
            <a:r>
              <a:rPr lang="en-US" sz="1500" dirty="0">
                <a:solidFill>
                  <a:schemeClr val="tx1"/>
                </a:solidFill>
              </a:rPr>
              <a:t>) et ce qui est connu (</a:t>
            </a:r>
            <a:r>
              <a:rPr lang="en-US" sz="1500" i="1" dirty="0">
                <a:solidFill>
                  <a:schemeClr val="tx1"/>
                </a:solidFill>
              </a:rPr>
              <a:t>morgen, je pen</a:t>
            </a:r>
            <a:r>
              <a:rPr lang="en-US" sz="1500" dirty="0">
                <a:solidFill>
                  <a:schemeClr val="tx1"/>
                </a:solidFill>
              </a:rPr>
              <a:t>) ; avant l’info nouvelle (</a:t>
            </a:r>
            <a:r>
              <a:rPr lang="en-US" sz="1500" i="1" dirty="0">
                <a:solidFill>
                  <a:schemeClr val="tx1"/>
                </a:solidFill>
              </a:rPr>
              <a:t>een pen</a:t>
            </a:r>
            <a:r>
              <a:rPr lang="en-US" sz="1500" dirty="0">
                <a:solidFill>
                  <a:schemeClr val="tx1"/>
                </a:solidFill>
              </a:rPr>
              <a:t>) et le 2ᵉ verbe</a:t>
            </a:r>
            <a:endParaRPr lang="en-US" sz="1500" dirty="0"/>
          </a:p>
        </p:txBody>
      </p:sp>
      <p:sp>
        <p:nvSpPr>
          <p:cNvPr id="42" name="Text 38"/>
          <p:cNvSpPr txBox="1"/>
          <p:nvPr/>
        </p:nvSpPr>
        <p:spPr>
          <a:xfrm>
            <a:off x="6949440" y="3611880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COMBINAISONS FIXES</a:t>
            </a:r>
            <a:endParaRPr lang="en-US" sz="1200" dirty="0"/>
          </a:p>
        </p:txBody>
      </p:sp>
      <p:sp>
        <p:nvSpPr>
          <p:cNvPr id="43" name="Shape 39"/>
          <p:cNvSpPr/>
          <p:nvPr/>
        </p:nvSpPr>
        <p:spPr>
          <a:xfrm>
            <a:off x="6949440" y="3977640"/>
            <a:ext cx="2240280" cy="45720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6949440" y="397764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accent2"/>
                </a:solidFill>
              </a:rPr>
              <a:t>maar even</a:t>
            </a:r>
            <a:endParaRPr lang="en-US" sz="1700" dirty="0"/>
          </a:p>
        </p:txBody>
      </p:sp>
      <p:sp>
        <p:nvSpPr>
          <p:cNvPr id="45" name="Shape 41"/>
          <p:cNvSpPr/>
          <p:nvPr/>
        </p:nvSpPr>
        <p:spPr>
          <a:xfrm>
            <a:off x="9326880" y="3977640"/>
            <a:ext cx="2240280" cy="45720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9326880" y="397764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accent2"/>
                </a:solidFill>
              </a:rPr>
              <a:t>eens even</a:t>
            </a:r>
            <a:endParaRPr lang="en-US" sz="1700" dirty="0"/>
          </a:p>
        </p:txBody>
      </p:sp>
      <p:sp>
        <p:nvSpPr>
          <p:cNvPr id="47" name="Shape 43"/>
          <p:cNvSpPr/>
          <p:nvPr/>
        </p:nvSpPr>
        <p:spPr>
          <a:xfrm>
            <a:off x="6949440" y="4544568"/>
            <a:ext cx="2240280" cy="45720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48" name="Text 44"/>
          <p:cNvSpPr txBox="1"/>
          <p:nvPr/>
        </p:nvSpPr>
        <p:spPr>
          <a:xfrm>
            <a:off x="6949440" y="4544568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accent2"/>
                </a:solidFill>
              </a:rPr>
              <a:t>toch even</a:t>
            </a:r>
            <a:endParaRPr lang="en-US" sz="1700" dirty="0"/>
          </a:p>
        </p:txBody>
      </p:sp>
      <p:sp>
        <p:nvSpPr>
          <p:cNvPr id="49" name="Shape 45"/>
          <p:cNvSpPr/>
          <p:nvPr/>
        </p:nvSpPr>
        <p:spPr>
          <a:xfrm>
            <a:off x="9326880" y="4544568"/>
            <a:ext cx="2240280" cy="45720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9326880" y="4544568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accent2"/>
                </a:solidFill>
              </a:rPr>
              <a:t>nou eens</a:t>
            </a:r>
            <a:endParaRPr lang="en-US" sz="1700" dirty="0"/>
          </a:p>
        </p:txBody>
      </p:sp>
      <p:sp>
        <p:nvSpPr>
          <p:cNvPr id="51" name="Shape 47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822960" y="544068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✗ </a:t>
            </a:r>
            <a:r>
              <a:rPr lang="en-US" sz="2000" i="1" strike="sngStrike" dirty="0">
                <a:solidFill>
                  <a:schemeClr val="accent6"/>
                </a:solidFill>
              </a:rPr>
              <a:t>Kun je even me helpen?</a:t>
            </a:r>
            <a:r>
              <a:rPr lang="en-US" sz="2000" dirty="0">
                <a:solidFill>
                  <a:schemeClr val="bg1"/>
                </a:solidFill>
              </a:rPr>
              <a:t> → ✓ </a:t>
            </a:r>
            <a:r>
              <a:rPr lang="en-US" sz="2000" i="1" dirty="0">
                <a:solidFill>
                  <a:schemeClr val="bg1"/>
                </a:solidFill>
              </a:rPr>
              <a:t>Kun je </a:t>
            </a:r>
            <a:r>
              <a:rPr lang="en-US" sz="2000" b="1" i="1" dirty="0">
                <a:solidFill>
                  <a:schemeClr val="bg1"/>
                </a:solidFill>
              </a:rPr>
              <a:t>me</a:t>
            </a:r>
            <a:r>
              <a:rPr lang="en-US" sz="2000" i="1" dirty="0">
                <a:solidFill>
                  <a:schemeClr val="bg1"/>
                </a:solidFill>
              </a:rPr>
              <a:t> </a:t>
            </a:r>
            <a:r>
              <a:rPr lang="en-US" sz="2000" b="1" i="1" dirty="0">
                <a:solidFill>
                  <a:schemeClr val="bg1"/>
                </a:solidFill>
              </a:rPr>
              <a:t>even</a:t>
            </a:r>
            <a:r>
              <a:rPr lang="en-US" sz="2000" i="1" dirty="0">
                <a:solidFill>
                  <a:schemeClr val="bg1"/>
                </a:solidFill>
              </a:rPr>
              <a:t> helpen?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le même mot, deux sens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413248" cy="1115568"/>
          </a:xfrm>
          <a:prstGeom prst="roundRect">
            <a:avLst>
              <a:gd name="adj" fmla="val 655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1005840" cy="1115568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554480"/>
            <a:ext cx="100584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soms</a:t>
            </a:r>
            <a:endParaRPr lang="en-US" sz="1900" dirty="0"/>
          </a:p>
        </p:txBody>
      </p:sp>
      <p:sp>
        <p:nvSpPr>
          <p:cNvPr id="8" name="Shape 5"/>
          <p:cNvSpPr/>
          <p:nvPr/>
        </p:nvSpPr>
        <p:spPr>
          <a:xfrm>
            <a:off x="1554480" y="1554480"/>
            <a:ext cx="2148840" cy="1115568"/>
          </a:xfrm>
          <a:prstGeom prst="roundRect">
            <a:avLst>
              <a:gd name="adj" fmla="val 6557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645920" y="1600200"/>
            <a:ext cx="19933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Ik ga soms naar Gent.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1645920" y="2258568"/>
            <a:ext cx="1993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parfois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3794760" y="1600200"/>
            <a:ext cx="2075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Heb je </a:t>
            </a:r>
            <a:r>
              <a:rPr lang="en-US" sz="1500" b="1" i="1" dirty="0">
                <a:solidFill>
                  <a:schemeClr val="accent4"/>
                </a:solidFill>
              </a:rPr>
              <a:t>soms</a:t>
            </a:r>
            <a:r>
              <a:rPr lang="en-US" sz="1500" i="1" dirty="0">
                <a:solidFill>
                  <a:schemeClr val="tx1"/>
                </a:solidFill>
              </a:rPr>
              <a:t> een pen?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3794760" y="2258568"/>
            <a:ext cx="20756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particule : par hasard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227064" y="1554480"/>
            <a:ext cx="5413248" cy="1115568"/>
          </a:xfrm>
          <a:prstGeom prst="roundRect">
            <a:avLst>
              <a:gd name="adj" fmla="val 655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227064" y="1554480"/>
            <a:ext cx="1005840" cy="1115568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227064" y="1554480"/>
            <a:ext cx="100584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even</a:t>
            </a:r>
            <a:endParaRPr lang="en-US" sz="1900" dirty="0"/>
          </a:p>
        </p:txBody>
      </p:sp>
      <p:sp>
        <p:nvSpPr>
          <p:cNvPr id="16" name="Shape 13"/>
          <p:cNvSpPr/>
          <p:nvPr/>
        </p:nvSpPr>
        <p:spPr>
          <a:xfrm>
            <a:off x="7232904" y="1554480"/>
            <a:ext cx="2148840" cy="1115568"/>
          </a:xfrm>
          <a:prstGeom prst="roundRect">
            <a:avLst>
              <a:gd name="adj" fmla="val 6557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24344" y="1600200"/>
            <a:ext cx="19933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Ze zijn even groot.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7324344" y="2258568"/>
            <a:ext cx="1993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aussi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9473184" y="1600200"/>
            <a:ext cx="2075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Wacht </a:t>
            </a:r>
            <a:r>
              <a:rPr lang="en-US" sz="1500" b="1" i="1" dirty="0">
                <a:solidFill>
                  <a:schemeClr val="accent2"/>
                </a:solidFill>
              </a:rPr>
              <a:t>even</a:t>
            </a:r>
            <a:r>
              <a:rPr lang="en-US" sz="1500" i="1" dirty="0">
                <a:solidFill>
                  <a:schemeClr val="tx1"/>
                </a:solidFill>
              </a:rPr>
              <a:t>!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9473184" y="2258568"/>
            <a:ext cx="20756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particule : un instant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548640" y="2798064"/>
            <a:ext cx="5413248" cy="1115568"/>
          </a:xfrm>
          <a:prstGeom prst="roundRect">
            <a:avLst>
              <a:gd name="adj" fmla="val 655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548640" y="2798064"/>
            <a:ext cx="1005840" cy="1115568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48640" y="2798064"/>
            <a:ext cx="100584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maar</a:t>
            </a:r>
            <a:endParaRPr lang="en-US" sz="1900" dirty="0"/>
          </a:p>
        </p:txBody>
      </p:sp>
      <p:sp>
        <p:nvSpPr>
          <p:cNvPr id="24" name="Shape 21"/>
          <p:cNvSpPr/>
          <p:nvPr/>
        </p:nvSpPr>
        <p:spPr>
          <a:xfrm>
            <a:off x="1554480" y="2798064"/>
            <a:ext cx="2148840" cy="1115568"/>
          </a:xfrm>
          <a:prstGeom prst="roundRect">
            <a:avLst>
              <a:gd name="adj" fmla="val 6557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645920" y="2843784"/>
            <a:ext cx="19933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Klein maar fijn.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1645920" y="3502152"/>
            <a:ext cx="1993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mais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3794760" y="2843784"/>
            <a:ext cx="2075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Kom </a:t>
            </a:r>
            <a:r>
              <a:rPr lang="en-US" sz="1500" b="1" i="1" dirty="0">
                <a:solidFill>
                  <a:schemeClr val="accent2"/>
                </a:solidFill>
              </a:rPr>
              <a:t>maar</a:t>
            </a:r>
            <a:r>
              <a:rPr lang="en-US" sz="1500" i="1" dirty="0">
                <a:solidFill>
                  <a:schemeClr val="tx1"/>
                </a:solidFill>
              </a:rPr>
              <a:t>!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3794760" y="3502152"/>
            <a:ext cx="20756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particule : vas-y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6227064" y="2798064"/>
            <a:ext cx="5413248" cy="1115568"/>
          </a:xfrm>
          <a:prstGeom prst="roundRect">
            <a:avLst>
              <a:gd name="adj" fmla="val 655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6227064" y="2798064"/>
            <a:ext cx="1005840" cy="1115568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227064" y="2798064"/>
            <a:ext cx="100584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eens</a:t>
            </a:r>
            <a:endParaRPr lang="en-US" sz="1900" dirty="0"/>
          </a:p>
        </p:txBody>
      </p:sp>
      <p:sp>
        <p:nvSpPr>
          <p:cNvPr id="32" name="Shape 29"/>
          <p:cNvSpPr/>
          <p:nvPr/>
        </p:nvSpPr>
        <p:spPr>
          <a:xfrm>
            <a:off x="7232904" y="2798064"/>
            <a:ext cx="2148840" cy="1115568"/>
          </a:xfrm>
          <a:prstGeom prst="roundRect">
            <a:avLst>
              <a:gd name="adj" fmla="val 6557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7324344" y="2843784"/>
            <a:ext cx="19933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Ik ben al eens in Japan geweest.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7324344" y="3502152"/>
            <a:ext cx="1993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une fois</a:t>
            </a:r>
            <a:endParaRPr lang="en-US" sz="1200" dirty="0"/>
          </a:p>
        </p:txBody>
      </p:sp>
      <p:sp>
        <p:nvSpPr>
          <p:cNvPr id="35" name="Text 32"/>
          <p:cNvSpPr txBox="1"/>
          <p:nvPr/>
        </p:nvSpPr>
        <p:spPr>
          <a:xfrm>
            <a:off x="9473184" y="2843784"/>
            <a:ext cx="2075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Kijk </a:t>
            </a:r>
            <a:r>
              <a:rPr lang="en-US" sz="1500" b="1" i="1" dirty="0">
                <a:solidFill>
                  <a:schemeClr val="accent2"/>
                </a:solidFill>
              </a:rPr>
              <a:t>eens</a:t>
            </a:r>
            <a:r>
              <a:rPr lang="en-US" sz="1500" i="1" dirty="0">
                <a:solidFill>
                  <a:schemeClr val="tx1"/>
                </a:solidFill>
              </a:rPr>
              <a:t>!</a:t>
            </a:r>
            <a:endParaRPr lang="en-US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9473184" y="3502152"/>
            <a:ext cx="20756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particule : donc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548640" y="4041648"/>
            <a:ext cx="5413248" cy="1115568"/>
          </a:xfrm>
          <a:prstGeom prst="roundRect">
            <a:avLst>
              <a:gd name="adj" fmla="val 655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548640" y="4041648"/>
            <a:ext cx="1005840" cy="1115568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548640" y="4041648"/>
            <a:ext cx="100584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toch</a:t>
            </a:r>
            <a:endParaRPr lang="en-US" sz="1900" dirty="0"/>
          </a:p>
        </p:txBody>
      </p:sp>
      <p:sp>
        <p:nvSpPr>
          <p:cNvPr id="40" name="Shape 37"/>
          <p:cNvSpPr/>
          <p:nvPr/>
        </p:nvSpPr>
        <p:spPr>
          <a:xfrm>
            <a:off x="1554480" y="4041648"/>
            <a:ext cx="2148840" cy="1115568"/>
          </a:xfrm>
          <a:prstGeom prst="roundRect">
            <a:avLst>
              <a:gd name="adj" fmla="val 6557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1645920" y="4087368"/>
            <a:ext cx="19933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Hij is moe en toch werkt hij.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1645920" y="4745736"/>
            <a:ext cx="1993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pourtant</a:t>
            </a:r>
            <a:endParaRPr lang="en-US" sz="1200" dirty="0"/>
          </a:p>
        </p:txBody>
      </p:sp>
      <p:sp>
        <p:nvSpPr>
          <p:cNvPr id="43" name="Text 40"/>
          <p:cNvSpPr txBox="1"/>
          <p:nvPr/>
        </p:nvSpPr>
        <p:spPr>
          <a:xfrm>
            <a:off x="3794760" y="4087368"/>
            <a:ext cx="2075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Je komt </a:t>
            </a:r>
            <a:r>
              <a:rPr lang="en-US" sz="1500" b="1" i="1" dirty="0">
                <a:solidFill>
                  <a:schemeClr val="accent1"/>
                </a:solidFill>
              </a:rPr>
              <a:t>toch</a:t>
            </a:r>
            <a:r>
              <a:rPr lang="en-US" sz="1500" i="1" dirty="0">
                <a:solidFill>
                  <a:schemeClr val="tx1"/>
                </a:solidFill>
              </a:rPr>
              <a:t>?</a:t>
            </a:r>
            <a:endParaRPr lang="en-US" sz="1500" dirty="0"/>
          </a:p>
        </p:txBody>
      </p:sp>
      <p:sp>
        <p:nvSpPr>
          <p:cNvPr id="44" name="Text 41"/>
          <p:cNvSpPr txBox="1"/>
          <p:nvPr/>
        </p:nvSpPr>
        <p:spPr>
          <a:xfrm>
            <a:off x="3794760" y="4745736"/>
            <a:ext cx="20756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particule : hein ?</a:t>
            </a:r>
            <a:endParaRPr lang="en-US" sz="1200" dirty="0"/>
          </a:p>
        </p:txBody>
      </p:sp>
      <p:sp>
        <p:nvSpPr>
          <p:cNvPr id="45" name="Shape 42"/>
          <p:cNvSpPr/>
          <p:nvPr/>
        </p:nvSpPr>
        <p:spPr>
          <a:xfrm>
            <a:off x="6227064" y="4041648"/>
            <a:ext cx="5413248" cy="1115568"/>
          </a:xfrm>
          <a:prstGeom prst="roundRect">
            <a:avLst>
              <a:gd name="adj" fmla="val 655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6227064" y="4041648"/>
            <a:ext cx="1005840" cy="1115568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6227064" y="4041648"/>
            <a:ext cx="100584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wel</a:t>
            </a:r>
            <a:endParaRPr lang="en-US" sz="1900" dirty="0"/>
          </a:p>
        </p:txBody>
      </p:sp>
      <p:sp>
        <p:nvSpPr>
          <p:cNvPr id="48" name="Shape 45"/>
          <p:cNvSpPr/>
          <p:nvPr/>
        </p:nvSpPr>
        <p:spPr>
          <a:xfrm>
            <a:off x="7232904" y="4041648"/>
            <a:ext cx="2148840" cy="1115568"/>
          </a:xfrm>
          <a:prstGeom prst="roundRect">
            <a:avLst>
              <a:gd name="adj" fmla="val 6557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7324344" y="4087368"/>
            <a:ext cx="19933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Ik werk niet, maar zij wel.</a:t>
            </a:r>
            <a:endParaRPr lang="en-US" sz="1400" dirty="0"/>
          </a:p>
        </p:txBody>
      </p:sp>
      <p:sp>
        <p:nvSpPr>
          <p:cNvPr id="50" name="Text 47"/>
          <p:cNvSpPr txBox="1"/>
          <p:nvPr/>
        </p:nvSpPr>
        <p:spPr>
          <a:xfrm>
            <a:off x="7324344" y="4745736"/>
            <a:ext cx="1993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≠ niet</a:t>
            </a:r>
            <a:endParaRPr lang="en-US" sz="1200" dirty="0"/>
          </a:p>
        </p:txBody>
      </p:sp>
      <p:sp>
        <p:nvSpPr>
          <p:cNvPr id="51" name="Text 48"/>
          <p:cNvSpPr txBox="1"/>
          <p:nvPr/>
        </p:nvSpPr>
        <p:spPr>
          <a:xfrm>
            <a:off x="9473184" y="4087368"/>
            <a:ext cx="2075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Dat lukt </a:t>
            </a:r>
            <a:r>
              <a:rPr lang="en-US" sz="1500" b="1" i="1" dirty="0">
                <a:solidFill>
                  <a:schemeClr val="accent3"/>
                </a:solidFill>
              </a:rPr>
              <a:t>wel</a:t>
            </a:r>
            <a:r>
              <a:rPr lang="en-US" sz="1500" i="1" dirty="0">
                <a:solidFill>
                  <a:schemeClr val="tx1"/>
                </a:solidFill>
              </a:rPr>
              <a:t>.</a:t>
            </a:r>
            <a:endParaRPr lang="en-US" sz="1500" dirty="0"/>
          </a:p>
        </p:txBody>
      </p:sp>
      <p:sp>
        <p:nvSpPr>
          <p:cNvPr id="52" name="Text 49"/>
          <p:cNvSpPr txBox="1"/>
          <p:nvPr/>
        </p:nvSpPr>
        <p:spPr>
          <a:xfrm>
            <a:off x="9473184" y="4745736"/>
            <a:ext cx="20756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particule : ça va aller</a:t>
            </a:r>
            <a:endParaRPr lang="en-US" sz="1200" dirty="0"/>
          </a:p>
        </p:txBody>
      </p:sp>
      <p:sp>
        <p:nvSpPr>
          <p:cNvPr id="53" name="Text 50"/>
          <p:cNvSpPr txBox="1"/>
          <p:nvPr/>
        </p:nvSpPr>
        <p:spPr>
          <a:xfrm>
            <a:off x="548640" y="53492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sens plein</a:t>
            </a:r>
            <a:r>
              <a:rPr lang="en-US" sz="1600" dirty="0">
                <a:solidFill>
                  <a:schemeClr val="tx2"/>
                </a:solidFill>
              </a:rPr>
              <a:t> (gris) · </a:t>
            </a:r>
            <a:r>
              <a:rPr lang="en-US" sz="1600" b="1" dirty="0">
                <a:solidFill>
                  <a:schemeClr val="tx2"/>
                </a:solidFill>
              </a:rPr>
              <a:t>particule</a:t>
            </a:r>
            <a:r>
              <a:rPr lang="en-US" sz="1600" dirty="0">
                <a:solidFill>
                  <a:schemeClr val="tx2"/>
                </a:solidFill>
              </a:rPr>
              <a:t> (couleur) — Astuce : si on peut enlever le mot sans perdre l’information, c’est une particule.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la fiche des particules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5413248" cy="658368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58368" y="1691640"/>
            <a:ext cx="1280160" cy="475488"/>
          </a:xfrm>
          <a:prstGeom prst="roundRect">
            <a:avLst>
              <a:gd name="adj" fmla="val 19231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58368" y="1691640"/>
            <a:ext cx="128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even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2029968" y="1600200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adoucir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3794760" y="1600200"/>
            <a:ext cx="21214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Kun je me even helpen?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48640" y="2350008"/>
            <a:ext cx="5413248" cy="658368"/>
          </a:xfrm>
          <a:prstGeom prst="roundRect">
            <a:avLst>
              <a:gd name="adj" fmla="val 11111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58368" y="2441448"/>
            <a:ext cx="1280160" cy="475488"/>
          </a:xfrm>
          <a:prstGeom prst="roundRect">
            <a:avLst>
              <a:gd name="adj" fmla="val 19231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58368" y="2441448"/>
            <a:ext cx="128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maar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2029968" y="2350008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inviter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3794760" y="2350008"/>
            <a:ext cx="21214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Kom maar binnen!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548640" y="3099816"/>
            <a:ext cx="5413248" cy="658368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58368" y="3191256"/>
            <a:ext cx="1280160" cy="475488"/>
          </a:xfrm>
          <a:prstGeom prst="roundRect">
            <a:avLst>
              <a:gd name="adj" fmla="val 19231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58368" y="3191256"/>
            <a:ext cx="128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eens</a:t>
            </a:r>
            <a:endParaRPr lang="en-US" sz="1700" dirty="0"/>
          </a:p>
        </p:txBody>
      </p:sp>
      <p:sp>
        <p:nvSpPr>
          <p:cNvPr id="18" name="Text 15"/>
          <p:cNvSpPr txBox="1"/>
          <p:nvPr/>
        </p:nvSpPr>
        <p:spPr>
          <a:xfrm>
            <a:off x="2029968" y="3099816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adoucir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3794760" y="3099816"/>
            <a:ext cx="21214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Kijk eens!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548640" y="3849624"/>
            <a:ext cx="5413248" cy="658368"/>
          </a:xfrm>
          <a:prstGeom prst="roundRect">
            <a:avLst>
              <a:gd name="adj" fmla="val 11111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58368" y="3941064"/>
            <a:ext cx="1280160" cy="475488"/>
          </a:xfrm>
          <a:prstGeom prst="roundRect">
            <a:avLst>
              <a:gd name="adj" fmla="val 19231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3941064"/>
            <a:ext cx="128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toch</a:t>
            </a:r>
            <a:endParaRPr lang="en-US" sz="1700" dirty="0"/>
          </a:p>
        </p:txBody>
      </p:sp>
      <p:sp>
        <p:nvSpPr>
          <p:cNvPr id="23" name="Text 20"/>
          <p:cNvSpPr txBox="1"/>
          <p:nvPr/>
        </p:nvSpPr>
        <p:spPr>
          <a:xfrm>
            <a:off x="2029968" y="3849624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rappeler, insister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3794760" y="3849624"/>
            <a:ext cx="21214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Je komt toch?</a:t>
            </a:r>
            <a:endParaRPr lang="en-US" sz="1500" dirty="0"/>
          </a:p>
        </p:txBody>
      </p:sp>
      <p:sp>
        <p:nvSpPr>
          <p:cNvPr id="25" name="Shape 22"/>
          <p:cNvSpPr/>
          <p:nvPr/>
        </p:nvSpPr>
        <p:spPr>
          <a:xfrm>
            <a:off x="548640" y="4599432"/>
            <a:ext cx="5413248" cy="658368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658368" y="4690872"/>
            <a:ext cx="1280160" cy="475488"/>
          </a:xfrm>
          <a:prstGeom prst="roundRect">
            <a:avLst>
              <a:gd name="adj" fmla="val 19231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58368" y="4690872"/>
            <a:ext cx="128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nou</a:t>
            </a:r>
            <a:endParaRPr lang="en-US" sz="1700" dirty="0"/>
          </a:p>
        </p:txBody>
      </p:sp>
      <p:sp>
        <p:nvSpPr>
          <p:cNvPr id="28" name="Text 25"/>
          <p:cNvSpPr txBox="1"/>
          <p:nvPr/>
        </p:nvSpPr>
        <p:spPr>
          <a:xfrm>
            <a:off x="2029968" y="4599432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surprise, impatience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3794760" y="4599432"/>
            <a:ext cx="21214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Kom nou!</a:t>
            </a:r>
            <a:endParaRPr lang="en-US" sz="1500" dirty="0"/>
          </a:p>
        </p:txBody>
      </p:sp>
      <p:sp>
        <p:nvSpPr>
          <p:cNvPr id="30" name="Shape 27"/>
          <p:cNvSpPr/>
          <p:nvPr/>
        </p:nvSpPr>
        <p:spPr>
          <a:xfrm>
            <a:off x="6227064" y="1600200"/>
            <a:ext cx="5413248" cy="658368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6336792" y="1691640"/>
            <a:ext cx="1280160" cy="475488"/>
          </a:xfrm>
          <a:prstGeom prst="roundRect">
            <a:avLst>
              <a:gd name="adj" fmla="val 19231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336792" y="1691640"/>
            <a:ext cx="128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wel</a:t>
            </a:r>
            <a:endParaRPr lang="en-US" sz="1700" dirty="0"/>
          </a:p>
        </p:txBody>
      </p:sp>
      <p:sp>
        <p:nvSpPr>
          <p:cNvPr id="33" name="Text 30"/>
          <p:cNvSpPr txBox="1"/>
          <p:nvPr/>
        </p:nvSpPr>
        <p:spPr>
          <a:xfrm>
            <a:off x="7708392" y="1600200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affirmer, rassurer</a:t>
            </a:r>
            <a:endParaRPr lang="en-US" sz="1300" dirty="0"/>
          </a:p>
        </p:txBody>
      </p:sp>
      <p:sp>
        <p:nvSpPr>
          <p:cNvPr id="34" name="Text 31"/>
          <p:cNvSpPr txBox="1"/>
          <p:nvPr/>
        </p:nvSpPr>
        <p:spPr>
          <a:xfrm>
            <a:off x="9473184" y="1600200"/>
            <a:ext cx="21214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Dat lukt wel.</a:t>
            </a:r>
            <a:endParaRPr lang="en-US" sz="1500" dirty="0"/>
          </a:p>
        </p:txBody>
      </p:sp>
      <p:sp>
        <p:nvSpPr>
          <p:cNvPr id="35" name="Shape 32"/>
          <p:cNvSpPr/>
          <p:nvPr/>
        </p:nvSpPr>
        <p:spPr>
          <a:xfrm>
            <a:off x="6227064" y="2350008"/>
            <a:ext cx="5413248" cy="658368"/>
          </a:xfrm>
          <a:prstGeom prst="roundRect">
            <a:avLst>
              <a:gd name="adj" fmla="val 11111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6336792" y="2441448"/>
            <a:ext cx="1280160" cy="475488"/>
          </a:xfrm>
          <a:prstGeom prst="roundRect">
            <a:avLst>
              <a:gd name="adj" fmla="val 19231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6336792" y="2441448"/>
            <a:ext cx="128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hoor</a:t>
            </a:r>
            <a:endParaRPr lang="en-US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7708392" y="2350008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rassurer</a:t>
            </a:r>
            <a:endParaRPr lang="en-US" sz="1300" dirty="0"/>
          </a:p>
        </p:txBody>
      </p:sp>
      <p:sp>
        <p:nvSpPr>
          <p:cNvPr id="39" name="Text 36"/>
          <p:cNvSpPr txBox="1"/>
          <p:nvPr/>
        </p:nvSpPr>
        <p:spPr>
          <a:xfrm>
            <a:off x="9473184" y="2350008"/>
            <a:ext cx="21214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Geen probleem, hoor!</a:t>
            </a:r>
            <a:endParaRPr lang="en-US" sz="1500" dirty="0"/>
          </a:p>
        </p:txBody>
      </p:sp>
      <p:sp>
        <p:nvSpPr>
          <p:cNvPr id="40" name="Shape 37"/>
          <p:cNvSpPr/>
          <p:nvPr/>
        </p:nvSpPr>
        <p:spPr>
          <a:xfrm>
            <a:off x="6227064" y="3099816"/>
            <a:ext cx="5413248" cy="658368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6336792" y="3191256"/>
            <a:ext cx="1280160" cy="475488"/>
          </a:xfrm>
          <a:prstGeom prst="roundRect">
            <a:avLst>
              <a:gd name="adj" fmla="val 19231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6336792" y="3191256"/>
            <a:ext cx="128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soms</a:t>
            </a:r>
            <a:endParaRPr lang="en-US" sz="1700" dirty="0"/>
          </a:p>
        </p:txBody>
      </p:sp>
      <p:sp>
        <p:nvSpPr>
          <p:cNvPr id="43" name="Text 40"/>
          <p:cNvSpPr txBox="1"/>
          <p:nvPr/>
        </p:nvSpPr>
        <p:spPr>
          <a:xfrm>
            <a:off x="7708392" y="3099816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par hasard</a:t>
            </a:r>
            <a:endParaRPr lang="en-US" sz="1300" dirty="0"/>
          </a:p>
        </p:txBody>
      </p:sp>
      <p:sp>
        <p:nvSpPr>
          <p:cNvPr id="44" name="Text 41"/>
          <p:cNvSpPr txBox="1"/>
          <p:nvPr/>
        </p:nvSpPr>
        <p:spPr>
          <a:xfrm>
            <a:off x="9473184" y="3099816"/>
            <a:ext cx="21214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Heb je soms een pen?</a:t>
            </a:r>
            <a:endParaRPr lang="en-US" sz="1500" dirty="0"/>
          </a:p>
        </p:txBody>
      </p:sp>
      <p:sp>
        <p:nvSpPr>
          <p:cNvPr id="45" name="Shape 42"/>
          <p:cNvSpPr/>
          <p:nvPr/>
        </p:nvSpPr>
        <p:spPr>
          <a:xfrm>
            <a:off x="6227064" y="3849624"/>
            <a:ext cx="5413248" cy="658368"/>
          </a:xfrm>
          <a:prstGeom prst="roundRect">
            <a:avLst>
              <a:gd name="adj" fmla="val 11111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6336792" y="3941064"/>
            <a:ext cx="1280160" cy="475488"/>
          </a:xfrm>
          <a:prstGeom prst="roundRect">
            <a:avLst>
              <a:gd name="adj" fmla="val 19231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6336792" y="3941064"/>
            <a:ext cx="128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dan</a:t>
            </a:r>
            <a:endParaRPr lang="en-US" sz="1700" dirty="0"/>
          </a:p>
        </p:txBody>
      </p:sp>
      <p:sp>
        <p:nvSpPr>
          <p:cNvPr id="48" name="Text 45"/>
          <p:cNvSpPr txBox="1"/>
          <p:nvPr/>
        </p:nvSpPr>
        <p:spPr>
          <a:xfrm>
            <a:off x="7708392" y="3849624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alors</a:t>
            </a:r>
            <a:endParaRPr lang="en-US" sz="1300" dirty="0"/>
          </a:p>
        </p:txBody>
      </p:sp>
      <p:sp>
        <p:nvSpPr>
          <p:cNvPr id="49" name="Text 46"/>
          <p:cNvSpPr txBox="1"/>
          <p:nvPr/>
        </p:nvSpPr>
        <p:spPr>
          <a:xfrm>
            <a:off x="9473184" y="3849624"/>
            <a:ext cx="21214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Wat wil je dan?</a:t>
            </a:r>
            <a:endParaRPr lang="en-US" sz="1500" dirty="0"/>
          </a:p>
        </p:txBody>
      </p:sp>
      <p:sp>
        <p:nvSpPr>
          <p:cNvPr id="50" name="Shape 47"/>
          <p:cNvSpPr/>
          <p:nvPr/>
        </p:nvSpPr>
        <p:spPr>
          <a:xfrm>
            <a:off x="6227064" y="4599432"/>
            <a:ext cx="5413248" cy="658368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6336792" y="4690872"/>
            <a:ext cx="1280160" cy="475488"/>
          </a:xfrm>
          <a:prstGeom prst="roundRect">
            <a:avLst>
              <a:gd name="adj" fmla="val 19231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6336792" y="4690872"/>
            <a:ext cx="128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ook alweer</a:t>
            </a:r>
            <a:endParaRPr lang="en-US" sz="1400" dirty="0"/>
          </a:p>
        </p:txBody>
      </p:sp>
      <p:sp>
        <p:nvSpPr>
          <p:cNvPr id="53" name="Text 50"/>
          <p:cNvSpPr txBox="1"/>
          <p:nvPr/>
        </p:nvSpPr>
        <p:spPr>
          <a:xfrm>
            <a:off x="7708392" y="4599432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déjà</a:t>
            </a:r>
            <a:endParaRPr lang="en-US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9473184" y="4599432"/>
            <a:ext cx="21214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Hoe heet hij ook alweer?</a:t>
            </a:r>
            <a:endParaRPr lang="en-US" sz="1500" dirty="0"/>
          </a:p>
        </p:txBody>
      </p:sp>
      <p:sp>
        <p:nvSpPr>
          <p:cNvPr id="55" name="Shape 52"/>
          <p:cNvSpPr/>
          <p:nvPr/>
        </p:nvSpPr>
        <p:spPr>
          <a:xfrm>
            <a:off x="548640" y="548640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Text 53"/>
          <p:cNvSpPr txBox="1"/>
          <p:nvPr/>
        </p:nvSpPr>
        <p:spPr>
          <a:xfrm>
            <a:off x="822960" y="548640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Place : après le verbe et les pronoms · </a:t>
            </a:r>
            <a:r>
              <a:rPr lang="en-US" sz="1700" i="1" dirty="0">
                <a:solidFill>
                  <a:schemeClr val="bg1"/>
                </a:solidFill>
              </a:rPr>
              <a:t>hoor</a:t>
            </a:r>
            <a:r>
              <a:rPr lang="en-US" sz="1700" dirty="0">
                <a:solidFill>
                  <a:schemeClr val="bg1"/>
                </a:solidFill>
              </a:rPr>
              <a:t> : à la fin ou après </a:t>
            </a:r>
            <a:r>
              <a:rPr lang="en-US" sz="1700" i="1" dirty="0">
                <a:solidFill>
                  <a:schemeClr val="bg1"/>
                </a:solidFill>
              </a:rPr>
              <a:t>ja / nee</a:t>
            </a:r>
            <a:r>
              <a:rPr lang="en-US" sz="1700" dirty="0">
                <a:solidFill>
                  <a:schemeClr val="bg1"/>
                </a:solidFill>
              </a:rPr>
              <a:t> · l’intonation compte !</a:t>
            </a:r>
            <a:endParaRPr lang="en-US" sz="1700" dirty="0"/>
          </a:p>
        </p:txBody>
      </p:sp>
      <p:pic>
        <p:nvPicPr>
          <p:cNvPr id="57" name="Image 0" descr="Came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Smi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313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Plus aimable !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296037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09753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09753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PuzzlePiec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486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09753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 bonne particule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09753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37210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50926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50926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Languag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659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50926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Traduisez l’intention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50926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778383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792099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792099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BalanceScal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92099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Particule ou mot plein ?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792099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54864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Searc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313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8580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détective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68580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296037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309753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309753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TheaterMask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9486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309753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théâtre des émotions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309753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42" name="Shape 33"/>
          <p:cNvSpPr/>
          <p:nvPr/>
        </p:nvSpPr>
        <p:spPr>
          <a:xfrm>
            <a:off x="537210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3" name="Shape 34"/>
          <p:cNvSpPr/>
          <p:nvPr/>
        </p:nvSpPr>
        <p:spPr>
          <a:xfrm>
            <a:off x="550926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550926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pic>
        <p:nvPicPr>
          <p:cNvPr id="45" name="Image 6" descr="Coffe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6590" y="4599432"/>
            <a:ext cx="384048" cy="384048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550926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 pause-café</a:t>
            </a:r>
            <a:endParaRPr lang="en-US" sz="1600" dirty="0"/>
          </a:p>
        </p:txBody>
      </p:sp>
      <p:sp>
        <p:nvSpPr>
          <p:cNvPr id="47" name="Text 37"/>
          <p:cNvSpPr txBox="1"/>
          <p:nvPr/>
        </p:nvSpPr>
        <p:spPr>
          <a:xfrm>
            <a:off x="550926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8" name="Image 7" descr="man teache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Plus aimable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Ajoutez une particule pour rendre la phrase plus aimable. Lisez avec le sourire !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pic>
        <p:nvPicPr>
          <p:cNvPr id="10" name="Image 1" descr="neutral fac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2067052"/>
            <a:ext cx="457200" cy="457200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1554480" y="1987296"/>
            <a:ext cx="3566160" cy="616712"/>
          </a:xfrm>
          <a:prstGeom prst="roundRect">
            <a:avLst>
              <a:gd name="adj" fmla="val 22241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1691640" y="1987296"/>
            <a:ext cx="33832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accent5"/>
                </a:solidFill>
              </a:rPr>
              <a:t>Wacht!</a:t>
            </a:r>
            <a:endParaRPr lang="en-US" sz="1900" dirty="0"/>
          </a:p>
        </p:txBody>
      </p:sp>
      <p:sp>
        <p:nvSpPr>
          <p:cNvPr id="13" name="Shape 8"/>
          <p:cNvSpPr/>
          <p:nvPr/>
        </p:nvSpPr>
        <p:spPr>
          <a:xfrm>
            <a:off x="5257800" y="2295652"/>
            <a:ext cx="1188720" cy="914"/>
          </a:xfrm>
          <a:prstGeom prst="line">
            <a:avLst/>
          </a:prstGeom>
          <a:noFill/>
          <a:ln w="381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4" name="Text 9"/>
          <p:cNvSpPr txBox="1"/>
          <p:nvPr/>
        </p:nvSpPr>
        <p:spPr>
          <a:xfrm>
            <a:off x="5212080" y="196646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+ particule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6537960" y="1987296"/>
            <a:ext cx="4480560" cy="616712"/>
          </a:xfrm>
          <a:prstGeom prst="roundRect">
            <a:avLst>
              <a:gd name="adj" fmla="val 2224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16" name="Image 2" descr="smiling face with smiling ey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37392" y="2067052"/>
            <a:ext cx="457200" cy="45720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pic>
        <p:nvPicPr>
          <p:cNvPr id="19" name="Image 3" descr="neutral fac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2793492"/>
            <a:ext cx="457200" cy="457200"/>
          </a:xfrm>
          <a:prstGeom prst="rect">
            <a:avLst/>
          </a:prstGeom>
        </p:spPr>
      </p:pic>
      <p:sp>
        <p:nvSpPr>
          <p:cNvPr id="20" name="Shape 13"/>
          <p:cNvSpPr/>
          <p:nvPr/>
        </p:nvSpPr>
        <p:spPr>
          <a:xfrm>
            <a:off x="1554480" y="2713736"/>
            <a:ext cx="3566160" cy="616712"/>
          </a:xfrm>
          <a:prstGeom prst="roundRect">
            <a:avLst>
              <a:gd name="adj" fmla="val 22241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4"/>
          <p:cNvSpPr txBox="1"/>
          <p:nvPr/>
        </p:nvSpPr>
        <p:spPr>
          <a:xfrm>
            <a:off x="1691640" y="2713736"/>
            <a:ext cx="33832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accent5"/>
                </a:solidFill>
              </a:rPr>
              <a:t>Kom binnen.</a:t>
            </a:r>
            <a:endParaRPr lang="en-US" sz="1900" dirty="0"/>
          </a:p>
        </p:txBody>
      </p:sp>
      <p:sp>
        <p:nvSpPr>
          <p:cNvPr id="22" name="Shape 15"/>
          <p:cNvSpPr/>
          <p:nvPr/>
        </p:nvSpPr>
        <p:spPr>
          <a:xfrm>
            <a:off x="5257800" y="3022092"/>
            <a:ext cx="1188720" cy="914"/>
          </a:xfrm>
          <a:prstGeom prst="line">
            <a:avLst/>
          </a:prstGeom>
          <a:noFill/>
          <a:ln w="381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3" name="Text 16"/>
          <p:cNvSpPr txBox="1"/>
          <p:nvPr/>
        </p:nvSpPr>
        <p:spPr>
          <a:xfrm>
            <a:off x="5212080" y="269290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+ particule</a:t>
            </a:r>
            <a:endParaRPr lang="en-US" sz="1100" dirty="0"/>
          </a:p>
        </p:txBody>
      </p:sp>
      <p:sp>
        <p:nvSpPr>
          <p:cNvPr id="24" name="Shape 17"/>
          <p:cNvSpPr/>
          <p:nvPr/>
        </p:nvSpPr>
        <p:spPr>
          <a:xfrm>
            <a:off x="6537960" y="2713736"/>
            <a:ext cx="4480560" cy="616712"/>
          </a:xfrm>
          <a:prstGeom prst="roundRect">
            <a:avLst>
              <a:gd name="adj" fmla="val 2224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25" name="Image 4" descr="smiling face with smiling eye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37392" y="2793492"/>
            <a:ext cx="457200" cy="457200"/>
          </a:xfrm>
          <a:prstGeom prst="rect">
            <a:avLst/>
          </a:prstGeom>
        </p:spPr>
      </p:pic>
      <p:sp>
        <p:nvSpPr>
          <p:cNvPr id="26" name="Shape 18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19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pic>
        <p:nvPicPr>
          <p:cNvPr id="28" name="Image 5" descr="neutral fac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5840" y="3519932"/>
            <a:ext cx="457200" cy="457200"/>
          </a:xfrm>
          <a:prstGeom prst="rect">
            <a:avLst/>
          </a:prstGeom>
        </p:spPr>
      </p:pic>
      <p:sp>
        <p:nvSpPr>
          <p:cNvPr id="29" name="Shape 20"/>
          <p:cNvSpPr/>
          <p:nvPr/>
        </p:nvSpPr>
        <p:spPr>
          <a:xfrm>
            <a:off x="1554480" y="3440176"/>
            <a:ext cx="3566160" cy="616712"/>
          </a:xfrm>
          <a:prstGeom prst="roundRect">
            <a:avLst>
              <a:gd name="adj" fmla="val 22241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1"/>
          <p:cNvSpPr txBox="1"/>
          <p:nvPr/>
        </p:nvSpPr>
        <p:spPr>
          <a:xfrm>
            <a:off x="1691640" y="3440176"/>
            <a:ext cx="33832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accent5"/>
                </a:solidFill>
              </a:rPr>
              <a:t>Kijk!</a:t>
            </a:r>
            <a:endParaRPr lang="en-US" sz="1900" dirty="0"/>
          </a:p>
        </p:txBody>
      </p:sp>
      <p:sp>
        <p:nvSpPr>
          <p:cNvPr id="31" name="Shape 22"/>
          <p:cNvSpPr/>
          <p:nvPr/>
        </p:nvSpPr>
        <p:spPr>
          <a:xfrm>
            <a:off x="5257800" y="3748532"/>
            <a:ext cx="1188720" cy="914"/>
          </a:xfrm>
          <a:prstGeom prst="line">
            <a:avLst/>
          </a:prstGeom>
          <a:noFill/>
          <a:ln w="381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32" name="Text 23"/>
          <p:cNvSpPr txBox="1"/>
          <p:nvPr/>
        </p:nvSpPr>
        <p:spPr>
          <a:xfrm>
            <a:off x="5212080" y="341934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+ particule</a:t>
            </a:r>
            <a:endParaRPr lang="en-US" sz="1100" dirty="0"/>
          </a:p>
        </p:txBody>
      </p:sp>
      <p:sp>
        <p:nvSpPr>
          <p:cNvPr id="33" name="Shape 24"/>
          <p:cNvSpPr/>
          <p:nvPr/>
        </p:nvSpPr>
        <p:spPr>
          <a:xfrm>
            <a:off x="6537960" y="3440176"/>
            <a:ext cx="4480560" cy="616712"/>
          </a:xfrm>
          <a:prstGeom prst="roundRect">
            <a:avLst>
              <a:gd name="adj" fmla="val 2224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34" name="Image 6" descr="smiling face with smiling eyes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137392" y="3519932"/>
            <a:ext cx="457200" cy="457200"/>
          </a:xfrm>
          <a:prstGeom prst="rect">
            <a:avLst/>
          </a:prstGeom>
        </p:spPr>
      </p:pic>
      <p:sp>
        <p:nvSpPr>
          <p:cNvPr id="35" name="Shape 25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26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pic>
        <p:nvPicPr>
          <p:cNvPr id="37" name="Image 7" descr="neutral face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" y="4246372"/>
            <a:ext cx="457200" cy="457200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1554480" y="4166616"/>
            <a:ext cx="3566160" cy="616712"/>
          </a:xfrm>
          <a:prstGeom prst="roundRect">
            <a:avLst>
              <a:gd name="adj" fmla="val 22241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28"/>
          <p:cNvSpPr txBox="1"/>
          <p:nvPr/>
        </p:nvSpPr>
        <p:spPr>
          <a:xfrm>
            <a:off x="1691640" y="4166616"/>
            <a:ext cx="33832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accent5"/>
                </a:solidFill>
              </a:rPr>
              <a:t>Heb je een pen?</a:t>
            </a:r>
            <a:endParaRPr lang="en-US" sz="1900" dirty="0"/>
          </a:p>
        </p:txBody>
      </p:sp>
      <p:sp>
        <p:nvSpPr>
          <p:cNvPr id="40" name="Shape 29"/>
          <p:cNvSpPr/>
          <p:nvPr/>
        </p:nvSpPr>
        <p:spPr>
          <a:xfrm>
            <a:off x="5257800" y="4474972"/>
            <a:ext cx="1188720" cy="914"/>
          </a:xfrm>
          <a:prstGeom prst="line">
            <a:avLst/>
          </a:prstGeom>
          <a:noFill/>
          <a:ln w="381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41" name="Text 30"/>
          <p:cNvSpPr txBox="1"/>
          <p:nvPr/>
        </p:nvSpPr>
        <p:spPr>
          <a:xfrm>
            <a:off x="5212080" y="414578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+ particule</a:t>
            </a:r>
            <a:endParaRPr lang="en-US" sz="1100" dirty="0"/>
          </a:p>
        </p:txBody>
      </p:sp>
      <p:sp>
        <p:nvSpPr>
          <p:cNvPr id="42" name="Shape 31"/>
          <p:cNvSpPr/>
          <p:nvPr/>
        </p:nvSpPr>
        <p:spPr>
          <a:xfrm>
            <a:off x="6537960" y="4166616"/>
            <a:ext cx="4480560" cy="616712"/>
          </a:xfrm>
          <a:prstGeom prst="roundRect">
            <a:avLst>
              <a:gd name="adj" fmla="val 2224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43" name="Image 8" descr="smiling face with smiling eyes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137392" y="4246372"/>
            <a:ext cx="457200" cy="457200"/>
          </a:xfrm>
          <a:prstGeom prst="rect">
            <a:avLst/>
          </a:prstGeom>
        </p:spPr>
      </p:pic>
      <p:sp>
        <p:nvSpPr>
          <p:cNvPr id="44" name="Shape 32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33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pic>
        <p:nvPicPr>
          <p:cNvPr id="46" name="Image 9" descr="neutral face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05840" y="4972812"/>
            <a:ext cx="457200" cy="457200"/>
          </a:xfrm>
          <a:prstGeom prst="rect">
            <a:avLst/>
          </a:prstGeom>
        </p:spPr>
      </p:pic>
      <p:sp>
        <p:nvSpPr>
          <p:cNvPr id="47" name="Shape 34"/>
          <p:cNvSpPr/>
          <p:nvPr/>
        </p:nvSpPr>
        <p:spPr>
          <a:xfrm>
            <a:off x="1554480" y="4893056"/>
            <a:ext cx="3566160" cy="616712"/>
          </a:xfrm>
          <a:prstGeom prst="roundRect">
            <a:avLst>
              <a:gd name="adj" fmla="val 22241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35"/>
          <p:cNvSpPr txBox="1"/>
          <p:nvPr/>
        </p:nvSpPr>
        <p:spPr>
          <a:xfrm>
            <a:off x="1691640" y="4893056"/>
            <a:ext cx="33832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accent5"/>
                </a:solidFill>
              </a:rPr>
              <a:t>Kun je me helpen?</a:t>
            </a:r>
            <a:endParaRPr lang="en-US" sz="1900" dirty="0"/>
          </a:p>
        </p:txBody>
      </p:sp>
      <p:sp>
        <p:nvSpPr>
          <p:cNvPr id="49" name="Shape 36"/>
          <p:cNvSpPr/>
          <p:nvPr/>
        </p:nvSpPr>
        <p:spPr>
          <a:xfrm>
            <a:off x="5257800" y="5201412"/>
            <a:ext cx="1188720" cy="914"/>
          </a:xfrm>
          <a:prstGeom prst="line">
            <a:avLst/>
          </a:prstGeom>
          <a:noFill/>
          <a:ln w="381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50" name="Text 37"/>
          <p:cNvSpPr txBox="1"/>
          <p:nvPr/>
        </p:nvSpPr>
        <p:spPr>
          <a:xfrm>
            <a:off x="5212080" y="487222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+ particule</a:t>
            </a:r>
            <a:endParaRPr lang="en-US" sz="1100" dirty="0"/>
          </a:p>
        </p:txBody>
      </p:sp>
      <p:sp>
        <p:nvSpPr>
          <p:cNvPr id="51" name="Shape 38"/>
          <p:cNvSpPr/>
          <p:nvPr/>
        </p:nvSpPr>
        <p:spPr>
          <a:xfrm>
            <a:off x="6537960" y="4893056"/>
            <a:ext cx="4480560" cy="616712"/>
          </a:xfrm>
          <a:prstGeom prst="roundRect">
            <a:avLst>
              <a:gd name="adj" fmla="val 2224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52" name="Image 10" descr="smiling face with smiling eyes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137392" y="4972812"/>
            <a:ext cx="457200" cy="457200"/>
          </a:xfrm>
          <a:prstGeom prst="rect">
            <a:avLst/>
          </a:prstGeom>
        </p:spPr>
      </p:pic>
      <p:sp>
        <p:nvSpPr>
          <p:cNvPr id="53" name="Shape 39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Text 40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pic>
        <p:nvPicPr>
          <p:cNvPr id="55" name="Image 11" descr="neutral face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05840" y="5699252"/>
            <a:ext cx="457200" cy="457200"/>
          </a:xfrm>
          <a:prstGeom prst="rect">
            <a:avLst/>
          </a:prstGeom>
        </p:spPr>
      </p:pic>
      <p:sp>
        <p:nvSpPr>
          <p:cNvPr id="56" name="Shape 41"/>
          <p:cNvSpPr/>
          <p:nvPr/>
        </p:nvSpPr>
        <p:spPr>
          <a:xfrm>
            <a:off x="1554480" y="5619496"/>
            <a:ext cx="3566160" cy="616712"/>
          </a:xfrm>
          <a:prstGeom prst="roundRect">
            <a:avLst>
              <a:gd name="adj" fmla="val 22241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7" name="Text 42"/>
          <p:cNvSpPr txBox="1"/>
          <p:nvPr/>
        </p:nvSpPr>
        <p:spPr>
          <a:xfrm>
            <a:off x="1691640" y="5619496"/>
            <a:ext cx="33832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accent5"/>
                </a:solidFill>
              </a:rPr>
              <a:t>Geen probleem.</a:t>
            </a:r>
            <a:endParaRPr lang="en-US" sz="1900" dirty="0"/>
          </a:p>
        </p:txBody>
      </p:sp>
      <p:sp>
        <p:nvSpPr>
          <p:cNvPr id="58" name="Shape 43"/>
          <p:cNvSpPr/>
          <p:nvPr/>
        </p:nvSpPr>
        <p:spPr>
          <a:xfrm>
            <a:off x="5257800" y="5927852"/>
            <a:ext cx="1188720" cy="914"/>
          </a:xfrm>
          <a:prstGeom prst="line">
            <a:avLst/>
          </a:prstGeom>
          <a:noFill/>
          <a:ln w="381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59" name="Text 44"/>
          <p:cNvSpPr txBox="1"/>
          <p:nvPr/>
        </p:nvSpPr>
        <p:spPr>
          <a:xfrm>
            <a:off x="5212080" y="559866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+ particule</a:t>
            </a:r>
            <a:endParaRPr lang="en-US" sz="1100" dirty="0"/>
          </a:p>
        </p:txBody>
      </p:sp>
      <p:sp>
        <p:nvSpPr>
          <p:cNvPr id="60" name="Shape 45"/>
          <p:cNvSpPr/>
          <p:nvPr/>
        </p:nvSpPr>
        <p:spPr>
          <a:xfrm>
            <a:off x="6537960" y="5619496"/>
            <a:ext cx="4480560" cy="616712"/>
          </a:xfrm>
          <a:prstGeom prst="roundRect">
            <a:avLst>
              <a:gd name="adj" fmla="val 2224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61" name="Image 12" descr="smiling face with smiling eyes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137392" y="5699252"/>
            <a:ext cx="457200" cy="4572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Plus aimable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Ajoutez une particule pour rendre la phrase plus aimable. Lisez avec le sourire !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pic>
        <p:nvPicPr>
          <p:cNvPr id="11" name="Image 1" descr="neutral fac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2067052"/>
            <a:ext cx="457200" cy="45720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1554480" y="1987296"/>
            <a:ext cx="3566160" cy="616712"/>
          </a:xfrm>
          <a:prstGeom prst="roundRect">
            <a:avLst>
              <a:gd name="adj" fmla="val 22241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1691640" y="1987296"/>
            <a:ext cx="33832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accent5"/>
                </a:solidFill>
              </a:rPr>
              <a:t>Wacht!</a:t>
            </a:r>
            <a:endParaRPr lang="en-US" sz="1900" dirty="0"/>
          </a:p>
        </p:txBody>
      </p:sp>
      <p:sp>
        <p:nvSpPr>
          <p:cNvPr id="14" name="Shape 9"/>
          <p:cNvSpPr/>
          <p:nvPr/>
        </p:nvSpPr>
        <p:spPr>
          <a:xfrm>
            <a:off x="5257800" y="2295652"/>
            <a:ext cx="1188720" cy="914"/>
          </a:xfrm>
          <a:prstGeom prst="line">
            <a:avLst/>
          </a:prstGeom>
          <a:noFill/>
          <a:ln w="381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5" name="Text 10"/>
          <p:cNvSpPr txBox="1"/>
          <p:nvPr/>
        </p:nvSpPr>
        <p:spPr>
          <a:xfrm>
            <a:off x="5212080" y="196646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+ particule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6537960" y="1987296"/>
            <a:ext cx="4480560" cy="616712"/>
          </a:xfrm>
          <a:prstGeom prst="roundRect">
            <a:avLst>
              <a:gd name="adj" fmla="val 22241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6675120" y="1987296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Wacht even!</a:t>
            </a:r>
            <a:endParaRPr lang="en-US" sz="2000" dirty="0"/>
          </a:p>
        </p:txBody>
      </p:sp>
      <p:pic>
        <p:nvPicPr>
          <p:cNvPr id="18" name="Image 2" descr="smiling face with smiling ey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37392" y="2067052"/>
            <a:ext cx="457200" cy="45720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pic>
        <p:nvPicPr>
          <p:cNvPr id="21" name="Image 3" descr="neutral fac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2793492"/>
            <a:ext cx="457200" cy="457200"/>
          </a:xfrm>
          <a:prstGeom prst="rect">
            <a:avLst/>
          </a:prstGeom>
        </p:spPr>
      </p:pic>
      <p:sp>
        <p:nvSpPr>
          <p:cNvPr id="22" name="Shape 15"/>
          <p:cNvSpPr/>
          <p:nvPr/>
        </p:nvSpPr>
        <p:spPr>
          <a:xfrm>
            <a:off x="1554480" y="2713736"/>
            <a:ext cx="3566160" cy="616712"/>
          </a:xfrm>
          <a:prstGeom prst="roundRect">
            <a:avLst>
              <a:gd name="adj" fmla="val 22241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6"/>
          <p:cNvSpPr txBox="1"/>
          <p:nvPr/>
        </p:nvSpPr>
        <p:spPr>
          <a:xfrm>
            <a:off x="1691640" y="2713736"/>
            <a:ext cx="33832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accent5"/>
                </a:solidFill>
              </a:rPr>
              <a:t>Kom binnen.</a:t>
            </a:r>
            <a:endParaRPr lang="en-US" sz="1900" dirty="0"/>
          </a:p>
        </p:txBody>
      </p:sp>
      <p:sp>
        <p:nvSpPr>
          <p:cNvPr id="24" name="Shape 17"/>
          <p:cNvSpPr/>
          <p:nvPr/>
        </p:nvSpPr>
        <p:spPr>
          <a:xfrm>
            <a:off x="5257800" y="3022092"/>
            <a:ext cx="1188720" cy="914"/>
          </a:xfrm>
          <a:prstGeom prst="line">
            <a:avLst/>
          </a:prstGeom>
          <a:noFill/>
          <a:ln w="381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5" name="Text 18"/>
          <p:cNvSpPr txBox="1"/>
          <p:nvPr/>
        </p:nvSpPr>
        <p:spPr>
          <a:xfrm>
            <a:off x="5212080" y="269290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+ particule</a:t>
            </a:r>
            <a:endParaRPr lang="en-US" sz="1100" dirty="0"/>
          </a:p>
        </p:txBody>
      </p:sp>
      <p:sp>
        <p:nvSpPr>
          <p:cNvPr id="26" name="Shape 19"/>
          <p:cNvSpPr/>
          <p:nvPr/>
        </p:nvSpPr>
        <p:spPr>
          <a:xfrm>
            <a:off x="6537960" y="2713736"/>
            <a:ext cx="4480560" cy="616712"/>
          </a:xfrm>
          <a:prstGeom prst="roundRect">
            <a:avLst>
              <a:gd name="adj" fmla="val 22241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7" name="Text 20"/>
          <p:cNvSpPr txBox="1"/>
          <p:nvPr/>
        </p:nvSpPr>
        <p:spPr>
          <a:xfrm>
            <a:off x="6675120" y="2713736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Kom maar binnen.</a:t>
            </a:r>
            <a:endParaRPr lang="en-US" sz="2000" dirty="0"/>
          </a:p>
        </p:txBody>
      </p:sp>
      <p:pic>
        <p:nvPicPr>
          <p:cNvPr id="28" name="Image 4" descr="smiling face with smiling eye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37392" y="2793492"/>
            <a:ext cx="457200" cy="457200"/>
          </a:xfrm>
          <a:prstGeom prst="rect">
            <a:avLst/>
          </a:prstGeom>
        </p:spPr>
      </p:pic>
      <p:sp>
        <p:nvSpPr>
          <p:cNvPr id="29" name="Shape 21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2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pic>
        <p:nvPicPr>
          <p:cNvPr id="31" name="Image 5" descr="neutral fac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5840" y="3519932"/>
            <a:ext cx="457200" cy="457200"/>
          </a:xfrm>
          <a:prstGeom prst="rect">
            <a:avLst/>
          </a:prstGeom>
        </p:spPr>
      </p:pic>
      <p:sp>
        <p:nvSpPr>
          <p:cNvPr id="32" name="Shape 23"/>
          <p:cNvSpPr/>
          <p:nvPr/>
        </p:nvSpPr>
        <p:spPr>
          <a:xfrm>
            <a:off x="1554480" y="3440176"/>
            <a:ext cx="3566160" cy="616712"/>
          </a:xfrm>
          <a:prstGeom prst="roundRect">
            <a:avLst>
              <a:gd name="adj" fmla="val 22241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4"/>
          <p:cNvSpPr txBox="1"/>
          <p:nvPr/>
        </p:nvSpPr>
        <p:spPr>
          <a:xfrm>
            <a:off x="1691640" y="3440176"/>
            <a:ext cx="33832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accent5"/>
                </a:solidFill>
              </a:rPr>
              <a:t>Kijk!</a:t>
            </a:r>
            <a:endParaRPr lang="en-US" sz="1900" dirty="0"/>
          </a:p>
        </p:txBody>
      </p:sp>
      <p:sp>
        <p:nvSpPr>
          <p:cNvPr id="34" name="Shape 25"/>
          <p:cNvSpPr/>
          <p:nvPr/>
        </p:nvSpPr>
        <p:spPr>
          <a:xfrm>
            <a:off x="5257800" y="3748532"/>
            <a:ext cx="1188720" cy="914"/>
          </a:xfrm>
          <a:prstGeom prst="line">
            <a:avLst/>
          </a:prstGeom>
          <a:noFill/>
          <a:ln w="381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35" name="Text 26"/>
          <p:cNvSpPr txBox="1"/>
          <p:nvPr/>
        </p:nvSpPr>
        <p:spPr>
          <a:xfrm>
            <a:off x="5212080" y="341934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+ particule</a:t>
            </a:r>
            <a:endParaRPr lang="en-US" sz="1100" dirty="0"/>
          </a:p>
        </p:txBody>
      </p:sp>
      <p:sp>
        <p:nvSpPr>
          <p:cNvPr id="36" name="Shape 27"/>
          <p:cNvSpPr/>
          <p:nvPr/>
        </p:nvSpPr>
        <p:spPr>
          <a:xfrm>
            <a:off x="6537960" y="3440176"/>
            <a:ext cx="4480560" cy="616712"/>
          </a:xfrm>
          <a:prstGeom prst="roundRect">
            <a:avLst>
              <a:gd name="adj" fmla="val 22241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7" name="Text 28"/>
          <p:cNvSpPr txBox="1"/>
          <p:nvPr/>
        </p:nvSpPr>
        <p:spPr>
          <a:xfrm>
            <a:off x="6675120" y="3440176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Kijk eens!</a:t>
            </a:r>
            <a:endParaRPr lang="en-US" sz="2000" dirty="0"/>
          </a:p>
        </p:txBody>
      </p:sp>
      <p:pic>
        <p:nvPicPr>
          <p:cNvPr id="38" name="Image 6" descr="smiling face with smiling eyes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137392" y="3519932"/>
            <a:ext cx="457200" cy="457200"/>
          </a:xfrm>
          <a:prstGeom prst="rect">
            <a:avLst/>
          </a:prstGeom>
        </p:spPr>
      </p:pic>
      <p:sp>
        <p:nvSpPr>
          <p:cNvPr id="39" name="Shape 29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0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pic>
        <p:nvPicPr>
          <p:cNvPr id="41" name="Image 7" descr="neutral face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" y="4246372"/>
            <a:ext cx="457200" cy="457200"/>
          </a:xfrm>
          <a:prstGeom prst="rect">
            <a:avLst/>
          </a:prstGeom>
        </p:spPr>
      </p:pic>
      <p:sp>
        <p:nvSpPr>
          <p:cNvPr id="42" name="Shape 31"/>
          <p:cNvSpPr/>
          <p:nvPr/>
        </p:nvSpPr>
        <p:spPr>
          <a:xfrm>
            <a:off x="1554480" y="4166616"/>
            <a:ext cx="3566160" cy="616712"/>
          </a:xfrm>
          <a:prstGeom prst="roundRect">
            <a:avLst>
              <a:gd name="adj" fmla="val 22241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Text 32"/>
          <p:cNvSpPr txBox="1"/>
          <p:nvPr/>
        </p:nvSpPr>
        <p:spPr>
          <a:xfrm>
            <a:off x="1691640" y="4166616"/>
            <a:ext cx="33832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accent5"/>
                </a:solidFill>
              </a:rPr>
              <a:t>Heb je een pen?</a:t>
            </a:r>
            <a:endParaRPr lang="en-US" sz="1900" dirty="0"/>
          </a:p>
        </p:txBody>
      </p:sp>
      <p:sp>
        <p:nvSpPr>
          <p:cNvPr id="44" name="Shape 33"/>
          <p:cNvSpPr/>
          <p:nvPr/>
        </p:nvSpPr>
        <p:spPr>
          <a:xfrm>
            <a:off x="5257800" y="4474972"/>
            <a:ext cx="1188720" cy="914"/>
          </a:xfrm>
          <a:prstGeom prst="line">
            <a:avLst/>
          </a:prstGeom>
          <a:noFill/>
          <a:ln w="381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45" name="Text 34"/>
          <p:cNvSpPr txBox="1"/>
          <p:nvPr/>
        </p:nvSpPr>
        <p:spPr>
          <a:xfrm>
            <a:off x="5212080" y="414578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+ particule</a:t>
            </a:r>
            <a:endParaRPr lang="en-US" sz="1100" dirty="0"/>
          </a:p>
        </p:txBody>
      </p:sp>
      <p:sp>
        <p:nvSpPr>
          <p:cNvPr id="46" name="Shape 35"/>
          <p:cNvSpPr/>
          <p:nvPr/>
        </p:nvSpPr>
        <p:spPr>
          <a:xfrm>
            <a:off x="6537960" y="4166616"/>
            <a:ext cx="4480560" cy="616712"/>
          </a:xfrm>
          <a:prstGeom prst="roundRect">
            <a:avLst>
              <a:gd name="adj" fmla="val 22241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7" name="Text 36"/>
          <p:cNvSpPr txBox="1"/>
          <p:nvPr/>
        </p:nvSpPr>
        <p:spPr>
          <a:xfrm>
            <a:off x="6675120" y="4166616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Heb je soms een pen?</a:t>
            </a:r>
            <a:endParaRPr lang="en-US" sz="2000" dirty="0"/>
          </a:p>
        </p:txBody>
      </p:sp>
      <p:pic>
        <p:nvPicPr>
          <p:cNvPr id="48" name="Image 8" descr="smiling face with smiling eyes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137392" y="4246372"/>
            <a:ext cx="457200" cy="457200"/>
          </a:xfrm>
          <a:prstGeom prst="rect">
            <a:avLst/>
          </a:prstGeom>
        </p:spPr>
      </p:pic>
      <p:sp>
        <p:nvSpPr>
          <p:cNvPr id="49" name="Shape 37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38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pic>
        <p:nvPicPr>
          <p:cNvPr id="51" name="Image 9" descr="neutral face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05840" y="4972812"/>
            <a:ext cx="457200" cy="457200"/>
          </a:xfrm>
          <a:prstGeom prst="rect">
            <a:avLst/>
          </a:prstGeom>
        </p:spPr>
      </p:pic>
      <p:sp>
        <p:nvSpPr>
          <p:cNvPr id="52" name="Shape 39"/>
          <p:cNvSpPr/>
          <p:nvPr/>
        </p:nvSpPr>
        <p:spPr>
          <a:xfrm>
            <a:off x="1554480" y="4893056"/>
            <a:ext cx="3566160" cy="616712"/>
          </a:xfrm>
          <a:prstGeom prst="roundRect">
            <a:avLst>
              <a:gd name="adj" fmla="val 22241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Text 40"/>
          <p:cNvSpPr txBox="1"/>
          <p:nvPr/>
        </p:nvSpPr>
        <p:spPr>
          <a:xfrm>
            <a:off x="1691640" y="4893056"/>
            <a:ext cx="33832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accent5"/>
                </a:solidFill>
              </a:rPr>
              <a:t>Kun je me helpen?</a:t>
            </a:r>
            <a:endParaRPr lang="en-US" sz="1900" dirty="0"/>
          </a:p>
        </p:txBody>
      </p:sp>
      <p:sp>
        <p:nvSpPr>
          <p:cNvPr id="54" name="Shape 41"/>
          <p:cNvSpPr/>
          <p:nvPr/>
        </p:nvSpPr>
        <p:spPr>
          <a:xfrm>
            <a:off x="5257800" y="5201412"/>
            <a:ext cx="1188720" cy="914"/>
          </a:xfrm>
          <a:prstGeom prst="line">
            <a:avLst/>
          </a:prstGeom>
          <a:noFill/>
          <a:ln w="381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55" name="Text 42"/>
          <p:cNvSpPr txBox="1"/>
          <p:nvPr/>
        </p:nvSpPr>
        <p:spPr>
          <a:xfrm>
            <a:off x="5212080" y="487222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+ particule</a:t>
            </a:r>
            <a:endParaRPr lang="en-US" sz="1100" dirty="0"/>
          </a:p>
        </p:txBody>
      </p:sp>
      <p:sp>
        <p:nvSpPr>
          <p:cNvPr id="56" name="Shape 43"/>
          <p:cNvSpPr/>
          <p:nvPr/>
        </p:nvSpPr>
        <p:spPr>
          <a:xfrm>
            <a:off x="6537960" y="4893056"/>
            <a:ext cx="4480560" cy="616712"/>
          </a:xfrm>
          <a:prstGeom prst="roundRect">
            <a:avLst>
              <a:gd name="adj" fmla="val 22241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7" name="Text 44"/>
          <p:cNvSpPr txBox="1"/>
          <p:nvPr/>
        </p:nvSpPr>
        <p:spPr>
          <a:xfrm>
            <a:off x="6675120" y="4893056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Kun je me even helpen?</a:t>
            </a:r>
            <a:endParaRPr lang="en-US" sz="2000" dirty="0"/>
          </a:p>
        </p:txBody>
      </p:sp>
      <p:pic>
        <p:nvPicPr>
          <p:cNvPr id="58" name="Image 10" descr="smiling face with smiling eyes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137392" y="4972812"/>
            <a:ext cx="457200" cy="457200"/>
          </a:xfrm>
          <a:prstGeom prst="rect">
            <a:avLst/>
          </a:prstGeom>
        </p:spPr>
      </p:pic>
      <p:sp>
        <p:nvSpPr>
          <p:cNvPr id="59" name="Shape 45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0" name="Text 46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pic>
        <p:nvPicPr>
          <p:cNvPr id="61" name="Image 11" descr="neutral face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05840" y="5699252"/>
            <a:ext cx="457200" cy="457200"/>
          </a:xfrm>
          <a:prstGeom prst="rect">
            <a:avLst/>
          </a:prstGeom>
        </p:spPr>
      </p:pic>
      <p:sp>
        <p:nvSpPr>
          <p:cNvPr id="62" name="Shape 47"/>
          <p:cNvSpPr/>
          <p:nvPr/>
        </p:nvSpPr>
        <p:spPr>
          <a:xfrm>
            <a:off x="1554480" y="5619496"/>
            <a:ext cx="3566160" cy="616712"/>
          </a:xfrm>
          <a:prstGeom prst="roundRect">
            <a:avLst>
              <a:gd name="adj" fmla="val 22241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Text 48"/>
          <p:cNvSpPr txBox="1"/>
          <p:nvPr/>
        </p:nvSpPr>
        <p:spPr>
          <a:xfrm>
            <a:off x="1691640" y="5619496"/>
            <a:ext cx="33832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accent5"/>
                </a:solidFill>
              </a:rPr>
              <a:t>Geen probleem.</a:t>
            </a:r>
            <a:endParaRPr lang="en-US" sz="1900" dirty="0"/>
          </a:p>
        </p:txBody>
      </p:sp>
      <p:sp>
        <p:nvSpPr>
          <p:cNvPr id="64" name="Shape 49"/>
          <p:cNvSpPr/>
          <p:nvPr/>
        </p:nvSpPr>
        <p:spPr>
          <a:xfrm>
            <a:off x="5257800" y="5927852"/>
            <a:ext cx="1188720" cy="914"/>
          </a:xfrm>
          <a:prstGeom prst="line">
            <a:avLst/>
          </a:prstGeom>
          <a:noFill/>
          <a:ln w="381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65" name="Text 50"/>
          <p:cNvSpPr txBox="1"/>
          <p:nvPr/>
        </p:nvSpPr>
        <p:spPr>
          <a:xfrm>
            <a:off x="5212080" y="559866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+ particule</a:t>
            </a:r>
            <a:endParaRPr lang="en-US" sz="1100" dirty="0"/>
          </a:p>
        </p:txBody>
      </p:sp>
      <p:sp>
        <p:nvSpPr>
          <p:cNvPr id="66" name="Shape 51"/>
          <p:cNvSpPr/>
          <p:nvPr/>
        </p:nvSpPr>
        <p:spPr>
          <a:xfrm>
            <a:off x="6537960" y="5619496"/>
            <a:ext cx="4480560" cy="616712"/>
          </a:xfrm>
          <a:prstGeom prst="roundRect">
            <a:avLst>
              <a:gd name="adj" fmla="val 22241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67" name="Text 52"/>
          <p:cNvSpPr txBox="1"/>
          <p:nvPr/>
        </p:nvSpPr>
        <p:spPr>
          <a:xfrm>
            <a:off x="6675120" y="5619496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Geen probleem, hoor!</a:t>
            </a:r>
            <a:endParaRPr lang="en-US" sz="2000" dirty="0"/>
          </a:p>
        </p:txBody>
      </p:sp>
      <p:pic>
        <p:nvPicPr>
          <p:cNvPr id="68" name="Image 12" descr="smiling face with smiling eyes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137392" y="5699252"/>
            <a:ext cx="457200" cy="4572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La bonne particule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une particule de la banque. Chaque particule sert une fois.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2023872"/>
            <a:ext cx="11091672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1  </a:t>
            </a:r>
            <a:r>
              <a:rPr lang="en-US" sz="1900" i="1" dirty="0">
                <a:solidFill>
                  <a:schemeClr val="tx1"/>
                </a:solidFill>
              </a:rPr>
              <a:t>Kom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binnen, de deur is open.</a:t>
            </a:r>
            <a:endParaRPr lang="en-US" sz="19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2  </a:t>
            </a:r>
            <a:r>
              <a:rPr lang="en-US" sz="1900" i="1" dirty="0">
                <a:solidFill>
                  <a:schemeClr val="tx1"/>
                </a:solidFill>
              </a:rPr>
              <a:t>Heb je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een oplader? Mijn gsm is bijna leeg.</a:t>
            </a:r>
            <a:endParaRPr lang="en-US" sz="19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3  </a:t>
            </a:r>
            <a:r>
              <a:rPr lang="en-US" sz="1900" i="1" dirty="0">
                <a:solidFill>
                  <a:schemeClr val="tx1"/>
                </a:solidFill>
              </a:rPr>
              <a:t>Je komt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morgen? We rekenen op je!</a:t>
            </a:r>
            <a:endParaRPr lang="en-US" sz="19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4  </a:t>
            </a:r>
            <a:r>
              <a:rPr lang="en-US" sz="1900" i="1" dirty="0">
                <a:solidFill>
                  <a:schemeClr val="tx1"/>
                </a:solidFill>
              </a:rPr>
              <a:t>Hoe heet die klant </a:t>
            </a:r>
            <a:r>
              <a:rPr lang="en-US" sz="1900" i="1" dirty="0">
                <a:solidFill>
                  <a:schemeClr val="accent5"/>
                </a:solidFill>
              </a:rPr>
              <a:t>………………</a:t>
            </a:r>
            <a:r>
              <a:rPr lang="en-US" sz="1900" i="1" dirty="0">
                <a:solidFill>
                  <a:schemeClr val="tx1"/>
                </a:solidFill>
              </a:rPr>
              <a:t>?</a:t>
            </a:r>
            <a:endParaRPr lang="en-US" sz="19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5  </a:t>
            </a:r>
            <a:r>
              <a:rPr lang="en-US" sz="1900" i="1" dirty="0">
                <a:solidFill>
                  <a:schemeClr val="tx1"/>
                </a:solidFill>
              </a:rPr>
              <a:t>Kun je me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helpen?</a:t>
            </a:r>
            <a:endParaRPr lang="en-US" sz="19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6  </a:t>
            </a:r>
            <a:r>
              <a:rPr lang="en-US" sz="1900" i="1" dirty="0">
                <a:solidFill>
                  <a:schemeClr val="tx1"/>
                </a:solidFill>
              </a:rPr>
              <a:t>Ik heb geen auto, maar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een fiets.</a:t>
            </a:r>
            <a:endParaRPr lang="en-US" sz="19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7  </a:t>
            </a:r>
            <a:r>
              <a:rPr lang="en-US" sz="1900" i="1" dirty="0">
                <a:solidFill>
                  <a:schemeClr val="tx1"/>
                </a:solidFill>
              </a:rPr>
              <a:t>Nee, dat is geen probleem,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!</a:t>
            </a:r>
            <a:endParaRPr lang="en-US" sz="19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8  </a:t>
            </a:r>
            <a:r>
              <a:rPr lang="en-US" sz="1900" i="1" dirty="0">
                <a:solidFill>
                  <a:schemeClr val="tx1"/>
                </a:solidFill>
              </a:rPr>
              <a:t>Geen koffie? Wat wil je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?</a:t>
            </a:r>
            <a:endParaRPr lang="en-US" sz="1900" dirty="0"/>
          </a:p>
        </p:txBody>
      </p:sp>
      <p:sp>
        <p:nvSpPr>
          <p:cNvPr id="9" name="Shape 5"/>
          <p:cNvSpPr/>
          <p:nvPr/>
        </p:nvSpPr>
        <p:spPr>
          <a:xfrm>
            <a:off x="548640" y="5486400"/>
            <a:ext cx="11091672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31520" y="5486400"/>
            <a:ext cx="1188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1920240" y="5632704"/>
            <a:ext cx="1005840" cy="484632"/>
          </a:xfrm>
          <a:prstGeom prst="roundRect">
            <a:avLst>
              <a:gd name="adj" fmla="val 18868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920240" y="5632704"/>
            <a:ext cx="10058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hoor</a:t>
            </a:r>
            <a:endParaRPr lang="en-US" sz="1700" dirty="0"/>
          </a:p>
        </p:txBody>
      </p:sp>
      <p:sp>
        <p:nvSpPr>
          <p:cNvPr id="13" name="Shape 9"/>
          <p:cNvSpPr/>
          <p:nvPr/>
        </p:nvSpPr>
        <p:spPr>
          <a:xfrm>
            <a:off x="3090672" y="5632704"/>
            <a:ext cx="1005840" cy="484632"/>
          </a:xfrm>
          <a:prstGeom prst="roundRect">
            <a:avLst>
              <a:gd name="adj" fmla="val 18868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090672" y="5632704"/>
            <a:ext cx="10058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even</a:t>
            </a:r>
            <a:endParaRPr lang="en-US" sz="1700" dirty="0"/>
          </a:p>
        </p:txBody>
      </p:sp>
      <p:sp>
        <p:nvSpPr>
          <p:cNvPr id="15" name="Shape 11"/>
          <p:cNvSpPr/>
          <p:nvPr/>
        </p:nvSpPr>
        <p:spPr>
          <a:xfrm>
            <a:off x="4261104" y="5632704"/>
            <a:ext cx="1005840" cy="484632"/>
          </a:xfrm>
          <a:prstGeom prst="roundRect">
            <a:avLst>
              <a:gd name="adj" fmla="val 18868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261104" y="5632704"/>
            <a:ext cx="10058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dan</a:t>
            </a:r>
            <a:endParaRPr lang="en-US" sz="1700" dirty="0"/>
          </a:p>
        </p:txBody>
      </p:sp>
      <p:sp>
        <p:nvSpPr>
          <p:cNvPr id="17" name="Shape 13"/>
          <p:cNvSpPr/>
          <p:nvPr/>
        </p:nvSpPr>
        <p:spPr>
          <a:xfrm>
            <a:off x="5431536" y="5632704"/>
            <a:ext cx="1005840" cy="484632"/>
          </a:xfrm>
          <a:prstGeom prst="roundRect">
            <a:avLst>
              <a:gd name="adj" fmla="val 18868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431536" y="5632704"/>
            <a:ext cx="10058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soms</a:t>
            </a:r>
            <a:endParaRPr lang="en-US" sz="1700" dirty="0"/>
          </a:p>
        </p:txBody>
      </p:sp>
      <p:sp>
        <p:nvSpPr>
          <p:cNvPr id="19" name="Shape 15"/>
          <p:cNvSpPr/>
          <p:nvPr/>
        </p:nvSpPr>
        <p:spPr>
          <a:xfrm>
            <a:off x="6601968" y="5632704"/>
            <a:ext cx="1005840" cy="484632"/>
          </a:xfrm>
          <a:prstGeom prst="roundRect">
            <a:avLst>
              <a:gd name="adj" fmla="val 18868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601968" y="5632704"/>
            <a:ext cx="10058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wel</a:t>
            </a:r>
            <a:endParaRPr lang="en-US" sz="1700" dirty="0"/>
          </a:p>
        </p:txBody>
      </p:sp>
      <p:sp>
        <p:nvSpPr>
          <p:cNvPr id="21" name="Shape 17"/>
          <p:cNvSpPr/>
          <p:nvPr/>
        </p:nvSpPr>
        <p:spPr>
          <a:xfrm>
            <a:off x="7772400" y="5632704"/>
            <a:ext cx="1005840" cy="484632"/>
          </a:xfrm>
          <a:prstGeom prst="roundRect">
            <a:avLst>
              <a:gd name="adj" fmla="val 18868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7772400" y="5632704"/>
            <a:ext cx="10058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maar</a:t>
            </a:r>
            <a:endParaRPr lang="en-US" sz="1700" dirty="0"/>
          </a:p>
        </p:txBody>
      </p:sp>
      <p:sp>
        <p:nvSpPr>
          <p:cNvPr id="23" name="Shape 19"/>
          <p:cNvSpPr/>
          <p:nvPr/>
        </p:nvSpPr>
        <p:spPr>
          <a:xfrm>
            <a:off x="8942832" y="5632704"/>
            <a:ext cx="1600200" cy="484632"/>
          </a:xfrm>
          <a:prstGeom prst="roundRect">
            <a:avLst>
              <a:gd name="adj" fmla="val 18868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8942832" y="5632704"/>
            <a:ext cx="16002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ook alweer</a:t>
            </a:r>
            <a:endParaRPr lang="en-US" sz="1700" dirty="0"/>
          </a:p>
        </p:txBody>
      </p:sp>
      <p:sp>
        <p:nvSpPr>
          <p:cNvPr id="25" name="Shape 21"/>
          <p:cNvSpPr/>
          <p:nvPr/>
        </p:nvSpPr>
        <p:spPr>
          <a:xfrm>
            <a:off x="10707624" y="5632704"/>
            <a:ext cx="1005840" cy="484632"/>
          </a:xfrm>
          <a:prstGeom prst="roundRect">
            <a:avLst>
              <a:gd name="adj" fmla="val 1886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10707624" y="5632704"/>
            <a:ext cx="10058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toch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La bonne particule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une particule de la banque. Chaque particule sert une fois.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2023872"/>
            <a:ext cx="11091672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1  </a:t>
            </a:r>
            <a:r>
              <a:rPr lang="en-US" sz="1900" i="1" dirty="0">
                <a:solidFill>
                  <a:schemeClr val="tx1"/>
                </a:solidFill>
              </a:rPr>
              <a:t>Kom </a:t>
            </a:r>
            <a:r>
              <a:rPr lang="en-US" sz="1900" b="1" i="1" dirty="0">
                <a:solidFill>
                  <a:schemeClr val="accent3"/>
                </a:solidFill>
              </a:rPr>
              <a:t>maar</a:t>
            </a:r>
            <a:r>
              <a:rPr lang="en-US" sz="1900" i="1" dirty="0">
                <a:solidFill>
                  <a:schemeClr val="tx1"/>
                </a:solidFill>
              </a:rPr>
              <a:t> binnen, de deur is open.</a:t>
            </a:r>
            <a:endParaRPr lang="en-US" sz="19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2  </a:t>
            </a:r>
            <a:r>
              <a:rPr lang="en-US" sz="1900" i="1" dirty="0">
                <a:solidFill>
                  <a:schemeClr val="tx1"/>
                </a:solidFill>
              </a:rPr>
              <a:t>Heb je </a:t>
            </a:r>
            <a:r>
              <a:rPr lang="en-US" sz="1900" b="1" i="1" dirty="0">
                <a:solidFill>
                  <a:schemeClr val="accent3"/>
                </a:solidFill>
              </a:rPr>
              <a:t>soms</a:t>
            </a:r>
            <a:r>
              <a:rPr lang="en-US" sz="1900" i="1" dirty="0">
                <a:solidFill>
                  <a:schemeClr val="tx1"/>
                </a:solidFill>
              </a:rPr>
              <a:t> een oplader? Mijn gsm is bijna leeg.</a:t>
            </a:r>
            <a:endParaRPr lang="en-US" sz="19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3  </a:t>
            </a:r>
            <a:r>
              <a:rPr lang="en-US" sz="1900" i="1" dirty="0">
                <a:solidFill>
                  <a:schemeClr val="tx1"/>
                </a:solidFill>
              </a:rPr>
              <a:t>Je komt </a:t>
            </a:r>
            <a:r>
              <a:rPr lang="en-US" sz="1900" b="1" i="1" dirty="0">
                <a:solidFill>
                  <a:schemeClr val="accent3"/>
                </a:solidFill>
              </a:rPr>
              <a:t>toch</a:t>
            </a:r>
            <a:r>
              <a:rPr lang="en-US" sz="1900" i="1" dirty="0">
                <a:solidFill>
                  <a:schemeClr val="tx1"/>
                </a:solidFill>
              </a:rPr>
              <a:t> morgen? We rekenen op je!</a:t>
            </a:r>
            <a:endParaRPr lang="en-US" sz="19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4  </a:t>
            </a:r>
            <a:r>
              <a:rPr lang="en-US" sz="1900" i="1" dirty="0">
                <a:solidFill>
                  <a:schemeClr val="tx1"/>
                </a:solidFill>
              </a:rPr>
              <a:t>Hoe heet die klant </a:t>
            </a:r>
            <a:r>
              <a:rPr lang="en-US" sz="1900" b="1" i="1" dirty="0">
                <a:solidFill>
                  <a:schemeClr val="accent3"/>
                </a:solidFill>
              </a:rPr>
              <a:t>ook alweer</a:t>
            </a:r>
            <a:r>
              <a:rPr lang="en-US" sz="1900" i="1" dirty="0">
                <a:solidFill>
                  <a:schemeClr val="tx1"/>
                </a:solidFill>
              </a:rPr>
              <a:t>?</a:t>
            </a:r>
            <a:endParaRPr lang="en-US" sz="19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5  </a:t>
            </a:r>
            <a:r>
              <a:rPr lang="en-US" sz="1900" i="1" dirty="0">
                <a:solidFill>
                  <a:schemeClr val="tx1"/>
                </a:solidFill>
              </a:rPr>
              <a:t>Kun je me </a:t>
            </a:r>
            <a:r>
              <a:rPr lang="en-US" sz="1900" b="1" i="1" dirty="0">
                <a:solidFill>
                  <a:schemeClr val="accent3"/>
                </a:solidFill>
              </a:rPr>
              <a:t>even</a:t>
            </a:r>
            <a:r>
              <a:rPr lang="en-US" sz="1900" i="1" dirty="0">
                <a:solidFill>
                  <a:schemeClr val="tx1"/>
                </a:solidFill>
              </a:rPr>
              <a:t> helpen?</a:t>
            </a:r>
            <a:endParaRPr lang="en-US" sz="19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6  </a:t>
            </a:r>
            <a:r>
              <a:rPr lang="en-US" sz="1900" i="1" dirty="0">
                <a:solidFill>
                  <a:schemeClr val="tx1"/>
                </a:solidFill>
              </a:rPr>
              <a:t>Ik heb geen auto, maar </a:t>
            </a:r>
            <a:r>
              <a:rPr lang="en-US" sz="1900" b="1" i="1" dirty="0">
                <a:solidFill>
                  <a:schemeClr val="accent3"/>
                </a:solidFill>
              </a:rPr>
              <a:t>wel</a:t>
            </a:r>
            <a:r>
              <a:rPr lang="en-US" sz="1900" i="1" dirty="0">
                <a:solidFill>
                  <a:schemeClr val="tx1"/>
                </a:solidFill>
              </a:rPr>
              <a:t> een fiets.</a:t>
            </a:r>
            <a:endParaRPr lang="en-US" sz="19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7  </a:t>
            </a:r>
            <a:r>
              <a:rPr lang="en-US" sz="1900" i="1" dirty="0">
                <a:solidFill>
                  <a:schemeClr val="tx1"/>
                </a:solidFill>
              </a:rPr>
              <a:t>Nee, dat is geen probleem, </a:t>
            </a:r>
            <a:r>
              <a:rPr lang="en-US" sz="1900" b="1" i="1" dirty="0">
                <a:solidFill>
                  <a:schemeClr val="accent3"/>
                </a:solidFill>
              </a:rPr>
              <a:t>hoor</a:t>
            </a:r>
            <a:r>
              <a:rPr lang="en-US" sz="1900" i="1" dirty="0">
                <a:solidFill>
                  <a:schemeClr val="tx1"/>
                </a:solidFill>
              </a:rPr>
              <a:t>!</a:t>
            </a:r>
            <a:endParaRPr lang="en-US" sz="19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8  </a:t>
            </a:r>
            <a:r>
              <a:rPr lang="en-US" sz="1900" i="1" dirty="0">
                <a:solidFill>
                  <a:schemeClr val="tx1"/>
                </a:solidFill>
              </a:rPr>
              <a:t>Geen koffie? Wat wil je </a:t>
            </a:r>
            <a:r>
              <a:rPr lang="en-US" sz="1900" b="1" i="1" dirty="0">
                <a:solidFill>
                  <a:schemeClr val="accent3"/>
                </a:solidFill>
              </a:rPr>
              <a:t>dan</a:t>
            </a:r>
            <a:r>
              <a:rPr lang="en-US" sz="1900" i="1" dirty="0">
                <a:solidFill>
                  <a:schemeClr val="tx1"/>
                </a:solidFill>
              </a:rPr>
              <a:t>?</a:t>
            </a:r>
            <a:endParaRPr lang="en-US" sz="1900" dirty="0"/>
          </a:p>
        </p:txBody>
      </p:sp>
      <p:sp>
        <p:nvSpPr>
          <p:cNvPr id="10" name="Text 6"/>
          <p:cNvSpPr txBox="1"/>
          <p:nvPr/>
        </p:nvSpPr>
        <p:spPr>
          <a:xfrm>
            <a:off x="8778240" y="3944112"/>
            <a:ext cx="28620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accent5"/>
                </a:solidFill>
              </a:rPr>
              <a:t>Aussi possibles :</a:t>
            </a:r>
            <a:endParaRPr lang="en-US" sz="14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accent5"/>
                </a:solidFill>
              </a:rPr>
              <a:t>n° 1 : </a:t>
            </a:r>
            <a:r>
              <a:rPr lang="en-US" sz="1400" i="1" dirty="0">
                <a:solidFill>
                  <a:schemeClr val="accent5"/>
                </a:solidFill>
              </a:rPr>
              <a:t>even, toch</a:t>
            </a:r>
            <a:endParaRPr lang="en-US" sz="14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accent5"/>
                </a:solidFill>
              </a:rPr>
              <a:t>n° 5 : </a:t>
            </a:r>
            <a:r>
              <a:rPr lang="en-US" sz="1400" i="1" dirty="0">
                <a:solidFill>
                  <a:schemeClr val="accent5"/>
                </a:solidFill>
              </a:rPr>
              <a:t>soms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548640" y="5486400"/>
            <a:ext cx="11091672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31520" y="5486400"/>
            <a:ext cx="1188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1920240" y="5632704"/>
            <a:ext cx="1005840" cy="484632"/>
          </a:xfrm>
          <a:prstGeom prst="roundRect">
            <a:avLst>
              <a:gd name="adj" fmla="val 18868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1920240" y="5632704"/>
            <a:ext cx="10058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hoor</a:t>
            </a:r>
            <a:endParaRPr lang="en-US" sz="1700" dirty="0"/>
          </a:p>
        </p:txBody>
      </p:sp>
      <p:sp>
        <p:nvSpPr>
          <p:cNvPr id="15" name="Shape 11"/>
          <p:cNvSpPr/>
          <p:nvPr/>
        </p:nvSpPr>
        <p:spPr>
          <a:xfrm>
            <a:off x="3090672" y="5632704"/>
            <a:ext cx="1005840" cy="484632"/>
          </a:xfrm>
          <a:prstGeom prst="roundRect">
            <a:avLst>
              <a:gd name="adj" fmla="val 18868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3090672" y="5632704"/>
            <a:ext cx="10058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even</a:t>
            </a:r>
            <a:endParaRPr lang="en-US" sz="1700" dirty="0"/>
          </a:p>
        </p:txBody>
      </p:sp>
      <p:sp>
        <p:nvSpPr>
          <p:cNvPr id="17" name="Shape 13"/>
          <p:cNvSpPr/>
          <p:nvPr/>
        </p:nvSpPr>
        <p:spPr>
          <a:xfrm>
            <a:off x="4261104" y="5632704"/>
            <a:ext cx="1005840" cy="484632"/>
          </a:xfrm>
          <a:prstGeom prst="roundRect">
            <a:avLst>
              <a:gd name="adj" fmla="val 18868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4261104" y="5632704"/>
            <a:ext cx="10058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dan</a:t>
            </a:r>
            <a:endParaRPr lang="en-US" sz="1700" dirty="0"/>
          </a:p>
        </p:txBody>
      </p:sp>
      <p:sp>
        <p:nvSpPr>
          <p:cNvPr id="19" name="Shape 15"/>
          <p:cNvSpPr/>
          <p:nvPr/>
        </p:nvSpPr>
        <p:spPr>
          <a:xfrm>
            <a:off x="5431536" y="5632704"/>
            <a:ext cx="1005840" cy="484632"/>
          </a:xfrm>
          <a:prstGeom prst="roundRect">
            <a:avLst>
              <a:gd name="adj" fmla="val 18868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5431536" y="5632704"/>
            <a:ext cx="10058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soms</a:t>
            </a:r>
            <a:endParaRPr lang="en-US" sz="1700" dirty="0"/>
          </a:p>
        </p:txBody>
      </p:sp>
      <p:sp>
        <p:nvSpPr>
          <p:cNvPr id="21" name="Shape 17"/>
          <p:cNvSpPr/>
          <p:nvPr/>
        </p:nvSpPr>
        <p:spPr>
          <a:xfrm>
            <a:off x="6601968" y="5632704"/>
            <a:ext cx="1005840" cy="484632"/>
          </a:xfrm>
          <a:prstGeom prst="roundRect">
            <a:avLst>
              <a:gd name="adj" fmla="val 18868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601968" y="5632704"/>
            <a:ext cx="10058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wel</a:t>
            </a:r>
            <a:endParaRPr lang="en-US" sz="1700" dirty="0"/>
          </a:p>
        </p:txBody>
      </p:sp>
      <p:sp>
        <p:nvSpPr>
          <p:cNvPr id="23" name="Shape 19"/>
          <p:cNvSpPr/>
          <p:nvPr/>
        </p:nvSpPr>
        <p:spPr>
          <a:xfrm>
            <a:off x="7772400" y="5632704"/>
            <a:ext cx="1005840" cy="484632"/>
          </a:xfrm>
          <a:prstGeom prst="roundRect">
            <a:avLst>
              <a:gd name="adj" fmla="val 18868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7772400" y="5632704"/>
            <a:ext cx="10058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maar</a:t>
            </a:r>
            <a:endParaRPr lang="en-US" sz="1700" dirty="0"/>
          </a:p>
        </p:txBody>
      </p:sp>
      <p:sp>
        <p:nvSpPr>
          <p:cNvPr id="25" name="Shape 21"/>
          <p:cNvSpPr/>
          <p:nvPr/>
        </p:nvSpPr>
        <p:spPr>
          <a:xfrm>
            <a:off x="8942832" y="5632704"/>
            <a:ext cx="1600200" cy="484632"/>
          </a:xfrm>
          <a:prstGeom prst="roundRect">
            <a:avLst>
              <a:gd name="adj" fmla="val 18868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8942832" y="5632704"/>
            <a:ext cx="16002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ook alweer</a:t>
            </a:r>
            <a:endParaRPr lang="en-US" sz="1700" dirty="0"/>
          </a:p>
        </p:txBody>
      </p:sp>
      <p:sp>
        <p:nvSpPr>
          <p:cNvPr id="27" name="Shape 23"/>
          <p:cNvSpPr/>
          <p:nvPr/>
        </p:nvSpPr>
        <p:spPr>
          <a:xfrm>
            <a:off x="10707624" y="5632704"/>
            <a:ext cx="1005840" cy="484632"/>
          </a:xfrm>
          <a:prstGeom prst="roundRect">
            <a:avLst>
              <a:gd name="adj" fmla="val 1886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10707624" y="5632704"/>
            <a:ext cx="10058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toch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Traduisez l’intention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Traduisez. Le mot souligné devient une particule.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1005840" y="1978152"/>
            <a:ext cx="51206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15568" y="2126488"/>
            <a:ext cx="137160" cy="271577"/>
          </a:xfrm>
          <a:prstGeom prst="rect">
            <a:avLst/>
          </a:prstGeom>
          <a:solidFill>
            <a:srgbClr val="1F4FA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1252728" y="2126488"/>
            <a:ext cx="137160" cy="27157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1389888" y="2126488"/>
            <a:ext cx="137160" cy="271577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1115568" y="2126488"/>
            <a:ext cx="411480" cy="271577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1645920" y="197815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Tu viens demain, </a:t>
            </a:r>
            <a:r>
              <a:rPr lang="en-US" sz="1800" u="sng" dirty="0">
                <a:solidFill>
                  <a:schemeClr val="tx1"/>
                </a:solidFill>
              </a:rPr>
              <a:t>hein</a:t>
            </a:r>
            <a:r>
              <a:rPr lang="en-US" sz="1800" dirty="0">
                <a:solidFill>
                  <a:schemeClr val="tx1"/>
                </a:solidFill>
              </a:rPr>
              <a:t> ?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>
            <a:off x="6217920" y="229565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7" name="Shape 13"/>
          <p:cNvSpPr/>
          <p:nvPr/>
        </p:nvSpPr>
        <p:spPr>
          <a:xfrm>
            <a:off x="6720840" y="1978152"/>
            <a:ext cx="491947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0" name="Shape 16"/>
          <p:cNvSpPr/>
          <p:nvPr/>
        </p:nvSpPr>
        <p:spPr>
          <a:xfrm>
            <a:off x="1005840" y="2704592"/>
            <a:ext cx="51206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1115568" y="2852928"/>
            <a:ext cx="137160" cy="271577"/>
          </a:xfrm>
          <a:prstGeom prst="rect">
            <a:avLst/>
          </a:prstGeom>
          <a:solidFill>
            <a:srgbClr val="1F4FA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1252728" y="2852928"/>
            <a:ext cx="137160" cy="27157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1389888" y="2852928"/>
            <a:ext cx="137160" cy="271577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1115568" y="2852928"/>
            <a:ext cx="411480" cy="271577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1645920" y="270459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Tu n’aurais pas un stylo, </a:t>
            </a:r>
            <a:r>
              <a:rPr lang="en-US" sz="1800" u="sng" dirty="0">
                <a:solidFill>
                  <a:schemeClr val="tx1"/>
                </a:solidFill>
              </a:rPr>
              <a:t>par hasard</a:t>
            </a:r>
            <a:r>
              <a:rPr lang="en-US" sz="1800" dirty="0">
                <a:solidFill>
                  <a:schemeClr val="tx1"/>
                </a:solidFill>
              </a:rPr>
              <a:t> ?</a:t>
            </a:r>
            <a:endParaRPr lang="en-US" sz="1800" dirty="0"/>
          </a:p>
        </p:txBody>
      </p:sp>
      <p:sp>
        <p:nvSpPr>
          <p:cNvPr id="26" name="Shape 22"/>
          <p:cNvSpPr/>
          <p:nvPr/>
        </p:nvSpPr>
        <p:spPr>
          <a:xfrm>
            <a:off x="6217920" y="302209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7" name="Shape 23"/>
          <p:cNvSpPr/>
          <p:nvPr/>
        </p:nvSpPr>
        <p:spPr>
          <a:xfrm>
            <a:off x="6720840" y="2704592"/>
            <a:ext cx="491947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1005840" y="3431032"/>
            <a:ext cx="51206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1115568" y="3579368"/>
            <a:ext cx="137160" cy="271577"/>
          </a:xfrm>
          <a:prstGeom prst="rect">
            <a:avLst/>
          </a:prstGeom>
          <a:solidFill>
            <a:srgbClr val="1F4FA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1252728" y="3579368"/>
            <a:ext cx="137160" cy="27157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1389888" y="3579368"/>
            <a:ext cx="137160" cy="271577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1115568" y="3579368"/>
            <a:ext cx="411480" cy="271577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1645920" y="343103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Regarde </a:t>
            </a:r>
            <a:r>
              <a:rPr lang="en-US" sz="1800" u="sng" dirty="0">
                <a:solidFill>
                  <a:schemeClr val="tx1"/>
                </a:solidFill>
              </a:rPr>
              <a:t>donc</a:t>
            </a:r>
            <a:r>
              <a:rPr lang="en-US" sz="1800" dirty="0">
                <a:solidFill>
                  <a:schemeClr val="tx1"/>
                </a:solidFill>
              </a:rPr>
              <a:t> !</a:t>
            </a:r>
            <a:endParaRPr lang="en-US" sz="1800" dirty="0"/>
          </a:p>
        </p:txBody>
      </p:sp>
      <p:sp>
        <p:nvSpPr>
          <p:cNvPr id="36" name="Shape 32"/>
          <p:cNvSpPr/>
          <p:nvPr/>
        </p:nvSpPr>
        <p:spPr>
          <a:xfrm>
            <a:off x="6217920" y="374853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7" name="Shape 33"/>
          <p:cNvSpPr/>
          <p:nvPr/>
        </p:nvSpPr>
        <p:spPr>
          <a:xfrm>
            <a:off x="6720840" y="3431032"/>
            <a:ext cx="491947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1005840" y="4157472"/>
            <a:ext cx="51206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1115568" y="4305808"/>
            <a:ext cx="137160" cy="271577"/>
          </a:xfrm>
          <a:prstGeom prst="rect">
            <a:avLst/>
          </a:prstGeom>
          <a:solidFill>
            <a:srgbClr val="1F4FA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Shape 38"/>
          <p:cNvSpPr/>
          <p:nvPr/>
        </p:nvSpPr>
        <p:spPr>
          <a:xfrm>
            <a:off x="1252728" y="4305808"/>
            <a:ext cx="137160" cy="27157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1389888" y="4305808"/>
            <a:ext cx="137160" cy="271577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>
            <a:off x="1115568" y="4305808"/>
            <a:ext cx="411480" cy="271577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1645920" y="415747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Attends </a:t>
            </a:r>
            <a:r>
              <a:rPr lang="en-US" sz="1800" u="sng" dirty="0">
                <a:solidFill>
                  <a:schemeClr val="tx1"/>
                </a:solidFill>
              </a:rPr>
              <a:t>un instant</a:t>
            </a:r>
            <a:r>
              <a:rPr lang="en-US" sz="1800" dirty="0">
                <a:solidFill>
                  <a:schemeClr val="tx1"/>
                </a:solidFill>
              </a:rPr>
              <a:t> !</a:t>
            </a:r>
            <a:endParaRPr lang="en-US" sz="1800" dirty="0"/>
          </a:p>
        </p:txBody>
      </p:sp>
      <p:sp>
        <p:nvSpPr>
          <p:cNvPr id="46" name="Shape 42"/>
          <p:cNvSpPr/>
          <p:nvPr/>
        </p:nvSpPr>
        <p:spPr>
          <a:xfrm>
            <a:off x="6217920" y="447497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7" name="Shape 43"/>
          <p:cNvSpPr/>
          <p:nvPr/>
        </p:nvSpPr>
        <p:spPr>
          <a:xfrm>
            <a:off x="6720840" y="4157472"/>
            <a:ext cx="491947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8" name="Shape 44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50" name="Shape 46"/>
          <p:cNvSpPr/>
          <p:nvPr/>
        </p:nvSpPr>
        <p:spPr>
          <a:xfrm>
            <a:off x="1005840" y="4883912"/>
            <a:ext cx="51206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1" name="Shape 47"/>
          <p:cNvSpPr/>
          <p:nvPr/>
        </p:nvSpPr>
        <p:spPr>
          <a:xfrm>
            <a:off x="1115568" y="5032248"/>
            <a:ext cx="137160" cy="271577"/>
          </a:xfrm>
          <a:prstGeom prst="rect">
            <a:avLst/>
          </a:prstGeom>
          <a:solidFill>
            <a:srgbClr val="1F4FA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Shape 48"/>
          <p:cNvSpPr/>
          <p:nvPr/>
        </p:nvSpPr>
        <p:spPr>
          <a:xfrm>
            <a:off x="1252728" y="5032248"/>
            <a:ext cx="137160" cy="27157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Shape 49"/>
          <p:cNvSpPr/>
          <p:nvPr/>
        </p:nvSpPr>
        <p:spPr>
          <a:xfrm>
            <a:off x="1389888" y="5032248"/>
            <a:ext cx="137160" cy="271577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0"/>
          <p:cNvSpPr/>
          <p:nvPr/>
        </p:nvSpPr>
        <p:spPr>
          <a:xfrm>
            <a:off x="1115568" y="5032248"/>
            <a:ext cx="411480" cy="271577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1645920" y="488391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Comment il s’appelle, </a:t>
            </a:r>
            <a:r>
              <a:rPr lang="en-US" sz="1800" u="sng" dirty="0">
                <a:solidFill>
                  <a:schemeClr val="tx1"/>
                </a:solidFill>
              </a:rPr>
              <a:t>déjà</a:t>
            </a:r>
            <a:r>
              <a:rPr lang="en-US" sz="1800" dirty="0">
                <a:solidFill>
                  <a:schemeClr val="tx1"/>
                </a:solidFill>
              </a:rPr>
              <a:t> ?</a:t>
            </a:r>
            <a:endParaRPr lang="en-US" sz="1800" dirty="0"/>
          </a:p>
        </p:txBody>
      </p:sp>
      <p:sp>
        <p:nvSpPr>
          <p:cNvPr id="56" name="Shape 52"/>
          <p:cNvSpPr/>
          <p:nvPr/>
        </p:nvSpPr>
        <p:spPr>
          <a:xfrm>
            <a:off x="6217920" y="520141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57" name="Shape 53"/>
          <p:cNvSpPr/>
          <p:nvPr/>
        </p:nvSpPr>
        <p:spPr>
          <a:xfrm>
            <a:off x="6720840" y="4883912"/>
            <a:ext cx="491947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58" name="Shape 54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9" name="Text 55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60" name="Shape 56"/>
          <p:cNvSpPr/>
          <p:nvPr/>
        </p:nvSpPr>
        <p:spPr>
          <a:xfrm>
            <a:off x="1005840" y="5610352"/>
            <a:ext cx="51206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1" name="Shape 57"/>
          <p:cNvSpPr/>
          <p:nvPr/>
        </p:nvSpPr>
        <p:spPr>
          <a:xfrm>
            <a:off x="1115568" y="5758688"/>
            <a:ext cx="137160" cy="271577"/>
          </a:xfrm>
          <a:prstGeom prst="rect">
            <a:avLst/>
          </a:prstGeom>
          <a:solidFill>
            <a:srgbClr val="1F4FA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58"/>
          <p:cNvSpPr/>
          <p:nvPr/>
        </p:nvSpPr>
        <p:spPr>
          <a:xfrm>
            <a:off x="1252728" y="5758688"/>
            <a:ext cx="137160" cy="27157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59"/>
          <p:cNvSpPr/>
          <p:nvPr/>
        </p:nvSpPr>
        <p:spPr>
          <a:xfrm>
            <a:off x="1389888" y="5758688"/>
            <a:ext cx="137160" cy="271577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Shape 60"/>
          <p:cNvSpPr/>
          <p:nvPr/>
        </p:nvSpPr>
        <p:spPr>
          <a:xfrm>
            <a:off x="1115568" y="5758688"/>
            <a:ext cx="411480" cy="271577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65" name="Text 61"/>
          <p:cNvSpPr txBox="1"/>
          <p:nvPr/>
        </p:nvSpPr>
        <p:spPr>
          <a:xfrm>
            <a:off x="1645920" y="561035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Pas de souci, </a:t>
            </a:r>
            <a:r>
              <a:rPr lang="en-US" sz="1800" u="sng" dirty="0">
                <a:solidFill>
                  <a:schemeClr val="tx1"/>
                </a:solidFill>
              </a:rPr>
              <a:t>hein</a:t>
            </a:r>
            <a:r>
              <a:rPr lang="en-US" sz="1800" dirty="0">
                <a:solidFill>
                  <a:schemeClr val="tx1"/>
                </a:solidFill>
              </a:rPr>
              <a:t> !</a:t>
            </a:r>
            <a:endParaRPr lang="en-US" sz="1800" dirty="0"/>
          </a:p>
        </p:txBody>
      </p:sp>
      <p:sp>
        <p:nvSpPr>
          <p:cNvPr id="66" name="Shape 62"/>
          <p:cNvSpPr/>
          <p:nvPr/>
        </p:nvSpPr>
        <p:spPr>
          <a:xfrm>
            <a:off x="6217920" y="592785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67" name="Shape 63"/>
          <p:cNvSpPr/>
          <p:nvPr/>
        </p:nvSpPr>
        <p:spPr>
          <a:xfrm>
            <a:off x="6720840" y="5610352"/>
            <a:ext cx="491947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Traduisez l’intention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Traduisez. Le mot souligné devient une particule.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05840" y="1978152"/>
            <a:ext cx="51206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1115568" y="2126488"/>
            <a:ext cx="137160" cy="271577"/>
          </a:xfrm>
          <a:prstGeom prst="rect">
            <a:avLst/>
          </a:prstGeom>
          <a:solidFill>
            <a:srgbClr val="1F4FA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1252728" y="2126488"/>
            <a:ext cx="137160" cy="27157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1389888" y="2126488"/>
            <a:ext cx="137160" cy="271577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1115568" y="2126488"/>
            <a:ext cx="411480" cy="271577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1645920" y="197815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Tu viens demain, </a:t>
            </a:r>
            <a:r>
              <a:rPr lang="en-US" sz="1800" u="sng" dirty="0">
                <a:solidFill>
                  <a:schemeClr val="tx1"/>
                </a:solidFill>
              </a:rPr>
              <a:t>hein</a:t>
            </a:r>
            <a:r>
              <a:rPr lang="en-US" sz="1800" dirty="0">
                <a:solidFill>
                  <a:schemeClr val="tx1"/>
                </a:solidFill>
              </a:rPr>
              <a:t> ?</a:t>
            </a:r>
            <a:endParaRPr lang="en-US" sz="1800" dirty="0"/>
          </a:p>
        </p:txBody>
      </p:sp>
      <p:sp>
        <p:nvSpPr>
          <p:cNvPr id="17" name="Shape 13"/>
          <p:cNvSpPr/>
          <p:nvPr/>
        </p:nvSpPr>
        <p:spPr>
          <a:xfrm>
            <a:off x="6217920" y="229565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8" name="Shape 14"/>
          <p:cNvSpPr/>
          <p:nvPr/>
        </p:nvSpPr>
        <p:spPr>
          <a:xfrm>
            <a:off x="6720840" y="1978152"/>
            <a:ext cx="491947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58000" y="1978152"/>
            <a:ext cx="47091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Je komt toch morgen?</a:t>
            </a:r>
            <a:endParaRPr lang="en-US" sz="1900" dirty="0"/>
          </a:p>
        </p:txBody>
      </p:sp>
      <p:sp>
        <p:nvSpPr>
          <p:cNvPr id="20" name="Shape 16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1005840" y="2704592"/>
            <a:ext cx="51206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1115568" y="2852928"/>
            <a:ext cx="137160" cy="271577"/>
          </a:xfrm>
          <a:prstGeom prst="rect">
            <a:avLst/>
          </a:prstGeom>
          <a:solidFill>
            <a:srgbClr val="1F4FA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1252728" y="2852928"/>
            <a:ext cx="137160" cy="27157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1389888" y="2852928"/>
            <a:ext cx="137160" cy="271577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1115568" y="2852928"/>
            <a:ext cx="411480" cy="271577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1645920" y="270459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Tu n’aurais pas un stylo, </a:t>
            </a:r>
            <a:r>
              <a:rPr lang="en-US" sz="1800" u="sng" dirty="0">
                <a:solidFill>
                  <a:schemeClr val="tx1"/>
                </a:solidFill>
              </a:rPr>
              <a:t>par hasard</a:t>
            </a:r>
            <a:r>
              <a:rPr lang="en-US" sz="1800" dirty="0">
                <a:solidFill>
                  <a:schemeClr val="tx1"/>
                </a:solidFill>
              </a:rPr>
              <a:t> ?</a:t>
            </a:r>
            <a:endParaRPr lang="en-US" sz="1800" dirty="0"/>
          </a:p>
        </p:txBody>
      </p:sp>
      <p:sp>
        <p:nvSpPr>
          <p:cNvPr id="28" name="Shape 24"/>
          <p:cNvSpPr/>
          <p:nvPr/>
        </p:nvSpPr>
        <p:spPr>
          <a:xfrm>
            <a:off x="6217920" y="302209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9" name="Shape 25"/>
          <p:cNvSpPr/>
          <p:nvPr/>
        </p:nvSpPr>
        <p:spPr>
          <a:xfrm>
            <a:off x="6720840" y="2704592"/>
            <a:ext cx="491947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6858000" y="2704592"/>
            <a:ext cx="47091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Heb je soms een pen?</a:t>
            </a:r>
            <a:endParaRPr lang="en-US" sz="1900" dirty="0"/>
          </a:p>
        </p:txBody>
      </p:sp>
      <p:sp>
        <p:nvSpPr>
          <p:cNvPr id="31" name="Shape 27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33" name="Shape 29"/>
          <p:cNvSpPr/>
          <p:nvPr/>
        </p:nvSpPr>
        <p:spPr>
          <a:xfrm>
            <a:off x="1005840" y="3431032"/>
            <a:ext cx="51206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1115568" y="3579368"/>
            <a:ext cx="137160" cy="271577"/>
          </a:xfrm>
          <a:prstGeom prst="rect">
            <a:avLst/>
          </a:prstGeom>
          <a:solidFill>
            <a:srgbClr val="1F4FA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1252728" y="3579368"/>
            <a:ext cx="137160" cy="27157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1389888" y="3579368"/>
            <a:ext cx="137160" cy="271577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>
            <a:off x="1115568" y="3579368"/>
            <a:ext cx="411480" cy="271577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1645920" y="343103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Regarde </a:t>
            </a:r>
            <a:r>
              <a:rPr lang="en-US" sz="1800" u="sng" dirty="0">
                <a:solidFill>
                  <a:schemeClr val="tx1"/>
                </a:solidFill>
              </a:rPr>
              <a:t>donc</a:t>
            </a:r>
            <a:r>
              <a:rPr lang="en-US" sz="1800" dirty="0">
                <a:solidFill>
                  <a:schemeClr val="tx1"/>
                </a:solidFill>
              </a:rPr>
              <a:t> !</a:t>
            </a:r>
            <a:endParaRPr lang="en-US" sz="1800" dirty="0"/>
          </a:p>
        </p:txBody>
      </p:sp>
      <p:sp>
        <p:nvSpPr>
          <p:cNvPr id="39" name="Shape 35"/>
          <p:cNvSpPr/>
          <p:nvPr/>
        </p:nvSpPr>
        <p:spPr>
          <a:xfrm>
            <a:off x="6217920" y="374853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0" name="Shape 36"/>
          <p:cNvSpPr/>
          <p:nvPr/>
        </p:nvSpPr>
        <p:spPr>
          <a:xfrm>
            <a:off x="6720840" y="3431032"/>
            <a:ext cx="491947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6858000" y="3431032"/>
            <a:ext cx="47091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Kijk eens!</a:t>
            </a:r>
            <a:endParaRPr lang="en-US" sz="1900" dirty="0"/>
          </a:p>
        </p:txBody>
      </p:sp>
      <p:sp>
        <p:nvSpPr>
          <p:cNvPr id="42" name="Shape 38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44" name="Shape 40"/>
          <p:cNvSpPr/>
          <p:nvPr/>
        </p:nvSpPr>
        <p:spPr>
          <a:xfrm>
            <a:off x="1005840" y="4157472"/>
            <a:ext cx="51206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5" name="Shape 41"/>
          <p:cNvSpPr/>
          <p:nvPr/>
        </p:nvSpPr>
        <p:spPr>
          <a:xfrm>
            <a:off x="1115568" y="4305808"/>
            <a:ext cx="137160" cy="271577"/>
          </a:xfrm>
          <a:prstGeom prst="rect">
            <a:avLst/>
          </a:prstGeom>
          <a:solidFill>
            <a:srgbClr val="1F4FA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2"/>
          <p:cNvSpPr/>
          <p:nvPr/>
        </p:nvSpPr>
        <p:spPr>
          <a:xfrm>
            <a:off x="1252728" y="4305808"/>
            <a:ext cx="137160" cy="27157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3"/>
          <p:cNvSpPr/>
          <p:nvPr/>
        </p:nvSpPr>
        <p:spPr>
          <a:xfrm>
            <a:off x="1389888" y="4305808"/>
            <a:ext cx="137160" cy="271577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Shape 44"/>
          <p:cNvSpPr/>
          <p:nvPr/>
        </p:nvSpPr>
        <p:spPr>
          <a:xfrm>
            <a:off x="1115568" y="4305808"/>
            <a:ext cx="411480" cy="271577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1645920" y="415747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Attends </a:t>
            </a:r>
            <a:r>
              <a:rPr lang="en-US" sz="1800" u="sng" dirty="0">
                <a:solidFill>
                  <a:schemeClr val="tx1"/>
                </a:solidFill>
              </a:rPr>
              <a:t>un instant</a:t>
            </a:r>
            <a:r>
              <a:rPr lang="en-US" sz="1800" dirty="0">
                <a:solidFill>
                  <a:schemeClr val="tx1"/>
                </a:solidFill>
              </a:rPr>
              <a:t> !</a:t>
            </a:r>
            <a:endParaRPr lang="en-US" sz="1800" dirty="0"/>
          </a:p>
        </p:txBody>
      </p:sp>
      <p:sp>
        <p:nvSpPr>
          <p:cNvPr id="50" name="Shape 46"/>
          <p:cNvSpPr/>
          <p:nvPr/>
        </p:nvSpPr>
        <p:spPr>
          <a:xfrm>
            <a:off x="6217920" y="447497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51" name="Shape 47"/>
          <p:cNvSpPr/>
          <p:nvPr/>
        </p:nvSpPr>
        <p:spPr>
          <a:xfrm>
            <a:off x="6720840" y="4157472"/>
            <a:ext cx="491947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6858000" y="4157472"/>
            <a:ext cx="47091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Wacht even!</a:t>
            </a:r>
            <a:endParaRPr lang="en-US" sz="1900" dirty="0"/>
          </a:p>
        </p:txBody>
      </p:sp>
      <p:sp>
        <p:nvSpPr>
          <p:cNvPr id="53" name="Shape 49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Text 50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55" name="Shape 51"/>
          <p:cNvSpPr/>
          <p:nvPr/>
        </p:nvSpPr>
        <p:spPr>
          <a:xfrm>
            <a:off x="1005840" y="4883912"/>
            <a:ext cx="51206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6" name="Shape 52"/>
          <p:cNvSpPr/>
          <p:nvPr/>
        </p:nvSpPr>
        <p:spPr>
          <a:xfrm>
            <a:off x="1115568" y="5032248"/>
            <a:ext cx="137160" cy="271577"/>
          </a:xfrm>
          <a:prstGeom prst="rect">
            <a:avLst/>
          </a:prstGeom>
          <a:solidFill>
            <a:srgbClr val="1F4FA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7" name="Shape 53"/>
          <p:cNvSpPr/>
          <p:nvPr/>
        </p:nvSpPr>
        <p:spPr>
          <a:xfrm>
            <a:off x="1252728" y="5032248"/>
            <a:ext cx="137160" cy="27157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8" name="Shape 54"/>
          <p:cNvSpPr/>
          <p:nvPr/>
        </p:nvSpPr>
        <p:spPr>
          <a:xfrm>
            <a:off x="1389888" y="5032248"/>
            <a:ext cx="137160" cy="271577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9" name="Shape 55"/>
          <p:cNvSpPr/>
          <p:nvPr/>
        </p:nvSpPr>
        <p:spPr>
          <a:xfrm>
            <a:off x="1115568" y="5032248"/>
            <a:ext cx="411480" cy="271577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60" name="Text 56"/>
          <p:cNvSpPr txBox="1"/>
          <p:nvPr/>
        </p:nvSpPr>
        <p:spPr>
          <a:xfrm>
            <a:off x="1645920" y="488391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Comment il s’appelle, </a:t>
            </a:r>
            <a:r>
              <a:rPr lang="en-US" sz="1800" u="sng" dirty="0">
                <a:solidFill>
                  <a:schemeClr val="tx1"/>
                </a:solidFill>
              </a:rPr>
              <a:t>déjà</a:t>
            </a:r>
            <a:r>
              <a:rPr lang="en-US" sz="1800" dirty="0">
                <a:solidFill>
                  <a:schemeClr val="tx1"/>
                </a:solidFill>
              </a:rPr>
              <a:t> ?</a:t>
            </a:r>
            <a:endParaRPr lang="en-US" sz="1800" dirty="0"/>
          </a:p>
        </p:txBody>
      </p:sp>
      <p:sp>
        <p:nvSpPr>
          <p:cNvPr id="61" name="Shape 57"/>
          <p:cNvSpPr/>
          <p:nvPr/>
        </p:nvSpPr>
        <p:spPr>
          <a:xfrm>
            <a:off x="6217920" y="520141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62" name="Shape 58"/>
          <p:cNvSpPr/>
          <p:nvPr/>
        </p:nvSpPr>
        <p:spPr>
          <a:xfrm>
            <a:off x="6720840" y="4883912"/>
            <a:ext cx="491947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63" name="Text 59"/>
          <p:cNvSpPr txBox="1"/>
          <p:nvPr/>
        </p:nvSpPr>
        <p:spPr>
          <a:xfrm>
            <a:off x="6858000" y="4883912"/>
            <a:ext cx="47091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Hoe heet hij ook alweer?</a:t>
            </a:r>
            <a:endParaRPr lang="en-US" sz="1900" dirty="0"/>
          </a:p>
        </p:txBody>
      </p:sp>
      <p:sp>
        <p:nvSpPr>
          <p:cNvPr id="64" name="Shape 60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Text 61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66" name="Shape 62"/>
          <p:cNvSpPr/>
          <p:nvPr/>
        </p:nvSpPr>
        <p:spPr>
          <a:xfrm>
            <a:off x="1005840" y="5610352"/>
            <a:ext cx="51206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7" name="Shape 63"/>
          <p:cNvSpPr/>
          <p:nvPr/>
        </p:nvSpPr>
        <p:spPr>
          <a:xfrm>
            <a:off x="1115568" y="5758688"/>
            <a:ext cx="137160" cy="271577"/>
          </a:xfrm>
          <a:prstGeom prst="rect">
            <a:avLst/>
          </a:prstGeom>
          <a:solidFill>
            <a:srgbClr val="1F4FA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Shape 64"/>
          <p:cNvSpPr/>
          <p:nvPr/>
        </p:nvSpPr>
        <p:spPr>
          <a:xfrm>
            <a:off x="1252728" y="5758688"/>
            <a:ext cx="137160" cy="27157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Shape 65"/>
          <p:cNvSpPr/>
          <p:nvPr/>
        </p:nvSpPr>
        <p:spPr>
          <a:xfrm>
            <a:off x="1389888" y="5758688"/>
            <a:ext cx="137160" cy="271577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6"/>
          <p:cNvSpPr/>
          <p:nvPr/>
        </p:nvSpPr>
        <p:spPr>
          <a:xfrm>
            <a:off x="1115568" y="5758688"/>
            <a:ext cx="411480" cy="271577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71" name="Text 67"/>
          <p:cNvSpPr txBox="1"/>
          <p:nvPr/>
        </p:nvSpPr>
        <p:spPr>
          <a:xfrm>
            <a:off x="1645920" y="561035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Pas de souci, </a:t>
            </a:r>
            <a:r>
              <a:rPr lang="en-US" sz="1800" u="sng" dirty="0">
                <a:solidFill>
                  <a:schemeClr val="tx1"/>
                </a:solidFill>
              </a:rPr>
              <a:t>hein</a:t>
            </a:r>
            <a:r>
              <a:rPr lang="en-US" sz="1800" dirty="0">
                <a:solidFill>
                  <a:schemeClr val="tx1"/>
                </a:solidFill>
              </a:rPr>
              <a:t> !</a:t>
            </a:r>
            <a:endParaRPr lang="en-US" sz="1800" dirty="0"/>
          </a:p>
        </p:txBody>
      </p:sp>
      <p:sp>
        <p:nvSpPr>
          <p:cNvPr id="72" name="Shape 68"/>
          <p:cNvSpPr/>
          <p:nvPr/>
        </p:nvSpPr>
        <p:spPr>
          <a:xfrm>
            <a:off x="6217920" y="592785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73" name="Shape 69"/>
          <p:cNvSpPr/>
          <p:nvPr/>
        </p:nvSpPr>
        <p:spPr>
          <a:xfrm>
            <a:off x="6720840" y="5610352"/>
            <a:ext cx="491947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74" name="Text 70"/>
          <p:cNvSpPr txBox="1"/>
          <p:nvPr/>
        </p:nvSpPr>
        <p:spPr>
          <a:xfrm>
            <a:off x="6858000" y="5610352"/>
            <a:ext cx="47091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Geen probleem, hoor!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Particule ou mot plein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Classez les phrases : le mot en gras est-il une particule ou un mot au sens plein ?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69008"/>
            <a:ext cx="5852160" cy="471678"/>
          </a:xfrm>
          <a:prstGeom prst="roundRect">
            <a:avLst>
              <a:gd name="adj" fmla="val 15509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85800" y="1969008"/>
            <a:ext cx="5669280" cy="471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1</a:t>
            </a:r>
            <a:r>
              <a:rPr lang="en-US" sz="1700" dirty="0">
                <a:solidFill>
                  <a:schemeClr val="tx1"/>
                </a:solidFill>
              </a:rPr>
              <a:t>   </a:t>
            </a:r>
            <a:r>
              <a:rPr lang="en-US" sz="1700" i="1" dirty="0">
                <a:solidFill>
                  <a:schemeClr val="tx1"/>
                </a:solidFill>
              </a:rPr>
              <a:t>Ik ga </a:t>
            </a:r>
            <a:r>
              <a:rPr lang="en-US" sz="1700" b="1" i="1" dirty="0">
                <a:solidFill>
                  <a:schemeClr val="tx1"/>
                </a:solidFill>
              </a:rPr>
              <a:t>soms</a:t>
            </a:r>
            <a:r>
              <a:rPr lang="en-US" sz="1700" i="1" dirty="0">
                <a:solidFill>
                  <a:schemeClr val="tx1"/>
                </a:solidFill>
              </a:rPr>
              <a:t> naar de film.</a:t>
            </a:r>
            <a:endParaRPr lang="en-US" sz="1700" dirty="0"/>
          </a:p>
        </p:txBody>
      </p:sp>
      <p:sp>
        <p:nvSpPr>
          <p:cNvPr id="10" name="Shape 6"/>
          <p:cNvSpPr/>
          <p:nvPr/>
        </p:nvSpPr>
        <p:spPr>
          <a:xfrm>
            <a:off x="548640" y="2513838"/>
            <a:ext cx="5852160" cy="471678"/>
          </a:xfrm>
          <a:prstGeom prst="roundRect">
            <a:avLst>
              <a:gd name="adj" fmla="val 15509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85800" y="2513838"/>
            <a:ext cx="5669280" cy="471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2</a:t>
            </a:r>
            <a:r>
              <a:rPr lang="en-US" sz="1700" dirty="0">
                <a:solidFill>
                  <a:schemeClr val="tx1"/>
                </a:solidFill>
              </a:rPr>
              <a:t>   </a:t>
            </a:r>
            <a:r>
              <a:rPr lang="en-US" sz="1700" i="1" dirty="0">
                <a:solidFill>
                  <a:schemeClr val="tx1"/>
                </a:solidFill>
              </a:rPr>
              <a:t>Heb je </a:t>
            </a:r>
            <a:r>
              <a:rPr lang="en-US" sz="1700" b="1" i="1" dirty="0">
                <a:solidFill>
                  <a:schemeClr val="tx1"/>
                </a:solidFill>
              </a:rPr>
              <a:t>soms</a:t>
            </a:r>
            <a:r>
              <a:rPr lang="en-US" sz="1700" i="1" dirty="0">
                <a:solidFill>
                  <a:schemeClr val="tx1"/>
                </a:solidFill>
              </a:rPr>
              <a:t> een pen?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>
            <a:off x="548640" y="3058668"/>
            <a:ext cx="5852160" cy="471678"/>
          </a:xfrm>
          <a:prstGeom prst="roundRect">
            <a:avLst>
              <a:gd name="adj" fmla="val 15509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85800" y="3058668"/>
            <a:ext cx="5669280" cy="471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3</a:t>
            </a:r>
            <a:r>
              <a:rPr lang="en-US" sz="1700" dirty="0">
                <a:solidFill>
                  <a:schemeClr val="tx1"/>
                </a:solidFill>
              </a:rPr>
              <a:t>   </a:t>
            </a:r>
            <a:r>
              <a:rPr lang="en-US" sz="1700" i="1" dirty="0">
                <a:solidFill>
                  <a:schemeClr val="tx1"/>
                </a:solidFill>
              </a:rPr>
              <a:t>Wacht </a:t>
            </a:r>
            <a:r>
              <a:rPr lang="en-US" sz="1700" b="1" i="1" dirty="0">
                <a:solidFill>
                  <a:schemeClr val="tx1"/>
                </a:solidFill>
              </a:rPr>
              <a:t>even</a:t>
            </a:r>
            <a:r>
              <a:rPr lang="en-US" sz="1700" i="1" dirty="0">
                <a:solidFill>
                  <a:schemeClr val="tx1"/>
                </a:solidFill>
              </a:rPr>
              <a:t>!</a:t>
            </a:r>
            <a:endParaRPr lang="en-US" sz="1700" dirty="0"/>
          </a:p>
        </p:txBody>
      </p:sp>
      <p:sp>
        <p:nvSpPr>
          <p:cNvPr id="14" name="Shape 10"/>
          <p:cNvSpPr/>
          <p:nvPr/>
        </p:nvSpPr>
        <p:spPr>
          <a:xfrm>
            <a:off x="548640" y="3603498"/>
            <a:ext cx="5852160" cy="471678"/>
          </a:xfrm>
          <a:prstGeom prst="roundRect">
            <a:avLst>
              <a:gd name="adj" fmla="val 15509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85800" y="3603498"/>
            <a:ext cx="5669280" cy="471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4</a:t>
            </a:r>
            <a:r>
              <a:rPr lang="en-US" sz="1700" dirty="0">
                <a:solidFill>
                  <a:schemeClr val="tx1"/>
                </a:solidFill>
              </a:rPr>
              <a:t>   </a:t>
            </a:r>
            <a:r>
              <a:rPr lang="en-US" sz="1700" i="1" dirty="0">
                <a:solidFill>
                  <a:schemeClr val="tx1"/>
                </a:solidFill>
              </a:rPr>
              <a:t>Ze zijn </a:t>
            </a:r>
            <a:r>
              <a:rPr lang="en-US" sz="1700" b="1" i="1" dirty="0">
                <a:solidFill>
                  <a:schemeClr val="tx1"/>
                </a:solidFill>
              </a:rPr>
              <a:t>even</a:t>
            </a:r>
            <a:r>
              <a:rPr lang="en-US" sz="1700" i="1" dirty="0">
                <a:solidFill>
                  <a:schemeClr val="tx1"/>
                </a:solidFill>
              </a:rPr>
              <a:t> oud.</a:t>
            </a:r>
            <a:endParaRPr lang="en-US" sz="1700" dirty="0"/>
          </a:p>
        </p:txBody>
      </p:sp>
      <p:sp>
        <p:nvSpPr>
          <p:cNvPr id="16" name="Shape 12"/>
          <p:cNvSpPr/>
          <p:nvPr/>
        </p:nvSpPr>
        <p:spPr>
          <a:xfrm>
            <a:off x="548640" y="4148328"/>
            <a:ext cx="5852160" cy="471678"/>
          </a:xfrm>
          <a:prstGeom prst="roundRect">
            <a:avLst>
              <a:gd name="adj" fmla="val 15509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85800" y="4148328"/>
            <a:ext cx="5669280" cy="471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5</a:t>
            </a:r>
            <a:r>
              <a:rPr lang="en-US" sz="1700" dirty="0">
                <a:solidFill>
                  <a:schemeClr val="tx1"/>
                </a:solidFill>
              </a:rPr>
              <a:t>   </a:t>
            </a:r>
            <a:r>
              <a:rPr lang="en-US" sz="1700" i="1" dirty="0">
                <a:solidFill>
                  <a:schemeClr val="tx1"/>
                </a:solidFill>
              </a:rPr>
              <a:t>Kom </a:t>
            </a:r>
            <a:r>
              <a:rPr lang="en-US" sz="1700" b="1" i="1" dirty="0">
                <a:solidFill>
                  <a:schemeClr val="tx1"/>
                </a:solidFill>
              </a:rPr>
              <a:t>maar</a:t>
            </a:r>
            <a:r>
              <a:rPr lang="en-US" sz="1700" i="1" dirty="0">
                <a:solidFill>
                  <a:schemeClr val="tx1"/>
                </a:solidFill>
              </a:rPr>
              <a:t> binnen!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4693158"/>
            <a:ext cx="5852160" cy="471678"/>
          </a:xfrm>
          <a:prstGeom prst="roundRect">
            <a:avLst>
              <a:gd name="adj" fmla="val 15509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5800" y="4693158"/>
            <a:ext cx="5669280" cy="471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6</a:t>
            </a:r>
            <a:r>
              <a:rPr lang="en-US" sz="1700" dirty="0">
                <a:solidFill>
                  <a:schemeClr val="tx1"/>
                </a:solidFill>
              </a:rPr>
              <a:t>   </a:t>
            </a:r>
            <a:r>
              <a:rPr lang="en-US" sz="1700" i="1" dirty="0">
                <a:solidFill>
                  <a:schemeClr val="tx1"/>
                </a:solidFill>
              </a:rPr>
              <a:t>Het is klein </a:t>
            </a:r>
            <a:r>
              <a:rPr lang="en-US" sz="1700" b="1" i="1" dirty="0">
                <a:solidFill>
                  <a:schemeClr val="tx1"/>
                </a:solidFill>
              </a:rPr>
              <a:t>maar</a:t>
            </a:r>
            <a:r>
              <a:rPr lang="en-US" sz="1700" i="1" dirty="0">
                <a:solidFill>
                  <a:schemeClr val="tx1"/>
                </a:solidFill>
              </a:rPr>
              <a:t> mooi.</a:t>
            </a:r>
            <a:endParaRPr lang="en-US" sz="1700" dirty="0"/>
          </a:p>
        </p:txBody>
      </p:sp>
      <p:sp>
        <p:nvSpPr>
          <p:cNvPr id="20" name="Shape 16"/>
          <p:cNvSpPr/>
          <p:nvPr/>
        </p:nvSpPr>
        <p:spPr>
          <a:xfrm>
            <a:off x="548640" y="5237988"/>
            <a:ext cx="5852160" cy="471678"/>
          </a:xfrm>
          <a:prstGeom prst="roundRect">
            <a:avLst>
              <a:gd name="adj" fmla="val 15509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85800" y="5237988"/>
            <a:ext cx="5669280" cy="471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7</a:t>
            </a:r>
            <a:r>
              <a:rPr lang="en-US" sz="1700" dirty="0">
                <a:solidFill>
                  <a:schemeClr val="tx1"/>
                </a:solidFill>
              </a:rPr>
              <a:t>   </a:t>
            </a:r>
            <a:r>
              <a:rPr lang="en-US" sz="1700" i="1" dirty="0">
                <a:solidFill>
                  <a:schemeClr val="tx1"/>
                </a:solidFill>
              </a:rPr>
              <a:t>Je komt </a:t>
            </a:r>
            <a:r>
              <a:rPr lang="en-US" sz="1700" b="1" i="1" dirty="0">
                <a:solidFill>
                  <a:schemeClr val="tx1"/>
                </a:solidFill>
              </a:rPr>
              <a:t>toch</a:t>
            </a:r>
            <a:r>
              <a:rPr lang="en-US" sz="1700" i="1" dirty="0">
                <a:solidFill>
                  <a:schemeClr val="tx1"/>
                </a:solidFill>
              </a:rPr>
              <a:t>?</a:t>
            </a:r>
            <a:endParaRPr lang="en-US" sz="1700" dirty="0"/>
          </a:p>
        </p:txBody>
      </p:sp>
      <p:sp>
        <p:nvSpPr>
          <p:cNvPr id="22" name="Shape 18"/>
          <p:cNvSpPr/>
          <p:nvPr/>
        </p:nvSpPr>
        <p:spPr>
          <a:xfrm>
            <a:off x="548640" y="5782818"/>
            <a:ext cx="5852160" cy="471678"/>
          </a:xfrm>
          <a:prstGeom prst="roundRect">
            <a:avLst>
              <a:gd name="adj" fmla="val 15509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685800" y="5782818"/>
            <a:ext cx="5669280" cy="471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8</a:t>
            </a:r>
            <a:r>
              <a:rPr lang="en-US" sz="1700" dirty="0">
                <a:solidFill>
                  <a:schemeClr val="tx1"/>
                </a:solidFill>
              </a:rPr>
              <a:t>   </a:t>
            </a:r>
            <a:r>
              <a:rPr lang="en-US" sz="1700" i="1" dirty="0">
                <a:solidFill>
                  <a:schemeClr val="tx1"/>
                </a:solidFill>
              </a:rPr>
              <a:t>Hij is ziek, en </a:t>
            </a:r>
            <a:r>
              <a:rPr lang="en-US" sz="1700" b="1" i="1" dirty="0">
                <a:solidFill>
                  <a:schemeClr val="tx1"/>
                </a:solidFill>
              </a:rPr>
              <a:t>toch</a:t>
            </a:r>
            <a:r>
              <a:rPr lang="en-US" sz="1700" i="1" dirty="0">
                <a:solidFill>
                  <a:schemeClr val="tx1"/>
                </a:solidFill>
              </a:rPr>
              <a:t> werkt hij.</a:t>
            </a:r>
            <a:endParaRPr lang="en-US" sz="1700" dirty="0"/>
          </a:p>
        </p:txBody>
      </p:sp>
      <p:sp>
        <p:nvSpPr>
          <p:cNvPr id="24" name="Shape 20"/>
          <p:cNvSpPr/>
          <p:nvPr/>
        </p:nvSpPr>
        <p:spPr>
          <a:xfrm>
            <a:off x="6675120" y="1932432"/>
            <a:ext cx="2423160" cy="4358640"/>
          </a:xfrm>
          <a:prstGeom prst="roundRect">
            <a:avLst>
              <a:gd name="adj" fmla="val 3019"/>
            </a:avLst>
          </a:prstGeom>
          <a:solidFill>
            <a:schemeClr val="bg2"/>
          </a:solidFill>
          <a:ln w="25400">
            <a:solidFill>
              <a:srgbClr val="2E7D4F"/>
            </a:solidFill>
            <a:prstDash val="dash"/>
          </a:ln>
        </p:spPr>
      </p:sp>
      <p:sp>
        <p:nvSpPr>
          <p:cNvPr id="25" name="Shape 21"/>
          <p:cNvSpPr/>
          <p:nvPr/>
        </p:nvSpPr>
        <p:spPr>
          <a:xfrm>
            <a:off x="6675120" y="1932432"/>
            <a:ext cx="2423160" cy="502920"/>
          </a:xfrm>
          <a:prstGeom prst="roundRect">
            <a:avLst>
              <a:gd name="adj" fmla="val 14545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6675120" y="1932432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chemeClr val="bg1"/>
                </a:solidFill>
              </a:rPr>
              <a:t>PARTICULE</a:t>
            </a:r>
            <a:endParaRPr lang="en-US" sz="1500" dirty="0"/>
          </a:p>
        </p:txBody>
      </p:sp>
      <p:sp>
        <p:nvSpPr>
          <p:cNvPr id="27" name="Shape 23"/>
          <p:cNvSpPr/>
          <p:nvPr/>
        </p:nvSpPr>
        <p:spPr>
          <a:xfrm>
            <a:off x="9208008" y="1932432"/>
            <a:ext cx="2423160" cy="4358640"/>
          </a:xfrm>
          <a:prstGeom prst="roundRect">
            <a:avLst>
              <a:gd name="adj" fmla="val 3019"/>
            </a:avLst>
          </a:prstGeom>
          <a:solidFill>
            <a:schemeClr val="bg2"/>
          </a:solidFill>
          <a:ln w="25400">
            <a:solidFill>
              <a:srgbClr val="4A5A70"/>
            </a:solidFill>
            <a:prstDash val="dash"/>
          </a:ln>
        </p:spPr>
      </p:sp>
      <p:sp>
        <p:nvSpPr>
          <p:cNvPr id="28" name="Shape 24"/>
          <p:cNvSpPr/>
          <p:nvPr/>
        </p:nvSpPr>
        <p:spPr>
          <a:xfrm>
            <a:off x="9208008" y="1932432"/>
            <a:ext cx="2423160" cy="502920"/>
          </a:xfrm>
          <a:prstGeom prst="roundRect">
            <a:avLst>
              <a:gd name="adj" fmla="val 14545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9208008" y="1932432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chemeClr val="bg1"/>
                </a:solidFill>
              </a:rPr>
              <a:t>SENS PLEIN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Particule ou mot plein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Classez les phrases : le mot en gras est-il une particule ou un mot au sens plein ?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69008"/>
            <a:ext cx="5852160" cy="471678"/>
          </a:xfrm>
          <a:prstGeom prst="roundRect">
            <a:avLst>
              <a:gd name="adj" fmla="val 15509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85800" y="1969008"/>
            <a:ext cx="5669280" cy="471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1</a:t>
            </a:r>
            <a:r>
              <a:rPr lang="en-US" sz="1700" dirty="0">
                <a:solidFill>
                  <a:schemeClr val="tx1"/>
                </a:solidFill>
              </a:rPr>
              <a:t>   </a:t>
            </a:r>
            <a:r>
              <a:rPr lang="en-US" sz="1700" i="1" dirty="0">
                <a:solidFill>
                  <a:schemeClr val="tx1"/>
                </a:solidFill>
              </a:rPr>
              <a:t>Ik ga </a:t>
            </a:r>
            <a:r>
              <a:rPr lang="en-US" sz="1700" b="1" i="1" dirty="0">
                <a:solidFill>
                  <a:schemeClr val="tx1"/>
                </a:solidFill>
              </a:rPr>
              <a:t>soms</a:t>
            </a:r>
            <a:r>
              <a:rPr lang="en-US" sz="1700" i="1" dirty="0">
                <a:solidFill>
                  <a:schemeClr val="tx1"/>
                </a:solidFill>
              </a:rPr>
              <a:t> naar de film.</a:t>
            </a:r>
            <a:endParaRPr lang="en-US" sz="1700" dirty="0"/>
          </a:p>
        </p:txBody>
      </p:sp>
      <p:sp>
        <p:nvSpPr>
          <p:cNvPr id="11" name="Shape 7"/>
          <p:cNvSpPr/>
          <p:nvPr/>
        </p:nvSpPr>
        <p:spPr>
          <a:xfrm>
            <a:off x="548640" y="2513838"/>
            <a:ext cx="5852160" cy="471678"/>
          </a:xfrm>
          <a:prstGeom prst="roundRect">
            <a:avLst>
              <a:gd name="adj" fmla="val 15509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85800" y="2513838"/>
            <a:ext cx="5669280" cy="471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2</a:t>
            </a:r>
            <a:r>
              <a:rPr lang="en-US" sz="1700" dirty="0">
                <a:solidFill>
                  <a:schemeClr val="tx1"/>
                </a:solidFill>
              </a:rPr>
              <a:t>   </a:t>
            </a:r>
            <a:r>
              <a:rPr lang="en-US" sz="1700" i="1" dirty="0">
                <a:solidFill>
                  <a:schemeClr val="tx1"/>
                </a:solidFill>
              </a:rPr>
              <a:t>Heb je </a:t>
            </a:r>
            <a:r>
              <a:rPr lang="en-US" sz="1700" b="1" i="1" dirty="0">
                <a:solidFill>
                  <a:schemeClr val="tx1"/>
                </a:solidFill>
              </a:rPr>
              <a:t>soms</a:t>
            </a:r>
            <a:r>
              <a:rPr lang="en-US" sz="1700" i="1" dirty="0">
                <a:solidFill>
                  <a:schemeClr val="tx1"/>
                </a:solidFill>
              </a:rPr>
              <a:t> een pen?</a:t>
            </a:r>
            <a:endParaRPr lang="en-US" sz="1700" dirty="0"/>
          </a:p>
        </p:txBody>
      </p:sp>
      <p:sp>
        <p:nvSpPr>
          <p:cNvPr id="13" name="Shape 9"/>
          <p:cNvSpPr/>
          <p:nvPr/>
        </p:nvSpPr>
        <p:spPr>
          <a:xfrm>
            <a:off x="548640" y="3058668"/>
            <a:ext cx="5852160" cy="471678"/>
          </a:xfrm>
          <a:prstGeom prst="roundRect">
            <a:avLst>
              <a:gd name="adj" fmla="val 15509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685800" y="3058668"/>
            <a:ext cx="5669280" cy="471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3</a:t>
            </a:r>
            <a:r>
              <a:rPr lang="en-US" sz="1700" dirty="0">
                <a:solidFill>
                  <a:schemeClr val="tx1"/>
                </a:solidFill>
              </a:rPr>
              <a:t>   </a:t>
            </a:r>
            <a:r>
              <a:rPr lang="en-US" sz="1700" i="1" dirty="0">
                <a:solidFill>
                  <a:schemeClr val="tx1"/>
                </a:solidFill>
              </a:rPr>
              <a:t>Wacht </a:t>
            </a:r>
            <a:r>
              <a:rPr lang="en-US" sz="1700" b="1" i="1" dirty="0">
                <a:solidFill>
                  <a:schemeClr val="tx1"/>
                </a:solidFill>
              </a:rPr>
              <a:t>even</a:t>
            </a:r>
            <a:r>
              <a:rPr lang="en-US" sz="1700" i="1" dirty="0">
                <a:solidFill>
                  <a:schemeClr val="tx1"/>
                </a:solidFill>
              </a:rPr>
              <a:t>!</a:t>
            </a:r>
            <a:endParaRPr lang="en-US" sz="1700" dirty="0"/>
          </a:p>
        </p:txBody>
      </p:sp>
      <p:sp>
        <p:nvSpPr>
          <p:cNvPr id="15" name="Shape 11"/>
          <p:cNvSpPr/>
          <p:nvPr/>
        </p:nvSpPr>
        <p:spPr>
          <a:xfrm>
            <a:off x="548640" y="3603498"/>
            <a:ext cx="5852160" cy="471678"/>
          </a:xfrm>
          <a:prstGeom prst="roundRect">
            <a:avLst>
              <a:gd name="adj" fmla="val 15509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85800" y="3603498"/>
            <a:ext cx="5669280" cy="471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4</a:t>
            </a:r>
            <a:r>
              <a:rPr lang="en-US" sz="1700" dirty="0">
                <a:solidFill>
                  <a:schemeClr val="tx1"/>
                </a:solidFill>
              </a:rPr>
              <a:t>   </a:t>
            </a:r>
            <a:r>
              <a:rPr lang="en-US" sz="1700" i="1" dirty="0">
                <a:solidFill>
                  <a:schemeClr val="tx1"/>
                </a:solidFill>
              </a:rPr>
              <a:t>Ze zijn </a:t>
            </a:r>
            <a:r>
              <a:rPr lang="en-US" sz="1700" b="1" i="1" dirty="0">
                <a:solidFill>
                  <a:schemeClr val="tx1"/>
                </a:solidFill>
              </a:rPr>
              <a:t>even</a:t>
            </a:r>
            <a:r>
              <a:rPr lang="en-US" sz="1700" i="1" dirty="0">
                <a:solidFill>
                  <a:schemeClr val="tx1"/>
                </a:solidFill>
              </a:rPr>
              <a:t> oud.</a:t>
            </a:r>
            <a:endParaRPr lang="en-US" sz="1700" dirty="0"/>
          </a:p>
        </p:txBody>
      </p:sp>
      <p:sp>
        <p:nvSpPr>
          <p:cNvPr id="17" name="Shape 13"/>
          <p:cNvSpPr/>
          <p:nvPr/>
        </p:nvSpPr>
        <p:spPr>
          <a:xfrm>
            <a:off x="548640" y="4148328"/>
            <a:ext cx="5852160" cy="471678"/>
          </a:xfrm>
          <a:prstGeom prst="roundRect">
            <a:avLst>
              <a:gd name="adj" fmla="val 15509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685800" y="4148328"/>
            <a:ext cx="5669280" cy="471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5</a:t>
            </a:r>
            <a:r>
              <a:rPr lang="en-US" sz="1700" dirty="0">
                <a:solidFill>
                  <a:schemeClr val="tx1"/>
                </a:solidFill>
              </a:rPr>
              <a:t>   </a:t>
            </a:r>
            <a:r>
              <a:rPr lang="en-US" sz="1700" i="1" dirty="0">
                <a:solidFill>
                  <a:schemeClr val="tx1"/>
                </a:solidFill>
              </a:rPr>
              <a:t>Kom </a:t>
            </a:r>
            <a:r>
              <a:rPr lang="en-US" sz="1700" b="1" i="1" dirty="0">
                <a:solidFill>
                  <a:schemeClr val="tx1"/>
                </a:solidFill>
              </a:rPr>
              <a:t>maar</a:t>
            </a:r>
            <a:r>
              <a:rPr lang="en-US" sz="1700" i="1" dirty="0">
                <a:solidFill>
                  <a:schemeClr val="tx1"/>
                </a:solidFill>
              </a:rPr>
              <a:t> binnen!</a:t>
            </a:r>
            <a:endParaRPr lang="en-US" sz="1700" dirty="0"/>
          </a:p>
        </p:txBody>
      </p:sp>
      <p:sp>
        <p:nvSpPr>
          <p:cNvPr id="19" name="Shape 15"/>
          <p:cNvSpPr/>
          <p:nvPr/>
        </p:nvSpPr>
        <p:spPr>
          <a:xfrm>
            <a:off x="548640" y="4693158"/>
            <a:ext cx="5852160" cy="471678"/>
          </a:xfrm>
          <a:prstGeom prst="roundRect">
            <a:avLst>
              <a:gd name="adj" fmla="val 15509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85800" y="4693158"/>
            <a:ext cx="5669280" cy="471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6</a:t>
            </a:r>
            <a:r>
              <a:rPr lang="en-US" sz="1700" dirty="0">
                <a:solidFill>
                  <a:schemeClr val="tx1"/>
                </a:solidFill>
              </a:rPr>
              <a:t>   </a:t>
            </a:r>
            <a:r>
              <a:rPr lang="en-US" sz="1700" i="1" dirty="0">
                <a:solidFill>
                  <a:schemeClr val="tx1"/>
                </a:solidFill>
              </a:rPr>
              <a:t>Het is klein </a:t>
            </a:r>
            <a:r>
              <a:rPr lang="en-US" sz="1700" b="1" i="1" dirty="0">
                <a:solidFill>
                  <a:schemeClr val="tx1"/>
                </a:solidFill>
              </a:rPr>
              <a:t>maar</a:t>
            </a:r>
            <a:r>
              <a:rPr lang="en-US" sz="1700" i="1" dirty="0">
                <a:solidFill>
                  <a:schemeClr val="tx1"/>
                </a:solidFill>
              </a:rPr>
              <a:t> mooi.</a:t>
            </a:r>
            <a:endParaRPr lang="en-US" sz="1700" dirty="0"/>
          </a:p>
        </p:txBody>
      </p:sp>
      <p:sp>
        <p:nvSpPr>
          <p:cNvPr id="21" name="Shape 17"/>
          <p:cNvSpPr/>
          <p:nvPr/>
        </p:nvSpPr>
        <p:spPr>
          <a:xfrm>
            <a:off x="548640" y="5237988"/>
            <a:ext cx="5852160" cy="471678"/>
          </a:xfrm>
          <a:prstGeom prst="roundRect">
            <a:avLst>
              <a:gd name="adj" fmla="val 15509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85800" y="5237988"/>
            <a:ext cx="5669280" cy="471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7</a:t>
            </a:r>
            <a:r>
              <a:rPr lang="en-US" sz="1700" dirty="0">
                <a:solidFill>
                  <a:schemeClr val="tx1"/>
                </a:solidFill>
              </a:rPr>
              <a:t>   </a:t>
            </a:r>
            <a:r>
              <a:rPr lang="en-US" sz="1700" i="1" dirty="0">
                <a:solidFill>
                  <a:schemeClr val="tx1"/>
                </a:solidFill>
              </a:rPr>
              <a:t>Je komt </a:t>
            </a:r>
            <a:r>
              <a:rPr lang="en-US" sz="1700" b="1" i="1" dirty="0">
                <a:solidFill>
                  <a:schemeClr val="tx1"/>
                </a:solidFill>
              </a:rPr>
              <a:t>toch</a:t>
            </a:r>
            <a:r>
              <a:rPr lang="en-US" sz="1700" i="1" dirty="0">
                <a:solidFill>
                  <a:schemeClr val="tx1"/>
                </a:solidFill>
              </a:rPr>
              <a:t>?</a:t>
            </a:r>
            <a:endParaRPr lang="en-US" sz="1700" dirty="0"/>
          </a:p>
        </p:txBody>
      </p:sp>
      <p:sp>
        <p:nvSpPr>
          <p:cNvPr id="23" name="Shape 19"/>
          <p:cNvSpPr/>
          <p:nvPr/>
        </p:nvSpPr>
        <p:spPr>
          <a:xfrm>
            <a:off x="548640" y="5782818"/>
            <a:ext cx="5852160" cy="471678"/>
          </a:xfrm>
          <a:prstGeom prst="roundRect">
            <a:avLst>
              <a:gd name="adj" fmla="val 15509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85800" y="5782818"/>
            <a:ext cx="5669280" cy="471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8</a:t>
            </a:r>
            <a:r>
              <a:rPr lang="en-US" sz="1700" dirty="0">
                <a:solidFill>
                  <a:schemeClr val="tx1"/>
                </a:solidFill>
              </a:rPr>
              <a:t>   </a:t>
            </a:r>
            <a:r>
              <a:rPr lang="en-US" sz="1700" i="1" dirty="0">
                <a:solidFill>
                  <a:schemeClr val="tx1"/>
                </a:solidFill>
              </a:rPr>
              <a:t>Hij is ziek, en </a:t>
            </a:r>
            <a:r>
              <a:rPr lang="en-US" sz="1700" b="1" i="1" dirty="0">
                <a:solidFill>
                  <a:schemeClr val="tx1"/>
                </a:solidFill>
              </a:rPr>
              <a:t>toch</a:t>
            </a:r>
            <a:r>
              <a:rPr lang="en-US" sz="1700" i="1" dirty="0">
                <a:solidFill>
                  <a:schemeClr val="tx1"/>
                </a:solidFill>
              </a:rPr>
              <a:t> werkt hij.</a:t>
            </a:r>
            <a:endParaRPr lang="en-US" sz="1700" dirty="0"/>
          </a:p>
        </p:txBody>
      </p:sp>
      <p:sp>
        <p:nvSpPr>
          <p:cNvPr id="25" name="Shape 21"/>
          <p:cNvSpPr/>
          <p:nvPr/>
        </p:nvSpPr>
        <p:spPr>
          <a:xfrm>
            <a:off x="6675120" y="1932432"/>
            <a:ext cx="2423160" cy="4358640"/>
          </a:xfrm>
          <a:prstGeom prst="roundRect">
            <a:avLst>
              <a:gd name="adj" fmla="val 3019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6675120" y="1932432"/>
            <a:ext cx="2423160" cy="502920"/>
          </a:xfrm>
          <a:prstGeom prst="roundRect">
            <a:avLst>
              <a:gd name="adj" fmla="val 14545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6675120" y="1932432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chemeClr val="bg1"/>
                </a:solidFill>
              </a:rPr>
              <a:t>PARTICULE</a:t>
            </a:r>
            <a:endParaRPr lang="en-US" sz="1500" dirty="0"/>
          </a:p>
        </p:txBody>
      </p:sp>
      <p:sp>
        <p:nvSpPr>
          <p:cNvPr id="28" name="Shape 24"/>
          <p:cNvSpPr/>
          <p:nvPr/>
        </p:nvSpPr>
        <p:spPr>
          <a:xfrm>
            <a:off x="6812280" y="2801112"/>
            <a:ext cx="411480" cy="41148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6812280" y="280111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30" name="Text 26"/>
          <p:cNvSpPr txBox="1"/>
          <p:nvPr/>
        </p:nvSpPr>
        <p:spPr>
          <a:xfrm>
            <a:off x="7360920" y="2618232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soms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par hasard</a:t>
            </a:r>
            <a:endParaRPr lang="en-US" sz="1500" dirty="0"/>
          </a:p>
        </p:txBody>
      </p:sp>
      <p:sp>
        <p:nvSpPr>
          <p:cNvPr id="31" name="Shape 27"/>
          <p:cNvSpPr/>
          <p:nvPr/>
        </p:nvSpPr>
        <p:spPr>
          <a:xfrm>
            <a:off x="6812280" y="3761232"/>
            <a:ext cx="411480" cy="41148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6812280" y="376123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33" name="Text 29"/>
          <p:cNvSpPr txBox="1"/>
          <p:nvPr/>
        </p:nvSpPr>
        <p:spPr>
          <a:xfrm>
            <a:off x="7360920" y="3578352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even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un instant</a:t>
            </a:r>
            <a:endParaRPr lang="en-US" sz="1500" dirty="0"/>
          </a:p>
        </p:txBody>
      </p:sp>
      <p:sp>
        <p:nvSpPr>
          <p:cNvPr id="34" name="Shape 30"/>
          <p:cNvSpPr/>
          <p:nvPr/>
        </p:nvSpPr>
        <p:spPr>
          <a:xfrm>
            <a:off x="6812280" y="4721352"/>
            <a:ext cx="411480" cy="41148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6812280" y="472135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36" name="Text 32"/>
          <p:cNvSpPr txBox="1"/>
          <p:nvPr/>
        </p:nvSpPr>
        <p:spPr>
          <a:xfrm>
            <a:off x="7360920" y="4538472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maar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vas-y</a:t>
            </a:r>
            <a:endParaRPr lang="en-US" sz="1500" dirty="0"/>
          </a:p>
        </p:txBody>
      </p:sp>
      <p:sp>
        <p:nvSpPr>
          <p:cNvPr id="37" name="Shape 33"/>
          <p:cNvSpPr/>
          <p:nvPr/>
        </p:nvSpPr>
        <p:spPr>
          <a:xfrm>
            <a:off x="6812280" y="5681472"/>
            <a:ext cx="411480" cy="41148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6812280" y="568147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7</a:t>
            </a:r>
            <a:endParaRPr lang="en-US" sz="1400" dirty="0"/>
          </a:p>
        </p:txBody>
      </p:sp>
      <p:sp>
        <p:nvSpPr>
          <p:cNvPr id="39" name="Text 35"/>
          <p:cNvSpPr txBox="1"/>
          <p:nvPr/>
        </p:nvSpPr>
        <p:spPr>
          <a:xfrm>
            <a:off x="7360920" y="5498592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toch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hein ?</a:t>
            </a:r>
            <a:endParaRPr lang="en-US" sz="1500" dirty="0"/>
          </a:p>
        </p:txBody>
      </p:sp>
      <p:sp>
        <p:nvSpPr>
          <p:cNvPr id="40" name="Shape 36"/>
          <p:cNvSpPr/>
          <p:nvPr/>
        </p:nvSpPr>
        <p:spPr>
          <a:xfrm>
            <a:off x="9208008" y="1932432"/>
            <a:ext cx="2423160" cy="4358640"/>
          </a:xfrm>
          <a:prstGeom prst="roundRect">
            <a:avLst>
              <a:gd name="adj" fmla="val 3019"/>
            </a:avLst>
          </a:prstGeom>
          <a:solidFill>
            <a:schemeClr val="bg1"/>
          </a:solidFill>
          <a:ln w="25400">
            <a:solidFill>
              <a:srgbClr val="4A5A70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9208008" y="1932432"/>
            <a:ext cx="2423160" cy="502920"/>
          </a:xfrm>
          <a:prstGeom prst="roundRect">
            <a:avLst>
              <a:gd name="adj" fmla="val 14545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9208008" y="1932432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chemeClr val="bg1"/>
                </a:solidFill>
              </a:rPr>
              <a:t>SENS PLEIN</a:t>
            </a:r>
            <a:endParaRPr lang="en-US" sz="1500" dirty="0"/>
          </a:p>
        </p:txBody>
      </p:sp>
      <p:sp>
        <p:nvSpPr>
          <p:cNvPr id="43" name="Shape 39"/>
          <p:cNvSpPr/>
          <p:nvPr/>
        </p:nvSpPr>
        <p:spPr>
          <a:xfrm>
            <a:off x="9345168" y="2801112"/>
            <a:ext cx="411480" cy="41148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9345168" y="280111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45" name="Text 41"/>
          <p:cNvSpPr txBox="1"/>
          <p:nvPr/>
        </p:nvSpPr>
        <p:spPr>
          <a:xfrm>
            <a:off x="9893808" y="2618232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soms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parfois</a:t>
            </a:r>
            <a:endParaRPr lang="en-US" sz="1500" dirty="0"/>
          </a:p>
        </p:txBody>
      </p:sp>
      <p:sp>
        <p:nvSpPr>
          <p:cNvPr id="46" name="Shape 42"/>
          <p:cNvSpPr/>
          <p:nvPr/>
        </p:nvSpPr>
        <p:spPr>
          <a:xfrm>
            <a:off x="9345168" y="3761232"/>
            <a:ext cx="411480" cy="41148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9345168" y="376123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48" name="Text 44"/>
          <p:cNvSpPr txBox="1"/>
          <p:nvPr/>
        </p:nvSpPr>
        <p:spPr>
          <a:xfrm>
            <a:off x="9893808" y="3578352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even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aussi</a:t>
            </a:r>
            <a:endParaRPr lang="en-US" sz="1500" dirty="0"/>
          </a:p>
        </p:txBody>
      </p:sp>
      <p:sp>
        <p:nvSpPr>
          <p:cNvPr id="49" name="Shape 45"/>
          <p:cNvSpPr/>
          <p:nvPr/>
        </p:nvSpPr>
        <p:spPr>
          <a:xfrm>
            <a:off x="9345168" y="4721352"/>
            <a:ext cx="411480" cy="41148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9345168" y="472135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6</a:t>
            </a:r>
            <a:endParaRPr lang="en-US" sz="1400" dirty="0"/>
          </a:p>
        </p:txBody>
      </p:sp>
      <p:sp>
        <p:nvSpPr>
          <p:cNvPr id="51" name="Text 47"/>
          <p:cNvSpPr txBox="1"/>
          <p:nvPr/>
        </p:nvSpPr>
        <p:spPr>
          <a:xfrm>
            <a:off x="9893808" y="4538472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maar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mais</a:t>
            </a:r>
            <a:endParaRPr lang="en-US" sz="1500" dirty="0"/>
          </a:p>
        </p:txBody>
      </p:sp>
      <p:sp>
        <p:nvSpPr>
          <p:cNvPr id="52" name="Shape 48"/>
          <p:cNvSpPr/>
          <p:nvPr/>
        </p:nvSpPr>
        <p:spPr>
          <a:xfrm>
            <a:off x="9345168" y="5681472"/>
            <a:ext cx="411480" cy="41148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9345168" y="568147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8</a:t>
            </a:r>
            <a:endParaRPr lang="en-US" sz="1400" dirty="0"/>
          </a:p>
        </p:txBody>
      </p:sp>
      <p:sp>
        <p:nvSpPr>
          <p:cNvPr id="54" name="Text 50"/>
          <p:cNvSpPr txBox="1"/>
          <p:nvPr/>
        </p:nvSpPr>
        <p:spPr>
          <a:xfrm>
            <a:off x="9893808" y="5498592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toch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pourtant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Karim et Sofie s’écrivent. Trouvez les 5 erreurs de particules.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4F7FA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Chat · Karim ↔ Sofie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731520" y="2517648"/>
            <a:ext cx="6217920" cy="535940"/>
          </a:xfrm>
          <a:prstGeom prst="roundRect">
            <a:avLst>
              <a:gd name="adj" fmla="val 25592"/>
            </a:avLst>
          </a:prstGeom>
          <a:solidFill>
            <a:schemeClr val="accent2">
              <a:alpha val="14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68680" y="2517648"/>
            <a:ext cx="5989320" cy="535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Karim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Hoi Sofie, kun je </a:t>
            </a:r>
            <a:r>
              <a:rPr lang="en-US" sz="1600" i="1" dirty="0">
                <a:solidFill>
                  <a:schemeClr val="tx1"/>
                </a:solidFill>
              </a:rPr>
              <a:t>even me helpen</a:t>
            </a:r>
            <a:r>
              <a:rPr lang="en-US" sz="1600" i="1" dirty="0">
                <a:solidFill>
                  <a:schemeClr val="tx1"/>
                </a:solidFill>
              </a:rPr>
              <a:t>? De printer werkt niet.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2377440" y="3145028"/>
            <a:ext cx="6217920" cy="535940"/>
          </a:xfrm>
          <a:prstGeom prst="roundRect">
            <a:avLst>
              <a:gd name="adj" fmla="val 25592"/>
            </a:avLst>
          </a:prstGeom>
          <a:solidFill>
            <a:schemeClr val="accent3">
              <a:alpha val="14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2514600" y="3145028"/>
            <a:ext cx="5989320" cy="535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Sofie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Ja hoor, kom </a:t>
            </a:r>
            <a:r>
              <a:rPr lang="en-US" sz="1600" i="1" dirty="0">
                <a:solidFill>
                  <a:schemeClr val="tx1"/>
                </a:solidFill>
              </a:rPr>
              <a:t>binnen maar</a:t>
            </a:r>
            <a:r>
              <a:rPr lang="en-US" sz="1600" i="1" dirty="0">
                <a:solidFill>
                  <a:schemeClr val="tx1"/>
                </a:solidFill>
              </a:rPr>
              <a:t>!</a:t>
            </a:r>
            <a:endParaRPr lang="en-US" sz="1600" dirty="0"/>
          </a:p>
        </p:txBody>
      </p:sp>
      <p:sp>
        <p:nvSpPr>
          <p:cNvPr id="15" name="Shape 11"/>
          <p:cNvSpPr/>
          <p:nvPr/>
        </p:nvSpPr>
        <p:spPr>
          <a:xfrm>
            <a:off x="731520" y="3772408"/>
            <a:ext cx="6217920" cy="535940"/>
          </a:xfrm>
          <a:prstGeom prst="roundRect">
            <a:avLst>
              <a:gd name="adj" fmla="val 25592"/>
            </a:avLst>
          </a:prstGeom>
          <a:solidFill>
            <a:schemeClr val="accent2">
              <a:alpha val="14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868680" y="3772408"/>
            <a:ext cx="5989320" cy="535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Karim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Heb je een A4-papier soms?</a:t>
            </a:r>
            <a:endParaRPr lang="en-US" sz="1600" dirty="0"/>
          </a:p>
        </p:txBody>
      </p:sp>
      <p:sp>
        <p:nvSpPr>
          <p:cNvPr id="17" name="Shape 13"/>
          <p:cNvSpPr/>
          <p:nvPr/>
        </p:nvSpPr>
        <p:spPr>
          <a:xfrm>
            <a:off x="2377440" y="4399788"/>
            <a:ext cx="6217920" cy="535940"/>
          </a:xfrm>
          <a:prstGeom prst="roundRect">
            <a:avLst>
              <a:gd name="adj" fmla="val 25592"/>
            </a:avLst>
          </a:prstGeom>
          <a:solidFill>
            <a:schemeClr val="accent3">
              <a:alpha val="14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2514600" y="4399788"/>
            <a:ext cx="5989320" cy="535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Sofie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Kijk soms</a:t>
            </a:r>
            <a:r>
              <a:rPr lang="en-US" sz="1600" i="1" dirty="0">
                <a:solidFill>
                  <a:schemeClr val="tx1"/>
                </a:solidFill>
              </a:rPr>
              <a:t> in de kast, daar ligt papier.</a:t>
            </a:r>
            <a:endParaRPr lang="en-US" sz="1600" dirty="0"/>
          </a:p>
        </p:txBody>
      </p:sp>
      <p:sp>
        <p:nvSpPr>
          <p:cNvPr id="19" name="Shape 15"/>
          <p:cNvSpPr/>
          <p:nvPr/>
        </p:nvSpPr>
        <p:spPr>
          <a:xfrm>
            <a:off x="731520" y="5027168"/>
            <a:ext cx="6217920" cy="535940"/>
          </a:xfrm>
          <a:prstGeom prst="roundRect">
            <a:avLst>
              <a:gd name="adj" fmla="val 25592"/>
            </a:avLst>
          </a:prstGeom>
          <a:solidFill>
            <a:schemeClr val="accent2">
              <a:alpha val="14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868680" y="5027168"/>
            <a:ext cx="5989320" cy="535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Karim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Dank je! Je komt morgen wel naar de vergadering, toch?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2377440" y="5654548"/>
            <a:ext cx="6217920" cy="535940"/>
          </a:xfrm>
          <a:prstGeom prst="roundRect">
            <a:avLst>
              <a:gd name="adj" fmla="val 25592"/>
            </a:avLst>
          </a:prstGeom>
          <a:solidFill>
            <a:schemeClr val="accent3">
              <a:alpha val="14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2514600" y="5654548"/>
            <a:ext cx="5989320" cy="535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Sofie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Ja, natuurlijk. Geen probleem, </a:t>
            </a:r>
            <a:r>
              <a:rPr lang="en-US" sz="1600" i="1" dirty="0">
                <a:solidFill>
                  <a:schemeClr val="tx1"/>
                </a:solidFill>
              </a:rPr>
              <a:t>nou</a:t>
            </a:r>
            <a:r>
              <a:rPr lang="en-US" sz="1600" i="1" dirty="0">
                <a:solidFill>
                  <a:schemeClr val="tx1"/>
                </a:solidFill>
              </a:rPr>
              <a:t>!</a:t>
            </a:r>
            <a:endParaRPr lang="en-US" sz="1600" dirty="0"/>
          </a:p>
        </p:txBody>
      </p:sp>
      <p:pic>
        <p:nvPicPr>
          <p:cNvPr id="23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24" name="Shape 19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Karim et Sofie s’écrivent. Trouvez les 5 erreurs de particules.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4F7FA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Chat · Karim ↔ Sofie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31520" y="2517648"/>
            <a:ext cx="6217920" cy="535940"/>
          </a:xfrm>
          <a:prstGeom prst="roundRect">
            <a:avLst>
              <a:gd name="adj" fmla="val 25592"/>
            </a:avLst>
          </a:prstGeom>
          <a:solidFill>
            <a:schemeClr val="accent2">
              <a:alpha val="14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868680" y="2517648"/>
            <a:ext cx="5989320" cy="535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Karim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Hoi Sofie, kun je </a:t>
            </a:r>
            <a:r>
              <a:rPr lang="en-US" sz="1600" i="1" strike="sngStrike" dirty="0">
                <a:solidFill>
                  <a:schemeClr val="accent6"/>
                </a:solidFill>
              </a:rPr>
              <a:t>even me helpen</a:t>
            </a:r>
            <a:r>
              <a:rPr lang="en-US" sz="1600" b="1" i="1" dirty="0">
                <a:solidFill>
                  <a:schemeClr val="accent3"/>
                </a:solidFill>
              </a:rPr>
              <a:t> me even helpen</a:t>
            </a:r>
            <a:r>
              <a:rPr lang="en-US" sz="1600" i="1" dirty="0">
                <a:solidFill>
                  <a:schemeClr val="tx1"/>
                </a:solidFill>
              </a:rPr>
              <a:t>? De printer werkt niet.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>
            <a:off x="2377440" y="3145028"/>
            <a:ext cx="6217920" cy="535940"/>
          </a:xfrm>
          <a:prstGeom prst="roundRect">
            <a:avLst>
              <a:gd name="adj" fmla="val 25592"/>
            </a:avLst>
          </a:prstGeom>
          <a:solidFill>
            <a:schemeClr val="accent3">
              <a:alpha val="14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2514600" y="3145028"/>
            <a:ext cx="5989320" cy="535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Sofie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Ja hoor, kom </a:t>
            </a:r>
            <a:r>
              <a:rPr lang="en-US" sz="1600" i="1" strike="sngStrike" dirty="0">
                <a:solidFill>
                  <a:schemeClr val="accent6"/>
                </a:solidFill>
              </a:rPr>
              <a:t>binnen maar</a:t>
            </a:r>
            <a:r>
              <a:rPr lang="en-US" sz="1600" b="1" i="1" dirty="0">
                <a:solidFill>
                  <a:schemeClr val="accent3"/>
                </a:solidFill>
              </a:rPr>
              <a:t> maar binnen</a:t>
            </a:r>
            <a:r>
              <a:rPr lang="en-US" sz="1600" i="1" dirty="0">
                <a:solidFill>
                  <a:schemeClr val="tx1"/>
                </a:solidFill>
              </a:rPr>
              <a:t>!</a:t>
            </a:r>
            <a:endParaRPr lang="en-US" sz="1600" dirty="0"/>
          </a:p>
        </p:txBody>
      </p:sp>
      <p:sp>
        <p:nvSpPr>
          <p:cNvPr id="16" name="Shape 12"/>
          <p:cNvSpPr/>
          <p:nvPr/>
        </p:nvSpPr>
        <p:spPr>
          <a:xfrm>
            <a:off x="731520" y="3772408"/>
            <a:ext cx="6217920" cy="535940"/>
          </a:xfrm>
          <a:prstGeom prst="roundRect">
            <a:avLst>
              <a:gd name="adj" fmla="val 25592"/>
            </a:avLst>
          </a:prstGeom>
          <a:solidFill>
            <a:schemeClr val="accent2">
              <a:alpha val="14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868680" y="3772408"/>
            <a:ext cx="5989320" cy="535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Karim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strike="sngStrike" dirty="0">
                <a:solidFill>
                  <a:schemeClr val="accent6"/>
                </a:solidFill>
              </a:rPr>
              <a:t>Heb je een A4-papier soms?</a:t>
            </a:r>
            <a:r>
              <a:rPr lang="en-US" sz="1600" b="1" i="1" dirty="0">
                <a:solidFill>
                  <a:schemeClr val="accent3"/>
                </a:solidFill>
              </a:rPr>
              <a:t> Heb je soms A4-papier?</a:t>
            </a:r>
            <a:endParaRPr lang="en-US" sz="1600" dirty="0"/>
          </a:p>
        </p:txBody>
      </p:sp>
      <p:sp>
        <p:nvSpPr>
          <p:cNvPr id="18" name="Shape 14"/>
          <p:cNvSpPr/>
          <p:nvPr/>
        </p:nvSpPr>
        <p:spPr>
          <a:xfrm>
            <a:off x="2377440" y="4399788"/>
            <a:ext cx="6217920" cy="535940"/>
          </a:xfrm>
          <a:prstGeom prst="roundRect">
            <a:avLst>
              <a:gd name="adj" fmla="val 25592"/>
            </a:avLst>
          </a:prstGeom>
          <a:solidFill>
            <a:schemeClr val="accent3">
              <a:alpha val="14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2514600" y="4399788"/>
            <a:ext cx="5989320" cy="535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Sofie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strike="sngStrike" dirty="0">
                <a:solidFill>
                  <a:schemeClr val="accent6"/>
                </a:solidFill>
              </a:rPr>
              <a:t>Kijk soms</a:t>
            </a:r>
            <a:r>
              <a:rPr lang="en-US" sz="1600" b="1" i="1" dirty="0">
                <a:solidFill>
                  <a:schemeClr val="accent3"/>
                </a:solidFill>
              </a:rPr>
              <a:t> Kijk eens</a:t>
            </a:r>
            <a:r>
              <a:rPr lang="en-US" sz="1600" i="1" dirty="0">
                <a:solidFill>
                  <a:schemeClr val="tx1"/>
                </a:solidFill>
              </a:rPr>
              <a:t> in de kast, daar ligt papier.</a:t>
            </a:r>
            <a:endParaRPr lang="en-US" sz="1600" dirty="0"/>
          </a:p>
        </p:txBody>
      </p:sp>
      <p:sp>
        <p:nvSpPr>
          <p:cNvPr id="20" name="Shape 16"/>
          <p:cNvSpPr/>
          <p:nvPr/>
        </p:nvSpPr>
        <p:spPr>
          <a:xfrm>
            <a:off x="731520" y="5027168"/>
            <a:ext cx="6217920" cy="535940"/>
          </a:xfrm>
          <a:prstGeom prst="roundRect">
            <a:avLst>
              <a:gd name="adj" fmla="val 25592"/>
            </a:avLst>
          </a:prstGeom>
          <a:solidFill>
            <a:schemeClr val="accent2">
              <a:alpha val="14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868680" y="5027168"/>
            <a:ext cx="5989320" cy="535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Karim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Dank je! Je komt morgen wel naar de vergadering, toch?</a:t>
            </a:r>
            <a:endParaRPr lang="en-US" sz="1600" dirty="0"/>
          </a:p>
        </p:txBody>
      </p:sp>
      <p:sp>
        <p:nvSpPr>
          <p:cNvPr id="22" name="Shape 18"/>
          <p:cNvSpPr/>
          <p:nvPr/>
        </p:nvSpPr>
        <p:spPr>
          <a:xfrm>
            <a:off x="2377440" y="5654548"/>
            <a:ext cx="6217920" cy="535940"/>
          </a:xfrm>
          <a:prstGeom prst="roundRect">
            <a:avLst>
              <a:gd name="adj" fmla="val 25592"/>
            </a:avLst>
          </a:prstGeom>
          <a:solidFill>
            <a:schemeClr val="accent3">
              <a:alpha val="14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2514600" y="5654548"/>
            <a:ext cx="5989320" cy="535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Sofie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Ja, natuurlijk. Geen probleem, </a:t>
            </a:r>
            <a:r>
              <a:rPr lang="en-US" sz="1600" i="1" strike="sngStrike" dirty="0">
                <a:solidFill>
                  <a:schemeClr val="accent6"/>
                </a:solidFill>
              </a:rPr>
              <a:t>nou</a:t>
            </a:r>
            <a:r>
              <a:rPr lang="en-US" sz="1600" b="1" i="1" dirty="0">
                <a:solidFill>
                  <a:schemeClr val="accent3"/>
                </a:solidFill>
              </a:rPr>
              <a:t> hoor</a:t>
            </a:r>
            <a:r>
              <a:rPr lang="en-US" sz="1600" i="1" dirty="0">
                <a:solidFill>
                  <a:schemeClr val="tx1"/>
                </a:solidFill>
              </a:rPr>
              <a:t>!</a:t>
            </a:r>
            <a:endParaRPr lang="en-US" sz="1600" dirty="0"/>
          </a:p>
        </p:txBody>
      </p:sp>
      <p:pic>
        <p:nvPicPr>
          <p:cNvPr id="24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✓</a:t>
            </a:r>
            <a:endParaRPr lang="en-US" sz="2200" dirty="0"/>
          </a:p>
        </p:txBody>
      </p:sp>
      <p:sp>
        <p:nvSpPr>
          <p:cNvPr id="27" name="Text 22"/>
          <p:cNvSpPr txBox="1"/>
          <p:nvPr/>
        </p:nvSpPr>
        <p:spPr>
          <a:xfrm>
            <a:off x="9052560" y="4721352"/>
            <a:ext cx="258775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Leurres : </a:t>
            </a:r>
            <a:r>
              <a:rPr lang="en-US" sz="1400" i="1" dirty="0">
                <a:solidFill>
                  <a:schemeClr val="accent5"/>
                </a:solidFill>
              </a:rPr>
              <a:t>Ja hoor · …, toch?</a:t>
            </a:r>
            <a:r>
              <a:rPr lang="en-US" sz="1400" i="1" dirty="0">
                <a:solidFill>
                  <a:schemeClr val="accent5"/>
                </a:solidFill>
              </a:rPr>
              <a:t> (</a:t>
            </a:r>
            <a:r>
              <a:rPr lang="en-US" sz="1400" i="1" dirty="0">
                <a:solidFill>
                  <a:schemeClr val="accent5"/>
                </a:solidFill>
              </a:rPr>
              <a:t>toch</a:t>
            </a:r>
            <a:r>
              <a:rPr lang="en-US" sz="1400" i="1" dirty="0">
                <a:solidFill>
                  <a:schemeClr val="accent5"/>
                </a:solidFill>
              </a:rPr>
              <a:t> en fin de phrase = « hein ? ») · </a:t>
            </a:r>
            <a:r>
              <a:rPr lang="en-US" sz="1400" i="1" dirty="0">
                <a:solidFill>
                  <a:schemeClr val="accent5"/>
                </a:solidFill>
              </a:rPr>
              <a:t>papier</a:t>
            </a:r>
            <a:r>
              <a:rPr lang="en-US" sz="1400" i="1" dirty="0">
                <a:solidFill>
                  <a:schemeClr val="accent5"/>
                </a:solidFill>
              </a:rPr>
              <a:t> : sans </a:t>
            </a:r>
            <a:r>
              <a:rPr lang="en-US" sz="1400" i="1" dirty="0">
                <a:solidFill>
                  <a:schemeClr val="accent5"/>
                </a:solidFill>
              </a:rPr>
              <a:t>een</a:t>
            </a:r>
            <a:endParaRPr lang="en-US" sz="1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00" i="1" dirty="0">
                <a:solidFill>
                  <a:schemeClr val="accent5"/>
                </a:solidFill>
              </a:rPr>
              <a:t>Aussi correct : </a:t>
            </a:r>
            <a:r>
              <a:rPr lang="en-US" sz="1400" i="1" dirty="0">
                <a:solidFill>
                  <a:schemeClr val="accent5"/>
                </a:solidFill>
              </a:rPr>
              <a:t>Kijk even / Kijk maar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Le théâtre des émotions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554480"/>
            <a:ext cx="7086600" cy="731520"/>
          </a:xfrm>
          <a:prstGeom prst="roundRect">
            <a:avLst>
              <a:gd name="adj" fmla="val 125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554480"/>
            <a:ext cx="6675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Phrase de base : </a:t>
            </a:r>
            <a:r>
              <a:rPr lang="en-US" sz="2200" b="1" i="1" dirty="0">
                <a:solidFill>
                  <a:schemeClr val="bg1"/>
                </a:solidFill>
              </a:rPr>
              <a:t>Kom binnen.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548640" y="2514600"/>
            <a:ext cx="1634490" cy="3291840"/>
          </a:xfrm>
          <a:prstGeom prst="roundRect">
            <a:avLst>
              <a:gd name="adj" fmla="val 6713"/>
            </a:avLst>
          </a:prstGeom>
          <a:solidFill>
            <a:srgbClr val="FFFFFF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9" name="Image 0" descr="hugging fa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2965" y="2697480"/>
            <a:ext cx="1005840" cy="100584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48640" y="3794760"/>
            <a:ext cx="16344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chemeClr val="accent2"/>
                </a:solidFill>
              </a:rPr>
              <a:t>ACCUEILLANT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640080" y="4206240"/>
            <a:ext cx="145161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Kom </a:t>
            </a:r>
            <a:r>
              <a:rPr lang="en-US" sz="1700" b="1" i="1" dirty="0">
                <a:solidFill>
                  <a:schemeClr val="accent2"/>
                </a:solidFill>
              </a:rPr>
              <a:t>maar</a:t>
            </a:r>
            <a:r>
              <a:rPr lang="en-US" sz="1700" i="1" dirty="0">
                <a:solidFill>
                  <a:schemeClr val="tx1"/>
                </a:solidFill>
              </a:rPr>
              <a:t> binnen!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>
            <a:off x="2366010" y="2514600"/>
            <a:ext cx="1634490" cy="3291840"/>
          </a:xfrm>
          <a:prstGeom prst="roundRect">
            <a:avLst>
              <a:gd name="adj" fmla="val 6713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3" name="Image 1" descr="face with steam from no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0335" y="2697480"/>
            <a:ext cx="1005840" cy="100584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2366010" y="3794760"/>
            <a:ext cx="16344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chemeClr val="accent1"/>
                </a:solidFill>
              </a:rPr>
              <a:t>IMPATIENT</a:t>
            </a:r>
            <a:endParaRPr lang="en-US" sz="1300" dirty="0"/>
          </a:p>
        </p:txBody>
      </p:sp>
      <p:sp>
        <p:nvSpPr>
          <p:cNvPr id="15" name="Text 10"/>
          <p:cNvSpPr txBox="1"/>
          <p:nvPr/>
        </p:nvSpPr>
        <p:spPr>
          <a:xfrm>
            <a:off x="2457450" y="4206240"/>
            <a:ext cx="145161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Kom </a:t>
            </a:r>
            <a:r>
              <a:rPr lang="en-US" sz="1700" b="1" i="1" dirty="0">
                <a:solidFill>
                  <a:schemeClr val="accent1"/>
                </a:solidFill>
              </a:rPr>
              <a:t>nou</a:t>
            </a:r>
            <a:r>
              <a:rPr lang="en-US" sz="1700" i="1" dirty="0">
                <a:solidFill>
                  <a:schemeClr val="tx1"/>
                </a:solidFill>
              </a:rPr>
              <a:t> binnen!</a:t>
            </a:r>
            <a:endParaRPr lang="en-US" sz="1700" dirty="0"/>
          </a:p>
        </p:txBody>
      </p:sp>
      <p:sp>
        <p:nvSpPr>
          <p:cNvPr id="16" name="Shape 11"/>
          <p:cNvSpPr/>
          <p:nvPr/>
        </p:nvSpPr>
        <p:spPr>
          <a:xfrm>
            <a:off x="4183380" y="2514600"/>
            <a:ext cx="1634490" cy="3291840"/>
          </a:xfrm>
          <a:prstGeom prst="roundRect">
            <a:avLst>
              <a:gd name="adj" fmla="val 6713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7" name="Image 2" descr="pleading fac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7705" y="2697480"/>
            <a:ext cx="1005840" cy="100584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4183380" y="3794760"/>
            <a:ext cx="16344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chemeClr val="accent1"/>
                </a:solidFill>
              </a:rPr>
              <a:t>INSISTANT</a:t>
            </a:r>
            <a:endParaRPr lang="en-US" sz="1300" dirty="0"/>
          </a:p>
        </p:txBody>
      </p:sp>
      <p:sp>
        <p:nvSpPr>
          <p:cNvPr id="19" name="Text 13"/>
          <p:cNvSpPr txBox="1"/>
          <p:nvPr/>
        </p:nvSpPr>
        <p:spPr>
          <a:xfrm>
            <a:off x="4274820" y="4206240"/>
            <a:ext cx="145161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Kom </a:t>
            </a:r>
            <a:r>
              <a:rPr lang="en-US" sz="1700" b="1" i="1" dirty="0">
                <a:solidFill>
                  <a:schemeClr val="accent1"/>
                </a:solidFill>
              </a:rPr>
              <a:t>toch</a:t>
            </a:r>
            <a:r>
              <a:rPr lang="en-US" sz="1700" i="1" dirty="0">
                <a:solidFill>
                  <a:schemeClr val="tx1"/>
                </a:solidFill>
              </a:rPr>
              <a:t> binnen!</a:t>
            </a:r>
            <a:endParaRPr lang="en-US" sz="1700" dirty="0"/>
          </a:p>
        </p:txBody>
      </p:sp>
      <p:sp>
        <p:nvSpPr>
          <p:cNvPr id="20" name="Shape 14"/>
          <p:cNvSpPr/>
          <p:nvPr/>
        </p:nvSpPr>
        <p:spPr>
          <a:xfrm>
            <a:off x="6000750" y="2514600"/>
            <a:ext cx="1634490" cy="3291840"/>
          </a:xfrm>
          <a:prstGeom prst="roundRect">
            <a:avLst>
              <a:gd name="adj" fmla="val 6713"/>
            </a:avLst>
          </a:prstGeom>
          <a:solidFill>
            <a:srgbClr val="FFFFFF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1" name="Image 3" descr="relieved fac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15075" y="2697480"/>
            <a:ext cx="1005840" cy="100584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6000750" y="3794760"/>
            <a:ext cx="16344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chemeClr val="accent3"/>
                </a:solidFill>
              </a:rPr>
              <a:t>RASSURANT</a:t>
            </a:r>
            <a:endParaRPr lang="en-US" sz="1300" dirty="0"/>
          </a:p>
        </p:txBody>
      </p:sp>
      <p:sp>
        <p:nvSpPr>
          <p:cNvPr id="23" name="Text 16"/>
          <p:cNvSpPr txBox="1"/>
          <p:nvPr/>
        </p:nvSpPr>
        <p:spPr>
          <a:xfrm>
            <a:off x="6092190" y="4206240"/>
            <a:ext cx="145161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Kom </a:t>
            </a:r>
            <a:r>
              <a:rPr lang="en-US" sz="1700" b="1" i="1" dirty="0">
                <a:solidFill>
                  <a:schemeClr val="accent2"/>
                </a:solidFill>
              </a:rPr>
              <a:t>maar</a:t>
            </a:r>
            <a:r>
              <a:rPr lang="en-US" sz="1700" i="1" dirty="0">
                <a:solidFill>
                  <a:schemeClr val="tx1"/>
                </a:solidFill>
              </a:rPr>
              <a:t> binnen, </a:t>
            </a:r>
            <a:r>
              <a:rPr lang="en-US" sz="1700" b="1" i="1" dirty="0">
                <a:solidFill>
                  <a:schemeClr val="accent3"/>
                </a:solidFill>
              </a:rPr>
              <a:t>hoor</a:t>
            </a:r>
            <a:r>
              <a:rPr lang="en-US" sz="1700" i="1" dirty="0">
                <a:solidFill>
                  <a:schemeClr val="tx1"/>
                </a:solidFill>
              </a:rPr>
              <a:t>!</a:t>
            </a:r>
            <a:endParaRPr lang="en-US" sz="1700" dirty="0"/>
          </a:p>
        </p:txBody>
      </p:sp>
      <p:pic>
        <p:nvPicPr>
          <p:cNvPr id="24" name="Image 4" descr="performing art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55280" y="1554480"/>
            <a:ext cx="731520" cy="731520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8778240" y="1554480"/>
            <a:ext cx="2862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Théâtre!</a:t>
            </a:r>
            <a:endParaRPr lang="en-US" sz="2600" dirty="0"/>
          </a:p>
        </p:txBody>
      </p:sp>
      <p:sp>
        <p:nvSpPr>
          <p:cNvPr id="26" name="Text 18"/>
          <p:cNvSpPr txBox="1"/>
          <p:nvPr/>
        </p:nvSpPr>
        <p:spPr>
          <a:xfrm>
            <a:off x="7955280" y="2514600"/>
            <a:ext cx="368503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1.</a:t>
            </a:r>
            <a:r>
              <a:rPr lang="en-US" sz="1600" dirty="0">
                <a:solidFill>
                  <a:schemeClr val="tx1"/>
                </a:solidFill>
              </a:rPr>
              <a:t> Tirez une carte-émotion en secret.</a:t>
            </a:r>
            <a:endParaRPr lang="en-US" sz="16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2.</a:t>
            </a:r>
            <a:r>
              <a:rPr lang="en-US" sz="1600" dirty="0">
                <a:solidFill>
                  <a:schemeClr val="tx1"/>
                </a:solidFill>
              </a:rPr>
              <a:t> Dites la phrase avec la particule </a:t>
            </a:r>
            <a:r>
              <a:rPr lang="en-US" sz="1600" b="1" dirty="0">
                <a:solidFill>
                  <a:schemeClr val="tx1"/>
                </a:solidFill>
              </a:rPr>
              <a:t>et</a:t>
            </a:r>
            <a:r>
              <a:rPr lang="en-US" sz="1600" dirty="0">
                <a:solidFill>
                  <a:schemeClr val="tx1"/>
                </a:solidFill>
              </a:rPr>
              <a:t> l’intonation.</a:t>
            </a:r>
            <a:endParaRPr lang="en-US" sz="16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3.</a:t>
            </a:r>
            <a:r>
              <a:rPr lang="en-US" sz="1600" dirty="0">
                <a:solidFill>
                  <a:schemeClr val="tx1"/>
                </a:solidFill>
              </a:rPr>
              <a:t> La classe devine l’émotion.</a:t>
            </a:r>
            <a:endParaRPr lang="en-US" sz="1600" dirty="0"/>
          </a:p>
        </p:txBody>
      </p:sp>
      <p:sp>
        <p:nvSpPr>
          <p:cNvPr id="27" name="Shape 19"/>
          <p:cNvSpPr/>
          <p:nvPr/>
        </p:nvSpPr>
        <p:spPr>
          <a:xfrm>
            <a:off x="7955280" y="4800600"/>
            <a:ext cx="3685032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8" name="Text 20"/>
          <p:cNvSpPr txBox="1"/>
          <p:nvPr/>
        </p:nvSpPr>
        <p:spPr>
          <a:xfrm>
            <a:off x="8092440" y="4800600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Autres phrases :</a:t>
            </a:r>
            <a:endParaRPr lang="en-US" sz="14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400" i="1" dirty="0">
                <a:solidFill>
                  <a:schemeClr val="tx1"/>
                </a:solidFill>
              </a:rPr>
              <a:t>Ga zitten. · Wat doe je? · Heb je tijd?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7 — La pause-café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481328"/>
            <a:ext cx="7251192" cy="755904"/>
          </a:xfrm>
          <a:prstGeom prst="roundRect">
            <a:avLst>
              <a:gd name="adj" fmla="val 9677"/>
            </a:avLst>
          </a:prstGeom>
          <a:solidFill>
            <a:srgbClr val="6E4A9E">
              <a:alpha val="10000"/>
            </a:srgbClr>
          </a:solidFill>
          <a:ln w="12700">
            <a:solidFill>
              <a:srgbClr val="6E4A9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481328"/>
            <a:ext cx="6793992" cy="75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À la machine à café, Karim demande plusieurs petits services à ses collègues.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3232" y="2557272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Karim</a:t>
            </a:r>
            <a:r>
              <a:rPr lang="en-US" sz="1700" dirty="0">
                <a:solidFill>
                  <a:schemeClr val="tx1"/>
                </a:solidFill>
              </a:rPr>
              <a:t> : demandez 3 services, avec au moins une particule par demande : </a:t>
            </a:r>
            <a:r>
              <a:rPr lang="en-US" sz="1700" i="1" dirty="0">
                <a:solidFill>
                  <a:schemeClr val="tx1"/>
                </a:solidFill>
              </a:rPr>
              <a:t>Heb je soms…? Kun je me even…?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4311396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75988" y="2557272"/>
            <a:ext cx="457200" cy="4572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475988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5088636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Un·e collègue</a:t>
            </a:r>
            <a:r>
              <a:rPr lang="en-US" sz="1700" dirty="0">
                <a:solidFill>
                  <a:schemeClr val="tx1"/>
                </a:solidFill>
              </a:rPr>
              <a:t> : répondez avec une particule : </a:t>
            </a:r>
            <a:r>
              <a:rPr lang="en-US" sz="1700" i="1" dirty="0">
                <a:solidFill>
                  <a:schemeClr val="tx1"/>
                </a:solidFill>
              </a:rPr>
              <a:t>Ja hoor! · Dat lukt wel. · Zeg het maar.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48640" y="4690872"/>
            <a:ext cx="7251192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7640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 DE PHRASES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731520" y="5056632"/>
            <a:ext cx="688543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Zeg, heb je even tijd? · Heb je soms een oplader? · Kun je me even helpen? · Ja hoor, geen probleem! · Dat lukt wel. · Hoe heet hij ook alweer? · Je komt toch ook?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074152" y="1481328"/>
            <a:ext cx="3566160" cy="4809744"/>
          </a:xfrm>
          <a:prstGeom prst="roundRect">
            <a:avLst>
              <a:gd name="adj" fmla="val 1026"/>
            </a:avLst>
          </a:prstGeom>
          <a:solidFill>
            <a:srgbClr val="FFFFFF"/>
          </a:solidFill>
          <a:ln w="127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074152" y="1481328"/>
            <a:ext cx="3566160" cy="502920"/>
          </a:xfrm>
          <a:prstGeom prst="roundRect">
            <a:avLst>
              <a:gd name="adj" fmla="val 7273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11312" y="1481328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bg1"/>
                </a:solidFill>
              </a:rPr>
              <a:t>6 SERVICES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8165592" y="2121408"/>
            <a:ext cx="1645920" cy="1252728"/>
          </a:xfrm>
          <a:prstGeom prst="roundRect">
            <a:avLst>
              <a:gd name="adj" fmla="val 583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23" name="Image 0" descr="electric plu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14232" y="2231136"/>
            <a:ext cx="548640" cy="548640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8211312" y="2807208"/>
            <a:ext cx="15544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1"/>
                </a:solidFill>
              </a:rPr>
              <a:t>een oplader lenen</a:t>
            </a:r>
            <a:endParaRPr lang="en-US" sz="1100" dirty="0"/>
          </a:p>
        </p:txBody>
      </p:sp>
      <p:sp>
        <p:nvSpPr>
          <p:cNvPr id="25" name="Shape 21"/>
          <p:cNvSpPr/>
          <p:nvPr/>
        </p:nvSpPr>
        <p:spPr>
          <a:xfrm>
            <a:off x="9902952" y="2121408"/>
            <a:ext cx="1645920" cy="1252728"/>
          </a:xfrm>
          <a:prstGeom prst="roundRect">
            <a:avLst>
              <a:gd name="adj" fmla="val 583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26" name="Image 1" descr="telephone receiv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51592" y="2231136"/>
            <a:ext cx="548640" cy="548640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9948672" y="2807208"/>
            <a:ext cx="15544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1"/>
                </a:solidFill>
              </a:rPr>
              <a:t>de telefoon opnemen</a:t>
            </a:r>
            <a:endParaRPr lang="en-US" sz="1100" dirty="0"/>
          </a:p>
        </p:txBody>
      </p:sp>
      <p:sp>
        <p:nvSpPr>
          <p:cNvPr id="28" name="Shape 23"/>
          <p:cNvSpPr/>
          <p:nvPr/>
        </p:nvSpPr>
        <p:spPr>
          <a:xfrm>
            <a:off x="8165592" y="3465576"/>
            <a:ext cx="1645920" cy="1252728"/>
          </a:xfrm>
          <a:prstGeom prst="roundRect">
            <a:avLst>
              <a:gd name="adj" fmla="val 583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29" name="Image 2" descr="print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14232" y="3575304"/>
            <a:ext cx="548640" cy="548640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8211312" y="4151376"/>
            <a:ext cx="15544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1"/>
                </a:solidFill>
              </a:rPr>
              <a:t>een document printen</a:t>
            </a:r>
            <a:endParaRPr lang="en-US" sz="1100" dirty="0"/>
          </a:p>
        </p:txBody>
      </p:sp>
      <p:sp>
        <p:nvSpPr>
          <p:cNvPr id="31" name="Shape 25"/>
          <p:cNvSpPr/>
          <p:nvPr/>
        </p:nvSpPr>
        <p:spPr>
          <a:xfrm>
            <a:off x="9902952" y="3465576"/>
            <a:ext cx="1645920" cy="1252728"/>
          </a:xfrm>
          <a:prstGeom prst="roundRect">
            <a:avLst>
              <a:gd name="adj" fmla="val 583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32" name="Image 3" descr="spiral calenda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51592" y="3575304"/>
            <a:ext cx="548640" cy="548640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9948672" y="4151376"/>
            <a:ext cx="15544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1"/>
                </a:solidFill>
              </a:rPr>
              <a:t>een vergadering verzetten</a:t>
            </a:r>
            <a:endParaRPr lang="en-US" sz="1100" dirty="0"/>
          </a:p>
        </p:txBody>
      </p:sp>
      <p:sp>
        <p:nvSpPr>
          <p:cNvPr id="34" name="Shape 27"/>
          <p:cNvSpPr/>
          <p:nvPr/>
        </p:nvSpPr>
        <p:spPr>
          <a:xfrm>
            <a:off x="8165592" y="4809744"/>
            <a:ext cx="1645920" cy="1252728"/>
          </a:xfrm>
          <a:prstGeom prst="roundRect">
            <a:avLst>
              <a:gd name="adj" fmla="val 583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35" name="Image 4" descr="identification car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14232" y="4919472"/>
            <a:ext cx="548640" cy="548640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8211312" y="5495544"/>
            <a:ext cx="15544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1"/>
                </a:solidFill>
              </a:rPr>
              <a:t>de naam van een klant</a:t>
            </a:r>
            <a:endParaRPr lang="en-US" sz="1100" dirty="0"/>
          </a:p>
        </p:txBody>
      </p:sp>
      <p:sp>
        <p:nvSpPr>
          <p:cNvPr id="37" name="Shape 29"/>
          <p:cNvSpPr/>
          <p:nvPr/>
        </p:nvSpPr>
        <p:spPr>
          <a:xfrm>
            <a:off x="9902952" y="4809744"/>
            <a:ext cx="1645920" cy="1252728"/>
          </a:xfrm>
          <a:prstGeom prst="roundRect">
            <a:avLst>
              <a:gd name="adj" fmla="val 583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38" name="Image 5" descr="automob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51592" y="4919472"/>
            <a:ext cx="548640" cy="548640"/>
          </a:xfrm>
          <a:prstGeom prst="rect">
            <a:avLst/>
          </a:prstGeom>
        </p:spPr>
      </p:pic>
      <p:sp>
        <p:nvSpPr>
          <p:cNvPr id="39" name="Text 30"/>
          <p:cNvSpPr txBox="1"/>
          <p:nvPr/>
        </p:nvSpPr>
        <p:spPr>
          <a:xfrm>
            <a:off x="9948672" y="5495544"/>
            <a:ext cx="15544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1"/>
                </a:solidFill>
              </a:rPr>
              <a:t>een lift naar huis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 et bilan du bloc 5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Plus aimable : </a:t>
            </a:r>
            <a:r>
              <a:rPr lang="en-US" sz="2000" i="1" dirty="0">
                <a:solidFill>
                  <a:schemeClr val="tx1"/>
                </a:solidFill>
              </a:rPr>
              <a:t>Wacht!</a:t>
            </a:r>
            <a:r>
              <a:rPr lang="en-US" sz="2000" dirty="0">
                <a:solidFill>
                  <a:schemeClr val="tx1"/>
                </a:solidFill>
              </a:rPr>
              <a:t> · </a:t>
            </a:r>
            <a:r>
              <a:rPr lang="en-US" sz="2000" i="1" dirty="0">
                <a:solidFill>
                  <a:schemeClr val="tx1"/>
                </a:solidFill>
              </a:rPr>
              <a:t>Heb je een pen?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« Tu viens demain, </a:t>
            </a:r>
            <a:r>
              <a:rPr lang="en-US" sz="2000" b="1" dirty="0">
                <a:solidFill>
                  <a:schemeClr val="tx1"/>
                </a:solidFill>
              </a:rPr>
              <a:t>hein</a:t>
            </a:r>
            <a:r>
              <a:rPr lang="en-US" sz="2000" dirty="0">
                <a:solidFill>
                  <a:schemeClr val="tx1"/>
                </a:solidFill>
              </a:rPr>
              <a:t> ? »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Placez </a:t>
            </a:r>
            <a:r>
              <a:rPr lang="en-US" sz="2000" i="1" dirty="0">
                <a:solidFill>
                  <a:schemeClr val="tx1"/>
                </a:solidFill>
              </a:rPr>
              <a:t>even</a:t>
            </a:r>
            <a:r>
              <a:rPr lang="en-US" sz="2000" dirty="0">
                <a:solidFill>
                  <a:schemeClr val="tx1"/>
                </a:solidFill>
              </a:rPr>
              <a:t> : </a:t>
            </a:r>
            <a:r>
              <a:rPr lang="en-US" sz="2000" i="1" dirty="0">
                <a:solidFill>
                  <a:schemeClr val="tx1"/>
                </a:solidFill>
              </a:rPr>
              <a:t>Kun je me helpen?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Reconnaître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Nuancer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Le ton juste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Trophy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Proficiat! Bloc 5 is klaar.</a:t>
            </a:r>
            <a:r>
              <a:rPr lang="en-US" sz="1800" dirty="0">
                <a:solidFill>
                  <a:schemeClr val="bg1"/>
                </a:solidFill>
              </a:rPr>
              <a:t> — Volgende stap : bloc 6, M25 </a:t>
            </a:r>
            <a:r>
              <a:rPr lang="en-US" sz="1800" i="1" dirty="0">
                <a:solidFill>
                  <a:schemeClr val="bg1"/>
                </a:solidFill>
              </a:rPr>
              <a:t>Hoe laat is het?</a:t>
            </a:r>
            <a:endParaRPr lang="en-US" sz="1800" dirty="0"/>
          </a:p>
        </p:txBody>
      </p:sp>
      <p:sp>
        <p:nvSpPr>
          <p:cNvPr id="36" name="Text 23"/>
          <p:cNvSpPr txBox="1"/>
          <p:nvPr/>
        </p:nvSpPr>
        <p:spPr>
          <a:xfrm>
            <a:off x="6949440" y="459943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BLOCS 1 À 5 · 24 MODULES</a:t>
            </a:r>
            <a:endParaRPr lang="en-US" sz="1200" dirty="0"/>
          </a:p>
        </p:txBody>
      </p:sp>
      <p:sp>
        <p:nvSpPr>
          <p:cNvPr id="37" name="Shape 24"/>
          <p:cNvSpPr/>
          <p:nvPr/>
        </p:nvSpPr>
        <p:spPr>
          <a:xfrm>
            <a:off x="6949440" y="4919472"/>
            <a:ext cx="828675" cy="411480"/>
          </a:xfrm>
          <a:prstGeom prst="roundRect">
            <a:avLst>
              <a:gd name="adj" fmla="val 13333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25"/>
          <p:cNvSpPr txBox="1"/>
          <p:nvPr/>
        </p:nvSpPr>
        <p:spPr>
          <a:xfrm>
            <a:off x="6949440" y="4919472"/>
            <a:ext cx="8286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M1–5</a:t>
            </a:r>
            <a:endParaRPr lang="en-US" sz="900" dirty="0"/>
          </a:p>
        </p:txBody>
      </p:sp>
      <p:sp>
        <p:nvSpPr>
          <p:cNvPr id="39" name="Shape 26"/>
          <p:cNvSpPr/>
          <p:nvPr/>
        </p:nvSpPr>
        <p:spPr>
          <a:xfrm>
            <a:off x="7823835" y="4919472"/>
            <a:ext cx="828675" cy="411480"/>
          </a:xfrm>
          <a:prstGeom prst="roundRect">
            <a:avLst>
              <a:gd name="adj" fmla="val 13333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27"/>
          <p:cNvSpPr txBox="1"/>
          <p:nvPr/>
        </p:nvSpPr>
        <p:spPr>
          <a:xfrm>
            <a:off x="7823835" y="4919472"/>
            <a:ext cx="8286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M6–10</a:t>
            </a:r>
            <a:endParaRPr lang="en-US" sz="900" dirty="0"/>
          </a:p>
        </p:txBody>
      </p:sp>
      <p:sp>
        <p:nvSpPr>
          <p:cNvPr id="41" name="Shape 28"/>
          <p:cNvSpPr/>
          <p:nvPr/>
        </p:nvSpPr>
        <p:spPr>
          <a:xfrm>
            <a:off x="8698230" y="4919472"/>
            <a:ext cx="828675" cy="411480"/>
          </a:xfrm>
          <a:prstGeom prst="roundRect">
            <a:avLst>
              <a:gd name="adj" fmla="val 13333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29"/>
          <p:cNvSpPr txBox="1"/>
          <p:nvPr/>
        </p:nvSpPr>
        <p:spPr>
          <a:xfrm>
            <a:off x="8698230" y="4919472"/>
            <a:ext cx="8286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M11–15</a:t>
            </a:r>
            <a:endParaRPr lang="en-US" sz="900" dirty="0"/>
          </a:p>
        </p:txBody>
      </p:sp>
      <p:sp>
        <p:nvSpPr>
          <p:cNvPr id="43" name="Shape 30"/>
          <p:cNvSpPr/>
          <p:nvPr/>
        </p:nvSpPr>
        <p:spPr>
          <a:xfrm>
            <a:off x="9572625" y="4919472"/>
            <a:ext cx="662940" cy="411480"/>
          </a:xfrm>
          <a:prstGeom prst="roundRect">
            <a:avLst>
              <a:gd name="adj" fmla="val 13333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1"/>
          <p:cNvSpPr txBox="1"/>
          <p:nvPr/>
        </p:nvSpPr>
        <p:spPr>
          <a:xfrm>
            <a:off x="9572625" y="4919472"/>
            <a:ext cx="6629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M16–19</a:t>
            </a:r>
            <a:endParaRPr lang="en-US" sz="900" dirty="0"/>
          </a:p>
        </p:txBody>
      </p:sp>
      <p:sp>
        <p:nvSpPr>
          <p:cNvPr id="45" name="Shape 32"/>
          <p:cNvSpPr/>
          <p:nvPr/>
        </p:nvSpPr>
        <p:spPr>
          <a:xfrm>
            <a:off x="10281285" y="4919472"/>
            <a:ext cx="828675" cy="411480"/>
          </a:xfrm>
          <a:prstGeom prst="roundRect">
            <a:avLst>
              <a:gd name="adj" fmla="val 13333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33"/>
          <p:cNvSpPr txBox="1"/>
          <p:nvPr/>
        </p:nvSpPr>
        <p:spPr>
          <a:xfrm>
            <a:off x="10281285" y="4919472"/>
            <a:ext cx="8286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M20–24</a:t>
            </a:r>
            <a:endParaRPr lang="en-US" sz="900" dirty="0"/>
          </a:p>
        </p:txBody>
      </p:sp>
      <p:pic>
        <p:nvPicPr>
          <p:cNvPr id="47" name="Image 10" descr="trophy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201400" y="4846320"/>
            <a:ext cx="502920" cy="502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24 — Nou, toch, maar… — Les particules modales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2026-10-05T15:46:48Z</dcterms:created>
  <dcterms:modified xsi:type="dcterms:W3CDTF">2026-10-05T15:46:48Z</dcterms:modified>
</cp:coreProperties>
</file>