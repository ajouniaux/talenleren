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51c39f2-9d3b-91a6-9230-71c5239b7a71}">
          <p14:sldIdLst>
            <p14:sldId id="256"/>
          </p14:sldIdLst>
        </p14:section>
        <p14:section name="Découvrir" id="{6f0b4dce-fcdc-a2f8-1dd0-f82a41bf7ea5}">
          <p14:sldIdLst>
            <p14:sldId id="257"/>
            <p14:sldId id="258"/>
          </p14:sldIdLst>
        </p14:section>
        <p14:section name="Comprendre" id="{f3fb900e-64ab-fe16-ba5b-46d7ba8b0d6a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95ecc900-ec97-5037-5f1e-89484ea93053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3bb31e99-d0e9-035b-a645-c9fca777b243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les petits mots qui changent le ton.
Lisez les deux bulles à voix haute : « Laquelle est la plus aimable ? Pourquoi ? » Les petits mots ne changent pas le sens, ils changent le 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Sans ces mots, le néerlandais sonne sec, voire impoli. Ils sont très fréquents à l'oral et dans les messages entre collègues.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Sentir l'effet des particules par comparaison.
Faites lire les deux versions par deux apprenants, avec l'intonation. Faites deviner la nuance : even adoucit, soms = « par hasard », hoor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particules selon leur rôle.
Une particule peut appartenir à deux familles (wel). L'intonation compte autant que le mot. Ce schéma sert de carte pour tout 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demande, une invitation, un conseil (lien M16).
Rappel M16. Nouveauté : even marche aussi dans les questions polies (Kun je even…?, Heb je even tijd?). Zeg het maar = « je vous écoute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les emplois de toch comme particule.
toch est la particule la plus fréquente. La question en toch correspond au « hein ? » ou « n'est-ce pas ? » du français. Rappel M13 : Toch wel! = « mais si !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nou et ses équivalents flamands.
nou est très néerlandais. En Flandre, nu le remplace dans la phrase (Wat doe je nu? Kom nu!), sans valeur de « maintenant » ; en début de phrase, on dit Allez, … ou Bon, … (Allez, ik ga naar huis), et En dan? pour Nou, en? (« et alors ? »). zeg s'entend aussi aux Pays-Bas. À reconnaître selon l'interlocuteur.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Nuancer une question.
soms dans une question = « par hasard » : demande plus polie. ook alweer = on a oublié et on s'excuse presque. eigenlijk ouvre une question plus personnelle, en passant.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wel et hoor pour affirmer et rassurer.
wel répond à une négation (M13 : Ik werk niet. — Ik wel!). hoor est très fréquent et amical, surtout aux Pays-Bas ; en Flandre aussi, dans Ja hoor!. Dat lukt wel : le wel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« petits mots » français aux particules néerlandaises.
On ne traduit pas la particule, on traduit l'intention. Ne cherchez pas un équivalent pour chaque mot : écoutez la mélodie de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la particule au milieu de la phrase.
La particule vient après le verbe, les petits pronoms (me, je, het) et les éléments déjà connus (morgen, je pen) ; avant l'information nouvelle (een pen) et le 2e verbe. Comme niet (M13), elle se glisse dans la pince.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« plein ».
Le contexte et l'intonation tranchent. Astuce : si on peut enlever le mot sans changer l'information, c'est une particule. wel opposé à niet (maar zij wel) est le sens plein : on ne peut pas l'enlever.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tableau est la référence pour tous les exercices. Placement : après le verbe et les pronoms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une même phrase avec des particules et des émotions différentes.
Autres phrases de base : Ga zitten. · Wat doe je? · Heb je tijd? Exigez une vraie intonation : le jeu montre que la particule et la mélodie vont ensemble.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demander un service à un collègue, de façon naturelle.
Chaque demande doit contenir au moins une particule, chaque réponse aussi. verzetten = déplacer (un rendez-vous). een lift = un trajet en voiture (Kan ik met je meerijden?). C'est la tâche finale orale du bloc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5.
Réponses :
1. Wacht even! · Heb je soms een pen?
2. Je komt toch morgen?
3. Kun je me even helpen?
Bilan : faites relire la frise des 24 modules et choisir un module à retravailler. Bloc 6 : l'heure (M25), les montants (M26), graag / houden van (M27), zich / elkaar (M28) et le conditionnel (M29). Bloc 7 : l'entreprise (M30), les achterzetsels (M31) et la présentation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Nou, toch, maar…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particules modales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maar even binnen, hoor!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463040"/>
          </a:xfrm>
          <a:prstGeom prst="roundRect">
            <a:avLst>
              <a:gd name="adj" fmla="val 125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9144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binnen.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698480" y="10058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sec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0" y="2743200"/>
            <a:ext cx="5212080" cy="169164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108960"/>
            <a:ext cx="960120" cy="960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0" y="2743200"/>
            <a:ext cx="3703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binnen,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!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10424160" y="2834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aimable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ssistiveListeningSyste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comprends ce que les petits mots ajoutent : </a:t>
            </a:r>
            <a:r>
              <a:rPr lang="en-US" sz="2000" i="1" dirty="0">
                <a:solidFill>
                  <a:schemeClr val="tx1"/>
                </a:solidFill>
              </a:rPr>
              <a:t>Je komt toch?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J’adoucis une demande ou j’insiste : </a:t>
            </a:r>
            <a:r>
              <a:rPr lang="en-US" sz="2000" i="1" dirty="0">
                <a:solidFill>
                  <a:schemeClr val="tx1"/>
                </a:solidFill>
              </a:rPr>
              <a:t>Kun je me even helpen?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 ton juste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comme un néerlandophone : </a:t>
            </a:r>
            <a:r>
              <a:rPr lang="en-US" sz="2000" i="1" dirty="0">
                <a:solidFill>
                  <a:schemeClr val="tx1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Sans ces petits mots, le néerlandais sonne sec. Ils sont partout à l’oral et dans les messages.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sec ou aimable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pic>
        <p:nvPicPr>
          <p:cNvPr id="5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9928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71600" y="160020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554480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Geef me je pen.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349240" y="16002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6126480" y="160020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291072" y="160020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Geef me </a:t>
            </a:r>
            <a:r>
              <a:rPr lang="en-US" sz="2000" b="1" i="1" dirty="0">
                <a:solidFill>
                  <a:schemeClr val="accent2"/>
                </a:solidFill>
              </a:rPr>
              <a:t>even</a:t>
            </a:r>
            <a:r>
              <a:rPr lang="en-US" sz="2000" i="1" dirty="0">
                <a:solidFill>
                  <a:schemeClr val="tx1"/>
                </a:solidFill>
              </a:rPr>
              <a:t> je pen, alsjeblieft.</a:t>
            </a:r>
            <a:endParaRPr lang="en-US" sz="2000" dirty="0"/>
          </a:p>
        </p:txBody>
      </p:sp>
      <p:pic>
        <p:nvPicPr>
          <p:cNvPr id="11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1709928"/>
            <a:ext cx="685800" cy="685800"/>
          </a:xfrm>
          <a:prstGeom prst="rect">
            <a:avLst/>
          </a:prstGeom>
        </p:spPr>
      </p:pic>
      <p:pic>
        <p:nvPicPr>
          <p:cNvPr id="12" name="Image 2" descr="neutral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07208"/>
            <a:ext cx="685800" cy="68580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371600" y="269748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554480" y="2697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5349240" y="26974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16" name="Shape 10"/>
          <p:cNvSpPr/>
          <p:nvPr/>
        </p:nvSpPr>
        <p:spPr>
          <a:xfrm>
            <a:off x="6126480" y="269748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291072" y="269748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Heb je </a:t>
            </a:r>
            <a:r>
              <a:rPr lang="en-US" sz="2000" b="1" i="1" dirty="0">
                <a:solidFill>
                  <a:schemeClr val="accent4"/>
                </a:solidFill>
              </a:rPr>
              <a:t>soms</a:t>
            </a:r>
            <a:r>
              <a:rPr lang="en-US" sz="2000" i="1" dirty="0">
                <a:solidFill>
                  <a:schemeClr val="tx1"/>
                </a:solidFill>
              </a:rPr>
              <a:t> een pen?</a:t>
            </a:r>
            <a:endParaRPr lang="en-US" sz="2000" dirty="0"/>
          </a:p>
        </p:txBody>
      </p:sp>
      <p:pic>
        <p:nvPicPr>
          <p:cNvPr id="18" name="Image 3" descr="smiling face with smiling ey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4512" y="2807208"/>
            <a:ext cx="685800" cy="685800"/>
          </a:xfrm>
          <a:prstGeom prst="rect">
            <a:avLst/>
          </a:prstGeom>
        </p:spPr>
      </p:pic>
      <p:pic>
        <p:nvPicPr>
          <p:cNvPr id="19" name="Image 4" descr="neutral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04488"/>
            <a:ext cx="685800" cy="68580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371600" y="379476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554480" y="37947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Het is goed.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5349240" y="37947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23" name="Shape 15"/>
          <p:cNvSpPr/>
          <p:nvPr/>
        </p:nvSpPr>
        <p:spPr>
          <a:xfrm>
            <a:off x="6126480" y="379476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1072" y="379476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is goed, </a:t>
            </a:r>
            <a:r>
              <a:rPr lang="en-US" sz="2000" b="1" i="1" dirty="0">
                <a:solidFill>
                  <a:schemeClr val="accent3"/>
                </a:solidFill>
              </a:rPr>
              <a:t>hoor</a:t>
            </a:r>
            <a:r>
              <a:rPr lang="en-US" sz="2000" i="1" dirty="0">
                <a:solidFill>
                  <a:schemeClr val="tx1"/>
                </a:solidFill>
              </a:rPr>
              <a:t>!</a:t>
            </a:r>
            <a:endParaRPr lang="en-US" sz="2000" dirty="0"/>
          </a:p>
        </p:txBody>
      </p:sp>
      <p:pic>
        <p:nvPicPr>
          <p:cNvPr id="25" name="Image 5" descr="smiling face with smiling ey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4512" y="3904488"/>
            <a:ext cx="685800" cy="685800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Quelle version préférez-vous entendre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Qu’ajoute le petit mot ? Le </a:t>
            </a:r>
            <a:r>
              <a:rPr lang="en-US" sz="1800" b="1" dirty="0">
                <a:solidFill>
                  <a:schemeClr val="tx1"/>
                </a:solidFill>
              </a:rPr>
              <a:t>sens</a:t>
            </a:r>
            <a:r>
              <a:rPr lang="en-US" sz="1800" dirty="0">
                <a:solidFill>
                  <a:schemeClr val="tx1"/>
                </a:solidFill>
              </a:rPr>
              <a:t> ne change pas… le </a:t>
            </a:r>
            <a:r>
              <a:rPr lang="en-US" sz="1800" b="1" dirty="0">
                <a:solidFill>
                  <a:schemeClr val="tx1"/>
                </a:solidFill>
              </a:rPr>
              <a:t>ton</a:t>
            </a:r>
            <a:r>
              <a:rPr lang="en-US" sz="1800" dirty="0">
                <a:solidFill>
                  <a:schemeClr val="tx1"/>
                </a:solidFill>
              </a:rPr>
              <a:t>, 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palette des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artist pal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868680"/>
            <a:ext cx="731520" cy="731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280160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ADOUCIR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 · maar · eens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 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58584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INSISTER, RAPPELER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455664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toch · nou · wel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6455664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Je weet het </a:t>
            </a:r>
            <a:r>
              <a:rPr lang="en-US" sz="1900" b="1" i="1" dirty="0">
                <a:solidFill>
                  <a:schemeClr val="accent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77240" y="38862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280160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4"/>
                </a:solidFill>
              </a:rPr>
              <a:t>QUESTIONNER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 · dan · ook alweer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hij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r>
              <a:rPr lang="en-US" sz="1900" dirty="0">
                <a:solidFill>
                  <a:schemeClr val="tx1"/>
                </a:solidFill>
              </a:rPr>
              <a:t> (+ </a:t>
            </a:r>
            <a:r>
              <a:rPr lang="en-US" sz="1900" i="1" dirty="0">
                <a:solidFill>
                  <a:schemeClr val="tx1"/>
                </a:solidFill>
              </a:rPr>
              <a:t>eigenlijk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6227064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55664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58584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3"/>
                </a:solidFill>
              </a:rPr>
              <a:t>RASSURER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6455664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 · wel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lukt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 mot peut avoir deux couleurs (</a:t>
            </a:r>
            <a:r>
              <a:rPr lang="en-US" sz="1700" i="1" dirty="0">
                <a:solidFill>
                  <a:schemeClr val="bg1"/>
                </a:solidFill>
              </a:rPr>
              <a:t>wel</a:t>
            </a:r>
            <a:r>
              <a:rPr lang="en-US" sz="1700" dirty="0">
                <a:solidFill>
                  <a:schemeClr val="bg1"/>
                </a:solidFill>
              </a:rPr>
              <a:t>). L’</a:t>
            </a:r>
            <a:r>
              <a:rPr lang="en-US" sz="1700" b="1" dirty="0">
                <a:solidFill>
                  <a:schemeClr val="bg1"/>
                </a:solidFill>
              </a:rPr>
              <a:t>intonation</a:t>
            </a:r>
            <a:r>
              <a:rPr lang="en-US" sz="1700" dirty="0">
                <a:solidFill>
                  <a:schemeClr val="bg1"/>
                </a:solidFill>
              </a:rPr>
              <a:t> compte autant que le mot.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Adoucir : even, maar, eens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1645920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juste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tijd?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19344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3200" dirty="0"/>
          </a:p>
        </p:txBody>
      </p:sp>
      <p:sp>
        <p:nvSpPr>
          <p:cNvPr id="13" name="Text 8"/>
          <p:cNvSpPr txBox="1"/>
          <p:nvPr/>
        </p:nvSpPr>
        <p:spPr>
          <a:xfrm>
            <a:off x="5419344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96384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Zeg het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(= je vous écoute)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92768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3200" dirty="0"/>
          </a:p>
        </p:txBody>
      </p:sp>
      <p:sp>
        <p:nvSpPr>
          <p:cNvPr id="18" name="Text 12"/>
          <p:cNvSpPr txBox="1"/>
          <p:nvPr/>
        </p:nvSpPr>
        <p:spPr>
          <a:xfrm>
            <a:off x="9192768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donc, pour voir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69808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Probeer het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 langs!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0292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292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Combinaisons : </a:t>
            </a:r>
            <a:r>
              <a:rPr lang="en-US" sz="1800" i="1" dirty="0">
                <a:solidFill>
                  <a:schemeClr val="tx1"/>
                </a:solidFill>
              </a:rPr>
              <a:t>Wacht </a:t>
            </a:r>
            <a:r>
              <a:rPr lang="en-US" sz="1800" b="1" i="1" dirty="0">
                <a:solidFill>
                  <a:schemeClr val="accent2"/>
                </a:solidFill>
              </a:rPr>
              <a:t>maar even</a:t>
            </a:r>
            <a:r>
              <a:rPr lang="en-US" sz="1800" i="1" dirty="0">
                <a:solidFill>
                  <a:schemeClr val="tx1"/>
                </a:solidFill>
              </a:rPr>
              <a:t>. · Kijk </a:t>
            </a:r>
            <a:r>
              <a:rPr lang="en-US" sz="1800" b="1" i="1" dirty="0">
                <a:solidFill>
                  <a:schemeClr val="accent2"/>
                </a:solidFill>
              </a:rPr>
              <a:t>eens even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Rappel M16 : l’impératif + petit mot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Nouveau : </a:t>
            </a:r>
            <a:r>
              <a:rPr lang="en-US" sz="1500" i="1" dirty="0">
                <a:solidFill>
                  <a:schemeClr val="accent5"/>
                </a:solidFill>
              </a:rPr>
              <a:t>even</a:t>
            </a:r>
            <a:r>
              <a:rPr lang="en-US" sz="1500" i="1" dirty="0">
                <a:solidFill>
                  <a:schemeClr val="accent5"/>
                </a:solidFill>
              </a:rPr>
              <a:t> marche aussi dans les questions polies.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toch : trois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rappel, évidence</a:t>
            </a:r>
            <a:endParaRPr lang="en-US" sz="1500" dirty="0"/>
          </a:p>
        </p:txBody>
      </p:sp>
      <p:pic>
        <p:nvPicPr>
          <p:cNvPr id="8" name="Image 0" descr="face with raised eyebr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6224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weet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dat de vergadering om 9 uur begint!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sais bien que…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504944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question qui attend « oui »</a:t>
            </a:r>
            <a:endParaRPr lang="en-US" sz="1500" dirty="0"/>
          </a:p>
        </p:txBody>
      </p:sp>
      <p:pic>
        <p:nvPicPr>
          <p:cNvPr id="14" name="Image 1" descr="slightly smil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648" y="214884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50664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50664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viens demain, hein ?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78368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insistance</a:t>
            </a:r>
            <a:endParaRPr lang="en-US" sz="1500" dirty="0"/>
          </a:p>
        </p:txBody>
      </p:sp>
      <p:pic>
        <p:nvPicPr>
          <p:cNvPr id="20" name="Image 2" descr="folded ha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24088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binnen!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324088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entre donc !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5262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umbrella with rain drop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36008"/>
            <a:ext cx="685800" cy="6858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002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Sens plein : </a:t>
            </a:r>
            <a:r>
              <a:rPr lang="en-US" sz="1900" i="1" dirty="0">
                <a:solidFill>
                  <a:schemeClr val="tx1"/>
                </a:solidFill>
              </a:rPr>
              <a:t>Het regent, maar ik ga </a:t>
            </a:r>
            <a:r>
              <a:rPr lang="en-US" sz="1900" b="1" i="1" dirty="0">
                <a:solidFill>
                  <a:schemeClr val="tx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= quand même, pourtant</a:t>
            </a:r>
            <a:endParaRPr lang="en-US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M13 : </a:t>
            </a:r>
            <a:r>
              <a:rPr lang="en-US" sz="1500" i="1" dirty="0">
                <a:solidFill>
                  <a:schemeClr val="accent5"/>
                </a:solidFill>
              </a:rPr>
              <a:t>Toch wel!</a:t>
            </a:r>
            <a:r>
              <a:rPr lang="en-US" sz="1500" i="1" dirty="0">
                <a:solidFill>
                  <a:schemeClr val="accent5"/>
                </a:solidFill>
              </a:rPr>
              <a:t> = « mais si ! » · </a:t>
            </a:r>
            <a:r>
              <a:rPr lang="en-US" sz="1500" i="1" dirty="0">
                <a:solidFill>
                  <a:schemeClr val="accent5"/>
                </a:solidFill>
              </a:rPr>
              <a:t>toch</a:t>
            </a:r>
            <a:r>
              <a:rPr lang="en-US" sz="1500" i="1" dirty="0">
                <a:solidFill>
                  <a:schemeClr val="accent5"/>
                </a:solidFill>
              </a:rPr>
              <a:t> = la particule la plus fréquente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nou… et en Flandre : allez, zeg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CULTURE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685800" cy="150876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751076"/>
            <a:ext cx="685800" cy="1508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901952"/>
            <a:ext cx="685800" cy="150876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17320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2"/>
                </a:solidFill>
              </a:rPr>
              <a:t>AUX PAYS-BAS : nou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Wat doe je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406908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surprise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impatience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, ik ga naar huis.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069080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eh bien…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227064" y="1600200"/>
            <a:ext cx="228600" cy="452628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55664" y="1600200"/>
            <a:ext cx="228600" cy="452628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84264" y="1600200"/>
            <a:ext cx="228600" cy="452628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27064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95744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4"/>
                </a:solidFill>
              </a:rPr>
              <a:t>EN FLANDRE : allez, zeg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6227064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91656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kom!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9747504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allez, viens !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27064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91656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Zeg</a:t>
            </a:r>
            <a:r>
              <a:rPr lang="en-US" sz="1900" i="1" dirty="0">
                <a:solidFill>
                  <a:schemeClr val="tx1"/>
                </a:solidFill>
              </a:rPr>
              <a:t>, heb je even tijd?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9747504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dis, tu as un moment ?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91656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tot morgen!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9747504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à demain !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089904" y="1645920"/>
            <a:ext cx="914" cy="3566160"/>
          </a:xfrm>
          <a:prstGeom prst="line">
            <a:avLst/>
          </a:prstGeom>
          <a:noFill/>
          <a:ln w="19050">
            <a:solidFill>
              <a:srgbClr val="D5DC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En Flandre : </a:t>
            </a:r>
            <a:r>
              <a:rPr lang="en-US" sz="1700" i="1" dirty="0">
                <a:solidFill>
                  <a:schemeClr val="bg1"/>
                </a:solidFill>
              </a:rPr>
              <a:t>Wat doe je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? · Kom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!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nu</a:t>
            </a:r>
            <a:r>
              <a:rPr lang="en-US" sz="1700" dirty="0">
                <a:solidFill>
                  <a:schemeClr val="bg1"/>
                </a:solidFill>
              </a:rPr>
              <a:t> sans valeur de « maintenant ») · </a:t>
            </a:r>
            <a:r>
              <a:rPr lang="en-US" sz="1700" i="1" dirty="0">
                <a:solidFill>
                  <a:schemeClr val="bg1"/>
                </a:solidFill>
              </a:rPr>
              <a:t>Allez, ik ga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Questions : soms, dan, ook alweer…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par hasard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4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pen?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teacup without han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28800"/>
            <a:ext cx="822960" cy="8229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61504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dan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884664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alors, donc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7461504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4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think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94760"/>
            <a:ext cx="822960" cy="8229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alweer</a:t>
            </a:r>
            <a:endParaRPr lang="en-US" sz="2800" dirty="0"/>
          </a:p>
        </p:txBody>
      </p:sp>
      <p:sp>
        <p:nvSpPr>
          <p:cNvPr id="18" name="Text 12"/>
          <p:cNvSpPr txBox="1"/>
          <p:nvPr/>
        </p:nvSpPr>
        <p:spPr>
          <a:xfrm>
            <a:off x="4206240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déjà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783080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6227064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794760"/>
            <a:ext cx="822960" cy="8229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461504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eigenlijk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884664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 fait, en fait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461504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woon je </a:t>
            </a:r>
            <a:r>
              <a:rPr lang="en-US" sz="1900" b="1" i="1" dirty="0">
                <a:solidFill>
                  <a:schemeClr val="accent4"/>
                </a:solidFill>
              </a:rPr>
              <a:t>eigenlijk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5" name="Shape 18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soms</a:t>
            </a:r>
            <a:r>
              <a:rPr lang="en-US" sz="1700" dirty="0">
                <a:solidFill>
                  <a:schemeClr val="bg1"/>
                </a:solidFill>
              </a:rPr>
              <a:t> = question plus polie · </a:t>
            </a:r>
            <a:r>
              <a:rPr lang="en-US" sz="1700" i="1" dirty="0">
                <a:solidFill>
                  <a:schemeClr val="bg1"/>
                </a:solidFill>
              </a:rPr>
              <a:t>ook alweer</a:t>
            </a:r>
            <a:r>
              <a:rPr lang="en-US" sz="1700" dirty="0">
                <a:solidFill>
                  <a:schemeClr val="bg1"/>
                </a:solidFill>
              </a:rPr>
              <a:t> = « j’ai oublié… » · </a:t>
            </a:r>
            <a:r>
              <a:rPr lang="en-US" sz="1700" i="1" dirty="0">
                <a:solidFill>
                  <a:schemeClr val="bg1"/>
                </a:solidFill>
              </a:rPr>
              <a:t>eigenlijk</a:t>
            </a:r>
            <a:r>
              <a:rPr lang="en-US" sz="1700" dirty="0">
                <a:solidFill>
                  <a:schemeClr val="bg1"/>
                </a:solidFill>
              </a:rPr>
              <a:t> = question en passant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wel et hoor : affirmer, rassurer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03504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wel — trois emplois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48840"/>
            <a:ext cx="5577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contraste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Ik heb geen auto, maar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een fiets.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nuance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r>
              <a:rPr lang="en-US" sz="1800" dirty="0">
                <a:solidFill>
                  <a:schemeClr val="tx1"/>
                </a:solidFill>
              </a:rPr>
              <a:t> (quand même)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confiance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Dat lukt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(ça va aller)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754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Rappel M13 : </a:t>
            </a:r>
            <a:r>
              <a:rPr lang="en-US" sz="1400" i="1" dirty="0">
                <a:solidFill>
                  <a:schemeClr val="accent5"/>
                </a:solidFill>
              </a:rPr>
              <a:t>Ik werk niet. — Ik </a:t>
            </a:r>
            <a:r>
              <a:rPr lang="en-US" sz="1400" b="1" i="1" dirty="0">
                <a:solidFill>
                  <a:schemeClr val="accent5"/>
                </a:solidFill>
              </a:rPr>
              <a:t>wel</a:t>
            </a:r>
            <a:r>
              <a:rPr lang="en-US" sz="1400" i="1" dirty="0">
                <a:solidFill>
                  <a:schemeClr val="accent5"/>
                </a:solidFill>
              </a:rPr>
              <a:t>!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12280" y="1554480"/>
            <a:ext cx="4828032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12280" y="1554480"/>
            <a:ext cx="482803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95160" y="1554480"/>
            <a:ext cx="4462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hoor — à la fin, ou après ja / nee</a:t>
            </a:r>
            <a:endParaRPr lang="en-US" sz="1800" dirty="0"/>
          </a:p>
        </p:txBody>
      </p:sp>
      <p:pic>
        <p:nvPicPr>
          <p:cNvPr id="13" name="Image 0" descr="thumbs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040880" y="2148840"/>
            <a:ext cx="377647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rassurer, confirmer :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Geen probleem,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Ja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 · Nee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4754880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très amical, surtout aux Pays-Bas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hoor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, ou juste après </a:t>
            </a:r>
            <a:r>
              <a:rPr lang="en-US" sz="1800" i="1" dirty="0">
                <a:solidFill>
                  <a:schemeClr val="bg1"/>
                </a:solidFill>
              </a:rPr>
              <a:t>ja / nee</a:t>
            </a:r>
            <a:r>
              <a:rPr lang="en-US" sz="1800" dirty="0">
                <a:solidFill>
                  <a:schemeClr val="bg1"/>
                </a:solidFill>
              </a:rPr>
              <a:t> (</a:t>
            </a:r>
            <a:r>
              <a:rPr lang="en-US" sz="1800" i="1" dirty="0">
                <a:solidFill>
                  <a:schemeClr val="bg1"/>
                </a:solidFill>
              </a:rPr>
              <a:t>Ja hoor, kom maar!</a:t>
            </a:r>
            <a:r>
              <a:rPr lang="en-US" sz="1800" dirty="0">
                <a:solidFill>
                  <a:schemeClr val="bg1"/>
                </a:solidFill>
              </a:rPr>
              <a:t>). Il rend la phrase chaleureuse.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pas de traduction mot à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viens, </a:t>
            </a:r>
            <a:r>
              <a:rPr lang="en-US" sz="1800" b="1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766560" y="24048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315200" y="21305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1305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7889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n’aurais pas un stylo, </a:t>
            </a:r>
            <a:r>
              <a:rPr lang="en-US" sz="1800" b="1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766560" y="30906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7315200" y="28163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163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Heb je </a:t>
            </a:r>
            <a:r>
              <a:rPr lang="en-US" sz="1800" b="1" i="1" dirty="0">
                <a:solidFill>
                  <a:schemeClr val="accent4"/>
                </a:solidFill>
              </a:rPr>
              <a:t>soms</a:t>
            </a:r>
            <a:r>
              <a:rPr lang="en-US" sz="1800" i="1" dirty="0">
                <a:solidFill>
                  <a:schemeClr val="tx1"/>
                </a:solidFill>
              </a:rPr>
              <a:t> een pen?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4747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Regarde </a:t>
            </a:r>
            <a:r>
              <a:rPr lang="en-US" sz="1800" b="1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 »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766560" y="37764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315200" y="35021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5021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Kijk </a:t>
            </a:r>
            <a:r>
              <a:rPr lang="en-US" sz="1800" b="1" i="1" dirty="0">
                <a:solidFill>
                  <a:schemeClr val="accent2"/>
                </a:solidFill>
              </a:rPr>
              <a:t>eens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1605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Comment il s’appelle, </a:t>
            </a:r>
            <a:r>
              <a:rPr lang="en-US" sz="1800" b="1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766560" y="44622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315200" y="41879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52360" y="41879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heet hij </a:t>
            </a:r>
            <a:r>
              <a:rPr lang="en-US" sz="1800" b="1" i="1" dirty="0">
                <a:solidFill>
                  <a:schemeClr val="accent4"/>
                </a:solidFill>
              </a:rPr>
              <a:t>ook alweer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48463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C’est cher, </a:t>
            </a:r>
            <a:r>
              <a:rPr lang="en-US" sz="1800" b="1" dirty="0">
                <a:solidFill>
                  <a:schemeClr val="tx1"/>
                </a:solidFill>
              </a:rPr>
              <a:t>quand même</a:t>
            </a:r>
            <a:r>
              <a:rPr lang="en-US" sz="1800" dirty="0">
                <a:solidFill>
                  <a:schemeClr val="tx1"/>
                </a:solidFill>
              </a:rPr>
              <a:t>. »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766560" y="51480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315200" y="48737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52360" y="48737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ne traduit pas le mot : on traduit l’</a:t>
            </a:r>
            <a:r>
              <a:rPr lang="en-US" sz="1800" b="1" dirty="0">
                <a:solidFill>
                  <a:schemeClr val="bg1"/>
                </a:solidFill>
              </a:rPr>
              <a:t>intention</a:t>
            </a:r>
            <a:r>
              <a:rPr lang="en-US" sz="1800" dirty="0">
                <a:solidFill>
                  <a:schemeClr val="bg1"/>
                </a:solidFill>
              </a:rPr>
              <a:t>. Écoutez la mélodie de la phrase.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40342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0342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0129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0129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799161" y="1600200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99161" y="1600200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even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10853" y="1600200"/>
            <a:ext cx="1390985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0853" y="1600200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441448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1403421" y="2441448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03421" y="2441448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maar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415113" y="2441448"/>
            <a:ext cx="1390985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15113" y="2441448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binnen!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48640" y="3282696"/>
            <a:ext cx="606430" cy="658368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3282696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1246510" y="3282696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246510" y="3282696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2101291" y="3282696"/>
            <a:ext cx="1234074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01291" y="3282696"/>
            <a:ext cx="1234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3426805" y="3282696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6805" y="3282696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wel.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548640" y="4123944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23944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Heb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1403421" y="4123944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403421" y="4123944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101291" y="4123944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01291" y="4123944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soms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3112983" y="4123944"/>
            <a:ext cx="1547896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112983" y="4123944"/>
            <a:ext cx="1547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pen?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949440" y="1600200"/>
            <a:ext cx="4690872" cy="18288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7132320" y="176479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0" descr="MapSig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8383" y="1900855"/>
            <a:ext cx="294803" cy="29480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7845552" y="17465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La règle</a:t>
            </a:r>
            <a:endParaRPr lang="en-US" sz="1900" dirty="0"/>
          </a:p>
        </p:txBody>
      </p:sp>
      <p:sp>
        <p:nvSpPr>
          <p:cNvPr id="41" name="Text 37"/>
          <p:cNvSpPr txBox="1"/>
          <p:nvPr/>
        </p:nvSpPr>
        <p:spPr>
          <a:xfrm>
            <a:off x="7150608" y="2468880"/>
            <a:ext cx="428853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verbe, les petits pronoms (</a:t>
            </a:r>
            <a:r>
              <a:rPr lang="en-US" sz="1500" i="1" dirty="0">
                <a:solidFill>
                  <a:schemeClr val="tx1"/>
                </a:solidFill>
              </a:rPr>
              <a:t>me, je</a:t>
            </a:r>
            <a:r>
              <a:rPr lang="en-US" sz="1500" dirty="0">
                <a:solidFill>
                  <a:schemeClr val="tx1"/>
                </a:solidFill>
              </a:rPr>
              <a:t>) et ce qui est connu (</a:t>
            </a:r>
            <a:r>
              <a:rPr lang="en-US" sz="1500" i="1" dirty="0">
                <a:solidFill>
                  <a:schemeClr val="tx1"/>
                </a:solidFill>
              </a:rPr>
              <a:t>morgen, je pen</a:t>
            </a:r>
            <a:r>
              <a:rPr lang="en-US" sz="1500" dirty="0">
                <a:solidFill>
                  <a:schemeClr val="tx1"/>
                </a:solidFill>
              </a:rPr>
              <a:t>) ; avant l’info nouvelle (</a:t>
            </a:r>
            <a:r>
              <a:rPr lang="en-US" sz="1500" i="1" dirty="0">
                <a:solidFill>
                  <a:schemeClr val="tx1"/>
                </a:solidFill>
              </a:rPr>
              <a:t>een pen</a:t>
            </a:r>
            <a:r>
              <a:rPr lang="en-US" sz="1500" dirty="0">
                <a:solidFill>
                  <a:schemeClr val="tx1"/>
                </a:solidFill>
              </a:rPr>
              <a:t>) et le 2ᵉ verbe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6949440" y="36118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COMBINAISONS FIXES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694944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9494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maar even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932688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932688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eens even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694944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toch even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932688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2688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nou eens</a:t>
            </a:r>
            <a:endParaRPr lang="en-US" sz="1700" dirty="0"/>
          </a:p>
        </p:txBody>
      </p:sp>
      <p:sp>
        <p:nvSpPr>
          <p:cNvPr id="51" name="Shape 47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Kun je even me helpen?</a:t>
            </a:r>
            <a:r>
              <a:rPr lang="en-US" sz="2000" dirty="0">
                <a:solidFill>
                  <a:schemeClr val="bg1"/>
                </a:solidFill>
              </a:rPr>
              <a:t> → ✓ </a:t>
            </a:r>
            <a:r>
              <a:rPr lang="en-US" sz="2000" i="1" dirty="0">
                <a:solidFill>
                  <a:schemeClr val="bg1"/>
                </a:solidFill>
              </a:rPr>
              <a:t>Kun je </a:t>
            </a:r>
            <a:r>
              <a:rPr lang="en-US" sz="2000" b="1" i="1" dirty="0">
                <a:solidFill>
                  <a:schemeClr val="bg1"/>
                </a:solidFill>
              </a:rPr>
              <a:t>me</a:t>
            </a:r>
            <a:r>
              <a:rPr lang="en-US" sz="2000" i="1" dirty="0">
                <a:solidFill>
                  <a:schemeClr val="bg1"/>
                </a:solidFill>
              </a:rPr>
              <a:t> </a:t>
            </a:r>
            <a:r>
              <a:rPr lang="en-US" sz="2000" b="1" i="1" dirty="0">
                <a:solidFill>
                  <a:schemeClr val="bg1"/>
                </a:solidFill>
              </a:rPr>
              <a:t>even</a:t>
            </a:r>
            <a:r>
              <a:rPr lang="en-US" sz="2000" i="1" dirty="0">
                <a:solidFill>
                  <a:schemeClr val="bg1"/>
                </a:solidFill>
              </a:rPr>
              <a:t> helpen?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 même mot,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soms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554480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45920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ga soms naar Gent.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parfois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794760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</a:t>
            </a:r>
            <a:r>
              <a:rPr lang="en-US" sz="1500" b="1" i="1" dirty="0">
                <a:solidFill>
                  <a:schemeClr val="accent4"/>
                </a:solidFill>
              </a:rPr>
              <a:t>soms</a:t>
            </a:r>
            <a:r>
              <a:rPr lang="en-US" sz="1500" i="1" dirty="0">
                <a:solidFill>
                  <a:schemeClr val="tx1"/>
                </a:solidFill>
              </a:rPr>
              <a:t> een pen?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794760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par hasard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27064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27064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27064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even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7232904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24344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Ze zijn even groot.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24344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aussi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473184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 </a:t>
            </a:r>
            <a:r>
              <a:rPr lang="en-US" sz="1500" b="1" i="1" dirty="0">
                <a:solidFill>
                  <a:schemeClr val="accent2"/>
                </a:solidFill>
              </a:rPr>
              <a:t>even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473184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un instant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8640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maar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1554480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645920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maar fijn.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45920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mais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794760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</a:t>
            </a:r>
            <a:r>
              <a:rPr lang="en-US" sz="1500" b="1" i="1" dirty="0">
                <a:solidFill>
                  <a:schemeClr val="accent2"/>
                </a:solidFill>
              </a:rPr>
              <a:t>maar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3794760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vas-y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27064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227064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27064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eens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7232904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24344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al eens in Japan geweest.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24344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une fois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473184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</a:t>
            </a:r>
            <a:r>
              <a:rPr lang="en-US" sz="1500" b="1" i="1" dirty="0">
                <a:solidFill>
                  <a:schemeClr val="accent2"/>
                </a:solidFill>
              </a:rPr>
              <a:t>eens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473184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donc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48640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toch</a:t>
            </a:r>
            <a:endParaRPr lang="en-US" sz="1900" dirty="0"/>
          </a:p>
        </p:txBody>
      </p:sp>
      <p:sp>
        <p:nvSpPr>
          <p:cNvPr id="40" name="Shape 37"/>
          <p:cNvSpPr/>
          <p:nvPr/>
        </p:nvSpPr>
        <p:spPr>
          <a:xfrm>
            <a:off x="1554480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645920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Hij is moe en toch werkt hij.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645920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pourtant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3794760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</a:t>
            </a:r>
            <a:r>
              <a:rPr lang="en-US" sz="1500" b="1" i="1" dirty="0">
                <a:solidFill>
                  <a:schemeClr val="accent1"/>
                </a:solidFill>
              </a:rPr>
              <a:t>toch</a:t>
            </a:r>
            <a:r>
              <a:rPr lang="en-US" sz="1500" i="1" dirty="0">
                <a:solidFill>
                  <a:schemeClr val="tx1"/>
                </a:solidFill>
              </a:rPr>
              <a:t>?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3794760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hein ?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27064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6227064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227064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wel</a:t>
            </a:r>
            <a:endParaRPr lang="en-US" sz="1900" dirty="0"/>
          </a:p>
        </p:txBody>
      </p:sp>
      <p:sp>
        <p:nvSpPr>
          <p:cNvPr id="48" name="Shape 45"/>
          <p:cNvSpPr/>
          <p:nvPr/>
        </p:nvSpPr>
        <p:spPr>
          <a:xfrm>
            <a:off x="7232904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7324344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werk niet, maar zij wel.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24344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≠ niet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9473184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</a:t>
            </a:r>
            <a:r>
              <a:rPr lang="en-US" sz="1500" b="1" i="1" dirty="0">
                <a:solidFill>
                  <a:schemeClr val="accent3"/>
                </a:solidFill>
              </a:rPr>
              <a:t>wel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9473184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ça va aller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3492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sens plein</a:t>
            </a:r>
            <a:r>
              <a:rPr lang="en-US" sz="1600" dirty="0">
                <a:solidFill>
                  <a:schemeClr val="tx2"/>
                </a:solidFill>
              </a:rPr>
              <a:t> (gris) · </a:t>
            </a:r>
            <a:r>
              <a:rPr lang="en-US" sz="1600" b="1" dirty="0">
                <a:solidFill>
                  <a:schemeClr val="tx2"/>
                </a:solidFill>
              </a:rPr>
              <a:t>particule</a:t>
            </a:r>
            <a:r>
              <a:rPr lang="en-US" sz="1600" dirty="0">
                <a:solidFill>
                  <a:schemeClr val="tx2"/>
                </a:solidFill>
              </a:rPr>
              <a:t> (couleur) — Astuce : si on peut enlever le mot sans perdre l’information, c’est une particule.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8368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029968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794760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Kun je me even helpen?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029968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inviter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794760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maar binnen!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8368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8368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eens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2029968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3794760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eens!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2029968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rappeler, insister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794760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toch?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58368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nou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2029968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surprise, impatience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3794760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nou!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36792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36792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708392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affirmer, rassurer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473184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wel.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227064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336792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336792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7708392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rassurer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473184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Geen probleem, hoor!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227064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336792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336792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7708392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par hasard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473184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soms een pen?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227064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36792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36792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7708392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alors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9473184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 wil je dan?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6227064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336792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336792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ook alweer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7708392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déjà</a:t>
            </a:r>
            <a:endParaRPr lang="en-US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9473184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Hoe heet hij ook alweer?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548640" y="548640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Place : après le verbe et les pronoms · </a:t>
            </a:r>
            <a:r>
              <a:rPr lang="en-US" sz="1700" i="1" dirty="0">
                <a:solidFill>
                  <a:schemeClr val="bg1"/>
                </a:solidFill>
              </a:rPr>
              <a:t>hoor</a:t>
            </a:r>
            <a:r>
              <a:rPr lang="en-US" sz="1700" dirty="0">
                <a:solidFill>
                  <a:schemeClr val="bg1"/>
                </a:solidFill>
              </a:rPr>
              <a:t> : à la fin ou après </a:t>
            </a:r>
            <a:r>
              <a:rPr lang="en-US" sz="1700" i="1" dirty="0">
                <a:solidFill>
                  <a:schemeClr val="bg1"/>
                </a:solidFill>
              </a:rPr>
              <a:t>ja / nee</a:t>
            </a:r>
            <a:r>
              <a:rPr lang="en-US" sz="1700" dirty="0">
                <a:solidFill>
                  <a:schemeClr val="bg1"/>
                </a:solidFill>
              </a:rPr>
              <a:t> · l’intonation compte !</a:t>
            </a:r>
            <a:endParaRPr lang="en-US" sz="1700" dirty="0"/>
          </a:p>
        </p:txBody>
      </p:sp>
      <p:pic>
        <p:nvPicPr>
          <p:cNvPr id="57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m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aimable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uzzle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bonne particule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l’intention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Particule ou mot plein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théâtre des émotions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offe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pause-café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9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2" name="Shape 15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Text 16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5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8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1" name="Shape 22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3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4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7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0" name="Shape 29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1" name="Text 30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2" name="Shape 31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43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4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6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49" name="Shape 36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0" name="Text 37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1" name="Shape 38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52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55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56" name="Shape 41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2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58" name="Shape 43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9" name="Text 44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0" name="Shape 45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61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Text 10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675120" y="19872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Wacht even!</a:t>
            </a:r>
            <a:endParaRPr lang="en-US" sz="2000" dirty="0"/>
          </a:p>
        </p:txBody>
      </p:sp>
      <p:pic>
        <p:nvPicPr>
          <p:cNvPr id="18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21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4" name="Shape 17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Text 18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675120" y="271373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Kom maar binnen.</a:t>
            </a:r>
            <a:endParaRPr lang="en-US" sz="2000" dirty="0"/>
          </a:p>
        </p:txBody>
      </p:sp>
      <p:pic>
        <p:nvPicPr>
          <p:cNvPr id="28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31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4" name="Shape 25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26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6675120" y="344017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Kijk eens!</a:t>
            </a:r>
            <a:endParaRPr lang="en-US" sz="2000" dirty="0"/>
          </a:p>
        </p:txBody>
      </p:sp>
      <p:pic>
        <p:nvPicPr>
          <p:cNvPr id="38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41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4" name="Shape 33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5" name="Text 34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6" name="Shape 35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6675120" y="416661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Heb je soms een pen?</a:t>
            </a:r>
            <a:endParaRPr lang="en-US" sz="2000" dirty="0"/>
          </a:p>
        </p:txBody>
      </p:sp>
      <p:pic>
        <p:nvPicPr>
          <p:cNvPr id="48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9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51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52" name="Shape 39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0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54" name="Shape 41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5" name="Text 42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6" name="Shape 43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44"/>
          <p:cNvSpPr txBox="1"/>
          <p:nvPr/>
        </p:nvSpPr>
        <p:spPr>
          <a:xfrm>
            <a:off x="6675120" y="489305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Kun je me even helpen?</a:t>
            </a:r>
            <a:endParaRPr lang="en-US" sz="2000" dirty="0"/>
          </a:p>
        </p:txBody>
      </p:sp>
      <p:pic>
        <p:nvPicPr>
          <p:cNvPr id="58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61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62" name="Shape 47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48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64" name="Shape 49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65" name="Text 50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6" name="Shape 51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Text 52"/>
          <p:cNvSpPr txBox="1"/>
          <p:nvPr/>
        </p:nvSpPr>
        <p:spPr>
          <a:xfrm>
            <a:off x="6675120" y="56194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68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i="1" dirty="0">
                <a:solidFill>
                  <a:schemeClr val="accent5"/>
                </a:solidFill>
              </a:rPr>
              <a:t>………………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3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3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b="1" i="1" dirty="0">
                <a:solidFill>
                  <a:schemeClr val="accent3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3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3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3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8778240" y="3944112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Aussi possibles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1 : </a:t>
            </a:r>
            <a:r>
              <a:rPr lang="en-US" sz="1400" i="1" dirty="0">
                <a:solidFill>
                  <a:schemeClr val="accent5"/>
                </a:solidFill>
              </a:rPr>
              <a:t>even, toch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5 : </a:t>
            </a:r>
            <a:r>
              <a:rPr lang="en-US" sz="1400" i="1" dirty="0">
                <a:solidFill>
                  <a:schemeClr val="accent5"/>
                </a:solidFill>
              </a:rPr>
              <a:t>soms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19781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Je komt toch morgen?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0" y="270459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Heb je soms een pen?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0" y="343103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Kijk eens!</a:t>
            </a:r>
            <a:endParaRPr lang="en-US" sz="1900" dirty="0"/>
          </a:p>
        </p:txBody>
      </p:sp>
      <p:sp>
        <p:nvSpPr>
          <p:cNvPr id="42" name="Shape 38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0" y="415747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858000" y="488391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Hoe heet hij ook alweer?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6" name="Shape 62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58000" y="56103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Geen probleem, hoor!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4A5A70"/>
            </a:solidFill>
            <a:prstDash val="dash"/>
          </a:ln>
        </p:spPr>
      </p:sp>
      <p:sp>
        <p:nvSpPr>
          <p:cNvPr id="28" name="Shape 24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812280" y="280111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12280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7360920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 hasard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812280" y="376123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12280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7360920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instant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6812280" y="472135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812280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7360920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vas-y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812280" y="568147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12280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7360920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hein ?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9345168" y="280111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345168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9893808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parfois</a:t>
            </a:r>
            <a:endParaRPr lang="en-US" sz="1500" dirty="0"/>
          </a:p>
        </p:txBody>
      </p:sp>
      <p:sp>
        <p:nvSpPr>
          <p:cNvPr id="46" name="Shape 42"/>
          <p:cNvSpPr/>
          <p:nvPr/>
        </p:nvSpPr>
        <p:spPr>
          <a:xfrm>
            <a:off x="9345168" y="376123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345168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8" name="Text 44"/>
          <p:cNvSpPr txBox="1"/>
          <p:nvPr/>
        </p:nvSpPr>
        <p:spPr>
          <a:xfrm>
            <a:off x="9893808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aussi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9345168" y="472135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45168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9893808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</a:t>
            </a:r>
            <a:endParaRPr lang="en-US" sz="1500" dirty="0"/>
          </a:p>
        </p:txBody>
      </p:sp>
      <p:sp>
        <p:nvSpPr>
          <p:cNvPr id="52" name="Shape 48"/>
          <p:cNvSpPr/>
          <p:nvPr/>
        </p:nvSpPr>
        <p:spPr>
          <a:xfrm>
            <a:off x="9345168" y="568147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9345168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54" name="Text 50"/>
          <p:cNvSpPr txBox="1"/>
          <p:nvPr/>
        </p:nvSpPr>
        <p:spPr>
          <a:xfrm>
            <a:off x="9893808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pourtant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dirty="0">
                <a:solidFill>
                  <a:schemeClr val="tx1"/>
                </a:solidFill>
              </a:rPr>
              <a:t>even me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dirty="0">
                <a:solidFill>
                  <a:schemeClr val="tx1"/>
                </a:solidFill>
              </a:rPr>
              <a:t>binnen maar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Heb je een A4-papier soms?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Kijk soms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dirty="0">
                <a:solidFill>
                  <a:schemeClr val="tx1"/>
                </a:solidFill>
              </a:rPr>
              <a:t>nou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strike="sngStrike" dirty="0">
                <a:solidFill>
                  <a:schemeClr val="accent6"/>
                </a:solidFill>
              </a:rPr>
              <a:t>even me helpen</a:t>
            </a:r>
            <a:r>
              <a:rPr lang="en-US" sz="1600" b="1" i="1" dirty="0">
                <a:solidFill>
                  <a:schemeClr val="accent3"/>
                </a:solidFill>
              </a:rPr>
              <a:t> me even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strike="sngStrike" dirty="0">
                <a:solidFill>
                  <a:schemeClr val="accent6"/>
                </a:solidFill>
              </a:rPr>
              <a:t>binnen maar</a:t>
            </a:r>
            <a:r>
              <a:rPr lang="en-US" sz="1600" b="1" i="1" dirty="0">
                <a:solidFill>
                  <a:schemeClr val="accent3"/>
                </a:solidFill>
              </a:rPr>
              <a:t> maar binnen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Heb je een A4-papier soms?</a:t>
            </a:r>
            <a:r>
              <a:rPr lang="en-US" sz="1600" b="1" i="1" dirty="0">
                <a:solidFill>
                  <a:schemeClr val="accent3"/>
                </a:solidFill>
              </a:rPr>
              <a:t> Heb je soms A4-papier?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Kijk soms</a:t>
            </a:r>
            <a:r>
              <a:rPr lang="en-US" sz="1600" b="1" i="1" dirty="0">
                <a:solidFill>
                  <a:schemeClr val="accent3"/>
                </a:solidFill>
              </a:rPr>
              <a:t> Kijk eens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strike="sngStrike" dirty="0">
                <a:solidFill>
                  <a:schemeClr val="accent6"/>
                </a:solidFill>
              </a:rPr>
              <a:t>nou</a:t>
            </a:r>
            <a:r>
              <a:rPr lang="en-US" sz="1600" b="1" i="1" dirty="0">
                <a:solidFill>
                  <a:schemeClr val="accent3"/>
                </a:solidFill>
              </a:rPr>
              <a:t> hoor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4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Ja hoor · …, toch?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toch</a:t>
            </a:r>
            <a:r>
              <a:rPr lang="en-US" sz="1400" i="1" dirty="0">
                <a:solidFill>
                  <a:schemeClr val="accent5"/>
                </a:solidFill>
              </a:rPr>
              <a:t> en fin de phrase = « hein ? ») · </a:t>
            </a:r>
            <a:r>
              <a:rPr lang="en-US" sz="1400" i="1" dirty="0">
                <a:solidFill>
                  <a:schemeClr val="accent5"/>
                </a:solidFill>
              </a:rPr>
              <a:t>papier</a:t>
            </a:r>
            <a:r>
              <a:rPr lang="en-US" sz="1400" i="1" dirty="0">
                <a:solidFill>
                  <a:schemeClr val="accent5"/>
                </a:solidFill>
              </a:rPr>
              <a:t> : sans </a:t>
            </a:r>
            <a:r>
              <a:rPr lang="en-US" sz="1400" i="1" dirty="0">
                <a:solidFill>
                  <a:schemeClr val="accent5"/>
                </a:solidFill>
              </a:rPr>
              <a:t>een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Kijk even / Kijk maar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théâtre des émotions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708660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Phrase de base : </a:t>
            </a:r>
            <a:r>
              <a:rPr lang="en-US" sz="2200" b="1" i="1" dirty="0">
                <a:solidFill>
                  <a:schemeClr val="bg1"/>
                </a:solidFill>
              </a:rPr>
              <a:t>Kom binnen.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0" descr="hugg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965" y="2697480"/>
            <a:ext cx="1005840" cy="1005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ACCUEILLANT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236601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1" descr="face with steam from no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335" y="269748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6601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IMPATIENT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45745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nou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418338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lead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705" y="2697480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8338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INSISTANT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27482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600075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relieve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2697480"/>
            <a:ext cx="1005840" cy="10058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00075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3"/>
                </a:solidFill>
              </a:rPr>
              <a:t>RASSURANT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609219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binnen, </a:t>
            </a:r>
            <a:r>
              <a:rPr lang="en-US" sz="1700" b="1" i="1" dirty="0">
                <a:solidFill>
                  <a:schemeClr val="accent3"/>
                </a:solidFill>
              </a:rPr>
              <a:t>hoor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pic>
        <p:nvPicPr>
          <p:cNvPr id="24" name="Image 4" descr="performing ar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155448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778240" y="15544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Théâtre!</a:t>
            </a:r>
            <a:endParaRPr lang="en-US" sz="2600" dirty="0"/>
          </a:p>
        </p:txBody>
      </p:sp>
      <p:sp>
        <p:nvSpPr>
          <p:cNvPr id="26" name="Text 18"/>
          <p:cNvSpPr txBox="1"/>
          <p:nvPr/>
        </p:nvSpPr>
        <p:spPr>
          <a:xfrm>
            <a:off x="7955280" y="2514600"/>
            <a:ext cx="3685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Tirez une carte-émotion en secret.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Dites la phrase avec la particule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l’intonation.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La classe devine l’émotion.</a:t>
            </a:r>
            <a:endParaRPr lang="en-US" sz="1600" dirty="0"/>
          </a:p>
        </p:txBody>
      </p:sp>
      <p:sp>
        <p:nvSpPr>
          <p:cNvPr id="27" name="Shape 19"/>
          <p:cNvSpPr/>
          <p:nvPr/>
        </p:nvSpPr>
        <p:spPr>
          <a:xfrm>
            <a:off x="7955280" y="4800600"/>
            <a:ext cx="36850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8092440" y="4800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Autres phrases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Ga zitten. · Wat doe je? · Heb je tijd?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pause-café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machine à café, Karim demande plusieurs petits services à ses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3 services, avec au moins une particule par demande : </a:t>
            </a:r>
            <a:r>
              <a:rPr lang="en-US" sz="1700" i="1" dirty="0">
                <a:solidFill>
                  <a:schemeClr val="tx1"/>
                </a:solidFill>
              </a:rPr>
              <a:t>Heb je soms…? Kun je me even…?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Un·e collègue</a:t>
            </a:r>
            <a:r>
              <a:rPr lang="en-US" sz="1700" dirty="0">
                <a:solidFill>
                  <a:schemeClr val="tx1"/>
                </a:solidFill>
              </a:rPr>
              <a:t> : répondez avec une particule : </a:t>
            </a:r>
            <a:r>
              <a:rPr lang="en-US" sz="1700" i="1" dirty="0">
                <a:solidFill>
                  <a:schemeClr val="tx1"/>
                </a:solidFill>
              </a:rPr>
              <a:t>Ja hoor! · Dat lukt wel. · Zeg het maar.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Zeg, heb je even tijd? · Heb je soms een oplader? · Kun je me even helpen? · Ja hoor, geen probleem! · Dat lukt wel. · Hoe heet hij ook alweer? · Je komt toch ook?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6 SERVICES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electric plu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42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21131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oplader lenen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990295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telephone recei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592" y="2231136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94867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telefoon opnemen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816559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3575304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1131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document printen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990295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357530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94867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vergadering verzetten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16559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5" name="Image 4" descr="identification c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4919472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21131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naam van een klant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990295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5" descr="automob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1592" y="4919472"/>
            <a:ext cx="548640" cy="54864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94867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lift naar huis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aimable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r>
              <a:rPr lang="en-US" sz="2000" dirty="0">
                <a:solidFill>
                  <a:schemeClr val="tx1"/>
                </a:solidFill>
              </a:rPr>
              <a:t> · </a:t>
            </a:r>
            <a:r>
              <a:rPr lang="en-US" sz="2000" i="1" dirty="0">
                <a:solidFill>
                  <a:schemeClr val="tx1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Tu viens demain, </a:t>
            </a:r>
            <a:r>
              <a:rPr lang="en-US" sz="2000" b="1" dirty="0">
                <a:solidFill>
                  <a:schemeClr val="tx1"/>
                </a:solidFill>
              </a:rPr>
              <a:t>hein</a:t>
            </a:r>
            <a:r>
              <a:rPr lang="en-US" sz="2000" dirty="0">
                <a:solidFill>
                  <a:schemeClr val="tx1"/>
                </a:solidFill>
              </a:rPr>
              <a:t> ?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Placez </a:t>
            </a:r>
            <a:r>
              <a:rPr lang="en-US" sz="2000" i="1" dirty="0">
                <a:solidFill>
                  <a:schemeClr val="tx1"/>
                </a:solidFill>
              </a:rPr>
              <a:t>even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Kun je me helpen?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ton juste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5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6, M25 </a:t>
            </a:r>
            <a:r>
              <a:rPr lang="en-US" sz="1800" i="1" dirty="0">
                <a:solidFill>
                  <a:schemeClr val="bg1"/>
                </a:solidFill>
              </a:rPr>
              <a:t>Hoe laat is het?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5 · 24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M1–5</a:t>
            </a:r>
            <a:endParaRPr lang="en-US" sz="900" dirty="0"/>
          </a:p>
        </p:txBody>
      </p:sp>
      <p:sp>
        <p:nvSpPr>
          <p:cNvPr id="39" name="Shape 26"/>
          <p:cNvSpPr/>
          <p:nvPr/>
        </p:nvSpPr>
        <p:spPr>
          <a:xfrm>
            <a:off x="782383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82383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M6–10</a:t>
            </a:r>
            <a:endParaRPr lang="en-US" sz="900" dirty="0"/>
          </a:p>
        </p:txBody>
      </p:sp>
      <p:sp>
        <p:nvSpPr>
          <p:cNvPr id="41" name="Shape 28"/>
          <p:cNvSpPr/>
          <p:nvPr/>
        </p:nvSpPr>
        <p:spPr>
          <a:xfrm>
            <a:off x="869823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69823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M11–15</a:t>
            </a:r>
            <a:endParaRPr lang="en-US" sz="900" dirty="0"/>
          </a:p>
        </p:txBody>
      </p:sp>
      <p:sp>
        <p:nvSpPr>
          <p:cNvPr id="43" name="Shape 30"/>
          <p:cNvSpPr/>
          <p:nvPr/>
        </p:nvSpPr>
        <p:spPr>
          <a:xfrm>
            <a:off x="9572625" y="4919472"/>
            <a:ext cx="6629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572625" y="4919472"/>
            <a:ext cx="6629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M16–19</a:t>
            </a:r>
            <a:endParaRPr lang="en-US" sz="900" dirty="0"/>
          </a:p>
        </p:txBody>
      </p:sp>
      <p:sp>
        <p:nvSpPr>
          <p:cNvPr id="45" name="Shape 32"/>
          <p:cNvSpPr/>
          <p:nvPr/>
        </p:nvSpPr>
        <p:spPr>
          <a:xfrm>
            <a:off x="1028128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1028128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M20–24</a:t>
            </a:r>
            <a:endParaRPr lang="en-US" sz="900" dirty="0"/>
          </a:p>
        </p:txBody>
      </p:sp>
      <p:pic>
        <p:nvPicPr>
          <p:cNvPr id="4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24 — Nou, toch, maar… — Les particules modales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2026-10-05T19:06:54Z</dcterms:created>
  <dcterms:modified xsi:type="dcterms:W3CDTF">2026-10-05T19:06:54Z</dcterms:modified>
</cp:coreProperties>
</file>