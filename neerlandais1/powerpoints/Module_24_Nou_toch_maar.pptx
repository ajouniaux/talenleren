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f09ffd58-dc69-6258-b059-584becb5a537}">
          <p14:sldIdLst>
            <p14:sldId id="256"/>
          </p14:sldIdLst>
        </p14:section>
        <p14:section name="Découvrir" id="{3faa53c9-fb3d-84a9-ffe7-d6bfcd70a1a5}">
          <p14:sldIdLst>
            <p14:sldId id="257"/>
            <p14:sldId id="258"/>
          </p14:sldIdLst>
        </p14:section>
        <p14:section name="Comprendre" id="{0b958d30-df1c-d0a9-6cc4-cb54bd2720cf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3d200206-6b47-f311-646a-5291d53eaac6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d14f7f2c-d7f9-d587-c7ec-db1b466ee572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les petits mots qui changent le ton.
Lisez les deux bulles à voix haute : « Laquelle est la plus aimable ? Pourquoi ? » Les petits mots ne changent pas le sens, ils changent le 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Sans ces mots, le néerlandais sonne sec, voire impoli. Ils sont très fréquents à l'oral et dans les messages entre collègues.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Sentir l'effet des particules par comparaison.
Faites lire les deux versions par deux apprenants, avec l'intonation. Faites deviner la nuance : even adoucit, soms = « par hasard », hoor rassure.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les particules selon leur rôle.
Une particule peut appartenir à deux familles (wel). L'intonation compte autant que le mot. Ce schéma sert de carte pour tout le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Adoucir une demande, une invitation, un conseil (lien M16).
Rappel M16. Nouveauté : even marche aussi dans les questions polies (Kun je even…?, Heb je even tijd?). Zeg het maar = « je vous écoute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les emplois de toch comme particule.
toch est la particule la plus fréquente. La question en toch correspond au « hein ? » ou « n'est-ce pas ? » du français. Rappel M13 : Toch wel! = « mais si !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nou et ses équivalents flamands.
nou est très néerlandais. En Flandre, nu le remplace dans la phrase (Wat doe je nu? Kom nu!), sans valeur de « maintenant » ; en début de phrase, on dit Allez, … ou Bon, … (Allez, ik ga naar huis), et En dan? pour Nou, en? (« et alors ? »). zeg s'entend aussi aux Pays-Bas. À reconnaître selon l'interlocuteur.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Nuancer une question.
soms dans une question = « par hasard » : demande plus polie. ook alweer = on a oublié et on s'excuse presque. eigenlijk ouvre une question plus personnelle, en passant.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wel et hoor pour affirmer et rassurer.
wel répond à une négation (M13 : Ik werk niet. — Ik wel!). hoor est très fréquent et amical, surtout aux Pays-Bas ; en Flandre aussi, dans Ja hoor!. Dat lukt wel : le wel rassure.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Associer les « petits mots » français aux particules néerlandaises.
On ne traduit pas la particule, on traduit l'intention. Ne cherchez pas un équivalent pour chaque mot : écoutez la mélodie de la phrase.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la particule au milieu de la phrase.
La particule vient après le verbe, les petits pronoms (me, je, het) et les éléments déjà connus (morgen, je pen) ; avant l'information nouvelle (een pen) et le 2e verbe. Comme niet (M13), elle se glisse dans la pince.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la particule du mot « plein ».
Le contexte et l'intonation tranchent. Astuce : si on peut enlever le mot sans changer l'information, c'est une particule. wel opposé à niet (maar zij wel) est le sens plein : on ne peut pas l'enlever.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tableau est la référence pour tous les exercices. Placement : après le verbe et les pronoms (diapo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Adoucir une phrase avec une particule.
Plusieurs solutions sont possibles (Wacht maar even!). Faites lire avec un sourire : l'intonation fait la moitié du travail.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Adoucir une phrase avec une particule.
Plusieurs solutions sont possibles (Wacht maar even!). Faites lire avec un sourire : l'intonation fait la moitié du travail.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particule adaptée au contexte.
Une particule par phrase. N° 1 : even / toch aussi possibles ; n° 5 : soms aussi. La banque rend chaque réponse unique.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particule adaptée au contexte.
Une particule par phrase. N° 1 : even / toch aussi possibles ; n° 5 : soms aussi. La banque rend chaque réponse unique.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une intention française par une particule.
Les deux « hein » (n° 1 et 6) donnent deux particules différentes : toch (question qui attend oui) et hoor (rassurer).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Rendre une intention française par une particule.
Les deux « hein » (n° 1 et 6) donnent deux particules différentes : toch (question qui attend oui) et hoor (rassurer).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la particule du mot au sens plein.
Astuce : si on peut enlever le mot sans perdre l'information, c'est une particule. Paires en miroir : 1-2 (soms), 3-4 (even), 5-6 (maar), 7-8 (toch).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Distinguer la particule du mot au sens plein.
Astuce : si on peut enlever le mot sans perdre l'information, c'est une particule. Paires en miroir : 1-2 (soms), 3-4 (even), 5-6 (maar), 7-8 (toch).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la place et le choix des particules dans une conversation.
Leurres : Ja hoor et Je komt morgen wel naar de vergadering, toch? sont corrects (toch en fin de phrase = « hein ? »). papier est indénombrable : A4-papier sans een. N° 4 : Kijk even et Kijk maar sont aussi corrects.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la place et le choix des particules dans une conversation.
Leurres : Ja hoor et Je komt morgen wel naar de vergadering, toch? sont corrects (toch en fin de phrase = « hein ? »). papier est indénombrable : A4-papier sans een. N° 4 : Kijk even et Kijk maar sont aussi corrects.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Jouer une même phrase avec des particules et des émotions différentes.
Autres phrases de base : Ga zitten. · Wat doe je? · Heb je tijd? Exigez une vraie intonation : le jeu montre que la particule et la mélodie vont ensemble.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demander un service à un collègue, de façon naturelle.
Chaque demande doit contenir au moins une particule, chaque réponse aussi. verzetten = déplacer (un rendez-vous). een lift = un trajet en voiture (Kan ik met je meerijden?). C'est la tâche finale orale du bloc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et clore le bloc 5.
Réponses :
1. Wacht even! · Heb je soms een pen?
2. Je komt toch morgen?
3. Kun je me even helpen?
Bilan : faites relire la frise des 24 modules et choisir un module à retravailler. Bloc 6 : l'heure (M25), les montants (M26), graag / houden van (M27), zich / elkaar (M28) et le conditionnel (M29). Bloc 7 : l'entreprise (M30), les achterzetsels (M31) et la présentation professionnelle (M32, bilan final du parcours).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24 · Nou, toch, maar…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24 · Nou, toch, maar…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png"/><Relationship Id="rId13" Type="http://schemas.openxmlformats.org/officeDocument/2006/relationships/image" Target="../media/image-15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image" Target="../media/image-16-12.png"/><Relationship Id="rId13" Type="http://schemas.openxmlformats.org/officeDocument/2006/relationships/image" Target="../media/image-16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image" Target="../media/image-27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24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Nou, toch, maar…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particules modales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Kom maar even binnen, hoor!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463040"/>
          </a:xfrm>
          <a:prstGeom prst="roundRect">
            <a:avLst>
              <a:gd name="adj" fmla="val 125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neutral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188720"/>
            <a:ext cx="914400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0" y="9144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 binnen.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10698480" y="10058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sec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0" y="2743200"/>
            <a:ext cx="5212080" cy="1691640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smiling face with smiling ey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108960"/>
            <a:ext cx="960120" cy="9601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772400" y="2743200"/>
            <a:ext cx="3703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 </a:t>
            </a:r>
            <a:r>
              <a:rPr lang="en-US" sz="2400" b="1" i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maar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</a:t>
            </a:r>
            <a:r>
              <a:rPr lang="en-US" sz="2400" b="1" i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binnen, </a:t>
            </a:r>
            <a:r>
              <a:rPr lang="en-US" sz="2400" b="1" i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hoor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!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10424160" y="2834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aimable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AssistiveListeningSystem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Reconnaître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comprends ce que les petits mots ajoutent : </a:t>
            </a:r>
            <a:r>
              <a:rPr lang="en-US" sz="2000" i="1" dirty="0">
                <a:solidFill>
                  <a:schemeClr val="tx1"/>
                </a:solidFill>
              </a:rPr>
              <a:t>Je komt toch?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Nuancer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J’adoucis une demande ou j’insiste : </a:t>
            </a:r>
            <a:r>
              <a:rPr lang="en-US" sz="2000" i="1" dirty="0">
                <a:solidFill>
                  <a:schemeClr val="tx1"/>
                </a:solidFill>
              </a:rPr>
              <a:t>Kun je me even helpen?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mmen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 ton juste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parle comme un néerlandophone : </a:t>
            </a:r>
            <a:r>
              <a:rPr lang="en-US" sz="2000" i="1" dirty="0">
                <a:solidFill>
                  <a:schemeClr val="tx1"/>
                </a:solidFill>
              </a:rPr>
              <a:t>Geen probleem, hoor!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Sans ces petits mots, le néerlandais sonne sec. Ils sont partout à l’oral et dans les messages.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sec ou aimable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pic>
        <p:nvPicPr>
          <p:cNvPr id="5" name="Image 0" descr="neutral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9928"/>
            <a:ext cx="685800" cy="6858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371600" y="1600200"/>
            <a:ext cx="3931920" cy="914400"/>
          </a:xfrm>
          <a:prstGeom prst="roundRect">
            <a:avLst>
              <a:gd name="adj" fmla="val 1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554480" y="16002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Geef me je pen.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5349240" y="160020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5"/>
                </a:solidFill>
              </a:rPr>
              <a:t>⇄</a:t>
            </a:r>
            <a:endParaRPr lang="en-US" sz="2600" dirty="0"/>
          </a:p>
        </p:txBody>
      </p:sp>
      <p:sp>
        <p:nvSpPr>
          <p:cNvPr id="9" name="Shape 5"/>
          <p:cNvSpPr/>
          <p:nvPr/>
        </p:nvSpPr>
        <p:spPr>
          <a:xfrm>
            <a:off x="6126480" y="1600200"/>
            <a:ext cx="4663440" cy="914400"/>
          </a:xfrm>
          <a:prstGeom prst="roundRect">
            <a:avLst>
              <a:gd name="adj" fmla="val 18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291072" y="1600200"/>
            <a:ext cx="43342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Geef me </a:t>
            </a:r>
            <a:r>
              <a:rPr lang="en-US" sz="2000" b="1" i="1" dirty="0">
                <a:solidFill>
                  <a:schemeClr val="accent2"/>
                </a:solidFill>
              </a:rPr>
              <a:t>even</a:t>
            </a:r>
            <a:r>
              <a:rPr lang="en-US" sz="2000" i="1" dirty="0">
                <a:solidFill>
                  <a:schemeClr val="tx1"/>
                </a:solidFill>
              </a:rPr>
              <a:t> je pen, alsjeblieft.</a:t>
            </a:r>
            <a:endParaRPr lang="en-US" sz="2000" dirty="0"/>
          </a:p>
        </p:txBody>
      </p:sp>
      <p:pic>
        <p:nvPicPr>
          <p:cNvPr id="11" name="Image 1" descr="smiling face with smiling ey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4512" y="1709928"/>
            <a:ext cx="685800" cy="685800"/>
          </a:xfrm>
          <a:prstGeom prst="rect">
            <a:avLst/>
          </a:prstGeom>
        </p:spPr>
      </p:pic>
      <p:pic>
        <p:nvPicPr>
          <p:cNvPr id="12" name="Image 2" descr="neutral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07208"/>
            <a:ext cx="685800" cy="68580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1371600" y="2697480"/>
            <a:ext cx="3931920" cy="914400"/>
          </a:xfrm>
          <a:prstGeom prst="roundRect">
            <a:avLst>
              <a:gd name="adj" fmla="val 1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1554480" y="26974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Heb je een pen?</a:t>
            </a:r>
            <a:endParaRPr lang="en-US" sz="2000" dirty="0"/>
          </a:p>
        </p:txBody>
      </p:sp>
      <p:sp>
        <p:nvSpPr>
          <p:cNvPr id="15" name="Text 9"/>
          <p:cNvSpPr txBox="1"/>
          <p:nvPr/>
        </p:nvSpPr>
        <p:spPr>
          <a:xfrm>
            <a:off x="5349240" y="269748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5"/>
                </a:solidFill>
              </a:rPr>
              <a:t>⇄</a:t>
            </a:r>
            <a:endParaRPr lang="en-US" sz="2600" dirty="0"/>
          </a:p>
        </p:txBody>
      </p:sp>
      <p:sp>
        <p:nvSpPr>
          <p:cNvPr id="16" name="Shape 10"/>
          <p:cNvSpPr/>
          <p:nvPr/>
        </p:nvSpPr>
        <p:spPr>
          <a:xfrm>
            <a:off x="6126480" y="2697480"/>
            <a:ext cx="4663440" cy="914400"/>
          </a:xfrm>
          <a:prstGeom prst="roundRect">
            <a:avLst>
              <a:gd name="adj" fmla="val 18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291072" y="2697480"/>
            <a:ext cx="43342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Heb je </a:t>
            </a:r>
            <a:r>
              <a:rPr lang="en-US" sz="2000" b="1" i="1" dirty="0">
                <a:solidFill>
                  <a:schemeClr val="accent4"/>
                </a:solidFill>
              </a:rPr>
              <a:t>soms</a:t>
            </a:r>
            <a:r>
              <a:rPr lang="en-US" sz="2000" i="1" dirty="0">
                <a:solidFill>
                  <a:schemeClr val="tx1"/>
                </a:solidFill>
              </a:rPr>
              <a:t> een pen?</a:t>
            </a:r>
            <a:endParaRPr lang="en-US" sz="2000" dirty="0"/>
          </a:p>
        </p:txBody>
      </p:sp>
      <p:pic>
        <p:nvPicPr>
          <p:cNvPr id="18" name="Image 3" descr="smiling face with smiling ey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4512" y="2807208"/>
            <a:ext cx="685800" cy="685800"/>
          </a:xfrm>
          <a:prstGeom prst="rect">
            <a:avLst/>
          </a:prstGeom>
        </p:spPr>
      </p:pic>
      <p:pic>
        <p:nvPicPr>
          <p:cNvPr id="19" name="Image 4" descr="neutral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04488"/>
            <a:ext cx="685800" cy="685800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1371600" y="3794760"/>
            <a:ext cx="3931920" cy="914400"/>
          </a:xfrm>
          <a:prstGeom prst="roundRect">
            <a:avLst>
              <a:gd name="adj" fmla="val 1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1554480" y="37947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Het is goed.</a:t>
            </a:r>
            <a:endParaRPr lang="en-US" sz="2000" dirty="0"/>
          </a:p>
        </p:txBody>
      </p:sp>
      <p:sp>
        <p:nvSpPr>
          <p:cNvPr id="22" name="Text 14"/>
          <p:cNvSpPr txBox="1"/>
          <p:nvPr/>
        </p:nvSpPr>
        <p:spPr>
          <a:xfrm>
            <a:off x="5349240" y="379476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5"/>
                </a:solidFill>
              </a:rPr>
              <a:t>⇄</a:t>
            </a:r>
            <a:endParaRPr lang="en-US" sz="2600" dirty="0"/>
          </a:p>
        </p:txBody>
      </p:sp>
      <p:sp>
        <p:nvSpPr>
          <p:cNvPr id="23" name="Shape 15"/>
          <p:cNvSpPr/>
          <p:nvPr/>
        </p:nvSpPr>
        <p:spPr>
          <a:xfrm>
            <a:off x="6126480" y="3794760"/>
            <a:ext cx="4663440" cy="914400"/>
          </a:xfrm>
          <a:prstGeom prst="roundRect">
            <a:avLst>
              <a:gd name="adj" fmla="val 18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6291072" y="3794760"/>
            <a:ext cx="43342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Het is goed, </a:t>
            </a:r>
            <a:r>
              <a:rPr lang="en-US" sz="2000" b="1" i="1" dirty="0">
                <a:solidFill>
                  <a:schemeClr val="accent3"/>
                </a:solidFill>
              </a:rPr>
              <a:t>hoor</a:t>
            </a:r>
            <a:r>
              <a:rPr lang="en-US" sz="2000" i="1" dirty="0">
                <a:solidFill>
                  <a:schemeClr val="tx1"/>
                </a:solidFill>
              </a:rPr>
              <a:t>!</a:t>
            </a:r>
            <a:endParaRPr lang="en-US" sz="2000" dirty="0"/>
          </a:p>
        </p:txBody>
      </p:sp>
      <p:pic>
        <p:nvPicPr>
          <p:cNvPr id="25" name="Image 5" descr="smiling face with smiling ey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4512" y="3904488"/>
            <a:ext cx="685800" cy="685800"/>
          </a:xfrm>
          <a:prstGeom prst="rect">
            <a:avLst/>
          </a:prstGeom>
        </p:spPr>
      </p:pic>
      <p:sp>
        <p:nvSpPr>
          <p:cNvPr id="26" name="Shape 17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7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Quelle version préférez-vous entendre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Qu’ajoute le petit mot ? Le </a:t>
            </a:r>
            <a:r>
              <a:rPr lang="en-US" sz="1800" b="1" dirty="0">
                <a:solidFill>
                  <a:schemeClr val="tx1"/>
                </a:solidFill>
              </a:rPr>
              <a:t>sens</a:t>
            </a:r>
            <a:r>
              <a:rPr lang="en-US" sz="1800" dirty="0">
                <a:solidFill>
                  <a:schemeClr val="tx1"/>
                </a:solidFill>
              </a:rPr>
              <a:t> ne change pas… le </a:t>
            </a:r>
            <a:r>
              <a:rPr lang="en-US" sz="1800" b="1" dirty="0">
                <a:solidFill>
                  <a:schemeClr val="tx1"/>
                </a:solidFill>
              </a:rPr>
              <a:t>ton</a:t>
            </a:r>
            <a:r>
              <a:rPr lang="en-US" sz="1800" dirty="0">
                <a:solidFill>
                  <a:schemeClr val="tx1"/>
                </a:solidFill>
              </a:rPr>
              <a:t>, si.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palette des nuances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pic>
        <p:nvPicPr>
          <p:cNvPr id="5" name="Image 0" descr="artist pal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0" y="868680"/>
            <a:ext cx="731520" cy="7315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600200"/>
            <a:ext cx="5413248" cy="1874520"/>
          </a:xfrm>
          <a:prstGeom prst="roundRect">
            <a:avLst>
              <a:gd name="adj" fmla="val 5854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777240" y="18288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1280160" y="1783080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2"/>
                </a:solidFill>
              </a:rPr>
              <a:t>ADOUCIR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258568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 · maar · eens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862072"/>
            <a:ext cx="4956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Kijk </a:t>
            </a:r>
            <a:r>
              <a:rPr lang="en-US" sz="1900" b="1" i="1" dirty="0">
                <a:solidFill>
                  <a:schemeClr val="accent2"/>
                </a:solidFill>
              </a:rPr>
              <a:t>eens even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6227064" y="1600200"/>
            <a:ext cx="5413248" cy="1874520"/>
          </a:xfrm>
          <a:prstGeom prst="roundRect">
            <a:avLst>
              <a:gd name="adj" fmla="val 5854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55664" y="18288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958584" y="1783080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INSISTER, RAPPELER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455664" y="2258568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toch · nou · wel</a:t>
            </a:r>
            <a:endParaRPr lang="en-US" sz="2600" dirty="0"/>
          </a:p>
        </p:txBody>
      </p:sp>
      <p:sp>
        <p:nvSpPr>
          <p:cNvPr id="15" name="Text 11"/>
          <p:cNvSpPr txBox="1"/>
          <p:nvPr/>
        </p:nvSpPr>
        <p:spPr>
          <a:xfrm>
            <a:off x="6455664" y="2862072"/>
            <a:ext cx="4956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Je weet het </a:t>
            </a:r>
            <a:r>
              <a:rPr lang="en-US" sz="1900" b="1" i="1" dirty="0">
                <a:solidFill>
                  <a:schemeClr val="accent1"/>
                </a:solidFill>
              </a:rPr>
              <a:t>toch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548640" y="3657600"/>
            <a:ext cx="5413248" cy="1874520"/>
          </a:xfrm>
          <a:prstGeom prst="roundRect">
            <a:avLst>
              <a:gd name="adj" fmla="val 5854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77240" y="3886200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280160" y="3840480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4"/>
                </a:solidFill>
              </a:rPr>
              <a:t>QUESTIONNER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77240" y="4315968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soms · dan · ook alweer</a:t>
            </a:r>
            <a:endParaRPr lang="en-US" sz="2600" dirty="0"/>
          </a:p>
        </p:txBody>
      </p:sp>
      <p:sp>
        <p:nvSpPr>
          <p:cNvPr id="20" name="Text 16"/>
          <p:cNvSpPr txBox="1"/>
          <p:nvPr/>
        </p:nvSpPr>
        <p:spPr>
          <a:xfrm>
            <a:off x="777240" y="4919472"/>
            <a:ext cx="4956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Hoe heet hij </a:t>
            </a:r>
            <a:r>
              <a:rPr lang="en-US" sz="1900" b="1" i="1" dirty="0">
                <a:solidFill>
                  <a:schemeClr val="accent4"/>
                </a:solidFill>
              </a:rPr>
              <a:t>ook alweer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r>
              <a:rPr lang="en-US" sz="1900" dirty="0">
                <a:solidFill>
                  <a:schemeClr val="tx1"/>
                </a:solidFill>
              </a:rPr>
              <a:t> (+ </a:t>
            </a:r>
            <a:r>
              <a:rPr lang="en-US" sz="1900" i="1" dirty="0">
                <a:solidFill>
                  <a:schemeClr val="tx1"/>
                </a:solidFill>
              </a:rPr>
              <a:t>eigenlijk</a:t>
            </a:r>
            <a:r>
              <a:rPr lang="en-US" sz="1900" dirty="0">
                <a:solidFill>
                  <a:schemeClr val="tx1"/>
                </a:solidFill>
              </a:rPr>
              <a:t>)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6227064" y="3657600"/>
            <a:ext cx="5413248" cy="1874520"/>
          </a:xfrm>
          <a:prstGeom prst="roundRect">
            <a:avLst>
              <a:gd name="adj" fmla="val 5854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455664" y="388620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958584" y="3840480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3"/>
                </a:solidFill>
              </a:rPr>
              <a:t>RASSURER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6455664" y="4315968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hoor · wel</a:t>
            </a:r>
            <a:endParaRPr lang="en-US" sz="2600" dirty="0"/>
          </a:p>
        </p:txBody>
      </p:sp>
      <p:sp>
        <p:nvSpPr>
          <p:cNvPr id="25" name="Text 21"/>
          <p:cNvSpPr txBox="1"/>
          <p:nvPr/>
        </p:nvSpPr>
        <p:spPr>
          <a:xfrm>
            <a:off x="6455664" y="4919472"/>
            <a:ext cx="4956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Dat lukt </a:t>
            </a:r>
            <a:r>
              <a:rPr lang="en-US" sz="1900" b="1" i="1" dirty="0">
                <a:solidFill>
                  <a:schemeClr val="accent3"/>
                </a:solidFill>
              </a:rPr>
              <a:t>wel</a:t>
            </a:r>
            <a:r>
              <a:rPr lang="en-US" sz="1900" i="1" dirty="0">
                <a:solidFill>
                  <a:schemeClr val="tx1"/>
                </a:solidFill>
              </a:rPr>
              <a:t>, </a:t>
            </a:r>
            <a:r>
              <a:rPr lang="en-US" sz="1900" b="1" i="1" dirty="0">
                <a:solidFill>
                  <a:schemeClr val="accent3"/>
                </a:solidFill>
              </a:rPr>
              <a:t>hoor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548640" y="5760720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822960" y="5760720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Un mot peut avoir deux couleurs (</a:t>
            </a:r>
            <a:r>
              <a:rPr lang="en-US" sz="1700" i="1" dirty="0">
                <a:solidFill>
                  <a:schemeClr val="bg1"/>
                </a:solidFill>
              </a:rPr>
              <a:t>wel</a:t>
            </a:r>
            <a:r>
              <a:rPr lang="en-US" sz="1700" dirty="0">
                <a:solidFill>
                  <a:schemeClr val="bg1"/>
                </a:solidFill>
              </a:rPr>
              <a:t>). L’</a:t>
            </a:r>
            <a:r>
              <a:rPr lang="en-US" sz="1700" b="1" dirty="0">
                <a:solidFill>
                  <a:schemeClr val="bg1"/>
                </a:solidFill>
              </a:rPr>
              <a:t>intonation</a:t>
            </a:r>
            <a:r>
              <a:rPr lang="en-US" sz="1700" dirty="0">
                <a:solidFill>
                  <a:schemeClr val="bg1"/>
                </a:solidFill>
              </a:rPr>
              <a:t> compte autant que le mot.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Adoucir : even, maar, eens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rglass not d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3736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45920" y="1691640"/>
            <a:ext cx="2264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</a:t>
            </a:r>
            <a:endParaRPr lang="en-US" sz="3200" dirty="0"/>
          </a:p>
        </p:txBody>
      </p:sp>
      <p:sp>
        <p:nvSpPr>
          <p:cNvPr id="8" name="Text 4"/>
          <p:cNvSpPr txBox="1"/>
          <p:nvPr/>
        </p:nvSpPr>
        <p:spPr>
          <a:xfrm>
            <a:off x="1645920" y="2212848"/>
            <a:ext cx="2264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un instant, juste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29961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Kun je me </a:t>
            </a:r>
            <a:r>
              <a:rPr lang="en-US" sz="1900" b="1" i="1" dirty="0">
                <a:solidFill>
                  <a:schemeClr val="accent2"/>
                </a:solidFill>
              </a:rPr>
              <a:t>even</a:t>
            </a:r>
            <a:r>
              <a:rPr lang="en-US" sz="1900" i="1" dirty="0">
                <a:solidFill>
                  <a:schemeClr val="tx1"/>
                </a:solidFill>
              </a:rPr>
              <a:t> helpen?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Wacht </a:t>
            </a:r>
            <a:r>
              <a:rPr lang="en-US" sz="1900" b="1" i="1" dirty="0">
                <a:solidFill>
                  <a:schemeClr val="accent2"/>
                </a:solidFill>
              </a:rPr>
              <a:t>even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Heb je </a:t>
            </a:r>
            <a:r>
              <a:rPr lang="en-US" sz="1900" b="1" i="1" dirty="0">
                <a:solidFill>
                  <a:schemeClr val="accent2"/>
                </a:solidFill>
              </a:rPr>
              <a:t>even</a:t>
            </a:r>
            <a:r>
              <a:rPr lang="en-US" sz="1900" i="1" dirty="0">
                <a:solidFill>
                  <a:schemeClr val="tx1"/>
                </a:solidFill>
              </a:rPr>
              <a:t> tijd?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waving h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664" y="1737360"/>
            <a:ext cx="731520" cy="7315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419344" y="1691640"/>
            <a:ext cx="2264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maar</a:t>
            </a:r>
            <a:endParaRPr lang="en-US" sz="3200" dirty="0"/>
          </a:p>
        </p:txBody>
      </p:sp>
      <p:sp>
        <p:nvSpPr>
          <p:cNvPr id="13" name="Text 8"/>
          <p:cNvSpPr txBox="1"/>
          <p:nvPr/>
        </p:nvSpPr>
        <p:spPr>
          <a:xfrm>
            <a:off x="5419344" y="2212848"/>
            <a:ext cx="2264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vas-y, je t’en prie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96384" y="2697480"/>
            <a:ext cx="29961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b="1" i="1" dirty="0">
                <a:solidFill>
                  <a:schemeClr val="accent2"/>
                </a:solidFill>
              </a:rPr>
              <a:t>maar</a:t>
            </a:r>
            <a:r>
              <a:rPr lang="en-US" sz="1900" i="1" dirty="0">
                <a:solidFill>
                  <a:schemeClr val="tx1"/>
                </a:solidFill>
              </a:rPr>
              <a:t> binnen!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Zeg het </a:t>
            </a:r>
            <a:r>
              <a:rPr lang="en-US" sz="1900" b="1" i="1" dirty="0">
                <a:solidFill>
                  <a:schemeClr val="accent2"/>
                </a:solidFill>
              </a:rPr>
              <a:t>maar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(= je vous écoute)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ey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4088" y="1737360"/>
            <a:ext cx="731520" cy="7315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192768" y="1691640"/>
            <a:ext cx="2264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eens</a:t>
            </a:r>
            <a:endParaRPr lang="en-US" sz="3200" dirty="0"/>
          </a:p>
        </p:txBody>
      </p:sp>
      <p:sp>
        <p:nvSpPr>
          <p:cNvPr id="18" name="Text 12"/>
          <p:cNvSpPr txBox="1"/>
          <p:nvPr/>
        </p:nvSpPr>
        <p:spPr>
          <a:xfrm>
            <a:off x="9192768" y="2212848"/>
            <a:ext cx="2264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donc, pour voir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369808" y="2697480"/>
            <a:ext cx="29961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Kijk </a:t>
            </a:r>
            <a:r>
              <a:rPr lang="en-US" sz="1900" b="1" i="1" dirty="0">
                <a:solidFill>
                  <a:schemeClr val="accent2"/>
                </a:solidFill>
              </a:rPr>
              <a:t>eens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Probeer het </a:t>
            </a:r>
            <a:r>
              <a:rPr lang="en-US" sz="1900" b="1" i="1" dirty="0">
                <a:solidFill>
                  <a:schemeClr val="accent2"/>
                </a:solidFill>
              </a:rPr>
              <a:t>eens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b="1" i="1" dirty="0">
                <a:solidFill>
                  <a:schemeClr val="accent2"/>
                </a:solidFill>
              </a:rPr>
              <a:t>eens</a:t>
            </a:r>
            <a:r>
              <a:rPr lang="en-US" sz="1900" i="1" dirty="0">
                <a:solidFill>
                  <a:schemeClr val="tx1"/>
                </a:solidFill>
              </a:rPr>
              <a:t> langs!</a:t>
            </a:r>
            <a:endParaRPr lang="en-US" sz="1900" dirty="0"/>
          </a:p>
        </p:txBody>
      </p:sp>
      <p:sp>
        <p:nvSpPr>
          <p:cNvPr id="20" name="Shape 14"/>
          <p:cNvSpPr/>
          <p:nvPr/>
        </p:nvSpPr>
        <p:spPr>
          <a:xfrm>
            <a:off x="548640" y="50292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77240" y="502920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Combinaisons : </a:t>
            </a:r>
            <a:r>
              <a:rPr lang="en-US" sz="1800" i="1" dirty="0">
                <a:solidFill>
                  <a:schemeClr val="tx1"/>
                </a:solidFill>
              </a:rPr>
              <a:t>Wacht </a:t>
            </a:r>
            <a:r>
              <a:rPr lang="en-US" sz="1800" b="1" i="1" dirty="0">
                <a:solidFill>
                  <a:schemeClr val="accent2"/>
                </a:solidFill>
              </a:rPr>
              <a:t>maar even</a:t>
            </a:r>
            <a:r>
              <a:rPr lang="en-US" sz="1800" i="1" dirty="0">
                <a:solidFill>
                  <a:schemeClr val="tx1"/>
                </a:solidFill>
              </a:rPr>
              <a:t>. · Kijk </a:t>
            </a:r>
            <a:r>
              <a:rPr lang="en-US" sz="1800" b="1" i="1" dirty="0">
                <a:solidFill>
                  <a:schemeClr val="accent2"/>
                </a:solidFill>
              </a:rPr>
              <a:t>eens even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dirty="0">
                <a:solidFill>
                  <a:schemeClr val="tx1"/>
                </a:solidFill>
              </a:rPr>
              <a:t> — Rappel M16 : l’impératif + petit mot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Nouveau : </a:t>
            </a:r>
            <a:r>
              <a:rPr lang="en-US" sz="1500" i="1" dirty="0">
                <a:solidFill>
                  <a:schemeClr val="accent5"/>
                </a:solidFill>
              </a:rPr>
              <a:t>even</a:t>
            </a:r>
            <a:r>
              <a:rPr lang="en-US" sz="1500" i="1" dirty="0">
                <a:solidFill>
                  <a:schemeClr val="accent5"/>
                </a:solidFill>
              </a:rPr>
              <a:t> marche aussi dans les questions polies.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toch : trois nuances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rappel, évidence</a:t>
            </a:r>
            <a:endParaRPr lang="en-US" sz="1500" dirty="0"/>
          </a:p>
        </p:txBody>
      </p:sp>
      <p:pic>
        <p:nvPicPr>
          <p:cNvPr id="8" name="Image 0" descr="face with raised eyebr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6224" y="2148840"/>
            <a:ext cx="594360" cy="5943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2148840"/>
            <a:ext cx="2493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Je weet </a:t>
            </a:r>
            <a:r>
              <a:rPr lang="en-US" sz="1800" b="1" i="1" dirty="0">
                <a:solidFill>
                  <a:schemeClr val="accent1"/>
                </a:solidFill>
              </a:rPr>
              <a:t>toch</a:t>
            </a:r>
            <a:r>
              <a:rPr lang="en-US" sz="1800" i="1" dirty="0">
                <a:solidFill>
                  <a:schemeClr val="tx1"/>
                </a:solidFill>
              </a:rPr>
              <a:t> dat de vergadering om 9 uur begint!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749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tu sais bien que…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322064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322064" y="1554480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504944" y="15544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question qui attend « oui »</a:t>
            </a:r>
            <a:endParaRPr lang="en-US" sz="1500" dirty="0"/>
          </a:p>
        </p:txBody>
      </p:sp>
      <p:pic>
        <p:nvPicPr>
          <p:cNvPr id="14" name="Image 1" descr="slightly smiling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9648" y="2148840"/>
            <a:ext cx="594360" cy="59436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550664" y="2148840"/>
            <a:ext cx="2493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Je komt </a:t>
            </a:r>
            <a:r>
              <a:rPr lang="en-US" sz="1800" b="1" i="1" dirty="0">
                <a:solidFill>
                  <a:schemeClr val="accent1"/>
                </a:solidFill>
              </a:rPr>
              <a:t>toch</a:t>
            </a:r>
            <a:r>
              <a:rPr lang="en-US" sz="1800" i="1" dirty="0">
                <a:solidFill>
                  <a:schemeClr val="tx1"/>
                </a:solidFill>
              </a:rPr>
              <a:t> morgen?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4550664" y="3749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tu viens demain, hein ?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8095488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095488" y="1554480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278368" y="15544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insistance</a:t>
            </a:r>
            <a:endParaRPr lang="en-US" sz="1500" dirty="0"/>
          </a:p>
        </p:txBody>
      </p:sp>
      <p:pic>
        <p:nvPicPr>
          <p:cNvPr id="20" name="Image 2" descr="folded han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3072" y="2148840"/>
            <a:ext cx="594360" cy="5943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324088" y="2148840"/>
            <a:ext cx="2493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Kom </a:t>
            </a:r>
            <a:r>
              <a:rPr lang="en-US" sz="1800" b="1" i="1" dirty="0">
                <a:solidFill>
                  <a:schemeClr val="accent1"/>
                </a:solidFill>
              </a:rPr>
              <a:t>toch</a:t>
            </a:r>
            <a:r>
              <a:rPr lang="en-US" sz="1800" i="1" dirty="0">
                <a:solidFill>
                  <a:schemeClr val="tx1"/>
                </a:solidFill>
              </a:rPr>
              <a:t> binnen!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8324088" y="3749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entre donc !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548640" y="4526280"/>
            <a:ext cx="11091672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3" descr="umbrella with rain drop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636008"/>
            <a:ext cx="685800" cy="6858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6002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Sens plein : </a:t>
            </a:r>
            <a:r>
              <a:rPr lang="en-US" sz="1900" i="1" dirty="0">
                <a:solidFill>
                  <a:schemeClr val="tx1"/>
                </a:solidFill>
              </a:rPr>
              <a:t>Het regent, maar ik ga </a:t>
            </a:r>
            <a:r>
              <a:rPr lang="en-US" sz="1900" b="1" i="1" dirty="0">
                <a:solidFill>
                  <a:schemeClr val="tx1"/>
                </a:solidFill>
              </a:rPr>
              <a:t>toch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= quand même, pourtant</a:t>
            </a:r>
            <a:endParaRPr lang="en-US" sz="1900" dirty="0"/>
          </a:p>
        </p:txBody>
      </p:sp>
      <p:sp>
        <p:nvSpPr>
          <p:cNvPr id="26" name="Text 19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Rappel M13 : </a:t>
            </a:r>
            <a:r>
              <a:rPr lang="en-US" sz="1500" i="1" dirty="0">
                <a:solidFill>
                  <a:schemeClr val="accent5"/>
                </a:solidFill>
              </a:rPr>
              <a:t>Toch wel!</a:t>
            </a:r>
            <a:r>
              <a:rPr lang="en-US" sz="1500" i="1" dirty="0">
                <a:solidFill>
                  <a:schemeClr val="accent5"/>
                </a:solidFill>
              </a:rPr>
              <a:t> = « mais si ! » · </a:t>
            </a:r>
            <a:r>
              <a:rPr lang="en-US" sz="1500" i="1" dirty="0">
                <a:solidFill>
                  <a:schemeClr val="accent5"/>
                </a:solidFill>
              </a:rPr>
              <a:t>toch</a:t>
            </a:r>
            <a:r>
              <a:rPr lang="en-US" sz="1500" i="1" dirty="0">
                <a:solidFill>
                  <a:schemeClr val="accent5"/>
                </a:solidFill>
              </a:rPr>
              <a:t> = la particule la plus fréquente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nou… et en Flandre : allez, zeg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CULTURE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685800" cy="150876"/>
          </a:xfrm>
          <a:prstGeom prst="rect">
            <a:avLst/>
          </a:prstGeom>
          <a:solidFill>
            <a:srgbClr val="B320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751076"/>
            <a:ext cx="685800" cy="1508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901952"/>
            <a:ext cx="685800" cy="150876"/>
          </a:xfrm>
          <a:prstGeom prst="rect">
            <a:avLst/>
          </a:prstGeom>
          <a:solidFill>
            <a:srgbClr val="2240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1600200"/>
            <a:ext cx="685800" cy="452628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417320" y="15544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spc="100" kern="0" dirty="0">
                <a:solidFill>
                  <a:schemeClr val="accent2"/>
                </a:solidFill>
              </a:rPr>
              <a:t>AUX PAYS-BAS : nou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48640" y="2286000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" y="2286000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Wat doe je </a:t>
            </a:r>
            <a:r>
              <a:rPr lang="en-US" sz="1900" b="1" i="1" dirty="0">
                <a:solidFill>
                  <a:schemeClr val="accent1"/>
                </a:solidFill>
              </a:rPr>
              <a:t>nou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4069080" y="22860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surprise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273552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13232" y="3273552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b="1" i="1" dirty="0">
                <a:solidFill>
                  <a:schemeClr val="accent1"/>
                </a:solidFill>
              </a:rPr>
              <a:t>nou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4069080" y="3273552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impatience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261104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13232" y="4261104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Nou</a:t>
            </a:r>
            <a:r>
              <a:rPr lang="en-US" sz="1900" i="1" dirty="0">
                <a:solidFill>
                  <a:schemeClr val="tx1"/>
                </a:solidFill>
              </a:rPr>
              <a:t>, ik ga naar huis.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4069080" y="4261104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bon, eh bien…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227064" y="1600200"/>
            <a:ext cx="228600" cy="452628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55664" y="1600200"/>
            <a:ext cx="228600" cy="452628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84264" y="1600200"/>
            <a:ext cx="228600" cy="452628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227064" y="1600200"/>
            <a:ext cx="685800" cy="452628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095744" y="15544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spc="100" kern="0" dirty="0">
                <a:solidFill>
                  <a:schemeClr val="accent4"/>
                </a:solidFill>
              </a:rPr>
              <a:t>EN FLANDRE : allez, zeg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6227064" y="2286000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391656" y="2286000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Allez</a:t>
            </a:r>
            <a:r>
              <a:rPr lang="en-US" sz="1900" i="1" dirty="0">
                <a:solidFill>
                  <a:schemeClr val="tx1"/>
                </a:solidFill>
              </a:rPr>
              <a:t>, kom!</a:t>
            </a:r>
            <a:endParaRPr lang="en-US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9747504" y="22860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allez, viens !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227064" y="3273552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391656" y="3273552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Zeg</a:t>
            </a:r>
            <a:r>
              <a:rPr lang="en-US" sz="1900" i="1" dirty="0">
                <a:solidFill>
                  <a:schemeClr val="tx1"/>
                </a:solidFill>
              </a:rPr>
              <a:t>, heb je even tijd?</a:t>
            </a:r>
            <a:endParaRPr lang="en-US" sz="1900" dirty="0"/>
          </a:p>
        </p:txBody>
      </p:sp>
      <p:sp>
        <p:nvSpPr>
          <p:cNvPr id="29" name="Text 26"/>
          <p:cNvSpPr txBox="1"/>
          <p:nvPr/>
        </p:nvSpPr>
        <p:spPr>
          <a:xfrm>
            <a:off x="9747504" y="3273552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dis, tu as un moment ?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227064" y="4261104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391656" y="4261104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Allez</a:t>
            </a:r>
            <a:r>
              <a:rPr lang="en-US" sz="1900" i="1" dirty="0">
                <a:solidFill>
                  <a:schemeClr val="tx1"/>
                </a:solidFill>
              </a:rPr>
              <a:t>, tot morgen!</a:t>
            </a:r>
            <a:endParaRPr lang="en-US" sz="1900" dirty="0"/>
          </a:p>
        </p:txBody>
      </p:sp>
      <p:sp>
        <p:nvSpPr>
          <p:cNvPr id="32" name="Text 29"/>
          <p:cNvSpPr txBox="1"/>
          <p:nvPr/>
        </p:nvSpPr>
        <p:spPr>
          <a:xfrm>
            <a:off x="9747504" y="4261104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bon, à demain !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089904" y="1645920"/>
            <a:ext cx="914" cy="3566160"/>
          </a:xfrm>
          <a:prstGeom prst="line">
            <a:avLst/>
          </a:prstGeom>
          <a:noFill/>
          <a:ln w="19050">
            <a:solidFill>
              <a:srgbClr val="D5DCE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En Flandre : </a:t>
            </a:r>
            <a:r>
              <a:rPr lang="en-US" sz="1700" i="1" dirty="0">
                <a:solidFill>
                  <a:schemeClr val="bg1"/>
                </a:solidFill>
              </a:rPr>
              <a:t>Wat doe je </a:t>
            </a:r>
            <a:r>
              <a:rPr lang="en-US" sz="1700" b="1" i="1" dirty="0">
                <a:solidFill>
                  <a:schemeClr val="bg1"/>
                </a:solidFill>
              </a:rPr>
              <a:t>nu</a:t>
            </a:r>
            <a:r>
              <a:rPr lang="en-US" sz="1700" i="1" dirty="0">
                <a:solidFill>
                  <a:schemeClr val="bg1"/>
                </a:solidFill>
              </a:rPr>
              <a:t>? · Kom </a:t>
            </a:r>
            <a:r>
              <a:rPr lang="en-US" sz="1700" b="1" i="1" dirty="0">
                <a:solidFill>
                  <a:schemeClr val="bg1"/>
                </a:solidFill>
              </a:rPr>
              <a:t>nu</a:t>
            </a:r>
            <a:r>
              <a:rPr lang="en-US" sz="1700" i="1" dirty="0">
                <a:solidFill>
                  <a:schemeClr val="bg1"/>
                </a:solidFill>
              </a:rPr>
              <a:t>!</a:t>
            </a:r>
            <a:r>
              <a:rPr lang="en-US" sz="1700" dirty="0">
                <a:solidFill>
                  <a:schemeClr val="bg1"/>
                </a:solidFill>
              </a:rPr>
              <a:t> (</a:t>
            </a:r>
            <a:r>
              <a:rPr lang="en-US" sz="1700" i="1" dirty="0">
                <a:solidFill>
                  <a:schemeClr val="bg1"/>
                </a:solidFill>
              </a:rPr>
              <a:t>nu</a:t>
            </a:r>
            <a:r>
              <a:rPr lang="en-US" sz="1700" dirty="0">
                <a:solidFill>
                  <a:schemeClr val="bg1"/>
                </a:solidFill>
              </a:rPr>
              <a:t> sans valeur de « maintenant ») · </a:t>
            </a:r>
            <a:r>
              <a:rPr lang="en-US" sz="1700" i="1" dirty="0">
                <a:solidFill>
                  <a:schemeClr val="bg1"/>
                </a:solidFill>
              </a:rPr>
              <a:t>Allez, ik ga naar huis.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Questions : soms, dan, ook alweer…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2880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83080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soms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4206240" y="16916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par hasard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783080" y="2331720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Heb je </a:t>
            </a:r>
            <a:r>
              <a:rPr lang="en-US" sz="1900" b="1" i="1" dirty="0">
                <a:solidFill>
                  <a:schemeClr val="accent4"/>
                </a:solidFill>
              </a:rPr>
              <a:t>soms</a:t>
            </a:r>
            <a:r>
              <a:rPr lang="en-US" sz="1900" i="1" dirty="0">
                <a:solidFill>
                  <a:schemeClr val="tx1"/>
                </a:solidFill>
              </a:rPr>
              <a:t> een pen?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6227064" y="1554480"/>
            <a:ext cx="5413248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teacup without hand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828800"/>
            <a:ext cx="822960" cy="8229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461504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dan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9884664" y="16916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alors, donc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7461504" y="2331720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Geen koffie? Wat wil je </a:t>
            </a:r>
            <a:r>
              <a:rPr lang="en-US" sz="1900" b="1" i="1" dirty="0">
                <a:solidFill>
                  <a:schemeClr val="accent4"/>
                </a:solidFill>
              </a:rPr>
              <a:t>dan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548640" y="3520440"/>
            <a:ext cx="5413248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think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794760"/>
            <a:ext cx="822960" cy="82296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783080" y="36576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ook alweer</a:t>
            </a:r>
            <a:endParaRPr lang="en-US" sz="2800" dirty="0"/>
          </a:p>
        </p:txBody>
      </p:sp>
      <p:sp>
        <p:nvSpPr>
          <p:cNvPr id="18" name="Text 12"/>
          <p:cNvSpPr txBox="1"/>
          <p:nvPr/>
        </p:nvSpPr>
        <p:spPr>
          <a:xfrm>
            <a:off x="4206240" y="3657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déjà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1783080" y="4297680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Hoe heet die klant </a:t>
            </a:r>
            <a:r>
              <a:rPr lang="en-US" sz="1900" b="1" i="1" dirty="0">
                <a:solidFill>
                  <a:schemeClr val="accent4"/>
                </a:solidFill>
              </a:rPr>
              <a:t>ook alweer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20" name="Shape 14"/>
          <p:cNvSpPr/>
          <p:nvPr/>
        </p:nvSpPr>
        <p:spPr>
          <a:xfrm>
            <a:off x="6227064" y="3520440"/>
            <a:ext cx="5413248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3" descr="h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3794760"/>
            <a:ext cx="822960" cy="82296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461504" y="36576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eigenlijk</a:t>
            </a:r>
            <a:endParaRPr lang="en-US" sz="2800" dirty="0"/>
          </a:p>
        </p:txBody>
      </p:sp>
      <p:sp>
        <p:nvSpPr>
          <p:cNvPr id="23" name="Text 16"/>
          <p:cNvSpPr txBox="1"/>
          <p:nvPr/>
        </p:nvSpPr>
        <p:spPr>
          <a:xfrm>
            <a:off x="9884664" y="3657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au fait, en fait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7461504" y="4297680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Waar woon je </a:t>
            </a:r>
            <a:r>
              <a:rPr lang="en-US" sz="1900" b="1" i="1" dirty="0">
                <a:solidFill>
                  <a:schemeClr val="accent4"/>
                </a:solidFill>
              </a:rPr>
              <a:t>eigenlijk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25" name="Shape 18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soms</a:t>
            </a:r>
            <a:r>
              <a:rPr lang="en-US" sz="1700" dirty="0">
                <a:solidFill>
                  <a:schemeClr val="bg1"/>
                </a:solidFill>
              </a:rPr>
              <a:t> = question plus polie · </a:t>
            </a:r>
            <a:r>
              <a:rPr lang="en-US" sz="1700" i="1" dirty="0">
                <a:solidFill>
                  <a:schemeClr val="bg1"/>
                </a:solidFill>
              </a:rPr>
              <a:t>ook alweer</a:t>
            </a:r>
            <a:r>
              <a:rPr lang="en-US" sz="1700" dirty="0">
                <a:solidFill>
                  <a:schemeClr val="bg1"/>
                </a:solidFill>
              </a:rPr>
              <a:t> = « j’ai oublié… » · </a:t>
            </a:r>
            <a:r>
              <a:rPr lang="en-US" sz="1700" i="1" dirty="0">
                <a:solidFill>
                  <a:schemeClr val="bg1"/>
                </a:solidFill>
              </a:rPr>
              <a:t>eigenlijk</a:t>
            </a:r>
            <a:r>
              <a:rPr lang="en-US" sz="1700" dirty="0">
                <a:solidFill>
                  <a:schemeClr val="bg1"/>
                </a:solidFill>
              </a:rPr>
              <a:t> = question en passant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wel et hoor : affirmer, rassurer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6035040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wel — trois emplois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148840"/>
            <a:ext cx="55778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contraste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Ik heb geen auto, maar </a:t>
            </a:r>
            <a:r>
              <a:rPr lang="en-US" sz="1800" b="1" i="1" dirty="0">
                <a:solidFill>
                  <a:schemeClr val="accent3"/>
                </a:solidFill>
              </a:rPr>
              <a:t>wel</a:t>
            </a:r>
            <a:r>
              <a:rPr lang="en-US" sz="1800" i="1" dirty="0">
                <a:solidFill>
                  <a:schemeClr val="tx1"/>
                </a:solidFill>
              </a:rPr>
              <a:t> een fiets.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nuance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Het is </a:t>
            </a:r>
            <a:r>
              <a:rPr lang="en-US" sz="1800" b="1" i="1" dirty="0">
                <a:solidFill>
                  <a:schemeClr val="accent3"/>
                </a:solidFill>
              </a:rPr>
              <a:t>wel</a:t>
            </a:r>
            <a:r>
              <a:rPr lang="en-US" sz="1800" i="1" dirty="0">
                <a:solidFill>
                  <a:schemeClr val="tx1"/>
                </a:solidFill>
              </a:rPr>
              <a:t> duur.</a:t>
            </a:r>
            <a:r>
              <a:rPr lang="en-US" sz="1800" dirty="0">
                <a:solidFill>
                  <a:schemeClr val="tx1"/>
                </a:solidFill>
              </a:rPr>
              <a:t> (quand même)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confiance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Dat lukt </a:t>
            </a:r>
            <a:r>
              <a:rPr lang="en-US" sz="1800" b="1" i="1" dirty="0">
                <a:solidFill>
                  <a:schemeClr val="accent3"/>
                </a:solidFill>
              </a:rPr>
              <a:t>wel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dirty="0">
                <a:solidFill>
                  <a:schemeClr val="tx1"/>
                </a:solidFill>
              </a:rPr>
              <a:t> (ça va aller)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75488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Rappel M13 : </a:t>
            </a:r>
            <a:r>
              <a:rPr lang="en-US" sz="1400" i="1" dirty="0">
                <a:solidFill>
                  <a:schemeClr val="accent5"/>
                </a:solidFill>
              </a:rPr>
              <a:t>Ik werk niet. — Ik </a:t>
            </a:r>
            <a:r>
              <a:rPr lang="en-US" sz="1400" b="1" i="1" dirty="0">
                <a:solidFill>
                  <a:schemeClr val="accent5"/>
                </a:solidFill>
              </a:rPr>
              <a:t>wel</a:t>
            </a:r>
            <a:r>
              <a:rPr lang="en-US" sz="1400" i="1" dirty="0">
                <a:solidFill>
                  <a:schemeClr val="accent5"/>
                </a:solidFill>
              </a:rPr>
              <a:t>!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812280" y="1554480"/>
            <a:ext cx="4828032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812280" y="1554480"/>
            <a:ext cx="4828032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995160" y="1554480"/>
            <a:ext cx="4462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hoor — à la fin, ou après ja / nee</a:t>
            </a:r>
            <a:endParaRPr lang="en-US" sz="1800" dirty="0"/>
          </a:p>
        </p:txBody>
      </p:sp>
      <p:pic>
        <p:nvPicPr>
          <p:cNvPr id="13" name="Image 0" descr="thumbs 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63072" y="2148840"/>
            <a:ext cx="594360" cy="5943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040880" y="2148840"/>
            <a:ext cx="3776472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rassurer, confirmer :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Geen probleem, </a:t>
            </a:r>
            <a:r>
              <a:rPr lang="en-US" sz="1800" b="1" i="1" dirty="0">
                <a:solidFill>
                  <a:schemeClr val="accent3"/>
                </a:solidFill>
              </a:rPr>
              <a:t>hoor</a:t>
            </a:r>
            <a:r>
              <a:rPr lang="en-US" sz="1800" i="1" dirty="0">
                <a:solidFill>
                  <a:schemeClr val="tx1"/>
                </a:solidFill>
              </a:rPr>
              <a:t>!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Ja </a:t>
            </a:r>
            <a:r>
              <a:rPr lang="en-US" sz="1800" b="1" i="1" dirty="0">
                <a:solidFill>
                  <a:schemeClr val="accent3"/>
                </a:solidFill>
              </a:rPr>
              <a:t>hoor</a:t>
            </a:r>
            <a:r>
              <a:rPr lang="en-US" sz="1800" i="1" dirty="0">
                <a:solidFill>
                  <a:schemeClr val="tx1"/>
                </a:solidFill>
              </a:rPr>
              <a:t>! · Nee </a:t>
            </a:r>
            <a:r>
              <a:rPr lang="en-US" sz="1800" b="1" i="1" dirty="0">
                <a:solidFill>
                  <a:schemeClr val="accent3"/>
                </a:solidFill>
              </a:rPr>
              <a:t>hoor</a:t>
            </a:r>
            <a:r>
              <a:rPr lang="en-US" sz="1800" i="1" dirty="0">
                <a:solidFill>
                  <a:schemeClr val="tx1"/>
                </a:solidFill>
              </a:rPr>
              <a:t>!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7040880" y="4754880"/>
            <a:ext cx="4370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très amical, surtout aux Pays-Bas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hoor</a:t>
            </a:r>
            <a:r>
              <a:rPr lang="en-US" sz="1800" dirty="0">
                <a:solidFill>
                  <a:schemeClr val="bg1"/>
                </a:solidFill>
              </a:rPr>
              <a:t> : </a:t>
            </a:r>
            <a:r>
              <a:rPr lang="en-US" sz="1800" b="1" dirty="0">
                <a:solidFill>
                  <a:schemeClr val="bg1"/>
                </a:solidFill>
              </a:rPr>
              <a:t>à la fin</a:t>
            </a:r>
            <a:r>
              <a:rPr lang="en-US" sz="1800" dirty="0">
                <a:solidFill>
                  <a:schemeClr val="bg1"/>
                </a:solidFill>
              </a:rPr>
              <a:t>, ou juste après </a:t>
            </a:r>
            <a:r>
              <a:rPr lang="en-US" sz="1800" i="1" dirty="0">
                <a:solidFill>
                  <a:schemeClr val="bg1"/>
                </a:solidFill>
              </a:rPr>
              <a:t>ja / nee</a:t>
            </a:r>
            <a:r>
              <a:rPr lang="en-US" sz="1800" dirty="0">
                <a:solidFill>
                  <a:schemeClr val="bg1"/>
                </a:solidFill>
              </a:rPr>
              <a:t> (</a:t>
            </a:r>
            <a:r>
              <a:rPr lang="en-US" sz="1800" i="1" dirty="0">
                <a:solidFill>
                  <a:schemeClr val="bg1"/>
                </a:solidFill>
              </a:rPr>
              <a:t>Ja hoor, kom maar!</a:t>
            </a:r>
            <a:r>
              <a:rPr lang="en-US" sz="1800" dirty="0">
                <a:solidFill>
                  <a:schemeClr val="bg1"/>
                </a:solidFill>
              </a:rPr>
              <a:t>). Il rend la phrase chaleureuse.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pas de traduction mot à mot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Tu viens, </a:t>
            </a:r>
            <a:r>
              <a:rPr lang="en-US" sz="1800" b="1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? »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766560" y="24048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7315200" y="21305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52360" y="21305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Je komt </a:t>
            </a:r>
            <a:r>
              <a:rPr lang="en-US" sz="1800" b="1" i="1" dirty="0">
                <a:solidFill>
                  <a:schemeClr val="accent1"/>
                </a:solidFill>
              </a:rPr>
              <a:t>toch</a:t>
            </a: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27889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Tu n’aurais pas un stylo, </a:t>
            </a:r>
            <a:r>
              <a:rPr lang="en-US" sz="1800" b="1" dirty="0">
                <a:solidFill>
                  <a:schemeClr val="tx1"/>
                </a:solidFill>
              </a:rPr>
              <a:t>par hasard</a:t>
            </a:r>
            <a:r>
              <a:rPr lang="en-US" sz="1800" dirty="0">
                <a:solidFill>
                  <a:schemeClr val="tx1"/>
                </a:solidFill>
              </a:rPr>
              <a:t> ? »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766560" y="30906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7315200" y="28163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52360" y="28163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Heb je </a:t>
            </a:r>
            <a:r>
              <a:rPr lang="en-US" sz="1800" b="1" i="1" dirty="0">
                <a:solidFill>
                  <a:schemeClr val="accent4"/>
                </a:solidFill>
              </a:rPr>
              <a:t>soms</a:t>
            </a:r>
            <a:r>
              <a:rPr lang="en-US" sz="1800" i="1" dirty="0">
                <a:solidFill>
                  <a:schemeClr val="tx1"/>
                </a:solidFill>
              </a:rPr>
              <a:t> een pen?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34747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Regarde </a:t>
            </a:r>
            <a:r>
              <a:rPr lang="en-US" sz="1800" b="1" dirty="0">
                <a:solidFill>
                  <a:schemeClr val="tx1"/>
                </a:solidFill>
              </a:rPr>
              <a:t>donc</a:t>
            </a:r>
            <a:r>
              <a:rPr lang="en-US" sz="1800" dirty="0">
                <a:solidFill>
                  <a:schemeClr val="tx1"/>
                </a:solidFill>
              </a:rPr>
              <a:t> ! »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766560" y="37764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7315200" y="35021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52360" y="35021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Kijk </a:t>
            </a:r>
            <a:r>
              <a:rPr lang="en-US" sz="1800" b="1" i="1" dirty="0">
                <a:solidFill>
                  <a:schemeClr val="accent2"/>
                </a:solidFill>
              </a:rPr>
              <a:t>eens</a:t>
            </a:r>
            <a:r>
              <a:rPr lang="en-US" sz="1800" i="1" dirty="0">
                <a:solidFill>
                  <a:schemeClr val="tx1"/>
                </a:solidFill>
              </a:rPr>
              <a:t>!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68680" y="41605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Comment il s’appelle, </a:t>
            </a:r>
            <a:r>
              <a:rPr lang="en-US" sz="1800" b="1" dirty="0">
                <a:solidFill>
                  <a:schemeClr val="tx1"/>
                </a:solidFill>
              </a:rPr>
              <a:t>déjà</a:t>
            </a:r>
            <a:r>
              <a:rPr lang="en-US" sz="1800" dirty="0">
                <a:solidFill>
                  <a:schemeClr val="tx1"/>
                </a:solidFill>
              </a:rPr>
              <a:t> ? »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766560" y="44622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315200" y="41879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452360" y="41879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Hoe heet hij </a:t>
            </a:r>
            <a:r>
              <a:rPr lang="en-US" sz="1800" b="1" i="1" dirty="0">
                <a:solidFill>
                  <a:schemeClr val="accent4"/>
                </a:solidFill>
              </a:rPr>
              <a:t>ook alweer</a:t>
            </a: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868680" y="48463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C’est cher, </a:t>
            </a:r>
            <a:r>
              <a:rPr lang="en-US" sz="1800" b="1" dirty="0">
                <a:solidFill>
                  <a:schemeClr val="tx1"/>
                </a:solidFill>
              </a:rPr>
              <a:t>quand même</a:t>
            </a:r>
            <a:r>
              <a:rPr lang="en-US" sz="1800" dirty="0">
                <a:solidFill>
                  <a:schemeClr val="tx1"/>
                </a:solidFill>
              </a:rPr>
              <a:t>. »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766560" y="51480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315200" y="48737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452360" y="48737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is </a:t>
            </a:r>
            <a:r>
              <a:rPr lang="en-US" sz="1800" b="1" i="1" dirty="0">
                <a:solidFill>
                  <a:schemeClr val="accent3"/>
                </a:solidFill>
              </a:rPr>
              <a:t>wel</a:t>
            </a:r>
            <a:r>
              <a:rPr lang="en-US" sz="1800" i="1" dirty="0">
                <a:solidFill>
                  <a:schemeClr val="tx1"/>
                </a:solidFill>
              </a:rPr>
              <a:t> duur.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5760720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760720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On ne traduit pas le mot : on traduit l’</a:t>
            </a:r>
            <a:r>
              <a:rPr lang="en-US" sz="1800" b="1" dirty="0">
                <a:solidFill>
                  <a:schemeClr val="bg1"/>
                </a:solidFill>
              </a:rPr>
              <a:t>intention</a:t>
            </a:r>
            <a:r>
              <a:rPr lang="en-US" sz="1800" dirty="0">
                <a:solidFill>
                  <a:schemeClr val="bg1"/>
                </a:solidFill>
              </a:rPr>
              <a:t>. Écoutez la mélodie de la phrase.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place des particules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763341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7633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Kun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1403421" y="1600200"/>
            <a:ext cx="606430" cy="658368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403421" y="1600200"/>
            <a:ext cx="6064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2101291" y="1600200"/>
            <a:ext cx="606430" cy="658368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101291" y="1600200"/>
            <a:ext cx="6064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me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2799161" y="1600200"/>
            <a:ext cx="920252" cy="658368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799161" y="1600200"/>
            <a:ext cx="9202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even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3810853" y="1600200"/>
            <a:ext cx="1390985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10853" y="1600200"/>
            <a:ext cx="139098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helpen?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548640" y="2441448"/>
            <a:ext cx="763341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441448"/>
            <a:ext cx="7633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Kom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1403421" y="2441448"/>
            <a:ext cx="920252" cy="658368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403421" y="2441448"/>
            <a:ext cx="9202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maar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2415113" y="2441448"/>
            <a:ext cx="1390985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415113" y="2441448"/>
            <a:ext cx="139098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binnen!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548640" y="3282696"/>
            <a:ext cx="606430" cy="658368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3282696"/>
            <a:ext cx="6064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1246510" y="3282696"/>
            <a:ext cx="763341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246510" y="3282696"/>
            <a:ext cx="7633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kom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2101291" y="3282696"/>
            <a:ext cx="1234074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101291" y="3282696"/>
            <a:ext cx="1234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morgen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3426805" y="3282696"/>
            <a:ext cx="920252" cy="658368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426805" y="3282696"/>
            <a:ext cx="9202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wel.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548640" y="4123944"/>
            <a:ext cx="763341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123944"/>
            <a:ext cx="7633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Heb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1403421" y="4123944"/>
            <a:ext cx="606430" cy="658368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403421" y="4123944"/>
            <a:ext cx="6064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2101291" y="4123944"/>
            <a:ext cx="920252" cy="658368"/>
          </a:xfrm>
          <a:prstGeom prst="roundRect">
            <a:avLst>
              <a:gd name="adj" fmla="val 11111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101291" y="4123944"/>
            <a:ext cx="9202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soms</a:t>
            </a:r>
            <a:endParaRPr lang="en-US" sz="2200" dirty="0"/>
          </a:p>
        </p:txBody>
      </p:sp>
      <p:sp>
        <p:nvSpPr>
          <p:cNvPr id="35" name="Shape 32"/>
          <p:cNvSpPr/>
          <p:nvPr/>
        </p:nvSpPr>
        <p:spPr>
          <a:xfrm>
            <a:off x="3112983" y="4123944"/>
            <a:ext cx="1547896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112983" y="4123944"/>
            <a:ext cx="15478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een pen?</a:t>
            </a:r>
            <a:endParaRPr lang="en-US" sz="2200" dirty="0"/>
          </a:p>
        </p:txBody>
      </p:sp>
      <p:sp>
        <p:nvSpPr>
          <p:cNvPr id="37" name="Shape 34"/>
          <p:cNvSpPr/>
          <p:nvPr/>
        </p:nvSpPr>
        <p:spPr>
          <a:xfrm>
            <a:off x="6949440" y="1600200"/>
            <a:ext cx="4690872" cy="182880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7132320" y="1764792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0" descr="MapSig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8383" y="1900855"/>
            <a:ext cx="294803" cy="294803"/>
          </a:xfrm>
          <a:prstGeom prst="rect">
            <a:avLst/>
          </a:prstGeom>
        </p:spPr>
      </p:pic>
      <p:sp>
        <p:nvSpPr>
          <p:cNvPr id="40" name="Text 36"/>
          <p:cNvSpPr txBox="1"/>
          <p:nvPr/>
        </p:nvSpPr>
        <p:spPr>
          <a:xfrm>
            <a:off x="7845552" y="1746504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La règle</a:t>
            </a:r>
            <a:endParaRPr lang="en-US" sz="1900" dirty="0"/>
          </a:p>
        </p:txBody>
      </p:sp>
      <p:sp>
        <p:nvSpPr>
          <p:cNvPr id="41" name="Text 37"/>
          <p:cNvSpPr txBox="1"/>
          <p:nvPr/>
        </p:nvSpPr>
        <p:spPr>
          <a:xfrm>
            <a:off x="7150608" y="2468880"/>
            <a:ext cx="428853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après le verbe, les petits pronoms (</a:t>
            </a:r>
            <a:r>
              <a:rPr lang="en-US" sz="1500" i="1" dirty="0">
                <a:solidFill>
                  <a:schemeClr val="tx1"/>
                </a:solidFill>
              </a:rPr>
              <a:t>me, je</a:t>
            </a:r>
            <a:r>
              <a:rPr lang="en-US" sz="1500" dirty="0">
                <a:solidFill>
                  <a:schemeClr val="tx1"/>
                </a:solidFill>
              </a:rPr>
              <a:t>) et ce qui est connu (</a:t>
            </a:r>
            <a:r>
              <a:rPr lang="en-US" sz="1500" i="1" dirty="0">
                <a:solidFill>
                  <a:schemeClr val="tx1"/>
                </a:solidFill>
              </a:rPr>
              <a:t>morgen, je pen</a:t>
            </a:r>
            <a:r>
              <a:rPr lang="en-US" sz="1500" dirty="0">
                <a:solidFill>
                  <a:schemeClr val="tx1"/>
                </a:solidFill>
              </a:rPr>
              <a:t>) ; avant l’info nouvelle (</a:t>
            </a:r>
            <a:r>
              <a:rPr lang="en-US" sz="1500" i="1" dirty="0">
                <a:solidFill>
                  <a:schemeClr val="tx1"/>
                </a:solidFill>
              </a:rPr>
              <a:t>een pen</a:t>
            </a:r>
            <a:r>
              <a:rPr lang="en-US" sz="1500" dirty="0">
                <a:solidFill>
                  <a:schemeClr val="tx1"/>
                </a:solidFill>
              </a:rPr>
              <a:t>) et le 2ᵉ verbe</a:t>
            </a:r>
            <a:endParaRPr lang="en-US" sz="1500" dirty="0"/>
          </a:p>
        </p:txBody>
      </p:sp>
      <p:sp>
        <p:nvSpPr>
          <p:cNvPr id="42" name="Text 38"/>
          <p:cNvSpPr txBox="1"/>
          <p:nvPr/>
        </p:nvSpPr>
        <p:spPr>
          <a:xfrm>
            <a:off x="6949440" y="361188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COMBINAISONS FIXES</a:t>
            </a:r>
            <a:endParaRPr lang="en-US" sz="1200" dirty="0"/>
          </a:p>
        </p:txBody>
      </p:sp>
      <p:sp>
        <p:nvSpPr>
          <p:cNvPr id="43" name="Shape 39"/>
          <p:cNvSpPr/>
          <p:nvPr/>
        </p:nvSpPr>
        <p:spPr>
          <a:xfrm>
            <a:off x="6949440" y="3977640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94944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maar even</a:t>
            </a:r>
            <a:endParaRPr lang="en-US" sz="1700" dirty="0"/>
          </a:p>
        </p:txBody>
      </p:sp>
      <p:sp>
        <p:nvSpPr>
          <p:cNvPr id="45" name="Shape 41"/>
          <p:cNvSpPr/>
          <p:nvPr/>
        </p:nvSpPr>
        <p:spPr>
          <a:xfrm>
            <a:off x="9326880" y="3977640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932688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eens even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6949440" y="4544568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949440" y="454456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toch even</a:t>
            </a:r>
            <a:endParaRPr lang="en-US" sz="1700" dirty="0"/>
          </a:p>
        </p:txBody>
      </p:sp>
      <p:sp>
        <p:nvSpPr>
          <p:cNvPr id="49" name="Shape 45"/>
          <p:cNvSpPr/>
          <p:nvPr/>
        </p:nvSpPr>
        <p:spPr>
          <a:xfrm>
            <a:off x="9326880" y="4544568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326880" y="454456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nou eens</a:t>
            </a:r>
            <a:endParaRPr lang="en-US" sz="1700" dirty="0"/>
          </a:p>
        </p:txBody>
      </p:sp>
      <p:sp>
        <p:nvSpPr>
          <p:cNvPr id="51" name="Shape 47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822960" y="5440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✗ </a:t>
            </a:r>
            <a:r>
              <a:rPr lang="en-US" sz="2000" i="1" strike="sngStrike" dirty="0">
                <a:solidFill>
                  <a:schemeClr val="accent6"/>
                </a:solidFill>
              </a:rPr>
              <a:t>Kun je even me helpen?</a:t>
            </a:r>
            <a:r>
              <a:rPr lang="en-US" sz="2000" dirty="0">
                <a:solidFill>
                  <a:schemeClr val="bg1"/>
                </a:solidFill>
              </a:rPr>
              <a:t> → ✓ </a:t>
            </a:r>
            <a:r>
              <a:rPr lang="en-US" sz="2000" i="1" dirty="0">
                <a:solidFill>
                  <a:schemeClr val="bg1"/>
                </a:solidFill>
              </a:rPr>
              <a:t>Kun je </a:t>
            </a:r>
            <a:r>
              <a:rPr lang="en-US" sz="2000" b="1" i="1" dirty="0">
                <a:solidFill>
                  <a:schemeClr val="bg1"/>
                </a:solidFill>
              </a:rPr>
              <a:t>me</a:t>
            </a:r>
            <a:r>
              <a:rPr lang="en-US" sz="2000" i="1" dirty="0">
                <a:solidFill>
                  <a:schemeClr val="bg1"/>
                </a:solidFill>
              </a:rPr>
              <a:t> </a:t>
            </a:r>
            <a:r>
              <a:rPr lang="en-US" sz="2000" b="1" i="1" dirty="0">
                <a:solidFill>
                  <a:schemeClr val="bg1"/>
                </a:solidFill>
              </a:rPr>
              <a:t>even</a:t>
            </a:r>
            <a:r>
              <a:rPr lang="en-US" sz="2000" i="1" dirty="0">
                <a:solidFill>
                  <a:schemeClr val="bg1"/>
                </a:solidFill>
              </a:rPr>
              <a:t> helpen?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 même mot, deux sens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soms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1554480" y="1554480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645920" y="1600200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ga soms naar Gent.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645920" y="2258568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parfois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794760" y="1600200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Heb je </a:t>
            </a:r>
            <a:r>
              <a:rPr lang="en-US" sz="1500" b="1" i="1" dirty="0">
                <a:solidFill>
                  <a:schemeClr val="accent4"/>
                </a:solidFill>
              </a:rPr>
              <a:t>soms</a:t>
            </a:r>
            <a:r>
              <a:rPr lang="en-US" sz="1500" i="1" dirty="0">
                <a:solidFill>
                  <a:schemeClr val="tx1"/>
                </a:solidFill>
              </a:rPr>
              <a:t> een pen?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794760" y="2258568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par hasard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27064" y="1554480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27064" y="1554480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27064" y="1554480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even</a:t>
            </a:r>
            <a:endParaRPr lang="en-US" sz="1900" dirty="0"/>
          </a:p>
        </p:txBody>
      </p:sp>
      <p:sp>
        <p:nvSpPr>
          <p:cNvPr id="16" name="Shape 13"/>
          <p:cNvSpPr/>
          <p:nvPr/>
        </p:nvSpPr>
        <p:spPr>
          <a:xfrm>
            <a:off x="7232904" y="1554480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24344" y="1600200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Ze zijn even groot.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324344" y="2258568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aussi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473184" y="1600200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Wacht </a:t>
            </a:r>
            <a:r>
              <a:rPr lang="en-US" sz="1500" b="1" i="1" dirty="0">
                <a:solidFill>
                  <a:schemeClr val="accent2"/>
                </a:solidFill>
              </a:rPr>
              <a:t>even</a:t>
            </a:r>
            <a:r>
              <a:rPr lang="en-US" sz="1500" i="1" dirty="0">
                <a:solidFill>
                  <a:schemeClr val="tx1"/>
                </a:solidFill>
              </a:rPr>
              <a:t>!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9473184" y="2258568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un instant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48640" y="2798064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48640" y="2798064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2798064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maar</a:t>
            </a:r>
            <a:endParaRPr lang="en-US" sz="1900" dirty="0"/>
          </a:p>
        </p:txBody>
      </p:sp>
      <p:sp>
        <p:nvSpPr>
          <p:cNvPr id="24" name="Shape 21"/>
          <p:cNvSpPr/>
          <p:nvPr/>
        </p:nvSpPr>
        <p:spPr>
          <a:xfrm>
            <a:off x="1554480" y="2798064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645920" y="2843784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Klein maar fijn.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645920" y="3502152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mais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794760" y="2843784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Kom </a:t>
            </a:r>
            <a:r>
              <a:rPr lang="en-US" sz="1500" b="1" i="1" dirty="0">
                <a:solidFill>
                  <a:schemeClr val="accent2"/>
                </a:solidFill>
              </a:rPr>
              <a:t>maar</a:t>
            </a:r>
            <a:r>
              <a:rPr lang="en-US" sz="1500" i="1" dirty="0">
                <a:solidFill>
                  <a:schemeClr val="tx1"/>
                </a:solidFill>
              </a:rPr>
              <a:t>!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3794760" y="3502152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vas-y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27064" y="2798064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227064" y="2798064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227064" y="2798064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eens</a:t>
            </a:r>
            <a:endParaRPr lang="en-US" sz="1900" dirty="0"/>
          </a:p>
        </p:txBody>
      </p:sp>
      <p:sp>
        <p:nvSpPr>
          <p:cNvPr id="32" name="Shape 29"/>
          <p:cNvSpPr/>
          <p:nvPr/>
        </p:nvSpPr>
        <p:spPr>
          <a:xfrm>
            <a:off x="7232904" y="2798064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324344" y="2843784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ben al eens in Japan geweest.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324344" y="3502152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une fois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9473184" y="2843784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Kijk </a:t>
            </a:r>
            <a:r>
              <a:rPr lang="en-US" sz="1500" b="1" i="1" dirty="0">
                <a:solidFill>
                  <a:schemeClr val="accent2"/>
                </a:solidFill>
              </a:rPr>
              <a:t>eens</a:t>
            </a:r>
            <a:r>
              <a:rPr lang="en-US" sz="1500" i="1" dirty="0">
                <a:solidFill>
                  <a:schemeClr val="tx1"/>
                </a:solidFill>
              </a:rPr>
              <a:t>!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9473184" y="3502152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donc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48640" y="4041648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548640" y="4041648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48640" y="4041648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toch</a:t>
            </a:r>
            <a:endParaRPr lang="en-US" sz="1900" dirty="0"/>
          </a:p>
        </p:txBody>
      </p:sp>
      <p:sp>
        <p:nvSpPr>
          <p:cNvPr id="40" name="Shape 37"/>
          <p:cNvSpPr/>
          <p:nvPr/>
        </p:nvSpPr>
        <p:spPr>
          <a:xfrm>
            <a:off x="1554480" y="4041648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645920" y="4087368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Hij is moe en toch werkt hij.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1645920" y="4745736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pourtant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3794760" y="4087368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Je komt </a:t>
            </a:r>
            <a:r>
              <a:rPr lang="en-US" sz="1500" b="1" i="1" dirty="0">
                <a:solidFill>
                  <a:schemeClr val="accent1"/>
                </a:solidFill>
              </a:rPr>
              <a:t>toch</a:t>
            </a:r>
            <a:r>
              <a:rPr lang="en-US" sz="1500" i="1" dirty="0">
                <a:solidFill>
                  <a:schemeClr val="tx1"/>
                </a:solidFill>
              </a:rPr>
              <a:t>?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3794760" y="4745736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hein ?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227064" y="4041648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6227064" y="4041648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227064" y="4041648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wel</a:t>
            </a:r>
            <a:endParaRPr lang="en-US" sz="1900" dirty="0"/>
          </a:p>
        </p:txBody>
      </p:sp>
      <p:sp>
        <p:nvSpPr>
          <p:cNvPr id="48" name="Shape 45"/>
          <p:cNvSpPr/>
          <p:nvPr/>
        </p:nvSpPr>
        <p:spPr>
          <a:xfrm>
            <a:off x="7232904" y="4041648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7324344" y="4087368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werk niet, maar zij wel.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7324344" y="4745736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≠ niet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9473184" y="4087368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Dat lukt </a:t>
            </a:r>
            <a:r>
              <a:rPr lang="en-US" sz="1500" b="1" i="1" dirty="0">
                <a:solidFill>
                  <a:schemeClr val="accent3"/>
                </a:solidFill>
              </a:rPr>
              <a:t>wel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52" name="Text 49"/>
          <p:cNvSpPr txBox="1"/>
          <p:nvPr/>
        </p:nvSpPr>
        <p:spPr>
          <a:xfrm>
            <a:off x="9473184" y="4745736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ça va aller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548640" y="53492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sens plein</a:t>
            </a:r>
            <a:r>
              <a:rPr lang="en-US" sz="1600" dirty="0">
                <a:solidFill>
                  <a:schemeClr val="tx2"/>
                </a:solidFill>
              </a:rPr>
              <a:t> (gris) · </a:t>
            </a:r>
            <a:r>
              <a:rPr lang="en-US" sz="1600" b="1" dirty="0">
                <a:solidFill>
                  <a:schemeClr val="tx2"/>
                </a:solidFill>
              </a:rPr>
              <a:t>particule</a:t>
            </a:r>
            <a:r>
              <a:rPr lang="en-US" sz="1600" dirty="0">
                <a:solidFill>
                  <a:schemeClr val="tx2"/>
                </a:solidFill>
              </a:rPr>
              <a:t> (couleur) — Astuce : si on peut enlever le mot sans perdre l’information, c’est une particule.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fiche des particules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58368" y="1691640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" y="169164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2029968" y="160020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adoucir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3794760" y="1600200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Kun je me even helpen?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350008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8368" y="2441448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8368" y="244144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maar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2029968" y="23500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inviter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794760" y="235000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Kom maar binnen!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3099816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58368" y="3191256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8368" y="3191256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eens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2029968" y="3099816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adoucir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3794760" y="3099816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Kijk eens!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3849624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58368" y="3941064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3941064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toch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2029968" y="3849624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rappeler, insister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3794760" y="3849624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Je komt toch?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548640" y="4599432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58368" y="4690872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4690872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nou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2029968" y="459943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surprise, impatience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3794760" y="4599432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Kom nou!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227064" y="1600200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336792" y="1691640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336792" y="169164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wel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7708392" y="160020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affirmer, rassurer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9473184" y="1600200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Dat lukt wel.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6227064" y="2350008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336792" y="2441448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336792" y="244144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hoor</a:t>
            </a:r>
            <a:endParaRPr lang="en-US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7708392" y="23500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rassurer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9473184" y="235000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Geen probleem, hoor!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6227064" y="3099816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336792" y="3191256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336792" y="3191256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soms</a:t>
            </a:r>
            <a:endParaRPr lang="en-US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7708392" y="3099816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par hasard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9473184" y="3099816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Heb je soms een pen?</a:t>
            </a:r>
            <a:endParaRPr lang="en-US" sz="1500" dirty="0"/>
          </a:p>
        </p:txBody>
      </p:sp>
      <p:sp>
        <p:nvSpPr>
          <p:cNvPr id="45" name="Shape 42"/>
          <p:cNvSpPr/>
          <p:nvPr/>
        </p:nvSpPr>
        <p:spPr>
          <a:xfrm>
            <a:off x="6227064" y="3849624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336792" y="3941064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336792" y="3941064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dan</a:t>
            </a:r>
            <a:endParaRPr lang="en-US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7708392" y="3849624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alors</a:t>
            </a:r>
            <a:endParaRPr lang="en-US" sz="1300" dirty="0"/>
          </a:p>
        </p:txBody>
      </p:sp>
      <p:sp>
        <p:nvSpPr>
          <p:cNvPr id="49" name="Text 46"/>
          <p:cNvSpPr txBox="1"/>
          <p:nvPr/>
        </p:nvSpPr>
        <p:spPr>
          <a:xfrm>
            <a:off x="9473184" y="3849624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Wat wil je dan?</a:t>
            </a:r>
            <a:endParaRPr lang="en-US" sz="1500" dirty="0"/>
          </a:p>
        </p:txBody>
      </p:sp>
      <p:sp>
        <p:nvSpPr>
          <p:cNvPr id="50" name="Shape 47"/>
          <p:cNvSpPr/>
          <p:nvPr/>
        </p:nvSpPr>
        <p:spPr>
          <a:xfrm>
            <a:off x="6227064" y="4599432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336792" y="4690872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6336792" y="4690872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ook alweer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7708392" y="459943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déjà</a:t>
            </a:r>
            <a:endParaRPr lang="en-US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9473184" y="4599432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Hoe heet hij ook alweer?</a:t>
            </a:r>
            <a:endParaRPr lang="en-US" sz="1500" dirty="0"/>
          </a:p>
        </p:txBody>
      </p:sp>
      <p:sp>
        <p:nvSpPr>
          <p:cNvPr id="55" name="Shape 52"/>
          <p:cNvSpPr/>
          <p:nvPr/>
        </p:nvSpPr>
        <p:spPr>
          <a:xfrm>
            <a:off x="548640" y="548640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Place : après le verbe et les pronoms · </a:t>
            </a:r>
            <a:r>
              <a:rPr lang="en-US" sz="1700" i="1" dirty="0">
                <a:solidFill>
                  <a:schemeClr val="bg1"/>
                </a:solidFill>
              </a:rPr>
              <a:t>hoor</a:t>
            </a:r>
            <a:r>
              <a:rPr lang="en-US" sz="1700" dirty="0">
                <a:solidFill>
                  <a:schemeClr val="bg1"/>
                </a:solidFill>
              </a:rPr>
              <a:t> : à la fin ou après </a:t>
            </a:r>
            <a:r>
              <a:rPr lang="en-US" sz="1700" i="1" dirty="0">
                <a:solidFill>
                  <a:schemeClr val="bg1"/>
                </a:solidFill>
              </a:rPr>
              <a:t>ja / nee</a:t>
            </a:r>
            <a:r>
              <a:rPr lang="en-US" sz="1700" dirty="0">
                <a:solidFill>
                  <a:schemeClr val="bg1"/>
                </a:solidFill>
              </a:rPr>
              <a:t> · l’intonation compte !</a:t>
            </a:r>
            <a:endParaRPr lang="en-US" sz="1700" dirty="0"/>
          </a:p>
        </p:txBody>
      </p:sp>
      <p:pic>
        <p:nvPicPr>
          <p:cNvPr id="57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Sm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Plus aimable !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PuzzlePie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bonne particule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ngu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Traduisez l’intention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BalanceSca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Particule ou mot plein ?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TheaterMas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théâtre des émotions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Coffe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pause-café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Plus aimable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Ajoutez une particule pour rendre la phrase plus aimable. Lisez avec le sourire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0" name="Image 1" descr="neutral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067052"/>
            <a:ext cx="457200" cy="45720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1554480" y="198729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691640" y="198729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Wacht!</a:t>
            </a:r>
            <a:endParaRPr lang="en-US" sz="1900" dirty="0"/>
          </a:p>
        </p:txBody>
      </p:sp>
      <p:sp>
        <p:nvSpPr>
          <p:cNvPr id="13" name="Shape 8"/>
          <p:cNvSpPr/>
          <p:nvPr/>
        </p:nvSpPr>
        <p:spPr>
          <a:xfrm>
            <a:off x="5257800" y="229565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9"/>
          <p:cNvSpPr txBox="1"/>
          <p:nvPr/>
        </p:nvSpPr>
        <p:spPr>
          <a:xfrm>
            <a:off x="5212080" y="19664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537960" y="198729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6" name="Image 2" descr="smiling face with smiling ey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067052"/>
            <a:ext cx="457200" cy="45720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9" name="Image 3" descr="neutral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793492"/>
            <a:ext cx="457200" cy="457200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1554480" y="271373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1691640" y="271373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Kom binnen.</a:t>
            </a:r>
            <a:endParaRPr lang="en-US" sz="1900" dirty="0"/>
          </a:p>
        </p:txBody>
      </p:sp>
      <p:sp>
        <p:nvSpPr>
          <p:cNvPr id="22" name="Shape 15"/>
          <p:cNvSpPr/>
          <p:nvPr/>
        </p:nvSpPr>
        <p:spPr>
          <a:xfrm>
            <a:off x="5257800" y="302209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Text 16"/>
          <p:cNvSpPr txBox="1"/>
          <p:nvPr/>
        </p:nvSpPr>
        <p:spPr>
          <a:xfrm>
            <a:off x="5212080" y="26929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6537960" y="271373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5" name="Image 4" descr="smiling face with smiling ey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37392" y="2793492"/>
            <a:ext cx="457200" cy="45720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8" name="Image 5" descr="neutral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519932"/>
            <a:ext cx="457200" cy="457200"/>
          </a:xfrm>
          <a:prstGeom prst="rect">
            <a:avLst/>
          </a:prstGeom>
        </p:spPr>
      </p:pic>
      <p:sp>
        <p:nvSpPr>
          <p:cNvPr id="29" name="Shape 20"/>
          <p:cNvSpPr/>
          <p:nvPr/>
        </p:nvSpPr>
        <p:spPr>
          <a:xfrm>
            <a:off x="1554480" y="344017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1691640" y="344017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Kijk!</a:t>
            </a:r>
            <a:endParaRPr lang="en-US" sz="1900" dirty="0"/>
          </a:p>
        </p:txBody>
      </p:sp>
      <p:sp>
        <p:nvSpPr>
          <p:cNvPr id="31" name="Shape 22"/>
          <p:cNvSpPr/>
          <p:nvPr/>
        </p:nvSpPr>
        <p:spPr>
          <a:xfrm>
            <a:off x="5257800" y="374853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2" name="Text 23"/>
          <p:cNvSpPr txBox="1"/>
          <p:nvPr/>
        </p:nvSpPr>
        <p:spPr>
          <a:xfrm>
            <a:off x="5212080" y="34193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33" name="Shape 24"/>
          <p:cNvSpPr/>
          <p:nvPr/>
        </p:nvSpPr>
        <p:spPr>
          <a:xfrm>
            <a:off x="6537960" y="344017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4" name="Image 6" descr="smiling face with smiling ey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37392" y="3519932"/>
            <a:ext cx="457200" cy="457200"/>
          </a:xfrm>
          <a:prstGeom prst="rect">
            <a:avLst/>
          </a:prstGeom>
        </p:spPr>
      </p:pic>
      <p:sp>
        <p:nvSpPr>
          <p:cNvPr id="35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7" name="Image 7" descr="neutral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246372"/>
            <a:ext cx="457200" cy="457200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1554480" y="416661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8"/>
          <p:cNvSpPr txBox="1"/>
          <p:nvPr/>
        </p:nvSpPr>
        <p:spPr>
          <a:xfrm>
            <a:off x="1691640" y="416661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Heb je een pen?</a:t>
            </a:r>
            <a:endParaRPr lang="en-US" sz="1900" dirty="0"/>
          </a:p>
        </p:txBody>
      </p:sp>
      <p:sp>
        <p:nvSpPr>
          <p:cNvPr id="40" name="Shape 29"/>
          <p:cNvSpPr/>
          <p:nvPr/>
        </p:nvSpPr>
        <p:spPr>
          <a:xfrm>
            <a:off x="5257800" y="447497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41" name="Text 30"/>
          <p:cNvSpPr txBox="1"/>
          <p:nvPr/>
        </p:nvSpPr>
        <p:spPr>
          <a:xfrm>
            <a:off x="5212080" y="41457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42" name="Shape 31"/>
          <p:cNvSpPr/>
          <p:nvPr/>
        </p:nvSpPr>
        <p:spPr>
          <a:xfrm>
            <a:off x="6537960" y="416661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43" name="Image 8" descr="smiling face with smiling eye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37392" y="4246372"/>
            <a:ext cx="457200" cy="457200"/>
          </a:xfrm>
          <a:prstGeom prst="rect">
            <a:avLst/>
          </a:prstGeom>
        </p:spPr>
      </p:pic>
      <p:sp>
        <p:nvSpPr>
          <p:cNvPr id="44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46" name="Image 9" descr="neutral fac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2812"/>
            <a:ext cx="457200" cy="457200"/>
          </a:xfrm>
          <a:prstGeom prst="rect">
            <a:avLst/>
          </a:prstGeom>
        </p:spPr>
      </p:pic>
      <p:sp>
        <p:nvSpPr>
          <p:cNvPr id="47" name="Shape 34"/>
          <p:cNvSpPr/>
          <p:nvPr/>
        </p:nvSpPr>
        <p:spPr>
          <a:xfrm>
            <a:off x="1554480" y="489305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5"/>
          <p:cNvSpPr txBox="1"/>
          <p:nvPr/>
        </p:nvSpPr>
        <p:spPr>
          <a:xfrm>
            <a:off x="1691640" y="489305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Kun je me helpen?</a:t>
            </a:r>
            <a:endParaRPr lang="en-US" sz="1900" dirty="0"/>
          </a:p>
        </p:txBody>
      </p:sp>
      <p:sp>
        <p:nvSpPr>
          <p:cNvPr id="49" name="Shape 36"/>
          <p:cNvSpPr/>
          <p:nvPr/>
        </p:nvSpPr>
        <p:spPr>
          <a:xfrm>
            <a:off x="5257800" y="520141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50" name="Text 37"/>
          <p:cNvSpPr txBox="1"/>
          <p:nvPr/>
        </p:nvSpPr>
        <p:spPr>
          <a:xfrm>
            <a:off x="5212080" y="48722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51" name="Shape 38"/>
          <p:cNvSpPr/>
          <p:nvPr/>
        </p:nvSpPr>
        <p:spPr>
          <a:xfrm>
            <a:off x="6537960" y="489305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52" name="Image 10" descr="smiling face with smiling eyes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37392" y="4972812"/>
            <a:ext cx="457200" cy="457200"/>
          </a:xfrm>
          <a:prstGeom prst="rect">
            <a:avLst/>
          </a:prstGeom>
        </p:spPr>
      </p:pic>
      <p:sp>
        <p:nvSpPr>
          <p:cNvPr id="5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55" name="Image 11" descr="neutral fac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5840" y="5699252"/>
            <a:ext cx="457200" cy="457200"/>
          </a:xfrm>
          <a:prstGeom prst="rect">
            <a:avLst/>
          </a:prstGeom>
        </p:spPr>
      </p:pic>
      <p:sp>
        <p:nvSpPr>
          <p:cNvPr id="56" name="Shape 41"/>
          <p:cNvSpPr/>
          <p:nvPr/>
        </p:nvSpPr>
        <p:spPr>
          <a:xfrm>
            <a:off x="1554480" y="561949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42"/>
          <p:cNvSpPr txBox="1"/>
          <p:nvPr/>
        </p:nvSpPr>
        <p:spPr>
          <a:xfrm>
            <a:off x="1691640" y="561949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Geen probleem.</a:t>
            </a:r>
            <a:endParaRPr lang="en-US" sz="1900" dirty="0"/>
          </a:p>
        </p:txBody>
      </p:sp>
      <p:sp>
        <p:nvSpPr>
          <p:cNvPr id="58" name="Shape 43"/>
          <p:cNvSpPr/>
          <p:nvPr/>
        </p:nvSpPr>
        <p:spPr>
          <a:xfrm>
            <a:off x="5257800" y="592785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59" name="Text 44"/>
          <p:cNvSpPr txBox="1"/>
          <p:nvPr/>
        </p:nvSpPr>
        <p:spPr>
          <a:xfrm>
            <a:off x="5212080" y="55986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60" name="Shape 45"/>
          <p:cNvSpPr/>
          <p:nvPr/>
        </p:nvSpPr>
        <p:spPr>
          <a:xfrm>
            <a:off x="6537960" y="561949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61" name="Image 12" descr="smiling face with smiling eye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137392" y="5699252"/>
            <a:ext cx="457200" cy="457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Plus aimable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Ajoutez une particule pour rendre la phrase plus aimable. Lisez avec le sourire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1" name="Image 1" descr="neutral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067052"/>
            <a:ext cx="457200" cy="4572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1554480" y="198729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691640" y="198729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Wacht!</a:t>
            </a:r>
            <a:endParaRPr lang="en-US" sz="1900" dirty="0"/>
          </a:p>
        </p:txBody>
      </p:sp>
      <p:sp>
        <p:nvSpPr>
          <p:cNvPr id="14" name="Shape 9"/>
          <p:cNvSpPr/>
          <p:nvPr/>
        </p:nvSpPr>
        <p:spPr>
          <a:xfrm>
            <a:off x="5257800" y="229565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Text 10"/>
          <p:cNvSpPr txBox="1"/>
          <p:nvPr/>
        </p:nvSpPr>
        <p:spPr>
          <a:xfrm>
            <a:off x="5212080" y="19664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537960" y="198729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675120" y="198729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Wacht even!</a:t>
            </a:r>
            <a:endParaRPr lang="en-US" sz="2000" dirty="0"/>
          </a:p>
        </p:txBody>
      </p:sp>
      <p:pic>
        <p:nvPicPr>
          <p:cNvPr id="18" name="Image 2" descr="smiling face with smiling ey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067052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21" name="Image 3" descr="neutral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793492"/>
            <a:ext cx="457200" cy="4572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1554480" y="271373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1691640" y="271373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Kom binnen.</a:t>
            </a:r>
            <a:endParaRPr lang="en-US" sz="1900" dirty="0"/>
          </a:p>
        </p:txBody>
      </p:sp>
      <p:sp>
        <p:nvSpPr>
          <p:cNvPr id="24" name="Shape 17"/>
          <p:cNvSpPr/>
          <p:nvPr/>
        </p:nvSpPr>
        <p:spPr>
          <a:xfrm>
            <a:off x="5257800" y="302209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Text 18"/>
          <p:cNvSpPr txBox="1"/>
          <p:nvPr/>
        </p:nvSpPr>
        <p:spPr>
          <a:xfrm>
            <a:off x="5212080" y="26929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6537960" y="271373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6675120" y="271373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Kom maar binnen.</a:t>
            </a:r>
            <a:endParaRPr lang="en-US" sz="2000" dirty="0"/>
          </a:p>
        </p:txBody>
      </p:sp>
      <p:pic>
        <p:nvPicPr>
          <p:cNvPr id="28" name="Image 4" descr="smiling face with smiling ey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37392" y="2793492"/>
            <a:ext cx="457200" cy="457200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31" name="Image 5" descr="neutral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519932"/>
            <a:ext cx="457200" cy="457200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1554480" y="344017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1691640" y="344017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Kijk!</a:t>
            </a:r>
            <a:endParaRPr lang="en-US" sz="1900" dirty="0"/>
          </a:p>
        </p:txBody>
      </p:sp>
      <p:sp>
        <p:nvSpPr>
          <p:cNvPr id="34" name="Shape 25"/>
          <p:cNvSpPr/>
          <p:nvPr/>
        </p:nvSpPr>
        <p:spPr>
          <a:xfrm>
            <a:off x="5257800" y="374853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5" name="Text 26"/>
          <p:cNvSpPr txBox="1"/>
          <p:nvPr/>
        </p:nvSpPr>
        <p:spPr>
          <a:xfrm>
            <a:off x="5212080" y="34193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36" name="Shape 27"/>
          <p:cNvSpPr/>
          <p:nvPr/>
        </p:nvSpPr>
        <p:spPr>
          <a:xfrm>
            <a:off x="6537960" y="344017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7" name="Text 28"/>
          <p:cNvSpPr txBox="1"/>
          <p:nvPr/>
        </p:nvSpPr>
        <p:spPr>
          <a:xfrm>
            <a:off x="6675120" y="344017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Kijk eens!</a:t>
            </a:r>
            <a:endParaRPr lang="en-US" sz="2000" dirty="0"/>
          </a:p>
        </p:txBody>
      </p:sp>
      <p:pic>
        <p:nvPicPr>
          <p:cNvPr id="38" name="Image 6" descr="smiling face with smiling ey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37392" y="3519932"/>
            <a:ext cx="457200" cy="457200"/>
          </a:xfrm>
          <a:prstGeom prst="rect">
            <a:avLst/>
          </a:prstGeom>
        </p:spPr>
      </p:pic>
      <p:sp>
        <p:nvSpPr>
          <p:cNvPr id="39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41" name="Image 7" descr="neutral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246372"/>
            <a:ext cx="457200" cy="457200"/>
          </a:xfrm>
          <a:prstGeom prst="rect">
            <a:avLst/>
          </a:prstGeom>
        </p:spPr>
      </p:pic>
      <p:sp>
        <p:nvSpPr>
          <p:cNvPr id="42" name="Shape 31"/>
          <p:cNvSpPr/>
          <p:nvPr/>
        </p:nvSpPr>
        <p:spPr>
          <a:xfrm>
            <a:off x="1554480" y="416661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2"/>
          <p:cNvSpPr txBox="1"/>
          <p:nvPr/>
        </p:nvSpPr>
        <p:spPr>
          <a:xfrm>
            <a:off x="1691640" y="416661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Heb je een pen?</a:t>
            </a:r>
            <a:endParaRPr lang="en-US" sz="1900" dirty="0"/>
          </a:p>
        </p:txBody>
      </p:sp>
      <p:sp>
        <p:nvSpPr>
          <p:cNvPr id="44" name="Shape 33"/>
          <p:cNvSpPr/>
          <p:nvPr/>
        </p:nvSpPr>
        <p:spPr>
          <a:xfrm>
            <a:off x="5257800" y="447497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45" name="Text 34"/>
          <p:cNvSpPr txBox="1"/>
          <p:nvPr/>
        </p:nvSpPr>
        <p:spPr>
          <a:xfrm>
            <a:off x="5212080" y="41457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46" name="Shape 35"/>
          <p:cNvSpPr/>
          <p:nvPr/>
        </p:nvSpPr>
        <p:spPr>
          <a:xfrm>
            <a:off x="6537960" y="416661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7" name="Text 36"/>
          <p:cNvSpPr txBox="1"/>
          <p:nvPr/>
        </p:nvSpPr>
        <p:spPr>
          <a:xfrm>
            <a:off x="6675120" y="416661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Heb je soms een pen?</a:t>
            </a:r>
            <a:endParaRPr lang="en-US" sz="2000" dirty="0"/>
          </a:p>
        </p:txBody>
      </p:sp>
      <p:pic>
        <p:nvPicPr>
          <p:cNvPr id="48" name="Image 8" descr="smiling face with smiling eye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37392" y="4246372"/>
            <a:ext cx="457200" cy="457200"/>
          </a:xfrm>
          <a:prstGeom prst="rect">
            <a:avLst/>
          </a:prstGeom>
        </p:spPr>
      </p:pic>
      <p:sp>
        <p:nvSpPr>
          <p:cNvPr id="49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51" name="Image 9" descr="neutral fac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2812"/>
            <a:ext cx="457200" cy="457200"/>
          </a:xfrm>
          <a:prstGeom prst="rect">
            <a:avLst/>
          </a:prstGeom>
        </p:spPr>
      </p:pic>
      <p:sp>
        <p:nvSpPr>
          <p:cNvPr id="52" name="Shape 39"/>
          <p:cNvSpPr/>
          <p:nvPr/>
        </p:nvSpPr>
        <p:spPr>
          <a:xfrm>
            <a:off x="1554480" y="489305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0"/>
          <p:cNvSpPr txBox="1"/>
          <p:nvPr/>
        </p:nvSpPr>
        <p:spPr>
          <a:xfrm>
            <a:off x="1691640" y="489305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Kun je me helpen?</a:t>
            </a:r>
            <a:endParaRPr lang="en-US" sz="1900" dirty="0"/>
          </a:p>
        </p:txBody>
      </p:sp>
      <p:sp>
        <p:nvSpPr>
          <p:cNvPr id="54" name="Shape 41"/>
          <p:cNvSpPr/>
          <p:nvPr/>
        </p:nvSpPr>
        <p:spPr>
          <a:xfrm>
            <a:off x="5257800" y="520141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55" name="Text 42"/>
          <p:cNvSpPr txBox="1"/>
          <p:nvPr/>
        </p:nvSpPr>
        <p:spPr>
          <a:xfrm>
            <a:off x="5212080" y="48722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56" name="Shape 43"/>
          <p:cNvSpPr/>
          <p:nvPr/>
        </p:nvSpPr>
        <p:spPr>
          <a:xfrm>
            <a:off x="6537960" y="489305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7" name="Text 44"/>
          <p:cNvSpPr txBox="1"/>
          <p:nvPr/>
        </p:nvSpPr>
        <p:spPr>
          <a:xfrm>
            <a:off x="6675120" y="489305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Kun je me even helpen?</a:t>
            </a:r>
            <a:endParaRPr lang="en-US" sz="2000" dirty="0"/>
          </a:p>
        </p:txBody>
      </p:sp>
      <p:pic>
        <p:nvPicPr>
          <p:cNvPr id="58" name="Image 10" descr="smiling face with smiling eyes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37392" y="4972812"/>
            <a:ext cx="457200" cy="457200"/>
          </a:xfrm>
          <a:prstGeom prst="rect">
            <a:avLst/>
          </a:prstGeom>
        </p:spPr>
      </p:pic>
      <p:sp>
        <p:nvSpPr>
          <p:cNvPr id="5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61" name="Image 11" descr="neutral fac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5840" y="5699252"/>
            <a:ext cx="457200" cy="457200"/>
          </a:xfrm>
          <a:prstGeom prst="rect">
            <a:avLst/>
          </a:prstGeom>
        </p:spPr>
      </p:pic>
      <p:sp>
        <p:nvSpPr>
          <p:cNvPr id="62" name="Shape 47"/>
          <p:cNvSpPr/>
          <p:nvPr/>
        </p:nvSpPr>
        <p:spPr>
          <a:xfrm>
            <a:off x="1554480" y="561949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48"/>
          <p:cNvSpPr txBox="1"/>
          <p:nvPr/>
        </p:nvSpPr>
        <p:spPr>
          <a:xfrm>
            <a:off x="1691640" y="561949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Geen probleem.</a:t>
            </a:r>
            <a:endParaRPr lang="en-US" sz="1900" dirty="0"/>
          </a:p>
        </p:txBody>
      </p:sp>
      <p:sp>
        <p:nvSpPr>
          <p:cNvPr id="64" name="Shape 49"/>
          <p:cNvSpPr/>
          <p:nvPr/>
        </p:nvSpPr>
        <p:spPr>
          <a:xfrm>
            <a:off x="5257800" y="592785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65" name="Text 50"/>
          <p:cNvSpPr txBox="1"/>
          <p:nvPr/>
        </p:nvSpPr>
        <p:spPr>
          <a:xfrm>
            <a:off x="5212080" y="55986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66" name="Shape 51"/>
          <p:cNvSpPr/>
          <p:nvPr/>
        </p:nvSpPr>
        <p:spPr>
          <a:xfrm>
            <a:off x="6537960" y="561949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7" name="Text 52"/>
          <p:cNvSpPr txBox="1"/>
          <p:nvPr/>
        </p:nvSpPr>
        <p:spPr>
          <a:xfrm>
            <a:off x="6675120" y="561949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Geen probleem, hoor!</a:t>
            </a:r>
            <a:endParaRPr lang="en-US" sz="2000" dirty="0"/>
          </a:p>
        </p:txBody>
      </p:sp>
      <p:pic>
        <p:nvPicPr>
          <p:cNvPr id="68" name="Image 12" descr="smiling face with smiling eye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137392" y="5699252"/>
            <a:ext cx="457200" cy="457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La bonne particule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une particule de la banque. Chaque particule sert une fois.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23872"/>
            <a:ext cx="11091672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binnen, de deur is open.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tx1"/>
                </a:solidFill>
              </a:rPr>
              <a:t>Heb je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een oplader? Mijn gsm is bijna leeg.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Je komt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morgen? We rekenen op je!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Hoe heet die klant </a:t>
            </a:r>
            <a:r>
              <a:rPr lang="en-US" sz="1900" i="1" dirty="0">
                <a:solidFill>
                  <a:schemeClr val="accent5"/>
                </a:solidFill>
              </a:rPr>
              <a:t>………………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tx1"/>
                </a:solidFill>
              </a:rPr>
              <a:t>Kun je me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helpen?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Ik heb geen auto, maar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een fiets.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Nee, dat is geen probleem,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Geen koffie? Wat wil je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9" name="Shape 5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31520" y="54864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1920240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920240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hoor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3090672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0672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4261104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261104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dan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31536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31536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soms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6601968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601968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wel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7772400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772400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maar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8942832" y="5632704"/>
            <a:ext cx="160020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942832" y="5632704"/>
            <a:ext cx="16002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ook alweer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10707624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707624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toch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La bonne particule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une particule de la banque. Chaque particule sert une fois.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23872"/>
            <a:ext cx="11091672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b="1" i="1" dirty="0">
                <a:solidFill>
                  <a:schemeClr val="accent3"/>
                </a:solidFill>
              </a:rPr>
              <a:t>maar</a:t>
            </a:r>
            <a:r>
              <a:rPr lang="en-US" sz="1900" i="1" dirty="0">
                <a:solidFill>
                  <a:schemeClr val="tx1"/>
                </a:solidFill>
              </a:rPr>
              <a:t> binnen, de deur is open.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tx1"/>
                </a:solidFill>
              </a:rPr>
              <a:t>Heb je </a:t>
            </a:r>
            <a:r>
              <a:rPr lang="en-US" sz="1900" b="1" i="1" dirty="0">
                <a:solidFill>
                  <a:schemeClr val="accent3"/>
                </a:solidFill>
              </a:rPr>
              <a:t>soms</a:t>
            </a:r>
            <a:r>
              <a:rPr lang="en-US" sz="1900" i="1" dirty="0">
                <a:solidFill>
                  <a:schemeClr val="tx1"/>
                </a:solidFill>
              </a:rPr>
              <a:t> een oplader? Mijn gsm is bijna leeg.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Je komt </a:t>
            </a:r>
            <a:r>
              <a:rPr lang="en-US" sz="1900" b="1" i="1" dirty="0">
                <a:solidFill>
                  <a:schemeClr val="accent3"/>
                </a:solidFill>
              </a:rPr>
              <a:t>toch</a:t>
            </a:r>
            <a:r>
              <a:rPr lang="en-US" sz="1900" i="1" dirty="0">
                <a:solidFill>
                  <a:schemeClr val="tx1"/>
                </a:solidFill>
              </a:rPr>
              <a:t> morgen? We rekenen op je!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Hoe heet die klant </a:t>
            </a:r>
            <a:r>
              <a:rPr lang="en-US" sz="1900" b="1" i="1" dirty="0">
                <a:solidFill>
                  <a:schemeClr val="accent3"/>
                </a:solidFill>
              </a:rPr>
              <a:t>ook alweer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tx1"/>
                </a:solidFill>
              </a:rPr>
              <a:t>Kun je me </a:t>
            </a:r>
            <a:r>
              <a:rPr lang="en-US" sz="1900" b="1" i="1" dirty="0">
                <a:solidFill>
                  <a:schemeClr val="accent3"/>
                </a:solidFill>
              </a:rPr>
              <a:t>even</a:t>
            </a:r>
            <a:r>
              <a:rPr lang="en-US" sz="1900" i="1" dirty="0">
                <a:solidFill>
                  <a:schemeClr val="tx1"/>
                </a:solidFill>
              </a:rPr>
              <a:t> helpen?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Ik heb geen auto, maar </a:t>
            </a:r>
            <a:r>
              <a:rPr lang="en-US" sz="1900" b="1" i="1" dirty="0">
                <a:solidFill>
                  <a:schemeClr val="accent3"/>
                </a:solidFill>
              </a:rPr>
              <a:t>wel</a:t>
            </a:r>
            <a:r>
              <a:rPr lang="en-US" sz="1900" i="1" dirty="0">
                <a:solidFill>
                  <a:schemeClr val="tx1"/>
                </a:solidFill>
              </a:rPr>
              <a:t> een fiets.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Nee, dat is geen probleem, </a:t>
            </a:r>
            <a:r>
              <a:rPr lang="en-US" sz="1900" b="1" i="1" dirty="0">
                <a:solidFill>
                  <a:schemeClr val="accent3"/>
                </a:solidFill>
              </a:rPr>
              <a:t>hoor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Geen koffie? Wat wil je </a:t>
            </a:r>
            <a:r>
              <a:rPr lang="en-US" sz="1900" b="1" i="1" dirty="0">
                <a:solidFill>
                  <a:schemeClr val="accent3"/>
                </a:solidFill>
              </a:rPr>
              <a:t>dan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8778240" y="3944112"/>
            <a:ext cx="28620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5"/>
                </a:solidFill>
              </a:rPr>
              <a:t>Aussi possibles :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5"/>
                </a:solidFill>
              </a:rPr>
              <a:t>n° 1 : </a:t>
            </a:r>
            <a:r>
              <a:rPr lang="en-US" sz="1400" i="1" dirty="0">
                <a:solidFill>
                  <a:schemeClr val="accent5"/>
                </a:solidFill>
              </a:rPr>
              <a:t>even, toch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5"/>
                </a:solidFill>
              </a:rPr>
              <a:t>n° 5 : </a:t>
            </a:r>
            <a:r>
              <a:rPr lang="en-US" sz="1400" i="1" dirty="0">
                <a:solidFill>
                  <a:schemeClr val="accent5"/>
                </a:solidFill>
              </a:rPr>
              <a:t>soms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31520" y="54864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1920240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920240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hoor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3090672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090672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4261104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261104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dan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31536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31536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soms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6601968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601968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wel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7772400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772400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maar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8942832" y="5632704"/>
            <a:ext cx="160020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942832" y="5632704"/>
            <a:ext cx="16002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ook alweer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10707624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707624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toch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Traduisez l’intention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Le mot souligné devient une particule.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5568" y="212648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252728" y="212648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389888" y="212648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115568" y="212648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1645920" y="19781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viens demain, </a:t>
            </a:r>
            <a:r>
              <a:rPr lang="en-US" sz="1800" u="sng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21792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6720840" y="197815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1005840" y="270459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1115568" y="285292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1252728" y="285292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389888" y="285292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115568" y="285292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645920" y="270459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n’aurais pas un stylo, </a:t>
            </a:r>
            <a:r>
              <a:rPr lang="en-US" sz="1800" u="sng" dirty="0">
                <a:solidFill>
                  <a:schemeClr val="tx1"/>
                </a:solidFill>
              </a:rPr>
              <a:t>par hasard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>
            <a:off x="621792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23"/>
          <p:cNvSpPr/>
          <p:nvPr/>
        </p:nvSpPr>
        <p:spPr>
          <a:xfrm>
            <a:off x="6720840" y="270459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1005840" y="343103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1115568" y="357936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252728" y="357936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1389888" y="357936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1115568" y="357936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645920" y="343103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Regarde </a:t>
            </a:r>
            <a:r>
              <a:rPr lang="en-US" sz="1800" u="sng" dirty="0">
                <a:solidFill>
                  <a:schemeClr val="tx1"/>
                </a:solidFill>
              </a:rPr>
              <a:t>donc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621792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720840" y="343103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415747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1115568" y="430580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1252728" y="430580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389888" y="430580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1115568" y="430580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1645920" y="415747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Attends </a:t>
            </a:r>
            <a:r>
              <a:rPr lang="en-US" sz="1800" u="sng" dirty="0">
                <a:solidFill>
                  <a:schemeClr val="tx1"/>
                </a:solidFill>
              </a:rPr>
              <a:t>un instant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621792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6720840" y="415747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50" name="Shape 46"/>
          <p:cNvSpPr/>
          <p:nvPr/>
        </p:nvSpPr>
        <p:spPr>
          <a:xfrm>
            <a:off x="1005840" y="488391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1115568" y="503224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1252728" y="503224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1389888" y="503224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1115568" y="503224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1645920" y="488391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Comment il s’appelle, </a:t>
            </a:r>
            <a:r>
              <a:rPr lang="en-US" sz="1800" u="sng" dirty="0">
                <a:solidFill>
                  <a:schemeClr val="tx1"/>
                </a:solidFill>
              </a:rPr>
              <a:t>déjà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56" name="Shape 52"/>
          <p:cNvSpPr/>
          <p:nvPr/>
        </p:nvSpPr>
        <p:spPr>
          <a:xfrm>
            <a:off x="621792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7" name="Shape 53"/>
          <p:cNvSpPr/>
          <p:nvPr/>
        </p:nvSpPr>
        <p:spPr>
          <a:xfrm>
            <a:off x="6720840" y="488391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60" name="Shape 56"/>
          <p:cNvSpPr/>
          <p:nvPr/>
        </p:nvSpPr>
        <p:spPr>
          <a:xfrm>
            <a:off x="1005840" y="561035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1115568" y="575868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1252728" y="575868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1389888" y="575868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1115568" y="575868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1645920" y="56103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Pas de souci, </a:t>
            </a:r>
            <a:r>
              <a:rPr lang="en-US" sz="1800" u="sng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66" name="Shape 62"/>
          <p:cNvSpPr/>
          <p:nvPr/>
        </p:nvSpPr>
        <p:spPr>
          <a:xfrm>
            <a:off x="621792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7" name="Shape 63"/>
          <p:cNvSpPr/>
          <p:nvPr/>
        </p:nvSpPr>
        <p:spPr>
          <a:xfrm>
            <a:off x="6720840" y="561035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Traduisez l’intention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Le mot souligné devient une particule.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15568" y="212648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252728" y="212648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389888" y="212648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15568" y="212648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645920" y="19781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viens demain, </a:t>
            </a:r>
            <a:r>
              <a:rPr lang="en-US" sz="1800" u="sng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621792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6720840" y="197815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0" y="197815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Je komt toch morgen?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270459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15568" y="285292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252728" y="285292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1389888" y="285292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115568" y="285292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645920" y="270459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n’aurais pas un stylo, </a:t>
            </a:r>
            <a:r>
              <a:rPr lang="en-US" sz="1800" u="sng" dirty="0">
                <a:solidFill>
                  <a:schemeClr val="tx1"/>
                </a:solidFill>
              </a:rPr>
              <a:t>par hasard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621792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9" name="Shape 25"/>
          <p:cNvSpPr/>
          <p:nvPr/>
        </p:nvSpPr>
        <p:spPr>
          <a:xfrm>
            <a:off x="6720840" y="270459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858000" y="270459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Heb je soms een pen?</a:t>
            </a:r>
            <a:endParaRPr lang="en-US" sz="1900" dirty="0"/>
          </a:p>
        </p:txBody>
      </p:sp>
      <p:sp>
        <p:nvSpPr>
          <p:cNvPr id="31" name="Shape 27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3" name="Shape 29"/>
          <p:cNvSpPr/>
          <p:nvPr/>
        </p:nvSpPr>
        <p:spPr>
          <a:xfrm>
            <a:off x="1005840" y="343103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1115568" y="357936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1252728" y="357936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1389888" y="357936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115568" y="357936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1645920" y="343103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Regarde </a:t>
            </a:r>
            <a:r>
              <a:rPr lang="en-US" sz="1800" u="sng" dirty="0">
                <a:solidFill>
                  <a:schemeClr val="tx1"/>
                </a:solidFill>
              </a:rPr>
              <a:t>donc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621792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0" name="Shape 36"/>
          <p:cNvSpPr/>
          <p:nvPr/>
        </p:nvSpPr>
        <p:spPr>
          <a:xfrm>
            <a:off x="6720840" y="343103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858000" y="343103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Kijk eens!</a:t>
            </a:r>
            <a:endParaRPr lang="en-US" sz="1900" dirty="0"/>
          </a:p>
        </p:txBody>
      </p:sp>
      <p:sp>
        <p:nvSpPr>
          <p:cNvPr id="42" name="Shape 38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4" name="Shape 40"/>
          <p:cNvSpPr/>
          <p:nvPr/>
        </p:nvSpPr>
        <p:spPr>
          <a:xfrm>
            <a:off x="1005840" y="415747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1115568" y="430580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1252728" y="430580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1389888" y="430580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1115568" y="430580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1645920" y="415747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Attends </a:t>
            </a:r>
            <a:r>
              <a:rPr lang="en-US" sz="1800" u="sng" dirty="0">
                <a:solidFill>
                  <a:schemeClr val="tx1"/>
                </a:solidFill>
              </a:rPr>
              <a:t>un instant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621792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1" name="Shape 47"/>
          <p:cNvSpPr/>
          <p:nvPr/>
        </p:nvSpPr>
        <p:spPr>
          <a:xfrm>
            <a:off x="6720840" y="415747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858000" y="415747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Wacht even!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1005840" y="488391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1115568" y="503224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1252728" y="503224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1389888" y="503224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1115568" y="503224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645920" y="488391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Comment il s’appelle, </a:t>
            </a:r>
            <a:r>
              <a:rPr lang="en-US" sz="1800" u="sng" dirty="0">
                <a:solidFill>
                  <a:schemeClr val="tx1"/>
                </a:solidFill>
              </a:rPr>
              <a:t>déjà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61" name="Shape 57"/>
          <p:cNvSpPr/>
          <p:nvPr/>
        </p:nvSpPr>
        <p:spPr>
          <a:xfrm>
            <a:off x="621792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2" name="Shape 58"/>
          <p:cNvSpPr/>
          <p:nvPr/>
        </p:nvSpPr>
        <p:spPr>
          <a:xfrm>
            <a:off x="6720840" y="488391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6858000" y="488391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Hoe heet hij ook alweer?</a:t>
            </a:r>
            <a:endParaRPr lang="en-US" sz="1900" dirty="0"/>
          </a:p>
        </p:txBody>
      </p:sp>
      <p:sp>
        <p:nvSpPr>
          <p:cNvPr id="64" name="Shape 6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66" name="Shape 62"/>
          <p:cNvSpPr/>
          <p:nvPr/>
        </p:nvSpPr>
        <p:spPr>
          <a:xfrm>
            <a:off x="1005840" y="561035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1115568" y="575868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1252728" y="575868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1389888" y="575868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1115568" y="575868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1645920" y="56103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Pas de souci, </a:t>
            </a:r>
            <a:r>
              <a:rPr lang="en-US" sz="1800" u="sng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72" name="Shape 68"/>
          <p:cNvSpPr/>
          <p:nvPr/>
        </p:nvSpPr>
        <p:spPr>
          <a:xfrm>
            <a:off x="621792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3" name="Shape 69"/>
          <p:cNvSpPr/>
          <p:nvPr/>
        </p:nvSpPr>
        <p:spPr>
          <a:xfrm>
            <a:off x="6720840" y="561035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6858000" y="561035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Geen probleem, hoor!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Particule ou mot plein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phrases : le mot en gras est-il une particule ou un mot au sens plein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6900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96900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Ik ga </a:t>
            </a:r>
            <a:r>
              <a:rPr lang="en-US" sz="1700" b="1" i="1" dirty="0">
                <a:solidFill>
                  <a:schemeClr val="tx1"/>
                </a:solidFill>
              </a:rPr>
              <a:t>soms</a:t>
            </a:r>
            <a:r>
              <a:rPr lang="en-US" sz="1700" i="1" dirty="0">
                <a:solidFill>
                  <a:schemeClr val="tx1"/>
                </a:solidFill>
              </a:rPr>
              <a:t> naar de film.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548640" y="251383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51383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Heb je </a:t>
            </a:r>
            <a:r>
              <a:rPr lang="en-US" sz="1700" b="1" i="1" dirty="0">
                <a:solidFill>
                  <a:schemeClr val="tx1"/>
                </a:solidFill>
              </a:rPr>
              <a:t>soms</a:t>
            </a:r>
            <a:r>
              <a:rPr lang="en-US" sz="1700" i="1" dirty="0">
                <a:solidFill>
                  <a:schemeClr val="tx1"/>
                </a:solidFill>
              </a:rPr>
              <a:t> een pen?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305866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305866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Wacht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360349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60349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Ze zijn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 oud.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414832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414832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469315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469315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Het is klein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mooi.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548640" y="523798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523798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7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Je komt </a:t>
            </a:r>
            <a:r>
              <a:rPr lang="en-US" sz="1700" b="1" i="1" dirty="0">
                <a:solidFill>
                  <a:schemeClr val="tx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48640" y="578281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5800" y="578281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8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Hij is ziek, en </a:t>
            </a:r>
            <a:r>
              <a:rPr lang="en-US" sz="1700" b="1" i="1" dirty="0">
                <a:solidFill>
                  <a:schemeClr val="tx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 werkt hij.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6675120" y="1932432"/>
            <a:ext cx="2423160" cy="435864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25400">
            <a:solidFill>
              <a:srgbClr val="2E7D4F"/>
            </a:solidFill>
            <a:prstDash val="dash"/>
          </a:ln>
        </p:spPr>
      </p:sp>
      <p:sp>
        <p:nvSpPr>
          <p:cNvPr id="25" name="Shape 21"/>
          <p:cNvSpPr/>
          <p:nvPr/>
        </p:nvSpPr>
        <p:spPr>
          <a:xfrm>
            <a:off x="6675120" y="1932432"/>
            <a:ext cx="2423160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675120" y="193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PARTICULE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9208008" y="1932432"/>
            <a:ext cx="2423160" cy="435864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25400">
            <a:solidFill>
              <a:srgbClr val="4A5A70"/>
            </a:solidFill>
            <a:prstDash val="dash"/>
          </a:ln>
        </p:spPr>
      </p:sp>
      <p:sp>
        <p:nvSpPr>
          <p:cNvPr id="28" name="Shape 24"/>
          <p:cNvSpPr/>
          <p:nvPr/>
        </p:nvSpPr>
        <p:spPr>
          <a:xfrm>
            <a:off x="9208008" y="1932432"/>
            <a:ext cx="242316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9208008" y="193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SENS PLEIN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Particule ou mot plein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phrases : le mot en gras est-il une particule ou un mot au sens plein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6900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196900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Ik ga </a:t>
            </a:r>
            <a:r>
              <a:rPr lang="en-US" sz="1700" b="1" i="1" dirty="0">
                <a:solidFill>
                  <a:schemeClr val="tx1"/>
                </a:solidFill>
              </a:rPr>
              <a:t>soms</a:t>
            </a:r>
            <a:r>
              <a:rPr lang="en-US" sz="1700" i="1" dirty="0">
                <a:solidFill>
                  <a:schemeClr val="tx1"/>
                </a:solidFill>
              </a:rPr>
              <a:t> naar de film.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48640" y="251383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85800" y="251383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Heb je </a:t>
            </a:r>
            <a:r>
              <a:rPr lang="en-US" sz="1700" b="1" i="1" dirty="0">
                <a:solidFill>
                  <a:schemeClr val="tx1"/>
                </a:solidFill>
              </a:rPr>
              <a:t>soms</a:t>
            </a:r>
            <a:r>
              <a:rPr lang="en-US" sz="1700" i="1" dirty="0">
                <a:solidFill>
                  <a:schemeClr val="tx1"/>
                </a:solidFill>
              </a:rPr>
              <a:t> een pen?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548640" y="305866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85800" y="305866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Wacht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548640" y="360349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360349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Ze zijn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 oud.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414832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414832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8640" y="469315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469315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Het is klein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mooi.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8640" y="523798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" y="523798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7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Je komt </a:t>
            </a:r>
            <a:r>
              <a:rPr lang="en-US" sz="1700" b="1" i="1" dirty="0">
                <a:solidFill>
                  <a:schemeClr val="tx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578281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578281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8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Hij is ziek, en </a:t>
            </a:r>
            <a:r>
              <a:rPr lang="en-US" sz="1700" b="1" i="1" dirty="0">
                <a:solidFill>
                  <a:schemeClr val="tx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 werkt hij.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6675120" y="1932432"/>
            <a:ext cx="2423160" cy="4358640"/>
          </a:xfrm>
          <a:prstGeom prst="roundRect">
            <a:avLst>
              <a:gd name="adj" fmla="val 3019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675120" y="1932432"/>
            <a:ext cx="2423160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675120" y="193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PARTICULE</a:t>
            </a:r>
            <a:endParaRPr lang="en-US" sz="1500" dirty="0"/>
          </a:p>
        </p:txBody>
      </p:sp>
      <p:sp>
        <p:nvSpPr>
          <p:cNvPr id="28" name="Shape 24"/>
          <p:cNvSpPr/>
          <p:nvPr/>
        </p:nvSpPr>
        <p:spPr>
          <a:xfrm>
            <a:off x="6812280" y="2801112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812280" y="28011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30" name="Text 26"/>
          <p:cNvSpPr txBox="1"/>
          <p:nvPr/>
        </p:nvSpPr>
        <p:spPr>
          <a:xfrm>
            <a:off x="7360920" y="261823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soms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par hasard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6812280" y="3761232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12280" y="3761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7360920" y="357835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even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un instant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6812280" y="4721352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812280" y="4721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6" name="Text 32"/>
          <p:cNvSpPr txBox="1"/>
          <p:nvPr/>
        </p:nvSpPr>
        <p:spPr>
          <a:xfrm>
            <a:off x="7360920" y="453847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maar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vas-y</a:t>
            </a:r>
            <a:endParaRPr lang="en-US" sz="1500" dirty="0"/>
          </a:p>
        </p:txBody>
      </p:sp>
      <p:sp>
        <p:nvSpPr>
          <p:cNvPr id="37" name="Shape 33"/>
          <p:cNvSpPr/>
          <p:nvPr/>
        </p:nvSpPr>
        <p:spPr>
          <a:xfrm>
            <a:off x="6812280" y="5681472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812280" y="56814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39" name="Text 35"/>
          <p:cNvSpPr txBox="1"/>
          <p:nvPr/>
        </p:nvSpPr>
        <p:spPr>
          <a:xfrm>
            <a:off x="7360920" y="549859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toch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hein ?</a:t>
            </a:r>
            <a:endParaRPr lang="en-US" sz="1500" dirty="0"/>
          </a:p>
        </p:txBody>
      </p:sp>
      <p:sp>
        <p:nvSpPr>
          <p:cNvPr id="40" name="Shape 36"/>
          <p:cNvSpPr/>
          <p:nvPr/>
        </p:nvSpPr>
        <p:spPr>
          <a:xfrm>
            <a:off x="9208008" y="1932432"/>
            <a:ext cx="2423160" cy="4358640"/>
          </a:xfrm>
          <a:prstGeom prst="roundRect">
            <a:avLst>
              <a:gd name="adj" fmla="val 30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9208008" y="1932432"/>
            <a:ext cx="242316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9208008" y="193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SENS PLEIN</a:t>
            </a:r>
            <a:endParaRPr lang="en-US" sz="1500" dirty="0"/>
          </a:p>
        </p:txBody>
      </p:sp>
      <p:sp>
        <p:nvSpPr>
          <p:cNvPr id="43" name="Shape 39"/>
          <p:cNvSpPr/>
          <p:nvPr/>
        </p:nvSpPr>
        <p:spPr>
          <a:xfrm>
            <a:off x="9345168" y="2801112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9345168" y="28011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45" name="Text 41"/>
          <p:cNvSpPr txBox="1"/>
          <p:nvPr/>
        </p:nvSpPr>
        <p:spPr>
          <a:xfrm>
            <a:off x="9893808" y="261823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soms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parfois</a:t>
            </a:r>
            <a:endParaRPr lang="en-US" sz="1500" dirty="0"/>
          </a:p>
        </p:txBody>
      </p:sp>
      <p:sp>
        <p:nvSpPr>
          <p:cNvPr id="46" name="Shape 42"/>
          <p:cNvSpPr/>
          <p:nvPr/>
        </p:nvSpPr>
        <p:spPr>
          <a:xfrm>
            <a:off x="9345168" y="3761232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345168" y="3761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48" name="Text 44"/>
          <p:cNvSpPr txBox="1"/>
          <p:nvPr/>
        </p:nvSpPr>
        <p:spPr>
          <a:xfrm>
            <a:off x="9893808" y="357835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even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aussi</a:t>
            </a:r>
            <a:endParaRPr lang="en-US" sz="1500" dirty="0"/>
          </a:p>
        </p:txBody>
      </p:sp>
      <p:sp>
        <p:nvSpPr>
          <p:cNvPr id="49" name="Shape 45"/>
          <p:cNvSpPr/>
          <p:nvPr/>
        </p:nvSpPr>
        <p:spPr>
          <a:xfrm>
            <a:off x="9345168" y="4721352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345168" y="4721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51" name="Text 47"/>
          <p:cNvSpPr txBox="1"/>
          <p:nvPr/>
        </p:nvSpPr>
        <p:spPr>
          <a:xfrm>
            <a:off x="9893808" y="453847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maar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mais</a:t>
            </a:r>
            <a:endParaRPr lang="en-US" sz="1500" dirty="0"/>
          </a:p>
        </p:txBody>
      </p:sp>
      <p:sp>
        <p:nvSpPr>
          <p:cNvPr id="52" name="Shape 48"/>
          <p:cNvSpPr/>
          <p:nvPr/>
        </p:nvSpPr>
        <p:spPr>
          <a:xfrm>
            <a:off x="9345168" y="5681472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9345168" y="56814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8</a:t>
            </a:r>
            <a:endParaRPr lang="en-US" sz="1400" dirty="0"/>
          </a:p>
        </p:txBody>
      </p:sp>
      <p:sp>
        <p:nvSpPr>
          <p:cNvPr id="54" name="Text 50"/>
          <p:cNvSpPr txBox="1"/>
          <p:nvPr/>
        </p:nvSpPr>
        <p:spPr>
          <a:xfrm>
            <a:off x="9893808" y="549859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toch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pourtant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et Sofie s’écrivent. Trouvez les 5 erreurs de particules.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4F7FA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Chat · Karim ↔ Sofie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731520" y="251764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68680" y="251764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Hoi Sofie, kun je </a:t>
            </a:r>
            <a:r>
              <a:rPr lang="en-US" sz="1600" i="1" dirty="0">
                <a:solidFill>
                  <a:schemeClr val="tx1"/>
                </a:solidFill>
              </a:rPr>
              <a:t>even me helpen</a:t>
            </a:r>
            <a:r>
              <a:rPr lang="en-US" sz="1600" i="1" dirty="0">
                <a:solidFill>
                  <a:schemeClr val="tx1"/>
                </a:solidFill>
              </a:rPr>
              <a:t>? De printer werkt niet.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2377440" y="314502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514600" y="314502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 hoor, kom </a:t>
            </a:r>
            <a:r>
              <a:rPr lang="en-US" sz="1600" i="1" dirty="0">
                <a:solidFill>
                  <a:schemeClr val="tx1"/>
                </a:solidFill>
              </a:rPr>
              <a:t>binnen maar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731520" y="377240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68680" y="377240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Heb je een A4-papier soms?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2377440" y="439978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514600" y="439978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Kijk soms</a:t>
            </a:r>
            <a:r>
              <a:rPr lang="en-US" sz="1600" i="1" dirty="0">
                <a:solidFill>
                  <a:schemeClr val="tx1"/>
                </a:solidFill>
              </a:rPr>
              <a:t> in de kast, daar ligt papier.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731520" y="502716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68680" y="502716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Dank je! Je komt morgen wel naar de vergadering, toch?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2377440" y="565454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514600" y="565454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Ja, natuurlijk. Geen probleem, </a:t>
            </a:r>
            <a:r>
              <a:rPr lang="en-US" sz="1600" i="1" dirty="0">
                <a:solidFill>
                  <a:schemeClr val="tx1"/>
                </a:solidFill>
              </a:rPr>
              <a:t>nou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pic>
        <p:nvPicPr>
          <p:cNvPr id="2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et Sofie s’écrivent. Trouvez les 5 erreurs de particules.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4F7FA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Chat · Karim ↔ Sofie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31520" y="251764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68680" y="251764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Hoi Sofie, kun je </a:t>
            </a:r>
            <a:r>
              <a:rPr lang="en-US" sz="1600" i="1" strike="sngStrike" dirty="0">
                <a:solidFill>
                  <a:schemeClr val="accent6"/>
                </a:solidFill>
              </a:rPr>
              <a:t>even me helpen</a:t>
            </a:r>
            <a:r>
              <a:rPr lang="en-US" sz="1600" b="1" i="1" dirty="0">
                <a:solidFill>
                  <a:schemeClr val="accent3"/>
                </a:solidFill>
              </a:rPr>
              <a:t> me even helpen</a:t>
            </a:r>
            <a:r>
              <a:rPr lang="en-US" sz="1600" i="1" dirty="0">
                <a:solidFill>
                  <a:schemeClr val="tx1"/>
                </a:solidFill>
              </a:rPr>
              <a:t>? De printer werkt niet.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2377440" y="314502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514600" y="314502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 hoor, kom </a:t>
            </a:r>
            <a:r>
              <a:rPr lang="en-US" sz="1600" i="1" strike="sngStrike" dirty="0">
                <a:solidFill>
                  <a:schemeClr val="accent6"/>
                </a:solidFill>
              </a:rPr>
              <a:t>binnen maar</a:t>
            </a:r>
            <a:r>
              <a:rPr lang="en-US" sz="1600" b="1" i="1" dirty="0">
                <a:solidFill>
                  <a:schemeClr val="accent3"/>
                </a:solidFill>
              </a:rPr>
              <a:t> maar binnen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731520" y="377240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68680" y="377240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strike="sngStrike" dirty="0">
                <a:solidFill>
                  <a:schemeClr val="accent6"/>
                </a:solidFill>
              </a:rPr>
              <a:t>Heb je een A4-papier soms?</a:t>
            </a:r>
            <a:r>
              <a:rPr lang="en-US" sz="1600" b="1" i="1" dirty="0">
                <a:solidFill>
                  <a:schemeClr val="accent3"/>
                </a:solidFill>
              </a:rPr>
              <a:t> Heb je soms A4-papier?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2377440" y="439978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514600" y="439978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strike="sngStrike" dirty="0">
                <a:solidFill>
                  <a:schemeClr val="accent6"/>
                </a:solidFill>
              </a:rPr>
              <a:t>Kijk soms</a:t>
            </a:r>
            <a:r>
              <a:rPr lang="en-US" sz="1600" b="1" i="1" dirty="0">
                <a:solidFill>
                  <a:schemeClr val="accent3"/>
                </a:solidFill>
              </a:rPr>
              <a:t> Kijk eens</a:t>
            </a:r>
            <a:r>
              <a:rPr lang="en-US" sz="1600" i="1" dirty="0">
                <a:solidFill>
                  <a:schemeClr val="tx1"/>
                </a:solidFill>
              </a:rPr>
              <a:t> in de kast, daar ligt papier.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731520" y="502716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68680" y="502716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Dank je! Je komt morgen wel naar de vergadering, toch?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2377440" y="565454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514600" y="565454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Ja, natuurlijk. Geen probleem, </a:t>
            </a:r>
            <a:r>
              <a:rPr lang="en-US" sz="1600" i="1" strike="sngStrike" dirty="0">
                <a:solidFill>
                  <a:schemeClr val="accent6"/>
                </a:solidFill>
              </a:rPr>
              <a:t>nou</a:t>
            </a:r>
            <a:r>
              <a:rPr lang="en-US" sz="1600" b="1" i="1" dirty="0">
                <a:solidFill>
                  <a:schemeClr val="accent3"/>
                </a:solidFill>
              </a:rPr>
              <a:t> hoor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pic>
        <p:nvPicPr>
          <p:cNvPr id="24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27" name="Text 22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Ja hoor · …, toch?</a:t>
            </a:r>
            <a:r>
              <a:rPr lang="en-US" sz="1400" i="1" dirty="0">
                <a:solidFill>
                  <a:schemeClr val="accent5"/>
                </a:solidFill>
              </a:rPr>
              <a:t> (</a:t>
            </a:r>
            <a:r>
              <a:rPr lang="en-US" sz="1400" i="1" dirty="0">
                <a:solidFill>
                  <a:schemeClr val="accent5"/>
                </a:solidFill>
              </a:rPr>
              <a:t>toch</a:t>
            </a:r>
            <a:r>
              <a:rPr lang="en-US" sz="1400" i="1" dirty="0">
                <a:solidFill>
                  <a:schemeClr val="accent5"/>
                </a:solidFill>
              </a:rPr>
              <a:t> en fin de phrase = « hein ? ») · </a:t>
            </a:r>
            <a:r>
              <a:rPr lang="en-US" sz="1400" i="1" dirty="0">
                <a:solidFill>
                  <a:schemeClr val="accent5"/>
                </a:solidFill>
              </a:rPr>
              <a:t>papier</a:t>
            </a:r>
            <a:r>
              <a:rPr lang="en-US" sz="1400" i="1" dirty="0">
                <a:solidFill>
                  <a:schemeClr val="accent5"/>
                </a:solidFill>
              </a:rPr>
              <a:t> : sans </a:t>
            </a:r>
            <a:r>
              <a:rPr lang="en-US" sz="1400" i="1" dirty="0">
                <a:solidFill>
                  <a:schemeClr val="accent5"/>
                </a:solidFill>
              </a:rPr>
              <a:t>een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Aussi correct : </a:t>
            </a:r>
            <a:r>
              <a:rPr lang="en-US" sz="1400" i="1" dirty="0">
                <a:solidFill>
                  <a:schemeClr val="accent5"/>
                </a:solidFill>
              </a:rPr>
              <a:t>Kijk even / Kijk maar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théâtre des émotions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7086600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Phrase de base : </a:t>
            </a:r>
            <a:r>
              <a:rPr lang="en-US" sz="2200" b="1" i="1" dirty="0">
                <a:solidFill>
                  <a:schemeClr val="bg1"/>
                </a:solidFill>
              </a:rPr>
              <a:t>Kom binnen.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48640" y="2514600"/>
            <a:ext cx="1634490" cy="3291840"/>
          </a:xfrm>
          <a:prstGeom prst="roundRect">
            <a:avLst>
              <a:gd name="adj" fmla="val 6713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0" descr="hugg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965" y="2697480"/>
            <a:ext cx="1005840" cy="10058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3794760"/>
            <a:ext cx="1634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2"/>
                </a:solidFill>
              </a:rPr>
              <a:t>ACCUEILLANT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4206240"/>
            <a:ext cx="145161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accent2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2366010" y="2514600"/>
            <a:ext cx="1634490" cy="3291840"/>
          </a:xfrm>
          <a:prstGeom prst="roundRect">
            <a:avLst>
              <a:gd name="adj" fmla="val 6713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1" descr="face with steam from no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0335" y="2697480"/>
            <a:ext cx="1005840" cy="10058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366010" y="3794760"/>
            <a:ext cx="1634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IMPATIENT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2457450" y="4206240"/>
            <a:ext cx="145161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accent1"/>
                </a:solidFill>
              </a:rPr>
              <a:t>nou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4183380" y="2514600"/>
            <a:ext cx="1634490" cy="3291840"/>
          </a:xfrm>
          <a:prstGeom prst="roundRect">
            <a:avLst>
              <a:gd name="adj" fmla="val 6713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plead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705" y="2697480"/>
            <a:ext cx="1005840" cy="10058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183380" y="3794760"/>
            <a:ext cx="1634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INSISTANT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4274820" y="4206240"/>
            <a:ext cx="145161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accent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6000750" y="2514600"/>
            <a:ext cx="1634490" cy="3291840"/>
          </a:xfrm>
          <a:prstGeom prst="roundRect">
            <a:avLst>
              <a:gd name="adj" fmla="val 6713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3" descr="relieved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5075" y="2697480"/>
            <a:ext cx="1005840" cy="100584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000750" y="3794760"/>
            <a:ext cx="1634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3"/>
                </a:solidFill>
              </a:rPr>
              <a:t>RASSURANT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6092190" y="4206240"/>
            <a:ext cx="145161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accent2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binnen, </a:t>
            </a:r>
            <a:r>
              <a:rPr lang="en-US" sz="1700" b="1" i="1" dirty="0">
                <a:solidFill>
                  <a:schemeClr val="accent3"/>
                </a:solidFill>
              </a:rPr>
              <a:t>hoor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pic>
        <p:nvPicPr>
          <p:cNvPr id="24" name="Image 4" descr="performing art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0" y="1554480"/>
            <a:ext cx="731520" cy="7315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778240" y="1554480"/>
            <a:ext cx="2862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Théâtre!</a:t>
            </a:r>
            <a:endParaRPr lang="en-US" sz="2600" dirty="0"/>
          </a:p>
        </p:txBody>
      </p:sp>
      <p:sp>
        <p:nvSpPr>
          <p:cNvPr id="26" name="Text 18"/>
          <p:cNvSpPr txBox="1"/>
          <p:nvPr/>
        </p:nvSpPr>
        <p:spPr>
          <a:xfrm>
            <a:off x="7955280" y="2514600"/>
            <a:ext cx="368503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Tirez une carte-émotion en secret.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Dites la phrase avec la particule </a:t>
            </a:r>
            <a:r>
              <a:rPr lang="en-US" sz="1600" b="1" dirty="0">
                <a:solidFill>
                  <a:schemeClr val="tx1"/>
                </a:solidFill>
              </a:rPr>
              <a:t>et</a:t>
            </a:r>
            <a:r>
              <a:rPr lang="en-US" sz="1600" dirty="0">
                <a:solidFill>
                  <a:schemeClr val="tx1"/>
                </a:solidFill>
              </a:rPr>
              <a:t> l’intonation.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La classe devine l’émotion.</a:t>
            </a:r>
            <a:endParaRPr lang="en-US" sz="1600" dirty="0"/>
          </a:p>
        </p:txBody>
      </p:sp>
      <p:sp>
        <p:nvSpPr>
          <p:cNvPr id="27" name="Shape 19"/>
          <p:cNvSpPr/>
          <p:nvPr/>
        </p:nvSpPr>
        <p:spPr>
          <a:xfrm>
            <a:off x="7955280" y="4800600"/>
            <a:ext cx="3685032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8092440" y="48006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Autres phrases :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Ga zitten. · Wat doe je? · Heb je tijd?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La pause-café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À la machine à café, Karim demande plusieurs petits services à ses collègues.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demandez 3 services, avec au moins une particule par demande : </a:t>
            </a:r>
            <a:r>
              <a:rPr lang="en-US" sz="1700" i="1" dirty="0">
                <a:solidFill>
                  <a:schemeClr val="tx1"/>
                </a:solidFill>
              </a:rPr>
              <a:t>Heb je soms…? Kun je me even…?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Un·e collègue</a:t>
            </a:r>
            <a:r>
              <a:rPr lang="en-US" sz="1700" dirty="0">
                <a:solidFill>
                  <a:schemeClr val="tx1"/>
                </a:solidFill>
              </a:rPr>
              <a:t> : répondez avec une particule : </a:t>
            </a:r>
            <a:r>
              <a:rPr lang="en-US" sz="1700" i="1" dirty="0">
                <a:solidFill>
                  <a:schemeClr val="tx1"/>
                </a:solidFill>
              </a:rPr>
              <a:t>Ja hoor! · Dat lukt wel. · Zeg het maar.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Zeg, heb je even tijd? · Heb je soms een oplader? · Kun je me even helpen? · Ja hoor, geen probleem! · Dat lukt wel. · Hoe heet hij ook alweer? · Je komt toch ook?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bg1"/>
                </a:solidFill>
              </a:rPr>
              <a:t>6 SERVICES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165592" y="2121408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3" name="Image 0" descr="electric plu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4232" y="2231136"/>
            <a:ext cx="548640" cy="54864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211312" y="2807208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een oplader lenen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9902952" y="2121408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6" name="Image 1" descr="telephone recei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1592" y="2231136"/>
            <a:ext cx="548640" cy="54864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9948672" y="2807208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de telefoon opnemen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8165592" y="3465576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9" name="Image 2" descr="prin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4232" y="3575304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211312" y="4151376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een document printen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9902952" y="3465576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2" name="Image 3" descr="spiral calend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1592" y="3575304"/>
            <a:ext cx="548640" cy="54864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948672" y="4151376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een vergadering verzetten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165592" y="4809744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5" name="Image 4" descr="identification c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4232" y="4919472"/>
            <a:ext cx="548640" cy="548640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8211312" y="5495544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de naam van een klant</a:t>
            </a:r>
            <a:endParaRPr lang="en-US" sz="1100" dirty="0"/>
          </a:p>
        </p:txBody>
      </p:sp>
      <p:sp>
        <p:nvSpPr>
          <p:cNvPr id="37" name="Shape 29"/>
          <p:cNvSpPr/>
          <p:nvPr/>
        </p:nvSpPr>
        <p:spPr>
          <a:xfrm>
            <a:off x="9902952" y="4809744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5" descr="automob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51592" y="4919472"/>
            <a:ext cx="548640" cy="54864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9948672" y="5495544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een lift naar huis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bloc 5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Plus aimable : </a:t>
            </a:r>
            <a:r>
              <a:rPr lang="en-US" sz="2000" i="1" dirty="0">
                <a:solidFill>
                  <a:schemeClr val="tx1"/>
                </a:solidFill>
              </a:rPr>
              <a:t>Wacht!</a:t>
            </a:r>
            <a:r>
              <a:rPr lang="en-US" sz="2000" dirty="0">
                <a:solidFill>
                  <a:schemeClr val="tx1"/>
                </a:solidFill>
              </a:rPr>
              <a:t> · </a:t>
            </a:r>
            <a:r>
              <a:rPr lang="en-US" sz="2000" i="1" dirty="0">
                <a:solidFill>
                  <a:schemeClr val="tx1"/>
                </a:solidFill>
              </a:rPr>
              <a:t>Heb je een pen?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« Tu viens demain, </a:t>
            </a:r>
            <a:r>
              <a:rPr lang="en-US" sz="2000" b="1" dirty="0">
                <a:solidFill>
                  <a:schemeClr val="tx1"/>
                </a:solidFill>
              </a:rPr>
              <a:t>hein</a:t>
            </a:r>
            <a:r>
              <a:rPr lang="en-US" sz="2000" dirty="0">
                <a:solidFill>
                  <a:schemeClr val="tx1"/>
                </a:solidFill>
              </a:rPr>
              <a:t> ? »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Placez </a:t>
            </a:r>
            <a:r>
              <a:rPr lang="en-US" sz="2000" i="1" dirty="0">
                <a:solidFill>
                  <a:schemeClr val="tx1"/>
                </a:solidFill>
              </a:rPr>
              <a:t>even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Kun je me helpen?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Reconnaître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Nuancer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Le ton juste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Bloc 5 is klaar.</a:t>
            </a:r>
            <a:r>
              <a:rPr lang="en-US" sz="1800" dirty="0">
                <a:solidFill>
                  <a:schemeClr val="bg1"/>
                </a:solidFill>
              </a:rPr>
              <a:t> — Volgende stap : bloc 6, M25 </a:t>
            </a:r>
            <a:r>
              <a:rPr lang="en-US" sz="1800" i="1" dirty="0">
                <a:solidFill>
                  <a:schemeClr val="bg1"/>
                </a:solidFill>
              </a:rPr>
              <a:t>Hoe laat is het?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5994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BLOCS 1 À 5 · 24 MODULES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19472"/>
            <a:ext cx="828675" cy="41148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19472"/>
            <a:ext cx="8286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M1–5</a:t>
            </a:r>
            <a:endParaRPr lang="en-US" sz="900" dirty="0"/>
          </a:p>
        </p:txBody>
      </p:sp>
      <p:sp>
        <p:nvSpPr>
          <p:cNvPr id="39" name="Shape 26"/>
          <p:cNvSpPr/>
          <p:nvPr/>
        </p:nvSpPr>
        <p:spPr>
          <a:xfrm>
            <a:off x="7823835" y="4919472"/>
            <a:ext cx="828675" cy="41148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7823835" y="4919472"/>
            <a:ext cx="8286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M6–10</a:t>
            </a:r>
            <a:endParaRPr lang="en-US" sz="900" dirty="0"/>
          </a:p>
        </p:txBody>
      </p:sp>
      <p:sp>
        <p:nvSpPr>
          <p:cNvPr id="41" name="Shape 28"/>
          <p:cNvSpPr/>
          <p:nvPr/>
        </p:nvSpPr>
        <p:spPr>
          <a:xfrm>
            <a:off x="8698230" y="4919472"/>
            <a:ext cx="828675" cy="41148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8698230" y="4919472"/>
            <a:ext cx="8286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M11–15</a:t>
            </a:r>
            <a:endParaRPr lang="en-US" sz="900" dirty="0"/>
          </a:p>
        </p:txBody>
      </p:sp>
      <p:sp>
        <p:nvSpPr>
          <p:cNvPr id="43" name="Shape 30"/>
          <p:cNvSpPr/>
          <p:nvPr/>
        </p:nvSpPr>
        <p:spPr>
          <a:xfrm>
            <a:off x="9572625" y="4919472"/>
            <a:ext cx="662940" cy="411480"/>
          </a:xfrm>
          <a:prstGeom prst="roundRect">
            <a:avLst>
              <a:gd name="adj" fmla="val 13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9572625" y="4919472"/>
            <a:ext cx="6629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M16–19</a:t>
            </a:r>
            <a:endParaRPr lang="en-US" sz="900" dirty="0"/>
          </a:p>
        </p:txBody>
      </p:sp>
      <p:sp>
        <p:nvSpPr>
          <p:cNvPr id="45" name="Shape 32"/>
          <p:cNvSpPr/>
          <p:nvPr/>
        </p:nvSpPr>
        <p:spPr>
          <a:xfrm>
            <a:off x="10281285" y="4919472"/>
            <a:ext cx="828675" cy="41148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3"/>
          <p:cNvSpPr txBox="1"/>
          <p:nvPr/>
        </p:nvSpPr>
        <p:spPr>
          <a:xfrm>
            <a:off x="10281285" y="4919472"/>
            <a:ext cx="8286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M20–24</a:t>
            </a:r>
            <a:endParaRPr lang="en-US" sz="900" dirty="0"/>
          </a:p>
        </p:txBody>
      </p:sp>
      <p:pic>
        <p:nvPicPr>
          <p:cNvPr id="47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01400" y="4846320"/>
            <a:ext cx="502920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24 — Nou, toch, maar… — Les particules modales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2026-10-06T08:28:18Z</dcterms:created>
  <dcterms:modified xsi:type="dcterms:W3CDTF">2026-10-06T08:28:18Z</dcterms:modified>
</cp:coreProperties>
</file>