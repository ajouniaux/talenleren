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notesMasterIdLst>
    <p:notesMasterId r:id="rId8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e d’emploi" id="{531324c9-0f16-c51d-e7a1-41788ab84266}">
          <p14:sldIdLst>
            <p14:sldId id="257"/>
            <p14:sldId id="258"/>
          </p14:sldIdLst>
        </p14:section>
        <p14:section name="A1 · Découverte" id="{57bf89e5-c420-1111-89cb-dd2d4fbdd714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A2 · Survie" id="{2fc778c4-2f05-b968-d475-3c8645fc784f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B1 · Seuil" id="{af7cabfb-b3a5-fb0c-eabd-616574bc69aa}">
          <p14:sldIdLst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</p14:sldIdLst>
        </p14:section>
        <p14:section name="Variantes" id="{81d23907-6aa9-63fd-d25b-23d96df7fa8f}">
          <p14:sldIdLst>
            <p14:sldId id="33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Présenter le principe : une image, cinq critères, un modèle.
« In vijf zinnen » = en cinq phrases. Annoncez le défi : respecter les cinq critères… et trouver la meilleure chute.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Expliquer les quatre étapes et la correspondance couleur critère → bribe.
Insistez : le modèle n’est pas « la » réponse. Toute phrase qui respecte le critère est juste. Les apprenant·es peuvent ensuite surligner eux-mêmes et elles-mêmes, dans leur propre production, la bribe qui répond à chaque consigne.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Donner une grille simple, commune aux trois niveaux.
Une consigne est « respectée » si elle est présente et correctement employée (par exemple : « omdat » avec le verbe à la fin). Pour une évaluation formative, l’autoévaluation suffit : les apprenant·es cochent les cinq consignes avant de rendre.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Présenter les 8 contextes du niveau A1 et ce qu’on y évalue.
Les contextes sont indépendants : choisissez-les selon le thème du jour. Ils peuvent aussi servir d’évaluation finale (un contexte tiré au sort).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En terrasse : produire 5 phrases à l’oral en respectant les 5 critères.
Par deux : A décrit la scène et commande, B joue le serveur ou la serveuse (« Wat mag het zijn? »). Acceptez aussi « Ik neem… » pour la commande. « alstublieft » (vous) / « alsjeblieft » (tu). Pluriel du verbe : de koffie en de wafel kostEN.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En terrasse : produire 5 phrases à l’oral en respectant les 5 critères.
Par deux : A décrit la scène et commande, B joue le serveur ou la serveuse (« Wat mag het zijn? »). Acceptez aussi « Ik neem… » pour la commande. « alstublieft » (vous) / « alsjeblieft » (tu). Pluriel du verbe : de koffie en de wafel kostEN.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En terrasse : produire 5 phrases à l’oral en respectant les 5 critères.
Par deux : A décrit la scène et commande, B joue le serveur ou la serveuse (« Wat mag het zijn? »). Acceptez aussi « Ik neem… » pour la commande. « alstublieft » (vous) / « alsjeblieft » (tu). Pluriel du verbe : de koffie en de wafel kostEN.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Au marché : produire 5 phrases à l’écrit en respectant les 5 critères.
Vérifiez l’inversion : ✗ « Op zaterdag ik ben… ». Pluriel en -s après -el, -em, -en, -er non accentués (appels) et après certaines voyelles (auto’s, menu’s) ; en -en ailleurs (tomaat → tomaten, banaan → bananen). « er is » + singulier, « er zijn » + pluriel. Variante orale : jeu de rôle client·e / marchand·e.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Au marché : produire 5 phrases à l’écrit en respectant les 5 critères.
Vérifiez l’inversion : ✗ « Op zaterdag ik ben… ». Pluriel en -s après -el, -em, -en, -er non accentués (appels) et après certaines voyelles (auto’s, menu’s) ; en -en ailleurs (tomaat → tomaten, banaan → bananen). « er is » + singulier, « er zijn » + pluriel. Variante orale : jeu de rôle client·e / marchand·e.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Au marché : produire 5 phrases à l’écrit en respectant les 5 critères.
Vérifiez l’inversion : ✗ « Op zaterdag ik ben… ». Pluriel en -s après -el, -em, -en, -er non accentués (appels) et après certaines voyelles (auto’s, menu’s) ; en -en ailleurs (tomaat → tomaten, banaan → bananen). « er is » + singulier, « er zijn » + pluriel. Variante orale : jeu de rôle client·e / marchand·e.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Le nouveau collègue : produire 5 phrases à l’oral en respectant les 5 critères.
La 3e personne exige le -t (heet, komt, werkt, danst). « zijn » est ici le possessif (son, sa, ses) et non le verbe « être » : profitez-en pour distinguer les deux. Variante : présenter un·e camarade de classe après une mini-interview.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Le nouveau collègue : produire 5 phrases à l’oral en respectant les 5 critères.
La 3e personne exige le -t (heet, komt, werkt, danst). « zijn » est ici le possessif (son, sa, ses) et non le verbe « être » : profitez-en pour distinguer les deux. Variante : présenter un·e camarade de classe après une mini-interview.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Le nouveau collègue : produire 5 phrases à l’oral en respectant les 5 critères.
La 3e personne exige le -t (heet, komt, werkt, danst). « zijn » est ici le possessif (son, sa, ses) et non le verbe « être » : profitez-en pour distinguer les deux. Variante : présenter un·e camarade de classe après une mini-interview.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Mon logement : produire 5 phrases à l’écrit en respectant les 5 critères.
Qualificatif = devant le nom, avec -e (een grote keuken) ; attribut = après « zijn », sans -e (de woonkamer is gezellig). Attention : « een groot huis » (het-woord, indéfini) n’a pas de -e. « de bank » = le canapé (et la banque) ; en Flandre, on dit souvent « de zetel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Mon logement : produire 5 phrases à l’écrit en respectant les 5 critères.
Qualificatif = devant le nom, avec -e (een grote keuken) ; attribut = après « zijn », sans -e (de woonkamer is gezellig). Attention : « een groot huis » (het-woord, indéfini) n’a pas de -e. « de bank » = le canapé (et la banque) ; en Flandre, on dit souvent « de zetel ».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Mon logement : produire 5 phrases à l’écrit en respectant les 5 critères.
Qualificatif = devant le nom, avec -e (een grote keuken) ; attribut = après « zijn », sans -e (de woonkamer is gezellig). Attention : « een groot huis » (het-woord, indéfini) n’a pas de -e. « de bank » = le canapé (et la banque) ; en Flandre, on dit souvent « de zetel ».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Une photo de famille : produire 5 phrases à l’oral en respectant les 5 critères.
« lang haar » sans -e (het haar, indéfini) mais « blauwe ogen » avec -e (pluriel) : bonne occasion de revoir la règle. « niet » se place ici en fin de phrase (ik ken hem niet). Variante : les apprenant·es montrent une vraie photo sur leur téléphone.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Une photo de famille : produire 5 phrases à l’oral en respectant les 5 critères.
« lang haar » sans -e (het haar, indéfini) mais « blauwe ogen » avec -e (pluriel) : bonne occasion de revoir la règle. « niet » se place ici en fin de phrase (ik ken hem niet). Variante : les apprenant·es montrent une vraie photo sur leur téléphone.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Une photo de famille : produire 5 phrases à l’oral en respectant les 5 critères.
« lang haar » sans -e (het haar, indéfini) mais « blauwe ogen » avec -e (pluriel) : bonne occasion de revoir la règle. « niet » se place ici en fin de phrase (ik ken hem niet). Variante : les apprenant·es montrent une vraie photo sur leur téléphone.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Ma journée : produire 5 phrases à l’écrit en respectant les 5 critères.
Faites repérer les deux morceaux du verbe à particule : « ik bel… op » (opbellen). Inversion après un complément de temps en tête : om zeven uur drink ik, eerst lees ik, ’s avonds kook ik. « met de trein / met de bus / met de fiets », mais « te voet » (à pied).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Ma journée : produire 5 phrases à l’écrit en respectant les 5 critères.
Faites repérer les deux morceaux du verbe à particule : « ik bel… op » (opbellen). Inversion après un complément de temps en tête : om zeven uur drink ik, eerst lees ik, ’s avonds kook ik. « met de trein / met de bus / met de fiets », mais « te voet » (à pied).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Ma journée : produire 5 phrases à l’écrit en respectant les 5 critères.
Faites repérer les deux morceaux du verbe à particule : « ik bel… op » (opbellen). Inversion après un complément de temps en tête : om zeven uur drink ik, eerst lees ik, ’s avonds kook ik. « met de trein / met de bus / met de fiets », mais « te voet » (à pied).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La météo et mes vêtements : produire 5 phrases à l’écrit en respectant les 5 critères.
Verbes météo impersonnels : het regent, het waait, het sneeuwt, het vriest (mais : de zon schijnt). « want » + ordre normal (want ik wil…). Futur proche : gaan + infinitif à la fin de la phrase. Variante orale : un bulletin météo présenté devant la classe.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La météo et mes vêtements : produire 5 phrases à l’écrit en respectant les 5 critères.
Verbes météo impersonnels : het regent, het waait, het sneeuwt, het vriest (mais : de zon schijnt). « want » + ordre normal (want ik wil…). Futur proche : gaan + infinitif à la fin de la phrase. Variante orale : un bulletin météo présenté devant la classe.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La météo et mes vêtements : produire 5 phrases à l’écrit en respectant les 5 critères.
Verbes météo impersonnels : het regent, het waait, het sneeuwt, het vriest (mais : de zon schijnt). « want » + ordre normal (want ik wil…). Futur proche : gaan + infinitif à la fin de la phrase. Variante orale : un bulletin météo présenté devant la classe.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Chez le médecin : produire 5 phrases à l’oral en respectant les 5 critères.
Jeu de rôle par deux (médecin / patient·e). Le médecin peut répondre avec « U moet rusten » ou « Neem deze siroop ». « sinds » + présent (ik hoest sinds maandag = je tousse depuis lundi). Variante : changer la partie du corps à chaque tour (buik, rug, oor…).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Chez le médecin : produire 5 phrases à l’oral en respectant les 5 critères.
Jeu de rôle par deux (médecin / patient·e). Le médecin peut répondre avec « U moet rusten » ou « Neem deze siroop ». « sinds » + présent (ik hoest sinds maandag = je tousse depuis lundi). Variante : changer la partie du corps à chaque tour (buik, rug, oor…).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A1 · Chez le médecin : produire 5 phrases à l’oral en respectant les 5 critères.
Jeu de rôle par deux (médecin / patient·e). Le médecin peut répondre avec « U moet rusten » ou « Neem deze siroop ». « sinds » + présent (ik hoest sinds maandag = je tousse depuis lundi). Variante : changer la partie du corps à chaque tour (buik, rug, oor…).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Présenter les 8 contextes du niveau A2 et ce qu’on y évalue.
Les contextes sont indépendants : choisissez-les selon le thème du jour. Ils peuvent aussi servir d’évaluation finale (un contexte tiré au sort).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Un week-end à la mer : produire 5 phrases à l’écrit en respectant les 5 critères.
Gaan, komen et les verbes de mouvement avec une destination → zijn (ik ben naar Oostende gegaan) ; sans destination → hebben (we hebben op het strand gewandeld), comme la plupart des autres verbes. Après « daarom », le verbe vient en 2e position (daarom hebben we…). « in de file staan » = être dans les bouchons. Faites souligner les participes (ge- … -d / -t / -en).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Un week-end à la mer : produire 5 phrases à l’écrit en respectant les 5 critères.
Gaan, komen et les verbes de mouvement avec une destination → zijn (ik ben naar Oostende gegaan) ; sans destination → hebben (we hebben op het strand gewandeld), comme la plupart des autres verbes. Après « daarom », le verbe vient en 2e position (daarom hebben we…). « in de file staan » = être dans les bouchons. Faites souligner les participes (ge- … -d / -t / -en).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Un week-end à la mer : produire 5 phrases à l’écrit en respectant les 5 critères.
Gaan, komen et les verbes de mouvement avec une destination → zijn (ik ben naar Oostende gegaan) ; sans destination → hebben (we hebben op het strand gewandeld), comme la plupart des autres verbes. Après « daarom », le verbe vient en 2e position (daarom hebben we…). « in de file staan » = être dans les bouchons. Faites souligner les participes (ge- … -d / -t / -en).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Mon nouvel appartement : produire 5 phrases à l’écrit en respectant les 5 critères.
« ben … verhuisd » : verhuizen (changer de lieu) fait son perfectum avec zijn. « want » + ordre normal (want ik woon nu…) ; « omdat » + verbe à la fin (omdat ik nu … woon). Qualificatifs avec -e devant le nom (een lichte, ruime woonkamer) ; attribut sans -e (de sfeer is gezellig). « boven de bank hangt… » : inversion après le complément de lieu.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Mon nouvel appartement : produire 5 phrases à l’écrit en respectant les 5 critères.
« ben … verhuisd » : verhuizen (changer de lieu) fait son perfectum avec zijn. « want » + ordre normal (want ik woon nu…) ; « omdat » + verbe à la fin (omdat ik nu … woon). Qualificatifs avec -e devant le nom (een lichte, ruime woonkamer) ; attribut sans -e (de sfeer is gezellig). « boven de bank hangt… » : inversion après le complément de lieu.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Mon nouvel appartement : produire 5 phrases à l’écrit en respectant les 5 critères.
« ben … verhuisd » : verhuizen (changer de lieu) fait son perfectum avec zijn. « want » + ordre normal (want ik woon nu…) ; « omdat » + verbe à la fin (omdat ik nu … woon). Qualificatifs avec -e devant le nom (een lichte, ruime woonkamer) ; attribut sans -e (de sfeer is gezellig). « boven de bank hangt… » : inversion après le complément de lieu.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Une invitation : produire 5 phrases à l’écrit en respectant les 5 critères.
Diminutifs : feest → feestje, bericht → berichtje, kaart → kaartje ; -tje après une voyelle (ei → eitje) ou après -l / -n / -r / -w précédé d’une voyelle longue (stoel → stoeltje, deur → deurtje). Impératif = radical (neem, kom, ga) ; poli : « Neemt u… ». Avec « als », les verbes vont à la fin (als je niet kunt komen) et la principale commence par le verbe (stuur me dan…). Variante : l’invitation sous forme de message vocal.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Une invitation : produire 5 phrases à l’écrit en respectant les 5 critères.
Diminutifs : feest → feestje, bericht → berichtje, kaart → kaartje ; -tje après une voyelle (ei → eitje) ou après -l / -n / -r / -w précédé d’une voyelle longue (stoel → stoeltje, deur → deurtje). Impératif = radical (neem, kom, ga) ; poli : « Neemt u… ». Avec « als », les verbes vont à la fin (als je niet kunt komen) et la principale commence par le verbe (stuur me dan…). Variante : l’invitation sous forme de message vocal.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Une invitation : produire 5 phrases à l’écrit en respectant les 5 critères.
Diminutifs : feest → feestje, bericht → berichtje, kaart → kaartje ; -tje après une voyelle (ei → eitje) ou après -l / -n / -r / -w précédé d’une voyelle longue (stoel → stoeltje, deur → deurtje). Impératif = radical (neem, kom, ga) ; poli : « Neemt u… ». Avec « als », les verbes vont à la fin (als je niet kunt komen) et la principale commence par le verbe (stuur me dan…). Variante : l’invitation sous forme de message vocal.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Le train a du retard : produire 5 phrases à l’oral en respectant les 5 critères.
« Met Karim » : formule du téléphone pour se présenter. Position : ik sta op het perron / ik zit in de trein. « vertrekken » fait son perfectum avec zijn (is vertrokken). Faites enregistrer le message sur le téléphone : c’est une vraie tâche orale. Variante : le ou la collègue rappelle et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Le train a du retard : produire 5 phrases à l’oral en respectant les 5 critères.
« Met Karim » : formule du téléphone pour se présenter. Position : ik sta op het perron / ik zit in de trein. « vertrekken » fait son perfectum avec zijn (is vertrokken). Faites enregistrer le message sur le téléphone : c’est une vraie tâche orale. Variante : le ou la collègue rappelle et répond.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Le train a du retard : produire 5 phrases à l’oral en respectant les 5 critères.
« Met Karim » : formule du téléphone pour se présenter. Position : ik sta op het perron / ik zit in de trein. « vertrekken » fait son perfectum avec zijn (is vertrokken). Faites enregistrer le message sur le téléphone : c’est une vraie tâche orale. Variante : le ou la collègue rappelle et répond.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Acheter un cadeau : produire 5 phrases à l’oral en respectant les 5 critères.
Comparatif : adjectif + -er (+ dan) ; superlatif : de / het + adjectif + -st(e). Démonstratifs : deze / die avec les de-woorden et le pluriel, dit / dat avec les het-woorden ; deze / dit = près, die / dat = loin. Après « dus », les deux ordres sont possibles (dus ik neem / dus neem ik). Jeu de rôle client·e / vendeur·euse.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Acheter un cadeau : produire 5 phrases à l’oral en respectant les 5 critères.
Comparatif : adjectif + -er (+ dan) ; superlatif : de / het + adjectif + -st(e). Démonstratifs : deze / die avec les de-woorden et le pluriel, dit / dat avec les het-woorden ; deze / dit = près, die / dat = loin. Après « dus », les deux ordres sont possibles (dus ik neem / dus neem ik). Jeu de rôle client·e / vendeur·euse.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Acheter un cadeau : produire 5 phrases à l’oral en respectant les 5 critères.
Comparatif : adjectif + -er (+ dan) ; superlatif : de / het + adjectif + -st(e). Démonstratifs : deze / die avec les de-woorden et le pluriel, dit / dat avec les het-woorden ; deze / dit = près, die / dat = loin. Après « dus », les deux ordres sont possibles (dus ik neem / dus neem ik). Jeu de rôle client·e / vendeur·euse.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À la pharmacie : produire 5 phrases à l’oral en respectant les 5 critères.
« al drie dagen » + présent = depuis trois jours (et ça continue). Pronominal : ik voel me, je voelt je, hij voelt zich. Registre poli : « u » avec le ou la pharmacien·ne. Variante : la personne à la pharmacie donne trois conseils à l’impératif (neem…, drink…, blijf…).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À la pharmacie : produire 5 phrases à l’oral en respectant les 5 critères.
« al drie dagen » + présent = depuis trois jours (et ça continue). Pronominal : ik voel me, je voelt je, hij voelt zich. Registre poli : « u » avec le ou la pharmacien·ne. Variante : la personne à la pharmacie donne trois conseils à l’impératif (neem…, drink…, blijf…).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À la pharmacie : produire 5 phrases à l’oral en respectant les 5 critères.
« al drie dagen » + présent = depuis trois jours (et ça continue). Pronominal : ik voel me, je voelt je, hij voelt zich. Registre poli : « u » avec le ou la pharmacien·ne. Variante : la personne à la pharmacie donne trois conseils à l’impératif (neem…, drink…, blijf…).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Une carte postale : produire 5 phrases à l’écrit en respectant les 5 critères.
Participe des verbes à particule : ge- entre la particule et le radical (opstaan → opgestaan, aankomen → aangekomen). « was / had » : imparfait de zijn et hebben, très utile pour décrire. Après « misschien », inversion (misschien blijf ik hier). Variante : écrire une vraie carte et la lire à voix haute.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Une carte postale : produire 5 phrases à l’écrit en respectant les 5 critères.
Participe des verbes à particule : ge- entre la particule et le radical (opstaan → opgestaan, aankomen → aangekomen). « was / had » : imparfait de zijn et hebben, très utile pour décrire. Après « misschien », inversion (misschien blijf ik hier). Variante : écrire une vraie carte et la lire à voix haute.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Une carte postale : produire 5 phrases à l’écrit en respectant les 5 critères.
Participe des verbes à particule : ge- entre la particule et le radical (opstaan → opgestaan, aankomen → aangekomen). « was / had » : imparfait de zijn et hebben, très utile pour décrire. Après « misschien », inversion (misschien blijf ik hier). Variante : écrire une vraie carte et la lire à voix haute.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Mon premier jour de travail : produire 5 phrases à l’oral en respectant les 5 critères.
« beginnen » fait son perfectum avec zijn (ik ben begonnen). Imparfait des modaux : moest, kon, wilde / wou, mocht. Après « dat », le verbe va à la fin. « Eigenlijk » (en fait) en tête → inversion (eigenlijk weet ik…). Variante : la conversation au téléphone avec un·e ami·e curieux·euse.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Mon premier jour de travail : produire 5 phrases à l’oral en respectant les 5 critères.
« beginnen » fait son perfectum avec zijn (ik ben begonnen). Imparfait des modaux : moest, kon, wilde / wou, mocht. Après « dat », le verbe va à la fin. « Eigenlijk » (en fait) en tête → inversion (eigenlijk weet ik…). Variante : la conversation au téléphone avec un·e ami·e curieux·euse.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A2 · Mon premier jour de travail : produire 5 phrases à l’oral en respectant les 5 critères.
« beginnen » fait son perfectum avec zijn (ik ben begonnen). Imparfait des modaux : moest, kon, wilde / wou, mocht. Après « dat », le verbe va à la fin. « Eigenlijk » (en fait) en tête → inversion (eigenlijk weet ik…). Variante : la conversation au téléphone avec un·e ami·e curieux·euse.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Présenter les 8 contextes du niveau B1 et ce qu’on y évalue.
Les contextes sont indépendants : choisissez-les selon le thème du jour. Ils peuvent aussi servir d’évaluation finale (un contexte tiré au sort).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Une réclamation : produire 5 phrases à l’écrit en respectant les 5 critères.
Registre formel : u / uw, « Geachte heer, mevrouw », « Met vriendelijke groeten ». Passif : worden + participe (werd geleverd = fut livré). « indien » = « als » formel, verbe à la fin ; la principale qui suit commence par le verbe (…, vraag ik). « dan ook » = par conséquent.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Une réclamation : produire 5 phrases à l’écrit en respectant les 5 critères.
Registre formel : u / uw, « Geachte heer, mevrouw », « Met vriendelijke groeten ». Passif : worden + participe (werd geleverd = fut livré). « indien » = « als » formel, verbe à la fin ; la principale qui suit commence par le verbe (…, vraag ik). « dan ook » = par conséquent.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Une réclamation : produire 5 phrases à l’écrit en respectant les 5 critères.
Registre formel : u / uw, « Geachte heer, mevrouw », « Met vriendelijke groeten ». Passif : worden + participe (werd geleverd = fut livré). « indien » = « als » formel, verbe à la fin ; la principale qui suit commence par le verbe (…, vraag ik). « dan ook » = par conséquent.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L’entretien d’embauche : produire 5 phrases à l’oral en respectant les 5 critères.
Plus-que-parfait : had / was + participe (nadat ik … had behaald). Verbe à particule : aan te gaan (te entre la particule et le verbe). Après une subordonnée en tête, la principale commence par le verbe (…, werkte ik / …, leer ik). Jeu de rôle recruteur·euse / candidat·e, avec deux questions de relance.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L’entretien d’embauche : produire 5 phrases à l’oral en respectant les 5 critères.
Plus-que-parfait : had / was + participe (nadat ik … had behaald). Verbe à particule : aan te gaan (te entre la particule et le verbe). Après une subordonnée en tête, la principale commence par le verbe (…, werkte ik / …, leer ik). Jeu de rôle recruteur·euse / candidat·e, avec deux questions de relance.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L’entretien d’embauche : produire 5 phrases à l’oral en respectant les 5 critères.
Plus-que-parfait : had / was + participe (nadat ik … had behaald). Verbe à particule : aan te gaan (te entre la particule et le verbe). Après une subordonnée en tête, la principale commence par le verbe (…, werkte ik / …, leer ik). Jeu de rôle recruteur·euse / candidat·e, avec deux questions de relance.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On a déménagé ! : produire 5 phrases à l’écrit en respectant les 5 critères.
« toen » + passé (un moment précis) ≠ « als » (présent, futur ou répétition). Après la subordonnée, la principale commence par le verbe (…, regende het). « erin » remplace « in de doos » (er + préposition). « het regent pijpenstelen » = il pleut des cordes.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On a déménagé ! : produire 5 phrases à l’écrit en respectant les 5 critères.
« toen » + passé (un moment précis) ≠ « als » (présent, futur ou répétition). Après la subordonnée, la principale commence par le verbe (…, regende het). « erin » remplace « in de doos » (er + préposition). « het regent pijpenstelen » = il pleut des cordes.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On a déménagé ! : produire 5 phrases à l’écrit en respectant les 5 critères.
« toen » + passé (un moment précis) ≠ « als » (présent, futur ou répétition). Après la subordonnée, la principale commence par le verbe (…, regende het). « erin » remplace « in de doos » (er + préposition). « het regent pijpenstelen » = il pleut des cordes.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Un accident à vélo : produire 5 phrases à l’oral en respectant les 5 critères.
OVT pour le décor (stond, fietste) et pour les événements d’un récit. Discours indirect : « ik heb haar niet gezien » → « hij zei dat hij haar niet had gezien ». « zonder te kijken » = sans regarder. Variante : un·e apprenant·e joue le policier ou la policière et pose des questions (Hoe laat? Waar precies?).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Un accident à vélo : produire 5 phrases à l’oral en respectant les 5 critères.
OVT pour le décor (stond, fietste) et pour les événements d’un récit. Discours indirect : « ik heb haar niet gezien » → « hij zei dat hij haar niet had gezien ». « zonder te kijken » = sans regarder. Variante : un·e apprenant·e joue le policier ou la policière et pose des questions (Hoe laat? Waar precies?).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Un accident à vélo : produire 5 phrases à l’oral en respectant les 5 critères.
OVT pour le décor (stond, fietste) et pour les événements d’un récit. Discours indirect : « ik heb haar niet gezien » → « hij zei dat hij haar niet had gezien ». « zonder te kijken » = sans regarder. Variante : un·e apprenant·e joue le policier ou la policière et pose des questions (Hoe laat? Waar precies?).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Télétravail : pour ou contre ? : produire 5 phrases à l’oral en respectant les 5 critères.
Connecteurs suivis d’une inversion : volgens mij, enerzijds, anderzijds, bovendien (verbe en 2e position). Hypothèse : als + zou(den) …, zou + infinitif (on peut aussi dire : als we … werkten, zou…). Variante : débat en deux équipes, chaque phrase dite par un·e membre différent·e.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Télétravail : pour ou contre ? : produire 5 phrases à l’oral en respectant les 5 critères.
Connecteurs suivis d’une inversion : volgens mij, enerzijds, anderzijds, bovendien (verbe en 2e position). Hypothèse : als + zou(den) …, zou + infinitif (on peut aussi dire : als we … werkten, zou…). Variante : débat en deux équipes, chaque phrase dite par un·e membre différent·e.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Télétravail : pour ou contre ? : produire 5 phrases à l’oral en respectant les 5 critères.
Connecteurs suivis d’une inversion : volgens mij, enerzijds, anderzijds, bovendien (verbe en 2e position). Hypothèse : als + zou(den) …, zou + infinitif (on peut aussi dire : als we … werkten, zou…). Variante : débat en deux équipes, chaque phrase dite par un·e membre différent·e.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Un avis sur un restaurant : produire 5 phrases à l’écrit en respectant les 5 critères.
Relative : le verbe va à la fin (een restaurant dat … ligt). « waarop » = sur lequel (het terras waarop…) ; à l’oral, on entend aussi « waar je … op kunt zitten ». « echter » se place souvent après le verbe (de bediening was echter…). Variante : chaque apprenant·e donne une note de 1 à 5 étoiles et la justifie.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Un avis sur un restaurant : produire 5 phrases à l’écrit en respectant les 5 critères.
Relative : le verbe va à la fin (een restaurant dat … ligt). « waarop » = sur lequel (het terras waarop…) ; à l’oral, on entend aussi « waar je … op kunt zitten ». « echter » se place souvent après le verbe (de bediening was echter…). Variante : chaque apprenant·e donne une note de 1 à 5 étoiles et la justifie.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Un avis sur un restaurant : produire 5 phrases à l’écrit en respectant les 5 critères.
Relative : le verbe va à la fin (een restaurant dat … ligt). « waarop » = sur lequel (het terras waarop…) ; à l’oral, on entend aussi « waar je … op kunt zitten ». « echter » se place souvent après le verbe (de bediening was echter…). Variante : chaque apprenant·e donne une note de 1 à 5 étoiles et la justifie.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Vivre durablement : produire 5 phrases à l’oral en respectant les 5 critères.
« om … te » (but) : te + infinitif à la fin ; « zodat » (conséquence) + verbe à la fin. Conseil : je zou / u zou / iedereen zou … moeten + infinitif. Variante : chaque groupe prépare cinq résolutions et la classe vote pour la plus réaliste… et la plus folle.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Vivre durablement : produire 5 phrases à l’oral en respectant les 5 critères.
« om … te » (but) : te + infinitif à la fin ; « zodat » (conséquence) + verbe à la fin. Conseil : je zou / u zou / iedereen zou … moeten + infinitif. Variante : chaque groupe prépare cinq résolutions et la classe vote pour la plus réaliste… et la plus folle.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Vivre durablement : produire 5 phrases à l’oral en respectant les 5 critères.
« om … te » (but) : te + infinitif à la fin ; « zodat » (conséquence) + verbe à la fin. Conseil : je zou / u zou / iedereen zou … moeten + infinitif. Variante : chaque groupe prépare cinq résolutions et la classe vote pour la plus réaliste… et la plus folle.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Des voisins bruyants : produire 5 phrases à l’écrit en respectant les 5 critères.
Passif impersonnel (sans sujet) : er wordt (veel) gefeest / gedanst (on fait la fête / on danse). Dans « er wordt muziek gespeeld », muziek est le sujet : c’est un passif ordinaire avec « er ». Politesse : « Zouden jullie … kunnen … ? » est plus doux que « Kunnen jullie… ? ». « luide muziek » : qualificatif + -e. Variante : les voisin·es répondent par un petit mot.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Des voisins bruyants : produire 5 phrases à l’écrit en respectant les 5 critères.
Passif impersonnel (sans sujet) : er wordt (veel) gefeest / gedanst (on fait la fête / on danse). Dans « er wordt muziek gespeeld », muziek est le sujet : c’est un passif ordinaire avec « er ». Politesse : « Zouden jullie … kunnen … ? » est plus doux que « Kunnen jullie… ? ». « luide muziek » : qualificatif + -e. Variante : les voisin·es répondent par un petit mot.
GRANDE IMAGE — laissez les apprenant·es observer et nommer ce qu’ils et elles voient avant d’écrire : Waar zijn we? Wie zie je? Wat gebeurt 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B1 · Des voisins bruyants : produire 5 phrases à l’écrit en respectant les 5 critères.
Passif impersonnel (sans sujet) : er wordt (veel) gefeest / gedanst (on fait la fête / on danse). Dans « er wordt muziek gespeeld », muziek est le sujet : c’est un passif ordinaire avec « er ». Politesse : « Zouden jullie … kunnen … ? » est plus doux que « Kunnen jullie… ? ». « luide muziek » : qualificatif + -e. Variante : les voisin·es répondent par un petit mot.
EXEMPLE — chaque étiquette verte renvoie à une consigne (Zin 1 à Zin 5).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Varier les modalités pour réutiliser les 24 contextes.
« Devinez la consigne » fonctionne très bien en révision : projetez seulement l’image, faites lire une production, et la classe reconstitue la consigne. « Niveau supérieur » : les images A1 se prêtent aux consignes A2 et B1 (et inversement, pour différencier dans un groupe hétérogène).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· A1 · A2 · B1 · In vijf zinnen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· A1 · A2 · B1 · In vijf zinnen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· A1 · A2 · B1 · Production guidée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Z_P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544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</a:rPr>
              <a:t>Néerlandais · A1 · A2 · B1 · In vijf zinnen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rgbClr val="2B2F38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Z_LE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544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</a:rPr>
              <a:t>Néerlandais · A1 · A2 · B1 · In vijf zinnen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2B2F38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Z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544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</a:rPr>
              <a:t>Néerlandais · A1 · A2 · B1 · Production guidée · A. Jouniaux · IRAM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554480" y="1234440"/>
            <a:ext cx="5212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2B2F38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jpg"/><Relationship Id="rId4" Type="http://schemas.openxmlformats.org/officeDocument/2006/relationships/image" Target="../media/image-4-4.png"/><Relationship Id="rId5" Type="http://schemas.openxmlformats.org/officeDocument/2006/relationships/image" Target="../media/image-4-5.jpg"/><Relationship Id="rId6" Type="http://schemas.openxmlformats.org/officeDocument/2006/relationships/image" Target="../media/image-4-6.png"/><Relationship Id="rId7" Type="http://schemas.openxmlformats.org/officeDocument/2006/relationships/image" Target="../media/image-4-7.jpg"/><Relationship Id="rId8" Type="http://schemas.openxmlformats.org/officeDocument/2006/relationships/image" Target="../media/image-4-8.png"/><Relationship Id="rId9" Type="http://schemas.openxmlformats.org/officeDocument/2006/relationships/image" Target="../media/image-4-9.jpg"/><Relationship Id="rId10" Type="http://schemas.openxmlformats.org/officeDocument/2006/relationships/image" Target="../media/image-4-10.png"/><Relationship Id="rId11" Type="http://schemas.openxmlformats.org/officeDocument/2006/relationships/image" Target="../media/image-4-11.jpg"/><Relationship Id="rId12" Type="http://schemas.openxmlformats.org/officeDocument/2006/relationships/image" Target="../media/image-4-12.png"/><Relationship Id="rId13" Type="http://schemas.openxmlformats.org/officeDocument/2006/relationships/image" Target="../media/image-4-13.jpg"/><Relationship Id="rId14" Type="http://schemas.openxmlformats.org/officeDocument/2006/relationships/image" Target="../media/image-4-14.png"/><Relationship Id="rId15" Type="http://schemas.openxmlformats.org/officeDocument/2006/relationships/image" Target="../media/image-4-15.jp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5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png"/><Relationship Id="rId3" Type="http://schemas.openxmlformats.org/officeDocument/2006/relationships/image" Target="../media/image-29-3.jpg"/><Relationship Id="rId4" Type="http://schemas.openxmlformats.org/officeDocument/2006/relationships/image" Target="../media/image-29-4.png"/><Relationship Id="rId5" Type="http://schemas.openxmlformats.org/officeDocument/2006/relationships/image" Target="../media/image-29-5.jpg"/><Relationship Id="rId6" Type="http://schemas.openxmlformats.org/officeDocument/2006/relationships/image" Target="../media/image-29-6.png"/><Relationship Id="rId7" Type="http://schemas.openxmlformats.org/officeDocument/2006/relationships/image" Target="../media/image-29-7.jpg"/><Relationship Id="rId8" Type="http://schemas.openxmlformats.org/officeDocument/2006/relationships/image" Target="../media/image-29-8.png"/><Relationship Id="rId9" Type="http://schemas.openxmlformats.org/officeDocument/2006/relationships/image" Target="../media/image-29-9.jpg"/><Relationship Id="rId10" Type="http://schemas.openxmlformats.org/officeDocument/2006/relationships/image" Target="../media/image-29-10.png"/><Relationship Id="rId11" Type="http://schemas.openxmlformats.org/officeDocument/2006/relationships/image" Target="../media/image-29-11.jpg"/><Relationship Id="rId12" Type="http://schemas.openxmlformats.org/officeDocument/2006/relationships/image" Target="../media/image-29-12.png"/><Relationship Id="rId13" Type="http://schemas.openxmlformats.org/officeDocument/2006/relationships/image" Target="../media/image-29-13.jpg"/><Relationship Id="rId14" Type="http://schemas.openxmlformats.org/officeDocument/2006/relationships/image" Target="../media/image-29-14.png"/><Relationship Id="rId15" Type="http://schemas.openxmlformats.org/officeDocument/2006/relationships/image" Target="../media/image-29-15.jpg"/><Relationship Id="rId16" Type="http://schemas.openxmlformats.org/officeDocument/2006/relationships/image" Target="../media/image-29-16.png"/><Relationship Id="rId17" Type="http://schemas.openxmlformats.org/officeDocument/2006/relationships/slideLayout" Target="../slideLayouts/slideLayout5.xml"/><Relationship Id="rId1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image" Target="../media/image-54-2.png"/><Relationship Id="rId3" Type="http://schemas.openxmlformats.org/officeDocument/2006/relationships/image" Target="../media/image-54-3.jpg"/><Relationship Id="rId4" Type="http://schemas.openxmlformats.org/officeDocument/2006/relationships/image" Target="../media/image-54-4.png"/><Relationship Id="rId5" Type="http://schemas.openxmlformats.org/officeDocument/2006/relationships/image" Target="../media/image-54-5.jpg"/><Relationship Id="rId6" Type="http://schemas.openxmlformats.org/officeDocument/2006/relationships/image" Target="../media/image-54-6.png"/><Relationship Id="rId7" Type="http://schemas.openxmlformats.org/officeDocument/2006/relationships/image" Target="../media/image-54-7.jpg"/><Relationship Id="rId8" Type="http://schemas.openxmlformats.org/officeDocument/2006/relationships/image" Target="../media/image-54-8.png"/><Relationship Id="rId9" Type="http://schemas.openxmlformats.org/officeDocument/2006/relationships/image" Target="../media/image-54-9.jpg"/><Relationship Id="rId10" Type="http://schemas.openxmlformats.org/officeDocument/2006/relationships/image" Target="../media/image-54-10.png"/><Relationship Id="rId11" Type="http://schemas.openxmlformats.org/officeDocument/2006/relationships/image" Target="../media/image-54-11.jpg"/><Relationship Id="rId12" Type="http://schemas.openxmlformats.org/officeDocument/2006/relationships/image" Target="../media/image-54-12.png"/><Relationship Id="rId13" Type="http://schemas.openxmlformats.org/officeDocument/2006/relationships/image" Target="../media/image-54-13.jpg"/><Relationship Id="rId14" Type="http://schemas.openxmlformats.org/officeDocument/2006/relationships/image" Target="../media/image-54-14.png"/><Relationship Id="rId15" Type="http://schemas.openxmlformats.org/officeDocument/2006/relationships/image" Target="../media/image-54-15.jpg"/><Relationship Id="rId16" Type="http://schemas.openxmlformats.org/officeDocument/2006/relationships/image" Target="../media/image-54-16.png"/><Relationship Id="rId17" Type="http://schemas.openxmlformats.org/officeDocument/2006/relationships/slideLayout" Target="../slideLayouts/slideLayout5.xml"/><Relationship Id="rId18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image" Target="../media/image-70-2.png"/><Relationship Id="rId3" Type="http://schemas.openxmlformats.org/officeDocument/2006/relationships/image" Target="../media/image-7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jp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jp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image" Target="../media/image-79-3.png"/><Relationship Id="rId4" Type="http://schemas.openxmlformats.org/officeDocument/2006/relationships/image" Target="../media/image-79-4.png"/><Relationship Id="rId5" Type="http://schemas.openxmlformats.org/officeDocument/2006/relationships/image" Target="../media/image-79-5.png"/><Relationship Id="rId6" Type="http://schemas.openxmlformats.org/officeDocument/2006/relationships/image" Target="../media/image-79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12344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B2F38"/>
                </a:solidFill>
              </a:rPr>
              <a:t>In vijf zinnen</a:t>
            </a:r>
            <a:endParaRPr lang="en-US" sz="5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EF1F6"/>
          </a:solidFill>
          <a:ln w="28575">
            <a:solidFill>
              <a:srgbClr val="9AA6B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A2 · B1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72768" y="2560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écrite et orale guidée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572768" y="3017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contextes du quotidien · 1 image · 5 phrases · 1 modèle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572768" y="3794760"/>
            <a:ext cx="1536192" cy="566928"/>
          </a:xfrm>
          <a:prstGeom prst="roundRect">
            <a:avLst>
              <a:gd name="adj" fmla="val 22581"/>
            </a:avLst>
          </a:prstGeom>
          <a:solidFill>
            <a:srgbClr val="E6F4EA"/>
          </a:solidFill>
          <a:ln w="19050">
            <a:solidFill>
              <a:srgbClr val="6DBE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72768" y="379476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</a:t>
            </a:r>
            <a:r>
              <a:rPr lang="en-US" sz="160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36976" y="3794760"/>
            <a:ext cx="1536192" cy="566928"/>
          </a:xfrm>
          <a:prstGeom prst="roundRect">
            <a:avLst>
              <a:gd name="adj" fmla="val 22581"/>
            </a:avLst>
          </a:prstGeom>
          <a:solidFill>
            <a:srgbClr val="E4E8FB"/>
          </a:solidFill>
          <a:ln w="19050">
            <a:solidFill>
              <a:srgbClr val="F2A66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36976" y="379476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</a:t>
            </a:r>
            <a:r>
              <a:rPr lang="en-US" sz="160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901184" y="3794760"/>
            <a:ext cx="1536192" cy="566928"/>
          </a:xfrm>
          <a:prstGeom prst="roundRect">
            <a:avLst>
              <a:gd name="adj" fmla="val 22581"/>
            </a:avLst>
          </a:prstGeom>
          <a:solidFill>
            <a:srgbClr val="F4E8F6"/>
          </a:solidFill>
          <a:ln w="19050">
            <a:solidFill>
              <a:srgbClr val="B57FC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01184" y="379476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</a:t>
            </a:r>
            <a:r>
              <a:rPr lang="en-US" sz="160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572768" y="4709160"/>
            <a:ext cx="4846320" cy="731520"/>
          </a:xfrm>
          <a:prstGeom prst="roundRect">
            <a:avLst>
              <a:gd name="adj" fmla="val 17500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15" name="Image 0" descr="Com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491947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194560" y="47091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je tekst voor aan je partner. Wat denkt hij/zij daarvan?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 rot="-240000">
            <a:off x="7016191" y="706831"/>
            <a:ext cx="3341218" cy="214106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18" name="Image 1" descr="/home/user/talenleren/neerlandais1/generateur/img/vijfzinnen/terras_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40000">
            <a:off x="7086600" y="777240"/>
            <a:ext cx="3200400" cy="20002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 rot="300000">
            <a:off x="8664123" y="2171883"/>
            <a:ext cx="3245754" cy="2079894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20" name="Image 2" descr="/home/user/talenleren/neerlandais1/generateur/img/vijfzinnen/zee_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0000">
            <a:off x="8732520" y="2240280"/>
            <a:ext cx="3108960" cy="19431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 rot="-120000">
            <a:off x="6883055" y="3865535"/>
            <a:ext cx="3150291" cy="2018721"/>
          </a:xfrm>
          <a:prstGeom prst="roundRect">
            <a:avLst>
              <a:gd name="adj" fmla="val 1812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22" name="Image 3" descr="/home/user/talenleren/neerlandais1/generateur/img/vijfzinnen/buren_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20000">
            <a:off x="6949440" y="3931920"/>
            <a:ext cx="3017520" cy="1885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Hoe werkt het? Comment ça marche ?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EF1F6"/>
          </a:solidFill>
          <a:ln w="28575">
            <a:solidFill>
              <a:srgbClr val="9AA6B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d’emploi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554480" y="1417320"/>
            <a:ext cx="238887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783080" y="1645920"/>
            <a:ext cx="658368" cy="658368"/>
          </a:xfrm>
          <a:prstGeom prst="ellipse">
            <a:avLst/>
          </a:prstGeom>
          <a:solidFill>
            <a:srgbClr val="EAF5EC"/>
          </a:solidFill>
          <a:ln w="19050">
            <a:solidFill>
              <a:srgbClr val="5FA873"/>
            </a:solidFill>
            <a:prstDash val="solid"/>
          </a:ln>
        </p:spPr>
      </p:sp>
      <p:pic>
        <p:nvPicPr>
          <p:cNvPr id="8" name="Image 0" descr="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72" y="1810512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348990" y="164592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5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1783080" y="2423160"/>
            <a:ext cx="19316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Kijk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2788920"/>
            <a:ext cx="19316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Observez l’image : où ? qui ? quoi ?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171950" y="1417320"/>
            <a:ext cx="238887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00550" y="1645920"/>
            <a:ext cx="658368" cy="658368"/>
          </a:xfrm>
          <a:prstGeom prst="ellipse">
            <a:avLst/>
          </a:prstGeom>
          <a:solidFill>
            <a:srgbClr val="EAF5EC"/>
          </a:solidFill>
          <a:ln w="19050">
            <a:solidFill>
              <a:srgbClr val="5FA873"/>
            </a:solidFill>
            <a:prstDash val="solid"/>
          </a:ln>
        </p:spPr>
      </p:sp>
      <p:pic>
        <p:nvPicPr>
          <p:cNvPr id="14" name="Image 1" descr="List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142" y="181051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966460" y="164592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5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1"/>
          <p:cNvSpPr txBox="1"/>
          <p:nvPr/>
        </p:nvSpPr>
        <p:spPr>
          <a:xfrm>
            <a:off x="4400550" y="2423160"/>
            <a:ext cx="19316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400550" y="2788920"/>
            <a:ext cx="19316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Lisez les 5 consignes : Zin 1 à Zin 5, une phrase chacune.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789420" y="1417320"/>
            <a:ext cx="238887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018020" y="1645920"/>
            <a:ext cx="658368" cy="658368"/>
          </a:xfrm>
          <a:prstGeom prst="ellipse">
            <a:avLst/>
          </a:prstGeom>
          <a:solidFill>
            <a:srgbClr val="EAF5EC"/>
          </a:solidFill>
          <a:ln w="19050">
            <a:solidFill>
              <a:srgbClr val="5FA873"/>
            </a:solidFill>
            <a:prstDash val="solid"/>
          </a:ln>
        </p:spPr>
      </p:sp>
      <p:pic>
        <p:nvPicPr>
          <p:cNvPr id="20" name="Image 2" descr="PenNi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612" y="1810512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583930" y="164592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5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6"/>
          <p:cNvSpPr txBox="1"/>
          <p:nvPr/>
        </p:nvSpPr>
        <p:spPr>
          <a:xfrm>
            <a:off x="7018020" y="2423160"/>
            <a:ext cx="19316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of vertel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018020" y="2788920"/>
            <a:ext cx="19316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Écrivez ou dites vos 5 phrases (5 à 10 min).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9406890" y="1417320"/>
            <a:ext cx="238887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635490" y="1645920"/>
            <a:ext cx="658368" cy="658368"/>
          </a:xfrm>
          <a:prstGeom prst="ellipse">
            <a:avLst/>
          </a:prstGeom>
          <a:solidFill>
            <a:srgbClr val="EAF5EC"/>
          </a:solidFill>
          <a:ln w="19050">
            <a:solidFill>
              <a:srgbClr val="5FA873"/>
            </a:solidFill>
            <a:prstDash val="solid"/>
          </a:ln>
        </p:spPr>
      </p:sp>
      <p:pic>
        <p:nvPicPr>
          <p:cNvPr id="26" name="Image 3" descr="UserFriend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0082" y="1810512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201400" y="164592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5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Text 21"/>
          <p:cNvSpPr txBox="1"/>
          <p:nvPr/>
        </p:nvSpPr>
        <p:spPr>
          <a:xfrm>
            <a:off x="9635490" y="2423160"/>
            <a:ext cx="19316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9635490" y="2788920"/>
            <a:ext cx="19316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Lisez votre texte à votre partner, puis comparez avec l’exemple.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1554480" y="37947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l’exemple, chaque étiquette verte se pose sur la bribe de texte qui répond à la consigne :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1737360" y="4608576"/>
            <a:ext cx="129959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een</a:t>
            </a:r>
            <a:endParaRPr lang="en-US" sz="2100" dirty="0"/>
          </a:p>
        </p:txBody>
      </p:sp>
      <p:sp>
        <p:nvSpPr>
          <p:cNvPr id="32" name="Shape 25"/>
          <p:cNvSpPr/>
          <p:nvPr/>
        </p:nvSpPr>
        <p:spPr>
          <a:xfrm>
            <a:off x="2932633" y="4619244"/>
            <a:ext cx="704050" cy="325374"/>
          </a:xfrm>
          <a:prstGeom prst="roundRect">
            <a:avLst>
              <a:gd name="adj" fmla="val 14052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2932633" y="4608576"/>
            <a:ext cx="70405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lichte</a:t>
            </a:r>
            <a:endParaRPr lang="en-US" sz="2100" dirty="0"/>
          </a:p>
        </p:txBody>
      </p:sp>
      <p:sp>
        <p:nvSpPr>
          <p:cNvPr id="34" name="Text 27"/>
          <p:cNvSpPr txBox="1"/>
          <p:nvPr/>
        </p:nvSpPr>
        <p:spPr>
          <a:xfrm>
            <a:off x="3636683" y="4608576"/>
            <a:ext cx="2495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2100" dirty="0"/>
          </a:p>
        </p:txBody>
      </p:sp>
      <p:sp>
        <p:nvSpPr>
          <p:cNvPr id="35" name="Shape 28"/>
          <p:cNvSpPr/>
          <p:nvPr/>
        </p:nvSpPr>
        <p:spPr>
          <a:xfrm>
            <a:off x="3781920" y="4619244"/>
            <a:ext cx="745922" cy="325374"/>
          </a:xfrm>
          <a:prstGeom prst="roundRect">
            <a:avLst>
              <a:gd name="adj" fmla="val 14052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3781920" y="4608576"/>
            <a:ext cx="74592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ruime</a:t>
            </a:r>
            <a:endParaRPr lang="en-US" sz="2100" dirty="0"/>
          </a:p>
        </p:txBody>
      </p:sp>
      <p:sp>
        <p:nvSpPr>
          <p:cNvPr id="37" name="Text 30"/>
          <p:cNvSpPr txBox="1"/>
          <p:nvPr/>
        </p:nvSpPr>
        <p:spPr>
          <a:xfrm>
            <a:off x="4606404" y="4608576"/>
            <a:ext cx="28084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woonkamer en de sfeer</a:t>
            </a:r>
            <a:endParaRPr lang="en-US" sz="2100" dirty="0"/>
          </a:p>
        </p:txBody>
      </p:sp>
      <p:sp>
        <p:nvSpPr>
          <p:cNvPr id="38" name="Shape 31"/>
          <p:cNvSpPr/>
          <p:nvPr/>
        </p:nvSpPr>
        <p:spPr>
          <a:xfrm>
            <a:off x="7310552" y="4619244"/>
            <a:ext cx="1147572" cy="325374"/>
          </a:xfrm>
          <a:prstGeom prst="roundRect">
            <a:avLst>
              <a:gd name="adj" fmla="val 14052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7310552" y="4608576"/>
            <a:ext cx="1147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gezellig</a:t>
            </a:r>
            <a:endParaRPr lang="en-US" sz="2100" dirty="0"/>
          </a:p>
        </p:txBody>
      </p:sp>
      <p:sp>
        <p:nvSpPr>
          <p:cNvPr id="40" name="Text 33"/>
          <p:cNvSpPr txBox="1"/>
          <p:nvPr/>
        </p:nvSpPr>
        <p:spPr>
          <a:xfrm>
            <a:off x="8458124" y="4608576"/>
            <a:ext cx="25008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41" name="Shape 34"/>
          <p:cNvSpPr/>
          <p:nvPr/>
        </p:nvSpPr>
        <p:spPr>
          <a:xfrm>
            <a:off x="3284658" y="4544568"/>
            <a:ext cx="914" cy="74676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2775598" y="4297680"/>
            <a:ext cx="10181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2775598" y="4297680"/>
            <a:ext cx="10181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QUALIFICATIF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 flipH="1">
            <a:off x="4154881" y="4544568"/>
            <a:ext cx="202762" cy="74676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3848583" y="4297680"/>
            <a:ext cx="10181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3848583" y="4297680"/>
            <a:ext cx="10181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QUALIFICATIF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7884338" y="4544568"/>
            <a:ext cx="914" cy="74676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7485780" y="4297680"/>
            <a:ext cx="79711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7485780" y="4297680"/>
            <a:ext cx="79711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3840480" y="5669280"/>
            <a:ext cx="5669280" cy="640080"/>
          </a:xfrm>
          <a:prstGeom prst="roundRect">
            <a:avLst>
              <a:gd name="adj" fmla="val 20000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3840480" y="56692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but : le lexique et la grammaire du niveau… et la créativité 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Évaluer une production : la grille sur 10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EF1F6"/>
          </a:solidFill>
          <a:ln w="28575">
            <a:solidFill>
              <a:srgbClr val="9AA6B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554480" y="1417320"/>
            <a:ext cx="79552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91640" y="155448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86000" y="141732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F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Consignes respectées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4173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point par phrase : la consigne est présente et correcte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141732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F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554480" y="2258568"/>
            <a:ext cx="79552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691640" y="239572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4A7B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86000" y="225856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A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22585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conjugaison, ordre des mots, accords, orthographe ou prononciation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549640" y="225856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4A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1554480" y="3099816"/>
            <a:ext cx="79552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691640" y="323697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D982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286000" y="309981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309981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mots précis et variés, adaptés à la situation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8549640" y="3099816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1554480" y="3941064"/>
            <a:ext cx="79552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691640" y="407822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8E6C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286000" y="394106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E6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4663440" y="394106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phrases racontent une même scène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8549640" y="394106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E6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1554480" y="4782312"/>
            <a:ext cx="79552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691640" y="491947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C218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286000" y="478231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Créativité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4663440" y="478231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chute originale, de l’humour, une surprise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8549640" y="478231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9921240" y="512064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921240" y="470916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921240" y="429768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921240" y="388620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921240" y="347472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921240" y="306324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4A7B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921240" y="265176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4A7B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921240" y="224028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D982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921240" y="182880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8E6C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921240" y="141732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C218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789920" y="48920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2800" dirty="0"/>
          </a:p>
        </p:txBody>
      </p:sp>
      <p:sp>
        <p:nvSpPr>
          <p:cNvPr id="42" name="Text 39"/>
          <p:cNvSpPr txBox="1"/>
          <p:nvPr/>
        </p:nvSpPr>
        <p:spPr>
          <a:xfrm>
            <a:off x="1554480" y="5760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l’oral : la prononciation et la fluidité remplacent l’orthographe.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Niveau A1 — Découverte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554480" y="1371600"/>
            <a:ext cx="3017520" cy="4892040"/>
          </a:xfrm>
          <a:prstGeom prst="roundRect">
            <a:avLst>
              <a:gd name="adj" fmla="val 3636"/>
            </a:avLst>
          </a:prstGeom>
          <a:solidFill>
            <a:srgbClr val="E6F4EA"/>
          </a:solidFill>
          <a:ln w="15875">
            <a:solidFill>
              <a:srgbClr val="6DBE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37360" y="14813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qu’on évalue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1920240"/>
            <a:ext cx="2743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 / hebben · présent (-t)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des mots et inversion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is / er zijn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/ geen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pluriel · possessifs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prépositions de lieu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adjectif qualificatif / attribut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gaan + infinitif · verbes à particule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· maar · want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00600" y="141732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10" name="Image 0" descr="/home/user/talenleren/neerlandais1/generateur/img/vijfzinnen/terras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463040"/>
            <a:ext cx="1627632" cy="101727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00600" y="257175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Op het terras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800600" y="301066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terrasse</a:t>
            </a:r>
            <a:endParaRPr lang="en-US" sz="1050" dirty="0"/>
          </a:p>
        </p:txBody>
      </p:sp>
      <p:pic>
        <p:nvPicPr>
          <p:cNvPr id="13" name="Image 1" descr="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4" y="1527048"/>
            <a:ext cx="182880" cy="1828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583680" y="141732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15" name="Image 2" descr="/home/user/talenleren/neerlandais1/generateur/img/vijfzinnen/markt_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463040"/>
            <a:ext cx="1627632" cy="10172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583680" y="257175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Op de markt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6583680" y="301066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marché</a:t>
            </a:r>
            <a:endParaRPr lang="en-US" sz="1050" dirty="0"/>
          </a:p>
        </p:txBody>
      </p:sp>
      <p:pic>
        <p:nvPicPr>
          <p:cNvPr id="18" name="Image 3" descr="PenNi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527048"/>
            <a:ext cx="182880" cy="18288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8366760" y="141732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20" name="Image 4" descr="/home/user/talenleren/neerlandais1/generateur/img/vijfzinnen/collega_s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463040"/>
            <a:ext cx="1627632" cy="101727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366760" y="257175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Mijn nieuwe collega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8366760" y="301066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nouveau collègue</a:t>
            </a:r>
            <a:endParaRPr lang="en-US" sz="1050" dirty="0"/>
          </a:p>
        </p:txBody>
      </p:sp>
      <p:pic>
        <p:nvPicPr>
          <p:cNvPr id="23" name="Image 5" descr="Commen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3224" y="1527048"/>
            <a:ext cx="182880" cy="18288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10149840" y="141732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25" name="Image 6" descr="/home/user/talenleren/neerlandais1/generateur/img/vijfzinnen/huis_s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5560" y="1463040"/>
            <a:ext cx="1627632" cy="101727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0149840" y="257175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Mijn huis</a:t>
            </a:r>
            <a:endParaRPr lang="en-US" sz="1200" dirty="0"/>
          </a:p>
        </p:txBody>
      </p:sp>
      <p:sp>
        <p:nvSpPr>
          <p:cNvPr id="27" name="Text 17"/>
          <p:cNvSpPr txBox="1"/>
          <p:nvPr/>
        </p:nvSpPr>
        <p:spPr>
          <a:xfrm>
            <a:off x="10149840" y="301066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logement</a:t>
            </a:r>
            <a:endParaRPr lang="en-US" sz="1050" dirty="0"/>
          </a:p>
        </p:txBody>
      </p:sp>
      <p:pic>
        <p:nvPicPr>
          <p:cNvPr id="28" name="Image 7" descr="PenNib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76304" y="1527048"/>
            <a:ext cx="182880" cy="18288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4800600" y="384048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30" name="Image 8" descr="/home/user/talenleren/neerlandais1/generateur/img/vijfzinnen/familie_s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886200"/>
            <a:ext cx="1627632" cy="101727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4800600" y="499491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Een familiefoto</a:t>
            </a:r>
            <a:endParaRPr lang="en-US" sz="1200" dirty="0"/>
          </a:p>
        </p:txBody>
      </p:sp>
      <p:sp>
        <p:nvSpPr>
          <p:cNvPr id="32" name="Text 20"/>
          <p:cNvSpPr txBox="1"/>
          <p:nvPr/>
        </p:nvSpPr>
        <p:spPr>
          <a:xfrm>
            <a:off x="4800600" y="543382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photo de famille</a:t>
            </a:r>
            <a:endParaRPr lang="en-US" sz="1050" dirty="0"/>
          </a:p>
        </p:txBody>
      </p:sp>
      <p:pic>
        <p:nvPicPr>
          <p:cNvPr id="33" name="Image 9" descr="Comment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7064" y="3950208"/>
            <a:ext cx="182880" cy="182880"/>
          </a:xfrm>
          <a:prstGeom prst="rect">
            <a:avLst/>
          </a:prstGeom>
        </p:spPr>
      </p:pic>
      <p:sp>
        <p:nvSpPr>
          <p:cNvPr id="34" name="Shape 21"/>
          <p:cNvSpPr/>
          <p:nvPr/>
        </p:nvSpPr>
        <p:spPr>
          <a:xfrm>
            <a:off x="6583680" y="384048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35" name="Image 10" descr="/home/user/talenleren/neerlandais1/generateur/img/vijfzinnen/dag_s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3886200"/>
            <a:ext cx="1627632" cy="1017270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6583680" y="499491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Mijn dag</a:t>
            </a:r>
            <a:endParaRPr lang="en-US" sz="1200" dirty="0"/>
          </a:p>
        </p:txBody>
      </p:sp>
      <p:sp>
        <p:nvSpPr>
          <p:cNvPr id="37" name="Text 23"/>
          <p:cNvSpPr txBox="1"/>
          <p:nvPr/>
        </p:nvSpPr>
        <p:spPr>
          <a:xfrm>
            <a:off x="6583680" y="543382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journée</a:t>
            </a:r>
            <a:endParaRPr lang="en-US" sz="1050" dirty="0"/>
          </a:p>
        </p:txBody>
      </p:sp>
      <p:pic>
        <p:nvPicPr>
          <p:cNvPr id="38" name="Image 11" descr="PenNib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0144" y="3950208"/>
            <a:ext cx="182880" cy="182880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8366760" y="384048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40" name="Image 12" descr="/home/user/talenleren/neerlandais1/generateur/img/vijfzinnen/weer_s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2480" y="3886200"/>
            <a:ext cx="1627632" cy="1017270"/>
          </a:xfrm>
          <a:prstGeom prst="rect">
            <a:avLst/>
          </a:prstGeom>
        </p:spPr>
      </p:pic>
      <p:sp>
        <p:nvSpPr>
          <p:cNvPr id="41" name="Text 25"/>
          <p:cNvSpPr txBox="1"/>
          <p:nvPr/>
        </p:nvSpPr>
        <p:spPr>
          <a:xfrm>
            <a:off x="8366760" y="499491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Het weer en mijn kleren</a:t>
            </a:r>
            <a:endParaRPr lang="en-US" sz="1200" dirty="0"/>
          </a:p>
        </p:txBody>
      </p:sp>
      <p:sp>
        <p:nvSpPr>
          <p:cNvPr id="42" name="Text 26"/>
          <p:cNvSpPr txBox="1"/>
          <p:nvPr/>
        </p:nvSpPr>
        <p:spPr>
          <a:xfrm>
            <a:off x="8366760" y="543382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météo et mes vêtements</a:t>
            </a:r>
            <a:endParaRPr lang="en-US" sz="1050" dirty="0"/>
          </a:p>
        </p:txBody>
      </p:sp>
      <p:pic>
        <p:nvPicPr>
          <p:cNvPr id="43" name="Image 13" descr="PenNib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93224" y="3950208"/>
            <a:ext cx="182880" cy="182880"/>
          </a:xfrm>
          <a:prstGeom prst="rect">
            <a:avLst/>
          </a:prstGeom>
        </p:spPr>
      </p:pic>
      <p:sp>
        <p:nvSpPr>
          <p:cNvPr id="44" name="Shape 27"/>
          <p:cNvSpPr/>
          <p:nvPr/>
        </p:nvSpPr>
        <p:spPr>
          <a:xfrm>
            <a:off x="10149840" y="384048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45" name="Image 14" descr="/home/user/talenleren/neerlandais1/generateur/img/vijfzinnen/dokter_s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95560" y="3886200"/>
            <a:ext cx="1627632" cy="1017270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10149840" y="499491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Bij de dokter</a:t>
            </a:r>
            <a:endParaRPr lang="en-US" sz="1200" dirty="0"/>
          </a:p>
        </p:txBody>
      </p:sp>
      <p:sp>
        <p:nvSpPr>
          <p:cNvPr id="47" name="Text 29"/>
          <p:cNvSpPr txBox="1"/>
          <p:nvPr/>
        </p:nvSpPr>
        <p:spPr>
          <a:xfrm>
            <a:off x="10149840" y="543382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Chez le médecin</a:t>
            </a:r>
            <a:endParaRPr lang="en-US" sz="1050" dirty="0"/>
          </a:p>
        </p:txBody>
      </p:sp>
      <p:pic>
        <p:nvPicPr>
          <p:cNvPr id="48" name="Image 15" descr="Comments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576304" y="3950208"/>
            <a:ext cx="182880" cy="182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Op het terras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 terrasse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terras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0" name="Image 1" descr="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L’ORAL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fait beau. Vous êtes en terrasse avec un·e collègue. Décrivez la scène et commandez.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Situez la scène avec le verbe </a:t>
            </a:r>
            <a:r>
              <a:rPr lang="en-US" sz="1450" b="1" dirty="0">
                <a:solidFill>
                  <a:srgbClr val="2B2F38"/>
                </a:solidFill>
              </a:rPr>
              <a:t>ZIJN</a:t>
            </a:r>
            <a:r>
              <a:rPr lang="en-US" sz="1450" dirty="0">
                <a:solidFill>
                  <a:srgbClr val="2B2F38"/>
                </a:solidFill>
              </a:rPr>
              <a:t> : où êtes-vous ? avec qui ?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Commandez une boisson et un snack avec </a:t>
            </a:r>
            <a:r>
              <a:rPr lang="en-US" sz="1450" b="1" dirty="0">
                <a:solidFill>
                  <a:srgbClr val="2B2F38"/>
                </a:solidFill>
              </a:rPr>
              <a:t>IK WIL GRAAG…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Décrivez le temps avec </a:t>
            </a:r>
            <a:r>
              <a:rPr lang="en-US" sz="1450" b="1" dirty="0">
                <a:solidFill>
                  <a:srgbClr val="2B2F38"/>
                </a:solidFill>
              </a:rPr>
              <a:t>HET IS</a:t>
            </a:r>
            <a:r>
              <a:rPr lang="en-US" sz="1450" dirty="0">
                <a:solidFill>
                  <a:srgbClr val="2B2F38"/>
                </a:solidFill>
              </a:rPr>
              <a:t> + un adjectif.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Donnez le prix avec </a:t>
            </a:r>
            <a:r>
              <a:rPr lang="en-US" sz="1450" b="1" dirty="0">
                <a:solidFill>
                  <a:srgbClr val="2B2F38"/>
                </a:solidFill>
              </a:rPr>
              <a:t>KOST / KOSTEN</a:t>
            </a:r>
            <a:r>
              <a:rPr lang="en-US" sz="1450" dirty="0">
                <a:solidFill>
                  <a:srgbClr val="2B2F38"/>
                </a:solidFill>
              </a:rPr>
              <a:t> + un nombre.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une chute avec </a:t>
            </a:r>
            <a:r>
              <a:rPr lang="en-US" sz="1450" b="1" dirty="0">
                <a:solidFill>
                  <a:srgbClr val="2B2F38"/>
                </a:solidFill>
              </a:rPr>
              <a:t>MAAR</a:t>
            </a:r>
            <a:r>
              <a:rPr lang="en-US" sz="1450" dirty="0">
                <a:solidFill>
                  <a:srgbClr val="2B2F38"/>
                </a:solidFill>
              </a:rPr>
              <a:t> et </a:t>
            </a:r>
            <a:r>
              <a:rPr lang="en-US" sz="1450" b="1" dirty="0">
                <a:solidFill>
                  <a:srgbClr val="2B2F38"/>
                </a:solidFill>
              </a:rPr>
              <a:t>GEEN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Vertel je verhaal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Op het terras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terr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zeggen…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terras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425598"/>
            <a:ext cx="398374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1994306" y="2437790"/>
            <a:ext cx="572110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994306" y="2425598"/>
            <a:ext cx="57211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2653589" y="2425598"/>
            <a:ext cx="650504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een terras in Brussel, met mijn collega Sofie. Ik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9062923" y="2437790"/>
            <a:ext cx="1235659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062923" y="2425598"/>
            <a:ext cx="1235659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 graag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10385755" y="2425598"/>
            <a:ext cx="144079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koffie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2280361" y="236159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049443" y="2114702"/>
            <a:ext cx="46183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049443" y="2114702"/>
            <a:ext cx="46183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680753" y="236159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158141" y="2114702"/>
            <a:ext cx="1045223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158141" y="2114702"/>
            <a:ext cx="104522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WIL GRAAG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691640" y="3279038"/>
            <a:ext cx="3296107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een wafel, alstublieft.</a:t>
            </a:r>
            <a:endParaRPr lang="en-US" sz="2400" dirty="0"/>
          </a:p>
        </p:txBody>
      </p:sp>
      <p:sp>
        <p:nvSpPr>
          <p:cNvPr id="22" name="Shape 18"/>
          <p:cNvSpPr/>
          <p:nvPr/>
        </p:nvSpPr>
        <p:spPr>
          <a:xfrm>
            <a:off x="4892040" y="3291230"/>
            <a:ext cx="1610868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892040" y="3279038"/>
            <a:ext cx="1610868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warm</a:t>
            </a:r>
            <a:endParaRPr lang="en-US" sz="2400" dirty="0"/>
          </a:p>
        </p:txBody>
      </p:sp>
      <p:sp>
        <p:nvSpPr>
          <p:cNvPr id="24" name="Text 20"/>
          <p:cNvSpPr txBox="1"/>
          <p:nvPr/>
        </p:nvSpPr>
        <p:spPr>
          <a:xfrm>
            <a:off x="6590081" y="3279038"/>
            <a:ext cx="4618634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zonnig vandaag. De koffie en de</a:t>
            </a:r>
            <a:endParaRPr lang="en-US" sz="2400" dirty="0"/>
          </a:p>
        </p:txBody>
      </p:sp>
      <p:sp>
        <p:nvSpPr>
          <p:cNvPr id="25" name="Shape 21"/>
          <p:cNvSpPr/>
          <p:nvPr/>
        </p:nvSpPr>
        <p:spPr>
          <a:xfrm>
            <a:off x="5697474" y="321503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232698" y="2968142"/>
            <a:ext cx="92955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232698" y="2968142"/>
            <a:ext cx="92955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+ adj.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1691640" y="4132478"/>
            <a:ext cx="86167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wafel</a:t>
            </a:r>
            <a:endParaRPr lang="en-US" sz="2400" dirty="0"/>
          </a:p>
        </p:txBody>
      </p:sp>
      <p:sp>
        <p:nvSpPr>
          <p:cNvPr id="29" name="Shape 25"/>
          <p:cNvSpPr/>
          <p:nvPr/>
        </p:nvSpPr>
        <p:spPr>
          <a:xfrm>
            <a:off x="2457602" y="4144670"/>
            <a:ext cx="946099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457602" y="4132478"/>
            <a:ext cx="946099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</a:t>
            </a:r>
            <a:endParaRPr lang="en-US" sz="2400" dirty="0"/>
          </a:p>
        </p:txBody>
      </p:sp>
      <p:sp>
        <p:nvSpPr>
          <p:cNvPr id="31" name="Text 27"/>
          <p:cNvSpPr txBox="1"/>
          <p:nvPr/>
        </p:nvSpPr>
        <p:spPr>
          <a:xfrm>
            <a:off x="3490874" y="4132478"/>
            <a:ext cx="100340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</a:t>
            </a:r>
            <a:endParaRPr lang="en-US" sz="2400" dirty="0"/>
          </a:p>
        </p:txBody>
      </p:sp>
      <p:sp>
        <p:nvSpPr>
          <p:cNvPr id="32" name="Shape 28"/>
          <p:cNvSpPr/>
          <p:nvPr/>
        </p:nvSpPr>
        <p:spPr>
          <a:xfrm>
            <a:off x="4398569" y="4144670"/>
            <a:ext cx="1296924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398569" y="4132478"/>
            <a:ext cx="1296924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euro</a:t>
            </a:r>
            <a:endParaRPr lang="en-US" sz="2400" dirty="0"/>
          </a:p>
        </p:txBody>
      </p:sp>
      <p:sp>
        <p:nvSpPr>
          <p:cNvPr id="34" name="Text 30"/>
          <p:cNvSpPr txBox="1"/>
          <p:nvPr/>
        </p:nvSpPr>
        <p:spPr>
          <a:xfrm>
            <a:off x="5695493" y="4132478"/>
            <a:ext cx="25969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  <p:sp>
        <p:nvSpPr>
          <p:cNvPr id="35" name="Shape 31"/>
          <p:cNvSpPr/>
          <p:nvPr/>
        </p:nvSpPr>
        <p:spPr>
          <a:xfrm>
            <a:off x="2930652" y="406847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2587765" y="3821582"/>
            <a:ext cx="68577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587765" y="3821582"/>
            <a:ext cx="68577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5047031" y="406847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825752" y="3821582"/>
            <a:ext cx="44255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825752" y="3821582"/>
            <a:ext cx="44255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4697882" y="5199278"/>
            <a:ext cx="767182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4697882" y="5187086"/>
            <a:ext cx="76718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</a:t>
            </a:r>
            <a:endParaRPr lang="en-US" sz="2400" dirty="0"/>
          </a:p>
        </p:txBody>
      </p:sp>
      <p:sp>
        <p:nvSpPr>
          <p:cNvPr id="43" name="Text 39"/>
          <p:cNvSpPr txBox="1"/>
          <p:nvPr/>
        </p:nvSpPr>
        <p:spPr>
          <a:xfrm>
            <a:off x="5552237" y="5187086"/>
            <a:ext cx="95067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heb</a:t>
            </a:r>
            <a:endParaRPr lang="en-US" sz="2400" dirty="0"/>
          </a:p>
        </p:txBody>
      </p:sp>
      <p:sp>
        <p:nvSpPr>
          <p:cNvPr id="44" name="Shape 40"/>
          <p:cNvSpPr/>
          <p:nvPr/>
        </p:nvSpPr>
        <p:spPr>
          <a:xfrm>
            <a:off x="6407201" y="5199278"/>
            <a:ext cx="706222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407201" y="5187086"/>
            <a:ext cx="70622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</a:t>
            </a:r>
            <a:endParaRPr lang="en-US" sz="2400" dirty="0"/>
          </a:p>
        </p:txBody>
      </p:sp>
      <p:sp>
        <p:nvSpPr>
          <p:cNvPr id="46" name="Text 42"/>
          <p:cNvSpPr txBox="1"/>
          <p:nvPr/>
        </p:nvSpPr>
        <p:spPr>
          <a:xfrm>
            <a:off x="7200595" y="5187086"/>
            <a:ext cx="168036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bij me!</a:t>
            </a:r>
            <a:endParaRPr lang="en-US" sz="2400" dirty="0"/>
          </a:p>
        </p:txBody>
      </p:sp>
      <p:sp>
        <p:nvSpPr>
          <p:cNvPr id="47" name="Shape 43"/>
          <p:cNvSpPr/>
          <p:nvPr/>
        </p:nvSpPr>
        <p:spPr>
          <a:xfrm>
            <a:off x="5081473" y="5123078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4786713" y="4876190"/>
            <a:ext cx="5895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4786713" y="4876190"/>
            <a:ext cx="5895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</a:t>
            </a:r>
            <a:endParaRPr lang="en-US" sz="1100" dirty="0"/>
          </a:p>
        </p:txBody>
      </p:sp>
      <p:sp>
        <p:nvSpPr>
          <p:cNvPr id="50" name="Shape 46"/>
          <p:cNvSpPr/>
          <p:nvPr/>
        </p:nvSpPr>
        <p:spPr>
          <a:xfrm>
            <a:off x="6760312" y="5123078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6491884" y="4876190"/>
            <a:ext cx="53685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491884" y="4876190"/>
            <a:ext cx="53685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Op de markt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Au marché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markt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4A7BD0"/>
            </a:solidFill>
            <a:prstDash val="solid"/>
          </a:ln>
        </p:spPr>
      </p:sp>
      <p:pic>
        <p:nvPicPr>
          <p:cNvPr id="10" name="Image 1" descr="PenNi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4A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L’ÉCRIT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matin, vous faites vos courses au marché. Racontez.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Commencez par le jour : </a:t>
            </a:r>
            <a:r>
              <a:rPr lang="en-US" sz="1450" b="1" dirty="0">
                <a:solidFill>
                  <a:srgbClr val="2B2F38"/>
                </a:solidFill>
              </a:rPr>
              <a:t>OP ZATERDAG</a:t>
            </a:r>
            <a:r>
              <a:rPr lang="en-US" sz="1450" dirty="0">
                <a:solidFill>
                  <a:srgbClr val="2B2F38"/>
                </a:solidFill>
              </a:rPr>
              <a:t> + verbe + sujet (inversion).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Nommez trois fruits ou légumes au </a:t>
            </a:r>
            <a:r>
              <a:rPr lang="en-US" sz="1450" b="1" dirty="0">
                <a:solidFill>
                  <a:srgbClr val="2B2F38"/>
                </a:solidFill>
              </a:rPr>
              <a:t>pluriel</a:t>
            </a:r>
            <a:r>
              <a:rPr lang="en-US" sz="1450" dirty="0">
                <a:solidFill>
                  <a:srgbClr val="2B2F38"/>
                </a:solidFill>
              </a:rPr>
              <a:t> (-S / -EN).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Décrivez le marché avec </a:t>
            </a:r>
            <a:r>
              <a:rPr lang="en-US" sz="1450" b="1" dirty="0">
                <a:solidFill>
                  <a:srgbClr val="2B2F38"/>
                </a:solidFill>
              </a:rPr>
              <a:t>ER IS</a:t>
            </a:r>
            <a:r>
              <a:rPr lang="en-US" sz="1450" dirty="0">
                <a:solidFill>
                  <a:srgbClr val="2B2F38"/>
                </a:solidFill>
              </a:rPr>
              <a:t> et / ou </a:t>
            </a:r>
            <a:r>
              <a:rPr lang="en-US" sz="1450" b="1" dirty="0">
                <a:solidFill>
                  <a:srgbClr val="2B2F38"/>
                </a:solidFill>
              </a:rPr>
              <a:t>ER ZIJN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Posez une question au marchand avec </a:t>
            </a:r>
            <a:r>
              <a:rPr lang="en-US" sz="1450" b="1" dirty="0">
                <a:solidFill>
                  <a:srgbClr val="2B2F38"/>
                </a:solidFill>
              </a:rPr>
              <a:t>HOEVEEL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une chute avec </a:t>
            </a:r>
            <a:r>
              <a:rPr lang="en-US" sz="1450" b="1" dirty="0">
                <a:solidFill>
                  <a:srgbClr val="2B2F38"/>
                </a:solidFill>
              </a:rPr>
              <a:t>NIET</a:t>
            </a:r>
            <a:r>
              <a:rPr lang="en-US" sz="1450" dirty="0">
                <a:solidFill>
                  <a:srgbClr val="2B2F38"/>
                </a:solidFill>
              </a:rPr>
              <a:t> ou </a:t>
            </a:r>
            <a:r>
              <a:rPr lang="en-US" sz="1450" b="1" dirty="0">
                <a:solidFill>
                  <a:srgbClr val="2B2F38"/>
                </a:solidFill>
              </a:rPr>
              <a:t>GEEN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je tekst voor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Op de markt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mark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schrijven…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markt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691640" y="2562149"/>
            <a:ext cx="2467356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691640" y="2549957"/>
            <a:ext cx="2467356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zaterdag ben ik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4246169" y="2549957"/>
            <a:ext cx="3823716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de markt in Gent. Ik koop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7974178" y="2562149"/>
            <a:ext cx="919277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974178" y="2549957"/>
            <a:ext cx="919277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8893454" y="2549957"/>
            <a:ext cx="25908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9056827" y="2562149"/>
            <a:ext cx="1182319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056827" y="2549957"/>
            <a:ext cx="1182319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tomaten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10326319" y="2549957"/>
            <a:ext cx="1070153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drie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2925318" y="248594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491276" y="2239061"/>
            <a:ext cx="868083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491276" y="2239061"/>
            <a:ext cx="86808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433816" y="248594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69675" y="2239061"/>
            <a:ext cx="328282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269675" y="2239061"/>
            <a:ext cx="32828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647987" y="248594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436767" y="2239061"/>
            <a:ext cx="422440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436767" y="2239061"/>
            <a:ext cx="42244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-EN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1691640" y="3415589"/>
            <a:ext cx="1200607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691640" y="3403397"/>
            <a:ext cx="1200607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bananen</a:t>
            </a:r>
            <a:endParaRPr lang="en-US" sz="2400" dirty="0"/>
          </a:p>
        </p:txBody>
      </p:sp>
      <p:sp>
        <p:nvSpPr>
          <p:cNvPr id="28" name="Text 24"/>
          <p:cNvSpPr txBox="1"/>
          <p:nvPr/>
        </p:nvSpPr>
        <p:spPr>
          <a:xfrm>
            <a:off x="2892247" y="3403397"/>
            <a:ext cx="25969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  <p:sp>
        <p:nvSpPr>
          <p:cNvPr id="29" name="Shape 25"/>
          <p:cNvSpPr/>
          <p:nvPr/>
        </p:nvSpPr>
        <p:spPr>
          <a:xfrm>
            <a:off x="3056230" y="3415589"/>
            <a:ext cx="854659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056230" y="3403397"/>
            <a:ext cx="854659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zijn</a:t>
            </a:r>
            <a:endParaRPr lang="en-US" sz="2400" dirty="0"/>
          </a:p>
        </p:txBody>
      </p:sp>
      <p:sp>
        <p:nvSpPr>
          <p:cNvPr id="31" name="Text 27"/>
          <p:cNvSpPr txBox="1"/>
          <p:nvPr/>
        </p:nvSpPr>
        <p:spPr>
          <a:xfrm>
            <a:off x="3998062" y="3403397"/>
            <a:ext cx="2166823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 mensen en</a:t>
            </a:r>
            <a:endParaRPr lang="en-US" sz="2400" dirty="0"/>
          </a:p>
        </p:txBody>
      </p:sp>
      <p:sp>
        <p:nvSpPr>
          <p:cNvPr id="32" name="Shape 28"/>
          <p:cNvSpPr/>
          <p:nvPr/>
        </p:nvSpPr>
        <p:spPr>
          <a:xfrm>
            <a:off x="6069178" y="3415589"/>
            <a:ext cx="618439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069178" y="3403397"/>
            <a:ext cx="618439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is</a:t>
            </a:r>
            <a:endParaRPr lang="en-US" sz="2400" dirty="0"/>
          </a:p>
        </p:txBody>
      </p:sp>
      <p:sp>
        <p:nvSpPr>
          <p:cNvPr id="34" name="Text 30"/>
          <p:cNvSpPr txBox="1"/>
          <p:nvPr/>
        </p:nvSpPr>
        <p:spPr>
          <a:xfrm>
            <a:off x="6774790" y="3403397"/>
            <a:ext cx="1358798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muziek. “</a:t>
            </a:r>
            <a:endParaRPr lang="en-US" sz="2400" dirty="0"/>
          </a:p>
        </p:txBody>
      </p:sp>
      <p:sp>
        <p:nvSpPr>
          <p:cNvPr id="35" name="Shape 31"/>
          <p:cNvSpPr/>
          <p:nvPr/>
        </p:nvSpPr>
        <p:spPr>
          <a:xfrm>
            <a:off x="7950708" y="3415589"/>
            <a:ext cx="1126846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950708" y="3403397"/>
            <a:ext cx="1126846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Hoeveel</a:t>
            </a:r>
            <a:endParaRPr lang="en-US" sz="2400" dirty="0"/>
          </a:p>
        </p:txBody>
      </p:sp>
      <p:sp>
        <p:nvSpPr>
          <p:cNvPr id="37" name="Text 33"/>
          <p:cNvSpPr txBox="1"/>
          <p:nvPr/>
        </p:nvSpPr>
        <p:spPr>
          <a:xfrm>
            <a:off x="9164726" y="3403397"/>
            <a:ext cx="141427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 de</a:t>
            </a:r>
            <a:endParaRPr lang="en-US" sz="2400" dirty="0"/>
          </a:p>
        </p:txBody>
      </p:sp>
      <p:sp>
        <p:nvSpPr>
          <p:cNvPr id="38" name="Shape 34"/>
          <p:cNvSpPr/>
          <p:nvPr/>
        </p:nvSpPr>
        <p:spPr>
          <a:xfrm>
            <a:off x="2291944" y="333938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2080724" y="3092501"/>
            <a:ext cx="422440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2080724" y="3092501"/>
            <a:ext cx="42244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-EN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3483559" y="333938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3163443" y="3092501"/>
            <a:ext cx="640232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3163443" y="3092501"/>
            <a:ext cx="64023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ZIJN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6378397" y="333938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6127782" y="3092501"/>
            <a:ext cx="50123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6127782" y="3092501"/>
            <a:ext cx="50123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IS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8514131" y="333938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140021" y="3092501"/>
            <a:ext cx="7482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8140021" y="3092501"/>
            <a:ext cx="7482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HOEVEEL</a:t>
            </a:r>
            <a:endParaRPr lang="en-US" sz="1100" dirty="0"/>
          </a:p>
        </p:txBody>
      </p:sp>
      <p:sp>
        <p:nvSpPr>
          <p:cNvPr id="50" name="Text 46"/>
          <p:cNvSpPr txBox="1"/>
          <p:nvPr/>
        </p:nvSpPr>
        <p:spPr>
          <a:xfrm>
            <a:off x="1691640" y="3945941"/>
            <a:ext cx="283220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aardbeien, meneer?”</a:t>
            </a:r>
            <a:endParaRPr lang="en-US" sz="2400" dirty="0"/>
          </a:p>
        </p:txBody>
      </p:sp>
      <p:sp>
        <p:nvSpPr>
          <p:cNvPr id="51" name="Text 47"/>
          <p:cNvSpPr txBox="1"/>
          <p:nvPr/>
        </p:nvSpPr>
        <p:spPr>
          <a:xfrm>
            <a:off x="4910633" y="5000549"/>
            <a:ext cx="1537716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Oei, ik heb</a:t>
            </a:r>
            <a:endParaRPr lang="en-US" sz="2400" dirty="0"/>
          </a:p>
        </p:txBody>
      </p:sp>
      <p:sp>
        <p:nvSpPr>
          <p:cNvPr id="52" name="Shape 48"/>
          <p:cNvSpPr/>
          <p:nvPr/>
        </p:nvSpPr>
        <p:spPr>
          <a:xfrm>
            <a:off x="6352642" y="5012741"/>
            <a:ext cx="706222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6352642" y="5000549"/>
            <a:ext cx="70622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</a:t>
            </a:r>
            <a:endParaRPr lang="en-US" sz="2400" dirty="0"/>
          </a:p>
        </p:txBody>
      </p:sp>
      <p:sp>
        <p:nvSpPr>
          <p:cNvPr id="54" name="Text 50"/>
          <p:cNvSpPr txBox="1"/>
          <p:nvPr/>
        </p:nvSpPr>
        <p:spPr>
          <a:xfrm>
            <a:off x="7146036" y="5000549"/>
            <a:ext cx="152217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 bij me!</a:t>
            </a:r>
            <a:endParaRPr lang="en-US" sz="2400" dirty="0"/>
          </a:p>
        </p:txBody>
      </p:sp>
      <p:sp>
        <p:nvSpPr>
          <p:cNvPr id="55" name="Shape 51"/>
          <p:cNvSpPr/>
          <p:nvPr/>
        </p:nvSpPr>
        <p:spPr>
          <a:xfrm>
            <a:off x="6705752" y="4936541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6242374" y="4689653"/>
            <a:ext cx="92675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6242374" y="4689653"/>
            <a:ext cx="92675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/ GEEN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Mijn nieuwe collega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Le nouveau collègue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collega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0" name="Image 1" descr="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L’ORAL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Un·e nouveau·elle collègue arrive. Présentez-le ou présentez-la à l’équipe.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Donnez son nom et son pays avec </a:t>
            </a:r>
            <a:r>
              <a:rPr lang="en-US" sz="1450" b="1" dirty="0">
                <a:solidFill>
                  <a:srgbClr val="2B2F38"/>
                </a:solidFill>
              </a:rPr>
              <a:t>HEET</a:t>
            </a:r>
            <a:r>
              <a:rPr lang="en-US" sz="1450" dirty="0">
                <a:solidFill>
                  <a:srgbClr val="2B2F38"/>
                </a:solidFill>
              </a:rPr>
              <a:t> et </a:t>
            </a:r>
            <a:r>
              <a:rPr lang="en-US" sz="1450" b="1" dirty="0">
                <a:solidFill>
                  <a:srgbClr val="2B2F38"/>
                </a:solidFill>
              </a:rPr>
              <a:t>KOMT UIT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Donnez son âge avec </a:t>
            </a:r>
            <a:r>
              <a:rPr lang="en-US" sz="1450" b="1" dirty="0">
                <a:solidFill>
                  <a:srgbClr val="2B2F38"/>
                </a:solidFill>
              </a:rPr>
              <a:t>IS … JAAR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Présentez son métier avec </a:t>
            </a:r>
            <a:r>
              <a:rPr lang="en-US" sz="1450" b="1" dirty="0">
                <a:solidFill>
                  <a:srgbClr val="2B2F38"/>
                </a:solidFill>
              </a:rPr>
              <a:t>WERKT ALS</a:t>
            </a:r>
            <a:r>
              <a:rPr lang="en-US" sz="1450" dirty="0">
                <a:solidFill>
                  <a:srgbClr val="2B2F38"/>
                </a:solidFill>
              </a:rPr>
              <a:t> + profession.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Utilisez un possessif : </a:t>
            </a:r>
            <a:r>
              <a:rPr lang="en-US" sz="1450" b="1" dirty="0">
                <a:solidFill>
                  <a:srgbClr val="2B2F38"/>
                </a:solidFill>
              </a:rPr>
              <a:t>ZIJN</a:t>
            </a:r>
            <a:r>
              <a:rPr lang="en-US" sz="1450" dirty="0">
                <a:solidFill>
                  <a:srgbClr val="2B2F38"/>
                </a:solidFill>
              </a:rPr>
              <a:t> ou </a:t>
            </a:r>
            <a:r>
              <a:rPr lang="en-US" sz="1450" b="1" dirty="0">
                <a:solidFill>
                  <a:srgbClr val="2B2F38"/>
                </a:solidFill>
              </a:rPr>
              <a:t>HAAR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un détail amusant avec </a:t>
            </a:r>
            <a:r>
              <a:rPr lang="en-US" sz="1450" b="1" dirty="0">
                <a:solidFill>
                  <a:srgbClr val="2B2F38"/>
                </a:solidFill>
              </a:rPr>
              <a:t>GRAAG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Vertel je verhaal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Mijn nieuwe collega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colleg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zeggen…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collega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425598"/>
            <a:ext cx="3927958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is onze nieuwe collega: hij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5523890" y="2437790"/>
            <a:ext cx="667512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523890" y="2425598"/>
            <a:ext cx="66751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heet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6278575" y="2425598"/>
            <a:ext cx="165415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en hij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7837018" y="2437790"/>
            <a:ext cx="1168603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837018" y="2425598"/>
            <a:ext cx="1168603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komt uit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9092794" y="2425598"/>
            <a:ext cx="1758696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Frankrijk. Hij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5857646" y="236159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01094" y="2114702"/>
            <a:ext cx="51310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601094" y="2114702"/>
            <a:ext cx="51310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421319" y="236159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15916" y="2114702"/>
            <a:ext cx="81080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015916" y="2114702"/>
            <a:ext cx="81080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KOMT UIT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691640" y="3291230"/>
            <a:ext cx="2373478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691640" y="3279038"/>
            <a:ext cx="2373478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vijfendertig jaar</a:t>
            </a:r>
            <a:endParaRPr lang="en-US" sz="2400" dirty="0"/>
          </a:p>
        </p:txBody>
      </p:sp>
      <p:sp>
        <p:nvSpPr>
          <p:cNvPr id="23" name="Text 19"/>
          <p:cNvSpPr txBox="1"/>
          <p:nvPr/>
        </p:nvSpPr>
        <p:spPr>
          <a:xfrm>
            <a:off x="4152290" y="3279038"/>
            <a:ext cx="1160374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oud. Hij</a:t>
            </a: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5216957" y="3291230"/>
            <a:ext cx="1248156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216957" y="3279038"/>
            <a:ext cx="1248156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werkt als</a:t>
            </a:r>
            <a:endParaRPr lang="en-US" sz="2400" dirty="0"/>
          </a:p>
        </p:txBody>
      </p:sp>
      <p:sp>
        <p:nvSpPr>
          <p:cNvPr id="26" name="Text 22"/>
          <p:cNvSpPr txBox="1"/>
          <p:nvPr/>
        </p:nvSpPr>
        <p:spPr>
          <a:xfrm>
            <a:off x="6552286" y="3279038"/>
            <a:ext cx="334457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boekhouder in ons team.</a:t>
            </a:r>
            <a:endParaRPr lang="en-US" sz="2400" dirty="0"/>
          </a:p>
        </p:txBody>
      </p:sp>
      <p:sp>
        <p:nvSpPr>
          <p:cNvPr id="27" name="Shape 23"/>
          <p:cNvSpPr/>
          <p:nvPr/>
        </p:nvSpPr>
        <p:spPr>
          <a:xfrm>
            <a:off x="9801149" y="3291230"/>
            <a:ext cx="553517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801149" y="3279038"/>
            <a:ext cx="553517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</a:t>
            </a:r>
            <a:endParaRPr lang="en-US" sz="2400" dirty="0"/>
          </a:p>
        </p:txBody>
      </p:sp>
      <p:sp>
        <p:nvSpPr>
          <p:cNvPr id="29" name="Text 25"/>
          <p:cNvSpPr txBox="1"/>
          <p:nvPr/>
        </p:nvSpPr>
        <p:spPr>
          <a:xfrm>
            <a:off x="10441838" y="3279038"/>
            <a:ext cx="124206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vrouw is</a:t>
            </a:r>
            <a:endParaRPr lang="en-US" sz="2400" dirty="0"/>
          </a:p>
        </p:txBody>
      </p:sp>
      <p:sp>
        <p:nvSpPr>
          <p:cNvPr id="30" name="Shape 26"/>
          <p:cNvSpPr/>
          <p:nvPr/>
        </p:nvSpPr>
        <p:spPr>
          <a:xfrm>
            <a:off x="2878379" y="321503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2488622" y="2968142"/>
            <a:ext cx="779513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2488622" y="2968142"/>
            <a:ext cx="77951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… JAAR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841035" y="321503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401126" y="2968142"/>
            <a:ext cx="87981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401126" y="2968142"/>
            <a:ext cx="87981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WERKT ALS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10077907" y="321503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9846989" y="2968142"/>
            <a:ext cx="46183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9846989" y="2968142"/>
            <a:ext cx="46183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1691640" y="4132478"/>
            <a:ext cx="159136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Belgisch en</a:t>
            </a:r>
            <a:endParaRPr lang="en-US" sz="2400" dirty="0"/>
          </a:p>
        </p:txBody>
      </p:sp>
      <p:sp>
        <p:nvSpPr>
          <p:cNvPr id="40" name="Shape 36"/>
          <p:cNvSpPr/>
          <p:nvPr/>
        </p:nvSpPr>
        <p:spPr>
          <a:xfrm>
            <a:off x="3187294" y="4144670"/>
            <a:ext cx="528828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3187294" y="4132478"/>
            <a:ext cx="528828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</a:t>
            </a:r>
            <a:endParaRPr lang="en-US" sz="2400" dirty="0"/>
          </a:p>
        </p:txBody>
      </p:sp>
      <p:sp>
        <p:nvSpPr>
          <p:cNvPr id="42" name="Text 38"/>
          <p:cNvSpPr txBox="1"/>
          <p:nvPr/>
        </p:nvSpPr>
        <p:spPr>
          <a:xfrm>
            <a:off x="3803294" y="4132478"/>
            <a:ext cx="3942893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kinderen spreken Nederlands.</a:t>
            </a:r>
            <a:endParaRPr lang="en-US" sz="2400" dirty="0"/>
          </a:p>
        </p:txBody>
      </p:sp>
      <p:sp>
        <p:nvSpPr>
          <p:cNvPr id="43" name="Shape 39"/>
          <p:cNvSpPr/>
          <p:nvPr/>
        </p:nvSpPr>
        <p:spPr>
          <a:xfrm>
            <a:off x="3451708" y="406847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3220790" y="3821582"/>
            <a:ext cx="46183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3220790" y="3821582"/>
            <a:ext cx="46183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</a:t>
            </a:r>
            <a:endParaRPr lang="en-US" sz="1100" dirty="0"/>
          </a:p>
        </p:txBody>
      </p:sp>
      <p:sp>
        <p:nvSpPr>
          <p:cNvPr id="46" name="Text 42"/>
          <p:cNvSpPr txBox="1"/>
          <p:nvPr/>
        </p:nvSpPr>
        <p:spPr>
          <a:xfrm>
            <a:off x="4289450" y="5187086"/>
            <a:ext cx="1656283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hij danst</a:t>
            </a:r>
            <a:endParaRPr lang="en-US" sz="2400" dirty="0"/>
          </a:p>
        </p:txBody>
      </p:sp>
      <p:sp>
        <p:nvSpPr>
          <p:cNvPr id="47" name="Shape 43"/>
          <p:cNvSpPr/>
          <p:nvPr/>
        </p:nvSpPr>
        <p:spPr>
          <a:xfrm>
            <a:off x="5850026" y="5199278"/>
            <a:ext cx="789737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5850026" y="5187086"/>
            <a:ext cx="789737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graag</a:t>
            </a:r>
            <a:endParaRPr lang="en-US" sz="2400" dirty="0"/>
          </a:p>
        </p:txBody>
      </p:sp>
      <p:sp>
        <p:nvSpPr>
          <p:cNvPr id="49" name="Text 45"/>
          <p:cNvSpPr txBox="1"/>
          <p:nvPr/>
        </p:nvSpPr>
        <p:spPr>
          <a:xfrm>
            <a:off x="6726936" y="5187086"/>
            <a:ext cx="2562454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salsa… op kantoor!</a:t>
            </a:r>
            <a:endParaRPr lang="en-US" sz="2400" dirty="0"/>
          </a:p>
        </p:txBody>
      </p:sp>
      <p:sp>
        <p:nvSpPr>
          <p:cNvPr id="50" name="Shape 46"/>
          <p:cNvSpPr/>
          <p:nvPr/>
        </p:nvSpPr>
        <p:spPr>
          <a:xfrm>
            <a:off x="6244895" y="5123078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5922194" y="4876190"/>
            <a:ext cx="64540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5922194" y="4876190"/>
            <a:ext cx="64540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GRAAG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Mijn huis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Mon logement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huis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4A7BD0"/>
            </a:solidFill>
            <a:prstDash val="solid"/>
          </a:ln>
        </p:spPr>
      </p:sp>
      <p:pic>
        <p:nvPicPr>
          <p:cNvPr id="10" name="Image 1" descr="PenNi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4A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L’ÉCRIT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un nouvel appartement. Décrivez-le à un·e ami·e par message.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Dites où vous habitez avec </a:t>
            </a:r>
            <a:r>
              <a:rPr lang="en-US" sz="1450" b="1" dirty="0">
                <a:solidFill>
                  <a:srgbClr val="2B2F38"/>
                </a:solidFill>
              </a:rPr>
              <a:t>WONEN</a:t>
            </a:r>
            <a:r>
              <a:rPr lang="en-US" sz="1450" dirty="0">
                <a:solidFill>
                  <a:srgbClr val="2B2F38"/>
                </a:solidFill>
              </a:rPr>
              <a:t> + </a:t>
            </a:r>
            <a:r>
              <a:rPr lang="en-US" sz="1450" b="1" dirty="0">
                <a:solidFill>
                  <a:srgbClr val="2B2F38"/>
                </a:solidFill>
              </a:rPr>
              <a:t>IN</a:t>
            </a:r>
            <a:r>
              <a:rPr lang="en-US" sz="1450" dirty="0">
                <a:solidFill>
                  <a:srgbClr val="2B2F38"/>
                </a:solidFill>
              </a:rPr>
              <a:t> + ville.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Donnez le nombre de pièces avec </a:t>
            </a:r>
            <a:r>
              <a:rPr lang="en-US" sz="1450" b="1" dirty="0">
                <a:solidFill>
                  <a:srgbClr val="2B2F38"/>
                </a:solidFill>
              </a:rPr>
              <a:t>HEBBEN</a:t>
            </a:r>
            <a:r>
              <a:rPr lang="en-US" sz="1450" dirty="0">
                <a:solidFill>
                  <a:srgbClr val="2B2F38"/>
                </a:solidFill>
              </a:rPr>
              <a:t> + nombre.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Décrivez avec deux adjectifs : un </a:t>
            </a:r>
            <a:r>
              <a:rPr lang="en-US" sz="1450" b="1" dirty="0">
                <a:solidFill>
                  <a:srgbClr val="2B2F38"/>
                </a:solidFill>
              </a:rPr>
              <a:t>qualificatif</a:t>
            </a:r>
            <a:r>
              <a:rPr lang="en-US" sz="1450" dirty="0">
                <a:solidFill>
                  <a:srgbClr val="2B2F38"/>
                </a:solidFill>
              </a:rPr>
              <a:t> (+ -E) et un </a:t>
            </a:r>
            <a:r>
              <a:rPr lang="en-US" sz="1450" b="1" dirty="0">
                <a:solidFill>
                  <a:srgbClr val="2B2F38"/>
                </a:solidFill>
              </a:rPr>
              <a:t>attribut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Situez un meuble avec </a:t>
            </a:r>
            <a:r>
              <a:rPr lang="en-US" sz="1450" b="1" dirty="0">
                <a:solidFill>
                  <a:srgbClr val="2B2F38"/>
                </a:solidFill>
              </a:rPr>
              <a:t>NAAST</a:t>
            </a:r>
            <a:r>
              <a:rPr lang="en-US" sz="1450" dirty="0">
                <a:solidFill>
                  <a:srgbClr val="2B2F38"/>
                </a:solidFill>
              </a:rPr>
              <a:t>, </a:t>
            </a:r>
            <a:r>
              <a:rPr lang="en-US" sz="1450" b="1" dirty="0">
                <a:solidFill>
                  <a:srgbClr val="2B2F38"/>
                </a:solidFill>
              </a:rPr>
              <a:t>ONDER</a:t>
            </a:r>
            <a:r>
              <a:rPr lang="en-US" sz="1450" dirty="0">
                <a:solidFill>
                  <a:srgbClr val="2B2F38"/>
                </a:solidFill>
              </a:rPr>
              <a:t>, </a:t>
            </a:r>
            <a:r>
              <a:rPr lang="en-US" sz="1450" b="1" dirty="0">
                <a:solidFill>
                  <a:srgbClr val="2B2F38"/>
                </a:solidFill>
              </a:rPr>
              <a:t>OP</a:t>
            </a:r>
            <a:r>
              <a:rPr lang="en-US" sz="1450" dirty="0">
                <a:solidFill>
                  <a:srgbClr val="2B2F38"/>
                </a:solidFill>
              </a:rPr>
              <a:t> ou </a:t>
            </a:r>
            <a:r>
              <a:rPr lang="en-US" sz="1450" b="1" dirty="0">
                <a:solidFill>
                  <a:srgbClr val="2B2F38"/>
                </a:solidFill>
              </a:rPr>
              <a:t>IN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une chute avec </a:t>
            </a:r>
            <a:r>
              <a:rPr lang="en-US" sz="1450" b="1" dirty="0">
                <a:solidFill>
                  <a:srgbClr val="2B2F38"/>
                </a:solidFill>
              </a:rPr>
              <a:t>MAAR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je tekst voor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Mijn huis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hui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schrijven…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huis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425598"/>
            <a:ext cx="398374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1994306" y="2437790"/>
            <a:ext cx="1513942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994306" y="2425598"/>
            <a:ext cx="151394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woon nu in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3595421" y="2425598"/>
            <a:ext cx="6011266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Leuven, vlak bij het station. Mijn appartement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9510979" y="2437790"/>
            <a:ext cx="1472184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510979" y="2425598"/>
            <a:ext cx="1472184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heeft twee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2751277" y="236159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324430" y="2114702"/>
            <a:ext cx="85369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324430" y="2114702"/>
            <a:ext cx="85369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WONEN IN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0247071" y="236159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662782" y="2114702"/>
            <a:ext cx="116857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662782" y="2114702"/>
            <a:ext cx="116857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HEEFT + nombre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691640" y="3279038"/>
            <a:ext cx="5091379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slaapkamers en een balkon. Ik heb een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6687312" y="3291230"/>
            <a:ext cx="767182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687312" y="3279038"/>
            <a:ext cx="76718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grote</a:t>
            </a:r>
            <a:endParaRPr lang="en-US" sz="2400" dirty="0"/>
          </a:p>
        </p:txBody>
      </p:sp>
      <p:sp>
        <p:nvSpPr>
          <p:cNvPr id="23" name="Text 19"/>
          <p:cNvSpPr txBox="1"/>
          <p:nvPr/>
        </p:nvSpPr>
        <p:spPr>
          <a:xfrm>
            <a:off x="7541666" y="3279038"/>
            <a:ext cx="3454603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keuken en de woonkamer</a:t>
            </a: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7070903" y="321503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440024" y="2968142"/>
            <a:ext cx="126175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440024" y="2968142"/>
            <a:ext cx="126175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QUALIFICATIF + -E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1691640" y="4144670"/>
            <a:ext cx="1298448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691640" y="4132478"/>
            <a:ext cx="1298448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gezellig</a:t>
            </a:r>
            <a:endParaRPr lang="en-US" sz="2400" dirty="0"/>
          </a:p>
        </p:txBody>
      </p:sp>
      <p:sp>
        <p:nvSpPr>
          <p:cNvPr id="29" name="Text 25"/>
          <p:cNvSpPr txBox="1"/>
          <p:nvPr/>
        </p:nvSpPr>
        <p:spPr>
          <a:xfrm>
            <a:off x="2990088" y="4132478"/>
            <a:ext cx="2080565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 bank staat</a:t>
            </a:r>
            <a:endParaRPr lang="en-US" sz="2400" dirty="0"/>
          </a:p>
        </p:txBody>
      </p:sp>
      <p:sp>
        <p:nvSpPr>
          <p:cNvPr id="30" name="Shape 26"/>
          <p:cNvSpPr/>
          <p:nvPr/>
        </p:nvSpPr>
        <p:spPr>
          <a:xfrm>
            <a:off x="4974946" y="4144670"/>
            <a:ext cx="783641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974946" y="4132478"/>
            <a:ext cx="78364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naast</a:t>
            </a:r>
            <a:endParaRPr lang="en-US" sz="2400" dirty="0"/>
          </a:p>
        </p:txBody>
      </p:sp>
      <p:sp>
        <p:nvSpPr>
          <p:cNvPr id="32" name="Text 28"/>
          <p:cNvSpPr txBox="1"/>
          <p:nvPr/>
        </p:nvSpPr>
        <p:spPr>
          <a:xfrm>
            <a:off x="5845759" y="4132478"/>
            <a:ext cx="140269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raam.</a:t>
            </a:r>
            <a:endParaRPr lang="en-US" sz="2400" dirty="0"/>
          </a:p>
        </p:txBody>
      </p:sp>
      <p:sp>
        <p:nvSpPr>
          <p:cNvPr id="33" name="Shape 29"/>
          <p:cNvSpPr/>
          <p:nvPr/>
        </p:nvSpPr>
        <p:spPr>
          <a:xfrm>
            <a:off x="2340864" y="406847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942306" y="3821582"/>
            <a:ext cx="79711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942306" y="3821582"/>
            <a:ext cx="79711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5366766" y="406847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863922" y="3821582"/>
            <a:ext cx="100568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863922" y="3821582"/>
            <a:ext cx="100568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PRÉPOSITION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3060497" y="5199278"/>
            <a:ext cx="767182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3060497" y="5187086"/>
            <a:ext cx="76718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</a:t>
            </a:r>
            <a:endParaRPr lang="en-US" sz="2400" dirty="0"/>
          </a:p>
        </p:txBody>
      </p:sp>
      <p:sp>
        <p:nvSpPr>
          <p:cNvPr id="41" name="Text 37"/>
          <p:cNvSpPr txBox="1"/>
          <p:nvPr/>
        </p:nvSpPr>
        <p:spPr>
          <a:xfrm>
            <a:off x="3914851" y="5187086"/>
            <a:ext cx="660349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is geen lift… en ik woon op de vijfde verdieping!</a:t>
            </a:r>
            <a:endParaRPr lang="en-US" sz="2400" dirty="0"/>
          </a:p>
        </p:txBody>
      </p:sp>
      <p:sp>
        <p:nvSpPr>
          <p:cNvPr id="42" name="Shape 38"/>
          <p:cNvSpPr/>
          <p:nvPr/>
        </p:nvSpPr>
        <p:spPr>
          <a:xfrm>
            <a:off x="3444088" y="5123078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3149327" y="4876190"/>
            <a:ext cx="5895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3149327" y="4876190"/>
            <a:ext cx="5895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Een familiefoto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Une photo de famille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famili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0" name="Image 1" descr="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L’ORAL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Montrez une photo de famille (réelle ou imaginaire) et présentez-la.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Commencez par </a:t>
            </a:r>
            <a:r>
              <a:rPr lang="en-US" sz="1450" b="1" dirty="0">
                <a:solidFill>
                  <a:srgbClr val="2B2F38"/>
                </a:solidFill>
              </a:rPr>
              <a:t>OP DEZE FOTO</a:t>
            </a:r>
            <a:r>
              <a:rPr lang="en-US" sz="1450" dirty="0">
                <a:solidFill>
                  <a:srgbClr val="2B2F38"/>
                </a:solidFill>
              </a:rPr>
              <a:t> + verbe + sujet (inversion).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Présentez deux personnes avec </a:t>
            </a:r>
            <a:r>
              <a:rPr lang="en-US" sz="1450" b="1" dirty="0">
                <a:solidFill>
                  <a:srgbClr val="2B2F38"/>
                </a:solidFill>
              </a:rPr>
              <a:t>MIJN</a:t>
            </a:r>
            <a:r>
              <a:rPr lang="en-US" sz="1450" dirty="0">
                <a:solidFill>
                  <a:srgbClr val="2B2F38"/>
                </a:solidFill>
              </a:rPr>
              <a:t> + un membre de la famille.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Décrivez quelqu’un avec </a:t>
            </a:r>
            <a:r>
              <a:rPr lang="en-US" sz="1450" b="1" dirty="0">
                <a:solidFill>
                  <a:srgbClr val="2B2F38"/>
                </a:solidFill>
              </a:rPr>
              <a:t>HEEFT</a:t>
            </a:r>
            <a:r>
              <a:rPr lang="en-US" sz="1450" dirty="0">
                <a:solidFill>
                  <a:srgbClr val="2B2F38"/>
                </a:solidFill>
              </a:rPr>
              <a:t> + adjectif + nom (cheveux, yeux…).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Situez deux personnes avec </a:t>
            </a:r>
            <a:r>
              <a:rPr lang="en-US" sz="1450" b="1" dirty="0">
                <a:solidFill>
                  <a:srgbClr val="2B2F38"/>
                </a:solidFill>
              </a:rPr>
              <a:t>LINKS</a:t>
            </a:r>
            <a:r>
              <a:rPr lang="en-US" sz="1450" dirty="0">
                <a:solidFill>
                  <a:srgbClr val="2B2F38"/>
                </a:solidFill>
              </a:rPr>
              <a:t>, </a:t>
            </a:r>
            <a:r>
              <a:rPr lang="en-US" sz="1450" b="1" dirty="0">
                <a:solidFill>
                  <a:srgbClr val="2B2F38"/>
                </a:solidFill>
              </a:rPr>
              <a:t>RECHTS</a:t>
            </a:r>
            <a:r>
              <a:rPr lang="en-US" sz="1450" dirty="0">
                <a:solidFill>
                  <a:srgbClr val="2B2F38"/>
                </a:solidFill>
              </a:rPr>
              <a:t> ou </a:t>
            </a:r>
            <a:r>
              <a:rPr lang="en-US" sz="1450" b="1" dirty="0">
                <a:solidFill>
                  <a:srgbClr val="2B2F38"/>
                </a:solidFill>
              </a:rPr>
              <a:t>NAAST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une chute avec </a:t>
            </a:r>
            <a:r>
              <a:rPr lang="en-US" sz="1450" b="1" dirty="0">
                <a:solidFill>
                  <a:srgbClr val="2B2F38"/>
                </a:solidFill>
              </a:rPr>
              <a:t>NIET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Vertel je verhaal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Een familiefoto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famili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zeggen…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famili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691640" y="2437790"/>
            <a:ext cx="2438400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691640" y="2425598"/>
            <a:ext cx="243840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deze foto zie je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4217213" y="2425598"/>
            <a:ext cx="4084625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mijn familie op vakantie. Dat is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8206130" y="2437790"/>
            <a:ext cx="1714805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06130" y="2425598"/>
            <a:ext cx="1714805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mijn moeder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10008108" y="2425598"/>
            <a:ext cx="1266444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dat is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2910840" y="236159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378520" y="2114702"/>
            <a:ext cx="106464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378520" y="2114702"/>
            <a:ext cx="106464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DEZE FOTO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9063533" y="236159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38547" y="2114702"/>
            <a:ext cx="1049973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538547" y="2114702"/>
            <a:ext cx="104997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MIJN + famille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691640" y="3291230"/>
            <a:ext cx="1421892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691640" y="3279038"/>
            <a:ext cx="142189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mijn broer</a:t>
            </a:r>
            <a:endParaRPr lang="en-US" sz="2400" dirty="0"/>
          </a:p>
        </p:txBody>
      </p:sp>
      <p:sp>
        <p:nvSpPr>
          <p:cNvPr id="22" name="Text 18"/>
          <p:cNvSpPr txBox="1"/>
          <p:nvPr/>
        </p:nvSpPr>
        <p:spPr>
          <a:xfrm>
            <a:off x="3200705" y="3279038"/>
            <a:ext cx="1452067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Tom. Tom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4557065" y="3291230"/>
            <a:ext cx="2008327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557065" y="3279038"/>
            <a:ext cx="2008327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heeft lang haar</a:t>
            </a:r>
            <a:endParaRPr lang="en-US" sz="2400" dirty="0"/>
          </a:p>
        </p:txBody>
      </p:sp>
      <p:sp>
        <p:nvSpPr>
          <p:cNvPr id="25" name="Text 21"/>
          <p:cNvSpPr txBox="1"/>
          <p:nvPr/>
        </p:nvSpPr>
        <p:spPr>
          <a:xfrm>
            <a:off x="6652565" y="3279038"/>
            <a:ext cx="441015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blauwe ogen. Mijn vader staat</a:t>
            </a:r>
            <a:endParaRPr lang="en-US" sz="2400" dirty="0"/>
          </a:p>
        </p:txBody>
      </p:sp>
      <p:sp>
        <p:nvSpPr>
          <p:cNvPr id="26" name="Shape 22"/>
          <p:cNvSpPr/>
          <p:nvPr/>
        </p:nvSpPr>
        <p:spPr>
          <a:xfrm>
            <a:off x="10967009" y="3291230"/>
            <a:ext cx="672998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0967009" y="3279038"/>
            <a:ext cx="672998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2400" dirty="0"/>
          </a:p>
        </p:txBody>
      </p:sp>
      <p:sp>
        <p:nvSpPr>
          <p:cNvPr id="28" name="Shape 24"/>
          <p:cNvSpPr/>
          <p:nvPr/>
        </p:nvSpPr>
        <p:spPr>
          <a:xfrm>
            <a:off x="2402586" y="321503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877600" y="2968142"/>
            <a:ext cx="1049973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877600" y="2968142"/>
            <a:ext cx="104997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MIJN + famille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561228" y="321503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899546" y="2968142"/>
            <a:ext cx="132336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899546" y="2968142"/>
            <a:ext cx="132336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HEEFT + adj. + nom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11303508" y="321503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1028305" y="2968142"/>
            <a:ext cx="55040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11028305" y="2968142"/>
            <a:ext cx="55040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1691640" y="4132478"/>
            <a:ext cx="183703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Tom staat</a:t>
            </a:r>
            <a:endParaRPr lang="en-US" sz="2400" dirty="0"/>
          </a:p>
        </p:txBody>
      </p:sp>
      <p:sp>
        <p:nvSpPr>
          <p:cNvPr id="38" name="Shape 34"/>
          <p:cNvSpPr/>
          <p:nvPr/>
        </p:nvSpPr>
        <p:spPr>
          <a:xfrm>
            <a:off x="3432962" y="4144670"/>
            <a:ext cx="783641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3432962" y="4132478"/>
            <a:ext cx="78364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naast</a:t>
            </a:r>
            <a:endParaRPr lang="en-US" sz="2400" dirty="0"/>
          </a:p>
        </p:txBody>
      </p:sp>
      <p:sp>
        <p:nvSpPr>
          <p:cNvPr id="40" name="Text 36"/>
          <p:cNvSpPr txBox="1"/>
          <p:nvPr/>
        </p:nvSpPr>
        <p:spPr>
          <a:xfrm>
            <a:off x="4303776" y="4132478"/>
            <a:ext cx="129936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hond.</a:t>
            </a:r>
            <a:endParaRPr lang="en-US" sz="2400" dirty="0"/>
          </a:p>
        </p:txBody>
      </p:sp>
      <p:sp>
        <p:nvSpPr>
          <p:cNvPr id="41" name="Shape 37"/>
          <p:cNvSpPr/>
          <p:nvPr/>
        </p:nvSpPr>
        <p:spPr>
          <a:xfrm>
            <a:off x="3824783" y="4068470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3516751" y="3821582"/>
            <a:ext cx="61606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3516751" y="3821582"/>
            <a:ext cx="61606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NAAST</a:t>
            </a:r>
            <a:endParaRPr lang="en-US" sz="1100" dirty="0"/>
          </a:p>
        </p:txBody>
      </p:sp>
      <p:sp>
        <p:nvSpPr>
          <p:cNvPr id="44" name="Text 40"/>
          <p:cNvSpPr txBox="1"/>
          <p:nvPr/>
        </p:nvSpPr>
        <p:spPr>
          <a:xfrm>
            <a:off x="4398112" y="5187086"/>
            <a:ext cx="400690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 man rechts? Ik ken hem</a:t>
            </a:r>
            <a:endParaRPr lang="en-US" sz="2400" dirty="0"/>
          </a:p>
        </p:txBody>
      </p:sp>
      <p:sp>
        <p:nvSpPr>
          <p:cNvPr id="45" name="Shape 41"/>
          <p:cNvSpPr/>
          <p:nvPr/>
        </p:nvSpPr>
        <p:spPr>
          <a:xfrm>
            <a:off x="8309305" y="5199278"/>
            <a:ext cx="589178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8309305" y="5187086"/>
            <a:ext cx="589178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</a:t>
            </a:r>
            <a:endParaRPr lang="en-US" sz="2400" dirty="0"/>
          </a:p>
        </p:txBody>
      </p:sp>
      <p:sp>
        <p:nvSpPr>
          <p:cNvPr id="47" name="Text 43"/>
          <p:cNvSpPr txBox="1"/>
          <p:nvPr/>
        </p:nvSpPr>
        <p:spPr>
          <a:xfrm>
            <a:off x="8898484" y="5187086"/>
            <a:ext cx="282245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400" dirty="0"/>
          </a:p>
        </p:txBody>
      </p:sp>
      <p:sp>
        <p:nvSpPr>
          <p:cNvPr id="48" name="Shape 44"/>
          <p:cNvSpPr/>
          <p:nvPr/>
        </p:nvSpPr>
        <p:spPr>
          <a:xfrm>
            <a:off x="8603894" y="5123078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8360823" y="4876190"/>
            <a:ext cx="486143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8360823" y="4876190"/>
            <a:ext cx="48614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Mijn dag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 journée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dag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4A7BD0"/>
            </a:solidFill>
            <a:prstDash val="solid"/>
          </a:ln>
        </p:spPr>
      </p:sp>
      <p:pic>
        <p:nvPicPr>
          <p:cNvPr id="10" name="Image 1" descr="PenNi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4A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L’ÉCRIT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Décrivez une journée de travail ordinaire, du matin au soir.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Commencez par l’heure : </a:t>
            </a:r>
            <a:r>
              <a:rPr lang="en-US" sz="1450" b="1" dirty="0">
                <a:solidFill>
                  <a:srgbClr val="2B2F38"/>
                </a:solidFill>
              </a:rPr>
              <a:t>OM … UUR</a:t>
            </a:r>
            <a:r>
              <a:rPr lang="en-US" sz="1450" dirty="0">
                <a:solidFill>
                  <a:srgbClr val="2B2F38"/>
                </a:solidFill>
              </a:rPr>
              <a:t> + verbe + sujet (inversion).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Dites comment vous allez au travail avec </a:t>
            </a:r>
            <a:r>
              <a:rPr lang="en-US" sz="1450" b="1" dirty="0">
                <a:solidFill>
                  <a:srgbClr val="2B2F38"/>
                </a:solidFill>
              </a:rPr>
              <a:t>MET DE</a:t>
            </a:r>
            <a:r>
              <a:rPr lang="en-US" sz="1450" dirty="0">
                <a:solidFill>
                  <a:srgbClr val="2B2F38"/>
                </a:solidFill>
              </a:rPr>
              <a:t> + transport.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Utilisez un verbe à particule (</a:t>
            </a:r>
            <a:r>
              <a:rPr lang="en-US" sz="1450" b="1" dirty="0">
                <a:solidFill>
                  <a:srgbClr val="2B2F38"/>
                </a:solidFill>
              </a:rPr>
              <a:t>OPBELLEN</a:t>
            </a:r>
            <a:r>
              <a:rPr lang="en-US" sz="1450" dirty="0">
                <a:solidFill>
                  <a:srgbClr val="2B2F38"/>
                </a:solidFill>
              </a:rPr>
              <a:t>, </a:t>
            </a:r>
            <a:r>
              <a:rPr lang="en-US" sz="1450" b="1" dirty="0">
                <a:solidFill>
                  <a:srgbClr val="2B2F38"/>
                </a:solidFill>
              </a:rPr>
              <a:t>OPSTAAN</a:t>
            </a:r>
            <a:r>
              <a:rPr lang="en-US" sz="1450" dirty="0">
                <a:solidFill>
                  <a:srgbClr val="2B2F38"/>
                </a:solidFill>
              </a:rPr>
              <a:t>…) : la particule va à la fin.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Enchaînez avec </a:t>
            </a:r>
            <a:r>
              <a:rPr lang="en-US" sz="1450" b="1" dirty="0">
                <a:solidFill>
                  <a:srgbClr val="2B2F38"/>
                </a:solidFill>
              </a:rPr>
              <a:t>EERST</a:t>
            </a:r>
            <a:r>
              <a:rPr lang="en-US" sz="1450" dirty="0">
                <a:solidFill>
                  <a:srgbClr val="2B2F38"/>
                </a:solidFill>
              </a:rPr>
              <a:t> et </a:t>
            </a:r>
            <a:r>
              <a:rPr lang="en-US" sz="1450" b="1" dirty="0">
                <a:solidFill>
                  <a:srgbClr val="2B2F38"/>
                </a:solidFill>
              </a:rPr>
              <a:t>DAN</a:t>
            </a:r>
            <a:r>
              <a:rPr lang="en-US" sz="1450" dirty="0">
                <a:solidFill>
                  <a:srgbClr val="2B2F38"/>
                </a:solidFill>
              </a:rPr>
              <a:t> (inversion !).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votre soirée avec </a:t>
            </a:r>
            <a:r>
              <a:rPr lang="en-US" sz="1450" b="1" dirty="0">
                <a:solidFill>
                  <a:srgbClr val="2B2F38"/>
                </a:solidFill>
              </a:rPr>
              <a:t>’S AVONDS</a:t>
            </a:r>
            <a:r>
              <a:rPr lang="en-US" sz="1450" dirty="0">
                <a:solidFill>
                  <a:srgbClr val="2B2F38"/>
                </a:solidFill>
              </a:rPr>
              <a:t> + une chute.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je tekst voor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Mijn dag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da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schrijven…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dag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691640" y="2562149"/>
            <a:ext cx="2869997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691640" y="2549957"/>
            <a:ext cx="2869997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zeven uur drink ik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4648810" y="2549957"/>
            <a:ext cx="2948635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grote koffie. Ik ga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7501738" y="2562149"/>
            <a:ext cx="1659026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501738" y="2549957"/>
            <a:ext cx="1659026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de trein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9247937" y="2549957"/>
            <a:ext cx="2602687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 mijn werk. Op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3126638" y="248594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696858" y="2239061"/>
            <a:ext cx="85956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696858" y="2239061"/>
            <a:ext cx="85956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… UUR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331251" y="248594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658532" y="2239061"/>
            <a:ext cx="134543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658532" y="2239061"/>
            <a:ext cx="134543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DE + transport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691640" y="3403397"/>
            <a:ext cx="1157326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kantoor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2753258" y="3415589"/>
            <a:ext cx="483413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2753258" y="3403397"/>
            <a:ext cx="483413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</a:t>
            </a:r>
            <a:endParaRPr lang="en-US" sz="2400" dirty="0"/>
          </a:p>
        </p:txBody>
      </p:sp>
      <p:sp>
        <p:nvSpPr>
          <p:cNvPr id="23" name="Text 19"/>
          <p:cNvSpPr txBox="1"/>
          <p:nvPr/>
        </p:nvSpPr>
        <p:spPr>
          <a:xfrm>
            <a:off x="3323844" y="3403397"/>
            <a:ext cx="2006194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veel klanten</a:t>
            </a: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5234330" y="3415589"/>
            <a:ext cx="419100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234330" y="3403397"/>
            <a:ext cx="41910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2400" dirty="0"/>
          </a:p>
        </p:txBody>
      </p:sp>
      <p:sp>
        <p:nvSpPr>
          <p:cNvPr id="26" name="Text 22"/>
          <p:cNvSpPr txBox="1"/>
          <p:nvPr/>
        </p:nvSpPr>
        <p:spPr>
          <a:xfrm>
            <a:off x="5653430" y="3403397"/>
            <a:ext cx="25969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  <p:sp>
        <p:nvSpPr>
          <p:cNvPr id="27" name="Shape 23"/>
          <p:cNvSpPr/>
          <p:nvPr/>
        </p:nvSpPr>
        <p:spPr>
          <a:xfrm>
            <a:off x="5817413" y="3415589"/>
            <a:ext cx="1591361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817413" y="3403397"/>
            <a:ext cx="159136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 lees ik</a:t>
            </a:r>
            <a:endParaRPr lang="en-US" sz="2400" dirty="0"/>
          </a:p>
        </p:txBody>
      </p:sp>
      <p:sp>
        <p:nvSpPr>
          <p:cNvPr id="29" name="Text 25"/>
          <p:cNvSpPr txBox="1"/>
          <p:nvPr/>
        </p:nvSpPr>
        <p:spPr>
          <a:xfrm>
            <a:off x="7495946" y="3403397"/>
            <a:ext cx="1541678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mijn mails,</a:t>
            </a:r>
            <a:endParaRPr lang="en-US" sz="2400" dirty="0"/>
          </a:p>
        </p:txBody>
      </p:sp>
      <p:sp>
        <p:nvSpPr>
          <p:cNvPr id="30" name="Shape 26"/>
          <p:cNvSpPr/>
          <p:nvPr/>
        </p:nvSpPr>
        <p:spPr>
          <a:xfrm>
            <a:off x="8941918" y="3415589"/>
            <a:ext cx="1409090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941918" y="3403397"/>
            <a:ext cx="140909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heb ik</a:t>
            </a:r>
            <a:endParaRPr lang="en-US" sz="2400" dirty="0"/>
          </a:p>
        </p:txBody>
      </p:sp>
      <p:sp>
        <p:nvSpPr>
          <p:cNvPr id="32" name="Text 28"/>
          <p:cNvSpPr txBox="1"/>
          <p:nvPr/>
        </p:nvSpPr>
        <p:spPr>
          <a:xfrm>
            <a:off x="10438181" y="3403397"/>
            <a:ext cx="64648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</a:t>
            </a:r>
            <a:endParaRPr lang="en-US" sz="2400" dirty="0"/>
          </a:p>
        </p:txBody>
      </p:sp>
      <p:sp>
        <p:nvSpPr>
          <p:cNvPr id="33" name="Shape 29"/>
          <p:cNvSpPr/>
          <p:nvPr/>
        </p:nvSpPr>
        <p:spPr>
          <a:xfrm>
            <a:off x="2994965" y="333938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732754" y="3092501"/>
            <a:ext cx="5244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2732754" y="3092501"/>
            <a:ext cx="5244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BEL…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5443880" y="333938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200110" y="3092501"/>
            <a:ext cx="487540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200110" y="3092501"/>
            <a:ext cx="48754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…OP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6613093" y="333938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994089" y="3092501"/>
            <a:ext cx="1238009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5994089" y="3092501"/>
            <a:ext cx="123800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 + inversion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9646463" y="333938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9070207" y="3092501"/>
            <a:ext cx="1152512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9070207" y="3092501"/>
            <a:ext cx="115251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+ inversion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1691640" y="3945941"/>
            <a:ext cx="1737055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vergadering.</a:t>
            </a:r>
            <a:endParaRPr lang="en-US" sz="2400" dirty="0"/>
          </a:p>
        </p:txBody>
      </p:sp>
      <p:sp>
        <p:nvSpPr>
          <p:cNvPr id="46" name="Shape 42"/>
          <p:cNvSpPr/>
          <p:nvPr/>
        </p:nvSpPr>
        <p:spPr>
          <a:xfrm>
            <a:off x="4035247" y="5012741"/>
            <a:ext cx="2282038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4035247" y="5000549"/>
            <a:ext cx="2282038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’s Avonds kook ik</a:t>
            </a:r>
            <a:endParaRPr lang="en-US" sz="2400" dirty="0"/>
          </a:p>
        </p:txBody>
      </p:sp>
      <p:sp>
        <p:nvSpPr>
          <p:cNvPr id="48" name="Text 44"/>
          <p:cNvSpPr txBox="1"/>
          <p:nvPr/>
        </p:nvSpPr>
        <p:spPr>
          <a:xfrm>
            <a:off x="6317285" y="5000549"/>
            <a:ext cx="3226308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of ik bestel een pizza!</a:t>
            </a:r>
            <a:endParaRPr lang="en-US" sz="2400" dirty="0"/>
          </a:p>
        </p:txBody>
      </p:sp>
      <p:sp>
        <p:nvSpPr>
          <p:cNvPr id="49" name="Shape 45"/>
          <p:cNvSpPr/>
          <p:nvPr/>
        </p:nvSpPr>
        <p:spPr>
          <a:xfrm>
            <a:off x="5176266" y="4936541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745787" y="4689653"/>
            <a:ext cx="86095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4745787" y="4689653"/>
            <a:ext cx="86095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’S AVONDS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Het weer en mijn kleren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La météo et mes vêtements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weer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4A7BD0"/>
            </a:solidFill>
            <a:prstDash val="solid"/>
          </a:ln>
        </p:spPr>
      </p:sp>
      <p:pic>
        <p:nvPicPr>
          <p:cNvPr id="10" name="Image 1" descr="PenNi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4A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L’ÉCRIT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Regardez la météo. Écrivez à un·e ami·e ce que vous mettez aujourd’hui.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Décrivez le temps avec des verbes météo : </a:t>
            </a:r>
            <a:r>
              <a:rPr lang="en-US" sz="1450" b="1" dirty="0">
                <a:solidFill>
                  <a:srgbClr val="2B2F38"/>
                </a:solidFill>
              </a:rPr>
              <a:t>HET REGENT</a:t>
            </a:r>
            <a:r>
              <a:rPr lang="en-US" sz="1450" dirty="0">
                <a:solidFill>
                  <a:srgbClr val="2B2F38"/>
                </a:solidFill>
              </a:rPr>
              <a:t>, </a:t>
            </a:r>
            <a:r>
              <a:rPr lang="en-US" sz="1450" b="1" dirty="0">
                <a:solidFill>
                  <a:srgbClr val="2B2F38"/>
                </a:solidFill>
              </a:rPr>
              <a:t>HET WAAIT</a:t>
            </a:r>
            <a:r>
              <a:rPr lang="en-US" sz="1450" dirty="0">
                <a:solidFill>
                  <a:srgbClr val="2B2F38"/>
                </a:solidFill>
              </a:rPr>
              <a:t>…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Donnez la température avec </a:t>
            </a:r>
            <a:r>
              <a:rPr lang="en-US" sz="1450" b="1" dirty="0">
                <a:solidFill>
                  <a:srgbClr val="2B2F38"/>
                </a:solidFill>
              </a:rPr>
              <a:t>HET IS … GRADEN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Utilisez </a:t>
            </a:r>
            <a:r>
              <a:rPr lang="en-US" sz="1450" b="1" dirty="0">
                <a:solidFill>
                  <a:srgbClr val="2B2F38"/>
                </a:solidFill>
              </a:rPr>
              <a:t>IK DRAAG</a:t>
            </a:r>
            <a:r>
              <a:rPr lang="en-US" sz="1450" dirty="0">
                <a:solidFill>
                  <a:srgbClr val="2B2F38"/>
                </a:solidFill>
              </a:rPr>
              <a:t> + un vêtement et une couleur.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Justifiez avec </a:t>
            </a:r>
            <a:r>
              <a:rPr lang="en-US" sz="1450" b="1" dirty="0">
                <a:solidFill>
                  <a:srgbClr val="2B2F38"/>
                </a:solidFill>
              </a:rPr>
              <a:t>WANT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une chute avec </a:t>
            </a:r>
            <a:r>
              <a:rPr lang="en-US" sz="1450" b="1" dirty="0">
                <a:solidFill>
                  <a:srgbClr val="2B2F38"/>
                </a:solidFill>
              </a:rPr>
              <a:t>MORGEN GA IK</a:t>
            </a:r>
            <a:r>
              <a:rPr lang="en-US" sz="1450" dirty="0">
                <a:solidFill>
                  <a:srgbClr val="2B2F38"/>
                </a:solidFill>
              </a:rPr>
              <a:t> + infinitif.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je tekst voor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Het weer en mijn kleren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we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schrijven…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weer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549957"/>
            <a:ext cx="125730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2853233" y="2562149"/>
            <a:ext cx="1411834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853233" y="2549957"/>
            <a:ext cx="1411834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regent het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4352239" y="2549957"/>
            <a:ext cx="49469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4751222" y="2562149"/>
            <a:ext cx="1292047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751222" y="2549957"/>
            <a:ext cx="1292047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waait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6130442" y="2549957"/>
            <a:ext cx="236860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hard. Het is maar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8403336" y="2562149"/>
            <a:ext cx="1591666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403336" y="2549957"/>
            <a:ext cx="1591666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graden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9995002" y="2549957"/>
            <a:ext cx="562356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Ik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10461650" y="2562149"/>
            <a:ext cx="808939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461650" y="2549957"/>
            <a:ext cx="808939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draag</a:t>
            </a:r>
            <a:endParaRPr lang="en-US" sz="2400" dirty="0"/>
          </a:p>
        </p:txBody>
      </p:sp>
      <p:sp>
        <p:nvSpPr>
          <p:cNvPr id="20" name="Shape 16"/>
          <p:cNvSpPr/>
          <p:nvPr/>
        </p:nvSpPr>
        <p:spPr>
          <a:xfrm>
            <a:off x="3559150" y="248594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088297" y="2239061"/>
            <a:ext cx="94170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088297" y="2239061"/>
            <a:ext cx="94170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REGENT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397246" y="248594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957826" y="2239061"/>
            <a:ext cx="878840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957826" y="2239061"/>
            <a:ext cx="87884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WAAIT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9199169" y="248594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773719" y="2239061"/>
            <a:ext cx="850900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773719" y="2239061"/>
            <a:ext cx="85090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GRADEN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10866120" y="248594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0543908" y="2239061"/>
            <a:ext cx="644423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0543908" y="2239061"/>
            <a:ext cx="64442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DRAAG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1691640" y="3403397"/>
            <a:ext cx="64648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</a:t>
            </a:r>
            <a:endParaRPr lang="en-US" sz="2400" dirty="0"/>
          </a:p>
        </p:txBody>
      </p:sp>
      <p:sp>
        <p:nvSpPr>
          <p:cNvPr id="33" name="Shape 29"/>
          <p:cNvSpPr/>
          <p:nvPr/>
        </p:nvSpPr>
        <p:spPr>
          <a:xfrm>
            <a:off x="2242414" y="3415589"/>
            <a:ext cx="617525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2242414" y="3403397"/>
            <a:ext cx="617525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</a:t>
            </a:r>
            <a:endParaRPr lang="en-US" sz="2400" dirty="0"/>
          </a:p>
        </p:txBody>
      </p:sp>
      <p:sp>
        <p:nvSpPr>
          <p:cNvPr id="35" name="Text 31"/>
          <p:cNvSpPr txBox="1"/>
          <p:nvPr/>
        </p:nvSpPr>
        <p:spPr>
          <a:xfrm>
            <a:off x="2947111" y="3403397"/>
            <a:ext cx="6997903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regenjas en blauwe laarzen. Ik neem ook een paraplu,</a:t>
            </a:r>
            <a:endParaRPr lang="en-US" sz="2400" dirty="0"/>
          </a:p>
        </p:txBody>
      </p:sp>
      <p:sp>
        <p:nvSpPr>
          <p:cNvPr id="36" name="Shape 32"/>
          <p:cNvSpPr/>
          <p:nvPr/>
        </p:nvSpPr>
        <p:spPr>
          <a:xfrm>
            <a:off x="9849307" y="3415589"/>
            <a:ext cx="738530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9849307" y="3403397"/>
            <a:ext cx="73853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</a:t>
            </a:r>
            <a:endParaRPr lang="en-US" sz="2400" dirty="0"/>
          </a:p>
        </p:txBody>
      </p:sp>
      <p:sp>
        <p:nvSpPr>
          <p:cNvPr id="38" name="Text 34"/>
          <p:cNvSpPr txBox="1"/>
          <p:nvPr/>
        </p:nvSpPr>
        <p:spPr>
          <a:xfrm>
            <a:off x="10675010" y="3403397"/>
            <a:ext cx="83698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wil</a:t>
            </a:r>
            <a:endParaRPr lang="en-US" sz="2400" dirty="0"/>
          </a:p>
        </p:txBody>
      </p:sp>
      <p:sp>
        <p:nvSpPr>
          <p:cNvPr id="39" name="Shape 35"/>
          <p:cNvSpPr/>
          <p:nvPr/>
        </p:nvSpPr>
        <p:spPr>
          <a:xfrm>
            <a:off x="2551176" y="333938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2100720" y="3092501"/>
            <a:ext cx="900913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100720" y="3092501"/>
            <a:ext cx="90091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+ -E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10218572" y="3339389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9922624" y="3092501"/>
            <a:ext cx="59189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9922624" y="3092501"/>
            <a:ext cx="59189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1691640" y="3945941"/>
            <a:ext cx="228295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nat worden.</a:t>
            </a:r>
            <a:endParaRPr lang="en-US" sz="2400" dirty="0"/>
          </a:p>
        </p:txBody>
      </p:sp>
      <p:sp>
        <p:nvSpPr>
          <p:cNvPr id="46" name="Shape 42"/>
          <p:cNvSpPr/>
          <p:nvPr/>
        </p:nvSpPr>
        <p:spPr>
          <a:xfrm>
            <a:off x="3712464" y="5012741"/>
            <a:ext cx="1745590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3712464" y="5000549"/>
            <a:ext cx="174559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Morgen ga ik</a:t>
            </a:r>
            <a:endParaRPr lang="en-US" sz="2400" dirty="0"/>
          </a:p>
        </p:txBody>
      </p:sp>
      <p:sp>
        <p:nvSpPr>
          <p:cNvPr id="48" name="Text 44"/>
          <p:cNvSpPr txBox="1"/>
          <p:nvPr/>
        </p:nvSpPr>
        <p:spPr>
          <a:xfrm>
            <a:off x="5545226" y="5000549"/>
            <a:ext cx="187330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een terras</a:t>
            </a:r>
            <a:endParaRPr lang="en-US" sz="2400" dirty="0"/>
          </a:p>
        </p:txBody>
      </p:sp>
      <p:sp>
        <p:nvSpPr>
          <p:cNvPr id="49" name="Shape 45"/>
          <p:cNvSpPr/>
          <p:nvPr/>
        </p:nvSpPr>
        <p:spPr>
          <a:xfrm>
            <a:off x="7322820" y="5012741"/>
            <a:ext cx="815950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7322820" y="5000549"/>
            <a:ext cx="81595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zitten</a:t>
            </a:r>
            <a:endParaRPr lang="en-US" sz="2400" dirty="0"/>
          </a:p>
        </p:txBody>
      </p:sp>
      <p:sp>
        <p:nvSpPr>
          <p:cNvPr id="51" name="Text 47"/>
          <p:cNvSpPr txBox="1"/>
          <p:nvPr/>
        </p:nvSpPr>
        <p:spPr>
          <a:xfrm>
            <a:off x="8138770" y="5000549"/>
            <a:ext cx="1727606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in Spanje!</a:t>
            </a:r>
            <a:endParaRPr lang="en-US" sz="2400" dirty="0"/>
          </a:p>
        </p:txBody>
      </p:sp>
      <p:sp>
        <p:nvSpPr>
          <p:cNvPr id="52" name="Shape 48"/>
          <p:cNvSpPr/>
          <p:nvPr/>
        </p:nvSpPr>
        <p:spPr>
          <a:xfrm>
            <a:off x="4585259" y="4936541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4028072" y="4689653"/>
            <a:ext cx="111437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4028072" y="4689653"/>
            <a:ext cx="111437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MORGEN GA IK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7730795" y="4936541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7358361" y="4689653"/>
            <a:ext cx="74486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7358361" y="4689653"/>
            <a:ext cx="74486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infinitif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Bij de dokter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Chez le médecin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dokter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0" name="Image 1" descr="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L’ORAL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malade. Expliquez au médecin ce qui ne va pas.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Saluez et dites comment vous allez avec </a:t>
            </a:r>
            <a:r>
              <a:rPr lang="en-US" sz="1450" b="1" dirty="0">
                <a:solidFill>
                  <a:srgbClr val="2B2F38"/>
                </a:solidFill>
              </a:rPr>
              <a:t>IK BEN</a:t>
            </a:r>
            <a:r>
              <a:rPr lang="en-US" sz="1450" dirty="0">
                <a:solidFill>
                  <a:srgbClr val="2B2F38"/>
                </a:solidFill>
              </a:rPr>
              <a:t> + adjectif.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Utilisez </a:t>
            </a:r>
            <a:r>
              <a:rPr lang="en-US" sz="1450" b="1" dirty="0">
                <a:solidFill>
                  <a:srgbClr val="2B2F38"/>
                </a:solidFill>
              </a:rPr>
              <a:t>IK HEB PIJN AAN</a:t>
            </a:r>
            <a:r>
              <a:rPr lang="en-US" sz="1450" dirty="0">
                <a:solidFill>
                  <a:srgbClr val="2B2F38"/>
                </a:solidFill>
              </a:rPr>
              <a:t> + une partie du corps.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Dites depuis quand avec </a:t>
            </a:r>
            <a:r>
              <a:rPr lang="en-US" sz="1450" b="1" dirty="0">
                <a:solidFill>
                  <a:srgbClr val="2B2F38"/>
                </a:solidFill>
              </a:rPr>
              <a:t>SINDS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Posez une question avec </a:t>
            </a:r>
            <a:r>
              <a:rPr lang="en-US" sz="1450" b="1" dirty="0">
                <a:solidFill>
                  <a:srgbClr val="2B2F38"/>
                </a:solidFill>
              </a:rPr>
              <a:t>MOET IK</a:t>
            </a:r>
            <a:r>
              <a:rPr lang="en-US" sz="1450" dirty="0">
                <a:solidFill>
                  <a:srgbClr val="2B2F38"/>
                </a:solidFill>
              </a:rPr>
              <a:t> … + infinitif à la fin.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une chute avec </a:t>
            </a:r>
            <a:r>
              <a:rPr lang="en-US" sz="1450" b="1" dirty="0">
                <a:solidFill>
                  <a:srgbClr val="2B2F38"/>
                </a:solidFill>
              </a:rPr>
              <a:t>GEEN</a:t>
            </a:r>
            <a:r>
              <a:rPr lang="en-US" sz="1450" dirty="0">
                <a:solidFill>
                  <a:srgbClr val="2B2F38"/>
                </a:solidFill>
              </a:rPr>
              <a:t> ou </a:t>
            </a:r>
            <a:r>
              <a:rPr lang="en-US" sz="1450" b="1" dirty="0">
                <a:solidFill>
                  <a:srgbClr val="2B2F38"/>
                </a:solidFill>
              </a:rPr>
              <a:t>NIET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Vertel je verhaal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Bij de dokter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dok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zeggen…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6F4EA"/>
          </a:solidFill>
          <a:ln w="28575">
            <a:solidFill>
              <a:srgbClr val="6DBE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3D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dokter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766974"/>
            <a:ext cx="302453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Goedemorgen, dokter,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4620463" y="2779166"/>
            <a:ext cx="1426769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620463" y="2766974"/>
            <a:ext cx="1426769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ben ziek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6134405" y="2766974"/>
            <a:ext cx="2697175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heel moe. Ik heb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8735873" y="2779166"/>
            <a:ext cx="1105205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5873" y="2766974"/>
            <a:ext cx="1105205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pijn aan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9928250" y="2766974"/>
            <a:ext cx="1949806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mijn hoofd en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5333848" y="2702966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57337" y="2456078"/>
            <a:ext cx="9530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57337" y="2456078"/>
            <a:ext cx="9530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BEN + adj.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288475" y="2702966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907310" y="2456078"/>
            <a:ext cx="762330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907310" y="2456078"/>
            <a:ext cx="76233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PIJN AAN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691640" y="3620414"/>
            <a:ext cx="3028493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mijn keel. Ik hoest</a:t>
            </a:r>
            <a:endParaRPr lang="en-US" sz="2400" dirty="0"/>
          </a:p>
        </p:txBody>
      </p:sp>
      <p:sp>
        <p:nvSpPr>
          <p:cNvPr id="22" name="Shape 18"/>
          <p:cNvSpPr/>
          <p:nvPr/>
        </p:nvSpPr>
        <p:spPr>
          <a:xfrm>
            <a:off x="4624426" y="3632606"/>
            <a:ext cx="1977238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624426" y="3620414"/>
            <a:ext cx="1977238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sinds maandag</a:t>
            </a:r>
            <a:endParaRPr lang="en-US" sz="2400" dirty="0"/>
          </a:p>
        </p:txBody>
      </p:sp>
      <p:sp>
        <p:nvSpPr>
          <p:cNvPr id="24" name="Text 20"/>
          <p:cNvSpPr txBox="1"/>
          <p:nvPr/>
        </p:nvSpPr>
        <p:spPr>
          <a:xfrm>
            <a:off x="6601663" y="3620414"/>
            <a:ext cx="259690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  <p:sp>
        <p:nvSpPr>
          <p:cNvPr id="25" name="Shape 21"/>
          <p:cNvSpPr/>
          <p:nvPr/>
        </p:nvSpPr>
        <p:spPr>
          <a:xfrm>
            <a:off x="6765646" y="3632606"/>
            <a:ext cx="1071067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765646" y="3620414"/>
            <a:ext cx="1071067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 ik</a:t>
            </a:r>
            <a:endParaRPr lang="en-US" sz="2400" dirty="0"/>
          </a:p>
        </p:txBody>
      </p:sp>
      <p:sp>
        <p:nvSpPr>
          <p:cNvPr id="27" name="Text 23"/>
          <p:cNvSpPr txBox="1"/>
          <p:nvPr/>
        </p:nvSpPr>
        <p:spPr>
          <a:xfrm>
            <a:off x="7923886" y="3620414"/>
            <a:ext cx="114879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morgen</a:t>
            </a:r>
            <a:endParaRPr lang="en-US" sz="2400" dirty="0"/>
          </a:p>
        </p:txBody>
      </p:sp>
      <p:sp>
        <p:nvSpPr>
          <p:cNvPr id="28" name="Shape 24"/>
          <p:cNvSpPr/>
          <p:nvPr/>
        </p:nvSpPr>
        <p:spPr>
          <a:xfrm>
            <a:off x="8976970" y="3632606"/>
            <a:ext cx="1573682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976970" y="3620414"/>
            <a:ext cx="157368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thuisblijven</a:t>
            </a:r>
            <a:endParaRPr lang="en-US" sz="2400" dirty="0"/>
          </a:p>
        </p:txBody>
      </p:sp>
      <p:sp>
        <p:nvSpPr>
          <p:cNvPr id="30" name="Text 26"/>
          <p:cNvSpPr txBox="1"/>
          <p:nvPr/>
        </p:nvSpPr>
        <p:spPr>
          <a:xfrm>
            <a:off x="10550652" y="3620414"/>
            <a:ext cx="32400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</p:txBody>
      </p:sp>
      <p:sp>
        <p:nvSpPr>
          <p:cNvPr id="31" name="Shape 27"/>
          <p:cNvSpPr/>
          <p:nvPr/>
        </p:nvSpPr>
        <p:spPr>
          <a:xfrm>
            <a:off x="5613044" y="3556406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328552" y="3309518"/>
            <a:ext cx="56898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328552" y="3309518"/>
            <a:ext cx="56898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SINDS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7301179" y="3556406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941877" y="3309518"/>
            <a:ext cx="71860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941877" y="3309518"/>
            <a:ext cx="71860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 IK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9763811" y="3556406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9391377" y="3309518"/>
            <a:ext cx="74486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9391377" y="3309518"/>
            <a:ext cx="74486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infinitif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4015435" y="4675022"/>
            <a:ext cx="1766316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Wat? Ik mag</a:t>
            </a:r>
            <a:endParaRPr lang="en-US" sz="2400" dirty="0"/>
          </a:p>
        </p:txBody>
      </p:sp>
      <p:sp>
        <p:nvSpPr>
          <p:cNvPr id="41" name="Shape 37"/>
          <p:cNvSpPr/>
          <p:nvPr/>
        </p:nvSpPr>
        <p:spPr>
          <a:xfrm>
            <a:off x="5686044" y="4687214"/>
            <a:ext cx="706222" cy="371856"/>
          </a:xfrm>
          <a:prstGeom prst="roundRect">
            <a:avLst>
              <a:gd name="adj" fmla="val 12295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686044" y="4675022"/>
            <a:ext cx="70622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</a:t>
            </a:r>
            <a:endParaRPr lang="en-US" sz="2400" dirty="0"/>
          </a:p>
        </p:txBody>
      </p:sp>
      <p:sp>
        <p:nvSpPr>
          <p:cNvPr id="43" name="Text 39"/>
          <p:cNvSpPr txBox="1"/>
          <p:nvPr/>
        </p:nvSpPr>
        <p:spPr>
          <a:xfrm>
            <a:off x="6479438" y="4675022"/>
            <a:ext cx="3083966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chocolade meer eten?!</a:t>
            </a:r>
            <a:endParaRPr lang="en-US" sz="2400" dirty="0"/>
          </a:p>
        </p:txBody>
      </p:sp>
      <p:sp>
        <p:nvSpPr>
          <p:cNvPr id="44" name="Shape 40"/>
          <p:cNvSpPr/>
          <p:nvPr/>
        </p:nvSpPr>
        <p:spPr>
          <a:xfrm>
            <a:off x="6039155" y="4611014"/>
            <a:ext cx="914" cy="76200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5575776" y="4364126"/>
            <a:ext cx="92675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5575776" y="4364126"/>
            <a:ext cx="92675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/ NIET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Niveau A2 — Survie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554480" y="1371600"/>
            <a:ext cx="3017520" cy="4892040"/>
          </a:xfrm>
          <a:prstGeom prst="roundRect">
            <a:avLst>
              <a:gd name="adj" fmla="val 3636"/>
            </a:avLst>
          </a:prstGeom>
          <a:solidFill>
            <a:srgbClr val="E4E8FB"/>
          </a:solidFill>
          <a:ln w="15875">
            <a:solidFill>
              <a:srgbClr val="F2A66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37360" y="14813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qu’on évalue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1920240"/>
            <a:ext cx="2743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perfectum (hebben / zijn)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imparfait was / had / moest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/ superlatif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diminutifs · impératif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 pronominaux · modaux · zullen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· omdat · dus · daarom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/ dat + verbe à la fin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 / die / dit / dat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 / tussen / boven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00600" y="141732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10" name="Image 0" descr="/home/user/talenleren/neerlandais1/generateur/img/vijfzinnen/ze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463040"/>
            <a:ext cx="1627632" cy="101727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00600" y="257175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Een weekend aan zee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800600" y="301066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week-end à la mer</a:t>
            </a:r>
            <a:endParaRPr lang="en-US" sz="1050" dirty="0"/>
          </a:p>
        </p:txBody>
      </p:sp>
      <p:pic>
        <p:nvPicPr>
          <p:cNvPr id="13" name="Image 1" descr="PenNi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4" y="1527048"/>
            <a:ext cx="182880" cy="1828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583680" y="141732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15" name="Image 2" descr="/home/user/talenleren/neerlandais1/generateur/img/vijfzinnen/appartement_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463040"/>
            <a:ext cx="1627632" cy="10172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583680" y="257175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Mijn nieuwe appartement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6583680" y="301066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nouvel appartement</a:t>
            </a:r>
            <a:endParaRPr lang="en-US" sz="1050" dirty="0"/>
          </a:p>
        </p:txBody>
      </p:sp>
      <p:pic>
        <p:nvPicPr>
          <p:cNvPr id="18" name="Image 3" descr="PenNi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527048"/>
            <a:ext cx="182880" cy="18288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8366760" y="141732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20" name="Image 4" descr="/home/user/talenleren/neerlandais1/generateur/img/vijfzinnen/feestje_s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463040"/>
            <a:ext cx="1627632" cy="101727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366760" y="257175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Een feestje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8366760" y="301066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invitation</a:t>
            </a:r>
            <a:endParaRPr lang="en-US" sz="1050" dirty="0"/>
          </a:p>
        </p:txBody>
      </p:sp>
      <p:pic>
        <p:nvPicPr>
          <p:cNvPr id="23" name="Image 5" descr="PenNi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3224" y="1527048"/>
            <a:ext cx="182880" cy="18288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10149840" y="141732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25" name="Image 6" descr="/home/user/talenleren/neerlandais1/generateur/img/vijfzinnen/trein_s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5560" y="1463040"/>
            <a:ext cx="1627632" cy="101727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0149840" y="257175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De trein heeft vertraging</a:t>
            </a:r>
            <a:endParaRPr lang="en-US" sz="1200" dirty="0"/>
          </a:p>
        </p:txBody>
      </p:sp>
      <p:sp>
        <p:nvSpPr>
          <p:cNvPr id="27" name="Text 17"/>
          <p:cNvSpPr txBox="1"/>
          <p:nvPr/>
        </p:nvSpPr>
        <p:spPr>
          <a:xfrm>
            <a:off x="10149840" y="301066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train a du retard</a:t>
            </a:r>
            <a:endParaRPr lang="en-US" sz="1050" dirty="0"/>
          </a:p>
        </p:txBody>
      </p:sp>
      <p:pic>
        <p:nvPicPr>
          <p:cNvPr id="28" name="Image 7" descr="Comment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76304" y="1527048"/>
            <a:ext cx="182880" cy="18288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4800600" y="384048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30" name="Image 8" descr="/home/user/talenleren/neerlandais1/generateur/img/vijfzinnen/cadeau_s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886200"/>
            <a:ext cx="1627632" cy="101727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4800600" y="499491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Een cadeau kopen</a:t>
            </a:r>
            <a:endParaRPr lang="en-US" sz="1200" dirty="0"/>
          </a:p>
        </p:txBody>
      </p:sp>
      <p:sp>
        <p:nvSpPr>
          <p:cNvPr id="32" name="Text 20"/>
          <p:cNvSpPr txBox="1"/>
          <p:nvPr/>
        </p:nvSpPr>
        <p:spPr>
          <a:xfrm>
            <a:off x="4800600" y="543382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 un cadeau</a:t>
            </a:r>
            <a:endParaRPr lang="en-US" sz="1050" dirty="0"/>
          </a:p>
        </p:txBody>
      </p:sp>
      <p:pic>
        <p:nvPicPr>
          <p:cNvPr id="33" name="Image 9" descr="Comment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7064" y="3950208"/>
            <a:ext cx="182880" cy="182880"/>
          </a:xfrm>
          <a:prstGeom prst="rect">
            <a:avLst/>
          </a:prstGeom>
        </p:spPr>
      </p:pic>
      <p:sp>
        <p:nvSpPr>
          <p:cNvPr id="34" name="Shape 21"/>
          <p:cNvSpPr/>
          <p:nvPr/>
        </p:nvSpPr>
        <p:spPr>
          <a:xfrm>
            <a:off x="6583680" y="384048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35" name="Image 10" descr="/home/user/talenleren/neerlandais1/generateur/img/vijfzinnen/apotheek_s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3886200"/>
            <a:ext cx="1627632" cy="1017270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6583680" y="499491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Bij de apotheek</a:t>
            </a:r>
            <a:endParaRPr lang="en-US" sz="1200" dirty="0"/>
          </a:p>
        </p:txBody>
      </p:sp>
      <p:sp>
        <p:nvSpPr>
          <p:cNvPr id="37" name="Text 23"/>
          <p:cNvSpPr txBox="1"/>
          <p:nvPr/>
        </p:nvSpPr>
        <p:spPr>
          <a:xfrm>
            <a:off x="6583680" y="543382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pharmacie</a:t>
            </a:r>
            <a:endParaRPr lang="en-US" sz="1050" dirty="0"/>
          </a:p>
        </p:txBody>
      </p:sp>
      <p:pic>
        <p:nvPicPr>
          <p:cNvPr id="38" name="Image 11" descr="Comment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0144" y="3950208"/>
            <a:ext cx="182880" cy="182880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8366760" y="384048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40" name="Image 12" descr="/home/user/talenleren/neerlandais1/generateur/img/vijfzinnen/kaartje_s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2480" y="3886200"/>
            <a:ext cx="1627632" cy="1017270"/>
          </a:xfrm>
          <a:prstGeom prst="rect">
            <a:avLst/>
          </a:prstGeom>
        </p:spPr>
      </p:pic>
      <p:sp>
        <p:nvSpPr>
          <p:cNvPr id="41" name="Text 25"/>
          <p:cNvSpPr txBox="1"/>
          <p:nvPr/>
        </p:nvSpPr>
        <p:spPr>
          <a:xfrm>
            <a:off x="8366760" y="499491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Een vakantiekaartje</a:t>
            </a:r>
            <a:endParaRPr lang="en-US" sz="1200" dirty="0"/>
          </a:p>
        </p:txBody>
      </p:sp>
      <p:sp>
        <p:nvSpPr>
          <p:cNvPr id="42" name="Text 26"/>
          <p:cNvSpPr txBox="1"/>
          <p:nvPr/>
        </p:nvSpPr>
        <p:spPr>
          <a:xfrm>
            <a:off x="8366760" y="543382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carte postale</a:t>
            </a:r>
            <a:endParaRPr lang="en-US" sz="1050" dirty="0"/>
          </a:p>
        </p:txBody>
      </p:sp>
      <p:pic>
        <p:nvPicPr>
          <p:cNvPr id="43" name="Image 13" descr="PenNib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93224" y="3950208"/>
            <a:ext cx="182880" cy="182880"/>
          </a:xfrm>
          <a:prstGeom prst="rect">
            <a:avLst/>
          </a:prstGeom>
        </p:spPr>
      </p:pic>
      <p:sp>
        <p:nvSpPr>
          <p:cNvPr id="44" name="Shape 27"/>
          <p:cNvSpPr/>
          <p:nvPr/>
        </p:nvSpPr>
        <p:spPr>
          <a:xfrm>
            <a:off x="10149840" y="384048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45" name="Image 14" descr="/home/user/talenleren/neerlandais1/generateur/img/vijfzinnen/werkdag_s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95560" y="3886200"/>
            <a:ext cx="1627632" cy="1017270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10149840" y="499491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Mijn eerste werkdag</a:t>
            </a:r>
            <a:endParaRPr lang="en-US" sz="1200" dirty="0"/>
          </a:p>
        </p:txBody>
      </p:sp>
      <p:sp>
        <p:nvSpPr>
          <p:cNvPr id="47" name="Text 29"/>
          <p:cNvSpPr txBox="1"/>
          <p:nvPr/>
        </p:nvSpPr>
        <p:spPr>
          <a:xfrm>
            <a:off x="10149840" y="543382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premier jour de travail</a:t>
            </a:r>
            <a:endParaRPr lang="en-US" sz="1050" dirty="0"/>
          </a:p>
        </p:txBody>
      </p:sp>
      <p:pic>
        <p:nvPicPr>
          <p:cNvPr id="48" name="Image 15" descr="Comments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576304" y="3950208"/>
            <a:ext cx="182880" cy="182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Een weekend aan zee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 week-end à la mer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ze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4A7BD0"/>
            </a:solidFill>
            <a:prstDash val="solid"/>
          </a:ln>
        </p:spPr>
      </p:sp>
      <p:pic>
        <p:nvPicPr>
          <p:cNvPr id="10" name="Image 1" descr="PenNi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4A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L’ÉCRIT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matin : racontez votre week-end à la mer à un·e collègue, par message.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Situez avec </a:t>
            </a:r>
            <a:r>
              <a:rPr lang="en-US" sz="1450" b="1" dirty="0">
                <a:solidFill>
                  <a:srgbClr val="2B2F38"/>
                </a:solidFill>
              </a:rPr>
              <a:t>VORIG WEEKEND</a:t>
            </a:r>
            <a:r>
              <a:rPr lang="en-US" sz="1450" dirty="0">
                <a:solidFill>
                  <a:srgbClr val="2B2F38"/>
                </a:solidFill>
              </a:rPr>
              <a:t> + un perfectum avec </a:t>
            </a:r>
            <a:r>
              <a:rPr lang="en-US" sz="1450" b="1" dirty="0">
                <a:solidFill>
                  <a:srgbClr val="2B2F38"/>
                </a:solidFill>
              </a:rPr>
              <a:t>ZIJN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Utilisez deux verbes au perfectum avec </a:t>
            </a:r>
            <a:r>
              <a:rPr lang="en-US" sz="1450" b="1" dirty="0">
                <a:solidFill>
                  <a:srgbClr val="2B2F38"/>
                </a:solidFill>
              </a:rPr>
              <a:t>HEBBEN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Décrivez le temps à l’imparfait : </a:t>
            </a:r>
            <a:r>
              <a:rPr lang="en-US" sz="1450" b="1" dirty="0">
                <a:solidFill>
                  <a:srgbClr val="2B2F38"/>
                </a:solidFill>
              </a:rPr>
              <a:t>HET WAS</a:t>
            </a:r>
            <a:r>
              <a:rPr lang="en-US" sz="1450" dirty="0">
                <a:solidFill>
                  <a:srgbClr val="2B2F38"/>
                </a:solidFill>
              </a:rPr>
              <a:t> + adjectif.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Ajoutez une conséquence avec </a:t>
            </a:r>
            <a:r>
              <a:rPr lang="en-US" sz="1450" b="1" dirty="0">
                <a:solidFill>
                  <a:srgbClr val="2B2F38"/>
                </a:solidFill>
              </a:rPr>
              <a:t>DAAROM</a:t>
            </a:r>
            <a:r>
              <a:rPr lang="en-US" sz="1450" dirty="0">
                <a:solidFill>
                  <a:srgbClr val="2B2F38"/>
                </a:solidFill>
              </a:rPr>
              <a:t> (inversion !).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une chute : un problème au retour, avec </a:t>
            </a:r>
            <a:r>
              <a:rPr lang="en-US" sz="1450" b="1" dirty="0">
                <a:solidFill>
                  <a:srgbClr val="2B2F38"/>
                </a:solidFill>
              </a:rPr>
              <a:t>MAAR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je tekst voor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Een weekend aan zee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ze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schrijven…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ze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478430"/>
            <a:ext cx="190103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Vorig weekend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3491230" y="2489606"/>
            <a:ext cx="532054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491230" y="2478430"/>
            <a:ext cx="53205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4104716" y="2478430"/>
            <a:ext cx="3780942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met vrienden naar Oostende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7784211" y="2489606"/>
            <a:ext cx="922934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84211" y="2478430"/>
            <a:ext cx="92293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gegaan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8707145" y="2478430"/>
            <a:ext cx="72252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9328226" y="2489606"/>
            <a:ext cx="972668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328226" y="2478430"/>
            <a:ext cx="97266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hebben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10382326" y="2478430"/>
            <a:ext cx="937666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het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3757257" y="241442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526339" y="2167534"/>
            <a:ext cx="46183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526339" y="2167534"/>
            <a:ext cx="46183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245678" y="241442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828121" y="2167534"/>
            <a:ext cx="83511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828121" y="2167534"/>
            <a:ext cx="83511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participe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9814560" y="241442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468180" y="2167534"/>
            <a:ext cx="692760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468180" y="2167534"/>
            <a:ext cx="69276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HEBBEN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1691640" y="3298850"/>
            <a:ext cx="91043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</a:t>
            </a:r>
            <a:endParaRPr lang="en-US" sz="2200" dirty="0"/>
          </a:p>
        </p:txBody>
      </p:sp>
      <p:sp>
        <p:nvSpPr>
          <p:cNvPr id="28" name="Shape 24"/>
          <p:cNvSpPr/>
          <p:nvPr/>
        </p:nvSpPr>
        <p:spPr>
          <a:xfrm>
            <a:off x="2500630" y="3310026"/>
            <a:ext cx="1369974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2500630" y="3298850"/>
            <a:ext cx="136997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gewandeld</a:t>
            </a:r>
            <a:endParaRPr lang="en-US" sz="2200" dirty="0"/>
          </a:p>
        </p:txBody>
      </p:sp>
      <p:sp>
        <p:nvSpPr>
          <p:cNvPr id="30" name="Text 26"/>
          <p:cNvSpPr txBox="1"/>
          <p:nvPr/>
        </p:nvSpPr>
        <p:spPr>
          <a:xfrm>
            <a:off x="3952037" y="3298850"/>
            <a:ext cx="2093951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veel garnalen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5944540" y="3310026"/>
            <a:ext cx="1024915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944540" y="3298850"/>
            <a:ext cx="102491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gegeten</a:t>
            </a:r>
            <a:endParaRPr lang="en-US" sz="2200" dirty="0"/>
          </a:p>
        </p:txBody>
      </p:sp>
      <p:sp>
        <p:nvSpPr>
          <p:cNvPr id="33" name="Text 29"/>
          <p:cNvSpPr txBox="1"/>
          <p:nvPr/>
        </p:nvSpPr>
        <p:spPr>
          <a:xfrm>
            <a:off x="6969455" y="3298850"/>
            <a:ext cx="25328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34" name="Shape 30"/>
          <p:cNvSpPr/>
          <p:nvPr/>
        </p:nvSpPr>
        <p:spPr>
          <a:xfrm>
            <a:off x="7121296" y="3310026"/>
            <a:ext cx="1026033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121296" y="3298850"/>
            <a:ext cx="102603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was</a:t>
            </a:r>
            <a:endParaRPr lang="en-US" sz="2200" dirty="0"/>
          </a:p>
        </p:txBody>
      </p:sp>
      <p:sp>
        <p:nvSpPr>
          <p:cNvPr id="36" name="Text 32"/>
          <p:cNvSpPr txBox="1"/>
          <p:nvPr/>
        </p:nvSpPr>
        <p:spPr>
          <a:xfrm>
            <a:off x="8228762" y="3298850"/>
            <a:ext cx="3062046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zonnig, maar er was veel</a:t>
            </a:r>
            <a:endParaRPr lang="en-US" sz="2200" dirty="0"/>
          </a:p>
        </p:txBody>
      </p:sp>
      <p:sp>
        <p:nvSpPr>
          <p:cNvPr id="37" name="Shape 33"/>
          <p:cNvSpPr/>
          <p:nvPr/>
        </p:nvSpPr>
        <p:spPr>
          <a:xfrm>
            <a:off x="3185617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2768060" y="2987954"/>
            <a:ext cx="83511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2768060" y="2987954"/>
            <a:ext cx="83511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participe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6456998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039441" y="2987954"/>
            <a:ext cx="83511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039441" y="2987954"/>
            <a:ext cx="83511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participe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7634313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257409" y="2987954"/>
            <a:ext cx="753809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257409" y="2987954"/>
            <a:ext cx="75380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WAS</a:t>
            </a:r>
            <a:endParaRPr lang="en-US" sz="1100" dirty="0"/>
          </a:p>
        </p:txBody>
      </p:sp>
      <p:sp>
        <p:nvSpPr>
          <p:cNvPr id="46" name="Text 42"/>
          <p:cNvSpPr txBox="1"/>
          <p:nvPr/>
        </p:nvSpPr>
        <p:spPr>
          <a:xfrm>
            <a:off x="1691640" y="4119270"/>
            <a:ext cx="810692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wind.</a:t>
            </a:r>
            <a:endParaRPr lang="en-US" sz="2200" dirty="0"/>
          </a:p>
        </p:txBody>
      </p:sp>
      <p:sp>
        <p:nvSpPr>
          <p:cNvPr id="47" name="Shape 43"/>
          <p:cNvSpPr/>
          <p:nvPr/>
        </p:nvSpPr>
        <p:spPr>
          <a:xfrm>
            <a:off x="2400884" y="4130446"/>
            <a:ext cx="2376373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2400884" y="4119270"/>
            <a:ext cx="237637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Daarom hebben we</a:t>
            </a:r>
            <a:endParaRPr lang="en-US" sz="2200" dirty="0"/>
          </a:p>
        </p:txBody>
      </p:sp>
      <p:sp>
        <p:nvSpPr>
          <p:cNvPr id="49" name="Text 45"/>
          <p:cNvSpPr txBox="1"/>
          <p:nvPr/>
        </p:nvSpPr>
        <p:spPr>
          <a:xfrm>
            <a:off x="4858690" y="4119270"/>
            <a:ext cx="250690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vlieger gekocht.</a:t>
            </a:r>
            <a:endParaRPr lang="en-US" sz="2200" dirty="0"/>
          </a:p>
        </p:txBody>
      </p:sp>
      <p:sp>
        <p:nvSpPr>
          <p:cNvPr id="50" name="Shape 46"/>
          <p:cNvSpPr/>
          <p:nvPr/>
        </p:nvSpPr>
        <p:spPr>
          <a:xfrm>
            <a:off x="3589071" y="405526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2868924" y="3808374"/>
            <a:ext cx="144029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2868924" y="3808374"/>
            <a:ext cx="144029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DAAROM + inversion</a:t>
            </a:r>
            <a:endParaRPr lang="en-US" sz="1100" dirty="0"/>
          </a:p>
        </p:txBody>
      </p:sp>
      <p:sp>
        <p:nvSpPr>
          <p:cNvPr id="53" name="Shape 49"/>
          <p:cNvSpPr/>
          <p:nvPr/>
        </p:nvSpPr>
        <p:spPr>
          <a:xfrm>
            <a:off x="3129725" y="5152034"/>
            <a:ext cx="710870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3129725" y="5140858"/>
            <a:ext cx="710870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</a:t>
            </a:r>
            <a:endParaRPr lang="en-US" sz="2200" dirty="0"/>
          </a:p>
        </p:txBody>
      </p:sp>
      <p:sp>
        <p:nvSpPr>
          <p:cNvPr id="55" name="Text 51"/>
          <p:cNvSpPr txBox="1"/>
          <p:nvPr/>
        </p:nvSpPr>
        <p:spPr>
          <a:xfrm>
            <a:off x="3922027" y="5140858"/>
            <a:ext cx="652708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de terugweg hebben we drie uur in de file gestaan!</a:t>
            </a:r>
            <a:endParaRPr lang="en-US" sz="2200" dirty="0"/>
          </a:p>
        </p:txBody>
      </p:sp>
      <p:sp>
        <p:nvSpPr>
          <p:cNvPr id="56" name="Shape 52"/>
          <p:cNvSpPr/>
          <p:nvPr/>
        </p:nvSpPr>
        <p:spPr>
          <a:xfrm>
            <a:off x="3485159" y="5076850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3190399" y="4829962"/>
            <a:ext cx="5895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3190399" y="4829962"/>
            <a:ext cx="5895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Mijn nieuwe appartement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Mon nouvel appartement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appartement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4A7BD0"/>
            </a:solidFill>
            <a:prstDash val="solid"/>
          </a:ln>
        </p:spPr>
      </p:sp>
      <p:pic>
        <p:nvPicPr>
          <p:cNvPr id="10" name="Image 1" descr="PenNi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4A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L’ÉCRIT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soir, vous êtes enfin dans votre nouvel appartement. Décrivez l’ambiance.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Situez le contexte avec l’auxiliaire </a:t>
            </a:r>
            <a:r>
              <a:rPr lang="en-US" sz="1450" b="1" dirty="0">
                <a:solidFill>
                  <a:srgbClr val="2B2F38"/>
                </a:solidFill>
              </a:rPr>
              <a:t>ZIJN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Décrivez l’ambiance avec trois adjectifs : deux </a:t>
            </a:r>
            <a:r>
              <a:rPr lang="en-US" sz="1450" b="1" dirty="0">
                <a:solidFill>
                  <a:srgbClr val="2B2F38"/>
                </a:solidFill>
              </a:rPr>
              <a:t>qualificatifs</a:t>
            </a:r>
            <a:r>
              <a:rPr lang="en-US" sz="1450" dirty="0">
                <a:solidFill>
                  <a:srgbClr val="2B2F38"/>
                </a:solidFill>
              </a:rPr>
              <a:t> et un </a:t>
            </a:r>
            <a:r>
              <a:rPr lang="en-US" sz="1450" b="1" dirty="0">
                <a:solidFill>
                  <a:srgbClr val="2B2F38"/>
                </a:solidFill>
              </a:rPr>
              <a:t>attribut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Utilisez au moins une préposition parmi </a:t>
            </a:r>
            <a:r>
              <a:rPr lang="en-US" sz="1450" b="1" dirty="0">
                <a:solidFill>
                  <a:srgbClr val="2B2F38"/>
                </a:solidFill>
              </a:rPr>
              <a:t>NAAR</a:t>
            </a:r>
            <a:r>
              <a:rPr lang="en-US" sz="1450" dirty="0">
                <a:solidFill>
                  <a:srgbClr val="2B2F38"/>
                </a:solidFill>
              </a:rPr>
              <a:t>, </a:t>
            </a:r>
            <a:r>
              <a:rPr lang="en-US" sz="1450" b="1" dirty="0">
                <a:solidFill>
                  <a:srgbClr val="2B2F38"/>
                </a:solidFill>
              </a:rPr>
              <a:t>TUSSEN</a:t>
            </a:r>
            <a:r>
              <a:rPr lang="en-US" sz="1450" dirty="0">
                <a:solidFill>
                  <a:srgbClr val="2B2F38"/>
                </a:solidFill>
              </a:rPr>
              <a:t> et </a:t>
            </a:r>
            <a:r>
              <a:rPr lang="en-US" sz="1450" b="1" dirty="0">
                <a:solidFill>
                  <a:srgbClr val="2B2F38"/>
                </a:solidFill>
              </a:rPr>
              <a:t>BOVEN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Utilisez </a:t>
            </a:r>
            <a:r>
              <a:rPr lang="en-US" sz="1450" b="1" dirty="0">
                <a:solidFill>
                  <a:srgbClr val="2B2F38"/>
                </a:solidFill>
              </a:rPr>
              <a:t>WANT</a:t>
            </a:r>
            <a:r>
              <a:rPr lang="en-US" sz="1450" dirty="0">
                <a:solidFill>
                  <a:srgbClr val="2B2F38"/>
                </a:solidFill>
              </a:rPr>
              <a:t> ou </a:t>
            </a:r>
            <a:r>
              <a:rPr lang="en-US" sz="1450" b="1" dirty="0">
                <a:solidFill>
                  <a:srgbClr val="2B2F38"/>
                </a:solidFill>
              </a:rPr>
              <a:t>OMDAT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Concluez par une chute finale de votre choix.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je tekst voor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Mijn nieuwe appartement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appartem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schrijven…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appartement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150262"/>
            <a:ext cx="325343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zaterdagavond en ik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4843628" y="2161438"/>
            <a:ext cx="532054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843628" y="2150262"/>
            <a:ext cx="53205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5457114" y="2150262"/>
            <a:ext cx="480941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eindelijk naar mijn nieuwe appartement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10165080" y="2161438"/>
            <a:ext cx="1093648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0165080" y="2150262"/>
            <a:ext cx="109364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verhuisd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11258728" y="2150262"/>
            <a:ext cx="25328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5109655" y="2086254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78737" y="1839366"/>
            <a:ext cx="46183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78737" y="1839366"/>
            <a:ext cx="46183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0711904" y="2086254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294347" y="1839366"/>
            <a:ext cx="83511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294347" y="1839366"/>
            <a:ext cx="83511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participe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691640" y="2970682"/>
            <a:ext cx="1351026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een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2941218" y="2981858"/>
            <a:ext cx="733222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2941218" y="2970682"/>
            <a:ext cx="733222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lichte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3674440" y="2970682"/>
            <a:ext cx="252730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3825723" y="2981858"/>
            <a:ext cx="777088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825723" y="2970682"/>
            <a:ext cx="77708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ruime</a:t>
            </a:r>
            <a:endParaRPr lang="en-US" sz="2200" dirty="0"/>
          </a:p>
        </p:txBody>
      </p:sp>
      <p:sp>
        <p:nvSpPr>
          <p:cNvPr id="27" name="Text 23"/>
          <p:cNvSpPr txBox="1"/>
          <p:nvPr/>
        </p:nvSpPr>
        <p:spPr>
          <a:xfrm>
            <a:off x="4684243" y="2970682"/>
            <a:ext cx="2930881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woonkamer en de sfeer</a:t>
            </a:r>
            <a:endParaRPr lang="en-US" sz="2200" dirty="0"/>
          </a:p>
        </p:txBody>
      </p:sp>
      <p:sp>
        <p:nvSpPr>
          <p:cNvPr id="28" name="Shape 24"/>
          <p:cNvSpPr/>
          <p:nvPr/>
        </p:nvSpPr>
        <p:spPr>
          <a:xfrm>
            <a:off x="7513676" y="2981858"/>
            <a:ext cx="1197864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513676" y="2970682"/>
            <a:ext cx="119786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gezellig</a:t>
            </a:r>
            <a:endParaRPr lang="en-US" sz="2200" dirty="0"/>
          </a:p>
        </p:txBody>
      </p:sp>
      <p:sp>
        <p:nvSpPr>
          <p:cNvPr id="30" name="Text 26"/>
          <p:cNvSpPr txBox="1"/>
          <p:nvPr/>
        </p:nvSpPr>
        <p:spPr>
          <a:xfrm>
            <a:off x="8711540" y="2970682"/>
            <a:ext cx="238884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Mijn bureau staat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3307829" y="2906674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798769" y="2659786"/>
            <a:ext cx="10181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798769" y="2659786"/>
            <a:ext cx="10181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QUALIFICATIF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 flipH="1">
            <a:off x="4214266" y="2906674"/>
            <a:ext cx="166548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3871754" y="2659786"/>
            <a:ext cx="10181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3871754" y="2659786"/>
            <a:ext cx="10181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QUALIFICATIF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8112608" y="2906674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714050" y="2659786"/>
            <a:ext cx="79711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714050" y="2659786"/>
            <a:ext cx="79711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1691640" y="3802278"/>
            <a:ext cx="851967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691640" y="3791102"/>
            <a:ext cx="85196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tussen</a:t>
            </a:r>
            <a:endParaRPr lang="en-US" sz="2200" dirty="0"/>
          </a:p>
        </p:txBody>
      </p:sp>
      <p:sp>
        <p:nvSpPr>
          <p:cNvPr id="42" name="Text 38"/>
          <p:cNvSpPr txBox="1"/>
          <p:nvPr/>
        </p:nvSpPr>
        <p:spPr>
          <a:xfrm>
            <a:off x="2625039" y="3791102"/>
            <a:ext cx="2310892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twee ramen en</a:t>
            </a:r>
            <a:endParaRPr lang="en-US" sz="2200" dirty="0"/>
          </a:p>
        </p:txBody>
      </p:sp>
      <p:sp>
        <p:nvSpPr>
          <p:cNvPr id="43" name="Shape 39"/>
          <p:cNvSpPr/>
          <p:nvPr/>
        </p:nvSpPr>
        <p:spPr>
          <a:xfrm>
            <a:off x="4834484" y="3802278"/>
            <a:ext cx="814527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4834484" y="3791102"/>
            <a:ext cx="81452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boven</a:t>
            </a:r>
            <a:endParaRPr lang="en-US" sz="2200" dirty="0"/>
          </a:p>
        </p:txBody>
      </p:sp>
      <p:sp>
        <p:nvSpPr>
          <p:cNvPr id="45" name="Text 41"/>
          <p:cNvSpPr txBox="1"/>
          <p:nvPr/>
        </p:nvSpPr>
        <p:spPr>
          <a:xfrm>
            <a:off x="5730443" y="3791102"/>
            <a:ext cx="5147716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bank hangt een spiegel. Ik ben heel blij,</a:t>
            </a:r>
            <a:endParaRPr lang="en-US" sz="2200" dirty="0"/>
          </a:p>
        </p:txBody>
      </p:sp>
      <p:sp>
        <p:nvSpPr>
          <p:cNvPr id="46" name="Shape 42"/>
          <p:cNvSpPr/>
          <p:nvPr/>
        </p:nvSpPr>
        <p:spPr>
          <a:xfrm>
            <a:off x="10776712" y="3802278"/>
            <a:ext cx="853923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0776712" y="3791102"/>
            <a:ext cx="85392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omdat</a:t>
            </a:r>
            <a:endParaRPr lang="en-US" sz="2200" dirty="0"/>
          </a:p>
        </p:txBody>
      </p:sp>
      <p:sp>
        <p:nvSpPr>
          <p:cNvPr id="48" name="Shape 44"/>
          <p:cNvSpPr/>
          <p:nvPr/>
        </p:nvSpPr>
        <p:spPr>
          <a:xfrm>
            <a:off x="2117623" y="3727094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781512" y="3480206"/>
            <a:ext cx="67222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1781512" y="3480206"/>
            <a:ext cx="67222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TUSSEN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5241747" y="3727094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4924215" y="3480206"/>
            <a:ext cx="63506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4924215" y="3480206"/>
            <a:ext cx="63506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BOVEN</a:t>
            </a:r>
            <a:endParaRPr lang="en-US" sz="1100" dirty="0"/>
          </a:p>
        </p:txBody>
      </p:sp>
      <p:sp>
        <p:nvSpPr>
          <p:cNvPr id="54" name="Shape 50"/>
          <p:cNvSpPr/>
          <p:nvPr/>
        </p:nvSpPr>
        <p:spPr>
          <a:xfrm>
            <a:off x="11203673" y="3727094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0864767" y="3480206"/>
            <a:ext cx="677812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10864767" y="3480206"/>
            <a:ext cx="67781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OMDAT</a:t>
            </a:r>
            <a:endParaRPr lang="en-US" sz="1100" dirty="0"/>
          </a:p>
        </p:txBody>
      </p:sp>
      <p:sp>
        <p:nvSpPr>
          <p:cNvPr id="57" name="Text 53"/>
          <p:cNvSpPr txBox="1"/>
          <p:nvPr/>
        </p:nvSpPr>
        <p:spPr>
          <a:xfrm>
            <a:off x="1691640" y="4611522"/>
            <a:ext cx="2986456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nu dicht bij mijn werk</a:t>
            </a:r>
            <a:endParaRPr lang="en-US" sz="2200" dirty="0"/>
          </a:p>
        </p:txBody>
      </p:sp>
      <p:sp>
        <p:nvSpPr>
          <p:cNvPr id="58" name="Shape 54"/>
          <p:cNvSpPr/>
          <p:nvPr/>
        </p:nvSpPr>
        <p:spPr>
          <a:xfrm>
            <a:off x="4576648" y="4622698"/>
            <a:ext cx="750265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4576648" y="4611522"/>
            <a:ext cx="75026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woon</a:t>
            </a:r>
            <a:endParaRPr lang="en-US" sz="2200" dirty="0"/>
          </a:p>
        </p:txBody>
      </p:sp>
      <p:sp>
        <p:nvSpPr>
          <p:cNvPr id="60" name="Text 56"/>
          <p:cNvSpPr txBox="1"/>
          <p:nvPr/>
        </p:nvSpPr>
        <p:spPr>
          <a:xfrm>
            <a:off x="5326913" y="4611522"/>
            <a:ext cx="25328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61" name="Shape 57"/>
          <p:cNvSpPr/>
          <p:nvPr/>
        </p:nvSpPr>
        <p:spPr>
          <a:xfrm>
            <a:off x="4951781" y="4547514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4466120" y="4300626"/>
            <a:ext cx="9713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4466120" y="4300626"/>
            <a:ext cx="9713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 à la fin</a:t>
            </a:r>
            <a:endParaRPr lang="en-US" sz="1100" dirty="0"/>
          </a:p>
        </p:txBody>
      </p:sp>
      <p:sp>
        <p:nvSpPr>
          <p:cNvPr id="64" name="Shape 60"/>
          <p:cNvSpPr/>
          <p:nvPr/>
        </p:nvSpPr>
        <p:spPr>
          <a:xfrm>
            <a:off x="2900756" y="5644286"/>
            <a:ext cx="7594448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2900756" y="5633110"/>
            <a:ext cx="759444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 mijn buurman speelt elke avond tot middernacht trompet!</a:t>
            </a:r>
            <a:endParaRPr lang="en-US" sz="2200" dirty="0"/>
          </a:p>
        </p:txBody>
      </p:sp>
      <p:sp>
        <p:nvSpPr>
          <p:cNvPr id="66" name="Shape 62"/>
          <p:cNvSpPr/>
          <p:nvPr/>
        </p:nvSpPr>
        <p:spPr>
          <a:xfrm>
            <a:off x="6697980" y="556910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6392951" y="5322214"/>
            <a:ext cx="61005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6392951" y="5322214"/>
            <a:ext cx="61005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Een feestje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Une invitation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feestj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4A7BD0"/>
            </a:solidFill>
            <a:prstDash val="solid"/>
          </a:ln>
        </p:spPr>
      </p:sp>
      <p:pic>
        <p:nvPicPr>
          <p:cNvPr id="10" name="Image 1" descr="PenNi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4A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L’ÉCRIT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organisez une fête d’anniversaire. Écrivez l’invitation à vos ami·es.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Annoncez la fête avec un </a:t>
            </a:r>
            <a:r>
              <a:rPr lang="en-US" sz="1450" b="1" dirty="0">
                <a:solidFill>
                  <a:srgbClr val="2B2F38"/>
                </a:solidFill>
              </a:rPr>
              <a:t>diminutif</a:t>
            </a:r>
            <a:r>
              <a:rPr lang="en-US" sz="1450" dirty="0">
                <a:solidFill>
                  <a:srgbClr val="2B2F38"/>
                </a:solidFill>
              </a:rPr>
              <a:t> (-JE / -TJE).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Donnez la date et l’heure avec </a:t>
            </a:r>
            <a:r>
              <a:rPr lang="en-US" sz="1450" b="1" dirty="0">
                <a:solidFill>
                  <a:srgbClr val="2B2F38"/>
                </a:solidFill>
              </a:rPr>
              <a:t>OP</a:t>
            </a:r>
            <a:r>
              <a:rPr lang="en-US" sz="1450" dirty="0">
                <a:solidFill>
                  <a:srgbClr val="2B2F38"/>
                </a:solidFill>
              </a:rPr>
              <a:t> … et </a:t>
            </a:r>
            <a:r>
              <a:rPr lang="en-US" sz="1450" b="1" dirty="0">
                <a:solidFill>
                  <a:srgbClr val="2B2F38"/>
                </a:solidFill>
              </a:rPr>
              <a:t>OM</a:t>
            </a:r>
            <a:r>
              <a:rPr lang="en-US" sz="1450" dirty="0">
                <a:solidFill>
                  <a:srgbClr val="2B2F38"/>
                </a:solidFill>
              </a:rPr>
              <a:t> …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Expliquez le chemin avec deux </a:t>
            </a:r>
            <a:r>
              <a:rPr lang="en-US" sz="1450" b="1" dirty="0">
                <a:solidFill>
                  <a:srgbClr val="2B2F38"/>
                </a:solidFill>
              </a:rPr>
              <a:t>impératifs</a:t>
            </a:r>
            <a:r>
              <a:rPr lang="en-US" sz="1450" dirty="0">
                <a:solidFill>
                  <a:srgbClr val="2B2F38"/>
                </a:solidFill>
              </a:rPr>
              <a:t> (NEEM, KOM, GA…).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Ajoutez une condition avec </a:t>
            </a:r>
            <a:r>
              <a:rPr lang="en-US" sz="1450" b="1" dirty="0">
                <a:solidFill>
                  <a:srgbClr val="2B2F38"/>
                </a:solidFill>
              </a:rPr>
              <a:t>ALS</a:t>
            </a:r>
            <a:r>
              <a:rPr lang="en-US" sz="1450" dirty="0">
                <a:solidFill>
                  <a:srgbClr val="2B2F38"/>
                </a:solidFill>
              </a:rPr>
              <a:t> (verbes à la fin).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une consigne originale avec </a:t>
            </a:r>
            <a:r>
              <a:rPr lang="en-US" sz="1450" b="1" dirty="0">
                <a:solidFill>
                  <a:srgbClr val="2B2F38"/>
                </a:solidFill>
              </a:rPr>
              <a:t>MOETEN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je tekst voor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Een feestje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feestj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schrijven…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feestj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478430"/>
            <a:ext cx="529719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Hallo allemaal, ik word dertig en ik geef een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6887388" y="2489606"/>
            <a:ext cx="881024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87388" y="2478430"/>
            <a:ext cx="88102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feestje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7768412" y="2478430"/>
            <a:ext cx="166491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Het feest is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7327900" y="241442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98888" y="2167534"/>
            <a:ext cx="85802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98888" y="2167534"/>
            <a:ext cx="85802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DIMINUTIF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691640" y="3310026"/>
            <a:ext cx="2792120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691640" y="3298850"/>
            <a:ext cx="2792120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zaterdag 17 oktober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4565193" y="3310026"/>
            <a:ext cx="2638171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65193" y="3298850"/>
            <a:ext cx="2638171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acht uur ’s avonds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7203364" y="3298850"/>
            <a:ext cx="25328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7355205" y="3310026"/>
            <a:ext cx="783793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355205" y="3298850"/>
            <a:ext cx="78379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8220431" y="3298850"/>
            <a:ext cx="3280512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 4 tot aan het park en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3087700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695848" y="2987954"/>
            <a:ext cx="78370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2695848" y="2987954"/>
            <a:ext cx="78370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+ date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884278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429841" y="2987954"/>
            <a:ext cx="90887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429841" y="2987954"/>
            <a:ext cx="90887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+ heure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7747102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319486" y="2987954"/>
            <a:ext cx="85523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319486" y="2987954"/>
            <a:ext cx="85523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IMPÉRATIF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1691640" y="4130446"/>
            <a:ext cx="603021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691640" y="4119270"/>
            <a:ext cx="603021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</a:t>
            </a:r>
            <a:endParaRPr lang="en-US" sz="2200" dirty="0"/>
          </a:p>
        </p:txBody>
      </p:sp>
      <p:sp>
        <p:nvSpPr>
          <p:cNvPr id="34" name="Text 30"/>
          <p:cNvSpPr txBox="1"/>
          <p:nvPr/>
        </p:nvSpPr>
        <p:spPr>
          <a:xfrm>
            <a:off x="2376094" y="4119270"/>
            <a:ext cx="269646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naar nummer 15.</a:t>
            </a:r>
            <a:endParaRPr lang="en-US" sz="2200" dirty="0"/>
          </a:p>
        </p:txBody>
      </p:sp>
      <p:sp>
        <p:nvSpPr>
          <p:cNvPr id="35" name="Shape 31"/>
          <p:cNvSpPr/>
          <p:nvPr/>
        </p:nvSpPr>
        <p:spPr>
          <a:xfrm>
            <a:off x="4971110" y="4130446"/>
            <a:ext cx="440969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971110" y="4119270"/>
            <a:ext cx="44096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endParaRPr lang="en-US" sz="2200" dirty="0"/>
          </a:p>
        </p:txBody>
      </p:sp>
      <p:sp>
        <p:nvSpPr>
          <p:cNvPr id="37" name="Text 33"/>
          <p:cNvSpPr txBox="1"/>
          <p:nvPr/>
        </p:nvSpPr>
        <p:spPr>
          <a:xfrm>
            <a:off x="5493512" y="4119270"/>
            <a:ext cx="91391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niet</a:t>
            </a:r>
            <a:endParaRPr lang="en-US" sz="2200" dirty="0"/>
          </a:p>
        </p:txBody>
      </p:sp>
      <p:sp>
        <p:nvSpPr>
          <p:cNvPr id="38" name="Shape 34"/>
          <p:cNvSpPr/>
          <p:nvPr/>
        </p:nvSpPr>
        <p:spPr>
          <a:xfrm>
            <a:off x="6305982" y="4130446"/>
            <a:ext cx="1487881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305982" y="4119270"/>
            <a:ext cx="1487881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kunt komen</a:t>
            </a:r>
            <a:endParaRPr lang="en-US" sz="2200" dirty="0"/>
          </a:p>
        </p:txBody>
      </p:sp>
      <p:sp>
        <p:nvSpPr>
          <p:cNvPr id="40" name="Text 36"/>
          <p:cNvSpPr txBox="1"/>
          <p:nvPr/>
        </p:nvSpPr>
        <p:spPr>
          <a:xfrm>
            <a:off x="7793863" y="4119270"/>
            <a:ext cx="355056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stuur me dan een berichtje.</a:t>
            </a:r>
            <a:endParaRPr lang="en-US" sz="2200" dirty="0"/>
          </a:p>
        </p:txBody>
      </p:sp>
      <p:sp>
        <p:nvSpPr>
          <p:cNvPr id="41" name="Shape 37"/>
          <p:cNvSpPr/>
          <p:nvPr/>
        </p:nvSpPr>
        <p:spPr>
          <a:xfrm>
            <a:off x="1993151" y="405526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565535" y="3808374"/>
            <a:ext cx="85523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1565535" y="3808374"/>
            <a:ext cx="85523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IMPÉRATIF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5191595" y="405526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976952" y="3808374"/>
            <a:ext cx="42928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4976952" y="3808374"/>
            <a:ext cx="42928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 flipH="1">
            <a:off x="7049922" y="405526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6536392" y="3808374"/>
            <a:ext cx="1027062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6536392" y="3808374"/>
            <a:ext cx="102706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 à la fin</a:t>
            </a:r>
            <a:endParaRPr lang="en-US" sz="1100" dirty="0"/>
          </a:p>
        </p:txBody>
      </p:sp>
      <p:sp>
        <p:nvSpPr>
          <p:cNvPr id="50" name="Text 46"/>
          <p:cNvSpPr txBox="1"/>
          <p:nvPr/>
        </p:nvSpPr>
        <p:spPr>
          <a:xfrm>
            <a:off x="4149458" y="5140858"/>
            <a:ext cx="225028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Opgelet: iedereen</a:t>
            </a:r>
            <a:endParaRPr lang="en-US" sz="2200" dirty="0"/>
          </a:p>
        </p:txBody>
      </p:sp>
      <p:sp>
        <p:nvSpPr>
          <p:cNvPr id="51" name="Shape 47"/>
          <p:cNvSpPr/>
          <p:nvPr/>
        </p:nvSpPr>
        <p:spPr>
          <a:xfrm>
            <a:off x="6298298" y="5152034"/>
            <a:ext cx="706399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298298" y="5140858"/>
            <a:ext cx="70639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</a:t>
            </a:r>
            <a:endParaRPr lang="en-US" sz="2200" dirty="0"/>
          </a:p>
        </p:txBody>
      </p:sp>
      <p:sp>
        <p:nvSpPr>
          <p:cNvPr id="53" name="Text 49"/>
          <p:cNvSpPr txBox="1"/>
          <p:nvPr/>
        </p:nvSpPr>
        <p:spPr>
          <a:xfrm>
            <a:off x="7086130" y="5140858"/>
            <a:ext cx="126903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hoed</a:t>
            </a:r>
            <a:endParaRPr lang="en-US" sz="2200" dirty="0"/>
          </a:p>
        </p:txBody>
      </p:sp>
      <p:sp>
        <p:nvSpPr>
          <p:cNvPr id="54" name="Shape 50"/>
          <p:cNvSpPr/>
          <p:nvPr/>
        </p:nvSpPr>
        <p:spPr>
          <a:xfrm>
            <a:off x="8253717" y="5152034"/>
            <a:ext cx="901700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8253717" y="5140858"/>
            <a:ext cx="901700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dragen</a:t>
            </a:r>
            <a:endParaRPr lang="en-US" sz="2200" dirty="0"/>
          </a:p>
        </p:txBody>
      </p:sp>
      <p:sp>
        <p:nvSpPr>
          <p:cNvPr id="56" name="Text 52"/>
          <p:cNvSpPr txBox="1"/>
          <p:nvPr/>
        </p:nvSpPr>
        <p:spPr>
          <a:xfrm>
            <a:off x="9155417" y="5140858"/>
            <a:ext cx="27396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57" name="Shape 53"/>
          <p:cNvSpPr/>
          <p:nvPr/>
        </p:nvSpPr>
        <p:spPr>
          <a:xfrm>
            <a:off x="6651498" y="5076850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6284722" y="4829962"/>
            <a:ext cx="733552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6284722" y="4829962"/>
            <a:ext cx="73355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MOETEN</a:t>
            </a:r>
            <a:endParaRPr lang="en-US" sz="1100" dirty="0"/>
          </a:p>
        </p:txBody>
      </p:sp>
      <p:sp>
        <p:nvSpPr>
          <p:cNvPr id="60" name="Shape 56"/>
          <p:cNvSpPr/>
          <p:nvPr/>
        </p:nvSpPr>
        <p:spPr>
          <a:xfrm>
            <a:off x="8704567" y="5076850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8332133" y="4829962"/>
            <a:ext cx="74486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8332133" y="4829962"/>
            <a:ext cx="74486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infinitif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De trein heeft vertraging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Le train a du retard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trein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0" name="Image 1" descr="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L’ORAL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train est en retard. Laissez un message vocal à votre collègue.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Présentez-vous et dites où vous êtes avec </a:t>
            </a:r>
            <a:r>
              <a:rPr lang="en-US" sz="1450" b="1" dirty="0">
                <a:solidFill>
                  <a:srgbClr val="2B2F38"/>
                </a:solidFill>
              </a:rPr>
              <a:t>STAAN</a:t>
            </a:r>
            <a:r>
              <a:rPr lang="en-US" sz="1450" dirty="0">
                <a:solidFill>
                  <a:srgbClr val="2B2F38"/>
                </a:solidFill>
              </a:rPr>
              <a:t> ou </a:t>
            </a:r>
            <a:r>
              <a:rPr lang="en-US" sz="1450" b="1" dirty="0">
                <a:solidFill>
                  <a:srgbClr val="2B2F38"/>
                </a:solidFill>
              </a:rPr>
              <a:t>ZITTEN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Expliquez le problème au </a:t>
            </a:r>
            <a:r>
              <a:rPr lang="en-US" sz="1450" b="1" dirty="0">
                <a:solidFill>
                  <a:srgbClr val="2B2F38"/>
                </a:solidFill>
              </a:rPr>
              <a:t>perfectum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Annoncez votre arrivée avec </a:t>
            </a:r>
            <a:r>
              <a:rPr lang="en-US" sz="1450" b="1" dirty="0">
                <a:solidFill>
                  <a:srgbClr val="2B2F38"/>
                </a:solidFill>
              </a:rPr>
              <a:t>ZULLEN</a:t>
            </a:r>
            <a:r>
              <a:rPr lang="en-US" sz="1450" dirty="0">
                <a:solidFill>
                  <a:srgbClr val="2B2F38"/>
                </a:solidFill>
              </a:rPr>
              <a:t> + infinitif.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Demandez un service avec </a:t>
            </a:r>
            <a:r>
              <a:rPr lang="en-US" sz="1450" b="1" dirty="0">
                <a:solidFill>
                  <a:srgbClr val="2B2F38"/>
                </a:solidFill>
              </a:rPr>
              <a:t>KUN JE</a:t>
            </a:r>
            <a:r>
              <a:rPr lang="en-US" sz="1450" dirty="0">
                <a:solidFill>
                  <a:srgbClr val="2B2F38"/>
                </a:solidFill>
              </a:rPr>
              <a:t> … + infinitif ?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une excuse avec </a:t>
            </a:r>
            <a:r>
              <a:rPr lang="en-US" sz="1450" b="1" dirty="0">
                <a:solidFill>
                  <a:srgbClr val="2B2F38"/>
                </a:solidFill>
              </a:rPr>
              <a:t>SORRY DAT</a:t>
            </a:r>
            <a:r>
              <a:rPr lang="en-US" sz="1450" dirty="0">
                <a:solidFill>
                  <a:srgbClr val="2B2F38"/>
                </a:solidFill>
              </a:rPr>
              <a:t> (verbe à la fin) + une chute.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Vertel je verhaal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De trein heeft vertraging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tre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zeggen…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trein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478430"/>
            <a:ext cx="291452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 Sofie, met Karim: ik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4504715" y="2489606"/>
            <a:ext cx="437896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04715" y="2478430"/>
            <a:ext cx="437896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5024044" y="2478430"/>
            <a:ext cx="478911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op het perron in Namen. Mijn trein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9711715" y="2489606"/>
            <a:ext cx="271653" cy="340868"/>
          </a:xfrm>
          <a:prstGeom prst="roundRect">
            <a:avLst>
              <a:gd name="adj" fmla="val 16830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711715" y="2478430"/>
            <a:ext cx="27165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10064801" y="2478430"/>
            <a:ext cx="122796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een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4723663" y="241442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152716" y="2167534"/>
            <a:ext cx="114189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152716" y="2167534"/>
            <a:ext cx="114189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STAAN / ZITTEN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847542" y="241442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382906" y="2167534"/>
            <a:ext cx="929272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382906" y="2167534"/>
            <a:ext cx="92927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PERFECTUM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691640" y="3298850"/>
            <a:ext cx="202130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nog niet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3611499" y="3310026"/>
            <a:ext cx="1368577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611499" y="3298850"/>
            <a:ext cx="136857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vertrokken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4980076" y="3298850"/>
            <a:ext cx="53225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Ik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5410886" y="3310026"/>
            <a:ext cx="409118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410886" y="3298850"/>
            <a:ext cx="40911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</a:t>
            </a:r>
            <a:endParaRPr lang="en-US" sz="2200" dirty="0"/>
          </a:p>
        </p:txBody>
      </p:sp>
      <p:sp>
        <p:nvSpPr>
          <p:cNvPr id="27" name="Text 23"/>
          <p:cNvSpPr txBox="1"/>
          <p:nvPr/>
        </p:nvSpPr>
        <p:spPr>
          <a:xfrm>
            <a:off x="5901436" y="3298850"/>
            <a:ext cx="337202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om tien uur op kantoor</a:t>
            </a:r>
            <a:endParaRPr lang="en-US" sz="2200" dirty="0"/>
          </a:p>
        </p:txBody>
      </p:sp>
      <p:sp>
        <p:nvSpPr>
          <p:cNvPr id="28" name="Shape 24"/>
          <p:cNvSpPr/>
          <p:nvPr/>
        </p:nvSpPr>
        <p:spPr>
          <a:xfrm>
            <a:off x="9172016" y="3310026"/>
            <a:ext cx="492379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172016" y="3298850"/>
            <a:ext cx="49237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</a:t>
            </a:r>
            <a:endParaRPr lang="en-US" sz="2200" dirty="0"/>
          </a:p>
        </p:txBody>
      </p:sp>
      <p:sp>
        <p:nvSpPr>
          <p:cNvPr id="30" name="Text 26"/>
          <p:cNvSpPr txBox="1"/>
          <p:nvPr/>
        </p:nvSpPr>
        <p:spPr>
          <a:xfrm>
            <a:off x="9664395" y="3298850"/>
            <a:ext cx="25328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9816236" y="3310026"/>
            <a:ext cx="819277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816236" y="3298850"/>
            <a:ext cx="81927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je</a:t>
            </a:r>
            <a:endParaRPr lang="en-US" sz="2200" dirty="0"/>
          </a:p>
        </p:txBody>
      </p:sp>
      <p:sp>
        <p:nvSpPr>
          <p:cNvPr id="33" name="Text 29"/>
          <p:cNvSpPr txBox="1"/>
          <p:nvPr/>
        </p:nvSpPr>
        <p:spPr>
          <a:xfrm>
            <a:off x="10716946" y="3298850"/>
            <a:ext cx="468706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2200" dirty="0"/>
          </a:p>
        </p:txBody>
      </p:sp>
      <p:sp>
        <p:nvSpPr>
          <p:cNvPr id="34" name="Shape 30"/>
          <p:cNvSpPr/>
          <p:nvPr/>
        </p:nvSpPr>
        <p:spPr>
          <a:xfrm>
            <a:off x="4295788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3878231" y="2987954"/>
            <a:ext cx="83511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3878231" y="2987954"/>
            <a:ext cx="83511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participe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5615445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400453" y="2987954"/>
            <a:ext cx="42998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400453" y="2987954"/>
            <a:ext cx="42998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9418206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9045772" y="2987954"/>
            <a:ext cx="74486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9045772" y="2987954"/>
            <a:ext cx="74486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infinitif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10225875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913303" y="2987954"/>
            <a:ext cx="62514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9913303" y="2987954"/>
            <a:ext cx="62514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JE</a:t>
            </a:r>
            <a:endParaRPr lang="en-US" sz="1100" dirty="0"/>
          </a:p>
        </p:txBody>
      </p:sp>
      <p:sp>
        <p:nvSpPr>
          <p:cNvPr id="46" name="Text 42"/>
          <p:cNvSpPr txBox="1"/>
          <p:nvPr/>
        </p:nvSpPr>
        <p:spPr>
          <a:xfrm>
            <a:off x="1691640" y="4119270"/>
            <a:ext cx="324535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vergadering een halfuurtje</a:t>
            </a:r>
            <a:endParaRPr lang="en-US" sz="2200" dirty="0"/>
          </a:p>
        </p:txBody>
      </p:sp>
      <p:sp>
        <p:nvSpPr>
          <p:cNvPr id="47" name="Shape 43"/>
          <p:cNvSpPr/>
          <p:nvPr/>
        </p:nvSpPr>
        <p:spPr>
          <a:xfrm>
            <a:off x="4835550" y="4130446"/>
            <a:ext cx="1184173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4835550" y="4119270"/>
            <a:ext cx="118417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uitstellen</a:t>
            </a:r>
            <a:endParaRPr lang="en-US" sz="2200" dirty="0"/>
          </a:p>
        </p:txBody>
      </p:sp>
      <p:sp>
        <p:nvSpPr>
          <p:cNvPr id="49" name="Text 45"/>
          <p:cNvSpPr txBox="1"/>
          <p:nvPr/>
        </p:nvSpPr>
        <p:spPr>
          <a:xfrm>
            <a:off x="6019724" y="4119270"/>
            <a:ext cx="312242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50" name="Shape 46"/>
          <p:cNvSpPr/>
          <p:nvPr/>
        </p:nvSpPr>
        <p:spPr>
          <a:xfrm>
            <a:off x="5427637" y="405526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5055203" y="3808374"/>
            <a:ext cx="74486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5055203" y="3808374"/>
            <a:ext cx="74486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infinitif</a:t>
            </a:r>
            <a:endParaRPr lang="en-US" sz="1100" dirty="0"/>
          </a:p>
        </p:txBody>
      </p:sp>
      <p:sp>
        <p:nvSpPr>
          <p:cNvPr id="53" name="Shape 49"/>
          <p:cNvSpPr/>
          <p:nvPr/>
        </p:nvSpPr>
        <p:spPr>
          <a:xfrm>
            <a:off x="2994736" y="5152034"/>
            <a:ext cx="1152881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2994736" y="5140858"/>
            <a:ext cx="1152881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 dat</a:t>
            </a:r>
            <a:endParaRPr lang="en-US" sz="2200" dirty="0"/>
          </a:p>
        </p:txBody>
      </p:sp>
      <p:sp>
        <p:nvSpPr>
          <p:cNvPr id="55" name="Text 51"/>
          <p:cNvSpPr txBox="1"/>
          <p:nvPr/>
        </p:nvSpPr>
        <p:spPr>
          <a:xfrm>
            <a:off x="4229049" y="5140858"/>
            <a:ext cx="185239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weer te laat</a:t>
            </a:r>
            <a:endParaRPr lang="en-US" sz="2200" dirty="0"/>
          </a:p>
        </p:txBody>
      </p:sp>
      <p:sp>
        <p:nvSpPr>
          <p:cNvPr id="56" name="Shape 52"/>
          <p:cNvSpPr/>
          <p:nvPr/>
        </p:nvSpPr>
        <p:spPr>
          <a:xfrm>
            <a:off x="5979998" y="5152034"/>
            <a:ext cx="532054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5979998" y="5140858"/>
            <a:ext cx="53205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</a:t>
            </a:r>
            <a:endParaRPr lang="en-US" sz="2200" dirty="0"/>
          </a:p>
        </p:txBody>
      </p:sp>
      <p:sp>
        <p:nvSpPr>
          <p:cNvPr id="58" name="Text 54"/>
          <p:cNvSpPr txBox="1"/>
          <p:nvPr/>
        </p:nvSpPr>
        <p:spPr>
          <a:xfrm>
            <a:off x="6512052" y="5140858"/>
            <a:ext cx="4072052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voor de derde keer deze week!</a:t>
            </a:r>
            <a:endParaRPr lang="en-US" sz="2200" dirty="0"/>
          </a:p>
        </p:txBody>
      </p:sp>
      <p:sp>
        <p:nvSpPr>
          <p:cNvPr id="59" name="Shape 55"/>
          <p:cNvSpPr/>
          <p:nvPr/>
        </p:nvSpPr>
        <p:spPr>
          <a:xfrm>
            <a:off x="3571177" y="5076850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3129521" y="4829962"/>
            <a:ext cx="883310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3129521" y="4829962"/>
            <a:ext cx="88331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 DAT</a:t>
            </a:r>
            <a:endParaRPr lang="en-US" sz="1100" dirty="0"/>
          </a:p>
        </p:txBody>
      </p:sp>
      <p:sp>
        <p:nvSpPr>
          <p:cNvPr id="62" name="Shape 58"/>
          <p:cNvSpPr/>
          <p:nvPr/>
        </p:nvSpPr>
        <p:spPr>
          <a:xfrm>
            <a:off x="6246025" y="5076850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760364" y="4829962"/>
            <a:ext cx="9713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5760364" y="4829962"/>
            <a:ext cx="9713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 à la fin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Een cadeau kopen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Acheter un cadeau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cadeau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0" name="Image 1" descr="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L’ORAL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magasin, vous cherchez un cadeau pour votre sœur. Comparez avec le vendeur ou la vendeuse.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Dites ce que vous cherchez avec </a:t>
            </a:r>
            <a:r>
              <a:rPr lang="en-US" sz="1450" b="1" dirty="0">
                <a:solidFill>
                  <a:srgbClr val="2B2F38"/>
                </a:solidFill>
              </a:rPr>
              <a:t>IK ZOEK</a:t>
            </a:r>
            <a:r>
              <a:rPr lang="en-US" sz="1450" dirty="0">
                <a:solidFill>
                  <a:srgbClr val="2B2F38"/>
                </a:solidFill>
              </a:rPr>
              <a:t> … </a:t>
            </a:r>
            <a:r>
              <a:rPr lang="en-US" sz="1450" b="1" dirty="0">
                <a:solidFill>
                  <a:srgbClr val="2B2F38"/>
                </a:solidFill>
              </a:rPr>
              <a:t>VOOR</a:t>
            </a:r>
            <a:r>
              <a:rPr lang="en-US" sz="1450" dirty="0">
                <a:solidFill>
                  <a:srgbClr val="2B2F38"/>
                </a:solidFill>
              </a:rPr>
              <a:t> …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Comparez deux objets avec un </a:t>
            </a:r>
            <a:r>
              <a:rPr lang="en-US" sz="1450" b="1" dirty="0">
                <a:solidFill>
                  <a:srgbClr val="2B2F38"/>
                </a:solidFill>
              </a:rPr>
              <a:t>comparatif</a:t>
            </a:r>
            <a:r>
              <a:rPr lang="en-US" sz="1450" dirty="0">
                <a:solidFill>
                  <a:srgbClr val="2B2F38"/>
                </a:solidFill>
              </a:rPr>
              <a:t> + </a:t>
            </a:r>
            <a:r>
              <a:rPr lang="en-US" sz="1450" b="1" dirty="0">
                <a:solidFill>
                  <a:srgbClr val="2B2F38"/>
                </a:solidFill>
              </a:rPr>
              <a:t>DAN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Utilisez un </a:t>
            </a:r>
            <a:r>
              <a:rPr lang="en-US" sz="1450" b="1" dirty="0">
                <a:solidFill>
                  <a:srgbClr val="2B2F38"/>
                </a:solidFill>
              </a:rPr>
              <a:t>superlatif</a:t>
            </a:r>
            <a:r>
              <a:rPr lang="en-US" sz="1450" dirty="0">
                <a:solidFill>
                  <a:srgbClr val="2B2F38"/>
                </a:solidFill>
              </a:rPr>
              <a:t> (DE / HET … -STE).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Montrez les objets avec </a:t>
            </a:r>
            <a:r>
              <a:rPr lang="en-US" sz="1450" b="1" dirty="0">
                <a:solidFill>
                  <a:srgbClr val="2B2F38"/>
                </a:solidFill>
              </a:rPr>
              <a:t>DEZE</a:t>
            </a:r>
            <a:r>
              <a:rPr lang="en-US" sz="1450" dirty="0">
                <a:solidFill>
                  <a:srgbClr val="2B2F38"/>
                </a:solidFill>
              </a:rPr>
              <a:t>, </a:t>
            </a:r>
            <a:r>
              <a:rPr lang="en-US" sz="1450" b="1" dirty="0">
                <a:solidFill>
                  <a:srgbClr val="2B2F38"/>
                </a:solidFill>
              </a:rPr>
              <a:t>DIE</a:t>
            </a:r>
            <a:r>
              <a:rPr lang="en-US" sz="1450" dirty="0">
                <a:solidFill>
                  <a:srgbClr val="2B2F38"/>
                </a:solidFill>
              </a:rPr>
              <a:t>, </a:t>
            </a:r>
            <a:r>
              <a:rPr lang="en-US" sz="1450" b="1" dirty="0">
                <a:solidFill>
                  <a:srgbClr val="2B2F38"/>
                </a:solidFill>
              </a:rPr>
              <a:t>DIT</a:t>
            </a:r>
            <a:r>
              <a:rPr lang="en-US" sz="1450" dirty="0">
                <a:solidFill>
                  <a:srgbClr val="2B2F38"/>
                </a:solidFill>
              </a:rPr>
              <a:t> ou </a:t>
            </a:r>
            <a:r>
              <a:rPr lang="en-US" sz="1450" b="1" dirty="0">
                <a:solidFill>
                  <a:srgbClr val="2B2F38"/>
                </a:solidFill>
              </a:rPr>
              <a:t>DAT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Concluez avec </a:t>
            </a:r>
            <a:r>
              <a:rPr lang="en-US" sz="1450" b="1" dirty="0">
                <a:solidFill>
                  <a:srgbClr val="2B2F38"/>
                </a:solidFill>
              </a:rPr>
              <a:t>DUS</a:t>
            </a:r>
            <a:r>
              <a:rPr lang="en-US" sz="1450" dirty="0">
                <a:solidFill>
                  <a:srgbClr val="2B2F38"/>
                </a:solidFill>
              </a:rPr>
              <a:t> + une chute.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Vertel je verhaal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Een cadeau kopen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cadea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zeggen…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cadeau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602789"/>
            <a:ext cx="183286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Goedendag, ik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3423056" y="2613965"/>
            <a:ext cx="2613304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423056" y="2602789"/>
            <a:ext cx="261330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 een cadeau voor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6117793" y="2602789"/>
            <a:ext cx="258678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mijn zus. Het boek is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603132" y="2613965"/>
            <a:ext cx="1840205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603132" y="2602789"/>
            <a:ext cx="184020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goedkoper dan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10524769" y="2602789"/>
            <a:ext cx="112849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sjaal.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4729709" y="2538781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138155" y="2291893"/>
            <a:ext cx="118310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138155" y="2291893"/>
            <a:ext cx="118310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ZOEK … VOOR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523235" y="2538781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823134" y="2291893"/>
            <a:ext cx="1400200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823134" y="2291893"/>
            <a:ext cx="140020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+ DAN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691640" y="3423209"/>
            <a:ext cx="2610536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 de rode sjaal is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4200728" y="3434385"/>
            <a:ext cx="1390650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200728" y="3423209"/>
            <a:ext cx="1390650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mooiste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5672811" y="3423209"/>
            <a:ext cx="270860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winkel. Mag ik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8279968" y="3434385"/>
            <a:ext cx="450748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279968" y="3423209"/>
            <a:ext cx="45074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</a:t>
            </a:r>
            <a:endParaRPr lang="en-US" sz="2200" dirty="0"/>
          </a:p>
        </p:txBody>
      </p:sp>
      <p:sp>
        <p:nvSpPr>
          <p:cNvPr id="27" name="Text 23"/>
          <p:cNvSpPr txBox="1"/>
          <p:nvPr/>
        </p:nvSpPr>
        <p:spPr>
          <a:xfrm>
            <a:off x="8812149" y="3423209"/>
            <a:ext cx="1651381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sjaal daar en</a:t>
            </a:r>
            <a:endParaRPr lang="en-US" sz="2200" dirty="0"/>
          </a:p>
        </p:txBody>
      </p:sp>
      <p:sp>
        <p:nvSpPr>
          <p:cNvPr id="28" name="Shape 24"/>
          <p:cNvSpPr/>
          <p:nvPr/>
        </p:nvSpPr>
        <p:spPr>
          <a:xfrm>
            <a:off x="10362082" y="3434385"/>
            <a:ext cx="407162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0362082" y="3423209"/>
            <a:ext cx="407162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</a:t>
            </a:r>
            <a:endParaRPr lang="en-US" sz="2200" dirty="0"/>
          </a:p>
        </p:txBody>
      </p:sp>
      <p:sp>
        <p:nvSpPr>
          <p:cNvPr id="30" name="Text 26"/>
          <p:cNvSpPr txBox="1"/>
          <p:nvPr/>
        </p:nvSpPr>
        <p:spPr>
          <a:xfrm>
            <a:off x="10850677" y="3423209"/>
            <a:ext cx="74307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boek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4896053" y="3359201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439939" y="3112313"/>
            <a:ext cx="91222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439939" y="3112313"/>
            <a:ext cx="9122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SUPERLATIF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505342" y="3359201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298872" y="3112313"/>
            <a:ext cx="41294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8298872" y="3112313"/>
            <a:ext cx="41294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10565663" y="3359201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0358704" y="3112313"/>
            <a:ext cx="41391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10358704" y="3112313"/>
            <a:ext cx="41391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1691640" y="3932733"/>
            <a:ext cx="138833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eens zien?</a:t>
            </a:r>
            <a:endParaRPr lang="en-US" sz="2200" dirty="0"/>
          </a:p>
        </p:txBody>
      </p:sp>
      <p:sp>
        <p:nvSpPr>
          <p:cNvPr id="41" name="Text 37"/>
          <p:cNvSpPr txBox="1"/>
          <p:nvPr/>
        </p:nvSpPr>
        <p:spPr>
          <a:xfrm>
            <a:off x="3709327" y="4954321"/>
            <a:ext cx="318693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sjaal kost tachtig euro,</a:t>
            </a:r>
            <a:endParaRPr lang="en-US" sz="2200" dirty="0"/>
          </a:p>
        </p:txBody>
      </p:sp>
      <p:sp>
        <p:nvSpPr>
          <p:cNvPr id="42" name="Shape 38"/>
          <p:cNvSpPr/>
          <p:nvPr/>
        </p:nvSpPr>
        <p:spPr>
          <a:xfrm>
            <a:off x="6794818" y="4965497"/>
            <a:ext cx="502996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794818" y="4954321"/>
            <a:ext cx="502996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</a:t>
            </a:r>
            <a:endParaRPr lang="en-US" sz="2200" dirty="0"/>
          </a:p>
        </p:txBody>
      </p:sp>
      <p:sp>
        <p:nvSpPr>
          <p:cNvPr id="44" name="Text 40"/>
          <p:cNvSpPr txBox="1"/>
          <p:nvPr/>
        </p:nvSpPr>
        <p:spPr>
          <a:xfrm>
            <a:off x="7379246" y="4954321"/>
            <a:ext cx="249026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neem… het boek!</a:t>
            </a:r>
            <a:endParaRPr lang="en-US" sz="2200" dirty="0"/>
          </a:p>
        </p:txBody>
      </p:sp>
      <p:sp>
        <p:nvSpPr>
          <p:cNvPr id="45" name="Shape 41"/>
          <p:cNvSpPr/>
          <p:nvPr/>
        </p:nvSpPr>
        <p:spPr>
          <a:xfrm>
            <a:off x="7046316" y="4890313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813931" y="4643425"/>
            <a:ext cx="464769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6813931" y="4643425"/>
            <a:ext cx="46476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Bij de apotheek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À la pharmacie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apotheek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0" name="Image 1" descr="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L’ORAL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attrapé froid. Demandez conseil au pharmacien ou à la pharmacienne.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Dites depuis combien de temps avec </a:t>
            </a:r>
            <a:r>
              <a:rPr lang="en-US" sz="1450" b="1" dirty="0">
                <a:solidFill>
                  <a:srgbClr val="2B2F38"/>
                </a:solidFill>
              </a:rPr>
              <a:t>AL</a:t>
            </a:r>
            <a:r>
              <a:rPr lang="en-US" sz="1450" dirty="0">
                <a:solidFill>
                  <a:srgbClr val="2B2F38"/>
                </a:solidFill>
              </a:rPr>
              <a:t> + durée (+ présent).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Utilisez un verbe pronominal (</a:t>
            </a:r>
            <a:r>
              <a:rPr lang="en-US" sz="1450" b="1" dirty="0">
                <a:solidFill>
                  <a:srgbClr val="2B2F38"/>
                </a:solidFill>
              </a:rPr>
              <a:t>ZICH VOELEN</a:t>
            </a:r>
            <a:r>
              <a:rPr lang="en-US" sz="1450" dirty="0">
                <a:solidFill>
                  <a:srgbClr val="2B2F38"/>
                </a:solidFill>
              </a:rPr>
              <a:t>…).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Demandez un conseil poliment avec </a:t>
            </a:r>
            <a:r>
              <a:rPr lang="en-US" sz="1450" b="1" dirty="0">
                <a:solidFill>
                  <a:srgbClr val="2B2F38"/>
                </a:solidFill>
              </a:rPr>
              <a:t>KUNT U</a:t>
            </a:r>
            <a:r>
              <a:rPr lang="en-US" sz="1450" dirty="0">
                <a:solidFill>
                  <a:srgbClr val="2B2F38"/>
                </a:solidFill>
              </a:rPr>
              <a:t> … + infinitif ?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Posez une question avec </a:t>
            </a:r>
            <a:r>
              <a:rPr lang="en-US" sz="1450" b="1" dirty="0">
                <a:solidFill>
                  <a:srgbClr val="2B2F38"/>
                </a:solidFill>
              </a:rPr>
              <a:t>MOETEN</a:t>
            </a:r>
            <a:r>
              <a:rPr lang="en-US" sz="1450" dirty="0">
                <a:solidFill>
                  <a:srgbClr val="2B2F38"/>
                </a:solidFill>
              </a:rPr>
              <a:t> ou </a:t>
            </a:r>
            <a:r>
              <a:rPr lang="en-US" sz="1450" b="1" dirty="0">
                <a:solidFill>
                  <a:srgbClr val="2B2F38"/>
                </a:solidFill>
              </a:rPr>
              <a:t>MOGEN</a:t>
            </a:r>
            <a:r>
              <a:rPr lang="en-US" sz="1450" dirty="0">
                <a:solidFill>
                  <a:srgbClr val="2B2F38"/>
                </a:solidFill>
              </a:rPr>
              <a:t> + infinitif.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une chute avec </a:t>
            </a:r>
            <a:r>
              <a:rPr lang="en-US" sz="1450" b="1" dirty="0">
                <a:solidFill>
                  <a:srgbClr val="2B2F38"/>
                </a:solidFill>
              </a:rPr>
              <a:t>TOCH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Vertel je verhaal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Bij de apotheek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apothee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zeggen…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apotheek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478430"/>
            <a:ext cx="283771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Goedemiddag, ik hoest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4427906" y="2489606"/>
            <a:ext cx="1594053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27906" y="2478430"/>
            <a:ext cx="159405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drie dagen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6021959" y="2478430"/>
            <a:ext cx="53225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Ik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452768" y="2489606"/>
            <a:ext cx="1014019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52768" y="2478430"/>
            <a:ext cx="101401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voel me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7548220" y="2478430"/>
            <a:ext cx="340499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goed en ik slaap slecht.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5224932" y="241442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06887" y="2167534"/>
            <a:ext cx="836092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06887" y="2167534"/>
            <a:ext cx="8360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+ durée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959778" y="241442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35490" y="2167534"/>
            <a:ext cx="104857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35490" y="2167534"/>
            <a:ext cx="104857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PRONOMINAL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691640" y="3310026"/>
            <a:ext cx="854481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691640" y="3298850"/>
            <a:ext cx="854481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Kunt u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2627554" y="3298850"/>
            <a:ext cx="102483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 iets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3550945" y="3310026"/>
            <a:ext cx="1195349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550945" y="3298850"/>
            <a:ext cx="119534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aanraden</a:t>
            </a:r>
            <a:endParaRPr lang="en-US" sz="2200" dirty="0"/>
          </a:p>
        </p:txBody>
      </p:sp>
      <p:sp>
        <p:nvSpPr>
          <p:cNvPr id="26" name="Text 22"/>
          <p:cNvSpPr txBox="1"/>
          <p:nvPr/>
        </p:nvSpPr>
        <p:spPr>
          <a:xfrm>
            <a:off x="4827727" y="3298850"/>
            <a:ext cx="1748892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de keel?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6475171" y="3310026"/>
            <a:ext cx="723443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475171" y="3298850"/>
            <a:ext cx="72344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</a:t>
            </a:r>
            <a:endParaRPr lang="en-US" sz="2200" dirty="0"/>
          </a:p>
        </p:txBody>
      </p:sp>
      <p:sp>
        <p:nvSpPr>
          <p:cNvPr id="29" name="Text 25"/>
          <p:cNvSpPr txBox="1"/>
          <p:nvPr/>
        </p:nvSpPr>
        <p:spPr>
          <a:xfrm>
            <a:off x="7280046" y="3298850"/>
            <a:ext cx="412107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deze siroop voor of na het eten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2118881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783328" y="2987954"/>
            <a:ext cx="67110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783328" y="2987954"/>
            <a:ext cx="67110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KUNT U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148620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776186" y="2987954"/>
            <a:ext cx="74486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3776186" y="2987954"/>
            <a:ext cx="74486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infinitif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836893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470117" y="2987954"/>
            <a:ext cx="733552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470117" y="2987954"/>
            <a:ext cx="73355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MOETEN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1691640" y="4130446"/>
            <a:ext cx="899744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691640" y="4119270"/>
            <a:ext cx="89974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nemen</a:t>
            </a:r>
            <a:endParaRPr lang="en-US" sz="2200" dirty="0"/>
          </a:p>
        </p:txBody>
      </p:sp>
      <p:sp>
        <p:nvSpPr>
          <p:cNvPr id="41" name="Text 37"/>
          <p:cNvSpPr txBox="1"/>
          <p:nvPr/>
        </p:nvSpPr>
        <p:spPr>
          <a:xfrm>
            <a:off x="2591384" y="4119270"/>
            <a:ext cx="312242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42" name="Shape 38"/>
          <p:cNvSpPr/>
          <p:nvPr/>
        </p:nvSpPr>
        <p:spPr>
          <a:xfrm>
            <a:off x="2141512" y="405526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769078" y="3808374"/>
            <a:ext cx="74486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769078" y="3808374"/>
            <a:ext cx="74486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infinitif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2717737" y="5140858"/>
            <a:ext cx="398167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Siroop met honing? Dan neem ik</a:t>
            </a:r>
            <a:endParaRPr lang="en-US" sz="2200" dirty="0"/>
          </a:p>
        </p:txBody>
      </p:sp>
      <p:sp>
        <p:nvSpPr>
          <p:cNvPr id="46" name="Shape 42"/>
          <p:cNvSpPr/>
          <p:nvPr/>
        </p:nvSpPr>
        <p:spPr>
          <a:xfrm>
            <a:off x="6597968" y="5152034"/>
            <a:ext cx="605536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6597968" y="5140858"/>
            <a:ext cx="605536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toch</a:t>
            </a:r>
            <a:endParaRPr lang="en-US" sz="2200" dirty="0"/>
          </a:p>
        </p:txBody>
      </p:sp>
      <p:sp>
        <p:nvSpPr>
          <p:cNvPr id="48" name="Text 44"/>
          <p:cNvSpPr txBox="1"/>
          <p:nvPr/>
        </p:nvSpPr>
        <p:spPr>
          <a:xfrm>
            <a:off x="7284936" y="5140858"/>
            <a:ext cx="357616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liever warme chocolademelk!</a:t>
            </a:r>
            <a:endParaRPr lang="en-US" sz="2200" dirty="0"/>
          </a:p>
        </p:txBody>
      </p:sp>
      <p:sp>
        <p:nvSpPr>
          <p:cNvPr id="49" name="Shape 45"/>
          <p:cNvSpPr/>
          <p:nvPr/>
        </p:nvSpPr>
        <p:spPr>
          <a:xfrm>
            <a:off x="6900736" y="5076850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628187" y="4829962"/>
            <a:ext cx="54509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6628187" y="4829962"/>
            <a:ext cx="54509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Een vakantiekaartje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Une carte postale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kaartj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4A7BD0"/>
            </a:solidFill>
            <a:prstDash val="solid"/>
          </a:ln>
        </p:spPr>
      </p:sp>
      <p:pic>
        <p:nvPicPr>
          <p:cNvPr id="10" name="Image 1" descr="PenNi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4A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L’ÉCRIT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en vacances. Écrivez une carte postale à vos collègues.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Dites depuis quand vous êtes là avec </a:t>
            </a:r>
            <a:r>
              <a:rPr lang="en-US" sz="1450" b="1" dirty="0">
                <a:solidFill>
                  <a:srgbClr val="2B2F38"/>
                </a:solidFill>
              </a:rPr>
              <a:t>ZIJN</a:t>
            </a:r>
            <a:r>
              <a:rPr lang="en-US" sz="1450" dirty="0">
                <a:solidFill>
                  <a:srgbClr val="2B2F38"/>
                </a:solidFill>
              </a:rPr>
              <a:t> + </a:t>
            </a:r>
            <a:r>
              <a:rPr lang="en-US" sz="1450" b="1" dirty="0">
                <a:solidFill>
                  <a:srgbClr val="2B2F38"/>
                </a:solidFill>
              </a:rPr>
              <a:t>SINDS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Racontez hier avec un verbe à particule au perfectum (</a:t>
            </a:r>
            <a:r>
              <a:rPr lang="en-US" sz="1450" b="1" dirty="0">
                <a:solidFill>
                  <a:srgbClr val="2B2F38"/>
                </a:solidFill>
              </a:rPr>
              <a:t>OP-GE-STAAN</a:t>
            </a:r>
            <a:r>
              <a:rPr lang="en-US" sz="1450" dirty="0">
                <a:solidFill>
                  <a:srgbClr val="2B2F38"/>
                </a:solidFill>
              </a:rPr>
              <a:t>).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Décrivez avec l’imparfait </a:t>
            </a:r>
            <a:r>
              <a:rPr lang="en-US" sz="1450" b="1" dirty="0">
                <a:solidFill>
                  <a:srgbClr val="2B2F38"/>
                </a:solidFill>
              </a:rPr>
              <a:t>WAS</a:t>
            </a:r>
            <a:r>
              <a:rPr lang="en-US" sz="1450" dirty="0">
                <a:solidFill>
                  <a:srgbClr val="2B2F38"/>
                </a:solidFill>
              </a:rPr>
              <a:t> et </a:t>
            </a:r>
            <a:r>
              <a:rPr lang="en-US" sz="1450" b="1" dirty="0">
                <a:solidFill>
                  <a:srgbClr val="2B2F38"/>
                </a:solidFill>
              </a:rPr>
              <a:t>HAD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Comparez avec la Belgique : </a:t>
            </a:r>
            <a:r>
              <a:rPr lang="en-US" sz="1450" b="1" dirty="0">
                <a:solidFill>
                  <a:srgbClr val="2B2F38"/>
                </a:solidFill>
              </a:rPr>
              <a:t>… -ER DAN IN BELGIË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une chute et </a:t>
            </a:r>
            <a:r>
              <a:rPr lang="en-US" sz="1450" b="1" dirty="0">
                <a:solidFill>
                  <a:srgbClr val="2B2F38"/>
                </a:solidFill>
              </a:rPr>
              <a:t>GROETJES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je tekst voor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Een vakantiekaartje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kaartj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schrijven…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kaartj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478430"/>
            <a:ext cx="273166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 collega’s, ik ben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4321861" y="2489606"/>
            <a:ext cx="1752473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321861" y="2478430"/>
            <a:ext cx="175247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sinds zaterdag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6155766" y="2478430"/>
            <a:ext cx="453961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Kreta. Gisteren zijn we om zes uur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5198097" y="241442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913605" y="2167534"/>
            <a:ext cx="56898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913605" y="2167534"/>
            <a:ext cx="56898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691640" y="3310026"/>
            <a:ext cx="1299286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691640" y="3298850"/>
            <a:ext cx="1299286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opgestaan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3072359" y="3298850"/>
            <a:ext cx="516239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een wandeling in de bergen. Het eten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8133309" y="3310026"/>
            <a:ext cx="549097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133309" y="3298850"/>
            <a:ext cx="54909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8763838" y="3298850"/>
            <a:ext cx="1664792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lekker en we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10327183" y="3310026"/>
            <a:ext cx="970153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0327183" y="3298850"/>
            <a:ext cx="97015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hadden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2341283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768380" y="2987954"/>
            <a:ext cx="114580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768380" y="2987954"/>
            <a:ext cx="114580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PARTICULE + GE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407857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159477" y="2987954"/>
            <a:ext cx="49676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159477" y="2987954"/>
            <a:ext cx="49676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10812259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0572121" y="2987954"/>
            <a:ext cx="48027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0572121" y="2987954"/>
            <a:ext cx="48027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1691640" y="4119270"/>
            <a:ext cx="443359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prachtig uitzicht. Het is hier veel</a:t>
            </a:r>
            <a:endParaRPr lang="en-US" sz="2200" dirty="0"/>
          </a:p>
        </p:txBody>
      </p:sp>
      <p:sp>
        <p:nvSpPr>
          <p:cNvPr id="33" name="Shape 29"/>
          <p:cNvSpPr/>
          <p:nvPr/>
        </p:nvSpPr>
        <p:spPr>
          <a:xfrm>
            <a:off x="6023788" y="4130446"/>
            <a:ext cx="1504925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023788" y="4119270"/>
            <a:ext cx="150492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warmer dan</a:t>
            </a:r>
            <a:endParaRPr lang="en-US" sz="2200" dirty="0"/>
          </a:p>
        </p:txBody>
      </p:sp>
      <p:sp>
        <p:nvSpPr>
          <p:cNvPr id="35" name="Text 31"/>
          <p:cNvSpPr txBox="1"/>
          <p:nvPr/>
        </p:nvSpPr>
        <p:spPr>
          <a:xfrm>
            <a:off x="7610145" y="4119270"/>
            <a:ext cx="1256741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België!</a:t>
            </a:r>
            <a:endParaRPr lang="en-US" sz="2200" dirty="0"/>
          </a:p>
        </p:txBody>
      </p:sp>
      <p:sp>
        <p:nvSpPr>
          <p:cNvPr id="36" name="Shape 32"/>
          <p:cNvSpPr/>
          <p:nvPr/>
        </p:nvSpPr>
        <p:spPr>
          <a:xfrm>
            <a:off x="6776250" y="405526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274873" y="3808374"/>
            <a:ext cx="100275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274873" y="3808374"/>
            <a:ext cx="100275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3355048" y="5140858"/>
            <a:ext cx="188371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maandag…</a:t>
            </a:r>
            <a:endParaRPr lang="en-US" sz="2200" dirty="0"/>
          </a:p>
        </p:txBody>
      </p:sp>
      <p:sp>
        <p:nvSpPr>
          <p:cNvPr id="40" name="Shape 36"/>
          <p:cNvSpPr/>
          <p:nvPr/>
        </p:nvSpPr>
        <p:spPr>
          <a:xfrm>
            <a:off x="5137315" y="5152034"/>
            <a:ext cx="2927071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5137315" y="5140858"/>
            <a:ext cx="2927071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misschien blijf ik hier!</a:t>
            </a:r>
            <a:endParaRPr lang="en-US" sz="2200" dirty="0"/>
          </a:p>
        </p:txBody>
      </p:sp>
      <p:sp>
        <p:nvSpPr>
          <p:cNvPr id="42" name="Shape 38"/>
          <p:cNvSpPr/>
          <p:nvPr/>
        </p:nvSpPr>
        <p:spPr>
          <a:xfrm>
            <a:off x="8145818" y="5152034"/>
            <a:ext cx="1079678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8145818" y="5140858"/>
            <a:ext cx="107967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Groetjes</a:t>
            </a:r>
            <a:endParaRPr lang="en-US" sz="2200" dirty="0"/>
          </a:p>
        </p:txBody>
      </p:sp>
      <p:sp>
        <p:nvSpPr>
          <p:cNvPr id="44" name="Text 40"/>
          <p:cNvSpPr txBox="1"/>
          <p:nvPr/>
        </p:nvSpPr>
        <p:spPr>
          <a:xfrm>
            <a:off x="9225496" y="5140858"/>
            <a:ext cx="998296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Karim</a:t>
            </a:r>
            <a:endParaRPr lang="en-US" sz="2200" dirty="0"/>
          </a:p>
        </p:txBody>
      </p:sp>
      <p:sp>
        <p:nvSpPr>
          <p:cNvPr id="45" name="Shape 41"/>
          <p:cNvSpPr/>
          <p:nvPr/>
        </p:nvSpPr>
        <p:spPr>
          <a:xfrm>
            <a:off x="6600850" y="5076850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295822" y="4829962"/>
            <a:ext cx="61005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6295822" y="4829962"/>
            <a:ext cx="61005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8685657" y="5076850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8285982" y="4829962"/>
            <a:ext cx="79935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8285982" y="4829962"/>
            <a:ext cx="79935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GROETJES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Mijn eerste werkdag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Mon premier jour de travail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werkdag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0" name="Image 1" descr="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L’ORAL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Racontez votre premier jour dans votre nouvelle entreprise à un·e ami·e.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Commencez par </a:t>
            </a:r>
            <a:r>
              <a:rPr lang="en-US" sz="1450" b="1" dirty="0">
                <a:solidFill>
                  <a:srgbClr val="2B2F38"/>
                </a:solidFill>
              </a:rPr>
              <a:t>GISTEREN</a:t>
            </a:r>
            <a:r>
              <a:rPr lang="en-US" sz="1450" dirty="0">
                <a:solidFill>
                  <a:srgbClr val="2B2F38"/>
                </a:solidFill>
              </a:rPr>
              <a:t> + perfectum (inversion !).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Décrivez vos collègues avec un </a:t>
            </a:r>
            <a:r>
              <a:rPr lang="en-US" sz="1450" b="1" dirty="0">
                <a:solidFill>
                  <a:srgbClr val="2B2F38"/>
                </a:solidFill>
              </a:rPr>
              <a:t>qualificatif</a:t>
            </a:r>
            <a:r>
              <a:rPr lang="en-US" sz="1450" dirty="0">
                <a:solidFill>
                  <a:srgbClr val="2B2F38"/>
                </a:solidFill>
              </a:rPr>
              <a:t> (+ -E) et un </a:t>
            </a:r>
            <a:r>
              <a:rPr lang="en-US" sz="1450" b="1" dirty="0">
                <a:solidFill>
                  <a:srgbClr val="2B2F38"/>
                </a:solidFill>
              </a:rPr>
              <a:t>attribut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Utilisez </a:t>
            </a:r>
            <a:r>
              <a:rPr lang="en-US" sz="1450" b="1" dirty="0">
                <a:solidFill>
                  <a:srgbClr val="2B2F38"/>
                </a:solidFill>
              </a:rPr>
              <a:t>MOEST</a:t>
            </a:r>
            <a:r>
              <a:rPr lang="en-US" sz="1450" dirty="0">
                <a:solidFill>
                  <a:srgbClr val="2B2F38"/>
                </a:solidFill>
              </a:rPr>
              <a:t> (imparfait de moeten) + infinitif.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Donnez votre avis avec </a:t>
            </a:r>
            <a:r>
              <a:rPr lang="en-US" sz="1450" b="1" dirty="0">
                <a:solidFill>
                  <a:srgbClr val="2B2F38"/>
                </a:solidFill>
              </a:rPr>
              <a:t>IK VIND DAT</a:t>
            </a:r>
            <a:r>
              <a:rPr lang="en-US" sz="1450" dirty="0">
                <a:solidFill>
                  <a:srgbClr val="2B2F38"/>
                </a:solidFill>
              </a:rPr>
              <a:t> … (verbe à la fin).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une chute avec </a:t>
            </a:r>
            <a:r>
              <a:rPr lang="en-US" sz="1450" b="1" dirty="0">
                <a:solidFill>
                  <a:srgbClr val="2B2F38"/>
                </a:solidFill>
              </a:rPr>
              <a:t>EIGENLIJK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Vertel je verhaal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Mijn eerste werkdag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werkda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zeggen…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4E8FB"/>
          </a:solidFill>
          <a:ln w="28575">
            <a:solidFill>
              <a:srgbClr val="F2A66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5B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werkdag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691640" y="2489606"/>
            <a:ext cx="3073756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691640" y="2478430"/>
            <a:ext cx="3073756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Gisteren ben ik begonnen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4846828" y="2478430"/>
            <a:ext cx="452216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een bank in Brussel. Mijn collega’s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9267546" y="2489606"/>
            <a:ext cx="1779575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267546" y="2478430"/>
            <a:ext cx="177957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 vriendelijk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11128553" y="2478430"/>
            <a:ext cx="468706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3228518" y="241442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500338" y="2167534"/>
            <a:ext cx="1456360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500338" y="2167534"/>
            <a:ext cx="145636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GISTEREN + inversion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0157333" y="241442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758775" y="2167534"/>
            <a:ext cx="79711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758775" y="2167534"/>
            <a:ext cx="79711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691640" y="3298850"/>
            <a:ext cx="2050212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mijn baas is een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3640404" y="3310026"/>
            <a:ext cx="890803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640404" y="3298850"/>
            <a:ext cx="89080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rustige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4612640" y="3298850"/>
            <a:ext cx="103601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man. Ik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5547208" y="3310026"/>
            <a:ext cx="817880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547208" y="3298850"/>
            <a:ext cx="817880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moest</a:t>
            </a:r>
            <a:endParaRPr lang="en-US" sz="2200" dirty="0"/>
          </a:p>
        </p:txBody>
      </p:sp>
      <p:sp>
        <p:nvSpPr>
          <p:cNvPr id="26" name="Text 22"/>
          <p:cNvSpPr txBox="1"/>
          <p:nvPr/>
        </p:nvSpPr>
        <p:spPr>
          <a:xfrm>
            <a:off x="6446520" y="3298850"/>
            <a:ext cx="296524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hele dag formulieren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9310319" y="3310026"/>
            <a:ext cx="1020445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310319" y="3298850"/>
            <a:ext cx="102044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invullen</a:t>
            </a:r>
            <a:endParaRPr lang="en-US" sz="2200" dirty="0"/>
          </a:p>
        </p:txBody>
      </p:sp>
      <p:sp>
        <p:nvSpPr>
          <p:cNvPr id="29" name="Text 25"/>
          <p:cNvSpPr txBox="1"/>
          <p:nvPr/>
        </p:nvSpPr>
        <p:spPr>
          <a:xfrm>
            <a:off x="10330764" y="3298850"/>
            <a:ext cx="53225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Ik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4085806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3454927" y="2987954"/>
            <a:ext cx="126175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3454927" y="2987954"/>
            <a:ext cx="126175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QUALIFICATIF + -E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956148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636451" y="2987954"/>
            <a:ext cx="63939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636451" y="2987954"/>
            <a:ext cx="63939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MOEST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9820542" y="323484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9448108" y="2987954"/>
            <a:ext cx="74486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9448108" y="2987954"/>
            <a:ext cx="74486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infinitif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1691640" y="4130446"/>
            <a:ext cx="1040562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691640" y="4119270"/>
            <a:ext cx="1040562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vind dat</a:t>
            </a:r>
            <a:endParaRPr lang="en-US" sz="2200" dirty="0"/>
          </a:p>
        </p:txBody>
      </p:sp>
      <p:sp>
        <p:nvSpPr>
          <p:cNvPr id="41" name="Text 37"/>
          <p:cNvSpPr txBox="1"/>
          <p:nvPr/>
        </p:nvSpPr>
        <p:spPr>
          <a:xfrm>
            <a:off x="2813634" y="4119270"/>
            <a:ext cx="2561666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werk interessant</a:t>
            </a:r>
            <a:endParaRPr lang="en-US" sz="2200" dirty="0"/>
          </a:p>
        </p:txBody>
      </p:sp>
      <p:sp>
        <p:nvSpPr>
          <p:cNvPr id="42" name="Shape 38"/>
          <p:cNvSpPr/>
          <p:nvPr/>
        </p:nvSpPr>
        <p:spPr>
          <a:xfrm>
            <a:off x="5273853" y="4130446"/>
            <a:ext cx="271653" cy="340868"/>
          </a:xfrm>
          <a:prstGeom prst="roundRect">
            <a:avLst>
              <a:gd name="adj" fmla="val 16830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273853" y="4119270"/>
            <a:ext cx="27165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2200" dirty="0"/>
          </a:p>
        </p:txBody>
      </p:sp>
      <p:sp>
        <p:nvSpPr>
          <p:cNvPr id="44" name="Text 40"/>
          <p:cNvSpPr txBox="1"/>
          <p:nvPr/>
        </p:nvSpPr>
        <p:spPr>
          <a:xfrm>
            <a:off x="5545506" y="4119270"/>
            <a:ext cx="25328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45" name="Shape 41"/>
          <p:cNvSpPr/>
          <p:nvPr/>
        </p:nvSpPr>
        <p:spPr>
          <a:xfrm>
            <a:off x="2211921" y="405526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815529" y="3808374"/>
            <a:ext cx="79278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815529" y="3808374"/>
            <a:ext cx="79278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VIND DAT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5409679" y="4055262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924019" y="3808374"/>
            <a:ext cx="9713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4924019" y="3808374"/>
            <a:ext cx="9713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 à la fin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3410991" y="5152034"/>
            <a:ext cx="1062355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3410991" y="5140858"/>
            <a:ext cx="106235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Eigenlijk</a:t>
            </a:r>
            <a:endParaRPr lang="en-US" sz="2200" dirty="0"/>
          </a:p>
        </p:txBody>
      </p:sp>
      <p:sp>
        <p:nvSpPr>
          <p:cNvPr id="53" name="Text 49"/>
          <p:cNvSpPr txBox="1"/>
          <p:nvPr/>
        </p:nvSpPr>
        <p:spPr>
          <a:xfrm>
            <a:off x="4554779" y="5140858"/>
            <a:ext cx="5613070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weet ik nog niet waar de koffiemachine staat…</a:t>
            </a:r>
            <a:endParaRPr lang="en-US" sz="2200" dirty="0"/>
          </a:p>
        </p:txBody>
      </p:sp>
      <p:sp>
        <p:nvSpPr>
          <p:cNvPr id="54" name="Shape 50"/>
          <p:cNvSpPr/>
          <p:nvPr/>
        </p:nvSpPr>
        <p:spPr>
          <a:xfrm>
            <a:off x="3942169" y="5076850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3545567" y="4829962"/>
            <a:ext cx="79320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3545567" y="4829962"/>
            <a:ext cx="79320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EIGENLIJK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Niveau B1 — Seuil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554480" y="1371600"/>
            <a:ext cx="3017520" cy="4892040"/>
          </a:xfrm>
          <a:prstGeom prst="roundRect">
            <a:avLst>
              <a:gd name="adj" fmla="val 3636"/>
            </a:avLst>
          </a:prstGeom>
          <a:solidFill>
            <a:srgbClr val="F4E8F6"/>
          </a:solidFill>
          <a:ln w="15875">
            <a:solidFill>
              <a:srgbClr val="B57FC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37360" y="14813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qu’on évalue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1920240"/>
            <a:ext cx="2743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subordonnées : toen, terwijl, nadat, hoewel, zodat, indien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relatives : die / dat / waar + préposition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passif : worden, er wordt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conditionnel zou(den)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plus-que-parfait · discours indirect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… te + infinitif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+ préposition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connecteurs : bovendien, enerzijds / anderzijds, echter, kortom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formel (u, Geachte…)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00600" y="141732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10" name="Image 0" descr="/home/user/talenleren/neerlandais1/generateur/img/vijfzinnen/klacht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463040"/>
            <a:ext cx="1627632" cy="101727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00600" y="257175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Een klacht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800600" y="301066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réclamation</a:t>
            </a:r>
            <a:endParaRPr lang="en-US" sz="1050" dirty="0"/>
          </a:p>
        </p:txBody>
      </p:sp>
      <p:pic>
        <p:nvPicPr>
          <p:cNvPr id="13" name="Image 1" descr="PenNi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4" y="1527048"/>
            <a:ext cx="182880" cy="1828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583680" y="141732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15" name="Image 2" descr="/home/user/talenleren/neerlandais1/generateur/img/vijfzinnen/sollicitatie_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463040"/>
            <a:ext cx="1627632" cy="10172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583680" y="257175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Het sollicitatiegesprek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6583680" y="301066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L’entretien d’embauche</a:t>
            </a:r>
            <a:endParaRPr lang="en-US" sz="1050" dirty="0"/>
          </a:p>
        </p:txBody>
      </p:sp>
      <p:pic>
        <p:nvPicPr>
          <p:cNvPr id="18" name="Image 3" descr="Commen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527048"/>
            <a:ext cx="182880" cy="18288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8366760" y="141732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20" name="Image 4" descr="/home/user/talenleren/neerlandais1/generateur/img/vijfzinnen/verhuisd_s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463040"/>
            <a:ext cx="1627632" cy="101727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366760" y="257175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Verhuisd!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8366760" y="301066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déménagé !</a:t>
            </a:r>
            <a:endParaRPr lang="en-US" sz="1050" dirty="0"/>
          </a:p>
        </p:txBody>
      </p:sp>
      <p:pic>
        <p:nvPicPr>
          <p:cNvPr id="23" name="Image 5" descr="PenNi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3224" y="1527048"/>
            <a:ext cx="182880" cy="18288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10149840" y="141732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25" name="Image 6" descr="/home/user/talenleren/neerlandais1/generateur/img/vijfzinnen/fiets_s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5560" y="1463040"/>
            <a:ext cx="1627632" cy="101727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0149840" y="257175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Een fietsongeluk</a:t>
            </a:r>
            <a:endParaRPr lang="en-US" sz="1200" dirty="0"/>
          </a:p>
        </p:txBody>
      </p:sp>
      <p:sp>
        <p:nvSpPr>
          <p:cNvPr id="27" name="Text 17"/>
          <p:cNvSpPr txBox="1"/>
          <p:nvPr/>
        </p:nvSpPr>
        <p:spPr>
          <a:xfrm>
            <a:off x="10149840" y="301066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accident à vélo</a:t>
            </a:r>
            <a:endParaRPr lang="en-US" sz="1050" dirty="0"/>
          </a:p>
        </p:txBody>
      </p:sp>
      <p:pic>
        <p:nvPicPr>
          <p:cNvPr id="28" name="Image 7" descr="Comment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76304" y="1527048"/>
            <a:ext cx="182880" cy="18288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4800600" y="384048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30" name="Image 8" descr="/home/user/talenleren/neerlandais1/generateur/img/vijfzinnen/thuiswerk_s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886200"/>
            <a:ext cx="1627632" cy="101727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4800600" y="499491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Thuiswerken: voor of tegen?</a:t>
            </a:r>
            <a:endParaRPr lang="en-US" sz="1200" dirty="0"/>
          </a:p>
        </p:txBody>
      </p:sp>
      <p:sp>
        <p:nvSpPr>
          <p:cNvPr id="32" name="Text 20"/>
          <p:cNvSpPr txBox="1"/>
          <p:nvPr/>
        </p:nvSpPr>
        <p:spPr>
          <a:xfrm>
            <a:off x="4800600" y="543382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Télétravail : pour ou contre ?</a:t>
            </a:r>
            <a:endParaRPr lang="en-US" sz="1050" dirty="0"/>
          </a:p>
        </p:txBody>
      </p:sp>
      <p:pic>
        <p:nvPicPr>
          <p:cNvPr id="33" name="Image 9" descr="Comment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7064" y="3950208"/>
            <a:ext cx="182880" cy="182880"/>
          </a:xfrm>
          <a:prstGeom prst="rect">
            <a:avLst/>
          </a:prstGeom>
        </p:spPr>
      </p:pic>
      <p:sp>
        <p:nvSpPr>
          <p:cNvPr id="34" name="Shape 21"/>
          <p:cNvSpPr/>
          <p:nvPr/>
        </p:nvSpPr>
        <p:spPr>
          <a:xfrm>
            <a:off x="6583680" y="384048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35" name="Image 10" descr="/home/user/talenleren/neerlandais1/generateur/img/vijfzinnen/recensie_s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3886200"/>
            <a:ext cx="1627632" cy="1017270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6583680" y="499491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Een restaurantrecensie</a:t>
            </a:r>
            <a:endParaRPr lang="en-US" sz="1200" dirty="0"/>
          </a:p>
        </p:txBody>
      </p:sp>
      <p:sp>
        <p:nvSpPr>
          <p:cNvPr id="37" name="Text 23"/>
          <p:cNvSpPr txBox="1"/>
          <p:nvPr/>
        </p:nvSpPr>
        <p:spPr>
          <a:xfrm>
            <a:off x="6583680" y="543382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avis sur un restaurant</a:t>
            </a:r>
            <a:endParaRPr lang="en-US" sz="1050" dirty="0"/>
          </a:p>
        </p:txBody>
      </p:sp>
      <p:pic>
        <p:nvPicPr>
          <p:cNvPr id="38" name="Image 11" descr="PenNib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0144" y="3950208"/>
            <a:ext cx="182880" cy="182880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8366760" y="384048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40" name="Image 12" descr="/home/user/talenleren/neerlandais1/generateur/img/vijfzinnen/duurzaam_s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2480" y="3886200"/>
            <a:ext cx="1627632" cy="1017270"/>
          </a:xfrm>
          <a:prstGeom prst="rect">
            <a:avLst/>
          </a:prstGeom>
        </p:spPr>
      </p:pic>
      <p:sp>
        <p:nvSpPr>
          <p:cNvPr id="41" name="Text 25"/>
          <p:cNvSpPr txBox="1"/>
          <p:nvPr/>
        </p:nvSpPr>
        <p:spPr>
          <a:xfrm>
            <a:off x="8366760" y="499491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Duurzaam leven</a:t>
            </a:r>
            <a:endParaRPr lang="en-US" sz="1200" dirty="0"/>
          </a:p>
        </p:txBody>
      </p:sp>
      <p:sp>
        <p:nvSpPr>
          <p:cNvPr id="42" name="Text 26"/>
          <p:cNvSpPr txBox="1"/>
          <p:nvPr/>
        </p:nvSpPr>
        <p:spPr>
          <a:xfrm>
            <a:off x="8366760" y="543382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Vivre durablement</a:t>
            </a:r>
            <a:endParaRPr lang="en-US" sz="1050" dirty="0"/>
          </a:p>
        </p:txBody>
      </p:sp>
      <p:pic>
        <p:nvPicPr>
          <p:cNvPr id="43" name="Image 13" descr="Comments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93224" y="3950208"/>
            <a:ext cx="182880" cy="182880"/>
          </a:xfrm>
          <a:prstGeom prst="rect">
            <a:avLst/>
          </a:prstGeom>
        </p:spPr>
      </p:pic>
      <p:sp>
        <p:nvSpPr>
          <p:cNvPr id="44" name="Shape 27"/>
          <p:cNvSpPr/>
          <p:nvPr/>
        </p:nvSpPr>
        <p:spPr>
          <a:xfrm>
            <a:off x="10149840" y="3840480"/>
            <a:ext cx="1719072" cy="110871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45" name="Image 14" descr="/home/user/talenleren/neerlandais1/generateur/img/vijfzinnen/buren_s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95560" y="3886200"/>
            <a:ext cx="1627632" cy="1017270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10149840" y="499491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Overlast van de buren</a:t>
            </a:r>
            <a:endParaRPr lang="en-US" sz="1200" dirty="0"/>
          </a:p>
        </p:txBody>
      </p:sp>
      <p:sp>
        <p:nvSpPr>
          <p:cNvPr id="47" name="Text 29"/>
          <p:cNvSpPr txBox="1"/>
          <p:nvPr/>
        </p:nvSpPr>
        <p:spPr>
          <a:xfrm>
            <a:off x="10149840" y="543382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voisins bruyants</a:t>
            </a:r>
            <a:endParaRPr lang="en-US" sz="1050" dirty="0"/>
          </a:p>
        </p:txBody>
      </p:sp>
      <p:pic>
        <p:nvPicPr>
          <p:cNvPr id="48" name="Image 15" descr="PenNib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576304" y="3950208"/>
            <a:ext cx="182880" cy="182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Een klacht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Une réclamation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klacht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4A7BD0"/>
            </a:solidFill>
            <a:prstDash val="solid"/>
          </a:ln>
        </p:spPr>
      </p:sp>
      <p:pic>
        <p:nvPicPr>
          <p:cNvPr id="10" name="Image 1" descr="PenNi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4A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L’ÉCRIT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colis est arrivé en retard et abîmé. Écrivez au service clients.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Ouvrez avec </a:t>
            </a:r>
            <a:r>
              <a:rPr lang="en-US" sz="1450" b="1" dirty="0">
                <a:solidFill>
                  <a:srgbClr val="2B2F38"/>
                </a:solidFill>
              </a:rPr>
              <a:t>GEACHTE</a:t>
            </a:r>
            <a:r>
              <a:rPr lang="en-US" sz="1450" dirty="0">
                <a:solidFill>
                  <a:srgbClr val="2B2F38"/>
                </a:solidFill>
              </a:rPr>
              <a:t> … et situez votre commande au </a:t>
            </a:r>
            <a:r>
              <a:rPr lang="en-US" sz="1450" b="1" dirty="0">
                <a:solidFill>
                  <a:srgbClr val="2B2F38"/>
                </a:solidFill>
              </a:rPr>
              <a:t>perfectum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Utilisez le </a:t>
            </a:r>
            <a:r>
              <a:rPr lang="en-US" sz="1450" b="1" dirty="0">
                <a:solidFill>
                  <a:srgbClr val="2B2F38"/>
                </a:solidFill>
              </a:rPr>
              <a:t>passif</a:t>
            </a:r>
            <a:r>
              <a:rPr lang="en-US" sz="1450" dirty="0">
                <a:solidFill>
                  <a:srgbClr val="2B2F38"/>
                </a:solidFill>
              </a:rPr>
              <a:t> au passé : </a:t>
            </a:r>
            <a:r>
              <a:rPr lang="en-US" sz="1450" b="1" dirty="0">
                <a:solidFill>
                  <a:srgbClr val="2B2F38"/>
                </a:solidFill>
              </a:rPr>
              <a:t>WERD</a:t>
            </a:r>
            <a:r>
              <a:rPr lang="en-US" sz="1450" dirty="0">
                <a:solidFill>
                  <a:srgbClr val="2B2F38"/>
                </a:solidFill>
              </a:rPr>
              <a:t> + participe.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Utilisez une </a:t>
            </a:r>
            <a:r>
              <a:rPr lang="en-US" sz="1450" b="1" dirty="0">
                <a:solidFill>
                  <a:srgbClr val="2B2F38"/>
                </a:solidFill>
              </a:rPr>
              <a:t>relative</a:t>
            </a:r>
            <a:r>
              <a:rPr lang="en-US" sz="1450" dirty="0">
                <a:solidFill>
                  <a:srgbClr val="2B2F38"/>
                </a:solidFill>
              </a:rPr>
              <a:t> avec </a:t>
            </a:r>
            <a:r>
              <a:rPr lang="en-US" sz="1450" b="1" dirty="0">
                <a:solidFill>
                  <a:srgbClr val="2B2F38"/>
                </a:solidFill>
              </a:rPr>
              <a:t>DIE</a:t>
            </a:r>
            <a:r>
              <a:rPr lang="en-US" sz="1450" dirty="0">
                <a:solidFill>
                  <a:srgbClr val="2B2F38"/>
                </a:solidFill>
              </a:rPr>
              <a:t> ou </a:t>
            </a:r>
            <a:r>
              <a:rPr lang="en-US" sz="1450" b="1" dirty="0">
                <a:solidFill>
                  <a:srgbClr val="2B2F38"/>
                </a:solidFill>
              </a:rPr>
              <a:t>DAT</a:t>
            </a:r>
            <a:r>
              <a:rPr lang="en-US" sz="1450" dirty="0">
                <a:solidFill>
                  <a:srgbClr val="2B2F38"/>
                </a:solidFill>
              </a:rPr>
              <a:t> (verbe à la fin).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Formulez votre demande au conditionnel : </a:t>
            </a:r>
            <a:r>
              <a:rPr lang="en-US" sz="1450" b="1" dirty="0">
                <a:solidFill>
                  <a:srgbClr val="2B2F38"/>
                </a:solidFill>
              </a:rPr>
              <a:t>ZOU</a:t>
            </a:r>
            <a:r>
              <a:rPr lang="en-US" sz="1450" dirty="0">
                <a:solidFill>
                  <a:srgbClr val="2B2F38"/>
                </a:solidFill>
              </a:rPr>
              <a:t> … </a:t>
            </a:r>
            <a:r>
              <a:rPr lang="en-US" sz="1450" b="1" dirty="0">
                <a:solidFill>
                  <a:srgbClr val="2B2F38"/>
                </a:solidFill>
              </a:rPr>
              <a:t>WILLEN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fermement avec </a:t>
            </a:r>
            <a:r>
              <a:rPr lang="en-US" sz="1450" b="1" dirty="0">
                <a:solidFill>
                  <a:srgbClr val="2B2F38"/>
                </a:solidFill>
              </a:rPr>
              <a:t>INDIEN</a:t>
            </a:r>
            <a:r>
              <a:rPr lang="en-US" sz="1450" dirty="0">
                <a:solidFill>
                  <a:srgbClr val="2B2F38"/>
                </a:solidFill>
              </a:rPr>
              <a:t> + une formule finale.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je tekst voor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Een klacht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klac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schrijven…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klacht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691640" y="1931060"/>
            <a:ext cx="2570664" cy="302133"/>
          </a:xfrm>
          <a:prstGeom prst="roundRect">
            <a:avLst>
              <a:gd name="adj" fmla="val 15132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691640" y="1921154"/>
            <a:ext cx="2570664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Geachte heer, mevrouw</a:t>
            </a:r>
            <a:endParaRPr lang="en-US" sz="1950" dirty="0"/>
          </a:p>
        </p:txBody>
      </p:sp>
      <p:sp>
        <p:nvSpPr>
          <p:cNvPr id="10" name="Text 6"/>
          <p:cNvSpPr txBox="1"/>
          <p:nvPr/>
        </p:nvSpPr>
        <p:spPr>
          <a:xfrm>
            <a:off x="4262304" y="1921154"/>
            <a:ext cx="244793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950" dirty="0"/>
          </a:p>
        </p:txBody>
      </p:sp>
      <p:sp>
        <p:nvSpPr>
          <p:cNvPr id="11" name="Shape 7"/>
          <p:cNvSpPr/>
          <p:nvPr/>
        </p:nvSpPr>
        <p:spPr>
          <a:xfrm>
            <a:off x="2976972" y="1857146"/>
            <a:ext cx="914" cy="7391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596645" y="1610258"/>
            <a:ext cx="76065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596645" y="1610258"/>
            <a:ext cx="76065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GEACHTE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691640" y="2700299"/>
            <a:ext cx="1355427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3 maart</a:t>
            </a:r>
            <a:endParaRPr lang="en-US" sz="1950" dirty="0"/>
          </a:p>
        </p:txBody>
      </p:sp>
      <p:sp>
        <p:nvSpPr>
          <p:cNvPr id="15" name="Shape 11"/>
          <p:cNvSpPr/>
          <p:nvPr/>
        </p:nvSpPr>
        <p:spPr>
          <a:xfrm>
            <a:off x="2938443" y="2710205"/>
            <a:ext cx="481984" cy="302133"/>
          </a:xfrm>
          <a:prstGeom prst="roundRect">
            <a:avLst>
              <a:gd name="adj" fmla="val 15132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938443" y="2700299"/>
            <a:ext cx="481984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</a:t>
            </a:r>
            <a:endParaRPr lang="en-US" sz="1950" dirty="0"/>
          </a:p>
        </p:txBody>
      </p:sp>
      <p:sp>
        <p:nvSpPr>
          <p:cNvPr id="17" name="Text 13"/>
          <p:cNvSpPr txBox="1"/>
          <p:nvPr/>
        </p:nvSpPr>
        <p:spPr>
          <a:xfrm>
            <a:off x="3494684" y="2700299"/>
            <a:ext cx="3184989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een koffiezetapparaat bij u</a:t>
            </a:r>
            <a:endParaRPr lang="en-US" sz="1950" dirty="0"/>
          </a:p>
        </p:txBody>
      </p:sp>
      <p:sp>
        <p:nvSpPr>
          <p:cNvPr id="18" name="Shape 14"/>
          <p:cNvSpPr/>
          <p:nvPr/>
        </p:nvSpPr>
        <p:spPr>
          <a:xfrm>
            <a:off x="6571050" y="2710205"/>
            <a:ext cx="852221" cy="302133"/>
          </a:xfrm>
          <a:prstGeom prst="roundRect">
            <a:avLst>
              <a:gd name="adj" fmla="val 15132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571050" y="2700299"/>
            <a:ext cx="852221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besteld</a:t>
            </a:r>
            <a:endParaRPr lang="en-US" sz="1950" dirty="0"/>
          </a:p>
        </p:txBody>
      </p:sp>
      <p:sp>
        <p:nvSpPr>
          <p:cNvPr id="20" name="Text 16"/>
          <p:cNvSpPr txBox="1"/>
          <p:nvPr/>
        </p:nvSpPr>
        <p:spPr>
          <a:xfrm>
            <a:off x="7423271" y="2700299"/>
            <a:ext cx="1434675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Het pakket</a:t>
            </a:r>
            <a:endParaRPr lang="en-US" sz="1950" dirty="0"/>
          </a:p>
        </p:txBody>
      </p:sp>
      <p:sp>
        <p:nvSpPr>
          <p:cNvPr id="21" name="Shape 17"/>
          <p:cNvSpPr/>
          <p:nvPr/>
        </p:nvSpPr>
        <p:spPr>
          <a:xfrm>
            <a:off x="8749322" y="2710205"/>
            <a:ext cx="621411" cy="302133"/>
          </a:xfrm>
          <a:prstGeom prst="roundRect">
            <a:avLst>
              <a:gd name="adj" fmla="val 15132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749322" y="2700299"/>
            <a:ext cx="621411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</a:t>
            </a:r>
            <a:endParaRPr lang="en-US" sz="1950" dirty="0"/>
          </a:p>
        </p:txBody>
      </p:sp>
      <p:sp>
        <p:nvSpPr>
          <p:cNvPr id="23" name="Text 19"/>
          <p:cNvSpPr txBox="1"/>
          <p:nvPr/>
        </p:nvSpPr>
        <p:spPr>
          <a:xfrm>
            <a:off x="9444990" y="2700299"/>
            <a:ext cx="2392547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twee weken later</a:t>
            </a:r>
            <a:endParaRPr lang="en-US" sz="1950" dirty="0"/>
          </a:p>
        </p:txBody>
      </p:sp>
      <p:sp>
        <p:nvSpPr>
          <p:cNvPr id="24" name="Shape 20"/>
          <p:cNvSpPr/>
          <p:nvPr/>
        </p:nvSpPr>
        <p:spPr>
          <a:xfrm>
            <a:off x="3179435" y="2636291"/>
            <a:ext cx="914" cy="7391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714800" y="2389403"/>
            <a:ext cx="929272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714800" y="2389403"/>
            <a:ext cx="92927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PERFECTUM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997160" y="2636291"/>
            <a:ext cx="914" cy="7391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579603" y="2389403"/>
            <a:ext cx="83511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579603" y="2389403"/>
            <a:ext cx="83511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participe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9060028" y="2636291"/>
            <a:ext cx="914" cy="7391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769598" y="2389403"/>
            <a:ext cx="580860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769598" y="2389403"/>
            <a:ext cx="58086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1691640" y="3489350"/>
            <a:ext cx="981494" cy="302133"/>
          </a:xfrm>
          <a:prstGeom prst="roundRect">
            <a:avLst>
              <a:gd name="adj" fmla="val 15132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1691640" y="3479444"/>
            <a:ext cx="981494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geleverd</a:t>
            </a:r>
            <a:endParaRPr lang="en-US" sz="1950" dirty="0"/>
          </a:p>
        </p:txBody>
      </p:sp>
      <p:sp>
        <p:nvSpPr>
          <p:cNvPr id="35" name="Text 31"/>
          <p:cNvSpPr txBox="1"/>
          <p:nvPr/>
        </p:nvSpPr>
        <p:spPr>
          <a:xfrm>
            <a:off x="2673134" y="3479444"/>
            <a:ext cx="3038875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Bovendien was het toestel</a:t>
            </a:r>
            <a:endParaRPr lang="en-US" sz="1950" dirty="0"/>
          </a:p>
        </p:txBody>
      </p:sp>
      <p:sp>
        <p:nvSpPr>
          <p:cNvPr id="36" name="Shape 32"/>
          <p:cNvSpPr/>
          <p:nvPr/>
        </p:nvSpPr>
        <p:spPr>
          <a:xfrm>
            <a:off x="5603386" y="3489350"/>
            <a:ext cx="1505026" cy="302133"/>
          </a:xfrm>
          <a:prstGeom prst="roundRect">
            <a:avLst>
              <a:gd name="adj" fmla="val 15132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603386" y="3479444"/>
            <a:ext cx="1505026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ik ontving</a:t>
            </a:r>
            <a:endParaRPr lang="en-US" sz="1950" dirty="0"/>
          </a:p>
        </p:txBody>
      </p:sp>
      <p:sp>
        <p:nvSpPr>
          <p:cNvPr id="38" name="Text 34"/>
          <p:cNvSpPr txBox="1"/>
          <p:nvPr/>
        </p:nvSpPr>
        <p:spPr>
          <a:xfrm>
            <a:off x="7182669" y="3479444"/>
            <a:ext cx="1631842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beschadigd. Ik</a:t>
            </a:r>
            <a:endParaRPr lang="en-US" sz="1950" dirty="0"/>
          </a:p>
        </p:txBody>
      </p:sp>
      <p:sp>
        <p:nvSpPr>
          <p:cNvPr id="39" name="Shape 35"/>
          <p:cNvSpPr/>
          <p:nvPr/>
        </p:nvSpPr>
        <p:spPr>
          <a:xfrm>
            <a:off x="8705888" y="3489350"/>
            <a:ext cx="455981" cy="302133"/>
          </a:xfrm>
          <a:prstGeom prst="roundRect">
            <a:avLst>
              <a:gd name="adj" fmla="val 15132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8705888" y="3479444"/>
            <a:ext cx="455981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</a:t>
            </a:r>
            <a:endParaRPr lang="en-US" sz="1950" dirty="0"/>
          </a:p>
        </p:txBody>
      </p:sp>
      <p:sp>
        <p:nvSpPr>
          <p:cNvPr id="41" name="Text 37"/>
          <p:cNvSpPr txBox="1"/>
          <p:nvPr/>
        </p:nvSpPr>
        <p:spPr>
          <a:xfrm>
            <a:off x="9236126" y="3479444"/>
            <a:ext cx="2091652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ook graag een</a:t>
            </a:r>
            <a:endParaRPr lang="en-US" sz="1950" dirty="0"/>
          </a:p>
        </p:txBody>
      </p:sp>
      <p:sp>
        <p:nvSpPr>
          <p:cNvPr id="42" name="Shape 38"/>
          <p:cNvSpPr/>
          <p:nvPr/>
        </p:nvSpPr>
        <p:spPr>
          <a:xfrm>
            <a:off x="2182387" y="3415436"/>
            <a:ext cx="914" cy="7391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764830" y="3168548"/>
            <a:ext cx="83511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764830" y="3168548"/>
            <a:ext cx="83511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participe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6355899" y="3415436"/>
            <a:ext cx="914" cy="7391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5545506" y="3168548"/>
            <a:ext cx="162078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5545506" y="3168548"/>
            <a:ext cx="162078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: verbe à la fin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8933879" y="3415436"/>
            <a:ext cx="914" cy="7391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8697932" y="3168548"/>
            <a:ext cx="47189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8697932" y="3168548"/>
            <a:ext cx="47189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</a:t>
            </a:r>
            <a:endParaRPr lang="en-US" sz="1100" dirty="0"/>
          </a:p>
        </p:txBody>
      </p:sp>
      <p:sp>
        <p:nvSpPr>
          <p:cNvPr id="51" name="Text 47"/>
          <p:cNvSpPr txBox="1"/>
          <p:nvPr/>
        </p:nvSpPr>
        <p:spPr>
          <a:xfrm>
            <a:off x="1691640" y="4258589"/>
            <a:ext cx="1571415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 toestel</a:t>
            </a:r>
            <a:endParaRPr lang="en-US" sz="1950" dirty="0"/>
          </a:p>
        </p:txBody>
      </p:sp>
      <p:sp>
        <p:nvSpPr>
          <p:cNvPr id="52" name="Shape 48"/>
          <p:cNvSpPr/>
          <p:nvPr/>
        </p:nvSpPr>
        <p:spPr>
          <a:xfrm>
            <a:off x="3154432" y="4268495"/>
            <a:ext cx="1871796" cy="302133"/>
          </a:xfrm>
          <a:prstGeom prst="roundRect">
            <a:avLst>
              <a:gd name="adj" fmla="val 15132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3154432" y="4258589"/>
            <a:ext cx="1871796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willen ontvangen</a:t>
            </a:r>
            <a:endParaRPr lang="en-US" sz="1950" dirty="0"/>
          </a:p>
        </p:txBody>
      </p:sp>
      <p:sp>
        <p:nvSpPr>
          <p:cNvPr id="54" name="Text 50"/>
          <p:cNvSpPr txBox="1"/>
          <p:nvPr/>
        </p:nvSpPr>
        <p:spPr>
          <a:xfrm>
            <a:off x="5026228" y="4258589"/>
            <a:ext cx="245288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50" dirty="0"/>
          </a:p>
        </p:txBody>
      </p:sp>
      <p:sp>
        <p:nvSpPr>
          <p:cNvPr id="55" name="Shape 51"/>
          <p:cNvSpPr/>
          <p:nvPr/>
        </p:nvSpPr>
        <p:spPr>
          <a:xfrm>
            <a:off x="4090330" y="4194581"/>
            <a:ext cx="914" cy="7391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3480965" y="3947693"/>
            <a:ext cx="1218730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3480965" y="3947693"/>
            <a:ext cx="121873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WILLEN + infinitif</a:t>
            </a:r>
            <a:endParaRPr lang="en-US" sz="1100" dirty="0"/>
          </a:p>
        </p:txBody>
      </p:sp>
      <p:sp>
        <p:nvSpPr>
          <p:cNvPr id="58" name="Shape 54"/>
          <p:cNvSpPr/>
          <p:nvPr/>
        </p:nvSpPr>
        <p:spPr>
          <a:xfrm>
            <a:off x="2995308" y="5248808"/>
            <a:ext cx="742017" cy="302133"/>
          </a:xfrm>
          <a:prstGeom prst="roundRect">
            <a:avLst>
              <a:gd name="adj" fmla="val 15132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2995308" y="5238902"/>
            <a:ext cx="742017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Indien</a:t>
            </a:r>
            <a:endParaRPr lang="en-US" sz="1950" dirty="0"/>
          </a:p>
        </p:txBody>
      </p:sp>
      <p:sp>
        <p:nvSpPr>
          <p:cNvPr id="60" name="Text 56"/>
          <p:cNvSpPr txBox="1"/>
          <p:nvPr/>
        </p:nvSpPr>
        <p:spPr>
          <a:xfrm>
            <a:off x="3811581" y="5238902"/>
            <a:ext cx="3491008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binnen tien dagen niets van u</a:t>
            </a:r>
            <a:endParaRPr lang="en-US" sz="1950" dirty="0"/>
          </a:p>
        </p:txBody>
      </p:sp>
      <p:sp>
        <p:nvSpPr>
          <p:cNvPr id="61" name="Shape 57"/>
          <p:cNvSpPr/>
          <p:nvPr/>
        </p:nvSpPr>
        <p:spPr>
          <a:xfrm>
            <a:off x="7193966" y="5248808"/>
            <a:ext cx="578815" cy="302133"/>
          </a:xfrm>
          <a:prstGeom prst="roundRect">
            <a:avLst>
              <a:gd name="adj" fmla="val 15132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7193966" y="5238902"/>
            <a:ext cx="578815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hoor</a:t>
            </a:r>
            <a:endParaRPr lang="en-US" sz="1950" dirty="0"/>
          </a:p>
        </p:txBody>
      </p:sp>
      <p:sp>
        <p:nvSpPr>
          <p:cNvPr id="63" name="Text 59"/>
          <p:cNvSpPr txBox="1"/>
          <p:nvPr/>
        </p:nvSpPr>
        <p:spPr>
          <a:xfrm>
            <a:off x="7772781" y="5238902"/>
            <a:ext cx="2810751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vraag ik mijn geld terug.</a:t>
            </a:r>
            <a:endParaRPr lang="en-US" sz="1950" dirty="0"/>
          </a:p>
        </p:txBody>
      </p:sp>
      <p:sp>
        <p:nvSpPr>
          <p:cNvPr id="64" name="Shape 60"/>
          <p:cNvSpPr/>
          <p:nvPr/>
        </p:nvSpPr>
        <p:spPr>
          <a:xfrm>
            <a:off x="3366316" y="5174894"/>
            <a:ext cx="914" cy="7391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3049133" y="4928006"/>
            <a:ext cx="63436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3049133" y="4928006"/>
            <a:ext cx="63436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INDIEN</a:t>
            </a:r>
            <a:endParaRPr lang="en-US" sz="1100" dirty="0"/>
          </a:p>
        </p:txBody>
      </p:sp>
      <p:sp>
        <p:nvSpPr>
          <p:cNvPr id="67" name="Shape 63"/>
          <p:cNvSpPr/>
          <p:nvPr/>
        </p:nvSpPr>
        <p:spPr>
          <a:xfrm>
            <a:off x="7483373" y="5174894"/>
            <a:ext cx="914" cy="7391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997713" y="4928006"/>
            <a:ext cx="9713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65"/>
          <p:cNvSpPr txBox="1"/>
          <p:nvPr/>
        </p:nvSpPr>
        <p:spPr>
          <a:xfrm>
            <a:off x="6997713" y="4928006"/>
            <a:ext cx="9713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 à la fin</a:t>
            </a:r>
            <a:endParaRPr lang="en-US" sz="1100" dirty="0"/>
          </a:p>
        </p:txBody>
      </p:sp>
      <p:sp>
        <p:nvSpPr>
          <p:cNvPr id="70" name="Shape 66"/>
          <p:cNvSpPr/>
          <p:nvPr/>
        </p:nvSpPr>
        <p:spPr>
          <a:xfrm>
            <a:off x="4664907" y="6027953"/>
            <a:ext cx="2646445" cy="302133"/>
          </a:xfrm>
          <a:prstGeom prst="roundRect">
            <a:avLst>
              <a:gd name="adj" fmla="val 15132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4664907" y="6018047"/>
            <a:ext cx="2646445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vriendelijke groeten</a:t>
            </a:r>
            <a:endParaRPr lang="en-US" sz="1950" dirty="0"/>
          </a:p>
        </p:txBody>
      </p:sp>
      <p:sp>
        <p:nvSpPr>
          <p:cNvPr id="72" name="Text 68"/>
          <p:cNvSpPr txBox="1"/>
          <p:nvPr/>
        </p:nvSpPr>
        <p:spPr>
          <a:xfrm>
            <a:off x="7311352" y="6018047"/>
            <a:ext cx="1602581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Karim Benali</a:t>
            </a:r>
            <a:endParaRPr lang="en-US" sz="1950" dirty="0"/>
          </a:p>
        </p:txBody>
      </p:sp>
      <p:sp>
        <p:nvSpPr>
          <p:cNvPr id="73" name="Shape 69"/>
          <p:cNvSpPr/>
          <p:nvPr/>
        </p:nvSpPr>
        <p:spPr>
          <a:xfrm>
            <a:off x="5988129" y="5954039"/>
            <a:ext cx="914" cy="7391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5589502" y="5707151"/>
            <a:ext cx="79725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5589502" y="5707151"/>
            <a:ext cx="79725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Het sollicitatiegesprek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L’entretien d’embauche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sollicitati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0" name="Image 1" descr="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L’ORAL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Lors d’un entretien, présentez votre parcours et votre motivation.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Présentez votre parcours avec </a:t>
            </a:r>
            <a:r>
              <a:rPr lang="en-US" sz="1450" b="1" dirty="0">
                <a:solidFill>
                  <a:srgbClr val="2B2F38"/>
                </a:solidFill>
              </a:rPr>
              <a:t>NADAT</a:t>
            </a:r>
            <a:r>
              <a:rPr lang="en-US" sz="1450" dirty="0">
                <a:solidFill>
                  <a:srgbClr val="2B2F38"/>
                </a:solidFill>
              </a:rPr>
              <a:t> + plus-que-parfait.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Utilisez une relative avec </a:t>
            </a:r>
            <a:r>
              <a:rPr lang="en-US" sz="1450" b="1" dirty="0">
                <a:solidFill>
                  <a:srgbClr val="2B2F38"/>
                </a:solidFill>
              </a:rPr>
              <a:t>WAAR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Exprimez votre but avec </a:t>
            </a:r>
            <a:r>
              <a:rPr lang="en-US" sz="1450" b="1" dirty="0">
                <a:solidFill>
                  <a:srgbClr val="2B2F38"/>
                </a:solidFill>
              </a:rPr>
              <a:t>OM … TE</a:t>
            </a:r>
            <a:r>
              <a:rPr lang="en-US" sz="1450" dirty="0">
                <a:solidFill>
                  <a:srgbClr val="2B2F38"/>
                </a:solidFill>
              </a:rPr>
              <a:t> + infinitif.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Nuancez une faiblesse avec </a:t>
            </a:r>
            <a:r>
              <a:rPr lang="en-US" sz="1450" b="1" dirty="0">
                <a:solidFill>
                  <a:srgbClr val="2B2F38"/>
                </a:solidFill>
              </a:rPr>
              <a:t>HOEWEL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une question audacieuse au conditionnel : </a:t>
            </a:r>
            <a:r>
              <a:rPr lang="en-US" sz="1450" b="1" dirty="0">
                <a:solidFill>
                  <a:srgbClr val="2B2F38"/>
                </a:solidFill>
              </a:rPr>
              <a:t>ZOU IK</a:t>
            </a:r>
            <a:r>
              <a:rPr lang="en-US" sz="1450" dirty="0">
                <a:solidFill>
                  <a:srgbClr val="2B2F38"/>
                </a:solidFill>
              </a:rPr>
              <a:t> … ?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Vertel je verhaal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Het sollicitatiegesprek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sollicitati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zeggen…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sollicitati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691640" y="2541422"/>
            <a:ext cx="734314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691640" y="2531262"/>
            <a:ext cx="73431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2501646" y="2531262"/>
            <a:ext cx="180568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mijn diploma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4200144" y="2541422"/>
            <a:ext cx="1397508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200144" y="2531262"/>
            <a:ext cx="139750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behaald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5597652" y="2531262"/>
            <a:ext cx="561136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werkte ik vijf jaar als boekhouder. Dat was bij een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2058797" y="24672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739798" y="2220366"/>
            <a:ext cx="63799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739798" y="2220366"/>
            <a:ext cx="63799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898898" y="24672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335145" y="2220366"/>
            <a:ext cx="112750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335145" y="2220366"/>
            <a:ext cx="112750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+ participe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691640" y="3318662"/>
            <a:ext cx="142646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firma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3010916" y="3328822"/>
            <a:ext cx="621792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010916" y="3318662"/>
            <a:ext cx="62179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3708400" y="3318662"/>
            <a:ext cx="50518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veel heb geleerd. Ik solliciteer bij uw bedrijf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8653018" y="3328822"/>
            <a:ext cx="434594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653018" y="3318662"/>
            <a:ext cx="43459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9163304" y="3318662"/>
            <a:ext cx="224104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nieuwe uitdagingen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3321812" y="32546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024816" y="3007766"/>
            <a:ext cx="593992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3024816" y="3007766"/>
            <a:ext cx="5939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870315" y="32546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652319" y="3007766"/>
            <a:ext cx="43599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652319" y="3007766"/>
            <a:ext cx="43599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1691640" y="4116222"/>
            <a:ext cx="1317244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1691640" y="4106062"/>
            <a:ext cx="131724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te gaan</a:t>
            </a:r>
            <a:endParaRPr lang="en-US" sz="2000" dirty="0"/>
          </a:p>
        </p:txBody>
      </p:sp>
      <p:sp>
        <p:nvSpPr>
          <p:cNvPr id="35" name="Text 31"/>
          <p:cNvSpPr txBox="1"/>
          <p:nvPr/>
        </p:nvSpPr>
        <p:spPr>
          <a:xfrm>
            <a:off x="3008884" y="4106062"/>
            <a:ext cx="24688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36" name="Shape 32"/>
          <p:cNvSpPr/>
          <p:nvPr/>
        </p:nvSpPr>
        <p:spPr>
          <a:xfrm>
            <a:off x="3148584" y="4116222"/>
            <a:ext cx="895604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3148584" y="4106062"/>
            <a:ext cx="89560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Hoewel</a:t>
            </a:r>
            <a:endParaRPr lang="en-US" sz="2000" dirty="0"/>
          </a:p>
        </p:txBody>
      </p:sp>
      <p:sp>
        <p:nvSpPr>
          <p:cNvPr id="38" name="Text 34"/>
          <p:cNvSpPr txBox="1"/>
          <p:nvPr/>
        </p:nvSpPr>
        <p:spPr>
          <a:xfrm>
            <a:off x="4119880" y="4106062"/>
            <a:ext cx="388721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nog geen ervaring als teamleider</a:t>
            </a:r>
            <a:endParaRPr lang="en-US" sz="2000" dirty="0"/>
          </a:p>
        </p:txBody>
      </p:sp>
      <p:sp>
        <p:nvSpPr>
          <p:cNvPr id="39" name="Shape 35"/>
          <p:cNvSpPr/>
          <p:nvPr/>
        </p:nvSpPr>
        <p:spPr>
          <a:xfrm>
            <a:off x="7899908" y="4116222"/>
            <a:ext cx="491998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899908" y="4106062"/>
            <a:ext cx="49199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</a:t>
            </a:r>
            <a:endParaRPr lang="en-US" sz="2000" dirty="0"/>
          </a:p>
        </p:txBody>
      </p:sp>
      <p:sp>
        <p:nvSpPr>
          <p:cNvPr id="41" name="Text 37"/>
          <p:cNvSpPr txBox="1"/>
          <p:nvPr/>
        </p:nvSpPr>
        <p:spPr>
          <a:xfrm>
            <a:off x="8391906" y="4106062"/>
            <a:ext cx="20495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leer ik heel snel.</a:t>
            </a:r>
            <a:endParaRPr lang="en-US" sz="2000" dirty="0"/>
          </a:p>
        </p:txBody>
      </p:sp>
      <p:sp>
        <p:nvSpPr>
          <p:cNvPr id="42" name="Shape 38"/>
          <p:cNvSpPr/>
          <p:nvPr/>
        </p:nvSpPr>
        <p:spPr>
          <a:xfrm>
            <a:off x="2350262" y="40420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893380" y="3795166"/>
            <a:ext cx="91376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893380" y="3795166"/>
            <a:ext cx="91376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+ infinitif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3596386" y="40420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3234360" y="3795166"/>
            <a:ext cx="724052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3234360" y="3795166"/>
            <a:ext cx="72405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HOEWEL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8145907" y="40420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660246" y="3795166"/>
            <a:ext cx="9713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7660246" y="3795166"/>
            <a:ext cx="9713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 à la fin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3513582" y="5104790"/>
            <a:ext cx="727710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3513582" y="5094630"/>
            <a:ext cx="72771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 ik</a:t>
            </a:r>
            <a:endParaRPr lang="en-US" sz="2000" dirty="0"/>
          </a:p>
        </p:txBody>
      </p:sp>
      <p:sp>
        <p:nvSpPr>
          <p:cNvPr id="53" name="Text 49"/>
          <p:cNvSpPr txBox="1"/>
          <p:nvPr/>
        </p:nvSpPr>
        <p:spPr>
          <a:xfrm>
            <a:off x="4316984" y="5094630"/>
            <a:ext cx="388518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misschien ook vier dagen per week</a:t>
            </a:r>
            <a:endParaRPr lang="en-US" sz="2000" dirty="0"/>
          </a:p>
        </p:txBody>
      </p:sp>
      <p:sp>
        <p:nvSpPr>
          <p:cNvPr id="54" name="Shape 50"/>
          <p:cNvSpPr/>
          <p:nvPr/>
        </p:nvSpPr>
        <p:spPr>
          <a:xfrm>
            <a:off x="8094980" y="5104790"/>
            <a:ext cx="1669796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8094980" y="5094630"/>
            <a:ext cx="166979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mogen werken</a:t>
            </a:r>
            <a:endParaRPr lang="en-US" sz="2000" dirty="0"/>
          </a:p>
        </p:txBody>
      </p:sp>
      <p:sp>
        <p:nvSpPr>
          <p:cNvPr id="56" name="Text 52"/>
          <p:cNvSpPr txBox="1"/>
          <p:nvPr/>
        </p:nvSpPr>
        <p:spPr>
          <a:xfrm>
            <a:off x="9764776" y="5094630"/>
            <a:ext cx="30048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57" name="Shape 53"/>
          <p:cNvSpPr/>
          <p:nvPr/>
        </p:nvSpPr>
        <p:spPr>
          <a:xfrm>
            <a:off x="3877437" y="5030622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3568846" y="4783734"/>
            <a:ext cx="617182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3568846" y="4783734"/>
            <a:ext cx="61718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 IK</a:t>
            </a:r>
            <a:endParaRPr lang="en-US" sz="1100" dirty="0"/>
          </a:p>
        </p:txBody>
      </p:sp>
      <p:sp>
        <p:nvSpPr>
          <p:cNvPr id="60" name="Shape 56"/>
          <p:cNvSpPr/>
          <p:nvPr/>
        </p:nvSpPr>
        <p:spPr>
          <a:xfrm>
            <a:off x="8929878" y="5030622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8529574" y="4783734"/>
            <a:ext cx="80060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8529574" y="4783734"/>
            <a:ext cx="8006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infinitifs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Verhuisd!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 a déménagé !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verhuisd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4A7BD0"/>
            </a:solidFill>
            <a:prstDash val="solid"/>
          </a:ln>
        </p:spPr>
      </p:sp>
      <p:pic>
        <p:nvPicPr>
          <p:cNvPr id="10" name="Image 1" descr="PenNi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4A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L’ÉCRIT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déménagé. Racontez la journée du déménagement à un·e ami·e par e-mail.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Plantez le décor avec </a:t>
            </a:r>
            <a:r>
              <a:rPr lang="en-US" sz="1450" b="1" dirty="0">
                <a:solidFill>
                  <a:srgbClr val="2B2F38"/>
                </a:solidFill>
              </a:rPr>
              <a:t>TOEN</a:t>
            </a:r>
            <a:r>
              <a:rPr lang="en-US" sz="1450" dirty="0">
                <a:solidFill>
                  <a:srgbClr val="2B2F38"/>
                </a:solidFill>
              </a:rPr>
              <a:t> + imparfait (verbe à la fin).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Racontez deux actions simultanées avec </a:t>
            </a:r>
            <a:r>
              <a:rPr lang="en-US" sz="1450" b="1" dirty="0">
                <a:solidFill>
                  <a:srgbClr val="2B2F38"/>
                </a:solidFill>
              </a:rPr>
              <a:t>TERWIJL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Utilisez le </a:t>
            </a:r>
            <a:r>
              <a:rPr lang="en-US" sz="1450" b="1" dirty="0">
                <a:solidFill>
                  <a:srgbClr val="2B2F38"/>
                </a:solidFill>
              </a:rPr>
              <a:t>plus-que-parfait</a:t>
            </a:r>
            <a:r>
              <a:rPr lang="en-US" sz="1450" dirty="0">
                <a:solidFill>
                  <a:srgbClr val="2B2F38"/>
                </a:solidFill>
              </a:rPr>
              <a:t> (HAD / WAS + participe).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Utilisez </a:t>
            </a:r>
            <a:r>
              <a:rPr lang="en-US" sz="1450" b="1" dirty="0">
                <a:solidFill>
                  <a:srgbClr val="2B2F38"/>
                </a:solidFill>
              </a:rPr>
              <a:t>ER</a:t>
            </a:r>
            <a:r>
              <a:rPr lang="en-US" sz="1450" dirty="0">
                <a:solidFill>
                  <a:srgbClr val="2B2F38"/>
                </a:solidFill>
              </a:rPr>
              <a:t> + préposition (ERIN, EROP, ERMEE…).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une chute avec </a:t>
            </a:r>
            <a:r>
              <a:rPr lang="en-US" sz="1450" b="1" dirty="0">
                <a:solidFill>
                  <a:srgbClr val="2B2F38"/>
                </a:solidFill>
              </a:rPr>
              <a:t>GELUKKIG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je tekst voor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Verhuisd!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verhuis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schrijven…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verhuisd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691640" y="2541422"/>
            <a:ext cx="617982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691640" y="2531262"/>
            <a:ext cx="61798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Toen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2385314" y="2531262"/>
            <a:ext cx="33223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verhuiswagen om acht uur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5600446" y="2541422"/>
            <a:ext cx="1121918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600446" y="2531262"/>
            <a:ext cx="11219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aankwam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722364" y="2531262"/>
            <a:ext cx="301167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regende het pijpenstelen.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9626854" y="2541422"/>
            <a:ext cx="814070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626854" y="2531262"/>
            <a:ext cx="81407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Terwijl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10516616" y="2531262"/>
            <a:ext cx="128498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mijn broer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2000631" y="24672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728991" y="2220366"/>
            <a:ext cx="54328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728991" y="2220366"/>
            <a:ext cx="54328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TOEN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61405" y="24672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518861" y="2220366"/>
            <a:ext cx="128508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518861" y="2220366"/>
            <a:ext cx="128508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OVT, verbe à la fin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10033889" y="24672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681572" y="2220366"/>
            <a:ext cx="70463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681572" y="2220366"/>
            <a:ext cx="70463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TERWIJL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1691640" y="3318662"/>
            <a:ext cx="119989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kasten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2784348" y="3328822"/>
            <a:ext cx="702818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784348" y="3318662"/>
            <a:ext cx="7028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droeg</a:t>
            </a:r>
            <a:endParaRPr lang="en-US" sz="2000" dirty="0"/>
          </a:p>
        </p:txBody>
      </p:sp>
      <p:sp>
        <p:nvSpPr>
          <p:cNvPr id="29" name="Text 25"/>
          <p:cNvSpPr txBox="1"/>
          <p:nvPr/>
        </p:nvSpPr>
        <p:spPr>
          <a:xfrm>
            <a:off x="3487166" y="3318662"/>
            <a:ext cx="38717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maakte ik koffie voor iedereen. Ik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7251700" y="3328822"/>
            <a:ext cx="489712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251700" y="3318662"/>
            <a:ext cx="4897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7817104" y="3318662"/>
            <a:ext cx="12362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goed</a:t>
            </a:r>
            <a:endParaRPr lang="en-US" sz="2000" dirty="0"/>
          </a:p>
        </p:txBody>
      </p:sp>
      <p:sp>
        <p:nvSpPr>
          <p:cNvPr id="33" name="Shape 29"/>
          <p:cNvSpPr/>
          <p:nvPr/>
        </p:nvSpPr>
        <p:spPr>
          <a:xfrm>
            <a:off x="8946134" y="3328822"/>
            <a:ext cx="1010412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946134" y="3318662"/>
            <a:ext cx="10104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ingepakt</a:t>
            </a:r>
            <a:endParaRPr lang="en-US" sz="2000" dirty="0"/>
          </a:p>
        </p:txBody>
      </p:sp>
      <p:sp>
        <p:nvSpPr>
          <p:cNvPr id="35" name="Text 31"/>
          <p:cNvSpPr txBox="1"/>
          <p:nvPr/>
        </p:nvSpPr>
        <p:spPr>
          <a:xfrm>
            <a:off x="9956546" y="3318662"/>
            <a:ext cx="189509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maar één doos</a:t>
            </a:r>
            <a:endParaRPr lang="en-US" sz="2000" dirty="0"/>
          </a:p>
        </p:txBody>
      </p:sp>
      <p:sp>
        <p:nvSpPr>
          <p:cNvPr id="36" name="Shape 32"/>
          <p:cNvSpPr/>
          <p:nvPr/>
        </p:nvSpPr>
        <p:spPr>
          <a:xfrm flipH="1">
            <a:off x="3135757" y="32546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2650096" y="3007766"/>
            <a:ext cx="9713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2650096" y="3007766"/>
            <a:ext cx="9713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 à la fin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7496556" y="32546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256418" y="3007766"/>
            <a:ext cx="48027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7256418" y="3007766"/>
            <a:ext cx="48027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9451340" y="32546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9033783" y="3007766"/>
            <a:ext cx="83511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9033783" y="3007766"/>
            <a:ext cx="83511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participe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1691640" y="4106062"/>
            <a:ext cx="481888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 van de trap. Mijn mooiste borden zaten</a:t>
            </a:r>
            <a:endParaRPr lang="en-US" sz="2000" dirty="0"/>
          </a:p>
        </p:txBody>
      </p:sp>
      <p:sp>
        <p:nvSpPr>
          <p:cNvPr id="46" name="Shape 42"/>
          <p:cNvSpPr/>
          <p:nvPr/>
        </p:nvSpPr>
        <p:spPr>
          <a:xfrm>
            <a:off x="6403340" y="4116222"/>
            <a:ext cx="508254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6403340" y="4106062"/>
            <a:ext cx="50825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</a:t>
            </a:r>
            <a:endParaRPr lang="en-US" sz="2000" dirty="0"/>
          </a:p>
        </p:txBody>
      </p:sp>
      <p:sp>
        <p:nvSpPr>
          <p:cNvPr id="48" name="Text 44"/>
          <p:cNvSpPr txBox="1"/>
          <p:nvPr/>
        </p:nvSpPr>
        <p:spPr>
          <a:xfrm>
            <a:off x="6911594" y="4106062"/>
            <a:ext cx="3581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2000" dirty="0"/>
          </a:p>
        </p:txBody>
      </p:sp>
      <p:sp>
        <p:nvSpPr>
          <p:cNvPr id="49" name="Shape 45"/>
          <p:cNvSpPr/>
          <p:nvPr/>
        </p:nvSpPr>
        <p:spPr>
          <a:xfrm>
            <a:off x="6657467" y="40420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254369" y="3795166"/>
            <a:ext cx="80619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6254369" y="3795166"/>
            <a:ext cx="80619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+ prép.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3534791" y="5104790"/>
            <a:ext cx="1006602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3534791" y="5094630"/>
            <a:ext cx="100660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Gelukkig</a:t>
            </a:r>
            <a:endParaRPr lang="en-US" sz="2000" dirty="0"/>
          </a:p>
        </p:txBody>
      </p:sp>
      <p:sp>
        <p:nvSpPr>
          <p:cNvPr id="54" name="Text 50"/>
          <p:cNvSpPr txBox="1"/>
          <p:nvPr/>
        </p:nvSpPr>
        <p:spPr>
          <a:xfrm>
            <a:off x="4617085" y="5094630"/>
            <a:ext cx="542696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de koffiemachine nog heel: het belangrijkste!</a:t>
            </a:r>
            <a:endParaRPr lang="en-US" sz="2000" dirty="0"/>
          </a:p>
        </p:txBody>
      </p:sp>
      <p:sp>
        <p:nvSpPr>
          <p:cNvPr id="55" name="Shape 51"/>
          <p:cNvSpPr/>
          <p:nvPr/>
        </p:nvSpPr>
        <p:spPr>
          <a:xfrm>
            <a:off x="4038092" y="5030622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3635064" y="4783734"/>
            <a:ext cx="80605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3635064" y="4783734"/>
            <a:ext cx="80605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GELUKKIG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Een fietsongeluk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 accident à vélo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fiets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0" name="Image 1" descr="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L’ORAL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vu un accident. Deux semaines plus tard, vous témoignez au commissariat.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Plantez le décor à l’imparfait (</a:t>
            </a:r>
            <a:r>
              <a:rPr lang="en-US" sz="1450" b="1" dirty="0">
                <a:solidFill>
                  <a:srgbClr val="2B2F38"/>
                </a:solidFill>
              </a:rPr>
              <a:t>OVT</a:t>
            </a:r>
            <a:r>
              <a:rPr lang="en-US" sz="1450" dirty="0">
                <a:solidFill>
                  <a:srgbClr val="2B2F38"/>
                </a:solidFill>
              </a:rPr>
              <a:t>) : STOND, FIETSTE…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Racontez l’événement avec </a:t>
            </a:r>
            <a:r>
              <a:rPr lang="en-US" sz="1450" b="1" dirty="0">
                <a:solidFill>
                  <a:srgbClr val="2B2F38"/>
                </a:solidFill>
              </a:rPr>
              <a:t>PLOTSELING</a:t>
            </a:r>
            <a:r>
              <a:rPr lang="en-US" sz="1450" dirty="0">
                <a:solidFill>
                  <a:srgbClr val="2B2F38"/>
                </a:solidFill>
              </a:rPr>
              <a:t> + inversion.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Utilisez le </a:t>
            </a:r>
            <a:r>
              <a:rPr lang="en-US" sz="1450" b="1" dirty="0">
                <a:solidFill>
                  <a:srgbClr val="2B2F38"/>
                </a:solidFill>
              </a:rPr>
              <a:t>passif</a:t>
            </a:r>
            <a:r>
              <a:rPr lang="en-US" sz="1450" dirty="0">
                <a:solidFill>
                  <a:srgbClr val="2B2F38"/>
                </a:solidFill>
              </a:rPr>
              <a:t> au passé : </a:t>
            </a:r>
            <a:r>
              <a:rPr lang="en-US" sz="1450" b="1" dirty="0">
                <a:solidFill>
                  <a:srgbClr val="2B2F38"/>
                </a:solidFill>
              </a:rPr>
              <a:t>WERD</a:t>
            </a:r>
            <a:r>
              <a:rPr lang="en-US" sz="1450" dirty="0">
                <a:solidFill>
                  <a:srgbClr val="2B2F38"/>
                </a:solidFill>
              </a:rPr>
              <a:t> + participe.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Rapportez des paroles au discours indirect : </a:t>
            </a:r>
            <a:r>
              <a:rPr lang="en-US" sz="1450" b="1" dirty="0">
                <a:solidFill>
                  <a:srgbClr val="2B2F38"/>
                </a:solidFill>
              </a:rPr>
              <a:t>ZEI DAT</a:t>
            </a:r>
            <a:r>
              <a:rPr lang="en-US" sz="1450" dirty="0">
                <a:solidFill>
                  <a:srgbClr val="2B2F38"/>
                </a:solidFill>
              </a:rPr>
              <a:t> …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une chute avec </a:t>
            </a:r>
            <a:r>
              <a:rPr lang="en-US" sz="1450" b="1" dirty="0">
                <a:solidFill>
                  <a:srgbClr val="2B2F38"/>
                </a:solidFill>
              </a:rPr>
              <a:t>TOCH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Vertel je verhaal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Een fietsongeluk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fie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zeggen…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fiets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531262"/>
            <a:ext cx="36245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1946910" y="2541422"/>
            <a:ext cx="690372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946910" y="2531262"/>
            <a:ext cx="69037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stond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2712974" y="2531262"/>
            <a:ext cx="403707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de bushalte en een jonge vrouw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6642862" y="2541422"/>
            <a:ext cx="767334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642862" y="2531262"/>
            <a:ext cx="76733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fietste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485888" y="2531262"/>
            <a:ext cx="184556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het fietspad.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9224264" y="2541422"/>
            <a:ext cx="1664208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224264" y="2531262"/>
            <a:ext cx="166420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Plotseling reed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10964164" y="2531262"/>
            <a:ext cx="56921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2292096" y="24672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059292" y="2220366"/>
            <a:ext cx="46560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059292" y="2220366"/>
            <a:ext cx="46560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026529" y="24672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93725" y="2220366"/>
            <a:ext cx="46560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793725" y="2220366"/>
            <a:ext cx="46560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10056368" y="24672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258129" y="2220366"/>
            <a:ext cx="1596479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258129" y="2220366"/>
            <a:ext cx="159647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PLOTSELING + inversion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1691640" y="3318662"/>
            <a:ext cx="65349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bestelwagen zonder te kijken de straat op. De vrouw viel en</a:t>
            </a:r>
            <a:endParaRPr lang="en-US" sz="2000" dirty="0"/>
          </a:p>
        </p:txBody>
      </p:sp>
      <p:sp>
        <p:nvSpPr>
          <p:cNvPr id="28" name="Shape 24"/>
          <p:cNvSpPr/>
          <p:nvPr/>
        </p:nvSpPr>
        <p:spPr>
          <a:xfrm>
            <a:off x="8119364" y="3328822"/>
            <a:ext cx="635000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119364" y="3318662"/>
            <a:ext cx="63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</a:t>
            </a:r>
            <a:endParaRPr lang="en-US" sz="2000" dirty="0"/>
          </a:p>
        </p:txBody>
      </p:sp>
      <p:sp>
        <p:nvSpPr>
          <p:cNvPr id="30" name="Text 26"/>
          <p:cNvSpPr txBox="1"/>
          <p:nvPr/>
        </p:nvSpPr>
        <p:spPr>
          <a:xfrm>
            <a:off x="8830056" y="3318662"/>
            <a:ext cx="268833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de ambulance naar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8436864" y="32546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146434" y="3007766"/>
            <a:ext cx="580860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146434" y="3007766"/>
            <a:ext cx="58086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1691640" y="4106062"/>
            <a:ext cx="168859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ziekenhuis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3273044" y="4116222"/>
            <a:ext cx="1022350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3273044" y="4106062"/>
            <a:ext cx="102235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gebracht</a:t>
            </a:r>
            <a:endParaRPr lang="en-US" sz="2000" dirty="0"/>
          </a:p>
        </p:txBody>
      </p:sp>
      <p:sp>
        <p:nvSpPr>
          <p:cNvPr id="37" name="Text 33"/>
          <p:cNvSpPr txBox="1"/>
          <p:nvPr/>
        </p:nvSpPr>
        <p:spPr>
          <a:xfrm>
            <a:off x="4295394" y="4106062"/>
            <a:ext cx="168021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 chauffeur</a:t>
            </a:r>
            <a:endParaRPr lang="en-US" sz="2000" dirty="0"/>
          </a:p>
        </p:txBody>
      </p:sp>
      <p:sp>
        <p:nvSpPr>
          <p:cNvPr id="38" name="Shape 34"/>
          <p:cNvSpPr/>
          <p:nvPr/>
        </p:nvSpPr>
        <p:spPr>
          <a:xfrm>
            <a:off x="5868416" y="4116222"/>
            <a:ext cx="789940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868416" y="4106062"/>
            <a:ext cx="7899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 dat</a:t>
            </a:r>
            <a:endParaRPr lang="en-US" sz="2000" dirty="0"/>
          </a:p>
        </p:txBody>
      </p:sp>
      <p:sp>
        <p:nvSpPr>
          <p:cNvPr id="40" name="Text 36"/>
          <p:cNvSpPr txBox="1"/>
          <p:nvPr/>
        </p:nvSpPr>
        <p:spPr>
          <a:xfrm>
            <a:off x="6734048" y="4106062"/>
            <a:ext cx="14554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 haar niet</a:t>
            </a:r>
            <a:endParaRPr lang="en-US" sz="2000" dirty="0"/>
          </a:p>
        </p:txBody>
      </p:sp>
      <p:sp>
        <p:nvSpPr>
          <p:cNvPr id="41" name="Shape 37"/>
          <p:cNvSpPr/>
          <p:nvPr/>
        </p:nvSpPr>
        <p:spPr>
          <a:xfrm>
            <a:off x="8082280" y="4116222"/>
            <a:ext cx="1222756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8082280" y="4106062"/>
            <a:ext cx="122275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gezien</a:t>
            </a:r>
            <a:endParaRPr lang="en-US" sz="2000" dirty="0"/>
          </a:p>
        </p:txBody>
      </p:sp>
      <p:sp>
        <p:nvSpPr>
          <p:cNvPr id="43" name="Text 39"/>
          <p:cNvSpPr txBox="1"/>
          <p:nvPr/>
        </p:nvSpPr>
        <p:spPr>
          <a:xfrm>
            <a:off x="9305036" y="4106062"/>
            <a:ext cx="24688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44" name="Shape 40"/>
          <p:cNvSpPr/>
          <p:nvPr/>
        </p:nvSpPr>
        <p:spPr>
          <a:xfrm>
            <a:off x="3784219" y="40420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366662" y="3795166"/>
            <a:ext cx="83511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3366662" y="3795166"/>
            <a:ext cx="83511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participe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6263386" y="40420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930837" y="3795166"/>
            <a:ext cx="665099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5930837" y="3795166"/>
            <a:ext cx="66509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 DAT</a:t>
            </a:r>
            <a:endParaRPr lang="en-US" sz="1100" dirty="0"/>
          </a:p>
        </p:txBody>
      </p:sp>
      <p:sp>
        <p:nvSpPr>
          <p:cNvPr id="50" name="Shape 46"/>
          <p:cNvSpPr/>
          <p:nvPr/>
        </p:nvSpPr>
        <p:spPr>
          <a:xfrm>
            <a:off x="8693658" y="40420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8207997" y="3795166"/>
            <a:ext cx="9713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8207997" y="3795166"/>
            <a:ext cx="9713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 à la fin</a:t>
            </a:r>
            <a:endParaRPr lang="en-US" sz="1100" dirty="0"/>
          </a:p>
        </p:txBody>
      </p:sp>
      <p:sp>
        <p:nvSpPr>
          <p:cNvPr id="53" name="Text 49"/>
          <p:cNvSpPr txBox="1"/>
          <p:nvPr/>
        </p:nvSpPr>
        <p:spPr>
          <a:xfrm>
            <a:off x="3399663" y="5094630"/>
            <a:ext cx="2956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week later zag ik haar</a:t>
            </a:r>
            <a:endParaRPr lang="en-US" sz="2000" dirty="0"/>
          </a:p>
        </p:txBody>
      </p:sp>
      <p:sp>
        <p:nvSpPr>
          <p:cNvPr id="54" name="Shape 50"/>
          <p:cNvSpPr/>
          <p:nvPr/>
        </p:nvSpPr>
        <p:spPr>
          <a:xfrm>
            <a:off x="6249035" y="5104790"/>
            <a:ext cx="558800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249035" y="5094630"/>
            <a:ext cx="5588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toch</a:t>
            </a:r>
            <a:endParaRPr lang="en-US" sz="2000" dirty="0"/>
          </a:p>
        </p:txBody>
      </p:sp>
      <p:sp>
        <p:nvSpPr>
          <p:cNvPr id="56" name="Text 52"/>
          <p:cNvSpPr txBox="1"/>
          <p:nvPr/>
        </p:nvSpPr>
        <p:spPr>
          <a:xfrm>
            <a:off x="6883527" y="5094630"/>
            <a:ext cx="329565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weer fietsen… met een helm!</a:t>
            </a:r>
            <a:endParaRPr lang="en-US" sz="2000" dirty="0"/>
          </a:p>
        </p:txBody>
      </p:sp>
      <p:sp>
        <p:nvSpPr>
          <p:cNvPr id="57" name="Shape 53"/>
          <p:cNvSpPr/>
          <p:nvPr/>
        </p:nvSpPr>
        <p:spPr>
          <a:xfrm>
            <a:off x="6528435" y="5030622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6255887" y="4783734"/>
            <a:ext cx="54509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6255887" y="4783734"/>
            <a:ext cx="54509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Thuiswerken: voor of tegen?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Télétravail : pour ou contre ?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thuiswerk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0" name="Image 1" descr="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L’ORAL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entreprise veut supprimer le télétravail. Donnez votre avis en réunion.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Donnez votre avis avec </a:t>
            </a:r>
            <a:r>
              <a:rPr lang="en-US" sz="1450" b="1" dirty="0">
                <a:solidFill>
                  <a:srgbClr val="2B2F38"/>
                </a:solidFill>
              </a:rPr>
              <a:t>VOLGENS MIJ</a:t>
            </a:r>
            <a:r>
              <a:rPr lang="en-US" sz="1450" dirty="0">
                <a:solidFill>
                  <a:srgbClr val="2B2F38"/>
                </a:solidFill>
              </a:rPr>
              <a:t> + inversion.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Pesez le pour et le contre avec </a:t>
            </a:r>
            <a:r>
              <a:rPr lang="en-US" sz="1450" b="1" dirty="0">
                <a:solidFill>
                  <a:srgbClr val="2B2F38"/>
                </a:solidFill>
              </a:rPr>
              <a:t>ENERZIJDS</a:t>
            </a:r>
            <a:r>
              <a:rPr lang="en-US" sz="1450" dirty="0">
                <a:solidFill>
                  <a:srgbClr val="2B2F38"/>
                </a:solidFill>
              </a:rPr>
              <a:t> … </a:t>
            </a:r>
            <a:r>
              <a:rPr lang="en-US" sz="1450" b="1" dirty="0">
                <a:solidFill>
                  <a:srgbClr val="2B2F38"/>
                </a:solidFill>
              </a:rPr>
              <a:t>ANDERZIJDS</a:t>
            </a:r>
            <a:r>
              <a:rPr lang="en-US" sz="1450" dirty="0">
                <a:solidFill>
                  <a:srgbClr val="2B2F38"/>
                </a:solidFill>
              </a:rPr>
              <a:t> …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Ajoutez un argument avec </a:t>
            </a:r>
            <a:r>
              <a:rPr lang="en-US" sz="1450" b="1" dirty="0">
                <a:solidFill>
                  <a:srgbClr val="2B2F38"/>
                </a:solidFill>
              </a:rPr>
              <a:t>BOVENDIEN</a:t>
            </a:r>
            <a:r>
              <a:rPr lang="en-US" sz="1450" dirty="0">
                <a:solidFill>
                  <a:srgbClr val="2B2F38"/>
                </a:solidFill>
              </a:rPr>
              <a:t> (inversion !).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Faites une proposition avec </a:t>
            </a:r>
            <a:r>
              <a:rPr lang="en-US" sz="1450" b="1" dirty="0">
                <a:solidFill>
                  <a:srgbClr val="2B2F38"/>
                </a:solidFill>
              </a:rPr>
              <a:t>ALS</a:t>
            </a:r>
            <a:r>
              <a:rPr lang="en-US" sz="1450" dirty="0">
                <a:solidFill>
                  <a:srgbClr val="2B2F38"/>
                </a:solidFill>
              </a:rPr>
              <a:t> … </a:t>
            </a:r>
            <a:r>
              <a:rPr lang="en-US" sz="1450" b="1" dirty="0">
                <a:solidFill>
                  <a:srgbClr val="2B2F38"/>
                </a:solidFill>
              </a:rPr>
              <a:t>ZOUDEN</a:t>
            </a:r>
            <a:r>
              <a:rPr lang="en-US" sz="1450" dirty="0">
                <a:solidFill>
                  <a:srgbClr val="2B2F38"/>
                </a:solidFill>
              </a:rPr>
              <a:t> …, </a:t>
            </a:r>
            <a:r>
              <a:rPr lang="en-US" sz="1450" b="1" dirty="0">
                <a:solidFill>
                  <a:srgbClr val="2B2F38"/>
                </a:solidFill>
              </a:rPr>
              <a:t>ZOU</a:t>
            </a:r>
            <a:r>
              <a:rPr lang="en-US" sz="1450" dirty="0">
                <a:solidFill>
                  <a:srgbClr val="2B2F38"/>
                </a:solidFill>
              </a:rPr>
              <a:t> …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Concluez avec </a:t>
            </a:r>
            <a:r>
              <a:rPr lang="en-US" sz="1450" b="1" dirty="0">
                <a:solidFill>
                  <a:srgbClr val="2B2F38"/>
                </a:solidFill>
              </a:rPr>
              <a:t>KORTOM</a:t>
            </a:r>
            <a:r>
              <a:rPr lang="en-US" sz="1450" dirty="0">
                <a:solidFill>
                  <a:srgbClr val="2B2F38"/>
                </a:solidFill>
              </a:rPr>
              <a:t> + une chute.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Vertel je verhaal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Thuiswerken: voor of tegen?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thuiswe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zeggen…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thuiswerk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691640" y="2350821"/>
            <a:ext cx="1538986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691640" y="2340661"/>
            <a:ext cx="153898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Volgens mij is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3306318" y="2340661"/>
            <a:ext cx="516128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thuiswerken een groot voordeel voor iedereen.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8360410" y="2350821"/>
            <a:ext cx="1035558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360410" y="2340661"/>
            <a:ext cx="103555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Enerzijds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9471660" y="2340661"/>
            <a:ext cx="238074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verlies je geen tijd in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2461133" y="2276653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957102" y="2029765"/>
            <a:ext cx="1008063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957102" y="2029765"/>
            <a:ext cx="100806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VOLGENS MIJ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878189" y="2276653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62728" y="2029765"/>
            <a:ext cx="830923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462728" y="2029765"/>
            <a:ext cx="83092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ENERZIJDS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691640" y="3128061"/>
            <a:ext cx="90271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file,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2487168" y="3138221"/>
            <a:ext cx="1173480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2487168" y="3128061"/>
            <a:ext cx="117348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anderzijds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3736340" y="3128061"/>
            <a:ext cx="284124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 je je collega’s minder.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6470396" y="3138221"/>
            <a:ext cx="2068576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470396" y="3128061"/>
            <a:ext cx="206857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Bovendien werken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8614664" y="3128061"/>
            <a:ext cx="296722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 mensen thuis rustiger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3073908" y="3064053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606199" y="2817165"/>
            <a:ext cx="935419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2606199" y="2817165"/>
            <a:ext cx="93541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ANDERZIJDS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504684" y="3064053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044379" y="2817165"/>
            <a:ext cx="920610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044379" y="2817165"/>
            <a:ext cx="92061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BOVENDIEN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1691640" y="3915461"/>
            <a:ext cx="16482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efficiënter.</a:t>
            </a:r>
            <a:endParaRPr lang="en-US" sz="2000" dirty="0"/>
          </a:p>
        </p:txBody>
      </p:sp>
      <p:sp>
        <p:nvSpPr>
          <p:cNvPr id="34" name="Shape 30"/>
          <p:cNvSpPr/>
          <p:nvPr/>
        </p:nvSpPr>
        <p:spPr>
          <a:xfrm>
            <a:off x="3232658" y="3925621"/>
            <a:ext cx="409194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3232658" y="3915461"/>
            <a:ext cx="40919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endParaRPr lang="en-US" sz="2000" dirty="0"/>
          </a:p>
        </p:txBody>
      </p:sp>
      <p:sp>
        <p:nvSpPr>
          <p:cNvPr id="36" name="Text 32"/>
          <p:cNvSpPr txBox="1"/>
          <p:nvPr/>
        </p:nvSpPr>
        <p:spPr>
          <a:xfrm>
            <a:off x="3717544" y="3915461"/>
            <a:ext cx="343179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twee dagen per week thuis</a:t>
            </a:r>
            <a:endParaRPr lang="en-US" sz="2000" dirty="0"/>
          </a:p>
        </p:txBody>
      </p:sp>
      <p:sp>
        <p:nvSpPr>
          <p:cNvPr id="37" name="Shape 33"/>
          <p:cNvSpPr/>
          <p:nvPr/>
        </p:nvSpPr>
        <p:spPr>
          <a:xfrm>
            <a:off x="7042150" y="3925621"/>
            <a:ext cx="1716532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7042150" y="3915461"/>
            <a:ext cx="171653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zouden werken</a:t>
            </a:r>
            <a:endParaRPr lang="en-US" sz="2000" dirty="0"/>
          </a:p>
        </p:txBody>
      </p:sp>
      <p:sp>
        <p:nvSpPr>
          <p:cNvPr id="39" name="Text 35"/>
          <p:cNvSpPr txBox="1"/>
          <p:nvPr/>
        </p:nvSpPr>
        <p:spPr>
          <a:xfrm>
            <a:off x="8758682" y="3915461"/>
            <a:ext cx="24638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2000" dirty="0"/>
          </a:p>
        </p:txBody>
      </p:sp>
      <p:sp>
        <p:nvSpPr>
          <p:cNvPr id="40" name="Shape 36"/>
          <p:cNvSpPr/>
          <p:nvPr/>
        </p:nvSpPr>
        <p:spPr>
          <a:xfrm>
            <a:off x="8897874" y="3925621"/>
            <a:ext cx="465328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8897874" y="3915461"/>
            <a:ext cx="46532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</a:t>
            </a:r>
            <a:endParaRPr lang="en-US" sz="2000" dirty="0"/>
          </a:p>
        </p:txBody>
      </p:sp>
      <p:sp>
        <p:nvSpPr>
          <p:cNvPr id="42" name="Text 38"/>
          <p:cNvSpPr txBox="1"/>
          <p:nvPr/>
        </p:nvSpPr>
        <p:spPr>
          <a:xfrm>
            <a:off x="9438894" y="3915461"/>
            <a:ext cx="21130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iedereen tevreden</a:t>
            </a:r>
            <a:endParaRPr lang="en-US" sz="2000" dirty="0"/>
          </a:p>
        </p:txBody>
      </p:sp>
      <p:sp>
        <p:nvSpPr>
          <p:cNvPr id="43" name="Shape 39"/>
          <p:cNvSpPr/>
          <p:nvPr/>
        </p:nvSpPr>
        <p:spPr>
          <a:xfrm>
            <a:off x="3437255" y="3851453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3222612" y="3604565"/>
            <a:ext cx="42928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3222612" y="3604565"/>
            <a:ext cx="42928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7900416" y="3851453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7261854" y="3604565"/>
            <a:ext cx="127712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7261854" y="3604565"/>
            <a:ext cx="127712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ZOUDEN + infinitif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9130538" y="3851453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8894591" y="3604565"/>
            <a:ext cx="47189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8894591" y="3604565"/>
            <a:ext cx="47189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</a:t>
            </a:r>
            <a:endParaRPr lang="en-US" sz="1100" dirty="0"/>
          </a:p>
        </p:txBody>
      </p:sp>
      <p:sp>
        <p:nvSpPr>
          <p:cNvPr id="52" name="Text 48"/>
          <p:cNvSpPr txBox="1"/>
          <p:nvPr/>
        </p:nvSpPr>
        <p:spPr>
          <a:xfrm>
            <a:off x="1691640" y="4391965"/>
            <a:ext cx="59969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zijn.</a:t>
            </a:r>
            <a:endParaRPr lang="en-US" sz="2000" dirty="0"/>
          </a:p>
        </p:txBody>
      </p:sp>
      <p:sp>
        <p:nvSpPr>
          <p:cNvPr id="53" name="Shape 49"/>
          <p:cNvSpPr/>
          <p:nvPr/>
        </p:nvSpPr>
        <p:spPr>
          <a:xfrm>
            <a:off x="3857117" y="5390693"/>
            <a:ext cx="888492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3857117" y="5380533"/>
            <a:ext cx="88849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Kortom</a:t>
            </a:r>
            <a:endParaRPr lang="en-US" sz="2000" dirty="0"/>
          </a:p>
        </p:txBody>
      </p:sp>
      <p:sp>
        <p:nvSpPr>
          <p:cNvPr id="55" name="Text 51"/>
          <p:cNvSpPr txBox="1"/>
          <p:nvPr/>
        </p:nvSpPr>
        <p:spPr>
          <a:xfrm>
            <a:off x="4745609" y="5380533"/>
            <a:ext cx="497611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ik stem voor thuiswerken… en mijn kat ook!</a:t>
            </a:r>
            <a:endParaRPr lang="en-US" sz="2000" dirty="0"/>
          </a:p>
        </p:txBody>
      </p:sp>
      <p:sp>
        <p:nvSpPr>
          <p:cNvPr id="56" name="Shape 52"/>
          <p:cNvSpPr/>
          <p:nvPr/>
        </p:nvSpPr>
        <p:spPr>
          <a:xfrm>
            <a:off x="4301363" y="5316525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3924040" y="5069637"/>
            <a:ext cx="75464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3924040" y="5069637"/>
            <a:ext cx="75464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KORTOM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Een restaurantrecensie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 avis sur un restaurant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recensi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4A7BD0"/>
            </a:solidFill>
            <a:prstDash val="solid"/>
          </a:ln>
        </p:spPr>
      </p:sp>
      <p:pic>
        <p:nvPicPr>
          <p:cNvPr id="10" name="Image 1" descr="PenNi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4A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L’ÉCRIT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dîné dans un nouveau restaurant. Écrivez un avis en ligne.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Présentez le restaurant avec une </a:t>
            </a:r>
            <a:r>
              <a:rPr lang="en-US" sz="1450" b="1" dirty="0">
                <a:solidFill>
                  <a:srgbClr val="2B2F38"/>
                </a:solidFill>
              </a:rPr>
              <a:t>relative</a:t>
            </a:r>
            <a:r>
              <a:rPr lang="en-US" sz="1450" dirty="0">
                <a:solidFill>
                  <a:srgbClr val="2B2F38"/>
                </a:solidFill>
              </a:rPr>
              <a:t> (DIE / DAT, verbe à la fin).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Décrivez le repas avec un </a:t>
            </a:r>
            <a:r>
              <a:rPr lang="en-US" sz="1450" b="1" dirty="0">
                <a:solidFill>
                  <a:srgbClr val="2B2F38"/>
                </a:solidFill>
              </a:rPr>
              <a:t>qualificatif</a:t>
            </a:r>
            <a:r>
              <a:rPr lang="en-US" sz="1450" dirty="0">
                <a:solidFill>
                  <a:srgbClr val="2B2F38"/>
                </a:solidFill>
              </a:rPr>
              <a:t> (+ -E) et un </a:t>
            </a:r>
            <a:r>
              <a:rPr lang="en-US" sz="1450" b="1" dirty="0">
                <a:solidFill>
                  <a:srgbClr val="2B2F38"/>
                </a:solidFill>
              </a:rPr>
              <a:t>superlatif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Utilisez </a:t>
            </a:r>
            <a:r>
              <a:rPr lang="en-US" sz="1450" b="1" dirty="0">
                <a:solidFill>
                  <a:srgbClr val="2B2F38"/>
                </a:solidFill>
              </a:rPr>
              <a:t>WAAR</a:t>
            </a:r>
            <a:r>
              <a:rPr lang="en-US" sz="1450" dirty="0">
                <a:solidFill>
                  <a:srgbClr val="2B2F38"/>
                </a:solidFill>
              </a:rPr>
              <a:t> + préposition (WAAROP, WAARIN, WAARMEE…).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Formulez une critique avec </a:t>
            </a:r>
            <a:r>
              <a:rPr lang="en-US" sz="1450" b="1" dirty="0">
                <a:solidFill>
                  <a:srgbClr val="2B2F38"/>
                </a:solidFill>
              </a:rPr>
              <a:t>ECHTER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Recommandez au conditionnel (</a:t>
            </a:r>
            <a:r>
              <a:rPr lang="en-US" sz="1450" b="1" dirty="0">
                <a:solidFill>
                  <a:srgbClr val="2B2F38"/>
                </a:solidFill>
              </a:rPr>
              <a:t>ZOU</a:t>
            </a:r>
            <a:r>
              <a:rPr lang="en-US" sz="1450" dirty="0">
                <a:solidFill>
                  <a:srgbClr val="2B2F38"/>
                </a:solidFill>
              </a:rPr>
              <a:t> … </a:t>
            </a:r>
            <a:r>
              <a:rPr lang="en-US" sz="1450" b="1" dirty="0">
                <a:solidFill>
                  <a:srgbClr val="2B2F38"/>
                </a:solidFill>
              </a:rPr>
              <a:t>AANRADEN</a:t>
            </a:r>
            <a:r>
              <a:rPr lang="en-US" sz="1450" dirty="0">
                <a:solidFill>
                  <a:srgbClr val="2B2F38"/>
                </a:solidFill>
              </a:rPr>
              <a:t>) + une chute.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je tekst voor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Een restaurantrecensie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recensi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schrijven…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recensi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029765"/>
            <a:ext cx="686612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Gisteren hebben we gegeten in De Lepel, een nieuw restaurant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1691640" y="2827325"/>
            <a:ext cx="3329432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691640" y="2817165"/>
            <a:ext cx="332943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vlak bij de Grote Markt ligt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021072" y="2817165"/>
            <a:ext cx="294665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 vis was heerlijk en de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7860538" y="2827325"/>
            <a:ext cx="1571498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860538" y="2817165"/>
            <a:ext cx="157149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huisgemaakte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9507728" y="2817165"/>
            <a:ext cx="163296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frietjes waren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3356356" y="2753157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545963" y="2506269"/>
            <a:ext cx="162078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545963" y="2506269"/>
            <a:ext cx="162078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: verbe à la fin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646287" y="2753157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15408" y="2506269"/>
            <a:ext cx="126175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015408" y="2506269"/>
            <a:ext cx="126175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QUALIFICATIF + -E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691640" y="3614725"/>
            <a:ext cx="1382268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691640" y="3604565"/>
            <a:ext cx="138226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lekkerste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3149600" y="3604565"/>
            <a:ext cx="26619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stad. Het terras,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5704332" y="3614725"/>
            <a:ext cx="894842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704332" y="3604565"/>
            <a:ext cx="89484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waarop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6674866" y="3604565"/>
            <a:ext cx="487959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tot laat in de zon kunt zitten, is een echte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2382774" y="3540557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926660" y="3293669"/>
            <a:ext cx="91222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926660" y="3293669"/>
            <a:ext cx="9122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SUPERLATIF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151753" y="3540557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34799" y="3293669"/>
            <a:ext cx="103390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634799" y="3293669"/>
            <a:ext cx="103390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+ prép.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1691640" y="4391965"/>
            <a:ext cx="311759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aanrader. De bediening was</a:t>
            </a:r>
            <a:endParaRPr lang="en-US" sz="2000" dirty="0"/>
          </a:p>
        </p:txBody>
      </p:sp>
      <p:sp>
        <p:nvSpPr>
          <p:cNvPr id="34" name="Shape 30"/>
          <p:cNvSpPr/>
          <p:nvPr/>
        </p:nvSpPr>
        <p:spPr>
          <a:xfrm>
            <a:off x="4702048" y="4402125"/>
            <a:ext cx="767842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702048" y="4391965"/>
            <a:ext cx="76784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echter</a:t>
            </a:r>
            <a:endParaRPr lang="en-US" sz="2000" dirty="0"/>
          </a:p>
        </p:txBody>
      </p:sp>
      <p:sp>
        <p:nvSpPr>
          <p:cNvPr id="36" name="Text 32"/>
          <p:cNvSpPr txBox="1"/>
          <p:nvPr/>
        </p:nvSpPr>
        <p:spPr>
          <a:xfrm>
            <a:off x="5545582" y="4391965"/>
            <a:ext cx="119405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 traag.</a:t>
            </a:r>
            <a:endParaRPr lang="en-US" sz="2000" dirty="0"/>
          </a:p>
        </p:txBody>
      </p:sp>
      <p:sp>
        <p:nvSpPr>
          <p:cNvPr id="37" name="Shape 33"/>
          <p:cNvSpPr/>
          <p:nvPr/>
        </p:nvSpPr>
        <p:spPr>
          <a:xfrm>
            <a:off x="5085969" y="4327957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753140" y="4081069"/>
            <a:ext cx="66565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753140" y="4081069"/>
            <a:ext cx="66565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ECHTER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3470783" y="5380533"/>
            <a:ext cx="36245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</a:t>
            </a:r>
            <a:endParaRPr lang="en-US" sz="2000" dirty="0"/>
          </a:p>
        </p:txBody>
      </p:sp>
      <p:sp>
        <p:nvSpPr>
          <p:cNvPr id="41" name="Shape 37"/>
          <p:cNvSpPr/>
          <p:nvPr/>
        </p:nvSpPr>
        <p:spPr>
          <a:xfrm>
            <a:off x="3726053" y="5390693"/>
            <a:ext cx="465328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3726053" y="5380533"/>
            <a:ext cx="46532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</a:t>
            </a:r>
            <a:endParaRPr lang="en-US" sz="2000" dirty="0"/>
          </a:p>
        </p:txBody>
      </p:sp>
      <p:sp>
        <p:nvSpPr>
          <p:cNvPr id="43" name="Text 39"/>
          <p:cNvSpPr txBox="1"/>
          <p:nvPr/>
        </p:nvSpPr>
        <p:spPr>
          <a:xfrm>
            <a:off x="4267073" y="5380533"/>
            <a:ext cx="116103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zeker</a:t>
            </a:r>
            <a:endParaRPr lang="en-US" sz="2000" dirty="0"/>
          </a:p>
        </p:txBody>
      </p:sp>
      <p:sp>
        <p:nvSpPr>
          <p:cNvPr id="44" name="Shape 40"/>
          <p:cNvSpPr/>
          <p:nvPr/>
        </p:nvSpPr>
        <p:spPr>
          <a:xfrm>
            <a:off x="5320919" y="5390693"/>
            <a:ext cx="1094994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320919" y="5380533"/>
            <a:ext cx="109499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aanraden</a:t>
            </a:r>
            <a:endParaRPr lang="en-US" sz="2000" dirty="0"/>
          </a:p>
        </p:txBody>
      </p:sp>
      <p:sp>
        <p:nvSpPr>
          <p:cNvPr id="46" name="Text 42"/>
          <p:cNvSpPr txBox="1"/>
          <p:nvPr/>
        </p:nvSpPr>
        <p:spPr>
          <a:xfrm>
            <a:off x="6415913" y="5380533"/>
            <a:ext cx="369214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als je niet te veel honger hebt!</a:t>
            </a:r>
            <a:endParaRPr lang="en-US" sz="2000" dirty="0"/>
          </a:p>
        </p:txBody>
      </p:sp>
      <p:sp>
        <p:nvSpPr>
          <p:cNvPr id="47" name="Shape 43"/>
          <p:cNvSpPr/>
          <p:nvPr/>
        </p:nvSpPr>
        <p:spPr>
          <a:xfrm>
            <a:off x="3958717" y="5316525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3722770" y="5069637"/>
            <a:ext cx="47189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3722770" y="5069637"/>
            <a:ext cx="47189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</a:t>
            </a:r>
            <a:endParaRPr lang="en-US" sz="1100" dirty="0"/>
          </a:p>
        </p:txBody>
      </p:sp>
      <p:sp>
        <p:nvSpPr>
          <p:cNvPr id="50" name="Shape 46"/>
          <p:cNvSpPr/>
          <p:nvPr/>
        </p:nvSpPr>
        <p:spPr>
          <a:xfrm>
            <a:off x="5868416" y="5316525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5422221" y="5069637"/>
            <a:ext cx="89239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5422221" y="5069637"/>
            <a:ext cx="89239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AANRADEN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Duurzaam leven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Vivre durablement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duurzaam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0" name="Image 1" descr="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L’ORAL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commune lance un défi « zéro déchet ». Présentez vos bonnes résolutions en réunion de quartier.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Dites ce qui a changé avec </a:t>
            </a:r>
            <a:r>
              <a:rPr lang="en-US" sz="1450" b="1" dirty="0">
                <a:solidFill>
                  <a:srgbClr val="2B2F38"/>
                </a:solidFill>
              </a:rPr>
              <a:t>SINDS</a:t>
            </a:r>
            <a:r>
              <a:rPr lang="en-US" sz="1450" dirty="0">
                <a:solidFill>
                  <a:srgbClr val="2B2F38"/>
                </a:solidFill>
              </a:rPr>
              <a:t> + présent (inversion).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Expliquez un but avec </a:t>
            </a:r>
            <a:r>
              <a:rPr lang="en-US" sz="1450" b="1" dirty="0">
                <a:solidFill>
                  <a:srgbClr val="2B2F38"/>
                </a:solidFill>
              </a:rPr>
              <a:t>OM … TE</a:t>
            </a:r>
            <a:r>
              <a:rPr lang="en-US" sz="1450" dirty="0">
                <a:solidFill>
                  <a:srgbClr val="2B2F38"/>
                </a:solidFill>
              </a:rPr>
              <a:t> + infinitif.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Expliquez une conséquence avec </a:t>
            </a:r>
            <a:r>
              <a:rPr lang="en-US" sz="1450" b="1" dirty="0">
                <a:solidFill>
                  <a:srgbClr val="2B2F38"/>
                </a:solidFill>
              </a:rPr>
              <a:t>ZODAT</a:t>
            </a:r>
            <a:r>
              <a:rPr lang="en-US" sz="1450" dirty="0">
                <a:solidFill>
                  <a:srgbClr val="2B2F38"/>
                </a:solidFill>
              </a:rPr>
              <a:t> (verbe à la fin).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Donnez un conseil avec </a:t>
            </a:r>
            <a:r>
              <a:rPr lang="en-US" sz="1450" b="1" dirty="0">
                <a:solidFill>
                  <a:srgbClr val="2B2F38"/>
                </a:solidFill>
              </a:rPr>
              <a:t>ZOU(DEN)</a:t>
            </a:r>
            <a:r>
              <a:rPr lang="en-US" sz="1450" dirty="0">
                <a:solidFill>
                  <a:srgbClr val="2B2F38"/>
                </a:solidFill>
              </a:rPr>
              <a:t> … </a:t>
            </a:r>
            <a:r>
              <a:rPr lang="en-US" sz="1450" b="1" dirty="0">
                <a:solidFill>
                  <a:srgbClr val="2B2F38"/>
                </a:solidFill>
              </a:rPr>
              <a:t>MOETEN</a:t>
            </a:r>
            <a:r>
              <a:rPr lang="en-US" sz="1450" dirty="0">
                <a:solidFill>
                  <a:srgbClr val="2B2F38"/>
                </a:solidFill>
              </a:rPr>
              <a:t> + infinitif.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une chute avec </a:t>
            </a:r>
            <a:r>
              <a:rPr lang="en-US" sz="1450" b="1" dirty="0">
                <a:solidFill>
                  <a:srgbClr val="2B2F38"/>
                </a:solidFill>
              </a:rPr>
              <a:t>ZELFS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Vertel je verhaal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Duurzaam leven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duurza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zeggen…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duurzaam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691640" y="2541422"/>
            <a:ext cx="2430272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691640" y="2531262"/>
            <a:ext cx="243027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Sinds een maand ga ik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197604" y="2531262"/>
            <a:ext cx="718337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de fiets naar mijn werk. Ik neem een herbruikbare beker mee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2906776" y="24672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88121" y="2220366"/>
            <a:ext cx="1237310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288121" y="2220366"/>
            <a:ext cx="123731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SINDS + inversion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691640" y="3328822"/>
            <a:ext cx="434594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691640" y="3318662"/>
            <a:ext cx="43459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2201926" y="3318662"/>
            <a:ext cx="14958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minder afval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3590544" y="3328822"/>
            <a:ext cx="1082802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590544" y="3318662"/>
            <a:ext cx="108280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maken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4673346" y="3318662"/>
            <a:ext cx="407974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Ik koop mijn groenten op de markt,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8645906" y="3328822"/>
            <a:ext cx="678942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645906" y="3318662"/>
            <a:ext cx="67894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zodat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9400540" y="3318662"/>
            <a:ext cx="167792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geen plastic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1908937" y="32546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690942" y="3007766"/>
            <a:ext cx="43599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690942" y="3007766"/>
            <a:ext cx="43599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131945" y="32546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675063" y="3007766"/>
            <a:ext cx="91376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675063" y="3007766"/>
            <a:ext cx="91376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+ infinitif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985377" y="32546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674132" y="3007766"/>
            <a:ext cx="62249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674132" y="3007766"/>
            <a:ext cx="62249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ZODAT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1691640" y="4106062"/>
            <a:ext cx="219049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verpakkingen meer</a:t>
            </a:r>
            <a:endParaRPr lang="en-US" sz="2000" dirty="0"/>
          </a:p>
        </p:txBody>
      </p:sp>
      <p:sp>
        <p:nvSpPr>
          <p:cNvPr id="33" name="Shape 29"/>
          <p:cNvSpPr/>
          <p:nvPr/>
        </p:nvSpPr>
        <p:spPr>
          <a:xfrm>
            <a:off x="3774948" y="4116222"/>
            <a:ext cx="491998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3774948" y="4106062"/>
            <a:ext cx="49199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</a:t>
            </a:r>
            <a:endParaRPr lang="en-US" sz="2000" dirty="0"/>
          </a:p>
        </p:txBody>
      </p:sp>
      <p:sp>
        <p:nvSpPr>
          <p:cNvPr id="35" name="Text 31"/>
          <p:cNvSpPr txBox="1"/>
          <p:nvPr/>
        </p:nvSpPr>
        <p:spPr>
          <a:xfrm>
            <a:off x="4266946" y="4106062"/>
            <a:ext cx="124790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Iedereen</a:t>
            </a:r>
            <a:endParaRPr lang="en-US" sz="2000" dirty="0"/>
          </a:p>
        </p:txBody>
      </p:sp>
      <p:sp>
        <p:nvSpPr>
          <p:cNvPr id="36" name="Shape 32"/>
          <p:cNvSpPr/>
          <p:nvPr/>
        </p:nvSpPr>
        <p:spPr>
          <a:xfrm>
            <a:off x="5407660" y="4116222"/>
            <a:ext cx="465328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407660" y="4106062"/>
            <a:ext cx="46532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</a:t>
            </a:r>
            <a:endParaRPr lang="en-US" sz="2000" dirty="0"/>
          </a:p>
        </p:txBody>
      </p:sp>
      <p:sp>
        <p:nvSpPr>
          <p:cNvPr id="38" name="Text 34"/>
          <p:cNvSpPr txBox="1"/>
          <p:nvPr/>
        </p:nvSpPr>
        <p:spPr>
          <a:xfrm>
            <a:off x="5948680" y="4106062"/>
            <a:ext cx="152730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minder vlees</a:t>
            </a:r>
            <a:endParaRPr lang="en-US" sz="2000" dirty="0"/>
          </a:p>
        </p:txBody>
      </p:sp>
      <p:sp>
        <p:nvSpPr>
          <p:cNvPr id="39" name="Shape 35"/>
          <p:cNvSpPr/>
          <p:nvPr/>
        </p:nvSpPr>
        <p:spPr>
          <a:xfrm>
            <a:off x="7368794" y="4116222"/>
            <a:ext cx="1452118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368794" y="4106062"/>
            <a:ext cx="14521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moeten eten</a:t>
            </a:r>
            <a:endParaRPr lang="en-US" sz="2000" dirty="0"/>
          </a:p>
        </p:txBody>
      </p:sp>
      <p:sp>
        <p:nvSpPr>
          <p:cNvPr id="41" name="Text 37"/>
          <p:cNvSpPr txBox="1"/>
          <p:nvPr/>
        </p:nvSpPr>
        <p:spPr>
          <a:xfrm>
            <a:off x="8820912" y="4106062"/>
            <a:ext cx="24688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42" name="Shape 38"/>
          <p:cNvSpPr/>
          <p:nvPr/>
        </p:nvSpPr>
        <p:spPr>
          <a:xfrm>
            <a:off x="4020947" y="40420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3535286" y="3795166"/>
            <a:ext cx="9713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3535286" y="3795166"/>
            <a:ext cx="9713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 à la fin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5640324" y="40420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5404377" y="3795166"/>
            <a:ext cx="47189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5404377" y="3795166"/>
            <a:ext cx="47189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8094853" y="404205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449585" y="3795166"/>
            <a:ext cx="1290536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7449585" y="3795166"/>
            <a:ext cx="129053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MOETEN + infinitif</a:t>
            </a:r>
            <a:endParaRPr lang="en-US" sz="1100" dirty="0"/>
          </a:p>
        </p:txBody>
      </p:sp>
      <p:sp>
        <p:nvSpPr>
          <p:cNvPr id="51" name="Text 47"/>
          <p:cNvSpPr txBox="1"/>
          <p:nvPr/>
        </p:nvSpPr>
        <p:spPr>
          <a:xfrm>
            <a:off x="2587371" y="5094630"/>
            <a:ext cx="23975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Mijn buurman maakt</a:t>
            </a:r>
            <a:endParaRPr lang="en-US" sz="2000" dirty="0"/>
          </a:p>
        </p:txBody>
      </p:sp>
      <p:sp>
        <p:nvSpPr>
          <p:cNvPr id="52" name="Shape 48"/>
          <p:cNvSpPr/>
          <p:nvPr/>
        </p:nvSpPr>
        <p:spPr>
          <a:xfrm>
            <a:off x="4877689" y="5104790"/>
            <a:ext cx="564134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4877689" y="5094630"/>
            <a:ext cx="56413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zelfs</a:t>
            </a:r>
            <a:endParaRPr lang="en-US" sz="2000" dirty="0"/>
          </a:p>
        </p:txBody>
      </p:sp>
      <p:sp>
        <p:nvSpPr>
          <p:cNvPr id="54" name="Text 50"/>
          <p:cNvSpPr txBox="1"/>
          <p:nvPr/>
        </p:nvSpPr>
        <p:spPr>
          <a:xfrm>
            <a:off x="5517515" y="5094630"/>
            <a:ext cx="547395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 eigen tandpasta… maar die smaakt naar zeep!</a:t>
            </a:r>
            <a:endParaRPr lang="en-US" sz="2000" dirty="0"/>
          </a:p>
        </p:txBody>
      </p:sp>
      <p:sp>
        <p:nvSpPr>
          <p:cNvPr id="55" name="Shape 51"/>
          <p:cNvSpPr/>
          <p:nvPr/>
        </p:nvSpPr>
        <p:spPr>
          <a:xfrm>
            <a:off x="5159756" y="5030622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4887906" y="4783734"/>
            <a:ext cx="543700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4887906" y="4783734"/>
            <a:ext cx="54370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Gebruik deze afbeelding als inspiratie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Overlast van de buren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Des voisins bruyants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buren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4A7BD0"/>
            </a:solidFill>
            <a:prstDash val="solid"/>
          </a:ln>
        </p:spPr>
      </p:sp>
      <p:pic>
        <p:nvPicPr>
          <p:cNvPr id="10" name="Image 1" descr="PenNi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4A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L’ÉCRIT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voisins font la fête tous les soirs. Écrivez-leur un petit mot, poli mais clair.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627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27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572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Présentez-vous avec une relative : </a:t>
            </a:r>
            <a:r>
              <a:rPr lang="en-US" sz="1450" b="1" dirty="0">
                <a:solidFill>
                  <a:srgbClr val="2B2F38"/>
                </a:solidFill>
              </a:rPr>
              <a:t>DIE</a:t>
            </a:r>
            <a:r>
              <a:rPr lang="en-US" sz="1450" dirty="0">
                <a:solidFill>
                  <a:srgbClr val="2B2F38"/>
                </a:solidFill>
              </a:rPr>
              <a:t> (verbe à la fin).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23113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21762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Décrivez le problème avec le passif impersonnel : </a:t>
            </a:r>
            <a:r>
              <a:rPr lang="en-US" sz="1450" b="1" dirty="0">
                <a:solidFill>
                  <a:srgbClr val="2B2F38"/>
                </a:solidFill>
              </a:rPr>
              <a:t>ER WORDT</a:t>
            </a:r>
            <a:r>
              <a:rPr lang="en-US" sz="1450" dirty="0">
                <a:solidFill>
                  <a:srgbClr val="2B2F38"/>
                </a:solidFill>
              </a:rPr>
              <a:t> + participe.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83464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8346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406640" y="277977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Nuancez avec </a:t>
            </a:r>
            <a:r>
              <a:rPr lang="en-US" sz="1450" b="1" dirty="0">
                <a:solidFill>
                  <a:srgbClr val="2B2F38"/>
                </a:solidFill>
              </a:rPr>
              <a:t>IK BEGRIJP DAT</a:t>
            </a:r>
            <a:r>
              <a:rPr lang="en-US" sz="1450" dirty="0">
                <a:solidFill>
                  <a:srgbClr val="2B2F38"/>
                </a:solidFill>
              </a:rPr>
              <a:t> …, </a:t>
            </a:r>
            <a:r>
              <a:rPr lang="en-US" sz="1450" b="1" dirty="0">
                <a:solidFill>
                  <a:srgbClr val="2B2F38"/>
                </a:solidFill>
              </a:rPr>
              <a:t>MAAR</a:t>
            </a:r>
            <a:r>
              <a:rPr lang="en-US" sz="1450" dirty="0">
                <a:solidFill>
                  <a:srgbClr val="2B2F38"/>
                </a:solidFill>
              </a:rPr>
              <a:t> …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43814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4381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33832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Proposez une solution avec </a:t>
            </a:r>
            <a:r>
              <a:rPr lang="en-US" sz="1450" b="1" dirty="0">
                <a:solidFill>
                  <a:srgbClr val="2B2F38"/>
                </a:solidFill>
              </a:rPr>
              <a:t>ZOUDEN JULLIE</a:t>
            </a:r>
            <a:r>
              <a:rPr lang="en-US" sz="1450" dirty="0">
                <a:solidFill>
                  <a:srgbClr val="2B2F38"/>
                </a:solidFill>
              </a:rPr>
              <a:t> … </a:t>
            </a:r>
            <a:r>
              <a:rPr lang="en-US" sz="1450" b="1" dirty="0">
                <a:solidFill>
                  <a:srgbClr val="2B2F38"/>
                </a:solidFill>
              </a:rPr>
              <a:t>KUNNEN</a:t>
            </a:r>
            <a:r>
              <a:rPr lang="en-US" sz="1450" dirty="0">
                <a:solidFill>
                  <a:srgbClr val="2B2F38"/>
                </a:solidFill>
              </a:rPr>
              <a:t> … ?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40416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406640" y="39867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Terminez par une chute sympathique avec </a:t>
            </a:r>
            <a:r>
              <a:rPr lang="en-US" sz="1450" b="1" dirty="0">
                <a:solidFill>
                  <a:srgbClr val="2B2F38"/>
                </a:solidFill>
              </a:rPr>
              <a:t>MISSCHIEN</a:t>
            </a:r>
            <a:r>
              <a:rPr lang="en-US" sz="1450" dirty="0">
                <a:solidFill>
                  <a:srgbClr val="2B2F38"/>
                </a:solidFill>
              </a:rPr>
              <a:t> + inversion.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29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je tekst voor aan je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denkt hij/zij daarvan?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Overlast van de buren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bur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Hier is een voorbeeld van wat je had kunnen denken en schrijven…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F4E8F6"/>
          </a:solidFill>
          <a:ln w="28575">
            <a:solidFill>
              <a:srgbClr val="B57FC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7E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buren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216302"/>
            <a:ext cx="39469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 buren, ik ben Sofie, de vrouw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5531358" y="2226462"/>
            <a:ext cx="418084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531358" y="2216302"/>
            <a:ext cx="41808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6025134" y="2216302"/>
            <a:ext cx="280949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de tweede verdieping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8727440" y="2226462"/>
            <a:ext cx="778510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27440" y="2216302"/>
            <a:ext cx="77851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woont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9505950" y="2216302"/>
            <a:ext cx="145973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Elke avond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740400" y="215229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533930" y="1905406"/>
            <a:ext cx="41294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533930" y="1905406"/>
            <a:ext cx="41294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116695" y="215229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631034" y="1905406"/>
            <a:ext cx="9713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631034" y="1905406"/>
            <a:ext cx="9713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 à la fin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691640" y="3013862"/>
            <a:ext cx="1007364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691640" y="3003702"/>
            <a:ext cx="100736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wordt er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2774696" y="3003702"/>
            <a:ext cx="250774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twee uur ’s nachts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5175250" y="3013862"/>
            <a:ext cx="864870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175250" y="3003702"/>
            <a:ext cx="86487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gefeest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6040120" y="3003702"/>
            <a:ext cx="245440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met luide muziek. Ik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8387334" y="3013862"/>
            <a:ext cx="1237234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387334" y="3003702"/>
            <a:ext cx="123723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begrijp dat</a:t>
            </a:r>
            <a:endParaRPr lang="en-US" sz="2000" dirty="0"/>
          </a:p>
        </p:txBody>
      </p:sp>
      <p:sp>
        <p:nvSpPr>
          <p:cNvPr id="29" name="Text 25"/>
          <p:cNvSpPr txBox="1"/>
          <p:nvPr/>
        </p:nvSpPr>
        <p:spPr>
          <a:xfrm>
            <a:off x="9700260" y="3003702"/>
            <a:ext cx="13256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jullie graag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2195322" y="293969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767986" y="2692806"/>
            <a:ext cx="854672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767986" y="2692806"/>
            <a:ext cx="85467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WORDT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607685" y="293969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190128" y="2692806"/>
            <a:ext cx="83511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190128" y="2692806"/>
            <a:ext cx="83511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participe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9005951" y="293969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523503" y="2692806"/>
            <a:ext cx="964895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8523503" y="2692806"/>
            <a:ext cx="96489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BEGRIJP DAT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1691640" y="3791102"/>
            <a:ext cx="102108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feesten,</a:t>
            </a:r>
            <a:endParaRPr lang="en-US" sz="2000" dirty="0"/>
          </a:p>
        </p:txBody>
      </p:sp>
      <p:sp>
        <p:nvSpPr>
          <p:cNvPr id="40" name="Shape 36"/>
          <p:cNvSpPr/>
          <p:nvPr/>
        </p:nvSpPr>
        <p:spPr>
          <a:xfrm>
            <a:off x="2605532" y="3801262"/>
            <a:ext cx="639064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605532" y="3791102"/>
            <a:ext cx="63906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</a:t>
            </a:r>
            <a:endParaRPr lang="en-US" sz="2000" dirty="0"/>
          </a:p>
        </p:txBody>
      </p:sp>
      <p:sp>
        <p:nvSpPr>
          <p:cNvPr id="42" name="Text 38"/>
          <p:cNvSpPr txBox="1"/>
          <p:nvPr/>
        </p:nvSpPr>
        <p:spPr>
          <a:xfrm>
            <a:off x="3320288" y="3791102"/>
            <a:ext cx="319430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moet om zes uur opstaan.</a:t>
            </a:r>
            <a:endParaRPr lang="en-US" sz="2000" dirty="0"/>
          </a:p>
        </p:txBody>
      </p:sp>
      <p:sp>
        <p:nvSpPr>
          <p:cNvPr id="43" name="Shape 39"/>
          <p:cNvSpPr/>
          <p:nvPr/>
        </p:nvSpPr>
        <p:spPr>
          <a:xfrm>
            <a:off x="6407404" y="3801262"/>
            <a:ext cx="1460246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407404" y="3791102"/>
            <a:ext cx="146024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Zouden jullie</a:t>
            </a:r>
            <a:endParaRPr lang="en-US" sz="2000" dirty="0"/>
          </a:p>
        </p:txBody>
      </p:sp>
      <p:sp>
        <p:nvSpPr>
          <p:cNvPr id="45" name="Text 41"/>
          <p:cNvSpPr txBox="1"/>
          <p:nvPr/>
        </p:nvSpPr>
        <p:spPr>
          <a:xfrm>
            <a:off x="7943342" y="3791102"/>
            <a:ext cx="365810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muziek na elf uur wat zachter</a:t>
            </a:r>
            <a:endParaRPr lang="en-US" sz="2000" dirty="0"/>
          </a:p>
        </p:txBody>
      </p:sp>
      <p:sp>
        <p:nvSpPr>
          <p:cNvPr id="46" name="Shape 42"/>
          <p:cNvSpPr/>
          <p:nvPr/>
        </p:nvSpPr>
        <p:spPr>
          <a:xfrm>
            <a:off x="2925064" y="372709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2630303" y="3480206"/>
            <a:ext cx="5895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2630303" y="3480206"/>
            <a:ext cx="5895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7137527" y="372709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581108" y="3480206"/>
            <a:ext cx="111283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6581108" y="3480206"/>
            <a:ext cx="111283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ZOUDEN JULLIE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1691640" y="4588662"/>
            <a:ext cx="1613154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1691640" y="4578502"/>
            <a:ext cx="161315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kunnen zetten</a:t>
            </a:r>
            <a:endParaRPr lang="en-US" sz="2000" dirty="0"/>
          </a:p>
        </p:txBody>
      </p:sp>
      <p:sp>
        <p:nvSpPr>
          <p:cNvPr id="54" name="Text 50"/>
          <p:cNvSpPr txBox="1"/>
          <p:nvPr/>
        </p:nvSpPr>
        <p:spPr>
          <a:xfrm>
            <a:off x="3304794" y="4578502"/>
            <a:ext cx="30048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55" name="Shape 51"/>
          <p:cNvSpPr/>
          <p:nvPr/>
        </p:nvSpPr>
        <p:spPr>
          <a:xfrm>
            <a:off x="2498217" y="4514494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853997" y="4267606"/>
            <a:ext cx="1288440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1853997" y="4267606"/>
            <a:ext cx="128844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KUNNEN + infinitif</a:t>
            </a:r>
            <a:endParaRPr lang="en-US" sz="1100" dirty="0"/>
          </a:p>
        </p:txBody>
      </p:sp>
      <p:sp>
        <p:nvSpPr>
          <p:cNvPr id="58" name="Shape 54"/>
          <p:cNvSpPr/>
          <p:nvPr/>
        </p:nvSpPr>
        <p:spPr>
          <a:xfrm>
            <a:off x="3108071" y="5577230"/>
            <a:ext cx="2374900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3108071" y="5567070"/>
            <a:ext cx="23749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Misschien kunnen we</a:t>
            </a:r>
            <a:endParaRPr lang="en-US" sz="2000" dirty="0"/>
          </a:p>
        </p:txBody>
      </p:sp>
      <p:sp>
        <p:nvSpPr>
          <p:cNvPr id="60" name="Text 56"/>
          <p:cNvSpPr txBox="1"/>
          <p:nvPr/>
        </p:nvSpPr>
        <p:spPr>
          <a:xfrm>
            <a:off x="5558663" y="5567070"/>
            <a:ext cx="49121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eens samen een feestje geven… tot tien uur!</a:t>
            </a:r>
            <a:endParaRPr lang="en-US" sz="2000" dirty="0"/>
          </a:p>
        </p:txBody>
      </p:sp>
      <p:sp>
        <p:nvSpPr>
          <p:cNvPr id="61" name="Shape 57"/>
          <p:cNvSpPr/>
          <p:nvPr/>
        </p:nvSpPr>
        <p:spPr>
          <a:xfrm>
            <a:off x="4295521" y="5503062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3860222" y="5256174"/>
            <a:ext cx="87059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3860222" y="5256174"/>
            <a:ext cx="87059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MISSCHIEN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Six variantes ludiques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EF1F6"/>
          </a:solidFill>
          <a:ln w="28575">
            <a:solidFill>
              <a:srgbClr val="9AA6B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554480" y="1371600"/>
            <a:ext cx="32613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pic>
        <p:nvPicPr>
          <p:cNvPr id="7" name="Image 0" descr="stopwat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600200"/>
            <a:ext cx="777240" cy="777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697480" y="160020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 la montre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783080" y="251460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phrases en cinq minutes : le sablier tourne !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44440" y="1371600"/>
            <a:ext cx="32613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pic>
        <p:nvPicPr>
          <p:cNvPr id="11" name="Image 1" descr="li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0" y="1600200"/>
            <a:ext cx="777240" cy="7772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187440" y="160020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chaîne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273040" y="251460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apprenant·es, cinq phrases : chacun·e ajoute la sienne à l’oral.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534400" y="1371600"/>
            <a:ext cx="32613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pic>
        <p:nvPicPr>
          <p:cNvPr id="15" name="Image 2" descr="detecti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1600200"/>
            <a:ext cx="777240" cy="7772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77400" y="160020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Devinez la consigne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8763000" y="251460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lit sa production ; la classe retrouve les cinq consignes.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1554480" y="3794760"/>
            <a:ext cx="32613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pic>
        <p:nvPicPr>
          <p:cNvPr id="19" name="Image 3" descr="game di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4023360"/>
            <a:ext cx="777240" cy="77724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697480" y="402336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1783080" y="49377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lance le dé : la phrase indiquée doit être dite en premier.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5044440" y="3794760"/>
            <a:ext cx="32613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pic>
        <p:nvPicPr>
          <p:cNvPr id="23" name="Image 4" descr="up arr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3040" y="4023360"/>
            <a:ext cx="777240" cy="77724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187440" y="402336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supérieur</a:t>
            </a:r>
            <a:endParaRPr lang="en-US" sz="1800" dirty="0"/>
          </a:p>
        </p:txBody>
      </p:sp>
      <p:sp>
        <p:nvSpPr>
          <p:cNvPr id="25" name="Text 17"/>
          <p:cNvSpPr txBox="1"/>
          <p:nvPr/>
        </p:nvSpPr>
        <p:spPr>
          <a:xfrm>
            <a:off x="5273040" y="49377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image, consignes du niveau suivant : A1 → A2 → B1.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8534400" y="3794760"/>
            <a:ext cx="32613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pic>
        <p:nvPicPr>
          <p:cNvPr id="27" name="Image 5" descr="troph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0" y="4023360"/>
            <a:ext cx="777240" cy="77724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677400" y="4023360"/>
            <a:ext cx="198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meilleure chute</a:t>
            </a:r>
            <a:endParaRPr lang="en-US" sz="1800" dirty="0"/>
          </a:p>
        </p:txBody>
      </p:sp>
      <p:sp>
        <p:nvSpPr>
          <p:cNvPr id="29" name="Text 20"/>
          <p:cNvSpPr txBox="1"/>
          <p:nvPr/>
        </p:nvSpPr>
        <p:spPr>
          <a:xfrm>
            <a:off x="8763000" y="49377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chutes au tableau ; la classe vote.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>IRAM — Néerlandais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 vijf zinnen — Production écrite et orale guidée (A1 · A2 · B1)</dc:title>
  <dc:subject>Néerlandais — production guidée A1 · A2 · B1</dc:subject>
  <dc:creator>A. Jouniaux</dc:creator>
  <cp:lastModifiedBy>A. Jouniaux</cp:lastModifiedBy>
  <cp:revision>1</cp:revision>
  <dcterms:created xsi:type="dcterms:W3CDTF">2026-10-11T06:54:39Z</dcterms:created>
  <dcterms:modified xsi:type="dcterms:W3CDTF">2026-10-11T06:54:39Z</dcterms:modified>
</cp:coreProperties>
</file>