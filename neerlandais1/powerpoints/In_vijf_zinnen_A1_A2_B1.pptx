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9e0a9ba-ba35-8e66-429a-c993b3c127de}">
          <p14:sldIdLst>
            <p14:sldId id="256"/>
          </p14:sldIdLst>
        </p14:section>
        <p14:section name="Mode d’emploi" id="{aed89021-28a5-7f35-1395-2fef93a6a1fb}">
          <p14:sldIdLst>
            <p14:sldId id="257"/>
            <p14:sldId id="258"/>
          </p14:sldIdLst>
        </p14:section>
        <p14:section name="A1 · Découverte" id="{5448046d-ba4b-822c-8186-b3468ca1c53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A2 · Survie" id="{6e98e01a-0d1f-4ceb-1f7a-56976dac39ef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B1 · Seuil" id="{cf0eb46c-aaf4-56fc-a645-8c74424692c6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Variantes" id="{7e8f8d0c-761d-2c5a-667b-f64d1ab6ff46}">
          <p14:sldIdLst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 principe : une image, cinq critères, un modèle.
« In vijf zinnen » = en cinq phrases. Annoncez le défi : respecter les cinq critères… et trouver la meilleure chute.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Expliquer les quatre étapes et la correspondance couleur critère → bribe.
Insistez : le modèle n’est pas « la » réponse. Toute phrase qui respecte le critère est juste. Les apprenant·es peuvent ensuite encadrer eux-mêmes et elles-mêmes, en couleur, les bribes de leur propre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grille simple, commune aux trois niveaux.
Un critère est « respecté » s’il est présent et correctement employé (par exemple : « omdat » avec le verbe à la fin). Pour une évaluation formative, l’autoévaluation suffit : les apprenant·es cochent les cinq critères avant de 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non accentués (appels) et après certaines voyelles (auto’s, menu’s) ; en -en ailleurs (tomaat → tomaten, banaan → bananen). « er is » + singulier, « er zijn » + pluriel. Variante orale : jeu de rôle client·e / marchand·e.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non accentués (appels) et après certaines voyelles (auto’s, menu’s) ; en -en ailleurs (tomaat → tomaten, banaan → bananen). « er is » + singulier, « er zijn » + pluriel. Variante orale : jeu de rôle client·e / marchand·e.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 ; en Flandre, on dit souvent « de zetel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 ; en Flandre, on dit souvent « de zetel ».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het vriest (mais : de zon schijnt). « want » + ordre normal (want ik wil…). Futur proche : gaan + infinitif à la fin de la phrase. Variante orale : un bulletin météo présenté devant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het vriest (mais : de zon schijnt). « want » + ordre normal (want ik wil…). Futur proche : gaan + infinitif à la fin de la phrase. Variante orale : un bulletin météo présenté devant la classe.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A2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Gaan, komen et les verbes de mouvement avec une destination → zijn (ik ben naar Oostende gegaan) ; sans destination → hebben (we hebben op het strand gewandeld), comme la plupart des autres verbes. Après « daarom », le verbe vient en 2e position (daarom hebben we…). « in de file staan » = être dans les bouchons. Faites souligner les participes (ge- … -d / -t / -en).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Gaan, komen et les verbes de mouvement avec une destination → zijn (ik ben naar Oostende gegaan) ; sans destination → hebben (we hebben op het strand gewandeld), comme la plupart des autres verbes. Après « daarom », le verbe vient en 2e position (daarom hebben we…). « in de file staan » = être dans les bouchons. Faites souligner les participes (ge- … -d / -t / -en).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« ben … verhuisd » : verhuizen (changer de lieu) fait son perfectum avec zijn.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« ben … verhuisd » : verhuizen (changer de lieu) fait son perfectum avec zijn.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 ; -tje après une voyelle (ei → eitje) ou après -l / -n / -r / -w précédé d’une voyelle longue (stoel → stoeltje, deur → deurtje). Impératif = radical (neem, kom, ga) ; poli : « Neemt u… ». Avec « als », les verbes vont à la fin (als je niet kunt komen) et la principale commence par le verbe (stuur me dan…). Variante : l’invitation sous forme de message vocal.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 ; -tje après une voyelle (ei → eitje) ou après -l / -n / -r / -w précédé d’une voyelle longue (stoel → stoeltje, deur → deurtje). Impératif = radical (neem, kom, ga) ; poli : « Neemt u… ». Avec « als », les verbes vont à la fin (als je niet kunt komen) et la principale commence par le verbe (stuur me dan…). Variante : l’invitation sous forme de message vocal.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 et le pluriel, dit / dat avec les het-woorden ; deze / dit = près, die / dat = loin. Après « dus », les deux ordres sont possibles (dus ik neem / dus neem ik). Jeu de rôle client·e / vendeur·euse.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 et le pluriel, dit / dat avec les het-woorden ; deze / dit = près, die / dat = loin. Après « dus », les deux ordres sont possibles (dus ik neem / dus neem ik). Jeu de rôle client·e / vendeur·euse.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curieux·euse.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B1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werkte ik / …, leer ik). Jeu de rôle recruteur·euse / candidat·e, avec deux questions de relance.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werkte ik / …, leer ik). Jeu de rôle recruteur·euse / candidat·e, avec deux questions de relance.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(sans sujet) : er wordt (veel) gefeest / gedanst (on fait la fête / on danse). Dans « er wordt muziek gespeeld », muziek est le sujet : c’est un passif ordinaire avec « er ». Politesse : « Zouden jullie … kunnen … ? » est plus doux que « Kunnen jullie… ? ». « luide muziek » : qualificatif + -e. Variante : les voisin·es répondent par un petit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(sans sujet) : er wordt (veel) gefeest / gedanst (on fait la fête / on danse). Dans « er wordt muziek gespeeld », muziek est le sujet : c’est un passif ordinaire avec « er ». Politesse : « Zouden jullie … kunnen … ? » est plus doux que « Kunnen jullie… ? ». « luide muziek » : qualificatif + -e. Variante : les voisin·es répondent par un petit mot.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Varier les modalités pour réutiliser les 24 contextes.
« Devinez le critère » fonctionne très bien en révision : projetez seulement l’image, faites lire une production, et la classe reconstitue la consigne. « Niveau supérieur » : les images A1 se prêtent aux critères A2 et B1 (et inversement, pour différencier dans un groupe hétérogène).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· A1 · A2 · B1 · Production guidée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image" Target="../media/image-4-30.png"/><Relationship Id="rId31" Type="http://schemas.openxmlformats.org/officeDocument/2006/relationships/image" Target="../media/image-4-31.png"/><Relationship Id="rId32" Type="http://schemas.openxmlformats.org/officeDocument/2006/relationships/image" Target="../media/image-4-32.png"/><Relationship Id="rId33" Type="http://schemas.openxmlformats.org/officeDocument/2006/relationships/image" Target="../media/image-4-33.png"/><Relationship Id="rId34" Type="http://schemas.openxmlformats.org/officeDocument/2006/relationships/image" Target="../media/image-4-34.pn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png"/><Relationship Id="rId38" Type="http://schemas.openxmlformats.org/officeDocument/2006/relationships/image" Target="../media/image-4-38.png"/><Relationship Id="rId39" Type="http://schemas.openxmlformats.org/officeDocument/2006/relationships/image" Target="../media/image-4-39.png"/><Relationship Id="rId40" Type="http://schemas.openxmlformats.org/officeDocument/2006/relationships/image" Target="../media/image-4-40.png"/><Relationship Id="rId41" Type="http://schemas.openxmlformats.org/officeDocument/2006/relationships/image" Target="../media/image-4-41.png"/><Relationship Id="rId42" Type="http://schemas.openxmlformats.org/officeDocument/2006/relationships/image" Target="../media/image-4-42.png"/><Relationship Id="rId43" Type="http://schemas.openxmlformats.org/officeDocument/2006/relationships/image" Target="../media/image-4-43.png"/><Relationship Id="rId44" Type="http://schemas.openxmlformats.org/officeDocument/2006/relationships/image" Target="../media/image-4-44.png"/><Relationship Id="rId45" Type="http://schemas.openxmlformats.org/officeDocument/2006/relationships/image" Target="../media/image-4-45.png"/><Relationship Id="rId46" Type="http://schemas.openxmlformats.org/officeDocument/2006/relationships/image" Target="../media/image-4-46.png"/><Relationship Id="rId47" Type="http://schemas.openxmlformats.org/officeDocument/2006/relationships/image" Target="../media/image-4-47.png"/><Relationship Id="rId48" Type="http://schemas.openxmlformats.org/officeDocument/2006/relationships/image" Target="../media/image-4-48.png"/><Relationship Id="rId49" Type="http://schemas.openxmlformats.org/officeDocument/2006/relationships/image" Target="../media/image-4-49.png"/><Relationship Id="rId50" Type="http://schemas.openxmlformats.org/officeDocument/2006/relationships/image" Target="../media/image-4-50.png"/><Relationship Id="rId51" Type="http://schemas.openxmlformats.org/officeDocument/2006/relationships/image" Target="../media/image-4-51.png"/><Relationship Id="rId52" Type="http://schemas.openxmlformats.org/officeDocument/2006/relationships/image" Target="../media/image-4-52.png"/><Relationship Id="rId53" Type="http://schemas.openxmlformats.org/officeDocument/2006/relationships/image" Target="../media/image-4-53.png"/><Relationship Id="rId54" Type="http://schemas.openxmlformats.org/officeDocument/2006/relationships/slideLayout" Target="../slideLayouts/slideLayout3.xml"/><Relationship Id="rId5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image" Target="../media/image-21-21.png"/><Relationship Id="rId22" Type="http://schemas.openxmlformats.org/officeDocument/2006/relationships/image" Target="../media/image-21-22.png"/><Relationship Id="rId23" Type="http://schemas.openxmlformats.org/officeDocument/2006/relationships/image" Target="../media/image-21-23.png"/><Relationship Id="rId24" Type="http://schemas.openxmlformats.org/officeDocument/2006/relationships/image" Target="../media/image-21-24.png"/><Relationship Id="rId25" Type="http://schemas.openxmlformats.org/officeDocument/2006/relationships/image" Target="../media/image-21-25.png"/><Relationship Id="rId26" Type="http://schemas.openxmlformats.org/officeDocument/2006/relationships/image" Target="../media/image-21-26.png"/><Relationship Id="rId27" Type="http://schemas.openxmlformats.org/officeDocument/2006/relationships/image" Target="../media/image-21-27.png"/><Relationship Id="rId28" Type="http://schemas.openxmlformats.org/officeDocument/2006/relationships/image" Target="../media/image-21-28.png"/><Relationship Id="rId29" Type="http://schemas.openxmlformats.org/officeDocument/2006/relationships/image" Target="../media/image-21-29.png"/><Relationship Id="rId30" Type="http://schemas.openxmlformats.org/officeDocument/2006/relationships/image" Target="../media/image-21-30.png"/><Relationship Id="rId31" Type="http://schemas.openxmlformats.org/officeDocument/2006/relationships/image" Target="../media/image-21-31.png"/><Relationship Id="rId32" Type="http://schemas.openxmlformats.org/officeDocument/2006/relationships/image" Target="../media/image-21-32.png"/><Relationship Id="rId33" Type="http://schemas.openxmlformats.org/officeDocument/2006/relationships/image" Target="../media/image-21-33.png"/><Relationship Id="rId34" Type="http://schemas.openxmlformats.org/officeDocument/2006/relationships/image" Target="../media/image-21-34.png"/><Relationship Id="rId35" Type="http://schemas.openxmlformats.org/officeDocument/2006/relationships/image" Target="../media/image-21-35.png"/><Relationship Id="rId36" Type="http://schemas.openxmlformats.org/officeDocument/2006/relationships/image" Target="../media/image-21-36.png"/><Relationship Id="rId37" Type="http://schemas.openxmlformats.org/officeDocument/2006/relationships/image" Target="../media/image-21-37.png"/><Relationship Id="rId38" Type="http://schemas.openxmlformats.org/officeDocument/2006/relationships/image" Target="../media/image-21-38.png"/><Relationship Id="rId39" Type="http://schemas.openxmlformats.org/officeDocument/2006/relationships/image" Target="../media/image-21-39.png"/><Relationship Id="rId40" Type="http://schemas.openxmlformats.org/officeDocument/2006/relationships/image" Target="../media/image-21-40.png"/><Relationship Id="rId41" Type="http://schemas.openxmlformats.org/officeDocument/2006/relationships/image" Target="../media/image-21-41.png"/><Relationship Id="rId42" Type="http://schemas.openxmlformats.org/officeDocument/2006/relationships/image" Target="../media/image-21-42.png"/><Relationship Id="rId43" Type="http://schemas.openxmlformats.org/officeDocument/2006/relationships/image" Target="../media/image-21-43.png"/><Relationship Id="rId44" Type="http://schemas.openxmlformats.org/officeDocument/2006/relationships/image" Target="../media/image-21-44.png"/><Relationship Id="rId45" Type="http://schemas.openxmlformats.org/officeDocument/2006/relationships/image" Target="../media/image-21-45.png"/><Relationship Id="rId46" Type="http://schemas.openxmlformats.org/officeDocument/2006/relationships/image" Target="../media/image-21-46.png"/><Relationship Id="rId47" Type="http://schemas.openxmlformats.org/officeDocument/2006/relationships/image" Target="../media/image-21-47.png"/><Relationship Id="rId48" Type="http://schemas.openxmlformats.org/officeDocument/2006/relationships/slideLayout" Target="../slideLayouts/slideLayout3.xml"/><Relationship Id="rId4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image" Target="../media/image-3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image" Target="../media/image-38-9.png"/><Relationship Id="rId10" Type="http://schemas.openxmlformats.org/officeDocument/2006/relationships/image" Target="../media/image-38-10.pn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png"/><Relationship Id="rId13" Type="http://schemas.openxmlformats.org/officeDocument/2006/relationships/image" Target="../media/image-38-13.png"/><Relationship Id="rId14" Type="http://schemas.openxmlformats.org/officeDocument/2006/relationships/image" Target="../media/image-38-14.png"/><Relationship Id="rId15" Type="http://schemas.openxmlformats.org/officeDocument/2006/relationships/image" Target="../media/image-38-15.png"/><Relationship Id="rId16" Type="http://schemas.openxmlformats.org/officeDocument/2006/relationships/image" Target="../media/image-38-16.png"/><Relationship Id="rId17" Type="http://schemas.openxmlformats.org/officeDocument/2006/relationships/image" Target="../media/image-38-17.png"/><Relationship Id="rId18" Type="http://schemas.openxmlformats.org/officeDocument/2006/relationships/image" Target="../media/image-38-18.png"/><Relationship Id="rId19" Type="http://schemas.openxmlformats.org/officeDocument/2006/relationships/image" Target="../media/image-38-19.png"/><Relationship Id="rId20" Type="http://schemas.openxmlformats.org/officeDocument/2006/relationships/image" Target="../media/image-38-20.png"/><Relationship Id="rId21" Type="http://schemas.openxmlformats.org/officeDocument/2006/relationships/image" Target="../media/image-38-21.png"/><Relationship Id="rId22" Type="http://schemas.openxmlformats.org/officeDocument/2006/relationships/image" Target="../media/image-38-22.png"/><Relationship Id="rId23" Type="http://schemas.openxmlformats.org/officeDocument/2006/relationships/image" Target="../media/image-38-23.png"/><Relationship Id="rId24" Type="http://schemas.openxmlformats.org/officeDocument/2006/relationships/image" Target="../media/image-38-24.png"/><Relationship Id="rId25" Type="http://schemas.openxmlformats.org/officeDocument/2006/relationships/image" Target="../media/image-38-25.png"/><Relationship Id="rId26" Type="http://schemas.openxmlformats.org/officeDocument/2006/relationships/image" Target="../media/image-38-26.png"/><Relationship Id="rId27" Type="http://schemas.openxmlformats.org/officeDocument/2006/relationships/image" Target="../media/image-38-27.png"/><Relationship Id="rId28" Type="http://schemas.openxmlformats.org/officeDocument/2006/relationships/image" Target="../media/image-38-28.png"/><Relationship Id="rId29" Type="http://schemas.openxmlformats.org/officeDocument/2006/relationships/image" Target="../media/image-38-29.png"/><Relationship Id="rId30" Type="http://schemas.openxmlformats.org/officeDocument/2006/relationships/image" Target="../media/image-38-30.png"/><Relationship Id="rId31" Type="http://schemas.openxmlformats.org/officeDocument/2006/relationships/image" Target="../media/image-38-31.png"/><Relationship Id="rId32" Type="http://schemas.openxmlformats.org/officeDocument/2006/relationships/image" Target="../media/image-38-32.png"/><Relationship Id="rId33" Type="http://schemas.openxmlformats.org/officeDocument/2006/relationships/image" Target="../media/image-38-33.png"/><Relationship Id="rId34" Type="http://schemas.openxmlformats.org/officeDocument/2006/relationships/image" Target="../media/image-38-34.png"/><Relationship Id="rId35" Type="http://schemas.openxmlformats.org/officeDocument/2006/relationships/image" Target="../media/image-38-35.png"/><Relationship Id="rId36" Type="http://schemas.openxmlformats.org/officeDocument/2006/relationships/image" Target="../media/image-38-36.png"/><Relationship Id="rId37" Type="http://schemas.openxmlformats.org/officeDocument/2006/relationships/image" Target="../media/image-38-37.png"/><Relationship Id="rId38" Type="http://schemas.openxmlformats.org/officeDocument/2006/relationships/image" Target="../media/image-38-38.png"/><Relationship Id="rId39" Type="http://schemas.openxmlformats.org/officeDocument/2006/relationships/image" Target="../media/image-38-39.png"/><Relationship Id="rId40" Type="http://schemas.openxmlformats.org/officeDocument/2006/relationships/image" Target="../media/image-38-40.png"/><Relationship Id="rId41" Type="http://schemas.openxmlformats.org/officeDocument/2006/relationships/image" Target="../media/image-38-41.png"/><Relationship Id="rId42" Type="http://schemas.openxmlformats.org/officeDocument/2006/relationships/image" Target="../media/image-38-42.png"/><Relationship Id="rId43" Type="http://schemas.openxmlformats.org/officeDocument/2006/relationships/image" Target="../media/image-38-43.png"/><Relationship Id="rId44" Type="http://schemas.openxmlformats.org/officeDocument/2006/relationships/image" Target="../media/image-38-44.png"/><Relationship Id="rId45" Type="http://schemas.openxmlformats.org/officeDocument/2006/relationships/image" Target="../media/image-38-45.png"/><Relationship Id="rId46" Type="http://schemas.openxmlformats.org/officeDocument/2006/relationships/image" Target="../media/image-38-46.png"/><Relationship Id="rId47" Type="http://schemas.openxmlformats.org/officeDocument/2006/relationships/image" Target="../media/image-38-47.png"/><Relationship Id="rId48" Type="http://schemas.openxmlformats.org/officeDocument/2006/relationships/image" Target="../media/image-38-48.png"/><Relationship Id="rId49" Type="http://schemas.openxmlformats.org/officeDocument/2006/relationships/image" Target="../media/image-38-49.png"/><Relationship Id="rId50" Type="http://schemas.openxmlformats.org/officeDocument/2006/relationships/image" Target="../media/image-38-50.png"/><Relationship Id="rId51" Type="http://schemas.openxmlformats.org/officeDocument/2006/relationships/image" Target="../media/image-38-51.png"/><Relationship Id="rId52" Type="http://schemas.openxmlformats.org/officeDocument/2006/relationships/image" Target="../media/image-38-52.png"/><Relationship Id="rId53" Type="http://schemas.openxmlformats.org/officeDocument/2006/relationships/image" Target="../media/image-38-53.png"/><Relationship Id="rId54" Type="http://schemas.openxmlformats.org/officeDocument/2006/relationships/image" Target="../media/image-38-54.png"/><Relationship Id="rId55" Type="http://schemas.openxmlformats.org/officeDocument/2006/relationships/image" Target="../media/image-38-55.png"/><Relationship Id="rId56" Type="http://schemas.openxmlformats.org/officeDocument/2006/relationships/image" Target="../media/image-38-56.png"/><Relationship Id="rId57" Type="http://schemas.openxmlformats.org/officeDocument/2006/relationships/image" Target="../media/image-38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image" Target="../media/image-39-8.png"/><Relationship Id="rId9" Type="http://schemas.openxmlformats.org/officeDocument/2006/relationships/image" Target="../media/image-39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image" Target="../media/image-4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image" Target="../media/image-47-7.png"/><Relationship Id="rId8" Type="http://schemas.openxmlformats.org/officeDocument/2006/relationships/image" Target="../media/image-47-8.png"/><Relationship Id="rId9" Type="http://schemas.openxmlformats.org/officeDocument/2006/relationships/image" Target="../media/image-4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image" Target="../media/image-49-9.png"/><Relationship Id="rId10" Type="http://schemas.openxmlformats.org/officeDocument/2006/relationships/image" Target="../media/image-49-10.png"/><Relationship Id="rId11" Type="http://schemas.openxmlformats.org/officeDocument/2006/relationships/image" Target="../media/image-49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image" Target="../media/image-50-8.png"/><Relationship Id="rId9" Type="http://schemas.openxmlformats.org/officeDocument/2006/relationships/image" Target="../media/image-5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image" Target="../media/image-51-7.png"/><Relationship Id="rId8" Type="http://schemas.openxmlformats.org/officeDocument/2006/relationships/image" Target="../media/image-51-8.png"/><Relationship Id="rId9" Type="http://schemas.openxmlformats.org/officeDocument/2006/relationships/image" Target="../media/image-51-9.png"/><Relationship Id="rId10" Type="http://schemas.openxmlformats.org/officeDocument/2006/relationships/image" Target="../media/image-5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image" Target="../media/image-5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image" Target="../media/image-53-7.png"/><Relationship Id="rId8" Type="http://schemas.openxmlformats.org/officeDocument/2006/relationships/image" Target="../media/image-53-8.png"/><Relationship Id="rId9" Type="http://schemas.openxmlformats.org/officeDocument/2006/relationships/image" Target="../media/image-53-9.png"/><Relationship Id="rId10" Type="http://schemas.openxmlformats.org/officeDocument/2006/relationships/image" Target="../media/image-5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image" Target="../media/image-5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NEDERLANDS · A1 · A2 · 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In vijf zinnen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Production écrite et orale guidée : 24 contextes du quotidien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image · 5 critères · 1 modèle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72200" y="1097280"/>
            <a:ext cx="576072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280160"/>
            <a:ext cx="3017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28232" y="1353312"/>
            <a:ext cx="2871216" cy="1351849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28232" y="2705161"/>
            <a:ext cx="2871216" cy="696407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2629" y="1435242"/>
            <a:ext cx="348204" cy="3482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43081" y="1476207"/>
            <a:ext cx="689092" cy="266273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43081" y="1476207"/>
            <a:ext cx="689092" cy="266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0" b="1" spc="100" kern="0" dirty="0">
                <a:solidFill>
                  <a:schemeClr val="bg1"/>
                </a:solidFill>
              </a:rPr>
              <a:t>CAFÉ</a:t>
            </a:r>
            <a:endParaRPr lang="en-US" sz="1090" dirty="0"/>
          </a:p>
        </p:txBody>
      </p:sp>
      <p:pic>
        <p:nvPicPr>
          <p:cNvPr id="12" name="Image 1" descr="umbrella on g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172" y="1394277"/>
            <a:ext cx="1228954" cy="122895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289597" y="2623231"/>
            <a:ext cx="1148486" cy="71689"/>
          </a:xfrm>
          <a:prstGeom prst="roundRect">
            <a:avLst>
              <a:gd name="adj" fmla="val 12755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820772" y="2694920"/>
            <a:ext cx="86136" cy="450616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870" y="2356957"/>
            <a:ext cx="266273" cy="266273"/>
          </a:xfrm>
          <a:prstGeom prst="rect">
            <a:avLst/>
          </a:prstGeom>
        </p:spPr>
      </p:pic>
      <p:pic>
        <p:nvPicPr>
          <p:cNvPr id="16" name="Image 3" descr="waff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264" y="2377440"/>
            <a:ext cx="245791" cy="245791"/>
          </a:xfrm>
          <a:prstGeom prst="rect">
            <a:avLst/>
          </a:prstGeom>
        </p:spPr>
      </p:pic>
      <p:pic>
        <p:nvPicPr>
          <p:cNvPr id="17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656" y="2213580"/>
            <a:ext cx="819302" cy="819302"/>
          </a:xfrm>
          <a:prstGeom prst="rect">
            <a:avLst/>
          </a:prstGeom>
        </p:spPr>
      </p:pic>
      <p:pic>
        <p:nvPicPr>
          <p:cNvPr id="18" name="Image 5" descr="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371" y="2213580"/>
            <a:ext cx="819302" cy="81930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555480" y="129844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9555480" y="1298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9966960" y="1316736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9966960" y="1316736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9555480" y="173736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955548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966960" y="1755648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966960" y="1755648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 GRAAG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9555480" y="217627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95554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9966960" y="2194560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E8F4EC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9966960" y="2194560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+ adj.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9555480" y="2615184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955548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9966960" y="2633472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1ECF7"/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966960" y="2633472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+ prix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9555480" y="305409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5554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966960" y="3072384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BEAF2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9966960" y="3072384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… GEEN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382512" y="36896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6382512" y="36896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6858000" y="3703320"/>
            <a:ext cx="298780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7117004" y="3714750"/>
            <a:ext cx="451942" cy="278892"/>
          </a:xfrm>
          <a:prstGeom prst="roundRect">
            <a:avLst>
              <a:gd name="adj" fmla="val 19672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7117004" y="3703320"/>
            <a:ext cx="451942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1800" dirty="0"/>
          </a:p>
        </p:txBody>
      </p:sp>
      <p:sp>
        <p:nvSpPr>
          <p:cNvPr id="44" name="Text 36"/>
          <p:cNvSpPr txBox="1"/>
          <p:nvPr/>
        </p:nvSpPr>
        <p:spPr>
          <a:xfrm>
            <a:off x="7666330" y="3703320"/>
            <a:ext cx="143515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terras.</a:t>
            </a:r>
            <a:endParaRPr lang="en-US" sz="1800" dirty="0"/>
          </a:p>
        </p:txBody>
      </p:sp>
      <p:sp>
        <p:nvSpPr>
          <p:cNvPr id="45" name="Shape 37"/>
          <p:cNvSpPr/>
          <p:nvPr/>
        </p:nvSpPr>
        <p:spPr>
          <a:xfrm>
            <a:off x="7342975" y="3993642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7072332" y="4039362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7072332" y="4039362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Hoe werkt het? Comment ça marche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MODE D’EMPLOI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pic>
        <p:nvPicPr>
          <p:cNvPr id="8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5718" y="1572768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Kijk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Observez l’illustration : où ? qui ? quoi ?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67278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1870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187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pic>
        <p:nvPicPr>
          <p:cNvPr id="14" name="Image 1" descr="clip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56" y="1572768"/>
            <a:ext cx="685800" cy="6858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50158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Lees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550158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Lisez les 5 critères : une phrase = un critère.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185916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50508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505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pic>
        <p:nvPicPr>
          <p:cNvPr id="20" name="Image 2" descr="writ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2994" y="1572768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68796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Schrijf of spreek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368796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Produisez vos 5 phrases, à l’écrit ou à l’oral (5 à 10 min).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9004554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69146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69146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pic>
        <p:nvPicPr>
          <p:cNvPr id="26" name="Image 3" descr="magnifying glass tilted 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632" y="1572768"/>
            <a:ext cx="685800" cy="6858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187434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Vergelijk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187434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Comparez avec le modèle : chaque encadré renvoie à un critère.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Exemple de correspondance critère → bribe de texte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76072" y="420090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76072" y="42009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1051560" y="4206240"/>
            <a:ext cx="1114425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1900" dirty="0"/>
          </a:p>
        </p:txBody>
      </p:sp>
      <p:sp>
        <p:nvSpPr>
          <p:cNvPr id="33" name="Shape 26"/>
          <p:cNvSpPr/>
          <p:nvPr/>
        </p:nvSpPr>
        <p:spPr>
          <a:xfrm>
            <a:off x="2129079" y="4218305"/>
            <a:ext cx="645706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2129079" y="4206240"/>
            <a:ext cx="645706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2774785" y="4206240"/>
            <a:ext cx="197485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900" dirty="0"/>
          </a:p>
        </p:txBody>
      </p:sp>
      <p:sp>
        <p:nvSpPr>
          <p:cNvPr id="36" name="Shape 29"/>
          <p:cNvSpPr/>
          <p:nvPr/>
        </p:nvSpPr>
        <p:spPr>
          <a:xfrm>
            <a:off x="2935364" y="4218305"/>
            <a:ext cx="683590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935364" y="4206240"/>
            <a:ext cx="683590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1900" dirty="0"/>
          </a:p>
        </p:txBody>
      </p:sp>
      <p:sp>
        <p:nvSpPr>
          <p:cNvPr id="38" name="Text 31"/>
          <p:cNvSpPr txBox="1"/>
          <p:nvPr/>
        </p:nvSpPr>
        <p:spPr>
          <a:xfrm>
            <a:off x="3719208" y="4206240"/>
            <a:ext cx="2463051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1900" dirty="0"/>
          </a:p>
        </p:txBody>
      </p:sp>
      <p:sp>
        <p:nvSpPr>
          <p:cNvPr id="39" name="Shape 32"/>
          <p:cNvSpPr/>
          <p:nvPr/>
        </p:nvSpPr>
        <p:spPr>
          <a:xfrm>
            <a:off x="6145352" y="4218305"/>
            <a:ext cx="1046988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145352" y="4206240"/>
            <a:ext cx="1046988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1900" dirty="0"/>
          </a:p>
        </p:txBody>
      </p:sp>
      <p:sp>
        <p:nvSpPr>
          <p:cNvPr id="41" name="Text 34"/>
          <p:cNvSpPr txBox="1"/>
          <p:nvPr/>
        </p:nvSpPr>
        <p:spPr>
          <a:xfrm>
            <a:off x="7192340" y="4206240"/>
            <a:ext cx="197968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42" name="Shape 35"/>
          <p:cNvSpPr/>
          <p:nvPr/>
        </p:nvSpPr>
        <p:spPr>
          <a:xfrm flipH="1">
            <a:off x="2451932" y="4512691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915789" y="4558411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915789" y="4558411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3277159" y="4512691"/>
            <a:ext cx="301923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3042939" y="4558411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042939" y="4558411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6668846" y="4512691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6238183" y="4558411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6238183" y="4558411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bg1"/>
                </a:solidFill>
              </a:rPr>
              <a:t>Le but : vérifier le </a:t>
            </a:r>
            <a:r>
              <a:rPr lang="en-US" sz="1550" b="1" dirty="0">
                <a:solidFill>
                  <a:schemeClr val="bg1"/>
                </a:solidFill>
              </a:rPr>
              <a:t>lexique</a:t>
            </a:r>
            <a:r>
              <a:rPr lang="en-US" sz="1550" dirty="0">
                <a:solidFill>
                  <a:schemeClr val="bg1"/>
                </a:solidFill>
              </a:rPr>
              <a:t> et la </a:t>
            </a:r>
            <a:r>
              <a:rPr lang="en-US" sz="1550" b="1" dirty="0">
                <a:solidFill>
                  <a:schemeClr val="bg1"/>
                </a:solidFill>
              </a:rPr>
              <a:t>grammaire</a:t>
            </a:r>
            <a:r>
              <a:rPr lang="en-US" sz="1550" dirty="0">
                <a:solidFill>
                  <a:schemeClr val="bg1"/>
                </a:solidFill>
              </a:rPr>
              <a:t> du niveau, en laissant toute sa place à la </a:t>
            </a:r>
            <a:r>
              <a:rPr lang="en-US" sz="1550" b="1" dirty="0">
                <a:solidFill>
                  <a:schemeClr val="bg1"/>
                </a:solidFill>
              </a:rPr>
              <a:t>créativité</a:t>
            </a:r>
            <a:r>
              <a:rPr lang="en-US" sz="1550" dirty="0">
                <a:solidFill>
                  <a:schemeClr val="bg1"/>
                </a:solidFill>
              </a:rPr>
              <a:t> (la chute !).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Évaluer une production : la grille sur 10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ÉVALUATION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heck mark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12064" cy="5120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46304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Critères respectés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429000" y="1463040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point par phrase : le critère demandé est présent et correct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43800" y="1591056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43800" y="1591056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 pts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249424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0864"/>
            <a:ext cx="512064" cy="5120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249424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Correction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429000" y="2249424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conjugaison, ordre des mots, accords, orthographe ou prononciation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543800" y="2377440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543800" y="2377440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 pts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3035808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27248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303580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Vocabulaire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3429000" y="3035808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mots précis et variés, adaptés à la situation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7543800" y="3163824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543800" y="316382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3822192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3" descr="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12064" cy="51206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25880" y="3822192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Cohérence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3429000" y="3822192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5 phrases racontent une même scène, dans l’ordre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7543800" y="3950208"/>
            <a:ext cx="731520" cy="438912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543800" y="3950208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48640" y="4608576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4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700016"/>
            <a:ext cx="512064" cy="51206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325880" y="4608576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Créativité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3429000" y="460857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une chute originale, de l’humour, une surprise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7543800" y="4736592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7543800" y="4736592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8732520" y="4919472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732520" y="4535424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32520" y="4151376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732520" y="3767328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8732520" y="3383280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8732520" y="2999232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732520" y="2615184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732520" y="2231136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8732520" y="1847088"/>
            <a:ext cx="685800" cy="329184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8732520" y="1463040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955548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/ 10</a:t>
            </a:r>
            <a:endParaRPr lang="en-US" sz="2600" dirty="0"/>
          </a:p>
        </p:txBody>
      </p:sp>
      <p:sp>
        <p:nvSpPr>
          <p:cNvPr id="46" name="Text 38"/>
          <p:cNvSpPr txBox="1"/>
          <p:nvPr/>
        </p:nvSpPr>
        <p:spPr>
          <a:xfrm>
            <a:off x="9555480" y="2011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50" i="1" dirty="0">
                <a:solidFill>
                  <a:schemeClr val="accent5"/>
                </a:solidFill>
              </a:rPr>
              <a:t>Avant de rendre :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i="1" dirty="0">
                <a:solidFill>
                  <a:schemeClr val="accent5"/>
                </a:solidFill>
              </a:rPr>
              <a:t>cochez les 5 critères ✓</a:t>
            </a:r>
            <a:endParaRPr lang="en-US" sz="1350" dirty="0"/>
          </a:p>
        </p:txBody>
      </p:sp>
      <p:sp>
        <p:nvSpPr>
          <p:cNvPr id="47" name="Shape 39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À l’oral : même grille ; la </a:t>
            </a:r>
            <a:r>
              <a:rPr lang="en-US" sz="1500" b="1" dirty="0">
                <a:solidFill>
                  <a:schemeClr val="bg1"/>
                </a:solidFill>
              </a:rPr>
              <a:t>prononciation</a:t>
            </a:r>
            <a:r>
              <a:rPr lang="en-US" sz="1500" dirty="0">
                <a:solidFill>
                  <a:schemeClr val="bg1"/>
                </a:solidFill>
              </a:rPr>
              <a:t> et la </a:t>
            </a:r>
            <a:r>
              <a:rPr lang="en-US" sz="1500" b="1" dirty="0">
                <a:solidFill>
                  <a:schemeClr val="bg1"/>
                </a:solidFill>
              </a:rPr>
              <a:t>fluidité</a:t>
            </a:r>
            <a:r>
              <a:rPr lang="en-US" sz="1500" dirty="0">
                <a:solidFill>
                  <a:schemeClr val="bg1"/>
                </a:solidFill>
              </a:rPr>
              <a:t> remplacent l’orthographe dans « Correction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A1 · Découverte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A1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zijn / hebben</a:t>
            </a:r>
            <a:r>
              <a:rPr lang="en-US" sz="1400" dirty="0">
                <a:solidFill>
                  <a:schemeClr val="bg1"/>
                </a:solidFill>
              </a:rPr>
              <a:t> · présent (-t)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ordre des mots et </a:t>
            </a:r>
            <a:r>
              <a:rPr lang="en-US" sz="1400" b="1" dirty="0">
                <a:solidFill>
                  <a:schemeClr val="bg1"/>
                </a:solidFill>
              </a:rPr>
              <a:t>inversion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er is / er zijn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niet / geen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pluriel</a:t>
            </a:r>
            <a:r>
              <a:rPr lang="en-US" sz="1400" dirty="0">
                <a:solidFill>
                  <a:schemeClr val="bg1"/>
                </a:solidFill>
              </a:rPr>
              <a:t> · possessifs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prépositions de lieu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adjectif </a:t>
            </a:r>
            <a:r>
              <a:rPr lang="en-US" sz="1400" b="1" dirty="0">
                <a:solidFill>
                  <a:schemeClr val="bg1"/>
                </a:solidFill>
              </a:rPr>
              <a:t>qualificatif / attribut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gaan</a:t>
            </a:r>
            <a:r>
              <a:rPr lang="en-US" sz="1400" dirty="0">
                <a:solidFill>
                  <a:schemeClr val="bg1"/>
                </a:solidFill>
              </a:rPr>
              <a:t> + infinitif · verbes à particule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en · maar · want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77843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305481"/>
            <a:ext cx="1627632" cy="401011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906" y="1574226"/>
            <a:ext cx="200505" cy="20050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35353" y="1597815"/>
            <a:ext cx="390632" cy="15332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5353" y="1597815"/>
            <a:ext cx="390632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CAFÉ</a:t>
            </a:r>
            <a:endParaRPr lang="en-US" sz="628" dirty="0"/>
          </a:p>
        </p:txBody>
      </p:sp>
      <p:pic>
        <p:nvPicPr>
          <p:cNvPr id="13" name="Image 1" descr="umbrella on g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85" y="1550637"/>
            <a:ext cx="707666" cy="70766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758538" y="2258303"/>
            <a:ext cx="651053" cy="41281"/>
          </a:xfrm>
          <a:prstGeom prst="roundRect">
            <a:avLst>
              <a:gd name="adj" fmla="val 22151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059650" y="2299583"/>
            <a:ext cx="48829" cy="25947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196" y="2104975"/>
            <a:ext cx="153328" cy="153328"/>
          </a:xfrm>
          <a:prstGeom prst="rect">
            <a:avLst/>
          </a:prstGeom>
        </p:spPr>
      </p:pic>
      <p:pic>
        <p:nvPicPr>
          <p:cNvPr id="17" name="Image 3" descr="waff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617" y="2116770"/>
            <a:ext cx="141533" cy="141533"/>
          </a:xfrm>
          <a:prstGeom prst="rect">
            <a:avLst/>
          </a:prstGeom>
        </p:spPr>
      </p:pic>
      <p:pic>
        <p:nvPicPr>
          <p:cNvPr id="18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2801" y="2022414"/>
            <a:ext cx="471777" cy="471777"/>
          </a:xfrm>
          <a:prstGeom prst="rect">
            <a:avLst/>
          </a:prstGeom>
        </p:spPr>
      </p:pic>
      <p:pic>
        <p:nvPicPr>
          <p:cNvPr id="19" name="Image 5" descr="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3314" y="2022414"/>
            <a:ext cx="471777" cy="471777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2" name="Text 13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Op het terras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En terrasse</a:t>
            </a:r>
            <a:endParaRPr lang="en-US" sz="950" dirty="0"/>
          </a:p>
        </p:txBody>
      </p:sp>
      <p:pic>
        <p:nvPicPr>
          <p:cNvPr id="24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6163056" y="152704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163056" y="2352658"/>
            <a:ext cx="1627632" cy="353833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6228161" y="1586020"/>
            <a:ext cx="1497421" cy="165122"/>
          </a:xfrm>
          <a:prstGeom prst="roundRect">
            <a:avLst>
              <a:gd name="adj" fmla="val 1661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6716451" y="1597815"/>
            <a:ext cx="520842" cy="141533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6716451" y="1597815"/>
            <a:ext cx="520842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MARKT</a:t>
            </a:r>
            <a:endParaRPr lang="en-US" sz="580" dirty="0"/>
          </a:p>
        </p:txBody>
      </p:sp>
      <p:pic>
        <p:nvPicPr>
          <p:cNvPr id="31" name="Image 7" descr="man farm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1556" y="1727553"/>
            <a:ext cx="424600" cy="424600"/>
          </a:xfrm>
          <a:prstGeom prst="rect">
            <a:avLst/>
          </a:prstGeom>
        </p:spPr>
      </p:pic>
      <p:sp>
        <p:nvSpPr>
          <p:cNvPr id="32" name="Shape 21"/>
          <p:cNvSpPr/>
          <p:nvPr/>
        </p:nvSpPr>
        <p:spPr>
          <a:xfrm>
            <a:off x="6228161" y="2140359"/>
            <a:ext cx="1497421" cy="235889"/>
          </a:xfrm>
          <a:prstGeom prst="roundRect">
            <a:avLst>
              <a:gd name="adj" fmla="val 7753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8" descr="red app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6990" y="1963442"/>
            <a:ext cx="176917" cy="176917"/>
          </a:xfrm>
          <a:prstGeom prst="rect">
            <a:avLst/>
          </a:prstGeom>
        </p:spPr>
      </p:pic>
      <p:pic>
        <p:nvPicPr>
          <p:cNvPr id="34" name="Image 9" descr="toma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8582" y="1963442"/>
            <a:ext cx="176917" cy="176917"/>
          </a:xfrm>
          <a:prstGeom prst="rect">
            <a:avLst/>
          </a:prstGeom>
        </p:spPr>
      </p:pic>
      <p:pic>
        <p:nvPicPr>
          <p:cNvPr id="35" name="Image 10" descr="banan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72188" y="1963442"/>
            <a:ext cx="176917" cy="176917"/>
          </a:xfrm>
          <a:prstGeom prst="rect">
            <a:avLst/>
          </a:prstGeom>
        </p:spPr>
      </p:pic>
      <p:pic>
        <p:nvPicPr>
          <p:cNvPr id="36" name="Image 11" descr="strawberr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83780" y="1963442"/>
            <a:ext cx="176917" cy="176917"/>
          </a:xfrm>
          <a:prstGeom prst="rect">
            <a:avLst/>
          </a:prstGeom>
        </p:spPr>
      </p:pic>
      <p:pic>
        <p:nvPicPr>
          <p:cNvPr id="37" name="Image 12" descr="carro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62820" y="1963442"/>
            <a:ext cx="165122" cy="165122"/>
          </a:xfrm>
          <a:prstGeom prst="rect">
            <a:avLst/>
          </a:prstGeom>
        </p:spPr>
      </p:pic>
      <p:pic>
        <p:nvPicPr>
          <p:cNvPr id="38" name="Image 13" descr="baske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00056" y="2388042"/>
            <a:ext cx="283066" cy="283066"/>
          </a:xfrm>
          <a:prstGeom prst="rect">
            <a:avLst/>
          </a:prstGeom>
        </p:spPr>
      </p:pic>
      <p:pic>
        <p:nvPicPr>
          <p:cNvPr id="39" name="Image 14" descr="euro banknot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0714" y="2423425"/>
            <a:ext cx="212300" cy="212300"/>
          </a:xfrm>
          <a:prstGeom prst="rect">
            <a:avLst/>
          </a:prstGeom>
        </p:spPr>
      </p:pic>
      <p:sp>
        <p:nvSpPr>
          <p:cNvPr id="40" name="Shape 22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3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42" name="Text 24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Op de markt</a:t>
            </a:r>
            <a:endParaRPr lang="en-US" sz="1150" dirty="0"/>
          </a:p>
        </p:txBody>
      </p:sp>
      <p:sp>
        <p:nvSpPr>
          <p:cNvPr id="43" name="Text 25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Au marché</a:t>
            </a:r>
            <a:endParaRPr lang="en-US" sz="950" dirty="0"/>
          </a:p>
        </p:txBody>
      </p:sp>
      <p:pic>
        <p:nvPicPr>
          <p:cNvPr id="44" name="Image 15" descr="PenNib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45" name="Shape 26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27"/>
          <p:cNvSpPr/>
          <p:nvPr/>
        </p:nvSpPr>
        <p:spPr>
          <a:xfrm>
            <a:off x="8055864" y="1527048"/>
            <a:ext cx="1627632" cy="849199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28"/>
          <p:cNvSpPr/>
          <p:nvPr/>
        </p:nvSpPr>
        <p:spPr>
          <a:xfrm>
            <a:off x="8055864" y="2376247"/>
            <a:ext cx="1627632" cy="33024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29"/>
          <p:cNvSpPr/>
          <p:nvPr/>
        </p:nvSpPr>
        <p:spPr>
          <a:xfrm>
            <a:off x="8055864" y="2358556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30"/>
          <p:cNvSpPr/>
          <p:nvPr/>
        </p:nvSpPr>
        <p:spPr>
          <a:xfrm>
            <a:off x="8592983" y="1597815"/>
            <a:ext cx="553395" cy="15332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1"/>
          <p:cNvSpPr txBox="1"/>
          <p:nvPr/>
        </p:nvSpPr>
        <p:spPr>
          <a:xfrm>
            <a:off x="8592983" y="1597815"/>
            <a:ext cx="553395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WELKOM!</a:t>
            </a:r>
            <a:endParaRPr lang="en-US" sz="628" dirty="0"/>
          </a:p>
        </p:txBody>
      </p:sp>
      <p:pic>
        <p:nvPicPr>
          <p:cNvPr id="51" name="Image 16" descr="man office worke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0969" y="1880881"/>
            <a:ext cx="613311" cy="613311"/>
          </a:xfrm>
          <a:prstGeom prst="rect">
            <a:avLst/>
          </a:prstGeom>
        </p:spPr>
      </p:pic>
      <p:pic>
        <p:nvPicPr>
          <p:cNvPr id="52" name="Image 17" descr="woman office worke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16167" y="1880881"/>
            <a:ext cx="613311" cy="613311"/>
          </a:xfrm>
          <a:prstGeom prst="rect">
            <a:avLst/>
          </a:prstGeom>
        </p:spPr>
      </p:pic>
      <p:pic>
        <p:nvPicPr>
          <p:cNvPr id="53" name="Image 18" descr="waving hand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5746" y="1880881"/>
            <a:ext cx="200505" cy="200505"/>
          </a:xfrm>
          <a:prstGeom prst="rect">
            <a:avLst/>
          </a:prstGeom>
        </p:spPr>
      </p:pic>
      <p:pic>
        <p:nvPicPr>
          <p:cNvPr id="54" name="Image 19" descr="potted plant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746" y="2234714"/>
            <a:ext cx="235889" cy="235889"/>
          </a:xfrm>
          <a:prstGeom prst="rect">
            <a:avLst/>
          </a:prstGeom>
        </p:spPr>
      </p:pic>
      <p:sp>
        <p:nvSpPr>
          <p:cNvPr id="55" name="Shape 32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33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57" name="Text 34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nieuwe collega</a:t>
            </a:r>
            <a:endParaRPr lang="en-US" sz="1150" dirty="0"/>
          </a:p>
        </p:txBody>
      </p:sp>
      <p:sp>
        <p:nvSpPr>
          <p:cNvPr id="58" name="Text 35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Le nouveau collègue</a:t>
            </a:r>
            <a:endParaRPr lang="en-US" sz="950" dirty="0"/>
          </a:p>
        </p:txBody>
      </p:sp>
      <p:pic>
        <p:nvPicPr>
          <p:cNvPr id="59" name="Image 20" descr="Comments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60" name="Shape 36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37"/>
          <p:cNvSpPr/>
          <p:nvPr/>
        </p:nvSpPr>
        <p:spPr>
          <a:xfrm>
            <a:off x="9948672" y="1527048"/>
            <a:ext cx="1627632" cy="849199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38"/>
          <p:cNvSpPr/>
          <p:nvPr/>
        </p:nvSpPr>
        <p:spPr>
          <a:xfrm>
            <a:off x="9948672" y="2376247"/>
            <a:ext cx="1627632" cy="33024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39"/>
          <p:cNvSpPr/>
          <p:nvPr/>
        </p:nvSpPr>
        <p:spPr>
          <a:xfrm>
            <a:off x="9948672" y="2358556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40"/>
          <p:cNvSpPr/>
          <p:nvPr/>
        </p:nvSpPr>
        <p:spPr>
          <a:xfrm>
            <a:off x="10925251" y="1644992"/>
            <a:ext cx="488290" cy="471777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65" name="Shape 41"/>
          <p:cNvSpPr/>
          <p:nvPr/>
        </p:nvSpPr>
        <p:spPr>
          <a:xfrm>
            <a:off x="11169396" y="1644992"/>
            <a:ext cx="914" cy="471777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66" name="Shape 42"/>
          <p:cNvSpPr/>
          <p:nvPr/>
        </p:nvSpPr>
        <p:spPr>
          <a:xfrm>
            <a:off x="10925251" y="1880881"/>
            <a:ext cx="488290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pic>
        <p:nvPicPr>
          <p:cNvPr id="67" name="Image 21" descr="sun behind cloud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55462" y="1703965"/>
            <a:ext cx="165122" cy="165122"/>
          </a:xfrm>
          <a:prstGeom prst="rect">
            <a:avLst/>
          </a:prstGeom>
        </p:spPr>
      </p:pic>
      <p:pic>
        <p:nvPicPr>
          <p:cNvPr id="68" name="Image 22" descr="framed picture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76540" y="1621403"/>
            <a:ext cx="235889" cy="235889"/>
          </a:xfrm>
          <a:prstGeom prst="rect">
            <a:avLst/>
          </a:prstGeom>
        </p:spPr>
      </p:pic>
      <p:pic>
        <p:nvPicPr>
          <p:cNvPr id="69" name="Image 23" descr="couch and lamp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13777" y="1928059"/>
            <a:ext cx="542544" cy="542544"/>
          </a:xfrm>
          <a:prstGeom prst="rect">
            <a:avLst/>
          </a:prstGeom>
        </p:spPr>
      </p:pic>
      <p:pic>
        <p:nvPicPr>
          <p:cNvPr id="70" name="Image 24" descr="potted plant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50778" y="2093181"/>
            <a:ext cx="294861" cy="294861"/>
          </a:xfrm>
          <a:prstGeom prst="rect">
            <a:avLst/>
          </a:prstGeom>
        </p:spPr>
      </p:pic>
      <p:pic>
        <p:nvPicPr>
          <p:cNvPr id="71" name="Image 25" descr="key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62488" y="2329070"/>
            <a:ext cx="176917" cy="176917"/>
          </a:xfrm>
          <a:prstGeom prst="rect">
            <a:avLst/>
          </a:prstGeom>
        </p:spPr>
      </p:pic>
      <p:sp>
        <p:nvSpPr>
          <p:cNvPr id="72" name="Shape 43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44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74" name="Text 45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huis</a:t>
            </a:r>
            <a:endParaRPr lang="en-US" sz="1150" dirty="0"/>
          </a:p>
        </p:txBody>
      </p:sp>
      <p:sp>
        <p:nvSpPr>
          <p:cNvPr id="75" name="Text 46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logement</a:t>
            </a:r>
            <a:endParaRPr lang="en-US" sz="950" dirty="0"/>
          </a:p>
        </p:txBody>
      </p:sp>
      <p:pic>
        <p:nvPicPr>
          <p:cNvPr id="76" name="Image 26" descr="PenNib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77" name="Shape 47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48"/>
          <p:cNvSpPr/>
          <p:nvPr/>
        </p:nvSpPr>
        <p:spPr>
          <a:xfrm>
            <a:off x="4270248" y="3767328"/>
            <a:ext cx="1627632" cy="943555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49"/>
          <p:cNvSpPr/>
          <p:nvPr/>
        </p:nvSpPr>
        <p:spPr>
          <a:xfrm>
            <a:off x="4270248" y="4710883"/>
            <a:ext cx="1627632" cy="235889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50"/>
          <p:cNvSpPr/>
          <p:nvPr/>
        </p:nvSpPr>
        <p:spPr>
          <a:xfrm>
            <a:off x="4270248" y="4693191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51"/>
          <p:cNvSpPr/>
          <p:nvPr/>
        </p:nvSpPr>
        <p:spPr>
          <a:xfrm>
            <a:off x="4546945" y="3838095"/>
            <a:ext cx="1074237" cy="778433"/>
          </a:xfrm>
          <a:prstGeom prst="roundRect">
            <a:avLst>
              <a:gd name="adj" fmla="val 2349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Shape 52"/>
          <p:cNvSpPr/>
          <p:nvPr/>
        </p:nvSpPr>
        <p:spPr>
          <a:xfrm>
            <a:off x="4595774" y="3885272"/>
            <a:ext cx="976579" cy="6840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Shape 53"/>
          <p:cNvSpPr/>
          <p:nvPr/>
        </p:nvSpPr>
        <p:spPr>
          <a:xfrm>
            <a:off x="4595774" y="4333461"/>
            <a:ext cx="976579" cy="235889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4" name="Image 27" descr="man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28327" y="3979628"/>
            <a:ext cx="401011" cy="401011"/>
          </a:xfrm>
          <a:prstGeom prst="rect">
            <a:avLst/>
          </a:prstGeom>
        </p:spPr>
      </p:pic>
      <p:pic>
        <p:nvPicPr>
          <p:cNvPr id="85" name="Image 28" descr="woman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88748" y="3956039"/>
            <a:ext cx="401011" cy="401011"/>
          </a:xfrm>
          <a:prstGeom prst="rect">
            <a:avLst/>
          </a:prstGeom>
        </p:spPr>
      </p:pic>
      <p:pic>
        <p:nvPicPr>
          <p:cNvPr id="86" name="Image 29" descr="boy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49169" y="4121161"/>
            <a:ext cx="306655" cy="306655"/>
          </a:xfrm>
          <a:prstGeom prst="rect">
            <a:avLst/>
          </a:prstGeom>
        </p:spPr>
      </p:pic>
      <p:pic>
        <p:nvPicPr>
          <p:cNvPr id="87" name="Image 30" descr="dog fac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360761" y="4262694"/>
            <a:ext cx="212300" cy="212300"/>
          </a:xfrm>
          <a:prstGeom prst="rect">
            <a:avLst/>
          </a:prstGeom>
        </p:spPr>
      </p:pic>
      <p:pic>
        <p:nvPicPr>
          <p:cNvPr id="88" name="Image 31" descr="camera with flash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02801" y="4545761"/>
            <a:ext cx="330244" cy="330244"/>
          </a:xfrm>
          <a:prstGeom prst="rect">
            <a:avLst/>
          </a:prstGeom>
        </p:spPr>
      </p:pic>
      <p:sp>
        <p:nvSpPr>
          <p:cNvPr id="89" name="Shape 54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55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91" name="Text 56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familiefoto</a:t>
            </a:r>
            <a:endParaRPr lang="en-US" sz="1150" dirty="0"/>
          </a:p>
        </p:txBody>
      </p:sp>
      <p:sp>
        <p:nvSpPr>
          <p:cNvPr id="92" name="Text 57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photo de famille</a:t>
            </a:r>
            <a:endParaRPr lang="en-US" sz="950" dirty="0"/>
          </a:p>
        </p:txBody>
      </p:sp>
      <p:pic>
        <p:nvPicPr>
          <p:cNvPr id="93" name="Image 32" descr="Comments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94" name="Shape 58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59"/>
          <p:cNvSpPr/>
          <p:nvPr/>
        </p:nvSpPr>
        <p:spPr>
          <a:xfrm>
            <a:off x="6163056" y="3767328"/>
            <a:ext cx="1627632" cy="1179443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60"/>
          <p:cNvSpPr/>
          <p:nvPr/>
        </p:nvSpPr>
        <p:spPr>
          <a:xfrm>
            <a:off x="6260714" y="4498583"/>
            <a:ext cx="1432316" cy="914"/>
          </a:xfrm>
          <a:prstGeom prst="line">
            <a:avLst/>
          </a:prstGeom>
          <a:noFill/>
          <a:ln w="18085">
            <a:solidFill>
              <a:srgbClr val="D5DCE6"/>
            </a:solidFill>
            <a:prstDash val="solid"/>
          </a:ln>
        </p:spPr>
      </p:sp>
      <p:pic>
        <p:nvPicPr>
          <p:cNvPr id="97" name="Image 33" descr="sun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28161" y="3814506"/>
            <a:ext cx="188711" cy="188711"/>
          </a:xfrm>
          <a:prstGeom prst="rect">
            <a:avLst/>
          </a:prstGeom>
        </p:spPr>
      </p:pic>
      <p:pic>
        <p:nvPicPr>
          <p:cNvPr id="98" name="Image 34" descr="crescent moon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530267" y="3814506"/>
            <a:ext cx="188711" cy="188711"/>
          </a:xfrm>
          <a:prstGeom prst="rect">
            <a:avLst/>
          </a:prstGeom>
        </p:spPr>
      </p:pic>
      <p:pic>
        <p:nvPicPr>
          <p:cNvPr id="99" name="Image 35" descr="alarm clock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28161" y="4215517"/>
            <a:ext cx="235889" cy="235889"/>
          </a:xfrm>
          <a:prstGeom prst="rect">
            <a:avLst/>
          </a:prstGeom>
        </p:spPr>
      </p:pic>
      <p:pic>
        <p:nvPicPr>
          <p:cNvPr id="100" name="Image 36" descr="hot beverage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537411" y="4215517"/>
            <a:ext cx="235889" cy="235889"/>
          </a:xfrm>
          <a:prstGeom prst="rect">
            <a:avLst/>
          </a:prstGeom>
        </p:spPr>
      </p:pic>
      <p:pic>
        <p:nvPicPr>
          <p:cNvPr id="101" name="Image 37" descr="train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846661" y="4215517"/>
            <a:ext cx="235889" cy="235889"/>
          </a:xfrm>
          <a:prstGeom prst="rect">
            <a:avLst/>
          </a:prstGeom>
        </p:spPr>
      </p:pic>
      <p:pic>
        <p:nvPicPr>
          <p:cNvPr id="102" name="Image 38" descr="laptop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55912" y="4215517"/>
            <a:ext cx="235889" cy="235889"/>
          </a:xfrm>
          <a:prstGeom prst="rect">
            <a:avLst/>
          </a:prstGeom>
        </p:spPr>
      </p:pic>
      <p:pic>
        <p:nvPicPr>
          <p:cNvPr id="103" name="Image 39" descr="cooki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465162" y="4215517"/>
            <a:ext cx="235889" cy="235889"/>
          </a:xfrm>
          <a:prstGeom prst="rect">
            <a:avLst/>
          </a:prstGeom>
        </p:spPr>
      </p:pic>
      <p:sp>
        <p:nvSpPr>
          <p:cNvPr id="104" name="Shape 61"/>
          <p:cNvSpPr/>
          <p:nvPr/>
        </p:nvSpPr>
        <p:spPr>
          <a:xfrm>
            <a:off x="624443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Text 62"/>
          <p:cNvSpPr txBox="1"/>
          <p:nvPr/>
        </p:nvSpPr>
        <p:spPr>
          <a:xfrm>
            <a:off x="624443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7:00</a:t>
            </a:r>
            <a:endParaRPr lang="en-US" sz="550" dirty="0"/>
          </a:p>
        </p:txBody>
      </p:sp>
      <p:sp>
        <p:nvSpPr>
          <p:cNvPr id="106" name="Shape 63"/>
          <p:cNvSpPr/>
          <p:nvPr/>
        </p:nvSpPr>
        <p:spPr>
          <a:xfrm>
            <a:off x="655368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Text 64"/>
          <p:cNvSpPr txBox="1"/>
          <p:nvPr/>
        </p:nvSpPr>
        <p:spPr>
          <a:xfrm>
            <a:off x="655368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7:15</a:t>
            </a:r>
            <a:endParaRPr lang="en-US" sz="550" dirty="0"/>
          </a:p>
        </p:txBody>
      </p:sp>
      <p:sp>
        <p:nvSpPr>
          <p:cNvPr id="108" name="Shape 65"/>
          <p:cNvSpPr/>
          <p:nvPr/>
        </p:nvSpPr>
        <p:spPr>
          <a:xfrm>
            <a:off x="686293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9" name="Text 66"/>
          <p:cNvSpPr txBox="1"/>
          <p:nvPr/>
        </p:nvSpPr>
        <p:spPr>
          <a:xfrm>
            <a:off x="686293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8:00</a:t>
            </a:r>
            <a:endParaRPr lang="en-US" sz="550" dirty="0"/>
          </a:p>
        </p:txBody>
      </p:sp>
      <p:sp>
        <p:nvSpPr>
          <p:cNvPr id="110" name="Shape 67"/>
          <p:cNvSpPr/>
          <p:nvPr/>
        </p:nvSpPr>
        <p:spPr>
          <a:xfrm>
            <a:off x="717218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68"/>
          <p:cNvSpPr txBox="1"/>
          <p:nvPr/>
        </p:nvSpPr>
        <p:spPr>
          <a:xfrm>
            <a:off x="717218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9:00</a:t>
            </a:r>
            <a:endParaRPr lang="en-US" sz="550" dirty="0"/>
          </a:p>
        </p:txBody>
      </p:sp>
      <p:sp>
        <p:nvSpPr>
          <p:cNvPr id="112" name="Shape 69"/>
          <p:cNvSpPr/>
          <p:nvPr/>
        </p:nvSpPr>
        <p:spPr>
          <a:xfrm>
            <a:off x="7481438" y="4592938"/>
            <a:ext cx="227868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70"/>
          <p:cNvSpPr txBox="1"/>
          <p:nvPr/>
        </p:nvSpPr>
        <p:spPr>
          <a:xfrm>
            <a:off x="7481438" y="4592938"/>
            <a:ext cx="227868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19:00</a:t>
            </a:r>
            <a:endParaRPr lang="en-US" sz="550" dirty="0"/>
          </a:p>
        </p:txBody>
      </p:sp>
      <p:sp>
        <p:nvSpPr>
          <p:cNvPr id="114" name="Shape 71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5" name="Text 72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16" name="Text 73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dag</a:t>
            </a:r>
            <a:endParaRPr lang="en-US" sz="1150" dirty="0"/>
          </a:p>
        </p:txBody>
      </p:sp>
      <p:sp>
        <p:nvSpPr>
          <p:cNvPr id="117" name="Text 74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Ma journée</a:t>
            </a:r>
            <a:endParaRPr lang="en-US" sz="950" dirty="0"/>
          </a:p>
        </p:txBody>
      </p:sp>
      <p:pic>
        <p:nvPicPr>
          <p:cNvPr id="118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19" name="Shape 75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Shape 76"/>
          <p:cNvSpPr/>
          <p:nvPr/>
        </p:nvSpPr>
        <p:spPr>
          <a:xfrm>
            <a:off x="8055864" y="3767328"/>
            <a:ext cx="1627632" cy="849199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77"/>
          <p:cNvSpPr/>
          <p:nvPr/>
        </p:nvSpPr>
        <p:spPr>
          <a:xfrm>
            <a:off x="8055864" y="4616527"/>
            <a:ext cx="1627632" cy="330244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2" name="Image 41" descr="cloud with rain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137246" y="3802711"/>
            <a:ext cx="353833" cy="353833"/>
          </a:xfrm>
          <a:prstGeom prst="rect">
            <a:avLst/>
          </a:prstGeom>
        </p:spPr>
      </p:pic>
      <p:pic>
        <p:nvPicPr>
          <p:cNvPr id="123" name="Image 42" descr="cloud with rain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951062" y="3767328"/>
            <a:ext cx="283066" cy="283066"/>
          </a:xfrm>
          <a:prstGeom prst="rect">
            <a:avLst/>
          </a:prstGeom>
        </p:spPr>
      </p:pic>
      <p:pic>
        <p:nvPicPr>
          <p:cNvPr id="124" name="Image 43" descr="wind face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357970" y="3826300"/>
            <a:ext cx="235889" cy="235889"/>
          </a:xfrm>
          <a:prstGeom prst="rect">
            <a:avLst/>
          </a:prstGeom>
        </p:spPr>
      </p:pic>
      <p:pic>
        <p:nvPicPr>
          <p:cNvPr id="125" name="Image 44" descr="umbrella with rain drops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641812" y="4121161"/>
            <a:ext cx="448189" cy="448189"/>
          </a:xfrm>
          <a:prstGeom prst="rect">
            <a:avLst/>
          </a:prstGeom>
        </p:spPr>
      </p:pic>
      <p:pic>
        <p:nvPicPr>
          <p:cNvPr id="126" name="Image 45" descr="coat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120969" y="4333461"/>
            <a:ext cx="330244" cy="330244"/>
          </a:xfrm>
          <a:prstGeom prst="rect">
            <a:avLst/>
          </a:prstGeom>
        </p:spPr>
      </p:pic>
      <p:pic>
        <p:nvPicPr>
          <p:cNvPr id="127" name="Image 46" descr="scarf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097548" y="4427816"/>
            <a:ext cx="235889" cy="235889"/>
          </a:xfrm>
          <a:prstGeom prst="rect">
            <a:avLst/>
          </a:prstGeom>
        </p:spPr>
      </p:pic>
      <p:sp>
        <p:nvSpPr>
          <p:cNvPr id="128" name="Shape 78"/>
          <p:cNvSpPr/>
          <p:nvPr/>
        </p:nvSpPr>
        <p:spPr>
          <a:xfrm>
            <a:off x="9357970" y="4357050"/>
            <a:ext cx="276697" cy="16512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Text 79"/>
          <p:cNvSpPr txBox="1"/>
          <p:nvPr/>
        </p:nvSpPr>
        <p:spPr>
          <a:xfrm>
            <a:off x="9357970" y="4357050"/>
            <a:ext cx="276697" cy="16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6" b="1" spc="100" kern="0" dirty="0">
                <a:solidFill>
                  <a:schemeClr val="bg1"/>
                </a:solidFill>
              </a:rPr>
              <a:t>8 °C</a:t>
            </a:r>
            <a:endParaRPr lang="en-US" sz="676" dirty="0"/>
          </a:p>
        </p:txBody>
      </p:sp>
      <p:sp>
        <p:nvSpPr>
          <p:cNvPr id="130" name="Shape 80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81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32" name="Text 82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Het weer en mijn kleren</a:t>
            </a:r>
            <a:endParaRPr lang="en-US" sz="1150" dirty="0"/>
          </a:p>
        </p:txBody>
      </p:sp>
      <p:sp>
        <p:nvSpPr>
          <p:cNvPr id="133" name="Text 83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La météo et mes vêtements</a:t>
            </a:r>
            <a:endParaRPr lang="en-US" sz="950" dirty="0"/>
          </a:p>
        </p:txBody>
      </p:sp>
      <p:pic>
        <p:nvPicPr>
          <p:cNvPr id="134" name="Image 47" descr="PenNib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35" name="Shape 84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85"/>
          <p:cNvSpPr/>
          <p:nvPr/>
        </p:nvSpPr>
        <p:spPr>
          <a:xfrm>
            <a:off x="9948672" y="3767328"/>
            <a:ext cx="1627632" cy="884583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Shape 86"/>
          <p:cNvSpPr/>
          <p:nvPr/>
        </p:nvSpPr>
        <p:spPr>
          <a:xfrm>
            <a:off x="9948672" y="4651911"/>
            <a:ext cx="1627632" cy="294861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8" name="Shape 87"/>
          <p:cNvSpPr/>
          <p:nvPr/>
        </p:nvSpPr>
        <p:spPr>
          <a:xfrm>
            <a:off x="9948672" y="4634219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9" name="Shape 88"/>
          <p:cNvSpPr/>
          <p:nvPr/>
        </p:nvSpPr>
        <p:spPr>
          <a:xfrm>
            <a:off x="10013777" y="3838095"/>
            <a:ext cx="488290" cy="141533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Text 89"/>
          <p:cNvSpPr txBox="1"/>
          <p:nvPr/>
        </p:nvSpPr>
        <p:spPr>
          <a:xfrm>
            <a:off x="10013777" y="3838095"/>
            <a:ext cx="488290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DOKTER</a:t>
            </a:r>
            <a:endParaRPr lang="en-US" sz="580" dirty="0"/>
          </a:p>
        </p:txBody>
      </p:sp>
      <p:pic>
        <p:nvPicPr>
          <p:cNvPr id="141" name="Image 48" descr="man health worker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892699" y="4003217"/>
            <a:ext cx="660488" cy="660488"/>
          </a:xfrm>
          <a:prstGeom prst="rect">
            <a:avLst/>
          </a:prstGeom>
        </p:spPr>
      </p:pic>
      <p:pic>
        <p:nvPicPr>
          <p:cNvPr id="142" name="Image 49" descr="face with thermometer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078883" y="4121161"/>
            <a:ext cx="424600" cy="424600"/>
          </a:xfrm>
          <a:prstGeom prst="rect">
            <a:avLst/>
          </a:prstGeom>
        </p:spPr>
      </p:pic>
      <p:pic>
        <p:nvPicPr>
          <p:cNvPr id="143" name="Image 50" descr="stethoscope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599725" y="4451405"/>
            <a:ext cx="235889" cy="235889"/>
          </a:xfrm>
          <a:prstGeom prst="rect">
            <a:avLst/>
          </a:prstGeom>
        </p:spPr>
      </p:pic>
      <p:pic>
        <p:nvPicPr>
          <p:cNvPr id="144" name="Image 51" descr="pill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111435" y="4640116"/>
            <a:ext cx="165122" cy="165122"/>
          </a:xfrm>
          <a:prstGeom prst="rect">
            <a:avLst/>
          </a:prstGeom>
        </p:spPr>
      </p:pic>
      <p:sp>
        <p:nvSpPr>
          <p:cNvPr id="145" name="Shape 90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6" name="Text 91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47" name="Text 92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Bij de dokter</a:t>
            </a:r>
            <a:endParaRPr lang="en-US" sz="1150" dirty="0"/>
          </a:p>
        </p:txBody>
      </p:sp>
      <p:sp>
        <p:nvSpPr>
          <p:cNvPr id="148" name="Text 93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Chez le médecin</a:t>
            </a:r>
            <a:endParaRPr lang="en-US" sz="950" dirty="0"/>
          </a:p>
        </p:txBody>
      </p:sp>
      <p:pic>
        <p:nvPicPr>
          <p:cNvPr id="149" name="Image 52" descr="Comments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het terras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22693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763122"/>
            <a:ext cx="4700016" cy="1147206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805" y="1671157"/>
            <a:ext cx="573603" cy="573603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9793" y="1738640"/>
            <a:ext cx="1128004" cy="438638"/>
          </a:xfrm>
          <a:prstGeom prst="roundRect">
            <a:avLst>
              <a:gd name="adj" fmla="val 1667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09793" y="1738640"/>
            <a:ext cx="1128004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CAFÉ</a:t>
            </a:r>
            <a:endParaRPr lang="en-US" sz="1796" dirty="0"/>
          </a:p>
        </p:txBody>
      </p:sp>
      <p:pic>
        <p:nvPicPr>
          <p:cNvPr id="14" name="Image 2" descr="umbrella on g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96" y="1603675"/>
            <a:ext cx="2024482" cy="202448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031797" y="3628156"/>
            <a:ext cx="1880006" cy="118095"/>
          </a:xfrm>
          <a:prstGeom prst="roundRect">
            <a:avLst>
              <a:gd name="adj" fmla="val 7743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2901300" y="3746251"/>
            <a:ext cx="141000" cy="742310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798" y="3189519"/>
            <a:ext cx="438638" cy="438638"/>
          </a:xfrm>
          <a:prstGeom prst="rect">
            <a:avLst/>
          </a:prstGeom>
        </p:spPr>
      </p:pic>
      <p:pic>
        <p:nvPicPr>
          <p:cNvPr id="18" name="Image 4" descr="waff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00" y="3223260"/>
            <a:ext cx="404896" cy="404896"/>
          </a:xfrm>
          <a:prstGeom prst="rect">
            <a:avLst/>
          </a:prstGeom>
        </p:spPr>
      </p:pic>
      <p:pic>
        <p:nvPicPr>
          <p:cNvPr id="19" name="Image 5" descr="wo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92" y="2953329"/>
            <a:ext cx="1349654" cy="1349654"/>
          </a:xfrm>
          <a:prstGeom prst="rect">
            <a:avLst/>
          </a:prstGeom>
        </p:spPr>
      </p:pic>
      <p:pic>
        <p:nvPicPr>
          <p:cNvPr id="20" name="Image 6" descr="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4803" y="2953329"/>
            <a:ext cx="1349654" cy="1349654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2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En terrasse</a:t>
            </a:r>
            <a:endParaRPr lang="en-US" sz="1500" dirty="0"/>
          </a:p>
        </p:txBody>
      </p:sp>
      <p:sp>
        <p:nvSpPr>
          <p:cNvPr id="24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Il fait beau. Vous êtes en terrasse avec un·e collègue. Décrivez la scène et commandez.</a:t>
            </a:r>
            <a:endParaRPr lang="en-US" sz="1300" dirty="0"/>
          </a:p>
        </p:txBody>
      </p:sp>
      <p:pic>
        <p:nvPicPr>
          <p:cNvPr id="25" name="Image 8" descr="Commen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7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la scène avec le verbe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: où êtes-vous ? avec qui ?</a:t>
            </a:r>
            <a:endParaRPr lang="en-US" sz="1450" dirty="0"/>
          </a:p>
        </p:txBody>
      </p:sp>
      <p:sp>
        <p:nvSpPr>
          <p:cNvPr id="31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4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Commandez une boisson et un snack avec </a:t>
            </a:r>
            <a:r>
              <a:rPr lang="en-US" sz="1450" b="1" dirty="0">
                <a:solidFill>
                  <a:schemeClr val="tx1"/>
                </a:solidFill>
              </a:rPr>
              <a:t>IK WIL GRAAG…</a:t>
            </a:r>
            <a:endParaRPr lang="en-US" sz="1450" dirty="0"/>
          </a:p>
        </p:txBody>
      </p:sp>
      <p:sp>
        <p:nvSpPr>
          <p:cNvPr id="35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avec </a:t>
            </a:r>
            <a:r>
              <a:rPr lang="en-US" sz="1450" b="1" dirty="0">
                <a:solidFill>
                  <a:schemeClr val="tx1"/>
                </a:solidFill>
              </a:rPr>
              <a:t>HET IS</a:t>
            </a:r>
            <a:r>
              <a:rPr lang="en-US" sz="1450" dirty="0">
                <a:solidFill>
                  <a:schemeClr val="tx1"/>
                </a:solidFill>
              </a:rPr>
              <a:t> + un adjectif.</a:t>
            </a:r>
            <a:endParaRPr lang="en-US" sz="1450" dirty="0"/>
          </a:p>
        </p:txBody>
      </p:sp>
      <p:sp>
        <p:nvSpPr>
          <p:cNvPr id="39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le prix avec </a:t>
            </a:r>
            <a:r>
              <a:rPr lang="en-US" sz="1450" b="1" dirty="0">
                <a:solidFill>
                  <a:schemeClr val="tx1"/>
                </a:solidFill>
              </a:rPr>
              <a:t>KOST / KOSTEN</a:t>
            </a:r>
            <a:r>
              <a:rPr lang="en-US" sz="1450" dirty="0">
                <a:solidFill>
                  <a:schemeClr val="tx1"/>
                </a:solidFill>
              </a:rPr>
              <a:t> + un nombre.</a:t>
            </a:r>
            <a:endParaRPr lang="en-US" sz="1450" dirty="0"/>
          </a:p>
        </p:txBody>
      </p:sp>
      <p:sp>
        <p:nvSpPr>
          <p:cNvPr id="43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4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6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het terras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9487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03049"/>
            <a:ext cx="1060704" cy="254935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993" y="1438168"/>
            <a:ext cx="127467" cy="12746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27644" y="1453164"/>
            <a:ext cx="254569" cy="97475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7644" y="1453164"/>
            <a:ext cx="254569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CAFÉ</a:t>
            </a:r>
            <a:endParaRPr lang="en-US" sz="550" dirty="0"/>
          </a:p>
        </p:txBody>
      </p:sp>
      <p:pic>
        <p:nvPicPr>
          <p:cNvPr id="14" name="Image 2" descr="umbrella on g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13" y="1423172"/>
            <a:ext cx="449885" cy="449885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3427" y="1873057"/>
            <a:ext cx="424282" cy="26243"/>
          </a:xfrm>
          <a:prstGeom prst="roundRect">
            <a:avLst>
              <a:gd name="adj" fmla="val 34844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099657" y="1899300"/>
            <a:ext cx="31821" cy="16495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069" y="1775582"/>
            <a:ext cx="97475" cy="97475"/>
          </a:xfrm>
          <a:prstGeom prst="rect">
            <a:avLst/>
          </a:prstGeom>
        </p:spPr>
      </p:pic>
      <p:pic>
        <p:nvPicPr>
          <p:cNvPr id="18" name="Image 4" descr="waff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782" y="1783080"/>
            <a:ext cx="89977" cy="89977"/>
          </a:xfrm>
          <a:prstGeom prst="rect">
            <a:avLst/>
          </a:prstGeom>
        </p:spPr>
      </p:pic>
      <p:pic>
        <p:nvPicPr>
          <p:cNvPr id="19" name="Image 5" descr="wo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30" y="1723095"/>
            <a:ext cx="299923" cy="299923"/>
          </a:xfrm>
          <a:prstGeom prst="rect">
            <a:avLst/>
          </a:prstGeom>
        </p:spPr>
      </p:pic>
      <p:pic>
        <p:nvPicPr>
          <p:cNvPr id="20" name="Image 6" descr="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7102" y="1723095"/>
            <a:ext cx="299923" cy="299923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</a:t>
            </a:r>
            <a:endParaRPr lang="en-US" sz="1300" dirty="0"/>
          </a:p>
        </p:txBody>
      </p:sp>
      <p:sp>
        <p:nvSpPr>
          <p:cNvPr id="25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IK WIL GRAAG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HET IS + adj.</a:t>
            </a:r>
            <a:endParaRPr lang="en-US" sz="1300" dirty="0"/>
          </a:p>
        </p:txBody>
      </p:sp>
      <p:sp>
        <p:nvSpPr>
          <p:cNvPr id="33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KOSTEN + prix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 … GEEN</a:t>
            </a:r>
            <a:endParaRPr lang="en-US" sz="1300" dirty="0"/>
          </a:p>
        </p:txBody>
      </p:sp>
      <p:sp>
        <p:nvSpPr>
          <p:cNvPr id="41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1051560" y="2395728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44" name="Shape 34"/>
          <p:cNvSpPr/>
          <p:nvPr/>
        </p:nvSpPr>
        <p:spPr>
          <a:xfrm>
            <a:off x="1381658" y="2410968"/>
            <a:ext cx="572110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381658" y="2395728"/>
            <a:ext cx="5721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400" dirty="0"/>
          </a:p>
        </p:txBody>
      </p:sp>
      <p:sp>
        <p:nvSpPr>
          <p:cNvPr id="46" name="Text 36"/>
          <p:cNvSpPr txBox="1"/>
          <p:nvPr/>
        </p:nvSpPr>
        <p:spPr>
          <a:xfrm>
            <a:off x="2068373" y="2395728"/>
            <a:ext cx="601035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 in Brussel, met mijn collega Sofie.</a:t>
            </a:r>
            <a:endParaRPr lang="en-US" sz="2400" dirty="0"/>
          </a:p>
        </p:txBody>
      </p:sp>
      <p:sp>
        <p:nvSpPr>
          <p:cNvPr id="47" name="Shape 37"/>
          <p:cNvSpPr/>
          <p:nvPr/>
        </p:nvSpPr>
        <p:spPr>
          <a:xfrm>
            <a:off x="1667713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1397070" y="2828544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1397070" y="2828544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2" name="Text 42"/>
          <p:cNvSpPr txBox="1"/>
          <p:nvPr/>
        </p:nvSpPr>
        <p:spPr>
          <a:xfrm>
            <a:off x="1051560" y="3191256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53" name="Shape 43"/>
          <p:cNvSpPr/>
          <p:nvPr/>
        </p:nvSpPr>
        <p:spPr>
          <a:xfrm>
            <a:off x="1381658" y="3206496"/>
            <a:ext cx="1235659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1381658" y="3191256"/>
            <a:ext cx="123565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 graag</a:t>
            </a:r>
            <a:endParaRPr lang="en-US" sz="2400" dirty="0"/>
          </a:p>
        </p:txBody>
      </p:sp>
      <p:sp>
        <p:nvSpPr>
          <p:cNvPr id="55" name="Text 45"/>
          <p:cNvSpPr txBox="1"/>
          <p:nvPr/>
        </p:nvSpPr>
        <p:spPr>
          <a:xfrm>
            <a:off x="2731922" y="3191256"/>
            <a:ext cx="45040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koffie en een wafel, alstublieft.</a:t>
            </a:r>
            <a:endParaRPr lang="en-US" sz="2400" dirty="0"/>
          </a:p>
        </p:txBody>
      </p:sp>
      <p:sp>
        <p:nvSpPr>
          <p:cNvPr id="56" name="Shape 46"/>
          <p:cNvSpPr/>
          <p:nvPr/>
        </p:nvSpPr>
        <p:spPr>
          <a:xfrm>
            <a:off x="199948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1450410" y="3624072"/>
            <a:ext cx="109815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1450410" y="3624072"/>
            <a:ext cx="10981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IK WIL GRAAG</a:t>
            </a:r>
            <a:endParaRPr lang="en-US" sz="1050" dirty="0"/>
          </a:p>
        </p:txBody>
      </p:sp>
      <p:sp>
        <p:nvSpPr>
          <p:cNvPr id="59" name="Shape 49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0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1" name="Shape 51"/>
          <p:cNvSpPr/>
          <p:nvPr/>
        </p:nvSpPr>
        <p:spPr>
          <a:xfrm>
            <a:off x="1051560" y="4002024"/>
            <a:ext cx="161086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1051560" y="3986784"/>
            <a:ext cx="161086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warm</a:t>
            </a:r>
            <a:endParaRPr lang="en-US" sz="2400" dirty="0"/>
          </a:p>
        </p:txBody>
      </p:sp>
      <p:sp>
        <p:nvSpPr>
          <p:cNvPr id="63" name="Text 53"/>
          <p:cNvSpPr txBox="1"/>
          <p:nvPr/>
        </p:nvSpPr>
        <p:spPr>
          <a:xfrm>
            <a:off x="2777033" y="3986784"/>
            <a:ext cx="25176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zonnig vandaag.</a:t>
            </a:r>
            <a:endParaRPr lang="en-US" sz="2400" dirty="0"/>
          </a:p>
        </p:txBody>
      </p:sp>
      <p:sp>
        <p:nvSpPr>
          <p:cNvPr id="64" name="Shape 54"/>
          <p:cNvSpPr/>
          <p:nvPr/>
        </p:nvSpPr>
        <p:spPr>
          <a:xfrm>
            <a:off x="185699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5" name="Shape 55"/>
          <p:cNvSpPr/>
          <p:nvPr/>
        </p:nvSpPr>
        <p:spPr>
          <a:xfrm>
            <a:off x="1363123" y="4419600"/>
            <a:ext cx="987742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1363123" y="4419600"/>
            <a:ext cx="98774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HET IS + adj.</a:t>
            </a:r>
            <a:endParaRPr lang="en-US" sz="1050" dirty="0"/>
          </a:p>
        </p:txBody>
      </p:sp>
      <p:sp>
        <p:nvSpPr>
          <p:cNvPr id="67" name="Shape 57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69" name="Text 59"/>
          <p:cNvSpPr txBox="1"/>
          <p:nvPr/>
        </p:nvSpPr>
        <p:spPr>
          <a:xfrm>
            <a:off x="1051560" y="4782312"/>
            <a:ext cx="276148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koffie en de wafel</a:t>
            </a:r>
            <a:endParaRPr lang="en-US" sz="2400" dirty="0"/>
          </a:p>
        </p:txBody>
      </p:sp>
      <p:sp>
        <p:nvSpPr>
          <p:cNvPr id="70" name="Shape 60"/>
          <p:cNvSpPr/>
          <p:nvPr/>
        </p:nvSpPr>
        <p:spPr>
          <a:xfrm>
            <a:off x="3790493" y="4797552"/>
            <a:ext cx="946099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3790493" y="4782312"/>
            <a:ext cx="94609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2400" dirty="0"/>
          </a:p>
        </p:txBody>
      </p:sp>
      <p:sp>
        <p:nvSpPr>
          <p:cNvPr id="72" name="Text 62"/>
          <p:cNvSpPr txBox="1"/>
          <p:nvPr/>
        </p:nvSpPr>
        <p:spPr>
          <a:xfrm>
            <a:off x="4851197" y="4782312"/>
            <a:ext cx="957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</a:t>
            </a:r>
            <a:endParaRPr lang="en-US" sz="2400" dirty="0"/>
          </a:p>
        </p:txBody>
      </p:sp>
      <p:sp>
        <p:nvSpPr>
          <p:cNvPr id="73" name="Shape 63"/>
          <p:cNvSpPr/>
          <p:nvPr/>
        </p:nvSpPr>
        <p:spPr>
          <a:xfrm>
            <a:off x="5786323" y="4797552"/>
            <a:ext cx="1296924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5786323" y="4782312"/>
            <a:ext cx="129692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euro</a:t>
            </a:r>
            <a:endParaRPr lang="en-US" sz="2400" dirty="0"/>
          </a:p>
        </p:txBody>
      </p:sp>
      <p:sp>
        <p:nvSpPr>
          <p:cNvPr id="75" name="Text 65"/>
          <p:cNvSpPr txBox="1"/>
          <p:nvPr/>
        </p:nvSpPr>
        <p:spPr>
          <a:xfrm>
            <a:off x="7083247" y="4782312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76" name="Shape 66"/>
          <p:cNvSpPr/>
          <p:nvPr/>
        </p:nvSpPr>
        <p:spPr>
          <a:xfrm>
            <a:off x="4263542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7"/>
          <p:cNvSpPr/>
          <p:nvPr/>
        </p:nvSpPr>
        <p:spPr>
          <a:xfrm>
            <a:off x="3886019" y="5215128"/>
            <a:ext cx="75504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8"/>
          <p:cNvSpPr txBox="1"/>
          <p:nvPr/>
        </p:nvSpPr>
        <p:spPr>
          <a:xfrm>
            <a:off x="3886019" y="5215128"/>
            <a:ext cx="75504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KOSTEN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6434785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0"/>
          <p:cNvSpPr/>
          <p:nvPr/>
        </p:nvSpPr>
        <p:spPr>
          <a:xfrm>
            <a:off x="6173343" y="5215128"/>
            <a:ext cx="52288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6173343" y="5215128"/>
            <a:ext cx="5228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prix</a:t>
            </a:r>
            <a:endParaRPr lang="en-US" sz="1050" dirty="0"/>
          </a:p>
        </p:txBody>
      </p:sp>
      <p:sp>
        <p:nvSpPr>
          <p:cNvPr id="82" name="Shape 72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4" name="Shape 74"/>
          <p:cNvSpPr/>
          <p:nvPr/>
        </p:nvSpPr>
        <p:spPr>
          <a:xfrm>
            <a:off x="1051560" y="5593080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5"/>
          <p:cNvSpPr txBox="1"/>
          <p:nvPr/>
        </p:nvSpPr>
        <p:spPr>
          <a:xfrm>
            <a:off x="1051560" y="5577840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86" name="Text 76"/>
          <p:cNvSpPr txBox="1"/>
          <p:nvPr/>
        </p:nvSpPr>
        <p:spPr>
          <a:xfrm>
            <a:off x="1933346" y="5577840"/>
            <a:ext cx="8866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</a:t>
            </a:r>
            <a:endParaRPr lang="en-US" sz="2400" dirty="0"/>
          </a:p>
        </p:txBody>
      </p:sp>
      <p:sp>
        <p:nvSpPr>
          <p:cNvPr id="87" name="Shape 77"/>
          <p:cNvSpPr/>
          <p:nvPr/>
        </p:nvSpPr>
        <p:spPr>
          <a:xfrm>
            <a:off x="2797454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2797454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89" name="Text 79"/>
          <p:cNvSpPr txBox="1"/>
          <p:nvPr/>
        </p:nvSpPr>
        <p:spPr>
          <a:xfrm>
            <a:off x="3618281" y="5577840"/>
            <a:ext cx="15980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bij me!</a:t>
            </a:r>
            <a:endParaRPr lang="en-US" sz="2400" dirty="0"/>
          </a:p>
        </p:txBody>
      </p:sp>
      <p:sp>
        <p:nvSpPr>
          <p:cNvPr id="90" name="Shape 80"/>
          <p:cNvSpPr/>
          <p:nvPr/>
        </p:nvSpPr>
        <p:spPr>
          <a:xfrm>
            <a:off x="1435151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1"/>
          <p:cNvSpPr/>
          <p:nvPr/>
        </p:nvSpPr>
        <p:spPr>
          <a:xfrm>
            <a:off x="1103567" y="601065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1103567" y="601065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93" name="Shape 83"/>
          <p:cNvSpPr/>
          <p:nvPr/>
        </p:nvSpPr>
        <p:spPr>
          <a:xfrm>
            <a:off x="3150565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4"/>
          <p:cNvSpPr/>
          <p:nvPr/>
        </p:nvSpPr>
        <p:spPr>
          <a:xfrm>
            <a:off x="2844117" y="6010656"/>
            <a:ext cx="61289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2844117" y="6010656"/>
            <a:ext cx="61289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de markt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9793" y="1704899"/>
            <a:ext cx="4324015" cy="472379"/>
          </a:xfrm>
          <a:prstGeom prst="roundRect">
            <a:avLst>
              <a:gd name="adj" fmla="val 580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19797" y="1738640"/>
            <a:ext cx="1504005" cy="404896"/>
          </a:xfrm>
          <a:prstGeom prst="roundRect">
            <a:avLst>
              <a:gd name="adj" fmla="val 180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19797" y="1738640"/>
            <a:ext cx="1504005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MARKT</a:t>
            </a:r>
            <a:endParaRPr lang="en-US" sz="1658" dirty="0"/>
          </a:p>
        </p:txBody>
      </p:sp>
      <p:pic>
        <p:nvPicPr>
          <p:cNvPr id="14" name="Image 1" descr="man far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798" y="2109795"/>
            <a:ext cx="1214689" cy="121468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93" y="3290743"/>
            <a:ext cx="4324015" cy="674827"/>
          </a:xfrm>
          <a:prstGeom prst="roundRect">
            <a:avLst>
              <a:gd name="adj" fmla="val 2710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red ap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793" y="2784622"/>
            <a:ext cx="506120" cy="506120"/>
          </a:xfrm>
          <a:prstGeom prst="rect">
            <a:avLst/>
          </a:prstGeom>
        </p:spPr>
      </p:pic>
      <p:pic>
        <p:nvPicPr>
          <p:cNvPr id="17" name="Image 3" descr="toma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95" y="2784622"/>
            <a:ext cx="506120" cy="506120"/>
          </a:xfrm>
          <a:prstGeom prst="rect">
            <a:avLst/>
          </a:prstGeom>
        </p:spPr>
      </p:pic>
      <p:pic>
        <p:nvPicPr>
          <p:cNvPr id="18" name="Image 4" descr="bana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5802" y="2784622"/>
            <a:ext cx="506120" cy="506120"/>
          </a:xfrm>
          <a:prstGeom prst="rect">
            <a:avLst/>
          </a:prstGeom>
        </p:spPr>
      </p:pic>
      <p:pic>
        <p:nvPicPr>
          <p:cNvPr id="19" name="Image 5" descr="strawber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6804" y="2784622"/>
            <a:ext cx="506120" cy="506120"/>
          </a:xfrm>
          <a:prstGeom prst="rect">
            <a:avLst/>
          </a:prstGeom>
        </p:spPr>
      </p:pic>
      <p:pic>
        <p:nvPicPr>
          <p:cNvPr id="20" name="Image 6" descr="carr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806" y="2784622"/>
            <a:ext cx="472379" cy="472379"/>
          </a:xfrm>
          <a:prstGeom prst="rect">
            <a:avLst/>
          </a:prstGeom>
        </p:spPr>
      </p:pic>
      <p:pic>
        <p:nvPicPr>
          <p:cNvPr id="21" name="Image 7" descr="bask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3804" y="3999311"/>
            <a:ext cx="809793" cy="809793"/>
          </a:xfrm>
          <a:prstGeom prst="rect">
            <a:avLst/>
          </a:prstGeom>
        </p:spPr>
      </p:pic>
      <p:pic>
        <p:nvPicPr>
          <p:cNvPr id="22" name="Image 8" descr="euro bankno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793" y="4100535"/>
            <a:ext cx="607344" cy="607344"/>
          </a:xfrm>
          <a:prstGeom prst="rect">
            <a:avLst/>
          </a:prstGeom>
        </p:spPr>
      </p:pic>
      <p:sp>
        <p:nvSpPr>
          <p:cNvPr id="23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4" name="Image 9" descr="MapMarke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Au marché</a:t>
            </a:r>
            <a:endParaRPr lang="en-US" sz="1500" dirty="0"/>
          </a:p>
        </p:txBody>
      </p:sp>
      <p:sp>
        <p:nvSpPr>
          <p:cNvPr id="26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Samedi matin, vous faites vos courses au marché. Racontez.</a:t>
            </a:r>
            <a:endParaRPr lang="en-US" sz="1300" dirty="0"/>
          </a:p>
        </p:txBody>
      </p:sp>
      <p:pic>
        <p:nvPicPr>
          <p:cNvPr id="27" name="Image 10" descr="PenNi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9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2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le jour : </a:t>
            </a:r>
            <a:r>
              <a:rPr lang="en-US" sz="1450" b="1" dirty="0">
                <a:solidFill>
                  <a:schemeClr val="tx1"/>
                </a:solidFill>
              </a:rPr>
              <a:t>OP ZATERDAG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3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4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6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Nommez trois fruits ou légumes au </a:t>
            </a:r>
            <a:r>
              <a:rPr lang="en-US" sz="1450" b="1" dirty="0">
                <a:solidFill>
                  <a:schemeClr val="tx1"/>
                </a:solidFill>
              </a:rPr>
              <a:t>pluriel</a:t>
            </a:r>
            <a:r>
              <a:rPr lang="en-US" sz="1450" dirty="0">
                <a:solidFill>
                  <a:schemeClr val="tx1"/>
                </a:solidFill>
              </a:rPr>
              <a:t> (-S / -EN).</a:t>
            </a:r>
            <a:endParaRPr lang="en-US" sz="1450" dirty="0"/>
          </a:p>
        </p:txBody>
      </p:sp>
      <p:sp>
        <p:nvSpPr>
          <p:cNvPr id="37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0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marché avec </a:t>
            </a:r>
            <a:r>
              <a:rPr lang="en-US" sz="1450" b="1" dirty="0">
                <a:solidFill>
                  <a:schemeClr val="tx1"/>
                </a:solidFill>
              </a:rPr>
              <a:t>ER IS</a:t>
            </a:r>
            <a:r>
              <a:rPr lang="en-US" sz="1450" dirty="0">
                <a:solidFill>
                  <a:schemeClr val="tx1"/>
                </a:solidFill>
              </a:rPr>
              <a:t> et / ou </a:t>
            </a:r>
            <a:r>
              <a:rPr lang="en-US" sz="1450" b="1" dirty="0">
                <a:solidFill>
                  <a:schemeClr val="tx1"/>
                </a:solidFill>
              </a:rPr>
              <a:t>ER 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4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au marchand avec </a:t>
            </a:r>
            <a:r>
              <a:rPr lang="en-US" sz="1450" b="1" dirty="0">
                <a:solidFill>
                  <a:schemeClr val="tx1"/>
                </a:solidFill>
              </a:rPr>
              <a:t>HOEVEEL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5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8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de markt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644" y="1445666"/>
            <a:ext cx="975848" cy="104973"/>
          </a:xfrm>
          <a:prstGeom prst="roundRect">
            <a:avLst>
              <a:gd name="adj" fmla="val 2613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5855" y="1453164"/>
            <a:ext cx="339425" cy="89977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45855" y="1453164"/>
            <a:ext cx="339425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MARKT</a:t>
            </a:r>
            <a:endParaRPr lang="en-US" sz="550" dirty="0"/>
          </a:p>
        </p:txBody>
      </p:sp>
      <p:pic>
        <p:nvPicPr>
          <p:cNvPr id="14" name="Image 1" descr="man far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84" y="1535643"/>
            <a:ext cx="269931" cy="26993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7644" y="1798076"/>
            <a:ext cx="975848" cy="149962"/>
          </a:xfrm>
          <a:prstGeom prst="roundRect">
            <a:avLst>
              <a:gd name="adj" fmla="val 12195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red ap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65" y="1685605"/>
            <a:ext cx="112471" cy="112471"/>
          </a:xfrm>
          <a:prstGeom prst="rect">
            <a:avLst/>
          </a:prstGeom>
        </p:spPr>
      </p:pic>
      <p:pic>
        <p:nvPicPr>
          <p:cNvPr id="17" name="Image 3" descr="toma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7" y="1685605"/>
            <a:ext cx="112471" cy="112471"/>
          </a:xfrm>
          <a:prstGeom prst="rect">
            <a:avLst/>
          </a:prstGeom>
        </p:spPr>
      </p:pic>
      <p:pic>
        <p:nvPicPr>
          <p:cNvPr id="18" name="Image 4" descr="bana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2852" y="1685605"/>
            <a:ext cx="112471" cy="112471"/>
          </a:xfrm>
          <a:prstGeom prst="rect">
            <a:avLst/>
          </a:prstGeom>
        </p:spPr>
      </p:pic>
      <p:pic>
        <p:nvPicPr>
          <p:cNvPr id="19" name="Image 5" descr="strawber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744" y="1685605"/>
            <a:ext cx="112471" cy="112471"/>
          </a:xfrm>
          <a:prstGeom prst="rect">
            <a:avLst/>
          </a:prstGeom>
        </p:spPr>
      </p:pic>
      <p:pic>
        <p:nvPicPr>
          <p:cNvPr id="20" name="Image 6" descr="carr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7421" y="1685605"/>
            <a:ext cx="104973" cy="104973"/>
          </a:xfrm>
          <a:prstGeom prst="rect">
            <a:avLst/>
          </a:prstGeom>
        </p:spPr>
      </p:pic>
      <p:pic>
        <p:nvPicPr>
          <p:cNvPr id="21" name="Image 7" descr="bask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1351" y="1955536"/>
            <a:ext cx="179954" cy="179954"/>
          </a:xfrm>
          <a:prstGeom prst="rect">
            <a:avLst/>
          </a:prstGeom>
        </p:spPr>
      </p:pic>
      <p:pic>
        <p:nvPicPr>
          <p:cNvPr id="22" name="Image 8" descr="euro bankno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858" y="1978030"/>
            <a:ext cx="134965" cy="134965"/>
          </a:xfrm>
          <a:prstGeom prst="rect">
            <a:avLst/>
          </a:prstGeom>
        </p:spPr>
      </p:pic>
      <p:sp>
        <p:nvSpPr>
          <p:cNvPr id="23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INVERSION</a:t>
            </a:r>
            <a:endParaRPr lang="en-US" sz="1300" dirty="0"/>
          </a:p>
        </p:txBody>
      </p:sp>
      <p:sp>
        <p:nvSpPr>
          <p:cNvPr id="27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PLURIEL</a:t>
            </a:r>
            <a:endParaRPr lang="en-US" sz="1300" dirty="0"/>
          </a:p>
        </p:txBody>
      </p:sp>
      <p:sp>
        <p:nvSpPr>
          <p:cNvPr id="31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ER IS / ER ZIJN</a:t>
            </a:r>
            <a:endParaRPr lang="en-US" sz="1300" dirty="0"/>
          </a:p>
        </p:txBody>
      </p:sp>
      <p:sp>
        <p:nvSpPr>
          <p:cNvPr id="35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HOEVEEL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NIET / GEEN</a:t>
            </a:r>
            <a:endParaRPr lang="en-US" sz="1300" dirty="0"/>
          </a:p>
        </p:txBody>
      </p:sp>
      <p:sp>
        <p:nvSpPr>
          <p:cNvPr id="43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5" name="Shape 33"/>
          <p:cNvSpPr/>
          <p:nvPr/>
        </p:nvSpPr>
        <p:spPr>
          <a:xfrm>
            <a:off x="1051560" y="2410968"/>
            <a:ext cx="2467356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4"/>
          <p:cNvSpPr txBox="1"/>
          <p:nvPr/>
        </p:nvSpPr>
        <p:spPr>
          <a:xfrm>
            <a:off x="1051560" y="2395728"/>
            <a:ext cx="246735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ben ik</a:t>
            </a:r>
            <a:endParaRPr lang="en-US" sz="2400" dirty="0"/>
          </a:p>
        </p:txBody>
      </p:sp>
      <p:sp>
        <p:nvSpPr>
          <p:cNvPr id="47" name="Text 35"/>
          <p:cNvSpPr txBox="1"/>
          <p:nvPr/>
        </p:nvSpPr>
        <p:spPr>
          <a:xfrm>
            <a:off x="3633521" y="2395728"/>
            <a:ext cx="269504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markt in Gent.</a:t>
            </a:r>
            <a:endParaRPr lang="en-US" sz="2400" dirty="0"/>
          </a:p>
        </p:txBody>
      </p:sp>
      <p:sp>
        <p:nvSpPr>
          <p:cNvPr id="48" name="Shape 36"/>
          <p:cNvSpPr/>
          <p:nvPr/>
        </p:nvSpPr>
        <p:spPr>
          <a:xfrm>
            <a:off x="228523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1820704" y="2828544"/>
            <a:ext cx="929069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1820704" y="2828544"/>
            <a:ext cx="9290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INVERSION</a:t>
            </a:r>
            <a:endParaRPr lang="en-US" sz="1050" dirty="0"/>
          </a:p>
        </p:txBody>
      </p:sp>
      <p:sp>
        <p:nvSpPr>
          <p:cNvPr id="51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1"/>
          <p:cNvSpPr txBox="1"/>
          <p:nvPr/>
        </p:nvSpPr>
        <p:spPr>
          <a:xfrm>
            <a:off x="1051560" y="3191256"/>
            <a:ext cx="10415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koop</a:t>
            </a:r>
            <a:endParaRPr lang="en-US" sz="2400" dirty="0"/>
          </a:p>
        </p:txBody>
      </p:sp>
      <p:sp>
        <p:nvSpPr>
          <p:cNvPr id="54" name="Shape 42"/>
          <p:cNvSpPr/>
          <p:nvPr/>
        </p:nvSpPr>
        <p:spPr>
          <a:xfrm>
            <a:off x="2070506" y="3206496"/>
            <a:ext cx="919277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2070506" y="3191256"/>
            <a:ext cx="91927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2400" dirty="0"/>
          </a:p>
        </p:txBody>
      </p:sp>
      <p:sp>
        <p:nvSpPr>
          <p:cNvPr id="56" name="Text 44"/>
          <p:cNvSpPr txBox="1"/>
          <p:nvPr/>
        </p:nvSpPr>
        <p:spPr>
          <a:xfrm>
            <a:off x="2989783" y="3191256"/>
            <a:ext cx="2133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400" dirty="0"/>
          </a:p>
        </p:txBody>
      </p:sp>
      <p:sp>
        <p:nvSpPr>
          <p:cNvPr id="57" name="Shape 45"/>
          <p:cNvSpPr/>
          <p:nvPr/>
        </p:nvSpPr>
        <p:spPr>
          <a:xfrm>
            <a:off x="3180588" y="3206496"/>
            <a:ext cx="1182319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3180588" y="3191256"/>
            <a:ext cx="11823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tomaten</a:t>
            </a:r>
            <a:endParaRPr lang="en-US" sz="2400" dirty="0"/>
          </a:p>
        </p:txBody>
      </p:sp>
      <p:sp>
        <p:nvSpPr>
          <p:cNvPr id="59" name="Text 47"/>
          <p:cNvSpPr txBox="1"/>
          <p:nvPr/>
        </p:nvSpPr>
        <p:spPr>
          <a:xfrm>
            <a:off x="4477512" y="3191256"/>
            <a:ext cx="100614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drie</a:t>
            </a:r>
            <a:endParaRPr lang="en-US" sz="2400" dirty="0"/>
          </a:p>
        </p:txBody>
      </p:sp>
      <p:sp>
        <p:nvSpPr>
          <p:cNvPr id="60" name="Shape 48"/>
          <p:cNvSpPr/>
          <p:nvPr/>
        </p:nvSpPr>
        <p:spPr>
          <a:xfrm>
            <a:off x="5461102" y="3206496"/>
            <a:ext cx="1200607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1" name="Text 49"/>
          <p:cNvSpPr txBox="1"/>
          <p:nvPr/>
        </p:nvSpPr>
        <p:spPr>
          <a:xfrm>
            <a:off x="5461102" y="3191256"/>
            <a:ext cx="120060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bananen</a:t>
            </a:r>
            <a:endParaRPr lang="en-US" sz="2400" dirty="0"/>
          </a:p>
        </p:txBody>
      </p:sp>
      <p:sp>
        <p:nvSpPr>
          <p:cNvPr id="62" name="Text 50"/>
          <p:cNvSpPr txBox="1"/>
          <p:nvPr/>
        </p:nvSpPr>
        <p:spPr>
          <a:xfrm>
            <a:off x="6661709" y="3191256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3" name="Shape 51"/>
          <p:cNvSpPr/>
          <p:nvPr/>
        </p:nvSpPr>
        <p:spPr>
          <a:xfrm>
            <a:off x="253014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4" name="Shape 52"/>
          <p:cNvSpPr/>
          <p:nvPr/>
        </p:nvSpPr>
        <p:spPr>
          <a:xfrm>
            <a:off x="2323243" y="3624072"/>
            <a:ext cx="41380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3"/>
          <p:cNvSpPr txBox="1"/>
          <p:nvPr/>
        </p:nvSpPr>
        <p:spPr>
          <a:xfrm>
            <a:off x="2323243" y="3624072"/>
            <a:ext cx="4138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-S</a:t>
            </a:r>
            <a:endParaRPr lang="en-US" sz="1050" dirty="0"/>
          </a:p>
        </p:txBody>
      </p:sp>
      <p:sp>
        <p:nvSpPr>
          <p:cNvPr id="66" name="Shape 54"/>
          <p:cNvSpPr/>
          <p:nvPr/>
        </p:nvSpPr>
        <p:spPr>
          <a:xfrm>
            <a:off x="377174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7" name="Shape 55"/>
          <p:cNvSpPr/>
          <p:nvPr/>
        </p:nvSpPr>
        <p:spPr>
          <a:xfrm>
            <a:off x="3519907" y="3624072"/>
            <a:ext cx="503682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6"/>
          <p:cNvSpPr txBox="1"/>
          <p:nvPr/>
        </p:nvSpPr>
        <p:spPr>
          <a:xfrm>
            <a:off x="3519907" y="3624072"/>
            <a:ext cx="50368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-EN</a:t>
            </a:r>
            <a:endParaRPr lang="en-US" sz="1050" dirty="0"/>
          </a:p>
        </p:txBody>
      </p:sp>
      <p:sp>
        <p:nvSpPr>
          <p:cNvPr id="69" name="Shape 57"/>
          <p:cNvSpPr/>
          <p:nvPr/>
        </p:nvSpPr>
        <p:spPr>
          <a:xfrm>
            <a:off x="606140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5809564" y="3624072"/>
            <a:ext cx="503682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5809564" y="3624072"/>
            <a:ext cx="50368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-EN</a:t>
            </a:r>
            <a:endParaRPr lang="en-US" sz="1050" dirty="0"/>
          </a:p>
        </p:txBody>
      </p:sp>
      <p:sp>
        <p:nvSpPr>
          <p:cNvPr id="72" name="Shape 60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1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4" name="Shape 62"/>
          <p:cNvSpPr/>
          <p:nvPr/>
        </p:nvSpPr>
        <p:spPr>
          <a:xfrm>
            <a:off x="1051560" y="4002024"/>
            <a:ext cx="85465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1051560" y="3986784"/>
            <a:ext cx="85465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zijn</a:t>
            </a:r>
            <a:endParaRPr lang="en-US" sz="2400" dirty="0"/>
          </a:p>
        </p:txBody>
      </p:sp>
      <p:sp>
        <p:nvSpPr>
          <p:cNvPr id="76" name="Text 64"/>
          <p:cNvSpPr txBox="1"/>
          <p:nvPr/>
        </p:nvSpPr>
        <p:spPr>
          <a:xfrm>
            <a:off x="2020824" y="3986784"/>
            <a:ext cx="208452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en</a:t>
            </a:r>
            <a:endParaRPr lang="en-US" sz="2400" dirty="0"/>
          </a:p>
        </p:txBody>
      </p:sp>
      <p:sp>
        <p:nvSpPr>
          <p:cNvPr id="77" name="Shape 65"/>
          <p:cNvSpPr/>
          <p:nvPr/>
        </p:nvSpPr>
        <p:spPr>
          <a:xfrm>
            <a:off x="4082796" y="4002024"/>
            <a:ext cx="61843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4082796" y="3986784"/>
            <a:ext cx="6184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</a:t>
            </a:r>
            <a:endParaRPr lang="en-US" sz="2400" dirty="0"/>
          </a:p>
        </p:txBody>
      </p:sp>
      <p:sp>
        <p:nvSpPr>
          <p:cNvPr id="79" name="Text 67"/>
          <p:cNvSpPr txBox="1"/>
          <p:nvPr/>
        </p:nvSpPr>
        <p:spPr>
          <a:xfrm>
            <a:off x="4815840" y="3986784"/>
            <a:ext cx="109849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muziek.</a:t>
            </a:r>
            <a:endParaRPr lang="en-US" sz="2400" dirty="0"/>
          </a:p>
        </p:txBody>
      </p:sp>
      <p:sp>
        <p:nvSpPr>
          <p:cNvPr id="80" name="Shape 68"/>
          <p:cNvSpPr/>
          <p:nvPr/>
        </p:nvSpPr>
        <p:spPr>
          <a:xfrm>
            <a:off x="147889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1" name="Shape 69"/>
          <p:cNvSpPr/>
          <p:nvPr/>
        </p:nvSpPr>
        <p:spPr>
          <a:xfrm>
            <a:off x="1123102" y="4419600"/>
            <a:ext cx="7115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0"/>
          <p:cNvSpPr txBox="1"/>
          <p:nvPr/>
        </p:nvSpPr>
        <p:spPr>
          <a:xfrm>
            <a:off x="1123102" y="4419600"/>
            <a:ext cx="7115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 ZIJN</a:t>
            </a:r>
            <a:endParaRPr lang="en-US" sz="1050" dirty="0"/>
          </a:p>
        </p:txBody>
      </p:sp>
      <p:sp>
        <p:nvSpPr>
          <p:cNvPr id="83" name="Shape 71"/>
          <p:cNvSpPr/>
          <p:nvPr/>
        </p:nvSpPr>
        <p:spPr>
          <a:xfrm>
            <a:off x="4392016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4" name="Shape 72"/>
          <p:cNvSpPr/>
          <p:nvPr/>
        </p:nvSpPr>
        <p:spPr>
          <a:xfrm>
            <a:off x="4102570" y="4419600"/>
            <a:ext cx="57889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3"/>
          <p:cNvSpPr txBox="1"/>
          <p:nvPr/>
        </p:nvSpPr>
        <p:spPr>
          <a:xfrm>
            <a:off x="4102570" y="4419600"/>
            <a:ext cx="57889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 IS</a:t>
            </a:r>
            <a:endParaRPr lang="en-US" sz="1050" dirty="0"/>
          </a:p>
        </p:txBody>
      </p:sp>
      <p:sp>
        <p:nvSpPr>
          <p:cNvPr id="86" name="Shape 74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8" name="Text 76"/>
          <p:cNvSpPr txBox="1"/>
          <p:nvPr/>
        </p:nvSpPr>
        <p:spPr>
          <a:xfrm>
            <a:off x="1051560" y="4782312"/>
            <a:ext cx="2645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400" dirty="0"/>
          </a:p>
        </p:txBody>
      </p:sp>
      <p:sp>
        <p:nvSpPr>
          <p:cNvPr id="89" name="Shape 77"/>
          <p:cNvSpPr/>
          <p:nvPr/>
        </p:nvSpPr>
        <p:spPr>
          <a:xfrm>
            <a:off x="1178966" y="4797552"/>
            <a:ext cx="1126846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1178966" y="4782312"/>
            <a:ext cx="112684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</a:t>
            </a:r>
            <a:endParaRPr lang="en-US" sz="2400" dirty="0"/>
          </a:p>
        </p:txBody>
      </p:sp>
      <p:sp>
        <p:nvSpPr>
          <p:cNvPr id="91" name="Text 79"/>
          <p:cNvSpPr txBox="1"/>
          <p:nvPr/>
        </p:nvSpPr>
        <p:spPr>
          <a:xfrm>
            <a:off x="2420417" y="4782312"/>
            <a:ext cx="4050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de aardbeien, meneer?”</a:t>
            </a:r>
            <a:endParaRPr lang="en-US" sz="2400" dirty="0"/>
          </a:p>
        </p:txBody>
      </p:sp>
      <p:sp>
        <p:nvSpPr>
          <p:cNvPr id="92" name="Shape 80"/>
          <p:cNvSpPr/>
          <p:nvPr/>
        </p:nvSpPr>
        <p:spPr>
          <a:xfrm>
            <a:off x="1742389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3" name="Shape 81"/>
          <p:cNvSpPr/>
          <p:nvPr/>
        </p:nvSpPr>
        <p:spPr>
          <a:xfrm>
            <a:off x="1335062" y="5215128"/>
            <a:ext cx="8146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82"/>
          <p:cNvSpPr txBox="1"/>
          <p:nvPr/>
        </p:nvSpPr>
        <p:spPr>
          <a:xfrm>
            <a:off x="1335062" y="5215128"/>
            <a:ext cx="8146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HOEVEEL</a:t>
            </a:r>
            <a:endParaRPr lang="en-US" sz="1050" dirty="0"/>
          </a:p>
        </p:txBody>
      </p:sp>
      <p:sp>
        <p:nvSpPr>
          <p:cNvPr id="95" name="Shape 8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7" name="Text 85"/>
          <p:cNvSpPr txBox="1"/>
          <p:nvPr/>
        </p:nvSpPr>
        <p:spPr>
          <a:xfrm>
            <a:off x="1051560" y="5577840"/>
            <a:ext cx="145542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Oei, ik heb</a:t>
            </a:r>
            <a:endParaRPr lang="en-US" sz="2400" dirty="0"/>
          </a:p>
        </p:txBody>
      </p:sp>
      <p:sp>
        <p:nvSpPr>
          <p:cNvPr id="98" name="Shape 86"/>
          <p:cNvSpPr/>
          <p:nvPr/>
        </p:nvSpPr>
        <p:spPr>
          <a:xfrm>
            <a:off x="2484425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9" name="Text 87"/>
          <p:cNvSpPr txBox="1"/>
          <p:nvPr/>
        </p:nvSpPr>
        <p:spPr>
          <a:xfrm>
            <a:off x="2484425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100" name="Text 88"/>
          <p:cNvSpPr txBox="1"/>
          <p:nvPr/>
        </p:nvSpPr>
        <p:spPr>
          <a:xfrm>
            <a:off x="3305251" y="5577840"/>
            <a:ext cx="143987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bij me!</a:t>
            </a:r>
            <a:endParaRPr lang="en-US" sz="2400" dirty="0"/>
          </a:p>
        </p:txBody>
      </p:sp>
      <p:sp>
        <p:nvSpPr>
          <p:cNvPr id="101" name="Shape 89"/>
          <p:cNvSpPr/>
          <p:nvPr/>
        </p:nvSpPr>
        <p:spPr>
          <a:xfrm>
            <a:off x="2837536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2" name="Shape 90"/>
          <p:cNvSpPr/>
          <p:nvPr/>
        </p:nvSpPr>
        <p:spPr>
          <a:xfrm>
            <a:off x="2344998" y="6010656"/>
            <a:ext cx="98507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Text 91"/>
          <p:cNvSpPr txBox="1"/>
          <p:nvPr/>
        </p:nvSpPr>
        <p:spPr>
          <a:xfrm>
            <a:off x="2344998" y="6010656"/>
            <a:ext cx="9850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NIET / GEEN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collega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1495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172797" y="1738640"/>
            <a:ext cx="1598005" cy="438638"/>
          </a:xfrm>
          <a:prstGeom prst="roundRect">
            <a:avLst>
              <a:gd name="adj" fmla="val 1667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72797" y="1738640"/>
            <a:ext cx="1598005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WELKOM!</a:t>
            </a:r>
            <a:endParaRPr lang="en-US" sz="1796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548433"/>
            <a:ext cx="1754551" cy="1754551"/>
          </a:xfrm>
          <a:prstGeom prst="rect">
            <a:avLst/>
          </a:prstGeom>
        </p:spPr>
      </p:pic>
      <p:pic>
        <p:nvPicPr>
          <p:cNvPr id="15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801" y="2548433"/>
            <a:ext cx="1754551" cy="1754551"/>
          </a:xfrm>
          <a:prstGeom prst="rect">
            <a:avLst/>
          </a:prstGeom>
        </p:spPr>
      </p:pic>
      <p:pic>
        <p:nvPicPr>
          <p:cNvPr id="16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99" y="2548433"/>
            <a:ext cx="573603" cy="573603"/>
          </a:xfrm>
          <a:prstGeom prst="rect">
            <a:avLst/>
          </a:prstGeom>
        </p:spPr>
      </p:pic>
      <p:pic>
        <p:nvPicPr>
          <p:cNvPr id="17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799" y="3560674"/>
            <a:ext cx="674827" cy="674827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Le nouveau collègue</a:t>
            </a:r>
            <a:endParaRPr lang="en-US" sz="1500" dirty="0"/>
          </a:p>
        </p:txBody>
      </p:sp>
      <p:sp>
        <p:nvSpPr>
          <p:cNvPr id="21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Un·e nouveau·elle collègue arrive. Présentez-le ou présentez-la à l’équipe.</a:t>
            </a:r>
            <a:endParaRPr lang="en-US" sz="1300" dirty="0"/>
          </a:p>
        </p:txBody>
      </p:sp>
      <p:pic>
        <p:nvPicPr>
          <p:cNvPr id="22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son nom et son pays avec </a:t>
            </a:r>
            <a:r>
              <a:rPr lang="en-US" sz="1450" b="1" dirty="0">
                <a:solidFill>
                  <a:schemeClr val="tx1"/>
                </a:solidFill>
              </a:rPr>
              <a:t>HEET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KOMT UIT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son âge avec </a:t>
            </a:r>
            <a:r>
              <a:rPr lang="en-US" sz="1450" b="1" dirty="0">
                <a:solidFill>
                  <a:schemeClr val="tx1"/>
                </a:solidFill>
              </a:rPr>
              <a:t>IS … JAAR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son métier avec </a:t>
            </a:r>
            <a:r>
              <a:rPr lang="en-US" sz="1450" b="1" dirty="0">
                <a:solidFill>
                  <a:schemeClr val="tx1"/>
                </a:solidFill>
              </a:rPr>
              <a:t>WERKT ALS</a:t>
            </a:r>
            <a:r>
              <a:rPr lang="en-US" sz="1450" dirty="0">
                <a:solidFill>
                  <a:schemeClr val="tx1"/>
                </a:solidFill>
              </a:rPr>
              <a:t> + profession.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possessif :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HAAR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0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 détail amusant avec </a:t>
            </a:r>
            <a:r>
              <a:rPr lang="en-US" sz="1450" b="1" dirty="0">
                <a:solidFill>
                  <a:schemeClr val="tx1"/>
                </a:solidFill>
              </a:rPr>
              <a:t>GRAAG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collega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36791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5248" y="1453164"/>
            <a:ext cx="360639" cy="97475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5248" y="1453164"/>
            <a:ext cx="360639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WELKOM!</a:t>
            </a:r>
            <a:endParaRPr lang="en-US" sz="55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33118"/>
            <a:ext cx="389900" cy="389900"/>
          </a:xfrm>
          <a:prstGeom prst="rect">
            <a:avLst/>
          </a:prstGeom>
        </p:spPr>
      </p:pic>
      <p:pic>
        <p:nvPicPr>
          <p:cNvPr id="15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31" y="1633118"/>
            <a:ext cx="389900" cy="389900"/>
          </a:xfrm>
          <a:prstGeom prst="rect">
            <a:avLst/>
          </a:prstGeom>
        </p:spPr>
      </p:pic>
      <p:pic>
        <p:nvPicPr>
          <p:cNvPr id="16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319" y="1633118"/>
            <a:ext cx="127467" cy="127467"/>
          </a:xfrm>
          <a:prstGeom prst="rect">
            <a:avLst/>
          </a:prstGeom>
        </p:spPr>
      </p:pic>
      <p:pic>
        <p:nvPicPr>
          <p:cNvPr id="17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319" y="1858061"/>
            <a:ext cx="149962" cy="149962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HEET / KOMT UIT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IS … JAAR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WERKT ALS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ZIJN / HAAR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GRAAG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2"/>
          <p:cNvSpPr txBox="1"/>
          <p:nvPr/>
        </p:nvSpPr>
        <p:spPr>
          <a:xfrm>
            <a:off x="1051560" y="2395728"/>
            <a:ext cx="37907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onze nieuwe collega: hij</a:t>
            </a:r>
            <a:endParaRPr lang="en-US" sz="2400" dirty="0"/>
          </a:p>
        </p:txBody>
      </p:sp>
      <p:sp>
        <p:nvSpPr>
          <p:cNvPr id="41" name="Shape 33"/>
          <p:cNvSpPr/>
          <p:nvPr/>
        </p:nvSpPr>
        <p:spPr>
          <a:xfrm>
            <a:off x="4819802" y="2410968"/>
            <a:ext cx="667512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4819802" y="2395728"/>
            <a:ext cx="66751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heet</a:t>
            </a:r>
            <a:endParaRPr lang="en-US" sz="2400" dirty="0"/>
          </a:p>
        </p:txBody>
      </p:sp>
      <p:sp>
        <p:nvSpPr>
          <p:cNvPr id="43" name="Text 35"/>
          <p:cNvSpPr txBox="1"/>
          <p:nvPr/>
        </p:nvSpPr>
        <p:spPr>
          <a:xfrm>
            <a:off x="5601919" y="2395728"/>
            <a:ext cx="15718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en hij</a:t>
            </a:r>
            <a:endParaRPr lang="en-US" sz="2400" dirty="0"/>
          </a:p>
        </p:txBody>
      </p:sp>
      <p:sp>
        <p:nvSpPr>
          <p:cNvPr id="44" name="Shape 36"/>
          <p:cNvSpPr/>
          <p:nvPr/>
        </p:nvSpPr>
        <p:spPr>
          <a:xfrm>
            <a:off x="7151218" y="2410968"/>
            <a:ext cx="1168603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7151218" y="2395728"/>
            <a:ext cx="116860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komt uit</a:t>
            </a:r>
            <a:endParaRPr lang="en-US" sz="2400" dirty="0"/>
          </a:p>
        </p:txBody>
      </p:sp>
      <p:sp>
        <p:nvSpPr>
          <p:cNvPr id="46" name="Text 38"/>
          <p:cNvSpPr txBox="1"/>
          <p:nvPr/>
        </p:nvSpPr>
        <p:spPr>
          <a:xfrm>
            <a:off x="8434426" y="2395728"/>
            <a:ext cx="129296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Frankrijk.</a:t>
            </a:r>
            <a:endParaRPr lang="en-US" sz="2400" dirty="0"/>
          </a:p>
        </p:txBody>
      </p:sp>
      <p:sp>
        <p:nvSpPr>
          <p:cNvPr id="47" name="Shape 39"/>
          <p:cNvSpPr/>
          <p:nvPr/>
        </p:nvSpPr>
        <p:spPr>
          <a:xfrm>
            <a:off x="515355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4858445" y="2828544"/>
            <a:ext cx="59022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4858445" y="2828544"/>
            <a:ext cx="59022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HEET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7735519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7298322" y="2828544"/>
            <a:ext cx="87439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298322" y="2828544"/>
            <a:ext cx="87439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KOMT UIT</a:t>
            </a:r>
            <a:endParaRPr 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5" name="Text 47"/>
          <p:cNvSpPr txBox="1"/>
          <p:nvPr/>
        </p:nvSpPr>
        <p:spPr>
          <a:xfrm>
            <a:off x="1051560" y="3191256"/>
            <a:ext cx="4700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</a:t>
            </a:r>
            <a:endParaRPr lang="en-US" sz="2400" dirty="0"/>
          </a:p>
        </p:txBody>
      </p:sp>
      <p:sp>
        <p:nvSpPr>
          <p:cNvPr id="56" name="Shape 48"/>
          <p:cNvSpPr/>
          <p:nvPr/>
        </p:nvSpPr>
        <p:spPr>
          <a:xfrm>
            <a:off x="1499006" y="3206496"/>
            <a:ext cx="2373478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1499006" y="3191256"/>
            <a:ext cx="237347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vijfendertig jaar</a:t>
            </a:r>
            <a:endParaRPr lang="en-US" sz="2400" dirty="0"/>
          </a:p>
        </p:txBody>
      </p:sp>
      <p:sp>
        <p:nvSpPr>
          <p:cNvPr id="58" name="Text 50"/>
          <p:cNvSpPr txBox="1"/>
          <p:nvPr/>
        </p:nvSpPr>
        <p:spPr>
          <a:xfrm>
            <a:off x="3987089" y="3191256"/>
            <a:ext cx="6946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oud.</a:t>
            </a:r>
            <a:endParaRPr lang="en-US" sz="2400" dirty="0"/>
          </a:p>
        </p:txBody>
      </p:sp>
      <p:sp>
        <p:nvSpPr>
          <p:cNvPr id="59" name="Shape 51"/>
          <p:cNvSpPr/>
          <p:nvPr/>
        </p:nvSpPr>
        <p:spPr>
          <a:xfrm>
            <a:off x="268574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2"/>
          <p:cNvSpPr/>
          <p:nvPr/>
        </p:nvSpPr>
        <p:spPr>
          <a:xfrm>
            <a:off x="2263483" y="3624072"/>
            <a:ext cx="8445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2263483" y="3624072"/>
            <a:ext cx="8445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IS … JAAR</a:t>
            </a:r>
            <a:endParaRPr lang="en-US" sz="1050" dirty="0"/>
          </a:p>
        </p:txBody>
      </p:sp>
      <p:sp>
        <p:nvSpPr>
          <p:cNvPr id="62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4" name="Text 56"/>
          <p:cNvSpPr txBox="1"/>
          <p:nvPr/>
        </p:nvSpPr>
        <p:spPr>
          <a:xfrm>
            <a:off x="1051560" y="3986784"/>
            <a:ext cx="4700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</a:t>
            </a:r>
            <a:endParaRPr lang="en-US" sz="2400" dirty="0"/>
          </a:p>
        </p:txBody>
      </p:sp>
      <p:sp>
        <p:nvSpPr>
          <p:cNvPr id="65" name="Shape 57"/>
          <p:cNvSpPr/>
          <p:nvPr/>
        </p:nvSpPr>
        <p:spPr>
          <a:xfrm>
            <a:off x="1499006" y="4002024"/>
            <a:ext cx="1248156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1499006" y="3986784"/>
            <a:ext cx="124815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 als</a:t>
            </a:r>
            <a:endParaRPr lang="en-US" sz="2400" dirty="0"/>
          </a:p>
        </p:txBody>
      </p:sp>
      <p:sp>
        <p:nvSpPr>
          <p:cNvPr id="67" name="Text 59"/>
          <p:cNvSpPr txBox="1"/>
          <p:nvPr/>
        </p:nvSpPr>
        <p:spPr>
          <a:xfrm>
            <a:off x="2861767" y="3986784"/>
            <a:ext cx="32439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boekhouder in ons team.</a:t>
            </a:r>
            <a:endParaRPr lang="en-US" sz="2400" dirty="0"/>
          </a:p>
        </p:txBody>
      </p:sp>
      <p:sp>
        <p:nvSpPr>
          <p:cNvPr id="68" name="Shape 60"/>
          <p:cNvSpPr/>
          <p:nvPr/>
        </p:nvSpPr>
        <p:spPr>
          <a:xfrm>
            <a:off x="212308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1652949" y="4419600"/>
            <a:ext cx="94027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1652949" y="4419600"/>
            <a:ext cx="94027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WERKT ALS</a:t>
            </a:r>
            <a:endParaRPr lang="en-US" sz="1050" dirty="0"/>
          </a:p>
        </p:txBody>
      </p:sp>
      <p:sp>
        <p:nvSpPr>
          <p:cNvPr id="71" name="Shape 63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3" name="Shape 65"/>
          <p:cNvSpPr/>
          <p:nvPr/>
        </p:nvSpPr>
        <p:spPr>
          <a:xfrm>
            <a:off x="1051560" y="4797552"/>
            <a:ext cx="553517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1051560" y="4782312"/>
            <a:ext cx="55351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75" name="Text 67"/>
          <p:cNvSpPr txBox="1"/>
          <p:nvPr/>
        </p:nvSpPr>
        <p:spPr>
          <a:xfrm>
            <a:off x="1719682" y="4782312"/>
            <a:ext cx="26371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vrouw is Belgisch en</a:t>
            </a:r>
            <a:endParaRPr lang="en-US" sz="2400" dirty="0"/>
          </a:p>
        </p:txBody>
      </p:sp>
      <p:sp>
        <p:nvSpPr>
          <p:cNvPr id="76" name="Shape 68"/>
          <p:cNvSpPr/>
          <p:nvPr/>
        </p:nvSpPr>
        <p:spPr>
          <a:xfrm>
            <a:off x="4334256" y="4797552"/>
            <a:ext cx="528828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4334256" y="4782312"/>
            <a:ext cx="52882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78" name="Text 70"/>
          <p:cNvSpPr txBox="1"/>
          <p:nvPr/>
        </p:nvSpPr>
        <p:spPr>
          <a:xfrm>
            <a:off x="4977689" y="4782312"/>
            <a:ext cx="386059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spreken Nederlands.</a:t>
            </a:r>
            <a:endParaRPr lang="en-US" sz="2400" dirty="0"/>
          </a:p>
        </p:txBody>
      </p:sp>
      <p:sp>
        <p:nvSpPr>
          <p:cNvPr id="79" name="Shape 71"/>
          <p:cNvSpPr/>
          <p:nvPr/>
        </p:nvSpPr>
        <p:spPr>
          <a:xfrm>
            <a:off x="1328318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1057675" y="5215128"/>
            <a:ext cx="54128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1057675" y="5215128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ZIJN</a:t>
            </a:r>
            <a:endParaRPr lang="en-US" sz="1050" dirty="0"/>
          </a:p>
        </p:txBody>
      </p:sp>
      <p:sp>
        <p:nvSpPr>
          <p:cNvPr id="82" name="Shape 74"/>
          <p:cNvSpPr/>
          <p:nvPr/>
        </p:nvSpPr>
        <p:spPr>
          <a:xfrm>
            <a:off x="459867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4328027" y="5215128"/>
            <a:ext cx="54128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6"/>
          <p:cNvSpPr txBox="1"/>
          <p:nvPr/>
        </p:nvSpPr>
        <p:spPr>
          <a:xfrm>
            <a:off x="4328027" y="5215128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ZIJN</a:t>
            </a:r>
            <a:endParaRPr lang="en-US" sz="1050" dirty="0"/>
          </a:p>
        </p:txBody>
      </p:sp>
      <p:sp>
        <p:nvSpPr>
          <p:cNvPr id="85" name="Shape 77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7" name="Text 79"/>
          <p:cNvSpPr txBox="1"/>
          <p:nvPr/>
        </p:nvSpPr>
        <p:spPr>
          <a:xfrm>
            <a:off x="1051560" y="5577840"/>
            <a:ext cx="157398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hij danst</a:t>
            </a:r>
            <a:endParaRPr lang="en-US" sz="2400" dirty="0"/>
          </a:p>
        </p:txBody>
      </p:sp>
      <p:sp>
        <p:nvSpPr>
          <p:cNvPr id="88" name="Shape 80"/>
          <p:cNvSpPr/>
          <p:nvPr/>
        </p:nvSpPr>
        <p:spPr>
          <a:xfrm>
            <a:off x="2602992" y="5593080"/>
            <a:ext cx="789737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2602992" y="5577840"/>
            <a:ext cx="78973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graag</a:t>
            </a:r>
            <a:endParaRPr lang="en-US" sz="2400" dirty="0"/>
          </a:p>
        </p:txBody>
      </p:sp>
      <p:sp>
        <p:nvSpPr>
          <p:cNvPr id="90" name="Text 82"/>
          <p:cNvSpPr txBox="1"/>
          <p:nvPr/>
        </p:nvSpPr>
        <p:spPr>
          <a:xfrm>
            <a:off x="3507334" y="5577840"/>
            <a:ext cx="248015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salsa… op kantoor!</a:t>
            </a:r>
            <a:endParaRPr lang="en-US" sz="2400" dirty="0"/>
          </a:p>
        </p:txBody>
      </p:sp>
      <p:sp>
        <p:nvSpPr>
          <p:cNvPr id="91" name="Shape 83"/>
          <p:cNvSpPr/>
          <p:nvPr/>
        </p:nvSpPr>
        <p:spPr>
          <a:xfrm>
            <a:off x="2997860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2639606" y="6010656"/>
            <a:ext cx="71650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2639606" y="6010656"/>
            <a:ext cx="71650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GRAAG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huis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1495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41802" y="1873606"/>
            <a:ext cx="1410005" cy="1349654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146804" y="1873606"/>
            <a:ext cx="914" cy="134965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41802" y="2548433"/>
            <a:ext cx="1410005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pic>
        <p:nvPicPr>
          <p:cNvPr id="15" name="Image 1" descr="sun behind 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803" y="2042312"/>
            <a:ext cx="472379" cy="472379"/>
          </a:xfrm>
          <a:prstGeom prst="rect">
            <a:avLst/>
          </a:prstGeom>
        </p:spPr>
      </p:pic>
      <p:pic>
        <p:nvPicPr>
          <p:cNvPr id="16" name="Image 2" descr="framed pict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794" y="1806123"/>
            <a:ext cx="674827" cy="674827"/>
          </a:xfrm>
          <a:prstGeom prst="rect">
            <a:avLst/>
          </a:prstGeom>
        </p:spPr>
      </p:pic>
      <p:pic>
        <p:nvPicPr>
          <p:cNvPr id="17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93" y="2683398"/>
            <a:ext cx="1552103" cy="1552103"/>
          </a:xfrm>
          <a:prstGeom prst="rect">
            <a:avLst/>
          </a:prstGeom>
        </p:spPr>
      </p:pic>
      <p:pic>
        <p:nvPicPr>
          <p:cNvPr id="18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805" y="3155777"/>
            <a:ext cx="843534" cy="843534"/>
          </a:xfrm>
          <a:prstGeom prst="rect">
            <a:avLst/>
          </a:prstGeom>
        </p:spPr>
      </p:pic>
      <p:pic>
        <p:nvPicPr>
          <p:cNvPr id="19" name="Image 5" descr="ke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3830604"/>
            <a:ext cx="506120" cy="50612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1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Mon logement</a:t>
            </a:r>
            <a:endParaRPr lang="en-US" sz="1500" dirty="0"/>
          </a:p>
        </p:txBody>
      </p:sp>
      <p:sp>
        <p:nvSpPr>
          <p:cNvPr id="23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un nouvel appartement. Décrivez-le à un·e ami·e par message.</a:t>
            </a:r>
            <a:endParaRPr lang="en-US" sz="1300" dirty="0"/>
          </a:p>
        </p:txBody>
      </p:sp>
      <p:pic>
        <p:nvPicPr>
          <p:cNvPr id="24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où vous habitez avec </a:t>
            </a:r>
            <a:r>
              <a:rPr lang="en-US" sz="1450" b="1" dirty="0">
                <a:solidFill>
                  <a:schemeClr val="tx1"/>
                </a:solidFill>
              </a:rPr>
              <a:t>WONEN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IN</a:t>
            </a:r>
            <a:r>
              <a:rPr lang="en-US" sz="1450" dirty="0">
                <a:solidFill>
                  <a:schemeClr val="tx1"/>
                </a:solidFill>
              </a:rPr>
              <a:t> + ville.</a:t>
            </a:r>
            <a:endParaRPr lang="en-US" sz="1450" dirty="0"/>
          </a:p>
        </p:txBody>
      </p:sp>
      <p:sp>
        <p:nvSpPr>
          <p:cNvPr id="30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le nombre de pièces avec </a:t>
            </a:r>
            <a:r>
              <a:rPr lang="en-US" sz="1450" b="1" dirty="0">
                <a:solidFill>
                  <a:schemeClr val="tx1"/>
                </a:solidFill>
              </a:rPr>
              <a:t>HEBBEN</a:t>
            </a:r>
            <a:r>
              <a:rPr lang="en-US" sz="1450" dirty="0">
                <a:solidFill>
                  <a:schemeClr val="tx1"/>
                </a:solidFill>
              </a:rPr>
              <a:t> + nombre.</a:t>
            </a:r>
            <a:endParaRPr lang="en-US" sz="1450" dirty="0"/>
          </a:p>
        </p:txBody>
      </p:sp>
      <p:sp>
        <p:nvSpPr>
          <p:cNvPr id="34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avec deux adjectifs :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8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un meuble avec </a:t>
            </a:r>
            <a:r>
              <a:rPr lang="en-US" sz="1450" b="1" dirty="0">
                <a:solidFill>
                  <a:schemeClr val="tx1"/>
                </a:solidFill>
              </a:rPr>
              <a:t>NAAST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ONDER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OP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IN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2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huis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36791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21638" y="1483157"/>
            <a:ext cx="318211" cy="299923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0744" y="1483157"/>
            <a:ext cx="914" cy="299923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221638" y="1633118"/>
            <a:ext cx="318211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pic>
        <p:nvPicPr>
          <p:cNvPr id="15" name="Image 1" descr="sun behind 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495" y="1520647"/>
            <a:ext cx="104973" cy="104973"/>
          </a:xfrm>
          <a:prstGeom prst="rect">
            <a:avLst/>
          </a:prstGeom>
        </p:spPr>
      </p:pic>
      <p:pic>
        <p:nvPicPr>
          <p:cNvPr id="16" name="Image 2" descr="framed pict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15" y="1468161"/>
            <a:ext cx="149962" cy="149962"/>
          </a:xfrm>
          <a:prstGeom prst="rect">
            <a:avLst/>
          </a:prstGeom>
        </p:spPr>
      </p:pic>
      <p:pic>
        <p:nvPicPr>
          <p:cNvPr id="17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44" y="1663111"/>
            <a:ext cx="344912" cy="344912"/>
          </a:xfrm>
          <a:prstGeom prst="rect">
            <a:avLst/>
          </a:prstGeom>
        </p:spPr>
      </p:pic>
      <p:pic>
        <p:nvPicPr>
          <p:cNvPr id="18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3779" y="1768084"/>
            <a:ext cx="187452" cy="187452"/>
          </a:xfrm>
          <a:prstGeom prst="rect">
            <a:avLst/>
          </a:prstGeom>
        </p:spPr>
      </p:pic>
      <p:pic>
        <p:nvPicPr>
          <p:cNvPr id="19" name="Image 5" descr="ke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1918045"/>
            <a:ext cx="112471" cy="112471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WONEN IN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HEEFT + nombre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PRÉPOSITION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1051560" y="2395728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43" name="Shape 34"/>
          <p:cNvSpPr/>
          <p:nvPr/>
        </p:nvSpPr>
        <p:spPr>
          <a:xfrm>
            <a:off x="1381658" y="2410968"/>
            <a:ext cx="1513942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1381658" y="2395728"/>
            <a:ext cx="151394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 nu in</a:t>
            </a:r>
            <a:endParaRPr lang="en-US" sz="2400" dirty="0"/>
          </a:p>
        </p:txBody>
      </p:sp>
      <p:sp>
        <p:nvSpPr>
          <p:cNvPr id="45" name="Text 36"/>
          <p:cNvSpPr txBox="1"/>
          <p:nvPr/>
        </p:nvSpPr>
        <p:spPr>
          <a:xfrm>
            <a:off x="3010205" y="2395728"/>
            <a:ext cx="352470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Leuven, vlak bij het station.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2138629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1680962" y="2828544"/>
            <a:ext cx="91533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9"/>
          <p:cNvSpPr txBox="1"/>
          <p:nvPr/>
        </p:nvSpPr>
        <p:spPr>
          <a:xfrm>
            <a:off x="1680962" y="2828544"/>
            <a:ext cx="91533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WONEN IN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1051560" y="3191256"/>
            <a:ext cx="23993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appartement</a:t>
            </a:r>
            <a:endParaRPr lang="en-US" sz="2400" dirty="0"/>
          </a:p>
        </p:txBody>
      </p:sp>
      <p:sp>
        <p:nvSpPr>
          <p:cNvPr id="52" name="Shape 43"/>
          <p:cNvSpPr/>
          <p:nvPr/>
        </p:nvSpPr>
        <p:spPr>
          <a:xfrm>
            <a:off x="3428390" y="3206496"/>
            <a:ext cx="1472184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3428390" y="3191256"/>
            <a:ext cx="14721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twee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5015179" y="3191256"/>
            <a:ext cx="357835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slaapkamers en een balkon.</a:t>
            </a:r>
            <a:endParaRPr lang="en-US" sz="2400" dirty="0"/>
          </a:p>
        </p:txBody>
      </p:sp>
      <p:sp>
        <p:nvSpPr>
          <p:cNvPr id="55" name="Shape 46"/>
          <p:cNvSpPr/>
          <p:nvPr/>
        </p:nvSpPr>
        <p:spPr>
          <a:xfrm>
            <a:off x="4164482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3556530" y="3624072"/>
            <a:ext cx="121590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556530" y="3624072"/>
            <a:ext cx="12159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HEEFT + nombre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0" name="Text 51"/>
          <p:cNvSpPr txBox="1"/>
          <p:nvPr/>
        </p:nvSpPr>
        <p:spPr>
          <a:xfrm>
            <a:off x="1051560" y="3986784"/>
            <a:ext cx="14258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 een</a:t>
            </a:r>
            <a:endParaRPr lang="en-US" sz="2400" dirty="0"/>
          </a:p>
        </p:txBody>
      </p:sp>
      <p:sp>
        <p:nvSpPr>
          <p:cNvPr id="61" name="Shape 52"/>
          <p:cNvSpPr/>
          <p:nvPr/>
        </p:nvSpPr>
        <p:spPr>
          <a:xfrm>
            <a:off x="2454859" y="4002024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2454859" y="3986784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grote</a:t>
            </a:r>
            <a:endParaRPr lang="en-US" sz="2400" dirty="0"/>
          </a:p>
        </p:txBody>
      </p:sp>
      <p:sp>
        <p:nvSpPr>
          <p:cNvPr id="63" name="Text 54"/>
          <p:cNvSpPr txBox="1"/>
          <p:nvPr/>
        </p:nvSpPr>
        <p:spPr>
          <a:xfrm>
            <a:off x="3336646" y="3986784"/>
            <a:ext cx="33540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keuken en de woonkamer</a:t>
            </a:r>
            <a:endParaRPr lang="en-US" sz="2400" dirty="0"/>
          </a:p>
        </p:txBody>
      </p:sp>
      <p:sp>
        <p:nvSpPr>
          <p:cNvPr id="64" name="Shape 55"/>
          <p:cNvSpPr/>
          <p:nvPr/>
        </p:nvSpPr>
        <p:spPr>
          <a:xfrm>
            <a:off x="6668110" y="4002024"/>
            <a:ext cx="129844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6668110" y="3986784"/>
            <a:ext cx="12984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400" dirty="0"/>
          </a:p>
        </p:txBody>
      </p:sp>
      <p:sp>
        <p:nvSpPr>
          <p:cNvPr id="66" name="Text 57"/>
          <p:cNvSpPr txBox="1"/>
          <p:nvPr/>
        </p:nvSpPr>
        <p:spPr>
          <a:xfrm>
            <a:off x="7966558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7" name="Shape 58"/>
          <p:cNvSpPr/>
          <p:nvPr/>
        </p:nvSpPr>
        <p:spPr>
          <a:xfrm>
            <a:off x="283845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2186026" y="4419600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2186026" y="4419600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QUALIFICATIF + -E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731733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6886670" y="4419600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6886670" y="4419600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ATTRIBUT</a:t>
            </a:r>
            <a:endParaRPr lang="en-US" sz="1050" dirty="0"/>
          </a:p>
        </p:txBody>
      </p:sp>
      <p:sp>
        <p:nvSpPr>
          <p:cNvPr id="73" name="Shape 64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5" name="Text 66"/>
          <p:cNvSpPr txBox="1"/>
          <p:nvPr/>
        </p:nvSpPr>
        <p:spPr>
          <a:xfrm>
            <a:off x="1051560" y="4782312"/>
            <a:ext cx="18342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bank staat</a:t>
            </a:r>
            <a:endParaRPr lang="en-US" sz="2400" dirty="0"/>
          </a:p>
        </p:txBody>
      </p:sp>
      <p:sp>
        <p:nvSpPr>
          <p:cNvPr id="76" name="Shape 67"/>
          <p:cNvSpPr/>
          <p:nvPr/>
        </p:nvSpPr>
        <p:spPr>
          <a:xfrm>
            <a:off x="2863291" y="4797552"/>
            <a:ext cx="78364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8"/>
          <p:cNvSpPr txBox="1"/>
          <p:nvPr/>
        </p:nvSpPr>
        <p:spPr>
          <a:xfrm>
            <a:off x="2863291" y="4782312"/>
            <a:ext cx="78364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78" name="Text 69"/>
          <p:cNvSpPr txBox="1"/>
          <p:nvPr/>
        </p:nvSpPr>
        <p:spPr>
          <a:xfrm>
            <a:off x="3761537" y="4782312"/>
            <a:ext cx="1338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raam.</a:t>
            </a:r>
            <a:endParaRPr lang="en-US" sz="2400" dirty="0"/>
          </a:p>
        </p:txBody>
      </p:sp>
      <p:sp>
        <p:nvSpPr>
          <p:cNvPr id="79" name="Shape 70"/>
          <p:cNvSpPr/>
          <p:nvPr/>
        </p:nvSpPr>
        <p:spPr>
          <a:xfrm>
            <a:off x="3255112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1"/>
          <p:cNvSpPr/>
          <p:nvPr/>
        </p:nvSpPr>
        <p:spPr>
          <a:xfrm>
            <a:off x="2724902" y="5215128"/>
            <a:ext cx="106041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2"/>
          <p:cNvSpPr txBox="1"/>
          <p:nvPr/>
        </p:nvSpPr>
        <p:spPr>
          <a:xfrm>
            <a:off x="2724902" y="5215128"/>
            <a:ext cx="10604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PRÉPOSITION</a:t>
            </a:r>
            <a:endParaRPr lang="en-US" sz="1050" dirty="0"/>
          </a:p>
        </p:txBody>
      </p:sp>
      <p:sp>
        <p:nvSpPr>
          <p:cNvPr id="82" name="Shape 7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4" name="Shape 75"/>
          <p:cNvSpPr/>
          <p:nvPr/>
        </p:nvSpPr>
        <p:spPr>
          <a:xfrm>
            <a:off x="1051560" y="5593080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1051560" y="5577840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86" name="Text 77"/>
          <p:cNvSpPr txBox="1"/>
          <p:nvPr/>
        </p:nvSpPr>
        <p:spPr>
          <a:xfrm>
            <a:off x="1933346" y="5577840"/>
            <a:ext cx="637489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 geen lift… en ik woon op de vijfde verdieping!</a:t>
            </a:r>
            <a:endParaRPr lang="en-US" sz="2400" dirty="0"/>
          </a:p>
        </p:txBody>
      </p:sp>
      <p:sp>
        <p:nvSpPr>
          <p:cNvPr id="87" name="Shape 78"/>
          <p:cNvSpPr/>
          <p:nvPr/>
        </p:nvSpPr>
        <p:spPr>
          <a:xfrm>
            <a:off x="1435151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8" name="Shape 79"/>
          <p:cNvSpPr/>
          <p:nvPr/>
        </p:nvSpPr>
        <p:spPr>
          <a:xfrm>
            <a:off x="1103567" y="601065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80"/>
          <p:cNvSpPr txBox="1"/>
          <p:nvPr/>
        </p:nvSpPr>
        <p:spPr>
          <a:xfrm>
            <a:off x="1103567" y="601065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familiefoto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699309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235501"/>
            <a:ext cx="4700016" cy="674827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184889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420795" y="1738640"/>
            <a:ext cx="3102011" cy="2226930"/>
          </a:xfrm>
          <a:prstGeom prst="roundRect">
            <a:avLst>
              <a:gd name="adj" fmla="val 821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561795" y="1873606"/>
            <a:ext cx="2820010" cy="19569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561795" y="3155777"/>
            <a:ext cx="2820010" cy="674827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796" y="2143536"/>
            <a:ext cx="1147206" cy="1147206"/>
          </a:xfrm>
          <a:prstGeom prst="rect">
            <a:avLst/>
          </a:prstGeom>
        </p:spPr>
      </p:pic>
      <p:pic>
        <p:nvPicPr>
          <p:cNvPr id="16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798" y="2076054"/>
            <a:ext cx="1147206" cy="1147206"/>
          </a:xfrm>
          <a:prstGeom prst="rect">
            <a:avLst/>
          </a:prstGeom>
        </p:spPr>
      </p:pic>
      <p:pic>
        <p:nvPicPr>
          <p:cNvPr id="17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9801" y="2548433"/>
            <a:ext cx="877275" cy="877275"/>
          </a:xfrm>
          <a:prstGeom prst="rect">
            <a:avLst/>
          </a:prstGeom>
        </p:spPr>
      </p:pic>
      <p:pic>
        <p:nvPicPr>
          <p:cNvPr id="18" name="Image 4" descr="do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0803" y="2953329"/>
            <a:ext cx="607344" cy="607344"/>
          </a:xfrm>
          <a:prstGeom prst="rect">
            <a:avLst/>
          </a:prstGeom>
        </p:spPr>
      </p:pic>
      <p:pic>
        <p:nvPicPr>
          <p:cNvPr id="19" name="Image 5" descr="camera with f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92" y="3763122"/>
            <a:ext cx="944758" cy="94475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1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Une photo de famille</a:t>
            </a:r>
            <a:endParaRPr lang="en-US" sz="1500" dirty="0"/>
          </a:p>
        </p:txBody>
      </p:sp>
      <p:sp>
        <p:nvSpPr>
          <p:cNvPr id="23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Montrez une photo de famille (réelle ou imaginaire) et présentez-la.</a:t>
            </a:r>
            <a:endParaRPr lang="en-US" sz="1300" dirty="0"/>
          </a:p>
        </p:txBody>
      </p:sp>
      <p:pic>
        <p:nvPicPr>
          <p:cNvPr id="24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</a:t>
            </a:r>
            <a:r>
              <a:rPr lang="en-US" sz="1450" b="1" dirty="0">
                <a:solidFill>
                  <a:schemeClr val="tx1"/>
                </a:solidFill>
              </a:rPr>
              <a:t>OP DEZE FOTO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0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deux personnes avec </a:t>
            </a:r>
            <a:r>
              <a:rPr lang="en-US" sz="1450" b="1" dirty="0">
                <a:solidFill>
                  <a:schemeClr val="tx1"/>
                </a:solidFill>
              </a:rPr>
              <a:t>MIJN</a:t>
            </a:r>
            <a:r>
              <a:rPr lang="en-US" sz="1450" dirty="0">
                <a:solidFill>
                  <a:schemeClr val="tx1"/>
                </a:solidFill>
              </a:rPr>
              <a:t> + un membre de la famille.</a:t>
            </a:r>
            <a:endParaRPr lang="en-US" sz="1450" dirty="0"/>
          </a:p>
        </p:txBody>
      </p:sp>
      <p:sp>
        <p:nvSpPr>
          <p:cNvPr id="34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quelqu’un avec </a:t>
            </a:r>
            <a:r>
              <a:rPr lang="en-US" sz="1450" b="1" dirty="0">
                <a:solidFill>
                  <a:schemeClr val="tx1"/>
                </a:solidFill>
              </a:rPr>
              <a:t>HEEFT</a:t>
            </a:r>
            <a:r>
              <a:rPr lang="en-US" sz="1450" dirty="0">
                <a:solidFill>
                  <a:schemeClr val="tx1"/>
                </a:solidFill>
              </a:rPr>
              <a:t> + adjectif + nom (cheveux, yeux…).</a:t>
            </a:r>
            <a:endParaRPr lang="en-US" sz="1450" dirty="0"/>
          </a:p>
        </p:txBody>
      </p:sp>
      <p:sp>
        <p:nvSpPr>
          <p:cNvPr id="38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deux personnes avec </a:t>
            </a:r>
            <a:r>
              <a:rPr lang="en-US" sz="1450" b="1" dirty="0">
                <a:solidFill>
                  <a:schemeClr val="tx1"/>
                </a:solidFill>
              </a:rPr>
              <a:t>LINKS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RECHTS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NAAST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2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familiefoto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99846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2008022"/>
            <a:ext cx="1060704" cy="14996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9677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5536" y="1453164"/>
            <a:ext cx="700065" cy="494873"/>
          </a:xfrm>
          <a:prstGeom prst="roundRect">
            <a:avLst>
              <a:gd name="adj" fmla="val 3695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7357" y="1483157"/>
            <a:ext cx="636422" cy="43488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97357" y="1768084"/>
            <a:ext cx="636422" cy="149962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71" y="1543141"/>
            <a:ext cx="254935" cy="254935"/>
          </a:xfrm>
          <a:prstGeom prst="rect">
            <a:avLst/>
          </a:prstGeom>
        </p:spPr>
      </p:pic>
      <p:pic>
        <p:nvPicPr>
          <p:cNvPr id="16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284" y="1528145"/>
            <a:ext cx="254935" cy="254935"/>
          </a:xfrm>
          <a:prstGeom prst="rect">
            <a:avLst/>
          </a:prstGeom>
        </p:spPr>
      </p:pic>
      <p:pic>
        <p:nvPicPr>
          <p:cNvPr id="17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996" y="1633118"/>
            <a:ext cx="194950" cy="194950"/>
          </a:xfrm>
          <a:prstGeom prst="rect">
            <a:avLst/>
          </a:prstGeom>
        </p:spPr>
      </p:pic>
      <p:pic>
        <p:nvPicPr>
          <p:cNvPr id="18" name="Image 4" descr="do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8" y="1723095"/>
            <a:ext cx="134965" cy="134965"/>
          </a:xfrm>
          <a:prstGeom prst="rect">
            <a:avLst/>
          </a:prstGeom>
        </p:spPr>
      </p:pic>
      <p:pic>
        <p:nvPicPr>
          <p:cNvPr id="19" name="Image 5" descr="camera with f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30" y="1903049"/>
            <a:ext cx="209946" cy="209946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OP DEZE FOTO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MIJN + famille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HEEFT + adj. + nom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LINKS / RECHTS / NAAST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NIET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1051560" y="2410968"/>
            <a:ext cx="2438400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051560" y="2395728"/>
            <a:ext cx="24384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deze foto zie je</a:t>
            </a:r>
            <a:endParaRPr lang="en-US" sz="2400" dirty="0"/>
          </a:p>
        </p:txBody>
      </p:sp>
      <p:sp>
        <p:nvSpPr>
          <p:cNvPr id="44" name="Text 35"/>
          <p:cNvSpPr txBox="1"/>
          <p:nvPr/>
        </p:nvSpPr>
        <p:spPr>
          <a:xfrm>
            <a:off x="3604565" y="2395728"/>
            <a:ext cx="318485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familie op vakantie.</a:t>
            </a:r>
            <a:endParaRPr lang="en-US" sz="2400" dirty="0"/>
          </a:p>
        </p:txBody>
      </p:sp>
      <p:sp>
        <p:nvSpPr>
          <p:cNvPr id="45" name="Shape 36"/>
          <p:cNvSpPr/>
          <p:nvPr/>
        </p:nvSpPr>
        <p:spPr>
          <a:xfrm>
            <a:off x="2270760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1712414" y="2828544"/>
            <a:ext cx="1116692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1712414" y="2828544"/>
            <a:ext cx="111669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 DEZE FOTO</a:t>
            </a:r>
            <a:endParaRPr lang="en-US" sz="1050" dirty="0"/>
          </a:p>
        </p:txBody>
      </p:sp>
      <p:sp>
        <p:nvSpPr>
          <p:cNvPr id="48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1051560" y="3191256"/>
            <a:ext cx="83088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is</a:t>
            </a:r>
            <a:endParaRPr lang="en-US" sz="2400" dirty="0"/>
          </a:p>
        </p:txBody>
      </p:sp>
      <p:sp>
        <p:nvSpPr>
          <p:cNvPr id="51" name="Shape 42"/>
          <p:cNvSpPr/>
          <p:nvPr/>
        </p:nvSpPr>
        <p:spPr>
          <a:xfrm>
            <a:off x="1859890" y="3206496"/>
            <a:ext cx="1714805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1859890" y="3191256"/>
            <a:ext cx="17148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moeder</a:t>
            </a:r>
            <a:endParaRPr lang="en-US" sz="2400" dirty="0"/>
          </a:p>
        </p:txBody>
      </p:sp>
      <p:sp>
        <p:nvSpPr>
          <p:cNvPr id="53" name="Text 44"/>
          <p:cNvSpPr txBox="1"/>
          <p:nvPr/>
        </p:nvSpPr>
        <p:spPr>
          <a:xfrm>
            <a:off x="3689299" y="3191256"/>
            <a:ext cx="11841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dat is</a:t>
            </a:r>
            <a:endParaRPr lang="en-US" sz="2400" dirty="0"/>
          </a:p>
        </p:txBody>
      </p:sp>
      <p:sp>
        <p:nvSpPr>
          <p:cNvPr id="54" name="Shape 45"/>
          <p:cNvSpPr/>
          <p:nvPr/>
        </p:nvSpPr>
        <p:spPr>
          <a:xfrm>
            <a:off x="4850892" y="3206496"/>
            <a:ext cx="1421892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4850892" y="3191256"/>
            <a:ext cx="142189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</a:t>
            </a:r>
            <a:endParaRPr lang="en-US" sz="2400" dirty="0"/>
          </a:p>
        </p:txBody>
      </p:sp>
      <p:sp>
        <p:nvSpPr>
          <p:cNvPr id="56" name="Text 47"/>
          <p:cNvSpPr txBox="1"/>
          <p:nvPr/>
        </p:nvSpPr>
        <p:spPr>
          <a:xfrm>
            <a:off x="6387389" y="3191256"/>
            <a:ext cx="76657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Tom.</a:t>
            </a:r>
            <a:endParaRPr lang="en-US" sz="2400" dirty="0"/>
          </a:p>
        </p:txBody>
      </p:sp>
      <p:sp>
        <p:nvSpPr>
          <p:cNvPr id="57" name="Shape 48"/>
          <p:cNvSpPr/>
          <p:nvPr/>
        </p:nvSpPr>
        <p:spPr>
          <a:xfrm>
            <a:off x="2717292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2165947" y="3624072"/>
            <a:ext cx="1102690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165947" y="3624072"/>
            <a:ext cx="11026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+ famille</a:t>
            </a:r>
            <a:endParaRPr lang="en-US" sz="1050" dirty="0"/>
          </a:p>
        </p:txBody>
      </p:sp>
      <p:sp>
        <p:nvSpPr>
          <p:cNvPr id="60" name="Shape 51"/>
          <p:cNvSpPr/>
          <p:nvPr/>
        </p:nvSpPr>
        <p:spPr>
          <a:xfrm>
            <a:off x="556183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5010493" y="3624072"/>
            <a:ext cx="1102690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5010493" y="3624072"/>
            <a:ext cx="11026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+ famille</a:t>
            </a:r>
            <a:endParaRPr lang="en-US" sz="1050" dirty="0"/>
          </a:p>
        </p:txBody>
      </p:sp>
      <p:sp>
        <p:nvSpPr>
          <p:cNvPr id="63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Text 56"/>
          <p:cNvSpPr txBox="1"/>
          <p:nvPr/>
        </p:nvSpPr>
        <p:spPr>
          <a:xfrm>
            <a:off x="1051560" y="3986784"/>
            <a:ext cx="68976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2400" dirty="0"/>
          </a:p>
        </p:txBody>
      </p:sp>
      <p:sp>
        <p:nvSpPr>
          <p:cNvPr id="66" name="Shape 57"/>
          <p:cNvSpPr/>
          <p:nvPr/>
        </p:nvSpPr>
        <p:spPr>
          <a:xfrm>
            <a:off x="1718767" y="4002024"/>
            <a:ext cx="2008327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718767" y="3986784"/>
            <a:ext cx="200832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lang haar</a:t>
            </a:r>
            <a:endParaRPr lang="en-US" sz="2400" dirty="0"/>
          </a:p>
        </p:txBody>
      </p:sp>
      <p:sp>
        <p:nvSpPr>
          <p:cNvPr id="68" name="Text 59"/>
          <p:cNvSpPr txBox="1"/>
          <p:nvPr/>
        </p:nvSpPr>
        <p:spPr>
          <a:xfrm>
            <a:off x="3841699" y="3986784"/>
            <a:ext cx="218541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blauwe ogen.</a:t>
            </a:r>
            <a:endParaRPr lang="en-US" sz="2400" dirty="0"/>
          </a:p>
        </p:txBody>
      </p:sp>
      <p:sp>
        <p:nvSpPr>
          <p:cNvPr id="69" name="Shape 60"/>
          <p:cNvSpPr/>
          <p:nvPr/>
        </p:nvSpPr>
        <p:spPr>
          <a:xfrm>
            <a:off x="2722931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0" name="Shape 61"/>
          <p:cNvSpPr/>
          <p:nvPr/>
        </p:nvSpPr>
        <p:spPr>
          <a:xfrm>
            <a:off x="2041103" y="4419600"/>
            <a:ext cx="136365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2"/>
          <p:cNvSpPr txBox="1"/>
          <p:nvPr/>
        </p:nvSpPr>
        <p:spPr>
          <a:xfrm>
            <a:off x="2041103" y="4419600"/>
            <a:ext cx="13636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HEEFT + adj. + nom</a:t>
            </a:r>
            <a:endParaRPr lang="en-US" sz="1050" dirty="0"/>
          </a:p>
        </p:txBody>
      </p:sp>
      <p:sp>
        <p:nvSpPr>
          <p:cNvPr id="72" name="Shape 63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4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4" name="Text 65"/>
          <p:cNvSpPr txBox="1"/>
          <p:nvPr/>
        </p:nvSpPr>
        <p:spPr>
          <a:xfrm>
            <a:off x="1051560" y="4782312"/>
            <a:ext cx="215585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vader staat</a:t>
            </a:r>
            <a:endParaRPr lang="en-US" sz="2400" dirty="0"/>
          </a:p>
        </p:txBody>
      </p:sp>
      <p:sp>
        <p:nvSpPr>
          <p:cNvPr id="75" name="Shape 66"/>
          <p:cNvSpPr/>
          <p:nvPr/>
        </p:nvSpPr>
        <p:spPr>
          <a:xfrm>
            <a:off x="3184855" y="4797552"/>
            <a:ext cx="672998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3184855" y="4782312"/>
            <a:ext cx="6729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2400" dirty="0"/>
          </a:p>
        </p:txBody>
      </p:sp>
      <p:sp>
        <p:nvSpPr>
          <p:cNvPr id="77" name="Text 68"/>
          <p:cNvSpPr txBox="1"/>
          <p:nvPr/>
        </p:nvSpPr>
        <p:spPr>
          <a:xfrm>
            <a:off x="3972458" y="4782312"/>
            <a:ext cx="175473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Tom staat</a:t>
            </a:r>
            <a:endParaRPr lang="en-US" sz="2400" dirty="0"/>
          </a:p>
        </p:txBody>
      </p:sp>
      <p:sp>
        <p:nvSpPr>
          <p:cNvPr id="78" name="Shape 69"/>
          <p:cNvSpPr/>
          <p:nvPr/>
        </p:nvSpPr>
        <p:spPr>
          <a:xfrm>
            <a:off x="5704637" y="4797552"/>
            <a:ext cx="78364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5704637" y="4782312"/>
            <a:ext cx="78364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80" name="Text 71"/>
          <p:cNvSpPr txBox="1"/>
          <p:nvPr/>
        </p:nvSpPr>
        <p:spPr>
          <a:xfrm>
            <a:off x="6602882" y="4782312"/>
            <a:ext cx="12353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hond.</a:t>
            </a:r>
            <a:endParaRPr lang="en-US" sz="2400" dirty="0"/>
          </a:p>
        </p:txBody>
      </p:sp>
      <p:sp>
        <p:nvSpPr>
          <p:cNvPr id="81" name="Shape 72"/>
          <p:cNvSpPr/>
          <p:nvPr/>
        </p:nvSpPr>
        <p:spPr>
          <a:xfrm>
            <a:off x="3521354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3"/>
          <p:cNvSpPr/>
          <p:nvPr/>
        </p:nvSpPr>
        <p:spPr>
          <a:xfrm>
            <a:off x="3208439" y="5215128"/>
            <a:ext cx="62583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3208439" y="5215128"/>
            <a:ext cx="62583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LINKS</a:t>
            </a:r>
            <a:endParaRPr lang="en-US" sz="1050" dirty="0"/>
          </a:p>
        </p:txBody>
      </p:sp>
      <p:sp>
        <p:nvSpPr>
          <p:cNvPr id="84" name="Shape 75"/>
          <p:cNvSpPr/>
          <p:nvPr/>
        </p:nvSpPr>
        <p:spPr>
          <a:xfrm>
            <a:off x="6096457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5" name="Shape 76"/>
          <p:cNvSpPr/>
          <p:nvPr/>
        </p:nvSpPr>
        <p:spPr>
          <a:xfrm>
            <a:off x="5752205" y="5215128"/>
            <a:ext cx="688505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7"/>
          <p:cNvSpPr txBox="1"/>
          <p:nvPr/>
        </p:nvSpPr>
        <p:spPr>
          <a:xfrm>
            <a:off x="5752205" y="5215128"/>
            <a:ext cx="68850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NAAST</a:t>
            </a:r>
            <a:endParaRPr lang="en-US" sz="1050" dirty="0"/>
          </a:p>
        </p:txBody>
      </p:sp>
      <p:sp>
        <p:nvSpPr>
          <p:cNvPr id="87" name="Shape 78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9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9" name="Text 80"/>
          <p:cNvSpPr txBox="1"/>
          <p:nvPr/>
        </p:nvSpPr>
        <p:spPr>
          <a:xfrm>
            <a:off x="1051560" y="5577840"/>
            <a:ext cx="385145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man rechts? Ik ken hem</a:t>
            </a:r>
            <a:endParaRPr lang="en-US" sz="2400" dirty="0"/>
          </a:p>
        </p:txBody>
      </p:sp>
      <p:sp>
        <p:nvSpPr>
          <p:cNvPr id="90" name="Shape 81"/>
          <p:cNvSpPr/>
          <p:nvPr/>
        </p:nvSpPr>
        <p:spPr>
          <a:xfrm>
            <a:off x="4880458" y="5593080"/>
            <a:ext cx="589178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82"/>
          <p:cNvSpPr txBox="1"/>
          <p:nvPr/>
        </p:nvSpPr>
        <p:spPr>
          <a:xfrm>
            <a:off x="4880458" y="5577840"/>
            <a:ext cx="58917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</a:t>
            </a:r>
            <a:endParaRPr lang="en-US" sz="2400" dirty="0"/>
          </a:p>
        </p:txBody>
      </p:sp>
      <p:sp>
        <p:nvSpPr>
          <p:cNvPr id="92" name="Text 83"/>
          <p:cNvSpPr txBox="1"/>
          <p:nvPr/>
        </p:nvSpPr>
        <p:spPr>
          <a:xfrm>
            <a:off x="5469636" y="5577840"/>
            <a:ext cx="23652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400" dirty="0"/>
          </a:p>
        </p:txBody>
      </p:sp>
      <p:sp>
        <p:nvSpPr>
          <p:cNvPr id="93" name="Shape 84"/>
          <p:cNvSpPr/>
          <p:nvPr/>
        </p:nvSpPr>
        <p:spPr>
          <a:xfrm>
            <a:off x="5175047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5"/>
          <p:cNvSpPr/>
          <p:nvPr/>
        </p:nvSpPr>
        <p:spPr>
          <a:xfrm>
            <a:off x="4892802" y="6010656"/>
            <a:ext cx="56449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6"/>
          <p:cNvSpPr txBox="1"/>
          <p:nvPr/>
        </p:nvSpPr>
        <p:spPr>
          <a:xfrm>
            <a:off x="4892802" y="6010656"/>
            <a:ext cx="5644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NIET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dag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3374136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03793" y="3628156"/>
            <a:ext cx="4136014" cy="914"/>
          </a:xfrm>
          <a:prstGeom prst="line">
            <a:avLst/>
          </a:prstGeom>
          <a:noFill/>
          <a:ln w="52222">
            <a:solidFill>
              <a:srgbClr val="D5DCE6"/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1671157"/>
            <a:ext cx="539862" cy="539862"/>
          </a:xfrm>
          <a:prstGeom prst="rect">
            <a:avLst/>
          </a:prstGeom>
        </p:spPr>
      </p:pic>
      <p:pic>
        <p:nvPicPr>
          <p:cNvPr id="12" name="Image 2" descr="crescent 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9805" y="1671157"/>
            <a:ext cx="539862" cy="539862"/>
          </a:xfrm>
          <a:prstGeom prst="rect">
            <a:avLst/>
          </a:prstGeom>
        </p:spPr>
      </p:pic>
      <p:pic>
        <p:nvPicPr>
          <p:cNvPr id="13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93" y="2818364"/>
            <a:ext cx="674827" cy="674827"/>
          </a:xfrm>
          <a:prstGeom prst="rect">
            <a:avLst/>
          </a:prstGeom>
        </p:spPr>
      </p:pic>
      <p:pic>
        <p:nvPicPr>
          <p:cNvPr id="14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796" y="2818364"/>
            <a:ext cx="674827" cy="674827"/>
          </a:xfrm>
          <a:prstGeom prst="rect">
            <a:avLst/>
          </a:prstGeom>
        </p:spPr>
      </p:pic>
      <p:pic>
        <p:nvPicPr>
          <p:cNvPr id="15" name="Image 5" descr="t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2818364"/>
            <a:ext cx="674827" cy="674827"/>
          </a:xfrm>
          <a:prstGeom prst="rect">
            <a:avLst/>
          </a:prstGeom>
        </p:spPr>
      </p:pic>
      <p:pic>
        <p:nvPicPr>
          <p:cNvPr id="16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8802" y="2818364"/>
            <a:ext cx="674827" cy="674827"/>
          </a:xfrm>
          <a:prstGeom prst="rect">
            <a:avLst/>
          </a:prstGeom>
        </p:spPr>
      </p:pic>
      <p:pic>
        <p:nvPicPr>
          <p:cNvPr id="17" name="Image 7" descr="cook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805" y="2818364"/>
            <a:ext cx="674827" cy="674827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856793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856793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7:00</a:t>
            </a:r>
            <a:endParaRPr lang="en-US" sz="1520" dirty="0"/>
          </a:p>
        </p:txBody>
      </p:sp>
      <p:sp>
        <p:nvSpPr>
          <p:cNvPr id="20" name="Shape 9"/>
          <p:cNvSpPr/>
          <p:nvPr/>
        </p:nvSpPr>
        <p:spPr>
          <a:xfrm>
            <a:off x="1749796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1749796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7:15</a:t>
            </a:r>
            <a:endParaRPr lang="en-US" sz="1520" dirty="0"/>
          </a:p>
        </p:txBody>
      </p:sp>
      <p:sp>
        <p:nvSpPr>
          <p:cNvPr id="22" name="Shape 11"/>
          <p:cNvSpPr/>
          <p:nvPr/>
        </p:nvSpPr>
        <p:spPr>
          <a:xfrm>
            <a:off x="2642799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2"/>
          <p:cNvSpPr txBox="1"/>
          <p:nvPr/>
        </p:nvSpPr>
        <p:spPr>
          <a:xfrm>
            <a:off x="2642799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8:00</a:t>
            </a:r>
            <a:endParaRPr lang="en-US" sz="1520" dirty="0"/>
          </a:p>
        </p:txBody>
      </p:sp>
      <p:sp>
        <p:nvSpPr>
          <p:cNvPr id="24" name="Shape 13"/>
          <p:cNvSpPr/>
          <p:nvPr/>
        </p:nvSpPr>
        <p:spPr>
          <a:xfrm>
            <a:off x="3535802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3535802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9:00</a:t>
            </a:r>
            <a:endParaRPr lang="en-US" sz="1520" dirty="0"/>
          </a:p>
        </p:txBody>
      </p:sp>
      <p:sp>
        <p:nvSpPr>
          <p:cNvPr id="26" name="Shape 15"/>
          <p:cNvSpPr/>
          <p:nvPr/>
        </p:nvSpPr>
        <p:spPr>
          <a:xfrm>
            <a:off x="4428805" y="3898087"/>
            <a:ext cx="658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6"/>
          <p:cNvSpPr txBox="1"/>
          <p:nvPr/>
        </p:nvSpPr>
        <p:spPr>
          <a:xfrm>
            <a:off x="4428805" y="3898087"/>
            <a:ext cx="658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19:00</a:t>
            </a:r>
            <a:endParaRPr lang="en-US" sz="1520" dirty="0"/>
          </a:p>
        </p:txBody>
      </p:sp>
      <p:sp>
        <p:nvSpPr>
          <p:cNvPr id="28" name="Shape 1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9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Ma journée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Décrivez une journée de travail ordinaire, du matin au soir.</a:t>
            </a:r>
            <a:endParaRPr lang="en-US" sz="1300" dirty="0"/>
          </a:p>
        </p:txBody>
      </p:sp>
      <p:pic>
        <p:nvPicPr>
          <p:cNvPr id="32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34" name="Shape 2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5" name="Shape 2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7" name="Text 2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l’heure : </a:t>
            </a:r>
            <a:r>
              <a:rPr lang="en-US" sz="1450" b="1" dirty="0">
                <a:solidFill>
                  <a:schemeClr val="tx1"/>
                </a:solidFill>
              </a:rPr>
              <a:t>OM … UUR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8" name="Shape 2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Shape 2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41" name="Text 2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comment vous allez au travail avec </a:t>
            </a:r>
            <a:r>
              <a:rPr lang="en-US" sz="1450" b="1" dirty="0">
                <a:solidFill>
                  <a:schemeClr val="tx1"/>
                </a:solidFill>
              </a:rPr>
              <a:t>MET DE</a:t>
            </a:r>
            <a:r>
              <a:rPr lang="en-US" sz="1450" dirty="0">
                <a:solidFill>
                  <a:schemeClr val="tx1"/>
                </a:solidFill>
              </a:rPr>
              <a:t> + transport.</a:t>
            </a:r>
            <a:endParaRPr lang="en-US" sz="1450" dirty="0"/>
          </a:p>
        </p:txBody>
      </p:sp>
      <p:sp>
        <p:nvSpPr>
          <p:cNvPr id="42" name="Shape 2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Shape 3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5" name="Text 3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verbe à particule (</a:t>
            </a:r>
            <a:r>
              <a:rPr lang="en-US" sz="1450" b="1" dirty="0">
                <a:solidFill>
                  <a:schemeClr val="tx1"/>
                </a:solidFill>
              </a:rPr>
              <a:t>OPBELLEN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OPSTAAN</a:t>
            </a:r>
            <a:r>
              <a:rPr lang="en-US" sz="1450" dirty="0">
                <a:solidFill>
                  <a:schemeClr val="tx1"/>
                </a:solidFill>
              </a:rPr>
              <a:t>…) : la particule va à la fin.</a:t>
            </a:r>
            <a:endParaRPr lang="en-US" sz="1450" dirty="0"/>
          </a:p>
        </p:txBody>
      </p:sp>
      <p:sp>
        <p:nvSpPr>
          <p:cNvPr id="46" name="Shape 3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7" name="Shape 3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9" name="Text 3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Enchaînez avec </a:t>
            </a:r>
            <a:r>
              <a:rPr lang="en-US" sz="1450" b="1" dirty="0">
                <a:solidFill>
                  <a:schemeClr val="tx1"/>
                </a:solidFill>
              </a:rPr>
              <a:t>EERST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DAN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50" name="Shape 3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53" name="Text 4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votre soirée avec </a:t>
            </a:r>
            <a:r>
              <a:rPr lang="en-US" sz="1450" b="1" dirty="0">
                <a:solidFill>
                  <a:schemeClr val="tx1"/>
                </a:solidFill>
              </a:rPr>
              <a:t>’S AVONDS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dag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74980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48858" y="1873057"/>
            <a:ext cx="9334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438168"/>
            <a:ext cx="119969" cy="119969"/>
          </a:xfrm>
          <a:prstGeom prst="rect">
            <a:avLst/>
          </a:prstGeom>
        </p:spPr>
      </p:pic>
      <p:pic>
        <p:nvPicPr>
          <p:cNvPr id="12" name="Image 2" descr="crescent 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207" y="1438168"/>
            <a:ext cx="119969" cy="119969"/>
          </a:xfrm>
          <a:prstGeom prst="rect">
            <a:avLst/>
          </a:prstGeom>
        </p:spPr>
      </p:pic>
      <p:pic>
        <p:nvPicPr>
          <p:cNvPr id="13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44" y="1693103"/>
            <a:ext cx="149962" cy="149962"/>
          </a:xfrm>
          <a:prstGeom prst="rect">
            <a:avLst/>
          </a:prstGeom>
        </p:spPr>
      </p:pic>
      <p:pic>
        <p:nvPicPr>
          <p:cNvPr id="14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178" y="1693103"/>
            <a:ext cx="149962" cy="149962"/>
          </a:xfrm>
          <a:prstGeom prst="rect">
            <a:avLst/>
          </a:prstGeom>
        </p:spPr>
      </p:pic>
      <p:pic>
        <p:nvPicPr>
          <p:cNvPr id="15" name="Image 5" descr="t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693103"/>
            <a:ext cx="149962" cy="149962"/>
          </a:xfrm>
          <a:prstGeom prst="rect">
            <a:avLst/>
          </a:prstGeom>
        </p:spPr>
      </p:pic>
      <p:pic>
        <p:nvPicPr>
          <p:cNvPr id="16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2245" y="1693103"/>
            <a:ext cx="149962" cy="149962"/>
          </a:xfrm>
          <a:prstGeom prst="rect">
            <a:avLst/>
          </a:prstGeom>
        </p:spPr>
      </p:pic>
      <p:pic>
        <p:nvPicPr>
          <p:cNvPr id="17" name="Image 7" descr="cook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3779" y="1693103"/>
            <a:ext cx="149962" cy="149962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638251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638251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7:00</a:t>
            </a:r>
            <a:endParaRPr lang="en-US" sz="550" dirty="0"/>
          </a:p>
        </p:txBody>
      </p:sp>
      <p:sp>
        <p:nvSpPr>
          <p:cNvPr id="20" name="Shape 9"/>
          <p:cNvSpPr/>
          <p:nvPr/>
        </p:nvSpPr>
        <p:spPr>
          <a:xfrm>
            <a:off x="839785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839785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7:15</a:t>
            </a:r>
            <a:endParaRPr lang="en-US" sz="550" dirty="0"/>
          </a:p>
        </p:txBody>
      </p:sp>
      <p:sp>
        <p:nvSpPr>
          <p:cNvPr id="22" name="Shape 11"/>
          <p:cNvSpPr/>
          <p:nvPr/>
        </p:nvSpPr>
        <p:spPr>
          <a:xfrm>
            <a:off x="1041319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2"/>
          <p:cNvSpPr txBox="1"/>
          <p:nvPr/>
        </p:nvSpPr>
        <p:spPr>
          <a:xfrm>
            <a:off x="1041319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8:00</a:t>
            </a:r>
            <a:endParaRPr lang="en-US" sz="550" dirty="0"/>
          </a:p>
        </p:txBody>
      </p:sp>
      <p:sp>
        <p:nvSpPr>
          <p:cNvPr id="24" name="Shape 13"/>
          <p:cNvSpPr/>
          <p:nvPr/>
        </p:nvSpPr>
        <p:spPr>
          <a:xfrm>
            <a:off x="1242852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1242852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9:00</a:t>
            </a:r>
            <a:endParaRPr lang="en-US" sz="550" dirty="0"/>
          </a:p>
        </p:txBody>
      </p:sp>
      <p:sp>
        <p:nvSpPr>
          <p:cNvPr id="26" name="Shape 15"/>
          <p:cNvSpPr/>
          <p:nvPr/>
        </p:nvSpPr>
        <p:spPr>
          <a:xfrm>
            <a:off x="1444386" y="1933042"/>
            <a:ext cx="148499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6"/>
          <p:cNvSpPr txBox="1"/>
          <p:nvPr/>
        </p:nvSpPr>
        <p:spPr>
          <a:xfrm>
            <a:off x="1444386" y="1933042"/>
            <a:ext cx="148499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19:00</a:t>
            </a:r>
            <a:endParaRPr lang="en-US" sz="550" dirty="0"/>
          </a:p>
        </p:txBody>
      </p:sp>
      <p:sp>
        <p:nvSpPr>
          <p:cNvPr id="28" name="Shape 1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1" name="Text 2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OM … UUR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 DE + transport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PARTICULE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EERST / DAN</a:t>
            </a:r>
            <a:endParaRPr lang="en-US" sz="1300" dirty="0"/>
          </a:p>
        </p:txBody>
      </p:sp>
      <p:sp>
        <p:nvSpPr>
          <p:cNvPr id="44" name="Shape 3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’S AVONDS</a:t>
            </a:r>
            <a:endParaRPr lang="en-US" sz="1300" dirty="0"/>
          </a:p>
        </p:txBody>
      </p:sp>
      <p:sp>
        <p:nvSpPr>
          <p:cNvPr id="48" name="Shape 37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0" name="Shape 39"/>
          <p:cNvSpPr/>
          <p:nvPr/>
        </p:nvSpPr>
        <p:spPr>
          <a:xfrm>
            <a:off x="1051560" y="2410968"/>
            <a:ext cx="2869997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1051560" y="2395728"/>
            <a:ext cx="286999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zeven uur drink ik</a:t>
            </a:r>
            <a:endParaRPr lang="en-US" sz="2400" dirty="0"/>
          </a:p>
        </p:txBody>
      </p:sp>
      <p:sp>
        <p:nvSpPr>
          <p:cNvPr id="52" name="Text 41"/>
          <p:cNvSpPr txBox="1"/>
          <p:nvPr/>
        </p:nvSpPr>
        <p:spPr>
          <a:xfrm>
            <a:off x="4036162" y="2395728"/>
            <a:ext cx="218694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grote koffie.</a:t>
            </a:r>
            <a:endParaRPr lang="en-US" sz="2400" dirty="0"/>
          </a:p>
        </p:txBody>
      </p:sp>
      <p:sp>
        <p:nvSpPr>
          <p:cNvPr id="53" name="Shape 42"/>
          <p:cNvSpPr/>
          <p:nvPr/>
        </p:nvSpPr>
        <p:spPr>
          <a:xfrm>
            <a:off x="248655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2026091" y="2828544"/>
            <a:ext cx="92093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2026091" y="2828544"/>
            <a:ext cx="92093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OM … UUR</a:t>
            </a:r>
            <a:endParaRPr lang="en-US" sz="1050" dirty="0"/>
          </a:p>
        </p:txBody>
      </p:sp>
      <p:sp>
        <p:nvSpPr>
          <p:cNvPr id="56" name="Shape 45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8" name="Text 47"/>
          <p:cNvSpPr txBox="1"/>
          <p:nvPr/>
        </p:nvSpPr>
        <p:spPr>
          <a:xfrm>
            <a:off x="1051560" y="3191256"/>
            <a:ext cx="7110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ga</a:t>
            </a:r>
            <a:endParaRPr lang="en-US" sz="2400" dirty="0"/>
          </a:p>
        </p:txBody>
      </p:sp>
      <p:sp>
        <p:nvSpPr>
          <p:cNvPr id="59" name="Shape 48"/>
          <p:cNvSpPr/>
          <p:nvPr/>
        </p:nvSpPr>
        <p:spPr>
          <a:xfrm>
            <a:off x="1740103" y="3206496"/>
            <a:ext cx="1659026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1740103" y="3191256"/>
            <a:ext cx="165902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trein</a:t>
            </a:r>
            <a:endParaRPr lang="en-US" sz="2400" dirty="0"/>
          </a:p>
        </p:txBody>
      </p:sp>
      <p:sp>
        <p:nvSpPr>
          <p:cNvPr id="61" name="Text 50"/>
          <p:cNvSpPr txBox="1"/>
          <p:nvPr/>
        </p:nvSpPr>
        <p:spPr>
          <a:xfrm>
            <a:off x="3513734" y="3191256"/>
            <a:ext cx="207142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naar mijn werk.</a:t>
            </a:r>
            <a:endParaRPr lang="en-US" sz="2400" dirty="0"/>
          </a:p>
        </p:txBody>
      </p:sp>
      <p:sp>
        <p:nvSpPr>
          <p:cNvPr id="62" name="Shape 51"/>
          <p:cNvSpPr/>
          <p:nvPr/>
        </p:nvSpPr>
        <p:spPr>
          <a:xfrm>
            <a:off x="256961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1877254" y="3624072"/>
            <a:ext cx="13847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1877254" y="3624072"/>
            <a:ext cx="13847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MET DE + transport</a:t>
            </a:r>
            <a:endParaRPr lang="en-US" sz="1050" dirty="0"/>
          </a:p>
        </p:txBody>
      </p:sp>
      <p:sp>
        <p:nvSpPr>
          <p:cNvPr id="65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6"/>
          <p:cNvSpPr txBox="1"/>
          <p:nvPr/>
        </p:nvSpPr>
        <p:spPr>
          <a:xfrm>
            <a:off x="1051560" y="3986784"/>
            <a:ext cx="154228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kantoor</a:t>
            </a:r>
            <a:endParaRPr lang="en-US" sz="2400" dirty="0"/>
          </a:p>
        </p:txBody>
      </p:sp>
      <p:sp>
        <p:nvSpPr>
          <p:cNvPr id="68" name="Shape 57"/>
          <p:cNvSpPr/>
          <p:nvPr/>
        </p:nvSpPr>
        <p:spPr>
          <a:xfrm>
            <a:off x="2571293" y="4002024"/>
            <a:ext cx="483413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2571293" y="3986784"/>
            <a:ext cx="48341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</a:t>
            </a:r>
            <a:endParaRPr lang="en-US" sz="2400" dirty="0"/>
          </a:p>
        </p:txBody>
      </p:sp>
      <p:sp>
        <p:nvSpPr>
          <p:cNvPr id="70" name="Text 59"/>
          <p:cNvSpPr txBox="1"/>
          <p:nvPr/>
        </p:nvSpPr>
        <p:spPr>
          <a:xfrm>
            <a:off x="3169310" y="3986784"/>
            <a:ext cx="19238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klanten</a:t>
            </a:r>
            <a:endParaRPr lang="en-US" sz="2400" dirty="0"/>
          </a:p>
        </p:txBody>
      </p:sp>
      <p:sp>
        <p:nvSpPr>
          <p:cNvPr id="71" name="Shape 60"/>
          <p:cNvSpPr/>
          <p:nvPr/>
        </p:nvSpPr>
        <p:spPr>
          <a:xfrm>
            <a:off x="5070653" y="4002024"/>
            <a:ext cx="419100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5070653" y="3986784"/>
            <a:ext cx="4191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2400" dirty="0"/>
          </a:p>
        </p:txBody>
      </p:sp>
      <p:sp>
        <p:nvSpPr>
          <p:cNvPr id="73" name="Text 62"/>
          <p:cNvSpPr txBox="1"/>
          <p:nvPr/>
        </p:nvSpPr>
        <p:spPr>
          <a:xfrm>
            <a:off x="5489753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74" name="Shape 63"/>
          <p:cNvSpPr/>
          <p:nvPr/>
        </p:nvSpPr>
        <p:spPr>
          <a:xfrm>
            <a:off x="2812999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4"/>
          <p:cNvSpPr/>
          <p:nvPr/>
        </p:nvSpPr>
        <p:spPr>
          <a:xfrm>
            <a:off x="2512485" y="4419600"/>
            <a:ext cx="60102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2512485" y="4419600"/>
            <a:ext cx="60102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BEL…</a:t>
            </a:r>
            <a:endParaRPr lang="en-US" sz="1050" dirty="0"/>
          </a:p>
        </p:txBody>
      </p:sp>
      <p:sp>
        <p:nvSpPr>
          <p:cNvPr id="77" name="Shape 66"/>
          <p:cNvSpPr/>
          <p:nvPr/>
        </p:nvSpPr>
        <p:spPr>
          <a:xfrm>
            <a:off x="5280203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7"/>
          <p:cNvSpPr/>
          <p:nvPr/>
        </p:nvSpPr>
        <p:spPr>
          <a:xfrm>
            <a:off x="4997291" y="4419600"/>
            <a:ext cx="565823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8"/>
          <p:cNvSpPr txBox="1"/>
          <p:nvPr/>
        </p:nvSpPr>
        <p:spPr>
          <a:xfrm>
            <a:off x="4997291" y="4419600"/>
            <a:ext cx="56582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…OP</a:t>
            </a:r>
            <a:endParaRPr lang="en-US" sz="1050" dirty="0"/>
          </a:p>
        </p:txBody>
      </p:sp>
      <p:sp>
        <p:nvSpPr>
          <p:cNvPr id="80" name="Shape 69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0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Shape 71"/>
          <p:cNvSpPr/>
          <p:nvPr/>
        </p:nvSpPr>
        <p:spPr>
          <a:xfrm>
            <a:off x="1051560" y="4797552"/>
            <a:ext cx="159136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2"/>
          <p:cNvSpPr txBox="1"/>
          <p:nvPr/>
        </p:nvSpPr>
        <p:spPr>
          <a:xfrm>
            <a:off x="1051560" y="4782312"/>
            <a:ext cx="159136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lees ik</a:t>
            </a:r>
            <a:endParaRPr lang="en-US" sz="2400" dirty="0"/>
          </a:p>
        </p:txBody>
      </p:sp>
      <p:sp>
        <p:nvSpPr>
          <p:cNvPr id="84" name="Text 73"/>
          <p:cNvSpPr txBox="1"/>
          <p:nvPr/>
        </p:nvSpPr>
        <p:spPr>
          <a:xfrm>
            <a:off x="2757526" y="4782312"/>
            <a:ext cx="14776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mails,</a:t>
            </a:r>
            <a:endParaRPr lang="en-US" sz="2400" dirty="0"/>
          </a:p>
        </p:txBody>
      </p:sp>
      <p:sp>
        <p:nvSpPr>
          <p:cNvPr id="85" name="Shape 74"/>
          <p:cNvSpPr/>
          <p:nvPr/>
        </p:nvSpPr>
        <p:spPr>
          <a:xfrm>
            <a:off x="4212641" y="4797552"/>
            <a:ext cx="1409090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4212641" y="4782312"/>
            <a:ext cx="140909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heb ik</a:t>
            </a:r>
            <a:endParaRPr lang="en-US" sz="2400" dirty="0"/>
          </a:p>
        </p:txBody>
      </p:sp>
      <p:sp>
        <p:nvSpPr>
          <p:cNvPr id="87" name="Text 76"/>
          <p:cNvSpPr txBox="1"/>
          <p:nvPr/>
        </p:nvSpPr>
        <p:spPr>
          <a:xfrm>
            <a:off x="5736336" y="4782312"/>
            <a:ext cx="222382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vergadering.</a:t>
            </a:r>
            <a:endParaRPr lang="en-US" sz="2400" dirty="0"/>
          </a:p>
        </p:txBody>
      </p:sp>
      <p:sp>
        <p:nvSpPr>
          <p:cNvPr id="88" name="Shape 77"/>
          <p:cNvSpPr/>
          <p:nvPr/>
        </p:nvSpPr>
        <p:spPr>
          <a:xfrm>
            <a:off x="184724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1206151" y="5215128"/>
            <a:ext cx="128217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1206151" y="5215128"/>
            <a:ext cx="128217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EERST + inversion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4917186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2" name="Shape 81"/>
          <p:cNvSpPr/>
          <p:nvPr/>
        </p:nvSpPr>
        <p:spPr>
          <a:xfrm>
            <a:off x="4316901" y="5215128"/>
            <a:ext cx="120056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2"/>
          <p:cNvSpPr txBox="1"/>
          <p:nvPr/>
        </p:nvSpPr>
        <p:spPr>
          <a:xfrm>
            <a:off x="4316901" y="5215128"/>
            <a:ext cx="12005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DAN + inversion</a:t>
            </a:r>
            <a:endParaRPr lang="en-US" sz="1050" dirty="0"/>
          </a:p>
        </p:txBody>
      </p:sp>
      <p:sp>
        <p:nvSpPr>
          <p:cNvPr id="94" name="Shape 8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6" name="Shape 85"/>
          <p:cNvSpPr/>
          <p:nvPr/>
        </p:nvSpPr>
        <p:spPr>
          <a:xfrm>
            <a:off x="1051560" y="5593080"/>
            <a:ext cx="2282038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7" name="Text 86"/>
          <p:cNvSpPr txBox="1"/>
          <p:nvPr/>
        </p:nvSpPr>
        <p:spPr>
          <a:xfrm>
            <a:off x="1051560" y="5577840"/>
            <a:ext cx="228203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’s Avonds kook ik</a:t>
            </a:r>
            <a:endParaRPr lang="en-US" sz="2400" dirty="0"/>
          </a:p>
        </p:txBody>
      </p:sp>
      <p:sp>
        <p:nvSpPr>
          <p:cNvPr id="98" name="Text 87"/>
          <p:cNvSpPr txBox="1"/>
          <p:nvPr/>
        </p:nvSpPr>
        <p:spPr>
          <a:xfrm>
            <a:off x="3333598" y="5577840"/>
            <a:ext cx="30891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of ik bestel een pizza!</a:t>
            </a:r>
            <a:endParaRPr lang="en-US" sz="2400" dirty="0"/>
          </a:p>
        </p:txBody>
      </p:sp>
      <p:sp>
        <p:nvSpPr>
          <p:cNvPr id="99" name="Shape 88"/>
          <p:cNvSpPr/>
          <p:nvPr/>
        </p:nvSpPr>
        <p:spPr>
          <a:xfrm>
            <a:off x="2192579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0" name="Shape 89"/>
          <p:cNvSpPr/>
          <p:nvPr/>
        </p:nvSpPr>
        <p:spPr>
          <a:xfrm>
            <a:off x="1731445" y="6010656"/>
            <a:ext cx="92226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Text 90"/>
          <p:cNvSpPr txBox="1"/>
          <p:nvPr/>
        </p:nvSpPr>
        <p:spPr>
          <a:xfrm>
            <a:off x="1731445" y="6010656"/>
            <a:ext cx="92226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’S AVONDS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weer en mijn kleren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637416"/>
            <a:ext cx="1012241" cy="1012241"/>
          </a:xfrm>
          <a:prstGeom prst="rect">
            <a:avLst/>
          </a:prstGeom>
        </p:spPr>
      </p:pic>
      <p:pic>
        <p:nvPicPr>
          <p:cNvPr id="12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801" y="1536192"/>
            <a:ext cx="809793" cy="809793"/>
          </a:xfrm>
          <a:prstGeom prst="rect">
            <a:avLst/>
          </a:prstGeom>
        </p:spPr>
      </p:pic>
      <p:pic>
        <p:nvPicPr>
          <p:cNvPr id="13" name="Image 3" descr="win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805" y="1704899"/>
            <a:ext cx="674827" cy="674827"/>
          </a:xfrm>
          <a:prstGeom prst="rect">
            <a:avLst/>
          </a:prstGeom>
        </p:spPr>
      </p:pic>
      <p:pic>
        <p:nvPicPr>
          <p:cNvPr id="14" name="Image 4" descr="umbrella with rain drop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798" y="2548433"/>
            <a:ext cx="1282172" cy="1282172"/>
          </a:xfrm>
          <a:prstGeom prst="rect">
            <a:avLst/>
          </a:prstGeom>
        </p:spPr>
      </p:pic>
      <p:pic>
        <p:nvPicPr>
          <p:cNvPr id="15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93" y="3155777"/>
            <a:ext cx="944758" cy="944758"/>
          </a:xfrm>
          <a:prstGeom prst="rect">
            <a:avLst/>
          </a:prstGeom>
        </p:spPr>
      </p:pic>
      <p:pic>
        <p:nvPicPr>
          <p:cNvPr id="16" name="Image 6" descr="scar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9802" y="3425708"/>
            <a:ext cx="674827" cy="674827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4381805" y="3223260"/>
            <a:ext cx="799003" cy="472379"/>
          </a:xfrm>
          <a:prstGeom prst="roundRect">
            <a:avLst>
              <a:gd name="adj" fmla="val 1548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8"/>
          <p:cNvSpPr txBox="1"/>
          <p:nvPr/>
        </p:nvSpPr>
        <p:spPr>
          <a:xfrm>
            <a:off x="4381805" y="3223260"/>
            <a:ext cx="799003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4" b="1" spc="100" kern="0" dirty="0">
                <a:solidFill>
                  <a:schemeClr val="bg1"/>
                </a:solidFill>
              </a:rPr>
              <a:t>8 °C</a:t>
            </a:r>
            <a:endParaRPr lang="en-US" sz="1934" dirty="0"/>
          </a:p>
        </p:txBody>
      </p:sp>
      <p:sp>
        <p:nvSpPr>
          <p:cNvPr id="19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0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La météo et mes vêtements</a:t>
            </a:r>
            <a:endParaRPr lang="en-US" sz="1500" dirty="0"/>
          </a:p>
        </p:txBody>
      </p:sp>
      <p:sp>
        <p:nvSpPr>
          <p:cNvPr id="22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Regardez la météo. Écrivez à un·e ami·e ce que vous mettez aujourd’hui.</a:t>
            </a:r>
            <a:endParaRPr lang="en-US" sz="1300" dirty="0"/>
          </a:p>
        </p:txBody>
      </p:sp>
      <p:pic>
        <p:nvPicPr>
          <p:cNvPr id="23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avec des verbes météo : </a:t>
            </a:r>
            <a:r>
              <a:rPr lang="en-US" sz="1450" b="1" dirty="0">
                <a:solidFill>
                  <a:schemeClr val="tx1"/>
                </a:solidFill>
              </a:rPr>
              <a:t>HET REGENT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HET WAAIT</a:t>
            </a:r>
            <a:r>
              <a:rPr lang="en-US" sz="1450" dirty="0">
                <a:solidFill>
                  <a:schemeClr val="tx1"/>
                </a:solidFill>
              </a:rPr>
              <a:t>…</a:t>
            </a:r>
            <a:endParaRPr lang="en-US" sz="1450" dirty="0"/>
          </a:p>
        </p:txBody>
      </p:sp>
      <p:sp>
        <p:nvSpPr>
          <p:cNvPr id="29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la température avec </a:t>
            </a:r>
            <a:r>
              <a:rPr lang="en-US" sz="1450" b="1" dirty="0">
                <a:solidFill>
                  <a:schemeClr val="tx1"/>
                </a:solidFill>
              </a:rPr>
              <a:t>HET IS … GRADEN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IK DRAAG</a:t>
            </a:r>
            <a:r>
              <a:rPr lang="en-US" sz="1450" dirty="0">
                <a:solidFill>
                  <a:schemeClr val="tx1"/>
                </a:solidFill>
              </a:rPr>
              <a:t> + un vêtement et une couleur.</a:t>
            </a:r>
            <a:endParaRPr lang="en-US" sz="1450" dirty="0"/>
          </a:p>
        </p:txBody>
      </p:sp>
      <p:sp>
        <p:nvSpPr>
          <p:cNvPr id="37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Justifiez avec </a:t>
            </a:r>
            <a:r>
              <a:rPr lang="en-US" sz="1450" b="1" dirty="0">
                <a:solidFill>
                  <a:schemeClr val="tx1"/>
                </a:solidFill>
              </a:rPr>
              <a:t>WANT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MORGEN GA IK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weer en mijn kleren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30670"/>
            <a:ext cx="224942" cy="224942"/>
          </a:xfrm>
          <a:prstGeom prst="rect">
            <a:avLst/>
          </a:prstGeom>
        </p:spPr>
      </p:pic>
      <p:pic>
        <p:nvPicPr>
          <p:cNvPr id="12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03" y="1408176"/>
            <a:ext cx="179954" cy="179954"/>
          </a:xfrm>
          <a:prstGeom prst="rect">
            <a:avLst/>
          </a:prstGeom>
        </p:spPr>
      </p:pic>
      <p:pic>
        <p:nvPicPr>
          <p:cNvPr id="13" name="Image 3" descr="win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3779" y="1445666"/>
            <a:ext cx="149962" cy="149962"/>
          </a:xfrm>
          <a:prstGeom prst="rect">
            <a:avLst/>
          </a:prstGeom>
        </p:spPr>
      </p:pic>
      <p:pic>
        <p:nvPicPr>
          <p:cNvPr id="14" name="Image 4" descr="umbrella with rain drop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" y="1633118"/>
            <a:ext cx="284927" cy="284927"/>
          </a:xfrm>
          <a:prstGeom prst="rect">
            <a:avLst/>
          </a:prstGeom>
        </p:spPr>
      </p:pic>
      <p:pic>
        <p:nvPicPr>
          <p:cNvPr id="15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44" y="1768084"/>
            <a:ext cx="209946" cy="209946"/>
          </a:xfrm>
          <a:prstGeom prst="rect">
            <a:avLst/>
          </a:prstGeom>
        </p:spPr>
      </p:pic>
      <p:pic>
        <p:nvPicPr>
          <p:cNvPr id="16" name="Image 6" descr="scar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067" y="1828068"/>
            <a:ext cx="149962" cy="149962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1433779" y="1783080"/>
            <a:ext cx="180320" cy="104973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8"/>
          <p:cNvSpPr txBox="1"/>
          <p:nvPr/>
        </p:nvSpPr>
        <p:spPr>
          <a:xfrm>
            <a:off x="1433779" y="1783080"/>
            <a:ext cx="180320" cy="104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 °C</a:t>
            </a:r>
            <a:endParaRPr lang="en-US" sz="550" dirty="0"/>
          </a:p>
        </p:txBody>
      </p:sp>
      <p:sp>
        <p:nvSpPr>
          <p:cNvPr id="19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HET REGENT…</a:t>
            </a:r>
            <a:endParaRPr lang="en-US" sz="1300" dirty="0"/>
          </a:p>
        </p:txBody>
      </p:sp>
      <p:sp>
        <p:nvSpPr>
          <p:cNvPr id="23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… GRADEN</a:t>
            </a:r>
            <a:endParaRPr lang="en-US" sz="1300" dirty="0"/>
          </a:p>
        </p:txBody>
      </p:sp>
      <p:sp>
        <p:nvSpPr>
          <p:cNvPr id="27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DRAAG + couleur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WANT</a:t>
            </a:r>
            <a:endParaRPr lang="en-US" sz="1300" dirty="0"/>
          </a:p>
        </p:txBody>
      </p:sp>
      <p:sp>
        <p:nvSpPr>
          <p:cNvPr id="35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GA + infinitif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1051560" y="2395728"/>
            <a:ext cx="12115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2240585" y="2410968"/>
            <a:ext cx="1411834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2240585" y="2395728"/>
            <a:ext cx="141183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regent het</a:t>
            </a:r>
            <a:endParaRPr lang="en-US" sz="2400" dirty="0"/>
          </a:p>
        </p:txBody>
      </p:sp>
      <p:sp>
        <p:nvSpPr>
          <p:cNvPr id="44" name="Text 34"/>
          <p:cNvSpPr txBox="1"/>
          <p:nvPr/>
        </p:nvSpPr>
        <p:spPr>
          <a:xfrm>
            <a:off x="3767023" y="2395728"/>
            <a:ext cx="448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2400" dirty="0"/>
          </a:p>
        </p:txBody>
      </p:sp>
      <p:sp>
        <p:nvSpPr>
          <p:cNvPr id="45" name="Shape 35"/>
          <p:cNvSpPr/>
          <p:nvPr/>
        </p:nvSpPr>
        <p:spPr>
          <a:xfrm>
            <a:off x="4193438" y="2410968"/>
            <a:ext cx="1292047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4193438" y="2395728"/>
            <a:ext cx="129204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waait</a:t>
            </a:r>
            <a:endParaRPr lang="en-US" sz="2400" dirty="0"/>
          </a:p>
        </p:txBody>
      </p:sp>
      <p:sp>
        <p:nvSpPr>
          <p:cNvPr id="47" name="Text 37"/>
          <p:cNvSpPr txBox="1"/>
          <p:nvPr/>
        </p:nvSpPr>
        <p:spPr>
          <a:xfrm>
            <a:off x="5600090" y="2395728"/>
            <a:ext cx="7863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hard.</a:t>
            </a:r>
            <a:endParaRPr lang="en-US" sz="2400" dirty="0"/>
          </a:p>
        </p:txBody>
      </p:sp>
      <p:sp>
        <p:nvSpPr>
          <p:cNvPr id="48" name="Shape 38"/>
          <p:cNvSpPr/>
          <p:nvPr/>
        </p:nvSpPr>
        <p:spPr>
          <a:xfrm>
            <a:off x="294650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2446830" y="2828544"/>
            <a:ext cx="99934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2446830" y="2828544"/>
            <a:ext cx="99934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HET REGENT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483946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4369794" y="2828544"/>
            <a:ext cx="93933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4369794" y="2828544"/>
            <a:ext cx="9393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HET WAAIT</a:t>
            </a:r>
            <a:endParaRPr 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6" name="Text 46"/>
          <p:cNvSpPr txBox="1"/>
          <p:nvPr/>
        </p:nvSpPr>
        <p:spPr>
          <a:xfrm>
            <a:off x="1051560" y="3191256"/>
            <a:ext cx="154990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maar</a:t>
            </a:r>
            <a:endParaRPr lang="en-US" sz="2400" dirty="0"/>
          </a:p>
        </p:txBody>
      </p:sp>
      <p:sp>
        <p:nvSpPr>
          <p:cNvPr id="57" name="Shape 47"/>
          <p:cNvSpPr/>
          <p:nvPr/>
        </p:nvSpPr>
        <p:spPr>
          <a:xfrm>
            <a:off x="2578913" y="3206496"/>
            <a:ext cx="1591666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2578913" y="3191256"/>
            <a:ext cx="15916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graden</a:t>
            </a:r>
            <a:endParaRPr lang="en-US" sz="2400" dirty="0"/>
          </a:p>
        </p:txBody>
      </p:sp>
      <p:sp>
        <p:nvSpPr>
          <p:cNvPr id="59" name="Text 49"/>
          <p:cNvSpPr txBox="1"/>
          <p:nvPr/>
        </p:nvSpPr>
        <p:spPr>
          <a:xfrm>
            <a:off x="4170578" y="3191256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0" name="Shape 50"/>
          <p:cNvSpPr/>
          <p:nvPr/>
        </p:nvSpPr>
        <p:spPr>
          <a:xfrm>
            <a:off x="337474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2918412" y="3624072"/>
            <a:ext cx="91266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2918412" y="3624072"/>
            <a:ext cx="9126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… GRADEN</a:t>
            </a:r>
            <a:endParaRPr lang="en-US" sz="1050" dirty="0"/>
          </a:p>
        </p:txBody>
      </p:sp>
      <p:sp>
        <p:nvSpPr>
          <p:cNvPr id="63" name="Shape 53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1051560" y="3986784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66" name="Shape 56"/>
          <p:cNvSpPr/>
          <p:nvPr/>
        </p:nvSpPr>
        <p:spPr>
          <a:xfrm>
            <a:off x="1381658" y="4002024"/>
            <a:ext cx="80893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1381658" y="3986784"/>
            <a:ext cx="8089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draag</a:t>
            </a:r>
            <a:endParaRPr lang="en-US" sz="2400" dirty="0"/>
          </a:p>
        </p:txBody>
      </p:sp>
      <p:sp>
        <p:nvSpPr>
          <p:cNvPr id="68" name="Text 58"/>
          <p:cNvSpPr txBox="1"/>
          <p:nvPr/>
        </p:nvSpPr>
        <p:spPr>
          <a:xfrm>
            <a:off x="2305202" y="3986784"/>
            <a:ext cx="60076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</a:t>
            </a:r>
            <a:endParaRPr lang="en-US" sz="2400" dirty="0"/>
          </a:p>
        </p:txBody>
      </p:sp>
      <p:sp>
        <p:nvSpPr>
          <p:cNvPr id="69" name="Shape 59"/>
          <p:cNvSpPr/>
          <p:nvPr/>
        </p:nvSpPr>
        <p:spPr>
          <a:xfrm>
            <a:off x="2883408" y="4002024"/>
            <a:ext cx="617525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0" name="Text 60"/>
          <p:cNvSpPr txBox="1"/>
          <p:nvPr/>
        </p:nvSpPr>
        <p:spPr>
          <a:xfrm>
            <a:off x="2883408" y="3986784"/>
            <a:ext cx="61752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</a:t>
            </a:r>
            <a:endParaRPr lang="en-US" sz="2400" dirty="0"/>
          </a:p>
        </p:txBody>
      </p:sp>
      <p:sp>
        <p:nvSpPr>
          <p:cNvPr id="71" name="Text 61"/>
          <p:cNvSpPr txBox="1"/>
          <p:nvPr/>
        </p:nvSpPr>
        <p:spPr>
          <a:xfrm>
            <a:off x="3615538" y="3986784"/>
            <a:ext cx="359054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regenjas en blauwe laarzen.</a:t>
            </a:r>
            <a:endParaRPr lang="en-US" sz="2400" dirty="0"/>
          </a:p>
        </p:txBody>
      </p:sp>
      <p:sp>
        <p:nvSpPr>
          <p:cNvPr id="72" name="Shape 62"/>
          <p:cNvSpPr/>
          <p:nvPr/>
        </p:nvSpPr>
        <p:spPr>
          <a:xfrm>
            <a:off x="1786128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3"/>
          <p:cNvSpPr/>
          <p:nvPr/>
        </p:nvSpPr>
        <p:spPr>
          <a:xfrm>
            <a:off x="1428340" y="4419600"/>
            <a:ext cx="7155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1428340" y="4419600"/>
            <a:ext cx="7155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DRAAG</a:t>
            </a:r>
            <a:endParaRPr lang="en-US" sz="1050" dirty="0"/>
          </a:p>
        </p:txBody>
      </p:sp>
      <p:sp>
        <p:nvSpPr>
          <p:cNvPr id="75" name="Shape 65"/>
          <p:cNvSpPr/>
          <p:nvPr/>
        </p:nvSpPr>
        <p:spPr>
          <a:xfrm>
            <a:off x="319217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6" name="Shape 66"/>
          <p:cNvSpPr/>
          <p:nvPr/>
        </p:nvSpPr>
        <p:spPr>
          <a:xfrm>
            <a:off x="2711968" y="4419600"/>
            <a:ext cx="96040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2711968" y="4419600"/>
            <a:ext cx="96040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couleur + -E</a:t>
            </a:r>
            <a:endParaRPr lang="en-US" sz="1050" dirty="0"/>
          </a:p>
        </p:txBody>
      </p:sp>
      <p:sp>
        <p:nvSpPr>
          <p:cNvPr id="78" name="Shape 68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0" name="Text 70"/>
          <p:cNvSpPr txBox="1"/>
          <p:nvPr/>
        </p:nvSpPr>
        <p:spPr>
          <a:xfrm>
            <a:off x="1051560" y="4782312"/>
            <a:ext cx="32836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 ook een paraplu,</a:t>
            </a:r>
            <a:endParaRPr lang="en-US" sz="2400" dirty="0"/>
          </a:p>
        </p:txBody>
      </p:sp>
      <p:sp>
        <p:nvSpPr>
          <p:cNvPr id="81" name="Shape 71"/>
          <p:cNvSpPr/>
          <p:nvPr/>
        </p:nvSpPr>
        <p:spPr>
          <a:xfrm>
            <a:off x="4312615" y="4797552"/>
            <a:ext cx="738530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2" name="Text 72"/>
          <p:cNvSpPr txBox="1"/>
          <p:nvPr/>
        </p:nvSpPr>
        <p:spPr>
          <a:xfrm>
            <a:off x="4312615" y="4782312"/>
            <a:ext cx="7385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2400" dirty="0"/>
          </a:p>
        </p:txBody>
      </p:sp>
      <p:sp>
        <p:nvSpPr>
          <p:cNvPr id="83" name="Text 73"/>
          <p:cNvSpPr txBox="1"/>
          <p:nvPr/>
        </p:nvSpPr>
        <p:spPr>
          <a:xfrm>
            <a:off x="5165750" y="4782312"/>
            <a:ext cx="29053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 niet nat worden.</a:t>
            </a:r>
            <a:endParaRPr lang="en-US" sz="2400" dirty="0"/>
          </a:p>
        </p:txBody>
      </p:sp>
      <p:sp>
        <p:nvSpPr>
          <p:cNvPr id="84" name="Shape 74"/>
          <p:cNvSpPr/>
          <p:nvPr/>
        </p:nvSpPr>
        <p:spPr>
          <a:xfrm>
            <a:off x="468188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5" name="Shape 75"/>
          <p:cNvSpPr/>
          <p:nvPr/>
        </p:nvSpPr>
        <p:spPr>
          <a:xfrm>
            <a:off x="4349163" y="5215128"/>
            <a:ext cx="66543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6"/>
          <p:cNvSpPr txBox="1"/>
          <p:nvPr/>
        </p:nvSpPr>
        <p:spPr>
          <a:xfrm>
            <a:off x="4349163" y="5215128"/>
            <a:ext cx="6654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WANT</a:t>
            </a:r>
            <a:endParaRPr lang="en-US" sz="1050" dirty="0"/>
          </a:p>
        </p:txBody>
      </p:sp>
      <p:sp>
        <p:nvSpPr>
          <p:cNvPr id="87" name="Shape 77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9" name="Shape 79"/>
          <p:cNvSpPr/>
          <p:nvPr/>
        </p:nvSpPr>
        <p:spPr>
          <a:xfrm>
            <a:off x="1051560" y="5593080"/>
            <a:ext cx="1745590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1051560" y="5577840"/>
            <a:ext cx="174559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ga ik</a:t>
            </a:r>
            <a:endParaRPr lang="en-US" sz="2400" dirty="0"/>
          </a:p>
        </p:txBody>
      </p:sp>
      <p:sp>
        <p:nvSpPr>
          <p:cNvPr id="91" name="Text 81"/>
          <p:cNvSpPr txBox="1"/>
          <p:nvPr/>
        </p:nvSpPr>
        <p:spPr>
          <a:xfrm>
            <a:off x="2911754" y="5577840"/>
            <a:ext cx="17910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</a:t>
            </a:r>
            <a:endParaRPr lang="en-US" sz="2400" dirty="0"/>
          </a:p>
        </p:txBody>
      </p:sp>
      <p:sp>
        <p:nvSpPr>
          <p:cNvPr id="92" name="Shape 82"/>
          <p:cNvSpPr/>
          <p:nvPr/>
        </p:nvSpPr>
        <p:spPr>
          <a:xfrm>
            <a:off x="4680204" y="5593080"/>
            <a:ext cx="815950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3" name="Text 83"/>
          <p:cNvSpPr txBox="1"/>
          <p:nvPr/>
        </p:nvSpPr>
        <p:spPr>
          <a:xfrm>
            <a:off x="4680204" y="5577840"/>
            <a:ext cx="81595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zitten</a:t>
            </a:r>
            <a:endParaRPr lang="en-US" sz="2400" dirty="0"/>
          </a:p>
        </p:txBody>
      </p:sp>
      <p:sp>
        <p:nvSpPr>
          <p:cNvPr id="94" name="Text 84"/>
          <p:cNvSpPr txBox="1"/>
          <p:nvPr/>
        </p:nvSpPr>
        <p:spPr>
          <a:xfrm>
            <a:off x="5496154" y="5577840"/>
            <a:ext cx="16453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in Spanje!</a:t>
            </a:r>
            <a:endParaRPr lang="en-US" sz="2400" dirty="0"/>
          </a:p>
        </p:txBody>
      </p:sp>
      <p:sp>
        <p:nvSpPr>
          <p:cNvPr id="95" name="Shape 85"/>
          <p:cNvSpPr/>
          <p:nvPr/>
        </p:nvSpPr>
        <p:spPr>
          <a:xfrm>
            <a:off x="1924355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6" name="Shape 86"/>
          <p:cNvSpPr/>
          <p:nvPr/>
        </p:nvSpPr>
        <p:spPr>
          <a:xfrm>
            <a:off x="1342273" y="6010656"/>
            <a:ext cx="1164165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87"/>
          <p:cNvSpPr txBox="1"/>
          <p:nvPr/>
        </p:nvSpPr>
        <p:spPr>
          <a:xfrm>
            <a:off x="1342273" y="6010656"/>
            <a:ext cx="116416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MORGEN GA IK</a:t>
            </a:r>
            <a:endParaRPr lang="en-US" sz="1050" dirty="0"/>
          </a:p>
        </p:txBody>
      </p:sp>
      <p:sp>
        <p:nvSpPr>
          <p:cNvPr id="98" name="Shape 88"/>
          <p:cNvSpPr/>
          <p:nvPr/>
        </p:nvSpPr>
        <p:spPr>
          <a:xfrm>
            <a:off x="5088179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9" name="Shape 89"/>
          <p:cNvSpPr/>
          <p:nvPr/>
        </p:nvSpPr>
        <p:spPr>
          <a:xfrm>
            <a:off x="4682452" y="601065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0"/>
          <p:cNvSpPr txBox="1"/>
          <p:nvPr/>
        </p:nvSpPr>
        <p:spPr>
          <a:xfrm>
            <a:off x="4682452" y="601065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dokter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530602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66794"/>
            <a:ext cx="4700016" cy="84353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016182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9793" y="1738640"/>
            <a:ext cx="1410005" cy="404896"/>
          </a:xfrm>
          <a:prstGeom prst="roundRect">
            <a:avLst>
              <a:gd name="adj" fmla="val 180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9793" y="1738640"/>
            <a:ext cx="1410005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DOKTER</a:t>
            </a:r>
            <a:endParaRPr lang="en-US" sz="1658" dirty="0"/>
          </a:p>
        </p:txBody>
      </p:sp>
      <p:pic>
        <p:nvPicPr>
          <p:cNvPr id="14" name="Image 1" descr="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801" y="2211019"/>
            <a:ext cx="1889516" cy="1889516"/>
          </a:xfrm>
          <a:prstGeom prst="rect">
            <a:avLst/>
          </a:prstGeom>
        </p:spPr>
      </p:pic>
      <p:pic>
        <p:nvPicPr>
          <p:cNvPr id="15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93" y="2548433"/>
            <a:ext cx="1214689" cy="1214689"/>
          </a:xfrm>
          <a:prstGeom prst="rect">
            <a:avLst/>
          </a:prstGeom>
        </p:spPr>
      </p:pic>
      <p:pic>
        <p:nvPicPr>
          <p:cNvPr id="16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1798" y="3493191"/>
            <a:ext cx="674827" cy="674827"/>
          </a:xfrm>
          <a:prstGeom prst="rect">
            <a:avLst/>
          </a:prstGeom>
        </p:spPr>
      </p:pic>
      <p:pic>
        <p:nvPicPr>
          <p:cNvPr id="17" name="Image 4" descr="pi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794" y="4033053"/>
            <a:ext cx="472379" cy="472379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Chez le médecin</a:t>
            </a:r>
            <a:endParaRPr lang="en-US" sz="1500" dirty="0"/>
          </a:p>
        </p:txBody>
      </p:sp>
      <p:sp>
        <p:nvSpPr>
          <p:cNvPr id="21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êtes malade. Expliquez au médecin ce qui ne va pas.</a:t>
            </a:r>
            <a:endParaRPr lang="en-US" sz="1300" dirty="0"/>
          </a:p>
        </p:txBody>
      </p:sp>
      <p:pic>
        <p:nvPicPr>
          <p:cNvPr id="22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Saluez et dites comment vous allez avec </a:t>
            </a:r>
            <a:r>
              <a:rPr lang="en-US" sz="1450" b="1" dirty="0">
                <a:solidFill>
                  <a:schemeClr val="tx1"/>
                </a:solidFill>
              </a:rPr>
              <a:t>IK BEN</a:t>
            </a:r>
            <a:r>
              <a:rPr lang="en-US" sz="1450" dirty="0">
                <a:solidFill>
                  <a:schemeClr val="tx1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28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IK HEB PIJN AAN</a:t>
            </a:r>
            <a:r>
              <a:rPr lang="en-US" sz="1450" dirty="0">
                <a:solidFill>
                  <a:schemeClr val="tx1"/>
                </a:solidFill>
              </a:rPr>
              <a:t> + une partie du corps.</a:t>
            </a:r>
            <a:endParaRPr lang="en-US" sz="1450" dirty="0"/>
          </a:p>
        </p:txBody>
      </p:sp>
      <p:sp>
        <p:nvSpPr>
          <p:cNvPr id="32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quand avec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avec </a:t>
            </a:r>
            <a:r>
              <a:rPr lang="en-US" sz="1450" b="1" dirty="0">
                <a:solidFill>
                  <a:schemeClr val="tx1"/>
                </a:solidFill>
              </a:rPr>
              <a:t>MOET IK</a:t>
            </a:r>
            <a:r>
              <a:rPr lang="en-US" sz="1450" dirty="0">
                <a:solidFill>
                  <a:schemeClr val="tx1"/>
                </a:solidFill>
              </a:rPr>
              <a:t> … + infinitif à la fin.</a:t>
            </a:r>
            <a:endParaRPr lang="en-US" sz="1450" dirty="0"/>
          </a:p>
        </p:txBody>
      </p:sp>
      <p:sp>
        <p:nvSpPr>
          <p:cNvPr id="40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dokter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62356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70532"/>
            <a:ext cx="1060704" cy="18745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928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7644" y="1453164"/>
            <a:ext cx="318211" cy="89977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7644" y="1453164"/>
            <a:ext cx="318211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DOKTER</a:t>
            </a:r>
            <a:endParaRPr lang="en-US" sz="550" dirty="0"/>
          </a:p>
        </p:txBody>
      </p:sp>
      <p:pic>
        <p:nvPicPr>
          <p:cNvPr id="14" name="Image 1" descr="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424" y="1558138"/>
            <a:ext cx="419892" cy="419892"/>
          </a:xfrm>
          <a:prstGeom prst="rect">
            <a:avLst/>
          </a:prstGeom>
        </p:spPr>
      </p:pic>
      <p:pic>
        <p:nvPicPr>
          <p:cNvPr id="15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072" y="1633118"/>
            <a:ext cx="269931" cy="269931"/>
          </a:xfrm>
          <a:prstGeom prst="rect">
            <a:avLst/>
          </a:prstGeom>
        </p:spPr>
      </p:pic>
      <p:pic>
        <p:nvPicPr>
          <p:cNvPr id="16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1843065"/>
            <a:ext cx="149962" cy="149962"/>
          </a:xfrm>
          <a:prstGeom prst="rect">
            <a:avLst/>
          </a:prstGeom>
        </p:spPr>
      </p:pic>
      <p:pic>
        <p:nvPicPr>
          <p:cNvPr id="17" name="Image 4" descr="pi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1963034"/>
            <a:ext cx="104973" cy="104973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IK BEN + adj.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PIJN AAN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SINDS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MOET IK … + inf.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GEEN / NIET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2"/>
          <p:cNvSpPr txBox="1"/>
          <p:nvPr/>
        </p:nvSpPr>
        <p:spPr>
          <a:xfrm>
            <a:off x="1051560" y="2395728"/>
            <a:ext cx="29605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Goedemorgen, dokter,</a:t>
            </a:r>
            <a:endParaRPr lang="en-US" sz="2400" dirty="0"/>
          </a:p>
        </p:txBody>
      </p:sp>
      <p:sp>
        <p:nvSpPr>
          <p:cNvPr id="41" name="Shape 33"/>
          <p:cNvSpPr/>
          <p:nvPr/>
        </p:nvSpPr>
        <p:spPr>
          <a:xfrm>
            <a:off x="3989527" y="2410968"/>
            <a:ext cx="1426769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3989527" y="2395728"/>
            <a:ext cx="142676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ziek</a:t>
            </a:r>
            <a:endParaRPr lang="en-US" sz="2400" dirty="0"/>
          </a:p>
        </p:txBody>
      </p:sp>
      <p:sp>
        <p:nvSpPr>
          <p:cNvPr id="43" name="Text 35"/>
          <p:cNvSpPr txBox="1"/>
          <p:nvPr/>
        </p:nvSpPr>
        <p:spPr>
          <a:xfrm>
            <a:off x="5530901" y="2395728"/>
            <a:ext cx="17532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heel moe.</a:t>
            </a:r>
            <a:endParaRPr lang="en-US" sz="2400" dirty="0"/>
          </a:p>
        </p:txBody>
      </p:sp>
      <p:sp>
        <p:nvSpPr>
          <p:cNvPr id="44" name="Shape 36"/>
          <p:cNvSpPr/>
          <p:nvPr/>
        </p:nvSpPr>
        <p:spPr>
          <a:xfrm>
            <a:off x="470291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4197839" y="2828544"/>
            <a:ext cx="101014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4197839" y="2828544"/>
            <a:ext cx="101014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IK BEN + adj.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9" name="Text 41"/>
          <p:cNvSpPr txBox="1"/>
          <p:nvPr/>
        </p:nvSpPr>
        <p:spPr>
          <a:xfrm>
            <a:off x="1051560" y="3191256"/>
            <a:ext cx="89336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</a:t>
            </a:r>
            <a:endParaRPr lang="en-US" sz="2400" dirty="0"/>
          </a:p>
        </p:txBody>
      </p:sp>
      <p:sp>
        <p:nvSpPr>
          <p:cNvPr id="50" name="Shape 42"/>
          <p:cNvSpPr/>
          <p:nvPr/>
        </p:nvSpPr>
        <p:spPr>
          <a:xfrm>
            <a:off x="1922374" y="3206496"/>
            <a:ext cx="1105205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922374" y="3191256"/>
            <a:ext cx="11052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pijn aan</a:t>
            </a:r>
            <a:endParaRPr lang="en-US" sz="2400" dirty="0"/>
          </a:p>
        </p:txBody>
      </p:sp>
      <p:sp>
        <p:nvSpPr>
          <p:cNvPr id="52" name="Text 44"/>
          <p:cNvSpPr txBox="1"/>
          <p:nvPr/>
        </p:nvSpPr>
        <p:spPr>
          <a:xfrm>
            <a:off x="3142183" y="3191256"/>
            <a:ext cx="366186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hoofd en aan mijn keel.</a:t>
            </a:r>
            <a:endParaRPr lang="en-US" sz="2400" dirty="0"/>
          </a:p>
        </p:txBody>
      </p:sp>
      <p:sp>
        <p:nvSpPr>
          <p:cNvPr id="53" name="Shape 45"/>
          <p:cNvSpPr/>
          <p:nvPr/>
        </p:nvSpPr>
        <p:spPr>
          <a:xfrm>
            <a:off x="247497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2060915" y="3624072"/>
            <a:ext cx="828123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2060915" y="3624072"/>
            <a:ext cx="82812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PIJN AAN</a:t>
            </a:r>
            <a:endParaRPr lang="en-US" sz="1050" dirty="0"/>
          </a:p>
        </p:txBody>
      </p:sp>
      <p:sp>
        <p:nvSpPr>
          <p:cNvPr id="56" name="Shape 48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8" name="Text 50"/>
          <p:cNvSpPr txBox="1"/>
          <p:nvPr/>
        </p:nvSpPr>
        <p:spPr>
          <a:xfrm>
            <a:off x="1051560" y="3986784"/>
            <a:ext cx="11152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hoest</a:t>
            </a:r>
            <a:endParaRPr lang="en-US" sz="2400" dirty="0"/>
          </a:p>
        </p:txBody>
      </p:sp>
      <p:sp>
        <p:nvSpPr>
          <p:cNvPr id="59" name="Shape 51"/>
          <p:cNvSpPr/>
          <p:nvPr/>
        </p:nvSpPr>
        <p:spPr>
          <a:xfrm>
            <a:off x="2144268" y="4002024"/>
            <a:ext cx="197723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2144268" y="3986784"/>
            <a:ext cx="197723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maandag</a:t>
            </a:r>
            <a:endParaRPr lang="en-US" sz="2400" dirty="0"/>
          </a:p>
        </p:txBody>
      </p:sp>
      <p:sp>
        <p:nvSpPr>
          <p:cNvPr id="61" name="Text 53"/>
          <p:cNvSpPr txBox="1"/>
          <p:nvPr/>
        </p:nvSpPr>
        <p:spPr>
          <a:xfrm>
            <a:off x="4121506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2" name="Shape 54"/>
          <p:cNvSpPr/>
          <p:nvPr/>
        </p:nvSpPr>
        <p:spPr>
          <a:xfrm>
            <a:off x="3132887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2811104" y="4419600"/>
            <a:ext cx="64356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2811104" y="4419600"/>
            <a:ext cx="6435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SINDS</a:t>
            </a:r>
            <a:endParaRPr lang="en-US" sz="1050" dirty="0"/>
          </a:p>
        </p:txBody>
      </p:sp>
      <p:sp>
        <p:nvSpPr>
          <p:cNvPr id="65" name="Shape 57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67" name="Shape 59"/>
          <p:cNvSpPr/>
          <p:nvPr/>
        </p:nvSpPr>
        <p:spPr>
          <a:xfrm>
            <a:off x="1051560" y="4797552"/>
            <a:ext cx="1071067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8" name="Text 60"/>
          <p:cNvSpPr txBox="1"/>
          <p:nvPr/>
        </p:nvSpPr>
        <p:spPr>
          <a:xfrm>
            <a:off x="1051560" y="4782312"/>
            <a:ext cx="107106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 ik</a:t>
            </a:r>
            <a:endParaRPr lang="en-US" sz="2400" dirty="0"/>
          </a:p>
        </p:txBody>
      </p:sp>
      <p:sp>
        <p:nvSpPr>
          <p:cNvPr id="69" name="Text 61"/>
          <p:cNvSpPr txBox="1"/>
          <p:nvPr/>
        </p:nvSpPr>
        <p:spPr>
          <a:xfrm>
            <a:off x="2237232" y="4782312"/>
            <a:ext cx="110307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</a:t>
            </a:r>
            <a:endParaRPr lang="en-US" sz="2400" dirty="0"/>
          </a:p>
        </p:txBody>
      </p:sp>
      <p:sp>
        <p:nvSpPr>
          <p:cNvPr id="70" name="Shape 62"/>
          <p:cNvSpPr/>
          <p:nvPr/>
        </p:nvSpPr>
        <p:spPr>
          <a:xfrm>
            <a:off x="3317748" y="4797552"/>
            <a:ext cx="1573682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3317748" y="4782312"/>
            <a:ext cx="1573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thuisblijven</a:t>
            </a:r>
            <a:endParaRPr lang="en-US" sz="2400" dirty="0"/>
          </a:p>
        </p:txBody>
      </p:sp>
      <p:sp>
        <p:nvSpPr>
          <p:cNvPr id="72" name="Text 64"/>
          <p:cNvSpPr txBox="1"/>
          <p:nvPr/>
        </p:nvSpPr>
        <p:spPr>
          <a:xfrm>
            <a:off x="4891430" y="4782312"/>
            <a:ext cx="2782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73" name="Shape 65"/>
          <p:cNvSpPr/>
          <p:nvPr/>
        </p:nvSpPr>
        <p:spPr>
          <a:xfrm>
            <a:off x="1587094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4" name="Shape 66"/>
          <p:cNvSpPr/>
          <p:nvPr/>
        </p:nvSpPr>
        <p:spPr>
          <a:xfrm>
            <a:off x="1193902" y="5215128"/>
            <a:ext cx="78638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193902" y="5215128"/>
            <a:ext cx="7863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 IK</a:t>
            </a:r>
            <a:endParaRPr lang="en-US" sz="1050" dirty="0"/>
          </a:p>
        </p:txBody>
      </p:sp>
      <p:sp>
        <p:nvSpPr>
          <p:cNvPr id="76" name="Shape 68"/>
          <p:cNvSpPr/>
          <p:nvPr/>
        </p:nvSpPr>
        <p:spPr>
          <a:xfrm>
            <a:off x="4104589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9"/>
          <p:cNvSpPr/>
          <p:nvPr/>
        </p:nvSpPr>
        <p:spPr>
          <a:xfrm>
            <a:off x="3698862" y="5215128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0"/>
          <p:cNvSpPr txBox="1"/>
          <p:nvPr/>
        </p:nvSpPr>
        <p:spPr>
          <a:xfrm>
            <a:off x="3698862" y="5215128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79" name="Shape 71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2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Text 73"/>
          <p:cNvSpPr txBox="1"/>
          <p:nvPr/>
        </p:nvSpPr>
        <p:spPr>
          <a:xfrm>
            <a:off x="1051560" y="5577840"/>
            <a:ext cx="168402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Wat? Ik mag</a:t>
            </a:r>
            <a:endParaRPr lang="en-US" sz="2400" dirty="0"/>
          </a:p>
        </p:txBody>
      </p:sp>
      <p:sp>
        <p:nvSpPr>
          <p:cNvPr id="82" name="Shape 74"/>
          <p:cNvSpPr/>
          <p:nvPr/>
        </p:nvSpPr>
        <p:spPr>
          <a:xfrm>
            <a:off x="2713025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3" name="Text 75"/>
          <p:cNvSpPr txBox="1"/>
          <p:nvPr/>
        </p:nvSpPr>
        <p:spPr>
          <a:xfrm>
            <a:off x="2713025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84" name="Text 76"/>
          <p:cNvSpPr txBox="1"/>
          <p:nvPr/>
        </p:nvSpPr>
        <p:spPr>
          <a:xfrm>
            <a:off x="3533851" y="5577840"/>
            <a:ext cx="30016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chocolade meer eten?!</a:t>
            </a:r>
            <a:endParaRPr lang="en-US" sz="2400" dirty="0"/>
          </a:p>
        </p:txBody>
      </p:sp>
      <p:sp>
        <p:nvSpPr>
          <p:cNvPr id="85" name="Shape 77"/>
          <p:cNvSpPr/>
          <p:nvPr/>
        </p:nvSpPr>
        <p:spPr>
          <a:xfrm>
            <a:off x="3066136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2573598" y="6010656"/>
            <a:ext cx="98507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9"/>
          <p:cNvSpPr txBox="1"/>
          <p:nvPr/>
        </p:nvSpPr>
        <p:spPr>
          <a:xfrm>
            <a:off x="2573598" y="6010656"/>
            <a:ext cx="9850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GEEN / NIET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A2 · Survie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A2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perfectum</a:t>
            </a:r>
            <a:r>
              <a:rPr lang="en-US" sz="1400" dirty="0">
                <a:solidFill>
                  <a:schemeClr val="bg1"/>
                </a:solidFill>
              </a:rPr>
              <a:t> (hebben / zijn)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imparfait </a:t>
            </a:r>
            <a:r>
              <a:rPr lang="en-US" sz="1400" b="1" dirty="0">
                <a:solidFill>
                  <a:schemeClr val="bg1"/>
                </a:solidFill>
              </a:rPr>
              <a:t>was / had / moest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comparatif / superlatif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diminutifs · impératif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verbes </a:t>
            </a:r>
            <a:r>
              <a:rPr lang="en-US" sz="1400" b="1" dirty="0">
                <a:solidFill>
                  <a:schemeClr val="bg1"/>
                </a:solidFill>
              </a:rPr>
              <a:t>pronominaux</a:t>
            </a:r>
            <a:r>
              <a:rPr lang="en-US" sz="1400" dirty="0">
                <a:solidFill>
                  <a:schemeClr val="bg1"/>
                </a:solidFill>
              </a:rPr>
              <a:t> · modaux · </a:t>
            </a:r>
            <a:r>
              <a:rPr lang="en-US" sz="1400" b="1" dirty="0">
                <a:solidFill>
                  <a:schemeClr val="bg1"/>
                </a:solidFill>
              </a:rPr>
              <a:t>zullen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want · omdat · dus · daarom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als / dat</a:t>
            </a:r>
            <a:r>
              <a:rPr lang="en-US" sz="1400" dirty="0">
                <a:solidFill>
                  <a:schemeClr val="bg1"/>
                </a:solidFill>
              </a:rPr>
              <a:t> + verbe à la fin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deze / die / dit / dat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naar / tussen / boven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73125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258303"/>
            <a:ext cx="1627632" cy="448189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70248" y="2116770"/>
            <a:ext cx="1627632" cy="141533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2354" y="1562431"/>
            <a:ext cx="212300" cy="212300"/>
          </a:xfrm>
          <a:prstGeom prst="rect">
            <a:avLst/>
          </a:prstGeom>
        </p:spPr>
      </p:pic>
      <p:pic>
        <p:nvPicPr>
          <p:cNvPr id="12" name="Image 1" descr="k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564" y="1550637"/>
            <a:ext cx="283066" cy="283066"/>
          </a:xfrm>
          <a:prstGeom prst="rect">
            <a:avLst/>
          </a:prstGeom>
        </p:spPr>
      </p:pic>
      <p:pic>
        <p:nvPicPr>
          <p:cNvPr id="13" name="Image 2" descr="sailb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446" y="1916264"/>
            <a:ext cx="212300" cy="212300"/>
          </a:xfrm>
          <a:prstGeom prst="rect">
            <a:avLst/>
          </a:prstGeom>
        </p:spPr>
      </p:pic>
      <p:pic>
        <p:nvPicPr>
          <p:cNvPr id="14" name="Image 3" descr="umbrella on grou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801" y="2069592"/>
            <a:ext cx="471777" cy="471777"/>
          </a:xfrm>
          <a:prstGeom prst="rect">
            <a:avLst/>
          </a:prstGeom>
        </p:spPr>
      </p:pic>
      <p:pic>
        <p:nvPicPr>
          <p:cNvPr id="15" name="Image 4" descr="shrim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53" y="2376247"/>
            <a:ext cx="188711" cy="188711"/>
          </a:xfrm>
          <a:prstGeom prst="rect">
            <a:avLst/>
          </a:prstGeom>
        </p:spPr>
      </p:pic>
      <p:pic>
        <p:nvPicPr>
          <p:cNvPr id="16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4485" y="2376247"/>
            <a:ext cx="235889" cy="235889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4906" y="2376247"/>
            <a:ext cx="235889" cy="23588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0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weekend aan zee</a:t>
            </a:r>
            <a:endParaRPr lang="en-US" sz="1150" dirty="0"/>
          </a:p>
        </p:txBody>
      </p:sp>
      <p:sp>
        <p:nvSpPr>
          <p:cNvPr id="21" name="Text 11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week-end à la mer</a:t>
            </a:r>
            <a:endParaRPr lang="en-US" sz="950" dirty="0"/>
          </a:p>
        </p:txBody>
      </p:sp>
      <p:pic>
        <p:nvPicPr>
          <p:cNvPr id="22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6163056" y="1527048"/>
            <a:ext cx="1627632" cy="8727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6163056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15"/>
          <p:cNvSpPr/>
          <p:nvPr/>
        </p:nvSpPr>
        <p:spPr>
          <a:xfrm>
            <a:off x="6163056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6244438" y="1644992"/>
            <a:ext cx="292974" cy="424600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6390924" y="1644992"/>
            <a:ext cx="914" cy="424600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6244438" y="1857292"/>
            <a:ext cx="292974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830385" y="1644992"/>
            <a:ext cx="292974" cy="424600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6976872" y="1644992"/>
            <a:ext cx="914" cy="424600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6830385" y="1857292"/>
            <a:ext cx="292974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6553688" y="2140359"/>
            <a:ext cx="260421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desktop compu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6240" y="1928059"/>
            <a:ext cx="200505" cy="200505"/>
          </a:xfrm>
          <a:prstGeom prst="rect">
            <a:avLst/>
          </a:prstGeom>
        </p:spPr>
      </p:pic>
      <p:pic>
        <p:nvPicPr>
          <p:cNvPr id="35" name="Image 9" descr="mirro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675" y="1597815"/>
            <a:ext cx="294861" cy="294861"/>
          </a:xfrm>
          <a:prstGeom prst="rect">
            <a:avLst/>
          </a:prstGeom>
        </p:spPr>
      </p:pic>
      <p:pic>
        <p:nvPicPr>
          <p:cNvPr id="36" name="Image 10" descr="couch and lam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464" y="1975237"/>
            <a:ext cx="471777" cy="471777"/>
          </a:xfrm>
          <a:prstGeom prst="rect">
            <a:avLst/>
          </a:prstGeom>
        </p:spPr>
      </p:pic>
      <p:pic>
        <p:nvPicPr>
          <p:cNvPr id="37" name="Image 11" descr="musical not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95372" y="1550637"/>
            <a:ext cx="141533" cy="141533"/>
          </a:xfrm>
          <a:prstGeom prst="rect">
            <a:avLst/>
          </a:prstGeom>
        </p:spPr>
      </p:pic>
      <p:sp>
        <p:nvSpPr>
          <p:cNvPr id="38" name="Shape 23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4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25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nieuwe appartement</a:t>
            </a:r>
            <a:endParaRPr lang="en-US" sz="1150" dirty="0"/>
          </a:p>
        </p:txBody>
      </p:sp>
      <p:sp>
        <p:nvSpPr>
          <p:cNvPr id="41" name="Text 26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nouvel appartement</a:t>
            </a:r>
            <a:endParaRPr lang="en-US" sz="950" dirty="0"/>
          </a:p>
        </p:txBody>
      </p:sp>
      <p:pic>
        <p:nvPicPr>
          <p:cNvPr id="42" name="Image 12" descr="PenNib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43" name="Shape 27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28"/>
          <p:cNvSpPr/>
          <p:nvPr/>
        </p:nvSpPr>
        <p:spPr>
          <a:xfrm>
            <a:off x="8055864" y="1527048"/>
            <a:ext cx="1627632" cy="884583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29"/>
          <p:cNvSpPr/>
          <p:nvPr/>
        </p:nvSpPr>
        <p:spPr>
          <a:xfrm>
            <a:off x="8055864" y="2411631"/>
            <a:ext cx="1627632" cy="294861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30"/>
          <p:cNvSpPr/>
          <p:nvPr/>
        </p:nvSpPr>
        <p:spPr>
          <a:xfrm>
            <a:off x="8055864" y="2393939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31"/>
          <p:cNvSpPr/>
          <p:nvPr/>
        </p:nvSpPr>
        <p:spPr>
          <a:xfrm>
            <a:off x="8706917" y="1597815"/>
            <a:ext cx="325526" cy="200505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2"/>
          <p:cNvSpPr txBox="1"/>
          <p:nvPr/>
        </p:nvSpPr>
        <p:spPr>
          <a:xfrm>
            <a:off x="8706917" y="1597815"/>
            <a:ext cx="325526" cy="200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1" b="1" spc="100" kern="0" dirty="0">
                <a:solidFill>
                  <a:schemeClr val="bg1"/>
                </a:solidFill>
              </a:rPr>
              <a:t>30!</a:t>
            </a:r>
            <a:endParaRPr lang="en-US" sz="821" dirty="0"/>
          </a:p>
        </p:txBody>
      </p:sp>
      <p:pic>
        <p:nvPicPr>
          <p:cNvPr id="49" name="Image 13" descr="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7246" y="1574226"/>
            <a:ext cx="306655" cy="306655"/>
          </a:xfrm>
          <a:prstGeom prst="rect">
            <a:avLst/>
          </a:prstGeom>
        </p:spPr>
      </p:pic>
      <p:pic>
        <p:nvPicPr>
          <p:cNvPr id="50" name="Image 14" descr="ballo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25417" y="1574226"/>
            <a:ext cx="306655" cy="306655"/>
          </a:xfrm>
          <a:prstGeom prst="rect">
            <a:avLst/>
          </a:prstGeom>
        </p:spPr>
      </p:pic>
      <p:pic>
        <p:nvPicPr>
          <p:cNvPr id="51" name="Image 15" descr="birthday cak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58088" y="1998825"/>
            <a:ext cx="377422" cy="377422"/>
          </a:xfrm>
          <a:prstGeom prst="rect">
            <a:avLst/>
          </a:prstGeom>
        </p:spPr>
      </p:pic>
      <p:pic>
        <p:nvPicPr>
          <p:cNvPr id="52" name="Image 16" descr="party poppe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53522" y="2116770"/>
            <a:ext cx="306655" cy="306655"/>
          </a:xfrm>
          <a:prstGeom prst="rect">
            <a:avLst/>
          </a:prstGeom>
        </p:spPr>
      </p:pic>
      <p:pic>
        <p:nvPicPr>
          <p:cNvPr id="53" name="Image 17" descr="wrapped gif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27759" y="2140359"/>
            <a:ext cx="283066" cy="283066"/>
          </a:xfrm>
          <a:prstGeom prst="rect">
            <a:avLst/>
          </a:prstGeom>
        </p:spPr>
      </p:pic>
      <p:pic>
        <p:nvPicPr>
          <p:cNvPr id="54" name="Image 18" descr="top hat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32443" y="1845498"/>
            <a:ext cx="188711" cy="188711"/>
          </a:xfrm>
          <a:prstGeom prst="rect">
            <a:avLst/>
          </a:prstGeom>
        </p:spPr>
      </p:pic>
      <p:sp>
        <p:nvSpPr>
          <p:cNvPr id="55" name="Shape 33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34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57" name="Text 35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feestje</a:t>
            </a:r>
            <a:endParaRPr lang="en-US" sz="1150" dirty="0"/>
          </a:p>
        </p:txBody>
      </p:sp>
      <p:sp>
        <p:nvSpPr>
          <p:cNvPr id="58" name="Text 36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invitation</a:t>
            </a:r>
            <a:endParaRPr lang="en-US" sz="950" dirty="0"/>
          </a:p>
        </p:txBody>
      </p:sp>
      <p:pic>
        <p:nvPicPr>
          <p:cNvPr id="59" name="Image 19" descr="PenNib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60" name="Shape 37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38"/>
          <p:cNvSpPr/>
          <p:nvPr/>
        </p:nvSpPr>
        <p:spPr>
          <a:xfrm>
            <a:off x="9948672" y="1527048"/>
            <a:ext cx="1627632" cy="77843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39"/>
          <p:cNvSpPr/>
          <p:nvPr/>
        </p:nvSpPr>
        <p:spPr>
          <a:xfrm>
            <a:off x="9948672" y="2305481"/>
            <a:ext cx="1627632" cy="401011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40"/>
          <p:cNvSpPr/>
          <p:nvPr/>
        </p:nvSpPr>
        <p:spPr>
          <a:xfrm>
            <a:off x="10030054" y="1597815"/>
            <a:ext cx="423184" cy="141533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41"/>
          <p:cNvSpPr txBox="1"/>
          <p:nvPr/>
        </p:nvSpPr>
        <p:spPr>
          <a:xfrm>
            <a:off x="10030054" y="1597815"/>
            <a:ext cx="423184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NAMEN</a:t>
            </a:r>
            <a:endParaRPr lang="en-US" sz="580" dirty="0"/>
          </a:p>
        </p:txBody>
      </p:sp>
      <p:sp>
        <p:nvSpPr>
          <p:cNvPr id="65" name="Shape 42"/>
          <p:cNvSpPr/>
          <p:nvPr/>
        </p:nvSpPr>
        <p:spPr>
          <a:xfrm>
            <a:off x="10925251" y="1597815"/>
            <a:ext cx="553395" cy="16512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43"/>
          <p:cNvSpPr txBox="1"/>
          <p:nvPr/>
        </p:nvSpPr>
        <p:spPr>
          <a:xfrm>
            <a:off x="10925251" y="1597815"/>
            <a:ext cx="553395" cy="16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6" b="1" spc="100" kern="0" dirty="0">
                <a:solidFill>
                  <a:schemeClr val="bg1"/>
                </a:solidFill>
              </a:rPr>
              <a:t>+ 40 MIN</a:t>
            </a:r>
            <a:endParaRPr lang="en-US" sz="676" dirty="0"/>
          </a:p>
        </p:txBody>
      </p:sp>
      <p:pic>
        <p:nvPicPr>
          <p:cNvPr id="67" name="Image 20" descr="man office work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13777" y="1904470"/>
            <a:ext cx="589722" cy="589722"/>
          </a:xfrm>
          <a:prstGeom prst="rect">
            <a:avLst/>
          </a:prstGeom>
        </p:spPr>
      </p:pic>
      <p:pic>
        <p:nvPicPr>
          <p:cNvPr id="68" name="Image 21" descr="mobile phon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485791" y="2116770"/>
            <a:ext cx="165122" cy="165122"/>
          </a:xfrm>
          <a:prstGeom prst="rect">
            <a:avLst/>
          </a:prstGeom>
        </p:spPr>
      </p:pic>
      <p:pic>
        <p:nvPicPr>
          <p:cNvPr id="69" name="Image 22" descr="trai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92699" y="1951648"/>
            <a:ext cx="353833" cy="353833"/>
          </a:xfrm>
          <a:prstGeom prst="rect">
            <a:avLst/>
          </a:prstGeom>
        </p:spPr>
      </p:pic>
      <p:sp>
        <p:nvSpPr>
          <p:cNvPr id="70" name="Shape 44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45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72" name="Text 46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De trein heeft vertraging</a:t>
            </a:r>
            <a:endParaRPr lang="en-US" sz="1150" dirty="0"/>
          </a:p>
        </p:txBody>
      </p:sp>
      <p:sp>
        <p:nvSpPr>
          <p:cNvPr id="73" name="Text 47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Le train a du retard</a:t>
            </a:r>
            <a:endParaRPr lang="en-US" sz="950" dirty="0"/>
          </a:p>
        </p:txBody>
      </p:sp>
      <p:pic>
        <p:nvPicPr>
          <p:cNvPr id="74" name="Image 23" descr="Comments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75" name="Shape 48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49"/>
          <p:cNvSpPr/>
          <p:nvPr/>
        </p:nvSpPr>
        <p:spPr>
          <a:xfrm>
            <a:off x="4270248" y="3767328"/>
            <a:ext cx="1627632" cy="872788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50"/>
          <p:cNvSpPr/>
          <p:nvPr/>
        </p:nvSpPr>
        <p:spPr>
          <a:xfrm>
            <a:off x="4270248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51"/>
          <p:cNvSpPr/>
          <p:nvPr/>
        </p:nvSpPr>
        <p:spPr>
          <a:xfrm>
            <a:off x="4270248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52"/>
          <p:cNvSpPr/>
          <p:nvPr/>
        </p:nvSpPr>
        <p:spPr>
          <a:xfrm>
            <a:off x="4319077" y="4274489"/>
            <a:ext cx="911474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0" name="Image 24" descr="scarf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67906" y="4003217"/>
            <a:ext cx="259478" cy="259478"/>
          </a:xfrm>
          <a:prstGeom prst="rect">
            <a:avLst/>
          </a:prstGeom>
        </p:spPr>
      </p:pic>
      <p:pic>
        <p:nvPicPr>
          <p:cNvPr id="81" name="Image 25" descr="blue book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91090" y="4026806"/>
            <a:ext cx="235889" cy="235889"/>
          </a:xfrm>
          <a:prstGeom prst="rect">
            <a:avLst/>
          </a:prstGeom>
        </p:spPr>
      </p:pic>
      <p:sp>
        <p:nvSpPr>
          <p:cNvPr id="82" name="Shape 53"/>
          <p:cNvSpPr/>
          <p:nvPr/>
        </p:nvSpPr>
        <p:spPr>
          <a:xfrm>
            <a:off x="4367906" y="4357050"/>
            <a:ext cx="260421" cy="117944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54"/>
          <p:cNvSpPr txBox="1"/>
          <p:nvPr/>
        </p:nvSpPr>
        <p:spPr>
          <a:xfrm>
            <a:off x="4367906" y="4357050"/>
            <a:ext cx="260421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€ 80</a:t>
            </a:r>
            <a:endParaRPr lang="en-US" sz="550" dirty="0"/>
          </a:p>
        </p:txBody>
      </p:sp>
      <p:sp>
        <p:nvSpPr>
          <p:cNvPr id="84" name="Shape 55"/>
          <p:cNvSpPr/>
          <p:nvPr/>
        </p:nvSpPr>
        <p:spPr>
          <a:xfrm>
            <a:off x="4791090" y="4357050"/>
            <a:ext cx="260421" cy="117944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56"/>
          <p:cNvSpPr txBox="1"/>
          <p:nvPr/>
        </p:nvSpPr>
        <p:spPr>
          <a:xfrm>
            <a:off x="4791090" y="4357050"/>
            <a:ext cx="260421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€ 20</a:t>
            </a:r>
            <a:endParaRPr lang="en-US" sz="550" dirty="0"/>
          </a:p>
        </p:txBody>
      </p:sp>
      <p:pic>
        <p:nvPicPr>
          <p:cNvPr id="86" name="Image 26" descr="woman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44485" y="3932450"/>
            <a:ext cx="424600" cy="424600"/>
          </a:xfrm>
          <a:prstGeom prst="rect">
            <a:avLst/>
          </a:prstGeom>
        </p:spPr>
      </p:pic>
      <p:pic>
        <p:nvPicPr>
          <p:cNvPr id="87" name="Image 27" descr="wrapped gift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09590" y="4380639"/>
            <a:ext cx="283066" cy="283066"/>
          </a:xfrm>
          <a:prstGeom prst="rect">
            <a:avLst/>
          </a:prstGeom>
        </p:spPr>
      </p:pic>
      <p:pic>
        <p:nvPicPr>
          <p:cNvPr id="88" name="Image 28" descr="shopping bags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51630" y="4592938"/>
            <a:ext cx="283066" cy="283066"/>
          </a:xfrm>
          <a:prstGeom prst="rect">
            <a:avLst/>
          </a:prstGeom>
        </p:spPr>
      </p:pic>
      <p:sp>
        <p:nvSpPr>
          <p:cNvPr id="89" name="Shape 57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58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cadeau kopen</a:t>
            </a:r>
            <a:endParaRPr lang="en-US" sz="1150" dirty="0"/>
          </a:p>
        </p:txBody>
      </p:sp>
      <p:sp>
        <p:nvSpPr>
          <p:cNvPr id="92" name="Text 60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Acheter un cadeau</a:t>
            </a:r>
            <a:endParaRPr lang="en-US" sz="950" dirty="0"/>
          </a:p>
        </p:txBody>
      </p:sp>
      <p:pic>
        <p:nvPicPr>
          <p:cNvPr id="93" name="Image 29" descr="Comments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94" name="Shape 61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62"/>
          <p:cNvSpPr/>
          <p:nvPr/>
        </p:nvSpPr>
        <p:spPr>
          <a:xfrm>
            <a:off x="6163056" y="3767328"/>
            <a:ext cx="1627632" cy="872788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63"/>
          <p:cNvSpPr/>
          <p:nvPr/>
        </p:nvSpPr>
        <p:spPr>
          <a:xfrm>
            <a:off x="6163056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64"/>
          <p:cNvSpPr/>
          <p:nvPr/>
        </p:nvSpPr>
        <p:spPr>
          <a:xfrm>
            <a:off x="6163056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Shape 65"/>
          <p:cNvSpPr/>
          <p:nvPr/>
        </p:nvSpPr>
        <p:spPr>
          <a:xfrm>
            <a:off x="7041977" y="3826300"/>
            <a:ext cx="683605" cy="141533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66"/>
          <p:cNvSpPr txBox="1"/>
          <p:nvPr/>
        </p:nvSpPr>
        <p:spPr>
          <a:xfrm>
            <a:off x="7041977" y="3826300"/>
            <a:ext cx="683605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APOTHEEK</a:t>
            </a:r>
            <a:endParaRPr lang="en-US" sz="580" dirty="0"/>
          </a:p>
        </p:txBody>
      </p:sp>
      <p:pic>
        <p:nvPicPr>
          <p:cNvPr id="100" name="Image 30" descr="woman health worker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172188" y="4003217"/>
            <a:ext cx="542544" cy="542544"/>
          </a:xfrm>
          <a:prstGeom prst="rect">
            <a:avLst/>
          </a:prstGeom>
        </p:spPr>
      </p:pic>
      <p:sp>
        <p:nvSpPr>
          <p:cNvPr id="101" name="Shape 67"/>
          <p:cNvSpPr/>
          <p:nvPr/>
        </p:nvSpPr>
        <p:spPr>
          <a:xfrm>
            <a:off x="6976872" y="4474994"/>
            <a:ext cx="813816" cy="471777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2" name="Image 31" descr="pill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09425" y="4321666"/>
            <a:ext cx="153328" cy="153328"/>
          </a:xfrm>
          <a:prstGeom prst="rect">
            <a:avLst/>
          </a:prstGeom>
        </p:spPr>
      </p:pic>
      <p:pic>
        <p:nvPicPr>
          <p:cNvPr id="103" name="Image 32" descr="honey pot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611648" y="4309872"/>
            <a:ext cx="165122" cy="165122"/>
          </a:xfrm>
          <a:prstGeom prst="rect">
            <a:avLst/>
          </a:prstGeom>
        </p:spPr>
      </p:pic>
      <p:pic>
        <p:nvPicPr>
          <p:cNvPr id="104" name="Image 33" descr="sneezing face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60714" y="4097572"/>
            <a:ext cx="471777" cy="471777"/>
          </a:xfrm>
          <a:prstGeom prst="rect">
            <a:avLst/>
          </a:prstGeom>
        </p:spPr>
      </p:pic>
      <p:sp>
        <p:nvSpPr>
          <p:cNvPr id="105" name="Shape 68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69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07" name="Text 70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Bij de apotheek</a:t>
            </a:r>
            <a:endParaRPr lang="en-US" sz="1150" dirty="0"/>
          </a:p>
        </p:txBody>
      </p:sp>
      <p:sp>
        <p:nvSpPr>
          <p:cNvPr id="108" name="Text 71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À la pharmacie</a:t>
            </a:r>
            <a:endParaRPr lang="en-US" sz="950" dirty="0"/>
          </a:p>
        </p:txBody>
      </p:sp>
      <p:pic>
        <p:nvPicPr>
          <p:cNvPr id="109" name="Image 34" descr="Comment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10" name="Shape 72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Shape 73"/>
          <p:cNvSpPr/>
          <p:nvPr/>
        </p:nvSpPr>
        <p:spPr>
          <a:xfrm>
            <a:off x="8055864" y="376732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74"/>
          <p:cNvSpPr/>
          <p:nvPr/>
        </p:nvSpPr>
        <p:spPr>
          <a:xfrm>
            <a:off x="8055864" y="4592938"/>
            <a:ext cx="1627632" cy="353833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Shape 75"/>
          <p:cNvSpPr/>
          <p:nvPr/>
        </p:nvSpPr>
        <p:spPr>
          <a:xfrm>
            <a:off x="8055864" y="4427816"/>
            <a:ext cx="1627632" cy="165122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4" name="Image 35" descr="classical buildi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120969" y="3956039"/>
            <a:ext cx="471777" cy="471777"/>
          </a:xfrm>
          <a:prstGeom prst="rect">
            <a:avLst/>
          </a:prstGeom>
        </p:spPr>
      </p:pic>
      <p:pic>
        <p:nvPicPr>
          <p:cNvPr id="115" name="Image 36" descr="sun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57970" y="3814506"/>
            <a:ext cx="212300" cy="212300"/>
          </a:xfrm>
          <a:prstGeom prst="rect">
            <a:avLst/>
          </a:prstGeom>
        </p:spPr>
      </p:pic>
      <p:pic>
        <p:nvPicPr>
          <p:cNvPr id="116" name="Image 37" descr="sailboat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869680" y="4239105"/>
            <a:ext cx="212300" cy="212300"/>
          </a:xfrm>
          <a:prstGeom prst="rect">
            <a:avLst/>
          </a:prstGeom>
        </p:spPr>
      </p:pic>
      <p:pic>
        <p:nvPicPr>
          <p:cNvPr id="117" name="Image 38" descr="postbox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260312" y="4357050"/>
            <a:ext cx="401011" cy="401011"/>
          </a:xfrm>
          <a:prstGeom prst="rect">
            <a:avLst/>
          </a:prstGeom>
        </p:spPr>
      </p:pic>
      <p:pic>
        <p:nvPicPr>
          <p:cNvPr id="118" name="Image 39" descr="sunglasses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609259" y="4663705"/>
            <a:ext cx="165122" cy="165122"/>
          </a:xfrm>
          <a:prstGeom prst="rect">
            <a:avLst/>
          </a:prstGeom>
        </p:spPr>
      </p:pic>
      <p:sp>
        <p:nvSpPr>
          <p:cNvPr id="119" name="Shape 76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Text 77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21" name="Text 78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vakantiekaartje</a:t>
            </a:r>
            <a:endParaRPr lang="en-US" sz="1150" dirty="0"/>
          </a:p>
        </p:txBody>
      </p:sp>
      <p:sp>
        <p:nvSpPr>
          <p:cNvPr id="122" name="Text 79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carte postale</a:t>
            </a:r>
            <a:endParaRPr lang="en-US" sz="950" dirty="0"/>
          </a:p>
        </p:txBody>
      </p:sp>
      <p:pic>
        <p:nvPicPr>
          <p:cNvPr id="123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24" name="Shape 80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81"/>
          <p:cNvSpPr/>
          <p:nvPr/>
        </p:nvSpPr>
        <p:spPr>
          <a:xfrm>
            <a:off x="9948672" y="3767328"/>
            <a:ext cx="1627632" cy="87278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82"/>
          <p:cNvSpPr/>
          <p:nvPr/>
        </p:nvSpPr>
        <p:spPr>
          <a:xfrm>
            <a:off x="9948672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83"/>
          <p:cNvSpPr/>
          <p:nvPr/>
        </p:nvSpPr>
        <p:spPr>
          <a:xfrm>
            <a:off x="9948672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8" name="Image 41" descr="woman office worker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013777" y="4073983"/>
            <a:ext cx="660488" cy="660488"/>
          </a:xfrm>
          <a:prstGeom prst="rect">
            <a:avLst/>
          </a:prstGeom>
        </p:spPr>
      </p:pic>
      <p:sp>
        <p:nvSpPr>
          <p:cNvPr id="129" name="Shape 84"/>
          <p:cNvSpPr/>
          <p:nvPr/>
        </p:nvSpPr>
        <p:spPr>
          <a:xfrm>
            <a:off x="10632277" y="4522172"/>
            <a:ext cx="878921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0" name="Image 42" descr="clipboard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713659" y="4286283"/>
            <a:ext cx="235889" cy="235889"/>
          </a:xfrm>
          <a:prstGeom prst="rect">
            <a:avLst/>
          </a:prstGeom>
        </p:spPr>
      </p:pic>
      <p:pic>
        <p:nvPicPr>
          <p:cNvPr id="131" name="Image 43" descr="card index dividers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925251" y="4309872"/>
            <a:ext cx="212300" cy="212300"/>
          </a:xfrm>
          <a:prstGeom prst="rect">
            <a:avLst/>
          </a:prstGeom>
        </p:spPr>
      </p:pic>
      <p:pic>
        <p:nvPicPr>
          <p:cNvPr id="132" name="Image 44" descr="hot beverage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1250778" y="4309872"/>
            <a:ext cx="200505" cy="200505"/>
          </a:xfrm>
          <a:prstGeom prst="rect">
            <a:avLst/>
          </a:prstGeom>
        </p:spPr>
      </p:pic>
      <p:pic>
        <p:nvPicPr>
          <p:cNvPr id="133" name="Image 45" descr="red question mark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250778" y="3932450"/>
            <a:ext cx="235889" cy="235889"/>
          </a:xfrm>
          <a:prstGeom prst="rect">
            <a:avLst/>
          </a:prstGeom>
        </p:spPr>
      </p:pic>
      <p:sp>
        <p:nvSpPr>
          <p:cNvPr id="134" name="Shape 85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5" name="Text 86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36" name="Text 87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eerste werkdag</a:t>
            </a:r>
            <a:endParaRPr lang="en-US" sz="1150" dirty="0"/>
          </a:p>
        </p:txBody>
      </p:sp>
      <p:sp>
        <p:nvSpPr>
          <p:cNvPr id="137" name="Text 88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premier jour de travail</a:t>
            </a:r>
            <a:endParaRPr lang="en-US" sz="950" dirty="0"/>
          </a:p>
        </p:txBody>
      </p:sp>
      <p:pic>
        <p:nvPicPr>
          <p:cNvPr id="138" name="Image 46" descr="Comments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weekend aan zee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091964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628156"/>
            <a:ext cx="4700016" cy="1282172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223260"/>
            <a:ext cx="4700016" cy="404896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805" y="1637416"/>
            <a:ext cx="607344" cy="607344"/>
          </a:xfrm>
          <a:prstGeom prst="rect">
            <a:avLst/>
          </a:prstGeom>
        </p:spPr>
      </p:pic>
      <p:pic>
        <p:nvPicPr>
          <p:cNvPr id="13" name="Image 2" descr="k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794" y="1603675"/>
            <a:ext cx="809793" cy="809793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801" y="2649657"/>
            <a:ext cx="607344" cy="607344"/>
          </a:xfrm>
          <a:prstGeom prst="rect">
            <a:avLst/>
          </a:prstGeom>
        </p:spPr>
      </p:pic>
      <p:pic>
        <p:nvPicPr>
          <p:cNvPr id="15" name="Image 4" descr="umbrella on grou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92" y="3088295"/>
            <a:ext cx="1349654" cy="1349654"/>
          </a:xfrm>
          <a:prstGeom prst="rect">
            <a:avLst/>
          </a:prstGeom>
        </p:spPr>
      </p:pic>
      <p:pic>
        <p:nvPicPr>
          <p:cNvPr id="16" name="Image 5" descr="shrim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3965570"/>
            <a:ext cx="539862" cy="539862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3803" y="3965570"/>
            <a:ext cx="674827" cy="674827"/>
          </a:xfrm>
          <a:prstGeom prst="rect">
            <a:avLst/>
          </a:prstGeom>
        </p:spPr>
      </p:pic>
      <p:pic>
        <p:nvPicPr>
          <p:cNvPr id="18" name="Image 7" descr="automobi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5805" y="3965570"/>
            <a:ext cx="674827" cy="674827"/>
          </a:xfrm>
          <a:prstGeom prst="rect">
            <a:avLst/>
          </a:prstGeom>
        </p:spPr>
      </p:pic>
      <p:sp>
        <p:nvSpPr>
          <p:cNvPr id="19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0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 week-end à la mer</a:t>
            </a:r>
            <a:endParaRPr lang="en-US" sz="1500" dirty="0"/>
          </a:p>
        </p:txBody>
      </p:sp>
      <p:sp>
        <p:nvSpPr>
          <p:cNvPr id="22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Lundi matin : racontez votre week-end à la mer à un·e collègue, par message.</a:t>
            </a:r>
            <a:endParaRPr lang="en-US" sz="1300" dirty="0"/>
          </a:p>
        </p:txBody>
      </p:sp>
      <p:pic>
        <p:nvPicPr>
          <p:cNvPr id="23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avec </a:t>
            </a:r>
            <a:r>
              <a:rPr lang="en-US" sz="1450" b="1" dirty="0">
                <a:solidFill>
                  <a:schemeClr val="tx1"/>
                </a:solidFill>
              </a:rPr>
              <a:t>VORIG WEEKEND</a:t>
            </a:r>
            <a:r>
              <a:rPr lang="en-US" sz="1450" dirty="0">
                <a:solidFill>
                  <a:schemeClr val="tx1"/>
                </a:solidFill>
              </a:rPr>
              <a:t> + un perfectum avec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9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deux verbes au perfectum avec </a:t>
            </a:r>
            <a:r>
              <a:rPr lang="en-US" sz="1450" b="1" dirty="0">
                <a:solidFill>
                  <a:schemeClr val="tx1"/>
                </a:solidFill>
              </a:rPr>
              <a:t>HEBBEN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à l’imparfait : </a:t>
            </a:r>
            <a:r>
              <a:rPr lang="en-US" sz="1450" b="1" dirty="0">
                <a:solidFill>
                  <a:schemeClr val="tx1"/>
                </a:solidFill>
              </a:rPr>
              <a:t>HET WAS</a:t>
            </a:r>
            <a:r>
              <a:rPr lang="en-US" sz="1450" dirty="0">
                <a:solidFill>
                  <a:schemeClr val="tx1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37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une conséquence avec </a:t>
            </a:r>
            <a:r>
              <a:rPr lang="en-US" sz="1450" b="1" dirty="0">
                <a:solidFill>
                  <a:schemeClr val="tx1"/>
                </a:solidFill>
              </a:rPr>
              <a:t>DAAROM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41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: un problème au retour,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weekend aan zee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64881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873057"/>
            <a:ext cx="1060704" cy="284927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783080"/>
            <a:ext cx="1060704" cy="89977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79" y="1430670"/>
            <a:ext cx="134965" cy="134965"/>
          </a:xfrm>
          <a:prstGeom prst="rect">
            <a:avLst/>
          </a:prstGeom>
        </p:spPr>
      </p:pic>
      <p:pic>
        <p:nvPicPr>
          <p:cNvPr id="13" name="Image 2" descr="k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1423172"/>
            <a:ext cx="179954" cy="179954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603" y="1655613"/>
            <a:ext cx="134965" cy="134965"/>
          </a:xfrm>
          <a:prstGeom prst="rect">
            <a:avLst/>
          </a:prstGeom>
        </p:spPr>
      </p:pic>
      <p:pic>
        <p:nvPicPr>
          <p:cNvPr id="15" name="Image 4" descr="umbrella on grou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30" y="1753088"/>
            <a:ext cx="299923" cy="299923"/>
          </a:xfrm>
          <a:prstGeom prst="rect">
            <a:avLst/>
          </a:prstGeom>
        </p:spPr>
      </p:pic>
      <p:pic>
        <p:nvPicPr>
          <p:cNvPr id="16" name="Image 5" descr="shrim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948038"/>
            <a:ext cx="119969" cy="119969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5281" y="1948038"/>
            <a:ext cx="149962" cy="149962"/>
          </a:xfrm>
          <a:prstGeom prst="rect">
            <a:avLst/>
          </a:prstGeom>
        </p:spPr>
      </p:pic>
      <p:pic>
        <p:nvPicPr>
          <p:cNvPr id="18" name="Image 7" descr="automobi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4993" y="1948038"/>
            <a:ext cx="149962" cy="149962"/>
          </a:xfrm>
          <a:prstGeom prst="rect">
            <a:avLst/>
          </a:prstGeom>
        </p:spPr>
      </p:pic>
      <p:sp>
        <p:nvSpPr>
          <p:cNvPr id="19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 + participe</a:t>
            </a:r>
            <a:endParaRPr lang="en-US" sz="1300" dirty="0"/>
          </a:p>
        </p:txBody>
      </p:sp>
      <p:sp>
        <p:nvSpPr>
          <p:cNvPr id="23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HEBBEN + participe</a:t>
            </a:r>
            <a:endParaRPr lang="en-US" sz="1300" dirty="0"/>
          </a:p>
        </p:txBody>
      </p:sp>
      <p:sp>
        <p:nvSpPr>
          <p:cNvPr id="27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HET WAS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DAAROM + inversion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</a:t>
            </a:r>
            <a:endParaRPr lang="en-US" sz="1300" dirty="0"/>
          </a:p>
        </p:txBody>
      </p:sp>
      <p:sp>
        <p:nvSpPr>
          <p:cNvPr id="39" name="Shape 28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0"/>
          <p:cNvSpPr txBox="1"/>
          <p:nvPr/>
        </p:nvSpPr>
        <p:spPr>
          <a:xfrm>
            <a:off x="1051560" y="2395728"/>
            <a:ext cx="18370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Vorig weekend</a:t>
            </a:r>
            <a:endParaRPr lang="en-US" sz="2200" dirty="0"/>
          </a:p>
        </p:txBody>
      </p:sp>
      <p:sp>
        <p:nvSpPr>
          <p:cNvPr id="42" name="Shape 31"/>
          <p:cNvSpPr/>
          <p:nvPr/>
        </p:nvSpPr>
        <p:spPr>
          <a:xfrm>
            <a:off x="2860294" y="2409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2860294" y="2395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44" name="Text 33"/>
          <p:cNvSpPr txBox="1"/>
          <p:nvPr/>
        </p:nvSpPr>
        <p:spPr>
          <a:xfrm>
            <a:off x="3501212" y="2395728"/>
            <a:ext cx="36620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met vrienden naar Oostende</a:t>
            </a:r>
            <a:endParaRPr lang="en-US" sz="2200" dirty="0"/>
          </a:p>
        </p:txBody>
      </p:sp>
      <p:sp>
        <p:nvSpPr>
          <p:cNvPr id="45" name="Shape 34"/>
          <p:cNvSpPr/>
          <p:nvPr/>
        </p:nvSpPr>
        <p:spPr>
          <a:xfrm>
            <a:off x="7134987" y="2409698"/>
            <a:ext cx="92293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7134987" y="2395728"/>
            <a:ext cx="92293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gegaan</a:t>
            </a:r>
            <a:endParaRPr lang="en-US" sz="2200" dirty="0"/>
          </a:p>
        </p:txBody>
      </p:sp>
      <p:sp>
        <p:nvSpPr>
          <p:cNvPr id="47" name="Text 36"/>
          <p:cNvSpPr txBox="1"/>
          <p:nvPr/>
        </p:nvSpPr>
        <p:spPr>
          <a:xfrm>
            <a:off x="8057921" y="2395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8" name="Shape 37"/>
          <p:cNvSpPr/>
          <p:nvPr/>
        </p:nvSpPr>
        <p:spPr>
          <a:xfrm>
            <a:off x="3126321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2855678" y="2796286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2855678" y="2796286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1" name="Shape 40"/>
          <p:cNvSpPr/>
          <p:nvPr/>
        </p:nvSpPr>
        <p:spPr>
          <a:xfrm>
            <a:off x="7596454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7147655" y="2796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7147655" y="2796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+ participe</a:t>
            </a:r>
            <a:endParaRPr lang="en-US" sz="1050" dirty="0"/>
          </a:p>
        </p:txBody>
      </p:sp>
      <p:sp>
        <p:nvSpPr>
          <p:cNvPr id="54" name="Shape 43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6" name="Text 45"/>
          <p:cNvSpPr txBox="1"/>
          <p:nvPr/>
        </p:nvSpPr>
        <p:spPr>
          <a:xfrm>
            <a:off x="1051560" y="3157728"/>
            <a:ext cx="52496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1548232" y="3171698"/>
            <a:ext cx="972668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1548232" y="3157728"/>
            <a:ext cx="97266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hebben</a:t>
            </a:r>
            <a:endParaRPr lang="en-US" sz="2200" dirty="0"/>
          </a:p>
        </p:txBody>
      </p:sp>
      <p:sp>
        <p:nvSpPr>
          <p:cNvPr id="59" name="Text 48"/>
          <p:cNvSpPr txBox="1"/>
          <p:nvPr/>
        </p:nvSpPr>
        <p:spPr>
          <a:xfrm>
            <a:off x="2629764" y="3157728"/>
            <a:ext cx="166436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strand</a:t>
            </a:r>
            <a:endParaRPr lang="en-US" sz="2200" dirty="0"/>
          </a:p>
        </p:txBody>
      </p:sp>
      <p:sp>
        <p:nvSpPr>
          <p:cNvPr id="60" name="Shape 49"/>
          <p:cNvSpPr/>
          <p:nvPr/>
        </p:nvSpPr>
        <p:spPr>
          <a:xfrm>
            <a:off x="4265828" y="3171698"/>
            <a:ext cx="1369974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4265828" y="3157728"/>
            <a:ext cx="136997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gewandeld</a:t>
            </a:r>
            <a:endParaRPr lang="en-US" sz="2200" dirty="0"/>
          </a:p>
        </p:txBody>
      </p:sp>
      <p:sp>
        <p:nvSpPr>
          <p:cNvPr id="62" name="Text 51"/>
          <p:cNvSpPr txBox="1"/>
          <p:nvPr/>
        </p:nvSpPr>
        <p:spPr>
          <a:xfrm>
            <a:off x="5744667" y="3157728"/>
            <a:ext cx="201165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veel garnalen</a:t>
            </a:r>
            <a:endParaRPr lang="en-US" sz="2200" dirty="0"/>
          </a:p>
        </p:txBody>
      </p:sp>
      <p:sp>
        <p:nvSpPr>
          <p:cNvPr id="63" name="Shape 52"/>
          <p:cNvSpPr/>
          <p:nvPr/>
        </p:nvSpPr>
        <p:spPr>
          <a:xfrm>
            <a:off x="7728026" y="3171698"/>
            <a:ext cx="102491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7728026" y="3157728"/>
            <a:ext cx="102491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gegeten</a:t>
            </a:r>
            <a:endParaRPr lang="en-US" sz="2200" dirty="0"/>
          </a:p>
        </p:txBody>
      </p:sp>
      <p:sp>
        <p:nvSpPr>
          <p:cNvPr id="65" name="Text 54"/>
          <p:cNvSpPr txBox="1"/>
          <p:nvPr/>
        </p:nvSpPr>
        <p:spPr>
          <a:xfrm>
            <a:off x="8752942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6" name="Shape 55"/>
          <p:cNvSpPr/>
          <p:nvPr/>
        </p:nvSpPr>
        <p:spPr>
          <a:xfrm>
            <a:off x="2034565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1653708" y="3558286"/>
            <a:ext cx="76171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1653708" y="3558286"/>
            <a:ext cx="7617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HEBBEN</a:t>
            </a:r>
            <a:endParaRPr lang="en-US" sz="1050" dirty="0"/>
          </a:p>
        </p:txBody>
      </p:sp>
      <p:sp>
        <p:nvSpPr>
          <p:cNvPr id="69" name="Shape 58"/>
          <p:cNvSpPr/>
          <p:nvPr/>
        </p:nvSpPr>
        <p:spPr>
          <a:xfrm>
            <a:off x="495081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0" name="Shape 59"/>
          <p:cNvSpPr/>
          <p:nvPr/>
        </p:nvSpPr>
        <p:spPr>
          <a:xfrm>
            <a:off x="4502017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4502017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2" name="Shape 61"/>
          <p:cNvSpPr/>
          <p:nvPr/>
        </p:nvSpPr>
        <p:spPr>
          <a:xfrm>
            <a:off x="824048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7791685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7791685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5" name="Shape 64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7" name="Shape 66"/>
          <p:cNvSpPr/>
          <p:nvPr/>
        </p:nvSpPr>
        <p:spPr>
          <a:xfrm>
            <a:off x="1051560" y="3933698"/>
            <a:ext cx="102603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1051560" y="3919728"/>
            <a:ext cx="10260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was</a:t>
            </a:r>
            <a:endParaRPr lang="en-US" sz="2200" dirty="0"/>
          </a:p>
        </p:txBody>
      </p:sp>
      <p:sp>
        <p:nvSpPr>
          <p:cNvPr id="79" name="Text 68"/>
          <p:cNvSpPr txBox="1"/>
          <p:nvPr/>
        </p:nvSpPr>
        <p:spPr>
          <a:xfrm>
            <a:off x="2186457" y="3919728"/>
            <a:ext cx="36341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zonnig, maar er was veel wind.</a:t>
            </a:r>
            <a:endParaRPr lang="en-US" sz="2200" dirty="0"/>
          </a:p>
        </p:txBody>
      </p:sp>
      <p:sp>
        <p:nvSpPr>
          <p:cNvPr id="80" name="Shape 69"/>
          <p:cNvSpPr/>
          <p:nvPr/>
        </p:nvSpPr>
        <p:spPr>
          <a:xfrm>
            <a:off x="1564577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1" name="Shape 70"/>
          <p:cNvSpPr/>
          <p:nvPr/>
        </p:nvSpPr>
        <p:spPr>
          <a:xfrm>
            <a:off x="1154582" y="4320286"/>
            <a:ext cx="81998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1"/>
          <p:cNvSpPr txBox="1"/>
          <p:nvPr/>
        </p:nvSpPr>
        <p:spPr>
          <a:xfrm>
            <a:off x="1154582" y="4320286"/>
            <a:ext cx="8199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HET WAS</a:t>
            </a:r>
            <a:endParaRPr lang="en-US" sz="1050" dirty="0"/>
          </a:p>
        </p:txBody>
      </p:sp>
      <p:sp>
        <p:nvSpPr>
          <p:cNvPr id="83" name="Shape 72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3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5" name="Shape 74"/>
          <p:cNvSpPr/>
          <p:nvPr/>
        </p:nvSpPr>
        <p:spPr>
          <a:xfrm>
            <a:off x="1051560" y="4695698"/>
            <a:ext cx="237637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1051560" y="4681728"/>
            <a:ext cx="23763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Daarom hebben we</a:t>
            </a:r>
            <a:endParaRPr lang="en-US" sz="2200" dirty="0"/>
          </a:p>
        </p:txBody>
      </p:sp>
      <p:sp>
        <p:nvSpPr>
          <p:cNvPr id="87" name="Text 76"/>
          <p:cNvSpPr txBox="1"/>
          <p:nvPr/>
        </p:nvSpPr>
        <p:spPr>
          <a:xfrm>
            <a:off x="3536798" y="4681728"/>
            <a:ext cx="242460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vlieger gekocht.</a:t>
            </a:r>
            <a:endParaRPr lang="en-US" sz="2200" dirty="0"/>
          </a:p>
        </p:txBody>
      </p:sp>
      <p:sp>
        <p:nvSpPr>
          <p:cNvPr id="88" name="Shape 77"/>
          <p:cNvSpPr/>
          <p:nvPr/>
        </p:nvSpPr>
        <p:spPr>
          <a:xfrm>
            <a:off x="2239747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1502112" y="5082286"/>
            <a:ext cx="1475270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1502112" y="5082286"/>
            <a:ext cx="147527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DAAROM + inversion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2"/>
          <p:cNvSpPr/>
          <p:nvPr/>
        </p:nvSpPr>
        <p:spPr>
          <a:xfrm>
            <a:off x="1051560" y="5457698"/>
            <a:ext cx="710870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3"/>
          <p:cNvSpPr txBox="1"/>
          <p:nvPr/>
        </p:nvSpPr>
        <p:spPr>
          <a:xfrm>
            <a:off x="1051560" y="5443728"/>
            <a:ext cx="7108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200" dirty="0"/>
          </a:p>
        </p:txBody>
      </p:sp>
      <p:sp>
        <p:nvSpPr>
          <p:cNvPr id="95" name="Text 84"/>
          <p:cNvSpPr txBox="1"/>
          <p:nvPr/>
        </p:nvSpPr>
        <p:spPr>
          <a:xfrm>
            <a:off x="1871294" y="5443728"/>
            <a:ext cx="629848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terugweg hebben we drie uur in de file gestaan!</a:t>
            </a:r>
            <a:endParaRPr lang="en-US" sz="2200" dirty="0"/>
          </a:p>
        </p:txBody>
      </p:sp>
      <p:sp>
        <p:nvSpPr>
          <p:cNvPr id="96" name="Shape 85"/>
          <p:cNvSpPr/>
          <p:nvPr/>
        </p:nvSpPr>
        <p:spPr>
          <a:xfrm>
            <a:off x="1406995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6"/>
          <p:cNvSpPr/>
          <p:nvPr/>
        </p:nvSpPr>
        <p:spPr>
          <a:xfrm>
            <a:off x="1075411" y="584428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1075411" y="584428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56793" y="1873606"/>
            <a:ext cx="846003" cy="1214689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79794" y="1873606"/>
            <a:ext cx="914" cy="1214689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6793" y="2480950"/>
            <a:ext cx="846003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48799" y="1873606"/>
            <a:ext cx="846003" cy="1214689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971800" y="1873606"/>
            <a:ext cx="914" cy="1214689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548799" y="2480950"/>
            <a:ext cx="846003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749796" y="3290743"/>
            <a:ext cx="752003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796" y="2683398"/>
            <a:ext cx="573603" cy="573603"/>
          </a:xfrm>
          <a:prstGeom prst="rect">
            <a:avLst/>
          </a:prstGeom>
        </p:spPr>
      </p:pic>
      <p:pic>
        <p:nvPicPr>
          <p:cNvPr id="20" name="Image 2" descr="mi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803" y="1738640"/>
            <a:ext cx="843534" cy="843534"/>
          </a:xfrm>
          <a:prstGeom prst="rect">
            <a:avLst/>
          </a:prstGeom>
        </p:spPr>
      </p:pic>
      <p:pic>
        <p:nvPicPr>
          <p:cNvPr id="21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2802" y="2818364"/>
            <a:ext cx="1349654" cy="1349654"/>
          </a:xfrm>
          <a:prstGeom prst="rect">
            <a:avLst/>
          </a:prstGeom>
        </p:spPr>
      </p:pic>
      <p:pic>
        <p:nvPicPr>
          <p:cNvPr id="22" name="Image 4" descr="musical no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806" y="1603675"/>
            <a:ext cx="404896" cy="40489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4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Mon nouvel appartement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Samedi soir, vous êtes enfin dans votre nouvel appartement. Décrivez l’ambiance.</a:t>
            </a:r>
            <a:endParaRPr lang="en-US" sz="1300" dirty="0"/>
          </a:p>
        </p:txBody>
      </p:sp>
      <p:pic>
        <p:nvPicPr>
          <p:cNvPr id="27" name="Image 6" descr="PenNi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9" name="Shape 19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le contexte avec l’auxiliaire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3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6" name="Text 26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l’ambiance avec trois adjectifs : deux </a:t>
            </a:r>
            <a:r>
              <a:rPr lang="en-US" sz="1450" b="1" dirty="0">
                <a:solidFill>
                  <a:schemeClr val="tx1"/>
                </a:solidFill>
              </a:rPr>
              <a:t>qualificatifs</a:t>
            </a:r>
            <a:r>
              <a:rPr lang="en-US" sz="1450" dirty="0">
                <a:solidFill>
                  <a:schemeClr val="tx1"/>
                </a:solidFill>
              </a:rPr>
              <a:t>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7" name="Shape 27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au moins une préposition parmi </a:t>
            </a:r>
            <a:r>
              <a:rPr lang="en-US" sz="1450" b="1" dirty="0">
                <a:solidFill>
                  <a:schemeClr val="tx1"/>
                </a:solidFill>
              </a:rPr>
              <a:t>NAAR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TUSSEN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BOVEN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31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WANT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OMDAT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5" name="Shape 35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par une chute finale de votre choix.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appartement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8251" y="1483157"/>
            <a:ext cx="190927" cy="269931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33715" y="1483157"/>
            <a:ext cx="914" cy="269931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" y="1618122"/>
            <a:ext cx="190927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0105" y="1483157"/>
            <a:ext cx="190927" cy="269931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115568" y="1483157"/>
            <a:ext cx="914" cy="269931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20105" y="1618122"/>
            <a:ext cx="190927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9785" y="1798076"/>
            <a:ext cx="169713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999" y="1663111"/>
            <a:ext cx="127467" cy="127467"/>
          </a:xfrm>
          <a:prstGeom prst="rect">
            <a:avLst/>
          </a:prstGeom>
        </p:spPr>
      </p:pic>
      <p:pic>
        <p:nvPicPr>
          <p:cNvPr id="20" name="Image 2" descr="mi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16" y="1453164"/>
            <a:ext cx="187452" cy="187452"/>
          </a:xfrm>
          <a:prstGeom prst="rect">
            <a:avLst/>
          </a:prstGeom>
        </p:spPr>
      </p:pic>
      <p:pic>
        <p:nvPicPr>
          <p:cNvPr id="21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460" y="1693103"/>
            <a:ext cx="299923" cy="299923"/>
          </a:xfrm>
          <a:prstGeom prst="rect">
            <a:avLst/>
          </a:prstGeom>
        </p:spPr>
      </p:pic>
      <p:pic>
        <p:nvPicPr>
          <p:cNvPr id="22" name="Image 4" descr="musical no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8636" y="1423172"/>
            <a:ext cx="89977" cy="89977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 + participe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NAAR / TUSSEN / BOVEN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WANT / OMDAT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Text 34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CHUTE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051560" y="2395728"/>
            <a:ext cx="313456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zaterdagavond en ik</a:t>
            </a:r>
            <a:endParaRPr lang="en-US" sz="2200" dirty="0"/>
          </a:p>
        </p:txBody>
      </p:sp>
      <p:sp>
        <p:nvSpPr>
          <p:cNvPr id="46" name="Shape 38"/>
          <p:cNvSpPr/>
          <p:nvPr/>
        </p:nvSpPr>
        <p:spPr>
          <a:xfrm>
            <a:off x="4157828" y="2409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157828" y="2395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48" name="Text 40"/>
          <p:cNvSpPr txBox="1"/>
          <p:nvPr/>
        </p:nvSpPr>
        <p:spPr>
          <a:xfrm>
            <a:off x="4798746" y="2395728"/>
            <a:ext cx="469054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eindelijk naar mijn nieuwe appartement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460992" y="2409698"/>
            <a:ext cx="1093648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460992" y="2395728"/>
            <a:ext cx="109364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verhuisd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10554640" y="2395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52" name="Shape 44"/>
          <p:cNvSpPr/>
          <p:nvPr/>
        </p:nvSpPr>
        <p:spPr>
          <a:xfrm>
            <a:off x="4423855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3" name="Shape 45"/>
          <p:cNvSpPr/>
          <p:nvPr/>
        </p:nvSpPr>
        <p:spPr>
          <a:xfrm>
            <a:off x="4153211" y="2796286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4153211" y="2796286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5" name="Shape 47"/>
          <p:cNvSpPr/>
          <p:nvPr/>
        </p:nvSpPr>
        <p:spPr>
          <a:xfrm>
            <a:off x="10007816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6" name="Shape 48"/>
          <p:cNvSpPr/>
          <p:nvPr/>
        </p:nvSpPr>
        <p:spPr>
          <a:xfrm>
            <a:off x="9559017" y="2796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9559017" y="2796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+ participe</a:t>
            </a:r>
            <a:endParaRPr lang="en-US" sz="1050" dirty="0"/>
          </a:p>
        </p:txBody>
      </p:sp>
      <p:sp>
        <p:nvSpPr>
          <p:cNvPr id="58" name="Shape 50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60" name="Text 52"/>
          <p:cNvSpPr txBox="1"/>
          <p:nvPr/>
        </p:nvSpPr>
        <p:spPr>
          <a:xfrm>
            <a:off x="1051560" y="3157728"/>
            <a:ext cx="12687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2200" dirty="0"/>
          </a:p>
        </p:txBody>
      </p:sp>
      <p:sp>
        <p:nvSpPr>
          <p:cNvPr id="61" name="Shape 53"/>
          <p:cNvSpPr/>
          <p:nvPr/>
        </p:nvSpPr>
        <p:spPr>
          <a:xfrm>
            <a:off x="2291994" y="3171698"/>
            <a:ext cx="733222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4"/>
          <p:cNvSpPr txBox="1"/>
          <p:nvPr/>
        </p:nvSpPr>
        <p:spPr>
          <a:xfrm>
            <a:off x="2291994" y="3157728"/>
            <a:ext cx="7332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2200" dirty="0"/>
          </a:p>
        </p:txBody>
      </p:sp>
      <p:sp>
        <p:nvSpPr>
          <p:cNvPr id="63" name="Text 55"/>
          <p:cNvSpPr txBox="1"/>
          <p:nvPr/>
        </p:nvSpPr>
        <p:spPr>
          <a:xfrm>
            <a:off x="3025216" y="3157728"/>
            <a:ext cx="20701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200" dirty="0"/>
          </a:p>
        </p:txBody>
      </p:sp>
      <p:sp>
        <p:nvSpPr>
          <p:cNvPr id="64" name="Shape 56"/>
          <p:cNvSpPr/>
          <p:nvPr/>
        </p:nvSpPr>
        <p:spPr>
          <a:xfrm>
            <a:off x="3203931" y="3171698"/>
            <a:ext cx="777088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3203931" y="3157728"/>
            <a:ext cx="77708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2200" dirty="0"/>
          </a:p>
        </p:txBody>
      </p:sp>
      <p:sp>
        <p:nvSpPr>
          <p:cNvPr id="66" name="Text 58"/>
          <p:cNvSpPr txBox="1"/>
          <p:nvPr/>
        </p:nvSpPr>
        <p:spPr>
          <a:xfrm>
            <a:off x="4089883" y="3157728"/>
            <a:ext cx="28302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2200" dirty="0"/>
          </a:p>
        </p:txBody>
      </p:sp>
      <p:sp>
        <p:nvSpPr>
          <p:cNvPr id="67" name="Shape 59"/>
          <p:cNvSpPr/>
          <p:nvPr/>
        </p:nvSpPr>
        <p:spPr>
          <a:xfrm>
            <a:off x="6891884" y="3171698"/>
            <a:ext cx="1197864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60"/>
          <p:cNvSpPr txBox="1"/>
          <p:nvPr/>
        </p:nvSpPr>
        <p:spPr>
          <a:xfrm>
            <a:off x="6891884" y="3157728"/>
            <a:ext cx="11978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200" dirty="0"/>
          </a:p>
        </p:txBody>
      </p:sp>
      <p:sp>
        <p:nvSpPr>
          <p:cNvPr id="69" name="Text 61"/>
          <p:cNvSpPr txBox="1"/>
          <p:nvPr/>
        </p:nvSpPr>
        <p:spPr>
          <a:xfrm>
            <a:off x="8089748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70" name="Shape 62"/>
          <p:cNvSpPr/>
          <p:nvPr/>
        </p:nvSpPr>
        <p:spPr>
          <a:xfrm flipH="1">
            <a:off x="2658605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>
            <a:off x="2122462" y="3558286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2122462" y="3558286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73" name="Shape 65"/>
          <p:cNvSpPr/>
          <p:nvPr/>
        </p:nvSpPr>
        <p:spPr>
          <a:xfrm>
            <a:off x="3592474" y="3512566"/>
            <a:ext cx="193281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4" name="Shape 66"/>
          <p:cNvSpPr/>
          <p:nvPr/>
        </p:nvSpPr>
        <p:spPr>
          <a:xfrm>
            <a:off x="3249613" y="3558286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3249613" y="3558286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76" name="Shape 68"/>
          <p:cNvSpPr/>
          <p:nvPr/>
        </p:nvSpPr>
        <p:spPr>
          <a:xfrm>
            <a:off x="749081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7" name="Shape 69"/>
          <p:cNvSpPr/>
          <p:nvPr/>
        </p:nvSpPr>
        <p:spPr>
          <a:xfrm>
            <a:off x="7060152" y="3558286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0"/>
          <p:cNvSpPr txBox="1"/>
          <p:nvPr/>
        </p:nvSpPr>
        <p:spPr>
          <a:xfrm>
            <a:off x="7060152" y="3558286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79" name="Shape 71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2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81" name="Text 73"/>
          <p:cNvSpPr txBox="1"/>
          <p:nvPr/>
        </p:nvSpPr>
        <p:spPr>
          <a:xfrm>
            <a:off x="1051560" y="3919728"/>
            <a:ext cx="215470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bureau staat</a:t>
            </a:r>
            <a:endParaRPr lang="en-US" sz="2200" dirty="0"/>
          </a:p>
        </p:txBody>
      </p:sp>
      <p:sp>
        <p:nvSpPr>
          <p:cNvPr id="82" name="Shape 74"/>
          <p:cNvSpPr/>
          <p:nvPr/>
        </p:nvSpPr>
        <p:spPr>
          <a:xfrm>
            <a:off x="3177972" y="3933698"/>
            <a:ext cx="85196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5"/>
          <p:cNvSpPr txBox="1"/>
          <p:nvPr/>
        </p:nvSpPr>
        <p:spPr>
          <a:xfrm>
            <a:off x="3177972" y="3919728"/>
            <a:ext cx="85196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tussen</a:t>
            </a:r>
            <a:endParaRPr lang="en-US" sz="2200" dirty="0"/>
          </a:p>
        </p:txBody>
      </p:sp>
      <p:sp>
        <p:nvSpPr>
          <p:cNvPr id="84" name="Text 76"/>
          <p:cNvSpPr txBox="1"/>
          <p:nvPr/>
        </p:nvSpPr>
        <p:spPr>
          <a:xfrm>
            <a:off x="4138803" y="3919728"/>
            <a:ext cx="221030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twee ramen en</a:t>
            </a:r>
            <a:endParaRPr lang="en-US" sz="2200" dirty="0"/>
          </a:p>
        </p:txBody>
      </p:sp>
      <p:sp>
        <p:nvSpPr>
          <p:cNvPr id="85" name="Shape 77"/>
          <p:cNvSpPr/>
          <p:nvPr/>
        </p:nvSpPr>
        <p:spPr>
          <a:xfrm>
            <a:off x="6320815" y="3933698"/>
            <a:ext cx="81452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6320815" y="3919728"/>
            <a:ext cx="8145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</a:t>
            </a:r>
            <a:endParaRPr lang="en-US" sz="2200" dirty="0"/>
          </a:p>
        </p:txBody>
      </p:sp>
      <p:sp>
        <p:nvSpPr>
          <p:cNvPr id="87" name="Text 79"/>
          <p:cNvSpPr txBox="1"/>
          <p:nvPr/>
        </p:nvSpPr>
        <p:spPr>
          <a:xfrm>
            <a:off x="7244207" y="3919728"/>
            <a:ext cx="317200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bank hangt een spiegel.</a:t>
            </a:r>
            <a:endParaRPr lang="en-US" sz="2200" dirty="0"/>
          </a:p>
        </p:txBody>
      </p:sp>
      <p:sp>
        <p:nvSpPr>
          <p:cNvPr id="88" name="Shape 80"/>
          <p:cNvSpPr/>
          <p:nvPr/>
        </p:nvSpPr>
        <p:spPr>
          <a:xfrm>
            <a:off x="3603955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9" name="Shape 81"/>
          <p:cNvSpPr/>
          <p:nvPr/>
        </p:nvSpPr>
        <p:spPr>
          <a:xfrm>
            <a:off x="3232899" y="4320286"/>
            <a:ext cx="742112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2"/>
          <p:cNvSpPr txBox="1"/>
          <p:nvPr/>
        </p:nvSpPr>
        <p:spPr>
          <a:xfrm>
            <a:off x="3232899" y="4320286"/>
            <a:ext cx="74211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TUSSEN</a:t>
            </a:r>
            <a:endParaRPr lang="en-US" sz="1050" dirty="0"/>
          </a:p>
        </p:txBody>
      </p:sp>
      <p:sp>
        <p:nvSpPr>
          <p:cNvPr id="91" name="Shape 83"/>
          <p:cNvSpPr/>
          <p:nvPr/>
        </p:nvSpPr>
        <p:spPr>
          <a:xfrm>
            <a:off x="6728079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6374759" y="4320286"/>
            <a:ext cx="70664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6374759" y="4320286"/>
            <a:ext cx="70664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BOVEN</a:t>
            </a:r>
            <a:endParaRPr lang="en-US" sz="1050" dirty="0"/>
          </a:p>
        </p:txBody>
      </p:sp>
      <p:sp>
        <p:nvSpPr>
          <p:cNvPr id="94" name="Shape 86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96" name="Text 88"/>
          <p:cNvSpPr txBox="1"/>
          <p:nvPr/>
        </p:nvSpPr>
        <p:spPr>
          <a:xfrm>
            <a:off x="1051560" y="4681728"/>
            <a:ext cx="185770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heel blij,</a:t>
            </a:r>
            <a:endParaRPr lang="en-US" sz="2200" dirty="0"/>
          </a:p>
        </p:txBody>
      </p:sp>
      <p:sp>
        <p:nvSpPr>
          <p:cNvPr id="97" name="Shape 89"/>
          <p:cNvSpPr/>
          <p:nvPr/>
        </p:nvSpPr>
        <p:spPr>
          <a:xfrm>
            <a:off x="2880970" y="4695698"/>
            <a:ext cx="85392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8" name="Text 90"/>
          <p:cNvSpPr txBox="1"/>
          <p:nvPr/>
        </p:nvSpPr>
        <p:spPr>
          <a:xfrm>
            <a:off x="2880970" y="4681728"/>
            <a:ext cx="85392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omdat</a:t>
            </a:r>
            <a:endParaRPr lang="en-US" sz="2200" dirty="0"/>
          </a:p>
        </p:txBody>
      </p:sp>
      <p:sp>
        <p:nvSpPr>
          <p:cNvPr id="99" name="Text 91"/>
          <p:cNvSpPr txBox="1"/>
          <p:nvPr/>
        </p:nvSpPr>
        <p:spPr>
          <a:xfrm>
            <a:off x="3843757" y="4681728"/>
            <a:ext cx="28492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nu dicht bij mijn werk</a:t>
            </a:r>
            <a:endParaRPr lang="en-US" sz="2200" dirty="0"/>
          </a:p>
        </p:txBody>
      </p:sp>
      <p:sp>
        <p:nvSpPr>
          <p:cNvPr id="100" name="Shape 92"/>
          <p:cNvSpPr/>
          <p:nvPr/>
        </p:nvSpPr>
        <p:spPr>
          <a:xfrm>
            <a:off x="6664757" y="4695698"/>
            <a:ext cx="750265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01" name="Text 93"/>
          <p:cNvSpPr txBox="1"/>
          <p:nvPr/>
        </p:nvSpPr>
        <p:spPr>
          <a:xfrm>
            <a:off x="6664757" y="4681728"/>
            <a:ext cx="75026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</a:t>
            </a:r>
            <a:endParaRPr lang="en-US" sz="2200" dirty="0"/>
          </a:p>
        </p:txBody>
      </p:sp>
      <p:sp>
        <p:nvSpPr>
          <p:cNvPr id="102" name="Text 94"/>
          <p:cNvSpPr txBox="1"/>
          <p:nvPr/>
        </p:nvSpPr>
        <p:spPr>
          <a:xfrm>
            <a:off x="7415022" y="4681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103" name="Shape 95"/>
          <p:cNvSpPr/>
          <p:nvPr/>
        </p:nvSpPr>
        <p:spPr>
          <a:xfrm>
            <a:off x="330793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104" name="Shape 96"/>
          <p:cNvSpPr/>
          <p:nvPr/>
        </p:nvSpPr>
        <p:spPr>
          <a:xfrm>
            <a:off x="2934208" y="5082286"/>
            <a:ext cx="74744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Text 97"/>
          <p:cNvSpPr txBox="1"/>
          <p:nvPr/>
        </p:nvSpPr>
        <p:spPr>
          <a:xfrm>
            <a:off x="2934208" y="5082286"/>
            <a:ext cx="74744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OMDAT</a:t>
            </a:r>
            <a:endParaRPr lang="en-US" sz="1050" dirty="0"/>
          </a:p>
        </p:txBody>
      </p:sp>
      <p:sp>
        <p:nvSpPr>
          <p:cNvPr id="106" name="Shape 98"/>
          <p:cNvSpPr/>
          <p:nvPr/>
        </p:nvSpPr>
        <p:spPr>
          <a:xfrm>
            <a:off x="703988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107" name="Shape 99"/>
          <p:cNvSpPr/>
          <p:nvPr/>
        </p:nvSpPr>
        <p:spPr>
          <a:xfrm>
            <a:off x="6526082" y="5082286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0"/>
          <p:cNvSpPr txBox="1"/>
          <p:nvPr/>
        </p:nvSpPr>
        <p:spPr>
          <a:xfrm>
            <a:off x="6526082" y="5082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109" name="Shape 101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11" name="Shape 103"/>
          <p:cNvSpPr/>
          <p:nvPr/>
        </p:nvSpPr>
        <p:spPr>
          <a:xfrm>
            <a:off x="1051560" y="5457698"/>
            <a:ext cx="7594448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12" name="Text 104"/>
          <p:cNvSpPr txBox="1"/>
          <p:nvPr/>
        </p:nvSpPr>
        <p:spPr>
          <a:xfrm>
            <a:off x="1051560" y="5443728"/>
            <a:ext cx="759444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mijn buurman speelt elke avond tot middernacht trompet!</a:t>
            </a:r>
            <a:endParaRPr lang="en-US" sz="2200" dirty="0"/>
          </a:p>
        </p:txBody>
      </p:sp>
      <p:sp>
        <p:nvSpPr>
          <p:cNvPr id="113" name="Shape 105"/>
          <p:cNvSpPr/>
          <p:nvPr/>
        </p:nvSpPr>
        <p:spPr>
          <a:xfrm>
            <a:off x="4848784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14" name="Shape 106"/>
          <p:cNvSpPr/>
          <p:nvPr/>
        </p:nvSpPr>
        <p:spPr>
          <a:xfrm>
            <a:off x="4507398" y="5844286"/>
            <a:ext cx="6827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5" name="Text 107"/>
          <p:cNvSpPr txBox="1"/>
          <p:nvPr/>
        </p:nvSpPr>
        <p:spPr>
          <a:xfrm>
            <a:off x="4507398" y="5844286"/>
            <a:ext cx="6827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CHUTE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feestje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530602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66794"/>
            <a:ext cx="4700016" cy="84353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016182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01798" y="1738640"/>
            <a:ext cx="940003" cy="573603"/>
          </a:xfrm>
          <a:prstGeom prst="roundRect">
            <a:avLst>
              <a:gd name="adj" fmla="val 1275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01798" y="1738640"/>
            <a:ext cx="940003" cy="573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9" b="1" spc="100" kern="0" dirty="0">
                <a:solidFill>
                  <a:schemeClr val="bg1"/>
                </a:solidFill>
              </a:rPr>
              <a:t>30!</a:t>
            </a:r>
            <a:endParaRPr lang="en-US" sz="2349" dirty="0"/>
          </a:p>
        </p:txBody>
      </p:sp>
      <p:pic>
        <p:nvPicPr>
          <p:cNvPr id="14" name="Image 1" descr="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671157"/>
            <a:ext cx="877275" cy="877275"/>
          </a:xfrm>
          <a:prstGeom prst="rect">
            <a:avLst/>
          </a:prstGeom>
        </p:spPr>
      </p:pic>
      <p:pic>
        <p:nvPicPr>
          <p:cNvPr id="15" name="Image 2" descr="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804" y="1671157"/>
            <a:ext cx="877275" cy="877275"/>
          </a:xfrm>
          <a:prstGeom prst="rect">
            <a:avLst/>
          </a:prstGeom>
        </p:spPr>
      </p:pic>
      <p:pic>
        <p:nvPicPr>
          <p:cNvPr id="16" name="Image 3" descr="birthday c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0798" y="2885846"/>
            <a:ext cx="1079724" cy="1079724"/>
          </a:xfrm>
          <a:prstGeom prst="rect">
            <a:avLst/>
          </a:prstGeom>
        </p:spPr>
      </p:pic>
      <p:pic>
        <p:nvPicPr>
          <p:cNvPr id="17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93" y="3223260"/>
            <a:ext cx="877275" cy="877275"/>
          </a:xfrm>
          <a:prstGeom prst="rect">
            <a:avLst/>
          </a:prstGeom>
        </p:spPr>
      </p:pic>
      <p:pic>
        <p:nvPicPr>
          <p:cNvPr id="18" name="Image 5" descr="wrapped gi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5804" y="3290743"/>
            <a:ext cx="809793" cy="809793"/>
          </a:xfrm>
          <a:prstGeom prst="rect">
            <a:avLst/>
          </a:prstGeom>
        </p:spPr>
      </p:pic>
      <p:pic>
        <p:nvPicPr>
          <p:cNvPr id="19" name="Image 6" descr="top ha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1802" y="2447209"/>
            <a:ext cx="539862" cy="539862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1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Une invitation</a:t>
            </a:r>
            <a:endParaRPr lang="en-US" sz="1500" dirty="0"/>
          </a:p>
        </p:txBody>
      </p:sp>
      <p:sp>
        <p:nvSpPr>
          <p:cNvPr id="23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organisez une fête d’anniversaire. Écrivez l’invitation à vos ami·es.</a:t>
            </a:r>
            <a:endParaRPr lang="en-US" sz="1300" dirty="0"/>
          </a:p>
        </p:txBody>
      </p:sp>
      <p:pic>
        <p:nvPicPr>
          <p:cNvPr id="24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Annoncez la fête avec un </a:t>
            </a:r>
            <a:r>
              <a:rPr lang="en-US" sz="1450" b="1" dirty="0">
                <a:solidFill>
                  <a:schemeClr val="tx1"/>
                </a:solidFill>
              </a:rPr>
              <a:t>diminutif</a:t>
            </a:r>
            <a:r>
              <a:rPr lang="en-US" sz="1450" dirty="0">
                <a:solidFill>
                  <a:schemeClr val="tx1"/>
                </a:solidFill>
              </a:rPr>
              <a:t> (-JE / -TJE).</a:t>
            </a:r>
            <a:endParaRPr lang="en-US" sz="1450" dirty="0"/>
          </a:p>
        </p:txBody>
      </p:sp>
      <p:sp>
        <p:nvSpPr>
          <p:cNvPr id="30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la date et l’heure avec </a:t>
            </a:r>
            <a:r>
              <a:rPr lang="en-US" sz="1450" b="1" dirty="0">
                <a:solidFill>
                  <a:schemeClr val="tx1"/>
                </a:solidFill>
              </a:rPr>
              <a:t>OP</a:t>
            </a:r>
            <a:r>
              <a:rPr lang="en-US" sz="1450" dirty="0">
                <a:solidFill>
                  <a:schemeClr val="tx1"/>
                </a:solidFill>
              </a:rPr>
              <a:t> … et </a:t>
            </a:r>
            <a:r>
              <a:rPr lang="en-US" sz="1450" b="1" dirty="0">
                <a:solidFill>
                  <a:schemeClr val="tx1"/>
                </a:solidFill>
              </a:rPr>
              <a:t>OM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4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le chemin avec deux </a:t>
            </a:r>
            <a:r>
              <a:rPr lang="en-US" sz="1450" b="1" dirty="0">
                <a:solidFill>
                  <a:schemeClr val="tx1"/>
                </a:solidFill>
              </a:rPr>
              <a:t>impératifs</a:t>
            </a:r>
            <a:r>
              <a:rPr lang="en-US" sz="1450" dirty="0">
                <a:solidFill>
                  <a:schemeClr val="tx1"/>
                </a:solidFill>
              </a:rPr>
              <a:t> (NEEM, KOM, GA…).</a:t>
            </a:r>
            <a:endParaRPr lang="en-US" sz="1450" dirty="0"/>
          </a:p>
        </p:txBody>
      </p:sp>
      <p:sp>
        <p:nvSpPr>
          <p:cNvPr id="38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une condition avec </a:t>
            </a:r>
            <a:r>
              <a:rPr lang="en-US" sz="1450" b="1" dirty="0">
                <a:solidFill>
                  <a:schemeClr val="tx1"/>
                </a:solidFill>
              </a:rPr>
              <a:t>ALS</a:t>
            </a:r>
            <a:r>
              <a:rPr lang="en-US" sz="1450" dirty="0">
                <a:solidFill>
                  <a:schemeClr val="tx1"/>
                </a:solidFill>
              </a:rPr>
              <a:t> (verbes à la fin).</a:t>
            </a:r>
            <a:endParaRPr lang="en-US" sz="1450" dirty="0"/>
          </a:p>
        </p:txBody>
      </p:sp>
      <p:sp>
        <p:nvSpPr>
          <p:cNvPr id="42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consigne originale avec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feestje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62356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70532"/>
            <a:ext cx="1060704" cy="18745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928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09498" y="1453164"/>
            <a:ext cx="212141" cy="127467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09498" y="1453164"/>
            <a:ext cx="212141" cy="127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30!</a:t>
            </a:r>
            <a:endParaRPr lang="en-US" sz="550" dirty="0"/>
          </a:p>
        </p:txBody>
      </p:sp>
      <p:pic>
        <p:nvPicPr>
          <p:cNvPr id="14" name="Image 1" descr="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38168"/>
            <a:ext cx="194950" cy="194950"/>
          </a:xfrm>
          <a:prstGeom prst="rect">
            <a:avLst/>
          </a:prstGeom>
        </p:spPr>
      </p:pic>
      <p:pic>
        <p:nvPicPr>
          <p:cNvPr id="15" name="Image 2" descr="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565" y="1438168"/>
            <a:ext cx="194950" cy="194950"/>
          </a:xfrm>
          <a:prstGeom prst="rect">
            <a:avLst/>
          </a:prstGeom>
        </p:spPr>
      </p:pic>
      <p:pic>
        <p:nvPicPr>
          <p:cNvPr id="16" name="Image 3" descr="birthday c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676" y="1708099"/>
            <a:ext cx="239939" cy="239939"/>
          </a:xfrm>
          <a:prstGeom prst="rect">
            <a:avLst/>
          </a:prstGeom>
        </p:spPr>
      </p:pic>
      <p:pic>
        <p:nvPicPr>
          <p:cNvPr id="17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58" y="1783080"/>
            <a:ext cx="194950" cy="194950"/>
          </a:xfrm>
          <a:prstGeom prst="rect">
            <a:avLst/>
          </a:prstGeom>
        </p:spPr>
      </p:pic>
      <p:pic>
        <p:nvPicPr>
          <p:cNvPr id="18" name="Image 5" descr="wrapped gi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923" y="1798076"/>
            <a:ext cx="179954" cy="179954"/>
          </a:xfrm>
          <a:prstGeom prst="rect">
            <a:avLst/>
          </a:prstGeom>
        </p:spPr>
      </p:pic>
      <p:pic>
        <p:nvPicPr>
          <p:cNvPr id="19" name="Image 6" descr="top ha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638" y="1610624"/>
            <a:ext cx="119969" cy="119969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DIMINUTIF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OP … / OM …</a:t>
            </a:r>
            <a:endParaRPr lang="en-US" sz="1300" dirty="0"/>
          </a:p>
        </p:txBody>
      </p:sp>
      <p:sp>
        <p:nvSpPr>
          <p:cNvPr id="28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IMPÉRATIF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ALS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MOETEN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1051560" y="2395728"/>
            <a:ext cx="51051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 allemaal, ik word dertig en ik geef een</a:t>
            </a:r>
            <a:endParaRPr lang="en-US" sz="2200" dirty="0"/>
          </a:p>
        </p:txBody>
      </p:sp>
      <p:sp>
        <p:nvSpPr>
          <p:cNvPr id="43" name="Shape 33"/>
          <p:cNvSpPr/>
          <p:nvPr/>
        </p:nvSpPr>
        <p:spPr>
          <a:xfrm>
            <a:off x="6128436" y="2409698"/>
            <a:ext cx="88102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6128436" y="2395728"/>
            <a:ext cx="88102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feestje</a:t>
            </a:r>
            <a:endParaRPr lang="en-US" sz="2200" dirty="0"/>
          </a:p>
        </p:txBody>
      </p:sp>
      <p:sp>
        <p:nvSpPr>
          <p:cNvPr id="45" name="Text 35"/>
          <p:cNvSpPr txBox="1"/>
          <p:nvPr/>
        </p:nvSpPr>
        <p:spPr>
          <a:xfrm>
            <a:off x="7009460" y="2395728"/>
            <a:ext cx="2282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 flipH="1">
            <a:off x="656894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6109214" y="2796286"/>
            <a:ext cx="91946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6109214" y="2796286"/>
            <a:ext cx="91946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DIMINUTIF</a:t>
            </a:r>
            <a:endParaRPr lang="en-US" sz="1050" dirty="0"/>
          </a:p>
        </p:txBody>
      </p:sp>
      <p:sp>
        <p:nvSpPr>
          <p:cNvPr id="49" name="Shape 39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1051560" y="3157728"/>
            <a:ext cx="141010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feest is</a:t>
            </a:r>
            <a:endParaRPr lang="en-US" sz="2200" dirty="0"/>
          </a:p>
        </p:txBody>
      </p:sp>
      <p:sp>
        <p:nvSpPr>
          <p:cNvPr id="52" name="Shape 42"/>
          <p:cNvSpPr/>
          <p:nvPr/>
        </p:nvSpPr>
        <p:spPr>
          <a:xfrm>
            <a:off x="2433371" y="3171698"/>
            <a:ext cx="2792120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2433371" y="3157728"/>
            <a:ext cx="279212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17 oktober</a:t>
            </a:r>
            <a:endParaRPr lang="en-US" sz="2200" dirty="0"/>
          </a:p>
        </p:txBody>
      </p:sp>
      <p:sp>
        <p:nvSpPr>
          <p:cNvPr id="54" name="Shape 44"/>
          <p:cNvSpPr/>
          <p:nvPr/>
        </p:nvSpPr>
        <p:spPr>
          <a:xfrm>
            <a:off x="5334356" y="3171698"/>
            <a:ext cx="2638171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5334356" y="3157728"/>
            <a:ext cx="26381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acht uur ’s avonds</a:t>
            </a:r>
            <a:endParaRPr lang="en-US" sz="2200" dirty="0"/>
          </a:p>
        </p:txBody>
      </p:sp>
      <p:sp>
        <p:nvSpPr>
          <p:cNvPr id="56" name="Text 46"/>
          <p:cNvSpPr txBox="1"/>
          <p:nvPr/>
        </p:nvSpPr>
        <p:spPr>
          <a:xfrm>
            <a:off x="7972527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57" name="Shape 47"/>
          <p:cNvSpPr/>
          <p:nvPr/>
        </p:nvSpPr>
        <p:spPr>
          <a:xfrm>
            <a:off x="3829431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3405168" y="3558286"/>
            <a:ext cx="8485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3405168" y="3558286"/>
            <a:ext cx="8485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OP + date</a:t>
            </a:r>
            <a:endParaRPr lang="en-US" sz="1050" dirty="0"/>
          </a:p>
        </p:txBody>
      </p:sp>
      <p:sp>
        <p:nvSpPr>
          <p:cNvPr id="60" name="Shape 50"/>
          <p:cNvSpPr/>
          <p:nvPr/>
        </p:nvSpPr>
        <p:spPr>
          <a:xfrm>
            <a:off x="6653441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6169438" y="3558286"/>
            <a:ext cx="96800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6169438" y="3558286"/>
            <a:ext cx="9680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OM + heure</a:t>
            </a:r>
            <a:endParaRPr lang="en-US" sz="1050" dirty="0"/>
          </a:p>
        </p:txBody>
      </p:sp>
      <p:sp>
        <p:nvSpPr>
          <p:cNvPr id="63" name="Shape 53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Shape 55"/>
          <p:cNvSpPr/>
          <p:nvPr/>
        </p:nvSpPr>
        <p:spPr>
          <a:xfrm>
            <a:off x="1051560" y="3933698"/>
            <a:ext cx="78379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1051560" y="3919728"/>
            <a:ext cx="78379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</a:t>
            </a:r>
            <a:endParaRPr lang="en-US" sz="2200" dirty="0"/>
          </a:p>
        </p:txBody>
      </p:sp>
      <p:sp>
        <p:nvSpPr>
          <p:cNvPr id="67" name="Text 57"/>
          <p:cNvSpPr txBox="1"/>
          <p:nvPr/>
        </p:nvSpPr>
        <p:spPr>
          <a:xfrm>
            <a:off x="1944218" y="3919728"/>
            <a:ext cx="31250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 4 tot aan het park en</a:t>
            </a:r>
            <a:endParaRPr lang="en-US" sz="2200" dirty="0"/>
          </a:p>
        </p:txBody>
      </p:sp>
      <p:sp>
        <p:nvSpPr>
          <p:cNvPr id="68" name="Shape 58"/>
          <p:cNvSpPr/>
          <p:nvPr/>
        </p:nvSpPr>
        <p:spPr>
          <a:xfrm>
            <a:off x="5040986" y="3933698"/>
            <a:ext cx="603021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5040986" y="3919728"/>
            <a:ext cx="60302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</a:t>
            </a:r>
            <a:endParaRPr lang="en-US" sz="2200" dirty="0"/>
          </a:p>
        </p:txBody>
      </p:sp>
      <p:sp>
        <p:nvSpPr>
          <p:cNvPr id="70" name="Text 60"/>
          <p:cNvSpPr txBox="1"/>
          <p:nvPr/>
        </p:nvSpPr>
        <p:spPr>
          <a:xfrm>
            <a:off x="5752871" y="3919728"/>
            <a:ext cx="25958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naar nummer 15.</a:t>
            </a:r>
            <a:endParaRPr lang="en-US" sz="2200" dirty="0"/>
          </a:p>
        </p:txBody>
      </p:sp>
      <p:sp>
        <p:nvSpPr>
          <p:cNvPr id="71" name="Shape 61"/>
          <p:cNvSpPr/>
          <p:nvPr/>
        </p:nvSpPr>
        <p:spPr>
          <a:xfrm>
            <a:off x="1443457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2" name="Shape 62"/>
          <p:cNvSpPr/>
          <p:nvPr/>
        </p:nvSpPr>
        <p:spPr>
          <a:xfrm>
            <a:off x="985056" y="4320286"/>
            <a:ext cx="91680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985056" y="4320286"/>
            <a:ext cx="9168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IMPÉRATIF</a:t>
            </a:r>
            <a:endParaRPr lang="en-US" sz="1050" dirty="0"/>
          </a:p>
        </p:txBody>
      </p:sp>
      <p:sp>
        <p:nvSpPr>
          <p:cNvPr id="74" name="Shape 64"/>
          <p:cNvSpPr/>
          <p:nvPr/>
        </p:nvSpPr>
        <p:spPr>
          <a:xfrm>
            <a:off x="5342496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4884096" y="4320286"/>
            <a:ext cx="91680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4884096" y="4320286"/>
            <a:ext cx="9168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IMPÉRATIF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8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9" name="Shape 69"/>
          <p:cNvSpPr/>
          <p:nvPr/>
        </p:nvSpPr>
        <p:spPr>
          <a:xfrm>
            <a:off x="1051560" y="4695698"/>
            <a:ext cx="440969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0"/>
          <p:cNvSpPr txBox="1"/>
          <p:nvPr/>
        </p:nvSpPr>
        <p:spPr>
          <a:xfrm>
            <a:off x="1051560" y="4681728"/>
            <a:ext cx="4409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200" dirty="0"/>
          </a:p>
        </p:txBody>
      </p:sp>
      <p:sp>
        <p:nvSpPr>
          <p:cNvPr id="81" name="Text 71"/>
          <p:cNvSpPr txBox="1"/>
          <p:nvPr/>
        </p:nvSpPr>
        <p:spPr>
          <a:xfrm>
            <a:off x="1601394" y="4681728"/>
            <a:ext cx="84990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niet</a:t>
            </a:r>
            <a:endParaRPr lang="en-US" sz="2200" dirty="0"/>
          </a:p>
        </p:txBody>
      </p:sp>
      <p:sp>
        <p:nvSpPr>
          <p:cNvPr id="82" name="Shape 72"/>
          <p:cNvSpPr/>
          <p:nvPr/>
        </p:nvSpPr>
        <p:spPr>
          <a:xfrm>
            <a:off x="2423008" y="4695698"/>
            <a:ext cx="1487881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2423008" y="4681728"/>
            <a:ext cx="1487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komen</a:t>
            </a:r>
            <a:endParaRPr lang="en-US" sz="2200" dirty="0"/>
          </a:p>
        </p:txBody>
      </p:sp>
      <p:sp>
        <p:nvSpPr>
          <p:cNvPr id="84" name="Text 74"/>
          <p:cNvSpPr txBox="1"/>
          <p:nvPr/>
        </p:nvSpPr>
        <p:spPr>
          <a:xfrm>
            <a:off x="3910889" y="4681728"/>
            <a:ext cx="34134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stuur me dan een berichtje.</a:t>
            </a:r>
            <a:endParaRPr lang="en-US" sz="2200" dirty="0"/>
          </a:p>
        </p:txBody>
      </p:sp>
      <p:sp>
        <p:nvSpPr>
          <p:cNvPr id="85" name="Shape 75"/>
          <p:cNvSpPr/>
          <p:nvPr/>
        </p:nvSpPr>
        <p:spPr>
          <a:xfrm>
            <a:off x="1272045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1016937" y="5082286"/>
            <a:ext cx="51021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7"/>
          <p:cNvSpPr txBox="1"/>
          <p:nvPr/>
        </p:nvSpPr>
        <p:spPr>
          <a:xfrm>
            <a:off x="1016937" y="5082286"/>
            <a:ext cx="5102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ALS</a:t>
            </a:r>
            <a:endParaRPr lang="en-US" sz="1050" dirty="0"/>
          </a:p>
        </p:txBody>
      </p:sp>
      <p:sp>
        <p:nvSpPr>
          <p:cNvPr id="88" name="Shape 78"/>
          <p:cNvSpPr/>
          <p:nvPr/>
        </p:nvSpPr>
        <p:spPr>
          <a:xfrm>
            <a:off x="316694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9"/>
          <p:cNvSpPr/>
          <p:nvPr/>
        </p:nvSpPr>
        <p:spPr>
          <a:xfrm>
            <a:off x="2626538" y="5082286"/>
            <a:ext cx="108082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2626538" y="5082286"/>
            <a:ext cx="108082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verbes à la fin</a:t>
            </a:r>
            <a:endParaRPr lang="en-US" sz="1050" dirty="0"/>
          </a:p>
        </p:txBody>
      </p:sp>
      <p:sp>
        <p:nvSpPr>
          <p:cNvPr id="91" name="Shape 81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Text 83"/>
          <p:cNvSpPr txBox="1"/>
          <p:nvPr/>
        </p:nvSpPr>
        <p:spPr>
          <a:xfrm>
            <a:off x="1051560" y="5443728"/>
            <a:ext cx="21862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Opgelet: iedereen</a:t>
            </a:r>
            <a:endParaRPr lang="en-US" sz="2200" dirty="0"/>
          </a:p>
        </p:txBody>
      </p:sp>
      <p:sp>
        <p:nvSpPr>
          <p:cNvPr id="94" name="Shape 84"/>
          <p:cNvSpPr/>
          <p:nvPr/>
        </p:nvSpPr>
        <p:spPr>
          <a:xfrm>
            <a:off x="3209544" y="5457698"/>
            <a:ext cx="706399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3209544" y="5443728"/>
            <a:ext cx="70639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96" name="Text 86"/>
          <p:cNvSpPr txBox="1"/>
          <p:nvPr/>
        </p:nvSpPr>
        <p:spPr>
          <a:xfrm>
            <a:off x="4024808" y="5443728"/>
            <a:ext cx="12050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hoed</a:t>
            </a:r>
            <a:endParaRPr lang="en-US" sz="2200" dirty="0"/>
          </a:p>
        </p:txBody>
      </p:sp>
      <p:sp>
        <p:nvSpPr>
          <p:cNvPr id="97" name="Shape 87"/>
          <p:cNvSpPr/>
          <p:nvPr/>
        </p:nvSpPr>
        <p:spPr>
          <a:xfrm>
            <a:off x="5201539" y="5457698"/>
            <a:ext cx="901700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8" name="Text 88"/>
          <p:cNvSpPr txBox="1"/>
          <p:nvPr/>
        </p:nvSpPr>
        <p:spPr>
          <a:xfrm>
            <a:off x="5201539" y="5443728"/>
            <a:ext cx="90170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dragen</a:t>
            </a:r>
            <a:endParaRPr lang="en-US" sz="2200" dirty="0"/>
          </a:p>
        </p:txBody>
      </p:sp>
      <p:sp>
        <p:nvSpPr>
          <p:cNvPr id="99" name="Text 89"/>
          <p:cNvSpPr txBox="1"/>
          <p:nvPr/>
        </p:nvSpPr>
        <p:spPr>
          <a:xfrm>
            <a:off x="6103239" y="5443728"/>
            <a:ext cx="2282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100" name="Shape 90"/>
          <p:cNvSpPr/>
          <p:nvPr/>
        </p:nvSpPr>
        <p:spPr>
          <a:xfrm>
            <a:off x="3562744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1" name="Shape 91"/>
          <p:cNvSpPr/>
          <p:nvPr/>
        </p:nvSpPr>
        <p:spPr>
          <a:xfrm>
            <a:off x="3162417" y="5844286"/>
            <a:ext cx="800652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Text 92"/>
          <p:cNvSpPr txBox="1"/>
          <p:nvPr/>
        </p:nvSpPr>
        <p:spPr>
          <a:xfrm>
            <a:off x="3162417" y="5844286"/>
            <a:ext cx="80065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MOETEN</a:t>
            </a:r>
            <a:endParaRPr lang="en-US" sz="1050" dirty="0"/>
          </a:p>
        </p:txBody>
      </p:sp>
      <p:sp>
        <p:nvSpPr>
          <p:cNvPr id="103" name="Shape 93"/>
          <p:cNvSpPr/>
          <p:nvPr/>
        </p:nvSpPr>
        <p:spPr>
          <a:xfrm>
            <a:off x="565238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4" name="Shape 94"/>
          <p:cNvSpPr/>
          <p:nvPr/>
        </p:nvSpPr>
        <p:spPr>
          <a:xfrm>
            <a:off x="5246662" y="5844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5246662" y="5844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trein heeft vertraging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22693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763122"/>
            <a:ext cx="4700016" cy="1147206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56793" y="1738640"/>
            <a:ext cx="1222004" cy="404896"/>
          </a:xfrm>
          <a:prstGeom prst="roundRect">
            <a:avLst>
              <a:gd name="adj" fmla="val 180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6793" y="1738640"/>
            <a:ext cx="1222004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NAMEN</a:t>
            </a:r>
            <a:endParaRPr lang="en-US" sz="1658" dirty="0"/>
          </a:p>
        </p:txBody>
      </p:sp>
      <p:sp>
        <p:nvSpPr>
          <p:cNvPr id="13" name="Shape 9"/>
          <p:cNvSpPr/>
          <p:nvPr/>
        </p:nvSpPr>
        <p:spPr>
          <a:xfrm>
            <a:off x="3441802" y="1738640"/>
            <a:ext cx="1598005" cy="472379"/>
          </a:xfrm>
          <a:prstGeom prst="roundRect">
            <a:avLst>
              <a:gd name="adj" fmla="val 154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41802" y="1738640"/>
            <a:ext cx="1598005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4" b="1" spc="100" kern="0" dirty="0">
                <a:solidFill>
                  <a:schemeClr val="bg1"/>
                </a:solidFill>
              </a:rPr>
              <a:t>+ 40 MIN</a:t>
            </a:r>
            <a:endParaRPr lang="en-US" sz="1934" dirty="0"/>
          </a:p>
        </p:txBody>
      </p:sp>
      <p:pic>
        <p:nvPicPr>
          <p:cNvPr id="15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615916"/>
            <a:ext cx="1687068" cy="1687068"/>
          </a:xfrm>
          <a:prstGeom prst="rect">
            <a:avLst/>
          </a:prstGeom>
        </p:spPr>
      </p:pic>
      <p:pic>
        <p:nvPicPr>
          <p:cNvPr id="1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797" y="3223260"/>
            <a:ext cx="472379" cy="472379"/>
          </a:xfrm>
          <a:prstGeom prst="rect">
            <a:avLst/>
          </a:prstGeom>
        </p:spPr>
      </p:pic>
      <p:pic>
        <p:nvPicPr>
          <p:cNvPr id="17" name="Image 3" descr="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7801" y="2750881"/>
            <a:ext cx="1012241" cy="1012241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9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train a du retard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train est en retard. Laissez un message vocal à votre collègue.</a:t>
            </a:r>
            <a:endParaRPr lang="en-US" sz="1300" dirty="0"/>
          </a:p>
        </p:txBody>
      </p:sp>
      <p:pic>
        <p:nvPicPr>
          <p:cNvPr id="22" name="Image 5" descr="Commen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Présentez-vous et dites où vous êtes avec </a:t>
            </a:r>
            <a:r>
              <a:rPr lang="en-US" sz="1450" b="1" dirty="0">
                <a:solidFill>
                  <a:schemeClr val="tx1"/>
                </a:solidFill>
              </a:rPr>
              <a:t>STAAN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ZITTEN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le problème au </a:t>
            </a:r>
            <a:r>
              <a:rPr lang="en-US" sz="1450" b="1" dirty="0">
                <a:solidFill>
                  <a:schemeClr val="tx1"/>
                </a:solidFill>
              </a:rPr>
              <a:t>perfectum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Annoncez votre arrivée avec </a:t>
            </a:r>
            <a:r>
              <a:rPr lang="en-US" sz="1450" b="1" dirty="0">
                <a:solidFill>
                  <a:schemeClr val="tx1"/>
                </a:solidFill>
              </a:rPr>
              <a:t>ZULLEN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6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Demandez un service avec </a:t>
            </a:r>
            <a:r>
              <a:rPr lang="en-US" sz="1450" b="1" dirty="0">
                <a:solidFill>
                  <a:schemeClr val="tx1"/>
                </a:solidFill>
              </a:rPr>
              <a:t>KUN JE</a:t>
            </a:r>
            <a:r>
              <a:rPr lang="en-US" sz="1450" dirty="0">
                <a:solidFill>
                  <a:schemeClr val="tx1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40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excuse avec </a:t>
            </a:r>
            <a:r>
              <a:rPr lang="en-US" sz="1450" b="1" dirty="0">
                <a:solidFill>
                  <a:schemeClr val="tx1"/>
                </a:solidFill>
              </a:rPr>
              <a:t>SORRY DAT</a:t>
            </a:r>
            <a:r>
              <a:rPr lang="en-US" sz="1450" dirty="0">
                <a:solidFill>
                  <a:schemeClr val="tx1"/>
                </a:solidFill>
              </a:rPr>
              <a:t> (verbe à la fin)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trein heeft vertraging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9487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03049"/>
            <a:ext cx="1060704" cy="254935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8251" y="1453164"/>
            <a:ext cx="275783" cy="89977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8251" y="1453164"/>
            <a:ext cx="275783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NAMEN</a:t>
            </a:r>
            <a:endParaRPr lang="en-US" sz="550" dirty="0"/>
          </a:p>
        </p:txBody>
      </p:sp>
      <p:sp>
        <p:nvSpPr>
          <p:cNvPr id="13" name="Shape 9"/>
          <p:cNvSpPr/>
          <p:nvPr/>
        </p:nvSpPr>
        <p:spPr>
          <a:xfrm>
            <a:off x="1221638" y="1453164"/>
            <a:ext cx="360639" cy="104973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221638" y="1453164"/>
            <a:ext cx="360639" cy="104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+ 40 MIN</a:t>
            </a:r>
            <a:endParaRPr lang="en-US" sz="550" dirty="0"/>
          </a:p>
        </p:txBody>
      </p:sp>
      <p:pic>
        <p:nvPicPr>
          <p:cNvPr id="15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48115"/>
            <a:ext cx="374904" cy="374904"/>
          </a:xfrm>
          <a:prstGeom prst="rect">
            <a:avLst/>
          </a:prstGeom>
        </p:spPr>
      </p:pic>
      <p:pic>
        <p:nvPicPr>
          <p:cNvPr id="1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1783080"/>
            <a:ext cx="104973" cy="104973"/>
          </a:xfrm>
          <a:prstGeom prst="rect">
            <a:avLst/>
          </a:prstGeom>
        </p:spPr>
      </p:pic>
      <p:pic>
        <p:nvPicPr>
          <p:cNvPr id="17" name="Image 3" descr="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424" y="1678107"/>
            <a:ext cx="224942" cy="22494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STAAN / ZITTEN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PERFECTUM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ZAL + infinitif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KUN JE … ?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SORRY DAT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1051560" y="2395728"/>
            <a:ext cx="279565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 Sofie, met Karim: ik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3818915" y="2409698"/>
            <a:ext cx="437896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818915" y="2395728"/>
            <a:ext cx="4378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365676" y="2395728"/>
            <a:ext cx="343128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 het perron in Namen.</a:t>
            </a:r>
            <a:endParaRPr lang="en-US" sz="2200" dirty="0"/>
          </a:p>
        </p:txBody>
      </p:sp>
      <p:sp>
        <p:nvSpPr>
          <p:cNvPr id="44" name="Shape 37"/>
          <p:cNvSpPr/>
          <p:nvPr/>
        </p:nvSpPr>
        <p:spPr>
          <a:xfrm>
            <a:off x="4037863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442646" y="2796286"/>
            <a:ext cx="119043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3442646" y="2796286"/>
            <a:ext cx="119043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STAAN / ZITTEN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1051560" y="3157728"/>
            <a:ext cx="12581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trein</a:t>
            </a:r>
            <a:endParaRPr lang="en-US" sz="2200" dirty="0"/>
          </a:p>
        </p:txBody>
      </p:sp>
      <p:sp>
        <p:nvSpPr>
          <p:cNvPr id="50" name="Shape 43"/>
          <p:cNvSpPr/>
          <p:nvPr/>
        </p:nvSpPr>
        <p:spPr>
          <a:xfrm>
            <a:off x="2281377" y="3171698"/>
            <a:ext cx="271653" cy="340868"/>
          </a:xfrm>
          <a:prstGeom prst="roundRect">
            <a:avLst>
              <a:gd name="adj" fmla="val 2019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2281377" y="3157728"/>
            <a:ext cx="2716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52" name="Text 45"/>
          <p:cNvSpPr txBox="1"/>
          <p:nvPr/>
        </p:nvSpPr>
        <p:spPr>
          <a:xfrm>
            <a:off x="2661895" y="3157728"/>
            <a:ext cx="302895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een staking nog niet</a:t>
            </a:r>
            <a:endParaRPr lang="en-US" sz="2200" dirty="0"/>
          </a:p>
        </p:txBody>
      </p:sp>
      <p:sp>
        <p:nvSpPr>
          <p:cNvPr id="53" name="Shape 46"/>
          <p:cNvSpPr/>
          <p:nvPr/>
        </p:nvSpPr>
        <p:spPr>
          <a:xfrm>
            <a:off x="5662549" y="3171698"/>
            <a:ext cx="1368577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662549" y="3157728"/>
            <a:ext cx="13685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vertrokken</a:t>
            </a:r>
            <a:endParaRPr lang="en-US" sz="2200" dirty="0"/>
          </a:p>
        </p:txBody>
      </p:sp>
      <p:sp>
        <p:nvSpPr>
          <p:cNvPr id="55" name="Text 48"/>
          <p:cNvSpPr txBox="1"/>
          <p:nvPr/>
        </p:nvSpPr>
        <p:spPr>
          <a:xfrm>
            <a:off x="7031126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56" name="Shape 49"/>
          <p:cNvSpPr/>
          <p:nvPr/>
        </p:nvSpPr>
        <p:spPr>
          <a:xfrm>
            <a:off x="241720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1923466" y="3558286"/>
            <a:ext cx="98747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23466" y="3558286"/>
            <a:ext cx="9874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PERFECTUM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6346838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5898039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898039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62" name="Shape 55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1051560" y="3919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65" name="Shape 58"/>
          <p:cNvSpPr/>
          <p:nvPr/>
        </p:nvSpPr>
        <p:spPr>
          <a:xfrm>
            <a:off x="1357960" y="3933698"/>
            <a:ext cx="409118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1357960" y="3919728"/>
            <a:ext cx="40911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</a:t>
            </a:r>
            <a:endParaRPr lang="en-US" sz="2200" dirty="0"/>
          </a:p>
        </p:txBody>
      </p:sp>
      <p:sp>
        <p:nvSpPr>
          <p:cNvPr id="67" name="Text 60"/>
          <p:cNvSpPr txBox="1"/>
          <p:nvPr/>
        </p:nvSpPr>
        <p:spPr>
          <a:xfrm>
            <a:off x="1875942" y="3919728"/>
            <a:ext cx="323486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om tien uur op kantoor</a:t>
            </a:r>
            <a:endParaRPr lang="en-US" sz="2200" dirty="0"/>
          </a:p>
        </p:txBody>
      </p:sp>
      <p:sp>
        <p:nvSpPr>
          <p:cNvPr id="68" name="Shape 61"/>
          <p:cNvSpPr/>
          <p:nvPr/>
        </p:nvSpPr>
        <p:spPr>
          <a:xfrm>
            <a:off x="5082515" y="3933698"/>
            <a:ext cx="492379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5082515" y="3919728"/>
            <a:ext cx="49237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200" dirty="0"/>
          </a:p>
        </p:txBody>
      </p:sp>
      <p:sp>
        <p:nvSpPr>
          <p:cNvPr id="70" name="Text 63"/>
          <p:cNvSpPr txBox="1"/>
          <p:nvPr/>
        </p:nvSpPr>
        <p:spPr>
          <a:xfrm>
            <a:off x="5574894" y="3919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71" name="Shape 64"/>
          <p:cNvSpPr/>
          <p:nvPr/>
        </p:nvSpPr>
        <p:spPr>
          <a:xfrm>
            <a:off x="1562519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2" name="Shape 65"/>
          <p:cNvSpPr/>
          <p:nvPr/>
        </p:nvSpPr>
        <p:spPr>
          <a:xfrm>
            <a:off x="1307078" y="4320286"/>
            <a:ext cx="510883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6"/>
          <p:cNvSpPr txBox="1"/>
          <p:nvPr/>
        </p:nvSpPr>
        <p:spPr>
          <a:xfrm>
            <a:off x="1307078" y="4320286"/>
            <a:ext cx="51088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ZAL</a:t>
            </a:r>
            <a:endParaRPr lang="en-US" sz="1050" dirty="0"/>
          </a:p>
        </p:txBody>
      </p:sp>
      <p:sp>
        <p:nvSpPr>
          <p:cNvPr id="74" name="Shape 67"/>
          <p:cNvSpPr/>
          <p:nvPr/>
        </p:nvSpPr>
        <p:spPr>
          <a:xfrm>
            <a:off x="5328704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8"/>
          <p:cNvSpPr/>
          <p:nvPr/>
        </p:nvSpPr>
        <p:spPr>
          <a:xfrm>
            <a:off x="4922977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4922977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7" name="Shape 70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1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9" name="Shape 72"/>
          <p:cNvSpPr/>
          <p:nvPr/>
        </p:nvSpPr>
        <p:spPr>
          <a:xfrm>
            <a:off x="1051560" y="4695698"/>
            <a:ext cx="819277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1051560" y="4681728"/>
            <a:ext cx="8192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je</a:t>
            </a:r>
            <a:endParaRPr lang="en-US" sz="2200" dirty="0"/>
          </a:p>
        </p:txBody>
      </p:sp>
      <p:sp>
        <p:nvSpPr>
          <p:cNvPr id="81" name="Text 74"/>
          <p:cNvSpPr txBox="1"/>
          <p:nvPr/>
        </p:nvSpPr>
        <p:spPr>
          <a:xfrm>
            <a:off x="1979701" y="4681728"/>
            <a:ext cx="35120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vergadering een halfuurtje</a:t>
            </a:r>
            <a:endParaRPr lang="en-US" sz="2200" dirty="0"/>
          </a:p>
        </p:txBody>
      </p:sp>
      <p:sp>
        <p:nvSpPr>
          <p:cNvPr id="82" name="Shape 75"/>
          <p:cNvSpPr/>
          <p:nvPr/>
        </p:nvSpPr>
        <p:spPr>
          <a:xfrm>
            <a:off x="5463438" y="4695698"/>
            <a:ext cx="118417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5463438" y="4681728"/>
            <a:ext cx="11841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uitstellen</a:t>
            </a:r>
            <a:endParaRPr lang="en-US" sz="2200" dirty="0"/>
          </a:p>
        </p:txBody>
      </p:sp>
      <p:sp>
        <p:nvSpPr>
          <p:cNvPr id="84" name="Text 77"/>
          <p:cNvSpPr txBox="1"/>
          <p:nvPr/>
        </p:nvSpPr>
        <p:spPr>
          <a:xfrm>
            <a:off x="6647612" y="4681728"/>
            <a:ext cx="2665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85" name="Shape 78"/>
          <p:cNvSpPr/>
          <p:nvPr/>
        </p:nvSpPr>
        <p:spPr>
          <a:xfrm>
            <a:off x="146119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9"/>
          <p:cNvSpPr/>
          <p:nvPr/>
        </p:nvSpPr>
        <p:spPr>
          <a:xfrm>
            <a:off x="1112612" y="5082286"/>
            <a:ext cx="697173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1112612" y="5082286"/>
            <a:ext cx="69717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KUN JE</a:t>
            </a:r>
            <a:endParaRPr lang="en-US" sz="1050" dirty="0"/>
          </a:p>
        </p:txBody>
      </p:sp>
      <p:sp>
        <p:nvSpPr>
          <p:cNvPr id="88" name="Shape 81"/>
          <p:cNvSpPr/>
          <p:nvPr/>
        </p:nvSpPr>
        <p:spPr>
          <a:xfrm>
            <a:off x="6055525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5649798" y="5082286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3"/>
          <p:cNvSpPr txBox="1"/>
          <p:nvPr/>
        </p:nvSpPr>
        <p:spPr>
          <a:xfrm>
            <a:off x="5649798" y="5082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91" name="Shape 84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5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6"/>
          <p:cNvSpPr/>
          <p:nvPr/>
        </p:nvSpPr>
        <p:spPr>
          <a:xfrm>
            <a:off x="1051560" y="5457698"/>
            <a:ext cx="1152881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7"/>
          <p:cNvSpPr txBox="1"/>
          <p:nvPr/>
        </p:nvSpPr>
        <p:spPr>
          <a:xfrm>
            <a:off x="1051560" y="5443728"/>
            <a:ext cx="1152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 dat</a:t>
            </a:r>
            <a:endParaRPr lang="en-US" sz="2200" dirty="0"/>
          </a:p>
        </p:txBody>
      </p:sp>
      <p:sp>
        <p:nvSpPr>
          <p:cNvPr id="95" name="Text 88"/>
          <p:cNvSpPr txBox="1"/>
          <p:nvPr/>
        </p:nvSpPr>
        <p:spPr>
          <a:xfrm>
            <a:off x="2313305" y="5443728"/>
            <a:ext cx="17518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weer te laat</a:t>
            </a:r>
            <a:endParaRPr lang="en-US" sz="2200" dirty="0"/>
          </a:p>
        </p:txBody>
      </p:sp>
      <p:sp>
        <p:nvSpPr>
          <p:cNvPr id="96" name="Shape 89"/>
          <p:cNvSpPr/>
          <p:nvPr/>
        </p:nvSpPr>
        <p:spPr>
          <a:xfrm>
            <a:off x="4036822" y="5457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4036822" y="5443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98" name="Text 91"/>
          <p:cNvSpPr txBox="1"/>
          <p:nvPr/>
        </p:nvSpPr>
        <p:spPr>
          <a:xfrm>
            <a:off x="4568876" y="5443728"/>
            <a:ext cx="39166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voor de derde keer deze week!</a:t>
            </a:r>
            <a:endParaRPr lang="en-US" sz="2200" dirty="0"/>
          </a:p>
        </p:txBody>
      </p:sp>
      <p:sp>
        <p:nvSpPr>
          <p:cNvPr id="99" name="Shape 92"/>
          <p:cNvSpPr/>
          <p:nvPr/>
        </p:nvSpPr>
        <p:spPr>
          <a:xfrm>
            <a:off x="1628000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1156198" y="5844286"/>
            <a:ext cx="94360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1156198" y="5844286"/>
            <a:ext cx="9436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SORRY DAT</a:t>
            </a:r>
            <a:endParaRPr lang="en-US" sz="1050" dirty="0"/>
          </a:p>
        </p:txBody>
      </p:sp>
      <p:sp>
        <p:nvSpPr>
          <p:cNvPr id="102" name="Shape 95"/>
          <p:cNvSpPr/>
          <p:nvPr/>
        </p:nvSpPr>
        <p:spPr>
          <a:xfrm>
            <a:off x="430284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3" name="Shape 96"/>
          <p:cNvSpPr/>
          <p:nvPr/>
        </p:nvSpPr>
        <p:spPr>
          <a:xfrm>
            <a:off x="3789042" y="5844286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97"/>
          <p:cNvSpPr txBox="1"/>
          <p:nvPr/>
        </p:nvSpPr>
        <p:spPr>
          <a:xfrm>
            <a:off x="3789042" y="5844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verbe à la fin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cadeau kopen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2792" y="2987070"/>
            <a:ext cx="2632009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car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2211019"/>
            <a:ext cx="742310" cy="742310"/>
          </a:xfrm>
          <a:prstGeom prst="rect">
            <a:avLst/>
          </a:prstGeom>
        </p:spPr>
      </p:pic>
      <p:pic>
        <p:nvPicPr>
          <p:cNvPr id="14" name="Image 2" descr="blue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797" y="2278502"/>
            <a:ext cx="674827" cy="674827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3793" y="3223260"/>
            <a:ext cx="752003" cy="337414"/>
          </a:xfrm>
          <a:prstGeom prst="roundRect">
            <a:avLst>
              <a:gd name="adj" fmla="val 2168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3793" y="3223260"/>
            <a:ext cx="752003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€ 80</a:t>
            </a:r>
            <a:endParaRPr lang="en-US" sz="1382" dirty="0"/>
          </a:p>
        </p:txBody>
      </p:sp>
      <p:sp>
        <p:nvSpPr>
          <p:cNvPr id="17" name="Shape 11"/>
          <p:cNvSpPr/>
          <p:nvPr/>
        </p:nvSpPr>
        <p:spPr>
          <a:xfrm>
            <a:off x="2125797" y="3223260"/>
            <a:ext cx="752003" cy="337414"/>
          </a:xfrm>
          <a:prstGeom prst="roundRect">
            <a:avLst>
              <a:gd name="adj" fmla="val 2168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2125797" y="3223260"/>
            <a:ext cx="752003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€ 20</a:t>
            </a:r>
            <a:endParaRPr lang="en-US" sz="1382" dirty="0"/>
          </a:p>
        </p:txBody>
      </p:sp>
      <p:pic>
        <p:nvPicPr>
          <p:cNvPr id="19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3803" y="2008571"/>
            <a:ext cx="1214689" cy="1214689"/>
          </a:xfrm>
          <a:prstGeom prst="rect">
            <a:avLst/>
          </a:prstGeom>
        </p:spPr>
      </p:pic>
      <p:pic>
        <p:nvPicPr>
          <p:cNvPr id="20" name="Image 4" descr="wrapped gi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1803" y="3290743"/>
            <a:ext cx="809793" cy="809793"/>
          </a:xfrm>
          <a:prstGeom prst="rect">
            <a:avLst/>
          </a:prstGeom>
        </p:spPr>
      </p:pic>
      <p:pic>
        <p:nvPicPr>
          <p:cNvPr id="21" name="Image 5" descr="shopping bag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3" y="3898087"/>
            <a:ext cx="809793" cy="809793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3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Acheter un cadeau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Dans un magasin, vous cherchez un cadeau pour votre sœur. Comparez avec le vendeur ou la vendeuse.</a:t>
            </a:r>
            <a:endParaRPr lang="en-US" sz="1300" dirty="0"/>
          </a:p>
        </p:txBody>
      </p:sp>
      <p:pic>
        <p:nvPicPr>
          <p:cNvPr id="26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7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ce que vous cherchez avec </a:t>
            </a:r>
            <a:r>
              <a:rPr lang="en-US" sz="1450" b="1" dirty="0">
                <a:solidFill>
                  <a:schemeClr val="tx1"/>
                </a:solidFill>
              </a:rPr>
              <a:t>IK ZOEK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VOOR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Comparez deux objets avec un </a:t>
            </a:r>
            <a:r>
              <a:rPr lang="en-US" sz="1450" b="1" dirty="0">
                <a:solidFill>
                  <a:schemeClr val="tx1"/>
                </a:solidFill>
              </a:rPr>
              <a:t>comparatif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DAN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</a:t>
            </a:r>
            <a:r>
              <a:rPr lang="en-US" sz="1450" b="1" dirty="0">
                <a:solidFill>
                  <a:schemeClr val="tx1"/>
                </a:solidFill>
              </a:rPr>
              <a:t>superlatif</a:t>
            </a:r>
            <a:r>
              <a:rPr lang="en-US" sz="1450" dirty="0">
                <a:solidFill>
                  <a:schemeClr val="tx1"/>
                </a:solidFill>
              </a:rPr>
              <a:t> (DE / HET … -STE).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Montrez les objets avec </a:t>
            </a:r>
            <a:r>
              <a:rPr lang="en-US" sz="1450" b="1" dirty="0">
                <a:solidFill>
                  <a:schemeClr val="tx1"/>
                </a:solidFill>
              </a:rPr>
              <a:t>DEZE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DIT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DAT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4" name="Shape 33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avec </a:t>
            </a:r>
            <a:r>
              <a:rPr lang="en-US" sz="1450" b="1" dirty="0">
                <a:solidFill>
                  <a:schemeClr val="tx1"/>
                </a:solidFill>
              </a:rPr>
              <a:t>DUS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cadeau kopen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7037" y="1730593"/>
            <a:ext cx="593994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car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558138"/>
            <a:ext cx="164958" cy="164958"/>
          </a:xfrm>
          <a:prstGeom prst="rect">
            <a:avLst/>
          </a:prstGeom>
        </p:spPr>
      </p:pic>
      <p:pic>
        <p:nvPicPr>
          <p:cNvPr id="14" name="Image 2" descr="blue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41" y="1573134"/>
            <a:ext cx="149962" cy="14996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48858" y="1783080"/>
            <a:ext cx="169713" cy="74981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8858" y="1783080"/>
            <a:ext cx="169713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€ 80</a:t>
            </a:r>
            <a:endParaRPr lang="en-US" sz="550" dirty="0"/>
          </a:p>
        </p:txBody>
      </p:sp>
      <p:sp>
        <p:nvSpPr>
          <p:cNvPr id="17" name="Shape 11"/>
          <p:cNvSpPr/>
          <p:nvPr/>
        </p:nvSpPr>
        <p:spPr>
          <a:xfrm>
            <a:off x="924641" y="1783080"/>
            <a:ext cx="169713" cy="74981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924641" y="1783080"/>
            <a:ext cx="169713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€ 20</a:t>
            </a:r>
            <a:endParaRPr lang="en-US" sz="550" dirty="0"/>
          </a:p>
        </p:txBody>
      </p:sp>
      <p:pic>
        <p:nvPicPr>
          <p:cNvPr id="19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281" y="1513149"/>
            <a:ext cx="269931" cy="269931"/>
          </a:xfrm>
          <a:prstGeom prst="rect">
            <a:avLst/>
          </a:prstGeom>
        </p:spPr>
      </p:pic>
      <p:pic>
        <p:nvPicPr>
          <p:cNvPr id="20" name="Image 4" descr="wrapped gi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709" y="1798076"/>
            <a:ext cx="179954" cy="179954"/>
          </a:xfrm>
          <a:prstGeom prst="rect">
            <a:avLst/>
          </a:prstGeom>
        </p:spPr>
      </p:pic>
      <p:pic>
        <p:nvPicPr>
          <p:cNvPr id="21" name="Image 5" descr="shopping bag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" y="1933042"/>
            <a:ext cx="179954" cy="179954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IK ZOEK … VOOR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COMPARATIF + DAN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SUPERLATIF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DEZE / DIE / DIT / DAT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DUS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1051560" y="2395728"/>
            <a:ext cx="176885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Goedendag, ik</a:t>
            </a:r>
            <a:endParaRPr lang="en-US" sz="2200" dirty="0"/>
          </a:p>
        </p:txBody>
      </p:sp>
      <p:sp>
        <p:nvSpPr>
          <p:cNvPr id="45" name="Shape 36"/>
          <p:cNvSpPr/>
          <p:nvPr/>
        </p:nvSpPr>
        <p:spPr>
          <a:xfrm>
            <a:off x="2792120" y="2409698"/>
            <a:ext cx="261330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2792120" y="2395728"/>
            <a:ext cx="26133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 een cadeau voor</a:t>
            </a:r>
            <a:endParaRPr lang="en-US" sz="2200" dirty="0"/>
          </a:p>
        </p:txBody>
      </p:sp>
      <p:sp>
        <p:nvSpPr>
          <p:cNvPr id="47" name="Text 38"/>
          <p:cNvSpPr txBox="1"/>
          <p:nvPr/>
        </p:nvSpPr>
        <p:spPr>
          <a:xfrm>
            <a:off x="5514289" y="2395728"/>
            <a:ext cx="11379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zus.</a:t>
            </a:r>
            <a:endParaRPr lang="en-US" sz="2200" dirty="0"/>
          </a:p>
        </p:txBody>
      </p:sp>
      <p:sp>
        <p:nvSpPr>
          <p:cNvPr id="48" name="Shape 39"/>
          <p:cNvSpPr/>
          <p:nvPr/>
        </p:nvSpPr>
        <p:spPr>
          <a:xfrm>
            <a:off x="4098773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40"/>
          <p:cNvSpPr/>
          <p:nvPr/>
        </p:nvSpPr>
        <p:spPr>
          <a:xfrm>
            <a:off x="3483886" y="2796286"/>
            <a:ext cx="122977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3483886" y="2796286"/>
            <a:ext cx="122977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IK ZOEK … VOOR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1051560" y="3157728"/>
            <a:ext cx="140396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boek is</a:t>
            </a:r>
            <a:endParaRPr lang="en-US" sz="2200" dirty="0"/>
          </a:p>
        </p:txBody>
      </p:sp>
      <p:sp>
        <p:nvSpPr>
          <p:cNvPr id="54" name="Shape 45"/>
          <p:cNvSpPr/>
          <p:nvPr/>
        </p:nvSpPr>
        <p:spPr>
          <a:xfrm>
            <a:off x="2427224" y="3171698"/>
            <a:ext cx="184020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427224" y="3157728"/>
            <a:ext cx="184020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goedkoper dan</a:t>
            </a:r>
            <a:endParaRPr lang="en-US" sz="2200" dirty="0"/>
          </a:p>
        </p:txBody>
      </p:sp>
      <p:sp>
        <p:nvSpPr>
          <p:cNvPr id="56" name="Text 47"/>
          <p:cNvSpPr txBox="1"/>
          <p:nvPr/>
        </p:nvSpPr>
        <p:spPr>
          <a:xfrm>
            <a:off x="4376293" y="3157728"/>
            <a:ext cx="106448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334732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2628827" y="3558286"/>
            <a:ext cx="143699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628827" y="3558286"/>
            <a:ext cx="143699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COMPARATIF + DAN</a:t>
            </a:r>
            <a:endParaRPr lang="en-US" sz="1050" dirty="0"/>
          </a:p>
        </p:txBody>
      </p:sp>
      <p:sp>
        <p:nvSpPr>
          <p:cNvPr id="60" name="Shape 51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Text 53"/>
          <p:cNvSpPr txBox="1"/>
          <p:nvPr/>
        </p:nvSpPr>
        <p:spPr>
          <a:xfrm>
            <a:off x="1051560" y="3919728"/>
            <a:ext cx="24916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de rode sjaal is</a:t>
            </a:r>
            <a:endParaRPr lang="en-US" sz="2200" dirty="0"/>
          </a:p>
        </p:txBody>
      </p:sp>
      <p:sp>
        <p:nvSpPr>
          <p:cNvPr id="63" name="Shape 54"/>
          <p:cNvSpPr/>
          <p:nvPr/>
        </p:nvSpPr>
        <p:spPr>
          <a:xfrm>
            <a:off x="3514928" y="3933698"/>
            <a:ext cx="1390650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3514928" y="3919728"/>
            <a:ext cx="139065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mooiste</a:t>
            </a:r>
            <a:endParaRPr lang="en-US" sz="2200" dirty="0"/>
          </a:p>
        </p:txBody>
      </p:sp>
      <p:sp>
        <p:nvSpPr>
          <p:cNvPr id="65" name="Text 56"/>
          <p:cNvSpPr txBox="1"/>
          <p:nvPr/>
        </p:nvSpPr>
        <p:spPr>
          <a:xfrm>
            <a:off x="5014443" y="3919728"/>
            <a:ext cx="176773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winkel.</a:t>
            </a:r>
            <a:endParaRPr lang="en-US" sz="2200" dirty="0"/>
          </a:p>
        </p:txBody>
      </p:sp>
      <p:sp>
        <p:nvSpPr>
          <p:cNvPr id="66" name="Shape 57"/>
          <p:cNvSpPr/>
          <p:nvPr/>
        </p:nvSpPr>
        <p:spPr>
          <a:xfrm>
            <a:off x="4210253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3724650" y="4320286"/>
            <a:ext cx="97120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3724650" y="4320286"/>
            <a:ext cx="9712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SUPERLATIF</a:t>
            </a:r>
            <a:endParaRPr lang="en-US" sz="1050" dirty="0"/>
          </a:p>
        </p:txBody>
      </p:sp>
      <p:sp>
        <p:nvSpPr>
          <p:cNvPr id="69" name="Shape 60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1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1" name="Text 62"/>
          <p:cNvSpPr txBox="1"/>
          <p:nvPr/>
        </p:nvSpPr>
        <p:spPr>
          <a:xfrm>
            <a:off x="1051560" y="4681728"/>
            <a:ext cx="89601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ik</a:t>
            </a:r>
            <a:endParaRPr lang="en-US" sz="2200" dirty="0"/>
          </a:p>
        </p:txBody>
      </p:sp>
      <p:sp>
        <p:nvSpPr>
          <p:cNvPr id="72" name="Shape 63"/>
          <p:cNvSpPr/>
          <p:nvPr/>
        </p:nvSpPr>
        <p:spPr>
          <a:xfrm>
            <a:off x="1919275" y="4695698"/>
            <a:ext cx="450748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3" name="Text 64"/>
          <p:cNvSpPr txBox="1"/>
          <p:nvPr/>
        </p:nvSpPr>
        <p:spPr>
          <a:xfrm>
            <a:off x="1919275" y="4681728"/>
            <a:ext cx="45074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200" dirty="0"/>
          </a:p>
        </p:txBody>
      </p:sp>
      <p:sp>
        <p:nvSpPr>
          <p:cNvPr id="74" name="Text 65"/>
          <p:cNvSpPr txBox="1"/>
          <p:nvPr/>
        </p:nvSpPr>
        <p:spPr>
          <a:xfrm>
            <a:off x="2478888" y="4681728"/>
            <a:ext cx="156908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sjaal daar en</a:t>
            </a:r>
            <a:endParaRPr lang="en-US" sz="2200" dirty="0"/>
          </a:p>
        </p:txBody>
      </p:sp>
      <p:sp>
        <p:nvSpPr>
          <p:cNvPr id="75" name="Shape 66"/>
          <p:cNvSpPr/>
          <p:nvPr/>
        </p:nvSpPr>
        <p:spPr>
          <a:xfrm>
            <a:off x="4019677" y="4695698"/>
            <a:ext cx="407162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4019677" y="4681728"/>
            <a:ext cx="40716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</a:t>
            </a:r>
            <a:endParaRPr lang="en-US" sz="2200" dirty="0"/>
          </a:p>
        </p:txBody>
      </p:sp>
      <p:sp>
        <p:nvSpPr>
          <p:cNvPr id="77" name="Text 68"/>
          <p:cNvSpPr txBox="1"/>
          <p:nvPr/>
        </p:nvSpPr>
        <p:spPr>
          <a:xfrm>
            <a:off x="4535703" y="4681728"/>
            <a:ext cx="194767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 eens zien?</a:t>
            </a:r>
            <a:endParaRPr lang="en-US" sz="2200" dirty="0"/>
          </a:p>
        </p:txBody>
      </p:sp>
      <p:sp>
        <p:nvSpPr>
          <p:cNvPr id="78" name="Shape 69"/>
          <p:cNvSpPr/>
          <p:nvPr/>
        </p:nvSpPr>
        <p:spPr>
          <a:xfrm>
            <a:off x="214464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9" name="Shape 70"/>
          <p:cNvSpPr/>
          <p:nvPr/>
        </p:nvSpPr>
        <p:spPr>
          <a:xfrm>
            <a:off x="1897342" y="5082286"/>
            <a:ext cx="494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1897342" y="5082286"/>
            <a:ext cx="494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DIE</a:t>
            </a:r>
            <a:endParaRPr lang="en-US" sz="1050" dirty="0"/>
          </a:p>
        </p:txBody>
      </p:sp>
      <p:sp>
        <p:nvSpPr>
          <p:cNvPr id="81" name="Shape 72"/>
          <p:cNvSpPr/>
          <p:nvPr/>
        </p:nvSpPr>
        <p:spPr>
          <a:xfrm>
            <a:off x="422325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3"/>
          <p:cNvSpPr/>
          <p:nvPr/>
        </p:nvSpPr>
        <p:spPr>
          <a:xfrm>
            <a:off x="3975484" y="5082286"/>
            <a:ext cx="49554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3975484" y="5082286"/>
            <a:ext cx="4955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DIT</a:t>
            </a:r>
            <a:endParaRPr lang="en-US" sz="1050" dirty="0"/>
          </a:p>
        </p:txBody>
      </p:sp>
      <p:sp>
        <p:nvSpPr>
          <p:cNvPr id="84" name="Shape 75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6" name="Text 77"/>
          <p:cNvSpPr txBox="1"/>
          <p:nvPr/>
        </p:nvSpPr>
        <p:spPr>
          <a:xfrm>
            <a:off x="1051560" y="5443728"/>
            <a:ext cx="306806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 kost tachtig euro,</a:t>
            </a:r>
            <a:endParaRPr lang="en-US" sz="2200" dirty="0"/>
          </a:p>
        </p:txBody>
      </p:sp>
      <p:sp>
        <p:nvSpPr>
          <p:cNvPr id="87" name="Shape 78"/>
          <p:cNvSpPr/>
          <p:nvPr/>
        </p:nvSpPr>
        <p:spPr>
          <a:xfrm>
            <a:off x="4091330" y="5457698"/>
            <a:ext cx="502996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9"/>
          <p:cNvSpPr txBox="1"/>
          <p:nvPr/>
        </p:nvSpPr>
        <p:spPr>
          <a:xfrm>
            <a:off x="4091330" y="5443728"/>
            <a:ext cx="5029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</a:t>
            </a:r>
            <a:endParaRPr lang="en-US" sz="2200" dirty="0"/>
          </a:p>
        </p:txBody>
      </p:sp>
      <p:sp>
        <p:nvSpPr>
          <p:cNvPr id="89" name="Text 80"/>
          <p:cNvSpPr txBox="1"/>
          <p:nvPr/>
        </p:nvSpPr>
        <p:spPr>
          <a:xfrm>
            <a:off x="4703191" y="5443728"/>
            <a:ext cx="238968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neem… het boek!</a:t>
            </a:r>
            <a:endParaRPr lang="en-US" sz="2200" dirty="0"/>
          </a:p>
        </p:txBody>
      </p:sp>
      <p:sp>
        <p:nvSpPr>
          <p:cNvPr id="90" name="Shape 81"/>
          <p:cNvSpPr/>
          <p:nvPr/>
        </p:nvSpPr>
        <p:spPr>
          <a:xfrm>
            <a:off x="434282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2"/>
          <p:cNvSpPr/>
          <p:nvPr/>
        </p:nvSpPr>
        <p:spPr>
          <a:xfrm>
            <a:off x="4070785" y="5844286"/>
            <a:ext cx="544087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4070785" y="5844286"/>
            <a:ext cx="5440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DUS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apotheek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159801" y="1704899"/>
            <a:ext cx="1974007" cy="404896"/>
          </a:xfrm>
          <a:prstGeom prst="roundRect">
            <a:avLst>
              <a:gd name="adj" fmla="val 180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9801" y="1704899"/>
            <a:ext cx="1974007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APOTHEEK</a:t>
            </a:r>
            <a:endParaRPr lang="en-US" sz="1658" dirty="0"/>
          </a:p>
        </p:txBody>
      </p:sp>
      <p:pic>
        <p:nvPicPr>
          <p:cNvPr id="14" name="Image 1" descr="wo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802" y="2211019"/>
            <a:ext cx="1552103" cy="1552103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971800" y="3560674"/>
            <a:ext cx="2350008" cy="1349654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5800" y="3122036"/>
            <a:ext cx="438638" cy="438638"/>
          </a:xfrm>
          <a:prstGeom prst="rect">
            <a:avLst/>
          </a:prstGeom>
        </p:spPr>
      </p:pic>
      <p:pic>
        <p:nvPicPr>
          <p:cNvPr id="17" name="Image 3" descr="honey p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806" y="3088295"/>
            <a:ext cx="472379" cy="472379"/>
          </a:xfrm>
          <a:prstGeom prst="rect">
            <a:avLst/>
          </a:prstGeom>
        </p:spPr>
      </p:pic>
      <p:pic>
        <p:nvPicPr>
          <p:cNvPr id="18" name="Image 4" descr="sneez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93" y="2480950"/>
            <a:ext cx="1349654" cy="1349654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0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À la pharmacie</a:t>
            </a:r>
            <a:endParaRPr lang="en-US" sz="1500" dirty="0"/>
          </a:p>
        </p:txBody>
      </p:sp>
      <p:sp>
        <p:nvSpPr>
          <p:cNvPr id="22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attrapé froid. Demandez conseil au pharmacien ou à la pharmacienne.</a:t>
            </a:r>
            <a:endParaRPr lang="en-US" sz="1300" dirty="0"/>
          </a:p>
        </p:txBody>
      </p:sp>
      <p:pic>
        <p:nvPicPr>
          <p:cNvPr id="23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combien de temps avec </a:t>
            </a:r>
            <a:r>
              <a:rPr lang="en-US" sz="1450" b="1" dirty="0">
                <a:solidFill>
                  <a:schemeClr val="tx1"/>
                </a:solidFill>
              </a:rPr>
              <a:t>AL</a:t>
            </a:r>
            <a:r>
              <a:rPr lang="en-US" sz="1450" dirty="0">
                <a:solidFill>
                  <a:schemeClr val="tx1"/>
                </a:solidFill>
              </a:rPr>
              <a:t> + durée (+ présent).</a:t>
            </a:r>
            <a:endParaRPr lang="en-US" sz="1450" dirty="0"/>
          </a:p>
        </p:txBody>
      </p:sp>
      <p:sp>
        <p:nvSpPr>
          <p:cNvPr id="29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verbe pronominal (</a:t>
            </a:r>
            <a:r>
              <a:rPr lang="en-US" sz="1450" b="1" dirty="0">
                <a:solidFill>
                  <a:schemeClr val="tx1"/>
                </a:solidFill>
              </a:rPr>
              <a:t>ZICH VOELEN</a:t>
            </a:r>
            <a:r>
              <a:rPr lang="en-US" sz="1450" dirty="0">
                <a:solidFill>
                  <a:schemeClr val="tx1"/>
                </a:solidFill>
              </a:rPr>
              <a:t>…).</a:t>
            </a:r>
            <a:endParaRPr lang="en-US" sz="1450" dirty="0"/>
          </a:p>
        </p:txBody>
      </p:sp>
      <p:sp>
        <p:nvSpPr>
          <p:cNvPr id="33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Demandez un conseil poliment avec </a:t>
            </a:r>
            <a:r>
              <a:rPr lang="en-US" sz="1450" b="1" dirty="0">
                <a:solidFill>
                  <a:schemeClr val="tx1"/>
                </a:solidFill>
              </a:rPr>
              <a:t>KUNT U</a:t>
            </a:r>
            <a:r>
              <a:rPr lang="en-US" sz="1450" dirty="0">
                <a:solidFill>
                  <a:schemeClr val="tx1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37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avec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MOGEN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41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TOCH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apotheek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57996" y="1445666"/>
            <a:ext cx="445496" cy="89977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57996" y="1445666"/>
            <a:ext cx="445496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APOTHEEK</a:t>
            </a:r>
            <a:endParaRPr lang="en-US" sz="550" dirty="0"/>
          </a:p>
        </p:txBody>
      </p:sp>
      <p:pic>
        <p:nvPicPr>
          <p:cNvPr id="14" name="Image 1" descr="wo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852" y="1558138"/>
            <a:ext cx="344912" cy="34491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115568" y="1858061"/>
            <a:ext cx="530352" cy="299923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782" y="1760586"/>
            <a:ext cx="97475" cy="97475"/>
          </a:xfrm>
          <a:prstGeom prst="rect">
            <a:avLst/>
          </a:prstGeom>
        </p:spPr>
      </p:pic>
      <p:pic>
        <p:nvPicPr>
          <p:cNvPr id="17" name="Image 3" descr="honey p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243" y="1753088"/>
            <a:ext cx="104973" cy="104973"/>
          </a:xfrm>
          <a:prstGeom prst="rect">
            <a:avLst/>
          </a:prstGeom>
        </p:spPr>
      </p:pic>
      <p:pic>
        <p:nvPicPr>
          <p:cNvPr id="18" name="Image 4" descr="sneez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58" y="1618122"/>
            <a:ext cx="299923" cy="299923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AL + durée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PRONOMINAL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KUNT U … ?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MOETEN / MOGEN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TOCH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1051560" y="2395728"/>
            <a:ext cx="275541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Goedemiddag, ik hoest</a:t>
            </a:r>
            <a:endParaRPr lang="en-US" sz="2200" dirty="0"/>
          </a:p>
        </p:txBody>
      </p:sp>
      <p:sp>
        <p:nvSpPr>
          <p:cNvPr id="42" name="Shape 34"/>
          <p:cNvSpPr/>
          <p:nvPr/>
        </p:nvSpPr>
        <p:spPr>
          <a:xfrm>
            <a:off x="3778682" y="2409698"/>
            <a:ext cx="1594053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778682" y="2395728"/>
            <a:ext cx="15940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drie dagen</a:t>
            </a:r>
            <a:endParaRPr lang="en-US" sz="2200" dirty="0"/>
          </a:p>
        </p:txBody>
      </p:sp>
      <p:sp>
        <p:nvSpPr>
          <p:cNvPr id="44" name="Text 36"/>
          <p:cNvSpPr txBox="1"/>
          <p:nvPr/>
        </p:nvSpPr>
        <p:spPr>
          <a:xfrm>
            <a:off x="5372735" y="2395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5" name="Shape 37"/>
          <p:cNvSpPr/>
          <p:nvPr/>
        </p:nvSpPr>
        <p:spPr>
          <a:xfrm>
            <a:off x="457570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4126443" y="2796286"/>
            <a:ext cx="898531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126443" y="2796286"/>
            <a:ext cx="89853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AL + durée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0" name="Text 42"/>
          <p:cNvSpPr txBox="1"/>
          <p:nvPr/>
        </p:nvSpPr>
        <p:spPr>
          <a:xfrm>
            <a:off x="1051560" y="3157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51" name="Shape 43"/>
          <p:cNvSpPr/>
          <p:nvPr/>
        </p:nvSpPr>
        <p:spPr>
          <a:xfrm>
            <a:off x="1357960" y="3171698"/>
            <a:ext cx="1014019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1357960" y="3157728"/>
            <a:ext cx="101401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voel me</a:t>
            </a:r>
            <a:endParaRPr lang="en-US" sz="2200" dirty="0"/>
          </a:p>
        </p:txBody>
      </p:sp>
      <p:sp>
        <p:nvSpPr>
          <p:cNvPr id="53" name="Text 45"/>
          <p:cNvSpPr txBox="1"/>
          <p:nvPr/>
        </p:nvSpPr>
        <p:spPr>
          <a:xfrm>
            <a:off x="2480843" y="3157728"/>
            <a:ext cx="326783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goed en ik slaap slecht.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1864970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5" name="Shape 47"/>
          <p:cNvSpPr/>
          <p:nvPr/>
        </p:nvSpPr>
        <p:spPr>
          <a:xfrm>
            <a:off x="1314291" y="3558286"/>
            <a:ext cx="110135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1314291" y="3558286"/>
            <a:ext cx="110135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PRONOMINAL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9" name="Shape 51"/>
          <p:cNvSpPr/>
          <p:nvPr/>
        </p:nvSpPr>
        <p:spPr>
          <a:xfrm>
            <a:off x="1051560" y="3933698"/>
            <a:ext cx="854481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1051560" y="3919728"/>
            <a:ext cx="8544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u</a:t>
            </a:r>
            <a:endParaRPr lang="en-US" sz="2200" dirty="0"/>
          </a:p>
        </p:txBody>
      </p:sp>
      <p:sp>
        <p:nvSpPr>
          <p:cNvPr id="61" name="Text 53"/>
          <p:cNvSpPr txBox="1"/>
          <p:nvPr/>
        </p:nvSpPr>
        <p:spPr>
          <a:xfrm>
            <a:off x="2014906" y="3919728"/>
            <a:ext cx="96083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 iets</a:t>
            </a:r>
            <a:endParaRPr lang="en-US" sz="2200" dirty="0"/>
          </a:p>
        </p:txBody>
      </p:sp>
      <p:sp>
        <p:nvSpPr>
          <p:cNvPr id="62" name="Shape 54"/>
          <p:cNvSpPr/>
          <p:nvPr/>
        </p:nvSpPr>
        <p:spPr>
          <a:xfrm>
            <a:off x="2947441" y="3933698"/>
            <a:ext cx="1195349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2947441" y="3919728"/>
            <a:ext cx="119534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200" dirty="0"/>
          </a:p>
        </p:txBody>
      </p:sp>
      <p:sp>
        <p:nvSpPr>
          <p:cNvPr id="64" name="Text 56"/>
          <p:cNvSpPr txBox="1"/>
          <p:nvPr/>
        </p:nvSpPr>
        <p:spPr>
          <a:xfrm>
            <a:off x="4251655" y="3919728"/>
            <a:ext cx="16665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keel?</a:t>
            </a:r>
            <a:endParaRPr lang="en-US" sz="2200" dirty="0"/>
          </a:p>
        </p:txBody>
      </p:sp>
      <p:sp>
        <p:nvSpPr>
          <p:cNvPr id="65" name="Shape 57"/>
          <p:cNvSpPr/>
          <p:nvPr/>
        </p:nvSpPr>
        <p:spPr>
          <a:xfrm>
            <a:off x="1478801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1108278" y="4320286"/>
            <a:ext cx="74104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1108278" y="4320286"/>
            <a:ext cx="74104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KUNT U</a:t>
            </a:r>
            <a:endParaRPr lang="en-US" sz="1050" dirty="0"/>
          </a:p>
        </p:txBody>
      </p:sp>
      <p:sp>
        <p:nvSpPr>
          <p:cNvPr id="68" name="Shape 60"/>
          <p:cNvSpPr/>
          <p:nvPr/>
        </p:nvSpPr>
        <p:spPr>
          <a:xfrm>
            <a:off x="3545116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3139389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3139389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1" name="Shape 63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3" name="Shape 65"/>
          <p:cNvSpPr/>
          <p:nvPr/>
        </p:nvSpPr>
        <p:spPr>
          <a:xfrm>
            <a:off x="1051560" y="4695698"/>
            <a:ext cx="72344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1051560" y="4681728"/>
            <a:ext cx="72344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75" name="Text 67"/>
          <p:cNvSpPr txBox="1"/>
          <p:nvPr/>
        </p:nvSpPr>
        <p:spPr>
          <a:xfrm>
            <a:off x="1883867" y="4681728"/>
            <a:ext cx="394733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deze siroop voor of na het eten</a:t>
            </a:r>
            <a:endParaRPr lang="en-US" sz="2200" dirty="0"/>
          </a:p>
        </p:txBody>
      </p:sp>
      <p:sp>
        <p:nvSpPr>
          <p:cNvPr id="76" name="Shape 68"/>
          <p:cNvSpPr/>
          <p:nvPr/>
        </p:nvSpPr>
        <p:spPr>
          <a:xfrm>
            <a:off x="5802909" y="4695698"/>
            <a:ext cx="899744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5802909" y="4681728"/>
            <a:ext cx="8997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nemen</a:t>
            </a:r>
            <a:endParaRPr lang="en-US" sz="2200" dirty="0"/>
          </a:p>
        </p:txBody>
      </p:sp>
      <p:sp>
        <p:nvSpPr>
          <p:cNvPr id="78" name="Text 70"/>
          <p:cNvSpPr txBox="1"/>
          <p:nvPr/>
        </p:nvSpPr>
        <p:spPr>
          <a:xfrm>
            <a:off x="6702654" y="4681728"/>
            <a:ext cx="2665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79" name="Shape 71"/>
          <p:cNvSpPr/>
          <p:nvPr/>
        </p:nvSpPr>
        <p:spPr>
          <a:xfrm>
            <a:off x="141328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1012955" y="5082286"/>
            <a:ext cx="800652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1012955" y="5082286"/>
            <a:ext cx="80065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MOETEN</a:t>
            </a:r>
            <a:endParaRPr lang="en-US" sz="1050" dirty="0"/>
          </a:p>
        </p:txBody>
      </p:sp>
      <p:sp>
        <p:nvSpPr>
          <p:cNvPr id="82" name="Shape 74"/>
          <p:cNvSpPr/>
          <p:nvPr/>
        </p:nvSpPr>
        <p:spPr>
          <a:xfrm>
            <a:off x="6252782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5847055" y="5082286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6"/>
          <p:cNvSpPr txBox="1"/>
          <p:nvPr/>
        </p:nvSpPr>
        <p:spPr>
          <a:xfrm>
            <a:off x="5847055" y="5082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85" name="Shape 77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7" name="Text 79"/>
          <p:cNvSpPr txBox="1"/>
          <p:nvPr/>
        </p:nvSpPr>
        <p:spPr>
          <a:xfrm>
            <a:off x="1051560" y="5443728"/>
            <a:ext cx="384451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Siroop met honing? Dan neem ik</a:t>
            </a:r>
            <a:endParaRPr lang="en-US" sz="2200" dirty="0"/>
          </a:p>
        </p:txBody>
      </p:sp>
      <p:sp>
        <p:nvSpPr>
          <p:cNvPr id="88" name="Shape 80"/>
          <p:cNvSpPr/>
          <p:nvPr/>
        </p:nvSpPr>
        <p:spPr>
          <a:xfrm>
            <a:off x="4867783" y="5457698"/>
            <a:ext cx="605536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4867783" y="5443728"/>
            <a:ext cx="60553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200" dirty="0"/>
          </a:p>
        </p:txBody>
      </p:sp>
      <p:sp>
        <p:nvSpPr>
          <p:cNvPr id="90" name="Text 82"/>
          <p:cNvSpPr txBox="1"/>
          <p:nvPr/>
        </p:nvSpPr>
        <p:spPr>
          <a:xfrm>
            <a:off x="5582183" y="5443728"/>
            <a:ext cx="349387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liever warme chocolademelk!</a:t>
            </a:r>
            <a:endParaRPr lang="en-US" sz="2200" dirty="0"/>
          </a:p>
        </p:txBody>
      </p:sp>
      <p:sp>
        <p:nvSpPr>
          <p:cNvPr id="91" name="Shape 83"/>
          <p:cNvSpPr/>
          <p:nvPr/>
        </p:nvSpPr>
        <p:spPr>
          <a:xfrm>
            <a:off x="5170551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4860169" y="5844286"/>
            <a:ext cx="62076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4860169" y="5844286"/>
            <a:ext cx="62076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TOCH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vakantiekaartje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425708"/>
            <a:ext cx="4700016" cy="472379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assical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076054"/>
            <a:ext cx="1349654" cy="1349654"/>
          </a:xfrm>
          <a:prstGeom prst="rect">
            <a:avLst/>
          </a:prstGeom>
        </p:spPr>
      </p:pic>
      <p:pic>
        <p:nvPicPr>
          <p:cNvPr id="13" name="Image 2" descr="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805" y="1671157"/>
            <a:ext cx="607344" cy="607344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885846"/>
            <a:ext cx="607344" cy="607344"/>
          </a:xfrm>
          <a:prstGeom prst="rect">
            <a:avLst/>
          </a:prstGeom>
        </p:spPr>
      </p:pic>
      <p:pic>
        <p:nvPicPr>
          <p:cNvPr id="15" name="Image 4" descr="post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804" y="3223260"/>
            <a:ext cx="1147206" cy="1147206"/>
          </a:xfrm>
          <a:prstGeom prst="rect">
            <a:avLst/>
          </a:prstGeom>
        </p:spPr>
      </p:pic>
      <p:pic>
        <p:nvPicPr>
          <p:cNvPr id="16" name="Image 5" descr="sun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797" y="4100535"/>
            <a:ext cx="472379" cy="472379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8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Une carte postale</a:t>
            </a:r>
            <a:endParaRPr lang="en-US" sz="1500" dirty="0"/>
          </a:p>
        </p:txBody>
      </p:sp>
      <p:sp>
        <p:nvSpPr>
          <p:cNvPr id="20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êtes en vacances. Écrivez une carte postale à vos collègues.</a:t>
            </a:r>
            <a:endParaRPr lang="en-US" sz="1300" dirty="0"/>
          </a:p>
        </p:txBody>
      </p:sp>
      <p:pic>
        <p:nvPicPr>
          <p:cNvPr id="21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quand vous êtes là avec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7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hier avec un verbe à particule au perfectum (</a:t>
            </a:r>
            <a:r>
              <a:rPr lang="en-US" sz="1450" b="1" dirty="0">
                <a:solidFill>
                  <a:schemeClr val="tx1"/>
                </a:solidFill>
              </a:rPr>
              <a:t>OP-GE-STAAN</a:t>
            </a:r>
            <a:r>
              <a:rPr lang="en-US" sz="1450" dirty="0">
                <a:solidFill>
                  <a:schemeClr val="tx1"/>
                </a:solidFill>
              </a:rPr>
              <a:t>).</a:t>
            </a:r>
            <a:endParaRPr lang="en-US" sz="1450" dirty="0"/>
          </a:p>
        </p:txBody>
      </p:sp>
      <p:sp>
        <p:nvSpPr>
          <p:cNvPr id="31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avec l’imparfait </a:t>
            </a:r>
            <a:r>
              <a:rPr lang="en-US" sz="1450" b="1" dirty="0">
                <a:solidFill>
                  <a:schemeClr val="tx1"/>
                </a:solidFill>
              </a:rPr>
              <a:t>WAS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HAD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5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Comparez avec la Belgique : </a:t>
            </a:r>
            <a:r>
              <a:rPr lang="en-US" sz="1450" b="1" dirty="0">
                <a:solidFill>
                  <a:schemeClr val="tx1"/>
                </a:solidFill>
              </a:rPr>
              <a:t>… -ER DAN IN BELGIË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9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et </a:t>
            </a:r>
            <a:r>
              <a:rPr lang="en-US" sz="1450" b="1" dirty="0">
                <a:solidFill>
                  <a:schemeClr val="tx1"/>
                </a:solidFill>
              </a:rPr>
              <a:t>GROETJES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vakantiekaartje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828068"/>
            <a:ext cx="1060704" cy="104973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assical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528145"/>
            <a:ext cx="299923" cy="299923"/>
          </a:xfrm>
          <a:prstGeom prst="rect">
            <a:avLst/>
          </a:prstGeom>
        </p:spPr>
      </p:pic>
      <p:pic>
        <p:nvPicPr>
          <p:cNvPr id="13" name="Image 2" descr="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779" y="1438168"/>
            <a:ext cx="134965" cy="134965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708099"/>
            <a:ext cx="134965" cy="134965"/>
          </a:xfrm>
          <a:prstGeom prst="rect">
            <a:avLst/>
          </a:prstGeom>
        </p:spPr>
      </p:pic>
      <p:pic>
        <p:nvPicPr>
          <p:cNvPr id="15" name="Image 4" descr="post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0137" y="1783080"/>
            <a:ext cx="254935" cy="254935"/>
          </a:xfrm>
          <a:prstGeom prst="rect">
            <a:avLst/>
          </a:prstGeom>
        </p:spPr>
      </p:pic>
      <p:pic>
        <p:nvPicPr>
          <p:cNvPr id="16" name="Image 5" descr="sun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855" y="1978030"/>
            <a:ext cx="104973" cy="104973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SINDS</a:t>
            </a:r>
            <a:endParaRPr lang="en-US" sz="1300" dirty="0"/>
          </a:p>
        </p:txBody>
      </p:sp>
      <p:sp>
        <p:nvSpPr>
          <p:cNvPr id="21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PARTICULE + GE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WAS / HAD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COMPARATIF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CHUTE + GROETJES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51560" y="2395728"/>
            <a:ext cx="263108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collega’s, ik ben</a:t>
            </a:r>
            <a:endParaRPr lang="en-US" sz="2200" dirty="0"/>
          </a:p>
        </p:txBody>
      </p:sp>
      <p:sp>
        <p:nvSpPr>
          <p:cNvPr id="40" name="Shape 31"/>
          <p:cNvSpPr/>
          <p:nvPr/>
        </p:nvSpPr>
        <p:spPr>
          <a:xfrm>
            <a:off x="3654349" y="2409698"/>
            <a:ext cx="1752473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654349" y="2395728"/>
            <a:ext cx="17524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zaterdag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5515686" y="2395728"/>
            <a:ext cx="11740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Kreta.</a:t>
            </a:r>
            <a:endParaRPr lang="en-US" sz="2200" dirty="0"/>
          </a:p>
        </p:txBody>
      </p:sp>
      <p:sp>
        <p:nvSpPr>
          <p:cNvPr id="43" name="Shape 34"/>
          <p:cNvSpPr/>
          <p:nvPr/>
        </p:nvSpPr>
        <p:spPr>
          <a:xfrm>
            <a:off x="4530585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5"/>
          <p:cNvSpPr/>
          <p:nvPr/>
        </p:nvSpPr>
        <p:spPr>
          <a:xfrm>
            <a:off x="4208802" y="2796286"/>
            <a:ext cx="64356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4208802" y="2796286"/>
            <a:ext cx="6435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SINDS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1051560" y="3157728"/>
            <a:ext cx="3265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zijn we om zes uur</a:t>
            </a:r>
            <a:endParaRPr lang="en-US" sz="2200" dirty="0"/>
          </a:p>
        </p:txBody>
      </p:sp>
      <p:sp>
        <p:nvSpPr>
          <p:cNvPr id="49" name="Shape 40"/>
          <p:cNvSpPr/>
          <p:nvPr/>
        </p:nvSpPr>
        <p:spPr>
          <a:xfrm>
            <a:off x="4289146" y="3171698"/>
            <a:ext cx="1299286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289146" y="3157728"/>
            <a:ext cx="129928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opgestaan</a:t>
            </a:r>
            <a:endParaRPr lang="en-US" sz="2200" dirty="0"/>
          </a:p>
        </p:txBody>
      </p:sp>
      <p:sp>
        <p:nvSpPr>
          <p:cNvPr id="51" name="Text 42"/>
          <p:cNvSpPr txBox="1"/>
          <p:nvPr/>
        </p:nvSpPr>
        <p:spPr>
          <a:xfrm>
            <a:off x="5697296" y="3157728"/>
            <a:ext cx="393700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een wandeling in de bergen.</a:t>
            </a:r>
            <a:endParaRPr lang="en-US" sz="2200" dirty="0"/>
          </a:p>
        </p:txBody>
      </p:sp>
      <p:sp>
        <p:nvSpPr>
          <p:cNvPr id="52" name="Shape 43"/>
          <p:cNvSpPr/>
          <p:nvPr/>
        </p:nvSpPr>
        <p:spPr>
          <a:xfrm>
            <a:off x="4938789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4341705" y="3558286"/>
            <a:ext cx="119416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4341705" y="3558286"/>
            <a:ext cx="119416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PARTICULE + GE</a:t>
            </a:r>
            <a:endParaRPr lang="en-US" sz="1050" dirty="0"/>
          </a:p>
        </p:txBody>
      </p:sp>
      <p:sp>
        <p:nvSpPr>
          <p:cNvPr id="55" name="Shape 46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7" name="Text 48"/>
          <p:cNvSpPr txBox="1"/>
          <p:nvPr/>
        </p:nvSpPr>
        <p:spPr>
          <a:xfrm>
            <a:off x="1051560" y="3919728"/>
            <a:ext cx="11256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eten</a:t>
            </a:r>
            <a:endParaRPr lang="en-US" sz="2200" dirty="0"/>
          </a:p>
        </p:txBody>
      </p:sp>
      <p:sp>
        <p:nvSpPr>
          <p:cNvPr id="58" name="Shape 49"/>
          <p:cNvSpPr/>
          <p:nvPr/>
        </p:nvSpPr>
        <p:spPr>
          <a:xfrm>
            <a:off x="2148942" y="3933698"/>
            <a:ext cx="54909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148942" y="3919728"/>
            <a:ext cx="5490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endParaRPr lang="en-US" sz="2200" dirty="0"/>
          </a:p>
        </p:txBody>
      </p:sp>
      <p:sp>
        <p:nvSpPr>
          <p:cNvPr id="60" name="Text 51"/>
          <p:cNvSpPr txBox="1"/>
          <p:nvPr/>
        </p:nvSpPr>
        <p:spPr>
          <a:xfrm>
            <a:off x="2806903" y="3919728"/>
            <a:ext cx="15824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lekker en we</a:t>
            </a:r>
            <a:endParaRPr lang="en-US" sz="2200" dirty="0"/>
          </a:p>
        </p:txBody>
      </p:sp>
      <p:sp>
        <p:nvSpPr>
          <p:cNvPr id="61" name="Shape 52"/>
          <p:cNvSpPr/>
          <p:nvPr/>
        </p:nvSpPr>
        <p:spPr>
          <a:xfrm>
            <a:off x="4361104" y="3933698"/>
            <a:ext cx="97015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4361104" y="3919728"/>
            <a:ext cx="9701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hadden</a:t>
            </a:r>
            <a:endParaRPr lang="en-US" sz="2200" dirty="0"/>
          </a:p>
        </p:txBody>
      </p:sp>
      <p:sp>
        <p:nvSpPr>
          <p:cNvPr id="63" name="Text 54"/>
          <p:cNvSpPr txBox="1"/>
          <p:nvPr/>
        </p:nvSpPr>
        <p:spPr>
          <a:xfrm>
            <a:off x="5440121" y="3919728"/>
            <a:ext cx="252882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prachtig uitzicht.</a:t>
            </a:r>
            <a:endParaRPr lang="en-US" sz="2200" dirty="0"/>
          </a:p>
        </p:txBody>
      </p:sp>
      <p:sp>
        <p:nvSpPr>
          <p:cNvPr id="64" name="Shape 55"/>
          <p:cNvSpPr/>
          <p:nvPr/>
        </p:nvSpPr>
        <p:spPr>
          <a:xfrm>
            <a:off x="242349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2136178" y="4320286"/>
            <a:ext cx="57462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2136178" y="4320286"/>
            <a:ext cx="5746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WAS</a:t>
            </a:r>
            <a:endParaRPr lang="en-US" sz="1050" dirty="0"/>
          </a:p>
        </p:txBody>
      </p:sp>
      <p:sp>
        <p:nvSpPr>
          <p:cNvPr id="67" name="Shape 58"/>
          <p:cNvSpPr/>
          <p:nvPr/>
        </p:nvSpPr>
        <p:spPr>
          <a:xfrm>
            <a:off x="484618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4566736" y="4320286"/>
            <a:ext cx="55888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4566736" y="4320286"/>
            <a:ext cx="55888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HAD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2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2" name="Text 63"/>
          <p:cNvSpPr txBox="1"/>
          <p:nvPr/>
        </p:nvSpPr>
        <p:spPr>
          <a:xfrm>
            <a:off x="1051560" y="4681728"/>
            <a:ext cx="182333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hier veel</a:t>
            </a:r>
            <a:endParaRPr lang="en-US" sz="2200" dirty="0"/>
          </a:p>
        </p:txBody>
      </p:sp>
      <p:sp>
        <p:nvSpPr>
          <p:cNvPr id="73" name="Shape 64"/>
          <p:cNvSpPr/>
          <p:nvPr/>
        </p:nvSpPr>
        <p:spPr>
          <a:xfrm>
            <a:off x="2846603" y="4695698"/>
            <a:ext cx="1504925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2846603" y="4681728"/>
            <a:ext cx="150492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dan</a:t>
            </a:r>
            <a:endParaRPr lang="en-US" sz="2200" dirty="0"/>
          </a:p>
        </p:txBody>
      </p:sp>
      <p:sp>
        <p:nvSpPr>
          <p:cNvPr id="75" name="Text 66"/>
          <p:cNvSpPr txBox="1"/>
          <p:nvPr/>
        </p:nvSpPr>
        <p:spPr>
          <a:xfrm>
            <a:off x="4460392" y="4681728"/>
            <a:ext cx="11927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België!</a:t>
            </a:r>
            <a:endParaRPr lang="en-US" sz="2200" dirty="0"/>
          </a:p>
        </p:txBody>
      </p:sp>
      <p:sp>
        <p:nvSpPr>
          <p:cNvPr id="76" name="Shape 67"/>
          <p:cNvSpPr/>
          <p:nvPr/>
        </p:nvSpPr>
        <p:spPr>
          <a:xfrm>
            <a:off x="3599066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8"/>
          <p:cNvSpPr/>
          <p:nvPr/>
        </p:nvSpPr>
        <p:spPr>
          <a:xfrm>
            <a:off x="3070257" y="5082286"/>
            <a:ext cx="105761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9"/>
          <p:cNvSpPr txBox="1"/>
          <p:nvPr/>
        </p:nvSpPr>
        <p:spPr>
          <a:xfrm>
            <a:off x="3070257" y="5082286"/>
            <a:ext cx="10576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COMPARATIF</a:t>
            </a:r>
            <a:endParaRPr lang="en-US" sz="1050" dirty="0"/>
          </a:p>
        </p:txBody>
      </p:sp>
      <p:sp>
        <p:nvSpPr>
          <p:cNvPr id="79" name="Shape 70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Text 72"/>
          <p:cNvSpPr txBox="1"/>
          <p:nvPr/>
        </p:nvSpPr>
        <p:spPr>
          <a:xfrm>
            <a:off x="1051560" y="5443728"/>
            <a:ext cx="181970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maandag…</a:t>
            </a:r>
            <a:endParaRPr lang="en-US" sz="2200" dirty="0"/>
          </a:p>
        </p:txBody>
      </p:sp>
      <p:sp>
        <p:nvSpPr>
          <p:cNvPr id="82" name="Shape 73"/>
          <p:cNvSpPr/>
          <p:nvPr/>
        </p:nvSpPr>
        <p:spPr>
          <a:xfrm>
            <a:off x="2842971" y="5457698"/>
            <a:ext cx="2927071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2842971" y="5443728"/>
            <a:ext cx="29270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misschien blijf ik hier!</a:t>
            </a:r>
            <a:endParaRPr lang="en-US" sz="2200" dirty="0"/>
          </a:p>
        </p:txBody>
      </p:sp>
      <p:sp>
        <p:nvSpPr>
          <p:cNvPr id="84" name="Shape 75"/>
          <p:cNvSpPr/>
          <p:nvPr/>
        </p:nvSpPr>
        <p:spPr>
          <a:xfrm>
            <a:off x="5878906" y="5457698"/>
            <a:ext cx="1079678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5878906" y="5443728"/>
            <a:ext cx="107967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Groetjes</a:t>
            </a:r>
            <a:endParaRPr lang="en-US" sz="2200" dirty="0"/>
          </a:p>
        </p:txBody>
      </p:sp>
      <p:sp>
        <p:nvSpPr>
          <p:cNvPr id="86" name="Text 77"/>
          <p:cNvSpPr txBox="1"/>
          <p:nvPr/>
        </p:nvSpPr>
        <p:spPr>
          <a:xfrm>
            <a:off x="6958584" y="5443728"/>
            <a:ext cx="93428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Karim</a:t>
            </a:r>
            <a:endParaRPr lang="en-US" sz="2200" dirty="0"/>
          </a:p>
        </p:txBody>
      </p:sp>
      <p:sp>
        <p:nvSpPr>
          <p:cNvPr id="87" name="Shape 78"/>
          <p:cNvSpPr/>
          <p:nvPr/>
        </p:nvSpPr>
        <p:spPr>
          <a:xfrm>
            <a:off x="4306507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8" name="Shape 79"/>
          <p:cNvSpPr/>
          <p:nvPr/>
        </p:nvSpPr>
        <p:spPr>
          <a:xfrm>
            <a:off x="3965121" y="5844286"/>
            <a:ext cx="6827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80"/>
          <p:cNvSpPr txBox="1"/>
          <p:nvPr/>
        </p:nvSpPr>
        <p:spPr>
          <a:xfrm>
            <a:off x="3965121" y="5844286"/>
            <a:ext cx="6827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CHUTE</a:t>
            </a:r>
            <a:endParaRPr lang="en-US" sz="1050" dirty="0"/>
          </a:p>
        </p:txBody>
      </p:sp>
      <p:sp>
        <p:nvSpPr>
          <p:cNvPr id="90" name="Shape 81"/>
          <p:cNvSpPr/>
          <p:nvPr/>
        </p:nvSpPr>
        <p:spPr>
          <a:xfrm>
            <a:off x="6418745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2"/>
          <p:cNvSpPr/>
          <p:nvPr/>
        </p:nvSpPr>
        <p:spPr>
          <a:xfrm>
            <a:off x="5987015" y="5844286"/>
            <a:ext cx="8634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5987015" y="5844286"/>
            <a:ext cx="8634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GROETJES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eerste werkdag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413467"/>
            <a:ext cx="1889516" cy="188951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95799" y="3695639"/>
            <a:ext cx="2538009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800" y="3020812"/>
            <a:ext cx="674827" cy="674827"/>
          </a:xfrm>
          <a:prstGeom prst="rect">
            <a:avLst/>
          </a:prstGeom>
        </p:spPr>
      </p:pic>
      <p:pic>
        <p:nvPicPr>
          <p:cNvPr id="15" name="Image 3" descr="card index divid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802" y="3088295"/>
            <a:ext cx="607344" cy="607344"/>
          </a:xfrm>
          <a:prstGeom prst="rect">
            <a:avLst/>
          </a:prstGeom>
        </p:spPr>
      </p:pic>
      <p:pic>
        <p:nvPicPr>
          <p:cNvPr id="16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805" y="3088295"/>
            <a:ext cx="573603" cy="573603"/>
          </a:xfrm>
          <a:prstGeom prst="rect">
            <a:avLst/>
          </a:prstGeom>
        </p:spPr>
      </p:pic>
      <p:pic>
        <p:nvPicPr>
          <p:cNvPr id="17" name="Image 5" descr="red question ma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805" y="2008571"/>
            <a:ext cx="674827" cy="674827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Mon premier jour de travail</a:t>
            </a:r>
            <a:endParaRPr lang="en-US" sz="1500" dirty="0"/>
          </a:p>
        </p:txBody>
      </p:sp>
      <p:sp>
        <p:nvSpPr>
          <p:cNvPr id="21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Racontez votre premier jour dans votre nouvelle entreprise à un·e ami·e.</a:t>
            </a:r>
            <a:endParaRPr lang="en-US" sz="1300" dirty="0"/>
          </a:p>
        </p:txBody>
      </p:sp>
      <p:pic>
        <p:nvPicPr>
          <p:cNvPr id="22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</a:t>
            </a:r>
            <a:r>
              <a:rPr lang="en-US" sz="1450" b="1" dirty="0">
                <a:solidFill>
                  <a:schemeClr val="tx1"/>
                </a:solidFill>
              </a:rPr>
              <a:t>GISTEREN</a:t>
            </a:r>
            <a:r>
              <a:rPr lang="en-US" sz="1450" dirty="0">
                <a:solidFill>
                  <a:schemeClr val="tx1"/>
                </a:solidFill>
              </a:rPr>
              <a:t> + perfectum (inversion !).</a:t>
            </a:r>
            <a:endParaRPr lang="en-US" sz="1450" dirty="0"/>
          </a:p>
        </p:txBody>
      </p:sp>
      <p:sp>
        <p:nvSpPr>
          <p:cNvPr id="28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vos collègues avec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MOEST</a:t>
            </a:r>
            <a:r>
              <a:rPr lang="en-US" sz="1450" dirty="0">
                <a:solidFill>
                  <a:schemeClr val="tx1"/>
                </a:solidFill>
              </a:rPr>
              <a:t> (imparfait de moeten) + infinitif.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votre avis avec </a:t>
            </a:r>
            <a:r>
              <a:rPr lang="en-US" sz="1450" b="1" dirty="0">
                <a:solidFill>
                  <a:schemeClr val="tx1"/>
                </a:solidFill>
              </a:rPr>
              <a:t>IK VIND DAT</a:t>
            </a:r>
            <a:r>
              <a:rPr lang="en-US" sz="1450" dirty="0">
                <a:solidFill>
                  <a:schemeClr val="tx1"/>
                </a:solidFill>
              </a:rPr>
              <a:t> … (verbe à la fin).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EIGENLIJK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eerste werkdag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03126"/>
            <a:ext cx="419892" cy="41989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030712" y="1888053"/>
            <a:ext cx="572780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747" y="1738092"/>
            <a:ext cx="149962" cy="149962"/>
          </a:xfrm>
          <a:prstGeom prst="rect">
            <a:avLst/>
          </a:prstGeom>
        </p:spPr>
      </p:pic>
      <p:pic>
        <p:nvPicPr>
          <p:cNvPr id="15" name="Image 3" descr="card index divid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1638" y="1753088"/>
            <a:ext cx="134965" cy="134965"/>
          </a:xfrm>
          <a:prstGeom prst="rect">
            <a:avLst/>
          </a:prstGeom>
        </p:spPr>
      </p:pic>
      <p:pic>
        <p:nvPicPr>
          <p:cNvPr id="16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3779" y="1753088"/>
            <a:ext cx="127467" cy="127467"/>
          </a:xfrm>
          <a:prstGeom prst="rect">
            <a:avLst/>
          </a:prstGeom>
        </p:spPr>
      </p:pic>
      <p:pic>
        <p:nvPicPr>
          <p:cNvPr id="17" name="Image 5" descr="red question ma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779" y="1513149"/>
            <a:ext cx="149962" cy="149962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GISTEREN + inversion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MOEST + infinitif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IK VIND DAT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EIGENLIJK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1051560" y="2409698"/>
            <a:ext cx="3073756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051560" y="2395728"/>
            <a:ext cx="307375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ben ik begonnen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4234180" y="2395728"/>
            <a:ext cx="27461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bank in Brussel.</a:t>
            </a:r>
            <a:endParaRPr lang="en-US" sz="2200" dirty="0"/>
          </a:p>
        </p:txBody>
      </p:sp>
      <p:sp>
        <p:nvSpPr>
          <p:cNvPr id="43" name="Shape 34"/>
          <p:cNvSpPr/>
          <p:nvPr/>
        </p:nvSpPr>
        <p:spPr>
          <a:xfrm>
            <a:off x="258843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5"/>
          <p:cNvSpPr/>
          <p:nvPr/>
        </p:nvSpPr>
        <p:spPr>
          <a:xfrm>
            <a:off x="1843135" y="2796286"/>
            <a:ext cx="149060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1843135" y="2796286"/>
            <a:ext cx="149060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GISTEREN + inversion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1051560" y="3157728"/>
            <a:ext cx="169453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collega’s</a:t>
            </a:r>
            <a:endParaRPr lang="en-US" sz="2200" dirty="0"/>
          </a:p>
        </p:txBody>
      </p:sp>
      <p:sp>
        <p:nvSpPr>
          <p:cNvPr id="49" name="Shape 40"/>
          <p:cNvSpPr/>
          <p:nvPr/>
        </p:nvSpPr>
        <p:spPr>
          <a:xfrm>
            <a:off x="2717800" y="3171698"/>
            <a:ext cx="177957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2717800" y="3157728"/>
            <a:ext cx="177957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vriendelijk</a:t>
            </a:r>
            <a:endParaRPr lang="en-US" sz="2200" dirty="0"/>
          </a:p>
        </p:txBody>
      </p:sp>
      <p:sp>
        <p:nvSpPr>
          <p:cNvPr id="51" name="Text 42"/>
          <p:cNvSpPr txBox="1"/>
          <p:nvPr/>
        </p:nvSpPr>
        <p:spPr>
          <a:xfrm>
            <a:off x="4606239" y="3157728"/>
            <a:ext cx="229859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mijn baas is een</a:t>
            </a:r>
            <a:endParaRPr lang="en-US" sz="2200" dirty="0"/>
          </a:p>
        </p:txBody>
      </p:sp>
      <p:sp>
        <p:nvSpPr>
          <p:cNvPr id="52" name="Shape 43"/>
          <p:cNvSpPr/>
          <p:nvPr/>
        </p:nvSpPr>
        <p:spPr>
          <a:xfrm>
            <a:off x="6876542" y="3171698"/>
            <a:ext cx="890803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6876542" y="3157728"/>
            <a:ext cx="89080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rustige</a:t>
            </a:r>
            <a:endParaRPr lang="en-US" sz="2200" dirty="0"/>
          </a:p>
        </p:txBody>
      </p:sp>
      <p:sp>
        <p:nvSpPr>
          <p:cNvPr id="54" name="Text 45"/>
          <p:cNvSpPr txBox="1"/>
          <p:nvPr/>
        </p:nvSpPr>
        <p:spPr>
          <a:xfrm>
            <a:off x="7876210" y="3157728"/>
            <a:ext cx="7113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man.</a:t>
            </a:r>
            <a:endParaRPr lang="en-US" sz="2200" dirty="0"/>
          </a:p>
        </p:txBody>
      </p:sp>
      <p:sp>
        <p:nvSpPr>
          <p:cNvPr id="55" name="Shape 46"/>
          <p:cNvSpPr/>
          <p:nvPr/>
        </p:nvSpPr>
        <p:spPr>
          <a:xfrm>
            <a:off x="3607587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3176924" y="3558286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176924" y="3558286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732194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6669519" y="3558286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6669519" y="3558286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 + -E</a:t>
            </a:r>
            <a:endParaRPr lang="en-US" sz="1050" dirty="0"/>
          </a:p>
        </p:txBody>
      </p:sp>
      <p:sp>
        <p:nvSpPr>
          <p:cNvPr id="61" name="Shape 52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3" name="Text 54"/>
          <p:cNvSpPr txBox="1"/>
          <p:nvPr/>
        </p:nvSpPr>
        <p:spPr>
          <a:xfrm>
            <a:off x="1051560" y="3919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64" name="Shape 55"/>
          <p:cNvSpPr/>
          <p:nvPr/>
        </p:nvSpPr>
        <p:spPr>
          <a:xfrm>
            <a:off x="1357960" y="3933698"/>
            <a:ext cx="817880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1357960" y="3919728"/>
            <a:ext cx="8178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moest</a:t>
            </a:r>
            <a:endParaRPr lang="en-US" sz="2200" dirty="0"/>
          </a:p>
        </p:txBody>
      </p:sp>
      <p:sp>
        <p:nvSpPr>
          <p:cNvPr id="66" name="Text 57"/>
          <p:cNvSpPr txBox="1"/>
          <p:nvPr/>
        </p:nvSpPr>
        <p:spPr>
          <a:xfrm>
            <a:off x="2284705" y="3919728"/>
            <a:ext cx="286466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hele dag formulieren</a:t>
            </a:r>
            <a:endParaRPr lang="en-US" sz="2200" dirty="0"/>
          </a:p>
        </p:txBody>
      </p:sp>
      <p:sp>
        <p:nvSpPr>
          <p:cNvPr id="67" name="Shape 58"/>
          <p:cNvSpPr/>
          <p:nvPr/>
        </p:nvSpPr>
        <p:spPr>
          <a:xfrm>
            <a:off x="5121072" y="3933698"/>
            <a:ext cx="1020445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5121072" y="3919728"/>
            <a:ext cx="102044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invullen</a:t>
            </a:r>
            <a:endParaRPr lang="en-US" sz="2200" dirty="0"/>
          </a:p>
        </p:txBody>
      </p:sp>
      <p:sp>
        <p:nvSpPr>
          <p:cNvPr id="69" name="Text 60"/>
          <p:cNvSpPr txBox="1"/>
          <p:nvPr/>
        </p:nvSpPr>
        <p:spPr>
          <a:xfrm>
            <a:off x="6141517" y="3919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70" name="Shape 61"/>
          <p:cNvSpPr/>
          <p:nvPr/>
        </p:nvSpPr>
        <p:spPr>
          <a:xfrm>
            <a:off x="176690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1411513" y="4320286"/>
            <a:ext cx="7107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1411513" y="4320286"/>
            <a:ext cx="7107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MOEST</a:t>
            </a:r>
            <a:endParaRPr lang="en-US" sz="1050" dirty="0"/>
          </a:p>
        </p:txBody>
      </p:sp>
      <p:sp>
        <p:nvSpPr>
          <p:cNvPr id="73" name="Shape 64"/>
          <p:cNvSpPr/>
          <p:nvPr/>
        </p:nvSpPr>
        <p:spPr>
          <a:xfrm>
            <a:off x="5631294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5225567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6"/>
          <p:cNvSpPr txBox="1"/>
          <p:nvPr/>
        </p:nvSpPr>
        <p:spPr>
          <a:xfrm>
            <a:off x="5225567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6" name="Shape 67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8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Text 69"/>
          <p:cNvSpPr txBox="1"/>
          <p:nvPr/>
        </p:nvSpPr>
        <p:spPr>
          <a:xfrm>
            <a:off x="1051560" y="4681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79" name="Shape 70"/>
          <p:cNvSpPr/>
          <p:nvPr/>
        </p:nvSpPr>
        <p:spPr>
          <a:xfrm>
            <a:off x="1357960" y="4695698"/>
            <a:ext cx="1040562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1357960" y="4681728"/>
            <a:ext cx="104056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dat</a:t>
            </a:r>
            <a:endParaRPr lang="en-US" sz="2200" dirty="0"/>
          </a:p>
        </p:txBody>
      </p:sp>
      <p:sp>
        <p:nvSpPr>
          <p:cNvPr id="81" name="Text 72"/>
          <p:cNvSpPr txBox="1"/>
          <p:nvPr/>
        </p:nvSpPr>
        <p:spPr>
          <a:xfrm>
            <a:off x="2507386" y="4681728"/>
            <a:ext cx="24793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werk interessant</a:t>
            </a:r>
            <a:endParaRPr lang="en-US" sz="2200" dirty="0"/>
          </a:p>
        </p:txBody>
      </p:sp>
      <p:sp>
        <p:nvSpPr>
          <p:cNvPr id="82" name="Shape 73"/>
          <p:cNvSpPr/>
          <p:nvPr/>
        </p:nvSpPr>
        <p:spPr>
          <a:xfrm>
            <a:off x="4958461" y="4695698"/>
            <a:ext cx="271653" cy="340868"/>
          </a:xfrm>
          <a:prstGeom prst="roundRect">
            <a:avLst>
              <a:gd name="adj" fmla="val 20196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4958461" y="4681728"/>
            <a:ext cx="2716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84" name="Text 75"/>
          <p:cNvSpPr txBox="1"/>
          <p:nvPr/>
        </p:nvSpPr>
        <p:spPr>
          <a:xfrm>
            <a:off x="5230114" y="4681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85" name="Shape 76"/>
          <p:cNvSpPr/>
          <p:nvPr/>
        </p:nvSpPr>
        <p:spPr>
          <a:xfrm>
            <a:off x="187824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7"/>
          <p:cNvSpPr/>
          <p:nvPr/>
        </p:nvSpPr>
        <p:spPr>
          <a:xfrm>
            <a:off x="1449645" y="5082286"/>
            <a:ext cx="857193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8"/>
          <p:cNvSpPr txBox="1"/>
          <p:nvPr/>
        </p:nvSpPr>
        <p:spPr>
          <a:xfrm>
            <a:off x="1449645" y="5082286"/>
            <a:ext cx="85719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VIND DAT</a:t>
            </a:r>
            <a:endParaRPr lang="en-US" sz="1050" dirty="0"/>
          </a:p>
        </p:txBody>
      </p:sp>
      <p:sp>
        <p:nvSpPr>
          <p:cNvPr id="88" name="Shape 79"/>
          <p:cNvSpPr/>
          <p:nvPr/>
        </p:nvSpPr>
        <p:spPr>
          <a:xfrm>
            <a:off x="509428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80"/>
          <p:cNvSpPr/>
          <p:nvPr/>
        </p:nvSpPr>
        <p:spPr>
          <a:xfrm>
            <a:off x="4580480" y="5082286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1"/>
          <p:cNvSpPr txBox="1"/>
          <p:nvPr/>
        </p:nvSpPr>
        <p:spPr>
          <a:xfrm>
            <a:off x="4580480" y="5082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91" name="Shape 82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4"/>
          <p:cNvSpPr/>
          <p:nvPr/>
        </p:nvSpPr>
        <p:spPr>
          <a:xfrm>
            <a:off x="1051560" y="5457698"/>
            <a:ext cx="1062355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5"/>
          <p:cNvSpPr txBox="1"/>
          <p:nvPr/>
        </p:nvSpPr>
        <p:spPr>
          <a:xfrm>
            <a:off x="1051560" y="5443728"/>
            <a:ext cx="106235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Eigenlijk</a:t>
            </a:r>
            <a:endParaRPr lang="en-US" sz="2200" dirty="0"/>
          </a:p>
        </p:txBody>
      </p:sp>
      <p:sp>
        <p:nvSpPr>
          <p:cNvPr id="95" name="Text 86"/>
          <p:cNvSpPr txBox="1"/>
          <p:nvPr/>
        </p:nvSpPr>
        <p:spPr>
          <a:xfrm>
            <a:off x="2222779" y="5443728"/>
            <a:ext cx="543933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weet ik nog niet waar de koffiemachine staat…</a:t>
            </a:r>
            <a:endParaRPr lang="en-US" sz="2200" dirty="0"/>
          </a:p>
        </p:txBody>
      </p:sp>
      <p:sp>
        <p:nvSpPr>
          <p:cNvPr id="96" name="Shape 87"/>
          <p:cNvSpPr/>
          <p:nvPr/>
        </p:nvSpPr>
        <p:spPr>
          <a:xfrm>
            <a:off x="1582738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8"/>
          <p:cNvSpPr/>
          <p:nvPr/>
        </p:nvSpPr>
        <p:spPr>
          <a:xfrm>
            <a:off x="1153941" y="5844286"/>
            <a:ext cx="85759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9"/>
          <p:cNvSpPr txBox="1"/>
          <p:nvPr/>
        </p:nvSpPr>
        <p:spPr>
          <a:xfrm>
            <a:off x="1153941" y="5844286"/>
            <a:ext cx="85759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EIGENLIJK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B1 · Seuil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B1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subordonnées : </a:t>
            </a:r>
            <a:r>
              <a:rPr lang="en-US" sz="1400" b="1" dirty="0">
                <a:solidFill>
                  <a:schemeClr val="bg1"/>
                </a:solidFill>
              </a:rPr>
              <a:t>toen, terwijl, nadat, hoewel, zodat, indien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relatives</a:t>
            </a:r>
            <a:r>
              <a:rPr lang="en-US" sz="1400" dirty="0">
                <a:solidFill>
                  <a:schemeClr val="bg1"/>
                </a:solidFill>
              </a:rPr>
              <a:t> : die / dat / waar + préposition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passif</a:t>
            </a:r>
            <a:r>
              <a:rPr lang="en-US" sz="1400" dirty="0">
                <a:solidFill>
                  <a:schemeClr val="bg1"/>
                </a:solidFill>
              </a:rPr>
              <a:t> : worden, er wordt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conditionnel </a:t>
            </a:r>
            <a:r>
              <a:rPr lang="en-US" sz="1400" b="1" dirty="0">
                <a:solidFill>
                  <a:schemeClr val="bg1"/>
                </a:solidFill>
              </a:rPr>
              <a:t>zou(den)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plus-que-parfait</a:t>
            </a:r>
            <a:r>
              <a:rPr lang="en-US" sz="1400" dirty="0">
                <a:solidFill>
                  <a:schemeClr val="bg1"/>
                </a:solidFill>
              </a:rPr>
              <a:t> · discours indirect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om … te</a:t>
            </a:r>
            <a:r>
              <a:rPr lang="en-US" sz="1400" dirty="0">
                <a:solidFill>
                  <a:schemeClr val="bg1"/>
                </a:solidFill>
              </a:rPr>
              <a:t> + infinitif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er</a:t>
            </a:r>
            <a:r>
              <a:rPr lang="en-US" sz="1400" dirty="0">
                <a:solidFill>
                  <a:schemeClr val="bg1"/>
                </a:solidFill>
              </a:rPr>
              <a:t> + préposition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connecteurs : </a:t>
            </a:r>
            <a:r>
              <a:rPr lang="en-US" sz="1400" b="1" dirty="0">
                <a:solidFill>
                  <a:schemeClr val="bg1"/>
                </a:solidFill>
              </a:rPr>
              <a:t>bovendien, enerzijds / anderzijds, echter, kortom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registre </a:t>
            </a:r>
            <a:r>
              <a:rPr lang="en-US" sz="1400" b="1" dirty="0">
                <a:solidFill>
                  <a:schemeClr val="bg1"/>
                </a:solidFill>
              </a:rPr>
              <a:t>formel</a:t>
            </a:r>
            <a:r>
              <a:rPr lang="en-US" sz="1400" dirty="0">
                <a:solidFill>
                  <a:schemeClr val="bg1"/>
                </a:solidFill>
              </a:rPr>
              <a:t> (u, Geachte…)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87278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70248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7906" y="1597815"/>
            <a:ext cx="235889" cy="235889"/>
          </a:xfrm>
          <a:prstGeom prst="rect">
            <a:avLst/>
          </a:prstGeom>
        </p:spPr>
      </p:pic>
      <p:pic>
        <p:nvPicPr>
          <p:cNvPr id="12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906" y="2022414"/>
            <a:ext cx="401011" cy="401011"/>
          </a:xfrm>
          <a:prstGeom prst="rect">
            <a:avLst/>
          </a:prstGeom>
        </p:spPr>
      </p:pic>
      <p:pic>
        <p:nvPicPr>
          <p:cNvPr id="13" name="Image 2" descr="collis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709" y="1951648"/>
            <a:ext cx="212300" cy="212300"/>
          </a:xfrm>
          <a:prstGeom prst="rect">
            <a:avLst/>
          </a:prstGeom>
        </p:spPr>
      </p:pic>
      <p:pic>
        <p:nvPicPr>
          <p:cNvPr id="14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5446" y="1998825"/>
            <a:ext cx="401011" cy="401011"/>
          </a:xfrm>
          <a:prstGeom prst="rect">
            <a:avLst/>
          </a:prstGeom>
        </p:spPr>
      </p:pic>
      <p:pic>
        <p:nvPicPr>
          <p:cNvPr id="15" name="Image 4" descr="e ma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1609609"/>
            <a:ext cx="259478" cy="259478"/>
          </a:xfrm>
          <a:prstGeom prst="rect">
            <a:avLst/>
          </a:prstGeom>
        </p:spPr>
      </p:pic>
      <p:pic>
        <p:nvPicPr>
          <p:cNvPr id="16" name="Image 5" descr="face with steam from no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0012" y="1597815"/>
            <a:ext cx="188711" cy="188711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0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klacht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réclamation</a:t>
            </a:r>
            <a:endParaRPr lang="en-US" sz="950" dirty="0"/>
          </a:p>
        </p:txBody>
      </p:sp>
      <p:pic>
        <p:nvPicPr>
          <p:cNvPr id="21" name="Image 6" descr="PenNi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6163056" y="1527048"/>
            <a:ext cx="1627632" cy="87278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6163056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6163056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7" descr="man office work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8161" y="1762937"/>
            <a:ext cx="589722" cy="589722"/>
          </a:xfrm>
          <a:prstGeom prst="rect">
            <a:avLst/>
          </a:prstGeom>
        </p:spPr>
      </p:pic>
      <p:pic>
        <p:nvPicPr>
          <p:cNvPr id="27" name="Image 8" descr="woman office work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9635" y="1762937"/>
            <a:ext cx="589722" cy="589722"/>
          </a:xfrm>
          <a:prstGeom prst="rect">
            <a:avLst/>
          </a:prstGeom>
        </p:spPr>
      </p:pic>
      <p:sp>
        <p:nvSpPr>
          <p:cNvPr id="28" name="Shape 16"/>
          <p:cNvSpPr/>
          <p:nvPr/>
        </p:nvSpPr>
        <p:spPr>
          <a:xfrm>
            <a:off x="6228161" y="2305481"/>
            <a:ext cx="1497421" cy="47178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9" descr="page facing 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2938" y="2093181"/>
            <a:ext cx="200505" cy="200505"/>
          </a:xfrm>
          <a:prstGeom prst="rect">
            <a:avLst/>
          </a:prstGeom>
        </p:spPr>
      </p:pic>
      <p:pic>
        <p:nvPicPr>
          <p:cNvPr id="30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46661" y="1644992"/>
            <a:ext cx="224094" cy="224094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18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3" name="Text 19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Het sollicitatiegesprek</a:t>
            </a:r>
            <a:endParaRPr lang="en-US" sz="1150" dirty="0"/>
          </a:p>
        </p:txBody>
      </p:sp>
      <p:sp>
        <p:nvSpPr>
          <p:cNvPr id="34" name="Text 20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L’entretien d’embauche</a:t>
            </a:r>
            <a:endParaRPr lang="en-US" sz="950" dirty="0"/>
          </a:p>
        </p:txBody>
      </p:sp>
      <p:pic>
        <p:nvPicPr>
          <p:cNvPr id="35" name="Image 11" descr="Comment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36" name="Shape 21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22"/>
          <p:cNvSpPr/>
          <p:nvPr/>
        </p:nvSpPr>
        <p:spPr>
          <a:xfrm>
            <a:off x="8055864" y="1527048"/>
            <a:ext cx="1627632" cy="849199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23"/>
          <p:cNvSpPr/>
          <p:nvPr/>
        </p:nvSpPr>
        <p:spPr>
          <a:xfrm>
            <a:off x="8055864" y="2376247"/>
            <a:ext cx="1627632" cy="330244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2" descr="cloud with rai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39469" y="1527048"/>
            <a:ext cx="283066" cy="283066"/>
          </a:xfrm>
          <a:prstGeom prst="rect">
            <a:avLst/>
          </a:prstGeom>
        </p:spPr>
      </p:pic>
      <p:pic>
        <p:nvPicPr>
          <p:cNvPr id="40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04693" y="1668581"/>
            <a:ext cx="589722" cy="589722"/>
          </a:xfrm>
          <a:prstGeom prst="rect">
            <a:avLst/>
          </a:prstGeom>
        </p:spPr>
      </p:pic>
      <p:pic>
        <p:nvPicPr>
          <p:cNvPr id="41" name="Image 14" descr="delivery truc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338" y="1951648"/>
            <a:ext cx="471777" cy="471777"/>
          </a:xfrm>
          <a:prstGeom prst="rect">
            <a:avLst/>
          </a:prstGeom>
        </p:spPr>
      </p:pic>
      <p:pic>
        <p:nvPicPr>
          <p:cNvPr id="42" name="Image 15" descr="packag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0640" y="2211125"/>
            <a:ext cx="188711" cy="188711"/>
          </a:xfrm>
          <a:prstGeom prst="rect">
            <a:avLst/>
          </a:prstGeom>
        </p:spPr>
      </p:pic>
      <p:pic>
        <p:nvPicPr>
          <p:cNvPr id="43" name="Image 16" descr="packag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39469" y="2046003"/>
            <a:ext cx="176917" cy="176917"/>
          </a:xfrm>
          <a:prstGeom prst="rect">
            <a:avLst/>
          </a:prstGeom>
        </p:spPr>
      </p:pic>
      <p:pic>
        <p:nvPicPr>
          <p:cNvPr id="44" name="Image 17" descr="hot beverage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20969" y="2423425"/>
            <a:ext cx="188711" cy="188711"/>
          </a:xfrm>
          <a:prstGeom prst="rect">
            <a:avLst/>
          </a:prstGeom>
        </p:spPr>
      </p:pic>
      <p:sp>
        <p:nvSpPr>
          <p:cNvPr id="45" name="Shape 24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25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47" name="Text 26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Verhuisd!</a:t>
            </a:r>
            <a:endParaRPr lang="en-US" sz="1150" dirty="0"/>
          </a:p>
        </p:txBody>
      </p:sp>
      <p:sp>
        <p:nvSpPr>
          <p:cNvPr id="48" name="Text 27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On a déménagé !</a:t>
            </a:r>
            <a:endParaRPr lang="en-US" sz="950" dirty="0"/>
          </a:p>
        </p:txBody>
      </p:sp>
      <p:pic>
        <p:nvPicPr>
          <p:cNvPr id="49" name="Image 18" descr="PenNib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50" name="Shape 28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29"/>
          <p:cNvSpPr/>
          <p:nvPr/>
        </p:nvSpPr>
        <p:spPr>
          <a:xfrm>
            <a:off x="9948672" y="1527048"/>
            <a:ext cx="1627632" cy="754844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30"/>
          <p:cNvSpPr/>
          <p:nvPr/>
        </p:nvSpPr>
        <p:spPr>
          <a:xfrm>
            <a:off x="9948672" y="2281892"/>
            <a:ext cx="1627632" cy="424600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31"/>
          <p:cNvSpPr/>
          <p:nvPr/>
        </p:nvSpPr>
        <p:spPr>
          <a:xfrm>
            <a:off x="10013777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32"/>
          <p:cNvSpPr/>
          <p:nvPr/>
        </p:nvSpPr>
        <p:spPr>
          <a:xfrm>
            <a:off x="10436962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33"/>
          <p:cNvSpPr/>
          <p:nvPr/>
        </p:nvSpPr>
        <p:spPr>
          <a:xfrm>
            <a:off x="10860146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34"/>
          <p:cNvSpPr/>
          <p:nvPr/>
        </p:nvSpPr>
        <p:spPr>
          <a:xfrm>
            <a:off x="11283330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35"/>
          <p:cNvSpPr/>
          <p:nvPr/>
        </p:nvSpPr>
        <p:spPr>
          <a:xfrm>
            <a:off x="11348436" y="1597815"/>
            <a:ext cx="179040" cy="117944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36"/>
          <p:cNvSpPr txBox="1"/>
          <p:nvPr/>
        </p:nvSpPr>
        <p:spPr>
          <a:xfrm>
            <a:off x="11348436" y="1597815"/>
            <a:ext cx="179040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BUS</a:t>
            </a:r>
            <a:endParaRPr lang="en-US" sz="550" dirty="0"/>
          </a:p>
        </p:txBody>
      </p:sp>
      <p:pic>
        <p:nvPicPr>
          <p:cNvPr id="59" name="Image 19" descr="person standi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332159" y="1739348"/>
            <a:ext cx="353833" cy="353833"/>
          </a:xfrm>
          <a:prstGeom prst="rect">
            <a:avLst/>
          </a:prstGeom>
        </p:spPr>
      </p:pic>
      <p:pic>
        <p:nvPicPr>
          <p:cNvPr id="60" name="Image 20" descr="woman biki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46330" y="1928059"/>
            <a:ext cx="424600" cy="424600"/>
          </a:xfrm>
          <a:prstGeom prst="rect">
            <a:avLst/>
          </a:prstGeom>
        </p:spPr>
      </p:pic>
      <p:pic>
        <p:nvPicPr>
          <p:cNvPr id="61" name="Image 21" descr="collision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567172" y="1951648"/>
            <a:ext cx="235889" cy="235889"/>
          </a:xfrm>
          <a:prstGeom prst="rect">
            <a:avLst/>
          </a:prstGeom>
        </p:spPr>
      </p:pic>
      <p:pic>
        <p:nvPicPr>
          <p:cNvPr id="62" name="Image 22" descr="delivery truck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762488" y="1904470"/>
            <a:ext cx="448189" cy="448189"/>
          </a:xfrm>
          <a:prstGeom prst="rect">
            <a:avLst/>
          </a:prstGeom>
        </p:spPr>
      </p:pic>
      <p:pic>
        <p:nvPicPr>
          <p:cNvPr id="63" name="Image 23" descr="ambulance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46330" y="2399836"/>
            <a:ext cx="259478" cy="259478"/>
          </a:xfrm>
          <a:prstGeom prst="rect">
            <a:avLst/>
          </a:prstGeom>
        </p:spPr>
      </p:pic>
      <p:sp>
        <p:nvSpPr>
          <p:cNvPr id="64" name="Shape 37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38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66" name="Text 39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fietsongeluk</a:t>
            </a:r>
            <a:endParaRPr lang="en-US" sz="1150" dirty="0"/>
          </a:p>
        </p:txBody>
      </p:sp>
      <p:sp>
        <p:nvSpPr>
          <p:cNvPr id="67" name="Text 40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accident à vélo</a:t>
            </a:r>
            <a:endParaRPr lang="en-US" sz="950" dirty="0"/>
          </a:p>
        </p:txBody>
      </p:sp>
      <p:pic>
        <p:nvPicPr>
          <p:cNvPr id="68" name="Image 24" descr="Comments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69" name="Shape 41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42"/>
          <p:cNvSpPr/>
          <p:nvPr/>
        </p:nvSpPr>
        <p:spPr>
          <a:xfrm>
            <a:off x="4270248" y="3767328"/>
            <a:ext cx="1627632" cy="87278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43"/>
          <p:cNvSpPr/>
          <p:nvPr/>
        </p:nvSpPr>
        <p:spPr>
          <a:xfrm>
            <a:off x="4270248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44"/>
          <p:cNvSpPr/>
          <p:nvPr/>
        </p:nvSpPr>
        <p:spPr>
          <a:xfrm>
            <a:off x="4270248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3" name="Image 25" descr="house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67906" y="3838095"/>
            <a:ext cx="330244" cy="330244"/>
          </a:xfrm>
          <a:prstGeom prst="rect">
            <a:avLst/>
          </a:prstGeom>
        </p:spPr>
      </p:pic>
      <p:pic>
        <p:nvPicPr>
          <p:cNvPr id="74" name="Image 26" descr="office buildi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74696" y="3838095"/>
            <a:ext cx="330244" cy="330244"/>
          </a:xfrm>
          <a:prstGeom prst="rect">
            <a:avLst/>
          </a:prstGeom>
        </p:spPr>
      </p:pic>
      <p:pic>
        <p:nvPicPr>
          <p:cNvPr id="75" name="Image 27" descr="balance scale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1301" y="3802711"/>
            <a:ext cx="330244" cy="330244"/>
          </a:xfrm>
          <a:prstGeom prst="rect">
            <a:avLst/>
          </a:prstGeom>
        </p:spPr>
      </p:pic>
      <p:pic>
        <p:nvPicPr>
          <p:cNvPr id="76" name="Image 28" descr="laptop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56196" y="4262694"/>
            <a:ext cx="353833" cy="353833"/>
          </a:xfrm>
          <a:prstGeom prst="rect">
            <a:avLst/>
          </a:prstGeom>
        </p:spPr>
      </p:pic>
      <p:pic>
        <p:nvPicPr>
          <p:cNvPr id="77" name="Image 29" descr="cat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442143" y="4380639"/>
            <a:ext cx="306655" cy="306655"/>
          </a:xfrm>
          <a:prstGeom prst="rect">
            <a:avLst/>
          </a:prstGeom>
        </p:spPr>
      </p:pic>
      <p:pic>
        <p:nvPicPr>
          <p:cNvPr id="78" name="Image 30" descr="hot beverag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465564" y="4427816"/>
            <a:ext cx="188711" cy="188711"/>
          </a:xfrm>
          <a:prstGeom prst="rect">
            <a:avLst/>
          </a:prstGeom>
        </p:spPr>
      </p:pic>
      <p:sp>
        <p:nvSpPr>
          <p:cNvPr id="79" name="Shape 45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46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81" name="Text 47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Thuiswerken: voor of tegen?</a:t>
            </a:r>
            <a:endParaRPr lang="en-US" sz="1150" dirty="0"/>
          </a:p>
        </p:txBody>
      </p:sp>
      <p:sp>
        <p:nvSpPr>
          <p:cNvPr id="82" name="Text 48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Télétravail : pour ou contre ?</a:t>
            </a:r>
            <a:endParaRPr lang="en-US" sz="950" dirty="0"/>
          </a:p>
        </p:txBody>
      </p:sp>
      <p:pic>
        <p:nvPicPr>
          <p:cNvPr id="83" name="Image 31" descr="Comments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84" name="Shape 49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50"/>
          <p:cNvSpPr/>
          <p:nvPr/>
        </p:nvSpPr>
        <p:spPr>
          <a:xfrm>
            <a:off x="6163056" y="3767328"/>
            <a:ext cx="1627632" cy="8727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hape 51"/>
          <p:cNvSpPr/>
          <p:nvPr/>
        </p:nvSpPr>
        <p:spPr>
          <a:xfrm>
            <a:off x="6163056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52"/>
          <p:cNvSpPr/>
          <p:nvPr/>
        </p:nvSpPr>
        <p:spPr>
          <a:xfrm>
            <a:off x="6163056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53"/>
          <p:cNvSpPr/>
          <p:nvPr/>
        </p:nvSpPr>
        <p:spPr>
          <a:xfrm>
            <a:off x="6651346" y="3826300"/>
            <a:ext cx="651053" cy="15332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54"/>
          <p:cNvSpPr txBox="1"/>
          <p:nvPr/>
        </p:nvSpPr>
        <p:spPr>
          <a:xfrm>
            <a:off x="6651346" y="3826300"/>
            <a:ext cx="651053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DE LEPEL</a:t>
            </a:r>
            <a:endParaRPr lang="en-US" sz="628" dirty="0"/>
          </a:p>
        </p:txBody>
      </p:sp>
      <p:pic>
        <p:nvPicPr>
          <p:cNvPr id="90" name="Image 32" descr="french fries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325819" y="4239105"/>
            <a:ext cx="283066" cy="283066"/>
          </a:xfrm>
          <a:prstGeom prst="rect">
            <a:avLst/>
          </a:prstGeom>
        </p:spPr>
      </p:pic>
      <p:pic>
        <p:nvPicPr>
          <p:cNvPr id="91" name="Image 33" descr="fork and knife with plate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765280" y="4168339"/>
            <a:ext cx="353833" cy="353833"/>
          </a:xfrm>
          <a:prstGeom prst="rect">
            <a:avLst/>
          </a:prstGeom>
        </p:spPr>
      </p:pic>
      <p:pic>
        <p:nvPicPr>
          <p:cNvPr id="92" name="Image 34" descr="wine glas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334951" y="4262694"/>
            <a:ext cx="235889" cy="235889"/>
          </a:xfrm>
          <a:prstGeom prst="rect">
            <a:avLst/>
          </a:prstGeom>
        </p:spPr>
      </p:pic>
      <p:pic>
        <p:nvPicPr>
          <p:cNvPr id="93" name="Image 35" descr="hourglass not done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562820" y="3838095"/>
            <a:ext cx="188711" cy="188711"/>
          </a:xfrm>
          <a:prstGeom prst="rect">
            <a:avLst/>
          </a:prstGeom>
        </p:spPr>
      </p:pic>
      <p:pic>
        <p:nvPicPr>
          <p:cNvPr id="94" name="Image 36" descr="star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651346" y="4710883"/>
            <a:ext cx="141533" cy="141533"/>
          </a:xfrm>
          <a:prstGeom prst="rect">
            <a:avLst/>
          </a:prstGeom>
        </p:spPr>
      </p:pic>
      <p:pic>
        <p:nvPicPr>
          <p:cNvPr id="95" name="Image 37" descr="star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797832" y="4710883"/>
            <a:ext cx="141533" cy="141533"/>
          </a:xfrm>
          <a:prstGeom prst="rect">
            <a:avLst/>
          </a:prstGeom>
        </p:spPr>
      </p:pic>
      <p:pic>
        <p:nvPicPr>
          <p:cNvPr id="96" name="Image 38" descr="star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944319" y="4710883"/>
            <a:ext cx="141533" cy="141533"/>
          </a:xfrm>
          <a:prstGeom prst="rect">
            <a:avLst/>
          </a:prstGeom>
        </p:spPr>
      </p:pic>
      <p:pic>
        <p:nvPicPr>
          <p:cNvPr id="97" name="Image 39" descr="star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090806" y="4710883"/>
            <a:ext cx="141533" cy="141533"/>
          </a:xfrm>
          <a:prstGeom prst="rect">
            <a:avLst/>
          </a:prstGeom>
        </p:spPr>
      </p:pic>
      <p:sp>
        <p:nvSpPr>
          <p:cNvPr id="98" name="Shape 55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56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00" name="Text 57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restaurantrecensie</a:t>
            </a:r>
            <a:endParaRPr lang="en-US" sz="1150" dirty="0"/>
          </a:p>
        </p:txBody>
      </p:sp>
      <p:sp>
        <p:nvSpPr>
          <p:cNvPr id="101" name="Text 58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avis sur un restaurant</a:t>
            </a:r>
            <a:endParaRPr lang="en-US" sz="950" dirty="0"/>
          </a:p>
        </p:txBody>
      </p:sp>
      <p:pic>
        <p:nvPicPr>
          <p:cNvPr id="102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03" name="Shape 59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Shape 60"/>
          <p:cNvSpPr/>
          <p:nvPr/>
        </p:nvSpPr>
        <p:spPr>
          <a:xfrm>
            <a:off x="8055864" y="376732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61"/>
          <p:cNvSpPr/>
          <p:nvPr/>
        </p:nvSpPr>
        <p:spPr>
          <a:xfrm>
            <a:off x="8055864" y="4592938"/>
            <a:ext cx="1627632" cy="353833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6" name="Image 41" descr="recycling symbol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137246" y="3826300"/>
            <a:ext cx="259478" cy="259478"/>
          </a:xfrm>
          <a:prstGeom prst="rect">
            <a:avLst/>
          </a:prstGeom>
        </p:spPr>
      </p:pic>
      <p:pic>
        <p:nvPicPr>
          <p:cNvPr id="107" name="Image 42" descr="globe showing europe africa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292864" y="3814506"/>
            <a:ext cx="259478" cy="259478"/>
          </a:xfrm>
          <a:prstGeom prst="rect">
            <a:avLst/>
          </a:prstGeom>
        </p:spPr>
      </p:pic>
      <p:pic>
        <p:nvPicPr>
          <p:cNvPr id="108" name="Image 43" descr="bicycle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104693" y="4333461"/>
            <a:ext cx="353833" cy="353833"/>
          </a:xfrm>
          <a:prstGeom prst="rect">
            <a:avLst/>
          </a:prstGeom>
        </p:spPr>
      </p:pic>
      <p:pic>
        <p:nvPicPr>
          <p:cNvPr id="109" name="Image 44" descr="seedli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706917" y="4474994"/>
            <a:ext cx="212300" cy="212300"/>
          </a:xfrm>
          <a:prstGeom prst="rect">
            <a:avLst/>
          </a:prstGeom>
        </p:spPr>
      </p:pic>
      <p:pic>
        <p:nvPicPr>
          <p:cNvPr id="110" name="Image 45" descr="cup with straw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951062" y="4309872"/>
            <a:ext cx="235889" cy="235889"/>
          </a:xfrm>
          <a:prstGeom prst="rect">
            <a:avLst/>
          </a:prstGeom>
        </p:spPr>
      </p:pic>
      <p:pic>
        <p:nvPicPr>
          <p:cNvPr id="111" name="Image 46" descr="leafy green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195206" y="4416022"/>
            <a:ext cx="235889" cy="235889"/>
          </a:xfrm>
          <a:prstGeom prst="rect">
            <a:avLst/>
          </a:prstGeom>
        </p:spPr>
      </p:pic>
      <p:pic>
        <p:nvPicPr>
          <p:cNvPr id="112" name="Image 47" descr="toothbrush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455628" y="4474994"/>
            <a:ext cx="188711" cy="188711"/>
          </a:xfrm>
          <a:prstGeom prst="rect">
            <a:avLst/>
          </a:prstGeom>
        </p:spPr>
      </p:pic>
      <p:sp>
        <p:nvSpPr>
          <p:cNvPr id="113" name="Shape 62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4" name="Text 63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15" name="Text 64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Duurzaam leven</a:t>
            </a:r>
            <a:endParaRPr lang="en-US" sz="1150" dirty="0"/>
          </a:p>
        </p:txBody>
      </p:sp>
      <p:sp>
        <p:nvSpPr>
          <p:cNvPr id="116" name="Text 65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Vivre durablement</a:t>
            </a:r>
            <a:endParaRPr lang="en-US" sz="950" dirty="0"/>
          </a:p>
        </p:txBody>
      </p:sp>
      <p:pic>
        <p:nvPicPr>
          <p:cNvPr id="117" name="Image 48" descr="Comments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18" name="Shape 66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9" name="Shape 67"/>
          <p:cNvSpPr/>
          <p:nvPr/>
        </p:nvSpPr>
        <p:spPr>
          <a:xfrm>
            <a:off x="9948672" y="3767328"/>
            <a:ext cx="1627632" cy="589722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Shape 68"/>
          <p:cNvSpPr/>
          <p:nvPr/>
        </p:nvSpPr>
        <p:spPr>
          <a:xfrm>
            <a:off x="9948672" y="4357050"/>
            <a:ext cx="1627632" cy="589722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69"/>
          <p:cNvSpPr/>
          <p:nvPr/>
        </p:nvSpPr>
        <p:spPr>
          <a:xfrm>
            <a:off x="9948672" y="4339358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70"/>
          <p:cNvSpPr/>
          <p:nvPr/>
        </p:nvSpPr>
        <p:spPr>
          <a:xfrm>
            <a:off x="9948672" y="4333461"/>
            <a:ext cx="1627632" cy="4717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3" name="Image 49" descr="speaker high volume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046330" y="3908861"/>
            <a:ext cx="283066" cy="283066"/>
          </a:xfrm>
          <a:prstGeom prst="rect">
            <a:avLst/>
          </a:prstGeom>
        </p:spPr>
      </p:pic>
      <p:pic>
        <p:nvPicPr>
          <p:cNvPr id="124" name="Image 50" descr="musical notes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404409" y="3838095"/>
            <a:ext cx="235889" cy="235889"/>
          </a:xfrm>
          <a:prstGeom prst="rect">
            <a:avLst/>
          </a:prstGeom>
        </p:spPr>
      </p:pic>
      <p:pic>
        <p:nvPicPr>
          <p:cNvPr id="125" name="Image 51" descr="woman danci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697383" y="3826300"/>
            <a:ext cx="471777" cy="471777"/>
          </a:xfrm>
          <a:prstGeom prst="rect">
            <a:avLst/>
          </a:prstGeom>
        </p:spPr>
      </p:pic>
      <p:pic>
        <p:nvPicPr>
          <p:cNvPr id="126" name="Image 52" descr="party popper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1153120" y="3932450"/>
            <a:ext cx="283066" cy="283066"/>
          </a:xfrm>
          <a:prstGeom prst="rect">
            <a:avLst/>
          </a:prstGeom>
        </p:spPr>
      </p:pic>
      <p:pic>
        <p:nvPicPr>
          <p:cNvPr id="127" name="Image 53" descr="bed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030054" y="4498583"/>
            <a:ext cx="377422" cy="377422"/>
          </a:xfrm>
          <a:prstGeom prst="rect">
            <a:avLst/>
          </a:prstGeom>
        </p:spPr>
      </p:pic>
      <p:pic>
        <p:nvPicPr>
          <p:cNvPr id="128" name="Image 54" descr="sleepy face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10664830" y="4474994"/>
            <a:ext cx="330244" cy="330244"/>
          </a:xfrm>
          <a:prstGeom prst="rect">
            <a:avLst/>
          </a:prstGeom>
        </p:spPr>
      </p:pic>
      <p:pic>
        <p:nvPicPr>
          <p:cNvPr id="129" name="Image 55" descr="alarm clock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1153120" y="4545761"/>
            <a:ext cx="283066" cy="283066"/>
          </a:xfrm>
          <a:prstGeom prst="rect">
            <a:avLst/>
          </a:prstGeom>
        </p:spPr>
      </p:pic>
      <p:sp>
        <p:nvSpPr>
          <p:cNvPr id="130" name="Shape 71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72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32" name="Text 73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Overlast van de buren</a:t>
            </a:r>
            <a:endParaRPr lang="en-US" sz="1150" dirty="0"/>
          </a:p>
        </p:txBody>
      </p:sp>
      <p:sp>
        <p:nvSpPr>
          <p:cNvPr id="133" name="Text 74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Des voisins bruyants</a:t>
            </a:r>
            <a:endParaRPr lang="en-US" sz="950" dirty="0"/>
          </a:p>
        </p:txBody>
      </p:sp>
      <p:pic>
        <p:nvPicPr>
          <p:cNvPr id="134" name="Image 56" descr="PenNib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klacht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738640"/>
            <a:ext cx="674827" cy="674827"/>
          </a:xfrm>
          <a:prstGeom prst="rect">
            <a:avLst/>
          </a:prstGeom>
        </p:spPr>
      </p:pic>
      <p:pic>
        <p:nvPicPr>
          <p:cNvPr id="13" name="Image 2" descr="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3" y="2953329"/>
            <a:ext cx="1147206" cy="1147206"/>
          </a:xfrm>
          <a:prstGeom prst="rect">
            <a:avLst/>
          </a:prstGeom>
        </p:spPr>
      </p:pic>
      <p:pic>
        <p:nvPicPr>
          <p:cNvPr id="14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0796" y="2750881"/>
            <a:ext cx="607344" cy="607344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6801" y="2885846"/>
            <a:ext cx="1147206" cy="1147206"/>
          </a:xfrm>
          <a:prstGeom prst="rect">
            <a:avLst/>
          </a:prstGeom>
        </p:spPr>
      </p:pic>
      <p:pic>
        <p:nvPicPr>
          <p:cNvPr id="16" name="Image 5" descr="e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9802" y="1772382"/>
            <a:ext cx="742310" cy="742310"/>
          </a:xfrm>
          <a:prstGeom prst="rect">
            <a:avLst/>
          </a:prstGeom>
        </p:spPr>
      </p:pic>
      <p:pic>
        <p:nvPicPr>
          <p:cNvPr id="17" name="Image 6" descr="face with steam from nos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806" y="1738640"/>
            <a:ext cx="539862" cy="539862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Une réclamation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colis est arrivé en retard et abîmé. Écrivez au service clients.</a:t>
            </a:r>
            <a:endParaRPr lang="en-US" sz="1300" dirty="0"/>
          </a:p>
        </p:txBody>
      </p:sp>
      <p:pic>
        <p:nvPicPr>
          <p:cNvPr id="22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Ouvrez avec </a:t>
            </a:r>
            <a:r>
              <a:rPr lang="en-US" sz="1450" b="1" dirty="0">
                <a:solidFill>
                  <a:schemeClr val="tx1"/>
                </a:solidFill>
              </a:rPr>
              <a:t>GEACHTE</a:t>
            </a:r>
            <a:r>
              <a:rPr lang="en-US" sz="1450" dirty="0">
                <a:solidFill>
                  <a:schemeClr val="tx1"/>
                </a:solidFill>
              </a:rPr>
              <a:t> … et situez votre commande au </a:t>
            </a:r>
            <a:r>
              <a:rPr lang="en-US" sz="1450" b="1" dirty="0">
                <a:solidFill>
                  <a:schemeClr val="tx1"/>
                </a:solidFill>
              </a:rPr>
              <a:t>perfectum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passif</a:t>
            </a:r>
            <a:r>
              <a:rPr lang="en-US" sz="1450" dirty="0">
                <a:solidFill>
                  <a:schemeClr val="tx1"/>
                </a:solidFill>
              </a:rPr>
              <a:t> au passé : </a:t>
            </a:r>
            <a:r>
              <a:rPr lang="en-US" sz="1450" b="1" dirty="0">
                <a:solidFill>
                  <a:schemeClr val="tx1"/>
                </a:solidFill>
              </a:rPr>
              <a:t>WERD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32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une </a:t>
            </a:r>
            <a:r>
              <a:rPr lang="en-US" sz="1450" b="1" dirty="0">
                <a:solidFill>
                  <a:schemeClr val="tx1"/>
                </a:solidFill>
              </a:rPr>
              <a:t>relative</a:t>
            </a:r>
            <a:r>
              <a:rPr lang="en-US" sz="1450" dirty="0">
                <a:solidFill>
                  <a:schemeClr val="tx1"/>
                </a:solidFill>
              </a:rPr>
              <a:t> avec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DAT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6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Formulez votre demande au conditionnel : 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WILLEN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0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fermement avec </a:t>
            </a:r>
            <a:r>
              <a:rPr lang="en-US" sz="1450" b="1" dirty="0">
                <a:solidFill>
                  <a:schemeClr val="tx1"/>
                </a:solidFill>
              </a:rPr>
              <a:t>INDIEN</a:t>
            </a:r>
            <a:r>
              <a:rPr lang="en-US" sz="1450" dirty="0">
                <a:solidFill>
                  <a:schemeClr val="tx1"/>
                </a:solidFill>
              </a:rPr>
              <a:t> + une formule finale.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klacht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53164"/>
            <a:ext cx="149962" cy="149962"/>
          </a:xfrm>
          <a:prstGeom prst="rect">
            <a:avLst/>
          </a:prstGeom>
        </p:spPr>
      </p:pic>
      <p:pic>
        <p:nvPicPr>
          <p:cNvPr id="13" name="Image 2" descr="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" y="1723095"/>
            <a:ext cx="254935" cy="254935"/>
          </a:xfrm>
          <a:prstGeom prst="rect">
            <a:avLst/>
          </a:prstGeom>
        </p:spPr>
      </p:pic>
      <p:pic>
        <p:nvPicPr>
          <p:cNvPr id="14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06" y="1678107"/>
            <a:ext cx="134965" cy="134965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" y="1708099"/>
            <a:ext cx="254935" cy="254935"/>
          </a:xfrm>
          <a:prstGeom prst="rect">
            <a:avLst/>
          </a:prstGeom>
        </p:spPr>
      </p:pic>
      <p:pic>
        <p:nvPicPr>
          <p:cNvPr id="16" name="Image 5" descr="e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067" y="1460663"/>
            <a:ext cx="164958" cy="164958"/>
          </a:xfrm>
          <a:prstGeom prst="rect">
            <a:avLst/>
          </a:prstGeom>
        </p:spPr>
      </p:pic>
      <p:pic>
        <p:nvPicPr>
          <p:cNvPr id="17" name="Image 6" descr="face with steam from nos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7421" y="1453164"/>
            <a:ext cx="119969" cy="11996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GEACHTE / PERFECTUM</a:t>
            </a:r>
            <a:endParaRPr lang="en-US" sz="1300" dirty="0"/>
          </a:p>
        </p:txBody>
      </p:sp>
      <p:sp>
        <p:nvSpPr>
          <p:cNvPr id="22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WERD + participe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RELATIVE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 … WILLEN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INDIEN / FORMULE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576072" y="234010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6072" y="234010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1051560" y="2403983"/>
            <a:ext cx="1744256" cy="201422"/>
          </a:xfrm>
          <a:prstGeom prst="roundRect">
            <a:avLst>
              <a:gd name="adj" fmla="val 27238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1051560" y="2395728"/>
            <a:ext cx="1744256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Geachte heer, mevrouw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2795816" y="2395728"/>
            <a:ext cx="178435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1923688" y="2605405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510427" y="2651125"/>
            <a:ext cx="826522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510427" y="2651125"/>
            <a:ext cx="82652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GEACHTE</a:t>
            </a:r>
            <a:endParaRPr lang="en-US" sz="1050" dirty="0"/>
          </a:p>
        </p:txBody>
      </p:sp>
      <p:sp>
        <p:nvSpPr>
          <p:cNvPr id="46" name="Text 36"/>
          <p:cNvSpPr txBox="1"/>
          <p:nvPr/>
        </p:nvSpPr>
        <p:spPr>
          <a:xfrm>
            <a:off x="1051560" y="2915412"/>
            <a:ext cx="894474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3 maart</a:t>
            </a:r>
            <a:endParaRPr lang="en-US" sz="1300" dirty="0"/>
          </a:p>
        </p:txBody>
      </p:sp>
      <p:sp>
        <p:nvSpPr>
          <p:cNvPr id="47" name="Shape 37"/>
          <p:cNvSpPr/>
          <p:nvPr/>
        </p:nvSpPr>
        <p:spPr>
          <a:xfrm>
            <a:off x="1891906" y="2923667"/>
            <a:ext cx="351803" cy="201422"/>
          </a:xfrm>
          <a:prstGeom prst="roundRect">
            <a:avLst>
              <a:gd name="adj" fmla="val 27238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1891906" y="2915412"/>
            <a:ext cx="351803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1300" dirty="0"/>
          </a:p>
        </p:txBody>
      </p:sp>
      <p:sp>
        <p:nvSpPr>
          <p:cNvPr id="49" name="Text 39"/>
          <p:cNvSpPr txBox="1"/>
          <p:nvPr/>
        </p:nvSpPr>
        <p:spPr>
          <a:xfrm>
            <a:off x="2326742" y="2915412"/>
            <a:ext cx="2089798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een koffiezetapparaat bij u</a:t>
            </a:r>
            <a:endParaRPr lang="en-US" sz="1300" dirty="0"/>
          </a:p>
        </p:txBody>
      </p:sp>
      <p:sp>
        <p:nvSpPr>
          <p:cNvPr id="50" name="Shape 40"/>
          <p:cNvSpPr/>
          <p:nvPr/>
        </p:nvSpPr>
        <p:spPr>
          <a:xfrm>
            <a:off x="4362412" y="2923667"/>
            <a:ext cx="598627" cy="201422"/>
          </a:xfrm>
          <a:prstGeom prst="roundRect">
            <a:avLst>
              <a:gd name="adj" fmla="val 27238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4362412" y="2915412"/>
            <a:ext cx="598627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besteld</a:t>
            </a:r>
            <a:endParaRPr lang="en-US" sz="1300" dirty="0"/>
          </a:p>
        </p:txBody>
      </p:sp>
      <p:sp>
        <p:nvSpPr>
          <p:cNvPr id="52" name="Text 42"/>
          <p:cNvSpPr txBox="1"/>
          <p:nvPr/>
        </p:nvSpPr>
        <p:spPr>
          <a:xfrm>
            <a:off x="4961039" y="2915412"/>
            <a:ext cx="178765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3" name="Shape 43"/>
          <p:cNvSpPr/>
          <p:nvPr/>
        </p:nvSpPr>
        <p:spPr>
          <a:xfrm>
            <a:off x="2067808" y="3125089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4" name="Shape 44"/>
          <p:cNvSpPr/>
          <p:nvPr/>
        </p:nvSpPr>
        <p:spPr>
          <a:xfrm>
            <a:off x="1574070" y="3170809"/>
            <a:ext cx="98747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1574070" y="3170809"/>
            <a:ext cx="9874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PERFECTUM</a:t>
            </a:r>
            <a:endParaRPr 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4661726" y="3125089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4212927" y="3170809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4212927" y="3170809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+ participe</a:t>
            </a:r>
            <a:endParaRPr lang="en-US" sz="1050" dirty="0"/>
          </a:p>
        </p:txBody>
      </p:sp>
      <p:sp>
        <p:nvSpPr>
          <p:cNvPr id="59" name="Shape 49"/>
          <p:cNvSpPr/>
          <p:nvPr/>
        </p:nvSpPr>
        <p:spPr>
          <a:xfrm>
            <a:off x="576072" y="347091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0"/>
          <p:cNvSpPr txBox="1"/>
          <p:nvPr/>
        </p:nvSpPr>
        <p:spPr>
          <a:xfrm>
            <a:off x="576072" y="34709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61" name="Text 51"/>
          <p:cNvSpPr txBox="1"/>
          <p:nvPr/>
        </p:nvSpPr>
        <p:spPr>
          <a:xfrm>
            <a:off x="1051560" y="3526536"/>
            <a:ext cx="868388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pakket</a:t>
            </a:r>
            <a:endParaRPr lang="en-US" sz="1300" dirty="0"/>
          </a:p>
        </p:txBody>
      </p:sp>
      <p:sp>
        <p:nvSpPr>
          <p:cNvPr id="62" name="Shape 52"/>
          <p:cNvSpPr/>
          <p:nvPr/>
        </p:nvSpPr>
        <p:spPr>
          <a:xfrm>
            <a:off x="1865821" y="3534791"/>
            <a:ext cx="444754" cy="201422"/>
          </a:xfrm>
          <a:prstGeom prst="roundRect">
            <a:avLst>
              <a:gd name="adj" fmla="val 27238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1865821" y="3526536"/>
            <a:ext cx="444754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300" dirty="0"/>
          </a:p>
        </p:txBody>
      </p:sp>
      <p:sp>
        <p:nvSpPr>
          <p:cNvPr id="64" name="Text 54"/>
          <p:cNvSpPr txBox="1"/>
          <p:nvPr/>
        </p:nvSpPr>
        <p:spPr>
          <a:xfrm>
            <a:off x="2393607" y="3526536"/>
            <a:ext cx="1573695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twee weken later</a:t>
            </a:r>
            <a:endParaRPr lang="en-US" sz="1300" dirty="0"/>
          </a:p>
        </p:txBody>
      </p:sp>
      <p:sp>
        <p:nvSpPr>
          <p:cNvPr id="65" name="Shape 55"/>
          <p:cNvSpPr/>
          <p:nvPr/>
        </p:nvSpPr>
        <p:spPr>
          <a:xfrm>
            <a:off x="3913175" y="3534791"/>
            <a:ext cx="684809" cy="201422"/>
          </a:xfrm>
          <a:prstGeom prst="roundRect">
            <a:avLst>
              <a:gd name="adj" fmla="val 27238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3913175" y="3526536"/>
            <a:ext cx="684809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geleverd</a:t>
            </a:r>
            <a:endParaRPr lang="en-US" sz="1300" dirty="0"/>
          </a:p>
        </p:txBody>
      </p:sp>
      <p:sp>
        <p:nvSpPr>
          <p:cNvPr id="67" name="Text 57"/>
          <p:cNvSpPr txBox="1"/>
          <p:nvPr/>
        </p:nvSpPr>
        <p:spPr>
          <a:xfrm>
            <a:off x="4597984" y="3526536"/>
            <a:ext cx="178765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8" name="Shape 58"/>
          <p:cNvSpPr/>
          <p:nvPr/>
        </p:nvSpPr>
        <p:spPr>
          <a:xfrm>
            <a:off x="2088197" y="3736213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9" name="Shape 59"/>
          <p:cNvSpPr/>
          <p:nvPr/>
        </p:nvSpPr>
        <p:spPr>
          <a:xfrm>
            <a:off x="1760747" y="3781933"/>
            <a:ext cx="654901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0"/>
          <p:cNvSpPr txBox="1"/>
          <p:nvPr/>
        </p:nvSpPr>
        <p:spPr>
          <a:xfrm>
            <a:off x="1760747" y="3781933"/>
            <a:ext cx="65490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WERD</a:t>
            </a:r>
            <a:endParaRPr lang="en-US" sz="1050" dirty="0"/>
          </a:p>
        </p:txBody>
      </p:sp>
      <p:sp>
        <p:nvSpPr>
          <p:cNvPr id="71" name="Shape 61"/>
          <p:cNvSpPr/>
          <p:nvPr/>
        </p:nvSpPr>
        <p:spPr>
          <a:xfrm>
            <a:off x="4255579" y="3736213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2" name="Shape 62"/>
          <p:cNvSpPr/>
          <p:nvPr/>
        </p:nvSpPr>
        <p:spPr>
          <a:xfrm>
            <a:off x="3806781" y="3781933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3806781" y="3781933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4" name="Shape 64"/>
          <p:cNvSpPr/>
          <p:nvPr/>
        </p:nvSpPr>
        <p:spPr>
          <a:xfrm>
            <a:off x="576072" y="408203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576072" y="408203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6" name="Text 66"/>
          <p:cNvSpPr txBox="1"/>
          <p:nvPr/>
        </p:nvSpPr>
        <p:spPr>
          <a:xfrm>
            <a:off x="1051560" y="4137660"/>
            <a:ext cx="19134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 was het toestel</a:t>
            </a:r>
            <a:endParaRPr lang="en-US" sz="1300" dirty="0"/>
          </a:p>
        </p:txBody>
      </p:sp>
      <p:sp>
        <p:nvSpPr>
          <p:cNvPr id="77" name="Shape 67"/>
          <p:cNvSpPr/>
          <p:nvPr/>
        </p:nvSpPr>
        <p:spPr>
          <a:xfrm>
            <a:off x="2910904" y="4145915"/>
            <a:ext cx="1033831" cy="201422"/>
          </a:xfrm>
          <a:prstGeom prst="roundRect">
            <a:avLst>
              <a:gd name="adj" fmla="val 27238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68"/>
          <p:cNvSpPr txBox="1"/>
          <p:nvPr/>
        </p:nvSpPr>
        <p:spPr>
          <a:xfrm>
            <a:off x="2910904" y="4137660"/>
            <a:ext cx="103383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ik ontving</a:t>
            </a:r>
            <a:endParaRPr lang="en-US" sz="1300" dirty="0"/>
          </a:p>
        </p:txBody>
      </p:sp>
      <p:sp>
        <p:nvSpPr>
          <p:cNvPr id="79" name="Text 69"/>
          <p:cNvSpPr txBox="1"/>
          <p:nvPr/>
        </p:nvSpPr>
        <p:spPr>
          <a:xfrm>
            <a:off x="4027767" y="4137660"/>
            <a:ext cx="936904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beschadigd.</a:t>
            </a:r>
            <a:endParaRPr lang="en-US" sz="1300" dirty="0"/>
          </a:p>
        </p:txBody>
      </p:sp>
      <p:sp>
        <p:nvSpPr>
          <p:cNvPr id="80" name="Shape 70"/>
          <p:cNvSpPr/>
          <p:nvPr/>
        </p:nvSpPr>
        <p:spPr>
          <a:xfrm>
            <a:off x="3427819" y="4347337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1" name="Shape 71"/>
          <p:cNvSpPr/>
          <p:nvPr/>
        </p:nvSpPr>
        <p:spPr>
          <a:xfrm>
            <a:off x="2604040" y="4393057"/>
            <a:ext cx="164755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2"/>
          <p:cNvSpPr txBox="1"/>
          <p:nvPr/>
        </p:nvSpPr>
        <p:spPr>
          <a:xfrm>
            <a:off x="2604040" y="4393057"/>
            <a:ext cx="164755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RELATIVE : verbe à la fin</a:t>
            </a:r>
            <a:endParaRPr lang="en-US" sz="1050" dirty="0"/>
          </a:p>
        </p:txBody>
      </p:sp>
      <p:sp>
        <p:nvSpPr>
          <p:cNvPr id="83" name="Shape 73"/>
          <p:cNvSpPr/>
          <p:nvPr/>
        </p:nvSpPr>
        <p:spPr>
          <a:xfrm>
            <a:off x="576072" y="469315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576072" y="46931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5" name="Text 75"/>
          <p:cNvSpPr txBox="1"/>
          <p:nvPr/>
        </p:nvSpPr>
        <p:spPr>
          <a:xfrm>
            <a:off x="1051560" y="4748784"/>
            <a:ext cx="253886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1300" dirty="0"/>
          </a:p>
        </p:txBody>
      </p:sp>
      <p:sp>
        <p:nvSpPr>
          <p:cNvPr id="86" name="Shape 76"/>
          <p:cNvSpPr/>
          <p:nvPr/>
        </p:nvSpPr>
        <p:spPr>
          <a:xfrm>
            <a:off x="1251318" y="4757039"/>
            <a:ext cx="334467" cy="201422"/>
          </a:xfrm>
          <a:prstGeom prst="roundRect">
            <a:avLst>
              <a:gd name="adj" fmla="val 27238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7" name="Text 77"/>
          <p:cNvSpPr txBox="1"/>
          <p:nvPr/>
        </p:nvSpPr>
        <p:spPr>
          <a:xfrm>
            <a:off x="1251318" y="4748784"/>
            <a:ext cx="334467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300" dirty="0"/>
          </a:p>
        </p:txBody>
      </p:sp>
      <p:sp>
        <p:nvSpPr>
          <p:cNvPr id="88" name="Text 78"/>
          <p:cNvSpPr txBox="1"/>
          <p:nvPr/>
        </p:nvSpPr>
        <p:spPr>
          <a:xfrm>
            <a:off x="1668818" y="4748784"/>
            <a:ext cx="2323909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ook graag een nieuw toestel</a:t>
            </a:r>
            <a:endParaRPr lang="en-US" sz="1300" dirty="0"/>
          </a:p>
        </p:txBody>
      </p:sp>
      <p:sp>
        <p:nvSpPr>
          <p:cNvPr id="89" name="Shape 79"/>
          <p:cNvSpPr/>
          <p:nvPr/>
        </p:nvSpPr>
        <p:spPr>
          <a:xfrm>
            <a:off x="3938600" y="4757039"/>
            <a:ext cx="1278344" cy="201422"/>
          </a:xfrm>
          <a:prstGeom prst="roundRect">
            <a:avLst>
              <a:gd name="adj" fmla="val 27238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3938600" y="4748784"/>
            <a:ext cx="1278344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willen ontvangen</a:t>
            </a:r>
            <a:endParaRPr lang="en-US" sz="1300" dirty="0"/>
          </a:p>
        </p:txBody>
      </p:sp>
      <p:sp>
        <p:nvSpPr>
          <p:cNvPr id="91" name="Text 81"/>
          <p:cNvSpPr txBox="1"/>
          <p:nvPr/>
        </p:nvSpPr>
        <p:spPr>
          <a:xfrm>
            <a:off x="5216944" y="4748784"/>
            <a:ext cx="178765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92" name="Shape 82"/>
          <p:cNvSpPr/>
          <p:nvPr/>
        </p:nvSpPr>
        <p:spPr>
          <a:xfrm>
            <a:off x="1418552" y="4958461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3" name="Shape 83"/>
          <p:cNvSpPr/>
          <p:nvPr/>
        </p:nvSpPr>
        <p:spPr>
          <a:xfrm>
            <a:off x="1143108" y="5004181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84"/>
          <p:cNvSpPr txBox="1"/>
          <p:nvPr/>
        </p:nvSpPr>
        <p:spPr>
          <a:xfrm>
            <a:off x="1143108" y="5004181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95" name="Shape 85"/>
          <p:cNvSpPr/>
          <p:nvPr/>
        </p:nvSpPr>
        <p:spPr>
          <a:xfrm>
            <a:off x="4577772" y="4958461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6" name="Shape 86"/>
          <p:cNvSpPr/>
          <p:nvPr/>
        </p:nvSpPr>
        <p:spPr>
          <a:xfrm>
            <a:off x="3945884" y="5004181"/>
            <a:ext cx="126377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87"/>
          <p:cNvSpPr txBox="1"/>
          <p:nvPr/>
        </p:nvSpPr>
        <p:spPr>
          <a:xfrm>
            <a:off x="3945884" y="5004181"/>
            <a:ext cx="126377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WILLEN + infinitif</a:t>
            </a:r>
            <a:endParaRPr lang="en-US" sz="1050" dirty="0"/>
          </a:p>
        </p:txBody>
      </p:sp>
      <p:sp>
        <p:nvSpPr>
          <p:cNvPr id="98" name="Shape 88"/>
          <p:cNvSpPr/>
          <p:nvPr/>
        </p:nvSpPr>
        <p:spPr>
          <a:xfrm>
            <a:off x="576072" y="530428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89"/>
          <p:cNvSpPr txBox="1"/>
          <p:nvPr/>
        </p:nvSpPr>
        <p:spPr>
          <a:xfrm>
            <a:off x="576072" y="530428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00" name="Shape 90"/>
          <p:cNvSpPr/>
          <p:nvPr/>
        </p:nvSpPr>
        <p:spPr>
          <a:xfrm>
            <a:off x="1051560" y="5368163"/>
            <a:ext cx="525158" cy="201422"/>
          </a:xfrm>
          <a:prstGeom prst="roundRect">
            <a:avLst>
              <a:gd name="adj" fmla="val 27238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1" name="Text 91"/>
          <p:cNvSpPr txBox="1"/>
          <p:nvPr/>
        </p:nvSpPr>
        <p:spPr>
          <a:xfrm>
            <a:off x="1051560" y="5359908"/>
            <a:ext cx="525158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Indien</a:t>
            </a:r>
            <a:endParaRPr lang="en-US" sz="1300" dirty="0"/>
          </a:p>
        </p:txBody>
      </p:sp>
      <p:sp>
        <p:nvSpPr>
          <p:cNvPr id="102" name="Text 92"/>
          <p:cNvSpPr txBox="1"/>
          <p:nvPr/>
        </p:nvSpPr>
        <p:spPr>
          <a:xfrm>
            <a:off x="1659750" y="5359908"/>
            <a:ext cx="2269427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binnen tien dagen niets van u</a:t>
            </a:r>
            <a:endParaRPr lang="en-US" sz="1300" dirty="0"/>
          </a:p>
        </p:txBody>
      </p:sp>
      <p:sp>
        <p:nvSpPr>
          <p:cNvPr id="103" name="Shape 93"/>
          <p:cNvSpPr/>
          <p:nvPr/>
        </p:nvSpPr>
        <p:spPr>
          <a:xfrm>
            <a:off x="3875049" y="5368163"/>
            <a:ext cx="416357" cy="201422"/>
          </a:xfrm>
          <a:prstGeom prst="roundRect">
            <a:avLst>
              <a:gd name="adj" fmla="val 27238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4" name="Text 94"/>
          <p:cNvSpPr txBox="1"/>
          <p:nvPr/>
        </p:nvSpPr>
        <p:spPr>
          <a:xfrm>
            <a:off x="3875049" y="5359908"/>
            <a:ext cx="416357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hoor</a:t>
            </a:r>
            <a:endParaRPr lang="en-US" sz="1300" dirty="0"/>
          </a:p>
        </p:txBody>
      </p:sp>
      <p:sp>
        <p:nvSpPr>
          <p:cNvPr id="105" name="Text 95"/>
          <p:cNvSpPr txBox="1"/>
          <p:nvPr/>
        </p:nvSpPr>
        <p:spPr>
          <a:xfrm>
            <a:off x="4291406" y="5359908"/>
            <a:ext cx="1828114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vraag ik mijn geld terug.</a:t>
            </a:r>
            <a:endParaRPr lang="en-US" sz="1300" dirty="0"/>
          </a:p>
        </p:txBody>
      </p:sp>
      <p:sp>
        <p:nvSpPr>
          <p:cNvPr id="106" name="Shape 96"/>
          <p:cNvSpPr/>
          <p:nvPr/>
        </p:nvSpPr>
        <p:spPr>
          <a:xfrm>
            <a:off x="1314139" y="5569585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7" name="Shape 97"/>
          <p:cNvSpPr/>
          <p:nvPr/>
        </p:nvSpPr>
        <p:spPr>
          <a:xfrm>
            <a:off x="961152" y="5615305"/>
            <a:ext cx="70597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98"/>
          <p:cNvSpPr txBox="1"/>
          <p:nvPr/>
        </p:nvSpPr>
        <p:spPr>
          <a:xfrm>
            <a:off x="961152" y="5615305"/>
            <a:ext cx="7059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INDIEN</a:t>
            </a:r>
            <a:endParaRPr lang="en-US" sz="1050" dirty="0"/>
          </a:p>
        </p:txBody>
      </p:sp>
      <p:sp>
        <p:nvSpPr>
          <p:cNvPr id="109" name="Shape 99"/>
          <p:cNvSpPr/>
          <p:nvPr/>
        </p:nvSpPr>
        <p:spPr>
          <a:xfrm>
            <a:off x="4083228" y="5569585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10" name="Shape 100"/>
          <p:cNvSpPr/>
          <p:nvPr/>
        </p:nvSpPr>
        <p:spPr>
          <a:xfrm>
            <a:off x="3569421" y="5615305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569421" y="5615305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verbe à la fin</a:t>
            </a:r>
            <a:endParaRPr lang="en-US" sz="1050" dirty="0"/>
          </a:p>
        </p:txBody>
      </p:sp>
      <p:sp>
        <p:nvSpPr>
          <p:cNvPr id="112" name="Shape 102"/>
          <p:cNvSpPr/>
          <p:nvPr/>
        </p:nvSpPr>
        <p:spPr>
          <a:xfrm>
            <a:off x="1051560" y="5887847"/>
            <a:ext cx="1794777" cy="201422"/>
          </a:xfrm>
          <a:prstGeom prst="roundRect">
            <a:avLst>
              <a:gd name="adj" fmla="val 27238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13" name="Text 103"/>
          <p:cNvSpPr txBox="1"/>
          <p:nvPr/>
        </p:nvSpPr>
        <p:spPr>
          <a:xfrm>
            <a:off x="1051560" y="5879592"/>
            <a:ext cx="1794777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vriendelijke groeten</a:t>
            </a:r>
            <a:endParaRPr lang="en-US" sz="1300" dirty="0"/>
          </a:p>
        </p:txBody>
      </p:sp>
      <p:sp>
        <p:nvSpPr>
          <p:cNvPr id="114" name="Text 104"/>
          <p:cNvSpPr txBox="1"/>
          <p:nvPr/>
        </p:nvSpPr>
        <p:spPr>
          <a:xfrm>
            <a:off x="2846337" y="5879592"/>
            <a:ext cx="1059243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Karim Benali</a:t>
            </a:r>
            <a:endParaRPr lang="en-US" sz="1300" dirty="0"/>
          </a:p>
        </p:txBody>
      </p:sp>
      <p:sp>
        <p:nvSpPr>
          <p:cNvPr id="115" name="Shape 105"/>
          <p:cNvSpPr/>
          <p:nvPr/>
        </p:nvSpPr>
        <p:spPr>
          <a:xfrm>
            <a:off x="1948948" y="6089269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16" name="Shape 106"/>
          <p:cNvSpPr/>
          <p:nvPr/>
        </p:nvSpPr>
        <p:spPr>
          <a:xfrm>
            <a:off x="1518218" y="6134989"/>
            <a:ext cx="8614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7" name="Text 107"/>
          <p:cNvSpPr txBox="1"/>
          <p:nvPr/>
        </p:nvSpPr>
        <p:spPr>
          <a:xfrm>
            <a:off x="1518218" y="6134989"/>
            <a:ext cx="8614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FORMULE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sollicitatiegesprek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211019"/>
            <a:ext cx="1687068" cy="1687068"/>
          </a:xfrm>
          <a:prstGeom prst="rect">
            <a:avLst/>
          </a:prstGeom>
        </p:spPr>
      </p:pic>
      <p:pic>
        <p:nvPicPr>
          <p:cNvPr id="13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802" y="2211019"/>
            <a:ext cx="1687068" cy="168706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09793" y="3763122"/>
            <a:ext cx="4324015" cy="134965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99" y="3155777"/>
            <a:ext cx="573603" cy="573603"/>
          </a:xfrm>
          <a:prstGeom prst="rect">
            <a:avLst/>
          </a:prstGeom>
        </p:spPr>
      </p:pic>
      <p:pic>
        <p:nvPicPr>
          <p:cNvPr id="16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5799" y="1873606"/>
            <a:ext cx="641086" cy="641086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8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L’entretien d’embauche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Lors d’un entretien, présentez votre parcours et votre motivation.</a:t>
            </a:r>
            <a:endParaRPr lang="en-US" sz="1300" dirty="0"/>
          </a:p>
        </p:txBody>
      </p:sp>
      <p:pic>
        <p:nvPicPr>
          <p:cNvPr id="21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votre parcours avec </a:t>
            </a:r>
            <a:r>
              <a:rPr lang="en-US" sz="1450" b="1" dirty="0">
                <a:solidFill>
                  <a:schemeClr val="tx1"/>
                </a:solidFill>
              </a:rPr>
              <a:t>NADAT</a:t>
            </a:r>
            <a:r>
              <a:rPr lang="en-US" sz="1450" dirty="0">
                <a:solidFill>
                  <a:schemeClr val="tx1"/>
                </a:solidFill>
              </a:rPr>
              <a:t> + plus-que-parfait.</a:t>
            </a:r>
            <a:endParaRPr lang="en-US" sz="1450" dirty="0"/>
          </a:p>
        </p:txBody>
      </p:sp>
      <p:sp>
        <p:nvSpPr>
          <p:cNvPr id="27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une relative avec </a:t>
            </a:r>
            <a:r>
              <a:rPr lang="en-US" sz="1450" b="1" dirty="0">
                <a:solidFill>
                  <a:schemeClr val="tx1"/>
                </a:solidFill>
              </a:rPr>
              <a:t>WAAR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1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Exprimez votre but avec </a:t>
            </a:r>
            <a:r>
              <a:rPr lang="en-US" sz="1450" b="1" dirty="0">
                <a:solidFill>
                  <a:schemeClr val="tx1"/>
                </a:solidFill>
              </a:rPr>
              <a:t>OM … TE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5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Nuancez une faiblesse avec </a:t>
            </a:r>
            <a:r>
              <a:rPr lang="en-US" sz="1450" b="1" dirty="0">
                <a:solidFill>
                  <a:schemeClr val="tx1"/>
                </a:solidFill>
              </a:rPr>
              <a:t>HOEWEL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9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question audacieuse au conditionnel : </a:t>
            </a:r>
            <a:r>
              <a:rPr lang="en-US" sz="1450" b="1" dirty="0">
                <a:solidFill>
                  <a:schemeClr val="tx1"/>
                </a:solidFill>
              </a:rPr>
              <a:t>ZOU IK</a:t>
            </a:r>
            <a:r>
              <a:rPr lang="en-US" sz="1450" dirty="0">
                <a:solidFill>
                  <a:schemeClr val="tx1"/>
                </a:solidFill>
              </a:rPr>
              <a:t> … ?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sollicitatiegesprek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558138"/>
            <a:ext cx="374904" cy="374904"/>
          </a:xfrm>
          <a:prstGeom prst="rect">
            <a:avLst/>
          </a:prstGeom>
        </p:spPr>
      </p:pic>
      <p:pic>
        <p:nvPicPr>
          <p:cNvPr id="13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638" y="1558138"/>
            <a:ext cx="374904" cy="37490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27644" y="1903049"/>
            <a:ext cx="975848" cy="29992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319" y="1768084"/>
            <a:ext cx="127467" cy="127467"/>
          </a:xfrm>
          <a:prstGeom prst="rect">
            <a:avLst/>
          </a:prstGeom>
        </p:spPr>
      </p:pic>
      <p:pic>
        <p:nvPicPr>
          <p:cNvPr id="16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712" y="1483157"/>
            <a:ext cx="142464" cy="14246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NADAT + HAD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WAAR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OM … TE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HOEWEL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ZOU IK … ?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1051560" y="2408428"/>
            <a:ext cx="73431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051560" y="2395728"/>
            <a:ext cx="73431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Nadat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888998" y="2395728"/>
            <a:ext cx="172339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mijn diploma</a:t>
            </a:r>
            <a:endParaRPr lang="en-US" sz="2000" dirty="0"/>
          </a:p>
        </p:txBody>
      </p:sp>
      <p:sp>
        <p:nvSpPr>
          <p:cNvPr id="42" name="Shape 34"/>
          <p:cNvSpPr/>
          <p:nvPr/>
        </p:nvSpPr>
        <p:spPr>
          <a:xfrm>
            <a:off x="3578352" y="2408428"/>
            <a:ext cx="139750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578352" y="2395728"/>
            <a:ext cx="13975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behaald</a:t>
            </a:r>
            <a:endParaRPr lang="en-US" sz="2000" dirty="0"/>
          </a:p>
        </p:txBody>
      </p:sp>
      <p:sp>
        <p:nvSpPr>
          <p:cNvPr id="44" name="Text 36"/>
          <p:cNvSpPr txBox="1"/>
          <p:nvPr/>
        </p:nvSpPr>
        <p:spPr>
          <a:xfrm>
            <a:off x="4975860" y="2395728"/>
            <a:ext cx="374878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werkte ik vijf jaar als boekhouder.</a:t>
            </a:r>
            <a:endParaRPr lang="en-US" sz="2000" dirty="0"/>
          </a:p>
        </p:txBody>
      </p:sp>
      <p:sp>
        <p:nvSpPr>
          <p:cNvPr id="45" name="Shape 37"/>
          <p:cNvSpPr/>
          <p:nvPr/>
        </p:nvSpPr>
        <p:spPr>
          <a:xfrm>
            <a:off x="141871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63996" y="2764028"/>
            <a:ext cx="709441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63996" y="2764028"/>
            <a:ext cx="70944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NADAT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427710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3688756" y="2764028"/>
            <a:ext cx="1176699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3688756" y="2764028"/>
            <a:ext cx="117669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HAD + participe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5"/>
          <p:cNvSpPr txBox="1"/>
          <p:nvPr/>
        </p:nvSpPr>
        <p:spPr>
          <a:xfrm>
            <a:off x="1051560" y="3124200"/>
            <a:ext cx="29964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was bij een kleine firma</a:t>
            </a:r>
            <a:endParaRPr lang="en-US" sz="2000" dirty="0"/>
          </a:p>
        </p:txBody>
      </p:sp>
      <p:sp>
        <p:nvSpPr>
          <p:cNvPr id="54" name="Shape 46"/>
          <p:cNvSpPr/>
          <p:nvPr/>
        </p:nvSpPr>
        <p:spPr>
          <a:xfrm>
            <a:off x="4013962" y="3136900"/>
            <a:ext cx="621792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4013962" y="3124200"/>
            <a:ext cx="6217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2000" dirty="0"/>
          </a:p>
        </p:txBody>
      </p:sp>
      <p:sp>
        <p:nvSpPr>
          <p:cNvPr id="56" name="Text 48"/>
          <p:cNvSpPr txBox="1"/>
          <p:nvPr/>
        </p:nvSpPr>
        <p:spPr>
          <a:xfrm>
            <a:off x="4738878" y="3124200"/>
            <a:ext cx="21463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heb geleerd.</a:t>
            </a:r>
            <a:endParaRPr lang="en-US" sz="2000" dirty="0"/>
          </a:p>
        </p:txBody>
      </p:sp>
      <p:sp>
        <p:nvSpPr>
          <p:cNvPr id="57" name="Shape 49"/>
          <p:cNvSpPr/>
          <p:nvPr/>
        </p:nvSpPr>
        <p:spPr>
          <a:xfrm>
            <a:off x="4324858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3991140" y="3492500"/>
            <a:ext cx="66743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3991140" y="3492500"/>
            <a:ext cx="6674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WAAR</a:t>
            </a:r>
            <a:endParaRPr lang="en-US" sz="1050" dirty="0"/>
          </a:p>
        </p:txBody>
      </p:sp>
      <p:sp>
        <p:nvSpPr>
          <p:cNvPr id="60" name="Shape 52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Text 54"/>
          <p:cNvSpPr txBox="1"/>
          <p:nvPr/>
        </p:nvSpPr>
        <p:spPr>
          <a:xfrm>
            <a:off x="1051560" y="3852672"/>
            <a:ext cx="27932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solliciteer bij uw bedrijf</a:t>
            </a:r>
            <a:endParaRPr lang="en-US" sz="2000" dirty="0"/>
          </a:p>
        </p:txBody>
      </p:sp>
      <p:sp>
        <p:nvSpPr>
          <p:cNvPr id="63" name="Shape 55"/>
          <p:cNvSpPr/>
          <p:nvPr/>
        </p:nvSpPr>
        <p:spPr>
          <a:xfrm>
            <a:off x="3810762" y="3865372"/>
            <a:ext cx="43459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3810762" y="3852672"/>
            <a:ext cx="4345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65" name="Text 57"/>
          <p:cNvSpPr txBox="1"/>
          <p:nvPr/>
        </p:nvSpPr>
        <p:spPr>
          <a:xfrm>
            <a:off x="4348480" y="3852672"/>
            <a:ext cx="21770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uitdagingen</a:t>
            </a:r>
            <a:endParaRPr lang="en-US" sz="2000" dirty="0"/>
          </a:p>
        </p:txBody>
      </p:sp>
      <p:sp>
        <p:nvSpPr>
          <p:cNvPr id="66" name="Shape 58"/>
          <p:cNvSpPr/>
          <p:nvPr/>
        </p:nvSpPr>
        <p:spPr>
          <a:xfrm>
            <a:off x="6491478" y="3865372"/>
            <a:ext cx="131724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6491478" y="3852672"/>
            <a:ext cx="131724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te gaan</a:t>
            </a:r>
            <a:endParaRPr lang="en-US" sz="2000" dirty="0"/>
          </a:p>
        </p:txBody>
      </p:sp>
      <p:sp>
        <p:nvSpPr>
          <p:cNvPr id="68" name="Text 60"/>
          <p:cNvSpPr txBox="1"/>
          <p:nvPr/>
        </p:nvSpPr>
        <p:spPr>
          <a:xfrm>
            <a:off x="7808722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9" name="Shape 61"/>
          <p:cNvSpPr/>
          <p:nvPr/>
        </p:nvSpPr>
        <p:spPr>
          <a:xfrm>
            <a:off x="4028059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0" name="Shape 62"/>
          <p:cNvSpPr/>
          <p:nvPr/>
        </p:nvSpPr>
        <p:spPr>
          <a:xfrm>
            <a:off x="3769751" y="4220972"/>
            <a:ext cx="51661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3769751" y="4220972"/>
            <a:ext cx="5166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OM</a:t>
            </a:r>
            <a:endParaRPr lang="en-US" sz="1050" dirty="0"/>
          </a:p>
        </p:txBody>
      </p:sp>
      <p:sp>
        <p:nvSpPr>
          <p:cNvPr id="72" name="Shape 64"/>
          <p:cNvSpPr/>
          <p:nvPr/>
        </p:nvSpPr>
        <p:spPr>
          <a:xfrm>
            <a:off x="7150100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5"/>
          <p:cNvSpPr/>
          <p:nvPr/>
        </p:nvSpPr>
        <p:spPr>
          <a:xfrm>
            <a:off x="6663763" y="4220972"/>
            <a:ext cx="97267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6663763" y="4220972"/>
            <a:ext cx="9726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 + infinitif</a:t>
            </a:r>
            <a:endParaRPr lang="en-US" sz="1050" dirty="0"/>
          </a:p>
        </p:txBody>
      </p:sp>
      <p:sp>
        <p:nvSpPr>
          <p:cNvPr id="75" name="Shape 67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8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7" name="Shape 69"/>
          <p:cNvSpPr/>
          <p:nvPr/>
        </p:nvSpPr>
        <p:spPr>
          <a:xfrm>
            <a:off x="1051560" y="4593844"/>
            <a:ext cx="89560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8" name="Text 70"/>
          <p:cNvSpPr txBox="1"/>
          <p:nvPr/>
        </p:nvSpPr>
        <p:spPr>
          <a:xfrm>
            <a:off x="1051560" y="4581144"/>
            <a:ext cx="89560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Hoewel</a:t>
            </a:r>
            <a:endParaRPr lang="en-US" sz="2000" dirty="0"/>
          </a:p>
        </p:txBody>
      </p:sp>
      <p:sp>
        <p:nvSpPr>
          <p:cNvPr id="79" name="Text 71"/>
          <p:cNvSpPr txBox="1"/>
          <p:nvPr/>
        </p:nvSpPr>
        <p:spPr>
          <a:xfrm>
            <a:off x="2050288" y="4581144"/>
            <a:ext cx="375005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nog geen ervaring als teamleider</a:t>
            </a:r>
            <a:endParaRPr lang="en-US" sz="2000" dirty="0"/>
          </a:p>
        </p:txBody>
      </p:sp>
      <p:sp>
        <p:nvSpPr>
          <p:cNvPr id="80" name="Shape 72"/>
          <p:cNvSpPr/>
          <p:nvPr/>
        </p:nvSpPr>
        <p:spPr>
          <a:xfrm>
            <a:off x="5766308" y="4593844"/>
            <a:ext cx="49199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5766308" y="4581144"/>
            <a:ext cx="4919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82" name="Text 74"/>
          <p:cNvSpPr txBox="1"/>
          <p:nvPr/>
        </p:nvSpPr>
        <p:spPr>
          <a:xfrm>
            <a:off x="6258306" y="4581144"/>
            <a:ext cx="193065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leer ik heel snel.</a:t>
            </a:r>
            <a:endParaRPr lang="en-US" sz="2000" dirty="0"/>
          </a:p>
        </p:txBody>
      </p:sp>
      <p:sp>
        <p:nvSpPr>
          <p:cNvPr id="83" name="Shape 75"/>
          <p:cNvSpPr/>
          <p:nvPr/>
        </p:nvSpPr>
        <p:spPr>
          <a:xfrm flipH="1">
            <a:off x="1499362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4" name="Shape 76"/>
          <p:cNvSpPr/>
          <p:nvPr/>
        </p:nvSpPr>
        <p:spPr>
          <a:xfrm>
            <a:off x="1103570" y="4949444"/>
            <a:ext cx="791585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7"/>
          <p:cNvSpPr txBox="1"/>
          <p:nvPr/>
        </p:nvSpPr>
        <p:spPr>
          <a:xfrm>
            <a:off x="1103570" y="4949444"/>
            <a:ext cx="79158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HOEWEL</a:t>
            </a:r>
            <a:endParaRPr lang="en-US" sz="1050" dirty="0"/>
          </a:p>
        </p:txBody>
      </p:sp>
      <p:sp>
        <p:nvSpPr>
          <p:cNvPr id="86" name="Shape 78"/>
          <p:cNvSpPr/>
          <p:nvPr/>
        </p:nvSpPr>
        <p:spPr>
          <a:xfrm>
            <a:off x="6012307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7" name="Shape 79"/>
          <p:cNvSpPr/>
          <p:nvPr/>
        </p:nvSpPr>
        <p:spPr>
          <a:xfrm>
            <a:off x="5498500" y="4949444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0"/>
          <p:cNvSpPr txBox="1"/>
          <p:nvPr/>
        </p:nvSpPr>
        <p:spPr>
          <a:xfrm>
            <a:off x="5498500" y="4949444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89" name="Shape 81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2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1" name="Shape 83"/>
          <p:cNvSpPr/>
          <p:nvPr/>
        </p:nvSpPr>
        <p:spPr>
          <a:xfrm>
            <a:off x="1051560" y="5322316"/>
            <a:ext cx="72771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1051560" y="5309616"/>
            <a:ext cx="7277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 ik</a:t>
            </a:r>
            <a:endParaRPr lang="en-US" sz="2000" dirty="0"/>
          </a:p>
        </p:txBody>
      </p:sp>
      <p:sp>
        <p:nvSpPr>
          <p:cNvPr id="93" name="Text 85"/>
          <p:cNvSpPr txBox="1"/>
          <p:nvPr/>
        </p:nvSpPr>
        <p:spPr>
          <a:xfrm>
            <a:off x="1882394" y="5309616"/>
            <a:ext cx="374802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ook vier dagen per week</a:t>
            </a:r>
            <a:endParaRPr lang="en-US" sz="2000" dirty="0"/>
          </a:p>
        </p:txBody>
      </p:sp>
      <p:sp>
        <p:nvSpPr>
          <p:cNvPr id="94" name="Shape 86"/>
          <p:cNvSpPr/>
          <p:nvPr/>
        </p:nvSpPr>
        <p:spPr>
          <a:xfrm>
            <a:off x="5596382" y="5322316"/>
            <a:ext cx="1669796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5596382" y="5309616"/>
            <a:ext cx="166979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mogen werken</a:t>
            </a:r>
            <a:endParaRPr lang="en-US" sz="2000" dirty="0"/>
          </a:p>
        </p:txBody>
      </p:sp>
      <p:sp>
        <p:nvSpPr>
          <p:cNvPr id="96" name="Text 88"/>
          <p:cNvSpPr txBox="1"/>
          <p:nvPr/>
        </p:nvSpPr>
        <p:spPr>
          <a:xfrm>
            <a:off x="7266178" y="5309616"/>
            <a:ext cx="2547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97" name="Shape 89"/>
          <p:cNvSpPr/>
          <p:nvPr/>
        </p:nvSpPr>
        <p:spPr>
          <a:xfrm>
            <a:off x="1415415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8" name="Shape 90"/>
          <p:cNvSpPr/>
          <p:nvPr/>
        </p:nvSpPr>
        <p:spPr>
          <a:xfrm>
            <a:off x="1070629" y="5677916"/>
            <a:ext cx="689572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91"/>
          <p:cNvSpPr txBox="1"/>
          <p:nvPr/>
        </p:nvSpPr>
        <p:spPr>
          <a:xfrm>
            <a:off x="1070629" y="5677916"/>
            <a:ext cx="6895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ZOU IK</a:t>
            </a:r>
            <a:endParaRPr lang="en-US" sz="1050" dirty="0"/>
          </a:p>
        </p:txBody>
      </p:sp>
      <p:sp>
        <p:nvSpPr>
          <p:cNvPr id="100" name="Shape 92"/>
          <p:cNvSpPr/>
          <p:nvPr/>
        </p:nvSpPr>
        <p:spPr>
          <a:xfrm>
            <a:off x="6431280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1" name="Shape 93"/>
          <p:cNvSpPr/>
          <p:nvPr/>
        </p:nvSpPr>
        <p:spPr>
          <a:xfrm>
            <a:off x="5998950" y="5677916"/>
            <a:ext cx="8646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Text 94"/>
          <p:cNvSpPr txBox="1"/>
          <p:nvPr/>
        </p:nvSpPr>
        <p:spPr>
          <a:xfrm>
            <a:off x="5998950" y="5677916"/>
            <a:ext cx="8646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Verhuisd!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99" y="1536192"/>
            <a:ext cx="809793" cy="809793"/>
          </a:xfrm>
          <a:prstGeom prst="rect">
            <a:avLst/>
          </a:prstGeom>
        </p:spPr>
      </p:pic>
      <p:pic>
        <p:nvPicPr>
          <p:cNvPr id="12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792" y="1941088"/>
            <a:ext cx="1687068" cy="1687068"/>
          </a:xfrm>
          <a:prstGeom prst="rect">
            <a:avLst/>
          </a:prstGeom>
        </p:spPr>
      </p:pic>
      <p:pic>
        <p:nvPicPr>
          <p:cNvPr id="13" name="Image 3" descr="delivery 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801" y="2750881"/>
            <a:ext cx="1349654" cy="1349654"/>
          </a:xfrm>
          <a:prstGeom prst="rect">
            <a:avLst/>
          </a:prstGeom>
        </p:spPr>
      </p:pic>
      <p:pic>
        <p:nvPicPr>
          <p:cNvPr id="14" name="Image 4" descr="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4798" y="3493191"/>
            <a:ext cx="539862" cy="539862"/>
          </a:xfrm>
          <a:prstGeom prst="rect">
            <a:avLst/>
          </a:prstGeom>
        </p:spPr>
      </p:pic>
      <p:pic>
        <p:nvPicPr>
          <p:cNvPr id="15" name="Image 5" descr="pack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3020812"/>
            <a:ext cx="506120" cy="506120"/>
          </a:xfrm>
          <a:prstGeom prst="rect">
            <a:avLst/>
          </a:prstGeom>
        </p:spPr>
      </p:pic>
      <p:pic>
        <p:nvPicPr>
          <p:cNvPr id="1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793" y="4100535"/>
            <a:ext cx="539862" cy="539862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8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On a déménagé !</a:t>
            </a:r>
            <a:endParaRPr lang="en-US" sz="1500" dirty="0"/>
          </a:p>
        </p:txBody>
      </p:sp>
      <p:sp>
        <p:nvSpPr>
          <p:cNvPr id="20" name="Text 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déménagé. Racontez la journée du déménagement à un·e ami·e par e-mail.</a:t>
            </a:r>
            <a:endParaRPr lang="en-US" sz="1300" dirty="0"/>
          </a:p>
        </p:txBody>
      </p:sp>
      <p:pic>
        <p:nvPicPr>
          <p:cNvPr id="21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Plantez le décor avec </a:t>
            </a:r>
            <a:r>
              <a:rPr lang="en-US" sz="1450" b="1" dirty="0">
                <a:solidFill>
                  <a:schemeClr val="tx1"/>
                </a:solidFill>
              </a:rPr>
              <a:t>TOEN</a:t>
            </a:r>
            <a:r>
              <a:rPr lang="en-US" sz="1450" dirty="0">
                <a:solidFill>
                  <a:schemeClr val="tx1"/>
                </a:solidFill>
              </a:rPr>
              <a:t> + imparfait (verbe à la fin).</a:t>
            </a:r>
            <a:endParaRPr lang="en-US" sz="1450" dirty="0"/>
          </a:p>
        </p:txBody>
      </p:sp>
      <p:sp>
        <p:nvSpPr>
          <p:cNvPr id="27" name="Shape 1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deux actions simultanées avec </a:t>
            </a:r>
            <a:r>
              <a:rPr lang="en-US" sz="1450" b="1" dirty="0">
                <a:solidFill>
                  <a:schemeClr val="tx1"/>
                </a:solidFill>
              </a:rPr>
              <a:t>TERWIJL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1" name="Shape 1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plus-que-parfait</a:t>
            </a:r>
            <a:r>
              <a:rPr lang="en-US" sz="1450" dirty="0">
                <a:solidFill>
                  <a:schemeClr val="tx1"/>
                </a:solidFill>
              </a:rPr>
              <a:t> (HAD / WAS + participe).</a:t>
            </a:r>
            <a:endParaRPr lang="en-US" sz="1450" dirty="0"/>
          </a:p>
        </p:txBody>
      </p:sp>
      <p:sp>
        <p:nvSpPr>
          <p:cNvPr id="35" name="Shape 2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ER</a:t>
            </a:r>
            <a:r>
              <a:rPr lang="en-US" sz="1450" dirty="0">
                <a:solidFill>
                  <a:schemeClr val="tx1"/>
                </a:solidFill>
              </a:rPr>
              <a:t> + préposition (ERIN, EROP, ERMEE…).</a:t>
            </a:r>
            <a:endParaRPr lang="en-US" sz="1450" dirty="0"/>
          </a:p>
        </p:txBody>
      </p:sp>
      <p:sp>
        <p:nvSpPr>
          <p:cNvPr id="39" name="Shape 2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GELUKKIG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Verhuisd!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2" y="1408176"/>
            <a:ext cx="179954" cy="179954"/>
          </a:xfrm>
          <a:prstGeom prst="rect">
            <a:avLst/>
          </a:prstGeom>
        </p:spPr>
      </p:pic>
      <p:pic>
        <p:nvPicPr>
          <p:cNvPr id="12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1498153"/>
            <a:ext cx="374904" cy="374904"/>
          </a:xfrm>
          <a:prstGeom prst="rect">
            <a:avLst/>
          </a:prstGeom>
        </p:spPr>
      </p:pic>
      <p:pic>
        <p:nvPicPr>
          <p:cNvPr id="13" name="Image 3" descr="delivery 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210" y="1678107"/>
            <a:ext cx="299923" cy="299923"/>
          </a:xfrm>
          <a:prstGeom prst="rect">
            <a:avLst/>
          </a:prstGeom>
        </p:spPr>
      </p:pic>
      <p:pic>
        <p:nvPicPr>
          <p:cNvPr id="14" name="Image 4" descr="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891" y="1843065"/>
            <a:ext cx="119969" cy="119969"/>
          </a:xfrm>
          <a:prstGeom prst="rect">
            <a:avLst/>
          </a:prstGeom>
        </p:spPr>
      </p:pic>
      <p:pic>
        <p:nvPicPr>
          <p:cNvPr id="15" name="Image 5" descr="pack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738092"/>
            <a:ext cx="112471" cy="112471"/>
          </a:xfrm>
          <a:prstGeom prst="rect">
            <a:avLst/>
          </a:prstGeom>
        </p:spPr>
      </p:pic>
      <p:pic>
        <p:nvPicPr>
          <p:cNvPr id="1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44" y="1978030"/>
            <a:ext cx="119969" cy="119969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TOEN + OVT</a:t>
            </a:r>
            <a:endParaRPr lang="en-US" sz="1300" dirty="0"/>
          </a:p>
        </p:txBody>
      </p:sp>
      <p:sp>
        <p:nvSpPr>
          <p:cNvPr id="21" name="Shape 1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TERWIJL</a:t>
            </a:r>
            <a:endParaRPr lang="en-US" sz="1300" dirty="0"/>
          </a:p>
        </p:txBody>
      </p:sp>
      <p:sp>
        <p:nvSpPr>
          <p:cNvPr id="25" name="Shape 1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1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PLUS-QUE-PARFAIT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ER + prép.</a:t>
            </a:r>
            <a:endParaRPr lang="en-US" sz="1300" dirty="0"/>
          </a:p>
        </p:txBody>
      </p:sp>
      <p:sp>
        <p:nvSpPr>
          <p:cNvPr id="33" name="Shape 2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GELUKKIG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1051560" y="2408428"/>
            <a:ext cx="61798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051560" y="2395728"/>
            <a:ext cx="6179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Toen</a:t>
            </a:r>
            <a:endParaRPr lang="en-US" sz="2000" dirty="0"/>
          </a:p>
        </p:txBody>
      </p:sp>
      <p:sp>
        <p:nvSpPr>
          <p:cNvPr id="41" name="Text 31"/>
          <p:cNvSpPr txBox="1"/>
          <p:nvPr/>
        </p:nvSpPr>
        <p:spPr>
          <a:xfrm>
            <a:off x="1772666" y="2395728"/>
            <a:ext cx="320344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verhuiswagen om acht uur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4942078" y="2408428"/>
            <a:ext cx="112191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942078" y="2395728"/>
            <a:ext cx="11219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aankwam</a:t>
            </a:r>
            <a:endParaRPr lang="en-US" sz="2000" dirty="0"/>
          </a:p>
        </p:txBody>
      </p:sp>
      <p:sp>
        <p:nvSpPr>
          <p:cNvPr id="44" name="Text 34"/>
          <p:cNvSpPr txBox="1"/>
          <p:nvPr/>
        </p:nvSpPr>
        <p:spPr>
          <a:xfrm>
            <a:off x="6063996" y="2395728"/>
            <a:ext cx="29110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regende het pijpenstelen.</a:t>
            </a:r>
            <a:endParaRPr lang="en-US" sz="2000" dirty="0"/>
          </a:p>
        </p:txBody>
      </p:sp>
      <p:sp>
        <p:nvSpPr>
          <p:cNvPr id="45" name="Shape 35"/>
          <p:cNvSpPr/>
          <p:nvPr/>
        </p:nvSpPr>
        <p:spPr>
          <a:xfrm>
            <a:off x="1360551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1051036" y="2764028"/>
            <a:ext cx="619030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1051036" y="2764028"/>
            <a:ext cx="61903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TOEN</a:t>
            </a:r>
            <a:endParaRPr 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550303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4839478" y="2764028"/>
            <a:ext cx="132711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839478" y="2764028"/>
            <a:ext cx="13271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OVT, verbe à la fin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Shape 43"/>
          <p:cNvSpPr/>
          <p:nvPr/>
        </p:nvSpPr>
        <p:spPr>
          <a:xfrm>
            <a:off x="1051560" y="3136900"/>
            <a:ext cx="81407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1051560" y="3124200"/>
            <a:ext cx="8140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Terwijl</a:t>
            </a:r>
            <a:endParaRPr lang="en-US" sz="2000" dirty="0"/>
          </a:p>
        </p:txBody>
      </p:sp>
      <p:sp>
        <p:nvSpPr>
          <p:cNvPr id="55" name="Text 45"/>
          <p:cNvSpPr txBox="1"/>
          <p:nvPr/>
        </p:nvSpPr>
        <p:spPr>
          <a:xfrm>
            <a:off x="1968754" y="3124200"/>
            <a:ext cx="22771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 de kasten</a:t>
            </a:r>
            <a:endParaRPr lang="en-US" sz="2000" dirty="0"/>
          </a:p>
        </p:txBody>
      </p:sp>
      <p:sp>
        <p:nvSpPr>
          <p:cNvPr id="56" name="Shape 46"/>
          <p:cNvSpPr/>
          <p:nvPr/>
        </p:nvSpPr>
        <p:spPr>
          <a:xfrm>
            <a:off x="4211828" y="3136900"/>
            <a:ext cx="70281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4211828" y="3124200"/>
            <a:ext cx="7028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droeg</a:t>
            </a:r>
            <a:endParaRPr lang="en-US" sz="2000" dirty="0"/>
          </a:p>
        </p:txBody>
      </p:sp>
      <p:sp>
        <p:nvSpPr>
          <p:cNvPr id="58" name="Text 48"/>
          <p:cNvSpPr txBox="1"/>
          <p:nvPr/>
        </p:nvSpPr>
        <p:spPr>
          <a:xfrm>
            <a:off x="4914646" y="3124200"/>
            <a:ext cx="34792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maakte ik koffie voor iedereen.</a:t>
            </a:r>
            <a:endParaRPr lang="en-US" sz="2000" dirty="0"/>
          </a:p>
        </p:txBody>
      </p:sp>
      <p:sp>
        <p:nvSpPr>
          <p:cNvPr id="59" name="Shape 49"/>
          <p:cNvSpPr/>
          <p:nvPr/>
        </p:nvSpPr>
        <p:spPr>
          <a:xfrm>
            <a:off x="1458595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1072070" y="3492500"/>
            <a:ext cx="7730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1072070" y="3492500"/>
            <a:ext cx="7730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TERWIJL</a:t>
            </a:r>
            <a:endParaRPr lang="en-US" sz="1050" dirty="0"/>
          </a:p>
        </p:txBody>
      </p:sp>
      <p:sp>
        <p:nvSpPr>
          <p:cNvPr id="62" name="Shape 52"/>
          <p:cNvSpPr/>
          <p:nvPr/>
        </p:nvSpPr>
        <p:spPr>
          <a:xfrm>
            <a:off x="4563237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4049430" y="3492500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4049430" y="3492500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verbe à la fin</a:t>
            </a:r>
            <a:endParaRPr lang="en-US" sz="1050" dirty="0"/>
          </a:p>
        </p:txBody>
      </p:sp>
      <p:sp>
        <p:nvSpPr>
          <p:cNvPr id="65" name="Shape 55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7"/>
          <p:cNvSpPr txBox="1"/>
          <p:nvPr/>
        </p:nvSpPr>
        <p:spPr>
          <a:xfrm>
            <a:off x="1051560" y="3852672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68" name="Shape 58"/>
          <p:cNvSpPr/>
          <p:nvPr/>
        </p:nvSpPr>
        <p:spPr>
          <a:xfrm>
            <a:off x="1334262" y="3865372"/>
            <a:ext cx="48971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1334262" y="3852672"/>
            <a:ext cx="4897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endParaRPr lang="en-US" sz="2000" dirty="0"/>
          </a:p>
        </p:txBody>
      </p:sp>
      <p:sp>
        <p:nvSpPr>
          <p:cNvPr id="70" name="Text 60"/>
          <p:cNvSpPr txBox="1"/>
          <p:nvPr/>
        </p:nvSpPr>
        <p:spPr>
          <a:xfrm>
            <a:off x="1927098" y="3852672"/>
            <a:ext cx="11722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goed</a:t>
            </a:r>
            <a:endParaRPr lang="en-US" sz="2000" dirty="0"/>
          </a:p>
        </p:txBody>
      </p:sp>
      <p:sp>
        <p:nvSpPr>
          <p:cNvPr id="71" name="Shape 61"/>
          <p:cNvSpPr/>
          <p:nvPr/>
        </p:nvSpPr>
        <p:spPr>
          <a:xfrm>
            <a:off x="3065272" y="3865372"/>
            <a:ext cx="101041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2"/>
          <p:cNvSpPr txBox="1"/>
          <p:nvPr/>
        </p:nvSpPr>
        <p:spPr>
          <a:xfrm>
            <a:off x="3065272" y="3852672"/>
            <a:ext cx="10104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ingepakt</a:t>
            </a:r>
            <a:endParaRPr lang="en-US" sz="2000" dirty="0"/>
          </a:p>
        </p:txBody>
      </p:sp>
      <p:sp>
        <p:nvSpPr>
          <p:cNvPr id="73" name="Text 63"/>
          <p:cNvSpPr txBox="1"/>
          <p:nvPr/>
        </p:nvSpPr>
        <p:spPr>
          <a:xfrm>
            <a:off x="4075684" y="3852672"/>
            <a:ext cx="35046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maar één doos viel van de trap.</a:t>
            </a:r>
            <a:endParaRPr lang="en-US" sz="2000" dirty="0"/>
          </a:p>
        </p:txBody>
      </p:sp>
      <p:sp>
        <p:nvSpPr>
          <p:cNvPr id="74" name="Shape 64"/>
          <p:cNvSpPr/>
          <p:nvPr/>
        </p:nvSpPr>
        <p:spPr>
          <a:xfrm>
            <a:off x="157911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1299674" y="4220972"/>
            <a:ext cx="55888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1299674" y="4220972"/>
            <a:ext cx="55888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HAD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357047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3121679" y="4220972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3121679" y="4220972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participe</a:t>
            </a:r>
            <a:endParaRPr lang="en-US" sz="1050" dirty="0"/>
          </a:p>
        </p:txBody>
      </p:sp>
      <p:sp>
        <p:nvSpPr>
          <p:cNvPr id="80" name="Shape 70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Text 72"/>
          <p:cNvSpPr txBox="1"/>
          <p:nvPr/>
        </p:nvSpPr>
        <p:spPr>
          <a:xfrm>
            <a:off x="1051560" y="4581144"/>
            <a:ext cx="29349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mooiste borden zaten</a:t>
            </a:r>
            <a:endParaRPr lang="en-US" sz="2000" dirty="0"/>
          </a:p>
        </p:txBody>
      </p:sp>
      <p:sp>
        <p:nvSpPr>
          <p:cNvPr id="83" name="Shape 73"/>
          <p:cNvSpPr/>
          <p:nvPr/>
        </p:nvSpPr>
        <p:spPr>
          <a:xfrm>
            <a:off x="3952494" y="4593844"/>
            <a:ext cx="50825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3952494" y="4581144"/>
            <a:ext cx="50825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</a:t>
            </a:r>
            <a:endParaRPr lang="en-US" sz="2000" dirty="0"/>
          </a:p>
        </p:txBody>
      </p:sp>
      <p:sp>
        <p:nvSpPr>
          <p:cNvPr id="85" name="Text 75"/>
          <p:cNvSpPr txBox="1"/>
          <p:nvPr/>
        </p:nvSpPr>
        <p:spPr>
          <a:xfrm>
            <a:off x="4460748" y="4581144"/>
            <a:ext cx="3124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2000" dirty="0"/>
          </a:p>
        </p:txBody>
      </p:sp>
      <p:sp>
        <p:nvSpPr>
          <p:cNvPr id="86" name="Shape 76"/>
          <p:cNvSpPr/>
          <p:nvPr/>
        </p:nvSpPr>
        <p:spPr>
          <a:xfrm>
            <a:off x="4206621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7" name="Shape 77"/>
          <p:cNvSpPr/>
          <p:nvPr/>
        </p:nvSpPr>
        <p:spPr>
          <a:xfrm>
            <a:off x="3771624" y="4949444"/>
            <a:ext cx="86999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3771624" y="4949444"/>
            <a:ext cx="86999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ER + prép.</a:t>
            </a:r>
            <a:endParaRPr lang="en-US" sz="1050" dirty="0"/>
          </a:p>
        </p:txBody>
      </p:sp>
      <p:sp>
        <p:nvSpPr>
          <p:cNvPr id="89" name="Shape 79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1" name="Shape 81"/>
          <p:cNvSpPr/>
          <p:nvPr/>
        </p:nvSpPr>
        <p:spPr>
          <a:xfrm>
            <a:off x="1051560" y="5322316"/>
            <a:ext cx="1006602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1051560" y="5309616"/>
            <a:ext cx="10066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Gelukkig</a:t>
            </a:r>
            <a:endParaRPr lang="en-US" sz="2000" dirty="0"/>
          </a:p>
        </p:txBody>
      </p:sp>
      <p:sp>
        <p:nvSpPr>
          <p:cNvPr id="93" name="Text 83"/>
          <p:cNvSpPr txBox="1"/>
          <p:nvPr/>
        </p:nvSpPr>
        <p:spPr>
          <a:xfrm>
            <a:off x="2161286" y="5309616"/>
            <a:ext cx="52715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 koffiemachine nog heel: het belangrijkste!</a:t>
            </a:r>
            <a:endParaRPr lang="en-US" sz="2000" dirty="0"/>
          </a:p>
        </p:txBody>
      </p:sp>
      <p:sp>
        <p:nvSpPr>
          <p:cNvPr id="94" name="Shape 84"/>
          <p:cNvSpPr/>
          <p:nvPr/>
        </p:nvSpPr>
        <p:spPr>
          <a:xfrm>
            <a:off x="155486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5" name="Shape 85"/>
          <p:cNvSpPr/>
          <p:nvPr/>
        </p:nvSpPr>
        <p:spPr>
          <a:xfrm>
            <a:off x="1119930" y="5677916"/>
            <a:ext cx="86986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6"/>
          <p:cNvSpPr txBox="1"/>
          <p:nvPr/>
        </p:nvSpPr>
        <p:spPr>
          <a:xfrm>
            <a:off x="1119930" y="5677916"/>
            <a:ext cx="86986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GELUKKIG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fietsongeluk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159447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695639"/>
            <a:ext cx="4700016" cy="1214689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9793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031797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53801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5805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63806" y="1738640"/>
            <a:ext cx="517002" cy="337414"/>
          </a:xfrm>
          <a:prstGeom prst="roundRect">
            <a:avLst>
              <a:gd name="adj" fmla="val 2168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63806" y="1738640"/>
            <a:ext cx="517002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BUS</a:t>
            </a:r>
            <a:endParaRPr lang="en-US" sz="1382" dirty="0"/>
          </a:p>
        </p:txBody>
      </p:sp>
      <p:pic>
        <p:nvPicPr>
          <p:cNvPr id="1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806" y="2143536"/>
            <a:ext cx="1012241" cy="1012241"/>
          </a:xfrm>
          <a:prstGeom prst="rect">
            <a:avLst/>
          </a:prstGeom>
        </p:spPr>
      </p:pic>
      <p:pic>
        <p:nvPicPr>
          <p:cNvPr id="18" name="Image 2" descr="woman bi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3" y="2683398"/>
            <a:ext cx="1214689" cy="1214689"/>
          </a:xfrm>
          <a:prstGeom prst="rect">
            <a:avLst/>
          </a:prstGeom>
        </p:spPr>
      </p:pic>
      <p:pic>
        <p:nvPicPr>
          <p:cNvPr id="19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798" y="2750881"/>
            <a:ext cx="674827" cy="674827"/>
          </a:xfrm>
          <a:prstGeom prst="rect">
            <a:avLst/>
          </a:prstGeom>
        </p:spPr>
      </p:pic>
      <p:pic>
        <p:nvPicPr>
          <p:cNvPr id="20" name="Image 4" descr="delivery 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2615916"/>
            <a:ext cx="1282172" cy="1282172"/>
          </a:xfrm>
          <a:prstGeom prst="rect">
            <a:avLst/>
          </a:prstGeom>
        </p:spPr>
      </p:pic>
      <p:pic>
        <p:nvPicPr>
          <p:cNvPr id="21" name="Image 5" descr="ambu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793" y="4033053"/>
            <a:ext cx="742310" cy="742310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3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 accident à vélo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vu un accident. Deux semaines plus tard, vous témoignez au commissariat.</a:t>
            </a:r>
            <a:endParaRPr lang="en-US" sz="1300" dirty="0"/>
          </a:p>
        </p:txBody>
      </p:sp>
      <p:pic>
        <p:nvPicPr>
          <p:cNvPr id="26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7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Plantez le décor à l’imparfait (</a:t>
            </a:r>
            <a:r>
              <a:rPr lang="en-US" sz="1450" b="1" dirty="0">
                <a:solidFill>
                  <a:schemeClr val="tx1"/>
                </a:solidFill>
              </a:rPr>
              <a:t>OVT</a:t>
            </a:r>
            <a:r>
              <a:rPr lang="en-US" sz="1450" dirty="0">
                <a:solidFill>
                  <a:schemeClr val="tx1"/>
                </a:solidFill>
              </a:rPr>
              <a:t>) : STOND, FIETSTE…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l’événement avec </a:t>
            </a:r>
            <a:r>
              <a:rPr lang="en-US" sz="1450" b="1" dirty="0">
                <a:solidFill>
                  <a:schemeClr val="tx1"/>
                </a:solidFill>
              </a:rPr>
              <a:t>PLOTSELING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passif</a:t>
            </a:r>
            <a:r>
              <a:rPr lang="en-US" sz="1450" dirty="0">
                <a:solidFill>
                  <a:schemeClr val="tx1"/>
                </a:solidFill>
              </a:rPr>
              <a:t> au passé : </a:t>
            </a:r>
            <a:r>
              <a:rPr lang="en-US" sz="1450" b="1" dirty="0">
                <a:solidFill>
                  <a:schemeClr val="tx1"/>
                </a:solidFill>
              </a:rPr>
              <a:t>WERD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Rapportez des paroles au discours indirect : </a:t>
            </a:r>
            <a:r>
              <a:rPr lang="en-US" sz="1450" b="1" dirty="0">
                <a:solidFill>
                  <a:schemeClr val="tx1"/>
                </a:solidFill>
              </a:rPr>
              <a:t>ZEI DAT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44" name="Shape 33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TOCH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fietsongeluk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79877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888053"/>
            <a:ext cx="1060704" cy="269931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644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03427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9210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454993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97421" y="1453164"/>
            <a:ext cx="116677" cy="74981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97421" y="1453164"/>
            <a:ext cx="116677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BUS</a:t>
            </a:r>
            <a:endParaRPr lang="en-US" sz="550" dirty="0"/>
          </a:p>
        </p:txBody>
      </p:sp>
      <p:pic>
        <p:nvPicPr>
          <p:cNvPr id="1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814" y="1543141"/>
            <a:ext cx="224942" cy="224942"/>
          </a:xfrm>
          <a:prstGeom prst="rect">
            <a:avLst/>
          </a:prstGeom>
        </p:spPr>
      </p:pic>
      <p:pic>
        <p:nvPicPr>
          <p:cNvPr id="18" name="Image 2" descr="woman bi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" y="1663111"/>
            <a:ext cx="269931" cy="269931"/>
          </a:xfrm>
          <a:prstGeom prst="rect">
            <a:avLst/>
          </a:prstGeom>
        </p:spPr>
      </p:pic>
      <p:pic>
        <p:nvPicPr>
          <p:cNvPr id="19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84" y="1678107"/>
            <a:ext cx="149962" cy="149962"/>
          </a:xfrm>
          <a:prstGeom prst="rect">
            <a:avLst/>
          </a:prstGeom>
        </p:spPr>
      </p:pic>
      <p:pic>
        <p:nvPicPr>
          <p:cNvPr id="20" name="Image 4" descr="delivery 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1648115"/>
            <a:ext cx="284927" cy="284927"/>
          </a:xfrm>
          <a:prstGeom prst="rect">
            <a:avLst/>
          </a:prstGeom>
        </p:spPr>
      </p:pic>
      <p:pic>
        <p:nvPicPr>
          <p:cNvPr id="21" name="Image 5" descr="ambu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858" y="1963034"/>
            <a:ext cx="164958" cy="16495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OVT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PLOTSELING + inversion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WERD + participe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ZEI DAT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TOCH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1051560" y="2395728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45" name="Shape 36"/>
          <p:cNvSpPr/>
          <p:nvPr/>
        </p:nvSpPr>
        <p:spPr>
          <a:xfrm>
            <a:off x="1334262" y="2408428"/>
            <a:ext cx="69037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1334262" y="2395728"/>
            <a:ext cx="6903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stond</a:t>
            </a:r>
            <a:endParaRPr lang="en-US" sz="2000" dirty="0"/>
          </a:p>
        </p:txBody>
      </p:sp>
      <p:sp>
        <p:nvSpPr>
          <p:cNvPr id="47" name="Text 38"/>
          <p:cNvSpPr txBox="1"/>
          <p:nvPr/>
        </p:nvSpPr>
        <p:spPr>
          <a:xfrm>
            <a:off x="2127758" y="2395728"/>
            <a:ext cx="38816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de bushalte en een jonge vrouw</a:t>
            </a:r>
            <a:endParaRPr lang="en-US" sz="2000" dirty="0"/>
          </a:p>
        </p:txBody>
      </p:sp>
      <p:sp>
        <p:nvSpPr>
          <p:cNvPr id="48" name="Shape 39"/>
          <p:cNvSpPr/>
          <p:nvPr/>
        </p:nvSpPr>
        <p:spPr>
          <a:xfrm>
            <a:off x="5975350" y="2408428"/>
            <a:ext cx="76733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5975350" y="2395728"/>
            <a:ext cx="7673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fietste</a:t>
            </a:r>
            <a:endParaRPr lang="en-US" sz="2000" dirty="0"/>
          </a:p>
        </p:txBody>
      </p:sp>
      <p:sp>
        <p:nvSpPr>
          <p:cNvPr id="50" name="Text 41"/>
          <p:cNvSpPr txBox="1"/>
          <p:nvPr/>
        </p:nvSpPr>
        <p:spPr>
          <a:xfrm>
            <a:off x="6845808" y="2395728"/>
            <a:ext cx="17632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fietspad.</a:t>
            </a:r>
            <a:endParaRPr lang="en-US" sz="2000" dirty="0"/>
          </a:p>
        </p:txBody>
      </p:sp>
      <p:sp>
        <p:nvSpPr>
          <p:cNvPr id="51" name="Shape 42"/>
          <p:cNvSpPr/>
          <p:nvPr/>
        </p:nvSpPr>
        <p:spPr>
          <a:xfrm>
            <a:off x="1679448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1407004" y="2764028"/>
            <a:ext cx="5448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1407004" y="2764028"/>
            <a:ext cx="5448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</a:t>
            </a:r>
            <a:endParaRPr lang="en-US" sz="1050" dirty="0"/>
          </a:p>
        </p:txBody>
      </p:sp>
      <p:sp>
        <p:nvSpPr>
          <p:cNvPr id="54" name="Shape 45"/>
          <p:cNvSpPr/>
          <p:nvPr/>
        </p:nvSpPr>
        <p:spPr>
          <a:xfrm>
            <a:off x="635901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6086573" y="2764028"/>
            <a:ext cx="5448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6086573" y="2764028"/>
            <a:ext cx="5448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</a:t>
            </a:r>
            <a:endParaRPr lang="en-US" sz="1050" dirty="0"/>
          </a:p>
        </p:txBody>
      </p:sp>
      <p:sp>
        <p:nvSpPr>
          <p:cNvPr id="57" name="Shape 48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9" name="Shape 50"/>
          <p:cNvSpPr/>
          <p:nvPr/>
        </p:nvSpPr>
        <p:spPr>
          <a:xfrm>
            <a:off x="1051560" y="3136900"/>
            <a:ext cx="166420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1051560" y="3124200"/>
            <a:ext cx="16642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Plotseling reed</a:t>
            </a:r>
            <a:endParaRPr lang="en-US" sz="2000" dirty="0"/>
          </a:p>
        </p:txBody>
      </p:sp>
      <p:sp>
        <p:nvSpPr>
          <p:cNvPr id="61" name="Text 52"/>
          <p:cNvSpPr txBox="1"/>
          <p:nvPr/>
        </p:nvSpPr>
        <p:spPr>
          <a:xfrm>
            <a:off x="2818892" y="3124200"/>
            <a:ext cx="496747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bestelwagen zonder te kijken de straat op.</a:t>
            </a:r>
            <a:endParaRPr lang="en-US" sz="2000" dirty="0"/>
          </a:p>
        </p:txBody>
      </p:sp>
      <p:sp>
        <p:nvSpPr>
          <p:cNvPr id="62" name="Shape 53"/>
          <p:cNvSpPr/>
          <p:nvPr/>
        </p:nvSpPr>
        <p:spPr>
          <a:xfrm>
            <a:off x="1883664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4"/>
          <p:cNvSpPr/>
          <p:nvPr/>
        </p:nvSpPr>
        <p:spPr>
          <a:xfrm>
            <a:off x="1071486" y="3492500"/>
            <a:ext cx="162435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1071486" y="3492500"/>
            <a:ext cx="162435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PLOTSELING + inversion</a:t>
            </a:r>
            <a:endParaRPr lang="en-US" sz="1050" dirty="0"/>
          </a:p>
        </p:txBody>
      </p:sp>
      <p:sp>
        <p:nvSpPr>
          <p:cNvPr id="65" name="Shape 56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8"/>
          <p:cNvSpPr txBox="1"/>
          <p:nvPr/>
        </p:nvSpPr>
        <p:spPr>
          <a:xfrm>
            <a:off x="1051560" y="3852672"/>
            <a:ext cx="1862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vrouw viel en</a:t>
            </a:r>
            <a:endParaRPr lang="en-US" sz="2000" dirty="0"/>
          </a:p>
        </p:txBody>
      </p:sp>
      <p:sp>
        <p:nvSpPr>
          <p:cNvPr id="68" name="Shape 59"/>
          <p:cNvSpPr/>
          <p:nvPr/>
        </p:nvSpPr>
        <p:spPr>
          <a:xfrm>
            <a:off x="2879852" y="3865372"/>
            <a:ext cx="635000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2879852" y="3852672"/>
            <a:ext cx="6350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2000" dirty="0"/>
          </a:p>
        </p:txBody>
      </p:sp>
      <p:sp>
        <p:nvSpPr>
          <p:cNvPr id="70" name="Text 61"/>
          <p:cNvSpPr txBox="1"/>
          <p:nvPr/>
        </p:nvSpPr>
        <p:spPr>
          <a:xfrm>
            <a:off x="3617976" y="3852672"/>
            <a:ext cx="413258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ambulance naar het ziekenhuis</a:t>
            </a:r>
            <a:endParaRPr lang="en-US" sz="2000" dirty="0"/>
          </a:p>
        </p:txBody>
      </p:sp>
      <p:sp>
        <p:nvSpPr>
          <p:cNvPr id="71" name="Shape 62"/>
          <p:cNvSpPr/>
          <p:nvPr/>
        </p:nvSpPr>
        <p:spPr>
          <a:xfrm>
            <a:off x="7716520" y="3865372"/>
            <a:ext cx="1022350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7716520" y="3852672"/>
            <a:ext cx="102235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gebracht</a:t>
            </a:r>
            <a:endParaRPr lang="en-US" sz="2000" dirty="0"/>
          </a:p>
        </p:txBody>
      </p:sp>
      <p:sp>
        <p:nvSpPr>
          <p:cNvPr id="73" name="Text 64"/>
          <p:cNvSpPr txBox="1"/>
          <p:nvPr/>
        </p:nvSpPr>
        <p:spPr>
          <a:xfrm>
            <a:off x="8738870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74" name="Shape 65"/>
          <p:cNvSpPr/>
          <p:nvPr/>
        </p:nvSpPr>
        <p:spPr>
          <a:xfrm>
            <a:off x="3197352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6"/>
          <p:cNvSpPr/>
          <p:nvPr/>
        </p:nvSpPr>
        <p:spPr>
          <a:xfrm>
            <a:off x="2869902" y="4220972"/>
            <a:ext cx="65490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2869902" y="4220972"/>
            <a:ext cx="65490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WERD</a:t>
            </a:r>
            <a:endParaRPr lang="en-US" sz="1050" dirty="0"/>
          </a:p>
        </p:txBody>
      </p:sp>
      <p:sp>
        <p:nvSpPr>
          <p:cNvPr id="77" name="Shape 68"/>
          <p:cNvSpPr/>
          <p:nvPr/>
        </p:nvSpPr>
        <p:spPr>
          <a:xfrm>
            <a:off x="8227695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9"/>
          <p:cNvSpPr/>
          <p:nvPr/>
        </p:nvSpPr>
        <p:spPr>
          <a:xfrm>
            <a:off x="7778896" y="4220972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7778896" y="4220972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participe</a:t>
            </a:r>
            <a:endParaRPr lang="en-US" sz="1050" dirty="0"/>
          </a:p>
        </p:txBody>
      </p:sp>
      <p:sp>
        <p:nvSpPr>
          <p:cNvPr id="80" name="Shape 71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2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Text 73"/>
          <p:cNvSpPr txBox="1"/>
          <p:nvPr/>
        </p:nvSpPr>
        <p:spPr>
          <a:xfrm>
            <a:off x="1051560" y="4581144"/>
            <a:ext cx="14765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chauffeur</a:t>
            </a:r>
            <a:endParaRPr lang="en-US" sz="2000" dirty="0"/>
          </a:p>
        </p:txBody>
      </p:sp>
      <p:sp>
        <p:nvSpPr>
          <p:cNvPr id="83" name="Shape 74"/>
          <p:cNvSpPr/>
          <p:nvPr/>
        </p:nvSpPr>
        <p:spPr>
          <a:xfrm>
            <a:off x="2494026" y="4593844"/>
            <a:ext cx="789940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4" name="Text 75"/>
          <p:cNvSpPr txBox="1"/>
          <p:nvPr/>
        </p:nvSpPr>
        <p:spPr>
          <a:xfrm>
            <a:off x="2494026" y="4581144"/>
            <a:ext cx="78994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 dat</a:t>
            </a:r>
            <a:endParaRPr lang="en-US" sz="2000" dirty="0"/>
          </a:p>
        </p:txBody>
      </p:sp>
      <p:sp>
        <p:nvSpPr>
          <p:cNvPr id="85" name="Text 76"/>
          <p:cNvSpPr txBox="1"/>
          <p:nvPr/>
        </p:nvSpPr>
        <p:spPr>
          <a:xfrm>
            <a:off x="3387090" y="4581144"/>
            <a:ext cx="137312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 haar niet</a:t>
            </a:r>
            <a:endParaRPr lang="en-US" sz="2000" dirty="0"/>
          </a:p>
        </p:txBody>
      </p:sp>
      <p:sp>
        <p:nvSpPr>
          <p:cNvPr id="86" name="Shape 77"/>
          <p:cNvSpPr/>
          <p:nvPr/>
        </p:nvSpPr>
        <p:spPr>
          <a:xfrm>
            <a:off x="4726178" y="4593844"/>
            <a:ext cx="1222756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7" name="Text 78"/>
          <p:cNvSpPr txBox="1"/>
          <p:nvPr/>
        </p:nvSpPr>
        <p:spPr>
          <a:xfrm>
            <a:off x="4726178" y="4581144"/>
            <a:ext cx="122275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gezien</a:t>
            </a:r>
            <a:endParaRPr lang="en-US" sz="2000" dirty="0"/>
          </a:p>
        </p:txBody>
      </p:sp>
      <p:sp>
        <p:nvSpPr>
          <p:cNvPr id="88" name="Text 79"/>
          <p:cNvSpPr txBox="1"/>
          <p:nvPr/>
        </p:nvSpPr>
        <p:spPr>
          <a:xfrm>
            <a:off x="5948934" y="4581144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89" name="Shape 80"/>
          <p:cNvSpPr/>
          <p:nvPr/>
        </p:nvSpPr>
        <p:spPr>
          <a:xfrm>
            <a:off x="288899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0" name="Shape 81"/>
          <p:cNvSpPr/>
          <p:nvPr/>
        </p:nvSpPr>
        <p:spPr>
          <a:xfrm>
            <a:off x="2521341" y="4949444"/>
            <a:ext cx="73531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Text 82"/>
          <p:cNvSpPr txBox="1"/>
          <p:nvPr/>
        </p:nvSpPr>
        <p:spPr>
          <a:xfrm>
            <a:off x="2521341" y="4949444"/>
            <a:ext cx="73531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ZEI DAT</a:t>
            </a:r>
            <a:endParaRPr lang="en-US" sz="1050" dirty="0"/>
          </a:p>
        </p:txBody>
      </p:sp>
      <p:sp>
        <p:nvSpPr>
          <p:cNvPr id="92" name="Shape 83"/>
          <p:cNvSpPr/>
          <p:nvPr/>
        </p:nvSpPr>
        <p:spPr>
          <a:xfrm>
            <a:off x="533755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3" name="Shape 84"/>
          <p:cNvSpPr/>
          <p:nvPr/>
        </p:nvSpPr>
        <p:spPr>
          <a:xfrm>
            <a:off x="4823749" y="4949444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85"/>
          <p:cNvSpPr txBox="1"/>
          <p:nvPr/>
        </p:nvSpPr>
        <p:spPr>
          <a:xfrm>
            <a:off x="4823749" y="4949444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95" name="Shape 86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7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7" name="Text 88"/>
          <p:cNvSpPr txBox="1"/>
          <p:nvPr/>
        </p:nvSpPr>
        <p:spPr>
          <a:xfrm>
            <a:off x="1051560" y="5309616"/>
            <a:ext cx="2819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week later zag ik haar</a:t>
            </a:r>
            <a:endParaRPr lang="en-US" sz="2000" dirty="0"/>
          </a:p>
        </p:txBody>
      </p:sp>
      <p:sp>
        <p:nvSpPr>
          <p:cNvPr id="98" name="Shape 89"/>
          <p:cNvSpPr/>
          <p:nvPr/>
        </p:nvSpPr>
        <p:spPr>
          <a:xfrm>
            <a:off x="3836924" y="5322316"/>
            <a:ext cx="55880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9" name="Text 90"/>
          <p:cNvSpPr txBox="1"/>
          <p:nvPr/>
        </p:nvSpPr>
        <p:spPr>
          <a:xfrm>
            <a:off x="3836924" y="5309616"/>
            <a:ext cx="5588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000" dirty="0"/>
          </a:p>
        </p:txBody>
      </p:sp>
      <p:sp>
        <p:nvSpPr>
          <p:cNvPr id="100" name="Text 91"/>
          <p:cNvSpPr txBox="1"/>
          <p:nvPr/>
        </p:nvSpPr>
        <p:spPr>
          <a:xfrm>
            <a:off x="4498848" y="5309616"/>
            <a:ext cx="317677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weer fietsen… met een helm!</a:t>
            </a:r>
            <a:endParaRPr lang="en-US" sz="2000" dirty="0"/>
          </a:p>
        </p:txBody>
      </p:sp>
      <p:sp>
        <p:nvSpPr>
          <p:cNvPr id="101" name="Shape 92"/>
          <p:cNvSpPr/>
          <p:nvPr/>
        </p:nvSpPr>
        <p:spPr>
          <a:xfrm>
            <a:off x="4116324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2" name="Shape 93"/>
          <p:cNvSpPr/>
          <p:nvPr/>
        </p:nvSpPr>
        <p:spPr>
          <a:xfrm>
            <a:off x="3805942" y="5677916"/>
            <a:ext cx="62076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Text 94"/>
          <p:cNvSpPr txBox="1"/>
          <p:nvPr/>
        </p:nvSpPr>
        <p:spPr>
          <a:xfrm>
            <a:off x="3805942" y="5677916"/>
            <a:ext cx="62076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TOCH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Thuiswerken: voor of tegen?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738640"/>
            <a:ext cx="944758" cy="944758"/>
          </a:xfrm>
          <a:prstGeom prst="rect">
            <a:avLst/>
          </a:prstGeom>
        </p:spPr>
      </p:pic>
      <p:pic>
        <p:nvPicPr>
          <p:cNvPr id="13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804" y="1738640"/>
            <a:ext cx="944758" cy="944758"/>
          </a:xfrm>
          <a:prstGeom prst="rect">
            <a:avLst/>
          </a:prstGeom>
        </p:spPr>
      </p:pic>
      <p:pic>
        <p:nvPicPr>
          <p:cNvPr id="14" name="Image 3" descr="balance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1798" y="1637416"/>
            <a:ext cx="944758" cy="944758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798" y="2953329"/>
            <a:ext cx="1012241" cy="1012241"/>
          </a:xfrm>
          <a:prstGeom prst="rect">
            <a:avLst/>
          </a:prstGeom>
        </p:spPr>
      </p:pic>
      <p:pic>
        <p:nvPicPr>
          <p:cNvPr id="16" name="Image 5" descr="c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5804" y="3290743"/>
            <a:ext cx="877275" cy="877275"/>
          </a:xfrm>
          <a:prstGeom prst="rect">
            <a:avLst/>
          </a:prstGeom>
        </p:spPr>
      </p:pic>
      <p:pic>
        <p:nvPicPr>
          <p:cNvPr id="1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5794" y="3425708"/>
            <a:ext cx="539862" cy="539862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Télétravail : pour ou contre ?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entreprise veut supprimer le télétravail. Donnez votre avis en réunion.</a:t>
            </a:r>
            <a:endParaRPr lang="en-US" sz="1300" dirty="0"/>
          </a:p>
        </p:txBody>
      </p:sp>
      <p:pic>
        <p:nvPicPr>
          <p:cNvPr id="22" name="Image 8" descr="Commen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votre avis avec </a:t>
            </a:r>
            <a:r>
              <a:rPr lang="en-US" sz="1450" b="1" dirty="0">
                <a:solidFill>
                  <a:schemeClr val="tx1"/>
                </a:solidFill>
              </a:rPr>
              <a:t>VOLGENS MIJ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28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Pesez le pour et le contre avec </a:t>
            </a:r>
            <a:r>
              <a:rPr lang="en-US" sz="1450" b="1" dirty="0">
                <a:solidFill>
                  <a:schemeClr val="tx1"/>
                </a:solidFill>
              </a:rPr>
              <a:t>ENERZIJDS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ANDERZIJDS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2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 argument avec </a:t>
            </a:r>
            <a:r>
              <a:rPr lang="en-US" sz="1450" b="1" dirty="0">
                <a:solidFill>
                  <a:schemeClr val="tx1"/>
                </a:solidFill>
              </a:rPr>
              <a:t>BOVENDIEN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36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Faites une proposition avec </a:t>
            </a:r>
            <a:r>
              <a:rPr lang="en-US" sz="1450" b="1" dirty="0">
                <a:solidFill>
                  <a:schemeClr val="tx1"/>
                </a:solidFill>
              </a:rPr>
              <a:t>ALS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ZOUDEN</a:t>
            </a:r>
            <a:r>
              <a:rPr lang="en-US" sz="1450" dirty="0">
                <a:solidFill>
                  <a:schemeClr val="tx1"/>
                </a:solidFill>
              </a:rPr>
              <a:t> …, 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40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avec </a:t>
            </a:r>
            <a:r>
              <a:rPr lang="en-US" sz="1450" b="1" dirty="0">
                <a:solidFill>
                  <a:schemeClr val="tx1"/>
                </a:solidFill>
              </a:rPr>
              <a:t>KORTOM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Thuiswerken: voor of tegen?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53164"/>
            <a:ext cx="209946" cy="209946"/>
          </a:xfrm>
          <a:prstGeom prst="rect">
            <a:avLst/>
          </a:prstGeom>
        </p:spPr>
      </p:pic>
      <p:pic>
        <p:nvPicPr>
          <p:cNvPr id="13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7" y="1453164"/>
            <a:ext cx="209946" cy="209946"/>
          </a:xfrm>
          <a:prstGeom prst="rect">
            <a:avLst/>
          </a:prstGeom>
        </p:spPr>
      </p:pic>
      <p:pic>
        <p:nvPicPr>
          <p:cNvPr id="14" name="Image 3" descr="balance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1430670"/>
            <a:ext cx="209946" cy="209946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" y="1723095"/>
            <a:ext cx="224942" cy="224942"/>
          </a:xfrm>
          <a:prstGeom prst="rect">
            <a:avLst/>
          </a:prstGeom>
        </p:spPr>
      </p:pic>
      <p:pic>
        <p:nvPicPr>
          <p:cNvPr id="16" name="Image 5" descr="c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923" y="1798076"/>
            <a:ext cx="194950" cy="194950"/>
          </a:xfrm>
          <a:prstGeom prst="rect">
            <a:avLst/>
          </a:prstGeom>
        </p:spPr>
      </p:pic>
      <p:pic>
        <p:nvPicPr>
          <p:cNvPr id="1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500" y="1828068"/>
            <a:ext cx="119969" cy="11996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VOLGENS MIJ</a:t>
            </a:r>
            <a:endParaRPr lang="en-US" sz="1300" dirty="0"/>
          </a:p>
        </p:txBody>
      </p:sp>
      <p:sp>
        <p:nvSpPr>
          <p:cNvPr id="22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ENERZIJDS / ANDERZIJDS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BOVENDIEN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ALS … ZOU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KORTOM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1051560" y="2408428"/>
            <a:ext cx="1538986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1051560" y="2395728"/>
            <a:ext cx="153898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Volgens mij is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2693670" y="2395728"/>
            <a:ext cx="50241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thuiswerken een groot voordeel voor iedereen.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1821053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289710" y="2764028"/>
            <a:ext cx="106268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289710" y="2764028"/>
            <a:ext cx="106268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VOLGENS MIJ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Shape 38"/>
          <p:cNvSpPr/>
          <p:nvPr/>
        </p:nvSpPr>
        <p:spPr>
          <a:xfrm>
            <a:off x="1051560" y="3136900"/>
            <a:ext cx="103555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1051560" y="3124200"/>
            <a:ext cx="10355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Enerzijds</a:t>
            </a:r>
            <a:endParaRPr lang="en-US" sz="2000" dirty="0"/>
          </a:p>
        </p:txBody>
      </p:sp>
      <p:sp>
        <p:nvSpPr>
          <p:cNvPr id="50" name="Text 40"/>
          <p:cNvSpPr txBox="1"/>
          <p:nvPr/>
        </p:nvSpPr>
        <p:spPr>
          <a:xfrm>
            <a:off x="2190242" y="3124200"/>
            <a:ext cx="302082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verlies je geen tijd in de file,</a:t>
            </a:r>
            <a:endParaRPr lang="en-US" sz="2000" dirty="0"/>
          </a:p>
        </p:txBody>
      </p:sp>
      <p:sp>
        <p:nvSpPr>
          <p:cNvPr id="51" name="Shape 41"/>
          <p:cNvSpPr/>
          <p:nvPr/>
        </p:nvSpPr>
        <p:spPr>
          <a:xfrm>
            <a:off x="5177028" y="3136900"/>
            <a:ext cx="117348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177028" y="3124200"/>
            <a:ext cx="117348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anderzijds</a:t>
            </a:r>
            <a:endParaRPr lang="en-US" sz="2000" dirty="0"/>
          </a:p>
        </p:txBody>
      </p:sp>
      <p:sp>
        <p:nvSpPr>
          <p:cNvPr id="53" name="Text 43"/>
          <p:cNvSpPr txBox="1"/>
          <p:nvPr/>
        </p:nvSpPr>
        <p:spPr>
          <a:xfrm>
            <a:off x="6453632" y="3124200"/>
            <a:ext cx="27223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 je je collega’s minder.</a:t>
            </a:r>
            <a:endParaRPr lang="en-US" sz="2000" dirty="0"/>
          </a:p>
        </p:txBody>
      </p:sp>
      <p:sp>
        <p:nvSpPr>
          <p:cNvPr id="54" name="Shape 44"/>
          <p:cNvSpPr/>
          <p:nvPr/>
        </p:nvSpPr>
        <p:spPr>
          <a:xfrm>
            <a:off x="1569339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1122540" y="3492500"/>
            <a:ext cx="89359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1122540" y="3492500"/>
            <a:ext cx="89359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ENERZIJDS</a:t>
            </a:r>
            <a:endParaRPr lang="en-US" sz="1050" dirty="0"/>
          </a:p>
        </p:txBody>
      </p:sp>
      <p:sp>
        <p:nvSpPr>
          <p:cNvPr id="57" name="Shape 47"/>
          <p:cNvSpPr/>
          <p:nvPr/>
        </p:nvSpPr>
        <p:spPr>
          <a:xfrm>
            <a:off x="5763768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5267096" y="3492500"/>
            <a:ext cx="993343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5267096" y="3492500"/>
            <a:ext cx="99334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ANDERZIJDS</a:t>
            </a:r>
            <a:endParaRPr lang="en-US" sz="1050" dirty="0"/>
          </a:p>
        </p:txBody>
      </p:sp>
      <p:sp>
        <p:nvSpPr>
          <p:cNvPr id="60" name="Shape 50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Shape 52"/>
          <p:cNvSpPr/>
          <p:nvPr/>
        </p:nvSpPr>
        <p:spPr>
          <a:xfrm>
            <a:off x="1051560" y="3865372"/>
            <a:ext cx="2068576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1051560" y="3852672"/>
            <a:ext cx="206857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 werken</a:t>
            </a:r>
            <a:endParaRPr lang="en-US" sz="2000" dirty="0"/>
          </a:p>
        </p:txBody>
      </p:sp>
      <p:sp>
        <p:nvSpPr>
          <p:cNvPr id="64" name="Text 54"/>
          <p:cNvSpPr txBox="1"/>
          <p:nvPr/>
        </p:nvSpPr>
        <p:spPr>
          <a:xfrm>
            <a:off x="3223260" y="3852672"/>
            <a:ext cx="437108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thuis rustiger en efficiënter.</a:t>
            </a:r>
            <a:endParaRPr lang="en-US" sz="2000" dirty="0"/>
          </a:p>
        </p:txBody>
      </p:sp>
      <p:sp>
        <p:nvSpPr>
          <p:cNvPr id="65" name="Shape 55"/>
          <p:cNvSpPr/>
          <p:nvPr/>
        </p:nvSpPr>
        <p:spPr>
          <a:xfrm>
            <a:off x="208584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1596244" y="4220972"/>
            <a:ext cx="97920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1596244" y="4220972"/>
            <a:ext cx="9792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BOVENDIEN</a:t>
            </a:r>
            <a:endParaRPr lang="en-US" sz="1050" dirty="0"/>
          </a:p>
        </p:txBody>
      </p:sp>
      <p:sp>
        <p:nvSpPr>
          <p:cNvPr id="68" name="Shape 58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0" name="Shape 60"/>
          <p:cNvSpPr/>
          <p:nvPr/>
        </p:nvSpPr>
        <p:spPr>
          <a:xfrm>
            <a:off x="1051560" y="4593844"/>
            <a:ext cx="40919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1051560" y="4581144"/>
            <a:ext cx="4091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000" dirty="0"/>
          </a:p>
        </p:txBody>
      </p:sp>
      <p:sp>
        <p:nvSpPr>
          <p:cNvPr id="72" name="Text 62"/>
          <p:cNvSpPr txBox="1"/>
          <p:nvPr/>
        </p:nvSpPr>
        <p:spPr>
          <a:xfrm>
            <a:off x="1563878" y="4581144"/>
            <a:ext cx="32946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twee dagen per week thuis</a:t>
            </a:r>
            <a:endParaRPr lang="en-US" sz="2000" dirty="0"/>
          </a:p>
        </p:txBody>
      </p:sp>
      <p:sp>
        <p:nvSpPr>
          <p:cNvPr id="73" name="Shape 63"/>
          <p:cNvSpPr/>
          <p:nvPr/>
        </p:nvSpPr>
        <p:spPr>
          <a:xfrm>
            <a:off x="4824476" y="4593844"/>
            <a:ext cx="1716532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4824476" y="4581144"/>
            <a:ext cx="171653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werken</a:t>
            </a:r>
            <a:endParaRPr lang="en-US" sz="2000" dirty="0"/>
          </a:p>
        </p:txBody>
      </p:sp>
      <p:sp>
        <p:nvSpPr>
          <p:cNvPr id="75" name="Text 65"/>
          <p:cNvSpPr txBox="1"/>
          <p:nvPr/>
        </p:nvSpPr>
        <p:spPr>
          <a:xfrm>
            <a:off x="6541008" y="4581144"/>
            <a:ext cx="2006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000" dirty="0"/>
          </a:p>
        </p:txBody>
      </p:sp>
      <p:sp>
        <p:nvSpPr>
          <p:cNvPr id="76" name="Shape 66"/>
          <p:cNvSpPr/>
          <p:nvPr/>
        </p:nvSpPr>
        <p:spPr>
          <a:xfrm>
            <a:off x="6707632" y="4593844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6707632" y="4581144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78" name="Text 68"/>
          <p:cNvSpPr txBox="1"/>
          <p:nvPr/>
        </p:nvSpPr>
        <p:spPr>
          <a:xfrm>
            <a:off x="7276084" y="4581144"/>
            <a:ext cx="252323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tevreden zijn.</a:t>
            </a:r>
            <a:endParaRPr lang="en-US" sz="2000" dirty="0"/>
          </a:p>
        </p:txBody>
      </p:sp>
      <p:sp>
        <p:nvSpPr>
          <p:cNvPr id="79" name="Shape 69"/>
          <p:cNvSpPr/>
          <p:nvPr/>
        </p:nvSpPr>
        <p:spPr>
          <a:xfrm>
            <a:off x="1256157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0"/>
          <p:cNvSpPr/>
          <p:nvPr/>
        </p:nvSpPr>
        <p:spPr>
          <a:xfrm>
            <a:off x="1001049" y="4949444"/>
            <a:ext cx="51021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1001049" y="4949444"/>
            <a:ext cx="5102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ALS</a:t>
            </a:r>
            <a:endParaRPr lang="en-US" sz="1050" dirty="0"/>
          </a:p>
        </p:txBody>
      </p:sp>
      <p:sp>
        <p:nvSpPr>
          <p:cNvPr id="82" name="Shape 72"/>
          <p:cNvSpPr/>
          <p:nvPr/>
        </p:nvSpPr>
        <p:spPr>
          <a:xfrm>
            <a:off x="5682742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3"/>
          <p:cNvSpPr/>
          <p:nvPr/>
        </p:nvSpPr>
        <p:spPr>
          <a:xfrm>
            <a:off x="5022983" y="4949444"/>
            <a:ext cx="131951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5022983" y="4949444"/>
            <a:ext cx="13195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ZOUDEN + infinitif</a:t>
            </a:r>
            <a:endParaRPr lang="en-US" sz="1050" dirty="0"/>
          </a:p>
        </p:txBody>
      </p:sp>
      <p:sp>
        <p:nvSpPr>
          <p:cNvPr id="85" name="Shape 75"/>
          <p:cNvSpPr/>
          <p:nvPr/>
        </p:nvSpPr>
        <p:spPr>
          <a:xfrm>
            <a:off x="694029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6664852" y="4949444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7"/>
          <p:cNvSpPr txBox="1"/>
          <p:nvPr/>
        </p:nvSpPr>
        <p:spPr>
          <a:xfrm>
            <a:off x="6664852" y="4949444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88" name="Shape 78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79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0" name="Shape 80"/>
          <p:cNvSpPr/>
          <p:nvPr/>
        </p:nvSpPr>
        <p:spPr>
          <a:xfrm>
            <a:off x="1051560" y="5322316"/>
            <a:ext cx="888492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81"/>
          <p:cNvSpPr txBox="1"/>
          <p:nvPr/>
        </p:nvSpPr>
        <p:spPr>
          <a:xfrm>
            <a:off x="1051560" y="5309616"/>
            <a:ext cx="8884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Kortom</a:t>
            </a:r>
            <a:endParaRPr lang="en-US" sz="2000" dirty="0"/>
          </a:p>
        </p:txBody>
      </p:sp>
      <p:sp>
        <p:nvSpPr>
          <p:cNvPr id="92" name="Text 82"/>
          <p:cNvSpPr txBox="1"/>
          <p:nvPr/>
        </p:nvSpPr>
        <p:spPr>
          <a:xfrm>
            <a:off x="1940052" y="5309616"/>
            <a:ext cx="478409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ik stem voor thuiswerken… en mijn kat ook!</a:t>
            </a:r>
            <a:endParaRPr lang="en-US" sz="2000" dirty="0"/>
          </a:p>
        </p:txBody>
      </p:sp>
      <p:sp>
        <p:nvSpPr>
          <p:cNvPr id="93" name="Shape 83"/>
          <p:cNvSpPr/>
          <p:nvPr/>
        </p:nvSpPr>
        <p:spPr>
          <a:xfrm>
            <a:off x="1495806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4"/>
          <p:cNvSpPr/>
          <p:nvPr/>
        </p:nvSpPr>
        <p:spPr>
          <a:xfrm>
            <a:off x="1085412" y="5677916"/>
            <a:ext cx="82078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1085412" y="5677916"/>
            <a:ext cx="8207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KORTOM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restaurantrecensie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031797" y="1704899"/>
            <a:ext cx="1880006" cy="438638"/>
          </a:xfrm>
          <a:prstGeom prst="roundRect">
            <a:avLst>
              <a:gd name="adj" fmla="val 1667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31797" y="1704899"/>
            <a:ext cx="1880006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DE LEPEL</a:t>
            </a:r>
            <a:endParaRPr lang="en-US" sz="1796" dirty="0"/>
          </a:p>
        </p:txBody>
      </p:sp>
      <p:pic>
        <p:nvPicPr>
          <p:cNvPr id="14" name="Image 1" descr="french f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794" y="2885846"/>
            <a:ext cx="809793" cy="809793"/>
          </a:xfrm>
          <a:prstGeom prst="rect">
            <a:avLst/>
          </a:prstGeom>
        </p:spPr>
      </p:pic>
      <p:pic>
        <p:nvPicPr>
          <p:cNvPr id="15" name="Image 2" descr="fork and knife with pl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798" y="2683398"/>
            <a:ext cx="1012241" cy="1012241"/>
          </a:xfrm>
          <a:prstGeom prst="rect">
            <a:avLst/>
          </a:prstGeom>
        </p:spPr>
      </p:pic>
      <p:pic>
        <p:nvPicPr>
          <p:cNvPr id="16" name="Image 3" descr="wine 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804" y="2953329"/>
            <a:ext cx="674827" cy="674827"/>
          </a:xfrm>
          <a:prstGeom prst="rect">
            <a:avLst/>
          </a:prstGeom>
        </p:spPr>
      </p:pic>
      <p:pic>
        <p:nvPicPr>
          <p:cNvPr id="17" name="Image 4" descr="hourglass not d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806" y="1738640"/>
            <a:ext cx="539862" cy="539862"/>
          </a:xfrm>
          <a:prstGeom prst="rect">
            <a:avLst/>
          </a:prstGeom>
        </p:spPr>
      </p:pic>
      <p:pic>
        <p:nvPicPr>
          <p:cNvPr id="18" name="Image 5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797" y="4235501"/>
            <a:ext cx="404896" cy="404896"/>
          </a:xfrm>
          <a:prstGeom prst="rect">
            <a:avLst/>
          </a:prstGeom>
        </p:spPr>
      </p:pic>
      <p:pic>
        <p:nvPicPr>
          <p:cNvPr id="19" name="Image 6" descr="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4798" y="4235501"/>
            <a:ext cx="404896" cy="404896"/>
          </a:xfrm>
          <a:prstGeom prst="rect">
            <a:avLst/>
          </a:prstGeom>
        </p:spPr>
      </p:pic>
      <p:pic>
        <p:nvPicPr>
          <p:cNvPr id="20" name="Image 7" descr="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7800" y="4235501"/>
            <a:ext cx="404896" cy="404896"/>
          </a:xfrm>
          <a:prstGeom prst="rect">
            <a:avLst/>
          </a:prstGeom>
        </p:spPr>
      </p:pic>
      <p:pic>
        <p:nvPicPr>
          <p:cNvPr id="21" name="Image 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0801" y="4235501"/>
            <a:ext cx="404896" cy="404896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3" name="Image 9" descr="MapMarke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 avis sur un restaurant</a:t>
            </a:r>
            <a:endParaRPr lang="en-US" sz="1500" dirty="0"/>
          </a:p>
        </p:txBody>
      </p:sp>
      <p:sp>
        <p:nvSpPr>
          <p:cNvPr id="25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dîné dans un nouveau restaurant. Écrivez un avis en ligne.</a:t>
            </a:r>
            <a:endParaRPr lang="en-US" sz="1300" dirty="0"/>
          </a:p>
        </p:txBody>
      </p:sp>
      <p:pic>
        <p:nvPicPr>
          <p:cNvPr id="26" name="Image 10" descr="PenNi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le restaurant avec une </a:t>
            </a:r>
            <a:r>
              <a:rPr lang="en-US" sz="1450" b="1" dirty="0">
                <a:solidFill>
                  <a:schemeClr val="tx1"/>
                </a:solidFill>
              </a:rPr>
              <a:t>relative</a:t>
            </a:r>
            <a:r>
              <a:rPr lang="en-US" sz="1450" dirty="0">
                <a:solidFill>
                  <a:schemeClr val="tx1"/>
                </a:solidFill>
              </a:rPr>
              <a:t> (DIE / DAT, verbe à la fin).</a:t>
            </a:r>
            <a:endParaRPr lang="en-US" sz="1450" dirty="0"/>
          </a:p>
        </p:txBody>
      </p:sp>
      <p:sp>
        <p:nvSpPr>
          <p:cNvPr id="32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repas avec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superlatif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WAAR</a:t>
            </a:r>
            <a:r>
              <a:rPr lang="en-US" sz="1450" dirty="0">
                <a:solidFill>
                  <a:schemeClr val="tx1"/>
                </a:solidFill>
              </a:rPr>
              <a:t> + préposition (WAAROP, WAARIN, WAARMEE…).</a:t>
            </a:r>
            <a:endParaRPr lang="en-US" sz="1450" dirty="0"/>
          </a:p>
        </p:txBody>
      </p:sp>
      <p:sp>
        <p:nvSpPr>
          <p:cNvPr id="40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Formulez une critique avec </a:t>
            </a:r>
            <a:r>
              <a:rPr lang="en-US" sz="1450" b="1" dirty="0">
                <a:solidFill>
                  <a:schemeClr val="tx1"/>
                </a:solidFill>
              </a:rPr>
              <a:t>ECHTER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4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Recommandez au conditionnel (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AANRADEN</a:t>
            </a:r>
            <a:r>
              <a:rPr lang="en-US" sz="1450" dirty="0">
                <a:solidFill>
                  <a:schemeClr val="tx1"/>
                </a:solidFill>
              </a:rPr>
              <a:t>)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restaurantrecensie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03427" y="1445666"/>
            <a:ext cx="424282" cy="97475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03427" y="1445666"/>
            <a:ext cx="424282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DE LEPEL</a:t>
            </a:r>
            <a:endParaRPr lang="en-US" sz="550" dirty="0"/>
          </a:p>
        </p:txBody>
      </p:sp>
      <p:pic>
        <p:nvPicPr>
          <p:cNvPr id="14" name="Image 1" descr="french f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1708099"/>
            <a:ext cx="179954" cy="179954"/>
          </a:xfrm>
          <a:prstGeom prst="rect">
            <a:avLst/>
          </a:prstGeom>
        </p:spPr>
      </p:pic>
      <p:pic>
        <p:nvPicPr>
          <p:cNvPr id="15" name="Image 2" descr="fork and knife with pl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76" y="1663111"/>
            <a:ext cx="224942" cy="224942"/>
          </a:xfrm>
          <a:prstGeom prst="rect">
            <a:avLst/>
          </a:prstGeom>
        </p:spPr>
      </p:pic>
      <p:pic>
        <p:nvPicPr>
          <p:cNvPr id="16" name="Image 3" descr="wine 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923" y="1723095"/>
            <a:ext cx="149962" cy="149962"/>
          </a:xfrm>
          <a:prstGeom prst="rect">
            <a:avLst/>
          </a:prstGeom>
        </p:spPr>
      </p:pic>
      <p:pic>
        <p:nvPicPr>
          <p:cNvPr id="17" name="Image 4" descr="hourglass not d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421" y="1453164"/>
            <a:ext cx="119969" cy="119969"/>
          </a:xfrm>
          <a:prstGeom prst="rect">
            <a:avLst/>
          </a:prstGeom>
        </p:spPr>
      </p:pic>
      <p:pic>
        <p:nvPicPr>
          <p:cNvPr id="18" name="Image 5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" y="2008022"/>
            <a:ext cx="89977" cy="89977"/>
          </a:xfrm>
          <a:prstGeom prst="rect">
            <a:avLst/>
          </a:prstGeom>
        </p:spPr>
      </p:pic>
      <p:pic>
        <p:nvPicPr>
          <p:cNvPr id="19" name="Image 6" descr="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891" y="2008022"/>
            <a:ext cx="89977" cy="89977"/>
          </a:xfrm>
          <a:prstGeom prst="rect">
            <a:avLst/>
          </a:prstGeom>
        </p:spPr>
      </p:pic>
      <p:pic>
        <p:nvPicPr>
          <p:cNvPr id="20" name="Image 7" descr="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354" y="2008022"/>
            <a:ext cx="89977" cy="89977"/>
          </a:xfrm>
          <a:prstGeom prst="rect">
            <a:avLst/>
          </a:prstGeom>
        </p:spPr>
      </p:pic>
      <p:pic>
        <p:nvPicPr>
          <p:cNvPr id="21" name="Image 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817" y="2008022"/>
            <a:ext cx="89977" cy="89977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RELATIVE</a:t>
            </a:r>
            <a:endParaRPr lang="en-US" sz="1300" dirty="0"/>
          </a:p>
        </p:txBody>
      </p:sp>
      <p:sp>
        <p:nvSpPr>
          <p:cNvPr id="26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SUPERLATIF</a:t>
            </a:r>
            <a:endParaRPr lang="en-US" sz="1300" dirty="0"/>
          </a:p>
        </p:txBody>
      </p:sp>
      <p:sp>
        <p:nvSpPr>
          <p:cNvPr id="30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WAAR + prép.</a:t>
            </a:r>
            <a:endParaRPr lang="en-US" sz="1300" dirty="0"/>
          </a:p>
        </p:txBody>
      </p:sp>
      <p:sp>
        <p:nvSpPr>
          <p:cNvPr id="34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ECHTER</a:t>
            </a:r>
            <a:endParaRPr lang="en-US" sz="1300" dirty="0"/>
          </a:p>
        </p:txBody>
      </p:sp>
      <p:sp>
        <p:nvSpPr>
          <p:cNvPr id="38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ZOU … AANRADEN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1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1051560" y="2395728"/>
            <a:ext cx="66558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hebben we gegeten in De Lepel, een nieuw restaurant</a:t>
            </a:r>
            <a:endParaRPr lang="en-US" sz="2000" dirty="0"/>
          </a:p>
        </p:txBody>
      </p:sp>
      <p:sp>
        <p:nvSpPr>
          <p:cNvPr id="45" name="Shape 33"/>
          <p:cNvSpPr/>
          <p:nvPr/>
        </p:nvSpPr>
        <p:spPr>
          <a:xfrm>
            <a:off x="7673340" y="2408428"/>
            <a:ext cx="332943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4"/>
          <p:cNvSpPr txBox="1"/>
          <p:nvPr/>
        </p:nvSpPr>
        <p:spPr>
          <a:xfrm>
            <a:off x="7673340" y="2395728"/>
            <a:ext cx="332943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vlak bij de Grote Markt ligt</a:t>
            </a:r>
            <a:endParaRPr lang="en-US" sz="2000" dirty="0"/>
          </a:p>
        </p:txBody>
      </p:sp>
      <p:sp>
        <p:nvSpPr>
          <p:cNvPr id="47" name="Text 35"/>
          <p:cNvSpPr txBox="1"/>
          <p:nvPr/>
        </p:nvSpPr>
        <p:spPr>
          <a:xfrm>
            <a:off x="11002772" y="2395728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8" name="Shape 36"/>
          <p:cNvSpPr/>
          <p:nvPr/>
        </p:nvSpPr>
        <p:spPr>
          <a:xfrm>
            <a:off x="933805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8514277" y="2764028"/>
            <a:ext cx="164755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8514277" y="2764028"/>
            <a:ext cx="164755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RELATIVE : verbe à la fin</a:t>
            </a:r>
            <a:endParaRPr lang="en-US" sz="1050" dirty="0"/>
          </a:p>
        </p:txBody>
      </p:sp>
      <p:sp>
        <p:nvSpPr>
          <p:cNvPr id="51" name="Shape 39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1"/>
          <p:cNvSpPr txBox="1"/>
          <p:nvPr/>
        </p:nvSpPr>
        <p:spPr>
          <a:xfrm>
            <a:off x="1051560" y="3124200"/>
            <a:ext cx="26697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 was heerlijk en de</a:t>
            </a:r>
            <a:endParaRPr lang="en-US" sz="2000" dirty="0"/>
          </a:p>
        </p:txBody>
      </p:sp>
      <p:sp>
        <p:nvSpPr>
          <p:cNvPr id="54" name="Shape 42"/>
          <p:cNvSpPr/>
          <p:nvPr/>
        </p:nvSpPr>
        <p:spPr>
          <a:xfrm>
            <a:off x="3687318" y="3136900"/>
            <a:ext cx="157149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3687318" y="3124200"/>
            <a:ext cx="15714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huisgemaakte</a:t>
            </a:r>
            <a:endParaRPr lang="en-US" sz="2000" dirty="0"/>
          </a:p>
        </p:txBody>
      </p:sp>
      <p:sp>
        <p:nvSpPr>
          <p:cNvPr id="56" name="Text 44"/>
          <p:cNvSpPr txBox="1"/>
          <p:nvPr/>
        </p:nvSpPr>
        <p:spPr>
          <a:xfrm>
            <a:off x="5361940" y="3124200"/>
            <a:ext cx="15689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frietjes waren</a:t>
            </a:r>
            <a:endParaRPr lang="en-US" sz="2000" dirty="0"/>
          </a:p>
        </p:txBody>
      </p:sp>
      <p:sp>
        <p:nvSpPr>
          <p:cNvPr id="57" name="Shape 45"/>
          <p:cNvSpPr/>
          <p:nvPr/>
        </p:nvSpPr>
        <p:spPr>
          <a:xfrm>
            <a:off x="6896862" y="3136900"/>
            <a:ext cx="138226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6896862" y="3124200"/>
            <a:ext cx="13822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lekkerste</a:t>
            </a:r>
            <a:endParaRPr lang="en-US" sz="2000" dirty="0"/>
          </a:p>
        </p:txBody>
      </p:sp>
      <p:sp>
        <p:nvSpPr>
          <p:cNvPr id="59" name="Text 47"/>
          <p:cNvSpPr txBox="1"/>
          <p:nvPr/>
        </p:nvSpPr>
        <p:spPr>
          <a:xfrm>
            <a:off x="8382254" y="3124200"/>
            <a:ext cx="13850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stad.</a:t>
            </a:r>
            <a:endParaRPr lang="en-US" sz="2000" dirty="0"/>
          </a:p>
        </p:txBody>
      </p:sp>
      <p:sp>
        <p:nvSpPr>
          <p:cNvPr id="60" name="Shape 48"/>
          <p:cNvSpPr/>
          <p:nvPr/>
        </p:nvSpPr>
        <p:spPr>
          <a:xfrm>
            <a:off x="4473067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3820643" y="3492500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3820643" y="3492500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 + -E</a:t>
            </a:r>
            <a:endParaRPr lang="en-US" sz="1050" dirty="0"/>
          </a:p>
        </p:txBody>
      </p:sp>
      <p:sp>
        <p:nvSpPr>
          <p:cNvPr id="63" name="Shape 51"/>
          <p:cNvSpPr/>
          <p:nvPr/>
        </p:nvSpPr>
        <p:spPr>
          <a:xfrm>
            <a:off x="7587996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4" name="Shape 52"/>
          <p:cNvSpPr/>
          <p:nvPr/>
        </p:nvSpPr>
        <p:spPr>
          <a:xfrm>
            <a:off x="7102392" y="3492500"/>
            <a:ext cx="97120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3"/>
          <p:cNvSpPr txBox="1"/>
          <p:nvPr/>
        </p:nvSpPr>
        <p:spPr>
          <a:xfrm>
            <a:off x="7102392" y="3492500"/>
            <a:ext cx="9712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SUPERLATIF</a:t>
            </a:r>
            <a:endParaRPr lang="en-US" sz="1050" dirty="0"/>
          </a:p>
        </p:txBody>
      </p:sp>
      <p:sp>
        <p:nvSpPr>
          <p:cNvPr id="66" name="Shape 54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5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8" name="Text 56"/>
          <p:cNvSpPr txBox="1"/>
          <p:nvPr/>
        </p:nvSpPr>
        <p:spPr>
          <a:xfrm>
            <a:off x="1051560" y="3852672"/>
            <a:ext cx="12377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terras,</a:t>
            </a:r>
            <a:endParaRPr lang="en-US" sz="2000" dirty="0"/>
          </a:p>
        </p:txBody>
      </p:sp>
      <p:sp>
        <p:nvSpPr>
          <p:cNvPr id="69" name="Shape 57"/>
          <p:cNvSpPr/>
          <p:nvPr/>
        </p:nvSpPr>
        <p:spPr>
          <a:xfrm>
            <a:off x="2255266" y="3865372"/>
            <a:ext cx="89484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0" name="Text 58"/>
          <p:cNvSpPr txBox="1"/>
          <p:nvPr/>
        </p:nvSpPr>
        <p:spPr>
          <a:xfrm>
            <a:off x="2255266" y="3852672"/>
            <a:ext cx="8948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waarop</a:t>
            </a:r>
            <a:endParaRPr lang="en-US" sz="2000" dirty="0"/>
          </a:p>
        </p:txBody>
      </p:sp>
      <p:sp>
        <p:nvSpPr>
          <p:cNvPr id="71" name="Text 59"/>
          <p:cNvSpPr txBox="1"/>
          <p:nvPr/>
        </p:nvSpPr>
        <p:spPr>
          <a:xfrm>
            <a:off x="3253232" y="3852672"/>
            <a:ext cx="570788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tot laat in de zon kunt zitten, is een echte aanrader.</a:t>
            </a:r>
            <a:endParaRPr lang="en-US" sz="2000" dirty="0"/>
          </a:p>
        </p:txBody>
      </p:sp>
      <p:sp>
        <p:nvSpPr>
          <p:cNvPr id="72" name="Shape 60"/>
          <p:cNvSpPr/>
          <p:nvPr/>
        </p:nvSpPr>
        <p:spPr>
          <a:xfrm>
            <a:off x="2702687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1"/>
          <p:cNvSpPr/>
          <p:nvPr/>
        </p:nvSpPr>
        <p:spPr>
          <a:xfrm>
            <a:off x="2159010" y="4220972"/>
            <a:ext cx="108735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2"/>
          <p:cNvSpPr txBox="1"/>
          <p:nvPr/>
        </p:nvSpPr>
        <p:spPr>
          <a:xfrm>
            <a:off x="2159010" y="4220972"/>
            <a:ext cx="108735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WAAR + prép.</a:t>
            </a:r>
            <a:endParaRPr lang="en-US" sz="1050" dirty="0"/>
          </a:p>
        </p:txBody>
      </p:sp>
      <p:sp>
        <p:nvSpPr>
          <p:cNvPr id="75" name="Shape 63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4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7" name="Text 65"/>
          <p:cNvSpPr txBox="1"/>
          <p:nvPr/>
        </p:nvSpPr>
        <p:spPr>
          <a:xfrm>
            <a:off x="1051560" y="4581144"/>
            <a:ext cx="19601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bediening was</a:t>
            </a:r>
            <a:endParaRPr lang="en-US" sz="2000" dirty="0"/>
          </a:p>
        </p:txBody>
      </p:sp>
      <p:sp>
        <p:nvSpPr>
          <p:cNvPr id="78" name="Shape 66"/>
          <p:cNvSpPr/>
          <p:nvPr/>
        </p:nvSpPr>
        <p:spPr>
          <a:xfrm>
            <a:off x="2977642" y="4593844"/>
            <a:ext cx="767842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9" name="Text 67"/>
          <p:cNvSpPr txBox="1"/>
          <p:nvPr/>
        </p:nvSpPr>
        <p:spPr>
          <a:xfrm>
            <a:off x="2977642" y="4581144"/>
            <a:ext cx="7678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echter</a:t>
            </a:r>
            <a:endParaRPr lang="en-US" sz="2000" dirty="0"/>
          </a:p>
        </p:txBody>
      </p:sp>
      <p:sp>
        <p:nvSpPr>
          <p:cNvPr id="80" name="Text 68"/>
          <p:cNvSpPr txBox="1"/>
          <p:nvPr/>
        </p:nvSpPr>
        <p:spPr>
          <a:xfrm>
            <a:off x="3848608" y="4581144"/>
            <a:ext cx="11300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 traag.</a:t>
            </a:r>
            <a:endParaRPr lang="en-US" sz="2000" dirty="0"/>
          </a:p>
        </p:txBody>
      </p:sp>
      <p:sp>
        <p:nvSpPr>
          <p:cNvPr id="81" name="Shape 69"/>
          <p:cNvSpPr/>
          <p:nvPr/>
        </p:nvSpPr>
        <p:spPr>
          <a:xfrm>
            <a:off x="3361563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0"/>
          <p:cNvSpPr/>
          <p:nvPr/>
        </p:nvSpPr>
        <p:spPr>
          <a:xfrm>
            <a:off x="2993641" y="4949444"/>
            <a:ext cx="73584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1"/>
          <p:cNvSpPr txBox="1"/>
          <p:nvPr/>
        </p:nvSpPr>
        <p:spPr>
          <a:xfrm>
            <a:off x="2993641" y="4949444"/>
            <a:ext cx="73584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ECHTER</a:t>
            </a:r>
            <a:endParaRPr lang="en-US" sz="1050" dirty="0"/>
          </a:p>
        </p:txBody>
      </p:sp>
      <p:sp>
        <p:nvSpPr>
          <p:cNvPr id="84" name="Shape 72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3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6" name="Text 74"/>
          <p:cNvSpPr txBox="1"/>
          <p:nvPr/>
        </p:nvSpPr>
        <p:spPr>
          <a:xfrm>
            <a:off x="1051560" y="5309616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87" name="Shape 75"/>
          <p:cNvSpPr/>
          <p:nvPr/>
        </p:nvSpPr>
        <p:spPr>
          <a:xfrm>
            <a:off x="1334262" y="5322316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6"/>
          <p:cNvSpPr txBox="1"/>
          <p:nvPr/>
        </p:nvSpPr>
        <p:spPr>
          <a:xfrm>
            <a:off x="1334262" y="5309616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89" name="Text 77"/>
          <p:cNvSpPr txBox="1"/>
          <p:nvPr/>
        </p:nvSpPr>
        <p:spPr>
          <a:xfrm>
            <a:off x="1902714" y="5309616"/>
            <a:ext cx="109702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zeker</a:t>
            </a:r>
            <a:endParaRPr lang="en-US" sz="2000" dirty="0"/>
          </a:p>
        </p:txBody>
      </p:sp>
      <p:sp>
        <p:nvSpPr>
          <p:cNvPr id="90" name="Shape 78"/>
          <p:cNvSpPr/>
          <p:nvPr/>
        </p:nvSpPr>
        <p:spPr>
          <a:xfrm>
            <a:off x="2965704" y="5322316"/>
            <a:ext cx="1094994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79"/>
          <p:cNvSpPr txBox="1"/>
          <p:nvPr/>
        </p:nvSpPr>
        <p:spPr>
          <a:xfrm>
            <a:off x="2965704" y="5309616"/>
            <a:ext cx="10949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000" dirty="0"/>
          </a:p>
        </p:txBody>
      </p:sp>
      <p:sp>
        <p:nvSpPr>
          <p:cNvPr id="92" name="Text 80"/>
          <p:cNvSpPr txBox="1"/>
          <p:nvPr/>
        </p:nvSpPr>
        <p:spPr>
          <a:xfrm>
            <a:off x="4060698" y="5309616"/>
            <a:ext cx="35184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als je niet te veel honger hebt!</a:t>
            </a:r>
            <a:endParaRPr lang="en-US" sz="2000" dirty="0"/>
          </a:p>
        </p:txBody>
      </p:sp>
      <p:sp>
        <p:nvSpPr>
          <p:cNvPr id="93" name="Shape 81"/>
          <p:cNvSpPr/>
          <p:nvPr/>
        </p:nvSpPr>
        <p:spPr>
          <a:xfrm>
            <a:off x="1566926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2"/>
          <p:cNvSpPr/>
          <p:nvPr/>
        </p:nvSpPr>
        <p:spPr>
          <a:xfrm>
            <a:off x="1291482" y="5677916"/>
            <a:ext cx="55088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3"/>
          <p:cNvSpPr txBox="1"/>
          <p:nvPr/>
        </p:nvSpPr>
        <p:spPr>
          <a:xfrm>
            <a:off x="1291482" y="5677916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ZOU</a:t>
            </a:r>
            <a:endParaRPr lang="en-US" sz="1050" dirty="0"/>
          </a:p>
        </p:txBody>
      </p:sp>
      <p:sp>
        <p:nvSpPr>
          <p:cNvPr id="96" name="Shape 84"/>
          <p:cNvSpPr/>
          <p:nvPr/>
        </p:nvSpPr>
        <p:spPr>
          <a:xfrm>
            <a:off x="351320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5"/>
          <p:cNvSpPr/>
          <p:nvPr/>
        </p:nvSpPr>
        <p:spPr>
          <a:xfrm>
            <a:off x="3037065" y="5677916"/>
            <a:ext cx="9522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6"/>
          <p:cNvSpPr txBox="1"/>
          <p:nvPr/>
        </p:nvSpPr>
        <p:spPr>
          <a:xfrm>
            <a:off x="3037065" y="5677916"/>
            <a:ext cx="9522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AANRADEN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Duurzaam leven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recycling 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704899"/>
            <a:ext cx="742310" cy="742310"/>
          </a:xfrm>
          <a:prstGeom prst="rect">
            <a:avLst/>
          </a:prstGeom>
        </p:spPr>
      </p:pic>
      <p:pic>
        <p:nvPicPr>
          <p:cNvPr id="12" name="Image 2" descr="globe showing europe afr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804" y="1671157"/>
            <a:ext cx="742310" cy="742310"/>
          </a:xfrm>
          <a:prstGeom prst="rect">
            <a:avLst/>
          </a:prstGeom>
        </p:spPr>
      </p:pic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92" y="3155777"/>
            <a:ext cx="1012241" cy="1012241"/>
          </a:xfrm>
          <a:prstGeom prst="rect">
            <a:avLst/>
          </a:prstGeom>
        </p:spPr>
      </p:pic>
      <p:pic>
        <p:nvPicPr>
          <p:cNvPr id="14" name="Image 4" descr="seedl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1798" y="3560674"/>
            <a:ext cx="607344" cy="607344"/>
          </a:xfrm>
          <a:prstGeom prst="rect">
            <a:avLst/>
          </a:prstGeom>
        </p:spPr>
      </p:pic>
      <p:pic>
        <p:nvPicPr>
          <p:cNvPr id="15" name="Image 5" descr="cup with stra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6801" y="3088295"/>
            <a:ext cx="674827" cy="674827"/>
          </a:xfrm>
          <a:prstGeom prst="rect">
            <a:avLst/>
          </a:prstGeom>
        </p:spPr>
      </p:pic>
      <p:pic>
        <p:nvPicPr>
          <p:cNvPr id="16" name="Image 6" descr="leafy gre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803" y="3391967"/>
            <a:ext cx="674827" cy="674827"/>
          </a:xfrm>
          <a:prstGeom prst="rect">
            <a:avLst/>
          </a:prstGeom>
        </p:spPr>
      </p:pic>
      <p:pic>
        <p:nvPicPr>
          <p:cNvPr id="17" name="Image 7" descr="toothbru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806" y="3560674"/>
            <a:ext cx="539862" cy="539862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Vivre durablement</a:t>
            </a:r>
            <a:endParaRPr lang="en-US" sz="1500" dirty="0"/>
          </a:p>
        </p:txBody>
      </p:sp>
      <p:sp>
        <p:nvSpPr>
          <p:cNvPr id="21" name="Text 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commune lance un défi « zéro déchet ». Présentez vos bonnes résolutions en réunion de quartier.</a:t>
            </a:r>
            <a:endParaRPr lang="en-US" sz="1300" dirty="0"/>
          </a:p>
        </p:txBody>
      </p:sp>
      <p:pic>
        <p:nvPicPr>
          <p:cNvPr id="22" name="Image 9" descr="Commen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ce qui a changé avec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 + présent (inversion).</a:t>
            </a:r>
            <a:endParaRPr lang="en-US" sz="1450" dirty="0"/>
          </a:p>
        </p:txBody>
      </p:sp>
      <p:sp>
        <p:nvSpPr>
          <p:cNvPr id="28" name="Shape 1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un but avec </a:t>
            </a:r>
            <a:r>
              <a:rPr lang="en-US" sz="1450" b="1" dirty="0">
                <a:solidFill>
                  <a:schemeClr val="tx1"/>
                </a:solidFill>
              </a:rPr>
              <a:t>OM … TE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2" name="Shape 1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une conséquence avec </a:t>
            </a:r>
            <a:r>
              <a:rPr lang="en-US" sz="1450" b="1" dirty="0">
                <a:solidFill>
                  <a:schemeClr val="tx1"/>
                </a:solidFill>
              </a:rPr>
              <a:t>ZODAT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6" name="Shape 2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un conseil avec </a:t>
            </a:r>
            <a:r>
              <a:rPr lang="en-US" sz="1450" b="1" dirty="0">
                <a:solidFill>
                  <a:schemeClr val="tx1"/>
                </a:solidFill>
              </a:rPr>
              <a:t>ZOU(DEN)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40" name="Shape 2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ZELFS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Duurzaam leven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recycling 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45666"/>
            <a:ext cx="164958" cy="164958"/>
          </a:xfrm>
          <a:prstGeom prst="rect">
            <a:avLst/>
          </a:prstGeom>
        </p:spPr>
      </p:pic>
      <p:pic>
        <p:nvPicPr>
          <p:cNvPr id="12" name="Image 2" descr="globe showing europe afr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351" y="1438168"/>
            <a:ext cx="164958" cy="164958"/>
          </a:xfrm>
          <a:prstGeom prst="rect">
            <a:avLst/>
          </a:prstGeom>
        </p:spPr>
      </p:pic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1768084"/>
            <a:ext cx="224942" cy="224942"/>
          </a:xfrm>
          <a:prstGeom prst="rect">
            <a:avLst/>
          </a:prstGeom>
        </p:spPr>
      </p:pic>
      <p:pic>
        <p:nvPicPr>
          <p:cNvPr id="14" name="Image 4" descr="seedl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1858061"/>
            <a:ext cx="134965" cy="134965"/>
          </a:xfrm>
          <a:prstGeom prst="rect">
            <a:avLst/>
          </a:prstGeom>
        </p:spPr>
      </p:pic>
      <p:pic>
        <p:nvPicPr>
          <p:cNvPr id="15" name="Image 5" descr="cup with stra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" y="1753088"/>
            <a:ext cx="149962" cy="149962"/>
          </a:xfrm>
          <a:prstGeom prst="rect">
            <a:avLst/>
          </a:prstGeom>
        </p:spPr>
      </p:pic>
      <p:pic>
        <p:nvPicPr>
          <p:cNvPr id="16" name="Image 6" descr="leafy gre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7709" y="1820570"/>
            <a:ext cx="149962" cy="149962"/>
          </a:xfrm>
          <a:prstGeom prst="rect">
            <a:avLst/>
          </a:prstGeom>
        </p:spPr>
      </p:pic>
      <p:pic>
        <p:nvPicPr>
          <p:cNvPr id="17" name="Image 7" descr="toothbru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7421" y="1858061"/>
            <a:ext cx="119969" cy="119969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SINDS + inversion</a:t>
            </a:r>
            <a:endParaRPr lang="en-US" sz="1300" dirty="0"/>
          </a:p>
        </p:txBody>
      </p:sp>
      <p:sp>
        <p:nvSpPr>
          <p:cNvPr id="22" name="Shape 1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OM … TE</a:t>
            </a:r>
            <a:endParaRPr lang="en-US" sz="1300" dirty="0"/>
          </a:p>
        </p:txBody>
      </p:sp>
      <p:sp>
        <p:nvSpPr>
          <p:cNvPr id="26" name="Shape 1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ZODAT</a:t>
            </a:r>
            <a:endParaRPr lang="en-US" sz="1300" dirty="0"/>
          </a:p>
        </p:txBody>
      </p:sp>
      <p:sp>
        <p:nvSpPr>
          <p:cNvPr id="30" name="Shape 1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 … MOETEN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ZELFS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1051560" y="2408428"/>
            <a:ext cx="243027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1051560" y="2395728"/>
            <a:ext cx="24302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een maand ga ik</a:t>
            </a:r>
            <a:endParaRPr lang="en-US" sz="2000" dirty="0"/>
          </a:p>
        </p:txBody>
      </p:sp>
      <p:sp>
        <p:nvSpPr>
          <p:cNvPr id="42" name="Text 31"/>
          <p:cNvSpPr txBox="1"/>
          <p:nvPr/>
        </p:nvSpPr>
        <p:spPr>
          <a:xfrm>
            <a:off x="3584956" y="2395728"/>
            <a:ext cx="30424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fiets naar mijn werk.</a:t>
            </a:r>
            <a:endParaRPr lang="en-US" sz="2000" dirty="0"/>
          </a:p>
        </p:txBody>
      </p:sp>
      <p:sp>
        <p:nvSpPr>
          <p:cNvPr id="43" name="Shape 32"/>
          <p:cNvSpPr/>
          <p:nvPr/>
        </p:nvSpPr>
        <p:spPr>
          <a:xfrm>
            <a:off x="226669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3"/>
          <p:cNvSpPr/>
          <p:nvPr/>
        </p:nvSpPr>
        <p:spPr>
          <a:xfrm>
            <a:off x="1625940" y="2764028"/>
            <a:ext cx="128151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1625940" y="2764028"/>
            <a:ext cx="128151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SINDS + inversion</a:t>
            </a:r>
            <a:endParaRPr lang="en-US" sz="1050" dirty="0"/>
          </a:p>
        </p:txBody>
      </p:sp>
      <p:sp>
        <p:nvSpPr>
          <p:cNvPr id="46" name="Shape 35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1051560" y="3124200"/>
            <a:ext cx="397383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 een herbruikbare beker mee</a:t>
            </a:r>
            <a:endParaRPr lang="en-US" sz="2000" dirty="0"/>
          </a:p>
        </p:txBody>
      </p:sp>
      <p:sp>
        <p:nvSpPr>
          <p:cNvPr id="49" name="Shape 38"/>
          <p:cNvSpPr/>
          <p:nvPr/>
        </p:nvSpPr>
        <p:spPr>
          <a:xfrm>
            <a:off x="4991354" y="3136900"/>
            <a:ext cx="434594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4991354" y="3124200"/>
            <a:ext cx="4345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51" name="Text 40"/>
          <p:cNvSpPr txBox="1"/>
          <p:nvPr/>
        </p:nvSpPr>
        <p:spPr>
          <a:xfrm>
            <a:off x="5529072" y="3124200"/>
            <a:ext cx="14317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afval</a:t>
            </a:r>
            <a:endParaRPr lang="en-US" sz="2000" dirty="0"/>
          </a:p>
        </p:txBody>
      </p:sp>
      <p:sp>
        <p:nvSpPr>
          <p:cNvPr id="52" name="Shape 41"/>
          <p:cNvSpPr/>
          <p:nvPr/>
        </p:nvSpPr>
        <p:spPr>
          <a:xfrm>
            <a:off x="6926834" y="3136900"/>
            <a:ext cx="1082802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6926834" y="3124200"/>
            <a:ext cx="10828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maken</a:t>
            </a:r>
            <a:endParaRPr lang="en-US" sz="2000" dirty="0"/>
          </a:p>
        </p:txBody>
      </p:sp>
      <p:sp>
        <p:nvSpPr>
          <p:cNvPr id="54" name="Text 43"/>
          <p:cNvSpPr txBox="1"/>
          <p:nvPr/>
        </p:nvSpPr>
        <p:spPr>
          <a:xfrm>
            <a:off x="8009636" y="3124200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55" name="Shape 44"/>
          <p:cNvSpPr/>
          <p:nvPr/>
        </p:nvSpPr>
        <p:spPr>
          <a:xfrm>
            <a:off x="5208651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4950343" y="3492500"/>
            <a:ext cx="51661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4950343" y="3492500"/>
            <a:ext cx="5166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OM</a:t>
            </a:r>
            <a:endParaRPr lang="en-US" sz="1050" dirty="0"/>
          </a:p>
        </p:txBody>
      </p:sp>
      <p:sp>
        <p:nvSpPr>
          <p:cNvPr id="58" name="Shape 47"/>
          <p:cNvSpPr/>
          <p:nvPr/>
        </p:nvSpPr>
        <p:spPr>
          <a:xfrm>
            <a:off x="7468235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81898" y="3492500"/>
            <a:ext cx="97267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6981898" y="3492500"/>
            <a:ext cx="9726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TE + infinitif</a:t>
            </a:r>
            <a:endParaRPr lang="en-US" sz="1050" dirty="0"/>
          </a:p>
        </p:txBody>
      </p:sp>
      <p:sp>
        <p:nvSpPr>
          <p:cNvPr id="61" name="Shape 50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3" name="Text 52"/>
          <p:cNvSpPr txBox="1"/>
          <p:nvPr/>
        </p:nvSpPr>
        <p:spPr>
          <a:xfrm>
            <a:off x="1051560" y="3852672"/>
            <a:ext cx="37846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koop mijn groenten op de markt,</a:t>
            </a:r>
            <a:endParaRPr lang="en-US" sz="2000" dirty="0"/>
          </a:p>
        </p:txBody>
      </p:sp>
      <p:sp>
        <p:nvSpPr>
          <p:cNvPr id="64" name="Shape 53"/>
          <p:cNvSpPr/>
          <p:nvPr/>
        </p:nvSpPr>
        <p:spPr>
          <a:xfrm>
            <a:off x="4802124" y="3865372"/>
            <a:ext cx="67894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4802124" y="3852672"/>
            <a:ext cx="6789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zodat</a:t>
            </a:r>
            <a:endParaRPr lang="en-US" sz="2000" dirty="0"/>
          </a:p>
        </p:txBody>
      </p:sp>
      <p:sp>
        <p:nvSpPr>
          <p:cNvPr id="66" name="Text 55"/>
          <p:cNvSpPr txBox="1"/>
          <p:nvPr/>
        </p:nvSpPr>
        <p:spPr>
          <a:xfrm>
            <a:off x="5584190" y="3852672"/>
            <a:ext cx="36423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geen plastic verpakkingen meer</a:t>
            </a:r>
            <a:endParaRPr lang="en-US" sz="2000" dirty="0"/>
          </a:p>
        </p:txBody>
      </p:sp>
      <p:sp>
        <p:nvSpPr>
          <p:cNvPr id="67" name="Shape 56"/>
          <p:cNvSpPr/>
          <p:nvPr/>
        </p:nvSpPr>
        <p:spPr>
          <a:xfrm>
            <a:off x="9192514" y="3865372"/>
            <a:ext cx="491998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9192514" y="3852672"/>
            <a:ext cx="4919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69" name="Text 58"/>
          <p:cNvSpPr txBox="1"/>
          <p:nvPr/>
        </p:nvSpPr>
        <p:spPr>
          <a:xfrm>
            <a:off x="9684512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70" name="Shape 59"/>
          <p:cNvSpPr/>
          <p:nvPr/>
        </p:nvSpPr>
        <p:spPr>
          <a:xfrm>
            <a:off x="5141595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4794275" y="4220972"/>
            <a:ext cx="69463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4794275" y="4220972"/>
            <a:ext cx="69463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ZODAT</a:t>
            </a:r>
            <a:endParaRPr lang="en-US" sz="1050" dirty="0"/>
          </a:p>
        </p:txBody>
      </p:sp>
      <p:sp>
        <p:nvSpPr>
          <p:cNvPr id="73" name="Shape 62"/>
          <p:cNvSpPr/>
          <p:nvPr/>
        </p:nvSpPr>
        <p:spPr>
          <a:xfrm>
            <a:off x="9438513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8924706" y="4220972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8924706" y="4220972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verbe à la fin</a:t>
            </a:r>
            <a:endParaRPr lang="en-US" sz="1050" dirty="0"/>
          </a:p>
        </p:txBody>
      </p:sp>
      <p:sp>
        <p:nvSpPr>
          <p:cNvPr id="76" name="Shape 65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6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Text 67"/>
          <p:cNvSpPr txBox="1"/>
          <p:nvPr/>
        </p:nvSpPr>
        <p:spPr>
          <a:xfrm>
            <a:off x="1051560" y="4581144"/>
            <a:ext cx="10624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</a:t>
            </a:r>
            <a:endParaRPr lang="en-US" sz="2000" dirty="0"/>
          </a:p>
        </p:txBody>
      </p:sp>
      <p:sp>
        <p:nvSpPr>
          <p:cNvPr id="79" name="Shape 68"/>
          <p:cNvSpPr/>
          <p:nvPr/>
        </p:nvSpPr>
        <p:spPr>
          <a:xfrm>
            <a:off x="2080006" y="4593844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69"/>
          <p:cNvSpPr txBox="1"/>
          <p:nvPr/>
        </p:nvSpPr>
        <p:spPr>
          <a:xfrm>
            <a:off x="2080006" y="4581144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81" name="Text 70"/>
          <p:cNvSpPr txBox="1"/>
          <p:nvPr/>
        </p:nvSpPr>
        <p:spPr>
          <a:xfrm>
            <a:off x="2648458" y="4581144"/>
            <a:ext cx="14632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vlees</a:t>
            </a:r>
            <a:endParaRPr lang="en-US" sz="2000" dirty="0"/>
          </a:p>
        </p:txBody>
      </p:sp>
      <p:sp>
        <p:nvSpPr>
          <p:cNvPr id="82" name="Shape 71"/>
          <p:cNvSpPr/>
          <p:nvPr/>
        </p:nvSpPr>
        <p:spPr>
          <a:xfrm>
            <a:off x="4077716" y="4593844"/>
            <a:ext cx="145211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2"/>
          <p:cNvSpPr txBox="1"/>
          <p:nvPr/>
        </p:nvSpPr>
        <p:spPr>
          <a:xfrm>
            <a:off x="4077716" y="4581144"/>
            <a:ext cx="14521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 eten</a:t>
            </a:r>
            <a:endParaRPr lang="en-US" sz="2000" dirty="0"/>
          </a:p>
        </p:txBody>
      </p:sp>
      <p:sp>
        <p:nvSpPr>
          <p:cNvPr id="84" name="Text 73"/>
          <p:cNvSpPr txBox="1"/>
          <p:nvPr/>
        </p:nvSpPr>
        <p:spPr>
          <a:xfrm>
            <a:off x="5529834" y="4581144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85" name="Shape 74"/>
          <p:cNvSpPr/>
          <p:nvPr/>
        </p:nvSpPr>
        <p:spPr>
          <a:xfrm>
            <a:off x="2312670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5"/>
          <p:cNvSpPr/>
          <p:nvPr/>
        </p:nvSpPr>
        <p:spPr>
          <a:xfrm>
            <a:off x="2037226" y="4949444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6"/>
          <p:cNvSpPr txBox="1"/>
          <p:nvPr/>
        </p:nvSpPr>
        <p:spPr>
          <a:xfrm>
            <a:off x="2037226" y="4949444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88" name="Shape 77"/>
          <p:cNvSpPr/>
          <p:nvPr/>
        </p:nvSpPr>
        <p:spPr>
          <a:xfrm>
            <a:off x="4803775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4137616" y="4949444"/>
            <a:ext cx="133231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4137616" y="4949444"/>
            <a:ext cx="133231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MOETEN + infinitif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Text 82"/>
          <p:cNvSpPr txBox="1"/>
          <p:nvPr/>
        </p:nvSpPr>
        <p:spPr>
          <a:xfrm>
            <a:off x="1051560" y="5309616"/>
            <a:ext cx="23152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buurman maakt</a:t>
            </a:r>
            <a:endParaRPr lang="en-US" sz="2000" dirty="0"/>
          </a:p>
        </p:txBody>
      </p:sp>
      <p:sp>
        <p:nvSpPr>
          <p:cNvPr id="94" name="Shape 83"/>
          <p:cNvSpPr/>
          <p:nvPr/>
        </p:nvSpPr>
        <p:spPr>
          <a:xfrm>
            <a:off x="3332734" y="5322316"/>
            <a:ext cx="564134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3332734" y="5309616"/>
            <a:ext cx="5641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zelfs</a:t>
            </a:r>
            <a:endParaRPr lang="en-US" sz="2000" dirty="0"/>
          </a:p>
        </p:txBody>
      </p:sp>
      <p:sp>
        <p:nvSpPr>
          <p:cNvPr id="96" name="Text 85"/>
          <p:cNvSpPr txBox="1"/>
          <p:nvPr/>
        </p:nvSpPr>
        <p:spPr>
          <a:xfrm>
            <a:off x="3999992" y="5309616"/>
            <a:ext cx="53002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eigen tandpasta… maar die smaakt naar zeep!</a:t>
            </a:r>
            <a:endParaRPr lang="en-US" sz="2000" dirty="0"/>
          </a:p>
        </p:txBody>
      </p:sp>
      <p:sp>
        <p:nvSpPr>
          <p:cNvPr id="97" name="Shape 86"/>
          <p:cNvSpPr/>
          <p:nvPr/>
        </p:nvSpPr>
        <p:spPr>
          <a:xfrm>
            <a:off x="361480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8" name="Shape 87"/>
          <p:cNvSpPr/>
          <p:nvPr/>
        </p:nvSpPr>
        <p:spPr>
          <a:xfrm>
            <a:off x="3305086" y="5677916"/>
            <a:ext cx="61943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88"/>
          <p:cNvSpPr txBox="1"/>
          <p:nvPr/>
        </p:nvSpPr>
        <p:spPr>
          <a:xfrm>
            <a:off x="3305086" y="5677916"/>
            <a:ext cx="61943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ZELFS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Overlast van de buren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1687068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223260"/>
            <a:ext cx="4700016" cy="168706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17264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1792" y="3155777"/>
            <a:ext cx="4700016" cy="134965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peaker high volu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941088"/>
            <a:ext cx="809793" cy="809793"/>
          </a:xfrm>
          <a:prstGeom prst="rect">
            <a:avLst/>
          </a:prstGeom>
        </p:spPr>
      </p:pic>
      <p:pic>
        <p:nvPicPr>
          <p:cNvPr id="14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96" y="1738640"/>
            <a:ext cx="674827" cy="674827"/>
          </a:xfrm>
          <a:prstGeom prst="rect">
            <a:avLst/>
          </a:prstGeom>
        </p:spPr>
      </p:pic>
      <p:pic>
        <p:nvPicPr>
          <p:cNvPr id="15" name="Image 3" descr="woman danc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3799" y="1704899"/>
            <a:ext cx="1349654" cy="1349654"/>
          </a:xfrm>
          <a:prstGeom prst="rect">
            <a:avLst/>
          </a:prstGeom>
        </p:spPr>
      </p:pic>
      <p:pic>
        <p:nvPicPr>
          <p:cNvPr id="16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804" y="2008571"/>
            <a:ext cx="809793" cy="809793"/>
          </a:xfrm>
          <a:prstGeom prst="rect">
            <a:avLst/>
          </a:prstGeom>
        </p:spPr>
      </p:pic>
      <p:pic>
        <p:nvPicPr>
          <p:cNvPr id="17" name="Image 5" descr="b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3" y="3628156"/>
            <a:ext cx="1079724" cy="1079724"/>
          </a:xfrm>
          <a:prstGeom prst="rect">
            <a:avLst/>
          </a:prstGeom>
        </p:spPr>
      </p:pic>
      <p:pic>
        <p:nvPicPr>
          <p:cNvPr id="18" name="Image 6" descr="sleepy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9799" y="3560674"/>
            <a:ext cx="944758" cy="944758"/>
          </a:xfrm>
          <a:prstGeom prst="rect">
            <a:avLst/>
          </a:prstGeom>
        </p:spPr>
      </p:pic>
      <p:pic>
        <p:nvPicPr>
          <p:cNvPr id="19" name="Image 7" descr="alarm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99804" y="3763122"/>
            <a:ext cx="809793" cy="809793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1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Des voisins bruyants</a:t>
            </a:r>
            <a:endParaRPr lang="en-US" sz="1500" dirty="0"/>
          </a:p>
        </p:txBody>
      </p:sp>
      <p:sp>
        <p:nvSpPr>
          <p:cNvPr id="23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Vos voisins font la fête tous les soirs. Écrivez-leur un petit mot, poli mais clair.</a:t>
            </a:r>
            <a:endParaRPr lang="en-US" sz="1300" dirty="0"/>
          </a:p>
        </p:txBody>
      </p:sp>
      <p:pic>
        <p:nvPicPr>
          <p:cNvPr id="24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Présentez-vous avec une relative :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0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problème avec le passif impersonnel : </a:t>
            </a:r>
            <a:r>
              <a:rPr lang="en-US" sz="1450" b="1" dirty="0">
                <a:solidFill>
                  <a:schemeClr val="tx1"/>
                </a:solidFill>
              </a:rPr>
              <a:t>ER WORDT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34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Nuancez avec </a:t>
            </a:r>
            <a:r>
              <a:rPr lang="en-US" sz="1450" b="1" dirty="0">
                <a:solidFill>
                  <a:schemeClr val="tx1"/>
                </a:solidFill>
              </a:rPr>
              <a:t>IK BEGRIJP DAT</a:t>
            </a:r>
            <a:r>
              <a:rPr lang="en-US" sz="1450" dirty="0">
                <a:solidFill>
                  <a:schemeClr val="tx1"/>
                </a:solidFill>
              </a:rPr>
              <a:t> …,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8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Proposez une solution avec </a:t>
            </a:r>
            <a:r>
              <a:rPr lang="en-US" sz="1450" b="1" dirty="0">
                <a:solidFill>
                  <a:schemeClr val="tx1"/>
                </a:solidFill>
              </a:rPr>
              <a:t>ZOUDEN JULLIE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KUNNEN</a:t>
            </a:r>
            <a:r>
              <a:rPr lang="en-US" sz="1450" dirty="0">
                <a:solidFill>
                  <a:schemeClr val="tx1"/>
                </a:solidFill>
              </a:rPr>
              <a:t> … ?</a:t>
            </a:r>
            <a:endParaRPr lang="en-US" sz="1450" dirty="0"/>
          </a:p>
        </p:txBody>
      </p:sp>
      <p:sp>
        <p:nvSpPr>
          <p:cNvPr id="42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sympathique avec </a:t>
            </a:r>
            <a:r>
              <a:rPr lang="en-US" sz="1450" b="1" dirty="0">
                <a:solidFill>
                  <a:schemeClr val="tx1"/>
                </a:solidFill>
              </a:rPr>
              <a:t>MISSCHIEN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Overlast van de buren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374904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783080"/>
            <a:ext cx="1060704" cy="374904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771833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85216" y="1768084"/>
            <a:ext cx="1060704" cy="29992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peaker high volu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98153"/>
            <a:ext cx="179954" cy="179954"/>
          </a:xfrm>
          <a:prstGeom prst="rect">
            <a:avLst/>
          </a:prstGeom>
        </p:spPr>
      </p:pic>
      <p:pic>
        <p:nvPicPr>
          <p:cNvPr id="14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13" y="1453164"/>
            <a:ext cx="149962" cy="149962"/>
          </a:xfrm>
          <a:prstGeom prst="rect">
            <a:avLst/>
          </a:prstGeom>
        </p:spPr>
      </p:pic>
      <p:pic>
        <p:nvPicPr>
          <p:cNvPr id="15" name="Image 3" descr="woman danc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140" y="1445666"/>
            <a:ext cx="299923" cy="299923"/>
          </a:xfrm>
          <a:prstGeom prst="rect">
            <a:avLst/>
          </a:prstGeom>
        </p:spPr>
      </p:pic>
      <p:pic>
        <p:nvPicPr>
          <p:cNvPr id="16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0137" y="1513149"/>
            <a:ext cx="179954" cy="179954"/>
          </a:xfrm>
          <a:prstGeom prst="rect">
            <a:avLst/>
          </a:prstGeom>
        </p:spPr>
      </p:pic>
      <p:pic>
        <p:nvPicPr>
          <p:cNvPr id="17" name="Image 5" descr="b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" y="1873057"/>
            <a:ext cx="239939" cy="239939"/>
          </a:xfrm>
          <a:prstGeom prst="rect">
            <a:avLst/>
          </a:prstGeom>
        </p:spPr>
      </p:pic>
      <p:pic>
        <p:nvPicPr>
          <p:cNvPr id="18" name="Image 6" descr="sleepy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926" y="1858061"/>
            <a:ext cx="209946" cy="209946"/>
          </a:xfrm>
          <a:prstGeom prst="rect">
            <a:avLst/>
          </a:prstGeom>
        </p:spPr>
      </p:pic>
      <p:pic>
        <p:nvPicPr>
          <p:cNvPr id="19" name="Image 7" descr="alarm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0137" y="1903049"/>
            <a:ext cx="179954" cy="179954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DIE</a:t>
            </a:r>
            <a:endParaRPr lang="en-US" sz="1300" dirty="0"/>
          </a:p>
        </p:txBody>
      </p:sp>
      <p:sp>
        <p:nvSpPr>
          <p:cNvPr id="24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ER WORDT + participe</a:t>
            </a:r>
            <a:endParaRPr lang="en-US" sz="1300" dirty="0"/>
          </a:p>
        </p:txBody>
      </p:sp>
      <p:sp>
        <p:nvSpPr>
          <p:cNvPr id="28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BEGRIJP DAT…, MAAR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ZOUDEN … KUNNEN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MISSCHIEN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1"/>
          <p:cNvSpPr txBox="1"/>
          <p:nvPr/>
        </p:nvSpPr>
        <p:spPr>
          <a:xfrm>
            <a:off x="1051560" y="2395728"/>
            <a:ext cx="37914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buren, ik ben Sofie, de vrouw</a:t>
            </a:r>
            <a:endParaRPr lang="en-US" sz="2000" dirty="0"/>
          </a:p>
        </p:txBody>
      </p:sp>
      <p:sp>
        <p:nvSpPr>
          <p:cNvPr id="43" name="Shape 32"/>
          <p:cNvSpPr/>
          <p:nvPr/>
        </p:nvSpPr>
        <p:spPr>
          <a:xfrm>
            <a:off x="4808982" y="2408428"/>
            <a:ext cx="41808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4808982" y="2395728"/>
            <a:ext cx="41808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000" dirty="0"/>
          </a:p>
        </p:txBody>
      </p:sp>
      <p:sp>
        <p:nvSpPr>
          <p:cNvPr id="45" name="Text 34"/>
          <p:cNvSpPr txBox="1"/>
          <p:nvPr/>
        </p:nvSpPr>
        <p:spPr>
          <a:xfrm>
            <a:off x="5330190" y="2395728"/>
            <a:ext cx="27089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tweede verdieping</a:t>
            </a:r>
            <a:endParaRPr lang="en-US" sz="2000" dirty="0"/>
          </a:p>
        </p:txBody>
      </p:sp>
      <p:sp>
        <p:nvSpPr>
          <p:cNvPr id="46" name="Shape 35"/>
          <p:cNvSpPr/>
          <p:nvPr/>
        </p:nvSpPr>
        <p:spPr>
          <a:xfrm>
            <a:off x="8005064" y="2408428"/>
            <a:ext cx="778510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8005064" y="2395728"/>
            <a:ext cx="7785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woont</a:t>
            </a:r>
            <a:endParaRPr lang="en-US" sz="2000" dirty="0"/>
          </a:p>
        </p:txBody>
      </p:sp>
      <p:sp>
        <p:nvSpPr>
          <p:cNvPr id="48" name="Text 37"/>
          <p:cNvSpPr txBox="1"/>
          <p:nvPr/>
        </p:nvSpPr>
        <p:spPr>
          <a:xfrm>
            <a:off x="8783574" y="2395728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9" name="Shape 38"/>
          <p:cNvSpPr/>
          <p:nvPr/>
        </p:nvSpPr>
        <p:spPr>
          <a:xfrm>
            <a:off x="5018024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4770717" y="2764028"/>
            <a:ext cx="49461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4770717" y="2764028"/>
            <a:ext cx="494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DIE</a:t>
            </a:r>
            <a:endParaRPr lang="en-US" sz="1050" dirty="0"/>
          </a:p>
        </p:txBody>
      </p:sp>
      <p:sp>
        <p:nvSpPr>
          <p:cNvPr id="52" name="Shape 41"/>
          <p:cNvSpPr/>
          <p:nvPr/>
        </p:nvSpPr>
        <p:spPr>
          <a:xfrm>
            <a:off x="8394319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7880512" y="2764028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7880512" y="2764028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verbe à la fin</a:t>
            </a:r>
            <a:endParaRPr lang="en-US" sz="1050" dirty="0"/>
          </a:p>
        </p:txBody>
      </p:sp>
      <p:sp>
        <p:nvSpPr>
          <p:cNvPr id="55" name="Shape 44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7" name="Text 46"/>
          <p:cNvSpPr txBox="1"/>
          <p:nvPr/>
        </p:nvSpPr>
        <p:spPr>
          <a:xfrm>
            <a:off x="1051560" y="3124200"/>
            <a:ext cx="125603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avond</a:t>
            </a:r>
            <a:endParaRPr lang="en-US" sz="2000" dirty="0"/>
          </a:p>
        </p:txBody>
      </p:sp>
      <p:sp>
        <p:nvSpPr>
          <p:cNvPr id="58" name="Shape 47"/>
          <p:cNvSpPr/>
          <p:nvPr/>
        </p:nvSpPr>
        <p:spPr>
          <a:xfrm>
            <a:off x="2273554" y="3136900"/>
            <a:ext cx="1007364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2273554" y="3124200"/>
            <a:ext cx="100736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wordt er</a:t>
            </a:r>
            <a:endParaRPr lang="en-US" sz="2000" dirty="0"/>
          </a:p>
        </p:txBody>
      </p:sp>
      <p:sp>
        <p:nvSpPr>
          <p:cNvPr id="60" name="Text 49"/>
          <p:cNvSpPr txBox="1"/>
          <p:nvPr/>
        </p:nvSpPr>
        <p:spPr>
          <a:xfrm>
            <a:off x="3384042" y="3124200"/>
            <a:ext cx="23888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twee uur ’s nachts</a:t>
            </a:r>
            <a:endParaRPr lang="en-US" sz="2000" dirty="0"/>
          </a:p>
        </p:txBody>
      </p:sp>
      <p:sp>
        <p:nvSpPr>
          <p:cNvPr id="61" name="Shape 50"/>
          <p:cNvSpPr/>
          <p:nvPr/>
        </p:nvSpPr>
        <p:spPr>
          <a:xfrm>
            <a:off x="5738876" y="3136900"/>
            <a:ext cx="86487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738876" y="3124200"/>
            <a:ext cx="8648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gefeest</a:t>
            </a:r>
            <a:endParaRPr lang="en-US" sz="2000" dirty="0"/>
          </a:p>
        </p:txBody>
      </p:sp>
      <p:sp>
        <p:nvSpPr>
          <p:cNvPr id="63" name="Text 52"/>
          <p:cNvSpPr txBox="1"/>
          <p:nvPr/>
        </p:nvSpPr>
        <p:spPr>
          <a:xfrm>
            <a:off x="6603746" y="3124200"/>
            <a:ext cx="209854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met luide muziek.</a:t>
            </a:r>
            <a:endParaRPr lang="en-US" sz="2000" dirty="0"/>
          </a:p>
        </p:txBody>
      </p:sp>
      <p:sp>
        <p:nvSpPr>
          <p:cNvPr id="64" name="Shape 53"/>
          <p:cNvSpPr/>
          <p:nvPr/>
        </p:nvSpPr>
        <p:spPr>
          <a:xfrm>
            <a:off x="2777236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2319103" y="3492500"/>
            <a:ext cx="91626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2319103" y="3492500"/>
            <a:ext cx="91626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ER WORDT</a:t>
            </a:r>
            <a:endParaRPr lang="en-US" sz="1050" dirty="0"/>
          </a:p>
        </p:txBody>
      </p:sp>
      <p:sp>
        <p:nvSpPr>
          <p:cNvPr id="67" name="Shape 56"/>
          <p:cNvSpPr/>
          <p:nvPr/>
        </p:nvSpPr>
        <p:spPr>
          <a:xfrm>
            <a:off x="6171311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5722512" y="3492500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5722512" y="3492500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0" name="Shape 59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2" name="Text 61"/>
          <p:cNvSpPr txBox="1"/>
          <p:nvPr/>
        </p:nvSpPr>
        <p:spPr>
          <a:xfrm>
            <a:off x="1051560" y="3852672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73" name="Shape 62"/>
          <p:cNvSpPr/>
          <p:nvPr/>
        </p:nvSpPr>
        <p:spPr>
          <a:xfrm>
            <a:off x="1334262" y="3865372"/>
            <a:ext cx="123723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1334262" y="3852672"/>
            <a:ext cx="12372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begrijp dat</a:t>
            </a:r>
            <a:endParaRPr lang="en-US" sz="2000" dirty="0"/>
          </a:p>
        </p:txBody>
      </p:sp>
      <p:sp>
        <p:nvSpPr>
          <p:cNvPr id="75" name="Text 64"/>
          <p:cNvSpPr txBox="1"/>
          <p:nvPr/>
        </p:nvSpPr>
        <p:spPr>
          <a:xfrm>
            <a:off x="2674620" y="3852672"/>
            <a:ext cx="215722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jullie graag feesten,</a:t>
            </a:r>
            <a:endParaRPr lang="en-US" sz="2000" dirty="0"/>
          </a:p>
        </p:txBody>
      </p:sp>
      <p:sp>
        <p:nvSpPr>
          <p:cNvPr id="76" name="Shape 65"/>
          <p:cNvSpPr/>
          <p:nvPr/>
        </p:nvSpPr>
        <p:spPr>
          <a:xfrm>
            <a:off x="4797806" y="3865372"/>
            <a:ext cx="63906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66"/>
          <p:cNvSpPr txBox="1"/>
          <p:nvPr/>
        </p:nvSpPr>
        <p:spPr>
          <a:xfrm>
            <a:off x="4797806" y="3852672"/>
            <a:ext cx="63906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000" dirty="0"/>
          </a:p>
        </p:txBody>
      </p:sp>
      <p:sp>
        <p:nvSpPr>
          <p:cNvPr id="78" name="Text 67"/>
          <p:cNvSpPr txBox="1"/>
          <p:nvPr/>
        </p:nvSpPr>
        <p:spPr>
          <a:xfrm>
            <a:off x="5539994" y="3852672"/>
            <a:ext cx="305714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moet om zes uur opstaan.</a:t>
            </a:r>
            <a:endParaRPr lang="en-US" sz="2000" dirty="0"/>
          </a:p>
        </p:txBody>
      </p:sp>
      <p:sp>
        <p:nvSpPr>
          <p:cNvPr id="79" name="Shape 68"/>
          <p:cNvSpPr/>
          <p:nvPr/>
        </p:nvSpPr>
        <p:spPr>
          <a:xfrm>
            <a:off x="1952879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0" name="Shape 69"/>
          <p:cNvSpPr/>
          <p:nvPr/>
        </p:nvSpPr>
        <p:spPr>
          <a:xfrm>
            <a:off x="1442139" y="4220972"/>
            <a:ext cx="102148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0"/>
          <p:cNvSpPr txBox="1"/>
          <p:nvPr/>
        </p:nvSpPr>
        <p:spPr>
          <a:xfrm>
            <a:off x="1442139" y="4220972"/>
            <a:ext cx="102148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BEGRIJP DAT</a:t>
            </a:r>
            <a:endParaRPr lang="en-US" sz="1050" dirty="0"/>
          </a:p>
        </p:txBody>
      </p:sp>
      <p:sp>
        <p:nvSpPr>
          <p:cNvPr id="82" name="Shape 71"/>
          <p:cNvSpPr/>
          <p:nvPr/>
        </p:nvSpPr>
        <p:spPr>
          <a:xfrm>
            <a:off x="511733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2"/>
          <p:cNvSpPr/>
          <p:nvPr/>
        </p:nvSpPr>
        <p:spPr>
          <a:xfrm>
            <a:off x="4785754" y="4220972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3"/>
          <p:cNvSpPr txBox="1"/>
          <p:nvPr/>
        </p:nvSpPr>
        <p:spPr>
          <a:xfrm>
            <a:off x="4785754" y="4220972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MAAR</a:t>
            </a:r>
            <a:endParaRPr lang="en-US" sz="1050" dirty="0"/>
          </a:p>
        </p:txBody>
      </p:sp>
      <p:sp>
        <p:nvSpPr>
          <p:cNvPr id="85" name="Shape 74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7" name="Shape 76"/>
          <p:cNvSpPr/>
          <p:nvPr/>
        </p:nvSpPr>
        <p:spPr>
          <a:xfrm>
            <a:off x="1051560" y="4593844"/>
            <a:ext cx="1460246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8" name="Text 77"/>
          <p:cNvSpPr txBox="1"/>
          <p:nvPr/>
        </p:nvSpPr>
        <p:spPr>
          <a:xfrm>
            <a:off x="1051560" y="4581144"/>
            <a:ext cx="14602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jullie</a:t>
            </a:r>
            <a:endParaRPr lang="en-US" sz="2000" dirty="0"/>
          </a:p>
        </p:txBody>
      </p:sp>
      <p:sp>
        <p:nvSpPr>
          <p:cNvPr id="89" name="Text 78"/>
          <p:cNvSpPr txBox="1"/>
          <p:nvPr/>
        </p:nvSpPr>
        <p:spPr>
          <a:xfrm>
            <a:off x="2614930" y="4581144"/>
            <a:ext cx="35026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muziek na elf uur wat zachter</a:t>
            </a:r>
            <a:endParaRPr lang="en-US" sz="2000" dirty="0"/>
          </a:p>
        </p:txBody>
      </p:sp>
      <p:sp>
        <p:nvSpPr>
          <p:cNvPr id="90" name="Shape 79"/>
          <p:cNvSpPr/>
          <p:nvPr/>
        </p:nvSpPr>
        <p:spPr>
          <a:xfrm>
            <a:off x="6083554" y="4593844"/>
            <a:ext cx="161315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1" name="Text 80"/>
          <p:cNvSpPr txBox="1"/>
          <p:nvPr/>
        </p:nvSpPr>
        <p:spPr>
          <a:xfrm>
            <a:off x="6083554" y="4581144"/>
            <a:ext cx="161315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kunnen zetten</a:t>
            </a:r>
            <a:endParaRPr lang="en-US" sz="2000" dirty="0"/>
          </a:p>
        </p:txBody>
      </p:sp>
      <p:sp>
        <p:nvSpPr>
          <p:cNvPr id="92" name="Text 81"/>
          <p:cNvSpPr txBox="1"/>
          <p:nvPr/>
        </p:nvSpPr>
        <p:spPr>
          <a:xfrm>
            <a:off x="7696708" y="4581144"/>
            <a:ext cx="2547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93" name="Shape 82"/>
          <p:cNvSpPr/>
          <p:nvPr/>
        </p:nvSpPr>
        <p:spPr>
          <a:xfrm>
            <a:off x="1781683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4" name="Shape 83"/>
          <p:cNvSpPr/>
          <p:nvPr/>
        </p:nvSpPr>
        <p:spPr>
          <a:xfrm>
            <a:off x="1200334" y="4949444"/>
            <a:ext cx="116269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1200334" y="4949444"/>
            <a:ext cx="11626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ZOUDEN JULLIE</a:t>
            </a:r>
            <a:endParaRPr lang="en-US" sz="1050" dirty="0"/>
          </a:p>
        </p:txBody>
      </p:sp>
      <p:sp>
        <p:nvSpPr>
          <p:cNvPr id="96" name="Shape 85"/>
          <p:cNvSpPr/>
          <p:nvPr/>
        </p:nvSpPr>
        <p:spPr>
          <a:xfrm>
            <a:off x="6890131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7" name="Shape 86"/>
          <p:cNvSpPr/>
          <p:nvPr/>
        </p:nvSpPr>
        <p:spPr>
          <a:xfrm>
            <a:off x="6224972" y="4949444"/>
            <a:ext cx="133031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6224972" y="4949444"/>
            <a:ext cx="133031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KUNNEN + infinitif</a:t>
            </a:r>
            <a:endParaRPr lang="en-US" sz="1050" dirty="0"/>
          </a:p>
        </p:txBody>
      </p:sp>
      <p:sp>
        <p:nvSpPr>
          <p:cNvPr id="99" name="Shape 88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89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01" name="Shape 90"/>
          <p:cNvSpPr/>
          <p:nvPr/>
        </p:nvSpPr>
        <p:spPr>
          <a:xfrm>
            <a:off x="1051560" y="5322316"/>
            <a:ext cx="237490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2" name="Text 91"/>
          <p:cNvSpPr txBox="1"/>
          <p:nvPr/>
        </p:nvSpPr>
        <p:spPr>
          <a:xfrm>
            <a:off x="1051560" y="5309616"/>
            <a:ext cx="23749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kunnen we</a:t>
            </a:r>
            <a:endParaRPr lang="en-US" sz="2000" dirty="0"/>
          </a:p>
        </p:txBody>
      </p:sp>
      <p:sp>
        <p:nvSpPr>
          <p:cNvPr id="103" name="Text 92"/>
          <p:cNvSpPr txBox="1"/>
          <p:nvPr/>
        </p:nvSpPr>
        <p:spPr>
          <a:xfrm>
            <a:off x="3529584" y="5309616"/>
            <a:ext cx="47383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eens samen een feestje geven… tot tien uur!</a:t>
            </a:r>
            <a:endParaRPr lang="en-US" sz="2000" dirty="0"/>
          </a:p>
        </p:txBody>
      </p:sp>
      <p:sp>
        <p:nvSpPr>
          <p:cNvPr id="104" name="Shape 93"/>
          <p:cNvSpPr/>
          <p:nvPr/>
        </p:nvSpPr>
        <p:spPr>
          <a:xfrm>
            <a:off x="2239010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5" name="Shape 94"/>
          <p:cNvSpPr/>
          <p:nvPr/>
        </p:nvSpPr>
        <p:spPr>
          <a:xfrm>
            <a:off x="1773276" y="5677916"/>
            <a:ext cx="9314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95"/>
          <p:cNvSpPr txBox="1"/>
          <p:nvPr/>
        </p:nvSpPr>
        <p:spPr>
          <a:xfrm>
            <a:off x="1773276" y="5677916"/>
            <a:ext cx="9314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MISSCHIEN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variantes ludiques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VARIANTES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Contre la montre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Cinq phrases en cinq minutes. Le sablier tourne !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06824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704" y="164592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58384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La chaîne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489704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Cinq apprenant·es, cinq phrases : chacun·e ajoute la sienne à l’oral.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65008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detecti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64592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16568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Devinez le critère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247888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lit sa production ; la classe retrouve les cinq critères.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9476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Le dé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731520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lance le dé : la phrase indiquée doit être dite en premier.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06824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up arr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704" y="379476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358384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Niveau supérieur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4489704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Même image, critères du niveau suivant : A1 → A2 → B1.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65008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79476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116568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La meilleure chute</a:t>
            </a:r>
            <a:endParaRPr lang="en-US" sz="1700" dirty="0"/>
          </a:p>
        </p:txBody>
      </p:sp>
      <p:sp>
        <p:nvSpPr>
          <p:cNvPr id="28" name="Text 19"/>
          <p:cNvSpPr txBox="1"/>
          <p:nvPr/>
        </p:nvSpPr>
        <p:spPr>
          <a:xfrm>
            <a:off x="8247888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Toutes les chutes au tableau ; la classe vote.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IRAM — Néerlandais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vijf zinnen — Production écrite et orale guidée (A1 · A2 · B1)</dc:title>
  <dc:subject>Néerlandais — production guidée A1 · A2 · B1</dc:subject>
  <dc:creator>A. Jouniaux</dc:creator>
  <cp:lastModifiedBy>A. Jouniaux</cp:lastModifiedBy>
  <cp:revision>1</cp:revision>
  <dcterms:created xsi:type="dcterms:W3CDTF">2026-10-09T08:03:59Z</dcterms:created>
  <dcterms:modified xsi:type="dcterms:W3CDTF">2026-10-09T08:03:59Z</dcterms:modified>
</cp:coreProperties>
</file>