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f67c5de-ee4e-2e13-8df5-44b17b2931d1}">
          <p14:sldIdLst>
            <p14:sldId id="256"/>
          </p14:sldIdLst>
        </p14:section>
        <p14:section name="Découvrir" id="{4f74dd87-ae2a-7dce-04dd-fc078a8213c8}">
          <p14:sldIdLst>
            <p14:sldId id="257"/>
            <p14:sldId id="258"/>
          </p14:sldIdLst>
        </p14:section>
        <p14:section name="Comprendre" id="{20a84184-dcc7-e4b0-da58-c17b8ff9cee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c3247e9f-4d51-d496-7523-cd56a700a95a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e5b5103-b311-01af-40e9-3575edfbaaa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relier une information à un nom.
Question d'entrée : « Comment dire la collègue qui est à côté de moi ? » Le néerlandais n'a pas de qui / que : il a die /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Les relatives permettent de préciser (« le client qui a appelé ») et de contourner un mot inconnu (« la machine qui fait des copies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relatives par la description de personnes.
Faites associer chaque phrase à un personnage. Puis relevez : die… leidt / zit / drinkt : le verbe est à la fin, comme après omdat (M9). Pourquoi het meisje dat ? Réponse diapo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l'article du nom qui précède.
Même logique que deze / dit (M20) : die pour de et le pluriel, dat pour het au singulier. On regarde le nom juste avant.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choisir selon la fonction (sujet / objet) comme en français.
Le français se demande « sujet ou objet ? » ; le néerlandais se demande seulement « de ou het ? ». Faites remarquer : qui et que donnent le même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relative comme un wagon du M9.
Comme après omdat (M9), le verbe conjugué va à la fin. Avec deux verbes, ils se retrouvent ensemble à la fin (geschreven heb, wil komen).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Insérer une relative entre le sujet et le verbe principal.
La relative s'intercale juste après le nom qu'elle décrit. La virgule est conseillée après une longue relative ; les deux verbes se touchent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relatif de la conjonction (M9) et du démonstratif (M20).
Trois emplois pour les mêmes mots. Le test du nom qui précède suffit dans presque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wat après alles, iets, niets (aperçu).
Après alles : wat. Après iets, niets : wat ou dat (les deux sont corrects, wat est plus fréquent). « ce qui / ce que » = wat. À reconnaître ; production libre en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relatives après une préposition (aperçu, lien M23).
Pour une chose, pas de met die / met dat : on dit waarmee (M23). Pour un lieu, waar = « où ». À reconnaître ici, à pratiquer au M23.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relatives comme stratégie de communication.
Quand un mot manque, on le décrit : c'est la stratégie la plus utile en conversation. iemand → die ; een ding (het) → dat ; een machine (de) → die ; een plek → waar.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noms de personnes en het.
het meisje est un diminutif (M14) : donc het ; het lid = le membre. À l'oral, on entend parfois het meisje die ; la norme écrite est dat.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relatif selon le nom qui précède.
Faites dire l'article du nom avant chaque réponse : de klant → die. N° 4 et 10 : noms het de personnes ou de groupes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relative avec le verbe à la fin.
Le pronom de la 2e phrase (hij, het, ze, hem) disparaît : die / dat le remplace. N° 2 et 6 : l'ordre gekocht heb ou heb gekocht est accepté (M15).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qui / que sans calquer le français.
Montrez les paires 1-2 et 3-4 : qui et que donnent le même mot. N° 5 : particule recollée à la fin (aankomen, M11). N° 6 : het kind → dat, même pour une personne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Comprendre des définitions avec des relatives.
Ensuite, chacun écrit une devinette pour la classe avec Het is iemand die… / een ding dat… / een plek waar…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Leurres : de nieuwe stagiaire die bij ons komt werken et Het project dat ze gaat doen, is… sont corrects. N° 3 : le verbe va à la fin de la relative (diapo 6). N° 4 : après iets, jamais die : wat (ou dat, correct aussi) (diapo 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Définir des mots à l'oral avec des relatives.
Mots interdits (au dos des cartes) : leraar → school, les ; printer → papier, afdrukken ; ziekenhuis → dokter, ziek ; paraplu → regen, nat ; kok → keuken, eten ; luchthaven → vliegtuig, reizen. (NL : aussi het vliegveld)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présenter l'équipe à un nouveau collègue.
B pose au moins 3 questions avec Wie is de man / de vrouw die…? Inversez les rôles : chacun présente sa propre équipe ou sa famille.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dat · die.
2. Ik heb een collega die in Gent woont.
3. Het is iemand die brood bakt.
Teaser M23 : Waar denk je aan? — Ik denk eraan!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22 · Die of dat?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22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Die of dat?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pronoms relatifs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 collega die naast me zit · het bureau dat bij het raam staat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9144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collega </a:t>
            </a: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naast me zit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818120" y="27889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het bureau </a:t>
            </a:r>
            <a:r>
              <a:rPr lang="en-US" sz="2100" b="1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bij het raam staat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</a:t>
            </a: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de klant die… · het rapport dat…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le verbe à la fin : </a:t>
            </a:r>
            <a:r>
              <a:rPr lang="en-US" sz="2000" i="1" dirty="0">
                <a:solidFill>
                  <a:schemeClr val="tx1"/>
                </a:solidFill>
              </a:rPr>
              <a:t>de collega die naast me </a:t>
            </a:r>
            <a:r>
              <a:rPr lang="en-US" sz="2000" b="1" i="1" dirty="0">
                <a:solidFill>
                  <a:schemeClr val="tx1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Définir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J’explique un mot que je ne connais pas : 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relatives servent à préciser (« le client qui a appelé ») et à contourner un mot inconnu (« la machine qui fait des copies »).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Wie is wie?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846320" cy="338328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37360"/>
            <a:ext cx="4480560" cy="3017520"/>
          </a:xfrm>
          <a:prstGeom prst="rect">
            <a:avLst/>
          </a:prstGeom>
          <a:solidFill>
            <a:srgbClr val="EAF1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1005840" cy="1005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17043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17043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</a:t>
            </a:r>
            <a:endParaRPr lang="en-US" sz="1400" dirty="0"/>
          </a:p>
        </p:txBody>
      </p:sp>
      <p:pic>
        <p:nvPicPr>
          <p:cNvPr id="10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377440"/>
            <a:ext cx="1005840" cy="100584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6771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226771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</a:t>
            </a:r>
            <a:endParaRPr lang="en-US" sz="1400" dirty="0"/>
          </a:p>
        </p:txBody>
      </p:sp>
      <p:pic>
        <p:nvPicPr>
          <p:cNvPr id="1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2377440"/>
            <a:ext cx="1005840" cy="10058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36499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336499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</a:t>
            </a:r>
            <a:endParaRPr lang="en-US" sz="1400" dirty="0"/>
          </a:p>
        </p:txBody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377440"/>
            <a:ext cx="1005840" cy="100584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4416552" y="3520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4416552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</a:t>
            </a:r>
            <a:endParaRPr lang="en-US" sz="1400" dirty="0"/>
          </a:p>
        </p:txBody>
      </p:sp>
      <p:pic>
        <p:nvPicPr>
          <p:cNvPr id="19" name="Image 4" descr="hot bever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017520"/>
            <a:ext cx="411480" cy="41148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5669280" y="155448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5833872" y="155448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An is de vrouw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de vergadering </a:t>
            </a:r>
            <a:r>
              <a:rPr lang="en-US" sz="1700" b="1" i="1" dirty="0">
                <a:solidFill>
                  <a:schemeClr val="accent6"/>
                </a:solidFill>
              </a:rPr>
              <a:t>leidt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2" name="Shape 14"/>
          <p:cNvSpPr/>
          <p:nvPr/>
        </p:nvSpPr>
        <p:spPr>
          <a:xfrm>
            <a:off x="5669280" y="242316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5833872" y="242316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Karim is de man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naast het raam </a:t>
            </a:r>
            <a:r>
              <a:rPr lang="en-US" sz="1700" b="1" i="1" dirty="0">
                <a:solidFill>
                  <a:schemeClr val="accent6"/>
                </a:solidFill>
              </a:rPr>
              <a:t>zit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669280" y="329184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833872" y="329184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Lotte is de stagiaire </a:t>
            </a:r>
            <a:r>
              <a:rPr lang="en-US" sz="1700" b="1" i="1" dirty="0">
                <a:solidFill>
                  <a:schemeClr val="tx2"/>
                </a:solidFill>
              </a:rPr>
              <a:t>die</a:t>
            </a:r>
            <a:r>
              <a:rPr lang="en-US" sz="1700" i="1" dirty="0">
                <a:solidFill>
                  <a:schemeClr val="tx1"/>
                </a:solidFill>
              </a:rPr>
              <a:t> koffie </a:t>
            </a:r>
            <a:r>
              <a:rPr lang="en-US" sz="1700" b="1" i="1" dirty="0">
                <a:solidFill>
                  <a:schemeClr val="accent6"/>
                </a:solidFill>
              </a:rPr>
              <a:t>drinkt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18"/>
          <p:cNvSpPr/>
          <p:nvPr/>
        </p:nvSpPr>
        <p:spPr>
          <a:xfrm>
            <a:off x="5669280" y="4160520"/>
            <a:ext cx="5971032" cy="731520"/>
          </a:xfrm>
          <a:prstGeom prst="roundRect">
            <a:avLst>
              <a:gd name="adj" fmla="val 22500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833872" y="4160520"/>
            <a:ext cx="56418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· </a:t>
            </a:r>
            <a:r>
              <a:rPr lang="en-US" sz="1700" i="1" dirty="0">
                <a:solidFill>
                  <a:schemeClr val="tx1"/>
                </a:solidFill>
              </a:rPr>
              <a:t>Het meisje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chemeClr val="accent6"/>
                </a:solidFill>
              </a:rPr>
              <a:t>lacht</a:t>
            </a:r>
            <a:r>
              <a:rPr lang="en-US" sz="1700" i="1" dirty="0">
                <a:solidFill>
                  <a:schemeClr val="tx1"/>
                </a:solidFill>
              </a:rPr>
              <a:t>, is de dochter van An.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9" name="Image 5" descr="think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Associez chaque phrase à une personne (A–D).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 remarquez-vous ? Le petit mot </a:t>
            </a:r>
            <a:r>
              <a:rPr lang="en-US" sz="1800" i="1" dirty="0">
                <a:solidFill>
                  <a:schemeClr val="tx1"/>
                </a:solidFill>
              </a:rPr>
              <a:t>die / dat</a:t>
            </a:r>
            <a:r>
              <a:rPr lang="en-US" sz="1800" dirty="0">
                <a:solidFill>
                  <a:schemeClr val="tx1"/>
                </a:solidFill>
              </a:rPr>
              <a:t> et la </a:t>
            </a:r>
            <a:r>
              <a:rPr lang="en-US" sz="1800" b="1" dirty="0">
                <a:solidFill>
                  <a:schemeClr val="tx1"/>
                </a:solidFill>
              </a:rPr>
              <a:t>place du verbe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die ou dat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DE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82880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klant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24612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4612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mot HET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3246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rapport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663440"/>
            <a:ext cx="1828800" cy="868680"/>
          </a:xfrm>
          <a:prstGeom prst="roundRect">
            <a:avLst>
              <a:gd name="adj" fmla="val 1052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46634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PLURIEL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46888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rapporten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331720"/>
            <a:ext cx="146304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35040" y="233172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die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6035040" y="3977640"/>
            <a:ext cx="146304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0" y="39776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dat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4251960" y="2258568"/>
            <a:ext cx="1737360" cy="530352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4251960" y="3675888"/>
            <a:ext cx="1737360" cy="758952"/>
          </a:xfrm>
          <a:prstGeom prst="line">
            <a:avLst/>
          </a:prstGeom>
          <a:noFill/>
          <a:ln w="508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 flipV="1">
            <a:off x="4251960" y="2788920"/>
            <a:ext cx="1737360" cy="2304288"/>
          </a:xfrm>
          <a:prstGeom prst="line">
            <a:avLst/>
          </a:prstGeom>
          <a:noFill/>
          <a:ln w="508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772400" y="2103120"/>
            <a:ext cx="38679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belt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rapporten </a:t>
            </a:r>
            <a:r>
              <a:rPr lang="en-US" sz="1900" b="1" i="1" dirty="0">
                <a:solidFill>
                  <a:schemeClr val="tx2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klaar zijn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0" y="397764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rapport </a:t>
            </a:r>
            <a:r>
              <a:rPr lang="en-US" sz="1900" b="1" i="1" dirty="0">
                <a:solidFill>
                  <a:schemeClr val="accent1"/>
                </a:solidFill>
              </a:rPr>
              <a:t>dat</a:t>
            </a:r>
            <a:r>
              <a:rPr lang="en-US" sz="1900" i="1" dirty="0">
                <a:solidFill>
                  <a:schemeClr val="tx1"/>
                </a:solidFill>
              </a:rPr>
              <a:t> klaar is</a:t>
            </a:r>
            <a:endParaRPr lang="en-US" sz="1900" dirty="0"/>
          </a:p>
        </p:txBody>
      </p:sp>
      <p:sp>
        <p:nvSpPr>
          <p:cNvPr id="23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Comme </a:t>
            </a:r>
            <a:r>
              <a:rPr lang="en-US" sz="1700" i="1" dirty="0">
                <a:solidFill>
                  <a:schemeClr val="bg1"/>
                </a:solidFill>
              </a:rPr>
              <a:t>deze / dit</a:t>
            </a:r>
            <a:r>
              <a:rPr lang="en-US" sz="1700" dirty="0">
                <a:solidFill>
                  <a:schemeClr val="bg1"/>
                </a:solidFill>
              </a:rPr>
              <a:t> (M20) : on regarde le </a:t>
            </a:r>
            <a:r>
              <a:rPr lang="en-US" sz="1700" b="1" dirty="0">
                <a:solidFill>
                  <a:schemeClr val="bg1"/>
                </a:solidFill>
              </a:rPr>
              <a:t>nom juste avant</a:t>
            </a:r>
            <a:r>
              <a:rPr lang="en-US" sz="1700" dirty="0">
                <a:solidFill>
                  <a:schemeClr val="bg1"/>
                </a:solidFill>
              </a:rPr>
              <a:t>. </a:t>
            </a:r>
            <a:r>
              <a:rPr lang="en-US" sz="1700" i="1" dirty="0">
                <a:solidFill>
                  <a:schemeClr val="bg1"/>
                </a:solidFill>
              </a:rPr>
              <a:t>de</a:t>
            </a:r>
            <a:r>
              <a:rPr lang="en-US" sz="1700" dirty="0">
                <a:solidFill>
                  <a:schemeClr val="bg1"/>
                </a:solidFill>
              </a:rPr>
              <a:t> + pluriel → </a:t>
            </a:r>
            <a:r>
              <a:rPr lang="en-US" sz="1700" i="1" dirty="0">
                <a:solidFill>
                  <a:schemeClr val="bg1"/>
                </a:solidFill>
              </a:rPr>
              <a:t>die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→ </a:t>
            </a:r>
            <a:r>
              <a:rPr lang="en-US" sz="1700" i="1" dirty="0">
                <a:solidFill>
                  <a:schemeClr val="bg1"/>
                </a:solidFill>
              </a:rPr>
              <a:t>dat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qui ou que ? Peu importe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2148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travaille ici »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543800" y="2560320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909560" y="2221992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2219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hier werkt</a:t>
            </a:r>
            <a:endParaRPr lang="en-US" sz="1800" dirty="0"/>
          </a:p>
        </p:txBody>
      </p:sp>
      <p:pic>
        <p:nvPicPr>
          <p:cNvPr id="12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36392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044952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collègue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je connais »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7543800" y="345643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7909560" y="3118104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046720" y="311810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de collega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ik ken</a:t>
            </a:r>
            <a:endParaRPr lang="en-US" sz="1800" dirty="0"/>
          </a:p>
        </p:txBody>
      </p:sp>
      <p:pic>
        <p:nvPicPr>
          <p:cNvPr id="17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32504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54480" y="3941064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qui</a:t>
            </a:r>
            <a:r>
              <a:rPr lang="en-US" sz="1700" dirty="0">
                <a:solidFill>
                  <a:schemeClr val="tx1"/>
                </a:solidFill>
              </a:rPr>
              <a:t> est prêt »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7543800" y="4352544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4"/>
          <p:cNvSpPr/>
          <p:nvPr/>
        </p:nvSpPr>
        <p:spPr>
          <a:xfrm>
            <a:off x="7909560" y="4014216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046720" y="401421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klaar is</a:t>
            </a:r>
            <a:endParaRPr lang="en-US" sz="1800" dirty="0"/>
          </a:p>
        </p:txBody>
      </p:sp>
      <p:pic>
        <p:nvPicPr>
          <p:cNvPr id="22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928616"/>
            <a:ext cx="640080" cy="6400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54480" y="4837176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rapport </a:t>
            </a:r>
            <a:r>
              <a:rPr lang="en-US" sz="1700" b="1" dirty="0">
                <a:solidFill>
                  <a:schemeClr val="tx1"/>
                </a:solidFill>
              </a:rPr>
              <a:t>que</a:t>
            </a:r>
            <a:r>
              <a:rPr lang="en-US" sz="1700" dirty="0">
                <a:solidFill>
                  <a:schemeClr val="tx1"/>
                </a:solidFill>
              </a:rPr>
              <a:t> j’écris »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7543800" y="5248656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7909560" y="4910328"/>
            <a:ext cx="3566160" cy="685800"/>
          </a:xfrm>
          <a:prstGeom prst="roundRect">
            <a:avLst>
              <a:gd name="adj" fmla="val 1333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046720" y="491032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rapport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ik schrijf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demande « sujet ou objet ? ». Le néerlandais : « </a:t>
            </a:r>
            <a:r>
              <a:rPr lang="en-US" sz="1800" i="1" dirty="0">
                <a:solidFill>
                  <a:schemeClr val="bg1"/>
                </a:solidFill>
              </a:rPr>
              <a:t>de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i="1" dirty="0">
                <a:solidFill>
                  <a:schemeClr val="bg1"/>
                </a:solidFill>
              </a:rPr>
              <a:t>het</a:t>
            </a:r>
            <a:r>
              <a:rPr lang="en-US" sz="1800" dirty="0">
                <a:solidFill>
                  <a:schemeClr val="bg1"/>
                </a:solidFill>
              </a:rPr>
              <a:t> ? »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verbe va à la fin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PHRASE PRINCIPALE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554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LA RELATIVE (le wagon, M9)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19659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ken de man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33756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33756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4389120" y="196596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naast Sofie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6492240" y="196596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9659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zit.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3017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175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Dit is het rapport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3337560" y="301752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7560" y="3017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dat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4389120" y="301752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89120" y="30175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gisteren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6309360" y="3017520"/>
            <a:ext cx="3017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09360" y="3017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geschreven heb.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406908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40690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bel de klant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337560" y="4069080"/>
            <a:ext cx="914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33756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die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389120" y="4069080"/>
            <a:ext cx="1188720" cy="731520"/>
          </a:xfrm>
          <a:prstGeom prst="roundRect">
            <a:avLst>
              <a:gd name="adj" fmla="val 10000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0" y="40690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669280" y="4069080"/>
            <a:ext cx="182880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669280" y="4069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 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Comme après </a:t>
            </a:r>
            <a:r>
              <a:rPr lang="en-US" sz="1800" i="1" dirty="0">
                <a:solidFill>
                  <a:schemeClr val="bg1"/>
                </a:solidFill>
              </a:rPr>
              <a:t>omdat</a:t>
            </a:r>
            <a:r>
              <a:rPr lang="en-US" sz="1800" dirty="0">
                <a:solidFill>
                  <a:schemeClr val="bg1"/>
                </a:solidFill>
              </a:rPr>
              <a:t> (M9) : le verbe conjugué va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. Avec deux verbes, ils se retrouvent ensemble à la fin.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relative au milieu de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28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collega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2359152" y="182880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359152" y="1828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209544" y="182880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09544" y="18288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naast 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745736" y="1828800"/>
            <a:ext cx="8229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45736" y="18288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zit,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641848" y="182880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41848" y="182880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heet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629400" y="1828800"/>
            <a:ext cx="118872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29400" y="18288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4745736" y="2697480"/>
            <a:ext cx="181051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745736" y="2697480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322576" y="1719072"/>
            <a:ext cx="32826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54864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bureau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2359152" y="3291840"/>
            <a:ext cx="77724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35915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dat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3209544" y="3291840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09544" y="32918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bij het raam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202936" y="3291840"/>
            <a:ext cx="1051560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202936" y="3291840"/>
            <a:ext cx="1051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staat,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6327648" y="3291840"/>
            <a:ext cx="640080" cy="77724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7648" y="3291840"/>
            <a:ext cx="640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is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7040880" y="329184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040880" y="32918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van Karim.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202936" y="4160520"/>
            <a:ext cx="176479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202936" y="4160520"/>
            <a:ext cx="1764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verbe, verbe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2322576" y="3182112"/>
            <a:ext cx="3968496" cy="996696"/>
          </a:xfrm>
          <a:prstGeom prst="roundRect">
            <a:avLst>
              <a:gd name="adj" fmla="val 9174"/>
            </a:avLst>
          </a:prstGeom>
          <a:noFill/>
          <a:ln w="25400">
            <a:solidFill>
              <a:srgbClr val="D9700F"/>
            </a:solidFill>
            <a:prstDash val="dash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la relative s’intercale juste après le nom qu’elle décrit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1206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120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verbes se touchent autour de la virgule (« verbe, verbe », M9). La virgule est conseillée après une longue relative.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dat ≠ dat, die ≠ die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ag"/>
          <p:cNvSpPr/>
          <p:nvPr/>
        </p:nvSpPr>
        <p:spPr>
          <a:xfrm>
            <a:off x="777240" y="2331720"/>
            <a:ext cx="2236013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conjonction (M9)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2148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denk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hij komt.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21488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pas de nom avant</a:t>
            </a:r>
            <a:endParaRPr lang="en-US" sz="1500" dirty="0"/>
          </a:p>
        </p:txBody>
      </p:sp>
      <p:sp>
        <p:nvSpPr>
          <p:cNvPr id="10" name="tag"/>
          <p:cNvSpPr/>
          <p:nvPr/>
        </p:nvSpPr>
        <p:spPr>
          <a:xfrm>
            <a:off x="777240" y="315468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718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huis </a:t>
            </a:r>
            <a:r>
              <a:rPr lang="en-US" sz="2000" b="1" i="1" dirty="0">
                <a:solidFill>
                  <a:schemeClr val="tx1"/>
                </a:solidFill>
              </a:rPr>
              <a:t>dat</a:t>
            </a:r>
            <a:r>
              <a:rPr lang="en-US" sz="2000" i="1" dirty="0">
                <a:solidFill>
                  <a:schemeClr val="tx1"/>
                </a:solidFill>
              </a:rPr>
              <a:t> ik koop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8321040" y="29718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3" name="tag"/>
          <p:cNvSpPr/>
          <p:nvPr/>
        </p:nvSpPr>
        <p:spPr>
          <a:xfrm>
            <a:off x="777240" y="3977640"/>
            <a:ext cx="2579522" cy="347472"/>
          </a:xfrm>
          <a:prstGeom prst="roundRect">
            <a:avLst>
              <a:gd name="adj" fmla="val 13158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démonstratif (M20)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7947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collega is aardig.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devant un nom</a:t>
            </a:r>
            <a:endParaRPr lang="en-US" sz="1500" dirty="0"/>
          </a:p>
        </p:txBody>
      </p:sp>
      <p:sp>
        <p:nvSpPr>
          <p:cNvPr id="16" name="tag"/>
          <p:cNvSpPr/>
          <p:nvPr/>
        </p:nvSpPr>
        <p:spPr>
          <a:xfrm>
            <a:off x="777240" y="4800600"/>
            <a:ext cx="1183996" cy="347472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relatif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4617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collega </a:t>
            </a:r>
            <a:r>
              <a:rPr lang="en-US" sz="2000" b="1" i="1" dirty="0">
                <a:solidFill>
                  <a:schemeClr val="tx1"/>
                </a:solidFill>
              </a:rPr>
              <a:t>die</a:t>
            </a:r>
            <a:r>
              <a:rPr lang="en-US" sz="2000" i="1" dirty="0">
                <a:solidFill>
                  <a:schemeClr val="tx1"/>
                </a:solidFill>
              </a:rPr>
              <a:t> aardig is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6177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nom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juste avant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Test : y a-t-il un </a:t>
            </a:r>
            <a:r>
              <a:rPr lang="en-US" sz="1800" b="1" dirty="0">
                <a:solidFill>
                  <a:schemeClr val="bg1"/>
                </a:solidFill>
              </a:rPr>
              <a:t>nom juste avant</a:t>
            </a:r>
            <a:r>
              <a:rPr lang="en-US" sz="1800" dirty="0">
                <a:solidFill>
                  <a:schemeClr val="bg1"/>
                </a:solidFill>
              </a:rPr>
              <a:t> ? → c’est un relatif.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wat après alles, iets, niets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speech ballo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alles wat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Alles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zegt, is waar.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rapped gi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19344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iets wat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4550664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je zal helpen.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light 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192768" y="1737360"/>
            <a:ext cx="23103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wat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8324088" y="2651760"/>
            <a:ext cx="3087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Er is niets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niet begrijp.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548640" y="452628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45262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Je fais </a:t>
            </a:r>
            <a:r>
              <a:rPr lang="en-US" sz="1900" b="1" dirty="0">
                <a:solidFill>
                  <a:schemeClr val="tx1"/>
                </a:solidFill>
              </a:rPr>
              <a:t>ce que</a:t>
            </a:r>
            <a:r>
              <a:rPr lang="en-US" sz="1900" dirty="0">
                <a:solidFill>
                  <a:schemeClr val="tx1"/>
                </a:solidFill>
              </a:rPr>
              <a:t> je veux. » → </a:t>
            </a:r>
            <a:r>
              <a:rPr lang="en-US" sz="1900" i="1" dirty="0">
                <a:solidFill>
                  <a:schemeClr val="tx1"/>
                </a:solidFill>
              </a:rPr>
              <a:t>Ik doe </a:t>
            </a:r>
            <a:r>
              <a:rPr lang="en-US" sz="1900" b="1" i="1" dirty="0">
                <a:solidFill>
                  <a:schemeClr val="tx1"/>
                </a:solidFill>
              </a:rPr>
              <a:t>wat</a:t>
            </a:r>
            <a:r>
              <a:rPr lang="en-US" sz="1900" i="1" dirty="0">
                <a:solidFill>
                  <a:schemeClr val="tx1"/>
                </a:solidFill>
              </a:rPr>
              <a:t> ik wil.</a:t>
            </a:r>
            <a:r>
              <a:rPr lang="en-US" sz="1900" dirty="0">
                <a:solidFill>
                  <a:schemeClr val="tx1"/>
                </a:solidFill>
              </a:rPr>
              <a:t> — « ce qui / ce que » = </a:t>
            </a:r>
            <a:r>
              <a:rPr lang="en-US" sz="1900" i="1" dirty="0">
                <a:solidFill>
                  <a:schemeClr val="tx1"/>
                </a:solidFill>
              </a:rPr>
              <a:t>wat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Après </a:t>
            </a:r>
            <a:r>
              <a:rPr lang="en-US" sz="1500" i="1" dirty="0">
                <a:solidFill>
                  <a:schemeClr val="accent5"/>
                </a:solidFill>
              </a:rPr>
              <a:t>iets, niets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ou </a:t>
            </a:r>
            <a:r>
              <a:rPr lang="en-US" sz="1500" i="1" dirty="0">
                <a:solidFill>
                  <a:schemeClr val="accent5"/>
                </a:solidFill>
              </a:rPr>
              <a:t>dat</a:t>
            </a:r>
            <a:r>
              <a:rPr lang="en-US" sz="1500" i="1" dirty="0">
                <a:solidFill>
                  <a:schemeClr val="accent5"/>
                </a:solidFill>
              </a:rPr>
              <a:t> (les deux sont corrects,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 plus fréquent). Après </a:t>
            </a:r>
            <a:r>
              <a:rPr lang="en-US" sz="1500" i="1" dirty="0">
                <a:solidFill>
                  <a:schemeClr val="accent5"/>
                </a:solidFill>
              </a:rPr>
              <a:t>alles</a:t>
            </a:r>
            <a:r>
              <a:rPr lang="en-US" sz="1500" i="1" dirty="0">
                <a:solidFill>
                  <a:schemeClr val="accent5"/>
                </a:solidFill>
              </a:rPr>
              <a:t> : </a:t>
            </a:r>
            <a:r>
              <a:rPr lang="en-US" sz="1500" i="1" dirty="0">
                <a:solidFill>
                  <a:schemeClr val="accent5"/>
                </a:solidFill>
              </a:rPr>
              <a:t>wat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une préposition : met wie, waarmee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PERSONNES</a:t>
            </a:r>
            <a:endParaRPr lang="en-US" sz="1700" dirty="0"/>
          </a:p>
        </p:txBody>
      </p:sp>
      <p:pic>
        <p:nvPicPr>
          <p:cNvPr id="8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préposition + </a:t>
            </a:r>
            <a:r>
              <a:rPr lang="en-US" sz="1800" b="1" i="1" dirty="0">
                <a:solidFill>
                  <a:schemeClr val="accent2"/>
                </a:solidFill>
              </a:rPr>
              <a:t>wie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collega </a:t>
            </a:r>
            <a:r>
              <a:rPr lang="en-US" sz="1900" b="1" i="1" dirty="0">
                <a:solidFill>
                  <a:schemeClr val="tx1"/>
                </a:solidFill>
              </a:rPr>
              <a:t>met wie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klant </a:t>
            </a:r>
            <a:r>
              <a:rPr lang="en-US" sz="1900" b="1" i="1" dirty="0">
                <a:solidFill>
                  <a:schemeClr val="tx1"/>
                </a:solidFill>
              </a:rPr>
              <a:t>aan wie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554480"/>
            <a:ext cx="5413248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CHOSES</a:t>
            </a:r>
            <a:endParaRPr lang="en-US" sz="1700" dirty="0"/>
          </a:p>
        </p:txBody>
      </p:sp>
      <p:pic>
        <p:nvPicPr>
          <p:cNvPr id="14" name="Image 1" descr="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24028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24344" y="224028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6E4A9E"/>
                </a:solidFill>
              </a:rPr>
              <a:t>waar</a:t>
            </a:r>
            <a:r>
              <a:rPr lang="en-US" sz="1800" b="1" dirty="0">
                <a:solidFill>
                  <a:srgbClr val="6E4A9E"/>
                </a:solidFill>
              </a:rPr>
              <a:t> + préposition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501384" y="30632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pen </a:t>
            </a:r>
            <a:r>
              <a:rPr lang="en-US" sz="1900" b="1" i="1" dirty="0">
                <a:solidFill>
                  <a:schemeClr val="tx1"/>
                </a:solidFill>
              </a:rPr>
              <a:t>waarmee</a:t>
            </a:r>
            <a:r>
              <a:rPr lang="en-US" sz="1900" i="1" dirty="0">
                <a:solidFill>
                  <a:schemeClr val="tx1"/>
                </a:solidFill>
              </a:rPr>
              <a:t> ik schrijf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project </a:t>
            </a:r>
            <a:r>
              <a:rPr lang="en-US" sz="1900" b="1" i="1" dirty="0">
                <a:solidFill>
                  <a:schemeClr val="tx1"/>
                </a:solidFill>
              </a:rPr>
              <a:t>waaraan</a:t>
            </a:r>
            <a:r>
              <a:rPr lang="en-US" sz="1900" i="1" dirty="0">
                <a:solidFill>
                  <a:schemeClr val="tx1"/>
                </a:solidFill>
              </a:rPr>
              <a:t> ik werk</a:t>
            </a:r>
            <a:endParaRPr lang="en-US" sz="1900" dirty="0"/>
          </a:p>
        </p:txBody>
      </p:sp>
      <p:sp>
        <p:nvSpPr>
          <p:cNvPr id="17" name="Shape 12"/>
          <p:cNvSpPr/>
          <p:nvPr/>
        </p:nvSpPr>
        <p:spPr>
          <a:xfrm>
            <a:off x="548640" y="47548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LIEUX : </a:t>
            </a:r>
            <a:r>
              <a:rPr lang="en-US" sz="1800" i="1" dirty="0">
                <a:solidFill>
                  <a:schemeClr val="tx1"/>
                </a:solidFill>
              </a:rPr>
              <a:t>de stad </a:t>
            </a:r>
            <a:r>
              <a:rPr lang="en-US" sz="1800" b="1" i="1" dirty="0">
                <a:solidFill>
                  <a:schemeClr val="tx1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ik woon</a:t>
            </a:r>
            <a:r>
              <a:rPr lang="en-US" sz="1800" dirty="0">
                <a:solidFill>
                  <a:schemeClr val="tx1"/>
                </a:solidFill>
              </a:rPr>
              <a:t> (où) · 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 pen met die ik schrijf</a:t>
            </a:r>
            <a:r>
              <a:rPr lang="en-US" sz="1800" dirty="0">
                <a:solidFill>
                  <a:schemeClr val="tx1"/>
                </a:solidFill>
              </a:rPr>
              <a:t> → </a:t>
            </a:r>
            <a:r>
              <a:rPr lang="en-US" sz="1800" i="1" dirty="0">
                <a:solidFill>
                  <a:schemeClr val="tx1"/>
                </a:solidFill>
              </a:rPr>
              <a:t>de pen </a:t>
            </a:r>
            <a:r>
              <a:rPr lang="en-US" sz="1800" b="1" i="1" dirty="0">
                <a:solidFill>
                  <a:schemeClr val="tx1"/>
                </a:solidFill>
              </a:rPr>
              <a:t>waarmee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À reconnaître ici, à pratiquer au M23.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Définir un mot inconnu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ag"/>
          <p:cNvSpPr/>
          <p:nvPr/>
        </p:nvSpPr>
        <p:spPr>
          <a:xfrm>
            <a:off x="731520" y="1691640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PERSONNE</a:t>
            </a:r>
            <a:endParaRPr lang="en-US" sz="1200" dirty="0"/>
          </a:p>
        </p:txBody>
      </p:sp>
      <p:pic>
        <p:nvPicPr>
          <p:cNvPr id="7" name="Image 0" descr="person getting hair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2412" y="210312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iemand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je haar knipt.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→ </a:t>
            </a:r>
            <a:r>
              <a:rPr lang="en-US" sz="1700" b="1" dirty="0">
                <a:solidFill>
                  <a:schemeClr val="accent2"/>
                </a:solidFill>
              </a:rPr>
              <a:t>een kapper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ag"/>
          <p:cNvSpPr/>
          <p:nvPr/>
        </p:nvSpPr>
        <p:spPr>
          <a:xfrm>
            <a:off x="4504944" y="1691640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UNE CHOSE</a:t>
            </a:r>
            <a:endParaRPr lang="en-US" sz="1200" dirty="0"/>
          </a:p>
        </p:txBody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836" y="2103120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04944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machine </a:t>
            </a:r>
            <a:r>
              <a:rPr lang="en-US" sz="1800" b="1" i="1" dirty="0">
                <a:solidFill>
                  <a:schemeClr val="tx2"/>
                </a:solidFill>
              </a:rPr>
              <a:t>die</a:t>
            </a:r>
            <a:r>
              <a:rPr lang="en-US" sz="1800" i="1" dirty="0">
                <a:solidFill>
                  <a:schemeClr val="tx1"/>
                </a:solidFill>
              </a:rPr>
              <a:t> documenten kopieert.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504944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1"/>
                </a:solidFill>
              </a:rPr>
              <a:t>→ </a:t>
            </a:r>
            <a:r>
              <a:rPr lang="en-US" sz="1700" b="1" dirty="0">
                <a:solidFill>
                  <a:schemeClr val="accent1"/>
                </a:solidFill>
              </a:rPr>
              <a:t>een kopieerapparaat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133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ag"/>
          <p:cNvSpPr/>
          <p:nvPr/>
        </p:nvSpPr>
        <p:spPr>
          <a:xfrm>
            <a:off x="8278368" y="1691640"/>
            <a:ext cx="11210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UN LIEU</a:t>
            </a:r>
            <a:endParaRPr lang="en-US" sz="1200" dirty="0"/>
          </a:p>
        </p:txBody>
      </p:sp>
      <p:pic>
        <p:nvPicPr>
          <p:cNvPr id="17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0" y="2103120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78368" y="3246120"/>
            <a:ext cx="3179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een plek </a:t>
            </a:r>
            <a:r>
              <a:rPr lang="en-US" sz="1800" b="1" i="1" dirty="0">
                <a:solidFill>
                  <a:schemeClr val="accent4"/>
                </a:solidFill>
              </a:rPr>
              <a:t>waar</a:t>
            </a:r>
            <a:r>
              <a:rPr lang="en-US" sz="1800" i="1" dirty="0">
                <a:solidFill>
                  <a:schemeClr val="tx1"/>
                </a:solidFill>
              </a:rPr>
              <a:t> je boeken leent.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78368" y="42976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4A9E"/>
                </a:solidFill>
              </a:rPr>
              <a:t>→ </a:t>
            </a:r>
            <a:r>
              <a:rPr lang="en-US" sz="1700" b="1" dirty="0">
                <a:solidFill>
                  <a:srgbClr val="6E4A9E"/>
                </a:solidFill>
              </a:rPr>
              <a:t>een bibliotheek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2120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22960" y="5212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mot vous manque ? Décrivez-le : </a:t>
            </a:r>
            <a:r>
              <a:rPr lang="en-US" sz="1800" i="1" dirty="0">
                <a:solidFill>
                  <a:schemeClr val="bg1"/>
                </a:solidFill>
              </a:rPr>
              <a:t>Hoe heet een ding </a:t>
            </a:r>
            <a:r>
              <a:rPr lang="en-US" sz="1800" b="1" i="1" dirty="0">
                <a:solidFill>
                  <a:schemeClr val="bg1"/>
                </a:solidFill>
              </a:rPr>
              <a:t>dat</a:t>
            </a:r>
            <a:r>
              <a:rPr lang="en-US" sz="1800" i="1" dirty="0">
                <a:solidFill>
                  <a:schemeClr val="bg1"/>
                </a:solidFill>
              </a:rPr>
              <a:t>…?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iemand → die · een ding (het) → dat · een plek → waar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het meisje dat…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gir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945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48840" y="21945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la fille </a:t>
            </a:r>
            <a:r>
              <a:rPr lang="en-US" sz="2000" b="1" dirty="0">
                <a:solidFill>
                  <a:schemeClr val="tx1"/>
                </a:solidFill>
              </a:rPr>
              <a:t>qui</a:t>
            </a:r>
            <a:r>
              <a:rPr lang="en-US" sz="2000" dirty="0">
                <a:solidFill>
                  <a:schemeClr val="tx1"/>
                </a:solidFill>
              </a:rPr>
              <a:t> rit »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5394960" y="21945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het meisje die lacht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321040" y="2377440"/>
            <a:ext cx="315468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12480" y="2377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meisje </a:t>
            </a:r>
            <a:r>
              <a:rPr lang="en-US" sz="1800" b="1" i="1" dirty="0">
                <a:solidFill>
                  <a:schemeClr val="accent1"/>
                </a:solidFill>
              </a:rPr>
              <a:t>dat</a:t>
            </a:r>
            <a:r>
              <a:rPr lang="en-US" sz="1800" i="1" dirty="0">
                <a:solidFill>
                  <a:schemeClr val="tx1"/>
                </a:solidFill>
              </a:rPr>
              <a:t> lacht</a:t>
            </a:r>
            <a:endParaRPr lang="en-US" sz="1800" dirty="0"/>
          </a:p>
        </p:txBody>
      </p:sp>
      <p:pic>
        <p:nvPicPr>
          <p:cNvPr id="12" name="Image 1" descr="chi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657600"/>
            <a:ext cx="640080" cy="6400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kind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4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365760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11480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team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6" name="Image 3" descr="identification car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3657600"/>
            <a:ext cx="640080" cy="64008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7208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lid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pic>
        <p:nvPicPr>
          <p:cNvPr id="18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3657600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32688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personeel </a:t>
            </a:r>
            <a:r>
              <a:rPr lang="en-US" sz="1700" b="1" i="1" dirty="0">
                <a:solidFill>
                  <a:schemeClr val="accent1"/>
                </a:solidFill>
              </a:rPr>
              <a:t>dat</a:t>
            </a:r>
            <a:endParaRPr lang="en-US" sz="1700" dirty="0"/>
          </a:p>
        </p:txBody>
      </p:sp>
      <p:sp>
        <p:nvSpPr>
          <p:cNvPr id="20" name="Text 12"/>
          <p:cNvSpPr txBox="1"/>
          <p:nvPr/>
        </p:nvSpPr>
        <p:spPr>
          <a:xfrm>
            <a:off x="777240" y="4572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On suit l’</a:t>
            </a:r>
            <a:r>
              <a:rPr lang="en-US" sz="1900" b="1" dirty="0">
                <a:solidFill>
                  <a:schemeClr val="tx1"/>
                </a:solidFill>
              </a:rPr>
              <a:t>article</a:t>
            </a:r>
            <a:r>
              <a:rPr lang="en-US" sz="1900" b="1" dirty="0">
                <a:solidFill>
                  <a:schemeClr val="tx1"/>
                </a:solidFill>
              </a:rPr>
              <a:t>, pas le sexe de la personne.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het meisje</a:t>
            </a:r>
            <a:r>
              <a:rPr lang="en-US" sz="1700" dirty="0">
                <a:solidFill>
                  <a:schemeClr val="bg1"/>
                </a:solidFill>
              </a:rPr>
              <a:t> est un diminutif (M14) → </a:t>
            </a:r>
            <a:r>
              <a:rPr lang="en-US" sz="1700" i="1" dirty="0">
                <a:solidFill>
                  <a:schemeClr val="bg1"/>
                </a:solidFill>
              </a:rPr>
              <a:t>het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i="1" dirty="0">
                <a:solidFill>
                  <a:schemeClr val="bg1"/>
                </a:solidFill>
              </a:rPr>
              <a:t>het lid</a:t>
            </a:r>
            <a:r>
              <a:rPr lang="en-US" sz="1700" dirty="0">
                <a:solidFill>
                  <a:schemeClr val="bg1"/>
                </a:solidFill>
              </a:rPr>
              <a:t> = le membre · à l’oral : parfois </a:t>
            </a:r>
            <a:r>
              <a:rPr lang="en-US" sz="1700" i="1" dirty="0">
                <a:solidFill>
                  <a:schemeClr val="bg1"/>
                </a:solidFill>
              </a:rPr>
              <a:t>het meisje die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relatif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34640" cy="3931920"/>
          </a:xfrm>
          <a:prstGeom prst="roundRect">
            <a:avLst>
              <a:gd name="adj" fmla="val 3226"/>
            </a:avLst>
          </a:prstGeom>
          <a:solidFill>
            <a:srgbClr val="EEF3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554480"/>
            <a:ext cx="26517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Quel nom juste avant 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 flipV="1">
            <a:off x="3401568" y="1965960"/>
            <a:ext cx="393192" cy="15544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840480" y="15544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pluriel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263640" y="164592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3640" y="1645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die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155448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klant </a:t>
            </a:r>
            <a:r>
              <a:rPr lang="en-US" sz="1500" b="1" i="1" dirty="0">
                <a:solidFill>
                  <a:schemeClr val="tx1"/>
                </a:solidFill>
              </a:rPr>
              <a:t>die</a:t>
            </a:r>
            <a:r>
              <a:rPr lang="en-US" sz="1500" i="1" dirty="0">
                <a:solidFill>
                  <a:schemeClr val="tx1"/>
                </a:solidFill>
              </a:rPr>
              <a:t> belt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 flipV="1">
            <a:off x="3401568" y="2971800"/>
            <a:ext cx="393192" cy="5486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3840480" y="2560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mot </a:t>
            </a:r>
            <a:r>
              <a:rPr lang="en-US" sz="1600" i="1" dirty="0">
                <a:solidFill>
                  <a:schemeClr val="tx1"/>
                </a:solidFill>
              </a:rPr>
              <a:t>het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263640" y="265176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2651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256032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het rapport </a:t>
            </a:r>
            <a:r>
              <a:rPr lang="en-US" sz="1500" b="1" i="1" dirty="0">
                <a:solidFill>
                  <a:schemeClr val="tx1"/>
                </a:solidFill>
              </a:rPr>
              <a:t>dat</a:t>
            </a:r>
            <a:r>
              <a:rPr lang="en-US" sz="1500" i="1" dirty="0">
                <a:solidFill>
                  <a:schemeClr val="tx1"/>
                </a:solidFill>
              </a:rPr>
              <a:t> ik schrijf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01568" y="3520440"/>
            <a:ext cx="393192" cy="45720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3840480" y="3566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alles, iets, niets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63640" y="3657600"/>
            <a:ext cx="2103120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263640" y="3657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wat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8503920" y="356616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alles </a:t>
            </a:r>
            <a:r>
              <a:rPr lang="en-US" sz="1500" b="1" i="1" dirty="0">
                <a:solidFill>
                  <a:schemeClr val="tx1"/>
                </a:solidFill>
              </a:rPr>
              <a:t>wat</a:t>
            </a:r>
            <a:r>
              <a:rPr lang="en-US" sz="1500" i="1" dirty="0">
                <a:solidFill>
                  <a:schemeClr val="tx1"/>
                </a:solidFill>
              </a:rPr>
              <a:t> je zegt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01568" y="3520440"/>
            <a:ext cx="393192" cy="1463040"/>
          </a:xfrm>
          <a:prstGeom prst="line">
            <a:avLst/>
          </a:prstGeom>
          <a:noFill/>
          <a:ln w="254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3840480" y="45720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avec une préposition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63640" y="4663440"/>
            <a:ext cx="210312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63640" y="46634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met wie / waarmee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8503920" y="4572000"/>
            <a:ext cx="3136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wie ik werk · waarmee ik schrijf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Toujours : le </a:t>
            </a:r>
            <a:r>
              <a:rPr lang="en-US" sz="1800" b="1" dirty="0">
                <a:solidFill>
                  <a:schemeClr val="bg1"/>
                </a:solidFill>
              </a:rPr>
              <a:t>verbe à la fin</a:t>
            </a:r>
            <a:r>
              <a:rPr lang="en-US" sz="1800" dirty="0">
                <a:solidFill>
                  <a:schemeClr val="bg1"/>
                </a:solidFill>
              </a:rPr>
              <a:t> de la relative (le wagon, M9).</a:t>
            </a:r>
            <a:endParaRPr lang="en-US" sz="1800" dirty="0"/>
          </a:p>
        </p:txBody>
      </p:sp>
      <p:pic>
        <p:nvPicPr>
          <p:cNvPr id="29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die, dat ou wat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Reliez les phrases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ou que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Ques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devinettes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ommentSla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Sitem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nouveau collègue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i="1" dirty="0">
                <a:solidFill>
                  <a:schemeClr val="accent5"/>
                </a:solidFill>
              </a:rPr>
              <a:t>…………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die, dat ou wat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Complétez. Dites d’abord l’article du nom.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i="1" dirty="0">
                <a:solidFill>
                  <a:schemeClr val="tx1"/>
                </a:solidFill>
              </a:rPr>
              <a:t>de klant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belt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i="1" dirty="0">
                <a:solidFill>
                  <a:schemeClr val="tx1"/>
                </a:solidFill>
              </a:rPr>
              <a:t>het boek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lees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i="1" dirty="0">
                <a:solidFill>
                  <a:schemeClr val="tx1"/>
                </a:solidFill>
              </a:rPr>
              <a:t>de collega’s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hier werken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i="1" dirty="0">
                <a:solidFill>
                  <a:schemeClr val="tx1"/>
                </a:solidFill>
              </a:rPr>
              <a:t>het meisje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lacht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i="1" dirty="0">
                <a:solidFill>
                  <a:schemeClr val="tx1"/>
                </a:solidFill>
              </a:rPr>
              <a:t>alles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i="1" dirty="0">
                <a:solidFill>
                  <a:schemeClr val="tx1"/>
                </a:solidFill>
              </a:rPr>
              <a:t> je zegt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i="1" dirty="0">
                <a:solidFill>
                  <a:schemeClr val="tx1"/>
                </a:solidFill>
              </a:rPr>
              <a:t>de vergadering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om 10 uur begint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i="1" dirty="0">
                <a:solidFill>
                  <a:schemeClr val="tx1"/>
                </a:solidFill>
              </a:rPr>
              <a:t>het kantoor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ik huur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i="1" dirty="0">
                <a:solidFill>
                  <a:schemeClr val="tx1"/>
                </a:solidFill>
              </a:rPr>
              <a:t>de documenten </a:t>
            </a:r>
            <a:r>
              <a:rPr lang="en-US" sz="2200" b="1" i="1" dirty="0">
                <a:solidFill>
                  <a:schemeClr val="accent3"/>
                </a:solidFill>
              </a:rPr>
              <a:t>die</a:t>
            </a:r>
            <a:r>
              <a:rPr lang="en-US" sz="2200" i="1" dirty="0">
                <a:solidFill>
                  <a:schemeClr val="tx1"/>
                </a:solidFill>
              </a:rPr>
              <a:t> op tafel liggen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i="1" dirty="0">
                <a:solidFill>
                  <a:schemeClr val="tx1"/>
                </a:solidFill>
              </a:rPr>
              <a:t>iets </a:t>
            </a:r>
            <a:r>
              <a:rPr lang="en-US" sz="2200" b="1" i="1" dirty="0">
                <a:solidFill>
                  <a:schemeClr val="accent3"/>
                </a:solidFill>
              </a:rPr>
              <a:t>wat</a:t>
            </a:r>
            <a:r>
              <a:rPr lang="en-US" sz="2200" b="1" i="1" dirty="0">
                <a:solidFill>
                  <a:schemeClr val="accent3"/>
                </a:solidFill>
              </a:rPr>
              <a:t> (of dat)</a:t>
            </a:r>
            <a:r>
              <a:rPr lang="en-US" sz="2200" i="1" dirty="0">
                <a:solidFill>
                  <a:schemeClr val="tx1"/>
                </a:solidFill>
              </a:rPr>
              <a:t> ik niet begrijp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i="1" dirty="0">
                <a:solidFill>
                  <a:schemeClr val="tx1"/>
                </a:solidFill>
              </a:rPr>
              <a:t>het team </a:t>
            </a:r>
            <a:r>
              <a:rPr lang="en-US" sz="2200" b="1" i="1" dirty="0">
                <a:solidFill>
                  <a:schemeClr val="accent3"/>
                </a:solidFill>
              </a:rPr>
              <a:t>dat</a:t>
            </a:r>
            <a:r>
              <a:rPr lang="en-US" sz="2200" i="1" dirty="0">
                <a:solidFill>
                  <a:schemeClr val="tx1"/>
                </a:solidFill>
              </a:rPr>
              <a:t> wint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36" name="Shape 32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Reliez les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avec die ou dat. Le verbe va à la fin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een collega. Hij spreekt vijf talen.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623560" y="22956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080760" y="19781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9781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heb een collega die vijf talen spreekt.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Dit is het rapport. Ik heb het gisteren geschreven.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5623560" y="302209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080760" y="270459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217920" y="270459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Dit is het rapport dat ik gisteren geschreven heb.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We hebben een klant. Hij wil morgen komen.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5623560" y="374853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080760" y="343103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0" y="343103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We hebben een klant die morgen wil komen.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Ken je het restaurant? Het ligt naast het station.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623560" y="447497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080760" y="415747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217920" y="415747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Ken je het restaurant dat naast het station ligt?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zoek de documenten. Ze lagen op mijn bureau.</a:t>
            </a:r>
            <a:endParaRPr lang="en-US" sz="1500" dirty="0"/>
          </a:p>
        </p:txBody>
      </p:sp>
      <p:sp>
        <p:nvSpPr>
          <p:cNvPr id="41" name="Shape 37"/>
          <p:cNvSpPr/>
          <p:nvPr/>
        </p:nvSpPr>
        <p:spPr>
          <a:xfrm>
            <a:off x="5623560" y="520141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080760" y="488391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217920" y="488391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zoek de documenten die op mijn bureau lagen.</a:t>
            </a:r>
            <a:endParaRPr lang="en-US" sz="15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57200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3891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laptop? Ik heb hem gisteren gekocht.</a:t>
            </a:r>
            <a:endParaRPr lang="en-US" sz="1500" dirty="0"/>
          </a:p>
        </p:txBody>
      </p:sp>
      <p:sp>
        <p:nvSpPr>
          <p:cNvPr id="48" name="Shape 44"/>
          <p:cNvSpPr/>
          <p:nvPr/>
        </p:nvSpPr>
        <p:spPr>
          <a:xfrm>
            <a:off x="5623560" y="5927852"/>
            <a:ext cx="41148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080760" y="5610352"/>
            <a:ext cx="55595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217920" y="5610352"/>
            <a:ext cx="53492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Waar is de laptop die ik gisteren gekocht heb?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47" name="Text 43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qui ou que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Regardez l’article du nom néerlandais, pas « qui / que »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qui appelle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19781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0" y="22956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812280" y="19781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949440" y="19781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belt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client que j’appelle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074920" y="270459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klant)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400800" y="302209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6812280" y="270459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949440" y="270459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klant die ik bel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qui est libre</a:t>
            </a:r>
            <a:endParaRPr lang="en-US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5074920" y="343103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6400800" y="374853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812280" y="343103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949440" y="343103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vrij is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bureau que je réserve</a:t>
            </a:r>
            <a:endParaRPr lang="en-US" sz="1700" dirty="0"/>
          </a:p>
        </p:txBody>
      </p:sp>
      <p:sp>
        <p:nvSpPr>
          <p:cNvPr id="37" name="Text 33"/>
          <p:cNvSpPr txBox="1"/>
          <p:nvPr/>
        </p:nvSpPr>
        <p:spPr>
          <a:xfrm>
            <a:off x="5074920" y="415747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bureau)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400800" y="447497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9" name="Shape 35"/>
          <p:cNvSpPr/>
          <p:nvPr/>
        </p:nvSpPr>
        <p:spPr>
          <a:xfrm>
            <a:off x="6812280" y="415747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949440" y="415747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bureau dat ik reserveer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les collègues qui arrivent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074920" y="488391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(de collega’s)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400800" y="520141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812280" y="488391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88391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collega’s die aankomen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l’enfant que j’aide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5074920" y="5610352"/>
            <a:ext cx="13716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(het kind)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6400800" y="5927852"/>
            <a:ext cx="36576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812280" y="5610352"/>
            <a:ext cx="482803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949440" y="5610352"/>
            <a:ext cx="46177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het kind dat ik help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1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4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7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0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2" name="Shape 24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3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devinettes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définition au bon mot.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400800" y="2295652"/>
            <a:ext cx="1463040" cy="145288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400800" y="3022092"/>
            <a:ext cx="146304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400800" y="374853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400800" y="2295652"/>
            <a:ext cx="146304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400800" y="5201412"/>
            <a:ext cx="146304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872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19872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zieke mensen helpt.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271373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271373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je gebruikt om te bellen.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344017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44017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de trein neemt.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416661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16661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iemand die brood bakt.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489305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89305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ding dat koffie maakt.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548640" y="5619496"/>
            <a:ext cx="58064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619496"/>
            <a:ext cx="56235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Het is een plek waar je geld haalt.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7909560" y="19872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28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044192"/>
            <a:ext cx="502920" cy="5029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641080" y="19872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de bakker</a:t>
            </a:r>
            <a:endParaRPr lang="en-US" sz="1800" dirty="0"/>
          </a:p>
        </p:txBody>
      </p:sp>
      <p:sp>
        <p:nvSpPr>
          <p:cNvPr id="30" name="Shape 25"/>
          <p:cNvSpPr/>
          <p:nvPr/>
        </p:nvSpPr>
        <p:spPr>
          <a:xfrm>
            <a:off x="7909560" y="271373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1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770632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641080" y="271373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de gsm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7909560" y="344017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4" name="Image 3" descr="man health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497072"/>
            <a:ext cx="502920" cy="50292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41080" y="344017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de dokter</a:t>
            </a:r>
            <a:endParaRPr lang="en-US" sz="1800" dirty="0"/>
          </a:p>
        </p:txBody>
      </p:sp>
      <p:sp>
        <p:nvSpPr>
          <p:cNvPr id="36" name="Shape 29"/>
          <p:cNvSpPr/>
          <p:nvPr/>
        </p:nvSpPr>
        <p:spPr>
          <a:xfrm>
            <a:off x="7909560" y="416661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37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223512"/>
            <a:ext cx="502920" cy="502920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8641080" y="416661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het station</a:t>
            </a:r>
            <a:endParaRPr lang="en-US" sz="1800" dirty="0"/>
          </a:p>
        </p:txBody>
      </p:sp>
      <p:sp>
        <p:nvSpPr>
          <p:cNvPr id="39" name="Shape 31"/>
          <p:cNvSpPr/>
          <p:nvPr/>
        </p:nvSpPr>
        <p:spPr>
          <a:xfrm>
            <a:off x="7909560" y="489305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0" name="Image 5" descr="ban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000" y="4949952"/>
            <a:ext cx="502920" cy="502920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8641080" y="489305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de bank</a:t>
            </a:r>
            <a:endParaRPr lang="en-US" sz="1800" dirty="0"/>
          </a:p>
        </p:txBody>
      </p:sp>
      <p:sp>
        <p:nvSpPr>
          <p:cNvPr id="42" name="Shape 33"/>
          <p:cNvSpPr/>
          <p:nvPr/>
        </p:nvSpPr>
        <p:spPr>
          <a:xfrm>
            <a:off x="7909560" y="5619496"/>
            <a:ext cx="37307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43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5676392"/>
            <a:ext cx="502920" cy="50292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641080" y="5619496"/>
            <a:ext cx="2926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de koffiemachine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dirty="0">
                <a:solidFill>
                  <a:schemeClr val="tx1"/>
                </a:solidFill>
              </a:rPr>
              <a:t>die helpt haar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dirty="0">
                <a:solidFill>
                  <a:schemeClr val="tx1"/>
                </a:solidFill>
              </a:rPr>
              <a:t>die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dirty="0">
                <a:solidFill>
                  <a:schemeClr val="tx1"/>
                </a:solidFill>
              </a:rPr>
              <a:t>niet gebruikt meer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présente Lotte à l’équipe.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team · Onderwerp: onze nieuwe stagiaire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Beste collega’s, dit is Lotte, de nieuwe stagiaire die bij ons komt werken. Lotte is een meisje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drie talen spreekt. Ze werkt in het bureau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dat</a:t>
            </a:r>
            <a:r>
              <a:rPr lang="en-US" sz="1900" i="1" dirty="0">
                <a:solidFill>
                  <a:schemeClr val="tx1"/>
                </a:solidFill>
              </a:rPr>
              <a:t> naast de keuken ligt. Het project dat ze gaat doen, is erg belangrijk. De collega </a:t>
            </a:r>
            <a:r>
              <a:rPr lang="en-US" sz="1900" i="1" strike="sngStrike" dirty="0">
                <a:solidFill>
                  <a:schemeClr val="accent6"/>
                </a:solidFill>
              </a:rPr>
              <a:t>die helpt haar</a:t>
            </a:r>
            <a:r>
              <a:rPr lang="en-US" sz="1900" b="1" i="1" dirty="0">
                <a:solidFill>
                  <a:schemeClr val="accent3"/>
                </a:solidFill>
              </a:rPr>
              <a:t> die haar helpt</a:t>
            </a:r>
            <a:r>
              <a:rPr lang="en-US" sz="1900" i="1" dirty="0">
                <a:solidFill>
                  <a:schemeClr val="tx1"/>
                </a:solidFill>
              </a:rPr>
              <a:t>, is Karim. Ze zoekt nog iets </a:t>
            </a:r>
            <a:r>
              <a:rPr lang="en-US" sz="1900" i="1" strike="sngStrike" dirty="0">
                <a:solidFill>
                  <a:schemeClr val="accent6"/>
                </a:solidFill>
              </a:rPr>
              <a:t>die</a:t>
            </a:r>
            <a:r>
              <a:rPr lang="en-US" sz="1900" b="1" i="1" dirty="0">
                <a:solidFill>
                  <a:schemeClr val="accent3"/>
                </a:solidFill>
              </a:rPr>
              <a:t> wat</a:t>
            </a:r>
            <a:r>
              <a:rPr lang="en-US" sz="1900" i="1" dirty="0">
                <a:solidFill>
                  <a:schemeClr val="tx1"/>
                </a:solidFill>
              </a:rPr>
              <a:t> ze voor haar kamer kan gebruiken. Heb je een lamp die je </a:t>
            </a:r>
            <a:r>
              <a:rPr lang="en-US" sz="1900" i="1" strike="sngStrike" dirty="0">
                <a:solidFill>
                  <a:schemeClr val="accent6"/>
                </a:solidFill>
              </a:rPr>
              <a:t>niet gebruikt meer</a:t>
            </a:r>
            <a:r>
              <a:rPr lang="en-US" sz="1900" b="1" i="1" dirty="0">
                <a:solidFill>
                  <a:schemeClr val="accent3"/>
                </a:solidFill>
              </a:rPr>
              <a:t> niet meer gebruikt</a:t>
            </a:r>
            <a:r>
              <a:rPr lang="en-US" sz="1900" i="1" dirty="0">
                <a:solidFill>
                  <a:schemeClr val="tx1"/>
                </a:solidFill>
              </a:rPr>
              <a:t>? Groetjes, Sofie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de nieuwe stagiaire die bij ons komt werken · Het project dat ze gaat doen, is…</a:t>
            </a:r>
            <a:r>
              <a:rPr lang="en-US" sz="1400" i="1" dirty="0">
                <a:solidFill>
                  <a:schemeClr val="accent5"/>
                </a:solidFill>
              </a:rPr>
              <a:t> · </a:t>
            </a:r>
            <a:r>
              <a:rPr lang="en-US" sz="1400" i="1" dirty="0">
                <a:solidFill>
                  <a:schemeClr val="accent5"/>
                </a:solidFill>
              </a:rPr>
              <a:t>iets dat</a:t>
            </a:r>
            <a:r>
              <a:rPr lang="en-US" sz="1400" i="1" dirty="0">
                <a:solidFill>
                  <a:schemeClr val="accent5"/>
                </a:solidFill>
              </a:rPr>
              <a:t> : correct aussi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teac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0992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leraar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2296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school · les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92608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09928"/>
            <a:ext cx="685800" cy="685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2608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320040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01752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papier · afdrukken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03520" y="1600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709928"/>
            <a:ext cx="685800" cy="6858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03520" y="2423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het ziekenhuis</a:t>
            </a:r>
            <a:endParaRPr lang="en-US" sz="1700" dirty="0"/>
          </a:p>
        </p:txBody>
      </p:sp>
      <p:sp>
        <p:nvSpPr>
          <p:cNvPr id="19" name="Shape 13"/>
          <p:cNvSpPr/>
          <p:nvPr/>
        </p:nvSpPr>
        <p:spPr>
          <a:xfrm>
            <a:off x="5577840" y="2926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394960" y="2971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dokter · ziek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3" descr="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95928"/>
            <a:ext cx="685800" cy="6858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4864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paraplu</a:t>
            </a:r>
            <a:endParaRPr lang="en-US" sz="1700" dirty="0"/>
          </a:p>
        </p:txBody>
      </p:sp>
      <p:sp>
        <p:nvSpPr>
          <p:cNvPr id="24" name="Shape 17"/>
          <p:cNvSpPr/>
          <p:nvPr/>
        </p:nvSpPr>
        <p:spPr>
          <a:xfrm>
            <a:off x="82296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008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regen · nat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292608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3320" y="3995928"/>
            <a:ext cx="685800" cy="6858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292608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kok</a:t>
            </a:r>
            <a:endParaRPr lang="en-US" sz="1700" dirty="0"/>
          </a:p>
        </p:txBody>
      </p:sp>
      <p:sp>
        <p:nvSpPr>
          <p:cNvPr id="29" name="Shape 21"/>
          <p:cNvSpPr/>
          <p:nvPr/>
        </p:nvSpPr>
        <p:spPr>
          <a:xfrm>
            <a:off x="320040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01752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keuken · eten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303520" y="388620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5" descr="airpla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3995928"/>
            <a:ext cx="685800" cy="6858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303520" y="47091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de luchthaven</a:t>
            </a:r>
            <a:endParaRPr lang="en-US" sz="1700" dirty="0"/>
          </a:p>
        </p:txBody>
      </p:sp>
      <p:sp>
        <p:nvSpPr>
          <p:cNvPr id="34" name="Shape 25"/>
          <p:cNvSpPr/>
          <p:nvPr/>
        </p:nvSpPr>
        <p:spPr>
          <a:xfrm>
            <a:off x="5577840" y="5212080"/>
            <a:ext cx="1691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5394960" y="5257800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trike="sngStrike" dirty="0">
                <a:solidFill>
                  <a:schemeClr val="accent6"/>
                </a:solidFill>
              </a:rPr>
              <a:t>vliegtuig · reizen</a:t>
            </a:r>
            <a:endParaRPr lang="en-US" sz="1300" dirty="0"/>
          </a:p>
        </p:txBody>
      </p:sp>
      <p:pic>
        <p:nvPicPr>
          <p:cNvPr id="36" name="Image 6" descr="stopwatch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1600200"/>
            <a:ext cx="731520" cy="73152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686800" y="160020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600" dirty="0"/>
          </a:p>
        </p:txBody>
      </p:sp>
      <p:sp>
        <p:nvSpPr>
          <p:cNvPr id="38" name="Text 28"/>
          <p:cNvSpPr txBox="1"/>
          <p:nvPr/>
        </p:nvSpPr>
        <p:spPr>
          <a:xfrm>
            <a:off x="7863840" y="2514600"/>
            <a:ext cx="37764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équipes : faites deviner le mot </a:t>
            </a:r>
            <a:r>
              <a:rPr lang="en-US" sz="1600" b="1" dirty="0">
                <a:solidFill>
                  <a:schemeClr val="tx1"/>
                </a:solidFill>
              </a:rPr>
              <a:t>sans</a:t>
            </a:r>
            <a:r>
              <a:rPr lang="en-US" sz="1600" dirty="0">
                <a:solidFill>
                  <a:schemeClr val="tx1"/>
                </a:solidFill>
              </a:rPr>
              <a:t> dire les mots barrés.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Utilisez : </a:t>
            </a:r>
            <a:r>
              <a:rPr lang="en-US" sz="1600" i="1" dirty="0">
                <a:solidFill>
                  <a:schemeClr val="tx1"/>
                </a:solidFill>
              </a:rPr>
              <a:t>Het is iemand die… / een ding dat… / een plek waar…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Un point par mot trouvé en 1 minute.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nouveau collègue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Lotte. Sofie lui montre l’organigramme et lui présente les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présentez chaque collègue avec une relative : </a:t>
            </a:r>
            <a:r>
              <a:rPr lang="en-US" sz="1700" i="1" dirty="0">
                <a:solidFill>
                  <a:schemeClr val="tx1"/>
                </a:solidFill>
              </a:rPr>
              <a:t>Dat is An, de vrouw die…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au moins 3 questions : </a:t>
            </a:r>
            <a:r>
              <a:rPr lang="en-US" sz="1700" i="1" dirty="0">
                <a:solidFill>
                  <a:schemeClr val="tx1"/>
                </a:solidFill>
              </a:rPr>
              <a:t>Wie is de man die daar zit? Met wie werk ik samen?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Dat is An, de vrouw die de afdeling leidt. · Karim is de collega die de facturen controleert. · Het bureau dat bij het raam staat, is van jou. · Wie is de man die daar zit? · Met wie werk ik samen?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ORGANIGRAM 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57132" y="21671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5772" y="2212848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057132" y="26974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 Janssens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057132" y="29352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diensthoofd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857232" y="3218688"/>
            <a:ext cx="914" cy="27432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034272" y="3493008"/>
            <a:ext cx="164592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21131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3675888"/>
            <a:ext cx="502920" cy="5029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21131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Karim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1131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boekhouding</a:t>
            </a:r>
            <a:endParaRPr lang="en-US" sz="900" dirty="0"/>
          </a:p>
        </p:txBody>
      </p:sp>
      <p:sp>
        <p:nvSpPr>
          <p:cNvPr id="32" name="Shape 27"/>
          <p:cNvSpPr/>
          <p:nvPr/>
        </p:nvSpPr>
        <p:spPr>
          <a:xfrm>
            <a:off x="9902952" y="363016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3" name="Image 2" descr="wom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2" y="3675888"/>
            <a:ext cx="502920" cy="502920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9902952" y="41605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Sofie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9902952" y="439826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HR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10707624" y="4681728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990295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3" descr="woman red 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4956048"/>
            <a:ext cx="502920" cy="50292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90295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Lotte</a:t>
            </a:r>
            <a:endParaRPr lang="en-US" sz="1100" dirty="0"/>
          </a:p>
        </p:txBody>
      </p:sp>
      <p:sp>
        <p:nvSpPr>
          <p:cNvPr id="40" name="Text 33"/>
          <p:cNvSpPr txBox="1"/>
          <p:nvPr/>
        </p:nvSpPr>
        <p:spPr>
          <a:xfrm>
            <a:off x="990295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stagiaire</a:t>
            </a:r>
            <a:endParaRPr lang="en-US" sz="900" dirty="0"/>
          </a:p>
        </p:txBody>
      </p:sp>
      <p:sp>
        <p:nvSpPr>
          <p:cNvPr id="41" name="Shape 34"/>
          <p:cNvSpPr/>
          <p:nvPr/>
        </p:nvSpPr>
        <p:spPr>
          <a:xfrm>
            <a:off x="8211312" y="4910328"/>
            <a:ext cx="16002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2" name="Image 4" descr="man be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4956048"/>
            <a:ext cx="502920" cy="5029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8211312" y="54406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Tom</a:t>
            </a:r>
            <a:endParaRPr lang="en-US" sz="1100" dirty="0"/>
          </a:p>
        </p:txBody>
      </p:sp>
      <p:sp>
        <p:nvSpPr>
          <p:cNvPr id="44" name="Text 36"/>
          <p:cNvSpPr txBox="1"/>
          <p:nvPr/>
        </p:nvSpPr>
        <p:spPr>
          <a:xfrm>
            <a:off x="8211312" y="5678424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5"/>
                </a:solidFill>
              </a:rPr>
              <a:t>IT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die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dat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het rapport …… ik schrijf · de klant …… belt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Reliez : </a:t>
            </a:r>
            <a:r>
              <a:rPr lang="en-US" sz="2000" i="1" dirty="0">
                <a:solidFill>
                  <a:schemeClr val="tx1"/>
                </a:solidFill>
              </a:rPr>
              <a:t>Ik heb een collega. Ze woont in 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Définissez : </a:t>
            </a:r>
            <a:r>
              <a:rPr lang="en-US" sz="2000" i="1" dirty="0">
                <a:solidFill>
                  <a:schemeClr val="tx1"/>
                </a:solidFill>
              </a:rPr>
              <a:t>een bakker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Het is iemand die…</a:t>
            </a:r>
            <a:r>
              <a:rPr lang="en-US" sz="2000" dirty="0">
                <a:solidFill>
                  <a:schemeClr val="tx1"/>
                </a:solidFill>
              </a:rPr>
              <a:t>).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Questi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Waar denk je aan?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denk eraan!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22 — Die of dat? — Les pronoms relatifs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2026-10-05T10:51:20Z</dcterms:created>
  <dcterms:modified xsi:type="dcterms:W3CDTF">2026-10-05T10:51:20Z</dcterms:modified>
</cp:coreProperties>
</file>