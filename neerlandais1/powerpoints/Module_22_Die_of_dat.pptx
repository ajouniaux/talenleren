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e4059d1-c1a3-b453-6099-3086f739b5da}">
          <p14:sldIdLst>
            <p14:sldId id="256"/>
          </p14:sldIdLst>
        </p14:section>
        <p14:section name="Découvrir" id="{32b320c2-657d-fc9b-0162-30e836272933}">
          <p14:sldIdLst>
            <p14:sldId id="257"/>
            <p14:sldId id="258"/>
          </p14:sldIdLst>
        </p14:section>
        <p14:section name="Comprendre" id="{6701d587-42bd-1fe5-44e0-ce8da423140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2f501655-e794-7a8c-08b6-732e9d5eb7bf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bcf66c8a-d240-08f6-5bb6-15628c20cc77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relier une information à un nom.
Question d'entrée : « Comment dire la collègue qui est à côté de moi ? » Le néerlandais n'a pas de qui / que : il a die / dat.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Les relatives permettent de préciser (« le client qui a appelé ») et de contourner un mot inconnu (« la machine qui fait des copies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les relatives par la description de personnes.
Faites associer chaque phrase à un personnage. Puis relevez : die… leidt / zit / drinkt : le verbe est à la fin, comme après omdat (M9). Pourquoi het meisje dat ? Réponse diapo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le relatif selon l'article du nom qui précède.
Même logique que deze / dit (M20) : die pour de et le pluriel, dat pour het au singulier. On regarde le nom juste avant.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Ne plus choisir selon la fonction (sujet / objet) comme en français.
Le français se demande « sujet ou objet ? » ; le néerlandais se demande seulement « de ou het ? ». Faites remarquer : qui et que donnent le même mot.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Construire la relative comme un wagon du M9.
Comme après omdat (M9), le verbe conjugué va à la fin. Avec deux verbes, ils se retrouvent ensemble à la fin (geschreven heb, wil komen).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Insérer une relative entre le sujet et le verbe principal.
La relative s'intercale juste après le nom qu'elle décrit. La virgule est conseillée après une longue relative ; les deux verbes se touchent autour d'elle.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Distinguer le relatif de la conjonction (M9) et du démonstratif (M20).
Trois emplois pour les mêmes mots. Le test du nom qui précède suffit dans presque tous les 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wat après alles, iets, niets (aperçu).
Après alles : wat. Après iets, niets : wat ou dat (les deux sont corrects, wat est plus fréquent). « ce qui / ce que » = wat. À reconnaître ; production libre en Néerlandais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les relatives après une préposition (aperçu, lien M23).
Pour une chose, pas de met die / met dat : on dit waarmee (M23). Pour un lieu, waar = « où ». À reconnaître ici, à pratiquer au M23.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les relatives comme stratégie de communication.
Quand un mot manque, on le décrit : c'est la stratégie la plus utile en conversation. iemand → die ; een ding (het) → dat ; een machine (de) → die ; een plek → waar.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Appliquer la règle aux noms de personnes en het.
het meisje est un diminutif (M14) : donc het ; het lid = le membre. À l'oral, on entend parfois het meisje die ; la norme écrite est dat.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schéma est la référence pour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et 2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le relatif selon le nom qui précède.
Faites dire l'article du nom avant chaque réponse : de klant → die. N° 4 et 10 : noms het de personnes ou de groupes (diapo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le relatif selon le nom qui précède.
Faites dire l'article du nom avant chaque réponse : de klant → die. N° 4 et 10 : noms het de personnes ou de groupes (diapo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Construire une relative avec le verbe à la fin.
Le pronom de la 2e phrase (hij, het, ze, hem) disparaît : die / dat le remplace. N° 2 et 6 : l'ordre gekocht heb ou heb gekocht est accepté (M15).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Construire une relative avec le verbe à la fin.
Le pronom de la 2e phrase (hij, het, ze, hem) disparaît : die / dat le remplace. N° 2 et 6 : l'ordre gekocht heb ou heb gekocht est accepté (M15).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Traduire qui / que sans calquer le français.
Montrez les paires 1-2 et 3-4 : qui et que donnent le même mot. N° 5 : particule recollée à la fin (aankomen, M11). N° 6 : het kind → dat, même pour une personne (diapo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Traduire qui / que sans calquer le français.
Montrez les paires 1-2 et 3-4 : qui et que donnent le même mot. N° 5 : particule recollée à la fin (aankomen, M11). N° 6 : het kind → dat, même pour une personne (diapo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Comprendre des définitions avec des relatives.
Ensuite, chacun écrit une devinette pour la classe avec Het is iemand die… / een ding dat… / een plek waar…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Comprendre des définitions avec des relatives.
Ensuite, chacun écrit une devinette pour la classe avec Het is iemand die… / een ding dat… / een plek waar…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dans un message.
Leurres : de nieuwe stagiaire die bij ons komt werken et Het project dat ze gaat doen, is… sont corrects. N° 3 : le verbe va à la fin de la relative (diapo 6). N° 4 : après iets, jamais die : wat (ou dat, correct aussi) (diapo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dans un message.
Leurres : de nieuwe stagiaire die bij ons komt werken et Het project dat ze gaat doen, is… sont corrects. N° 3 : le verbe va à la fin de la relative (diapo 6). N° 4 : après iets, jamais die : wat (ou dat, correct aussi) (diapo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Définir des mots à l'oral avec des relatives.
Mots interdits (au dos des cartes) : leraar → school, les ; printer → papier, afdrukken ; ziekenhuis → dokter, ziek ; paraplu → regen, nat ; kok → keuken, eten ; luchthaven → vliegtuig, reizen. (NL : aussi het vliegveld)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présenter l'équipe à un nouveau collègue.
B pose au moins 3 questions avec Wie is de man / de vrouw die…? Inversez les rôles : chacun présente sa propre équipe ou sa famille.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dat · die.
2. Ik heb een collega die in Gent woont.
3. Het is iemand die brood bakt.
Teaser M23 : Waar denk je aan? — Ik denk eraan!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22 · Die of dat?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22 · Die of dat?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22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Die of dat?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Les pronoms relatifs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 collega die naast me zit · het bureau dat bij het raam staat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914400"/>
            <a:ext cx="52120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wo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1887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18120" y="9144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collega </a:t>
            </a:r>
            <a:r>
              <a:rPr lang="en-US" sz="2100" b="1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die</a:t>
            </a:r>
            <a:r>
              <a:rPr lang="en-US" sz="21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naast me zit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0" y="2788920"/>
            <a:ext cx="52120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desktop compu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063240"/>
            <a:ext cx="1097280" cy="10972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18120" y="27889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bureau </a:t>
            </a:r>
            <a:r>
              <a:rPr lang="en-US" sz="2100" b="1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</a:t>
            </a:r>
            <a:r>
              <a:rPr lang="en-US" sz="21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bij het raam staat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odeBra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Choisir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choisis </a:t>
            </a:r>
            <a:r>
              <a:rPr lang="en-US" sz="2000" i="1" dirty="0">
                <a:solidFill>
                  <a:schemeClr val="tx1"/>
                </a:solidFill>
              </a:rPr>
              <a:t>die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i="1" dirty="0">
                <a:solidFill>
                  <a:schemeClr val="tx1"/>
                </a:solidFill>
              </a:rPr>
              <a:t>dat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de klant die… · het rapport dat…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T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Construire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mets le verbe à la fin : </a:t>
            </a:r>
            <a:r>
              <a:rPr lang="en-US" sz="2000" i="1" dirty="0">
                <a:solidFill>
                  <a:schemeClr val="tx1"/>
                </a:solidFill>
              </a:rPr>
              <a:t>de collega die naast me </a:t>
            </a:r>
            <a:r>
              <a:rPr lang="en-US" sz="2000" b="1" i="1" dirty="0">
                <a:solidFill>
                  <a:schemeClr val="tx1"/>
                </a:solidFill>
              </a:rPr>
              <a:t>zit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Définir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J’explique un mot que je ne connais pas : </a:t>
            </a:r>
            <a:r>
              <a:rPr lang="en-US" sz="2000" i="1" dirty="0">
                <a:solidFill>
                  <a:schemeClr val="tx1"/>
                </a:solidFill>
              </a:rPr>
              <a:t>Het is iemand die…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Les relatives servent à préciser (« le client qui a appelé ») et à contourner un mot inconnu (« la machine qui fait des copies »).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Wie is wie?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4846320" cy="338328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381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737360"/>
            <a:ext cx="4480560" cy="3017520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wo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1005840" cy="1005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70432" y="352044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70432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pic>
        <p:nvPicPr>
          <p:cNvPr id="10" name="Image 1" descr="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377440"/>
            <a:ext cx="1005840" cy="10058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267712" y="352044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2267712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pic>
        <p:nvPicPr>
          <p:cNvPr id="13" name="Image 2" descr="wom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377440"/>
            <a:ext cx="1005840" cy="10058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364992" y="352044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3364992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pic>
        <p:nvPicPr>
          <p:cNvPr id="16" name="Image 3" descr="gir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377440"/>
            <a:ext cx="1005840" cy="100584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416552" y="352044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4416552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pic>
        <p:nvPicPr>
          <p:cNvPr id="19" name="Image 4" descr="hot bever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017520"/>
            <a:ext cx="411480" cy="41148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669280" y="1554480"/>
            <a:ext cx="5971032" cy="731520"/>
          </a:xfrm>
          <a:prstGeom prst="roundRect">
            <a:avLst>
              <a:gd name="adj" fmla="val 22500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5833872" y="1554480"/>
            <a:ext cx="5641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i="1" dirty="0">
                <a:solidFill>
                  <a:schemeClr val="tx1"/>
                </a:solidFill>
              </a:rPr>
              <a:t>An is de vrouw </a:t>
            </a:r>
            <a:r>
              <a:rPr lang="en-US" sz="1700" b="1" i="1" dirty="0">
                <a:solidFill>
                  <a:schemeClr val="tx2"/>
                </a:solidFill>
              </a:rPr>
              <a:t>die</a:t>
            </a:r>
            <a:r>
              <a:rPr lang="en-US" sz="1700" i="1" dirty="0">
                <a:solidFill>
                  <a:schemeClr val="tx1"/>
                </a:solidFill>
              </a:rPr>
              <a:t> de vergadering </a:t>
            </a:r>
            <a:r>
              <a:rPr lang="en-US" sz="1700" b="1" i="1" dirty="0">
                <a:solidFill>
                  <a:schemeClr val="accent6"/>
                </a:solidFill>
              </a:rPr>
              <a:t>leidt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2" name="Shape 14"/>
          <p:cNvSpPr/>
          <p:nvPr/>
        </p:nvSpPr>
        <p:spPr>
          <a:xfrm>
            <a:off x="5669280" y="2423160"/>
            <a:ext cx="5971032" cy="731520"/>
          </a:xfrm>
          <a:prstGeom prst="roundRect">
            <a:avLst>
              <a:gd name="adj" fmla="val 22500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5833872" y="2423160"/>
            <a:ext cx="5641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i="1" dirty="0">
                <a:solidFill>
                  <a:schemeClr val="tx1"/>
                </a:solidFill>
              </a:rPr>
              <a:t>Karim is de man </a:t>
            </a:r>
            <a:r>
              <a:rPr lang="en-US" sz="1700" b="1" i="1" dirty="0">
                <a:solidFill>
                  <a:schemeClr val="tx2"/>
                </a:solidFill>
              </a:rPr>
              <a:t>die</a:t>
            </a:r>
            <a:r>
              <a:rPr lang="en-US" sz="1700" i="1" dirty="0">
                <a:solidFill>
                  <a:schemeClr val="tx1"/>
                </a:solidFill>
              </a:rPr>
              <a:t> naast het raam </a:t>
            </a:r>
            <a:r>
              <a:rPr lang="en-US" sz="1700" b="1" i="1" dirty="0">
                <a:solidFill>
                  <a:schemeClr val="accent6"/>
                </a:solidFill>
              </a:rPr>
              <a:t>zit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4" name="Shape 16"/>
          <p:cNvSpPr/>
          <p:nvPr/>
        </p:nvSpPr>
        <p:spPr>
          <a:xfrm>
            <a:off x="5669280" y="3291840"/>
            <a:ext cx="5971032" cy="731520"/>
          </a:xfrm>
          <a:prstGeom prst="roundRect">
            <a:avLst>
              <a:gd name="adj" fmla="val 22500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5833872" y="3291840"/>
            <a:ext cx="5641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i="1" dirty="0">
                <a:solidFill>
                  <a:schemeClr val="tx1"/>
                </a:solidFill>
              </a:rPr>
              <a:t>Lotte is de stagiaire </a:t>
            </a:r>
            <a:r>
              <a:rPr lang="en-US" sz="1700" b="1" i="1" dirty="0">
                <a:solidFill>
                  <a:schemeClr val="tx2"/>
                </a:solidFill>
              </a:rPr>
              <a:t>die</a:t>
            </a:r>
            <a:r>
              <a:rPr lang="en-US" sz="1700" i="1" dirty="0">
                <a:solidFill>
                  <a:schemeClr val="tx1"/>
                </a:solidFill>
              </a:rPr>
              <a:t> koffie </a:t>
            </a:r>
            <a:r>
              <a:rPr lang="en-US" sz="1700" b="1" i="1" dirty="0">
                <a:solidFill>
                  <a:schemeClr val="accent6"/>
                </a:solidFill>
              </a:rPr>
              <a:t>drinkt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6" name="Shape 18"/>
          <p:cNvSpPr/>
          <p:nvPr/>
        </p:nvSpPr>
        <p:spPr>
          <a:xfrm>
            <a:off x="5669280" y="4160520"/>
            <a:ext cx="5971032" cy="731520"/>
          </a:xfrm>
          <a:prstGeom prst="roundRect">
            <a:avLst>
              <a:gd name="adj" fmla="val 22500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5833872" y="4160520"/>
            <a:ext cx="5641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i="1" dirty="0">
                <a:solidFill>
                  <a:schemeClr val="tx1"/>
                </a:solidFill>
              </a:rPr>
              <a:t>Het meisje </a:t>
            </a:r>
            <a:r>
              <a:rPr lang="en-US" sz="1700" b="1" i="1" dirty="0">
                <a:solidFill>
                  <a:schemeClr val="accent1"/>
                </a:solidFill>
              </a:rPr>
              <a:t>dat</a:t>
            </a:r>
            <a:r>
              <a:rPr lang="en-US" sz="1700" i="1" dirty="0">
                <a:solidFill>
                  <a:schemeClr val="tx1"/>
                </a:solidFill>
              </a:rPr>
              <a:t> </a:t>
            </a:r>
            <a:r>
              <a:rPr lang="en-US" sz="1700" b="1" i="1" dirty="0">
                <a:solidFill>
                  <a:schemeClr val="accent6"/>
                </a:solidFill>
              </a:rPr>
              <a:t>lacht</a:t>
            </a:r>
            <a:r>
              <a:rPr lang="en-US" sz="1700" i="1" dirty="0">
                <a:solidFill>
                  <a:schemeClr val="tx1"/>
                </a:solidFill>
              </a:rPr>
              <a:t>, is de dochter van An.</a:t>
            </a:r>
            <a:endParaRPr lang="en-US" sz="1700" dirty="0"/>
          </a:p>
        </p:txBody>
      </p:sp>
      <p:sp>
        <p:nvSpPr>
          <p:cNvPr id="28" name="Shape 20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29" name="Image 5" descr="thinking fa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03520"/>
            <a:ext cx="822960" cy="8229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828800" y="51663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Associez chaque phrase à une personne (A–D).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Que remarquez-vous ? Le petit mot </a:t>
            </a:r>
            <a:r>
              <a:rPr lang="en-US" sz="1800" i="1" dirty="0">
                <a:solidFill>
                  <a:schemeClr val="tx1"/>
                </a:solidFill>
              </a:rPr>
              <a:t>die / dat</a:t>
            </a:r>
            <a:r>
              <a:rPr lang="en-US" sz="1800" dirty="0">
                <a:solidFill>
                  <a:schemeClr val="tx1"/>
                </a:solidFill>
              </a:rPr>
              <a:t> et la </a:t>
            </a:r>
            <a:r>
              <a:rPr lang="en-US" sz="1800" b="1" dirty="0">
                <a:solidFill>
                  <a:schemeClr val="tx1"/>
                </a:solidFill>
              </a:rPr>
              <a:t>place du verbe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die ou dat ? L’aiguillage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mot DE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2468880" y="1828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de klant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46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mot HET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32461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het rapport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466344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663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PLURIEL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4663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de rapporten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035040" y="2331720"/>
            <a:ext cx="1463040" cy="9144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2331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die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6035040" y="3977640"/>
            <a:ext cx="146304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39776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4251960" y="2258568"/>
            <a:ext cx="1737360" cy="530352"/>
          </a:xfrm>
          <a:prstGeom prst="line">
            <a:avLst/>
          </a:prstGeom>
          <a:noFill/>
          <a:ln w="508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251960" y="3675888"/>
            <a:ext cx="1737360" cy="758952"/>
          </a:xfrm>
          <a:prstGeom prst="line">
            <a:avLst/>
          </a:prstGeom>
          <a:noFill/>
          <a:ln w="508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 flipV="1">
            <a:off x="4251960" y="2788920"/>
            <a:ext cx="1737360" cy="2304288"/>
          </a:xfrm>
          <a:prstGeom prst="line">
            <a:avLst/>
          </a:prstGeom>
          <a:noFill/>
          <a:ln w="508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7772400" y="2103120"/>
            <a:ext cx="3867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de klant </a:t>
            </a:r>
            <a:r>
              <a:rPr lang="en-US" sz="1900" b="1" i="1" dirty="0">
                <a:solidFill>
                  <a:schemeClr val="tx2"/>
                </a:solidFill>
              </a:rPr>
              <a:t>die</a:t>
            </a:r>
            <a:r>
              <a:rPr lang="en-US" sz="1900" i="1" dirty="0">
                <a:solidFill>
                  <a:schemeClr val="tx1"/>
                </a:solidFill>
              </a:rPr>
              <a:t> belt</a:t>
            </a:r>
            <a:endParaRPr lang="en-US" sz="19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de rapporten </a:t>
            </a:r>
            <a:r>
              <a:rPr lang="en-US" sz="1900" b="1" i="1" dirty="0">
                <a:solidFill>
                  <a:schemeClr val="tx2"/>
                </a:solidFill>
              </a:rPr>
              <a:t>die</a:t>
            </a:r>
            <a:r>
              <a:rPr lang="en-US" sz="1900" i="1" dirty="0">
                <a:solidFill>
                  <a:schemeClr val="tx1"/>
                </a:solidFill>
              </a:rPr>
              <a:t> klaar zijn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397764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het rapport </a:t>
            </a:r>
            <a:r>
              <a:rPr lang="en-US" sz="1900" b="1" i="1" dirty="0">
                <a:solidFill>
                  <a:schemeClr val="accent1"/>
                </a:solidFill>
              </a:rPr>
              <a:t>dat</a:t>
            </a:r>
            <a:r>
              <a:rPr lang="en-US" sz="1900" i="1" dirty="0">
                <a:solidFill>
                  <a:schemeClr val="tx1"/>
                </a:solidFill>
              </a:rPr>
              <a:t> klaar is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Comme </a:t>
            </a:r>
            <a:r>
              <a:rPr lang="en-US" sz="1700" i="1" dirty="0">
                <a:solidFill>
                  <a:schemeClr val="bg1"/>
                </a:solidFill>
              </a:rPr>
              <a:t>deze / dit</a:t>
            </a:r>
            <a:r>
              <a:rPr lang="en-US" sz="1700" dirty="0">
                <a:solidFill>
                  <a:schemeClr val="bg1"/>
                </a:solidFill>
              </a:rPr>
              <a:t> (M20) : on regarde le </a:t>
            </a:r>
            <a:r>
              <a:rPr lang="en-US" sz="1700" b="1" dirty="0">
                <a:solidFill>
                  <a:schemeClr val="bg1"/>
                </a:solidFill>
              </a:rPr>
              <a:t>nom juste avant</a:t>
            </a:r>
            <a:r>
              <a:rPr lang="en-US" sz="1700" dirty="0">
                <a:solidFill>
                  <a:schemeClr val="bg1"/>
                </a:solidFill>
              </a:rPr>
              <a:t>. </a:t>
            </a:r>
            <a:r>
              <a:rPr lang="en-US" sz="1700" i="1" dirty="0">
                <a:solidFill>
                  <a:schemeClr val="bg1"/>
                </a:solidFill>
              </a:rPr>
              <a:t>de</a:t>
            </a:r>
            <a:r>
              <a:rPr lang="en-US" sz="1700" dirty="0">
                <a:solidFill>
                  <a:schemeClr val="bg1"/>
                </a:solidFill>
              </a:rPr>
              <a:t> + pluriel → </a:t>
            </a:r>
            <a:r>
              <a:rPr lang="en-US" sz="1700" i="1" dirty="0">
                <a:solidFill>
                  <a:schemeClr val="bg1"/>
                </a:solidFill>
              </a:rPr>
              <a:t>die</a:t>
            </a:r>
            <a:r>
              <a:rPr lang="en-US" sz="1700" dirty="0">
                <a:solidFill>
                  <a:schemeClr val="bg1"/>
                </a:solidFill>
              </a:rPr>
              <a:t> · </a:t>
            </a:r>
            <a:r>
              <a:rPr lang="en-US" sz="1700" i="1" dirty="0">
                <a:solidFill>
                  <a:schemeClr val="bg1"/>
                </a:solidFill>
              </a:rPr>
              <a:t>het</a:t>
            </a:r>
            <a:r>
              <a:rPr lang="en-US" sz="1700" dirty="0">
                <a:solidFill>
                  <a:schemeClr val="bg1"/>
                </a:solidFill>
              </a:rPr>
              <a:t> → </a:t>
            </a:r>
            <a:r>
              <a:rPr lang="en-US" sz="1700" i="1" dirty="0">
                <a:solidFill>
                  <a:schemeClr val="bg1"/>
                </a:solidFill>
              </a:rPr>
              <a:t>dat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qui ou que ? Peu importe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pic>
        <p:nvPicPr>
          <p:cNvPr id="7" name="Image 0" descr="wo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148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la collègue </a:t>
            </a:r>
            <a:r>
              <a:rPr lang="en-US" sz="1700" b="1" dirty="0">
                <a:solidFill>
                  <a:schemeClr val="tx1"/>
                </a:solidFill>
              </a:rPr>
              <a:t>qui</a:t>
            </a:r>
            <a:r>
              <a:rPr lang="en-US" sz="1700" dirty="0">
                <a:solidFill>
                  <a:schemeClr val="tx1"/>
                </a:solidFill>
              </a:rPr>
              <a:t> travaille ici »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543800" y="2560320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7909560" y="2221992"/>
            <a:ext cx="3566160" cy="685800"/>
          </a:xfrm>
          <a:prstGeom prst="roundRect">
            <a:avLst>
              <a:gd name="adj" fmla="val 13333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46720" y="222199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de collega </a:t>
            </a:r>
            <a:r>
              <a:rPr lang="en-US" sz="1800" b="1" i="1" dirty="0">
                <a:solidFill>
                  <a:schemeClr val="tx2"/>
                </a:solidFill>
              </a:rPr>
              <a:t>die</a:t>
            </a:r>
            <a:r>
              <a:rPr lang="en-US" sz="1800" i="1" dirty="0">
                <a:solidFill>
                  <a:schemeClr val="tx1"/>
                </a:solidFill>
              </a:rPr>
              <a:t> hier werkt</a:t>
            </a:r>
            <a:endParaRPr lang="en-US" sz="1800" dirty="0"/>
          </a:p>
        </p:txBody>
      </p:sp>
      <p:pic>
        <p:nvPicPr>
          <p:cNvPr id="12" name="Image 1" descr="wo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36392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304495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la collègue </a:t>
            </a:r>
            <a:r>
              <a:rPr lang="en-US" sz="1700" b="1" dirty="0">
                <a:solidFill>
                  <a:schemeClr val="tx1"/>
                </a:solidFill>
              </a:rPr>
              <a:t>que</a:t>
            </a:r>
            <a:r>
              <a:rPr lang="en-US" sz="1700" dirty="0">
                <a:solidFill>
                  <a:schemeClr val="tx1"/>
                </a:solidFill>
              </a:rPr>
              <a:t> je connais »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7543800" y="3456432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7909560" y="3118104"/>
            <a:ext cx="3566160" cy="685800"/>
          </a:xfrm>
          <a:prstGeom prst="roundRect">
            <a:avLst>
              <a:gd name="adj" fmla="val 13333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046720" y="311810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de collega </a:t>
            </a:r>
            <a:r>
              <a:rPr lang="en-US" sz="1800" b="1" i="1" dirty="0">
                <a:solidFill>
                  <a:schemeClr val="tx2"/>
                </a:solidFill>
              </a:rPr>
              <a:t>die</a:t>
            </a:r>
            <a:r>
              <a:rPr lang="en-US" sz="1800" i="1" dirty="0">
                <a:solidFill>
                  <a:schemeClr val="tx1"/>
                </a:solidFill>
              </a:rPr>
              <a:t> ik ken</a:t>
            </a:r>
            <a:endParaRPr lang="en-US" sz="1800" dirty="0"/>
          </a:p>
        </p:txBody>
      </p:sp>
      <p:pic>
        <p:nvPicPr>
          <p:cNvPr id="17" name="Image 2" descr="page facing 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32504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3941064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le rapport </a:t>
            </a:r>
            <a:r>
              <a:rPr lang="en-US" sz="1700" b="1" dirty="0">
                <a:solidFill>
                  <a:schemeClr val="tx1"/>
                </a:solidFill>
              </a:rPr>
              <a:t>qui</a:t>
            </a:r>
            <a:r>
              <a:rPr lang="en-US" sz="1700" dirty="0">
                <a:solidFill>
                  <a:schemeClr val="tx1"/>
                </a:solidFill>
              </a:rPr>
              <a:t> est prêt »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7543800" y="4352544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7909560" y="4014216"/>
            <a:ext cx="3566160" cy="685800"/>
          </a:xfrm>
          <a:prstGeom prst="roundRect">
            <a:avLst>
              <a:gd name="adj" fmla="val 13333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046720" y="401421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het rapport </a:t>
            </a:r>
            <a:r>
              <a:rPr lang="en-US" sz="1800" b="1" i="1" dirty="0">
                <a:solidFill>
                  <a:schemeClr val="accent1"/>
                </a:solidFill>
              </a:rPr>
              <a:t>dat</a:t>
            </a:r>
            <a:r>
              <a:rPr lang="en-US" sz="1800" i="1" dirty="0">
                <a:solidFill>
                  <a:schemeClr val="tx1"/>
                </a:solidFill>
              </a:rPr>
              <a:t> klaar is</a:t>
            </a:r>
            <a:endParaRPr lang="en-US" sz="1800" dirty="0"/>
          </a:p>
        </p:txBody>
      </p:sp>
      <p:pic>
        <p:nvPicPr>
          <p:cNvPr id="22" name="Image 3" descr="page facing 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28616"/>
            <a:ext cx="640080" cy="6400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54480" y="4837176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le rapport </a:t>
            </a:r>
            <a:r>
              <a:rPr lang="en-US" sz="1700" b="1" dirty="0">
                <a:solidFill>
                  <a:schemeClr val="tx1"/>
                </a:solidFill>
              </a:rPr>
              <a:t>que</a:t>
            </a:r>
            <a:r>
              <a:rPr lang="en-US" sz="1700" dirty="0">
                <a:solidFill>
                  <a:schemeClr val="tx1"/>
                </a:solidFill>
              </a:rPr>
              <a:t> j’écris »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7543800" y="5248656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909560" y="4910328"/>
            <a:ext cx="3566160" cy="685800"/>
          </a:xfrm>
          <a:prstGeom prst="roundRect">
            <a:avLst>
              <a:gd name="adj" fmla="val 13333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046720" y="4910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het rapport </a:t>
            </a:r>
            <a:r>
              <a:rPr lang="en-US" sz="1800" b="1" i="1" dirty="0">
                <a:solidFill>
                  <a:schemeClr val="accent1"/>
                </a:solidFill>
              </a:rPr>
              <a:t>dat</a:t>
            </a:r>
            <a:r>
              <a:rPr lang="en-US" sz="1800" i="1" dirty="0">
                <a:solidFill>
                  <a:schemeClr val="tx1"/>
                </a:solidFill>
              </a:rPr>
              <a:t> ik schrijf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Le français demande « sujet ou objet ? ». Le néerlandais : « </a:t>
            </a:r>
            <a:r>
              <a:rPr lang="en-US" sz="1800" i="1" dirty="0">
                <a:solidFill>
                  <a:schemeClr val="bg1"/>
                </a:solidFill>
              </a:rPr>
              <a:t>de</a:t>
            </a:r>
            <a:r>
              <a:rPr lang="en-US" sz="1800" dirty="0">
                <a:solidFill>
                  <a:schemeClr val="bg1"/>
                </a:solidFill>
              </a:rPr>
              <a:t> ou </a:t>
            </a:r>
            <a:r>
              <a:rPr lang="en-US" sz="1800" i="1" dirty="0">
                <a:solidFill>
                  <a:schemeClr val="bg1"/>
                </a:solidFill>
              </a:rPr>
              <a:t>het</a:t>
            </a:r>
            <a:r>
              <a:rPr lang="en-US" sz="1800" dirty="0">
                <a:solidFill>
                  <a:schemeClr val="bg1"/>
                </a:solidFill>
              </a:rPr>
              <a:t> ? »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verbe va à la fin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PHRASE PRINCIPALE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 RELATIVE (le wagon, M9)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 ken de man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3337560" y="1965960"/>
            <a:ext cx="9144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3756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die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4389120" y="196596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8912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naast Sofie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492240" y="196596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zit.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017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Dit is het rapport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3337560" y="3017520"/>
            <a:ext cx="9144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37560" y="3017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dat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4389120" y="30175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89120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 gisteren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6309360" y="301752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geschreven heb.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548640" y="40690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4069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 bel de klant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3337560" y="4069080"/>
            <a:ext cx="9144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337560" y="4069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die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4389120" y="40690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389120" y="40690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morgen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5669280" y="40690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69280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wil komen.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5257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Comme après </a:t>
            </a:r>
            <a:r>
              <a:rPr lang="en-US" sz="1800" i="1" dirty="0">
                <a:solidFill>
                  <a:schemeClr val="bg1"/>
                </a:solidFill>
              </a:rPr>
              <a:t>omdat</a:t>
            </a:r>
            <a:r>
              <a:rPr lang="en-US" sz="1800" dirty="0">
                <a:solidFill>
                  <a:schemeClr val="bg1"/>
                </a:solidFill>
              </a:rPr>
              <a:t> (M9) : le verbe conjugué va </a:t>
            </a:r>
            <a:r>
              <a:rPr lang="en-US" sz="1800" b="1" dirty="0">
                <a:solidFill>
                  <a:schemeClr val="bg1"/>
                </a:solidFill>
              </a:rPr>
              <a:t>à la fin</a:t>
            </a:r>
            <a:r>
              <a:rPr lang="en-US" sz="1800" dirty="0">
                <a:solidFill>
                  <a:schemeClr val="bg1"/>
                </a:solidFill>
              </a:rPr>
              <a:t>. Avec deux verbes, ils se retrouvent ensemble à la fin.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relative au milieu de la phrase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 collega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359152" y="1828800"/>
            <a:ext cx="777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59152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die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209544" y="182880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9544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naast me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745736" y="182880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45736" y="18288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zit,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641848" y="182880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41848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heet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629400" y="182880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9400" y="18288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Sofie.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4745736" y="2697480"/>
            <a:ext cx="181051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45736" y="26974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verbe, verbe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322576" y="1719072"/>
            <a:ext cx="3282696" cy="996696"/>
          </a:xfrm>
          <a:prstGeom prst="roundRect">
            <a:avLst>
              <a:gd name="adj" fmla="val 9174"/>
            </a:avLst>
          </a:prstGeom>
          <a:noFill/>
          <a:ln w="25400">
            <a:solidFill>
              <a:srgbClr val="D9700F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548640" y="32918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291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Het bureau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2359152" y="3291840"/>
            <a:ext cx="7772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359152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dat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3209544" y="32918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09544" y="3291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bij het raam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5202936" y="329184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202936" y="32918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staat,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6327648" y="3291840"/>
            <a:ext cx="640080" cy="777240"/>
          </a:xfrm>
          <a:prstGeom prst="roundRect">
            <a:avLst>
              <a:gd name="adj" fmla="val 11429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27648" y="3291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is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7040880" y="32918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40880" y="3291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van Karim.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5202936" y="4160520"/>
            <a:ext cx="176479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202936" y="4160520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verbe, verbe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322576" y="3182112"/>
            <a:ext cx="3968496" cy="996696"/>
          </a:xfrm>
          <a:prstGeom prst="roundRect">
            <a:avLst>
              <a:gd name="adj" fmla="val 9174"/>
            </a:avLst>
          </a:prstGeom>
          <a:noFill/>
          <a:ln w="25400">
            <a:solidFill>
              <a:srgbClr val="D9700F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548640" y="4572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la relative s’intercale juste après le nom qu’elle décrit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2960" y="5120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Les deux verbes se touchent autour de la virgule (« verbe, verbe », M9). La virgule est conseillée après une longue relative.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dat ≠ dat, die ≠ die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3977640"/>
          </a:xfrm>
          <a:prstGeom prst="roundRect">
            <a:avLst>
              <a:gd name="adj" fmla="val 1839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ag"/>
          <p:cNvSpPr/>
          <p:nvPr/>
        </p:nvSpPr>
        <p:spPr>
          <a:xfrm>
            <a:off x="777240" y="2331720"/>
            <a:ext cx="2236013" cy="347472"/>
          </a:xfrm>
          <a:prstGeom prst="roundRect">
            <a:avLst>
              <a:gd name="adj" fmla="val 13158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conjonction (M9)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2148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Ik denk </a:t>
            </a:r>
            <a:r>
              <a:rPr lang="en-US" sz="2000" b="1" i="1" dirty="0">
                <a:solidFill>
                  <a:schemeClr val="tx1"/>
                </a:solidFill>
              </a:rPr>
              <a:t>dat</a:t>
            </a:r>
            <a:r>
              <a:rPr lang="en-US" sz="2000" i="1" dirty="0">
                <a:solidFill>
                  <a:schemeClr val="tx1"/>
                </a:solidFill>
              </a:rPr>
              <a:t> hij komt.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148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pas de nom avant</a:t>
            </a:r>
            <a:endParaRPr lang="en-US" sz="1500" dirty="0"/>
          </a:p>
        </p:txBody>
      </p:sp>
      <p:sp>
        <p:nvSpPr>
          <p:cNvPr id="10" name="tag"/>
          <p:cNvSpPr/>
          <p:nvPr/>
        </p:nvSpPr>
        <p:spPr>
          <a:xfrm>
            <a:off x="777240" y="3154680"/>
            <a:ext cx="1183996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relatif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2971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het huis </a:t>
            </a:r>
            <a:r>
              <a:rPr lang="en-US" sz="2000" b="1" i="1" dirty="0">
                <a:solidFill>
                  <a:schemeClr val="tx1"/>
                </a:solidFill>
              </a:rPr>
              <a:t>dat</a:t>
            </a:r>
            <a:r>
              <a:rPr lang="en-US" sz="2000" i="1" dirty="0">
                <a:solidFill>
                  <a:schemeClr val="tx1"/>
                </a:solidFill>
              </a:rPr>
              <a:t> ik koop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971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nom </a:t>
            </a:r>
            <a:r>
              <a:rPr lang="en-US" sz="1500" i="1" dirty="0">
                <a:solidFill>
                  <a:schemeClr val="accent5"/>
                </a:solidFill>
              </a:rPr>
              <a:t>het</a:t>
            </a:r>
            <a:r>
              <a:rPr lang="en-US" sz="1500" i="1" dirty="0">
                <a:solidFill>
                  <a:schemeClr val="accent5"/>
                </a:solidFill>
              </a:rPr>
              <a:t> juste avant</a:t>
            </a:r>
            <a:endParaRPr lang="en-US" sz="1500" dirty="0"/>
          </a:p>
        </p:txBody>
      </p:sp>
      <p:sp>
        <p:nvSpPr>
          <p:cNvPr id="13" name="tag"/>
          <p:cNvSpPr/>
          <p:nvPr/>
        </p:nvSpPr>
        <p:spPr>
          <a:xfrm>
            <a:off x="777240" y="3977640"/>
            <a:ext cx="2579522" cy="347472"/>
          </a:xfrm>
          <a:prstGeom prst="roundRect">
            <a:avLst>
              <a:gd name="adj" fmla="val 13158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démonstratif (M20)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3794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Die</a:t>
            </a:r>
            <a:r>
              <a:rPr lang="en-US" sz="2000" i="1" dirty="0">
                <a:solidFill>
                  <a:schemeClr val="tx1"/>
                </a:solidFill>
              </a:rPr>
              <a:t> collega is aardig.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3794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devant un nom</a:t>
            </a:r>
            <a:endParaRPr lang="en-US" sz="1500" dirty="0"/>
          </a:p>
        </p:txBody>
      </p:sp>
      <p:sp>
        <p:nvSpPr>
          <p:cNvPr id="16" name="tag"/>
          <p:cNvSpPr/>
          <p:nvPr/>
        </p:nvSpPr>
        <p:spPr>
          <a:xfrm>
            <a:off x="777240" y="4800600"/>
            <a:ext cx="1183996" cy="347472"/>
          </a:xfrm>
          <a:prstGeom prst="roundRect">
            <a:avLst>
              <a:gd name="adj" fmla="val 1315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relatif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0" y="4617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de collega </a:t>
            </a:r>
            <a:r>
              <a:rPr lang="en-US" sz="2000" b="1" i="1" dirty="0">
                <a:solidFill>
                  <a:schemeClr val="tx1"/>
                </a:solidFill>
              </a:rPr>
              <a:t>die</a:t>
            </a:r>
            <a:r>
              <a:rPr lang="en-US" sz="2000" i="1" dirty="0">
                <a:solidFill>
                  <a:schemeClr val="tx1"/>
                </a:solidFill>
              </a:rPr>
              <a:t> aardig is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4617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nom </a:t>
            </a:r>
            <a:r>
              <a:rPr lang="en-US" sz="1500" i="1" dirty="0">
                <a:solidFill>
                  <a:schemeClr val="accent5"/>
                </a:solidFill>
              </a:rPr>
              <a:t>de</a:t>
            </a:r>
            <a:r>
              <a:rPr lang="en-US" sz="1500" i="1" dirty="0">
                <a:solidFill>
                  <a:schemeClr val="accent5"/>
                </a:solidFill>
              </a:rPr>
              <a:t> juste avant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Test : y a-t-il un </a:t>
            </a:r>
            <a:r>
              <a:rPr lang="en-US" sz="1800" b="1" dirty="0">
                <a:solidFill>
                  <a:schemeClr val="bg1"/>
                </a:solidFill>
              </a:rPr>
              <a:t>nom juste avant</a:t>
            </a:r>
            <a:r>
              <a:rPr lang="en-US" sz="1800" dirty="0">
                <a:solidFill>
                  <a:schemeClr val="bg1"/>
                </a:solidFill>
              </a:rPr>
              <a:t> ? → c’est un relatif.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wat après alles, iets, niets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speech ballo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731520" cy="731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737360"/>
            <a:ext cx="2310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alles wat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651760"/>
            <a:ext cx="3087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Alles </a:t>
            </a:r>
            <a:r>
              <a:rPr lang="en-US" sz="1900" b="1" i="1" dirty="0">
                <a:solidFill>
                  <a:schemeClr val="tx1"/>
                </a:solidFill>
              </a:rPr>
              <a:t>wat</a:t>
            </a:r>
            <a:r>
              <a:rPr lang="en-US" sz="1900" i="1" dirty="0">
                <a:solidFill>
                  <a:schemeClr val="tx1"/>
                </a:solidFill>
              </a:rPr>
              <a:t> je zegt, is waar.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4322064" y="1554480"/>
            <a:ext cx="3544824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wrapped gi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664" y="1737360"/>
            <a:ext cx="731520" cy="731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19344" y="1737360"/>
            <a:ext cx="2310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iets wat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4550664" y="2651760"/>
            <a:ext cx="3087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heb iets </a:t>
            </a:r>
            <a:r>
              <a:rPr lang="en-US" sz="1900" b="1" i="1" dirty="0">
                <a:solidFill>
                  <a:schemeClr val="tx1"/>
                </a:solidFill>
              </a:rPr>
              <a:t>wat</a:t>
            </a:r>
            <a:r>
              <a:rPr lang="en-US" sz="1900" i="1" dirty="0">
                <a:solidFill>
                  <a:schemeClr val="tx1"/>
                </a:solidFill>
              </a:rPr>
              <a:t> je zal helpen.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8095488" y="1554480"/>
            <a:ext cx="3544824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light 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088" y="1737360"/>
            <a:ext cx="731520" cy="7315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192768" y="1737360"/>
            <a:ext cx="2310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niets wat</a:t>
            </a:r>
            <a:endParaRPr lang="en-US" sz="2400" dirty="0"/>
          </a:p>
        </p:txBody>
      </p:sp>
      <p:sp>
        <p:nvSpPr>
          <p:cNvPr id="16" name="Text 10"/>
          <p:cNvSpPr txBox="1"/>
          <p:nvPr/>
        </p:nvSpPr>
        <p:spPr>
          <a:xfrm>
            <a:off x="8324088" y="2651760"/>
            <a:ext cx="3087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Er is niets </a:t>
            </a:r>
            <a:r>
              <a:rPr lang="en-US" sz="1900" b="1" i="1" dirty="0">
                <a:solidFill>
                  <a:schemeClr val="tx1"/>
                </a:solidFill>
              </a:rPr>
              <a:t>wat</a:t>
            </a:r>
            <a:r>
              <a:rPr lang="en-US" sz="1900" i="1" dirty="0">
                <a:solidFill>
                  <a:schemeClr val="tx1"/>
                </a:solidFill>
              </a:rPr>
              <a:t> ik niet begrijp.</a:t>
            </a:r>
            <a:endParaRPr lang="en-US" sz="1900" dirty="0"/>
          </a:p>
        </p:txBody>
      </p:sp>
      <p:sp>
        <p:nvSpPr>
          <p:cNvPr id="17" name="Shape 11"/>
          <p:cNvSpPr/>
          <p:nvPr/>
        </p:nvSpPr>
        <p:spPr>
          <a:xfrm>
            <a:off x="548640" y="452628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77240" y="4526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« Je fais </a:t>
            </a:r>
            <a:r>
              <a:rPr lang="en-US" sz="1900" b="1" dirty="0">
                <a:solidFill>
                  <a:schemeClr val="tx1"/>
                </a:solidFill>
              </a:rPr>
              <a:t>ce que</a:t>
            </a:r>
            <a:r>
              <a:rPr lang="en-US" sz="1900" dirty="0">
                <a:solidFill>
                  <a:schemeClr val="tx1"/>
                </a:solidFill>
              </a:rPr>
              <a:t> je veux. » → </a:t>
            </a:r>
            <a:r>
              <a:rPr lang="en-US" sz="1900" i="1" dirty="0">
                <a:solidFill>
                  <a:schemeClr val="tx1"/>
                </a:solidFill>
              </a:rPr>
              <a:t>Ik doe </a:t>
            </a:r>
            <a:r>
              <a:rPr lang="en-US" sz="1900" b="1" i="1" dirty="0">
                <a:solidFill>
                  <a:schemeClr val="tx1"/>
                </a:solidFill>
              </a:rPr>
              <a:t>wat</a:t>
            </a:r>
            <a:r>
              <a:rPr lang="en-US" sz="1900" i="1" dirty="0">
                <a:solidFill>
                  <a:schemeClr val="tx1"/>
                </a:solidFill>
              </a:rPr>
              <a:t> ik wil.</a:t>
            </a:r>
            <a:r>
              <a:rPr lang="en-US" sz="1900" dirty="0">
                <a:solidFill>
                  <a:schemeClr val="tx1"/>
                </a:solidFill>
              </a:rPr>
              <a:t> — « ce qui / ce que » = </a:t>
            </a:r>
            <a:r>
              <a:rPr lang="en-US" sz="1900" i="1" dirty="0">
                <a:solidFill>
                  <a:schemeClr val="tx1"/>
                </a:solidFill>
              </a:rPr>
              <a:t>wat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5778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Après </a:t>
            </a:r>
            <a:r>
              <a:rPr lang="en-US" sz="1500" i="1" dirty="0">
                <a:solidFill>
                  <a:schemeClr val="accent5"/>
                </a:solidFill>
              </a:rPr>
              <a:t>iets, niets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i="1" dirty="0">
                <a:solidFill>
                  <a:schemeClr val="accent5"/>
                </a:solidFill>
              </a:rPr>
              <a:t>wat</a:t>
            </a:r>
            <a:r>
              <a:rPr lang="en-US" sz="1500" i="1" dirty="0">
                <a:solidFill>
                  <a:schemeClr val="accent5"/>
                </a:solidFill>
              </a:rPr>
              <a:t> ou </a:t>
            </a:r>
            <a:r>
              <a:rPr lang="en-US" sz="1500" i="1" dirty="0">
                <a:solidFill>
                  <a:schemeClr val="accent5"/>
                </a:solidFill>
              </a:rPr>
              <a:t>dat</a:t>
            </a:r>
            <a:r>
              <a:rPr lang="en-US" sz="1500" i="1" dirty="0">
                <a:solidFill>
                  <a:schemeClr val="accent5"/>
                </a:solidFill>
              </a:rPr>
              <a:t> (les deux sont corrects, </a:t>
            </a:r>
            <a:r>
              <a:rPr lang="en-US" sz="1500" i="1" dirty="0">
                <a:solidFill>
                  <a:schemeClr val="accent5"/>
                </a:solidFill>
              </a:rPr>
              <a:t>wat</a:t>
            </a:r>
            <a:r>
              <a:rPr lang="en-US" sz="1500" i="1" dirty="0">
                <a:solidFill>
                  <a:schemeClr val="accent5"/>
                </a:solidFill>
              </a:rPr>
              <a:t> plus fréquent). Après </a:t>
            </a:r>
            <a:r>
              <a:rPr lang="en-US" sz="1500" i="1" dirty="0">
                <a:solidFill>
                  <a:schemeClr val="accent5"/>
                </a:solidFill>
              </a:rPr>
              <a:t>alles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i="1" dirty="0">
                <a:solidFill>
                  <a:schemeClr val="accent5"/>
                </a:solidFill>
              </a:rPr>
              <a:t>wat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Avec une préposition : met wie, waarmee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3248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5413248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bg1"/>
                </a:solidFill>
              </a:rPr>
              <a:t>PERSONNES</a:t>
            </a:r>
            <a:endParaRPr lang="en-US" sz="1700" dirty="0"/>
          </a:p>
        </p:txBody>
      </p:sp>
      <p:pic>
        <p:nvPicPr>
          <p:cNvPr id="8" name="Image 0" descr="busts in silhouet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240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préposition + </a:t>
            </a:r>
            <a:r>
              <a:rPr lang="en-US" sz="1800" b="1" i="1" dirty="0">
                <a:solidFill>
                  <a:schemeClr val="accent2"/>
                </a:solidFill>
              </a:rPr>
              <a:t>wie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0632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de collega </a:t>
            </a:r>
            <a:r>
              <a:rPr lang="en-US" sz="1900" b="1" i="1" dirty="0">
                <a:solidFill>
                  <a:schemeClr val="tx1"/>
                </a:solidFill>
              </a:rPr>
              <a:t>met wie</a:t>
            </a:r>
            <a:r>
              <a:rPr lang="en-US" sz="1900" i="1" dirty="0">
                <a:solidFill>
                  <a:schemeClr val="tx1"/>
                </a:solidFill>
              </a:rPr>
              <a:t> ik werk</a:t>
            </a:r>
            <a:endParaRPr lang="en-US" sz="19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de klant </a:t>
            </a:r>
            <a:r>
              <a:rPr lang="en-US" sz="1900" b="1" i="1" dirty="0">
                <a:solidFill>
                  <a:schemeClr val="tx1"/>
                </a:solidFill>
              </a:rPr>
              <a:t>aan wie</a:t>
            </a:r>
            <a:r>
              <a:rPr lang="en-US" sz="1900" i="1" dirty="0">
                <a:solidFill>
                  <a:schemeClr val="tx1"/>
                </a:solidFill>
              </a:rPr>
              <a:t> ik schrijf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227064" y="1554480"/>
            <a:ext cx="5413248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27064" y="1554480"/>
            <a:ext cx="5413248" cy="502920"/>
          </a:xfrm>
          <a:prstGeom prst="roundRect">
            <a:avLst>
              <a:gd name="adj" fmla="val 14545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27064" y="1554480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bg1"/>
                </a:solidFill>
              </a:rPr>
              <a:t>CHOSES</a:t>
            </a:r>
            <a:endParaRPr lang="en-US" sz="1700" dirty="0"/>
          </a:p>
        </p:txBody>
      </p:sp>
      <p:pic>
        <p:nvPicPr>
          <p:cNvPr id="14" name="Image 1" descr="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24028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24344" y="2240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6E4A9E"/>
                </a:solidFill>
              </a:rPr>
              <a:t>waar</a:t>
            </a:r>
            <a:r>
              <a:rPr lang="en-US" sz="1800" b="1" dirty="0">
                <a:solidFill>
                  <a:srgbClr val="6E4A9E"/>
                </a:solidFill>
              </a:rPr>
              <a:t> + préposition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501384" y="30632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de pen </a:t>
            </a:r>
            <a:r>
              <a:rPr lang="en-US" sz="1900" b="1" i="1" dirty="0">
                <a:solidFill>
                  <a:schemeClr val="tx1"/>
                </a:solidFill>
              </a:rPr>
              <a:t>waarmee</a:t>
            </a:r>
            <a:r>
              <a:rPr lang="en-US" sz="1900" i="1" dirty="0">
                <a:solidFill>
                  <a:schemeClr val="tx1"/>
                </a:solidFill>
              </a:rPr>
              <a:t> ik schrijf</a:t>
            </a:r>
            <a:endParaRPr lang="en-US" sz="19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het project </a:t>
            </a:r>
            <a:r>
              <a:rPr lang="en-US" sz="1900" b="1" i="1" dirty="0">
                <a:solidFill>
                  <a:schemeClr val="tx1"/>
                </a:solidFill>
              </a:rPr>
              <a:t>waaraan</a:t>
            </a:r>
            <a:r>
              <a:rPr lang="en-US" sz="1900" i="1" dirty="0">
                <a:solidFill>
                  <a:schemeClr val="tx1"/>
                </a:solidFill>
              </a:rPr>
              <a:t> ik werk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548640" y="475488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77240" y="47548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LIEUX : </a:t>
            </a:r>
            <a:r>
              <a:rPr lang="en-US" sz="1800" i="1" dirty="0">
                <a:solidFill>
                  <a:schemeClr val="tx1"/>
                </a:solidFill>
              </a:rPr>
              <a:t>de stad </a:t>
            </a:r>
            <a:r>
              <a:rPr lang="en-US" sz="1800" b="1" i="1" dirty="0">
                <a:solidFill>
                  <a:schemeClr val="tx1"/>
                </a:solidFill>
              </a:rPr>
              <a:t>waar</a:t>
            </a:r>
            <a:r>
              <a:rPr lang="en-US" sz="1800" i="1" dirty="0">
                <a:solidFill>
                  <a:schemeClr val="tx1"/>
                </a:solidFill>
              </a:rPr>
              <a:t> ik woon</a:t>
            </a:r>
            <a:r>
              <a:rPr lang="en-US" sz="1800" dirty="0">
                <a:solidFill>
                  <a:schemeClr val="tx1"/>
                </a:solidFill>
              </a:rPr>
              <a:t> (où) · ✗ </a:t>
            </a:r>
            <a:r>
              <a:rPr lang="en-US" sz="1800" i="1" strike="sngStrike" dirty="0">
                <a:solidFill>
                  <a:schemeClr val="accent6"/>
                </a:solidFill>
              </a:rPr>
              <a:t>de pen met die ik schrijf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de pen </a:t>
            </a:r>
            <a:r>
              <a:rPr lang="en-US" sz="1800" b="1" i="1" dirty="0">
                <a:solidFill>
                  <a:schemeClr val="tx1"/>
                </a:solidFill>
              </a:rPr>
              <a:t>waarmee</a:t>
            </a:r>
            <a:r>
              <a:rPr lang="en-US" sz="1800" i="1" dirty="0">
                <a:solidFill>
                  <a:schemeClr val="tx1"/>
                </a:solidFill>
              </a:rPr>
              <a:t>…</a:t>
            </a:r>
            <a:r>
              <a:rPr lang="en-US" sz="1800" dirty="0">
                <a:solidFill>
                  <a:schemeClr val="tx1"/>
                </a:solidFill>
              </a:rPr>
              <a:t> (M23)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À reconnaître ici, à pratiquer au M23.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Définir un mot inconnu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ag"/>
          <p:cNvSpPr/>
          <p:nvPr/>
        </p:nvSpPr>
        <p:spPr>
          <a:xfrm>
            <a:off x="731520" y="1691640"/>
            <a:ext cx="166055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UNE PERSONNE</a:t>
            </a:r>
            <a:endParaRPr lang="en-US" sz="1200" dirty="0"/>
          </a:p>
        </p:txBody>
      </p:sp>
      <p:pic>
        <p:nvPicPr>
          <p:cNvPr id="7" name="Image 0" descr="person getting hair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412" y="210312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24612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Het is iemand </a:t>
            </a:r>
            <a:r>
              <a:rPr lang="en-US" sz="1800" b="1" i="1" dirty="0">
                <a:solidFill>
                  <a:schemeClr val="tx2"/>
                </a:solidFill>
              </a:rPr>
              <a:t>die</a:t>
            </a:r>
            <a:r>
              <a:rPr lang="en-US" sz="1800" i="1" dirty="0">
                <a:solidFill>
                  <a:schemeClr val="tx1"/>
                </a:solidFill>
              </a:rPr>
              <a:t> je haar knipt.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29768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2"/>
                </a:solidFill>
              </a:rPr>
              <a:t>→ </a:t>
            </a:r>
            <a:r>
              <a:rPr lang="en-US" sz="1700" b="1" dirty="0">
                <a:solidFill>
                  <a:schemeClr val="accent2"/>
                </a:solidFill>
              </a:rPr>
              <a:t>een kapper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322064" y="1554480"/>
            <a:ext cx="3544824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tag"/>
          <p:cNvSpPr/>
          <p:nvPr/>
        </p:nvSpPr>
        <p:spPr>
          <a:xfrm>
            <a:off x="4504944" y="1691640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UNE CHOSE</a:t>
            </a:r>
            <a:endParaRPr lang="en-US" sz="1200" dirty="0"/>
          </a:p>
        </p:txBody>
      </p:sp>
      <p:pic>
        <p:nvPicPr>
          <p:cNvPr id="12" name="Image 1" descr="prin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836" y="2103120"/>
            <a:ext cx="1097280" cy="10972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04944" y="324612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Het is een machine </a:t>
            </a:r>
            <a:r>
              <a:rPr lang="en-US" sz="1800" b="1" i="1" dirty="0">
                <a:solidFill>
                  <a:schemeClr val="tx2"/>
                </a:solidFill>
              </a:rPr>
              <a:t>die</a:t>
            </a:r>
            <a:r>
              <a:rPr lang="en-US" sz="1800" i="1" dirty="0">
                <a:solidFill>
                  <a:schemeClr val="tx1"/>
                </a:solidFill>
              </a:rPr>
              <a:t> documenten kopieert.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504944" y="429768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→ </a:t>
            </a:r>
            <a:r>
              <a:rPr lang="en-US" sz="1700" b="1" dirty="0">
                <a:solidFill>
                  <a:schemeClr val="accent1"/>
                </a:solidFill>
              </a:rPr>
              <a:t>een kopieerapparaat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8095488" y="1554480"/>
            <a:ext cx="3544824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tag"/>
          <p:cNvSpPr/>
          <p:nvPr/>
        </p:nvSpPr>
        <p:spPr>
          <a:xfrm>
            <a:off x="8278368" y="1691640"/>
            <a:ext cx="1121054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UN LIEU</a:t>
            </a:r>
            <a:endParaRPr lang="en-US" sz="1200" dirty="0"/>
          </a:p>
        </p:txBody>
      </p:sp>
      <p:pic>
        <p:nvPicPr>
          <p:cNvPr id="17" name="Image 2" descr="boo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260" y="2103120"/>
            <a:ext cx="1097280" cy="10972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78368" y="3246120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Het is een plek </a:t>
            </a:r>
            <a:r>
              <a:rPr lang="en-US" sz="1800" b="1" i="1" dirty="0">
                <a:solidFill>
                  <a:schemeClr val="accent4"/>
                </a:solidFill>
              </a:rPr>
              <a:t>waar</a:t>
            </a:r>
            <a:r>
              <a:rPr lang="en-US" sz="1800" i="1" dirty="0">
                <a:solidFill>
                  <a:schemeClr val="tx1"/>
                </a:solidFill>
              </a:rPr>
              <a:t> je boeken leent.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278368" y="429768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4A9E"/>
                </a:solidFill>
              </a:rPr>
              <a:t>→ </a:t>
            </a:r>
            <a:r>
              <a:rPr lang="en-US" sz="1700" b="1" dirty="0">
                <a:solidFill>
                  <a:srgbClr val="6E4A9E"/>
                </a:solidFill>
              </a:rPr>
              <a:t>een bibliotheek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22960" y="5212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Un mot vous manque ? Décrivez-le : </a:t>
            </a:r>
            <a:r>
              <a:rPr lang="en-US" sz="1800" i="1" dirty="0">
                <a:solidFill>
                  <a:schemeClr val="bg1"/>
                </a:solidFill>
              </a:rPr>
              <a:t>Hoe heet een ding </a:t>
            </a:r>
            <a:r>
              <a:rPr lang="en-US" sz="1800" b="1" i="1" dirty="0">
                <a:solidFill>
                  <a:schemeClr val="bg1"/>
                </a:solidFill>
              </a:rPr>
              <a:t>dat</a:t>
            </a:r>
            <a:r>
              <a:rPr lang="en-US" sz="1800" i="1" dirty="0">
                <a:solidFill>
                  <a:schemeClr val="bg1"/>
                </a:solidFill>
              </a:rPr>
              <a:t>…?</a:t>
            </a:r>
            <a:r>
              <a:rPr lang="en-US" sz="1800" dirty="0">
                <a:solidFill>
                  <a:schemeClr val="bg1"/>
                </a:solidFill>
              </a:rPr>
              <a:t> · </a:t>
            </a:r>
            <a:r>
              <a:rPr lang="en-US" sz="1800" i="1" dirty="0">
                <a:solidFill>
                  <a:schemeClr val="bg1"/>
                </a:solidFill>
              </a:rPr>
              <a:t>iemand → die · een ding (het) → dat · een plek → waar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het meisje dat…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3977640"/>
          </a:xfrm>
          <a:prstGeom prst="roundRect">
            <a:avLst>
              <a:gd name="adj" fmla="val 1839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pic>
        <p:nvPicPr>
          <p:cNvPr id="7" name="Image 0" descr="gir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2194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« la fille </a:t>
            </a:r>
            <a:r>
              <a:rPr lang="en-US" sz="2000" b="1" dirty="0">
                <a:solidFill>
                  <a:schemeClr val="tx1"/>
                </a:solidFill>
              </a:rPr>
              <a:t>qui</a:t>
            </a:r>
            <a:r>
              <a:rPr lang="en-US" sz="2000" dirty="0">
                <a:solidFill>
                  <a:schemeClr val="tx1"/>
                </a:solidFill>
              </a:rPr>
              <a:t> rit »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394960" y="2194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✗ </a:t>
            </a:r>
            <a:r>
              <a:rPr lang="en-US" sz="1700" i="1" strike="sngStrike" dirty="0">
                <a:solidFill>
                  <a:schemeClr val="accent6"/>
                </a:solidFill>
              </a:rPr>
              <a:t>het meisje die lacht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321040" y="2377440"/>
            <a:ext cx="315468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het meisje </a:t>
            </a:r>
            <a:r>
              <a:rPr lang="en-US" sz="1800" b="1" i="1" dirty="0">
                <a:solidFill>
                  <a:schemeClr val="accent1"/>
                </a:solidFill>
              </a:rPr>
              <a:t>dat</a:t>
            </a:r>
            <a:r>
              <a:rPr lang="en-US" sz="1800" i="1" dirty="0">
                <a:solidFill>
                  <a:schemeClr val="tx1"/>
                </a:solidFill>
              </a:rPr>
              <a:t> lacht</a:t>
            </a:r>
            <a:endParaRPr lang="en-US" sz="1800" dirty="0"/>
          </a:p>
        </p:txBody>
      </p:sp>
      <p:pic>
        <p:nvPicPr>
          <p:cNvPr id="12" name="Image 1" descr="chi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5760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kind </a:t>
            </a:r>
            <a:r>
              <a:rPr lang="en-US" sz="1700" b="1" i="1" dirty="0">
                <a:solidFill>
                  <a:schemeClr val="accent1"/>
                </a:solidFill>
              </a:rPr>
              <a:t>dat</a:t>
            </a:r>
            <a:endParaRPr lang="en-US" sz="1700" dirty="0"/>
          </a:p>
        </p:txBody>
      </p:sp>
      <p:pic>
        <p:nvPicPr>
          <p:cNvPr id="14" name="Image 2" descr="busts in silhouet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65760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11480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team </a:t>
            </a:r>
            <a:r>
              <a:rPr lang="en-US" sz="1700" b="1" i="1" dirty="0">
                <a:solidFill>
                  <a:schemeClr val="accent1"/>
                </a:solidFill>
              </a:rPr>
              <a:t>dat</a:t>
            </a:r>
            <a:endParaRPr lang="en-US" sz="1700" dirty="0"/>
          </a:p>
        </p:txBody>
      </p:sp>
      <p:pic>
        <p:nvPicPr>
          <p:cNvPr id="16" name="Image 3" descr="identification c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657600"/>
            <a:ext cx="640080" cy="6400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72084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lid </a:t>
            </a:r>
            <a:r>
              <a:rPr lang="en-US" sz="1700" b="1" i="1" dirty="0">
                <a:solidFill>
                  <a:schemeClr val="accent1"/>
                </a:solidFill>
              </a:rPr>
              <a:t>dat</a:t>
            </a:r>
            <a:endParaRPr lang="en-US" sz="1700" dirty="0"/>
          </a:p>
        </p:txBody>
      </p:sp>
      <p:pic>
        <p:nvPicPr>
          <p:cNvPr id="18" name="Image 4" descr="man office work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3657600"/>
            <a:ext cx="640080" cy="6400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32688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personeel </a:t>
            </a:r>
            <a:r>
              <a:rPr lang="en-US" sz="1700" b="1" i="1" dirty="0">
                <a:solidFill>
                  <a:schemeClr val="accent1"/>
                </a:solidFill>
              </a:rPr>
              <a:t>dat</a:t>
            </a:r>
            <a:endParaRPr lang="en-US" sz="1700" dirty="0"/>
          </a:p>
        </p:txBody>
      </p:sp>
      <p:sp>
        <p:nvSpPr>
          <p:cNvPr id="20" name="Text 12"/>
          <p:cNvSpPr txBox="1"/>
          <p:nvPr/>
        </p:nvSpPr>
        <p:spPr>
          <a:xfrm>
            <a:off x="777240" y="4572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On suit l’</a:t>
            </a:r>
            <a:r>
              <a:rPr lang="en-US" sz="1900" b="1" dirty="0">
                <a:solidFill>
                  <a:schemeClr val="tx1"/>
                </a:solidFill>
              </a:rPr>
              <a:t>article</a:t>
            </a:r>
            <a:r>
              <a:rPr lang="en-US" sz="1900" b="1" dirty="0">
                <a:solidFill>
                  <a:schemeClr val="tx1"/>
                </a:solidFill>
              </a:rPr>
              <a:t>, pas le sexe de la personne.</a:t>
            </a:r>
            <a:endParaRPr lang="en-US" sz="1900" dirty="0"/>
          </a:p>
        </p:txBody>
      </p:sp>
      <p:sp>
        <p:nvSpPr>
          <p:cNvPr id="21" name="Shape 13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het meisje</a:t>
            </a:r>
            <a:r>
              <a:rPr lang="en-US" sz="1700" dirty="0">
                <a:solidFill>
                  <a:schemeClr val="bg1"/>
                </a:solidFill>
              </a:rPr>
              <a:t> est un diminutif (M14) → </a:t>
            </a:r>
            <a:r>
              <a:rPr lang="en-US" sz="1700" i="1" dirty="0">
                <a:solidFill>
                  <a:schemeClr val="bg1"/>
                </a:solidFill>
              </a:rPr>
              <a:t>het</a:t>
            </a:r>
            <a:r>
              <a:rPr lang="en-US" sz="1700" dirty="0">
                <a:solidFill>
                  <a:schemeClr val="bg1"/>
                </a:solidFill>
              </a:rPr>
              <a:t> · </a:t>
            </a:r>
            <a:r>
              <a:rPr lang="en-US" sz="1700" i="1" dirty="0">
                <a:solidFill>
                  <a:schemeClr val="bg1"/>
                </a:solidFill>
              </a:rPr>
              <a:t>het lid</a:t>
            </a:r>
            <a:r>
              <a:rPr lang="en-US" sz="1700" dirty="0">
                <a:solidFill>
                  <a:schemeClr val="bg1"/>
                </a:solidFill>
              </a:rPr>
              <a:t> = le membre · à l’oral : parfois </a:t>
            </a:r>
            <a:r>
              <a:rPr lang="en-US" sz="1700" i="1" dirty="0">
                <a:solidFill>
                  <a:schemeClr val="bg1"/>
                </a:solidFill>
              </a:rPr>
              <a:t>het meisje die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l’aiguillage du relatif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34640" cy="3931920"/>
          </a:xfrm>
          <a:prstGeom prst="roundRect">
            <a:avLst>
              <a:gd name="adj" fmla="val 3226"/>
            </a:avLst>
          </a:prstGeom>
          <a:solidFill>
            <a:srgbClr val="EEF3F8"/>
          </a:solidFill>
          <a:ln w="19050">
            <a:solidFill>
              <a:srgbClr val="17375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554480"/>
            <a:ext cx="2651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Quel nom juste avant 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 flipV="1">
            <a:off x="3401568" y="1965960"/>
            <a:ext cx="393192" cy="155448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384048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mot </a:t>
            </a:r>
            <a:r>
              <a:rPr lang="en-US" sz="1600" i="1" dirty="0">
                <a:solidFill>
                  <a:schemeClr val="tx1"/>
                </a:solidFill>
              </a:rPr>
              <a:t>de</a:t>
            </a:r>
            <a:r>
              <a:rPr lang="en-US" sz="1600" dirty="0">
                <a:solidFill>
                  <a:schemeClr val="tx1"/>
                </a:solidFill>
              </a:rPr>
              <a:t> ou pluriel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210312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6364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die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155448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de klant </a:t>
            </a:r>
            <a:r>
              <a:rPr lang="en-US" sz="1500" b="1" i="1" dirty="0">
                <a:solidFill>
                  <a:schemeClr val="tx1"/>
                </a:solidFill>
              </a:rPr>
              <a:t>die</a:t>
            </a:r>
            <a:r>
              <a:rPr lang="en-US" sz="1500" i="1" dirty="0">
                <a:solidFill>
                  <a:schemeClr val="tx1"/>
                </a:solidFill>
              </a:rPr>
              <a:t> belt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 flipV="1">
            <a:off x="3401568" y="2971800"/>
            <a:ext cx="393192" cy="548640"/>
          </a:xfrm>
          <a:prstGeom prst="line">
            <a:avLst/>
          </a:prstGeom>
          <a:noFill/>
          <a:ln w="254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840480" y="2560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mot </a:t>
            </a:r>
            <a:r>
              <a:rPr lang="en-US" sz="1600" i="1" dirty="0">
                <a:solidFill>
                  <a:schemeClr val="tx1"/>
                </a:solidFill>
              </a:rPr>
              <a:t>het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63640" y="2651760"/>
            <a:ext cx="21031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364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dat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256032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het rapport </a:t>
            </a:r>
            <a:r>
              <a:rPr lang="en-US" sz="1500" b="1" i="1" dirty="0">
                <a:solidFill>
                  <a:schemeClr val="tx1"/>
                </a:solidFill>
              </a:rPr>
              <a:t>dat</a:t>
            </a:r>
            <a:r>
              <a:rPr lang="en-US" sz="1500" i="1" dirty="0">
                <a:solidFill>
                  <a:schemeClr val="tx1"/>
                </a:solidFill>
              </a:rPr>
              <a:t> ik schrijf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401568" y="3520440"/>
            <a:ext cx="393192" cy="45720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3840480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alles, iets, niets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63640" y="3657600"/>
            <a:ext cx="210312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6364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wat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356616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alles </a:t>
            </a:r>
            <a:r>
              <a:rPr lang="en-US" sz="1500" b="1" i="1" dirty="0">
                <a:solidFill>
                  <a:schemeClr val="tx1"/>
                </a:solidFill>
              </a:rPr>
              <a:t>wat</a:t>
            </a:r>
            <a:r>
              <a:rPr lang="en-US" sz="1500" i="1" dirty="0">
                <a:solidFill>
                  <a:schemeClr val="tx1"/>
                </a:solidFill>
              </a:rPr>
              <a:t> je zegt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401568" y="3520440"/>
            <a:ext cx="393192" cy="1463040"/>
          </a:xfrm>
          <a:prstGeom prst="line">
            <a:avLst/>
          </a:prstGeom>
          <a:noFill/>
          <a:ln w="254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3840480" y="4572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avec une préposition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63640" y="466344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63640" y="4663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met wie / waarmee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503920" y="457200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met wie ik werk · waarmee ik schrijf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2308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6235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Toujours : le </a:t>
            </a:r>
            <a:r>
              <a:rPr lang="en-US" sz="1800" b="1" dirty="0">
                <a:solidFill>
                  <a:schemeClr val="bg1"/>
                </a:solidFill>
              </a:rPr>
              <a:t>verbe à la fin</a:t>
            </a:r>
            <a:r>
              <a:rPr lang="en-US" sz="1800" dirty="0">
                <a:solidFill>
                  <a:schemeClr val="bg1"/>
                </a:solidFill>
              </a:rPr>
              <a:t> de la relative (le wagon, M9).</a:t>
            </a:r>
            <a:endParaRPr lang="en-US" sz="1800" dirty="0"/>
          </a:p>
        </p:txBody>
      </p:sp>
      <p:pic>
        <p:nvPicPr>
          <p:cNvPr id="29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CodeBra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die, dat ou wat 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Reliez les phrases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Langu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qui ou que ?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Ques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devinettes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CommentSla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Taboe !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Sitema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nouveau collègue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die, dat ou wat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Complétez. Dites d’abord l’article du nom.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115312"/>
            <a:ext cx="534009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  </a:t>
            </a:r>
            <a:r>
              <a:rPr lang="en-US" sz="2200" i="1" dirty="0">
                <a:solidFill>
                  <a:schemeClr val="tx1"/>
                </a:solidFill>
              </a:rPr>
              <a:t>de klant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belt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  </a:t>
            </a:r>
            <a:r>
              <a:rPr lang="en-US" sz="2200" i="1" dirty="0">
                <a:solidFill>
                  <a:schemeClr val="tx1"/>
                </a:solidFill>
              </a:rPr>
              <a:t>het boek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ik lees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  </a:t>
            </a:r>
            <a:r>
              <a:rPr lang="en-US" sz="2200" i="1" dirty="0">
                <a:solidFill>
                  <a:schemeClr val="tx1"/>
                </a:solidFill>
              </a:rPr>
              <a:t>de collega’s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hier werken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  </a:t>
            </a:r>
            <a:r>
              <a:rPr lang="en-US" sz="2200" i="1" dirty="0">
                <a:solidFill>
                  <a:schemeClr val="tx1"/>
                </a:solidFill>
              </a:rPr>
              <a:t>het meisje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lacht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  </a:t>
            </a:r>
            <a:r>
              <a:rPr lang="en-US" sz="2200" i="1" dirty="0">
                <a:solidFill>
                  <a:schemeClr val="tx1"/>
                </a:solidFill>
              </a:rPr>
              <a:t>alles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je zegt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115312"/>
            <a:ext cx="534009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  </a:t>
            </a:r>
            <a:r>
              <a:rPr lang="en-US" sz="2200" i="1" dirty="0">
                <a:solidFill>
                  <a:schemeClr val="tx1"/>
                </a:solidFill>
              </a:rPr>
              <a:t>de vergadering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om 10 uur begint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7  </a:t>
            </a:r>
            <a:r>
              <a:rPr lang="en-US" sz="2200" i="1" dirty="0">
                <a:solidFill>
                  <a:schemeClr val="tx1"/>
                </a:solidFill>
              </a:rPr>
              <a:t>het kantoor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ik huur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8  </a:t>
            </a:r>
            <a:r>
              <a:rPr lang="en-US" sz="2200" i="1" dirty="0">
                <a:solidFill>
                  <a:schemeClr val="tx1"/>
                </a:solidFill>
              </a:rPr>
              <a:t>de documenten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op tafel liggen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9  </a:t>
            </a:r>
            <a:r>
              <a:rPr lang="en-US" sz="2200" i="1" dirty="0">
                <a:solidFill>
                  <a:schemeClr val="tx1"/>
                </a:solidFill>
              </a:rPr>
              <a:t>iets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ik niet begrijp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10  </a:t>
            </a:r>
            <a:r>
              <a:rPr lang="en-US" sz="2200" i="1" dirty="0">
                <a:solidFill>
                  <a:schemeClr val="tx1"/>
                </a:solidFill>
              </a:rPr>
              <a:t>het team </a:t>
            </a:r>
            <a:r>
              <a:rPr lang="en-US" sz="2200" i="1" dirty="0">
                <a:solidFill>
                  <a:schemeClr val="accent5"/>
                </a:solidFill>
              </a:rPr>
              <a:t>…………</a:t>
            </a:r>
            <a:r>
              <a:rPr lang="en-US" sz="2200" i="1" dirty="0">
                <a:solidFill>
                  <a:schemeClr val="tx1"/>
                </a:solidFill>
              </a:rPr>
              <a:t> wint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die, dat ou wat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Complétez. Dites d’abord l’article du nom.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15312"/>
            <a:ext cx="534009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  </a:t>
            </a:r>
            <a:r>
              <a:rPr lang="en-US" sz="2200" i="1" dirty="0">
                <a:solidFill>
                  <a:schemeClr val="tx1"/>
                </a:solidFill>
              </a:rPr>
              <a:t>de klant </a:t>
            </a:r>
            <a:r>
              <a:rPr lang="en-US" sz="2200" b="1" i="1" dirty="0">
                <a:solidFill>
                  <a:schemeClr val="accent3"/>
                </a:solidFill>
              </a:rPr>
              <a:t>die</a:t>
            </a:r>
            <a:r>
              <a:rPr lang="en-US" sz="2200" i="1" dirty="0">
                <a:solidFill>
                  <a:schemeClr val="tx1"/>
                </a:solidFill>
              </a:rPr>
              <a:t> belt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  </a:t>
            </a:r>
            <a:r>
              <a:rPr lang="en-US" sz="2200" i="1" dirty="0">
                <a:solidFill>
                  <a:schemeClr val="tx1"/>
                </a:solidFill>
              </a:rPr>
              <a:t>het boek </a:t>
            </a:r>
            <a:r>
              <a:rPr lang="en-US" sz="2200" b="1" i="1" dirty="0">
                <a:solidFill>
                  <a:schemeClr val="accent3"/>
                </a:solidFill>
              </a:rPr>
              <a:t>dat</a:t>
            </a:r>
            <a:r>
              <a:rPr lang="en-US" sz="2200" i="1" dirty="0">
                <a:solidFill>
                  <a:schemeClr val="tx1"/>
                </a:solidFill>
              </a:rPr>
              <a:t> ik lees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  </a:t>
            </a:r>
            <a:r>
              <a:rPr lang="en-US" sz="2200" i="1" dirty="0">
                <a:solidFill>
                  <a:schemeClr val="tx1"/>
                </a:solidFill>
              </a:rPr>
              <a:t>de collega’s </a:t>
            </a:r>
            <a:r>
              <a:rPr lang="en-US" sz="2200" b="1" i="1" dirty="0">
                <a:solidFill>
                  <a:schemeClr val="accent3"/>
                </a:solidFill>
              </a:rPr>
              <a:t>die</a:t>
            </a:r>
            <a:r>
              <a:rPr lang="en-US" sz="2200" i="1" dirty="0">
                <a:solidFill>
                  <a:schemeClr val="tx1"/>
                </a:solidFill>
              </a:rPr>
              <a:t> hier werken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  </a:t>
            </a:r>
            <a:r>
              <a:rPr lang="en-US" sz="2200" i="1" dirty="0">
                <a:solidFill>
                  <a:schemeClr val="tx1"/>
                </a:solidFill>
              </a:rPr>
              <a:t>het meisje </a:t>
            </a:r>
            <a:r>
              <a:rPr lang="en-US" sz="2200" b="1" i="1" dirty="0">
                <a:solidFill>
                  <a:schemeClr val="accent3"/>
                </a:solidFill>
              </a:rPr>
              <a:t>dat</a:t>
            </a:r>
            <a:r>
              <a:rPr lang="en-US" sz="2200" i="1" dirty="0">
                <a:solidFill>
                  <a:schemeClr val="tx1"/>
                </a:solidFill>
              </a:rPr>
              <a:t> lacht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  </a:t>
            </a:r>
            <a:r>
              <a:rPr lang="en-US" sz="2200" i="1" dirty="0">
                <a:solidFill>
                  <a:schemeClr val="tx1"/>
                </a:solidFill>
              </a:rPr>
              <a:t>alles </a:t>
            </a:r>
            <a:r>
              <a:rPr lang="en-US" sz="2200" b="1" i="1" dirty="0">
                <a:solidFill>
                  <a:schemeClr val="accent3"/>
                </a:solidFill>
              </a:rPr>
              <a:t>wat</a:t>
            </a:r>
            <a:r>
              <a:rPr lang="en-US" sz="2200" i="1" dirty="0">
                <a:solidFill>
                  <a:schemeClr val="tx1"/>
                </a:solidFill>
              </a:rPr>
              <a:t> je zegt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115312"/>
            <a:ext cx="534009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  </a:t>
            </a:r>
            <a:r>
              <a:rPr lang="en-US" sz="2200" i="1" dirty="0">
                <a:solidFill>
                  <a:schemeClr val="tx1"/>
                </a:solidFill>
              </a:rPr>
              <a:t>de vergadering </a:t>
            </a:r>
            <a:r>
              <a:rPr lang="en-US" sz="2200" b="1" i="1" dirty="0">
                <a:solidFill>
                  <a:schemeClr val="accent3"/>
                </a:solidFill>
              </a:rPr>
              <a:t>die</a:t>
            </a:r>
            <a:r>
              <a:rPr lang="en-US" sz="2200" i="1" dirty="0">
                <a:solidFill>
                  <a:schemeClr val="tx1"/>
                </a:solidFill>
              </a:rPr>
              <a:t> om 10 uur begint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7  </a:t>
            </a:r>
            <a:r>
              <a:rPr lang="en-US" sz="2200" i="1" dirty="0">
                <a:solidFill>
                  <a:schemeClr val="tx1"/>
                </a:solidFill>
              </a:rPr>
              <a:t>het kantoor </a:t>
            </a:r>
            <a:r>
              <a:rPr lang="en-US" sz="2200" b="1" i="1" dirty="0">
                <a:solidFill>
                  <a:schemeClr val="accent3"/>
                </a:solidFill>
              </a:rPr>
              <a:t>dat</a:t>
            </a:r>
            <a:r>
              <a:rPr lang="en-US" sz="2200" i="1" dirty="0">
                <a:solidFill>
                  <a:schemeClr val="tx1"/>
                </a:solidFill>
              </a:rPr>
              <a:t> ik huur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8  </a:t>
            </a:r>
            <a:r>
              <a:rPr lang="en-US" sz="2200" i="1" dirty="0">
                <a:solidFill>
                  <a:schemeClr val="tx1"/>
                </a:solidFill>
              </a:rPr>
              <a:t>de documenten </a:t>
            </a:r>
            <a:r>
              <a:rPr lang="en-US" sz="2200" b="1" i="1" dirty="0">
                <a:solidFill>
                  <a:schemeClr val="accent3"/>
                </a:solidFill>
              </a:rPr>
              <a:t>die</a:t>
            </a:r>
            <a:r>
              <a:rPr lang="en-US" sz="2200" i="1" dirty="0">
                <a:solidFill>
                  <a:schemeClr val="tx1"/>
                </a:solidFill>
              </a:rPr>
              <a:t> op tafel liggen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9  </a:t>
            </a:r>
            <a:r>
              <a:rPr lang="en-US" sz="2200" i="1" dirty="0">
                <a:solidFill>
                  <a:schemeClr val="tx1"/>
                </a:solidFill>
              </a:rPr>
              <a:t>iets </a:t>
            </a:r>
            <a:r>
              <a:rPr lang="en-US" sz="2200" b="1" i="1" dirty="0">
                <a:solidFill>
                  <a:schemeClr val="accent3"/>
                </a:solidFill>
              </a:rPr>
              <a:t>wat</a:t>
            </a:r>
            <a:r>
              <a:rPr lang="en-US" sz="2200" b="1" i="1" dirty="0">
                <a:solidFill>
                  <a:schemeClr val="accent3"/>
                </a:solidFill>
              </a:rPr>
              <a:t> (of dat)</a:t>
            </a:r>
            <a:r>
              <a:rPr lang="en-US" sz="2200" i="1" dirty="0">
                <a:solidFill>
                  <a:schemeClr val="tx1"/>
                </a:solidFill>
              </a:rPr>
              <a:t> ik niet begrijp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10  </a:t>
            </a:r>
            <a:r>
              <a:rPr lang="en-US" sz="2200" i="1" dirty="0">
                <a:solidFill>
                  <a:schemeClr val="tx1"/>
                </a:solidFill>
              </a:rPr>
              <a:t>het team </a:t>
            </a:r>
            <a:r>
              <a:rPr lang="en-US" sz="2200" b="1" i="1" dirty="0">
                <a:solidFill>
                  <a:schemeClr val="accent3"/>
                </a:solidFill>
              </a:rPr>
              <a:t>dat</a:t>
            </a:r>
            <a:r>
              <a:rPr lang="en-US" sz="2200" i="1" dirty="0">
                <a:solidFill>
                  <a:schemeClr val="tx1"/>
                </a:solidFill>
              </a:rPr>
              <a:t> wint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Reliez les phrases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Reliez avec die ou dat. Le verbe va à la fin 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1978152"/>
            <a:ext cx="457200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43000" y="1978152"/>
            <a:ext cx="4389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heb een collega. Hij spreekt vijf talen.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23560" y="2295652"/>
            <a:ext cx="41148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080760" y="1978152"/>
            <a:ext cx="55595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05840" y="2704592"/>
            <a:ext cx="457200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143000" y="2704592"/>
            <a:ext cx="4389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Dit is het rapport. Ik heb het gisteren geschreven.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623560" y="3022092"/>
            <a:ext cx="41148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080760" y="2704592"/>
            <a:ext cx="55595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05840" y="3431032"/>
            <a:ext cx="457200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43000" y="3431032"/>
            <a:ext cx="4389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We hebben een klant. Hij wil morgen komen.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623560" y="3748532"/>
            <a:ext cx="41148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6080760" y="3431032"/>
            <a:ext cx="55595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005840" y="4157472"/>
            <a:ext cx="457200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143000" y="4157472"/>
            <a:ext cx="4389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Ken je het restaurant? Het ligt naast het station.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5623560" y="4474972"/>
            <a:ext cx="41148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6080760" y="4157472"/>
            <a:ext cx="55595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1005840" y="4883912"/>
            <a:ext cx="457200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143000" y="4883912"/>
            <a:ext cx="4389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zoek de documenten. Ze lagen op mijn bureau.</a:t>
            </a:r>
            <a:endParaRPr lang="en-US" sz="1500" dirty="0"/>
          </a:p>
        </p:txBody>
      </p:sp>
      <p:sp>
        <p:nvSpPr>
          <p:cNvPr id="36" name="Shape 32"/>
          <p:cNvSpPr/>
          <p:nvPr/>
        </p:nvSpPr>
        <p:spPr>
          <a:xfrm>
            <a:off x="5623560" y="5201412"/>
            <a:ext cx="41148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6080760" y="4883912"/>
            <a:ext cx="55595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1005840" y="5610352"/>
            <a:ext cx="457200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143000" y="5610352"/>
            <a:ext cx="4389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Waar is de laptop? Ik heb hem gisteren gekocht.</a:t>
            </a:r>
            <a:endParaRPr lang="en-US" sz="1500" dirty="0"/>
          </a:p>
        </p:txBody>
      </p:sp>
      <p:sp>
        <p:nvSpPr>
          <p:cNvPr id="42" name="Shape 38"/>
          <p:cNvSpPr/>
          <p:nvPr/>
        </p:nvSpPr>
        <p:spPr>
          <a:xfrm>
            <a:off x="5623560" y="5927852"/>
            <a:ext cx="41148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6080760" y="5610352"/>
            <a:ext cx="55595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Reliez les phrases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Reliez avec die ou dat. Le verbe va à la fin 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1978152"/>
            <a:ext cx="457200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43000" y="1978152"/>
            <a:ext cx="4389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heb een collega. Hij spreekt vijf talen.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623560" y="2295652"/>
            <a:ext cx="41148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080760" y="1978152"/>
            <a:ext cx="55595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17920" y="1978152"/>
            <a:ext cx="53492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Ik heb een collega die vijf talen spreekt.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005840" y="2704592"/>
            <a:ext cx="457200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43000" y="2704592"/>
            <a:ext cx="4389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Dit is het rapport. Ik heb het gisteren geschreven.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623560" y="3022092"/>
            <a:ext cx="41148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080760" y="2704592"/>
            <a:ext cx="55595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217920" y="2704592"/>
            <a:ext cx="53492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Dit is het rapport dat ik gisteren geschreven heb.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005840" y="3431032"/>
            <a:ext cx="457200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143000" y="3431032"/>
            <a:ext cx="4389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We hebben een klant. Hij wil morgen komen.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5623560" y="3748532"/>
            <a:ext cx="41148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6080760" y="3431032"/>
            <a:ext cx="55595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217920" y="3431032"/>
            <a:ext cx="53492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We hebben een klant die morgen wil komen.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1005840" y="4157472"/>
            <a:ext cx="457200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143000" y="4157472"/>
            <a:ext cx="4389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Ken je het restaurant? Het ligt naast het station.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5623560" y="4474972"/>
            <a:ext cx="41148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6080760" y="4157472"/>
            <a:ext cx="55595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217920" y="4157472"/>
            <a:ext cx="53492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Ken je het restaurant dat naast het station ligt?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1005840" y="4883912"/>
            <a:ext cx="457200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143000" y="4883912"/>
            <a:ext cx="4389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zoek de documenten. Ze lagen op mijn bureau.</a:t>
            </a:r>
            <a:endParaRPr lang="en-US" sz="1500" dirty="0"/>
          </a:p>
        </p:txBody>
      </p:sp>
      <p:sp>
        <p:nvSpPr>
          <p:cNvPr id="41" name="Shape 37"/>
          <p:cNvSpPr/>
          <p:nvPr/>
        </p:nvSpPr>
        <p:spPr>
          <a:xfrm>
            <a:off x="5623560" y="5201412"/>
            <a:ext cx="41148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6080760" y="4883912"/>
            <a:ext cx="55595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217920" y="4883912"/>
            <a:ext cx="53492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Ik zoek de documenten die op mijn bureau lagen.</a:t>
            </a:r>
            <a:endParaRPr lang="en-US" sz="1500" dirty="0"/>
          </a:p>
        </p:txBody>
      </p:sp>
      <p:sp>
        <p:nvSpPr>
          <p:cNvPr id="44" name="Shape 40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1005840" y="5610352"/>
            <a:ext cx="457200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143000" y="5610352"/>
            <a:ext cx="4389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Waar is de laptop? Ik heb hem gisteren gekocht.</a:t>
            </a:r>
            <a:endParaRPr lang="en-US" sz="1500" dirty="0"/>
          </a:p>
        </p:txBody>
      </p:sp>
      <p:sp>
        <p:nvSpPr>
          <p:cNvPr id="48" name="Shape 44"/>
          <p:cNvSpPr/>
          <p:nvPr/>
        </p:nvSpPr>
        <p:spPr>
          <a:xfrm>
            <a:off x="5623560" y="5927852"/>
            <a:ext cx="41148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6080760" y="5610352"/>
            <a:ext cx="555955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217920" y="5610352"/>
            <a:ext cx="53492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Waar is de laptop die ik gisteren gekocht heb?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qui ou que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Traduisez. Regardez l’article du nom néerlandais, pas « qui / que » 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1978152"/>
            <a:ext cx="40233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43000" y="197815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client qui appelle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074920" y="1978152"/>
            <a:ext cx="13716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(de klant)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0" y="2295652"/>
            <a:ext cx="36576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812280" y="1978152"/>
            <a:ext cx="48280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005840" y="2704592"/>
            <a:ext cx="40233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143000" y="270459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client que j’appelle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5074920" y="2704592"/>
            <a:ext cx="13716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(de klant)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00800" y="3022092"/>
            <a:ext cx="36576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812280" y="2704592"/>
            <a:ext cx="48280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1005840" y="3431032"/>
            <a:ext cx="40233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143000" y="343103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bureau qui est libre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5074920" y="3431032"/>
            <a:ext cx="13716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 bureau)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400800" y="3748532"/>
            <a:ext cx="36576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6812280" y="3431032"/>
            <a:ext cx="48280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005840" y="4157472"/>
            <a:ext cx="40233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143000" y="415747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bureau que je réserve</a:t>
            </a:r>
            <a:endParaRPr lang="en-US" sz="1700" dirty="0"/>
          </a:p>
        </p:txBody>
      </p:sp>
      <p:sp>
        <p:nvSpPr>
          <p:cNvPr id="33" name="Text 29"/>
          <p:cNvSpPr txBox="1"/>
          <p:nvPr/>
        </p:nvSpPr>
        <p:spPr>
          <a:xfrm>
            <a:off x="5074920" y="4157472"/>
            <a:ext cx="13716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 bureau)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400800" y="4474972"/>
            <a:ext cx="36576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6812280" y="4157472"/>
            <a:ext cx="48280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1005840" y="4883912"/>
            <a:ext cx="40233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143000" y="488391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les collègues qui arrivent</a:t>
            </a:r>
            <a:endParaRPr lang="en-US" sz="1700" dirty="0"/>
          </a:p>
        </p:txBody>
      </p:sp>
      <p:sp>
        <p:nvSpPr>
          <p:cNvPr id="40" name="Text 36"/>
          <p:cNvSpPr txBox="1"/>
          <p:nvPr/>
        </p:nvSpPr>
        <p:spPr>
          <a:xfrm>
            <a:off x="5074920" y="4883912"/>
            <a:ext cx="13716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(de collega’s)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6400800" y="5201412"/>
            <a:ext cx="36576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6812280" y="4883912"/>
            <a:ext cx="48280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1005840" y="5610352"/>
            <a:ext cx="40233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1143000" y="561035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l’enfant que j’aide</a:t>
            </a:r>
            <a:endParaRPr lang="en-US" sz="1700" dirty="0"/>
          </a:p>
        </p:txBody>
      </p:sp>
      <p:sp>
        <p:nvSpPr>
          <p:cNvPr id="47" name="Text 43"/>
          <p:cNvSpPr txBox="1"/>
          <p:nvPr/>
        </p:nvSpPr>
        <p:spPr>
          <a:xfrm>
            <a:off x="5074920" y="5610352"/>
            <a:ext cx="13716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 kind)</a:t>
            </a:r>
            <a:endParaRPr lang="en-US" sz="1300" dirty="0"/>
          </a:p>
        </p:txBody>
      </p:sp>
      <p:sp>
        <p:nvSpPr>
          <p:cNvPr id="48" name="Shape 44"/>
          <p:cNvSpPr/>
          <p:nvPr/>
        </p:nvSpPr>
        <p:spPr>
          <a:xfrm>
            <a:off x="6400800" y="5927852"/>
            <a:ext cx="36576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6812280" y="5610352"/>
            <a:ext cx="482803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qui ou que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Traduisez. Regardez l’article du nom néerlandais, pas « qui / que » 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1978152"/>
            <a:ext cx="40233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43000" y="197815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client qui appelle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074920" y="1978152"/>
            <a:ext cx="13716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(de klant)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2295652"/>
            <a:ext cx="36576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812280" y="1978152"/>
            <a:ext cx="482803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49440" y="1978152"/>
            <a:ext cx="46177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de klant die belt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005840" y="2704592"/>
            <a:ext cx="40233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143000" y="270459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client que j’appelle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5074920" y="2704592"/>
            <a:ext cx="13716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(de klant)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400800" y="3022092"/>
            <a:ext cx="36576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6812280" y="2704592"/>
            <a:ext cx="482803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949440" y="2704592"/>
            <a:ext cx="46177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de klant die ik bel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1005840" y="3431032"/>
            <a:ext cx="40233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143000" y="343103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bureau qui est libre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5074920" y="3431032"/>
            <a:ext cx="13716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 bureau)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400800" y="3748532"/>
            <a:ext cx="36576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6812280" y="3431032"/>
            <a:ext cx="482803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949440" y="3431032"/>
            <a:ext cx="46177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het bureau dat vrij is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1005840" y="4157472"/>
            <a:ext cx="40233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143000" y="415747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bureau que je réserve</a:t>
            </a:r>
            <a:endParaRPr lang="en-US" sz="1700" dirty="0"/>
          </a:p>
        </p:txBody>
      </p:sp>
      <p:sp>
        <p:nvSpPr>
          <p:cNvPr id="37" name="Text 33"/>
          <p:cNvSpPr txBox="1"/>
          <p:nvPr/>
        </p:nvSpPr>
        <p:spPr>
          <a:xfrm>
            <a:off x="5074920" y="4157472"/>
            <a:ext cx="13716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 bureau)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6400800" y="4474972"/>
            <a:ext cx="36576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6812280" y="4157472"/>
            <a:ext cx="482803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949440" y="4157472"/>
            <a:ext cx="46177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het bureau dat ik reserveer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1005840" y="4883912"/>
            <a:ext cx="40233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143000" y="488391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les collègues qui arrivent</a:t>
            </a:r>
            <a:endParaRPr lang="en-US" sz="1700" dirty="0"/>
          </a:p>
        </p:txBody>
      </p:sp>
      <p:sp>
        <p:nvSpPr>
          <p:cNvPr id="45" name="Text 41"/>
          <p:cNvSpPr txBox="1"/>
          <p:nvPr/>
        </p:nvSpPr>
        <p:spPr>
          <a:xfrm>
            <a:off x="5074920" y="4883912"/>
            <a:ext cx="13716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(de collega’s)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6400800" y="5201412"/>
            <a:ext cx="36576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6812280" y="4883912"/>
            <a:ext cx="482803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949440" y="4883912"/>
            <a:ext cx="46177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de collega’s die aankomen</a:t>
            </a:r>
            <a:endParaRPr lang="en-US" sz="1800" dirty="0"/>
          </a:p>
        </p:txBody>
      </p:sp>
      <p:sp>
        <p:nvSpPr>
          <p:cNvPr id="49" name="Shape 45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1005840" y="5610352"/>
            <a:ext cx="40233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1143000" y="5610352"/>
            <a:ext cx="38404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l’enfant que j’aide</a:t>
            </a:r>
            <a:endParaRPr lang="en-US" sz="1700" dirty="0"/>
          </a:p>
        </p:txBody>
      </p:sp>
      <p:sp>
        <p:nvSpPr>
          <p:cNvPr id="53" name="Text 49"/>
          <p:cNvSpPr txBox="1"/>
          <p:nvPr/>
        </p:nvSpPr>
        <p:spPr>
          <a:xfrm>
            <a:off x="5074920" y="5610352"/>
            <a:ext cx="13716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 kind)</a:t>
            </a:r>
            <a:endParaRPr lang="en-US" sz="1300" dirty="0"/>
          </a:p>
        </p:txBody>
      </p:sp>
      <p:sp>
        <p:nvSpPr>
          <p:cNvPr id="54" name="Shape 50"/>
          <p:cNvSpPr/>
          <p:nvPr/>
        </p:nvSpPr>
        <p:spPr>
          <a:xfrm>
            <a:off x="6400800" y="5927852"/>
            <a:ext cx="36576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5" name="Shape 51"/>
          <p:cNvSpPr/>
          <p:nvPr/>
        </p:nvSpPr>
        <p:spPr>
          <a:xfrm>
            <a:off x="6812280" y="5610352"/>
            <a:ext cx="482803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6949440" y="5610352"/>
            <a:ext cx="46177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het kind dat ik help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Les devinettes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Reliez chaque définition au bon mot.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87296"/>
            <a:ext cx="58064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987296"/>
            <a:ext cx="5623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Het is iemand die zieke mensen helpt.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48640" y="2713736"/>
            <a:ext cx="58064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2713736"/>
            <a:ext cx="5623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Het is een ding dat je gebruikt om te bellen.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440176"/>
            <a:ext cx="58064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3440176"/>
            <a:ext cx="5623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Het is een plek waar je de trein neemt.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48640" y="4166616"/>
            <a:ext cx="58064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166616"/>
            <a:ext cx="5623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Het is iemand die brood bakt.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48640" y="4893056"/>
            <a:ext cx="58064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4893056"/>
            <a:ext cx="5623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Het is een ding dat koffie maakt.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5619496"/>
            <a:ext cx="58064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5619496"/>
            <a:ext cx="5623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6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Het is een plek waar je geld haalt.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7909560" y="1987296"/>
            <a:ext cx="37307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21" name="Image 1" descr="br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044192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641080" y="1987296"/>
            <a:ext cx="2926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 de bakker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7909560" y="2713736"/>
            <a:ext cx="37307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24" name="Image 2" descr="mobile 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770632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641080" y="2713736"/>
            <a:ext cx="2926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 de gsm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7909560" y="3440176"/>
            <a:ext cx="37307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27" name="Image 3" descr="man health work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497072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641080" y="3440176"/>
            <a:ext cx="2926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 de dokter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7909560" y="4166616"/>
            <a:ext cx="37307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30" name="Image 4" descr="st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223512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641080" y="4166616"/>
            <a:ext cx="2926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r>
              <a:rPr lang="en-US" sz="1800" dirty="0">
                <a:solidFill>
                  <a:schemeClr val="tx1"/>
                </a:solidFill>
              </a:rPr>
              <a:t>  het station</a:t>
            </a:r>
            <a:endParaRPr lang="en-US" sz="1800" dirty="0"/>
          </a:p>
        </p:txBody>
      </p:sp>
      <p:sp>
        <p:nvSpPr>
          <p:cNvPr id="32" name="Shape 24"/>
          <p:cNvSpPr/>
          <p:nvPr/>
        </p:nvSpPr>
        <p:spPr>
          <a:xfrm>
            <a:off x="7909560" y="4893056"/>
            <a:ext cx="37307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33" name="Image 5" descr="ban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949952"/>
            <a:ext cx="502920" cy="5029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641080" y="4893056"/>
            <a:ext cx="2926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</a:t>
            </a:r>
            <a:r>
              <a:rPr lang="en-US" sz="1800" dirty="0">
                <a:solidFill>
                  <a:schemeClr val="tx1"/>
                </a:solidFill>
              </a:rPr>
              <a:t>  de bank</a:t>
            </a:r>
            <a:endParaRPr lang="en-US" sz="1800" dirty="0"/>
          </a:p>
        </p:txBody>
      </p:sp>
      <p:sp>
        <p:nvSpPr>
          <p:cNvPr id="35" name="Shape 26"/>
          <p:cNvSpPr/>
          <p:nvPr/>
        </p:nvSpPr>
        <p:spPr>
          <a:xfrm>
            <a:off x="7909560" y="5619496"/>
            <a:ext cx="37307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36" name="Image 6" descr="hot beverag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5676392"/>
            <a:ext cx="502920" cy="50292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641080" y="5619496"/>
            <a:ext cx="2926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</a:t>
            </a:r>
            <a:r>
              <a:rPr lang="en-US" sz="1800" dirty="0">
                <a:solidFill>
                  <a:schemeClr val="tx1"/>
                </a:solidFill>
              </a:rPr>
              <a:t>  de koffiemachine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Les devinettes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Reliez chaque définition au bon mot.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400800" y="2295652"/>
            <a:ext cx="1463040" cy="145288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6400800" y="3022092"/>
            <a:ext cx="1463040" cy="914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6400800" y="3748532"/>
            <a:ext cx="1463040" cy="72644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 flipV="1">
            <a:off x="6400800" y="2295652"/>
            <a:ext cx="1463040" cy="2179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400800" y="5201412"/>
            <a:ext cx="1463040" cy="72644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 flipV="1">
            <a:off x="6400800" y="5201412"/>
            <a:ext cx="1463040" cy="72644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48640" y="1987296"/>
            <a:ext cx="58064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" y="1987296"/>
            <a:ext cx="5623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Het is iemand die zieke mensen helpt.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48640" y="2713736"/>
            <a:ext cx="58064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2713736"/>
            <a:ext cx="5623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Het is een ding dat je gebruikt om te bellen.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48640" y="3440176"/>
            <a:ext cx="58064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" y="3440176"/>
            <a:ext cx="5623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Het is een plek waar je de trein neemt.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548640" y="4166616"/>
            <a:ext cx="58064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4166616"/>
            <a:ext cx="5623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Het is iemand die brood bakt.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548640" y="4893056"/>
            <a:ext cx="58064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4893056"/>
            <a:ext cx="5623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Het is een ding dat koffie maakt.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548640" y="5619496"/>
            <a:ext cx="58064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5800" y="5619496"/>
            <a:ext cx="5623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6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Het is een plek waar je geld haalt.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7909560" y="1987296"/>
            <a:ext cx="37307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28" name="Image 1" descr="br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044192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641080" y="1987296"/>
            <a:ext cx="2926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 de bakker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7909560" y="2713736"/>
            <a:ext cx="37307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31" name="Image 2" descr="mobile 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770632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641080" y="2713736"/>
            <a:ext cx="2926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 de gsm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7909560" y="3440176"/>
            <a:ext cx="37307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34" name="Image 3" descr="man health work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497072"/>
            <a:ext cx="502920" cy="50292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641080" y="3440176"/>
            <a:ext cx="2926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 de dokter</a:t>
            </a:r>
            <a:endParaRPr lang="en-US" sz="1800" dirty="0"/>
          </a:p>
        </p:txBody>
      </p:sp>
      <p:sp>
        <p:nvSpPr>
          <p:cNvPr id="36" name="Shape 29"/>
          <p:cNvSpPr/>
          <p:nvPr/>
        </p:nvSpPr>
        <p:spPr>
          <a:xfrm>
            <a:off x="7909560" y="4166616"/>
            <a:ext cx="37307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37" name="Image 4" descr="st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223512"/>
            <a:ext cx="502920" cy="50292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641080" y="4166616"/>
            <a:ext cx="2926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r>
              <a:rPr lang="en-US" sz="1800" dirty="0">
                <a:solidFill>
                  <a:schemeClr val="tx1"/>
                </a:solidFill>
              </a:rPr>
              <a:t>  het station</a:t>
            </a:r>
            <a:endParaRPr lang="en-US" sz="1800" dirty="0"/>
          </a:p>
        </p:txBody>
      </p:sp>
      <p:sp>
        <p:nvSpPr>
          <p:cNvPr id="39" name="Shape 31"/>
          <p:cNvSpPr/>
          <p:nvPr/>
        </p:nvSpPr>
        <p:spPr>
          <a:xfrm>
            <a:off x="7909560" y="4893056"/>
            <a:ext cx="37307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40" name="Image 5" descr="ban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949952"/>
            <a:ext cx="502920" cy="50292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641080" y="4893056"/>
            <a:ext cx="2926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</a:t>
            </a:r>
            <a:r>
              <a:rPr lang="en-US" sz="1800" dirty="0">
                <a:solidFill>
                  <a:schemeClr val="tx1"/>
                </a:solidFill>
              </a:rPr>
              <a:t>  de bank</a:t>
            </a:r>
            <a:endParaRPr lang="en-US" sz="1800" dirty="0"/>
          </a:p>
        </p:txBody>
      </p:sp>
      <p:sp>
        <p:nvSpPr>
          <p:cNvPr id="42" name="Shape 33"/>
          <p:cNvSpPr/>
          <p:nvPr/>
        </p:nvSpPr>
        <p:spPr>
          <a:xfrm>
            <a:off x="7909560" y="5619496"/>
            <a:ext cx="373075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43" name="Image 6" descr="hot beverag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5676392"/>
            <a:ext cx="502920" cy="50292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641080" y="5619496"/>
            <a:ext cx="2926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</a:t>
            </a:r>
            <a:r>
              <a:rPr lang="en-US" sz="1800" dirty="0">
                <a:solidFill>
                  <a:schemeClr val="tx1"/>
                </a:solidFill>
              </a:rPr>
              <a:t>  de koffiemachine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présente Lotte à l’équipe.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Sofie Peeters · Aan: team · Onderwerp: onze nieuwe stagiaire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chemeClr val="tx1"/>
                </a:solidFill>
              </a:rPr>
              <a:t>Beste collega’s, dit is Lotte, de nieuwe stagiaire die bij ons komt werken. Lotte is een meisje </a:t>
            </a:r>
            <a:r>
              <a:rPr lang="en-US" sz="1900" i="1" dirty="0">
                <a:solidFill>
                  <a:schemeClr val="tx1"/>
                </a:solidFill>
              </a:rPr>
              <a:t>die</a:t>
            </a:r>
            <a:r>
              <a:rPr lang="en-US" sz="1900" i="1" dirty="0">
                <a:solidFill>
                  <a:schemeClr val="tx1"/>
                </a:solidFill>
              </a:rPr>
              <a:t> drie talen spreekt. Ze werkt in het bureau </a:t>
            </a:r>
            <a:r>
              <a:rPr lang="en-US" sz="1900" i="1" dirty="0">
                <a:solidFill>
                  <a:schemeClr val="tx1"/>
                </a:solidFill>
              </a:rPr>
              <a:t>die</a:t>
            </a:r>
            <a:r>
              <a:rPr lang="en-US" sz="1900" i="1" dirty="0">
                <a:solidFill>
                  <a:schemeClr val="tx1"/>
                </a:solidFill>
              </a:rPr>
              <a:t> naast de keuken ligt. Het project dat ze gaat doen, is erg belangrijk. De collega </a:t>
            </a:r>
            <a:r>
              <a:rPr lang="en-US" sz="1900" i="1" dirty="0">
                <a:solidFill>
                  <a:schemeClr val="tx1"/>
                </a:solidFill>
              </a:rPr>
              <a:t>die helpt haar</a:t>
            </a:r>
            <a:r>
              <a:rPr lang="en-US" sz="1900" i="1" dirty="0">
                <a:solidFill>
                  <a:schemeClr val="tx1"/>
                </a:solidFill>
              </a:rPr>
              <a:t>, is Karim. Ze zoekt nog iets </a:t>
            </a:r>
            <a:r>
              <a:rPr lang="en-US" sz="1900" i="1" dirty="0">
                <a:solidFill>
                  <a:schemeClr val="tx1"/>
                </a:solidFill>
              </a:rPr>
              <a:t>die</a:t>
            </a:r>
            <a:r>
              <a:rPr lang="en-US" sz="1900" i="1" dirty="0">
                <a:solidFill>
                  <a:schemeClr val="tx1"/>
                </a:solidFill>
              </a:rPr>
              <a:t> ze voor haar kamer kan gebruiken. Heb je een lamp die je </a:t>
            </a:r>
            <a:r>
              <a:rPr lang="en-US" sz="1900" i="1" dirty="0">
                <a:solidFill>
                  <a:schemeClr val="tx1"/>
                </a:solidFill>
              </a:rPr>
              <a:t>niet gebruikt meer</a:t>
            </a:r>
            <a:r>
              <a:rPr lang="en-US" sz="1900" i="1" dirty="0">
                <a:solidFill>
                  <a:schemeClr val="tx1"/>
                </a:solidFill>
              </a:rPr>
              <a:t>? Groetjes, Sofie</a:t>
            </a:r>
            <a:endParaRPr lang="en-US" sz="19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présente Lotte à l’équipe.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Sofie Peeters · Aan: team · Onderwerp: onze nieuwe stagiaire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chemeClr val="tx1"/>
                </a:solidFill>
              </a:rPr>
              <a:t>Beste collega’s, dit is Lotte, de nieuwe stagiaire die bij ons komt werken. Lotte is een meisje </a:t>
            </a:r>
            <a:r>
              <a:rPr lang="en-US" sz="1900" i="1" strike="sngStrike" dirty="0">
                <a:solidFill>
                  <a:schemeClr val="accent6"/>
                </a:solidFill>
              </a:rPr>
              <a:t>die</a:t>
            </a:r>
            <a:r>
              <a:rPr lang="en-US" sz="1900" b="1" i="1" dirty="0">
                <a:solidFill>
                  <a:schemeClr val="accent3"/>
                </a:solidFill>
              </a:rPr>
              <a:t> dat</a:t>
            </a:r>
            <a:r>
              <a:rPr lang="en-US" sz="1900" i="1" dirty="0">
                <a:solidFill>
                  <a:schemeClr val="tx1"/>
                </a:solidFill>
              </a:rPr>
              <a:t> drie talen spreekt. Ze werkt in het bureau </a:t>
            </a:r>
            <a:r>
              <a:rPr lang="en-US" sz="1900" i="1" strike="sngStrike" dirty="0">
                <a:solidFill>
                  <a:schemeClr val="accent6"/>
                </a:solidFill>
              </a:rPr>
              <a:t>die</a:t>
            </a:r>
            <a:r>
              <a:rPr lang="en-US" sz="1900" b="1" i="1" dirty="0">
                <a:solidFill>
                  <a:schemeClr val="accent3"/>
                </a:solidFill>
              </a:rPr>
              <a:t> dat</a:t>
            </a:r>
            <a:r>
              <a:rPr lang="en-US" sz="1900" i="1" dirty="0">
                <a:solidFill>
                  <a:schemeClr val="tx1"/>
                </a:solidFill>
              </a:rPr>
              <a:t> naast de keuken ligt. Het project dat ze gaat doen, is erg belangrijk. De collega </a:t>
            </a:r>
            <a:r>
              <a:rPr lang="en-US" sz="1900" i="1" strike="sngStrike" dirty="0">
                <a:solidFill>
                  <a:schemeClr val="accent6"/>
                </a:solidFill>
              </a:rPr>
              <a:t>die helpt haar</a:t>
            </a:r>
            <a:r>
              <a:rPr lang="en-US" sz="1900" b="1" i="1" dirty="0">
                <a:solidFill>
                  <a:schemeClr val="accent3"/>
                </a:solidFill>
              </a:rPr>
              <a:t> die haar helpt</a:t>
            </a:r>
            <a:r>
              <a:rPr lang="en-US" sz="1900" i="1" dirty="0">
                <a:solidFill>
                  <a:schemeClr val="tx1"/>
                </a:solidFill>
              </a:rPr>
              <a:t>, is Karim. Ze zoekt nog iets </a:t>
            </a:r>
            <a:r>
              <a:rPr lang="en-US" sz="1900" i="1" strike="sngStrike" dirty="0">
                <a:solidFill>
                  <a:schemeClr val="accent6"/>
                </a:solidFill>
              </a:rPr>
              <a:t>die</a:t>
            </a:r>
            <a:r>
              <a:rPr lang="en-US" sz="1900" b="1" i="1" dirty="0">
                <a:solidFill>
                  <a:schemeClr val="accent3"/>
                </a:solidFill>
              </a:rPr>
              <a:t> wat</a:t>
            </a:r>
            <a:r>
              <a:rPr lang="en-US" sz="1900" i="1" dirty="0">
                <a:solidFill>
                  <a:schemeClr val="tx1"/>
                </a:solidFill>
              </a:rPr>
              <a:t> ze voor haar kamer kan gebruiken. Heb je een lamp die je </a:t>
            </a:r>
            <a:r>
              <a:rPr lang="en-US" sz="1900" i="1" strike="sngStrike" dirty="0">
                <a:solidFill>
                  <a:schemeClr val="accent6"/>
                </a:solidFill>
              </a:rPr>
              <a:t>niet gebruikt meer</a:t>
            </a:r>
            <a:r>
              <a:rPr lang="en-US" sz="1900" b="1" i="1" dirty="0">
                <a:solidFill>
                  <a:schemeClr val="accent3"/>
                </a:solidFill>
              </a:rPr>
              <a:t> niet meer gebruikt</a:t>
            </a:r>
            <a:r>
              <a:rPr lang="en-US" sz="1900" i="1" dirty="0">
                <a:solidFill>
                  <a:schemeClr val="tx1"/>
                </a:solidFill>
              </a:rPr>
              <a:t>? Groetjes, Sofie</a:t>
            </a:r>
            <a:endParaRPr lang="en-US" sz="19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Leurres : </a:t>
            </a:r>
            <a:r>
              <a:rPr lang="en-US" sz="1400" i="1" dirty="0">
                <a:solidFill>
                  <a:schemeClr val="accent5"/>
                </a:solidFill>
              </a:rPr>
              <a:t>de nieuwe stagiaire die bij ons komt werken · Het project dat ze gaat doen, is…</a:t>
            </a:r>
            <a:r>
              <a:rPr lang="en-US" sz="1400" i="1" dirty="0">
                <a:solidFill>
                  <a:schemeClr val="accent5"/>
                </a:solidFill>
              </a:rPr>
              <a:t> · </a:t>
            </a:r>
            <a:r>
              <a:rPr lang="en-US" sz="1400" i="1" dirty="0">
                <a:solidFill>
                  <a:schemeClr val="accent5"/>
                </a:solidFill>
              </a:rPr>
              <a:t>iets dat</a:t>
            </a:r>
            <a:r>
              <a:rPr lang="en-US" sz="1400" i="1" dirty="0">
                <a:solidFill>
                  <a:schemeClr val="accent5"/>
                </a:solidFill>
              </a:rPr>
              <a:t> : correct aussi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Taboe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7" name="Image 0" descr="man teac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09928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de leraar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22960" y="2926080"/>
            <a:ext cx="169164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29718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chemeClr val="accent6"/>
                </a:solidFill>
              </a:rPr>
              <a:t>school · les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926080" y="160020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in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09928"/>
            <a:ext cx="685800" cy="6858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26080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de printer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3200400" y="2926080"/>
            <a:ext cx="169164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017520" y="29718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chemeClr val="accent6"/>
                </a:solidFill>
              </a:rPr>
              <a:t>papier · afdrukken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303520" y="160020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hospi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709928"/>
            <a:ext cx="685800" cy="6858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het ziekenhuis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5577840" y="2926080"/>
            <a:ext cx="169164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394960" y="29718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chemeClr val="accent6"/>
                </a:solidFill>
              </a:rPr>
              <a:t>dokter · ziek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388620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umbrell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995928"/>
            <a:ext cx="685800" cy="6858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" y="4709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de paraplu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822960" y="5212080"/>
            <a:ext cx="169164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40080" y="52578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chemeClr val="accent6"/>
                </a:solidFill>
              </a:rPr>
              <a:t>regen · nat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2926080" y="388620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7" name="Image 4" descr="man c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995928"/>
            <a:ext cx="685800" cy="6858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2926080" y="4709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de kok</a:t>
            </a:r>
            <a:endParaRPr lang="en-US" sz="1700" dirty="0"/>
          </a:p>
        </p:txBody>
      </p:sp>
      <p:sp>
        <p:nvSpPr>
          <p:cNvPr id="29" name="Shape 21"/>
          <p:cNvSpPr/>
          <p:nvPr/>
        </p:nvSpPr>
        <p:spPr>
          <a:xfrm>
            <a:off x="3200400" y="5212080"/>
            <a:ext cx="169164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017520" y="52578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chemeClr val="accent6"/>
                </a:solidFill>
              </a:rPr>
              <a:t>keuken · eten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5303520" y="388620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2" name="Image 5" descr="airpla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995928"/>
            <a:ext cx="685800" cy="6858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303520" y="4709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de luchthaven</a:t>
            </a:r>
            <a:endParaRPr lang="en-US" sz="1700" dirty="0"/>
          </a:p>
        </p:txBody>
      </p:sp>
      <p:sp>
        <p:nvSpPr>
          <p:cNvPr id="34" name="Shape 25"/>
          <p:cNvSpPr/>
          <p:nvPr/>
        </p:nvSpPr>
        <p:spPr>
          <a:xfrm>
            <a:off x="5577840" y="5212080"/>
            <a:ext cx="169164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5394960" y="52578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chemeClr val="accent6"/>
                </a:solidFill>
              </a:rPr>
              <a:t>vliegtuig · reizen</a:t>
            </a:r>
            <a:endParaRPr lang="en-US" sz="1300" dirty="0"/>
          </a:p>
        </p:txBody>
      </p:sp>
      <p:pic>
        <p:nvPicPr>
          <p:cNvPr id="36" name="Image 6" descr="stopwatc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1600200"/>
            <a:ext cx="731520" cy="73152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686800" y="160020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Taboe!</a:t>
            </a:r>
            <a:endParaRPr lang="en-US" sz="2600" dirty="0"/>
          </a:p>
        </p:txBody>
      </p:sp>
      <p:sp>
        <p:nvSpPr>
          <p:cNvPr id="38" name="Text 28"/>
          <p:cNvSpPr txBox="1"/>
          <p:nvPr/>
        </p:nvSpPr>
        <p:spPr>
          <a:xfrm>
            <a:off x="7863840" y="2514600"/>
            <a:ext cx="37764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1.</a:t>
            </a:r>
            <a:r>
              <a:rPr lang="en-US" sz="1600" dirty="0">
                <a:solidFill>
                  <a:schemeClr val="tx1"/>
                </a:solidFill>
              </a:rPr>
              <a:t> Par équipes : faites deviner le mot </a:t>
            </a:r>
            <a:r>
              <a:rPr lang="en-US" sz="1600" b="1" dirty="0">
                <a:solidFill>
                  <a:schemeClr val="tx1"/>
                </a:solidFill>
              </a:rPr>
              <a:t>sans</a:t>
            </a:r>
            <a:r>
              <a:rPr lang="en-US" sz="1600" dirty="0">
                <a:solidFill>
                  <a:schemeClr val="tx1"/>
                </a:solidFill>
              </a:rPr>
              <a:t> dire les mots barrés.</a:t>
            </a:r>
            <a:endParaRPr lang="en-US" sz="16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2.</a:t>
            </a:r>
            <a:r>
              <a:rPr lang="en-US" sz="1600" dirty="0">
                <a:solidFill>
                  <a:schemeClr val="tx1"/>
                </a:solidFill>
              </a:rPr>
              <a:t> Utilisez : </a:t>
            </a:r>
            <a:r>
              <a:rPr lang="en-US" sz="1600" i="1" dirty="0">
                <a:solidFill>
                  <a:schemeClr val="tx1"/>
                </a:solidFill>
              </a:rPr>
              <a:t>Het is iemand die… / een ding dat… / een plek waar…</a:t>
            </a:r>
            <a:endParaRPr lang="en-US" sz="16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3.</a:t>
            </a:r>
            <a:r>
              <a:rPr lang="en-US" sz="1600" dirty="0">
                <a:solidFill>
                  <a:schemeClr val="tx1"/>
                </a:solidFill>
              </a:rPr>
              <a:t> Un point par mot trouvé en 1 minute.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Le nouveau collègue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Premier jour de Lotte. Sofie lui montre l’organigramme et lui présente les collègues.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Sofie</a:t>
            </a:r>
            <a:r>
              <a:rPr lang="en-US" sz="1700" dirty="0">
                <a:solidFill>
                  <a:schemeClr val="tx1"/>
                </a:solidFill>
              </a:rPr>
              <a:t> : présentez chaque collègue avec une relative : </a:t>
            </a:r>
            <a:r>
              <a:rPr lang="en-US" sz="1700" i="1" dirty="0">
                <a:solidFill>
                  <a:schemeClr val="tx1"/>
                </a:solidFill>
              </a:rPr>
              <a:t>Dat is An, de vrouw die…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Lotte</a:t>
            </a:r>
            <a:r>
              <a:rPr lang="en-US" sz="1700" dirty="0">
                <a:solidFill>
                  <a:schemeClr val="tx1"/>
                </a:solidFill>
              </a:rPr>
              <a:t> : posez au moins 3 questions : </a:t>
            </a:r>
            <a:r>
              <a:rPr lang="en-US" sz="1700" i="1" dirty="0">
                <a:solidFill>
                  <a:schemeClr val="tx1"/>
                </a:solidFill>
              </a:rPr>
              <a:t>Wie is de man die daar zit? Met wie werk ik samen?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Dat is An, de vrouw die de afdeling leidt. · Karim is de collega die de facturen controleert. · Het bureau dat bij het raam staat, is van jou. · Wie is de man die daar zit? · Met wie werk ik samen?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502920"/>
          </a:xfrm>
          <a:prstGeom prst="roundRect">
            <a:avLst>
              <a:gd name="adj" fmla="val 7273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ORGANIGRAM PEETERS &amp; CO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57132" y="2167128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3" name="Image 0" descr="wo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5772" y="2212848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057132" y="2697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An Janssens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9057132" y="293522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diensthoofd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857232" y="3218688"/>
            <a:ext cx="914" cy="27432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034272" y="3493008"/>
            <a:ext cx="164592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11312" y="3630168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9" name="Image 1" descr="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3675888"/>
            <a:ext cx="502920" cy="5029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211312" y="41605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Karim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8211312" y="439826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boekhouding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9902952" y="3630168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3" name="Image 2" descr="wom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3675888"/>
            <a:ext cx="502920" cy="50292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9902952" y="41605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Sofie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9902952" y="439826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HR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0707624" y="4681728"/>
            <a:ext cx="914" cy="22860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902952" y="4910328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8" name="Image 3" descr="woman red ha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2" y="4956048"/>
            <a:ext cx="502920" cy="50292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902952" y="5440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Lotte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9902952" y="567842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stagiaire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8211312" y="4910328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42" name="Image 4" descr="man be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4956048"/>
            <a:ext cx="502920" cy="50292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8211312" y="5440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Tom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8211312" y="567842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IT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die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i="1" dirty="0">
                <a:solidFill>
                  <a:schemeClr val="tx1"/>
                </a:solidFill>
              </a:rPr>
              <a:t>dat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het rapport …… ik schrijf · de klant …… belt</a:t>
            </a:r>
            <a:r>
              <a:rPr lang="en-US" sz="2000" dirty="0">
                <a:solidFill>
                  <a:schemeClr val="tx1"/>
                </a:solidFill>
              </a:rPr>
              <a:t> 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Reliez : </a:t>
            </a:r>
            <a:r>
              <a:rPr lang="en-US" sz="2000" i="1" dirty="0">
                <a:solidFill>
                  <a:schemeClr val="tx1"/>
                </a:solidFill>
              </a:rPr>
              <a:t>Ik heb een collega. Ze woont in Gent.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Définissez : </a:t>
            </a:r>
            <a:r>
              <a:rPr lang="en-US" sz="2000" i="1" dirty="0">
                <a:solidFill>
                  <a:schemeClr val="tx1"/>
                </a:solidFill>
              </a:rPr>
              <a:t>een bakker</a:t>
            </a:r>
            <a:r>
              <a:rPr lang="en-US" sz="2000" dirty="0">
                <a:solidFill>
                  <a:schemeClr val="tx1"/>
                </a:solidFill>
              </a:rPr>
              <a:t> (</a:t>
            </a:r>
            <a:r>
              <a:rPr lang="en-US" sz="2000" i="1" dirty="0">
                <a:solidFill>
                  <a:schemeClr val="tx1"/>
                </a:solidFill>
              </a:rPr>
              <a:t>Het is iemand die…</a:t>
            </a:r>
            <a:r>
              <a:rPr lang="en-US" sz="2000" dirty="0">
                <a:solidFill>
                  <a:schemeClr val="tx1"/>
                </a:solidFill>
              </a:rPr>
              <a:t>).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Choisir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Construire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Définir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Questi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Waar denk je aan?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Ik denk eraan!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22 — Die of dat? — Les pronoms relatifs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2026-10-05T11:25:58Z</dcterms:created>
  <dcterms:modified xsi:type="dcterms:W3CDTF">2026-10-05T11:25:58Z</dcterms:modified>
</cp:coreProperties>
</file>