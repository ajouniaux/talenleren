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b057ea0e-6b6e-c055-26d2-773aaa533613}">
          <p14:sldIdLst>
            <p14:sldId id="256"/>
          </p14:sldIdLst>
        </p14:section>
        <p14:section name="Découvrir" id="{dc20cea6-cef5-b0bd-02ee-328bb42cd455}">
          <p14:sldIdLst>
            <p14:sldId id="257"/>
            <p14:sldId id="258"/>
          </p14:sldIdLst>
        </p14:section>
        <p14:section name="Comprendre" id="{6571900b-ab24-95f5-3895-c2d046377fef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2a1fbcfb-2969-89a6-2077-b77bfeb5ac28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be67e3b6-3163-80d7-f586-977203c652e9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relier une information à un nom.
Question d'entrée : « Comment dire la collègue qui est à côté de moi ? » Le néerlandais n'a pas de qui / que : il a die /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Les relatives permettent de préciser (« le client qui a appelé ») et de contourner un mot inconnu (« la machine qui fait des copies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relatives par la description de personnes.
Faites associer chaque phrase à un personnage. Puis relevez : die… leidt / zit / drinkt : le verbe est à la fin, comme après omdat (M9). Pourquoi het meisje dat ? Réponse diapo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l'article du nom qui précède.
Même logique que deze / dit (M20) : die pour de et le pluriel, dat pour het au singulier. On regarde le nom juste avant.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choisir selon la fonction (sujet / objet) comme en français.
Le français se demande « sujet ou objet ? » ; le néerlandais se demande seulement « de ou het ? ». Faites remarquer : qui et que donnent le même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la relative comme un wagon du M9.
Comme après omdat (M9), le verbe conjugué va à la fin. Avec deux verbes, ils se retrouvent ensemble à la fin (geschreven heb, wil komen).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Insérer une relative entre le sujet et le verbe principal.
La relative s'intercale juste après le nom qu'elle décrit. La virgule est conseillée après une longue relative ; les deux verbes se touchent autour d'elle.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relatif de la conjonction (M9) et du démonstratif (M20).
Trois emplois pour les mêmes mots. Le test du nom qui précède suffit dans presque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wat après alles, iets, niets (aperçu).
Après alles : wat. Après iets, niets : wat ou dat (les deux sont corrects, wat est plus fréquent). « ce qui / ce que » = wat. À reconnaître ; production libre en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relatives après une préposition (aperçu, lien M23).
Pour une chose, pas de met die / met dat : on dit waarmee (M23). Pour un lieu, waar = « où ». À reconnaître ici, à pratiquer au M23.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relatives comme stratégie de communication.
Quand un mot manque, on le décrit : c'est la stratégie la plus utile en conversation. iemand → die ; een ding (het) → dat ; een machine (de) → die ; een plek → waar.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noms de personnes en het.
het meisje est un diminutif (M14) : donc het ; het lid = le membre. À l'oral, on entend parfois het meisje die ; la norme écrite est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Définir des mots à l'oral avec des relatives.
Mots interdits (au dos des cartes) : leraar → school, les ; printer → papier, afdrukken ; ziekenhuis → dokter, ziek ; paraplu → regen, nat ; kok → keuken, eten ; luchthaven → vliegtuig, reizen. (NL : aussi het vliegveld)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l'équipe à un nouveau collègue.
B pose au moins 3 questions avec Wie is de man / de vrouw die…? Inversez les rôles : chacun présente sa propre équipe ou sa famille.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dat · die.
2. Ik heb een collega die in Gent woont.
3. Het is iemand die brood bakt.
Teaser M23 : Waar denk je aan? — Ik denk eraan!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22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Die of dat?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pronoms relatifs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 collega die naast me zit · het bureau dat bij het raam staat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18120" y="9144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collega </a:t>
            </a:r>
            <a:r>
              <a:rPr lang="en-US" sz="21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naast me zit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818120" y="278892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 bureau </a:t>
            </a:r>
            <a:r>
              <a:rPr lang="en-US" sz="21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bij het raam staat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</a:t>
            </a: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de klant die… · het rapport dat…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Construire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le verbe à la fin : </a:t>
            </a:r>
            <a:r>
              <a:rPr lang="en-US" sz="2000" i="1" dirty="0">
                <a:solidFill>
                  <a:schemeClr val="tx1"/>
                </a:solidFill>
              </a:rPr>
              <a:t>de collega die naast me </a:t>
            </a:r>
            <a:r>
              <a:rPr lang="en-US" sz="2000" b="1" i="1" dirty="0">
                <a:solidFill>
                  <a:schemeClr val="tx1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Définir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J’explique un mot que je ne connais pas : 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relatives servent à préciser (« le client qui a appelé ») et à contourner un mot inconnu (« la machine qui fait des copies »).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Wie is wie?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4480560" cy="301752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77440"/>
            <a:ext cx="1005840" cy="10058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17043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17043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pic>
        <p:nvPicPr>
          <p:cNvPr id="10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377440"/>
            <a:ext cx="1005840" cy="100584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26771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226771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pic>
        <p:nvPicPr>
          <p:cNvPr id="1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2377440"/>
            <a:ext cx="1005840" cy="10058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336499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336499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2377440"/>
            <a:ext cx="1005840" cy="100584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441655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441655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pic>
        <p:nvPicPr>
          <p:cNvPr id="19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017520"/>
            <a:ext cx="411480" cy="41148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5669280" y="155448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5833872" y="155448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An is de vrouw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de vergadering </a:t>
            </a:r>
            <a:r>
              <a:rPr lang="en-US" sz="1700" b="1" i="1" dirty="0">
                <a:solidFill>
                  <a:schemeClr val="accent6"/>
                </a:solidFill>
              </a:rPr>
              <a:t>leidt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669280" y="242316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833872" y="242316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Karim is de man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naast het raam </a:t>
            </a:r>
            <a:r>
              <a:rPr lang="en-US" sz="1700" b="1" i="1" dirty="0">
                <a:solidFill>
                  <a:schemeClr val="accent6"/>
                </a:solidFill>
              </a:rPr>
              <a:t>zit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5669280" y="329184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833872" y="329184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Lotte is de stagiaire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koffie </a:t>
            </a:r>
            <a:r>
              <a:rPr lang="en-US" sz="1700" b="1" i="1" dirty="0">
                <a:solidFill>
                  <a:schemeClr val="accent6"/>
                </a:solidFill>
              </a:rPr>
              <a:t>drinkt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Shape 18"/>
          <p:cNvSpPr/>
          <p:nvPr/>
        </p:nvSpPr>
        <p:spPr>
          <a:xfrm>
            <a:off x="5669280" y="416052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833872" y="416052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Het meisje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lacht</a:t>
            </a:r>
            <a:r>
              <a:rPr lang="en-US" sz="1700" i="1" dirty="0">
                <a:solidFill>
                  <a:schemeClr val="tx1"/>
                </a:solidFill>
              </a:rPr>
              <a:t>, is de dochter van An.</a:t>
            </a:r>
            <a:endParaRPr lang="en-US" sz="1700" dirty="0"/>
          </a:p>
        </p:txBody>
      </p:sp>
      <p:sp>
        <p:nvSpPr>
          <p:cNvPr id="28" name="Shape 20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5" descr="think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Associez chaque phrase à une personne (A–D).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 remarquez-vous ? Le petit mot </a:t>
            </a:r>
            <a:r>
              <a:rPr lang="en-US" sz="1800" i="1" dirty="0">
                <a:solidFill>
                  <a:schemeClr val="tx1"/>
                </a:solidFill>
              </a:rPr>
              <a:t>die / dat</a:t>
            </a:r>
            <a:r>
              <a:rPr lang="en-US" sz="1800" dirty="0">
                <a:solidFill>
                  <a:schemeClr val="tx1"/>
                </a:solidFill>
              </a:rPr>
              <a:t> et la </a:t>
            </a:r>
            <a:r>
              <a:rPr lang="en-US" sz="1800" b="1" dirty="0">
                <a:solidFill>
                  <a:schemeClr val="tx1"/>
                </a:solidFill>
              </a:rPr>
              <a:t>place du verbe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die ou dat ? L’aiguillage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DE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8288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klant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324612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461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HET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32461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rapport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466344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46634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PLURIEL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46888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rapporten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035040" y="2331720"/>
            <a:ext cx="146304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0" y="23317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6035040" y="3977640"/>
            <a:ext cx="146304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0" y="39776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000" dirty="0"/>
          </a:p>
        </p:txBody>
      </p:sp>
      <p:sp>
        <p:nvSpPr>
          <p:cNvPr id="18" name="Shape 15"/>
          <p:cNvSpPr/>
          <p:nvPr/>
        </p:nvSpPr>
        <p:spPr>
          <a:xfrm>
            <a:off x="4251960" y="2258568"/>
            <a:ext cx="1737360" cy="530352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4251960" y="3675888"/>
            <a:ext cx="1737360" cy="75895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 flipV="1">
            <a:off x="4251960" y="2788920"/>
            <a:ext cx="1737360" cy="2304288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772400" y="2103120"/>
            <a:ext cx="3867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belt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rapporten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klaar zijn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397764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rapport </a:t>
            </a:r>
            <a:r>
              <a:rPr lang="en-US" sz="1900" b="1" i="1" dirty="0">
                <a:solidFill>
                  <a:schemeClr val="accent1"/>
                </a:solidFill>
              </a:rPr>
              <a:t>dat</a:t>
            </a:r>
            <a:r>
              <a:rPr lang="en-US" sz="1900" i="1" dirty="0">
                <a:solidFill>
                  <a:schemeClr val="tx1"/>
                </a:solidFill>
              </a:rPr>
              <a:t> klaar is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Comme </a:t>
            </a:r>
            <a:r>
              <a:rPr lang="en-US" sz="1700" i="1" dirty="0">
                <a:solidFill>
                  <a:schemeClr val="bg1"/>
                </a:solidFill>
              </a:rPr>
              <a:t>deze / dit</a:t>
            </a:r>
            <a:r>
              <a:rPr lang="en-US" sz="1700" dirty="0">
                <a:solidFill>
                  <a:schemeClr val="bg1"/>
                </a:solidFill>
              </a:rPr>
              <a:t> (M20) : on regarde le </a:t>
            </a:r>
            <a:r>
              <a:rPr lang="en-US" sz="1700" b="1" dirty="0">
                <a:solidFill>
                  <a:schemeClr val="bg1"/>
                </a:solidFill>
              </a:rPr>
              <a:t>nom juste avant</a:t>
            </a:r>
            <a:r>
              <a:rPr lang="en-US" sz="1700" dirty="0">
                <a:solidFill>
                  <a:schemeClr val="bg1"/>
                </a:solidFill>
              </a:rPr>
              <a:t>.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+ pluriel → </a:t>
            </a:r>
            <a:r>
              <a:rPr lang="en-US" sz="1700" i="1" dirty="0">
                <a:solidFill>
                  <a:schemeClr val="bg1"/>
                </a:solidFill>
              </a:rPr>
              <a:t>die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dat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qui ou que ? Peu importe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21488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travaille ici »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603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hier werkt</a:t>
            </a:r>
            <a:endParaRPr lang="en-US" sz="1800" dirty="0"/>
          </a:p>
        </p:txBody>
      </p:sp>
      <p:pic>
        <p:nvPicPr>
          <p:cNvPr id="12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044952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je connais »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4564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118104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11810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ik ken</a:t>
            </a:r>
            <a:endParaRPr lang="en-US" sz="1800" dirty="0"/>
          </a:p>
        </p:txBody>
      </p:sp>
      <p:pic>
        <p:nvPicPr>
          <p:cNvPr id="17" name="Image 2" descr="page facing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54480" y="3941064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est prêt »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7543800" y="43525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7909560" y="4014216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046720" y="4014216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klaar is</a:t>
            </a:r>
            <a:endParaRPr lang="en-US" sz="1800" dirty="0"/>
          </a:p>
        </p:txBody>
      </p:sp>
      <p:pic>
        <p:nvPicPr>
          <p:cNvPr id="22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40080" cy="6400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54480" y="4837176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j’écris »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7543800" y="5248656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18"/>
          <p:cNvSpPr/>
          <p:nvPr/>
        </p:nvSpPr>
        <p:spPr>
          <a:xfrm>
            <a:off x="7909560" y="4910328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046720" y="4910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ik schrijf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demande « sujet ou objet ? ». Le néerlandais : « </a:t>
            </a:r>
            <a:r>
              <a:rPr lang="en-US" sz="1800" i="1" dirty="0">
                <a:solidFill>
                  <a:schemeClr val="bg1"/>
                </a:solidFill>
              </a:rPr>
              <a:t>de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? 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verbe va à la fin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PHRASE PRINCIPALE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1554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 RELATIVE (le wagon, M9)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9659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ken de man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33756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3756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4389120" y="196596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89120" y="1965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naast Sofie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9224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9224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zit.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3017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0175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Dit is het rapport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3337560" y="301752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37560" y="30175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dat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4389120" y="30175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89120" y="30175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gisteren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6309360" y="301752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09360" y="3017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geschreven heb.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406908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4069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bel de klant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337560" y="406908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3756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389120" y="4069080"/>
            <a:ext cx="118872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389120" y="40690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morgen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669280" y="406908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669280" y="4069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 komen.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525780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257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Comme après </a:t>
            </a:r>
            <a:r>
              <a:rPr lang="en-US" sz="1800" i="1" dirty="0">
                <a:solidFill>
                  <a:schemeClr val="bg1"/>
                </a:solidFill>
              </a:rPr>
              <a:t>omdat</a:t>
            </a:r>
            <a:r>
              <a:rPr lang="en-US" sz="1800" dirty="0">
                <a:solidFill>
                  <a:schemeClr val="bg1"/>
                </a:solidFill>
              </a:rPr>
              <a:t> (M9) : le verbe conjugué va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. Avec deux verbes, ils se retrouvent ensemble à la fin.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relative au milieu de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collega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2359152" y="182880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359152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die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209544" y="182880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9544" y="18288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naast 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745736" y="1828800"/>
            <a:ext cx="8229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45736" y="182880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zit,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641848" y="182880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41848" y="182880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heet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629400" y="1828800"/>
            <a:ext cx="118872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29400" y="18288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4745736" y="2697480"/>
            <a:ext cx="181051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45736" y="26974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322576" y="1719072"/>
            <a:ext cx="32826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54864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Het bureau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359152" y="329184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359152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dat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3209544" y="3291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09544" y="32918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bij het raam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202936" y="3291840"/>
            <a:ext cx="10515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202936" y="329184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staat,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6327648" y="3291840"/>
            <a:ext cx="640080" cy="77724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27648" y="32918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is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704088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4088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van Karim.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202936" y="4160520"/>
            <a:ext cx="176479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202936" y="4160520"/>
            <a:ext cx="176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2322576" y="3182112"/>
            <a:ext cx="39684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35" name="Text 32"/>
          <p:cNvSpPr txBox="1"/>
          <p:nvPr/>
        </p:nvSpPr>
        <p:spPr>
          <a:xfrm>
            <a:off x="548640" y="45720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la relative s’intercale juste après le nom qu’elle décrit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1206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2960" y="51206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deux verbes se touchent autour de la virgule (« verbe, verbe », M9). La virgule est conseillée après une longue relative.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dat ≠ dat, die ≠ die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ag"/>
          <p:cNvSpPr/>
          <p:nvPr/>
        </p:nvSpPr>
        <p:spPr>
          <a:xfrm>
            <a:off x="777240" y="2331720"/>
            <a:ext cx="2236013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conjonction (M9)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2148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denk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hij komt.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2148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pas de nom avant</a:t>
            </a:r>
            <a:endParaRPr lang="en-US" sz="1500" dirty="0"/>
          </a:p>
        </p:txBody>
      </p:sp>
      <p:sp>
        <p:nvSpPr>
          <p:cNvPr id="10" name="tag"/>
          <p:cNvSpPr/>
          <p:nvPr/>
        </p:nvSpPr>
        <p:spPr>
          <a:xfrm>
            <a:off x="777240" y="315468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9718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huis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ik koop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29718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3" name="tag"/>
          <p:cNvSpPr/>
          <p:nvPr/>
        </p:nvSpPr>
        <p:spPr>
          <a:xfrm>
            <a:off x="777240" y="3977640"/>
            <a:ext cx="2579522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démonstratif (M20)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7947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 is aardig.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3794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devant un nom</a:t>
            </a:r>
            <a:endParaRPr lang="en-US" sz="1500" dirty="0"/>
          </a:p>
        </p:txBody>
      </p:sp>
      <p:sp>
        <p:nvSpPr>
          <p:cNvPr id="16" name="tag"/>
          <p:cNvSpPr/>
          <p:nvPr/>
        </p:nvSpPr>
        <p:spPr>
          <a:xfrm>
            <a:off x="777240" y="480060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0" y="4617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collega </a:t>
            </a: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aardig is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46177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Test : y a-t-il un </a:t>
            </a:r>
            <a:r>
              <a:rPr lang="en-US" sz="1800" b="1" dirty="0">
                <a:solidFill>
                  <a:schemeClr val="bg1"/>
                </a:solidFill>
              </a:rPr>
              <a:t>nom juste avant</a:t>
            </a:r>
            <a:r>
              <a:rPr lang="en-US" sz="1800" dirty="0">
                <a:solidFill>
                  <a:schemeClr val="bg1"/>
                </a:solidFill>
              </a:rPr>
              <a:t> ? → c’est un relatif.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wat après alles, iets, niets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speech ballo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alles wat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Alles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zegt, is waar.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rapped gi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19344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iets wat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zal helpen.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light 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92768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wat</a:t>
            </a:r>
            <a:endParaRPr lang="en-US" sz="24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Er is niets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niet begrijp.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548640" y="452628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" y="45262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Je fais </a:t>
            </a:r>
            <a:r>
              <a:rPr lang="en-US" sz="1900" b="1" dirty="0">
                <a:solidFill>
                  <a:schemeClr val="tx1"/>
                </a:solidFill>
              </a:rPr>
              <a:t>ce que</a:t>
            </a:r>
            <a:r>
              <a:rPr lang="en-US" sz="1900" dirty="0">
                <a:solidFill>
                  <a:schemeClr val="tx1"/>
                </a:solidFill>
              </a:rPr>
              <a:t> je veux. » → </a:t>
            </a:r>
            <a:r>
              <a:rPr lang="en-US" sz="1900" i="1" dirty="0">
                <a:solidFill>
                  <a:schemeClr val="tx1"/>
                </a:solidFill>
              </a:rPr>
              <a:t>Ik doe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wil.</a:t>
            </a:r>
            <a:r>
              <a:rPr lang="en-US" sz="1900" dirty="0">
                <a:solidFill>
                  <a:schemeClr val="tx1"/>
                </a:solidFill>
              </a:rPr>
              <a:t> — « ce qui / ce que » = </a:t>
            </a:r>
            <a:r>
              <a:rPr lang="en-US" sz="1900" i="1" dirty="0">
                <a:solidFill>
                  <a:schemeClr val="tx1"/>
                </a:solidFill>
              </a:rPr>
              <a:t>wat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Après </a:t>
            </a:r>
            <a:r>
              <a:rPr lang="en-US" sz="1500" i="1" dirty="0">
                <a:solidFill>
                  <a:schemeClr val="accent5"/>
                </a:solidFill>
              </a:rPr>
              <a:t>iets, niets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ou </a:t>
            </a:r>
            <a:r>
              <a:rPr lang="en-US" sz="1500" i="1" dirty="0">
                <a:solidFill>
                  <a:schemeClr val="accent5"/>
                </a:solidFill>
              </a:rPr>
              <a:t>dat</a:t>
            </a:r>
            <a:r>
              <a:rPr lang="en-US" sz="1500" i="1" dirty="0">
                <a:solidFill>
                  <a:schemeClr val="accent5"/>
                </a:solidFill>
              </a:rPr>
              <a:t> (les deux sont corrects,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plus fréquent). Après </a:t>
            </a:r>
            <a:r>
              <a:rPr lang="en-US" sz="1500" i="1" dirty="0">
                <a:solidFill>
                  <a:schemeClr val="accent5"/>
                </a:solidFill>
              </a:rPr>
              <a:t>alles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une préposition : met wie, waarmee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PERSONNES</a:t>
            </a:r>
            <a:endParaRPr lang="en-US" sz="1700" dirty="0"/>
          </a:p>
        </p:txBody>
      </p:sp>
      <p:pic>
        <p:nvPicPr>
          <p:cNvPr id="8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préposition + </a:t>
            </a:r>
            <a:r>
              <a:rPr lang="en-US" sz="1800" b="1" i="1" dirty="0">
                <a:solidFill>
                  <a:schemeClr val="accent2"/>
                </a:solidFill>
              </a:rPr>
              <a:t>wie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 </a:t>
            </a:r>
            <a:r>
              <a:rPr lang="en-US" sz="1900" b="1" i="1" dirty="0">
                <a:solidFill>
                  <a:schemeClr val="tx1"/>
                </a:solidFill>
              </a:rPr>
              <a:t>met wie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1"/>
                </a:solidFill>
              </a:rPr>
              <a:t>aan wie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CHOSES</a:t>
            </a:r>
            <a:endParaRPr lang="en-US" sz="1700" dirty="0"/>
          </a:p>
        </p:txBody>
      </p:sp>
      <p:pic>
        <p:nvPicPr>
          <p:cNvPr id="14" name="Image 1" descr="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24028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24344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6E4A9E"/>
                </a:solidFill>
              </a:rPr>
              <a:t>waar</a:t>
            </a:r>
            <a:r>
              <a:rPr lang="en-US" sz="1800" b="1" dirty="0">
                <a:solidFill>
                  <a:srgbClr val="6E4A9E"/>
                </a:solidFill>
              </a:rPr>
              <a:t> + préposition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501384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pen </a:t>
            </a:r>
            <a:r>
              <a:rPr lang="en-US" sz="1900" b="1" i="1" dirty="0">
                <a:solidFill>
                  <a:schemeClr val="tx1"/>
                </a:solidFill>
              </a:rPr>
              <a:t>waarmee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project </a:t>
            </a:r>
            <a:r>
              <a:rPr lang="en-US" sz="1900" b="1" i="1" dirty="0">
                <a:solidFill>
                  <a:schemeClr val="tx1"/>
                </a:solidFill>
              </a:rPr>
              <a:t>waaraan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</p:txBody>
      </p:sp>
      <p:sp>
        <p:nvSpPr>
          <p:cNvPr id="17" name="Shape 12"/>
          <p:cNvSpPr/>
          <p:nvPr/>
        </p:nvSpPr>
        <p:spPr>
          <a:xfrm>
            <a:off x="548640" y="47548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47548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LIEUX : </a:t>
            </a:r>
            <a:r>
              <a:rPr lang="en-US" sz="1800" i="1" dirty="0">
                <a:solidFill>
                  <a:schemeClr val="tx1"/>
                </a:solidFill>
              </a:rPr>
              <a:t>de stad </a:t>
            </a:r>
            <a:r>
              <a:rPr lang="en-US" sz="1800" b="1" i="1" dirty="0">
                <a:solidFill>
                  <a:schemeClr val="tx1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ik woon</a:t>
            </a:r>
            <a:r>
              <a:rPr lang="en-US" sz="1800" dirty="0">
                <a:solidFill>
                  <a:schemeClr val="tx1"/>
                </a:solidFill>
              </a:rPr>
              <a:t> (où) · ✗ </a:t>
            </a:r>
            <a:r>
              <a:rPr lang="en-US" sz="1800" i="1" strike="sngStrike" dirty="0">
                <a:solidFill>
                  <a:schemeClr val="accent6"/>
                </a:solidFill>
              </a:rPr>
              <a:t>de pen met die ik schrijf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pen </a:t>
            </a:r>
            <a:r>
              <a:rPr lang="en-US" sz="1800" b="1" i="1" dirty="0">
                <a:solidFill>
                  <a:schemeClr val="tx1"/>
                </a:solidFill>
              </a:rPr>
              <a:t>waarmee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r>
              <a:rPr lang="en-US" sz="1800" dirty="0">
                <a:solidFill>
                  <a:schemeClr val="tx1"/>
                </a:solidFill>
              </a:rPr>
              <a:t> (M23)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reconnaître ici, à pratiquer au M23.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Définir un mot inconnu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ag"/>
          <p:cNvSpPr/>
          <p:nvPr/>
        </p:nvSpPr>
        <p:spPr>
          <a:xfrm>
            <a:off x="731520" y="1691640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PERSONNE</a:t>
            </a:r>
            <a:endParaRPr lang="en-US" sz="1200" dirty="0"/>
          </a:p>
        </p:txBody>
      </p:sp>
      <p:pic>
        <p:nvPicPr>
          <p:cNvPr id="7" name="Image 0" descr="person getting hair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2412" y="210312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iemand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je haar knipt.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2"/>
                </a:solidFill>
              </a:rPr>
              <a:t>→ </a:t>
            </a:r>
            <a:r>
              <a:rPr lang="en-US" sz="1700" b="1" dirty="0">
                <a:solidFill>
                  <a:schemeClr val="accent2"/>
                </a:solidFill>
              </a:rPr>
              <a:t>een kapper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ag"/>
          <p:cNvSpPr/>
          <p:nvPr/>
        </p:nvSpPr>
        <p:spPr>
          <a:xfrm>
            <a:off x="4504944" y="1691640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CHOSE</a:t>
            </a:r>
            <a:endParaRPr lang="en-US" sz="1200" dirty="0"/>
          </a:p>
        </p:txBody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836" y="2103120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04944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machine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documenten kopieert.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4504944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1"/>
                </a:solidFill>
              </a:rPr>
              <a:t>→ </a:t>
            </a:r>
            <a:r>
              <a:rPr lang="en-US" sz="1700" b="1" dirty="0">
                <a:solidFill>
                  <a:schemeClr val="accent1"/>
                </a:solidFill>
              </a:rPr>
              <a:t>een kopieerapparaat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ag"/>
          <p:cNvSpPr/>
          <p:nvPr/>
        </p:nvSpPr>
        <p:spPr>
          <a:xfrm>
            <a:off x="8278368" y="1691640"/>
            <a:ext cx="112105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 LIEU</a:t>
            </a:r>
            <a:endParaRPr lang="en-US" sz="1200" dirty="0"/>
          </a:p>
        </p:txBody>
      </p:sp>
      <p:pic>
        <p:nvPicPr>
          <p:cNvPr id="17" name="Image 2" descr="boo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260" y="2103120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278368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plek </a:t>
            </a:r>
            <a:r>
              <a:rPr lang="en-US" sz="1800" b="1" i="1" dirty="0">
                <a:solidFill>
                  <a:schemeClr val="accent4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je boeken leent.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278368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E4A9E"/>
                </a:solidFill>
              </a:rPr>
              <a:t>→ </a:t>
            </a:r>
            <a:r>
              <a:rPr lang="en-US" sz="1700" b="1" dirty="0">
                <a:solidFill>
                  <a:srgbClr val="6E4A9E"/>
                </a:solidFill>
              </a:rPr>
              <a:t>een bibliotheek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548640" y="52120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2296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mot vous manque ? Décrivez-le : </a:t>
            </a:r>
            <a:r>
              <a:rPr lang="en-US" sz="1800" i="1" dirty="0">
                <a:solidFill>
                  <a:schemeClr val="bg1"/>
                </a:solidFill>
              </a:rPr>
              <a:t>Hoe heet een ding </a:t>
            </a:r>
            <a:r>
              <a:rPr lang="en-US" sz="1800" b="1" i="1" dirty="0">
                <a:solidFill>
                  <a:schemeClr val="bg1"/>
                </a:solidFill>
              </a:rPr>
              <a:t>dat</a:t>
            </a:r>
            <a:r>
              <a:rPr lang="en-US" sz="1800" i="1" dirty="0">
                <a:solidFill>
                  <a:schemeClr val="bg1"/>
                </a:solidFill>
              </a:rPr>
              <a:t>…?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iemand → die · een ding (het) → dat · een plek → waar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het meisje dat…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gir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9456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48840" y="2194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la fille </a:t>
            </a:r>
            <a:r>
              <a:rPr lang="en-US" sz="2000" b="1" dirty="0">
                <a:solidFill>
                  <a:schemeClr val="tx1"/>
                </a:solidFill>
              </a:rPr>
              <a:t>qui</a:t>
            </a:r>
            <a:r>
              <a:rPr lang="en-US" sz="2000" dirty="0">
                <a:solidFill>
                  <a:schemeClr val="tx1"/>
                </a:solidFill>
              </a:rPr>
              <a:t> rit »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5394960" y="21945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het meisje die lacht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8321040" y="2377440"/>
            <a:ext cx="315468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0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meisje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lacht</a:t>
            </a:r>
            <a:endParaRPr lang="en-US" sz="1800" dirty="0"/>
          </a:p>
        </p:txBody>
      </p:sp>
      <p:pic>
        <p:nvPicPr>
          <p:cNvPr id="12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65760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kind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4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365760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11480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team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6" name="Image 3" descr="identification c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657600"/>
            <a:ext cx="640080" cy="6400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72084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lid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8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3657600"/>
            <a:ext cx="640080" cy="6400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32688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personeel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sp>
        <p:nvSpPr>
          <p:cNvPr id="20" name="Text 12"/>
          <p:cNvSpPr txBox="1"/>
          <p:nvPr/>
        </p:nvSpPr>
        <p:spPr>
          <a:xfrm>
            <a:off x="777240" y="45720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On suit l’</a:t>
            </a:r>
            <a:r>
              <a:rPr lang="en-US" sz="1900" b="1" dirty="0">
                <a:solidFill>
                  <a:schemeClr val="tx1"/>
                </a:solidFill>
              </a:rPr>
              <a:t>article</a:t>
            </a:r>
            <a:r>
              <a:rPr lang="en-US" sz="1900" b="1" dirty="0">
                <a:solidFill>
                  <a:schemeClr val="tx1"/>
                </a:solidFill>
              </a:rPr>
              <a:t>, pas le sexe de la personne.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het meisje</a:t>
            </a:r>
            <a:r>
              <a:rPr lang="en-US" sz="1700" dirty="0">
                <a:solidFill>
                  <a:schemeClr val="bg1"/>
                </a:solidFill>
              </a:rPr>
              <a:t> est un diminutif (M14) →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 lid</a:t>
            </a:r>
            <a:r>
              <a:rPr lang="en-US" sz="1700" dirty="0">
                <a:solidFill>
                  <a:schemeClr val="bg1"/>
                </a:solidFill>
              </a:rPr>
              <a:t> = le membre · à l’oral : parfois </a:t>
            </a:r>
            <a:r>
              <a:rPr lang="en-US" sz="1700" i="1" dirty="0">
                <a:solidFill>
                  <a:schemeClr val="bg1"/>
                </a:solidFill>
              </a:rPr>
              <a:t>het meisje die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l’aiguillage du relatif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34640" cy="3931920"/>
          </a:xfrm>
          <a:prstGeom prst="roundRect">
            <a:avLst>
              <a:gd name="adj" fmla="val 3226"/>
            </a:avLst>
          </a:prstGeom>
          <a:solidFill>
            <a:srgbClr val="EEF3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554480"/>
            <a:ext cx="26517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Quel nom juste avant ?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 flipV="1">
            <a:off x="3401568" y="1965960"/>
            <a:ext cx="393192" cy="15544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384048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de</a:t>
            </a:r>
            <a:r>
              <a:rPr lang="en-US" sz="1600" dirty="0">
                <a:solidFill>
                  <a:schemeClr val="tx1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263640" y="164592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364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die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155448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klant </a:t>
            </a:r>
            <a:r>
              <a:rPr lang="en-US" sz="1500" b="1" i="1" dirty="0">
                <a:solidFill>
                  <a:schemeClr val="tx1"/>
                </a:solidFill>
              </a:rPr>
              <a:t>die</a:t>
            </a:r>
            <a:r>
              <a:rPr lang="en-US" sz="1500" i="1" dirty="0">
                <a:solidFill>
                  <a:schemeClr val="tx1"/>
                </a:solidFill>
              </a:rPr>
              <a:t> belt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 flipV="1">
            <a:off x="3401568" y="2971800"/>
            <a:ext cx="393192" cy="5486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3840480" y="2560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het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263640" y="265176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651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dat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256032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het rapport </a:t>
            </a:r>
            <a:r>
              <a:rPr lang="en-US" sz="1500" b="1" i="1" dirty="0">
                <a:solidFill>
                  <a:schemeClr val="tx1"/>
                </a:solidFill>
              </a:rPr>
              <a:t>dat</a:t>
            </a:r>
            <a:r>
              <a:rPr lang="en-US" sz="1500" i="1" dirty="0">
                <a:solidFill>
                  <a:schemeClr val="tx1"/>
                </a:solidFill>
              </a:rPr>
              <a:t> ik schrijf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401568" y="3520440"/>
            <a:ext cx="393192" cy="45720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3840480" y="3566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alles, iets, niets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263640" y="365760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63640" y="3657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356616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alles </a:t>
            </a:r>
            <a:r>
              <a:rPr lang="en-US" sz="1500" b="1" i="1" dirty="0">
                <a:solidFill>
                  <a:schemeClr val="tx1"/>
                </a:solidFill>
              </a:rPr>
              <a:t>wat</a:t>
            </a:r>
            <a:r>
              <a:rPr lang="en-US" sz="1500" i="1" dirty="0">
                <a:solidFill>
                  <a:schemeClr val="tx1"/>
                </a:solidFill>
              </a:rPr>
              <a:t> je zegt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3401568" y="3520440"/>
            <a:ext cx="393192" cy="1463040"/>
          </a:xfrm>
          <a:prstGeom prst="line">
            <a:avLst/>
          </a:prstGeom>
          <a:noFill/>
          <a:ln w="254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3840480" y="45720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avec une préposition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63640" y="4663440"/>
            <a:ext cx="210312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63640" y="4663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met wie / waarmee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503920" y="457200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wie ik werk · waarmee ik schrijf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Toujours : le </a:t>
            </a:r>
            <a:r>
              <a:rPr lang="en-US" sz="1800" b="1" dirty="0">
                <a:solidFill>
                  <a:schemeClr val="bg1"/>
                </a:solidFill>
              </a:rPr>
              <a:t>verbe à la fin</a:t>
            </a:r>
            <a:r>
              <a:rPr lang="en-US" sz="1800" dirty="0">
                <a:solidFill>
                  <a:schemeClr val="bg1"/>
                </a:solidFill>
              </a:rPr>
              <a:t> de la relative (le wagon, M9).</a:t>
            </a:r>
            <a:endParaRPr lang="en-US" sz="1800" dirty="0"/>
          </a:p>
        </p:txBody>
      </p:sp>
      <p:pic>
        <p:nvPicPr>
          <p:cNvPr id="29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die, dat ou wat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Reliez les phrases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ou que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Ques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devinettes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ommentSl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Taboe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Sitem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nouveau collègue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b="1" i="1" dirty="0">
                <a:solidFill>
                  <a:schemeClr val="accent3"/>
                </a:solidFill>
              </a:rPr>
              <a:t> (of dat)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36" name="Shape 32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0" y="19781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heb een collega die vijf talen spreekt.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217920" y="270459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Dit is het rapport dat ik gisteren geschreven heb.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17920" y="343103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We hebben een klant die morgen wil komen.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217920" y="415747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Ken je het restaurant dat naast het station ligt?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41" name="Shape 37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217920" y="488391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zoek de documenten die op mijn bureau lagen.</a:t>
            </a:r>
            <a:endParaRPr lang="en-US" sz="15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8" name="Shape 44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17920" y="56103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Waar is de laptop die ik gisteren gekocht heb?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48" name="Shape 44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49440" y="19781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belt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949440" y="270459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ik bel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949440" y="343103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vrij is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949440" y="415747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ik reserveer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88391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collega’s die aankomen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949440" y="56103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kind dat ik help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1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4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7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0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2" name="Shape 24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3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400800" y="2295652"/>
            <a:ext cx="1463040" cy="14528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400800" y="3022092"/>
            <a:ext cx="146304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400800" y="374853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6400800" y="2295652"/>
            <a:ext cx="1463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8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30" name="Shape 25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1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33" name="Shape 27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4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36" name="Shape 29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7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9" name="Shape 31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0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42" name="Shape 33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3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dirty="0">
                <a:solidFill>
                  <a:schemeClr val="tx1"/>
                </a:solidFill>
              </a:rPr>
              <a:t>die helpt haar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dirty="0">
                <a:solidFill>
                  <a:schemeClr val="tx1"/>
                </a:solidFill>
              </a:rPr>
              <a:t>niet gebruikt meer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strike="sngStrike" dirty="0">
                <a:solidFill>
                  <a:schemeClr val="accent6"/>
                </a:solidFill>
              </a:rPr>
              <a:t>die helpt haar</a:t>
            </a:r>
            <a:r>
              <a:rPr lang="en-US" sz="1900" b="1" i="1" dirty="0">
                <a:solidFill>
                  <a:schemeClr val="accent3"/>
                </a:solidFill>
              </a:rPr>
              <a:t> die haar helpt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wat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strike="sngStrike" dirty="0">
                <a:solidFill>
                  <a:schemeClr val="accent6"/>
                </a:solidFill>
              </a:rPr>
              <a:t>niet gebruikt meer</a:t>
            </a:r>
            <a:r>
              <a:rPr lang="en-US" sz="1900" b="1" i="1" dirty="0">
                <a:solidFill>
                  <a:schemeClr val="accent3"/>
                </a:solidFill>
              </a:rPr>
              <a:t> niet meer gebruikt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de nieuwe stagiaire die bij ons komt werken · Het project dat ze gaat doen, is…</a:t>
            </a:r>
            <a:r>
              <a:rPr lang="en-US" sz="1400" i="1" dirty="0">
                <a:solidFill>
                  <a:schemeClr val="accent5"/>
                </a:solidFill>
              </a:rPr>
              <a:t> · </a:t>
            </a:r>
            <a:r>
              <a:rPr lang="en-US" sz="1400" i="1" dirty="0">
                <a:solidFill>
                  <a:schemeClr val="accent5"/>
                </a:solidFill>
              </a:rPr>
              <a:t>iets dat</a:t>
            </a:r>
            <a:r>
              <a:rPr lang="en-US" sz="1400" i="1" dirty="0">
                <a:solidFill>
                  <a:schemeClr val="accent5"/>
                </a:solidFill>
              </a:rPr>
              <a:t> : correct aussi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Taboe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teac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70992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leraar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2296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school · les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709928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2608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printer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320040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01752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papier · afdrukken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30352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hospit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709928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0352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het ziekenhuis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557784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39496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dokter · ziek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umbrell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3995928"/>
            <a:ext cx="685800" cy="6858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4864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paraplu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82296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4008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regen · nat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292608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3995928"/>
            <a:ext cx="685800" cy="6858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292608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kok</a:t>
            </a:r>
            <a:endParaRPr lang="en-US" sz="1700" dirty="0"/>
          </a:p>
        </p:txBody>
      </p:sp>
      <p:sp>
        <p:nvSpPr>
          <p:cNvPr id="29" name="Shape 21"/>
          <p:cNvSpPr/>
          <p:nvPr/>
        </p:nvSpPr>
        <p:spPr>
          <a:xfrm>
            <a:off x="320040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01752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keuken · eten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30352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5" descr="airpla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3995928"/>
            <a:ext cx="685800" cy="6858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30352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luchthaven</a:t>
            </a:r>
            <a:endParaRPr lang="en-US" sz="1700" dirty="0"/>
          </a:p>
        </p:txBody>
      </p:sp>
      <p:sp>
        <p:nvSpPr>
          <p:cNvPr id="34" name="Shape 25"/>
          <p:cNvSpPr/>
          <p:nvPr/>
        </p:nvSpPr>
        <p:spPr>
          <a:xfrm>
            <a:off x="557784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39496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vliegtuig · reizen</a:t>
            </a:r>
            <a:endParaRPr lang="en-US" sz="1300" dirty="0"/>
          </a:p>
        </p:txBody>
      </p:sp>
      <p:pic>
        <p:nvPicPr>
          <p:cNvPr id="36" name="Image 6" descr="stopwatch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600200"/>
            <a:ext cx="731520" cy="7315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86800" y="1600200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Taboe!</a:t>
            </a:r>
            <a:endParaRPr lang="en-US" sz="2600" dirty="0"/>
          </a:p>
        </p:txBody>
      </p:sp>
      <p:sp>
        <p:nvSpPr>
          <p:cNvPr id="38" name="Text 28"/>
          <p:cNvSpPr txBox="1"/>
          <p:nvPr/>
        </p:nvSpPr>
        <p:spPr>
          <a:xfrm>
            <a:off x="7863840" y="2514600"/>
            <a:ext cx="37764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équipes : faites deviner le mot </a:t>
            </a:r>
            <a:r>
              <a:rPr lang="en-US" sz="1600" b="1" dirty="0">
                <a:solidFill>
                  <a:schemeClr val="tx1"/>
                </a:solidFill>
              </a:rPr>
              <a:t>sans</a:t>
            </a:r>
            <a:r>
              <a:rPr lang="en-US" sz="1600" dirty="0">
                <a:solidFill>
                  <a:schemeClr val="tx1"/>
                </a:solidFill>
              </a:rPr>
              <a:t> dire les mots barrés.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Utilisez : </a:t>
            </a:r>
            <a:r>
              <a:rPr lang="en-US" sz="1600" i="1" dirty="0">
                <a:solidFill>
                  <a:schemeClr val="tx1"/>
                </a:solidFill>
              </a:rPr>
              <a:t>Het is iemand die… / een ding dat… / een plek waar…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Un point par mot trouvé en 1 minute.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nouveau collègue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Premier jour de Lotte. Sofie lui montre l’organigramme et lui présente les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présentez chaque collègue avec une relative : </a:t>
            </a:r>
            <a:r>
              <a:rPr lang="en-US" sz="1700" i="1" dirty="0">
                <a:solidFill>
                  <a:schemeClr val="tx1"/>
                </a:solidFill>
              </a:rPr>
              <a:t>Dat is An, de vrouw die…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au moins 3 questions : </a:t>
            </a:r>
            <a:r>
              <a:rPr lang="en-US" sz="1700" i="1" dirty="0">
                <a:solidFill>
                  <a:schemeClr val="tx1"/>
                </a:solidFill>
              </a:rPr>
              <a:t>Wie is de man die daar zit? Met wie werk ik samen?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Dat is An, de vrouw die de afdeling leidt. · Karim is de collega die de facturen controleert. · Het bureau dat bij het raam staat, is van jou. · Wie is de man die daar zit? · Met wie werk ik samen?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ORGANIGRAM PEETERS &amp; CO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57132" y="21671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5772" y="2212848"/>
            <a:ext cx="502920" cy="50292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057132" y="26974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An Janssens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9057132" y="29352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diensthoofd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857232" y="3218688"/>
            <a:ext cx="914" cy="2743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034272" y="3493008"/>
            <a:ext cx="16459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21131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3675888"/>
            <a:ext cx="502920" cy="5029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21131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Karim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821131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boekhouding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990295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2" y="3675888"/>
            <a:ext cx="502920" cy="502920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990295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Sofie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990295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HR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10707624" y="468172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990295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3" descr="woman red 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4956048"/>
            <a:ext cx="502920" cy="502920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990295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Lotte</a:t>
            </a:r>
            <a:endParaRPr 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990295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stagiaire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821131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4" descr="man be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952" y="4956048"/>
            <a:ext cx="502920" cy="50292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21131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Tom</a:t>
            </a:r>
            <a:endParaRPr lang="en-US" sz="1100" dirty="0"/>
          </a:p>
        </p:txBody>
      </p:sp>
      <p:sp>
        <p:nvSpPr>
          <p:cNvPr id="44" name="Text 36"/>
          <p:cNvSpPr txBox="1"/>
          <p:nvPr/>
        </p:nvSpPr>
        <p:spPr>
          <a:xfrm>
            <a:off x="821131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IT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het rapport …… ik schrijf · de klant …… belt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Reliez : </a:t>
            </a:r>
            <a:r>
              <a:rPr lang="en-US" sz="2000" i="1" dirty="0">
                <a:solidFill>
                  <a:schemeClr val="tx1"/>
                </a:solidFill>
              </a:rPr>
              <a:t>Ik heb een collega. Ze woont in Gent.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Définissez : </a:t>
            </a:r>
            <a:r>
              <a:rPr lang="en-US" sz="2000" i="1" dirty="0">
                <a:solidFill>
                  <a:schemeClr val="tx1"/>
                </a:solidFill>
              </a:rPr>
              <a:t>een bakker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r>
              <a:rPr lang="en-US" sz="2000" dirty="0">
                <a:solidFill>
                  <a:schemeClr val="tx1"/>
                </a:solidFill>
              </a:rPr>
              <a:t>).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Construire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Définir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Questi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Waar denk je aan?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denk eraan!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22 — Die of dat? — Les pronoms relatifs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2026-10-05T19:06:53Z</dcterms:created>
  <dcterms:modified xsi:type="dcterms:W3CDTF">2026-10-05T19:06:53Z</dcterms:modified>
</cp:coreProperties>
</file>