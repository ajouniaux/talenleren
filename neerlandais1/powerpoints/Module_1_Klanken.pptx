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7c4854e-11b5-4d40-f032-d01ba46c4967}">
          <p14:sldIdLst>
            <p14:sldId id="256"/>
          </p14:sldIdLst>
        </p14:section>
        <p14:section name="Découvrir" id="{a84bb1f9-ff87-421f-ae2c-9e287f048e55}">
          <p14:sldIdLst>
            <p14:sldId id="257"/>
            <p14:sldId id="258"/>
            <p14:sldId id="259"/>
            <p14:sldId id="260"/>
          </p14:sldIdLst>
        </p14:section>
        <p14:section name="Comprendre" id="{bcbfda4c-855e-2b59-600a-6b47b5b2b97a}">
          <p14:sldIdLst>
            <p14:sldId id="261"/>
            <p14:sldId id="262"/>
            <p14:sldId id="263"/>
            <p14:sldId id="264"/>
            <p14:sldId id="265"/>
            <p14:sldId id="266"/>
            <p14:sldId id="267"/>
            <p14:sldId id="268"/>
            <p14:sldId id="269"/>
          </p14:sldIdLst>
        </p14:section>
        <p14:section name="JIJ NU ! — Oefeningen" id="{ba23e4db-6fc7-1cb6-16f7-0087d989c7f2}">
          <p14:sldIdLst>
            <p14:sldId id="270"/>
            <p14:sldId id="271"/>
            <p14:sldId id="272"/>
            <p14:sldId id="273"/>
            <p14:sldId id="274"/>
            <p14:sldId id="275"/>
            <p14:sldId id="276"/>
            <p14:sldId id="277"/>
            <p14:sldId id="278"/>
            <p14:sldId id="279"/>
            <p14:sldId id="280"/>
          </p14:sldIdLst>
        </p14:section>
        <p14:section name="Clôture" id="{50766d81-eaa8-b912-34fe-298880279556}">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et créer une énigme d'entrée : deux mots presque identiques, deux sens.
Prononcez « man » puis « maan » sans rien expliquer. Demandez : « Entendez-vous une différence ? Laquelle ? » Laissez émerger le mot « longueur ». Annoncez : « En néerlandais, la durée d'une voyelle change le sens du mot. Aujourd'hui, on apprend à l'entendre, à la lire et à l'écrire.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et montrer l'utilité de la règle pour la suite du cursus.
Insistez sur la rentabilité de la règle. Elle explique ik spreek / wij spreken (M3), ik lees / wij lezen (M4) et les pluriels (M5). Distribuez le carton bicolore (recto vert = LONG, verso framboise = COURT) : il sert pendant tout 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Activer l'alphabet néerlandais, repérer les 5 voyelles et corriger d'emblée les lettres dont le nom diffère du français (utile pour épeler son nom en M2).
Récitez l'alphabet en chœur, deux fois. Ensuite, chacun épelle son prénom (Mijn naam is… K-A-R-I-M).
Pièges fréquents :
• confusion E/I : en néerlandais, E se dit « é » ;
• J prononcé « ji » au lieu de « yé » ;
• G : son raclé, plus doux en Flandre qu'aux Pays-Bas ;
• IJ : se comporte comme une seule lettre. En début de mot, les deux lettres prennent la majuscule (IJsland). On l'appelle « lange ij » pour le distinguer de « ei » (« korte ei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découvrir la longueur vocalique par l'oreille avant toute règle. Cette diapo remplace la vidéo manquante.
Lisez chaque paire 2 fois. Les apprenants montrent leur carton : vert si le son est long, framboise s'il est court. Faites ensuite apparaître les couleurs.
Question d'observation : « Regardez l'écriture des mots longs. Que remarquez-vous ? » Réponses attendues : deux voyelles (slaan, vuur), ou une voyelle suivie d'une autre syllabe (le·zen, lo·pen). Ne donnez pas encore la règle.
Correction par rapport à l'archive : ruzie / muziek ne permettait aucun contraste (deux ie longs). Il est remplacé par zit / ziet.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Faire découvrir la longueur vocalique par l'oreille avant toute règle. Cette diapo remplace la vidéo manquante.
Lisez chaque paire 2 fois. Les apprenants montrent leur carton : vert si le son est long, framboise s'il est court. Faites ensuite apparaître les couleurs.
Question d'observation : « Regardez l'écriture des mots longs. Que remarquez-vous ? » Réponses attendues : deux voyelles (slaan, vuur), ou une voyelle suivie d'une autre syllabe (le·zen, lo·pen). Ne donnez pas encore la règle.
Correction par rapport à l'archive : ruzie / muziek ne permettait aucun contraste (deux ie longs). Il est remplacé par zit / ziet.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la règle centrale : syllabe ouverte = son long, syllabe fermée = son court.
Reprenez le script de l'archive : « Un son est court quand la voyelle est suivie d'une consonne dans la même syllabe. Un son est long quand la voyelle termine la syllabe. » Faites mimer : les mains écartées pour une porte ouverte, les mains jointes pour une porte fermée. Ce geste servira de signal non verbal pendant les corrections orales.
Une seule exception, à signaler dès maintenant : le e non accentué se prononce « e » muet, même en syllabe ouverte. C'est le cas des préfixes be-, ge-, ver-, de la finale -en et du -e final : be·ta·len = « beu-TAA-len », pas « béé-taa-len » (voir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la procédure de découpage, prérequis indispensable à la règle. Dans l'archive, elle n'apparaissait que dans les notes.
Faites taper les syllabes dans les mains (wo-nen : 2 frappes). Faites remarquer que ces mots sont tous des verbes qui reviendront en M3. Le cas sch / ch (la·chen) n'est pas nécessaire à ce stade.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pourquoi la consonne se double au pluriel quand le son est court.
Reprenez le script de l'archive (« Pour garder le son court, le néerlandais double la consonne »). Exemples remplacés : muf et los étaient rares, et bel était présenté tantôt comme nom (sonnette), tantôt comme verbe. Les → lessen parle directement aux apprenants (« les lessen Nederlands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 jeu des voyelles doubles (syllabe fermée) et simples (syllabe ouverte).
Reprenez le script de l'archive (« LA-TEN : la syllabe est ouverte, une seule voyelle suffit »). Faites formuler par la classe : « Pourquoi pas raamen ? » Correction par rapport à l'archive : diffuus (rare, avec la forme fautive « DIFFUZE » au lieu de diffuse et le découpage « DI-FFU-ZE » au lieu de dif·fu·se) est remplacé par muur / muren.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Synthétiser les diapos 7 et 8 en un seul visuel mémorisable : la diapo de référence du module.
Paire minimale à faire lire : BO·MEN (les arbres, son long, « bôô-men ») / BOM·MEN (les bombes, son court, « bom-men »). Elle remplace la paire de l'archive BE·LEN / BEL·LEN : belen n'existe pas en néerlandais. Le I est absent du tableau à dessein : il suit sa propre logique (diapo suivante). Proposez de photographier cette diapo : c'est la fiche-mémo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Compléter la règle : les sons doubles (digrammes) ne se doublent ni ne se simplifient. Cette diapo traite aussi correctement le cas du I.
Correction par rapport à l'archive : MIER / MIEREN y était présenté comme une voyelle longue « doublée ». Or ie est toujours écrit ie.
Insistez sur deux pièges :
• oe se prononce « ou », mais u ne se prononce jamais « ou » ;
• ij et ei se prononcent de la même façon : en dictée, il faut demander « lange ij of korte ei? ».
Pour ui, le plus difficile : partez de « œil » puis glissez vers « i » (huis ≈ « hœïs »). huis → huizen (s → z) annonce la diapo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Préparer M4 (ik lees / wij lezen) par l'observation de pluriels. Explique le NE/VEN resté sans explication dans l'archive.
Présentez-le comme une curiosité : les apprenants n'ont pas à maîtriser la liste. Ce n'est pas systématique : fles → flessen garde le s. Annoncez que ce « videur » reviendra en M4 pour les verbes (lezen → ik lees, leven → ik leef).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Anticiper les erreurs de prononciation les plus fréquentes chez les francophones.
La paire heten / eten (s'appeler / manger) fait toujours rire et se retient très bien. Elle revient en M2. Pour g/ch : en Belgique, le g est plus doux qu'aux Pays-Bas, et les deux sont corrects. Pour -en : la terminaison est un « e » muet, le n est souvent avalé à l'oral. Cela vaut aussi pour les préfixes be-, ge-,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l'apprenant autonome face à un mot nouveau (transfert de la règle).
Faites appliquer la méthode à 2 autres mots du monde du travail : telefoneren (te·le·fo·ne·ren : te, fo, ne sont ouvertes et longues, le et ren ont un e muet) et collega (col·le·ga). Signalez que l'accent tonique tombe souvent sur la syllabe du radical (ga dans vergadering).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Marquer le passage à la pratique et annoncer le programme des exercices.
Formez les binômes maintenant (pour les exercices 5 et 6). Le carton bicolore doit être sur toutes les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la perception long/court sur des paires minimales.
• Tour 1 : lisez un seul mot de chaque paire, dans un ordre aléatoire. La classe lève le carton.
• Tour 2 : lisez la paire entière. Les apprenants disent « 1 » ou « 2 » pour désigner le mot long.
Notez au tableau les paires qui posent problème. peen (carotte) est surtout néerlandais ; en Flandre, on dit plutôt wortel : on le garde ici pour la paire minimale. stad / staat montre aussi que le d final se prononce t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la perception long/court sur des paires minimales.
• Tour 1 : lisez un seul mot de chaque paire, dans un ordre aléatoire. La classe lève le carton.
• Tour 2 : lisez la paire entière. Les apprenants disent « 1 » ou « 2 » pour désigner le mot long.
Notez au tableau les paires qui posent problème. peen (carotte) est surtout néerlandais ; en Flandre, on dit plutôt wortel : on le garde ici pour la paire minimale. stad / staat montre aussi que le d final se prononce t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la procédure de découpage et la règle de la porte à l'écrit.
Travail individuel (4 min), puis comparaison en binôme. Révélez à la fin : « 9 de ces 10 mots sont des verbes que vous conjuguerez dans le module 3. » Gardez la correction affichée pendant l'exercice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Appliquer la procédure de découpage et la règle de la porte à l'écrit.
Travail individuel (4 min), puis comparaison en binôme. Révélez à la fin : « 9 de ces 10 mots sont des verbes que vous conjuguerez dans le module 3. » Gardez la correction affichée pendant l'exercice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l'orthographe correcte en appliquant la règle (doubler ou simplifier).
Dans la correction, colorez la lettre qui change. dier et boek sont des pièges volontaires : rien ne change (diapo 10). Les 4 mots bonus ne sont exigés de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l'orthographe correcte en appliquant la règle (doubler ou simplifier).
Dans la correction, colorez la lettre qui change. dier et boek sont des pièges volontaires : rien ne change (diapo 10). Les 4 mots bonus ne sont exigés de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Développer la vigilance orthographique et justifier un choix par la règle.
Exigez une justification à voix haute avec le vocabulaire du module (« porte ouverte », « je double »). Faites le geste mains écartées / mains jointes.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Développer la vigilance orthographique et justifier un choix par la règle.
Exigez une justification à voix haute avec le vocabulaire du module (« porte ouverte », « je double »). Faites le geste mains écartées / mains jointes.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Ancrer la prononciation par la répétition rythmée et le plaisir.
Déroulé :
1. Lecture lente en chœur.
2. Lecture rapide.
3. Défi en binôme : qui lit la phrase 1 trois fois de suite sans erreur ?
Option : enregistrement sur téléphone et réécoute. Faites repérer les sons longs (Kaat, laat, zoon, ziet, weet) et courts (zat, stad, kat, zon,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Transférer la règle en situation de communication : dicter et noter des mots sans les voir, comme au téléphone.
Les binômes se tournent le dos pour simuler le téléphone. Ils comparent ensuite et se corrigent à l'aide de la diapo 9. Les questions de la banque de phrases sont la vraie cible communicative : elles serviront dès M2 pour épeler un 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l'acquisition des 3 savoir-faire et permettre l'auto-évaluation.
Réponses :
1. Long (aa).
2. bellen.
3. bo·men : la syllabe est ouverte.
Les tickets peuvent être collectés sur papier ou via un sondage en ligne. Les apprenants qui cochent 😟 sur « Écrire » refont l'exercice 3 à la maison. Si la séance est donnée en capsules vidéo, les notes « voix off » de l'archive peuvent être réenregistrées à partir des diapos 5 à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1 · Klanken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1 · Klanken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2.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slideLayout" Target="../slideLayouts/slideLayout2.xml"/><Relationship Id="rId1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slideLayout" Target="../slideLayouts/slideLayout2.xml"/><Relationship Id="rId1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image" Target="../media/image-23-15.png"/><Relationship Id="rId16" Type="http://schemas.openxmlformats.org/officeDocument/2006/relationships/image" Target="../media/image-23-16.png"/><Relationship Id="rId17" Type="http://schemas.openxmlformats.org/officeDocument/2006/relationships/slideLayout" Target="../slideLayouts/slideLayout2.xml"/><Relationship Id="rId1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2.xml"/><Relationship Id="rId1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1 / 24</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Klanken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Long ou court ?</a:t>
            </a:r>
            <a:endParaRPr lang="en-US" sz="2000" dirty="0"/>
          </a:p>
          <a:p>
            <a:pPr algn="l" indent="0" marL="0">
              <a:buNone/>
            </a:pPr>
            <a:r>
              <a:rPr lang="en-US" sz="2000" b="1" dirty="0">
                <a:solidFill>
                  <a:srgbClr val="FFFFFF"/>
                </a:solidFill>
              </a:rPr>
              <a:t>man ≠ maan</a:t>
            </a:r>
            <a:endParaRPr lang="en-US" sz="2000" dirty="0"/>
          </a:p>
        </p:txBody>
      </p:sp>
      <p:sp>
        <p:nvSpPr>
          <p:cNvPr id="5" name="Shape 3"/>
          <p:cNvSpPr/>
          <p:nvPr/>
        </p:nvSpPr>
        <p:spPr>
          <a:xfrm>
            <a:off x="6583680" y="1554480"/>
            <a:ext cx="2377440" cy="3291840"/>
          </a:xfrm>
          <a:prstGeom prst="roundRect">
            <a:avLst>
              <a:gd name="adj" fmla="val 4615"/>
            </a:avLst>
          </a:prstGeom>
          <a:solidFill>
            <a:srgbClr val="FFFFFF"/>
          </a:solidFill>
          <a:ln w="63500">
            <a:solidFill>
              <a:srgbClr val="B4236A"/>
            </a:solidFill>
            <a:prstDash val="solid"/>
          </a:ln>
          <a:effectLst>
            <a:outerShdw sx="100000" sy="100000" kx="0" ky="0" algn="bl" rotWithShape="0" blurRad="101600" dist="25400" dir="3600000">
              <a:srgbClr val="000000">
                <a:alpha val="16000"/>
              </a:srgbClr>
            </a:outerShdw>
          </a:effectLst>
        </p:spPr>
      </p:sp>
      <p:pic>
        <p:nvPicPr>
          <p:cNvPr id="6" name="Image 0" descr="man">    </p:cNvPr>
          <p:cNvPicPr>
            <a:picLocks noChangeAspect="1"/>
          </p:cNvPicPr>
          <p:nvPr/>
        </p:nvPicPr>
        <p:blipFill>
          <a:blip r:embed="rId1"/>
          <a:stretch>
            <a:fillRect/>
          </a:stretch>
        </p:blipFill>
        <p:spPr>
          <a:xfrm>
            <a:off x="6949440" y="1920240"/>
            <a:ext cx="1645920" cy="1645920"/>
          </a:xfrm>
          <a:prstGeom prst="rect">
            <a:avLst/>
          </a:prstGeom>
        </p:spPr>
      </p:pic>
      <p:sp>
        <p:nvSpPr>
          <p:cNvPr id="7" name="Text 4"/>
          <p:cNvSpPr txBox="1"/>
          <p:nvPr/>
        </p:nvSpPr>
        <p:spPr>
          <a:xfrm>
            <a:off x="6583680" y="3886200"/>
            <a:ext cx="2377440" cy="731520"/>
          </a:xfrm>
          <a:prstGeom prst="rect">
            <a:avLst/>
          </a:prstGeom>
          <a:noFill/>
          <a:ln/>
        </p:spPr>
        <p:txBody>
          <a:bodyPr wrap="square" lIns="0" tIns="0" rIns="0" bIns="0" rtlCol="0" anchor="ctr"/>
          <a:lstStyle/>
          <a:p>
            <a:pPr algn="ctr" indent="0" marL="0">
              <a:buNone/>
            </a:pPr>
            <a:r>
              <a:rPr lang="en-US" sz="3600" b="1" dirty="0">
                <a:solidFill>
                  <a:schemeClr val="accent4"/>
                </a:solidFill>
                <a:latin typeface="+mj-lt" pitchFamily="34" charset="0"/>
                <a:ea typeface="+mj-lt" pitchFamily="34" charset="-122"/>
                <a:cs typeface="+mj-lt" pitchFamily="34" charset="-120"/>
              </a:rPr>
              <a:t>MAN</a:t>
            </a:r>
            <a:endParaRPr lang="en-US" sz="3600" dirty="0"/>
          </a:p>
        </p:txBody>
      </p:sp>
      <p:sp>
        <p:nvSpPr>
          <p:cNvPr id="8" name="Shape 5"/>
          <p:cNvSpPr/>
          <p:nvPr/>
        </p:nvSpPr>
        <p:spPr>
          <a:xfrm>
            <a:off x="9372600" y="1554480"/>
            <a:ext cx="2377440" cy="3291840"/>
          </a:xfrm>
          <a:prstGeom prst="roundRect">
            <a:avLst>
              <a:gd name="adj" fmla="val 4615"/>
            </a:avLst>
          </a:prstGeom>
          <a:solidFill>
            <a:srgbClr val="FFFFFF"/>
          </a:solidFill>
          <a:ln w="63500">
            <a:solidFill>
              <a:srgbClr val="2E7D4F"/>
            </a:solidFill>
            <a:prstDash val="solid"/>
          </a:ln>
          <a:effectLst>
            <a:outerShdw sx="100000" sy="100000" kx="0" ky="0" algn="bl" rotWithShape="0" blurRad="101600" dist="25400" dir="3600000">
              <a:srgbClr val="000000">
                <a:alpha val="16000"/>
              </a:srgbClr>
            </a:outerShdw>
          </a:effectLst>
        </p:spPr>
      </p:sp>
      <p:pic>
        <p:nvPicPr>
          <p:cNvPr id="9" name="Image 1" descr="crescent moon">    </p:cNvPr>
          <p:cNvPicPr>
            <a:picLocks noChangeAspect="1"/>
          </p:cNvPicPr>
          <p:nvPr/>
        </p:nvPicPr>
        <p:blipFill>
          <a:blip r:embed="rId2"/>
          <a:stretch>
            <a:fillRect/>
          </a:stretch>
        </p:blipFill>
        <p:spPr>
          <a:xfrm>
            <a:off x="9738360" y="1920240"/>
            <a:ext cx="1645920" cy="1645920"/>
          </a:xfrm>
          <a:prstGeom prst="rect">
            <a:avLst/>
          </a:prstGeom>
        </p:spPr>
      </p:pic>
      <p:sp>
        <p:nvSpPr>
          <p:cNvPr id="10" name="Text 6"/>
          <p:cNvSpPr txBox="1"/>
          <p:nvPr/>
        </p:nvSpPr>
        <p:spPr>
          <a:xfrm>
            <a:off x="9372600" y="3886200"/>
            <a:ext cx="2377440" cy="731520"/>
          </a:xfrm>
          <a:prstGeom prst="rect">
            <a:avLst/>
          </a:prstGeom>
          <a:noFill/>
          <a:ln/>
        </p:spPr>
        <p:txBody>
          <a:bodyPr wrap="square" lIns="0" tIns="0" rIns="0" bIns="0" rtlCol="0" anchor="ctr"/>
          <a:lstStyle/>
          <a:p>
            <a:pPr algn="ctr" indent="0" marL="0">
              <a:buNone/>
            </a:pPr>
            <a:r>
              <a:rPr lang="en-US" sz="3600" b="1" dirty="0">
                <a:solidFill>
                  <a:schemeClr val="accent3"/>
                </a:solidFill>
                <a:latin typeface="+mj-lt" pitchFamily="34" charset="0"/>
                <a:ea typeface="+mj-lt" pitchFamily="34" charset="-122"/>
                <a:cs typeface="+mj-lt" pitchFamily="34" charset="-120"/>
              </a:rPr>
              <a:t>MAAN</a:t>
            </a:r>
            <a:endParaRPr lang="en-US" sz="3600" dirty="0"/>
          </a:p>
        </p:txBody>
      </p:sp>
      <p:sp>
        <p:nvSpPr>
          <p:cNvPr id="11" name="Shape 7"/>
          <p:cNvSpPr/>
          <p:nvPr/>
        </p:nvSpPr>
        <p:spPr>
          <a:xfrm>
            <a:off x="8759952" y="2834640"/>
            <a:ext cx="548640" cy="548640"/>
          </a:xfrm>
          <a:prstGeom prst="ellipse">
            <a:avLst/>
          </a:prstGeom>
          <a:solidFill>
            <a:srgbClr val="FFFFFF"/>
          </a:solidFill>
          <a:ln w="12700">
            <a:solidFill>
              <a:srgbClr val="FFFFFF">
                <a:alpha val="0"/>
              </a:srgbClr>
            </a:solidFill>
            <a:prstDash val="solid"/>
          </a:ln>
        </p:spPr>
      </p:sp>
      <p:sp>
        <p:nvSpPr>
          <p:cNvPr id="12" name="Text 8"/>
          <p:cNvSpPr txBox="1"/>
          <p:nvPr/>
        </p:nvSpPr>
        <p:spPr>
          <a:xfrm>
            <a:off x="8759952" y="2834640"/>
            <a:ext cx="548640" cy="548640"/>
          </a:xfrm>
          <a:prstGeom prst="rect">
            <a:avLst/>
          </a:prstGeom>
          <a:noFill/>
          <a:ln/>
        </p:spPr>
        <p:txBody>
          <a:bodyPr wrap="square" lIns="0" tIns="0" rIns="0" bIns="0" rtlCol="0" anchor="ctr"/>
          <a:lstStyle/>
          <a:p>
            <a:pPr algn="ctr" indent="0" marL="0">
              <a:buNone/>
            </a:pPr>
            <a:r>
              <a:rPr lang="en-US" sz="3000" b="1" dirty="0">
                <a:solidFill>
                  <a:schemeClr val="accent1"/>
                </a:solidFill>
              </a:rPr>
              <a:t>≠</a:t>
            </a:r>
            <a:endParaRPr lang="en-US" sz="3000" dirty="0"/>
          </a:p>
        </p:txBody>
      </p:sp>
      <p:sp>
        <p:nvSpPr>
          <p:cNvPr id="13" name="Text 9"/>
          <p:cNvSpPr txBox="1"/>
          <p:nvPr/>
        </p:nvSpPr>
        <p:spPr>
          <a:xfrm>
            <a:off x="6583680" y="4937760"/>
            <a:ext cx="2377440" cy="365760"/>
          </a:xfrm>
          <a:prstGeom prst="rect">
            <a:avLst/>
          </a:prstGeom>
          <a:noFill/>
          <a:ln/>
        </p:spPr>
        <p:txBody>
          <a:bodyPr wrap="square" lIns="0" tIns="0" rIns="0" bIns="0" rtlCol="0" anchor="t"/>
          <a:lstStyle/>
          <a:p>
            <a:pPr algn="ctr" indent="0" marL="0">
              <a:buNone/>
            </a:pPr>
            <a:r>
              <a:rPr lang="en-US" sz="1600" i="1" dirty="0">
                <a:solidFill>
                  <a:schemeClr val="bg2"/>
                </a:solidFill>
              </a:rPr>
              <a:t>l’homme</a:t>
            </a:r>
            <a:endParaRPr lang="en-US" sz="1600" dirty="0"/>
          </a:p>
        </p:txBody>
      </p:sp>
      <p:sp>
        <p:nvSpPr>
          <p:cNvPr id="14" name="Text 10"/>
          <p:cNvSpPr txBox="1"/>
          <p:nvPr/>
        </p:nvSpPr>
        <p:spPr>
          <a:xfrm>
            <a:off x="9372600" y="4937760"/>
            <a:ext cx="2377440" cy="365760"/>
          </a:xfrm>
          <a:prstGeom prst="rect">
            <a:avLst/>
          </a:prstGeom>
          <a:noFill/>
          <a:ln/>
        </p:spPr>
        <p:txBody>
          <a:bodyPr wrap="square" lIns="0" tIns="0" rIns="0" bIns="0" rtlCol="0" anchor="t"/>
          <a:lstStyle/>
          <a:p>
            <a:pPr algn="ctr" indent="0" marL="0">
              <a:buNone/>
            </a:pPr>
            <a:r>
              <a:rPr lang="en-US" sz="1600" i="1" dirty="0">
                <a:solidFill>
                  <a:schemeClr val="bg2"/>
                </a:solidFill>
              </a:rPr>
              <a:t>la lune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Headphones">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Entendre</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distingue un son </a:t>
            </a:r>
            <a:r>
              <a:rPr lang="en-US" sz="2000" b="1" dirty="0">
                <a:solidFill>
                  <a:schemeClr val="tx1"/>
                </a:solidFill>
              </a:rPr>
              <a:t>long</a:t>
            </a:r>
            <a:r>
              <a:rPr lang="en-US" sz="2000" dirty="0">
                <a:solidFill>
                  <a:schemeClr val="tx1"/>
                </a:solidFill>
              </a:rPr>
              <a:t> d’un son </a:t>
            </a:r>
            <a:r>
              <a:rPr lang="en-US" sz="2000" b="1" dirty="0">
                <a:solidFill>
                  <a:schemeClr val="tx1"/>
                </a:solidFill>
              </a:rPr>
              <a:t>court</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3"/>
          </a:solidFill>
          <a:ln w="12700">
            <a:solidFill>
              <a:srgbClr val="FFFFFF">
                <a:alpha val="0"/>
              </a:srgbClr>
            </a:solidFill>
            <a:prstDash val="solid"/>
          </a:ln>
        </p:spPr>
      </p:sp>
      <p:pic>
        <p:nvPicPr>
          <p:cNvPr id="12" name="Image 1" descr="BookOpen">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Lire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prononce correctement un mot que je n’ai </a:t>
            </a:r>
            <a:r>
              <a:rPr lang="en-US" sz="2000" b="1" dirty="0">
                <a:solidFill>
                  <a:schemeClr val="tx1"/>
                </a:solidFill>
              </a:rPr>
              <a:t>jamais vu</a:t>
            </a:r>
            <a:r>
              <a:rPr lang="en-US" sz="2000" dirty="0">
                <a:solidFill>
                  <a:schemeClr val="tx1"/>
                </a:solidFill>
              </a:rPr>
              <a:t>.</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4"/>
          </a:solidFill>
          <a:ln w="12700">
            <a:solidFill>
              <a:srgbClr val="FFFFFF">
                <a:alpha val="0"/>
              </a:srgbClr>
            </a:solidFill>
            <a:prstDash val="solid"/>
          </a:ln>
        </p:spPr>
      </p:sp>
      <p:pic>
        <p:nvPicPr>
          <p:cNvPr id="17" name="Image 2" descr="PencilAlt">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Écrire</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sais pourquoi on écrit </a:t>
            </a:r>
            <a:r>
              <a:rPr lang="en-US" sz="2000" i="1" dirty="0">
                <a:solidFill>
                  <a:schemeClr val="tx1"/>
                </a:solidFill>
              </a:rPr>
              <a:t>katten</a:t>
            </a:r>
            <a:r>
              <a:rPr lang="en-US" sz="2000" dirty="0">
                <a:solidFill>
                  <a:schemeClr val="tx1"/>
                </a:solidFill>
              </a:rPr>
              <a:t> avec </a:t>
            </a:r>
            <a:r>
              <a:rPr lang="en-US" sz="2000" b="1" dirty="0">
                <a:solidFill>
                  <a:schemeClr val="tx1"/>
                </a:solidFill>
              </a:rPr>
              <a:t>deux t</a:t>
            </a:r>
            <a:r>
              <a:rPr lang="en-US" sz="2000" dirty="0">
                <a:solidFill>
                  <a:schemeClr val="tx1"/>
                </a:solidFill>
              </a:rPr>
              <a:t> et </a:t>
            </a:r>
            <a:r>
              <a:rPr lang="en-US" sz="2000" i="1" dirty="0">
                <a:solidFill>
                  <a:schemeClr val="tx1"/>
                </a:solidFill>
              </a:rPr>
              <a:t>bomen</a:t>
            </a:r>
            <a:r>
              <a:rPr lang="en-US" sz="2000" dirty="0">
                <a:solidFill>
                  <a:schemeClr val="tx1"/>
                </a:solidFill>
              </a:rPr>
              <a:t> avec </a:t>
            </a:r>
            <a:r>
              <a:rPr lang="en-US" sz="2000" b="1" dirty="0">
                <a:solidFill>
                  <a:schemeClr val="tx1"/>
                </a:solidFill>
              </a:rPr>
              <a:t>un seul o</a:t>
            </a:r>
            <a:r>
              <a:rPr lang="en-US" sz="2000" dirty="0">
                <a:solidFill>
                  <a:schemeClr val="tx1"/>
                </a:solidFill>
              </a:rPr>
              <a: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Cette règle servira dans les modules 3, 4 et 5 : </a:t>
            </a:r>
            <a:r>
              <a:rPr lang="en-US" sz="1700" i="1" dirty="0">
                <a:solidFill>
                  <a:schemeClr val="tx1"/>
                </a:solidFill>
              </a:rPr>
              <a:t>ik spreek · ik lees · de bomen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Het alfabet — l’alphabet qui parle</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08760"/>
            <a:ext cx="7863840" cy="4754880"/>
          </a:xfrm>
          <a:prstGeom prst="roundRect">
            <a:avLst>
              <a:gd name="adj" fmla="val 1538"/>
            </a:avLst>
          </a:prstGeom>
          <a:solidFill>
            <a:schemeClr val="bg2"/>
          </a:solidFill>
          <a:ln w="12700">
            <a:solidFill>
              <a:srgbClr val="D5DCE6"/>
            </a:solidFill>
            <a:prstDash val="solid"/>
          </a:ln>
        </p:spPr>
      </p:sp>
      <p:sp>
        <p:nvSpPr>
          <p:cNvPr id="6" name="Shape 3"/>
          <p:cNvSpPr/>
          <p:nvPr/>
        </p:nvSpPr>
        <p:spPr>
          <a:xfrm>
            <a:off x="749808" y="1664208"/>
            <a:ext cx="603504" cy="548640"/>
          </a:xfrm>
          <a:prstGeom prst="ellipse">
            <a:avLst/>
          </a:prstGeom>
          <a:noFill/>
          <a:ln w="31750">
            <a:solidFill>
              <a:srgbClr val="17375E"/>
            </a:solidFill>
            <a:prstDash val="solid"/>
          </a:ln>
        </p:spPr>
      </p:sp>
      <p:sp>
        <p:nvSpPr>
          <p:cNvPr id="7" name="Text 4"/>
          <p:cNvSpPr txBox="1"/>
          <p:nvPr/>
        </p:nvSpPr>
        <p:spPr>
          <a:xfrm>
            <a:off x="749808" y="164592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A</a:t>
            </a:r>
            <a:endParaRPr lang="en-US" sz="2800" dirty="0"/>
          </a:p>
        </p:txBody>
      </p:sp>
      <p:sp>
        <p:nvSpPr>
          <p:cNvPr id="8" name="Text 5"/>
          <p:cNvSpPr txBox="1"/>
          <p:nvPr/>
        </p:nvSpPr>
        <p:spPr>
          <a:xfrm>
            <a:off x="749808" y="229514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B</a:t>
            </a:r>
            <a:endParaRPr lang="en-US" sz="2800" dirty="0"/>
          </a:p>
        </p:txBody>
      </p:sp>
      <p:sp>
        <p:nvSpPr>
          <p:cNvPr id="9" name="Text 6"/>
          <p:cNvSpPr txBox="1"/>
          <p:nvPr/>
        </p:nvSpPr>
        <p:spPr>
          <a:xfrm>
            <a:off x="749808" y="2944368"/>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C</a:t>
            </a:r>
            <a:endParaRPr lang="en-US" sz="2800" dirty="0"/>
          </a:p>
        </p:txBody>
      </p:sp>
      <p:sp>
        <p:nvSpPr>
          <p:cNvPr id="10" name="Text 7"/>
          <p:cNvSpPr txBox="1"/>
          <p:nvPr/>
        </p:nvSpPr>
        <p:spPr>
          <a:xfrm>
            <a:off x="749808" y="3593592"/>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D</a:t>
            </a:r>
            <a:endParaRPr lang="en-US" sz="2800" dirty="0"/>
          </a:p>
        </p:txBody>
      </p:sp>
      <p:sp>
        <p:nvSpPr>
          <p:cNvPr id="11" name="Shape 8"/>
          <p:cNvSpPr/>
          <p:nvPr/>
        </p:nvSpPr>
        <p:spPr>
          <a:xfrm>
            <a:off x="749808" y="4261104"/>
            <a:ext cx="603504" cy="548640"/>
          </a:xfrm>
          <a:prstGeom prst="ellipse">
            <a:avLst/>
          </a:prstGeom>
          <a:noFill/>
          <a:ln w="31750">
            <a:solidFill>
              <a:srgbClr val="17375E"/>
            </a:solidFill>
            <a:prstDash val="solid"/>
          </a:ln>
        </p:spPr>
      </p:sp>
      <p:sp>
        <p:nvSpPr>
          <p:cNvPr id="12" name="Text 9"/>
          <p:cNvSpPr txBox="1"/>
          <p:nvPr/>
        </p:nvSpPr>
        <p:spPr>
          <a:xfrm>
            <a:off x="749808" y="4242816"/>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E</a:t>
            </a:r>
            <a:endParaRPr lang="en-US" sz="2800" dirty="0"/>
          </a:p>
        </p:txBody>
      </p:sp>
      <p:sp>
        <p:nvSpPr>
          <p:cNvPr id="13" name="Text 10"/>
          <p:cNvSpPr txBox="1"/>
          <p:nvPr/>
        </p:nvSpPr>
        <p:spPr>
          <a:xfrm>
            <a:off x="1371600" y="4352544"/>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é »</a:t>
            </a:r>
            <a:endParaRPr lang="en-US" sz="1400" dirty="0"/>
          </a:p>
        </p:txBody>
      </p:sp>
      <p:sp>
        <p:nvSpPr>
          <p:cNvPr id="14" name="Text 11"/>
          <p:cNvSpPr txBox="1"/>
          <p:nvPr/>
        </p:nvSpPr>
        <p:spPr>
          <a:xfrm>
            <a:off x="2286000" y="164592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F</a:t>
            </a:r>
            <a:endParaRPr lang="en-US" sz="2800" dirty="0"/>
          </a:p>
        </p:txBody>
      </p:sp>
      <p:sp>
        <p:nvSpPr>
          <p:cNvPr id="15" name="Text 12"/>
          <p:cNvSpPr txBox="1"/>
          <p:nvPr/>
        </p:nvSpPr>
        <p:spPr>
          <a:xfrm>
            <a:off x="2286000" y="229514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G</a:t>
            </a:r>
            <a:endParaRPr lang="en-US" sz="2800" dirty="0"/>
          </a:p>
        </p:txBody>
      </p:sp>
      <p:sp>
        <p:nvSpPr>
          <p:cNvPr id="16" name="Text 13"/>
          <p:cNvSpPr txBox="1"/>
          <p:nvPr/>
        </p:nvSpPr>
        <p:spPr>
          <a:xfrm>
            <a:off x="2907792" y="2404872"/>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ghé »</a:t>
            </a:r>
            <a:endParaRPr lang="en-US" sz="1400" dirty="0"/>
          </a:p>
        </p:txBody>
      </p:sp>
      <p:sp>
        <p:nvSpPr>
          <p:cNvPr id="17" name="Text 14"/>
          <p:cNvSpPr txBox="1"/>
          <p:nvPr/>
        </p:nvSpPr>
        <p:spPr>
          <a:xfrm>
            <a:off x="2286000" y="2944368"/>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H</a:t>
            </a:r>
            <a:endParaRPr lang="en-US" sz="2800" dirty="0"/>
          </a:p>
        </p:txBody>
      </p:sp>
      <p:sp>
        <p:nvSpPr>
          <p:cNvPr id="18" name="Text 15"/>
          <p:cNvSpPr txBox="1"/>
          <p:nvPr/>
        </p:nvSpPr>
        <p:spPr>
          <a:xfrm>
            <a:off x="2907792" y="3054096"/>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ha »</a:t>
            </a:r>
            <a:endParaRPr lang="en-US" sz="1400" dirty="0"/>
          </a:p>
        </p:txBody>
      </p:sp>
      <p:sp>
        <p:nvSpPr>
          <p:cNvPr id="19" name="Shape 16"/>
          <p:cNvSpPr/>
          <p:nvPr/>
        </p:nvSpPr>
        <p:spPr>
          <a:xfrm>
            <a:off x="2286000" y="3611880"/>
            <a:ext cx="603504" cy="548640"/>
          </a:xfrm>
          <a:prstGeom prst="ellipse">
            <a:avLst/>
          </a:prstGeom>
          <a:noFill/>
          <a:ln w="31750">
            <a:solidFill>
              <a:srgbClr val="17375E"/>
            </a:solidFill>
            <a:prstDash val="solid"/>
          </a:ln>
        </p:spPr>
      </p:sp>
      <p:sp>
        <p:nvSpPr>
          <p:cNvPr id="20" name="Text 17"/>
          <p:cNvSpPr txBox="1"/>
          <p:nvPr/>
        </p:nvSpPr>
        <p:spPr>
          <a:xfrm>
            <a:off x="2286000" y="3593592"/>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I</a:t>
            </a:r>
            <a:endParaRPr lang="en-US" sz="2800" dirty="0"/>
          </a:p>
        </p:txBody>
      </p:sp>
      <p:sp>
        <p:nvSpPr>
          <p:cNvPr id="21" name="Text 18"/>
          <p:cNvSpPr txBox="1"/>
          <p:nvPr/>
        </p:nvSpPr>
        <p:spPr>
          <a:xfrm>
            <a:off x="2286000" y="4242816"/>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J</a:t>
            </a:r>
            <a:endParaRPr lang="en-US" sz="2800" dirty="0"/>
          </a:p>
        </p:txBody>
      </p:sp>
      <p:sp>
        <p:nvSpPr>
          <p:cNvPr id="22" name="Text 19"/>
          <p:cNvSpPr txBox="1"/>
          <p:nvPr/>
        </p:nvSpPr>
        <p:spPr>
          <a:xfrm>
            <a:off x="2907792" y="4352544"/>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yé »</a:t>
            </a:r>
            <a:endParaRPr lang="en-US" sz="1400" dirty="0"/>
          </a:p>
        </p:txBody>
      </p:sp>
      <p:sp>
        <p:nvSpPr>
          <p:cNvPr id="23" name="Text 20"/>
          <p:cNvSpPr txBox="1"/>
          <p:nvPr/>
        </p:nvSpPr>
        <p:spPr>
          <a:xfrm>
            <a:off x="3822192" y="164592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K</a:t>
            </a:r>
            <a:endParaRPr lang="en-US" sz="2800" dirty="0"/>
          </a:p>
        </p:txBody>
      </p:sp>
      <p:sp>
        <p:nvSpPr>
          <p:cNvPr id="24" name="Text 21"/>
          <p:cNvSpPr txBox="1"/>
          <p:nvPr/>
        </p:nvSpPr>
        <p:spPr>
          <a:xfrm>
            <a:off x="3822192" y="229514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L</a:t>
            </a:r>
            <a:endParaRPr lang="en-US" sz="2800" dirty="0"/>
          </a:p>
        </p:txBody>
      </p:sp>
      <p:sp>
        <p:nvSpPr>
          <p:cNvPr id="25" name="Text 22"/>
          <p:cNvSpPr txBox="1"/>
          <p:nvPr/>
        </p:nvSpPr>
        <p:spPr>
          <a:xfrm>
            <a:off x="3822192" y="2944368"/>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M</a:t>
            </a:r>
            <a:endParaRPr lang="en-US" sz="2800" dirty="0"/>
          </a:p>
        </p:txBody>
      </p:sp>
      <p:sp>
        <p:nvSpPr>
          <p:cNvPr id="26" name="Text 23"/>
          <p:cNvSpPr txBox="1"/>
          <p:nvPr/>
        </p:nvSpPr>
        <p:spPr>
          <a:xfrm>
            <a:off x="3822192" y="3593592"/>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N</a:t>
            </a:r>
            <a:endParaRPr lang="en-US" sz="2800" dirty="0"/>
          </a:p>
        </p:txBody>
      </p:sp>
      <p:sp>
        <p:nvSpPr>
          <p:cNvPr id="27" name="Shape 24"/>
          <p:cNvSpPr/>
          <p:nvPr/>
        </p:nvSpPr>
        <p:spPr>
          <a:xfrm>
            <a:off x="3822192" y="4261104"/>
            <a:ext cx="603504" cy="548640"/>
          </a:xfrm>
          <a:prstGeom prst="ellipse">
            <a:avLst/>
          </a:prstGeom>
          <a:noFill/>
          <a:ln w="31750">
            <a:solidFill>
              <a:srgbClr val="17375E"/>
            </a:solidFill>
            <a:prstDash val="solid"/>
          </a:ln>
        </p:spPr>
      </p:sp>
      <p:sp>
        <p:nvSpPr>
          <p:cNvPr id="28" name="Text 25"/>
          <p:cNvSpPr txBox="1"/>
          <p:nvPr/>
        </p:nvSpPr>
        <p:spPr>
          <a:xfrm>
            <a:off x="3822192" y="4242816"/>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O</a:t>
            </a:r>
            <a:endParaRPr lang="en-US" sz="2800" dirty="0"/>
          </a:p>
        </p:txBody>
      </p:sp>
      <p:sp>
        <p:nvSpPr>
          <p:cNvPr id="29" name="Text 26"/>
          <p:cNvSpPr txBox="1"/>
          <p:nvPr/>
        </p:nvSpPr>
        <p:spPr>
          <a:xfrm>
            <a:off x="5358384" y="164592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P</a:t>
            </a:r>
            <a:endParaRPr lang="en-US" sz="2800" dirty="0"/>
          </a:p>
        </p:txBody>
      </p:sp>
      <p:sp>
        <p:nvSpPr>
          <p:cNvPr id="30" name="Text 27"/>
          <p:cNvSpPr txBox="1"/>
          <p:nvPr/>
        </p:nvSpPr>
        <p:spPr>
          <a:xfrm>
            <a:off x="5358384" y="229514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Q</a:t>
            </a:r>
            <a:endParaRPr lang="en-US" sz="2800" dirty="0"/>
          </a:p>
        </p:txBody>
      </p:sp>
      <p:sp>
        <p:nvSpPr>
          <p:cNvPr id="31" name="Text 28"/>
          <p:cNvSpPr txBox="1"/>
          <p:nvPr/>
        </p:nvSpPr>
        <p:spPr>
          <a:xfrm>
            <a:off x="5358384" y="2944368"/>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R</a:t>
            </a:r>
            <a:endParaRPr lang="en-US" sz="2800" dirty="0"/>
          </a:p>
        </p:txBody>
      </p:sp>
      <p:sp>
        <p:nvSpPr>
          <p:cNvPr id="32" name="Text 29"/>
          <p:cNvSpPr txBox="1"/>
          <p:nvPr/>
        </p:nvSpPr>
        <p:spPr>
          <a:xfrm>
            <a:off x="5358384" y="3593592"/>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S</a:t>
            </a:r>
            <a:endParaRPr lang="en-US" sz="2800" dirty="0"/>
          </a:p>
        </p:txBody>
      </p:sp>
      <p:sp>
        <p:nvSpPr>
          <p:cNvPr id="33" name="Text 30"/>
          <p:cNvSpPr txBox="1"/>
          <p:nvPr/>
        </p:nvSpPr>
        <p:spPr>
          <a:xfrm>
            <a:off x="5358384" y="4242816"/>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T</a:t>
            </a:r>
            <a:endParaRPr lang="en-US" sz="2800" dirty="0"/>
          </a:p>
        </p:txBody>
      </p:sp>
      <p:sp>
        <p:nvSpPr>
          <p:cNvPr id="34" name="Shape 31"/>
          <p:cNvSpPr/>
          <p:nvPr/>
        </p:nvSpPr>
        <p:spPr>
          <a:xfrm>
            <a:off x="6894576" y="1664208"/>
            <a:ext cx="603504" cy="548640"/>
          </a:xfrm>
          <a:prstGeom prst="ellipse">
            <a:avLst/>
          </a:prstGeom>
          <a:noFill/>
          <a:ln w="31750">
            <a:solidFill>
              <a:srgbClr val="17375E"/>
            </a:solidFill>
            <a:prstDash val="solid"/>
          </a:ln>
        </p:spPr>
      </p:sp>
      <p:sp>
        <p:nvSpPr>
          <p:cNvPr id="35" name="Text 32"/>
          <p:cNvSpPr txBox="1"/>
          <p:nvPr/>
        </p:nvSpPr>
        <p:spPr>
          <a:xfrm>
            <a:off x="6894576" y="164592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U</a:t>
            </a:r>
            <a:endParaRPr lang="en-US" sz="2800" dirty="0"/>
          </a:p>
        </p:txBody>
      </p:sp>
      <p:sp>
        <p:nvSpPr>
          <p:cNvPr id="36" name="Text 33"/>
          <p:cNvSpPr txBox="1"/>
          <p:nvPr/>
        </p:nvSpPr>
        <p:spPr>
          <a:xfrm>
            <a:off x="7516368" y="1755648"/>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u »</a:t>
            </a:r>
            <a:endParaRPr lang="en-US" sz="1400" dirty="0"/>
          </a:p>
        </p:txBody>
      </p:sp>
      <p:sp>
        <p:nvSpPr>
          <p:cNvPr id="37" name="Text 34"/>
          <p:cNvSpPr txBox="1"/>
          <p:nvPr/>
        </p:nvSpPr>
        <p:spPr>
          <a:xfrm>
            <a:off x="6894576" y="229514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V</a:t>
            </a:r>
            <a:endParaRPr lang="en-US" sz="2800" dirty="0"/>
          </a:p>
        </p:txBody>
      </p:sp>
      <p:sp>
        <p:nvSpPr>
          <p:cNvPr id="38" name="Text 35"/>
          <p:cNvSpPr txBox="1"/>
          <p:nvPr/>
        </p:nvSpPr>
        <p:spPr>
          <a:xfrm>
            <a:off x="6894576" y="2944368"/>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W</a:t>
            </a:r>
            <a:endParaRPr lang="en-US" sz="2800" dirty="0"/>
          </a:p>
        </p:txBody>
      </p:sp>
      <p:sp>
        <p:nvSpPr>
          <p:cNvPr id="39" name="Text 36"/>
          <p:cNvSpPr txBox="1"/>
          <p:nvPr/>
        </p:nvSpPr>
        <p:spPr>
          <a:xfrm>
            <a:off x="7516368" y="3054096"/>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wé »</a:t>
            </a:r>
            <a:endParaRPr lang="en-US" sz="1400" dirty="0"/>
          </a:p>
        </p:txBody>
      </p:sp>
      <p:sp>
        <p:nvSpPr>
          <p:cNvPr id="40" name="Text 37"/>
          <p:cNvSpPr txBox="1"/>
          <p:nvPr/>
        </p:nvSpPr>
        <p:spPr>
          <a:xfrm>
            <a:off x="6894576" y="3593592"/>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X</a:t>
            </a:r>
            <a:endParaRPr lang="en-US" sz="2800" dirty="0"/>
          </a:p>
        </p:txBody>
      </p:sp>
      <p:sp>
        <p:nvSpPr>
          <p:cNvPr id="41" name="Text 38"/>
          <p:cNvSpPr txBox="1"/>
          <p:nvPr/>
        </p:nvSpPr>
        <p:spPr>
          <a:xfrm>
            <a:off x="6894576" y="4242816"/>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Y</a:t>
            </a:r>
            <a:endParaRPr lang="en-US" sz="2800" dirty="0"/>
          </a:p>
        </p:txBody>
      </p:sp>
      <p:sp>
        <p:nvSpPr>
          <p:cNvPr id="42" name="Text 39"/>
          <p:cNvSpPr txBox="1"/>
          <p:nvPr/>
        </p:nvSpPr>
        <p:spPr>
          <a:xfrm>
            <a:off x="6894576" y="4892040"/>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Z</a:t>
            </a:r>
            <a:endParaRPr lang="en-US" sz="2800" dirty="0"/>
          </a:p>
        </p:txBody>
      </p:sp>
      <p:sp>
        <p:nvSpPr>
          <p:cNvPr id="43" name="Shape 40"/>
          <p:cNvSpPr/>
          <p:nvPr/>
        </p:nvSpPr>
        <p:spPr>
          <a:xfrm>
            <a:off x="6876288" y="5568696"/>
            <a:ext cx="676656" cy="530352"/>
          </a:xfrm>
          <a:prstGeom prst="roundRect">
            <a:avLst>
              <a:gd name="adj" fmla="val 13793"/>
            </a:avLst>
          </a:prstGeom>
          <a:solidFill>
            <a:schemeClr val="accent1">
              <a:alpha val="15000"/>
            </a:schemeClr>
          </a:solidFill>
          <a:ln w="15875">
            <a:solidFill>
              <a:srgbClr val="D9700F"/>
            </a:solidFill>
            <a:prstDash val="solid"/>
          </a:ln>
        </p:spPr>
      </p:sp>
      <p:sp>
        <p:nvSpPr>
          <p:cNvPr id="44" name="Text 41"/>
          <p:cNvSpPr txBox="1"/>
          <p:nvPr/>
        </p:nvSpPr>
        <p:spPr>
          <a:xfrm>
            <a:off x="6894576" y="5541264"/>
            <a:ext cx="603504" cy="585216"/>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IJ</a:t>
            </a:r>
            <a:endParaRPr lang="en-US" sz="2800" dirty="0"/>
          </a:p>
        </p:txBody>
      </p:sp>
      <p:sp>
        <p:nvSpPr>
          <p:cNvPr id="45" name="Text 42"/>
          <p:cNvSpPr txBox="1"/>
          <p:nvPr/>
        </p:nvSpPr>
        <p:spPr>
          <a:xfrm>
            <a:off x="7516368" y="5650992"/>
            <a:ext cx="1005840" cy="384048"/>
          </a:xfrm>
          <a:prstGeom prst="rect">
            <a:avLst/>
          </a:prstGeom>
          <a:noFill/>
          <a:ln/>
        </p:spPr>
        <p:txBody>
          <a:bodyPr wrap="square" lIns="0" tIns="0" rIns="0" bIns="0" rtlCol="0" anchor="ctr"/>
          <a:lstStyle/>
          <a:p>
            <a:pPr algn="l" indent="0" marL="0">
              <a:buNone/>
            </a:pPr>
            <a:r>
              <a:rPr lang="en-US" sz="1400" b="1" dirty="0">
                <a:solidFill>
                  <a:schemeClr val="accent1"/>
                </a:solidFill>
              </a:rPr>
              <a:t>« è-i »</a:t>
            </a:r>
            <a:endParaRPr lang="en-US" sz="1400" dirty="0"/>
          </a:p>
        </p:txBody>
      </p:sp>
      <p:sp>
        <p:nvSpPr>
          <p:cNvPr id="46" name="Shape 43"/>
          <p:cNvSpPr/>
          <p:nvPr/>
        </p:nvSpPr>
        <p:spPr>
          <a:xfrm>
            <a:off x="8686800" y="1508760"/>
            <a:ext cx="2953512" cy="2194560"/>
          </a:xfrm>
          <a:prstGeom prst="roundRect">
            <a:avLst>
              <a:gd name="adj" fmla="val 4167"/>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7" name="Shape 44"/>
          <p:cNvSpPr/>
          <p:nvPr/>
        </p:nvSpPr>
        <p:spPr>
          <a:xfrm>
            <a:off x="8869680" y="1673352"/>
            <a:ext cx="566928" cy="566928"/>
          </a:xfrm>
          <a:prstGeom prst="ellipse">
            <a:avLst/>
          </a:prstGeom>
          <a:solidFill>
            <a:schemeClr val="tx2"/>
          </a:solidFill>
          <a:ln w="12700">
            <a:solidFill>
              <a:srgbClr val="FFFFFF">
                <a:alpha val="0"/>
              </a:srgbClr>
            </a:solidFill>
            <a:prstDash val="solid"/>
          </a:ln>
        </p:spPr>
      </p:sp>
      <p:pic>
        <p:nvPicPr>
          <p:cNvPr id="48" name="Image 0" descr="Star">    </p:cNvPr>
          <p:cNvPicPr>
            <a:picLocks noChangeAspect="1"/>
          </p:cNvPicPr>
          <p:nvPr/>
        </p:nvPicPr>
        <p:blipFill>
          <a:blip r:embed="rId1"/>
          <a:stretch>
            <a:fillRect/>
          </a:stretch>
        </p:blipFill>
        <p:spPr>
          <a:xfrm>
            <a:off x="9005743" y="1809415"/>
            <a:ext cx="294803" cy="294803"/>
          </a:xfrm>
          <a:prstGeom prst="rect">
            <a:avLst/>
          </a:prstGeom>
        </p:spPr>
      </p:pic>
      <p:sp>
        <p:nvSpPr>
          <p:cNvPr id="49" name="Text 45"/>
          <p:cNvSpPr txBox="1"/>
          <p:nvPr/>
        </p:nvSpPr>
        <p:spPr>
          <a:xfrm>
            <a:off x="9582912" y="1655064"/>
            <a:ext cx="1920240" cy="603504"/>
          </a:xfrm>
          <a:prstGeom prst="rect">
            <a:avLst/>
          </a:prstGeom>
          <a:noFill/>
          <a:ln/>
        </p:spPr>
        <p:txBody>
          <a:bodyPr wrap="square" lIns="0" tIns="0" rIns="0" bIns="0" rtlCol="0" anchor="ctr"/>
          <a:lstStyle/>
          <a:p>
            <a:pPr algn="l" indent="0" marL="0">
              <a:buNone/>
            </a:pPr>
            <a:r>
              <a:rPr lang="en-US" sz="1900" b="1" dirty="0">
                <a:solidFill>
                  <a:schemeClr val="tx2"/>
                </a:solidFill>
              </a:rPr>
              <a:t>Les 5 voyelles</a:t>
            </a:r>
            <a:endParaRPr lang="en-US" sz="1900" dirty="0"/>
          </a:p>
        </p:txBody>
      </p:sp>
      <p:sp>
        <p:nvSpPr>
          <p:cNvPr id="50" name="Text 46"/>
          <p:cNvSpPr txBox="1"/>
          <p:nvPr/>
        </p:nvSpPr>
        <p:spPr>
          <a:xfrm>
            <a:off x="8887968" y="2377440"/>
            <a:ext cx="2551176" cy="1216152"/>
          </a:xfrm>
          <a:prstGeom prst="rect">
            <a:avLst/>
          </a:prstGeom>
          <a:noFill/>
          <a:ln/>
        </p:spPr>
        <p:txBody>
          <a:bodyPr wrap="square" lIns="0" tIns="0" rIns="0" bIns="0" rtlCol="0" anchor="t"/>
          <a:lstStyle/>
          <a:p>
            <a:pPr algn="l" indent="0" marL="0">
              <a:spcAft>
                <a:spcPts val="600"/>
              </a:spcAft>
              <a:buNone/>
            </a:pPr>
            <a:r>
              <a:rPr lang="en-US" sz="1800" b="1" dirty="0">
                <a:solidFill>
                  <a:schemeClr val="tx1"/>
                </a:solidFill>
              </a:rPr>
              <a:t>A · E · I · O · U</a:t>
            </a:r>
            <a:endParaRPr lang="en-US" sz="1800" dirty="0"/>
          </a:p>
          <a:p>
            <a:pPr algn="l" indent="0" marL="0">
              <a:spcAft>
                <a:spcPts val="600"/>
              </a:spcAft>
              <a:buNone/>
            </a:pPr>
            <a:r>
              <a:rPr lang="en-US" sz="1800" dirty="0">
                <a:solidFill>
                  <a:schemeClr val="tx1"/>
                </a:solidFill>
              </a:rPr>
              <a:t>Elles font les sons </a:t>
            </a:r>
            <a:r>
              <a:rPr lang="en-US" sz="1800" b="1" dirty="0">
                <a:solidFill>
                  <a:schemeClr val="tx1"/>
                </a:solidFill>
              </a:rPr>
              <a:t>longs</a:t>
            </a:r>
            <a:r>
              <a:rPr lang="en-US" sz="1800" dirty="0">
                <a:solidFill>
                  <a:schemeClr val="tx1"/>
                </a:solidFill>
              </a:rPr>
              <a:t> ou </a:t>
            </a:r>
            <a:r>
              <a:rPr lang="en-US" sz="1800" b="1" dirty="0">
                <a:solidFill>
                  <a:schemeClr val="tx1"/>
                </a:solidFill>
              </a:rPr>
              <a:t>courts</a:t>
            </a:r>
            <a:r>
              <a:rPr lang="en-US" sz="1800" dirty="0">
                <a:solidFill>
                  <a:schemeClr val="tx1"/>
                </a:solidFill>
              </a:rPr>
              <a:t>.</a:t>
            </a:r>
            <a:endParaRPr lang="en-US" sz="1800" dirty="0"/>
          </a:p>
        </p:txBody>
      </p:sp>
      <p:sp>
        <p:nvSpPr>
          <p:cNvPr id="51" name="Shape 47"/>
          <p:cNvSpPr/>
          <p:nvPr/>
        </p:nvSpPr>
        <p:spPr>
          <a:xfrm>
            <a:off x="8686800" y="3886200"/>
            <a:ext cx="2953512" cy="2377440"/>
          </a:xfrm>
          <a:prstGeom prst="roundRect">
            <a:avLst>
              <a:gd name="adj" fmla="val 384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2" name="Shape 48"/>
          <p:cNvSpPr/>
          <p:nvPr/>
        </p:nvSpPr>
        <p:spPr>
          <a:xfrm>
            <a:off x="8869680" y="4050792"/>
            <a:ext cx="566928" cy="566928"/>
          </a:xfrm>
          <a:prstGeom prst="ellipse">
            <a:avLst/>
          </a:prstGeom>
          <a:solidFill>
            <a:schemeClr val="accent1"/>
          </a:solidFill>
          <a:ln w="12700">
            <a:solidFill>
              <a:srgbClr val="FFFFFF">
                <a:alpha val="0"/>
              </a:srgbClr>
            </a:solidFill>
            <a:prstDash val="solid"/>
          </a:ln>
        </p:spPr>
      </p:sp>
      <p:pic>
        <p:nvPicPr>
          <p:cNvPr id="53" name="Image 1" descr="Comments">    </p:cNvPr>
          <p:cNvPicPr>
            <a:picLocks noChangeAspect="1"/>
          </p:cNvPicPr>
          <p:nvPr/>
        </p:nvPicPr>
        <p:blipFill>
          <a:blip r:embed="rId2"/>
          <a:stretch>
            <a:fillRect/>
          </a:stretch>
        </p:blipFill>
        <p:spPr>
          <a:xfrm>
            <a:off x="9005743" y="4186855"/>
            <a:ext cx="294803" cy="294803"/>
          </a:xfrm>
          <a:prstGeom prst="rect">
            <a:avLst/>
          </a:prstGeom>
        </p:spPr>
      </p:pic>
      <p:sp>
        <p:nvSpPr>
          <p:cNvPr id="54" name="Text 49"/>
          <p:cNvSpPr txBox="1"/>
          <p:nvPr/>
        </p:nvSpPr>
        <p:spPr>
          <a:xfrm>
            <a:off x="9582912" y="4032504"/>
            <a:ext cx="1920240" cy="603504"/>
          </a:xfrm>
          <a:prstGeom prst="rect">
            <a:avLst/>
          </a:prstGeom>
          <a:noFill/>
          <a:ln/>
        </p:spPr>
        <p:txBody>
          <a:bodyPr wrap="square" lIns="0" tIns="0" rIns="0" bIns="0" rtlCol="0" anchor="ctr"/>
          <a:lstStyle/>
          <a:p>
            <a:pPr algn="l" indent="0" marL="0">
              <a:buNone/>
            </a:pPr>
            <a:r>
              <a:rPr lang="en-US" sz="1900" b="1" dirty="0">
                <a:solidFill>
                  <a:schemeClr val="accent1"/>
                </a:solidFill>
              </a:rPr>
              <a:t>À vous !</a:t>
            </a:r>
            <a:endParaRPr lang="en-US" sz="1900" dirty="0"/>
          </a:p>
        </p:txBody>
      </p:sp>
      <p:sp>
        <p:nvSpPr>
          <p:cNvPr id="55" name="Text 50"/>
          <p:cNvSpPr txBox="1"/>
          <p:nvPr/>
        </p:nvSpPr>
        <p:spPr>
          <a:xfrm>
            <a:off x="8887968" y="4754880"/>
            <a:ext cx="2551176" cy="1399032"/>
          </a:xfrm>
          <a:prstGeom prst="rect">
            <a:avLst/>
          </a:prstGeom>
          <a:noFill/>
          <a:ln/>
        </p:spPr>
        <p:txBody>
          <a:bodyPr wrap="square" lIns="0" tIns="0" rIns="0" bIns="0" rtlCol="0" anchor="t"/>
          <a:lstStyle/>
          <a:p>
            <a:pPr algn="l" indent="0" marL="0">
              <a:spcAft>
                <a:spcPts val="600"/>
              </a:spcAft>
              <a:buNone/>
            </a:pPr>
            <a:r>
              <a:rPr lang="en-US" sz="1800" i="1" dirty="0">
                <a:solidFill>
                  <a:schemeClr val="tx1"/>
                </a:solidFill>
              </a:rPr>
              <a:t>Mijn naam is…</a:t>
            </a:r>
            <a:endParaRPr lang="en-US" sz="1800" dirty="0"/>
          </a:p>
          <a:p>
            <a:pPr algn="l" indent="0" marL="0">
              <a:spcAft>
                <a:spcPts val="600"/>
              </a:spcAft>
              <a:buNone/>
            </a:pPr>
            <a:r>
              <a:rPr lang="en-US" sz="1800" b="1" dirty="0">
                <a:solidFill>
                  <a:schemeClr val="tx1"/>
                </a:solidFill>
              </a:rPr>
              <a:t>K – A – R – I – M</a:t>
            </a:r>
            <a:endParaRPr lang="en-US" sz="1800" dirty="0"/>
          </a:p>
          <a:p>
            <a:pPr algn="l" indent="0" marL="0">
              <a:spcAft>
                <a:spcPts val="600"/>
              </a:spcAft>
              <a:buNone/>
            </a:pPr>
            <a:r>
              <a:rPr lang="en-US" sz="1800" dirty="0">
                <a:solidFill>
                  <a:schemeClr val="tx1"/>
                </a:solidFill>
              </a:rPr>
              <a:t>Épelez votre prénom.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Écoutez — même lettre, deux sons ?</a:t>
            </a:r>
            <a:endParaRPr lang="en-US" sz="3000" dirty="0"/>
          </a:p>
        </p:txBody>
      </p:sp>
      <p:sp>
        <p:nvSpPr>
          <p:cNvPr id="3" name="tag"/>
          <p:cNvSpPr/>
          <p:nvPr/>
        </p:nvSpPr>
        <p:spPr>
          <a:xfrm>
            <a:off x="548640" y="237744"/>
            <a:ext cx="1768450"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PRONONCIATION</a:t>
            </a:r>
            <a:endParaRPr lang="en-US" sz="1200" dirty="0"/>
          </a:p>
        </p:txBody>
      </p:sp>
      <p:sp>
        <p:nvSpPr>
          <p:cNvPr id="5" name="Shape 2"/>
          <p:cNvSpPr/>
          <p:nvPr/>
        </p:nvSpPr>
        <p:spPr>
          <a:xfrm>
            <a:off x="548640" y="1691640"/>
            <a:ext cx="603504" cy="603504"/>
          </a:xfrm>
          <a:prstGeom prst="ellipse">
            <a:avLst/>
          </a:prstGeom>
          <a:solidFill>
            <a:schemeClr val="tx2"/>
          </a:solidFill>
          <a:ln w="12700">
            <a:solidFill>
              <a:srgbClr val="FFFFFF">
                <a:alpha val="0"/>
              </a:srgbClr>
            </a:solidFill>
            <a:prstDash val="solid"/>
          </a:ln>
        </p:spPr>
      </p:sp>
      <p:sp>
        <p:nvSpPr>
          <p:cNvPr id="6" name="Text 3"/>
          <p:cNvSpPr txBox="1"/>
          <p:nvPr/>
        </p:nvSpPr>
        <p:spPr>
          <a:xfrm>
            <a:off x="548640" y="1691640"/>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7" name="Shape 4"/>
          <p:cNvSpPr/>
          <p:nvPr/>
        </p:nvSpPr>
        <p:spPr>
          <a:xfrm>
            <a:off x="1170432" y="1993392"/>
            <a:ext cx="384048" cy="914"/>
          </a:xfrm>
          <a:prstGeom prst="line">
            <a:avLst/>
          </a:prstGeom>
          <a:noFill/>
          <a:ln w="15875">
            <a:solidFill>
              <a:srgbClr val="D5DCE6"/>
            </a:solidFill>
            <a:prstDash val="solid"/>
            <a:tailEnd type="triangle"/>
          </a:ln>
        </p:spPr>
      </p:sp>
      <p:sp>
        <p:nvSpPr>
          <p:cNvPr id="8" name="Shape 5"/>
          <p:cNvSpPr/>
          <p:nvPr/>
        </p:nvSpPr>
        <p:spPr>
          <a:xfrm>
            <a:off x="5916168" y="1993392"/>
            <a:ext cx="393192" cy="914"/>
          </a:xfrm>
          <a:prstGeom prst="line">
            <a:avLst/>
          </a:prstGeom>
          <a:noFill/>
          <a:ln w="15875">
            <a:solidFill>
              <a:srgbClr val="D5DCE6"/>
            </a:solidFill>
            <a:prstDash val="solid"/>
            <a:tailEnd type="triangle"/>
          </a:ln>
        </p:spPr>
      </p:sp>
      <p:sp>
        <p:nvSpPr>
          <p:cNvPr id="9" name="Shape 6"/>
          <p:cNvSpPr/>
          <p:nvPr/>
        </p:nvSpPr>
        <p:spPr>
          <a:xfrm>
            <a:off x="1600200" y="1572768"/>
            <a:ext cx="4297680" cy="841248"/>
          </a:xfrm>
          <a:prstGeom prst="roundRect">
            <a:avLst>
              <a:gd name="adj" fmla="val 8696"/>
            </a:avLst>
          </a:prstGeom>
          <a:solidFill>
            <a:schemeClr val="bg1"/>
          </a:solidFill>
          <a:ln w="15875">
            <a:solidFill>
              <a:srgbClr val="D5DCE6"/>
            </a:solidFill>
            <a:prstDash val="solid"/>
          </a:ln>
        </p:spPr>
      </p:sp>
      <p:pic>
        <p:nvPicPr>
          <p:cNvPr id="10" name="Image 0" descr="man">    </p:cNvPr>
          <p:cNvPicPr>
            <a:picLocks noChangeAspect="1"/>
          </p:cNvPicPr>
          <p:nvPr/>
        </p:nvPicPr>
        <p:blipFill>
          <a:blip r:embed="rId1"/>
          <a:stretch>
            <a:fillRect/>
          </a:stretch>
        </p:blipFill>
        <p:spPr>
          <a:xfrm>
            <a:off x="1737360" y="1645920"/>
            <a:ext cx="694944" cy="694944"/>
          </a:xfrm>
          <a:prstGeom prst="rect">
            <a:avLst/>
          </a:prstGeom>
        </p:spPr>
      </p:pic>
      <p:sp>
        <p:nvSpPr>
          <p:cNvPr id="11" name="Text 7"/>
          <p:cNvSpPr txBox="1"/>
          <p:nvPr/>
        </p:nvSpPr>
        <p:spPr>
          <a:xfrm>
            <a:off x="2651760" y="1572768"/>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man</a:t>
            </a:r>
            <a:endParaRPr lang="en-US" sz="2800" dirty="0"/>
          </a:p>
        </p:txBody>
      </p:sp>
      <p:sp>
        <p:nvSpPr>
          <p:cNvPr id="12" name="Text 8"/>
          <p:cNvSpPr txBox="1"/>
          <p:nvPr/>
        </p:nvSpPr>
        <p:spPr>
          <a:xfrm>
            <a:off x="4251960" y="1572768"/>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l’homme</a:t>
            </a:r>
            <a:endParaRPr lang="en-US" sz="1400" dirty="0"/>
          </a:p>
        </p:txBody>
      </p:sp>
      <p:sp>
        <p:nvSpPr>
          <p:cNvPr id="13" name="Shape 9"/>
          <p:cNvSpPr/>
          <p:nvPr/>
        </p:nvSpPr>
        <p:spPr>
          <a:xfrm>
            <a:off x="6355080" y="1572768"/>
            <a:ext cx="4297680" cy="841248"/>
          </a:xfrm>
          <a:prstGeom prst="roundRect">
            <a:avLst>
              <a:gd name="adj" fmla="val 8696"/>
            </a:avLst>
          </a:prstGeom>
          <a:solidFill>
            <a:schemeClr val="bg1"/>
          </a:solidFill>
          <a:ln w="15875">
            <a:solidFill>
              <a:srgbClr val="D5DCE6"/>
            </a:solidFill>
            <a:prstDash val="solid"/>
          </a:ln>
        </p:spPr>
      </p:sp>
      <p:pic>
        <p:nvPicPr>
          <p:cNvPr id="14" name="Image 1" descr="oncoming fist">    </p:cNvPr>
          <p:cNvPicPr>
            <a:picLocks noChangeAspect="1"/>
          </p:cNvPicPr>
          <p:nvPr/>
        </p:nvPicPr>
        <p:blipFill>
          <a:blip r:embed="rId2"/>
          <a:stretch>
            <a:fillRect/>
          </a:stretch>
        </p:blipFill>
        <p:spPr>
          <a:xfrm>
            <a:off x="6492240" y="1645920"/>
            <a:ext cx="694944" cy="694944"/>
          </a:xfrm>
          <a:prstGeom prst="rect">
            <a:avLst/>
          </a:prstGeom>
        </p:spPr>
      </p:pic>
      <p:sp>
        <p:nvSpPr>
          <p:cNvPr id="15" name="Text 10"/>
          <p:cNvSpPr txBox="1"/>
          <p:nvPr/>
        </p:nvSpPr>
        <p:spPr>
          <a:xfrm>
            <a:off x="7406640" y="1572768"/>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slaan</a:t>
            </a:r>
            <a:endParaRPr lang="en-US" sz="2800" dirty="0"/>
          </a:p>
        </p:txBody>
      </p:sp>
      <p:sp>
        <p:nvSpPr>
          <p:cNvPr id="16" name="Text 11"/>
          <p:cNvSpPr txBox="1"/>
          <p:nvPr/>
        </p:nvSpPr>
        <p:spPr>
          <a:xfrm>
            <a:off x="9006840" y="1572768"/>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frapper</a:t>
            </a:r>
            <a:endParaRPr lang="en-US" sz="1400" dirty="0"/>
          </a:p>
        </p:txBody>
      </p:sp>
      <p:pic>
        <p:nvPicPr>
          <p:cNvPr id="17" name="Image 2" descr="VolumeUp">    </p:cNvPr>
          <p:cNvPicPr>
            <a:picLocks noChangeAspect="1"/>
          </p:cNvPicPr>
          <p:nvPr/>
        </p:nvPicPr>
        <p:blipFill>
          <a:blip r:embed="rId3"/>
          <a:stretch>
            <a:fillRect/>
          </a:stretch>
        </p:blipFill>
        <p:spPr>
          <a:xfrm>
            <a:off x="11064240" y="1810512"/>
            <a:ext cx="384048" cy="384048"/>
          </a:xfrm>
          <a:prstGeom prst="rect">
            <a:avLst/>
          </a:prstGeom>
        </p:spPr>
      </p:pic>
      <p:sp>
        <p:nvSpPr>
          <p:cNvPr id="18" name="Shape 12"/>
          <p:cNvSpPr/>
          <p:nvPr/>
        </p:nvSpPr>
        <p:spPr>
          <a:xfrm>
            <a:off x="548640" y="2642616"/>
            <a:ext cx="603504" cy="603504"/>
          </a:xfrm>
          <a:prstGeom prst="ellipse">
            <a:avLst/>
          </a:prstGeom>
          <a:solidFill>
            <a:schemeClr val="tx2"/>
          </a:solidFill>
          <a:ln w="12700">
            <a:solidFill>
              <a:srgbClr val="FFFFFF">
                <a:alpha val="0"/>
              </a:srgbClr>
            </a:solidFill>
            <a:prstDash val="solid"/>
          </a:ln>
        </p:spPr>
      </p:sp>
      <p:sp>
        <p:nvSpPr>
          <p:cNvPr id="19" name="Text 13"/>
          <p:cNvSpPr txBox="1"/>
          <p:nvPr/>
        </p:nvSpPr>
        <p:spPr>
          <a:xfrm>
            <a:off x="548640" y="2642616"/>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E</a:t>
            </a:r>
            <a:endParaRPr lang="en-US" sz="2200" dirty="0"/>
          </a:p>
        </p:txBody>
      </p:sp>
      <p:sp>
        <p:nvSpPr>
          <p:cNvPr id="20" name="Shape 14"/>
          <p:cNvSpPr/>
          <p:nvPr/>
        </p:nvSpPr>
        <p:spPr>
          <a:xfrm>
            <a:off x="1170432" y="2944368"/>
            <a:ext cx="384048" cy="914"/>
          </a:xfrm>
          <a:prstGeom prst="line">
            <a:avLst/>
          </a:prstGeom>
          <a:noFill/>
          <a:ln w="15875">
            <a:solidFill>
              <a:srgbClr val="D5DCE6"/>
            </a:solidFill>
            <a:prstDash val="solid"/>
            <a:tailEnd type="triangle"/>
          </a:ln>
        </p:spPr>
      </p:sp>
      <p:sp>
        <p:nvSpPr>
          <p:cNvPr id="21" name="Shape 15"/>
          <p:cNvSpPr/>
          <p:nvPr/>
        </p:nvSpPr>
        <p:spPr>
          <a:xfrm>
            <a:off x="5916168" y="2944368"/>
            <a:ext cx="393192" cy="914"/>
          </a:xfrm>
          <a:prstGeom prst="line">
            <a:avLst/>
          </a:prstGeom>
          <a:noFill/>
          <a:ln w="15875">
            <a:solidFill>
              <a:srgbClr val="D5DCE6"/>
            </a:solidFill>
            <a:prstDash val="solid"/>
            <a:tailEnd type="triangle"/>
          </a:ln>
        </p:spPr>
      </p:sp>
      <p:sp>
        <p:nvSpPr>
          <p:cNvPr id="22" name="Shape 16"/>
          <p:cNvSpPr/>
          <p:nvPr/>
        </p:nvSpPr>
        <p:spPr>
          <a:xfrm>
            <a:off x="1600200" y="2523744"/>
            <a:ext cx="4297680" cy="841248"/>
          </a:xfrm>
          <a:prstGeom prst="roundRect">
            <a:avLst>
              <a:gd name="adj" fmla="val 8696"/>
            </a:avLst>
          </a:prstGeom>
          <a:solidFill>
            <a:schemeClr val="bg1"/>
          </a:solidFill>
          <a:ln w="15875">
            <a:solidFill>
              <a:srgbClr val="D5DCE6"/>
            </a:solidFill>
            <a:prstDash val="solid"/>
          </a:ln>
        </p:spPr>
      </p:sp>
      <p:pic>
        <p:nvPicPr>
          <p:cNvPr id="23" name="Image 3" descr="bottle with popping cork">    </p:cNvPr>
          <p:cNvPicPr>
            <a:picLocks noChangeAspect="1"/>
          </p:cNvPicPr>
          <p:nvPr/>
        </p:nvPicPr>
        <p:blipFill>
          <a:blip r:embed="rId4"/>
          <a:stretch>
            <a:fillRect/>
          </a:stretch>
        </p:blipFill>
        <p:spPr>
          <a:xfrm>
            <a:off x="1737360" y="2596896"/>
            <a:ext cx="694944" cy="694944"/>
          </a:xfrm>
          <a:prstGeom prst="rect">
            <a:avLst/>
          </a:prstGeom>
        </p:spPr>
      </p:pic>
      <p:sp>
        <p:nvSpPr>
          <p:cNvPr id="24" name="Text 17"/>
          <p:cNvSpPr txBox="1"/>
          <p:nvPr/>
        </p:nvSpPr>
        <p:spPr>
          <a:xfrm>
            <a:off x="2651760" y="2523744"/>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fles</a:t>
            </a:r>
            <a:endParaRPr lang="en-US" sz="2800" dirty="0"/>
          </a:p>
        </p:txBody>
      </p:sp>
      <p:sp>
        <p:nvSpPr>
          <p:cNvPr id="25" name="Text 18"/>
          <p:cNvSpPr txBox="1"/>
          <p:nvPr/>
        </p:nvSpPr>
        <p:spPr>
          <a:xfrm>
            <a:off x="4251960" y="2523744"/>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la bouteille</a:t>
            </a:r>
            <a:endParaRPr lang="en-US" sz="1400" dirty="0"/>
          </a:p>
        </p:txBody>
      </p:sp>
      <p:sp>
        <p:nvSpPr>
          <p:cNvPr id="26" name="Shape 19"/>
          <p:cNvSpPr/>
          <p:nvPr/>
        </p:nvSpPr>
        <p:spPr>
          <a:xfrm>
            <a:off x="6355080" y="2523744"/>
            <a:ext cx="4297680" cy="841248"/>
          </a:xfrm>
          <a:prstGeom prst="roundRect">
            <a:avLst>
              <a:gd name="adj" fmla="val 8696"/>
            </a:avLst>
          </a:prstGeom>
          <a:solidFill>
            <a:schemeClr val="bg1"/>
          </a:solidFill>
          <a:ln w="15875">
            <a:solidFill>
              <a:srgbClr val="D5DCE6"/>
            </a:solidFill>
            <a:prstDash val="solid"/>
          </a:ln>
        </p:spPr>
      </p:sp>
      <p:pic>
        <p:nvPicPr>
          <p:cNvPr id="27" name="Image 4" descr="open book">    </p:cNvPr>
          <p:cNvPicPr>
            <a:picLocks noChangeAspect="1"/>
          </p:cNvPicPr>
          <p:nvPr/>
        </p:nvPicPr>
        <p:blipFill>
          <a:blip r:embed="rId5"/>
          <a:stretch>
            <a:fillRect/>
          </a:stretch>
        </p:blipFill>
        <p:spPr>
          <a:xfrm>
            <a:off x="6492240" y="2596896"/>
            <a:ext cx="694944" cy="694944"/>
          </a:xfrm>
          <a:prstGeom prst="rect">
            <a:avLst/>
          </a:prstGeom>
        </p:spPr>
      </p:pic>
      <p:sp>
        <p:nvSpPr>
          <p:cNvPr id="28" name="Text 20"/>
          <p:cNvSpPr txBox="1"/>
          <p:nvPr/>
        </p:nvSpPr>
        <p:spPr>
          <a:xfrm>
            <a:off x="7406640" y="2523744"/>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lezen</a:t>
            </a:r>
            <a:endParaRPr lang="en-US" sz="2800" dirty="0"/>
          </a:p>
        </p:txBody>
      </p:sp>
      <p:sp>
        <p:nvSpPr>
          <p:cNvPr id="29" name="Text 21"/>
          <p:cNvSpPr txBox="1"/>
          <p:nvPr/>
        </p:nvSpPr>
        <p:spPr>
          <a:xfrm>
            <a:off x="9006840" y="2523744"/>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lire</a:t>
            </a:r>
            <a:endParaRPr lang="en-US" sz="1400" dirty="0"/>
          </a:p>
        </p:txBody>
      </p:sp>
      <p:pic>
        <p:nvPicPr>
          <p:cNvPr id="30" name="Image 5" descr="VolumeUp">    </p:cNvPr>
          <p:cNvPicPr>
            <a:picLocks noChangeAspect="1"/>
          </p:cNvPicPr>
          <p:nvPr/>
        </p:nvPicPr>
        <p:blipFill>
          <a:blip r:embed="rId6"/>
          <a:stretch>
            <a:fillRect/>
          </a:stretch>
        </p:blipFill>
        <p:spPr>
          <a:xfrm>
            <a:off x="11064240" y="2761488"/>
            <a:ext cx="384048" cy="384048"/>
          </a:xfrm>
          <a:prstGeom prst="rect">
            <a:avLst/>
          </a:prstGeom>
        </p:spPr>
      </p:pic>
      <p:sp>
        <p:nvSpPr>
          <p:cNvPr id="31" name="Shape 22"/>
          <p:cNvSpPr/>
          <p:nvPr/>
        </p:nvSpPr>
        <p:spPr>
          <a:xfrm>
            <a:off x="548640" y="3593592"/>
            <a:ext cx="603504" cy="603504"/>
          </a:xfrm>
          <a:prstGeom prst="ellipse">
            <a:avLst/>
          </a:prstGeom>
          <a:solidFill>
            <a:schemeClr val="tx2"/>
          </a:solidFill>
          <a:ln w="12700">
            <a:solidFill>
              <a:srgbClr val="FFFFFF">
                <a:alpha val="0"/>
              </a:srgbClr>
            </a:solidFill>
            <a:prstDash val="solid"/>
          </a:ln>
        </p:spPr>
      </p:sp>
      <p:sp>
        <p:nvSpPr>
          <p:cNvPr id="32" name="Text 23"/>
          <p:cNvSpPr txBox="1"/>
          <p:nvPr/>
        </p:nvSpPr>
        <p:spPr>
          <a:xfrm>
            <a:off x="548640" y="3593592"/>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I</a:t>
            </a:r>
            <a:endParaRPr lang="en-US" sz="2200" dirty="0"/>
          </a:p>
        </p:txBody>
      </p:sp>
      <p:sp>
        <p:nvSpPr>
          <p:cNvPr id="33" name="Shape 24"/>
          <p:cNvSpPr/>
          <p:nvPr/>
        </p:nvSpPr>
        <p:spPr>
          <a:xfrm>
            <a:off x="1170432" y="3895344"/>
            <a:ext cx="384048" cy="914"/>
          </a:xfrm>
          <a:prstGeom prst="line">
            <a:avLst/>
          </a:prstGeom>
          <a:noFill/>
          <a:ln w="15875">
            <a:solidFill>
              <a:srgbClr val="D5DCE6"/>
            </a:solidFill>
            <a:prstDash val="solid"/>
            <a:tailEnd type="triangle"/>
          </a:ln>
        </p:spPr>
      </p:sp>
      <p:sp>
        <p:nvSpPr>
          <p:cNvPr id="34" name="Shape 25"/>
          <p:cNvSpPr/>
          <p:nvPr/>
        </p:nvSpPr>
        <p:spPr>
          <a:xfrm>
            <a:off x="5916168" y="3895344"/>
            <a:ext cx="393192" cy="914"/>
          </a:xfrm>
          <a:prstGeom prst="line">
            <a:avLst/>
          </a:prstGeom>
          <a:noFill/>
          <a:ln w="15875">
            <a:solidFill>
              <a:srgbClr val="D5DCE6"/>
            </a:solidFill>
            <a:prstDash val="solid"/>
            <a:tailEnd type="triangle"/>
          </a:ln>
        </p:spPr>
      </p:sp>
      <p:sp>
        <p:nvSpPr>
          <p:cNvPr id="35" name="Shape 26"/>
          <p:cNvSpPr/>
          <p:nvPr/>
        </p:nvSpPr>
        <p:spPr>
          <a:xfrm>
            <a:off x="1600200" y="3474720"/>
            <a:ext cx="4297680" cy="841248"/>
          </a:xfrm>
          <a:prstGeom prst="roundRect">
            <a:avLst>
              <a:gd name="adj" fmla="val 8696"/>
            </a:avLst>
          </a:prstGeom>
          <a:solidFill>
            <a:schemeClr val="bg1"/>
          </a:solidFill>
          <a:ln w="15875">
            <a:solidFill>
              <a:srgbClr val="D5DCE6"/>
            </a:solidFill>
            <a:prstDash val="solid"/>
          </a:ln>
        </p:spPr>
      </p:sp>
      <p:pic>
        <p:nvPicPr>
          <p:cNvPr id="36" name="Image 6" descr="chair">    </p:cNvPr>
          <p:cNvPicPr>
            <a:picLocks noChangeAspect="1"/>
          </p:cNvPicPr>
          <p:nvPr/>
        </p:nvPicPr>
        <p:blipFill>
          <a:blip r:embed="rId7"/>
          <a:stretch>
            <a:fillRect/>
          </a:stretch>
        </p:blipFill>
        <p:spPr>
          <a:xfrm>
            <a:off x="1737360" y="3547872"/>
            <a:ext cx="694944" cy="694944"/>
          </a:xfrm>
          <a:prstGeom prst="rect">
            <a:avLst/>
          </a:prstGeom>
        </p:spPr>
      </p:pic>
      <p:sp>
        <p:nvSpPr>
          <p:cNvPr id="37" name="Text 27"/>
          <p:cNvSpPr txBox="1"/>
          <p:nvPr/>
        </p:nvSpPr>
        <p:spPr>
          <a:xfrm>
            <a:off x="2651760" y="3474720"/>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zit</a:t>
            </a:r>
            <a:endParaRPr lang="en-US" sz="2800" dirty="0"/>
          </a:p>
        </p:txBody>
      </p:sp>
      <p:sp>
        <p:nvSpPr>
          <p:cNvPr id="38" name="Text 28"/>
          <p:cNvSpPr txBox="1"/>
          <p:nvPr/>
        </p:nvSpPr>
        <p:spPr>
          <a:xfrm>
            <a:off x="4251960" y="3474720"/>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est assis</a:t>
            </a:r>
            <a:endParaRPr lang="en-US" sz="1400" dirty="0"/>
          </a:p>
        </p:txBody>
      </p:sp>
      <p:sp>
        <p:nvSpPr>
          <p:cNvPr id="39" name="Shape 29"/>
          <p:cNvSpPr/>
          <p:nvPr/>
        </p:nvSpPr>
        <p:spPr>
          <a:xfrm>
            <a:off x="6355080" y="3474720"/>
            <a:ext cx="4297680" cy="841248"/>
          </a:xfrm>
          <a:prstGeom prst="roundRect">
            <a:avLst>
              <a:gd name="adj" fmla="val 8696"/>
            </a:avLst>
          </a:prstGeom>
          <a:solidFill>
            <a:schemeClr val="bg1"/>
          </a:solidFill>
          <a:ln w="15875">
            <a:solidFill>
              <a:srgbClr val="D5DCE6"/>
            </a:solidFill>
            <a:prstDash val="solid"/>
          </a:ln>
        </p:spPr>
      </p:sp>
      <p:pic>
        <p:nvPicPr>
          <p:cNvPr id="40" name="Image 7" descr="eyes">    </p:cNvPr>
          <p:cNvPicPr>
            <a:picLocks noChangeAspect="1"/>
          </p:cNvPicPr>
          <p:nvPr/>
        </p:nvPicPr>
        <p:blipFill>
          <a:blip r:embed="rId8"/>
          <a:stretch>
            <a:fillRect/>
          </a:stretch>
        </p:blipFill>
        <p:spPr>
          <a:xfrm>
            <a:off x="6492240" y="3547872"/>
            <a:ext cx="694944" cy="694944"/>
          </a:xfrm>
          <a:prstGeom prst="rect">
            <a:avLst/>
          </a:prstGeom>
        </p:spPr>
      </p:pic>
      <p:sp>
        <p:nvSpPr>
          <p:cNvPr id="41" name="Text 30"/>
          <p:cNvSpPr txBox="1"/>
          <p:nvPr/>
        </p:nvSpPr>
        <p:spPr>
          <a:xfrm>
            <a:off x="7406640" y="3474720"/>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ziet</a:t>
            </a:r>
            <a:endParaRPr lang="en-US" sz="2800" dirty="0"/>
          </a:p>
        </p:txBody>
      </p:sp>
      <p:sp>
        <p:nvSpPr>
          <p:cNvPr id="42" name="Text 31"/>
          <p:cNvSpPr txBox="1"/>
          <p:nvPr/>
        </p:nvSpPr>
        <p:spPr>
          <a:xfrm>
            <a:off x="9006840" y="3474720"/>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voit</a:t>
            </a:r>
            <a:endParaRPr lang="en-US" sz="1400" dirty="0"/>
          </a:p>
        </p:txBody>
      </p:sp>
      <p:pic>
        <p:nvPicPr>
          <p:cNvPr id="43" name="Image 8" descr="VolumeUp">    </p:cNvPr>
          <p:cNvPicPr>
            <a:picLocks noChangeAspect="1"/>
          </p:cNvPicPr>
          <p:nvPr/>
        </p:nvPicPr>
        <p:blipFill>
          <a:blip r:embed="rId9"/>
          <a:stretch>
            <a:fillRect/>
          </a:stretch>
        </p:blipFill>
        <p:spPr>
          <a:xfrm>
            <a:off x="11064240" y="3712464"/>
            <a:ext cx="384048" cy="384048"/>
          </a:xfrm>
          <a:prstGeom prst="rect">
            <a:avLst/>
          </a:prstGeom>
        </p:spPr>
      </p:pic>
      <p:sp>
        <p:nvSpPr>
          <p:cNvPr id="44" name="Shape 32"/>
          <p:cNvSpPr/>
          <p:nvPr/>
        </p:nvSpPr>
        <p:spPr>
          <a:xfrm>
            <a:off x="548640" y="4544568"/>
            <a:ext cx="603504" cy="603504"/>
          </a:xfrm>
          <a:prstGeom prst="ellipse">
            <a:avLst/>
          </a:prstGeom>
          <a:solidFill>
            <a:schemeClr val="tx2"/>
          </a:solidFill>
          <a:ln w="12700">
            <a:solidFill>
              <a:srgbClr val="FFFFFF">
                <a:alpha val="0"/>
              </a:srgbClr>
            </a:solidFill>
            <a:prstDash val="solid"/>
          </a:ln>
        </p:spPr>
      </p:sp>
      <p:sp>
        <p:nvSpPr>
          <p:cNvPr id="45" name="Text 33"/>
          <p:cNvSpPr txBox="1"/>
          <p:nvPr/>
        </p:nvSpPr>
        <p:spPr>
          <a:xfrm>
            <a:off x="548640" y="454456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O</a:t>
            </a:r>
            <a:endParaRPr lang="en-US" sz="2200" dirty="0"/>
          </a:p>
        </p:txBody>
      </p:sp>
      <p:sp>
        <p:nvSpPr>
          <p:cNvPr id="46" name="Shape 34"/>
          <p:cNvSpPr/>
          <p:nvPr/>
        </p:nvSpPr>
        <p:spPr>
          <a:xfrm>
            <a:off x="1170432" y="4846320"/>
            <a:ext cx="384048" cy="914"/>
          </a:xfrm>
          <a:prstGeom prst="line">
            <a:avLst/>
          </a:prstGeom>
          <a:noFill/>
          <a:ln w="15875">
            <a:solidFill>
              <a:srgbClr val="D5DCE6"/>
            </a:solidFill>
            <a:prstDash val="solid"/>
            <a:tailEnd type="triangle"/>
          </a:ln>
        </p:spPr>
      </p:sp>
      <p:sp>
        <p:nvSpPr>
          <p:cNvPr id="47" name="Shape 35"/>
          <p:cNvSpPr/>
          <p:nvPr/>
        </p:nvSpPr>
        <p:spPr>
          <a:xfrm>
            <a:off x="5916168" y="4846320"/>
            <a:ext cx="393192" cy="914"/>
          </a:xfrm>
          <a:prstGeom prst="line">
            <a:avLst/>
          </a:prstGeom>
          <a:noFill/>
          <a:ln w="15875">
            <a:solidFill>
              <a:srgbClr val="D5DCE6"/>
            </a:solidFill>
            <a:prstDash val="solid"/>
            <a:tailEnd type="triangle"/>
          </a:ln>
        </p:spPr>
      </p:sp>
      <p:sp>
        <p:nvSpPr>
          <p:cNvPr id="48" name="Shape 36"/>
          <p:cNvSpPr/>
          <p:nvPr/>
        </p:nvSpPr>
        <p:spPr>
          <a:xfrm>
            <a:off x="1600200" y="4425696"/>
            <a:ext cx="4297680" cy="841248"/>
          </a:xfrm>
          <a:prstGeom prst="roundRect">
            <a:avLst>
              <a:gd name="adj" fmla="val 8696"/>
            </a:avLst>
          </a:prstGeom>
          <a:solidFill>
            <a:schemeClr val="bg1"/>
          </a:solidFill>
          <a:ln w="15875">
            <a:solidFill>
              <a:srgbClr val="D5DCE6"/>
            </a:solidFill>
            <a:prstDash val="solid"/>
          </a:ln>
        </p:spPr>
      </p:sp>
      <p:pic>
        <p:nvPicPr>
          <p:cNvPr id="49" name="Image 9" descr="two hearts">    </p:cNvPr>
          <p:cNvPicPr>
            <a:picLocks noChangeAspect="1"/>
          </p:cNvPicPr>
          <p:nvPr/>
        </p:nvPicPr>
        <p:blipFill>
          <a:blip r:embed="rId10"/>
          <a:stretch>
            <a:fillRect/>
          </a:stretch>
        </p:blipFill>
        <p:spPr>
          <a:xfrm>
            <a:off x="1737360" y="4498848"/>
            <a:ext cx="694944" cy="694944"/>
          </a:xfrm>
          <a:prstGeom prst="rect">
            <a:avLst/>
          </a:prstGeom>
        </p:spPr>
      </p:pic>
      <p:sp>
        <p:nvSpPr>
          <p:cNvPr id="50" name="Text 37"/>
          <p:cNvSpPr txBox="1"/>
          <p:nvPr/>
        </p:nvSpPr>
        <p:spPr>
          <a:xfrm>
            <a:off x="2651760" y="4425696"/>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koppel</a:t>
            </a:r>
            <a:endParaRPr lang="en-US" sz="2800" dirty="0"/>
          </a:p>
        </p:txBody>
      </p:sp>
      <p:sp>
        <p:nvSpPr>
          <p:cNvPr id="51" name="Text 38"/>
          <p:cNvSpPr txBox="1"/>
          <p:nvPr/>
        </p:nvSpPr>
        <p:spPr>
          <a:xfrm>
            <a:off x="4251960" y="4425696"/>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couple</a:t>
            </a:r>
            <a:endParaRPr lang="en-US" sz="1400" dirty="0"/>
          </a:p>
        </p:txBody>
      </p:sp>
      <p:sp>
        <p:nvSpPr>
          <p:cNvPr id="52" name="Shape 39"/>
          <p:cNvSpPr/>
          <p:nvPr/>
        </p:nvSpPr>
        <p:spPr>
          <a:xfrm>
            <a:off x="6355080" y="4425696"/>
            <a:ext cx="4297680" cy="841248"/>
          </a:xfrm>
          <a:prstGeom prst="roundRect">
            <a:avLst>
              <a:gd name="adj" fmla="val 8696"/>
            </a:avLst>
          </a:prstGeom>
          <a:solidFill>
            <a:schemeClr val="bg1"/>
          </a:solidFill>
          <a:ln w="15875">
            <a:solidFill>
              <a:srgbClr val="D5DCE6"/>
            </a:solidFill>
            <a:prstDash val="solid"/>
          </a:ln>
        </p:spPr>
      </p:sp>
      <p:pic>
        <p:nvPicPr>
          <p:cNvPr id="53" name="Image 10" descr="person walking">    </p:cNvPr>
          <p:cNvPicPr>
            <a:picLocks noChangeAspect="1"/>
          </p:cNvPicPr>
          <p:nvPr/>
        </p:nvPicPr>
        <p:blipFill>
          <a:blip r:embed="rId11"/>
          <a:stretch>
            <a:fillRect/>
          </a:stretch>
        </p:blipFill>
        <p:spPr>
          <a:xfrm>
            <a:off x="6492240" y="4498848"/>
            <a:ext cx="694944" cy="694944"/>
          </a:xfrm>
          <a:prstGeom prst="rect">
            <a:avLst/>
          </a:prstGeom>
        </p:spPr>
      </p:pic>
      <p:sp>
        <p:nvSpPr>
          <p:cNvPr id="54" name="Text 40"/>
          <p:cNvSpPr txBox="1"/>
          <p:nvPr/>
        </p:nvSpPr>
        <p:spPr>
          <a:xfrm>
            <a:off x="7406640" y="4425696"/>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lopen</a:t>
            </a:r>
            <a:endParaRPr lang="en-US" sz="2800" dirty="0"/>
          </a:p>
        </p:txBody>
      </p:sp>
      <p:sp>
        <p:nvSpPr>
          <p:cNvPr id="55" name="Text 41"/>
          <p:cNvSpPr txBox="1"/>
          <p:nvPr/>
        </p:nvSpPr>
        <p:spPr>
          <a:xfrm>
            <a:off x="9006840" y="4425696"/>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marcher</a:t>
            </a:r>
            <a:endParaRPr lang="en-US" sz="1400" dirty="0"/>
          </a:p>
        </p:txBody>
      </p:sp>
      <p:pic>
        <p:nvPicPr>
          <p:cNvPr id="56" name="Image 11" descr="VolumeUp">    </p:cNvPr>
          <p:cNvPicPr>
            <a:picLocks noChangeAspect="1"/>
          </p:cNvPicPr>
          <p:nvPr/>
        </p:nvPicPr>
        <p:blipFill>
          <a:blip r:embed="rId12"/>
          <a:stretch>
            <a:fillRect/>
          </a:stretch>
        </p:blipFill>
        <p:spPr>
          <a:xfrm>
            <a:off x="11064240" y="4663440"/>
            <a:ext cx="384048" cy="384048"/>
          </a:xfrm>
          <a:prstGeom prst="rect">
            <a:avLst/>
          </a:prstGeom>
        </p:spPr>
      </p:pic>
      <p:sp>
        <p:nvSpPr>
          <p:cNvPr id="57" name="Shape 42"/>
          <p:cNvSpPr/>
          <p:nvPr/>
        </p:nvSpPr>
        <p:spPr>
          <a:xfrm>
            <a:off x="548640" y="5495544"/>
            <a:ext cx="603504" cy="603504"/>
          </a:xfrm>
          <a:prstGeom prst="ellipse">
            <a:avLst/>
          </a:prstGeom>
          <a:solidFill>
            <a:schemeClr val="tx2"/>
          </a:solidFill>
          <a:ln w="12700">
            <a:solidFill>
              <a:srgbClr val="FFFFFF">
                <a:alpha val="0"/>
              </a:srgbClr>
            </a:solidFill>
            <a:prstDash val="solid"/>
          </a:ln>
        </p:spPr>
      </p:sp>
      <p:sp>
        <p:nvSpPr>
          <p:cNvPr id="58" name="Text 43"/>
          <p:cNvSpPr txBox="1"/>
          <p:nvPr/>
        </p:nvSpPr>
        <p:spPr>
          <a:xfrm>
            <a:off x="548640" y="5495544"/>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U</a:t>
            </a:r>
            <a:endParaRPr lang="en-US" sz="2200" dirty="0"/>
          </a:p>
        </p:txBody>
      </p:sp>
      <p:sp>
        <p:nvSpPr>
          <p:cNvPr id="59" name="Shape 44"/>
          <p:cNvSpPr/>
          <p:nvPr/>
        </p:nvSpPr>
        <p:spPr>
          <a:xfrm>
            <a:off x="1170432" y="5797296"/>
            <a:ext cx="384048" cy="914"/>
          </a:xfrm>
          <a:prstGeom prst="line">
            <a:avLst/>
          </a:prstGeom>
          <a:noFill/>
          <a:ln w="15875">
            <a:solidFill>
              <a:srgbClr val="D5DCE6"/>
            </a:solidFill>
            <a:prstDash val="solid"/>
            <a:tailEnd type="triangle"/>
          </a:ln>
        </p:spPr>
      </p:sp>
      <p:sp>
        <p:nvSpPr>
          <p:cNvPr id="60" name="Shape 45"/>
          <p:cNvSpPr/>
          <p:nvPr/>
        </p:nvSpPr>
        <p:spPr>
          <a:xfrm>
            <a:off x="5916168" y="5797296"/>
            <a:ext cx="393192" cy="914"/>
          </a:xfrm>
          <a:prstGeom prst="line">
            <a:avLst/>
          </a:prstGeom>
          <a:noFill/>
          <a:ln w="15875">
            <a:solidFill>
              <a:srgbClr val="D5DCE6"/>
            </a:solidFill>
            <a:prstDash val="solid"/>
            <a:tailEnd type="triangle"/>
          </a:ln>
        </p:spPr>
      </p:sp>
      <p:sp>
        <p:nvSpPr>
          <p:cNvPr id="61" name="Shape 46"/>
          <p:cNvSpPr/>
          <p:nvPr/>
        </p:nvSpPr>
        <p:spPr>
          <a:xfrm>
            <a:off x="1600200" y="5376672"/>
            <a:ext cx="4297680" cy="841248"/>
          </a:xfrm>
          <a:prstGeom prst="roundRect">
            <a:avLst>
              <a:gd name="adj" fmla="val 8696"/>
            </a:avLst>
          </a:prstGeom>
          <a:solidFill>
            <a:schemeClr val="bg1"/>
          </a:solidFill>
          <a:ln w="15875">
            <a:solidFill>
              <a:srgbClr val="D5DCE6"/>
            </a:solidFill>
            <a:prstDash val="solid"/>
          </a:ln>
        </p:spPr>
      </p:sp>
      <p:pic>
        <p:nvPicPr>
          <p:cNvPr id="62" name="Image 12" descr="kiss mark">    </p:cNvPr>
          <p:cNvPicPr>
            <a:picLocks noChangeAspect="1"/>
          </p:cNvPicPr>
          <p:nvPr/>
        </p:nvPicPr>
        <p:blipFill>
          <a:blip r:embed="rId13"/>
          <a:stretch>
            <a:fillRect/>
          </a:stretch>
        </p:blipFill>
        <p:spPr>
          <a:xfrm>
            <a:off x="1737360" y="5449824"/>
            <a:ext cx="694944" cy="694944"/>
          </a:xfrm>
          <a:prstGeom prst="rect">
            <a:avLst/>
          </a:prstGeom>
        </p:spPr>
      </p:pic>
      <p:sp>
        <p:nvSpPr>
          <p:cNvPr id="63" name="Text 47"/>
          <p:cNvSpPr txBox="1"/>
          <p:nvPr/>
        </p:nvSpPr>
        <p:spPr>
          <a:xfrm>
            <a:off x="2651760" y="5376672"/>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kus</a:t>
            </a:r>
            <a:endParaRPr lang="en-US" sz="2800" dirty="0"/>
          </a:p>
        </p:txBody>
      </p:sp>
      <p:sp>
        <p:nvSpPr>
          <p:cNvPr id="64" name="Text 48"/>
          <p:cNvSpPr txBox="1"/>
          <p:nvPr/>
        </p:nvSpPr>
        <p:spPr>
          <a:xfrm>
            <a:off x="4251960" y="5376672"/>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bisou</a:t>
            </a:r>
            <a:endParaRPr lang="en-US" sz="1400" dirty="0"/>
          </a:p>
        </p:txBody>
      </p:sp>
      <p:sp>
        <p:nvSpPr>
          <p:cNvPr id="65" name="Shape 49"/>
          <p:cNvSpPr/>
          <p:nvPr/>
        </p:nvSpPr>
        <p:spPr>
          <a:xfrm>
            <a:off x="6355080" y="5376672"/>
            <a:ext cx="4297680" cy="841248"/>
          </a:xfrm>
          <a:prstGeom prst="roundRect">
            <a:avLst>
              <a:gd name="adj" fmla="val 8696"/>
            </a:avLst>
          </a:prstGeom>
          <a:solidFill>
            <a:schemeClr val="bg1"/>
          </a:solidFill>
          <a:ln w="15875">
            <a:solidFill>
              <a:srgbClr val="D5DCE6"/>
            </a:solidFill>
            <a:prstDash val="solid"/>
          </a:ln>
        </p:spPr>
      </p:sp>
      <p:pic>
        <p:nvPicPr>
          <p:cNvPr id="66" name="Image 13" descr="fire">    </p:cNvPr>
          <p:cNvPicPr>
            <a:picLocks noChangeAspect="1"/>
          </p:cNvPicPr>
          <p:nvPr/>
        </p:nvPicPr>
        <p:blipFill>
          <a:blip r:embed="rId14"/>
          <a:stretch>
            <a:fillRect/>
          </a:stretch>
        </p:blipFill>
        <p:spPr>
          <a:xfrm>
            <a:off x="6492240" y="5449824"/>
            <a:ext cx="694944" cy="694944"/>
          </a:xfrm>
          <a:prstGeom prst="rect">
            <a:avLst/>
          </a:prstGeom>
        </p:spPr>
      </p:pic>
      <p:sp>
        <p:nvSpPr>
          <p:cNvPr id="67" name="Text 50"/>
          <p:cNvSpPr txBox="1"/>
          <p:nvPr/>
        </p:nvSpPr>
        <p:spPr>
          <a:xfrm>
            <a:off x="7406640" y="5376672"/>
            <a:ext cx="1645920" cy="841248"/>
          </a:xfrm>
          <a:prstGeom prst="rect">
            <a:avLst/>
          </a:prstGeom>
          <a:noFill/>
          <a:ln/>
        </p:spPr>
        <p:txBody>
          <a:bodyPr wrap="square" lIns="0" tIns="0" rIns="0" bIns="0" rtlCol="0" anchor="ctr"/>
          <a:lstStyle/>
          <a:p>
            <a:pPr algn="l" indent="0" marL="0">
              <a:buNone/>
            </a:pPr>
            <a:r>
              <a:rPr lang="en-US" sz="2800" b="1" dirty="0">
                <a:solidFill>
                  <a:schemeClr val="tx1"/>
                </a:solidFill>
                <a:latin typeface="+mj-lt" pitchFamily="34" charset="0"/>
                <a:ea typeface="+mj-lt" pitchFamily="34" charset="-122"/>
                <a:cs typeface="+mj-lt" pitchFamily="34" charset="-120"/>
              </a:rPr>
              <a:t>vuur</a:t>
            </a:r>
            <a:endParaRPr lang="en-US" sz="2800" dirty="0"/>
          </a:p>
        </p:txBody>
      </p:sp>
      <p:sp>
        <p:nvSpPr>
          <p:cNvPr id="68" name="Text 51"/>
          <p:cNvSpPr txBox="1"/>
          <p:nvPr/>
        </p:nvSpPr>
        <p:spPr>
          <a:xfrm>
            <a:off x="9006840" y="5376672"/>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feu</a:t>
            </a:r>
            <a:endParaRPr lang="en-US" sz="1400" dirty="0"/>
          </a:p>
        </p:txBody>
      </p:sp>
      <p:pic>
        <p:nvPicPr>
          <p:cNvPr id="69" name="Image 14" descr="VolumeUp">    </p:cNvPr>
          <p:cNvPicPr>
            <a:picLocks noChangeAspect="1"/>
          </p:cNvPicPr>
          <p:nvPr/>
        </p:nvPicPr>
        <p:blipFill>
          <a:blip r:embed="rId15"/>
          <a:stretch>
            <a:fillRect/>
          </a:stretch>
        </p:blipFill>
        <p:spPr>
          <a:xfrm>
            <a:off x="11064240" y="5614416"/>
            <a:ext cx="384048" cy="384048"/>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Écoutez — même lettre, deux sons !</a:t>
            </a:r>
            <a:endParaRPr lang="en-US" sz="3000" dirty="0"/>
          </a:p>
        </p:txBody>
      </p:sp>
      <p:sp>
        <p:nvSpPr>
          <p:cNvPr id="3" name="tag"/>
          <p:cNvSpPr/>
          <p:nvPr/>
        </p:nvSpPr>
        <p:spPr>
          <a:xfrm>
            <a:off x="548640" y="237744"/>
            <a:ext cx="1768450"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PRONONCIATION</a:t>
            </a:r>
            <a:endParaRPr lang="en-US" sz="1200" dirty="0"/>
          </a:p>
        </p:txBody>
      </p:sp>
      <p:sp>
        <p:nvSpPr>
          <p:cNvPr id="4" name="tag"/>
          <p:cNvSpPr/>
          <p:nvPr/>
        </p:nvSpPr>
        <p:spPr>
          <a:xfrm>
            <a:off x="2426818"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6" name="Shape 3"/>
          <p:cNvSpPr/>
          <p:nvPr/>
        </p:nvSpPr>
        <p:spPr>
          <a:xfrm>
            <a:off x="548640" y="1691640"/>
            <a:ext cx="603504" cy="603504"/>
          </a:xfrm>
          <a:prstGeom prst="ellipse">
            <a:avLst/>
          </a:prstGeom>
          <a:solidFill>
            <a:schemeClr val="tx2"/>
          </a:solidFill>
          <a:ln w="12700">
            <a:solidFill>
              <a:srgbClr val="FFFFFF">
                <a:alpha val="0"/>
              </a:srgbClr>
            </a:solidFill>
            <a:prstDash val="solid"/>
          </a:ln>
        </p:spPr>
      </p:sp>
      <p:sp>
        <p:nvSpPr>
          <p:cNvPr id="7" name="Text 4"/>
          <p:cNvSpPr txBox="1"/>
          <p:nvPr/>
        </p:nvSpPr>
        <p:spPr>
          <a:xfrm>
            <a:off x="548640" y="1691640"/>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8" name="Shape 5"/>
          <p:cNvSpPr/>
          <p:nvPr/>
        </p:nvSpPr>
        <p:spPr>
          <a:xfrm>
            <a:off x="1170432" y="1993392"/>
            <a:ext cx="384048" cy="914"/>
          </a:xfrm>
          <a:prstGeom prst="line">
            <a:avLst/>
          </a:prstGeom>
          <a:noFill/>
          <a:ln w="15875">
            <a:solidFill>
              <a:srgbClr val="D5DCE6"/>
            </a:solidFill>
            <a:prstDash val="solid"/>
            <a:tailEnd type="triangle"/>
          </a:ln>
        </p:spPr>
      </p:sp>
      <p:sp>
        <p:nvSpPr>
          <p:cNvPr id="9" name="Shape 6"/>
          <p:cNvSpPr/>
          <p:nvPr/>
        </p:nvSpPr>
        <p:spPr>
          <a:xfrm>
            <a:off x="5916168" y="1993392"/>
            <a:ext cx="393192" cy="914"/>
          </a:xfrm>
          <a:prstGeom prst="line">
            <a:avLst/>
          </a:prstGeom>
          <a:noFill/>
          <a:ln w="15875">
            <a:solidFill>
              <a:srgbClr val="D5DCE6"/>
            </a:solidFill>
            <a:prstDash val="solid"/>
            <a:tailEnd type="triangle"/>
          </a:ln>
        </p:spPr>
      </p:sp>
      <p:sp>
        <p:nvSpPr>
          <p:cNvPr id="10" name="Shape 7"/>
          <p:cNvSpPr/>
          <p:nvPr/>
        </p:nvSpPr>
        <p:spPr>
          <a:xfrm>
            <a:off x="1600200" y="1572768"/>
            <a:ext cx="4297680" cy="841248"/>
          </a:xfrm>
          <a:prstGeom prst="roundRect">
            <a:avLst>
              <a:gd name="adj" fmla="val 8696"/>
            </a:avLst>
          </a:prstGeom>
          <a:solidFill>
            <a:schemeClr val="bg1"/>
          </a:solidFill>
          <a:ln w="38100">
            <a:solidFill>
              <a:srgbClr val="B4236A"/>
            </a:solidFill>
            <a:prstDash val="solid"/>
          </a:ln>
        </p:spPr>
      </p:sp>
      <p:pic>
        <p:nvPicPr>
          <p:cNvPr id="11" name="Image 0" descr="man">    </p:cNvPr>
          <p:cNvPicPr>
            <a:picLocks noChangeAspect="1"/>
          </p:cNvPicPr>
          <p:nvPr/>
        </p:nvPicPr>
        <p:blipFill>
          <a:blip r:embed="rId1"/>
          <a:stretch>
            <a:fillRect/>
          </a:stretch>
        </p:blipFill>
        <p:spPr>
          <a:xfrm>
            <a:off x="1737360" y="1645920"/>
            <a:ext cx="694944" cy="694944"/>
          </a:xfrm>
          <a:prstGeom prst="rect">
            <a:avLst/>
          </a:prstGeom>
        </p:spPr>
      </p:pic>
      <p:sp>
        <p:nvSpPr>
          <p:cNvPr id="12" name="Text 8"/>
          <p:cNvSpPr txBox="1"/>
          <p:nvPr/>
        </p:nvSpPr>
        <p:spPr>
          <a:xfrm>
            <a:off x="2651760" y="1572768"/>
            <a:ext cx="1645920" cy="566928"/>
          </a:xfrm>
          <a:prstGeom prst="rect">
            <a:avLst/>
          </a:prstGeom>
          <a:noFill/>
          <a:ln/>
        </p:spPr>
        <p:txBody>
          <a:bodyPr wrap="square" lIns="0" tIns="0" rIns="0" bIns="0" rtlCol="0" anchor="ctr"/>
          <a:lstStyle/>
          <a:p>
            <a:pPr algn="l" indent="0" marL="0">
              <a:buNone/>
            </a:pPr>
            <a:r>
              <a:rPr lang="en-US" sz="2800" b="1" dirty="0">
                <a:solidFill>
                  <a:schemeClr val="accent4"/>
                </a:solidFill>
                <a:latin typeface="+mj-lt" pitchFamily="34" charset="0"/>
                <a:ea typeface="+mj-lt" pitchFamily="34" charset="-122"/>
                <a:cs typeface="+mj-lt" pitchFamily="34" charset="-120"/>
              </a:rPr>
              <a:t>man</a:t>
            </a:r>
            <a:endParaRPr lang="en-US" sz="2800" dirty="0"/>
          </a:p>
        </p:txBody>
      </p:sp>
      <p:sp>
        <p:nvSpPr>
          <p:cNvPr id="13" name="Shape 9"/>
          <p:cNvSpPr/>
          <p:nvPr/>
        </p:nvSpPr>
        <p:spPr>
          <a:xfrm>
            <a:off x="2679192" y="2176272"/>
            <a:ext cx="411480" cy="100584"/>
          </a:xfrm>
          <a:prstGeom prst="roundRect">
            <a:avLst>
              <a:gd name="adj" fmla="val 45455"/>
            </a:avLst>
          </a:prstGeom>
          <a:solidFill>
            <a:schemeClr val="accent4"/>
          </a:solidFill>
          <a:ln w="12700">
            <a:solidFill>
              <a:srgbClr val="FFFFFF">
                <a:alpha val="0"/>
              </a:srgbClr>
            </a:solidFill>
            <a:prstDash val="solid"/>
          </a:ln>
        </p:spPr>
      </p:sp>
      <p:sp>
        <p:nvSpPr>
          <p:cNvPr id="14" name="Text 10"/>
          <p:cNvSpPr txBox="1"/>
          <p:nvPr/>
        </p:nvSpPr>
        <p:spPr>
          <a:xfrm>
            <a:off x="4251960" y="1572768"/>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l’homme</a:t>
            </a:r>
            <a:endParaRPr lang="en-US" sz="1400" dirty="0"/>
          </a:p>
        </p:txBody>
      </p:sp>
      <p:sp>
        <p:nvSpPr>
          <p:cNvPr id="15" name="tag"/>
          <p:cNvSpPr/>
          <p:nvPr/>
        </p:nvSpPr>
        <p:spPr>
          <a:xfrm>
            <a:off x="5029200" y="1645920"/>
            <a:ext cx="86029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COURT</a:t>
            </a:r>
            <a:endParaRPr lang="en-US" sz="1100" dirty="0"/>
          </a:p>
        </p:txBody>
      </p:sp>
      <p:sp>
        <p:nvSpPr>
          <p:cNvPr id="16" name="Shape 12"/>
          <p:cNvSpPr/>
          <p:nvPr/>
        </p:nvSpPr>
        <p:spPr>
          <a:xfrm>
            <a:off x="6355080" y="1572768"/>
            <a:ext cx="4297680" cy="841248"/>
          </a:xfrm>
          <a:prstGeom prst="roundRect">
            <a:avLst>
              <a:gd name="adj" fmla="val 8696"/>
            </a:avLst>
          </a:prstGeom>
          <a:solidFill>
            <a:schemeClr val="bg1"/>
          </a:solidFill>
          <a:ln w="38100">
            <a:solidFill>
              <a:srgbClr val="2E7D4F"/>
            </a:solidFill>
            <a:prstDash val="solid"/>
          </a:ln>
        </p:spPr>
      </p:sp>
      <p:pic>
        <p:nvPicPr>
          <p:cNvPr id="17" name="Image 1" descr="oncoming fist">    </p:cNvPr>
          <p:cNvPicPr>
            <a:picLocks noChangeAspect="1"/>
          </p:cNvPicPr>
          <p:nvPr/>
        </p:nvPicPr>
        <p:blipFill>
          <a:blip r:embed="rId2"/>
          <a:stretch>
            <a:fillRect/>
          </a:stretch>
        </p:blipFill>
        <p:spPr>
          <a:xfrm>
            <a:off x="6492240" y="1645920"/>
            <a:ext cx="694944" cy="694944"/>
          </a:xfrm>
          <a:prstGeom prst="rect">
            <a:avLst/>
          </a:prstGeom>
        </p:spPr>
      </p:pic>
      <p:sp>
        <p:nvSpPr>
          <p:cNvPr id="18" name="Text 13"/>
          <p:cNvSpPr txBox="1"/>
          <p:nvPr/>
        </p:nvSpPr>
        <p:spPr>
          <a:xfrm>
            <a:off x="7406640" y="1572768"/>
            <a:ext cx="1645920" cy="566928"/>
          </a:xfrm>
          <a:prstGeom prst="rect">
            <a:avLst/>
          </a:prstGeom>
          <a:noFill/>
          <a:ln/>
        </p:spPr>
        <p:txBody>
          <a:bodyPr wrap="square" lIns="0" tIns="0" rIns="0" bIns="0" rtlCol="0" anchor="ctr"/>
          <a:lstStyle/>
          <a:p>
            <a:pPr algn="l" indent="0" marL="0">
              <a:buNone/>
            </a:pPr>
            <a:r>
              <a:rPr lang="en-US" sz="2800" b="1" dirty="0">
                <a:solidFill>
                  <a:schemeClr val="accent3"/>
                </a:solidFill>
                <a:latin typeface="+mj-lt" pitchFamily="34" charset="0"/>
                <a:ea typeface="+mj-lt" pitchFamily="34" charset="-122"/>
                <a:cs typeface="+mj-lt" pitchFamily="34" charset="-120"/>
              </a:rPr>
              <a:t>slaan</a:t>
            </a:r>
            <a:endParaRPr lang="en-US" sz="2800" dirty="0"/>
          </a:p>
        </p:txBody>
      </p:sp>
      <p:sp>
        <p:nvSpPr>
          <p:cNvPr id="19" name="Shape 14"/>
          <p:cNvSpPr/>
          <p:nvPr/>
        </p:nvSpPr>
        <p:spPr>
          <a:xfrm>
            <a:off x="7434072" y="2176272"/>
            <a:ext cx="1463040" cy="100584"/>
          </a:xfrm>
          <a:prstGeom prst="roundRect">
            <a:avLst>
              <a:gd name="adj" fmla="val 45455"/>
            </a:avLst>
          </a:prstGeom>
          <a:solidFill>
            <a:schemeClr val="accent3"/>
          </a:solidFill>
          <a:ln w="12700">
            <a:solidFill>
              <a:srgbClr val="FFFFFF">
                <a:alpha val="0"/>
              </a:srgbClr>
            </a:solidFill>
            <a:prstDash val="solid"/>
          </a:ln>
        </p:spPr>
      </p:sp>
      <p:sp>
        <p:nvSpPr>
          <p:cNvPr id="20" name="Text 15"/>
          <p:cNvSpPr txBox="1"/>
          <p:nvPr/>
        </p:nvSpPr>
        <p:spPr>
          <a:xfrm>
            <a:off x="9006840" y="1572768"/>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frapper</a:t>
            </a:r>
            <a:endParaRPr lang="en-US" sz="1400" dirty="0"/>
          </a:p>
        </p:txBody>
      </p:sp>
      <p:sp>
        <p:nvSpPr>
          <p:cNvPr id="21" name="tag"/>
          <p:cNvSpPr/>
          <p:nvPr/>
        </p:nvSpPr>
        <p:spPr>
          <a:xfrm>
            <a:off x="9784080" y="1645920"/>
            <a:ext cx="761390"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LONG</a:t>
            </a:r>
            <a:endParaRPr lang="en-US" sz="1100" dirty="0"/>
          </a:p>
        </p:txBody>
      </p:sp>
      <p:pic>
        <p:nvPicPr>
          <p:cNvPr id="22" name="Image 2" descr="VolumeUp">    </p:cNvPr>
          <p:cNvPicPr>
            <a:picLocks noChangeAspect="1"/>
          </p:cNvPicPr>
          <p:nvPr/>
        </p:nvPicPr>
        <p:blipFill>
          <a:blip r:embed="rId3"/>
          <a:stretch>
            <a:fillRect/>
          </a:stretch>
        </p:blipFill>
        <p:spPr>
          <a:xfrm>
            <a:off x="11064240" y="1810512"/>
            <a:ext cx="384048" cy="384048"/>
          </a:xfrm>
          <a:prstGeom prst="rect">
            <a:avLst/>
          </a:prstGeom>
        </p:spPr>
      </p:pic>
      <p:sp>
        <p:nvSpPr>
          <p:cNvPr id="23" name="Shape 17"/>
          <p:cNvSpPr/>
          <p:nvPr/>
        </p:nvSpPr>
        <p:spPr>
          <a:xfrm>
            <a:off x="548640" y="2642616"/>
            <a:ext cx="603504" cy="603504"/>
          </a:xfrm>
          <a:prstGeom prst="ellipse">
            <a:avLst/>
          </a:prstGeom>
          <a:solidFill>
            <a:schemeClr val="tx2"/>
          </a:solidFill>
          <a:ln w="12700">
            <a:solidFill>
              <a:srgbClr val="FFFFFF">
                <a:alpha val="0"/>
              </a:srgbClr>
            </a:solidFill>
            <a:prstDash val="solid"/>
          </a:ln>
        </p:spPr>
      </p:sp>
      <p:sp>
        <p:nvSpPr>
          <p:cNvPr id="24" name="Text 18"/>
          <p:cNvSpPr txBox="1"/>
          <p:nvPr/>
        </p:nvSpPr>
        <p:spPr>
          <a:xfrm>
            <a:off x="548640" y="2642616"/>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E</a:t>
            </a:r>
            <a:endParaRPr lang="en-US" sz="2200" dirty="0"/>
          </a:p>
        </p:txBody>
      </p:sp>
      <p:sp>
        <p:nvSpPr>
          <p:cNvPr id="25" name="Shape 19"/>
          <p:cNvSpPr/>
          <p:nvPr/>
        </p:nvSpPr>
        <p:spPr>
          <a:xfrm>
            <a:off x="1170432" y="2944368"/>
            <a:ext cx="384048" cy="914"/>
          </a:xfrm>
          <a:prstGeom prst="line">
            <a:avLst/>
          </a:prstGeom>
          <a:noFill/>
          <a:ln w="15875">
            <a:solidFill>
              <a:srgbClr val="D5DCE6"/>
            </a:solidFill>
            <a:prstDash val="solid"/>
            <a:tailEnd type="triangle"/>
          </a:ln>
        </p:spPr>
      </p:sp>
      <p:sp>
        <p:nvSpPr>
          <p:cNvPr id="26" name="Shape 20"/>
          <p:cNvSpPr/>
          <p:nvPr/>
        </p:nvSpPr>
        <p:spPr>
          <a:xfrm>
            <a:off x="5916168" y="2944368"/>
            <a:ext cx="393192" cy="914"/>
          </a:xfrm>
          <a:prstGeom prst="line">
            <a:avLst/>
          </a:prstGeom>
          <a:noFill/>
          <a:ln w="15875">
            <a:solidFill>
              <a:srgbClr val="D5DCE6"/>
            </a:solidFill>
            <a:prstDash val="solid"/>
            <a:tailEnd type="triangle"/>
          </a:ln>
        </p:spPr>
      </p:sp>
      <p:sp>
        <p:nvSpPr>
          <p:cNvPr id="27" name="Shape 21"/>
          <p:cNvSpPr/>
          <p:nvPr/>
        </p:nvSpPr>
        <p:spPr>
          <a:xfrm>
            <a:off x="1600200" y="2523744"/>
            <a:ext cx="4297680" cy="841248"/>
          </a:xfrm>
          <a:prstGeom prst="roundRect">
            <a:avLst>
              <a:gd name="adj" fmla="val 8696"/>
            </a:avLst>
          </a:prstGeom>
          <a:solidFill>
            <a:schemeClr val="bg1"/>
          </a:solidFill>
          <a:ln w="38100">
            <a:solidFill>
              <a:srgbClr val="B4236A"/>
            </a:solidFill>
            <a:prstDash val="solid"/>
          </a:ln>
        </p:spPr>
      </p:sp>
      <p:pic>
        <p:nvPicPr>
          <p:cNvPr id="28" name="Image 3" descr="bottle with popping cork">    </p:cNvPr>
          <p:cNvPicPr>
            <a:picLocks noChangeAspect="1"/>
          </p:cNvPicPr>
          <p:nvPr/>
        </p:nvPicPr>
        <p:blipFill>
          <a:blip r:embed="rId4"/>
          <a:stretch>
            <a:fillRect/>
          </a:stretch>
        </p:blipFill>
        <p:spPr>
          <a:xfrm>
            <a:off x="1737360" y="2596896"/>
            <a:ext cx="694944" cy="694944"/>
          </a:xfrm>
          <a:prstGeom prst="rect">
            <a:avLst/>
          </a:prstGeom>
        </p:spPr>
      </p:pic>
      <p:sp>
        <p:nvSpPr>
          <p:cNvPr id="29" name="Text 22"/>
          <p:cNvSpPr txBox="1"/>
          <p:nvPr/>
        </p:nvSpPr>
        <p:spPr>
          <a:xfrm>
            <a:off x="2651760" y="2523744"/>
            <a:ext cx="1645920" cy="566928"/>
          </a:xfrm>
          <a:prstGeom prst="rect">
            <a:avLst/>
          </a:prstGeom>
          <a:noFill/>
          <a:ln/>
        </p:spPr>
        <p:txBody>
          <a:bodyPr wrap="square" lIns="0" tIns="0" rIns="0" bIns="0" rtlCol="0" anchor="ctr"/>
          <a:lstStyle/>
          <a:p>
            <a:pPr algn="l" indent="0" marL="0">
              <a:buNone/>
            </a:pPr>
            <a:r>
              <a:rPr lang="en-US" sz="2800" b="1" dirty="0">
                <a:solidFill>
                  <a:schemeClr val="accent4"/>
                </a:solidFill>
                <a:latin typeface="+mj-lt" pitchFamily="34" charset="0"/>
                <a:ea typeface="+mj-lt" pitchFamily="34" charset="-122"/>
                <a:cs typeface="+mj-lt" pitchFamily="34" charset="-120"/>
              </a:rPr>
              <a:t>fles</a:t>
            </a:r>
            <a:endParaRPr lang="en-US" sz="2800" dirty="0"/>
          </a:p>
        </p:txBody>
      </p:sp>
      <p:sp>
        <p:nvSpPr>
          <p:cNvPr id="30" name="Shape 23"/>
          <p:cNvSpPr/>
          <p:nvPr/>
        </p:nvSpPr>
        <p:spPr>
          <a:xfrm>
            <a:off x="2679192" y="3127248"/>
            <a:ext cx="411480" cy="100584"/>
          </a:xfrm>
          <a:prstGeom prst="roundRect">
            <a:avLst>
              <a:gd name="adj" fmla="val 45455"/>
            </a:avLst>
          </a:prstGeom>
          <a:solidFill>
            <a:schemeClr val="accent4"/>
          </a:solidFill>
          <a:ln w="12700">
            <a:solidFill>
              <a:srgbClr val="FFFFFF">
                <a:alpha val="0"/>
              </a:srgbClr>
            </a:solidFill>
            <a:prstDash val="solid"/>
          </a:ln>
        </p:spPr>
      </p:sp>
      <p:sp>
        <p:nvSpPr>
          <p:cNvPr id="31" name="Text 24"/>
          <p:cNvSpPr txBox="1"/>
          <p:nvPr/>
        </p:nvSpPr>
        <p:spPr>
          <a:xfrm>
            <a:off x="4251960" y="2523744"/>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la bouteille</a:t>
            </a:r>
            <a:endParaRPr lang="en-US" sz="1400" dirty="0"/>
          </a:p>
        </p:txBody>
      </p:sp>
      <p:sp>
        <p:nvSpPr>
          <p:cNvPr id="32" name="tag"/>
          <p:cNvSpPr/>
          <p:nvPr/>
        </p:nvSpPr>
        <p:spPr>
          <a:xfrm>
            <a:off x="5029200" y="2596896"/>
            <a:ext cx="86029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COURT</a:t>
            </a:r>
            <a:endParaRPr lang="en-US" sz="1100" dirty="0"/>
          </a:p>
        </p:txBody>
      </p:sp>
      <p:sp>
        <p:nvSpPr>
          <p:cNvPr id="33" name="Shape 26"/>
          <p:cNvSpPr/>
          <p:nvPr/>
        </p:nvSpPr>
        <p:spPr>
          <a:xfrm>
            <a:off x="6355080" y="2523744"/>
            <a:ext cx="4297680" cy="841248"/>
          </a:xfrm>
          <a:prstGeom prst="roundRect">
            <a:avLst>
              <a:gd name="adj" fmla="val 8696"/>
            </a:avLst>
          </a:prstGeom>
          <a:solidFill>
            <a:schemeClr val="bg1"/>
          </a:solidFill>
          <a:ln w="38100">
            <a:solidFill>
              <a:srgbClr val="2E7D4F"/>
            </a:solidFill>
            <a:prstDash val="solid"/>
          </a:ln>
        </p:spPr>
      </p:sp>
      <p:pic>
        <p:nvPicPr>
          <p:cNvPr id="34" name="Image 4" descr="open book">    </p:cNvPr>
          <p:cNvPicPr>
            <a:picLocks noChangeAspect="1"/>
          </p:cNvPicPr>
          <p:nvPr/>
        </p:nvPicPr>
        <p:blipFill>
          <a:blip r:embed="rId5"/>
          <a:stretch>
            <a:fillRect/>
          </a:stretch>
        </p:blipFill>
        <p:spPr>
          <a:xfrm>
            <a:off x="6492240" y="2596896"/>
            <a:ext cx="694944" cy="694944"/>
          </a:xfrm>
          <a:prstGeom prst="rect">
            <a:avLst/>
          </a:prstGeom>
        </p:spPr>
      </p:pic>
      <p:sp>
        <p:nvSpPr>
          <p:cNvPr id="35" name="Text 27"/>
          <p:cNvSpPr txBox="1"/>
          <p:nvPr/>
        </p:nvSpPr>
        <p:spPr>
          <a:xfrm>
            <a:off x="7406640" y="2523744"/>
            <a:ext cx="1645920" cy="566928"/>
          </a:xfrm>
          <a:prstGeom prst="rect">
            <a:avLst/>
          </a:prstGeom>
          <a:noFill/>
          <a:ln/>
        </p:spPr>
        <p:txBody>
          <a:bodyPr wrap="square" lIns="0" tIns="0" rIns="0" bIns="0" rtlCol="0" anchor="ctr"/>
          <a:lstStyle/>
          <a:p>
            <a:pPr algn="l" indent="0" marL="0">
              <a:buNone/>
            </a:pPr>
            <a:r>
              <a:rPr lang="en-US" sz="2800" b="1" dirty="0">
                <a:solidFill>
                  <a:schemeClr val="accent3"/>
                </a:solidFill>
                <a:latin typeface="+mj-lt" pitchFamily="34" charset="0"/>
                <a:ea typeface="+mj-lt" pitchFamily="34" charset="-122"/>
                <a:cs typeface="+mj-lt" pitchFamily="34" charset="-120"/>
              </a:rPr>
              <a:t>lezen</a:t>
            </a:r>
            <a:endParaRPr lang="en-US" sz="2800" dirty="0"/>
          </a:p>
        </p:txBody>
      </p:sp>
      <p:sp>
        <p:nvSpPr>
          <p:cNvPr id="36" name="Shape 28"/>
          <p:cNvSpPr/>
          <p:nvPr/>
        </p:nvSpPr>
        <p:spPr>
          <a:xfrm>
            <a:off x="7434072" y="3127248"/>
            <a:ext cx="1463040" cy="100584"/>
          </a:xfrm>
          <a:prstGeom prst="roundRect">
            <a:avLst>
              <a:gd name="adj" fmla="val 45455"/>
            </a:avLst>
          </a:prstGeom>
          <a:solidFill>
            <a:schemeClr val="accent3"/>
          </a:solidFill>
          <a:ln w="12700">
            <a:solidFill>
              <a:srgbClr val="FFFFFF">
                <a:alpha val="0"/>
              </a:srgbClr>
            </a:solidFill>
            <a:prstDash val="solid"/>
          </a:ln>
        </p:spPr>
      </p:sp>
      <p:sp>
        <p:nvSpPr>
          <p:cNvPr id="37" name="Text 29"/>
          <p:cNvSpPr txBox="1"/>
          <p:nvPr/>
        </p:nvSpPr>
        <p:spPr>
          <a:xfrm>
            <a:off x="9006840" y="2523744"/>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lire</a:t>
            </a:r>
            <a:endParaRPr lang="en-US" sz="1400" dirty="0"/>
          </a:p>
        </p:txBody>
      </p:sp>
      <p:sp>
        <p:nvSpPr>
          <p:cNvPr id="38" name="tag"/>
          <p:cNvSpPr/>
          <p:nvPr/>
        </p:nvSpPr>
        <p:spPr>
          <a:xfrm>
            <a:off x="9784080" y="2596896"/>
            <a:ext cx="761390"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LONG</a:t>
            </a:r>
            <a:endParaRPr lang="en-US" sz="1100" dirty="0"/>
          </a:p>
        </p:txBody>
      </p:sp>
      <p:pic>
        <p:nvPicPr>
          <p:cNvPr id="39" name="Image 5" descr="VolumeUp">    </p:cNvPr>
          <p:cNvPicPr>
            <a:picLocks noChangeAspect="1"/>
          </p:cNvPicPr>
          <p:nvPr/>
        </p:nvPicPr>
        <p:blipFill>
          <a:blip r:embed="rId6"/>
          <a:stretch>
            <a:fillRect/>
          </a:stretch>
        </p:blipFill>
        <p:spPr>
          <a:xfrm>
            <a:off x="11064240" y="2761488"/>
            <a:ext cx="384048" cy="384048"/>
          </a:xfrm>
          <a:prstGeom prst="rect">
            <a:avLst/>
          </a:prstGeom>
        </p:spPr>
      </p:pic>
      <p:sp>
        <p:nvSpPr>
          <p:cNvPr id="40" name="Shape 31"/>
          <p:cNvSpPr/>
          <p:nvPr/>
        </p:nvSpPr>
        <p:spPr>
          <a:xfrm>
            <a:off x="548640" y="3593592"/>
            <a:ext cx="603504" cy="603504"/>
          </a:xfrm>
          <a:prstGeom prst="ellipse">
            <a:avLst/>
          </a:prstGeom>
          <a:solidFill>
            <a:schemeClr val="tx2"/>
          </a:solidFill>
          <a:ln w="12700">
            <a:solidFill>
              <a:srgbClr val="FFFFFF">
                <a:alpha val="0"/>
              </a:srgbClr>
            </a:solidFill>
            <a:prstDash val="solid"/>
          </a:ln>
        </p:spPr>
      </p:sp>
      <p:sp>
        <p:nvSpPr>
          <p:cNvPr id="41" name="Text 32"/>
          <p:cNvSpPr txBox="1"/>
          <p:nvPr/>
        </p:nvSpPr>
        <p:spPr>
          <a:xfrm>
            <a:off x="548640" y="3593592"/>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I</a:t>
            </a:r>
            <a:endParaRPr lang="en-US" sz="2200" dirty="0"/>
          </a:p>
        </p:txBody>
      </p:sp>
      <p:sp>
        <p:nvSpPr>
          <p:cNvPr id="42" name="Shape 33"/>
          <p:cNvSpPr/>
          <p:nvPr/>
        </p:nvSpPr>
        <p:spPr>
          <a:xfrm>
            <a:off x="1170432" y="3895344"/>
            <a:ext cx="384048" cy="914"/>
          </a:xfrm>
          <a:prstGeom prst="line">
            <a:avLst/>
          </a:prstGeom>
          <a:noFill/>
          <a:ln w="15875">
            <a:solidFill>
              <a:srgbClr val="D5DCE6"/>
            </a:solidFill>
            <a:prstDash val="solid"/>
            <a:tailEnd type="triangle"/>
          </a:ln>
        </p:spPr>
      </p:sp>
      <p:sp>
        <p:nvSpPr>
          <p:cNvPr id="43" name="Shape 34"/>
          <p:cNvSpPr/>
          <p:nvPr/>
        </p:nvSpPr>
        <p:spPr>
          <a:xfrm>
            <a:off x="5916168" y="3895344"/>
            <a:ext cx="393192" cy="914"/>
          </a:xfrm>
          <a:prstGeom prst="line">
            <a:avLst/>
          </a:prstGeom>
          <a:noFill/>
          <a:ln w="15875">
            <a:solidFill>
              <a:srgbClr val="D5DCE6"/>
            </a:solidFill>
            <a:prstDash val="solid"/>
            <a:tailEnd type="triangle"/>
          </a:ln>
        </p:spPr>
      </p:sp>
      <p:sp>
        <p:nvSpPr>
          <p:cNvPr id="44" name="Shape 35"/>
          <p:cNvSpPr/>
          <p:nvPr/>
        </p:nvSpPr>
        <p:spPr>
          <a:xfrm>
            <a:off x="1600200" y="3474720"/>
            <a:ext cx="4297680" cy="841248"/>
          </a:xfrm>
          <a:prstGeom prst="roundRect">
            <a:avLst>
              <a:gd name="adj" fmla="val 8696"/>
            </a:avLst>
          </a:prstGeom>
          <a:solidFill>
            <a:schemeClr val="bg1"/>
          </a:solidFill>
          <a:ln w="38100">
            <a:solidFill>
              <a:srgbClr val="B4236A"/>
            </a:solidFill>
            <a:prstDash val="solid"/>
          </a:ln>
        </p:spPr>
      </p:sp>
      <p:pic>
        <p:nvPicPr>
          <p:cNvPr id="45" name="Image 6" descr="chair">    </p:cNvPr>
          <p:cNvPicPr>
            <a:picLocks noChangeAspect="1"/>
          </p:cNvPicPr>
          <p:nvPr/>
        </p:nvPicPr>
        <p:blipFill>
          <a:blip r:embed="rId7"/>
          <a:stretch>
            <a:fillRect/>
          </a:stretch>
        </p:blipFill>
        <p:spPr>
          <a:xfrm>
            <a:off x="1737360" y="3547872"/>
            <a:ext cx="694944" cy="694944"/>
          </a:xfrm>
          <a:prstGeom prst="rect">
            <a:avLst/>
          </a:prstGeom>
        </p:spPr>
      </p:pic>
      <p:sp>
        <p:nvSpPr>
          <p:cNvPr id="46" name="Text 36"/>
          <p:cNvSpPr txBox="1"/>
          <p:nvPr/>
        </p:nvSpPr>
        <p:spPr>
          <a:xfrm>
            <a:off x="2651760" y="3474720"/>
            <a:ext cx="1645920" cy="566928"/>
          </a:xfrm>
          <a:prstGeom prst="rect">
            <a:avLst/>
          </a:prstGeom>
          <a:noFill/>
          <a:ln/>
        </p:spPr>
        <p:txBody>
          <a:bodyPr wrap="square" lIns="0" tIns="0" rIns="0" bIns="0" rtlCol="0" anchor="ctr"/>
          <a:lstStyle/>
          <a:p>
            <a:pPr algn="l" indent="0" marL="0">
              <a:buNone/>
            </a:pPr>
            <a:r>
              <a:rPr lang="en-US" sz="2800" b="1" dirty="0">
                <a:solidFill>
                  <a:schemeClr val="accent4"/>
                </a:solidFill>
                <a:latin typeface="+mj-lt" pitchFamily="34" charset="0"/>
                <a:ea typeface="+mj-lt" pitchFamily="34" charset="-122"/>
                <a:cs typeface="+mj-lt" pitchFamily="34" charset="-120"/>
              </a:rPr>
              <a:t>zit</a:t>
            </a:r>
            <a:endParaRPr lang="en-US" sz="2800" dirty="0"/>
          </a:p>
        </p:txBody>
      </p:sp>
      <p:sp>
        <p:nvSpPr>
          <p:cNvPr id="47" name="Shape 37"/>
          <p:cNvSpPr/>
          <p:nvPr/>
        </p:nvSpPr>
        <p:spPr>
          <a:xfrm>
            <a:off x="2679192" y="4078224"/>
            <a:ext cx="411480" cy="100584"/>
          </a:xfrm>
          <a:prstGeom prst="roundRect">
            <a:avLst>
              <a:gd name="adj" fmla="val 45455"/>
            </a:avLst>
          </a:prstGeom>
          <a:solidFill>
            <a:schemeClr val="accent4"/>
          </a:solidFill>
          <a:ln w="12700">
            <a:solidFill>
              <a:srgbClr val="FFFFFF">
                <a:alpha val="0"/>
              </a:srgbClr>
            </a:solidFill>
            <a:prstDash val="solid"/>
          </a:ln>
        </p:spPr>
      </p:sp>
      <p:sp>
        <p:nvSpPr>
          <p:cNvPr id="48" name="Text 38"/>
          <p:cNvSpPr txBox="1"/>
          <p:nvPr/>
        </p:nvSpPr>
        <p:spPr>
          <a:xfrm>
            <a:off x="4251960" y="3474720"/>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est assis</a:t>
            </a:r>
            <a:endParaRPr lang="en-US" sz="1400" dirty="0"/>
          </a:p>
        </p:txBody>
      </p:sp>
      <p:sp>
        <p:nvSpPr>
          <p:cNvPr id="49" name="tag"/>
          <p:cNvSpPr/>
          <p:nvPr/>
        </p:nvSpPr>
        <p:spPr>
          <a:xfrm>
            <a:off x="5029200" y="3547872"/>
            <a:ext cx="86029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COURT</a:t>
            </a:r>
            <a:endParaRPr lang="en-US" sz="1100" dirty="0"/>
          </a:p>
        </p:txBody>
      </p:sp>
      <p:sp>
        <p:nvSpPr>
          <p:cNvPr id="50" name="Shape 40"/>
          <p:cNvSpPr/>
          <p:nvPr/>
        </p:nvSpPr>
        <p:spPr>
          <a:xfrm>
            <a:off x="6355080" y="3474720"/>
            <a:ext cx="4297680" cy="841248"/>
          </a:xfrm>
          <a:prstGeom prst="roundRect">
            <a:avLst>
              <a:gd name="adj" fmla="val 8696"/>
            </a:avLst>
          </a:prstGeom>
          <a:solidFill>
            <a:schemeClr val="bg1"/>
          </a:solidFill>
          <a:ln w="38100">
            <a:solidFill>
              <a:srgbClr val="2E7D4F"/>
            </a:solidFill>
            <a:prstDash val="solid"/>
          </a:ln>
        </p:spPr>
      </p:sp>
      <p:pic>
        <p:nvPicPr>
          <p:cNvPr id="51" name="Image 7" descr="eyes">    </p:cNvPr>
          <p:cNvPicPr>
            <a:picLocks noChangeAspect="1"/>
          </p:cNvPicPr>
          <p:nvPr/>
        </p:nvPicPr>
        <p:blipFill>
          <a:blip r:embed="rId8"/>
          <a:stretch>
            <a:fillRect/>
          </a:stretch>
        </p:blipFill>
        <p:spPr>
          <a:xfrm>
            <a:off x="6492240" y="3547872"/>
            <a:ext cx="694944" cy="694944"/>
          </a:xfrm>
          <a:prstGeom prst="rect">
            <a:avLst/>
          </a:prstGeom>
        </p:spPr>
      </p:pic>
      <p:sp>
        <p:nvSpPr>
          <p:cNvPr id="52" name="Text 41"/>
          <p:cNvSpPr txBox="1"/>
          <p:nvPr/>
        </p:nvSpPr>
        <p:spPr>
          <a:xfrm>
            <a:off x="7406640" y="3474720"/>
            <a:ext cx="1645920" cy="566928"/>
          </a:xfrm>
          <a:prstGeom prst="rect">
            <a:avLst/>
          </a:prstGeom>
          <a:noFill/>
          <a:ln/>
        </p:spPr>
        <p:txBody>
          <a:bodyPr wrap="square" lIns="0" tIns="0" rIns="0" bIns="0" rtlCol="0" anchor="ctr"/>
          <a:lstStyle/>
          <a:p>
            <a:pPr algn="l" indent="0" marL="0">
              <a:buNone/>
            </a:pPr>
            <a:r>
              <a:rPr lang="en-US" sz="2800" b="1" dirty="0">
                <a:solidFill>
                  <a:schemeClr val="accent3"/>
                </a:solidFill>
                <a:latin typeface="+mj-lt" pitchFamily="34" charset="0"/>
                <a:ea typeface="+mj-lt" pitchFamily="34" charset="-122"/>
                <a:cs typeface="+mj-lt" pitchFamily="34" charset="-120"/>
              </a:rPr>
              <a:t>ziet</a:t>
            </a:r>
            <a:endParaRPr lang="en-US" sz="2800" dirty="0"/>
          </a:p>
        </p:txBody>
      </p:sp>
      <p:sp>
        <p:nvSpPr>
          <p:cNvPr id="53" name="Shape 42"/>
          <p:cNvSpPr/>
          <p:nvPr/>
        </p:nvSpPr>
        <p:spPr>
          <a:xfrm>
            <a:off x="7434072" y="4078224"/>
            <a:ext cx="1463040" cy="100584"/>
          </a:xfrm>
          <a:prstGeom prst="roundRect">
            <a:avLst>
              <a:gd name="adj" fmla="val 45455"/>
            </a:avLst>
          </a:prstGeom>
          <a:solidFill>
            <a:schemeClr val="accent3"/>
          </a:solidFill>
          <a:ln w="12700">
            <a:solidFill>
              <a:srgbClr val="FFFFFF">
                <a:alpha val="0"/>
              </a:srgbClr>
            </a:solidFill>
            <a:prstDash val="solid"/>
          </a:ln>
        </p:spPr>
      </p:sp>
      <p:sp>
        <p:nvSpPr>
          <p:cNvPr id="54" name="Text 43"/>
          <p:cNvSpPr txBox="1"/>
          <p:nvPr/>
        </p:nvSpPr>
        <p:spPr>
          <a:xfrm>
            <a:off x="9006840" y="3474720"/>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voit</a:t>
            </a:r>
            <a:endParaRPr lang="en-US" sz="1400" dirty="0"/>
          </a:p>
        </p:txBody>
      </p:sp>
      <p:sp>
        <p:nvSpPr>
          <p:cNvPr id="55" name="tag"/>
          <p:cNvSpPr/>
          <p:nvPr/>
        </p:nvSpPr>
        <p:spPr>
          <a:xfrm>
            <a:off x="9784080" y="3547872"/>
            <a:ext cx="761390"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LONG</a:t>
            </a:r>
            <a:endParaRPr lang="en-US" sz="1100" dirty="0"/>
          </a:p>
        </p:txBody>
      </p:sp>
      <p:pic>
        <p:nvPicPr>
          <p:cNvPr id="56" name="Image 8" descr="VolumeUp">    </p:cNvPr>
          <p:cNvPicPr>
            <a:picLocks noChangeAspect="1"/>
          </p:cNvPicPr>
          <p:nvPr/>
        </p:nvPicPr>
        <p:blipFill>
          <a:blip r:embed="rId9"/>
          <a:stretch>
            <a:fillRect/>
          </a:stretch>
        </p:blipFill>
        <p:spPr>
          <a:xfrm>
            <a:off x="11064240" y="3712464"/>
            <a:ext cx="384048" cy="384048"/>
          </a:xfrm>
          <a:prstGeom prst="rect">
            <a:avLst/>
          </a:prstGeom>
        </p:spPr>
      </p:pic>
      <p:sp>
        <p:nvSpPr>
          <p:cNvPr id="57" name="Shape 45"/>
          <p:cNvSpPr/>
          <p:nvPr/>
        </p:nvSpPr>
        <p:spPr>
          <a:xfrm>
            <a:off x="548640" y="4544568"/>
            <a:ext cx="603504" cy="603504"/>
          </a:xfrm>
          <a:prstGeom prst="ellipse">
            <a:avLst/>
          </a:prstGeom>
          <a:solidFill>
            <a:schemeClr val="tx2"/>
          </a:solidFill>
          <a:ln w="12700">
            <a:solidFill>
              <a:srgbClr val="FFFFFF">
                <a:alpha val="0"/>
              </a:srgbClr>
            </a:solidFill>
            <a:prstDash val="solid"/>
          </a:ln>
        </p:spPr>
      </p:sp>
      <p:sp>
        <p:nvSpPr>
          <p:cNvPr id="58" name="Text 46"/>
          <p:cNvSpPr txBox="1"/>
          <p:nvPr/>
        </p:nvSpPr>
        <p:spPr>
          <a:xfrm>
            <a:off x="548640" y="454456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O</a:t>
            </a:r>
            <a:endParaRPr lang="en-US" sz="2200" dirty="0"/>
          </a:p>
        </p:txBody>
      </p:sp>
      <p:sp>
        <p:nvSpPr>
          <p:cNvPr id="59" name="Shape 47"/>
          <p:cNvSpPr/>
          <p:nvPr/>
        </p:nvSpPr>
        <p:spPr>
          <a:xfrm>
            <a:off x="1170432" y="4846320"/>
            <a:ext cx="384048" cy="914"/>
          </a:xfrm>
          <a:prstGeom prst="line">
            <a:avLst/>
          </a:prstGeom>
          <a:noFill/>
          <a:ln w="15875">
            <a:solidFill>
              <a:srgbClr val="D5DCE6"/>
            </a:solidFill>
            <a:prstDash val="solid"/>
            <a:tailEnd type="triangle"/>
          </a:ln>
        </p:spPr>
      </p:sp>
      <p:sp>
        <p:nvSpPr>
          <p:cNvPr id="60" name="Shape 48"/>
          <p:cNvSpPr/>
          <p:nvPr/>
        </p:nvSpPr>
        <p:spPr>
          <a:xfrm>
            <a:off x="5916168" y="4846320"/>
            <a:ext cx="393192" cy="914"/>
          </a:xfrm>
          <a:prstGeom prst="line">
            <a:avLst/>
          </a:prstGeom>
          <a:noFill/>
          <a:ln w="15875">
            <a:solidFill>
              <a:srgbClr val="D5DCE6"/>
            </a:solidFill>
            <a:prstDash val="solid"/>
            <a:tailEnd type="triangle"/>
          </a:ln>
        </p:spPr>
      </p:sp>
      <p:sp>
        <p:nvSpPr>
          <p:cNvPr id="61" name="Shape 49"/>
          <p:cNvSpPr/>
          <p:nvPr/>
        </p:nvSpPr>
        <p:spPr>
          <a:xfrm>
            <a:off x="1600200" y="4425696"/>
            <a:ext cx="4297680" cy="841248"/>
          </a:xfrm>
          <a:prstGeom prst="roundRect">
            <a:avLst>
              <a:gd name="adj" fmla="val 8696"/>
            </a:avLst>
          </a:prstGeom>
          <a:solidFill>
            <a:schemeClr val="bg1"/>
          </a:solidFill>
          <a:ln w="38100">
            <a:solidFill>
              <a:srgbClr val="B4236A"/>
            </a:solidFill>
            <a:prstDash val="solid"/>
          </a:ln>
        </p:spPr>
      </p:sp>
      <p:pic>
        <p:nvPicPr>
          <p:cNvPr id="62" name="Image 9" descr="two hearts">    </p:cNvPr>
          <p:cNvPicPr>
            <a:picLocks noChangeAspect="1"/>
          </p:cNvPicPr>
          <p:nvPr/>
        </p:nvPicPr>
        <p:blipFill>
          <a:blip r:embed="rId10"/>
          <a:stretch>
            <a:fillRect/>
          </a:stretch>
        </p:blipFill>
        <p:spPr>
          <a:xfrm>
            <a:off x="1737360" y="4498848"/>
            <a:ext cx="694944" cy="694944"/>
          </a:xfrm>
          <a:prstGeom prst="rect">
            <a:avLst/>
          </a:prstGeom>
        </p:spPr>
      </p:pic>
      <p:sp>
        <p:nvSpPr>
          <p:cNvPr id="63" name="Text 50"/>
          <p:cNvSpPr txBox="1"/>
          <p:nvPr/>
        </p:nvSpPr>
        <p:spPr>
          <a:xfrm>
            <a:off x="2651760" y="4425696"/>
            <a:ext cx="1645920" cy="566928"/>
          </a:xfrm>
          <a:prstGeom prst="rect">
            <a:avLst/>
          </a:prstGeom>
          <a:noFill/>
          <a:ln/>
        </p:spPr>
        <p:txBody>
          <a:bodyPr wrap="square" lIns="0" tIns="0" rIns="0" bIns="0" rtlCol="0" anchor="ctr"/>
          <a:lstStyle/>
          <a:p>
            <a:pPr algn="l" indent="0" marL="0">
              <a:buNone/>
            </a:pPr>
            <a:r>
              <a:rPr lang="en-US" sz="2800" b="1" dirty="0">
                <a:solidFill>
                  <a:schemeClr val="accent4"/>
                </a:solidFill>
                <a:latin typeface="+mj-lt" pitchFamily="34" charset="0"/>
                <a:ea typeface="+mj-lt" pitchFamily="34" charset="-122"/>
                <a:cs typeface="+mj-lt" pitchFamily="34" charset="-120"/>
              </a:rPr>
              <a:t>koppel</a:t>
            </a:r>
            <a:endParaRPr lang="en-US" sz="2800" dirty="0"/>
          </a:p>
        </p:txBody>
      </p:sp>
      <p:sp>
        <p:nvSpPr>
          <p:cNvPr id="64" name="Shape 51"/>
          <p:cNvSpPr/>
          <p:nvPr/>
        </p:nvSpPr>
        <p:spPr>
          <a:xfrm>
            <a:off x="2679192" y="5029200"/>
            <a:ext cx="411480" cy="100584"/>
          </a:xfrm>
          <a:prstGeom prst="roundRect">
            <a:avLst>
              <a:gd name="adj" fmla="val 45455"/>
            </a:avLst>
          </a:prstGeom>
          <a:solidFill>
            <a:schemeClr val="accent4"/>
          </a:solidFill>
          <a:ln w="12700">
            <a:solidFill>
              <a:srgbClr val="FFFFFF">
                <a:alpha val="0"/>
              </a:srgbClr>
            </a:solidFill>
            <a:prstDash val="solid"/>
          </a:ln>
        </p:spPr>
      </p:sp>
      <p:sp>
        <p:nvSpPr>
          <p:cNvPr id="65" name="Text 52"/>
          <p:cNvSpPr txBox="1"/>
          <p:nvPr/>
        </p:nvSpPr>
        <p:spPr>
          <a:xfrm>
            <a:off x="4251960" y="4425696"/>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couple</a:t>
            </a:r>
            <a:endParaRPr lang="en-US" sz="1400" dirty="0"/>
          </a:p>
        </p:txBody>
      </p:sp>
      <p:sp>
        <p:nvSpPr>
          <p:cNvPr id="66" name="tag"/>
          <p:cNvSpPr/>
          <p:nvPr/>
        </p:nvSpPr>
        <p:spPr>
          <a:xfrm>
            <a:off x="5029200" y="4498848"/>
            <a:ext cx="86029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COURT</a:t>
            </a:r>
            <a:endParaRPr lang="en-US" sz="1100" dirty="0"/>
          </a:p>
        </p:txBody>
      </p:sp>
      <p:sp>
        <p:nvSpPr>
          <p:cNvPr id="67" name="Shape 54"/>
          <p:cNvSpPr/>
          <p:nvPr/>
        </p:nvSpPr>
        <p:spPr>
          <a:xfrm>
            <a:off x="6355080" y="4425696"/>
            <a:ext cx="4297680" cy="841248"/>
          </a:xfrm>
          <a:prstGeom prst="roundRect">
            <a:avLst>
              <a:gd name="adj" fmla="val 8696"/>
            </a:avLst>
          </a:prstGeom>
          <a:solidFill>
            <a:schemeClr val="bg1"/>
          </a:solidFill>
          <a:ln w="38100">
            <a:solidFill>
              <a:srgbClr val="2E7D4F"/>
            </a:solidFill>
            <a:prstDash val="solid"/>
          </a:ln>
        </p:spPr>
      </p:sp>
      <p:pic>
        <p:nvPicPr>
          <p:cNvPr id="68" name="Image 10" descr="person walking">    </p:cNvPr>
          <p:cNvPicPr>
            <a:picLocks noChangeAspect="1"/>
          </p:cNvPicPr>
          <p:nvPr/>
        </p:nvPicPr>
        <p:blipFill>
          <a:blip r:embed="rId11"/>
          <a:stretch>
            <a:fillRect/>
          </a:stretch>
        </p:blipFill>
        <p:spPr>
          <a:xfrm>
            <a:off x="6492240" y="4498848"/>
            <a:ext cx="694944" cy="694944"/>
          </a:xfrm>
          <a:prstGeom prst="rect">
            <a:avLst/>
          </a:prstGeom>
        </p:spPr>
      </p:pic>
      <p:sp>
        <p:nvSpPr>
          <p:cNvPr id="69" name="Text 55"/>
          <p:cNvSpPr txBox="1"/>
          <p:nvPr/>
        </p:nvSpPr>
        <p:spPr>
          <a:xfrm>
            <a:off x="7406640" y="4425696"/>
            <a:ext cx="1645920" cy="566928"/>
          </a:xfrm>
          <a:prstGeom prst="rect">
            <a:avLst/>
          </a:prstGeom>
          <a:noFill/>
          <a:ln/>
        </p:spPr>
        <p:txBody>
          <a:bodyPr wrap="square" lIns="0" tIns="0" rIns="0" bIns="0" rtlCol="0" anchor="ctr"/>
          <a:lstStyle/>
          <a:p>
            <a:pPr algn="l" indent="0" marL="0">
              <a:buNone/>
            </a:pPr>
            <a:r>
              <a:rPr lang="en-US" sz="2800" b="1" dirty="0">
                <a:solidFill>
                  <a:schemeClr val="accent3"/>
                </a:solidFill>
                <a:latin typeface="+mj-lt" pitchFamily="34" charset="0"/>
                <a:ea typeface="+mj-lt" pitchFamily="34" charset="-122"/>
                <a:cs typeface="+mj-lt" pitchFamily="34" charset="-120"/>
              </a:rPr>
              <a:t>lopen</a:t>
            </a:r>
            <a:endParaRPr lang="en-US" sz="2800" dirty="0"/>
          </a:p>
        </p:txBody>
      </p:sp>
      <p:sp>
        <p:nvSpPr>
          <p:cNvPr id="70" name="Shape 56"/>
          <p:cNvSpPr/>
          <p:nvPr/>
        </p:nvSpPr>
        <p:spPr>
          <a:xfrm>
            <a:off x="7434072" y="5029200"/>
            <a:ext cx="1463040" cy="100584"/>
          </a:xfrm>
          <a:prstGeom prst="roundRect">
            <a:avLst>
              <a:gd name="adj" fmla="val 45455"/>
            </a:avLst>
          </a:prstGeom>
          <a:solidFill>
            <a:schemeClr val="accent3"/>
          </a:solidFill>
          <a:ln w="12700">
            <a:solidFill>
              <a:srgbClr val="FFFFFF">
                <a:alpha val="0"/>
              </a:srgbClr>
            </a:solidFill>
            <a:prstDash val="solid"/>
          </a:ln>
        </p:spPr>
      </p:sp>
      <p:sp>
        <p:nvSpPr>
          <p:cNvPr id="71" name="Text 57"/>
          <p:cNvSpPr txBox="1"/>
          <p:nvPr/>
        </p:nvSpPr>
        <p:spPr>
          <a:xfrm>
            <a:off x="9006840" y="4425696"/>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marcher</a:t>
            </a:r>
            <a:endParaRPr lang="en-US" sz="1400" dirty="0"/>
          </a:p>
        </p:txBody>
      </p:sp>
      <p:sp>
        <p:nvSpPr>
          <p:cNvPr id="72" name="tag"/>
          <p:cNvSpPr/>
          <p:nvPr/>
        </p:nvSpPr>
        <p:spPr>
          <a:xfrm>
            <a:off x="9784080" y="4498848"/>
            <a:ext cx="761390"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LONG</a:t>
            </a:r>
            <a:endParaRPr lang="en-US" sz="1100" dirty="0"/>
          </a:p>
        </p:txBody>
      </p:sp>
      <p:pic>
        <p:nvPicPr>
          <p:cNvPr id="73" name="Image 11" descr="VolumeUp">    </p:cNvPr>
          <p:cNvPicPr>
            <a:picLocks noChangeAspect="1"/>
          </p:cNvPicPr>
          <p:nvPr/>
        </p:nvPicPr>
        <p:blipFill>
          <a:blip r:embed="rId12"/>
          <a:stretch>
            <a:fillRect/>
          </a:stretch>
        </p:blipFill>
        <p:spPr>
          <a:xfrm>
            <a:off x="11064240" y="4663440"/>
            <a:ext cx="384048" cy="384048"/>
          </a:xfrm>
          <a:prstGeom prst="rect">
            <a:avLst/>
          </a:prstGeom>
        </p:spPr>
      </p:pic>
      <p:sp>
        <p:nvSpPr>
          <p:cNvPr id="74" name="Shape 59"/>
          <p:cNvSpPr/>
          <p:nvPr/>
        </p:nvSpPr>
        <p:spPr>
          <a:xfrm>
            <a:off x="548640" y="5495544"/>
            <a:ext cx="603504" cy="603504"/>
          </a:xfrm>
          <a:prstGeom prst="ellipse">
            <a:avLst/>
          </a:prstGeom>
          <a:solidFill>
            <a:schemeClr val="tx2"/>
          </a:solidFill>
          <a:ln w="12700">
            <a:solidFill>
              <a:srgbClr val="FFFFFF">
                <a:alpha val="0"/>
              </a:srgbClr>
            </a:solidFill>
            <a:prstDash val="solid"/>
          </a:ln>
        </p:spPr>
      </p:sp>
      <p:sp>
        <p:nvSpPr>
          <p:cNvPr id="75" name="Text 60"/>
          <p:cNvSpPr txBox="1"/>
          <p:nvPr/>
        </p:nvSpPr>
        <p:spPr>
          <a:xfrm>
            <a:off x="548640" y="5495544"/>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rPr>
              <a:t>U</a:t>
            </a:r>
            <a:endParaRPr lang="en-US" sz="2200" dirty="0"/>
          </a:p>
        </p:txBody>
      </p:sp>
      <p:sp>
        <p:nvSpPr>
          <p:cNvPr id="76" name="Shape 61"/>
          <p:cNvSpPr/>
          <p:nvPr/>
        </p:nvSpPr>
        <p:spPr>
          <a:xfrm>
            <a:off x="1170432" y="5797296"/>
            <a:ext cx="384048" cy="914"/>
          </a:xfrm>
          <a:prstGeom prst="line">
            <a:avLst/>
          </a:prstGeom>
          <a:noFill/>
          <a:ln w="15875">
            <a:solidFill>
              <a:srgbClr val="D5DCE6"/>
            </a:solidFill>
            <a:prstDash val="solid"/>
            <a:tailEnd type="triangle"/>
          </a:ln>
        </p:spPr>
      </p:sp>
      <p:sp>
        <p:nvSpPr>
          <p:cNvPr id="77" name="Shape 62"/>
          <p:cNvSpPr/>
          <p:nvPr/>
        </p:nvSpPr>
        <p:spPr>
          <a:xfrm>
            <a:off x="5916168" y="5797296"/>
            <a:ext cx="393192" cy="914"/>
          </a:xfrm>
          <a:prstGeom prst="line">
            <a:avLst/>
          </a:prstGeom>
          <a:noFill/>
          <a:ln w="15875">
            <a:solidFill>
              <a:srgbClr val="D5DCE6"/>
            </a:solidFill>
            <a:prstDash val="solid"/>
            <a:tailEnd type="triangle"/>
          </a:ln>
        </p:spPr>
      </p:sp>
      <p:sp>
        <p:nvSpPr>
          <p:cNvPr id="78" name="Shape 63"/>
          <p:cNvSpPr/>
          <p:nvPr/>
        </p:nvSpPr>
        <p:spPr>
          <a:xfrm>
            <a:off x="1600200" y="5376672"/>
            <a:ext cx="4297680" cy="841248"/>
          </a:xfrm>
          <a:prstGeom prst="roundRect">
            <a:avLst>
              <a:gd name="adj" fmla="val 8696"/>
            </a:avLst>
          </a:prstGeom>
          <a:solidFill>
            <a:schemeClr val="bg1"/>
          </a:solidFill>
          <a:ln w="38100">
            <a:solidFill>
              <a:srgbClr val="B4236A"/>
            </a:solidFill>
            <a:prstDash val="solid"/>
          </a:ln>
        </p:spPr>
      </p:sp>
      <p:pic>
        <p:nvPicPr>
          <p:cNvPr id="79" name="Image 12" descr="kiss mark">    </p:cNvPr>
          <p:cNvPicPr>
            <a:picLocks noChangeAspect="1"/>
          </p:cNvPicPr>
          <p:nvPr/>
        </p:nvPicPr>
        <p:blipFill>
          <a:blip r:embed="rId13"/>
          <a:stretch>
            <a:fillRect/>
          </a:stretch>
        </p:blipFill>
        <p:spPr>
          <a:xfrm>
            <a:off x="1737360" y="5449824"/>
            <a:ext cx="694944" cy="694944"/>
          </a:xfrm>
          <a:prstGeom prst="rect">
            <a:avLst/>
          </a:prstGeom>
        </p:spPr>
      </p:pic>
      <p:sp>
        <p:nvSpPr>
          <p:cNvPr id="80" name="Text 64"/>
          <p:cNvSpPr txBox="1"/>
          <p:nvPr/>
        </p:nvSpPr>
        <p:spPr>
          <a:xfrm>
            <a:off x="2651760" y="5376672"/>
            <a:ext cx="1645920" cy="566928"/>
          </a:xfrm>
          <a:prstGeom prst="rect">
            <a:avLst/>
          </a:prstGeom>
          <a:noFill/>
          <a:ln/>
        </p:spPr>
        <p:txBody>
          <a:bodyPr wrap="square" lIns="0" tIns="0" rIns="0" bIns="0" rtlCol="0" anchor="ctr"/>
          <a:lstStyle/>
          <a:p>
            <a:pPr algn="l" indent="0" marL="0">
              <a:buNone/>
            </a:pPr>
            <a:r>
              <a:rPr lang="en-US" sz="2800" b="1" dirty="0">
                <a:solidFill>
                  <a:schemeClr val="accent4"/>
                </a:solidFill>
                <a:latin typeface="+mj-lt" pitchFamily="34" charset="0"/>
                <a:ea typeface="+mj-lt" pitchFamily="34" charset="-122"/>
                <a:cs typeface="+mj-lt" pitchFamily="34" charset="-120"/>
              </a:rPr>
              <a:t>kus</a:t>
            </a:r>
            <a:endParaRPr lang="en-US" sz="2800" dirty="0"/>
          </a:p>
        </p:txBody>
      </p:sp>
      <p:sp>
        <p:nvSpPr>
          <p:cNvPr id="81" name="Shape 65"/>
          <p:cNvSpPr/>
          <p:nvPr/>
        </p:nvSpPr>
        <p:spPr>
          <a:xfrm>
            <a:off x="2679192" y="5980176"/>
            <a:ext cx="411480" cy="100584"/>
          </a:xfrm>
          <a:prstGeom prst="roundRect">
            <a:avLst>
              <a:gd name="adj" fmla="val 45455"/>
            </a:avLst>
          </a:prstGeom>
          <a:solidFill>
            <a:schemeClr val="accent4"/>
          </a:solidFill>
          <a:ln w="12700">
            <a:solidFill>
              <a:srgbClr val="FFFFFF">
                <a:alpha val="0"/>
              </a:srgbClr>
            </a:solidFill>
            <a:prstDash val="solid"/>
          </a:ln>
        </p:spPr>
      </p:sp>
      <p:sp>
        <p:nvSpPr>
          <p:cNvPr id="82" name="Text 66"/>
          <p:cNvSpPr txBox="1"/>
          <p:nvPr/>
        </p:nvSpPr>
        <p:spPr>
          <a:xfrm>
            <a:off x="4251960" y="5376672"/>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bisou</a:t>
            </a:r>
            <a:endParaRPr lang="en-US" sz="1400" dirty="0"/>
          </a:p>
        </p:txBody>
      </p:sp>
      <p:sp>
        <p:nvSpPr>
          <p:cNvPr id="83" name="tag"/>
          <p:cNvSpPr/>
          <p:nvPr/>
        </p:nvSpPr>
        <p:spPr>
          <a:xfrm>
            <a:off x="5029200" y="5449824"/>
            <a:ext cx="86029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COURT</a:t>
            </a:r>
            <a:endParaRPr lang="en-US" sz="1100" dirty="0"/>
          </a:p>
        </p:txBody>
      </p:sp>
      <p:sp>
        <p:nvSpPr>
          <p:cNvPr id="84" name="Shape 68"/>
          <p:cNvSpPr/>
          <p:nvPr/>
        </p:nvSpPr>
        <p:spPr>
          <a:xfrm>
            <a:off x="6355080" y="5376672"/>
            <a:ext cx="4297680" cy="841248"/>
          </a:xfrm>
          <a:prstGeom prst="roundRect">
            <a:avLst>
              <a:gd name="adj" fmla="val 8696"/>
            </a:avLst>
          </a:prstGeom>
          <a:solidFill>
            <a:schemeClr val="bg1"/>
          </a:solidFill>
          <a:ln w="38100">
            <a:solidFill>
              <a:srgbClr val="2E7D4F"/>
            </a:solidFill>
            <a:prstDash val="solid"/>
          </a:ln>
        </p:spPr>
      </p:sp>
      <p:pic>
        <p:nvPicPr>
          <p:cNvPr id="85" name="Image 13" descr="fire">    </p:cNvPr>
          <p:cNvPicPr>
            <a:picLocks noChangeAspect="1"/>
          </p:cNvPicPr>
          <p:nvPr/>
        </p:nvPicPr>
        <p:blipFill>
          <a:blip r:embed="rId14"/>
          <a:stretch>
            <a:fillRect/>
          </a:stretch>
        </p:blipFill>
        <p:spPr>
          <a:xfrm>
            <a:off x="6492240" y="5449824"/>
            <a:ext cx="694944" cy="694944"/>
          </a:xfrm>
          <a:prstGeom prst="rect">
            <a:avLst/>
          </a:prstGeom>
        </p:spPr>
      </p:pic>
      <p:sp>
        <p:nvSpPr>
          <p:cNvPr id="86" name="Text 69"/>
          <p:cNvSpPr txBox="1"/>
          <p:nvPr/>
        </p:nvSpPr>
        <p:spPr>
          <a:xfrm>
            <a:off x="7406640" y="5376672"/>
            <a:ext cx="1645920" cy="566928"/>
          </a:xfrm>
          <a:prstGeom prst="rect">
            <a:avLst/>
          </a:prstGeom>
          <a:noFill/>
          <a:ln/>
        </p:spPr>
        <p:txBody>
          <a:bodyPr wrap="square" lIns="0" tIns="0" rIns="0" bIns="0" rtlCol="0" anchor="ctr"/>
          <a:lstStyle/>
          <a:p>
            <a:pPr algn="l" indent="0" marL="0">
              <a:buNone/>
            </a:pPr>
            <a:r>
              <a:rPr lang="en-US" sz="2800" b="1" dirty="0">
                <a:solidFill>
                  <a:schemeClr val="accent3"/>
                </a:solidFill>
                <a:latin typeface="+mj-lt" pitchFamily="34" charset="0"/>
                <a:ea typeface="+mj-lt" pitchFamily="34" charset="-122"/>
                <a:cs typeface="+mj-lt" pitchFamily="34" charset="-120"/>
              </a:rPr>
              <a:t>vuur</a:t>
            </a:r>
            <a:endParaRPr lang="en-US" sz="2800" dirty="0"/>
          </a:p>
        </p:txBody>
      </p:sp>
      <p:sp>
        <p:nvSpPr>
          <p:cNvPr id="87" name="Shape 70"/>
          <p:cNvSpPr/>
          <p:nvPr/>
        </p:nvSpPr>
        <p:spPr>
          <a:xfrm>
            <a:off x="7434072" y="5980176"/>
            <a:ext cx="1463040" cy="100584"/>
          </a:xfrm>
          <a:prstGeom prst="roundRect">
            <a:avLst>
              <a:gd name="adj" fmla="val 45455"/>
            </a:avLst>
          </a:prstGeom>
          <a:solidFill>
            <a:schemeClr val="accent3"/>
          </a:solidFill>
          <a:ln w="12700">
            <a:solidFill>
              <a:srgbClr val="FFFFFF">
                <a:alpha val="0"/>
              </a:srgbClr>
            </a:solidFill>
            <a:prstDash val="solid"/>
          </a:ln>
        </p:spPr>
      </p:sp>
      <p:sp>
        <p:nvSpPr>
          <p:cNvPr id="88" name="Text 71"/>
          <p:cNvSpPr txBox="1"/>
          <p:nvPr/>
        </p:nvSpPr>
        <p:spPr>
          <a:xfrm>
            <a:off x="9006840" y="5376672"/>
            <a:ext cx="1097280" cy="841248"/>
          </a:xfrm>
          <a:prstGeom prst="rect">
            <a:avLst/>
          </a:prstGeom>
          <a:noFill/>
          <a:ln/>
        </p:spPr>
        <p:txBody>
          <a:bodyPr wrap="square" lIns="0" tIns="0" rIns="0" bIns="0" rtlCol="0" anchor="ctr"/>
          <a:lstStyle/>
          <a:p>
            <a:pPr algn="l" indent="0" marL="0">
              <a:buNone/>
            </a:pPr>
            <a:r>
              <a:rPr lang="en-US" sz="1400" i="1" dirty="0">
                <a:solidFill>
                  <a:schemeClr val="accent5"/>
                </a:solidFill>
              </a:rPr>
              <a:t>le feu</a:t>
            </a:r>
            <a:endParaRPr lang="en-US" sz="1400" dirty="0"/>
          </a:p>
        </p:txBody>
      </p:sp>
      <p:sp>
        <p:nvSpPr>
          <p:cNvPr id="89" name="tag"/>
          <p:cNvSpPr/>
          <p:nvPr/>
        </p:nvSpPr>
        <p:spPr>
          <a:xfrm>
            <a:off x="9784080" y="5449824"/>
            <a:ext cx="761390"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LONG</a:t>
            </a:r>
            <a:endParaRPr lang="en-US" sz="1100" dirty="0"/>
          </a:p>
        </p:txBody>
      </p:sp>
      <p:pic>
        <p:nvPicPr>
          <p:cNvPr id="90" name="Image 14" descr="VolumeUp">    </p:cNvPr>
          <p:cNvPicPr>
            <a:picLocks noChangeAspect="1"/>
          </p:cNvPicPr>
          <p:nvPr/>
        </p:nvPicPr>
        <p:blipFill>
          <a:blip r:embed="rId15"/>
          <a:stretch>
            <a:fillRect/>
          </a:stretch>
        </p:blipFill>
        <p:spPr>
          <a:xfrm>
            <a:off x="11064240" y="5614416"/>
            <a:ext cx="384048" cy="384048"/>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règle en une image : la syllabe-porte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pic>
        <p:nvPicPr>
          <p:cNvPr id="5" name="Image 0" descr="DoorOpen">    </p:cNvPr>
          <p:cNvPicPr>
            <a:picLocks noChangeAspect="1"/>
          </p:cNvPicPr>
          <p:nvPr/>
        </p:nvPicPr>
        <p:blipFill>
          <a:blip r:embed="rId1"/>
          <a:stretch>
            <a:fillRect/>
          </a:stretch>
        </p:blipFill>
        <p:spPr>
          <a:xfrm>
            <a:off x="1508760" y="1600200"/>
            <a:ext cx="685800" cy="685800"/>
          </a:xfrm>
          <a:prstGeom prst="rect">
            <a:avLst/>
          </a:prstGeom>
        </p:spPr>
      </p:pic>
      <p:sp>
        <p:nvSpPr>
          <p:cNvPr id="6" name="Shape 2"/>
          <p:cNvSpPr/>
          <p:nvPr/>
        </p:nvSpPr>
        <p:spPr>
          <a:xfrm>
            <a:off x="914400" y="2423160"/>
            <a:ext cx="1828800" cy="914"/>
          </a:xfrm>
          <a:prstGeom prst="line">
            <a:avLst/>
          </a:prstGeom>
          <a:noFill/>
          <a:ln w="25400">
            <a:solidFill>
              <a:srgbClr val="17375E"/>
            </a:solidFill>
            <a:prstDash val="solid"/>
          </a:ln>
        </p:spPr>
      </p:sp>
      <p:sp>
        <p:nvSpPr>
          <p:cNvPr id="7" name="Shape 3"/>
          <p:cNvSpPr/>
          <p:nvPr/>
        </p:nvSpPr>
        <p:spPr>
          <a:xfrm>
            <a:off x="914400" y="3611880"/>
            <a:ext cx="1828800" cy="914"/>
          </a:xfrm>
          <a:prstGeom prst="line">
            <a:avLst/>
          </a:prstGeom>
          <a:noFill/>
          <a:ln w="25400">
            <a:solidFill>
              <a:srgbClr val="17375E"/>
            </a:solidFill>
            <a:prstDash val="solid"/>
          </a:ln>
        </p:spPr>
      </p:sp>
      <p:sp>
        <p:nvSpPr>
          <p:cNvPr id="8" name="Shape 4"/>
          <p:cNvSpPr/>
          <p:nvPr/>
        </p:nvSpPr>
        <p:spPr>
          <a:xfrm>
            <a:off x="914400" y="2423160"/>
            <a:ext cx="914" cy="1188720"/>
          </a:xfrm>
          <a:prstGeom prst="line">
            <a:avLst/>
          </a:prstGeom>
          <a:noFill/>
          <a:ln w="25400">
            <a:solidFill>
              <a:srgbClr val="17375E"/>
            </a:solidFill>
            <a:prstDash val="solid"/>
          </a:ln>
        </p:spPr>
      </p:sp>
      <p:sp>
        <p:nvSpPr>
          <p:cNvPr id="9" name="Text 5"/>
          <p:cNvSpPr txBox="1"/>
          <p:nvPr/>
        </p:nvSpPr>
        <p:spPr>
          <a:xfrm>
            <a:off x="914400" y="2423160"/>
            <a:ext cx="1828800" cy="1188720"/>
          </a:xfrm>
          <a:prstGeom prst="rect">
            <a:avLst/>
          </a:prstGeom>
          <a:noFill/>
          <a:ln/>
        </p:spPr>
        <p:txBody>
          <a:bodyPr wrap="square" lIns="0" tIns="0" rIns="0" bIns="0" rtlCol="0" anchor="ctr"/>
          <a:lstStyle/>
          <a:p>
            <a:pPr algn="ctr" indent="0" marL="0">
              <a:buNone/>
            </a:pPr>
            <a:r>
              <a:rPr lang="en-US" sz="4400" b="1" dirty="0">
                <a:solidFill>
                  <a:schemeClr val="tx1"/>
                </a:solidFill>
                <a:latin typeface="+mj-lt" pitchFamily="34" charset="0"/>
                <a:ea typeface="+mj-lt" pitchFamily="34" charset="-122"/>
                <a:cs typeface="+mj-lt" pitchFamily="34" charset="-120"/>
              </a:rPr>
              <a:t>L</a:t>
            </a:r>
            <a:r>
              <a:rPr lang="en-US" sz="4400" b="1" dirty="0">
                <a:solidFill>
                  <a:schemeClr val="accent3"/>
                </a:solidFill>
                <a:latin typeface="+mj-lt" pitchFamily="34" charset="0"/>
                <a:ea typeface="+mj-lt" pitchFamily="34" charset="-122"/>
                <a:cs typeface="+mj-lt" pitchFamily="34" charset="-120"/>
              </a:rPr>
              <a:t>A</a:t>
            </a:r>
            <a:endParaRPr lang="en-US" sz="4400" dirty="0"/>
          </a:p>
        </p:txBody>
      </p:sp>
      <p:sp>
        <p:nvSpPr>
          <p:cNvPr id="10" name="Shape 6"/>
          <p:cNvSpPr/>
          <p:nvPr/>
        </p:nvSpPr>
        <p:spPr>
          <a:xfrm>
            <a:off x="2971800" y="2423160"/>
            <a:ext cx="2103120" cy="914"/>
          </a:xfrm>
          <a:prstGeom prst="line">
            <a:avLst/>
          </a:prstGeom>
          <a:noFill/>
          <a:ln w="25400">
            <a:solidFill>
              <a:srgbClr val="17375E"/>
            </a:solidFill>
            <a:prstDash val="solid"/>
          </a:ln>
        </p:spPr>
      </p:sp>
      <p:sp>
        <p:nvSpPr>
          <p:cNvPr id="11" name="Shape 7"/>
          <p:cNvSpPr/>
          <p:nvPr/>
        </p:nvSpPr>
        <p:spPr>
          <a:xfrm>
            <a:off x="2971800" y="3611880"/>
            <a:ext cx="2103120" cy="914"/>
          </a:xfrm>
          <a:prstGeom prst="line">
            <a:avLst/>
          </a:prstGeom>
          <a:noFill/>
          <a:ln w="25400">
            <a:solidFill>
              <a:srgbClr val="17375E"/>
            </a:solidFill>
            <a:prstDash val="solid"/>
          </a:ln>
        </p:spPr>
      </p:sp>
      <p:sp>
        <p:nvSpPr>
          <p:cNvPr id="12" name="Shape 8"/>
          <p:cNvSpPr/>
          <p:nvPr/>
        </p:nvSpPr>
        <p:spPr>
          <a:xfrm>
            <a:off x="2971800" y="2423160"/>
            <a:ext cx="914" cy="1188720"/>
          </a:xfrm>
          <a:prstGeom prst="line">
            <a:avLst/>
          </a:prstGeom>
          <a:noFill/>
          <a:ln w="25400">
            <a:solidFill>
              <a:srgbClr val="17375E"/>
            </a:solidFill>
            <a:prstDash val="solid"/>
          </a:ln>
        </p:spPr>
      </p:sp>
      <p:sp>
        <p:nvSpPr>
          <p:cNvPr id="13" name="Shape 9"/>
          <p:cNvSpPr/>
          <p:nvPr/>
        </p:nvSpPr>
        <p:spPr>
          <a:xfrm>
            <a:off x="5074920" y="2423160"/>
            <a:ext cx="914" cy="1188720"/>
          </a:xfrm>
          <a:prstGeom prst="line">
            <a:avLst/>
          </a:prstGeom>
          <a:noFill/>
          <a:ln w="25400">
            <a:solidFill>
              <a:srgbClr val="17375E"/>
            </a:solidFill>
            <a:prstDash val="solid"/>
          </a:ln>
        </p:spPr>
      </p:sp>
      <p:sp>
        <p:nvSpPr>
          <p:cNvPr id="14" name="Text 10"/>
          <p:cNvSpPr txBox="1"/>
          <p:nvPr/>
        </p:nvSpPr>
        <p:spPr>
          <a:xfrm>
            <a:off x="2971800" y="2423160"/>
            <a:ext cx="2103120" cy="1188720"/>
          </a:xfrm>
          <a:prstGeom prst="rect">
            <a:avLst/>
          </a:prstGeom>
          <a:noFill/>
          <a:ln/>
        </p:spPr>
        <p:txBody>
          <a:bodyPr wrap="square" lIns="0" tIns="0" rIns="0" bIns="0" rtlCol="0" anchor="ctr"/>
          <a:lstStyle/>
          <a:p>
            <a:pPr algn="ctr" indent="0" marL="0">
              <a:buNone/>
            </a:pPr>
            <a:r>
              <a:rPr lang="en-US" sz="4400" b="1" dirty="0">
                <a:solidFill>
                  <a:schemeClr val="tx1"/>
                </a:solidFill>
                <a:latin typeface="+mj-lt" pitchFamily="34" charset="0"/>
                <a:ea typeface="+mj-lt" pitchFamily="34" charset="-122"/>
                <a:cs typeface="+mj-lt" pitchFamily="34" charset="-120"/>
              </a:rPr>
              <a:t>TEN</a:t>
            </a:r>
            <a:endParaRPr lang="en-US" sz="4400" dirty="0"/>
          </a:p>
        </p:txBody>
      </p:sp>
      <p:sp>
        <p:nvSpPr>
          <p:cNvPr id="15" name="Text 11"/>
          <p:cNvSpPr txBox="1"/>
          <p:nvPr/>
        </p:nvSpPr>
        <p:spPr>
          <a:xfrm>
            <a:off x="2697480" y="2423160"/>
            <a:ext cx="320040" cy="1188720"/>
          </a:xfrm>
          <a:prstGeom prst="rect">
            <a:avLst/>
          </a:prstGeom>
          <a:noFill/>
          <a:ln/>
        </p:spPr>
        <p:txBody>
          <a:bodyPr wrap="square" lIns="0" tIns="0" rIns="0" bIns="0" rtlCol="0" anchor="ctr"/>
          <a:lstStyle/>
          <a:p>
            <a:pPr algn="ctr" indent="0" marL="0">
              <a:buNone/>
            </a:pPr>
            <a:r>
              <a:rPr lang="en-US" sz="4000" b="1" dirty="0">
                <a:solidFill>
                  <a:schemeClr val="accent5"/>
                </a:solidFill>
              </a:rPr>
              <a:t>·</a:t>
            </a:r>
            <a:endParaRPr lang="en-US" sz="4000" dirty="0"/>
          </a:p>
        </p:txBody>
      </p:sp>
      <p:sp>
        <p:nvSpPr>
          <p:cNvPr id="16" name="Shape 12"/>
          <p:cNvSpPr/>
          <p:nvPr/>
        </p:nvSpPr>
        <p:spPr>
          <a:xfrm>
            <a:off x="1600200" y="3840480"/>
            <a:ext cx="1005840" cy="914"/>
          </a:xfrm>
          <a:prstGeom prst="line">
            <a:avLst/>
          </a:prstGeom>
          <a:noFill/>
          <a:ln w="31750">
            <a:solidFill>
              <a:srgbClr val="2E7D4F"/>
            </a:solidFill>
            <a:prstDash val="solid"/>
            <a:headEnd type="triangle"/>
            <a:tailEnd type="triangle"/>
          </a:ln>
        </p:spPr>
      </p:sp>
      <p:sp>
        <p:nvSpPr>
          <p:cNvPr id="17" name="Text 13"/>
          <p:cNvSpPr txBox="1"/>
          <p:nvPr/>
        </p:nvSpPr>
        <p:spPr>
          <a:xfrm>
            <a:off x="1097280" y="3931920"/>
            <a:ext cx="2194560" cy="365760"/>
          </a:xfrm>
          <a:prstGeom prst="rect">
            <a:avLst/>
          </a:prstGeom>
          <a:noFill/>
          <a:ln/>
        </p:spPr>
        <p:txBody>
          <a:bodyPr wrap="square" lIns="0" tIns="0" rIns="0" bIns="0" rtlCol="0" anchor="t"/>
          <a:lstStyle/>
          <a:p>
            <a:pPr algn="ctr" indent="0" marL="0">
              <a:buNone/>
            </a:pPr>
            <a:r>
              <a:rPr lang="en-US" sz="1500" i="1" dirty="0">
                <a:solidFill>
                  <a:schemeClr val="accent3"/>
                </a:solidFill>
              </a:rPr>
              <a:t>la voyelle s’étire</a:t>
            </a:r>
            <a:endParaRPr lang="en-US" sz="1500" dirty="0"/>
          </a:p>
        </p:txBody>
      </p:sp>
      <p:sp>
        <p:nvSpPr>
          <p:cNvPr id="18" name="tag"/>
          <p:cNvSpPr/>
          <p:nvPr/>
        </p:nvSpPr>
        <p:spPr>
          <a:xfrm>
            <a:off x="914400" y="4526280"/>
            <a:ext cx="4215994" cy="457200"/>
          </a:xfrm>
          <a:prstGeom prst="roundRect">
            <a:avLst>
              <a:gd name="adj" fmla="val 10000"/>
            </a:avLst>
          </a:prstGeom>
          <a:solidFill>
            <a:schemeClr val="accent3"/>
          </a:solidFill>
          <a:ln/>
        </p:spPr>
        <p:txBody>
          <a:bodyPr wrap="square" lIns="0" tIns="0" rIns="0" bIns="0" rtlCol="0" anchor="ctr"/>
          <a:lstStyle/>
          <a:p>
            <a:pPr algn="ctr" indent="0" marL="0">
              <a:buNone/>
            </a:pPr>
            <a:r>
              <a:rPr lang="en-US" sz="1600" b="1" spc="100" kern="0" dirty="0">
                <a:solidFill>
                  <a:srgbClr val="FFFFFF"/>
                </a:solidFill>
              </a:rPr>
              <a:t>syllabe OUVERTE → son LONG</a:t>
            </a:r>
            <a:endParaRPr lang="en-US" sz="1600" dirty="0"/>
          </a:p>
        </p:txBody>
      </p:sp>
      <p:pic>
        <p:nvPicPr>
          <p:cNvPr id="19" name="Image 1" descr="DoorClosed">    </p:cNvPr>
          <p:cNvPicPr>
            <a:picLocks noChangeAspect="1"/>
          </p:cNvPicPr>
          <p:nvPr/>
        </p:nvPicPr>
        <p:blipFill>
          <a:blip r:embed="rId2"/>
          <a:stretch>
            <a:fillRect/>
          </a:stretch>
        </p:blipFill>
        <p:spPr>
          <a:xfrm>
            <a:off x="7178040" y="1600200"/>
            <a:ext cx="685800" cy="685800"/>
          </a:xfrm>
          <a:prstGeom prst="rect">
            <a:avLst/>
          </a:prstGeom>
        </p:spPr>
      </p:pic>
      <p:sp>
        <p:nvSpPr>
          <p:cNvPr id="20" name="Shape 15"/>
          <p:cNvSpPr/>
          <p:nvPr/>
        </p:nvSpPr>
        <p:spPr>
          <a:xfrm>
            <a:off x="6583680" y="2423160"/>
            <a:ext cx="2194560" cy="914"/>
          </a:xfrm>
          <a:prstGeom prst="line">
            <a:avLst/>
          </a:prstGeom>
          <a:noFill/>
          <a:ln w="25400">
            <a:solidFill>
              <a:srgbClr val="17375E"/>
            </a:solidFill>
            <a:prstDash val="solid"/>
          </a:ln>
        </p:spPr>
      </p:sp>
      <p:sp>
        <p:nvSpPr>
          <p:cNvPr id="21" name="Shape 16"/>
          <p:cNvSpPr/>
          <p:nvPr/>
        </p:nvSpPr>
        <p:spPr>
          <a:xfrm>
            <a:off x="6583680" y="3611880"/>
            <a:ext cx="2194560" cy="914"/>
          </a:xfrm>
          <a:prstGeom prst="line">
            <a:avLst/>
          </a:prstGeom>
          <a:noFill/>
          <a:ln w="25400">
            <a:solidFill>
              <a:srgbClr val="17375E"/>
            </a:solidFill>
            <a:prstDash val="solid"/>
          </a:ln>
        </p:spPr>
      </p:sp>
      <p:sp>
        <p:nvSpPr>
          <p:cNvPr id="22" name="Shape 17"/>
          <p:cNvSpPr/>
          <p:nvPr/>
        </p:nvSpPr>
        <p:spPr>
          <a:xfrm>
            <a:off x="6583680" y="2423160"/>
            <a:ext cx="914" cy="1188720"/>
          </a:xfrm>
          <a:prstGeom prst="line">
            <a:avLst/>
          </a:prstGeom>
          <a:noFill/>
          <a:ln w="25400">
            <a:solidFill>
              <a:srgbClr val="17375E"/>
            </a:solidFill>
            <a:prstDash val="solid"/>
          </a:ln>
        </p:spPr>
      </p:sp>
      <p:sp>
        <p:nvSpPr>
          <p:cNvPr id="23" name="Shape 18"/>
          <p:cNvSpPr/>
          <p:nvPr/>
        </p:nvSpPr>
        <p:spPr>
          <a:xfrm>
            <a:off x="8778240" y="2423160"/>
            <a:ext cx="914" cy="1188720"/>
          </a:xfrm>
          <a:prstGeom prst="line">
            <a:avLst/>
          </a:prstGeom>
          <a:noFill/>
          <a:ln w="63500">
            <a:solidFill>
              <a:srgbClr val="B4236A"/>
            </a:solidFill>
            <a:prstDash val="solid"/>
          </a:ln>
        </p:spPr>
      </p:sp>
      <p:sp>
        <p:nvSpPr>
          <p:cNvPr id="24" name="Text 19"/>
          <p:cNvSpPr txBox="1"/>
          <p:nvPr/>
        </p:nvSpPr>
        <p:spPr>
          <a:xfrm>
            <a:off x="6583680" y="2423160"/>
            <a:ext cx="2194560" cy="1188720"/>
          </a:xfrm>
          <a:prstGeom prst="rect">
            <a:avLst/>
          </a:prstGeom>
          <a:noFill/>
          <a:ln/>
        </p:spPr>
        <p:txBody>
          <a:bodyPr wrap="square" lIns="0" tIns="0" rIns="0" bIns="0" rtlCol="0" anchor="ctr"/>
          <a:lstStyle/>
          <a:p>
            <a:pPr algn="ctr" indent="0" marL="0">
              <a:buNone/>
            </a:pPr>
            <a:r>
              <a:rPr lang="en-US" sz="4400" b="1" dirty="0">
                <a:solidFill>
                  <a:schemeClr val="tx1"/>
                </a:solidFill>
                <a:latin typeface="+mj-lt" pitchFamily="34" charset="0"/>
                <a:ea typeface="+mj-lt" pitchFamily="34" charset="-122"/>
                <a:cs typeface="+mj-lt" pitchFamily="34" charset="-120"/>
              </a:rPr>
              <a:t>K</a:t>
            </a:r>
            <a:r>
              <a:rPr lang="en-US" sz="4400" b="1" dirty="0">
                <a:solidFill>
                  <a:schemeClr val="accent4"/>
                </a:solidFill>
                <a:latin typeface="+mj-lt" pitchFamily="34" charset="0"/>
                <a:ea typeface="+mj-lt" pitchFamily="34" charset="-122"/>
                <a:cs typeface="+mj-lt" pitchFamily="34" charset="-120"/>
              </a:rPr>
              <a:t>A</a:t>
            </a:r>
            <a:r>
              <a:rPr lang="en-US" sz="4400" b="1" dirty="0">
                <a:solidFill>
                  <a:schemeClr val="tx1"/>
                </a:solidFill>
                <a:latin typeface="+mj-lt" pitchFamily="34" charset="0"/>
                <a:ea typeface="+mj-lt" pitchFamily="34" charset="-122"/>
                <a:cs typeface="+mj-lt" pitchFamily="34" charset="-120"/>
              </a:rPr>
              <a:t>T</a:t>
            </a:r>
            <a:endParaRPr lang="en-US" sz="4400" dirty="0"/>
          </a:p>
        </p:txBody>
      </p:sp>
      <p:sp>
        <p:nvSpPr>
          <p:cNvPr id="25" name="Shape 20"/>
          <p:cNvSpPr/>
          <p:nvPr/>
        </p:nvSpPr>
        <p:spPr>
          <a:xfrm>
            <a:off x="9006840" y="2423160"/>
            <a:ext cx="2103120" cy="914"/>
          </a:xfrm>
          <a:prstGeom prst="line">
            <a:avLst/>
          </a:prstGeom>
          <a:noFill/>
          <a:ln w="25400">
            <a:solidFill>
              <a:srgbClr val="17375E"/>
            </a:solidFill>
            <a:prstDash val="solid"/>
          </a:ln>
        </p:spPr>
      </p:sp>
      <p:sp>
        <p:nvSpPr>
          <p:cNvPr id="26" name="Shape 21"/>
          <p:cNvSpPr/>
          <p:nvPr/>
        </p:nvSpPr>
        <p:spPr>
          <a:xfrm>
            <a:off x="9006840" y="3611880"/>
            <a:ext cx="2103120" cy="914"/>
          </a:xfrm>
          <a:prstGeom prst="line">
            <a:avLst/>
          </a:prstGeom>
          <a:noFill/>
          <a:ln w="25400">
            <a:solidFill>
              <a:srgbClr val="17375E"/>
            </a:solidFill>
            <a:prstDash val="solid"/>
          </a:ln>
        </p:spPr>
      </p:sp>
      <p:sp>
        <p:nvSpPr>
          <p:cNvPr id="27" name="Shape 22"/>
          <p:cNvSpPr/>
          <p:nvPr/>
        </p:nvSpPr>
        <p:spPr>
          <a:xfrm>
            <a:off x="9006840" y="2423160"/>
            <a:ext cx="914" cy="1188720"/>
          </a:xfrm>
          <a:prstGeom prst="line">
            <a:avLst/>
          </a:prstGeom>
          <a:noFill/>
          <a:ln w="25400">
            <a:solidFill>
              <a:srgbClr val="17375E"/>
            </a:solidFill>
            <a:prstDash val="solid"/>
          </a:ln>
        </p:spPr>
      </p:sp>
      <p:sp>
        <p:nvSpPr>
          <p:cNvPr id="28" name="Shape 23"/>
          <p:cNvSpPr/>
          <p:nvPr/>
        </p:nvSpPr>
        <p:spPr>
          <a:xfrm>
            <a:off x="11109960" y="2423160"/>
            <a:ext cx="914" cy="1188720"/>
          </a:xfrm>
          <a:prstGeom prst="line">
            <a:avLst/>
          </a:prstGeom>
          <a:noFill/>
          <a:ln w="25400">
            <a:solidFill>
              <a:srgbClr val="17375E"/>
            </a:solidFill>
            <a:prstDash val="solid"/>
          </a:ln>
        </p:spPr>
      </p:sp>
      <p:sp>
        <p:nvSpPr>
          <p:cNvPr id="29" name="Text 24"/>
          <p:cNvSpPr txBox="1"/>
          <p:nvPr/>
        </p:nvSpPr>
        <p:spPr>
          <a:xfrm>
            <a:off x="9006840" y="2423160"/>
            <a:ext cx="2103120" cy="1188720"/>
          </a:xfrm>
          <a:prstGeom prst="rect">
            <a:avLst/>
          </a:prstGeom>
          <a:noFill/>
          <a:ln/>
        </p:spPr>
        <p:txBody>
          <a:bodyPr wrap="square" lIns="0" tIns="0" rIns="0" bIns="0" rtlCol="0" anchor="ctr"/>
          <a:lstStyle/>
          <a:p>
            <a:pPr algn="ctr" indent="0" marL="0">
              <a:buNone/>
            </a:pPr>
            <a:r>
              <a:rPr lang="en-US" sz="4400" b="1" dirty="0">
                <a:solidFill>
                  <a:schemeClr val="tx1"/>
                </a:solidFill>
                <a:latin typeface="+mj-lt" pitchFamily="34" charset="0"/>
                <a:ea typeface="+mj-lt" pitchFamily="34" charset="-122"/>
                <a:cs typeface="+mj-lt" pitchFamily="34" charset="-120"/>
              </a:rPr>
              <a:t>TEN</a:t>
            </a:r>
            <a:endParaRPr lang="en-US" sz="4400" dirty="0"/>
          </a:p>
        </p:txBody>
      </p:sp>
      <p:sp>
        <p:nvSpPr>
          <p:cNvPr id="30" name="Text 25"/>
          <p:cNvSpPr txBox="1"/>
          <p:nvPr/>
        </p:nvSpPr>
        <p:spPr>
          <a:xfrm>
            <a:off x="8732520" y="2423160"/>
            <a:ext cx="320040" cy="1188720"/>
          </a:xfrm>
          <a:prstGeom prst="rect">
            <a:avLst/>
          </a:prstGeom>
          <a:noFill/>
          <a:ln/>
        </p:spPr>
        <p:txBody>
          <a:bodyPr wrap="square" lIns="0" tIns="0" rIns="0" bIns="0" rtlCol="0" anchor="ctr"/>
          <a:lstStyle/>
          <a:p>
            <a:pPr algn="ctr" indent="0" marL="0">
              <a:buNone/>
            </a:pPr>
            <a:r>
              <a:rPr lang="en-US" sz="4000" b="1" dirty="0">
                <a:solidFill>
                  <a:schemeClr val="accent5"/>
                </a:solidFill>
              </a:rPr>
              <a:t>·</a:t>
            </a:r>
            <a:endParaRPr lang="en-US" sz="4000" dirty="0"/>
          </a:p>
        </p:txBody>
      </p:sp>
      <p:sp>
        <p:nvSpPr>
          <p:cNvPr id="31" name="Text 26"/>
          <p:cNvSpPr txBox="1"/>
          <p:nvPr/>
        </p:nvSpPr>
        <p:spPr>
          <a:xfrm>
            <a:off x="7498080" y="3931920"/>
            <a:ext cx="2194560" cy="365760"/>
          </a:xfrm>
          <a:prstGeom prst="rect">
            <a:avLst/>
          </a:prstGeom>
          <a:noFill/>
          <a:ln/>
        </p:spPr>
        <p:txBody>
          <a:bodyPr wrap="square" lIns="0" tIns="0" rIns="0" bIns="0" rtlCol="0" anchor="t"/>
          <a:lstStyle/>
          <a:p>
            <a:pPr algn="ctr" indent="0" marL="0">
              <a:buNone/>
            </a:pPr>
            <a:r>
              <a:rPr lang="en-US" sz="1500" i="1" dirty="0">
                <a:solidFill>
                  <a:schemeClr val="accent4"/>
                </a:solidFill>
              </a:rPr>
              <a:t>le T ferme la porte</a:t>
            </a:r>
            <a:endParaRPr lang="en-US" sz="1500" dirty="0"/>
          </a:p>
        </p:txBody>
      </p:sp>
      <p:sp>
        <p:nvSpPr>
          <p:cNvPr id="32" name="tag"/>
          <p:cNvSpPr/>
          <p:nvPr/>
        </p:nvSpPr>
        <p:spPr>
          <a:xfrm>
            <a:off x="6583680" y="4526280"/>
            <a:ext cx="4215994" cy="457200"/>
          </a:xfrm>
          <a:prstGeom prst="roundRect">
            <a:avLst>
              <a:gd name="adj" fmla="val 10000"/>
            </a:avLst>
          </a:prstGeom>
          <a:solidFill>
            <a:schemeClr val="accent4"/>
          </a:solidFill>
          <a:ln/>
        </p:spPr>
        <p:txBody>
          <a:bodyPr wrap="square" lIns="0" tIns="0" rIns="0" bIns="0" rtlCol="0" anchor="ctr"/>
          <a:lstStyle/>
          <a:p>
            <a:pPr algn="ctr" indent="0" marL="0">
              <a:buNone/>
            </a:pPr>
            <a:r>
              <a:rPr lang="en-US" sz="1600" b="1" spc="100" kern="0" dirty="0">
                <a:solidFill>
                  <a:srgbClr val="FFFFFF"/>
                </a:solidFill>
              </a:rPr>
              <a:t>syllabe FERMÉE → son COURT</a:t>
            </a:r>
            <a:endParaRPr lang="en-US" sz="1600" dirty="0"/>
          </a:p>
        </p:txBody>
      </p:sp>
      <p:sp>
        <p:nvSpPr>
          <p:cNvPr id="33" name="Shape 28"/>
          <p:cNvSpPr/>
          <p:nvPr/>
        </p:nvSpPr>
        <p:spPr>
          <a:xfrm>
            <a:off x="548640" y="5257800"/>
            <a:ext cx="11091672" cy="1005840"/>
          </a:xfrm>
          <a:prstGeom prst="roundRect">
            <a:avLst>
              <a:gd name="adj" fmla="val 7273"/>
            </a:avLst>
          </a:prstGeom>
          <a:solidFill>
            <a:schemeClr val="tx2"/>
          </a:solidFill>
          <a:ln w="12700">
            <a:solidFill>
              <a:srgbClr val="FFFFFF">
                <a:alpha val="0"/>
              </a:srgbClr>
            </a:solidFill>
            <a:prstDash val="solid"/>
          </a:ln>
        </p:spPr>
      </p:sp>
      <p:sp>
        <p:nvSpPr>
          <p:cNvPr id="34" name="Text 29"/>
          <p:cNvSpPr txBox="1"/>
          <p:nvPr/>
        </p:nvSpPr>
        <p:spPr>
          <a:xfrm>
            <a:off x="822960" y="5303520"/>
            <a:ext cx="10607040" cy="914400"/>
          </a:xfrm>
          <a:prstGeom prst="rect">
            <a:avLst/>
          </a:prstGeom>
          <a:noFill/>
          <a:ln/>
        </p:spPr>
        <p:txBody>
          <a:bodyPr wrap="square" lIns="0" tIns="0" rIns="0" bIns="0" rtlCol="0" anchor="ctr"/>
          <a:lstStyle/>
          <a:p>
            <a:pPr algn="l" indent="0" marL="0">
              <a:spcAft>
                <a:spcPts val="400"/>
              </a:spcAft>
              <a:buNone/>
            </a:pPr>
            <a:r>
              <a:rPr lang="en-US" sz="1700" b="1" dirty="0">
                <a:solidFill>
                  <a:schemeClr val="bg1"/>
                </a:solidFill>
              </a:rPr>
              <a:t>Porte ouverte</a:t>
            </a:r>
            <a:r>
              <a:rPr lang="en-US" sz="1700" dirty="0">
                <a:solidFill>
                  <a:schemeClr val="bg1"/>
                </a:solidFill>
              </a:rPr>
              <a:t> : la voyelle termine la syllabe → elle peut s’étirer → </a:t>
            </a:r>
            <a:r>
              <a:rPr lang="en-US" sz="1700" b="1" dirty="0">
                <a:solidFill>
                  <a:schemeClr val="bg1"/>
                </a:solidFill>
              </a:rPr>
              <a:t>son LONG</a:t>
            </a:r>
            <a:r>
              <a:rPr lang="en-US" sz="1700" dirty="0">
                <a:solidFill>
                  <a:schemeClr val="bg1"/>
                </a:solidFill>
              </a:rPr>
              <a:t> (</a:t>
            </a:r>
            <a:r>
              <a:rPr lang="en-US" sz="1700" i="1" dirty="0">
                <a:solidFill>
                  <a:schemeClr val="bg1"/>
                </a:solidFill>
              </a:rPr>
              <a:t>la·ten</a:t>
            </a:r>
            <a:r>
              <a:rPr lang="en-US" sz="1700" dirty="0">
                <a:solidFill>
                  <a:schemeClr val="bg1"/>
                </a:solidFill>
              </a:rPr>
              <a:t>)</a:t>
            </a:r>
            <a:endParaRPr lang="en-US" sz="1700" dirty="0"/>
          </a:p>
          <a:p>
            <a:pPr algn="l" indent="0" marL="0">
              <a:spcAft>
                <a:spcPts val="400"/>
              </a:spcAft>
              <a:buNone/>
            </a:pPr>
            <a:r>
              <a:rPr lang="en-US" sz="1700" b="1" dirty="0">
                <a:solidFill>
                  <a:schemeClr val="bg1"/>
                </a:solidFill>
              </a:rPr>
              <a:t>Porte fermée</a:t>
            </a:r>
            <a:r>
              <a:rPr lang="en-US" sz="1700" dirty="0">
                <a:solidFill>
                  <a:schemeClr val="bg1"/>
                </a:solidFill>
              </a:rPr>
              <a:t> : une consonne suit la voyelle dans la syllabe → </a:t>
            </a:r>
            <a:r>
              <a:rPr lang="en-US" sz="1700" b="1" dirty="0">
                <a:solidFill>
                  <a:schemeClr val="bg1"/>
                </a:solidFill>
              </a:rPr>
              <a:t>son COURT</a:t>
            </a:r>
            <a:r>
              <a:rPr lang="en-US" sz="1700" dirty="0">
                <a:solidFill>
                  <a:schemeClr val="bg1"/>
                </a:solidFill>
              </a:rPr>
              <a:t> (</a:t>
            </a:r>
            <a:r>
              <a:rPr lang="en-US" sz="1700" i="1" dirty="0">
                <a:solidFill>
                  <a:schemeClr val="bg1"/>
                </a:solidFill>
              </a:rPr>
              <a:t>kat·ten</a:t>
            </a:r>
            <a:r>
              <a:rPr lang="en-US" sz="1700" dirty="0">
                <a:solidFill>
                  <a:schemeClr val="bg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Comment couper un mot en syllabes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3108960" cy="1371600"/>
          </a:xfrm>
          <a:prstGeom prst="roundRect">
            <a:avLst>
              <a:gd name="adj" fmla="val 5333"/>
            </a:avLst>
          </a:prstGeom>
          <a:solidFill>
            <a:schemeClr val="tx2"/>
          </a:solidFill>
          <a:ln w="12700">
            <a:solidFill>
              <a:srgbClr val="FFFFFF">
                <a:alpha val="0"/>
              </a:srgbClr>
            </a:solidFill>
            <a:prstDash val="solid"/>
          </a:ln>
        </p:spPr>
      </p:sp>
      <p:sp>
        <p:nvSpPr>
          <p:cNvPr id="6" name="Text 3"/>
          <p:cNvSpPr txBox="1"/>
          <p:nvPr/>
        </p:nvSpPr>
        <p:spPr>
          <a:xfrm>
            <a:off x="731520" y="1664208"/>
            <a:ext cx="2743200" cy="45720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1 consonne</a:t>
            </a:r>
            <a:endParaRPr lang="en-US" sz="2200" dirty="0"/>
          </a:p>
        </p:txBody>
      </p:sp>
      <p:sp>
        <p:nvSpPr>
          <p:cNvPr id="7" name="Text 4"/>
          <p:cNvSpPr txBox="1"/>
          <p:nvPr/>
        </p:nvSpPr>
        <p:spPr>
          <a:xfrm>
            <a:off x="731520" y="2148840"/>
            <a:ext cx="2743200" cy="685800"/>
          </a:xfrm>
          <a:prstGeom prst="rect">
            <a:avLst/>
          </a:prstGeom>
          <a:noFill/>
          <a:ln/>
        </p:spPr>
        <p:txBody>
          <a:bodyPr wrap="square" lIns="0" tIns="0" rIns="0" bIns="0" rtlCol="0" anchor="t"/>
          <a:lstStyle/>
          <a:p>
            <a:pPr algn="l" indent="0" marL="0">
              <a:buNone/>
            </a:pPr>
            <a:r>
              <a:rPr lang="en-US" sz="1600" dirty="0">
                <a:solidFill>
                  <a:schemeClr val="bg2"/>
                </a:solidFill>
              </a:rPr>
              <a:t>je coupe </a:t>
            </a:r>
            <a:r>
              <a:rPr lang="en-US" sz="1600" b="1" dirty="0">
                <a:solidFill>
                  <a:schemeClr val="bg2"/>
                </a:solidFill>
              </a:rPr>
              <a:t>avant</a:t>
            </a:r>
            <a:r>
              <a:rPr lang="en-US" sz="1600" dirty="0">
                <a:solidFill>
                  <a:schemeClr val="bg2"/>
                </a:solidFill>
              </a:rPr>
              <a:t> la consonne</a:t>
            </a:r>
            <a:endParaRPr lang="en-US" sz="1600" dirty="0"/>
          </a:p>
        </p:txBody>
      </p:sp>
      <p:sp>
        <p:nvSpPr>
          <p:cNvPr id="8" name="Shape 5"/>
          <p:cNvSpPr/>
          <p:nvPr/>
        </p:nvSpPr>
        <p:spPr>
          <a:xfrm>
            <a:off x="3931920" y="16916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9" name="Text 6"/>
          <p:cNvSpPr txBox="1"/>
          <p:nvPr/>
        </p:nvSpPr>
        <p:spPr>
          <a:xfrm>
            <a:off x="3977640" y="16916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w</a:t>
            </a:r>
            <a:r>
              <a:rPr lang="en-US" sz="3000" b="1" dirty="0">
                <a:solidFill>
                  <a:schemeClr val="accent3"/>
                </a:solidFill>
                <a:latin typeface="+mj-lt" pitchFamily="34" charset="0"/>
                <a:ea typeface="+mj-lt" pitchFamily="34" charset="-122"/>
                <a:cs typeface="+mj-lt" pitchFamily="34" charset="-120"/>
              </a:rPr>
              <a:t>o</a:t>
            </a:r>
            <a:endParaRPr lang="en-US" sz="3000" dirty="0"/>
          </a:p>
        </p:txBody>
      </p:sp>
      <p:sp>
        <p:nvSpPr>
          <p:cNvPr id="10" name="Text 7"/>
          <p:cNvSpPr txBox="1"/>
          <p:nvPr/>
        </p:nvSpPr>
        <p:spPr>
          <a:xfrm>
            <a:off x="5257800" y="16916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nen</a:t>
            </a:r>
            <a:endParaRPr lang="en-US" sz="3000" dirty="0"/>
          </a:p>
        </p:txBody>
      </p:sp>
      <p:sp>
        <p:nvSpPr>
          <p:cNvPr id="11" name="Shape 8"/>
          <p:cNvSpPr/>
          <p:nvPr/>
        </p:nvSpPr>
        <p:spPr>
          <a:xfrm>
            <a:off x="5166360" y="1828800"/>
            <a:ext cx="914" cy="822960"/>
          </a:xfrm>
          <a:prstGeom prst="line">
            <a:avLst/>
          </a:prstGeom>
          <a:noFill/>
          <a:ln w="25400">
            <a:solidFill>
              <a:srgbClr val="D9700F"/>
            </a:solidFill>
            <a:prstDash val="dash"/>
          </a:ln>
        </p:spPr>
      </p:sp>
      <p:pic>
        <p:nvPicPr>
          <p:cNvPr id="12" name="Image 0" descr="Scissors">    </p:cNvPr>
          <p:cNvPicPr>
            <a:picLocks noChangeAspect="1"/>
          </p:cNvPicPr>
          <p:nvPr/>
        </p:nvPicPr>
        <p:blipFill>
          <a:blip r:embed="rId1"/>
          <a:stretch>
            <a:fillRect/>
          </a:stretch>
        </p:blipFill>
        <p:spPr>
          <a:xfrm>
            <a:off x="5001768" y="1481328"/>
            <a:ext cx="329184" cy="329184"/>
          </a:xfrm>
          <a:prstGeom prst="rect">
            <a:avLst/>
          </a:prstGeom>
        </p:spPr>
      </p:pic>
      <p:sp>
        <p:nvSpPr>
          <p:cNvPr id="13" name="Shape 9"/>
          <p:cNvSpPr/>
          <p:nvPr/>
        </p:nvSpPr>
        <p:spPr>
          <a:xfrm>
            <a:off x="6537960" y="16916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14" name="Text 10"/>
          <p:cNvSpPr txBox="1"/>
          <p:nvPr/>
        </p:nvSpPr>
        <p:spPr>
          <a:xfrm>
            <a:off x="6583680" y="16916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m</a:t>
            </a:r>
            <a:r>
              <a:rPr lang="en-US" sz="3000" b="1" dirty="0">
                <a:solidFill>
                  <a:schemeClr val="accent3"/>
                </a:solidFill>
                <a:latin typeface="+mj-lt" pitchFamily="34" charset="0"/>
                <a:ea typeface="+mj-lt" pitchFamily="34" charset="-122"/>
                <a:cs typeface="+mj-lt" pitchFamily="34" charset="-120"/>
              </a:rPr>
              <a:t>a</a:t>
            </a:r>
            <a:endParaRPr lang="en-US" sz="3000" dirty="0"/>
          </a:p>
        </p:txBody>
      </p:sp>
      <p:sp>
        <p:nvSpPr>
          <p:cNvPr id="15" name="Text 11"/>
          <p:cNvSpPr txBox="1"/>
          <p:nvPr/>
        </p:nvSpPr>
        <p:spPr>
          <a:xfrm>
            <a:off x="7863840" y="16916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ken</a:t>
            </a:r>
            <a:endParaRPr lang="en-US" sz="3000" dirty="0"/>
          </a:p>
        </p:txBody>
      </p:sp>
      <p:sp>
        <p:nvSpPr>
          <p:cNvPr id="16" name="Shape 12"/>
          <p:cNvSpPr/>
          <p:nvPr/>
        </p:nvSpPr>
        <p:spPr>
          <a:xfrm>
            <a:off x="7772400" y="1828800"/>
            <a:ext cx="914" cy="822960"/>
          </a:xfrm>
          <a:prstGeom prst="line">
            <a:avLst/>
          </a:prstGeom>
          <a:noFill/>
          <a:ln w="25400">
            <a:solidFill>
              <a:srgbClr val="D9700F"/>
            </a:solidFill>
            <a:prstDash val="dash"/>
          </a:ln>
        </p:spPr>
      </p:sp>
      <p:pic>
        <p:nvPicPr>
          <p:cNvPr id="17" name="Image 1" descr="Scissors">    </p:cNvPr>
          <p:cNvPicPr>
            <a:picLocks noChangeAspect="1"/>
          </p:cNvPicPr>
          <p:nvPr/>
        </p:nvPicPr>
        <p:blipFill>
          <a:blip r:embed="rId2"/>
          <a:stretch>
            <a:fillRect/>
          </a:stretch>
        </p:blipFill>
        <p:spPr>
          <a:xfrm>
            <a:off x="7607808" y="1481328"/>
            <a:ext cx="329184" cy="329184"/>
          </a:xfrm>
          <a:prstGeom prst="rect">
            <a:avLst/>
          </a:prstGeom>
        </p:spPr>
      </p:pic>
      <p:sp>
        <p:nvSpPr>
          <p:cNvPr id="18" name="Shape 13"/>
          <p:cNvSpPr/>
          <p:nvPr/>
        </p:nvSpPr>
        <p:spPr>
          <a:xfrm>
            <a:off x="9144000" y="16916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19" name="Text 14"/>
          <p:cNvSpPr txBox="1"/>
          <p:nvPr/>
        </p:nvSpPr>
        <p:spPr>
          <a:xfrm>
            <a:off x="9189720" y="16916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spr</a:t>
            </a:r>
            <a:r>
              <a:rPr lang="en-US" sz="3000" b="1" dirty="0">
                <a:solidFill>
                  <a:schemeClr val="accent3"/>
                </a:solidFill>
                <a:latin typeface="+mj-lt" pitchFamily="34" charset="0"/>
                <a:ea typeface="+mj-lt" pitchFamily="34" charset="-122"/>
                <a:cs typeface="+mj-lt" pitchFamily="34" charset="-120"/>
              </a:rPr>
              <a:t>e</a:t>
            </a:r>
            <a:endParaRPr lang="en-US" sz="3000" dirty="0"/>
          </a:p>
        </p:txBody>
      </p:sp>
      <p:sp>
        <p:nvSpPr>
          <p:cNvPr id="20" name="Text 15"/>
          <p:cNvSpPr txBox="1"/>
          <p:nvPr/>
        </p:nvSpPr>
        <p:spPr>
          <a:xfrm>
            <a:off x="10469880" y="16916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ken</a:t>
            </a:r>
            <a:endParaRPr lang="en-US" sz="3000" dirty="0"/>
          </a:p>
        </p:txBody>
      </p:sp>
      <p:sp>
        <p:nvSpPr>
          <p:cNvPr id="21" name="Shape 16"/>
          <p:cNvSpPr/>
          <p:nvPr/>
        </p:nvSpPr>
        <p:spPr>
          <a:xfrm>
            <a:off x="10378440" y="1828800"/>
            <a:ext cx="914" cy="822960"/>
          </a:xfrm>
          <a:prstGeom prst="line">
            <a:avLst/>
          </a:prstGeom>
          <a:noFill/>
          <a:ln w="25400">
            <a:solidFill>
              <a:srgbClr val="D9700F"/>
            </a:solidFill>
            <a:prstDash val="dash"/>
          </a:ln>
        </p:spPr>
      </p:sp>
      <p:pic>
        <p:nvPicPr>
          <p:cNvPr id="22" name="Image 2" descr="Scissors">    </p:cNvPr>
          <p:cNvPicPr>
            <a:picLocks noChangeAspect="1"/>
          </p:cNvPicPr>
          <p:nvPr/>
        </p:nvPicPr>
        <p:blipFill>
          <a:blip r:embed="rId3"/>
          <a:stretch>
            <a:fillRect/>
          </a:stretch>
        </p:blipFill>
        <p:spPr>
          <a:xfrm>
            <a:off x="10213848" y="1481328"/>
            <a:ext cx="329184" cy="329184"/>
          </a:xfrm>
          <a:prstGeom prst="rect">
            <a:avLst/>
          </a:prstGeom>
        </p:spPr>
      </p:pic>
      <p:sp>
        <p:nvSpPr>
          <p:cNvPr id="23" name="Shape 17"/>
          <p:cNvSpPr/>
          <p:nvPr/>
        </p:nvSpPr>
        <p:spPr>
          <a:xfrm>
            <a:off x="548640" y="3154680"/>
            <a:ext cx="3108960" cy="1371600"/>
          </a:xfrm>
          <a:prstGeom prst="roundRect">
            <a:avLst>
              <a:gd name="adj" fmla="val 5333"/>
            </a:avLst>
          </a:prstGeom>
          <a:solidFill>
            <a:schemeClr val="tx2"/>
          </a:solidFill>
          <a:ln w="12700">
            <a:solidFill>
              <a:srgbClr val="FFFFFF">
                <a:alpha val="0"/>
              </a:srgbClr>
            </a:solidFill>
            <a:prstDash val="solid"/>
          </a:ln>
        </p:spPr>
      </p:sp>
      <p:sp>
        <p:nvSpPr>
          <p:cNvPr id="24" name="Text 18"/>
          <p:cNvSpPr txBox="1"/>
          <p:nvPr/>
        </p:nvSpPr>
        <p:spPr>
          <a:xfrm>
            <a:off x="731520" y="3264408"/>
            <a:ext cx="2743200" cy="45720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2 consonnes</a:t>
            </a:r>
            <a:endParaRPr lang="en-US" sz="2200" dirty="0"/>
          </a:p>
        </p:txBody>
      </p:sp>
      <p:sp>
        <p:nvSpPr>
          <p:cNvPr id="25" name="Text 19"/>
          <p:cNvSpPr txBox="1"/>
          <p:nvPr/>
        </p:nvSpPr>
        <p:spPr>
          <a:xfrm>
            <a:off x="731520" y="3749040"/>
            <a:ext cx="2743200" cy="685800"/>
          </a:xfrm>
          <a:prstGeom prst="rect">
            <a:avLst/>
          </a:prstGeom>
          <a:noFill/>
          <a:ln/>
        </p:spPr>
        <p:txBody>
          <a:bodyPr wrap="square" lIns="0" tIns="0" rIns="0" bIns="0" rtlCol="0" anchor="t"/>
          <a:lstStyle/>
          <a:p>
            <a:pPr algn="l" indent="0" marL="0">
              <a:buNone/>
            </a:pPr>
            <a:r>
              <a:rPr lang="en-US" sz="1600" dirty="0">
                <a:solidFill>
                  <a:schemeClr val="bg2"/>
                </a:solidFill>
              </a:rPr>
              <a:t>je coupe </a:t>
            </a:r>
            <a:r>
              <a:rPr lang="en-US" sz="1600" b="1" dirty="0">
                <a:solidFill>
                  <a:schemeClr val="bg2"/>
                </a:solidFill>
              </a:rPr>
              <a:t>entre</a:t>
            </a:r>
            <a:r>
              <a:rPr lang="en-US" sz="1600" dirty="0">
                <a:solidFill>
                  <a:schemeClr val="bg2"/>
                </a:solidFill>
              </a:rPr>
              <a:t> les deux</a:t>
            </a:r>
            <a:endParaRPr lang="en-US" sz="1600" dirty="0"/>
          </a:p>
        </p:txBody>
      </p:sp>
      <p:sp>
        <p:nvSpPr>
          <p:cNvPr id="26" name="Shape 20"/>
          <p:cNvSpPr/>
          <p:nvPr/>
        </p:nvSpPr>
        <p:spPr>
          <a:xfrm>
            <a:off x="3931920" y="32918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27" name="Text 21"/>
          <p:cNvSpPr txBox="1"/>
          <p:nvPr/>
        </p:nvSpPr>
        <p:spPr>
          <a:xfrm>
            <a:off x="3977640" y="32918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k</a:t>
            </a:r>
            <a:r>
              <a:rPr lang="en-US" sz="3000" b="1" dirty="0">
                <a:solidFill>
                  <a:schemeClr val="accent4"/>
                </a:solidFill>
                <a:latin typeface="+mj-lt" pitchFamily="34" charset="0"/>
                <a:ea typeface="+mj-lt" pitchFamily="34" charset="-122"/>
                <a:cs typeface="+mj-lt" pitchFamily="34" charset="-120"/>
              </a:rPr>
              <a:t>a</a:t>
            </a:r>
            <a:r>
              <a:rPr lang="en-US" sz="3000" b="1" dirty="0">
                <a:solidFill>
                  <a:schemeClr val="tx1"/>
                </a:solidFill>
                <a:latin typeface="+mj-lt" pitchFamily="34" charset="0"/>
                <a:ea typeface="+mj-lt" pitchFamily="34" charset="-122"/>
                <a:cs typeface="+mj-lt" pitchFamily="34" charset="-120"/>
              </a:rPr>
              <a:t>t</a:t>
            </a:r>
            <a:endParaRPr lang="en-US" sz="3000" dirty="0"/>
          </a:p>
        </p:txBody>
      </p:sp>
      <p:sp>
        <p:nvSpPr>
          <p:cNvPr id="28" name="Text 22"/>
          <p:cNvSpPr txBox="1"/>
          <p:nvPr/>
        </p:nvSpPr>
        <p:spPr>
          <a:xfrm>
            <a:off x="5257800" y="32918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ten</a:t>
            </a:r>
            <a:endParaRPr lang="en-US" sz="3000" dirty="0"/>
          </a:p>
        </p:txBody>
      </p:sp>
      <p:sp>
        <p:nvSpPr>
          <p:cNvPr id="29" name="Shape 23"/>
          <p:cNvSpPr/>
          <p:nvPr/>
        </p:nvSpPr>
        <p:spPr>
          <a:xfrm>
            <a:off x="5166360" y="3429000"/>
            <a:ext cx="914" cy="822960"/>
          </a:xfrm>
          <a:prstGeom prst="line">
            <a:avLst/>
          </a:prstGeom>
          <a:noFill/>
          <a:ln w="25400">
            <a:solidFill>
              <a:srgbClr val="D9700F"/>
            </a:solidFill>
            <a:prstDash val="dash"/>
          </a:ln>
        </p:spPr>
      </p:sp>
      <p:pic>
        <p:nvPicPr>
          <p:cNvPr id="30" name="Image 3" descr="Scissors">    </p:cNvPr>
          <p:cNvPicPr>
            <a:picLocks noChangeAspect="1"/>
          </p:cNvPicPr>
          <p:nvPr/>
        </p:nvPicPr>
        <p:blipFill>
          <a:blip r:embed="rId4"/>
          <a:stretch>
            <a:fillRect/>
          </a:stretch>
        </p:blipFill>
        <p:spPr>
          <a:xfrm>
            <a:off x="5001768" y="3081528"/>
            <a:ext cx="329184" cy="329184"/>
          </a:xfrm>
          <a:prstGeom prst="rect">
            <a:avLst/>
          </a:prstGeom>
        </p:spPr>
      </p:pic>
      <p:sp>
        <p:nvSpPr>
          <p:cNvPr id="31" name="Shape 24"/>
          <p:cNvSpPr/>
          <p:nvPr/>
        </p:nvSpPr>
        <p:spPr>
          <a:xfrm>
            <a:off x="6537960" y="32918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32" name="Text 25"/>
          <p:cNvSpPr txBox="1"/>
          <p:nvPr/>
        </p:nvSpPr>
        <p:spPr>
          <a:xfrm>
            <a:off x="6583680" y="32918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w</a:t>
            </a:r>
            <a:r>
              <a:rPr lang="en-US" sz="3000" b="1" dirty="0">
                <a:solidFill>
                  <a:schemeClr val="accent4"/>
                </a:solidFill>
                <a:latin typeface="+mj-lt" pitchFamily="34" charset="0"/>
                <a:ea typeface="+mj-lt" pitchFamily="34" charset="-122"/>
                <a:cs typeface="+mj-lt" pitchFamily="34" charset="-120"/>
              </a:rPr>
              <a:t>e</a:t>
            </a:r>
            <a:r>
              <a:rPr lang="en-US" sz="3000" b="1" dirty="0">
                <a:solidFill>
                  <a:schemeClr val="tx1"/>
                </a:solidFill>
                <a:latin typeface="+mj-lt" pitchFamily="34" charset="0"/>
                <a:ea typeface="+mj-lt" pitchFamily="34" charset="-122"/>
                <a:cs typeface="+mj-lt" pitchFamily="34" charset="-120"/>
              </a:rPr>
              <a:t>r</a:t>
            </a:r>
            <a:endParaRPr lang="en-US" sz="3000" dirty="0"/>
          </a:p>
        </p:txBody>
      </p:sp>
      <p:sp>
        <p:nvSpPr>
          <p:cNvPr id="33" name="Text 26"/>
          <p:cNvSpPr txBox="1"/>
          <p:nvPr/>
        </p:nvSpPr>
        <p:spPr>
          <a:xfrm>
            <a:off x="7863840" y="32918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ken</a:t>
            </a:r>
            <a:endParaRPr lang="en-US" sz="3000" dirty="0"/>
          </a:p>
        </p:txBody>
      </p:sp>
      <p:sp>
        <p:nvSpPr>
          <p:cNvPr id="34" name="Shape 27"/>
          <p:cNvSpPr/>
          <p:nvPr/>
        </p:nvSpPr>
        <p:spPr>
          <a:xfrm>
            <a:off x="7772400" y="3429000"/>
            <a:ext cx="914" cy="822960"/>
          </a:xfrm>
          <a:prstGeom prst="line">
            <a:avLst/>
          </a:prstGeom>
          <a:noFill/>
          <a:ln w="25400">
            <a:solidFill>
              <a:srgbClr val="D9700F"/>
            </a:solidFill>
            <a:prstDash val="dash"/>
          </a:ln>
        </p:spPr>
      </p:sp>
      <p:pic>
        <p:nvPicPr>
          <p:cNvPr id="35" name="Image 4" descr="Scissors">    </p:cNvPr>
          <p:cNvPicPr>
            <a:picLocks noChangeAspect="1"/>
          </p:cNvPicPr>
          <p:nvPr/>
        </p:nvPicPr>
        <p:blipFill>
          <a:blip r:embed="rId5"/>
          <a:stretch>
            <a:fillRect/>
          </a:stretch>
        </p:blipFill>
        <p:spPr>
          <a:xfrm>
            <a:off x="7607808" y="3081528"/>
            <a:ext cx="329184" cy="329184"/>
          </a:xfrm>
          <a:prstGeom prst="rect">
            <a:avLst/>
          </a:prstGeom>
        </p:spPr>
      </p:pic>
      <p:sp>
        <p:nvSpPr>
          <p:cNvPr id="36" name="Shape 28"/>
          <p:cNvSpPr/>
          <p:nvPr/>
        </p:nvSpPr>
        <p:spPr>
          <a:xfrm>
            <a:off x="9144000" y="32918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37" name="Text 29"/>
          <p:cNvSpPr txBox="1"/>
          <p:nvPr/>
        </p:nvSpPr>
        <p:spPr>
          <a:xfrm>
            <a:off x="9189720" y="32918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z</a:t>
            </a:r>
            <a:r>
              <a:rPr lang="en-US" sz="3000" b="1" dirty="0">
                <a:solidFill>
                  <a:schemeClr val="accent4"/>
                </a:solidFill>
                <a:latin typeface="+mj-lt" pitchFamily="34" charset="0"/>
                <a:ea typeface="+mj-lt" pitchFamily="34" charset="-122"/>
                <a:cs typeface="+mj-lt" pitchFamily="34" charset="-120"/>
              </a:rPr>
              <a:t>e</a:t>
            </a:r>
            <a:r>
              <a:rPr lang="en-US" sz="3000" b="1" dirty="0">
                <a:solidFill>
                  <a:schemeClr val="tx1"/>
                </a:solidFill>
                <a:latin typeface="+mj-lt" pitchFamily="34" charset="0"/>
                <a:ea typeface="+mj-lt" pitchFamily="34" charset="-122"/>
                <a:cs typeface="+mj-lt" pitchFamily="34" charset="-120"/>
              </a:rPr>
              <a:t>g</a:t>
            </a:r>
            <a:endParaRPr lang="en-US" sz="3000" dirty="0"/>
          </a:p>
        </p:txBody>
      </p:sp>
      <p:sp>
        <p:nvSpPr>
          <p:cNvPr id="38" name="Text 30"/>
          <p:cNvSpPr txBox="1"/>
          <p:nvPr/>
        </p:nvSpPr>
        <p:spPr>
          <a:xfrm>
            <a:off x="10469880" y="32918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gen</a:t>
            </a:r>
            <a:endParaRPr lang="en-US" sz="3000" dirty="0"/>
          </a:p>
        </p:txBody>
      </p:sp>
      <p:sp>
        <p:nvSpPr>
          <p:cNvPr id="39" name="Shape 31"/>
          <p:cNvSpPr/>
          <p:nvPr/>
        </p:nvSpPr>
        <p:spPr>
          <a:xfrm>
            <a:off x="10378440" y="3429000"/>
            <a:ext cx="914" cy="822960"/>
          </a:xfrm>
          <a:prstGeom prst="line">
            <a:avLst/>
          </a:prstGeom>
          <a:noFill/>
          <a:ln w="25400">
            <a:solidFill>
              <a:srgbClr val="D9700F"/>
            </a:solidFill>
            <a:prstDash val="dash"/>
          </a:ln>
        </p:spPr>
      </p:sp>
      <p:pic>
        <p:nvPicPr>
          <p:cNvPr id="40" name="Image 5" descr="Scissors">    </p:cNvPr>
          <p:cNvPicPr>
            <a:picLocks noChangeAspect="1"/>
          </p:cNvPicPr>
          <p:nvPr/>
        </p:nvPicPr>
        <p:blipFill>
          <a:blip r:embed="rId6"/>
          <a:stretch>
            <a:fillRect/>
          </a:stretch>
        </p:blipFill>
        <p:spPr>
          <a:xfrm>
            <a:off x="10213848" y="3081528"/>
            <a:ext cx="329184" cy="329184"/>
          </a:xfrm>
          <a:prstGeom prst="rect">
            <a:avLst/>
          </a:prstGeom>
        </p:spPr>
      </p:pic>
      <p:sp>
        <p:nvSpPr>
          <p:cNvPr id="41" name="Shape 32"/>
          <p:cNvSpPr/>
          <p:nvPr/>
        </p:nvSpPr>
        <p:spPr>
          <a:xfrm>
            <a:off x="548640" y="4754880"/>
            <a:ext cx="3108960" cy="1371600"/>
          </a:xfrm>
          <a:prstGeom prst="roundRect">
            <a:avLst>
              <a:gd name="adj" fmla="val 5333"/>
            </a:avLst>
          </a:prstGeom>
          <a:solidFill>
            <a:schemeClr val="tx2"/>
          </a:solidFill>
          <a:ln w="12700">
            <a:solidFill>
              <a:srgbClr val="FFFFFF">
                <a:alpha val="0"/>
              </a:srgbClr>
            </a:solidFill>
            <a:prstDash val="solid"/>
          </a:ln>
        </p:spPr>
      </p:sp>
      <p:sp>
        <p:nvSpPr>
          <p:cNvPr id="42" name="Text 33"/>
          <p:cNvSpPr txBox="1"/>
          <p:nvPr/>
        </p:nvSpPr>
        <p:spPr>
          <a:xfrm>
            <a:off x="731520" y="4864608"/>
            <a:ext cx="2743200" cy="457200"/>
          </a:xfrm>
          <a:prstGeom prst="rect">
            <a:avLst/>
          </a:prstGeom>
          <a:noFill/>
          <a:ln/>
        </p:spPr>
        <p:txBody>
          <a:bodyPr wrap="square" lIns="0" tIns="0" rIns="0" bIns="0" rtlCol="0" anchor="t"/>
          <a:lstStyle/>
          <a:p>
            <a:pPr algn="l" indent="0" marL="0">
              <a:buNone/>
            </a:pPr>
            <a:r>
              <a:rPr lang="en-US" sz="2200" b="1" dirty="0">
                <a:solidFill>
                  <a:schemeClr val="bg1"/>
                </a:solidFill>
                <a:latin typeface="+mj-lt" pitchFamily="34" charset="0"/>
                <a:ea typeface="+mj-lt" pitchFamily="34" charset="-122"/>
                <a:cs typeface="+mj-lt" pitchFamily="34" charset="-120"/>
              </a:rPr>
              <a:t>son double</a:t>
            </a:r>
            <a:endParaRPr lang="en-US" sz="2200" dirty="0"/>
          </a:p>
        </p:txBody>
      </p:sp>
      <p:sp>
        <p:nvSpPr>
          <p:cNvPr id="43" name="Text 34"/>
          <p:cNvSpPr txBox="1"/>
          <p:nvPr/>
        </p:nvSpPr>
        <p:spPr>
          <a:xfrm>
            <a:off x="731520" y="5349240"/>
            <a:ext cx="2743200" cy="685800"/>
          </a:xfrm>
          <a:prstGeom prst="rect">
            <a:avLst/>
          </a:prstGeom>
          <a:noFill/>
          <a:ln/>
        </p:spPr>
        <p:txBody>
          <a:bodyPr wrap="square" lIns="0" tIns="0" rIns="0" bIns="0" rtlCol="0" anchor="t"/>
          <a:lstStyle/>
          <a:p>
            <a:pPr algn="l" indent="0" marL="0">
              <a:buNone/>
            </a:pPr>
            <a:r>
              <a:rPr lang="en-US" sz="1600" dirty="0">
                <a:solidFill>
                  <a:schemeClr val="bg2"/>
                </a:solidFill>
              </a:rPr>
              <a:t>je ne le coupe </a:t>
            </a:r>
            <a:r>
              <a:rPr lang="en-US" sz="1600" b="1" dirty="0">
                <a:solidFill>
                  <a:schemeClr val="bg2"/>
                </a:solidFill>
              </a:rPr>
              <a:t>jamais</a:t>
            </a:r>
            <a:endParaRPr lang="en-US" sz="1600" dirty="0"/>
          </a:p>
        </p:txBody>
      </p:sp>
      <p:sp>
        <p:nvSpPr>
          <p:cNvPr id="44" name="Shape 35"/>
          <p:cNvSpPr/>
          <p:nvPr/>
        </p:nvSpPr>
        <p:spPr>
          <a:xfrm>
            <a:off x="3931920" y="48920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45" name="Text 36"/>
          <p:cNvSpPr txBox="1"/>
          <p:nvPr/>
        </p:nvSpPr>
        <p:spPr>
          <a:xfrm>
            <a:off x="3977640" y="48920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k</a:t>
            </a:r>
            <a:r>
              <a:rPr lang="en-US" sz="3000" b="1" dirty="0">
                <a:solidFill>
                  <a:schemeClr val="tx2"/>
                </a:solidFill>
                <a:latin typeface="+mj-lt" pitchFamily="34" charset="0"/>
                <a:ea typeface="+mj-lt" pitchFamily="34" charset="-122"/>
                <a:cs typeface="+mj-lt" pitchFamily="34" charset="-120"/>
              </a:rPr>
              <a:t>ij</a:t>
            </a:r>
            <a:endParaRPr lang="en-US" sz="3000" dirty="0"/>
          </a:p>
        </p:txBody>
      </p:sp>
      <p:sp>
        <p:nvSpPr>
          <p:cNvPr id="46" name="Text 37"/>
          <p:cNvSpPr txBox="1"/>
          <p:nvPr/>
        </p:nvSpPr>
        <p:spPr>
          <a:xfrm>
            <a:off x="5257800" y="48920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ken</a:t>
            </a:r>
            <a:endParaRPr lang="en-US" sz="3000" dirty="0"/>
          </a:p>
        </p:txBody>
      </p:sp>
      <p:sp>
        <p:nvSpPr>
          <p:cNvPr id="47" name="Shape 38"/>
          <p:cNvSpPr/>
          <p:nvPr/>
        </p:nvSpPr>
        <p:spPr>
          <a:xfrm>
            <a:off x="5166360" y="5029200"/>
            <a:ext cx="914" cy="822960"/>
          </a:xfrm>
          <a:prstGeom prst="line">
            <a:avLst/>
          </a:prstGeom>
          <a:noFill/>
          <a:ln w="25400">
            <a:solidFill>
              <a:srgbClr val="D9700F"/>
            </a:solidFill>
            <a:prstDash val="dash"/>
          </a:ln>
        </p:spPr>
      </p:sp>
      <p:pic>
        <p:nvPicPr>
          <p:cNvPr id="48" name="Image 6" descr="Scissors">    </p:cNvPr>
          <p:cNvPicPr>
            <a:picLocks noChangeAspect="1"/>
          </p:cNvPicPr>
          <p:nvPr/>
        </p:nvPicPr>
        <p:blipFill>
          <a:blip r:embed="rId7"/>
          <a:stretch>
            <a:fillRect/>
          </a:stretch>
        </p:blipFill>
        <p:spPr>
          <a:xfrm>
            <a:off x="5001768" y="4681728"/>
            <a:ext cx="329184" cy="329184"/>
          </a:xfrm>
          <a:prstGeom prst="rect">
            <a:avLst/>
          </a:prstGeom>
        </p:spPr>
      </p:pic>
      <p:sp>
        <p:nvSpPr>
          <p:cNvPr id="49" name="Shape 39"/>
          <p:cNvSpPr/>
          <p:nvPr/>
        </p:nvSpPr>
        <p:spPr>
          <a:xfrm>
            <a:off x="6537960" y="48920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50" name="Text 40"/>
          <p:cNvSpPr txBox="1"/>
          <p:nvPr/>
        </p:nvSpPr>
        <p:spPr>
          <a:xfrm>
            <a:off x="6583680" y="48920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r</a:t>
            </a:r>
            <a:r>
              <a:rPr lang="en-US" sz="3000" b="1" dirty="0">
                <a:solidFill>
                  <a:schemeClr val="tx2"/>
                </a:solidFill>
                <a:latin typeface="+mj-lt" pitchFamily="34" charset="0"/>
                <a:ea typeface="+mj-lt" pitchFamily="34" charset="-122"/>
                <a:cs typeface="+mj-lt" pitchFamily="34" charset="-120"/>
              </a:rPr>
              <a:t>oe</a:t>
            </a:r>
            <a:endParaRPr lang="en-US" sz="3000" dirty="0"/>
          </a:p>
        </p:txBody>
      </p:sp>
      <p:sp>
        <p:nvSpPr>
          <p:cNvPr id="51" name="Text 41"/>
          <p:cNvSpPr txBox="1"/>
          <p:nvPr/>
        </p:nvSpPr>
        <p:spPr>
          <a:xfrm>
            <a:off x="7863840" y="48920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pen</a:t>
            </a:r>
            <a:endParaRPr lang="en-US" sz="3000" dirty="0"/>
          </a:p>
        </p:txBody>
      </p:sp>
      <p:sp>
        <p:nvSpPr>
          <p:cNvPr id="52" name="Shape 42"/>
          <p:cNvSpPr/>
          <p:nvPr/>
        </p:nvSpPr>
        <p:spPr>
          <a:xfrm>
            <a:off x="7772400" y="5029200"/>
            <a:ext cx="914" cy="822960"/>
          </a:xfrm>
          <a:prstGeom prst="line">
            <a:avLst/>
          </a:prstGeom>
          <a:noFill/>
          <a:ln w="25400">
            <a:solidFill>
              <a:srgbClr val="D9700F"/>
            </a:solidFill>
            <a:prstDash val="dash"/>
          </a:ln>
        </p:spPr>
      </p:sp>
      <p:pic>
        <p:nvPicPr>
          <p:cNvPr id="53" name="Image 7" descr="Scissors">    </p:cNvPr>
          <p:cNvPicPr>
            <a:picLocks noChangeAspect="1"/>
          </p:cNvPicPr>
          <p:nvPr/>
        </p:nvPicPr>
        <p:blipFill>
          <a:blip r:embed="rId8"/>
          <a:stretch>
            <a:fillRect/>
          </a:stretch>
        </p:blipFill>
        <p:spPr>
          <a:xfrm>
            <a:off x="7607808" y="4681728"/>
            <a:ext cx="329184" cy="329184"/>
          </a:xfrm>
          <a:prstGeom prst="rect">
            <a:avLst/>
          </a:prstGeom>
        </p:spPr>
      </p:pic>
      <p:sp>
        <p:nvSpPr>
          <p:cNvPr id="54" name="Shape 43"/>
          <p:cNvSpPr/>
          <p:nvPr/>
        </p:nvSpPr>
        <p:spPr>
          <a:xfrm>
            <a:off x="9144000" y="4892040"/>
            <a:ext cx="2377440" cy="1097280"/>
          </a:xfrm>
          <a:prstGeom prst="roundRect">
            <a:avLst>
              <a:gd name="adj" fmla="val 6667"/>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55" name="Text 44"/>
          <p:cNvSpPr txBox="1"/>
          <p:nvPr/>
        </p:nvSpPr>
        <p:spPr>
          <a:xfrm>
            <a:off x="9189720" y="4892040"/>
            <a:ext cx="1097280" cy="1097280"/>
          </a:xfrm>
          <a:prstGeom prst="rect">
            <a:avLst/>
          </a:prstGeom>
          <a:noFill/>
          <a:ln/>
        </p:spPr>
        <p:txBody>
          <a:bodyPr wrap="square" lIns="0" tIns="0" rIns="0" bIns="0" rtlCol="0" anchor="ctr"/>
          <a:lstStyle/>
          <a:p>
            <a:pPr algn="r" indent="0" marL="0">
              <a:buNone/>
            </a:pPr>
            <a:r>
              <a:rPr lang="en-US" sz="3000" b="1" dirty="0">
                <a:solidFill>
                  <a:schemeClr val="tx1"/>
                </a:solidFill>
                <a:latin typeface="+mj-lt" pitchFamily="34" charset="0"/>
                <a:ea typeface="+mj-lt" pitchFamily="34" charset="-122"/>
                <a:cs typeface="+mj-lt" pitchFamily="34" charset="-120"/>
              </a:rPr>
              <a:t>h</a:t>
            </a:r>
            <a:r>
              <a:rPr lang="en-US" sz="3000" b="1" dirty="0">
                <a:solidFill>
                  <a:schemeClr val="tx2"/>
                </a:solidFill>
                <a:latin typeface="+mj-lt" pitchFamily="34" charset="0"/>
                <a:ea typeface="+mj-lt" pitchFamily="34" charset="-122"/>
                <a:cs typeface="+mj-lt" pitchFamily="34" charset="-120"/>
              </a:rPr>
              <a:t>ui</a:t>
            </a:r>
            <a:endParaRPr lang="en-US" sz="3000" dirty="0"/>
          </a:p>
        </p:txBody>
      </p:sp>
      <p:sp>
        <p:nvSpPr>
          <p:cNvPr id="56" name="Text 45"/>
          <p:cNvSpPr txBox="1"/>
          <p:nvPr/>
        </p:nvSpPr>
        <p:spPr>
          <a:xfrm>
            <a:off x="10469880" y="4892040"/>
            <a:ext cx="1051560" cy="1097280"/>
          </a:xfrm>
          <a:prstGeom prst="rect">
            <a:avLst/>
          </a:prstGeom>
          <a:noFill/>
          <a:ln/>
        </p:spPr>
        <p:txBody>
          <a:bodyPr wrap="square" lIns="0" tIns="0" rIns="0" bIns="0" rtlCol="0" anchor="ctr"/>
          <a:lstStyle/>
          <a:p>
            <a:pPr algn="l" indent="0" marL="0">
              <a:buNone/>
            </a:pPr>
            <a:r>
              <a:rPr lang="en-US" sz="3000" b="1" dirty="0">
                <a:solidFill>
                  <a:schemeClr val="tx1"/>
                </a:solidFill>
                <a:latin typeface="+mj-lt" pitchFamily="34" charset="0"/>
                <a:ea typeface="+mj-lt" pitchFamily="34" charset="-122"/>
                <a:cs typeface="+mj-lt" pitchFamily="34" charset="-120"/>
              </a:rPr>
              <a:t>zen</a:t>
            </a:r>
            <a:endParaRPr lang="en-US" sz="3000" dirty="0"/>
          </a:p>
        </p:txBody>
      </p:sp>
      <p:sp>
        <p:nvSpPr>
          <p:cNvPr id="57" name="Shape 46"/>
          <p:cNvSpPr/>
          <p:nvPr/>
        </p:nvSpPr>
        <p:spPr>
          <a:xfrm>
            <a:off x="10378440" y="5029200"/>
            <a:ext cx="914" cy="822960"/>
          </a:xfrm>
          <a:prstGeom prst="line">
            <a:avLst/>
          </a:prstGeom>
          <a:noFill/>
          <a:ln w="25400">
            <a:solidFill>
              <a:srgbClr val="D9700F"/>
            </a:solidFill>
            <a:prstDash val="dash"/>
          </a:ln>
        </p:spPr>
      </p:sp>
      <p:pic>
        <p:nvPicPr>
          <p:cNvPr id="58" name="Image 8" descr="Scissors">    </p:cNvPr>
          <p:cNvPicPr>
            <a:picLocks noChangeAspect="1"/>
          </p:cNvPicPr>
          <p:nvPr/>
        </p:nvPicPr>
        <p:blipFill>
          <a:blip r:embed="rId9"/>
          <a:stretch>
            <a:fillRect/>
          </a:stretch>
        </p:blipFill>
        <p:spPr>
          <a:xfrm>
            <a:off x="10213848" y="4681728"/>
            <a:ext cx="329184" cy="329184"/>
          </a:xfrm>
          <a:prstGeom prst="rect">
            <a:avLst/>
          </a:prstGeom>
        </p:spPr>
      </p:pic>
      <p:sp>
        <p:nvSpPr>
          <p:cNvPr id="59" name="Text 47"/>
          <p:cNvSpPr txBox="1"/>
          <p:nvPr/>
        </p:nvSpPr>
        <p:spPr>
          <a:xfrm>
            <a:off x="3931920" y="6053328"/>
            <a:ext cx="7680960" cy="274320"/>
          </a:xfrm>
          <a:prstGeom prst="rect">
            <a:avLst/>
          </a:prstGeom>
          <a:noFill/>
          <a:ln/>
        </p:spPr>
        <p:txBody>
          <a:bodyPr wrap="square" lIns="0" tIns="0" rIns="0" bIns="0" rtlCol="0" anchor="t"/>
          <a:lstStyle/>
          <a:p>
            <a:pPr algn="l" indent="0" marL="0">
              <a:buNone/>
            </a:pPr>
            <a:r>
              <a:rPr lang="en-US" sz="1300" b="1" i="1" dirty="0">
                <a:solidFill>
                  <a:schemeClr val="accent3"/>
                </a:solidFill>
              </a:rPr>
              <a:t>vert</a:t>
            </a:r>
            <a:r>
              <a:rPr lang="en-US" sz="1300" i="1" dirty="0">
                <a:solidFill>
                  <a:schemeClr val="accent5"/>
                </a:solidFill>
              </a:rPr>
              <a:t> = voyelle longue · </a:t>
            </a:r>
            <a:r>
              <a:rPr lang="en-US" sz="1300" b="1" i="1" dirty="0">
                <a:solidFill>
                  <a:schemeClr val="accent4"/>
                </a:solidFill>
              </a:rPr>
              <a:t>framboise</a:t>
            </a:r>
            <a:r>
              <a:rPr lang="en-US" sz="1300" i="1" dirty="0">
                <a:solidFill>
                  <a:schemeClr val="accent5"/>
                </a:solidFill>
              </a:rPr>
              <a:t> = voyelle courte · </a:t>
            </a:r>
            <a:r>
              <a:rPr lang="en-US" sz="1300" b="1" i="1" dirty="0">
                <a:solidFill>
                  <a:schemeClr val="tx2"/>
                </a:solidFill>
              </a:rPr>
              <a:t>bleu nuit</a:t>
            </a:r>
            <a:r>
              <a:rPr lang="en-US" sz="1300" i="1" dirty="0">
                <a:solidFill>
                  <a:schemeClr val="accent5"/>
                </a:solidFill>
              </a:rPr>
              <a:t> = son double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sons courts : la consonne monte la garde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589520" cy="914400"/>
        </p:xfrm>
        <a:graphic>
          <a:graphicData uri="http://schemas.openxmlformats.org/drawingml/2006/table">
            <a:tbl>
              <a:tblPr/>
              <a:tblGrid>
                <a:gridCol w="1188720"/>
                <a:gridCol w="1828800"/>
                <a:gridCol w="2651760"/>
                <a:gridCol w="1920240"/>
              </a:tblGrid>
              <a:tr h="713232">
                <a:tc>
                  <a:txBody>
                    <a:bodyPr/>
                    <a:lstStyle/>
                    <a:p>
                      <a:pPr algn="ctr" indent="0" marL="0">
                        <a:buNone/>
                      </a:pPr>
                      <a:r>
                        <a:rPr lang="en-US" sz="1600" b="1" dirty="0">
                          <a:solidFill>
                            <a:srgbClr val="FFFFFF"/>
                          </a:solidFill>
                        </a:rPr>
                        <a:t>Voyelle</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ctr" indent="0" marL="0">
                        <a:buNone/>
                      </a:pPr>
                      <a:r>
                        <a:rPr lang="en-US" sz="1600" b="1" dirty="0">
                          <a:solidFill>
                            <a:srgbClr val="FFFFFF"/>
                          </a:solidFill>
                        </a:rPr>
                        <a:t>1 syllabe</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ctr" indent="0" marL="0">
                        <a:buNone/>
                      </a:pPr>
                      <a:r>
                        <a:rPr lang="en-US" sz="1600" b="1" dirty="0">
                          <a:solidFill>
                            <a:srgbClr val="FFFFFF"/>
                          </a:solidFill>
                        </a:rPr>
                        <a:t>2 syllabes (+ en)</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600" b="1" dirty="0">
                          <a:solidFill>
                            <a:srgbClr val="FFFFFF"/>
                          </a:solidFill>
                        </a:rPr>
                        <a:t>Sens</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r>
              <a:tr h="713232">
                <a:tc>
                  <a:txBody>
                    <a:bodyPr/>
                    <a:lstStyle/>
                    <a:p>
                      <a:pPr algn="ctr" indent="0" marL="0">
                        <a:buNone/>
                      </a:pPr>
                      <a:r>
                        <a:rPr lang="en-US" sz="2600" b="1" dirty="0">
                          <a:solidFill>
                            <a:schemeClr val="tx1"/>
                          </a:solidFill>
                        </a:rPr>
                        <a:t>A</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k</a:t>
                      </a:r>
                      <a:r>
                        <a:rPr lang="en-US" sz="2600" b="1" dirty="0">
                          <a:solidFill>
                            <a:schemeClr val="accent4"/>
                          </a:solidFill>
                        </a:rPr>
                        <a:t>a</a:t>
                      </a:r>
                      <a:r>
                        <a:rPr lang="en-US" sz="2600" dirty="0">
                          <a:solidFill>
                            <a:schemeClr val="tx1"/>
                          </a:solidFill>
                        </a:rPr>
                        <a:t>t</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k</a:t>
                      </a:r>
                      <a:r>
                        <a:rPr lang="en-US" sz="2600" b="1" dirty="0">
                          <a:solidFill>
                            <a:schemeClr val="accent4"/>
                          </a:solidFill>
                        </a:rPr>
                        <a:t>a</a:t>
                      </a:r>
                      <a:r>
                        <a:rPr lang="en-US" sz="2600" b="1" dirty="0">
                          <a:solidFill>
                            <a:schemeClr val="accent4"/>
                          </a:solidFill>
                        </a:rPr>
                        <a:t>t·t</a:t>
                      </a:r>
                      <a:r>
                        <a:rPr lang="en-US" sz="2600" dirty="0">
                          <a:solidFill>
                            <a:schemeClr val="tx1"/>
                          </a:solidFill>
                        </a:rPr>
                        <a:t>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600" i="1" dirty="0">
                          <a:solidFill>
                            <a:schemeClr val="tx1"/>
                          </a:solidFill>
                        </a:rPr>
                        <a:t>le chat</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3232">
                <a:tc>
                  <a:txBody>
                    <a:bodyPr/>
                    <a:lstStyle/>
                    <a:p>
                      <a:pPr algn="ctr" indent="0" marL="0">
                        <a:buNone/>
                      </a:pPr>
                      <a:r>
                        <a:rPr lang="en-US" sz="2600" b="1" dirty="0">
                          <a:solidFill>
                            <a:schemeClr val="tx1"/>
                          </a:solidFill>
                        </a:rPr>
                        <a:t>E</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l</a:t>
                      </a:r>
                      <a:r>
                        <a:rPr lang="en-US" sz="2600" b="1" dirty="0">
                          <a:solidFill>
                            <a:schemeClr val="accent4"/>
                          </a:solidFill>
                        </a:rPr>
                        <a:t>e</a:t>
                      </a:r>
                      <a:r>
                        <a:rPr lang="en-US" sz="2600" dirty="0">
                          <a:solidFill>
                            <a:schemeClr val="tx1"/>
                          </a:solidFill>
                        </a:rPr>
                        <a:t>s</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l</a:t>
                      </a:r>
                      <a:r>
                        <a:rPr lang="en-US" sz="2600" b="1" dirty="0">
                          <a:solidFill>
                            <a:schemeClr val="accent4"/>
                          </a:solidFill>
                        </a:rPr>
                        <a:t>e</a:t>
                      </a:r>
                      <a:r>
                        <a:rPr lang="en-US" sz="2600" b="1" dirty="0">
                          <a:solidFill>
                            <a:schemeClr val="accent4"/>
                          </a:solidFill>
                        </a:rPr>
                        <a:t>s·s</a:t>
                      </a:r>
                      <a:r>
                        <a:rPr lang="en-US" sz="2600" dirty="0">
                          <a:solidFill>
                            <a:schemeClr val="tx1"/>
                          </a:solidFill>
                        </a:rPr>
                        <a:t>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600" i="1" dirty="0">
                          <a:solidFill>
                            <a:schemeClr val="tx1"/>
                          </a:solidFill>
                        </a:rPr>
                        <a:t>la leçon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3232">
                <a:tc>
                  <a:txBody>
                    <a:bodyPr/>
                    <a:lstStyle/>
                    <a:p>
                      <a:pPr algn="ctr" indent="0" marL="0">
                        <a:buNone/>
                      </a:pPr>
                      <a:r>
                        <a:rPr lang="en-US" sz="2600" b="1" dirty="0">
                          <a:solidFill>
                            <a:schemeClr val="tx1"/>
                          </a:solidFill>
                        </a:rPr>
                        <a:t>I</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v</a:t>
                      </a:r>
                      <a:r>
                        <a:rPr lang="en-US" sz="2600" b="1" dirty="0">
                          <a:solidFill>
                            <a:schemeClr val="accent4"/>
                          </a:solidFill>
                        </a:rPr>
                        <a:t>i</a:t>
                      </a:r>
                      <a:r>
                        <a:rPr lang="en-US" sz="2600" dirty="0">
                          <a:solidFill>
                            <a:schemeClr val="tx1"/>
                          </a:solidFill>
                        </a:rPr>
                        <a:t>s</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v</a:t>
                      </a:r>
                      <a:r>
                        <a:rPr lang="en-US" sz="2600" b="1" dirty="0">
                          <a:solidFill>
                            <a:schemeClr val="accent4"/>
                          </a:solidFill>
                        </a:rPr>
                        <a:t>i</a:t>
                      </a:r>
                      <a:r>
                        <a:rPr lang="en-US" sz="2600" b="1" dirty="0">
                          <a:solidFill>
                            <a:schemeClr val="accent4"/>
                          </a:solidFill>
                        </a:rPr>
                        <a:t>s·s</a:t>
                      </a:r>
                      <a:r>
                        <a:rPr lang="en-US" sz="2600" dirty="0">
                          <a:solidFill>
                            <a:schemeClr val="tx1"/>
                          </a:solidFill>
                        </a:rPr>
                        <a:t>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600" i="1" dirty="0">
                          <a:solidFill>
                            <a:schemeClr val="tx1"/>
                          </a:solidFill>
                        </a:rPr>
                        <a:t>le poisson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3232">
                <a:tc>
                  <a:txBody>
                    <a:bodyPr/>
                    <a:lstStyle/>
                    <a:p>
                      <a:pPr algn="ctr" indent="0" marL="0">
                        <a:buNone/>
                      </a:pPr>
                      <a:r>
                        <a:rPr lang="en-US" sz="2600" b="1" dirty="0">
                          <a:solidFill>
                            <a:schemeClr val="tx1"/>
                          </a:solidFill>
                        </a:rPr>
                        <a:t>O</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p</a:t>
                      </a:r>
                      <a:r>
                        <a:rPr lang="en-US" sz="2600" b="1" dirty="0">
                          <a:solidFill>
                            <a:schemeClr val="accent4"/>
                          </a:solidFill>
                        </a:rPr>
                        <a:t>o</a:t>
                      </a:r>
                      <a:r>
                        <a:rPr lang="en-US" sz="2600" dirty="0">
                          <a:solidFill>
                            <a:schemeClr val="tx1"/>
                          </a:solidFill>
                        </a:rPr>
                        <a:t>t</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p</a:t>
                      </a:r>
                      <a:r>
                        <a:rPr lang="en-US" sz="2600" b="1" dirty="0">
                          <a:solidFill>
                            <a:schemeClr val="accent4"/>
                          </a:solidFill>
                        </a:rPr>
                        <a:t>o</a:t>
                      </a:r>
                      <a:r>
                        <a:rPr lang="en-US" sz="2600" b="1" dirty="0">
                          <a:solidFill>
                            <a:schemeClr val="accent4"/>
                          </a:solidFill>
                        </a:rPr>
                        <a:t>t·t</a:t>
                      </a:r>
                      <a:r>
                        <a:rPr lang="en-US" sz="2600" dirty="0">
                          <a:solidFill>
                            <a:schemeClr val="tx1"/>
                          </a:solidFill>
                        </a:rPr>
                        <a:t>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600" i="1" dirty="0">
                          <a:solidFill>
                            <a:schemeClr val="tx1"/>
                          </a:solidFill>
                        </a:rPr>
                        <a:t>le pot</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3232">
                <a:tc>
                  <a:txBody>
                    <a:bodyPr/>
                    <a:lstStyle/>
                    <a:p>
                      <a:pPr algn="ctr" indent="0" marL="0">
                        <a:buNone/>
                      </a:pPr>
                      <a:r>
                        <a:rPr lang="en-US" sz="2600" b="1" dirty="0">
                          <a:solidFill>
                            <a:schemeClr val="tx1"/>
                          </a:solidFill>
                        </a:rPr>
                        <a:t>U</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b</a:t>
                      </a:r>
                      <a:r>
                        <a:rPr lang="en-US" sz="2600" b="1" dirty="0">
                          <a:solidFill>
                            <a:schemeClr val="accent4"/>
                          </a:solidFill>
                        </a:rPr>
                        <a:t>u</a:t>
                      </a:r>
                      <a:r>
                        <a:rPr lang="en-US" sz="2600" dirty="0">
                          <a:solidFill>
                            <a:schemeClr val="tx1"/>
                          </a:solidFill>
                        </a:rPr>
                        <a:t>s</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b</a:t>
                      </a:r>
                      <a:r>
                        <a:rPr lang="en-US" sz="2600" b="1" dirty="0">
                          <a:solidFill>
                            <a:schemeClr val="accent4"/>
                          </a:solidFill>
                        </a:rPr>
                        <a:t>u</a:t>
                      </a:r>
                      <a:r>
                        <a:rPr lang="en-US" sz="2600" b="1" dirty="0">
                          <a:solidFill>
                            <a:schemeClr val="accent4"/>
                          </a:solidFill>
                        </a:rPr>
                        <a:t>s·s</a:t>
                      </a:r>
                      <a:r>
                        <a:rPr lang="en-US" sz="2600" dirty="0">
                          <a:solidFill>
                            <a:schemeClr val="tx1"/>
                          </a:solidFill>
                        </a:rPr>
                        <a:t>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600" i="1" dirty="0">
                          <a:solidFill>
                            <a:schemeClr val="tx1"/>
                          </a:solidFill>
                        </a:rPr>
                        <a:t>le bus</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6" name="Shape 2"/>
          <p:cNvSpPr/>
          <p:nvPr/>
        </p:nvSpPr>
        <p:spPr>
          <a:xfrm>
            <a:off x="8412480" y="1554480"/>
            <a:ext cx="3227832" cy="2194560"/>
          </a:xfrm>
          <a:prstGeom prst="roundRect">
            <a:avLst>
              <a:gd name="adj" fmla="val 4167"/>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 name="Shape 3"/>
          <p:cNvSpPr/>
          <p:nvPr/>
        </p:nvSpPr>
        <p:spPr>
          <a:xfrm>
            <a:off x="8595360" y="1719072"/>
            <a:ext cx="566928" cy="566928"/>
          </a:xfrm>
          <a:prstGeom prst="ellipse">
            <a:avLst/>
          </a:prstGeom>
          <a:solidFill>
            <a:schemeClr val="accent4"/>
          </a:solidFill>
          <a:ln w="12700">
            <a:solidFill>
              <a:srgbClr val="FFFFFF">
                <a:alpha val="0"/>
              </a:srgbClr>
            </a:solidFill>
            <a:prstDash val="solid"/>
          </a:ln>
        </p:spPr>
      </p:sp>
      <p:pic>
        <p:nvPicPr>
          <p:cNvPr id="8" name="Image 0" descr="ShieldAlt">    </p:cNvPr>
          <p:cNvPicPr>
            <a:picLocks noChangeAspect="1"/>
          </p:cNvPicPr>
          <p:nvPr/>
        </p:nvPicPr>
        <p:blipFill>
          <a:blip r:embed="rId1"/>
          <a:stretch>
            <a:fillRect/>
          </a:stretch>
        </p:blipFill>
        <p:spPr>
          <a:xfrm>
            <a:off x="8731423" y="1855135"/>
            <a:ext cx="294803" cy="294803"/>
          </a:xfrm>
          <a:prstGeom prst="rect">
            <a:avLst/>
          </a:prstGeom>
        </p:spPr>
      </p:pic>
      <p:sp>
        <p:nvSpPr>
          <p:cNvPr id="9" name="Text 4"/>
          <p:cNvSpPr txBox="1"/>
          <p:nvPr/>
        </p:nvSpPr>
        <p:spPr>
          <a:xfrm>
            <a:off x="9308592" y="1700784"/>
            <a:ext cx="2194560" cy="603504"/>
          </a:xfrm>
          <a:prstGeom prst="rect">
            <a:avLst/>
          </a:prstGeom>
          <a:noFill/>
          <a:ln/>
        </p:spPr>
        <p:txBody>
          <a:bodyPr wrap="square" lIns="0" tIns="0" rIns="0" bIns="0" rtlCol="0" anchor="ctr"/>
          <a:lstStyle/>
          <a:p>
            <a:pPr algn="l" indent="0" marL="0">
              <a:buNone/>
            </a:pPr>
            <a:r>
              <a:rPr lang="en-US" sz="1900" b="1" dirty="0">
                <a:solidFill>
                  <a:schemeClr val="accent4"/>
                </a:solidFill>
              </a:rPr>
              <a:t>Je double !</a:t>
            </a:r>
            <a:endParaRPr lang="en-US" sz="1900" dirty="0"/>
          </a:p>
        </p:txBody>
      </p:sp>
      <p:sp>
        <p:nvSpPr>
          <p:cNvPr id="10" name="Text 5"/>
          <p:cNvSpPr txBox="1"/>
          <p:nvPr/>
        </p:nvSpPr>
        <p:spPr>
          <a:xfrm>
            <a:off x="8613648" y="2423160"/>
            <a:ext cx="2825496" cy="1216152"/>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Pour garder le son </a:t>
            </a:r>
            <a:r>
              <a:rPr lang="en-US" sz="1800" b="1" dirty="0">
                <a:solidFill>
                  <a:schemeClr val="tx1"/>
                </a:solidFill>
              </a:rPr>
              <a:t>COURT</a:t>
            </a:r>
            <a:r>
              <a:rPr lang="en-US" sz="1800" dirty="0">
                <a:solidFill>
                  <a:schemeClr val="tx1"/>
                </a:solidFill>
              </a:rPr>
              <a:t>, je </a:t>
            </a:r>
            <a:r>
              <a:rPr lang="en-US" sz="1800" b="1" dirty="0">
                <a:solidFill>
                  <a:schemeClr val="tx1"/>
                </a:solidFill>
              </a:rPr>
              <a:t>double</a:t>
            </a:r>
            <a:r>
              <a:rPr lang="en-US" sz="1800" dirty="0">
                <a:solidFill>
                  <a:schemeClr val="tx1"/>
                </a:solidFill>
              </a:rPr>
              <a:t> la consonne.</a:t>
            </a:r>
            <a:endParaRPr lang="en-US" sz="1800" dirty="0"/>
          </a:p>
        </p:txBody>
      </p:sp>
      <p:sp>
        <p:nvSpPr>
          <p:cNvPr id="11" name="Shape 6"/>
          <p:cNvSpPr/>
          <p:nvPr/>
        </p:nvSpPr>
        <p:spPr>
          <a:xfrm>
            <a:off x="8412480" y="3931920"/>
            <a:ext cx="3227832" cy="566928"/>
          </a:xfrm>
          <a:prstGeom prst="roundRect">
            <a:avLst>
              <a:gd name="adj" fmla="val 12903"/>
            </a:avLst>
          </a:prstGeom>
          <a:solidFill>
            <a:schemeClr val="bg2"/>
          </a:solidFill>
          <a:ln w="19050">
            <a:solidFill>
              <a:srgbClr val="17375E"/>
            </a:solidFill>
            <a:prstDash val="solid"/>
          </a:ln>
        </p:spPr>
      </p:sp>
      <p:sp>
        <p:nvSpPr>
          <p:cNvPr id="12" name="Text 7"/>
          <p:cNvSpPr txBox="1"/>
          <p:nvPr/>
        </p:nvSpPr>
        <p:spPr>
          <a:xfrm>
            <a:off x="8549640" y="3931920"/>
            <a:ext cx="2633472" cy="566928"/>
          </a:xfrm>
          <a:prstGeom prst="rect">
            <a:avLst/>
          </a:prstGeom>
          <a:noFill/>
          <a:ln/>
        </p:spPr>
        <p:txBody>
          <a:bodyPr wrap="square" lIns="0" tIns="0" rIns="0" bIns="0" rtlCol="0" anchor="ctr"/>
          <a:lstStyle/>
          <a:p>
            <a:pPr algn="l" indent="0" marL="0">
              <a:buNone/>
            </a:pPr>
            <a:r>
              <a:rPr lang="en-US" sz="1800" b="1" dirty="0">
                <a:solidFill>
                  <a:schemeClr val="tx1"/>
                </a:solidFill>
                <a:latin typeface="+mj-lt" pitchFamily="34" charset="0"/>
                <a:ea typeface="+mj-lt" pitchFamily="34" charset="-122"/>
                <a:cs typeface="+mj-lt" pitchFamily="34" charset="-120"/>
              </a:rPr>
              <a:t>kat + en</a:t>
            </a:r>
            <a:endParaRPr lang="en-US" sz="1800" dirty="0"/>
          </a:p>
        </p:txBody>
      </p:sp>
      <p:sp>
        <p:nvSpPr>
          <p:cNvPr id="13" name="Shape 8"/>
          <p:cNvSpPr/>
          <p:nvPr/>
        </p:nvSpPr>
        <p:spPr>
          <a:xfrm>
            <a:off x="10026396" y="4517136"/>
            <a:ext cx="914" cy="237744"/>
          </a:xfrm>
          <a:prstGeom prst="line">
            <a:avLst/>
          </a:prstGeom>
          <a:noFill/>
          <a:ln w="19050">
            <a:solidFill>
              <a:srgbClr val="4A5A70"/>
            </a:solidFill>
            <a:prstDash val="solid"/>
            <a:tailEnd type="triangle"/>
          </a:ln>
        </p:spPr>
      </p:sp>
      <p:sp>
        <p:nvSpPr>
          <p:cNvPr id="14" name="Shape 9"/>
          <p:cNvSpPr/>
          <p:nvPr/>
        </p:nvSpPr>
        <p:spPr>
          <a:xfrm>
            <a:off x="8412480" y="4773168"/>
            <a:ext cx="3227832" cy="566928"/>
          </a:xfrm>
          <a:prstGeom prst="roundRect">
            <a:avLst>
              <a:gd name="adj" fmla="val 12903"/>
            </a:avLst>
          </a:prstGeom>
          <a:solidFill>
            <a:srgbClr val="FBEDEB"/>
          </a:solidFill>
          <a:ln w="19050">
            <a:solidFill>
              <a:srgbClr val="B83227"/>
            </a:solidFill>
            <a:prstDash val="solid"/>
          </a:ln>
        </p:spPr>
      </p:sp>
      <p:sp>
        <p:nvSpPr>
          <p:cNvPr id="15" name="Text 10"/>
          <p:cNvSpPr txBox="1"/>
          <p:nvPr/>
        </p:nvSpPr>
        <p:spPr>
          <a:xfrm>
            <a:off x="8549640" y="4773168"/>
            <a:ext cx="2633472" cy="566928"/>
          </a:xfrm>
          <a:prstGeom prst="rect">
            <a:avLst/>
          </a:prstGeom>
          <a:noFill/>
          <a:ln/>
        </p:spPr>
        <p:txBody>
          <a:bodyPr wrap="square" lIns="0" tIns="0" rIns="0" bIns="0" rtlCol="0" anchor="ctr"/>
          <a:lstStyle/>
          <a:p>
            <a:pPr algn="l" indent="0" marL="0">
              <a:buNone/>
            </a:pPr>
            <a:r>
              <a:rPr lang="en-US" sz="1800" strike="sngStrike" dirty="0">
                <a:solidFill>
                  <a:schemeClr val="accent6"/>
                </a:solidFill>
                <a:latin typeface="+mj-lt" pitchFamily="34" charset="0"/>
                <a:ea typeface="+mj-lt" pitchFamily="34" charset="-122"/>
                <a:cs typeface="+mj-lt" pitchFamily="34" charset="-120"/>
              </a:rPr>
              <a:t>ka·ten</a:t>
            </a:r>
            <a:r>
              <a:rPr lang="en-US" sz="1800" dirty="0">
                <a:solidFill>
                  <a:schemeClr val="tx1"/>
                </a:solidFill>
                <a:latin typeface="+mj-lt" pitchFamily="34" charset="0"/>
                <a:ea typeface="+mj-lt" pitchFamily="34" charset="-122"/>
                <a:cs typeface="+mj-lt" pitchFamily="34" charset="-120"/>
              </a:rPr>
              <a:t> = « kaa-ten »</a:t>
            </a:r>
            <a:endParaRPr lang="en-US" sz="1800" dirty="0"/>
          </a:p>
        </p:txBody>
      </p:sp>
      <p:pic>
        <p:nvPicPr>
          <p:cNvPr id="16" name="Image 1" descr="Times">    </p:cNvPr>
          <p:cNvPicPr>
            <a:picLocks noChangeAspect="1"/>
          </p:cNvPicPr>
          <p:nvPr/>
        </p:nvPicPr>
        <p:blipFill>
          <a:blip r:embed="rId2"/>
          <a:stretch>
            <a:fillRect/>
          </a:stretch>
        </p:blipFill>
        <p:spPr>
          <a:xfrm>
            <a:off x="11228832" y="4919472"/>
            <a:ext cx="274320" cy="274320"/>
          </a:xfrm>
          <a:prstGeom prst="rect">
            <a:avLst/>
          </a:prstGeom>
        </p:spPr>
      </p:pic>
      <p:sp>
        <p:nvSpPr>
          <p:cNvPr id="17" name="Shape 11"/>
          <p:cNvSpPr/>
          <p:nvPr/>
        </p:nvSpPr>
        <p:spPr>
          <a:xfrm>
            <a:off x="10026396" y="5358384"/>
            <a:ext cx="914" cy="237744"/>
          </a:xfrm>
          <a:prstGeom prst="line">
            <a:avLst/>
          </a:prstGeom>
          <a:noFill/>
          <a:ln w="19050">
            <a:solidFill>
              <a:srgbClr val="4A5A70"/>
            </a:solidFill>
            <a:prstDash val="solid"/>
            <a:tailEnd type="triangle"/>
          </a:ln>
        </p:spPr>
      </p:sp>
      <p:sp>
        <p:nvSpPr>
          <p:cNvPr id="18" name="Shape 12"/>
          <p:cNvSpPr/>
          <p:nvPr/>
        </p:nvSpPr>
        <p:spPr>
          <a:xfrm>
            <a:off x="8412480" y="5614416"/>
            <a:ext cx="3227832" cy="566928"/>
          </a:xfrm>
          <a:prstGeom prst="roundRect">
            <a:avLst>
              <a:gd name="adj" fmla="val 12903"/>
            </a:avLst>
          </a:prstGeom>
          <a:solidFill>
            <a:srgbClr val="EDF6F0"/>
          </a:solidFill>
          <a:ln w="19050">
            <a:solidFill>
              <a:srgbClr val="B4236A"/>
            </a:solidFill>
            <a:prstDash val="solid"/>
          </a:ln>
        </p:spPr>
      </p:sp>
      <p:sp>
        <p:nvSpPr>
          <p:cNvPr id="19" name="Text 13"/>
          <p:cNvSpPr txBox="1"/>
          <p:nvPr/>
        </p:nvSpPr>
        <p:spPr>
          <a:xfrm>
            <a:off x="8549640" y="5614416"/>
            <a:ext cx="2633472" cy="566928"/>
          </a:xfrm>
          <a:prstGeom prst="rect">
            <a:avLst/>
          </a:prstGeom>
          <a:noFill/>
          <a:ln/>
        </p:spPr>
        <p:txBody>
          <a:bodyPr wrap="square" lIns="0" tIns="0" rIns="0" bIns="0" rtlCol="0" anchor="ctr"/>
          <a:lstStyle/>
          <a:p>
            <a:pPr algn="l" indent="0" marL="0">
              <a:buNone/>
            </a:pPr>
            <a:r>
              <a:rPr lang="en-US" sz="1800" b="1" dirty="0">
                <a:solidFill>
                  <a:schemeClr val="tx1"/>
                </a:solidFill>
                <a:latin typeface="+mj-lt" pitchFamily="34" charset="0"/>
                <a:ea typeface="+mj-lt" pitchFamily="34" charset="-122"/>
                <a:cs typeface="+mj-lt" pitchFamily="34" charset="-120"/>
              </a:rPr>
              <a:t>kat·ten</a:t>
            </a:r>
            <a:endParaRPr lang="en-US" sz="1800" dirty="0"/>
          </a:p>
        </p:txBody>
      </p:sp>
      <p:pic>
        <p:nvPicPr>
          <p:cNvPr id="20" name="Image 2" descr="Check">    </p:cNvPr>
          <p:cNvPicPr>
            <a:picLocks noChangeAspect="1"/>
          </p:cNvPicPr>
          <p:nvPr/>
        </p:nvPicPr>
        <p:blipFill>
          <a:blip r:embed="rId3"/>
          <a:stretch>
            <a:fillRect/>
          </a:stretch>
        </p:blipFill>
        <p:spPr>
          <a:xfrm>
            <a:off x="11228832" y="5760720"/>
            <a:ext cx="274320" cy="2743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sons longs : deux voyelles… ou une seule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589520" cy="914400"/>
        </p:xfrm>
        <a:graphic>
          <a:graphicData uri="http://schemas.openxmlformats.org/drawingml/2006/table">
            <a:tbl>
              <a:tblPr/>
              <a:tblGrid>
                <a:gridCol w="1188720"/>
                <a:gridCol w="2194560"/>
                <a:gridCol w="2377440"/>
                <a:gridCol w="1828800"/>
              </a:tblGrid>
              <a:tr h="822960">
                <a:tc>
                  <a:txBody>
                    <a:bodyPr/>
                    <a:lstStyle/>
                    <a:p>
                      <a:pPr algn="ctr" indent="0" marL="0">
                        <a:buNone/>
                      </a:pPr>
                      <a:r>
                        <a:rPr lang="en-US" sz="1600" b="1" dirty="0">
                          <a:solidFill>
                            <a:srgbClr val="FFFFFF"/>
                          </a:solidFill>
                        </a:rPr>
                        <a:t>Voyelle</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ctr" indent="0" marL="0">
                        <a:buNone/>
                      </a:pPr>
                      <a:r>
                        <a:rPr lang="en-US" sz="1600" b="1" dirty="0">
                          <a:solidFill>
                            <a:srgbClr val="FFFFFF"/>
                          </a:solidFill>
                        </a:rPr>
                        <a:t>1 syllabe (fermée)</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ctr" indent="0" marL="0">
                        <a:buNone/>
                      </a:pPr>
                      <a:r>
                        <a:rPr lang="en-US" sz="1600" b="1" dirty="0">
                          <a:solidFill>
                            <a:srgbClr val="FFFFFF"/>
                          </a:solidFill>
                        </a:rPr>
                        <a:t>2 syllabes (ouverte)</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600" b="1" dirty="0">
                          <a:solidFill>
                            <a:srgbClr val="FFFFFF"/>
                          </a:solidFill>
                        </a:rPr>
                        <a:t>Sens</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r>
              <a:tr h="822960">
                <a:tc>
                  <a:txBody>
                    <a:bodyPr/>
                    <a:lstStyle/>
                    <a:p>
                      <a:pPr algn="ctr" indent="0" marL="0">
                        <a:buNone/>
                      </a:pPr>
                      <a:r>
                        <a:rPr lang="en-US" sz="2600" b="1" dirty="0">
                          <a:solidFill>
                            <a:schemeClr val="tx1"/>
                          </a:solidFill>
                        </a:rPr>
                        <a:t>A</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r</a:t>
                      </a:r>
                      <a:r>
                        <a:rPr lang="en-US" sz="2600" b="1" dirty="0">
                          <a:solidFill>
                            <a:schemeClr val="accent3"/>
                          </a:solidFill>
                        </a:rPr>
                        <a:t>aa</a:t>
                      </a:r>
                      <a:r>
                        <a:rPr lang="en-US" sz="2600" dirty="0">
                          <a:solidFill>
                            <a:schemeClr val="tx1"/>
                          </a:solidFill>
                        </a:rPr>
                        <a:t>m</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r</a:t>
                      </a:r>
                      <a:r>
                        <a:rPr lang="en-US" sz="2600" b="1" dirty="0">
                          <a:solidFill>
                            <a:schemeClr val="accent3"/>
                          </a:solidFill>
                        </a:rPr>
                        <a:t>a</a:t>
                      </a:r>
                      <a:r>
                        <a:rPr lang="en-US" sz="2600" strike="sngStrike" dirty="0">
                          <a:solidFill>
                            <a:schemeClr val="accent6"/>
                          </a:solidFill>
                        </a:rPr>
                        <a:t>a</a:t>
                      </a:r>
                      <a:r>
                        <a:rPr lang="en-US" sz="2600" dirty="0">
                          <a:solidFill>
                            <a:schemeClr val="tx1"/>
                          </a:solidFill>
                        </a:rPr>
                        <a:t>·men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600" i="1" dirty="0">
                          <a:solidFill>
                            <a:schemeClr val="tx1"/>
                          </a:solidFill>
                        </a:rPr>
                        <a:t>la fenêtre</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22960">
                <a:tc>
                  <a:txBody>
                    <a:bodyPr/>
                    <a:lstStyle/>
                    <a:p>
                      <a:pPr algn="ctr" indent="0" marL="0">
                        <a:buNone/>
                      </a:pPr>
                      <a:r>
                        <a:rPr lang="en-US" sz="2600" b="1" dirty="0">
                          <a:solidFill>
                            <a:schemeClr val="tx1"/>
                          </a:solidFill>
                        </a:rPr>
                        <a:t>E</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b</a:t>
                      </a:r>
                      <a:r>
                        <a:rPr lang="en-US" sz="2600" b="1" dirty="0">
                          <a:solidFill>
                            <a:schemeClr val="accent3"/>
                          </a:solidFill>
                        </a:rPr>
                        <a:t>ee</a:t>
                      </a:r>
                      <a:r>
                        <a:rPr lang="en-US" sz="2600" dirty="0">
                          <a:solidFill>
                            <a:schemeClr val="tx1"/>
                          </a:solidFill>
                        </a:rPr>
                        <a:t>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b</a:t>
                      </a:r>
                      <a:r>
                        <a:rPr lang="en-US" sz="2600" b="1" dirty="0">
                          <a:solidFill>
                            <a:schemeClr val="accent3"/>
                          </a:solidFill>
                        </a:rPr>
                        <a:t>e</a:t>
                      </a:r>
                      <a:r>
                        <a:rPr lang="en-US" sz="2600" strike="sngStrike" dirty="0">
                          <a:solidFill>
                            <a:schemeClr val="accent6"/>
                          </a:solidFill>
                        </a:rPr>
                        <a:t>e</a:t>
                      </a:r>
                      <a:r>
                        <a:rPr lang="en-US" sz="2600" dirty="0">
                          <a:solidFill>
                            <a:schemeClr val="tx1"/>
                          </a:solidFill>
                        </a:rPr>
                        <a:t>·nen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600" i="1" dirty="0">
                          <a:solidFill>
                            <a:schemeClr val="tx1"/>
                          </a:solidFill>
                        </a:rPr>
                        <a:t>la jambe</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22960">
                <a:tc>
                  <a:txBody>
                    <a:bodyPr/>
                    <a:lstStyle/>
                    <a:p>
                      <a:pPr algn="ctr" indent="0" marL="0">
                        <a:buNone/>
                      </a:pPr>
                      <a:r>
                        <a:rPr lang="en-US" sz="2600" b="1" dirty="0">
                          <a:solidFill>
                            <a:schemeClr val="tx1"/>
                          </a:solidFill>
                        </a:rPr>
                        <a:t>O</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b</a:t>
                      </a:r>
                      <a:r>
                        <a:rPr lang="en-US" sz="2600" b="1" dirty="0">
                          <a:solidFill>
                            <a:schemeClr val="accent3"/>
                          </a:solidFill>
                        </a:rPr>
                        <a:t>oo</a:t>
                      </a:r>
                      <a:r>
                        <a:rPr lang="en-US" sz="2600" dirty="0">
                          <a:solidFill>
                            <a:schemeClr val="tx1"/>
                          </a:solidFill>
                        </a:rPr>
                        <a:t>m</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600" dirty="0">
                          <a:solidFill>
                            <a:schemeClr val="tx1"/>
                          </a:solidFill>
                        </a:rPr>
                        <a:t>b</a:t>
                      </a:r>
                      <a:r>
                        <a:rPr lang="en-US" sz="2600" b="1" dirty="0">
                          <a:solidFill>
                            <a:schemeClr val="accent3"/>
                          </a:solidFill>
                        </a:rPr>
                        <a:t>o</a:t>
                      </a:r>
                      <a:r>
                        <a:rPr lang="en-US" sz="2600" strike="sngStrike" dirty="0">
                          <a:solidFill>
                            <a:schemeClr val="accent6"/>
                          </a:solidFill>
                        </a:rPr>
                        <a:t>o</a:t>
                      </a:r>
                      <a:r>
                        <a:rPr lang="en-US" sz="2600" dirty="0">
                          <a:solidFill>
                            <a:schemeClr val="tx1"/>
                          </a:solidFill>
                        </a:rPr>
                        <a:t>·men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600" i="1" dirty="0">
                          <a:solidFill>
                            <a:schemeClr val="tx1"/>
                          </a:solidFill>
                        </a:rPr>
                        <a:t>l’arbre</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22960">
                <a:tc>
                  <a:txBody>
                    <a:bodyPr/>
                    <a:lstStyle/>
                    <a:p>
                      <a:pPr algn="ctr" indent="0" marL="0">
                        <a:buNone/>
                      </a:pPr>
                      <a:r>
                        <a:rPr lang="en-US" sz="2600" b="1" dirty="0">
                          <a:solidFill>
                            <a:schemeClr val="tx1"/>
                          </a:solidFill>
                        </a:rPr>
                        <a:t>U</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m</a:t>
                      </a:r>
                      <a:r>
                        <a:rPr lang="en-US" sz="2600" b="1" dirty="0">
                          <a:solidFill>
                            <a:schemeClr val="accent3"/>
                          </a:solidFill>
                        </a:rPr>
                        <a:t>uu</a:t>
                      </a:r>
                      <a:r>
                        <a:rPr lang="en-US" sz="2600" dirty="0">
                          <a:solidFill>
                            <a:schemeClr val="tx1"/>
                          </a:solidFill>
                        </a:rPr>
                        <a:t>r</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600" dirty="0">
                          <a:solidFill>
                            <a:schemeClr val="tx1"/>
                          </a:solidFill>
                        </a:rPr>
                        <a:t>m</a:t>
                      </a:r>
                      <a:r>
                        <a:rPr lang="en-US" sz="2600" b="1" dirty="0">
                          <a:solidFill>
                            <a:schemeClr val="accent3"/>
                          </a:solidFill>
                        </a:rPr>
                        <a:t>u</a:t>
                      </a:r>
                      <a:r>
                        <a:rPr lang="en-US" sz="2600" strike="sngStrike" dirty="0">
                          <a:solidFill>
                            <a:schemeClr val="accent6"/>
                          </a:solidFill>
                        </a:rPr>
                        <a:t>u</a:t>
                      </a:r>
                      <a:r>
                        <a:rPr lang="en-US" sz="2600" dirty="0">
                          <a:solidFill>
                            <a:schemeClr val="tx1"/>
                          </a:solidFill>
                        </a:rPr>
                        <a:t>·ren</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600" i="1" dirty="0">
                          <a:solidFill>
                            <a:schemeClr val="tx1"/>
                          </a:solidFill>
                        </a:rPr>
                        <a:t>le mur</a:t>
                      </a:r>
                      <a:endParaRPr lang="en-US" sz="2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Shape 2"/>
          <p:cNvSpPr/>
          <p:nvPr/>
        </p:nvSpPr>
        <p:spPr>
          <a:xfrm>
            <a:off x="8412480" y="1554480"/>
            <a:ext cx="3227832" cy="2194560"/>
          </a:xfrm>
          <a:prstGeom prst="roundRect">
            <a:avLst>
              <a:gd name="adj" fmla="val 4167"/>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 name="Shape 3"/>
          <p:cNvSpPr/>
          <p:nvPr/>
        </p:nvSpPr>
        <p:spPr>
          <a:xfrm>
            <a:off x="8595360" y="1719072"/>
            <a:ext cx="566928" cy="566928"/>
          </a:xfrm>
          <a:prstGeom prst="ellipse">
            <a:avLst/>
          </a:prstGeom>
          <a:solidFill>
            <a:schemeClr val="accent3"/>
          </a:solidFill>
          <a:ln w="12700">
            <a:solidFill>
              <a:srgbClr val="FFFFFF">
                <a:alpha val="0"/>
              </a:srgbClr>
            </a:solidFill>
            <a:prstDash val="solid"/>
          </a:ln>
        </p:spPr>
      </p:sp>
      <p:pic>
        <p:nvPicPr>
          <p:cNvPr id="8" name="Image 0" descr="Check">    </p:cNvPr>
          <p:cNvPicPr>
            <a:picLocks noChangeAspect="1"/>
          </p:cNvPicPr>
          <p:nvPr/>
        </p:nvPicPr>
        <p:blipFill>
          <a:blip r:embed="rId1"/>
          <a:stretch>
            <a:fillRect/>
          </a:stretch>
        </p:blipFill>
        <p:spPr>
          <a:xfrm>
            <a:off x="8731423" y="1855135"/>
            <a:ext cx="294803" cy="294803"/>
          </a:xfrm>
          <a:prstGeom prst="rect">
            <a:avLst/>
          </a:prstGeom>
        </p:spPr>
      </p:pic>
      <p:sp>
        <p:nvSpPr>
          <p:cNvPr id="9" name="Text 4"/>
          <p:cNvSpPr txBox="1"/>
          <p:nvPr/>
        </p:nvSpPr>
        <p:spPr>
          <a:xfrm>
            <a:off x="9308592" y="1700784"/>
            <a:ext cx="2194560" cy="603504"/>
          </a:xfrm>
          <a:prstGeom prst="rect">
            <a:avLst/>
          </a:prstGeom>
          <a:noFill/>
          <a:ln/>
        </p:spPr>
        <p:txBody>
          <a:bodyPr wrap="square" lIns="0" tIns="0" rIns="0" bIns="0" rtlCol="0" anchor="ctr"/>
          <a:lstStyle/>
          <a:p>
            <a:pPr algn="l" indent="0" marL="0">
              <a:buNone/>
            </a:pPr>
            <a:r>
              <a:rPr lang="en-US" sz="1900" b="1" dirty="0">
                <a:solidFill>
                  <a:schemeClr val="accent3"/>
                </a:solidFill>
              </a:rPr>
              <a:t>Pas besoin !</a:t>
            </a:r>
            <a:endParaRPr lang="en-US" sz="1900" dirty="0"/>
          </a:p>
        </p:txBody>
      </p:sp>
      <p:sp>
        <p:nvSpPr>
          <p:cNvPr id="10" name="Text 5"/>
          <p:cNvSpPr txBox="1"/>
          <p:nvPr/>
        </p:nvSpPr>
        <p:spPr>
          <a:xfrm>
            <a:off x="8613648" y="2423160"/>
            <a:ext cx="2825496" cy="1216152"/>
          </a:xfrm>
          <a:prstGeom prst="rect">
            <a:avLst/>
          </a:prstGeom>
          <a:noFill/>
          <a:ln/>
        </p:spPr>
        <p:txBody>
          <a:bodyPr wrap="square" lIns="0" tIns="0" rIns="0" bIns="0" rtlCol="0" anchor="t"/>
          <a:lstStyle/>
          <a:p>
            <a:pPr algn="l" indent="0" marL="0">
              <a:spcAft>
                <a:spcPts val="600"/>
              </a:spcAft>
              <a:buNone/>
            </a:pPr>
            <a:r>
              <a:rPr lang="en-US" sz="1700" dirty="0">
                <a:solidFill>
                  <a:schemeClr val="tx1"/>
                </a:solidFill>
              </a:rPr>
              <a:t>Syllabe fermée : </a:t>
            </a:r>
            <a:r>
              <a:rPr lang="en-US" sz="1700" b="1" dirty="0">
                <a:solidFill>
                  <a:schemeClr val="tx1"/>
                </a:solidFill>
              </a:rPr>
              <a:t>2 voyelles</a:t>
            </a:r>
            <a:r>
              <a:rPr lang="en-US" sz="1700" dirty="0">
                <a:solidFill>
                  <a:schemeClr val="tx1"/>
                </a:solidFill>
              </a:rPr>
              <a:t>.</a:t>
            </a:r>
            <a:endParaRPr lang="en-US" sz="1700" dirty="0"/>
          </a:p>
          <a:p>
            <a:pPr algn="l" indent="0" marL="0">
              <a:spcAft>
                <a:spcPts val="600"/>
              </a:spcAft>
              <a:buNone/>
            </a:pPr>
            <a:r>
              <a:rPr lang="en-US" sz="1700" dirty="0">
                <a:solidFill>
                  <a:schemeClr val="tx1"/>
                </a:solidFill>
              </a:rPr>
              <a:t>Syllabe ouverte : </a:t>
            </a:r>
            <a:r>
              <a:rPr lang="en-US" sz="1700" b="1" dirty="0">
                <a:solidFill>
                  <a:schemeClr val="tx1"/>
                </a:solidFill>
              </a:rPr>
              <a:t>1 seule</a:t>
            </a:r>
            <a:r>
              <a:rPr lang="en-US" sz="1700" dirty="0">
                <a:solidFill>
                  <a:schemeClr val="tx1"/>
                </a:solidFill>
              </a:rPr>
              <a:t> suffit.</a:t>
            </a:r>
            <a:endParaRPr lang="en-US" sz="1700" dirty="0"/>
          </a:p>
        </p:txBody>
      </p:sp>
      <p:sp>
        <p:nvSpPr>
          <p:cNvPr id="11" name="Shape 6"/>
          <p:cNvSpPr/>
          <p:nvPr/>
        </p:nvSpPr>
        <p:spPr>
          <a:xfrm>
            <a:off x="8412480" y="3931920"/>
            <a:ext cx="3227832" cy="566928"/>
          </a:xfrm>
          <a:prstGeom prst="roundRect">
            <a:avLst>
              <a:gd name="adj" fmla="val 12903"/>
            </a:avLst>
          </a:prstGeom>
          <a:solidFill>
            <a:schemeClr val="bg2"/>
          </a:solidFill>
          <a:ln w="19050">
            <a:solidFill>
              <a:srgbClr val="17375E"/>
            </a:solidFill>
            <a:prstDash val="solid"/>
          </a:ln>
        </p:spPr>
      </p:sp>
      <p:sp>
        <p:nvSpPr>
          <p:cNvPr id="12" name="Text 7"/>
          <p:cNvSpPr txBox="1"/>
          <p:nvPr/>
        </p:nvSpPr>
        <p:spPr>
          <a:xfrm>
            <a:off x="8549640" y="3931920"/>
            <a:ext cx="2633472" cy="566928"/>
          </a:xfrm>
          <a:prstGeom prst="rect">
            <a:avLst/>
          </a:prstGeom>
          <a:noFill/>
          <a:ln/>
        </p:spPr>
        <p:txBody>
          <a:bodyPr wrap="square" lIns="0" tIns="0" rIns="0" bIns="0" rtlCol="0" anchor="ctr"/>
          <a:lstStyle/>
          <a:p>
            <a:pPr algn="l" indent="0" marL="0">
              <a:buNone/>
            </a:pPr>
            <a:r>
              <a:rPr lang="en-US" sz="1800" b="1" dirty="0">
                <a:solidFill>
                  <a:schemeClr val="tx1"/>
                </a:solidFill>
                <a:latin typeface="+mj-lt" pitchFamily="34" charset="0"/>
                <a:ea typeface="+mj-lt" pitchFamily="34" charset="-122"/>
                <a:cs typeface="+mj-lt" pitchFamily="34" charset="-120"/>
              </a:rPr>
              <a:t>raam + en</a:t>
            </a:r>
            <a:endParaRPr lang="en-US" sz="1800" dirty="0"/>
          </a:p>
        </p:txBody>
      </p:sp>
      <p:sp>
        <p:nvSpPr>
          <p:cNvPr id="13" name="Shape 8"/>
          <p:cNvSpPr/>
          <p:nvPr/>
        </p:nvSpPr>
        <p:spPr>
          <a:xfrm>
            <a:off x="10026396" y="4517136"/>
            <a:ext cx="914" cy="237744"/>
          </a:xfrm>
          <a:prstGeom prst="line">
            <a:avLst/>
          </a:prstGeom>
          <a:noFill/>
          <a:ln w="19050">
            <a:solidFill>
              <a:srgbClr val="4A5A70"/>
            </a:solidFill>
            <a:prstDash val="solid"/>
            <a:tailEnd type="triangle"/>
          </a:ln>
        </p:spPr>
      </p:sp>
      <p:sp>
        <p:nvSpPr>
          <p:cNvPr id="14" name="Shape 9"/>
          <p:cNvSpPr/>
          <p:nvPr/>
        </p:nvSpPr>
        <p:spPr>
          <a:xfrm>
            <a:off x="8412480" y="4773168"/>
            <a:ext cx="3227832" cy="566928"/>
          </a:xfrm>
          <a:prstGeom prst="roundRect">
            <a:avLst>
              <a:gd name="adj" fmla="val 12903"/>
            </a:avLst>
          </a:prstGeom>
          <a:solidFill>
            <a:srgbClr val="FBEDEB"/>
          </a:solidFill>
          <a:ln w="19050">
            <a:solidFill>
              <a:srgbClr val="B83227"/>
            </a:solidFill>
            <a:prstDash val="solid"/>
          </a:ln>
        </p:spPr>
      </p:sp>
      <p:sp>
        <p:nvSpPr>
          <p:cNvPr id="15" name="Text 10"/>
          <p:cNvSpPr txBox="1"/>
          <p:nvPr/>
        </p:nvSpPr>
        <p:spPr>
          <a:xfrm>
            <a:off x="8549640" y="4773168"/>
            <a:ext cx="2633472" cy="566928"/>
          </a:xfrm>
          <a:prstGeom prst="rect">
            <a:avLst/>
          </a:prstGeom>
          <a:noFill/>
          <a:ln/>
        </p:spPr>
        <p:txBody>
          <a:bodyPr wrap="square" lIns="0" tIns="0" rIns="0" bIns="0" rtlCol="0" anchor="ctr"/>
          <a:lstStyle/>
          <a:p>
            <a:pPr algn="l" indent="0" marL="0">
              <a:buNone/>
            </a:pPr>
            <a:r>
              <a:rPr lang="en-US" sz="1800" strike="sngStrike" dirty="0">
                <a:solidFill>
                  <a:schemeClr val="accent6"/>
                </a:solidFill>
                <a:latin typeface="+mj-lt" pitchFamily="34" charset="0"/>
                <a:ea typeface="+mj-lt" pitchFamily="34" charset="-122"/>
                <a:cs typeface="+mj-lt" pitchFamily="34" charset="-120"/>
              </a:rPr>
              <a:t>raa·men</a:t>
            </a:r>
            <a:endParaRPr lang="en-US" sz="1800" dirty="0"/>
          </a:p>
        </p:txBody>
      </p:sp>
      <p:pic>
        <p:nvPicPr>
          <p:cNvPr id="16" name="Image 1" descr="Times">    </p:cNvPr>
          <p:cNvPicPr>
            <a:picLocks noChangeAspect="1"/>
          </p:cNvPicPr>
          <p:nvPr/>
        </p:nvPicPr>
        <p:blipFill>
          <a:blip r:embed="rId2"/>
          <a:stretch>
            <a:fillRect/>
          </a:stretch>
        </p:blipFill>
        <p:spPr>
          <a:xfrm>
            <a:off x="11228832" y="4919472"/>
            <a:ext cx="274320" cy="274320"/>
          </a:xfrm>
          <a:prstGeom prst="rect">
            <a:avLst/>
          </a:prstGeom>
        </p:spPr>
      </p:pic>
      <p:sp>
        <p:nvSpPr>
          <p:cNvPr id="17" name="Shape 11"/>
          <p:cNvSpPr/>
          <p:nvPr/>
        </p:nvSpPr>
        <p:spPr>
          <a:xfrm>
            <a:off x="10026396" y="5358384"/>
            <a:ext cx="914" cy="237744"/>
          </a:xfrm>
          <a:prstGeom prst="line">
            <a:avLst/>
          </a:prstGeom>
          <a:noFill/>
          <a:ln w="19050">
            <a:solidFill>
              <a:srgbClr val="4A5A70"/>
            </a:solidFill>
            <a:prstDash val="solid"/>
            <a:tailEnd type="triangle"/>
          </a:ln>
        </p:spPr>
      </p:sp>
      <p:sp>
        <p:nvSpPr>
          <p:cNvPr id="18" name="Shape 12"/>
          <p:cNvSpPr/>
          <p:nvPr/>
        </p:nvSpPr>
        <p:spPr>
          <a:xfrm>
            <a:off x="8412480" y="5614416"/>
            <a:ext cx="3227832" cy="566928"/>
          </a:xfrm>
          <a:prstGeom prst="roundRect">
            <a:avLst>
              <a:gd name="adj" fmla="val 12903"/>
            </a:avLst>
          </a:prstGeom>
          <a:solidFill>
            <a:srgbClr val="EDF6F0"/>
          </a:solidFill>
          <a:ln w="19050">
            <a:solidFill>
              <a:srgbClr val="2E7D4F"/>
            </a:solidFill>
            <a:prstDash val="solid"/>
          </a:ln>
        </p:spPr>
      </p:sp>
      <p:sp>
        <p:nvSpPr>
          <p:cNvPr id="19" name="Text 13"/>
          <p:cNvSpPr txBox="1"/>
          <p:nvPr/>
        </p:nvSpPr>
        <p:spPr>
          <a:xfrm>
            <a:off x="8549640" y="5614416"/>
            <a:ext cx="2633472" cy="566928"/>
          </a:xfrm>
          <a:prstGeom prst="rect">
            <a:avLst/>
          </a:prstGeom>
          <a:noFill/>
          <a:ln/>
        </p:spPr>
        <p:txBody>
          <a:bodyPr wrap="square" lIns="0" tIns="0" rIns="0" bIns="0" rtlCol="0" anchor="ctr"/>
          <a:lstStyle/>
          <a:p>
            <a:pPr algn="l" indent="0" marL="0">
              <a:buNone/>
            </a:pPr>
            <a:r>
              <a:rPr lang="en-US" sz="1800" b="1" dirty="0">
                <a:solidFill>
                  <a:schemeClr val="tx1"/>
                </a:solidFill>
                <a:latin typeface="+mj-lt" pitchFamily="34" charset="0"/>
                <a:ea typeface="+mj-lt" pitchFamily="34" charset="-122"/>
                <a:cs typeface="+mj-lt" pitchFamily="34" charset="-120"/>
              </a:rPr>
              <a:t>ra·men</a:t>
            </a:r>
            <a:endParaRPr lang="en-US" sz="1800" dirty="0"/>
          </a:p>
        </p:txBody>
      </p:sp>
      <p:pic>
        <p:nvPicPr>
          <p:cNvPr id="20" name="Image 2" descr="Check">    </p:cNvPr>
          <p:cNvPicPr>
            <a:picLocks noChangeAspect="1"/>
          </p:cNvPicPr>
          <p:nvPr/>
        </p:nvPicPr>
        <p:blipFill>
          <a:blip r:embed="rId3"/>
          <a:stretch>
            <a:fillRect/>
          </a:stretch>
        </p:blipFill>
        <p:spPr>
          <a:xfrm>
            <a:off x="11228832" y="5760720"/>
            <a:ext cx="274320" cy="2743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le tableau-miroir</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097280" y="1554480"/>
          <a:ext cx="9966960" cy="914400"/>
        </p:xfrm>
        <a:graphic>
          <a:graphicData uri="http://schemas.openxmlformats.org/drawingml/2006/table">
            <a:tbl>
              <a:tblPr/>
              <a:tblGrid>
                <a:gridCol w="4297680"/>
                <a:gridCol w="1371600"/>
                <a:gridCol w="4297680"/>
              </a:tblGrid>
              <a:tr h="713232">
                <a:tc>
                  <a:txBody>
                    <a:bodyPr/>
                    <a:lstStyle/>
                    <a:p>
                      <a:pPr algn="ctr" indent="0" marL="0">
                        <a:buNone/>
                      </a:pPr>
                      <a:r>
                        <a:rPr lang="en-US" sz="2000" b="1" dirty="0">
                          <a:solidFill>
                            <a:srgbClr val="FFFFFF"/>
                          </a:solidFill>
                        </a:rPr>
                        <a:t>COURT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ctr" indent="0" marL="0">
                        <a:buNone/>
                      </a:pP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2000" b="1" dirty="0">
                          <a:solidFill>
                            <a:srgbClr val="FFFFFF"/>
                          </a:solidFill>
                        </a:rPr>
                        <a:t>LONG</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r>
              <a:tr h="713232">
                <a:tc>
                  <a:txBody>
                    <a:bodyPr/>
                    <a:lstStyle/>
                    <a:p>
                      <a:pPr algn="ctr" indent="0" marL="0">
                        <a:buNone/>
                      </a:pPr>
                      <a:r>
                        <a:rPr lang="en-US" sz="2800" dirty="0">
                          <a:solidFill>
                            <a:schemeClr val="tx1"/>
                          </a:solidFill>
                        </a:rPr>
                        <a:t>k</a:t>
                      </a:r>
                      <a:r>
                        <a:rPr lang="en-US" sz="2800" b="1" dirty="0">
                          <a:solidFill>
                            <a:schemeClr val="accent4"/>
                          </a:solidFill>
                        </a:rPr>
                        <a:t>a</a:t>
                      </a:r>
                      <a:r>
                        <a:rPr lang="en-US" sz="2800" dirty="0">
                          <a:solidFill>
                            <a:schemeClr val="tx1"/>
                          </a:solidFill>
                        </a:rPr>
                        <a:t>t → k</a:t>
                      </a:r>
                      <a:r>
                        <a:rPr lang="en-US" sz="2800" b="1" dirty="0">
                          <a:solidFill>
                            <a:schemeClr val="accent4"/>
                          </a:solidFill>
                        </a:rPr>
                        <a:t>a</a:t>
                      </a:r>
                      <a:r>
                        <a:rPr lang="en-US" sz="2800" dirty="0">
                          <a:solidFill>
                            <a:schemeClr val="tx1"/>
                          </a:solidFill>
                        </a:rPr>
                        <a:t>t·ten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FF4"/>
                    </a:solidFill>
                  </a:tcPr>
                </a:tc>
                <a:tc>
                  <a:txBody>
                    <a:bodyPr/>
                    <a:lstStyle/>
                    <a:p>
                      <a:pPr algn="ctr" indent="0" marL="0">
                        <a:buNone/>
                      </a:pPr>
                      <a:r>
                        <a:rPr lang="en-US" sz="2800" b="1" dirty="0">
                          <a:solidFill>
                            <a:schemeClr val="tx1"/>
                          </a:solidFill>
                        </a:rPr>
                        <a:t>A</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800" dirty="0">
                          <a:solidFill>
                            <a:schemeClr val="tx1"/>
                          </a:solidFill>
                        </a:rPr>
                        <a:t>r</a:t>
                      </a:r>
                      <a:r>
                        <a:rPr lang="en-US" sz="2800" b="1" dirty="0">
                          <a:solidFill>
                            <a:schemeClr val="accent3"/>
                          </a:solidFill>
                        </a:rPr>
                        <a:t>aa</a:t>
                      </a:r>
                      <a:r>
                        <a:rPr lang="en-US" sz="2800" dirty="0">
                          <a:solidFill>
                            <a:schemeClr val="tx1"/>
                          </a:solidFill>
                        </a:rPr>
                        <a:t>m → r</a:t>
                      </a:r>
                      <a:r>
                        <a:rPr lang="en-US" sz="2800" b="1" dirty="0">
                          <a:solidFill>
                            <a:schemeClr val="accent3"/>
                          </a:solidFill>
                        </a:rPr>
                        <a:t>a</a:t>
                      </a:r>
                      <a:r>
                        <a:rPr lang="en-US" sz="2800" dirty="0">
                          <a:solidFill>
                            <a:schemeClr val="tx1"/>
                          </a:solidFill>
                        </a:rPr>
                        <a:t>·men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ctr" indent="0" marL="0">
                        <a:buNone/>
                      </a:pPr>
                      <a:r>
                        <a:rPr lang="en-US" sz="2800" dirty="0">
                          <a:solidFill>
                            <a:schemeClr val="tx1"/>
                          </a:solidFill>
                        </a:rPr>
                        <a:t>l</a:t>
                      </a:r>
                      <a:r>
                        <a:rPr lang="en-US" sz="2800" b="1" dirty="0">
                          <a:solidFill>
                            <a:schemeClr val="accent4"/>
                          </a:solidFill>
                        </a:rPr>
                        <a:t>e</a:t>
                      </a:r>
                      <a:r>
                        <a:rPr lang="en-US" sz="2800" dirty="0">
                          <a:solidFill>
                            <a:schemeClr val="tx1"/>
                          </a:solidFill>
                        </a:rPr>
                        <a:t>s → l</a:t>
                      </a:r>
                      <a:r>
                        <a:rPr lang="en-US" sz="2800" b="1" dirty="0">
                          <a:solidFill>
                            <a:schemeClr val="accent4"/>
                          </a:solidFill>
                        </a:rPr>
                        <a:t>e</a:t>
                      </a:r>
                      <a:r>
                        <a:rPr lang="en-US" sz="2800" dirty="0">
                          <a:solidFill>
                            <a:schemeClr val="tx1"/>
                          </a:solidFill>
                        </a:rPr>
                        <a:t>s·sen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FF4"/>
                    </a:solidFill>
                  </a:tcPr>
                </a:tc>
                <a:tc>
                  <a:txBody>
                    <a:bodyPr/>
                    <a:lstStyle/>
                    <a:p>
                      <a:pPr algn="ctr" indent="0" marL="0">
                        <a:buNone/>
                      </a:pPr>
                      <a:r>
                        <a:rPr lang="en-US" sz="2800" b="1" dirty="0">
                          <a:solidFill>
                            <a:schemeClr val="tx1"/>
                          </a:solidFill>
                        </a:rPr>
                        <a:t>E</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800" dirty="0">
                          <a:solidFill>
                            <a:schemeClr val="tx1"/>
                          </a:solidFill>
                        </a:rPr>
                        <a:t>b</a:t>
                      </a:r>
                      <a:r>
                        <a:rPr lang="en-US" sz="2800" b="1" dirty="0">
                          <a:solidFill>
                            <a:schemeClr val="accent3"/>
                          </a:solidFill>
                        </a:rPr>
                        <a:t>ee</a:t>
                      </a:r>
                      <a:r>
                        <a:rPr lang="en-US" sz="2800" dirty="0">
                          <a:solidFill>
                            <a:schemeClr val="tx1"/>
                          </a:solidFill>
                        </a:rPr>
                        <a:t>n → b</a:t>
                      </a:r>
                      <a:r>
                        <a:rPr lang="en-US" sz="2800" b="1" dirty="0">
                          <a:solidFill>
                            <a:schemeClr val="accent3"/>
                          </a:solidFill>
                        </a:rPr>
                        <a:t>e</a:t>
                      </a:r>
                      <a:r>
                        <a:rPr lang="en-US" sz="2800" dirty="0">
                          <a:solidFill>
                            <a:schemeClr val="tx1"/>
                          </a:solidFill>
                        </a:rPr>
                        <a:t>·nen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ctr" indent="0" marL="0">
                        <a:buNone/>
                      </a:pPr>
                      <a:r>
                        <a:rPr lang="en-US" sz="2800" dirty="0">
                          <a:solidFill>
                            <a:schemeClr val="tx1"/>
                          </a:solidFill>
                        </a:rPr>
                        <a:t>p</a:t>
                      </a:r>
                      <a:r>
                        <a:rPr lang="en-US" sz="2800" b="1" dirty="0">
                          <a:solidFill>
                            <a:schemeClr val="accent4"/>
                          </a:solidFill>
                        </a:rPr>
                        <a:t>o</a:t>
                      </a:r>
                      <a:r>
                        <a:rPr lang="en-US" sz="2800" dirty="0">
                          <a:solidFill>
                            <a:schemeClr val="tx1"/>
                          </a:solidFill>
                        </a:rPr>
                        <a:t>t → p</a:t>
                      </a:r>
                      <a:r>
                        <a:rPr lang="en-US" sz="2800" b="1" dirty="0">
                          <a:solidFill>
                            <a:schemeClr val="accent4"/>
                          </a:solidFill>
                        </a:rPr>
                        <a:t>o</a:t>
                      </a:r>
                      <a:r>
                        <a:rPr lang="en-US" sz="2800" dirty="0">
                          <a:solidFill>
                            <a:schemeClr val="tx1"/>
                          </a:solidFill>
                        </a:rPr>
                        <a:t>t·ten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FF4"/>
                    </a:solidFill>
                  </a:tcPr>
                </a:tc>
                <a:tc>
                  <a:txBody>
                    <a:bodyPr/>
                    <a:lstStyle/>
                    <a:p>
                      <a:pPr algn="ctr" indent="0" marL="0">
                        <a:buNone/>
                      </a:pPr>
                      <a:r>
                        <a:rPr lang="en-US" sz="2800" b="1" dirty="0">
                          <a:solidFill>
                            <a:schemeClr val="tx1"/>
                          </a:solidFill>
                        </a:rPr>
                        <a:t>O</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800" dirty="0">
                          <a:solidFill>
                            <a:schemeClr val="tx1"/>
                          </a:solidFill>
                        </a:rPr>
                        <a:t>b</a:t>
                      </a:r>
                      <a:r>
                        <a:rPr lang="en-US" sz="2800" b="1" dirty="0">
                          <a:solidFill>
                            <a:schemeClr val="accent3"/>
                          </a:solidFill>
                        </a:rPr>
                        <a:t>oo</a:t>
                      </a:r>
                      <a:r>
                        <a:rPr lang="en-US" sz="2800" dirty="0">
                          <a:solidFill>
                            <a:schemeClr val="tx1"/>
                          </a:solidFill>
                        </a:rPr>
                        <a:t>m → b</a:t>
                      </a:r>
                      <a:r>
                        <a:rPr lang="en-US" sz="2800" b="1" dirty="0">
                          <a:solidFill>
                            <a:schemeClr val="accent3"/>
                          </a:solidFill>
                        </a:rPr>
                        <a:t>o</a:t>
                      </a:r>
                      <a:r>
                        <a:rPr lang="en-US" sz="2800" dirty="0">
                          <a:solidFill>
                            <a:schemeClr val="tx1"/>
                          </a:solidFill>
                        </a:rPr>
                        <a:t>·men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ctr" indent="0" marL="0">
                        <a:buNone/>
                      </a:pPr>
                      <a:r>
                        <a:rPr lang="en-US" sz="2800" dirty="0">
                          <a:solidFill>
                            <a:schemeClr val="tx1"/>
                          </a:solidFill>
                        </a:rPr>
                        <a:t>b</a:t>
                      </a:r>
                      <a:r>
                        <a:rPr lang="en-US" sz="2800" b="1" dirty="0">
                          <a:solidFill>
                            <a:schemeClr val="accent4"/>
                          </a:solidFill>
                        </a:rPr>
                        <a:t>u</a:t>
                      </a:r>
                      <a:r>
                        <a:rPr lang="en-US" sz="2800" dirty="0">
                          <a:solidFill>
                            <a:schemeClr val="tx1"/>
                          </a:solidFill>
                        </a:rPr>
                        <a:t>s → b</a:t>
                      </a:r>
                      <a:r>
                        <a:rPr lang="en-US" sz="2800" b="1" dirty="0">
                          <a:solidFill>
                            <a:schemeClr val="accent4"/>
                          </a:solidFill>
                        </a:rPr>
                        <a:t>u</a:t>
                      </a:r>
                      <a:r>
                        <a:rPr lang="en-US" sz="2800" dirty="0">
                          <a:solidFill>
                            <a:schemeClr val="tx1"/>
                          </a:solidFill>
                        </a:rPr>
                        <a:t>s·sen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FF4"/>
                    </a:solidFill>
                  </a:tcPr>
                </a:tc>
                <a:tc>
                  <a:txBody>
                    <a:bodyPr/>
                    <a:lstStyle/>
                    <a:p>
                      <a:pPr algn="ctr" indent="0" marL="0">
                        <a:buNone/>
                      </a:pPr>
                      <a:r>
                        <a:rPr lang="en-US" sz="2800" b="1" dirty="0">
                          <a:solidFill>
                            <a:schemeClr val="tx1"/>
                          </a:solidFill>
                        </a:rPr>
                        <a:t>U</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800" dirty="0">
                          <a:solidFill>
                            <a:schemeClr val="tx1"/>
                          </a:solidFill>
                        </a:rPr>
                        <a:t>m</a:t>
                      </a:r>
                      <a:r>
                        <a:rPr lang="en-US" sz="2800" b="1" dirty="0">
                          <a:solidFill>
                            <a:schemeClr val="accent3"/>
                          </a:solidFill>
                        </a:rPr>
                        <a:t>uu</a:t>
                      </a:r>
                      <a:r>
                        <a:rPr lang="en-US" sz="2800" dirty="0">
                          <a:solidFill>
                            <a:schemeClr val="tx1"/>
                          </a:solidFill>
                        </a:rPr>
                        <a:t>r → m</a:t>
                      </a:r>
                      <a:r>
                        <a:rPr lang="en-US" sz="2800" b="1" dirty="0">
                          <a:solidFill>
                            <a:schemeClr val="accent3"/>
                          </a:solidFill>
                        </a:rPr>
                        <a:t>u</a:t>
                      </a:r>
                      <a:r>
                        <a:rPr lang="en-US" sz="2800" dirty="0">
                          <a:solidFill>
                            <a:schemeClr val="tx1"/>
                          </a:solidFill>
                        </a:rPr>
                        <a:t>·ren</a:t>
                      </a:r>
                      <a:endParaRPr lang="en-US" sz="2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bl>
          </a:graphicData>
        </a:graphic>
      </p:graphicFrame>
      <p:sp>
        <p:nvSpPr>
          <p:cNvPr id="6" name="Shape 2"/>
          <p:cNvSpPr/>
          <p:nvPr/>
        </p:nvSpPr>
        <p:spPr>
          <a:xfrm>
            <a:off x="1097280" y="5349240"/>
            <a:ext cx="4754880" cy="822960"/>
          </a:xfrm>
          <a:prstGeom prst="roundRect">
            <a:avLst>
              <a:gd name="adj" fmla="val 20000"/>
            </a:avLst>
          </a:prstGeom>
          <a:solidFill>
            <a:schemeClr val="accent4">
              <a:alpha val="12000"/>
            </a:schemeClr>
          </a:solidFill>
          <a:ln w="15875">
            <a:solidFill>
              <a:srgbClr val="B4236A"/>
            </a:solidFill>
            <a:prstDash val="solid"/>
          </a:ln>
        </p:spPr>
      </p:sp>
      <p:sp>
        <p:nvSpPr>
          <p:cNvPr id="7" name="Text 3"/>
          <p:cNvSpPr txBox="1"/>
          <p:nvPr/>
        </p:nvSpPr>
        <p:spPr>
          <a:xfrm>
            <a:off x="1261872" y="5349240"/>
            <a:ext cx="4425696" cy="822960"/>
          </a:xfrm>
          <a:prstGeom prst="rect">
            <a:avLst/>
          </a:prstGeom>
          <a:noFill/>
          <a:ln/>
        </p:spPr>
        <p:txBody>
          <a:bodyPr wrap="square" lIns="0" tIns="0" rIns="0" bIns="0" rtlCol="0" anchor="ctr"/>
          <a:lstStyle/>
          <a:p>
            <a:pPr algn="l" indent="0" marL="0">
              <a:buNone/>
            </a:pPr>
            <a:r>
              <a:rPr lang="en-US" sz="1900" b="1" dirty="0">
                <a:solidFill>
                  <a:schemeClr val="tx1"/>
                </a:solidFill>
              </a:rPr>
              <a:t>Court</a:t>
            </a:r>
            <a:r>
              <a:rPr lang="en-US" sz="1900" dirty="0">
                <a:solidFill>
                  <a:schemeClr val="tx1"/>
                </a:solidFill>
              </a:rPr>
              <a:t> = 1 voyelle + consonne </a:t>
            </a:r>
            <a:r>
              <a:rPr lang="en-US" sz="1900" b="1" dirty="0">
                <a:solidFill>
                  <a:schemeClr val="tx1"/>
                </a:solidFill>
              </a:rPr>
              <a:t>doublée</a:t>
            </a:r>
            <a:endParaRPr lang="en-US" sz="1900" dirty="0"/>
          </a:p>
        </p:txBody>
      </p:sp>
      <p:sp>
        <p:nvSpPr>
          <p:cNvPr id="8" name="Shape 4"/>
          <p:cNvSpPr/>
          <p:nvPr/>
        </p:nvSpPr>
        <p:spPr>
          <a:xfrm>
            <a:off x="6309360" y="5349240"/>
            <a:ext cx="4754880" cy="822960"/>
          </a:xfrm>
          <a:prstGeom prst="roundRect">
            <a:avLst>
              <a:gd name="adj" fmla="val 20000"/>
            </a:avLst>
          </a:prstGeom>
          <a:solidFill>
            <a:schemeClr val="accent3">
              <a:alpha val="12000"/>
            </a:schemeClr>
          </a:solidFill>
          <a:ln w="15875">
            <a:solidFill>
              <a:srgbClr val="2E7D4F"/>
            </a:solidFill>
            <a:prstDash val="solid"/>
          </a:ln>
        </p:spPr>
      </p:sp>
      <p:sp>
        <p:nvSpPr>
          <p:cNvPr id="9" name="Text 5"/>
          <p:cNvSpPr txBox="1"/>
          <p:nvPr/>
        </p:nvSpPr>
        <p:spPr>
          <a:xfrm>
            <a:off x="6473952" y="5349240"/>
            <a:ext cx="4425696" cy="822960"/>
          </a:xfrm>
          <a:prstGeom prst="rect">
            <a:avLst/>
          </a:prstGeom>
          <a:noFill/>
          <a:ln/>
        </p:spPr>
        <p:txBody>
          <a:bodyPr wrap="square" lIns="0" tIns="0" rIns="0" bIns="0" rtlCol="0" anchor="ctr"/>
          <a:lstStyle/>
          <a:p>
            <a:pPr algn="l" indent="0" marL="0">
              <a:buNone/>
            </a:pPr>
            <a:r>
              <a:rPr lang="en-US" sz="1900" b="1" dirty="0">
                <a:solidFill>
                  <a:schemeClr val="tx1"/>
                </a:solidFill>
              </a:rPr>
              <a:t>Long</a:t>
            </a:r>
            <a:r>
              <a:rPr lang="en-US" sz="1900" dirty="0">
                <a:solidFill>
                  <a:schemeClr val="tx1"/>
                </a:solidFill>
              </a:rPr>
              <a:t> = 2 voyelles (fermée) ou </a:t>
            </a:r>
            <a:r>
              <a:rPr lang="en-US" sz="1900" b="1" dirty="0">
                <a:solidFill>
                  <a:schemeClr val="tx1"/>
                </a:solidFill>
              </a:rPr>
              <a:t>1</a:t>
            </a:r>
            <a:r>
              <a:rPr lang="en-US" sz="1900" dirty="0">
                <a:solidFill>
                  <a:schemeClr val="tx1"/>
                </a:solidFill>
              </a:rPr>
              <a:t> voyelle (ouverte)</a:t>
            </a:r>
            <a:endParaRPr lang="en-US" sz="1900" dirty="0"/>
          </a:p>
        </p:txBody>
      </p:sp>
      <p:pic>
        <p:nvPicPr>
          <p:cNvPr id="10" name="Image 0" descr="Camera">    </p:cNvPr>
          <p:cNvPicPr>
            <a:picLocks noChangeAspect="1"/>
          </p:cNvPicPr>
          <p:nvPr/>
        </p:nvPicPr>
        <p:blipFill>
          <a:blip r:embed="rId1"/>
          <a:stretch>
            <a:fillRect/>
          </a:stretch>
        </p:blipFill>
        <p:spPr>
          <a:xfrm>
            <a:off x="11247120" y="160020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sons qui ne changent jamais</a:t>
            </a:r>
            <a:endParaRPr lang="en-US" sz="3000" dirty="0"/>
          </a:p>
        </p:txBody>
      </p:sp>
      <p:sp>
        <p:nvSpPr>
          <p:cNvPr id="3" name="tag"/>
          <p:cNvSpPr/>
          <p:nvPr/>
        </p:nvSpPr>
        <p:spPr>
          <a:xfrm>
            <a:off x="548640" y="237744"/>
            <a:ext cx="1768450"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PRONONCIATION</a:t>
            </a:r>
            <a:endParaRPr lang="en-US" sz="1200" dirty="0"/>
          </a:p>
        </p:txBody>
      </p:sp>
      <p:sp>
        <p:nvSpPr>
          <p:cNvPr id="5" name="Shape 2"/>
          <p:cNvSpPr/>
          <p:nvPr/>
        </p:nvSpPr>
        <p:spPr>
          <a:xfrm>
            <a:off x="548640" y="15544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Lock">    </p:cNvPr>
          <p:cNvPicPr>
            <a:picLocks noChangeAspect="1"/>
          </p:cNvPicPr>
          <p:nvPr/>
        </p:nvPicPr>
        <p:blipFill>
          <a:blip r:embed="rId1"/>
          <a:stretch>
            <a:fillRect/>
          </a:stretch>
        </p:blipFill>
        <p:spPr>
          <a:xfrm>
            <a:off x="3611880" y="1691640"/>
            <a:ext cx="292608" cy="292608"/>
          </a:xfrm>
          <a:prstGeom prst="rect">
            <a:avLst/>
          </a:prstGeom>
        </p:spPr>
      </p:pic>
      <p:sp>
        <p:nvSpPr>
          <p:cNvPr id="7" name="Text 3"/>
          <p:cNvSpPr txBox="1"/>
          <p:nvPr/>
        </p:nvSpPr>
        <p:spPr>
          <a:xfrm>
            <a:off x="731520" y="1645920"/>
            <a:ext cx="182880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mj-lt" pitchFamily="34" charset="0"/>
                <a:ea typeface="+mj-lt" pitchFamily="34" charset="-122"/>
                <a:cs typeface="+mj-lt" pitchFamily="34" charset="-120"/>
              </a:rPr>
              <a:t>ie</a:t>
            </a:r>
            <a:endParaRPr lang="en-US" sz="3600" dirty="0"/>
          </a:p>
        </p:txBody>
      </p:sp>
      <p:sp>
        <p:nvSpPr>
          <p:cNvPr id="8" name="Text 4"/>
          <p:cNvSpPr txBox="1"/>
          <p:nvPr/>
        </p:nvSpPr>
        <p:spPr>
          <a:xfrm>
            <a:off x="2514600" y="17373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i »</a:t>
            </a:r>
            <a:endParaRPr lang="en-US" sz="1500" dirty="0"/>
          </a:p>
        </p:txBody>
      </p:sp>
      <p:sp>
        <p:nvSpPr>
          <p:cNvPr id="9" name="Text 5"/>
          <p:cNvSpPr txBox="1"/>
          <p:nvPr/>
        </p:nvSpPr>
        <p:spPr>
          <a:xfrm>
            <a:off x="731520" y="24231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dier → dieren</a:t>
            </a:r>
            <a:endParaRPr lang="en-US" sz="1800" dirty="0"/>
          </a:p>
        </p:txBody>
      </p:sp>
      <p:sp>
        <p:nvSpPr>
          <p:cNvPr id="10" name="Text 6"/>
          <p:cNvSpPr txBox="1"/>
          <p:nvPr/>
        </p:nvSpPr>
        <p:spPr>
          <a:xfrm>
            <a:off x="731520" y="28803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l’animal</a:t>
            </a:r>
            <a:endParaRPr lang="en-US" sz="1400" dirty="0"/>
          </a:p>
        </p:txBody>
      </p:sp>
      <p:sp>
        <p:nvSpPr>
          <p:cNvPr id="11" name="Shape 7"/>
          <p:cNvSpPr/>
          <p:nvPr/>
        </p:nvSpPr>
        <p:spPr>
          <a:xfrm>
            <a:off x="4334256" y="15544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2" name="Image 1" descr="Lock">    </p:cNvPr>
          <p:cNvPicPr>
            <a:picLocks noChangeAspect="1"/>
          </p:cNvPicPr>
          <p:nvPr/>
        </p:nvPicPr>
        <p:blipFill>
          <a:blip r:embed="rId2"/>
          <a:stretch>
            <a:fillRect/>
          </a:stretch>
        </p:blipFill>
        <p:spPr>
          <a:xfrm>
            <a:off x="7397496" y="1691640"/>
            <a:ext cx="292608" cy="292608"/>
          </a:xfrm>
          <a:prstGeom prst="rect">
            <a:avLst/>
          </a:prstGeom>
        </p:spPr>
      </p:pic>
      <p:sp>
        <p:nvSpPr>
          <p:cNvPr id="13" name="Text 8"/>
          <p:cNvSpPr txBox="1"/>
          <p:nvPr/>
        </p:nvSpPr>
        <p:spPr>
          <a:xfrm>
            <a:off x="4517136" y="1645920"/>
            <a:ext cx="182880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mj-lt" pitchFamily="34" charset="0"/>
                <a:ea typeface="+mj-lt" pitchFamily="34" charset="-122"/>
                <a:cs typeface="+mj-lt" pitchFamily="34" charset="-120"/>
              </a:rPr>
              <a:t>oe</a:t>
            </a:r>
            <a:endParaRPr lang="en-US" sz="3600" dirty="0"/>
          </a:p>
        </p:txBody>
      </p:sp>
      <p:sp>
        <p:nvSpPr>
          <p:cNvPr id="14" name="Text 9"/>
          <p:cNvSpPr txBox="1"/>
          <p:nvPr/>
        </p:nvSpPr>
        <p:spPr>
          <a:xfrm>
            <a:off x="6300216" y="17373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ou »</a:t>
            </a:r>
            <a:endParaRPr lang="en-US" sz="1500" dirty="0"/>
          </a:p>
        </p:txBody>
      </p:sp>
      <p:sp>
        <p:nvSpPr>
          <p:cNvPr id="15" name="Text 10"/>
          <p:cNvSpPr txBox="1"/>
          <p:nvPr/>
        </p:nvSpPr>
        <p:spPr>
          <a:xfrm>
            <a:off x="4517136" y="24231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boek → boeken</a:t>
            </a:r>
            <a:endParaRPr lang="en-US" sz="1800" dirty="0"/>
          </a:p>
        </p:txBody>
      </p:sp>
      <p:sp>
        <p:nvSpPr>
          <p:cNvPr id="16" name="Text 11"/>
          <p:cNvSpPr txBox="1"/>
          <p:nvPr/>
        </p:nvSpPr>
        <p:spPr>
          <a:xfrm>
            <a:off x="4517136" y="28803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le livre</a:t>
            </a:r>
            <a:endParaRPr lang="en-US" sz="1400" dirty="0"/>
          </a:p>
        </p:txBody>
      </p:sp>
      <p:sp>
        <p:nvSpPr>
          <p:cNvPr id="17" name="tag"/>
          <p:cNvSpPr/>
          <p:nvPr/>
        </p:nvSpPr>
        <p:spPr>
          <a:xfrm>
            <a:off x="6254496" y="2944368"/>
            <a:ext cx="1734312" cy="256032"/>
          </a:xfrm>
          <a:prstGeom prst="roundRect">
            <a:avLst>
              <a:gd name="adj" fmla="val 17857"/>
            </a:avLst>
          </a:prstGeom>
          <a:solidFill>
            <a:schemeClr val="accent6"/>
          </a:solidFill>
          <a:ln/>
        </p:spPr>
        <p:txBody>
          <a:bodyPr wrap="square" lIns="0" tIns="0" rIns="0" bIns="0" rtlCol="0" anchor="ctr"/>
          <a:lstStyle/>
          <a:p>
            <a:pPr algn="ctr" indent="0" marL="0">
              <a:buNone/>
            </a:pPr>
            <a:r>
              <a:rPr lang="en-US" sz="1000" b="1" spc="100" kern="0" dirty="0">
                <a:solidFill>
                  <a:srgbClr val="FFFFFF"/>
                </a:solidFill>
              </a:rPr>
              <a:t>PIÈGE : u ≠ ou</a:t>
            </a:r>
            <a:endParaRPr lang="en-US" sz="1000" dirty="0"/>
          </a:p>
        </p:txBody>
      </p:sp>
      <p:sp>
        <p:nvSpPr>
          <p:cNvPr id="18" name="Shape 13"/>
          <p:cNvSpPr/>
          <p:nvPr/>
        </p:nvSpPr>
        <p:spPr>
          <a:xfrm>
            <a:off x="8119872" y="15544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9" name="Image 2" descr="Lock">    </p:cNvPr>
          <p:cNvPicPr>
            <a:picLocks noChangeAspect="1"/>
          </p:cNvPicPr>
          <p:nvPr/>
        </p:nvPicPr>
        <p:blipFill>
          <a:blip r:embed="rId3"/>
          <a:stretch>
            <a:fillRect/>
          </a:stretch>
        </p:blipFill>
        <p:spPr>
          <a:xfrm>
            <a:off x="11183112" y="1691640"/>
            <a:ext cx="292608" cy="292608"/>
          </a:xfrm>
          <a:prstGeom prst="rect">
            <a:avLst/>
          </a:prstGeom>
        </p:spPr>
      </p:pic>
      <p:sp>
        <p:nvSpPr>
          <p:cNvPr id="20" name="Text 14"/>
          <p:cNvSpPr txBox="1"/>
          <p:nvPr/>
        </p:nvSpPr>
        <p:spPr>
          <a:xfrm>
            <a:off x="8302752" y="1645920"/>
            <a:ext cx="182880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mj-lt" pitchFamily="34" charset="0"/>
                <a:ea typeface="+mj-lt" pitchFamily="34" charset="-122"/>
                <a:cs typeface="+mj-lt" pitchFamily="34" charset="-120"/>
              </a:rPr>
              <a:t>eu</a:t>
            </a:r>
            <a:endParaRPr lang="en-US" sz="3600" dirty="0"/>
          </a:p>
        </p:txBody>
      </p:sp>
      <p:sp>
        <p:nvSpPr>
          <p:cNvPr id="21" name="Text 15"/>
          <p:cNvSpPr txBox="1"/>
          <p:nvPr/>
        </p:nvSpPr>
        <p:spPr>
          <a:xfrm>
            <a:off x="10085832" y="17373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eu » de peu</a:t>
            </a:r>
            <a:endParaRPr lang="en-US" sz="1500" dirty="0"/>
          </a:p>
        </p:txBody>
      </p:sp>
      <p:sp>
        <p:nvSpPr>
          <p:cNvPr id="22" name="Text 16"/>
          <p:cNvSpPr txBox="1"/>
          <p:nvPr/>
        </p:nvSpPr>
        <p:spPr>
          <a:xfrm>
            <a:off x="8302752" y="24231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deur → deuren</a:t>
            </a:r>
            <a:endParaRPr lang="en-US" sz="1800" dirty="0"/>
          </a:p>
        </p:txBody>
      </p:sp>
      <p:sp>
        <p:nvSpPr>
          <p:cNvPr id="23" name="Text 17"/>
          <p:cNvSpPr txBox="1"/>
          <p:nvPr/>
        </p:nvSpPr>
        <p:spPr>
          <a:xfrm>
            <a:off x="8302752" y="28803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la porte</a:t>
            </a:r>
            <a:endParaRPr lang="en-US" sz="1400" dirty="0"/>
          </a:p>
        </p:txBody>
      </p:sp>
      <p:sp>
        <p:nvSpPr>
          <p:cNvPr id="24" name="Shape 18"/>
          <p:cNvSpPr/>
          <p:nvPr/>
        </p:nvSpPr>
        <p:spPr>
          <a:xfrm>
            <a:off x="548640" y="36118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5" name="Image 3" descr="Lock">    </p:cNvPr>
          <p:cNvPicPr>
            <a:picLocks noChangeAspect="1"/>
          </p:cNvPicPr>
          <p:nvPr/>
        </p:nvPicPr>
        <p:blipFill>
          <a:blip r:embed="rId4"/>
          <a:stretch>
            <a:fillRect/>
          </a:stretch>
        </p:blipFill>
        <p:spPr>
          <a:xfrm>
            <a:off x="3611880" y="3749040"/>
            <a:ext cx="292608" cy="292608"/>
          </a:xfrm>
          <a:prstGeom prst="rect">
            <a:avLst/>
          </a:prstGeom>
        </p:spPr>
      </p:pic>
      <p:sp>
        <p:nvSpPr>
          <p:cNvPr id="26" name="Text 19"/>
          <p:cNvSpPr txBox="1"/>
          <p:nvPr/>
        </p:nvSpPr>
        <p:spPr>
          <a:xfrm>
            <a:off x="731520" y="3703320"/>
            <a:ext cx="1828800" cy="731520"/>
          </a:xfrm>
          <a:prstGeom prst="rect">
            <a:avLst/>
          </a:prstGeom>
          <a:noFill/>
          <a:ln/>
        </p:spPr>
        <p:txBody>
          <a:bodyPr wrap="square" lIns="0" tIns="0" rIns="0" bIns="0" rtlCol="0" anchor="ctr"/>
          <a:lstStyle/>
          <a:p>
            <a:pPr algn="l" indent="0" marL="0">
              <a:buNone/>
            </a:pPr>
            <a:r>
              <a:rPr lang="en-US" sz="3600" b="1" dirty="0">
                <a:solidFill>
                  <a:schemeClr val="tx2"/>
                </a:solidFill>
                <a:latin typeface="+mj-lt" pitchFamily="34" charset="0"/>
                <a:ea typeface="+mj-lt" pitchFamily="34" charset="-122"/>
                <a:cs typeface="+mj-lt" pitchFamily="34" charset="-120"/>
              </a:rPr>
              <a:t>ui</a:t>
            </a:r>
            <a:endParaRPr lang="en-US" sz="3600" dirty="0"/>
          </a:p>
        </p:txBody>
      </p:sp>
      <p:sp>
        <p:nvSpPr>
          <p:cNvPr id="27" name="Text 20"/>
          <p:cNvSpPr txBox="1"/>
          <p:nvPr/>
        </p:nvSpPr>
        <p:spPr>
          <a:xfrm>
            <a:off x="2514600" y="37947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œil »</a:t>
            </a:r>
            <a:endParaRPr lang="en-US" sz="1500" dirty="0"/>
          </a:p>
        </p:txBody>
      </p:sp>
      <p:sp>
        <p:nvSpPr>
          <p:cNvPr id="28" name="Text 21"/>
          <p:cNvSpPr txBox="1"/>
          <p:nvPr/>
        </p:nvSpPr>
        <p:spPr>
          <a:xfrm>
            <a:off x="731520" y="44805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huis → huizen</a:t>
            </a:r>
            <a:endParaRPr lang="en-US" sz="1800" dirty="0"/>
          </a:p>
        </p:txBody>
      </p:sp>
      <p:sp>
        <p:nvSpPr>
          <p:cNvPr id="29" name="Text 22"/>
          <p:cNvSpPr txBox="1"/>
          <p:nvPr/>
        </p:nvSpPr>
        <p:spPr>
          <a:xfrm>
            <a:off x="731520" y="49377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la maison</a:t>
            </a:r>
            <a:endParaRPr lang="en-US" sz="1400" dirty="0"/>
          </a:p>
        </p:txBody>
      </p:sp>
      <p:sp>
        <p:nvSpPr>
          <p:cNvPr id="30" name="Shape 23"/>
          <p:cNvSpPr/>
          <p:nvPr/>
        </p:nvSpPr>
        <p:spPr>
          <a:xfrm>
            <a:off x="4334256" y="36118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1" name="Image 4" descr="Lock">    </p:cNvPr>
          <p:cNvPicPr>
            <a:picLocks noChangeAspect="1"/>
          </p:cNvPicPr>
          <p:nvPr/>
        </p:nvPicPr>
        <p:blipFill>
          <a:blip r:embed="rId5"/>
          <a:stretch>
            <a:fillRect/>
          </a:stretch>
        </p:blipFill>
        <p:spPr>
          <a:xfrm>
            <a:off x="7397496" y="3749040"/>
            <a:ext cx="292608" cy="292608"/>
          </a:xfrm>
          <a:prstGeom prst="rect">
            <a:avLst/>
          </a:prstGeom>
        </p:spPr>
      </p:pic>
      <p:sp>
        <p:nvSpPr>
          <p:cNvPr id="32" name="Text 24"/>
          <p:cNvSpPr txBox="1"/>
          <p:nvPr/>
        </p:nvSpPr>
        <p:spPr>
          <a:xfrm>
            <a:off x="4517136" y="3703320"/>
            <a:ext cx="182880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ij / ei</a:t>
            </a:r>
            <a:endParaRPr lang="en-US" sz="2800" dirty="0"/>
          </a:p>
        </p:txBody>
      </p:sp>
      <p:sp>
        <p:nvSpPr>
          <p:cNvPr id="33" name="Text 25"/>
          <p:cNvSpPr txBox="1"/>
          <p:nvPr/>
        </p:nvSpPr>
        <p:spPr>
          <a:xfrm>
            <a:off x="6300216" y="37947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è-i »</a:t>
            </a:r>
            <a:endParaRPr lang="en-US" sz="1500" dirty="0"/>
          </a:p>
        </p:txBody>
      </p:sp>
      <p:sp>
        <p:nvSpPr>
          <p:cNvPr id="34" name="Text 26"/>
          <p:cNvSpPr txBox="1"/>
          <p:nvPr/>
        </p:nvSpPr>
        <p:spPr>
          <a:xfrm>
            <a:off x="4517136" y="44805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tijd → tijden</a:t>
            </a:r>
            <a:endParaRPr lang="en-US" sz="1800" dirty="0"/>
          </a:p>
        </p:txBody>
      </p:sp>
      <p:sp>
        <p:nvSpPr>
          <p:cNvPr id="35" name="Text 27"/>
          <p:cNvSpPr txBox="1"/>
          <p:nvPr/>
        </p:nvSpPr>
        <p:spPr>
          <a:xfrm>
            <a:off x="4517136" y="49377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le temps · aussi : trein → treinen</a:t>
            </a:r>
            <a:endParaRPr lang="en-US" sz="1400" dirty="0"/>
          </a:p>
        </p:txBody>
      </p:sp>
      <p:sp>
        <p:nvSpPr>
          <p:cNvPr id="36" name="Shape 28"/>
          <p:cNvSpPr/>
          <p:nvPr/>
        </p:nvSpPr>
        <p:spPr>
          <a:xfrm>
            <a:off x="8119872" y="3611880"/>
            <a:ext cx="3520440" cy="1828800"/>
          </a:xfrm>
          <a:prstGeom prst="roundRect">
            <a:avLst>
              <a:gd name="adj" fmla="val 40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7" name="Image 5" descr="Lock">    </p:cNvPr>
          <p:cNvPicPr>
            <a:picLocks noChangeAspect="1"/>
          </p:cNvPicPr>
          <p:nvPr/>
        </p:nvPicPr>
        <p:blipFill>
          <a:blip r:embed="rId6"/>
          <a:stretch>
            <a:fillRect/>
          </a:stretch>
        </p:blipFill>
        <p:spPr>
          <a:xfrm>
            <a:off x="11183112" y="3749040"/>
            <a:ext cx="292608" cy="292608"/>
          </a:xfrm>
          <a:prstGeom prst="rect">
            <a:avLst/>
          </a:prstGeom>
        </p:spPr>
      </p:pic>
      <p:sp>
        <p:nvSpPr>
          <p:cNvPr id="38" name="Text 29"/>
          <p:cNvSpPr txBox="1"/>
          <p:nvPr/>
        </p:nvSpPr>
        <p:spPr>
          <a:xfrm>
            <a:off x="8302752" y="3703320"/>
            <a:ext cx="182880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ou / au</a:t>
            </a:r>
            <a:endParaRPr lang="en-US" sz="2800" dirty="0"/>
          </a:p>
        </p:txBody>
      </p:sp>
      <p:sp>
        <p:nvSpPr>
          <p:cNvPr id="39" name="Text 30"/>
          <p:cNvSpPr txBox="1"/>
          <p:nvPr/>
        </p:nvSpPr>
        <p:spPr>
          <a:xfrm>
            <a:off x="10085832" y="3794760"/>
            <a:ext cx="1051560" cy="548640"/>
          </a:xfrm>
          <a:prstGeom prst="rect">
            <a:avLst/>
          </a:prstGeom>
          <a:noFill/>
          <a:ln/>
        </p:spPr>
        <p:txBody>
          <a:bodyPr wrap="square" lIns="0" tIns="0" rIns="0" bIns="0" rtlCol="0" anchor="ctr"/>
          <a:lstStyle/>
          <a:p>
            <a:pPr algn="l" indent="0" marL="0">
              <a:buNone/>
            </a:pPr>
            <a:r>
              <a:rPr lang="en-US" sz="1500" i="1" dirty="0">
                <a:solidFill>
                  <a:schemeClr val="accent5"/>
                </a:solidFill>
              </a:rPr>
              <a:t>≈ « aou »</a:t>
            </a:r>
            <a:endParaRPr lang="en-US" sz="1500" dirty="0"/>
          </a:p>
        </p:txBody>
      </p:sp>
      <p:sp>
        <p:nvSpPr>
          <p:cNvPr id="40" name="Text 31"/>
          <p:cNvSpPr txBox="1"/>
          <p:nvPr/>
        </p:nvSpPr>
        <p:spPr>
          <a:xfrm>
            <a:off x="8302752" y="4480560"/>
            <a:ext cx="3154680" cy="502920"/>
          </a:xfrm>
          <a:prstGeom prst="rect">
            <a:avLst/>
          </a:prstGeom>
          <a:noFill/>
          <a:ln/>
        </p:spPr>
        <p:txBody>
          <a:bodyPr wrap="square" lIns="0" tIns="0" rIns="0" bIns="0" rtlCol="0" anchor="ctr"/>
          <a:lstStyle/>
          <a:p>
            <a:pPr algn="l" indent="0" marL="0">
              <a:buNone/>
            </a:pPr>
            <a:r>
              <a:rPr lang="en-US" sz="1800" b="1" i="1" dirty="0">
                <a:solidFill>
                  <a:schemeClr val="tx1"/>
                </a:solidFill>
              </a:rPr>
              <a:t>vrouw → vrouwen</a:t>
            </a:r>
            <a:endParaRPr lang="en-US" sz="1800" dirty="0"/>
          </a:p>
        </p:txBody>
      </p:sp>
      <p:sp>
        <p:nvSpPr>
          <p:cNvPr id="41" name="Text 32"/>
          <p:cNvSpPr txBox="1"/>
          <p:nvPr/>
        </p:nvSpPr>
        <p:spPr>
          <a:xfrm>
            <a:off x="8302752" y="4937760"/>
            <a:ext cx="3154680" cy="365760"/>
          </a:xfrm>
          <a:prstGeom prst="rect">
            <a:avLst/>
          </a:prstGeom>
          <a:noFill/>
          <a:ln/>
        </p:spPr>
        <p:txBody>
          <a:bodyPr wrap="square" lIns="0" tIns="0" rIns="0" bIns="0" rtlCol="0" anchor="t"/>
          <a:lstStyle/>
          <a:p>
            <a:pPr algn="l" indent="0" marL="0">
              <a:buNone/>
            </a:pPr>
            <a:r>
              <a:rPr lang="en-US" sz="1400" i="1" dirty="0">
                <a:solidFill>
                  <a:schemeClr val="accent5"/>
                </a:solidFill>
              </a:rPr>
              <a:t>la femme</a:t>
            </a:r>
            <a:endParaRPr lang="en-US" sz="1400" dirty="0"/>
          </a:p>
        </p:txBody>
      </p:sp>
      <p:sp>
        <p:nvSpPr>
          <p:cNvPr id="42" name="Shape 33"/>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sp>
        <p:nvSpPr>
          <p:cNvPr id="43" name="Text 34"/>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700" dirty="0">
                <a:solidFill>
                  <a:schemeClr val="bg1"/>
                </a:solidFill>
              </a:rPr>
              <a:t>Le I : court = </a:t>
            </a:r>
            <a:r>
              <a:rPr lang="en-US" sz="1700" b="1" dirty="0">
                <a:solidFill>
                  <a:schemeClr val="bg1"/>
                </a:solidFill>
              </a:rPr>
              <a:t>i</a:t>
            </a:r>
            <a:r>
              <a:rPr lang="en-US" sz="1700" dirty="0">
                <a:solidFill>
                  <a:schemeClr val="bg1"/>
                </a:solidFill>
              </a:rPr>
              <a:t> (</a:t>
            </a:r>
            <a:r>
              <a:rPr lang="en-US" sz="1700" i="1" dirty="0">
                <a:solidFill>
                  <a:schemeClr val="bg1"/>
                </a:solidFill>
              </a:rPr>
              <a:t>zit</a:t>
            </a:r>
            <a:r>
              <a:rPr lang="en-US" sz="1700" dirty="0">
                <a:solidFill>
                  <a:schemeClr val="bg1"/>
                </a:solidFill>
              </a:rPr>
              <a:t>) · long = </a:t>
            </a:r>
            <a:r>
              <a:rPr lang="en-US" sz="1700" b="1" dirty="0">
                <a:solidFill>
                  <a:schemeClr val="bg1"/>
                </a:solidFill>
              </a:rPr>
              <a:t>ie</a:t>
            </a:r>
            <a:r>
              <a:rPr lang="en-US" sz="1700" dirty="0">
                <a:solidFill>
                  <a:schemeClr val="bg1"/>
                </a:solidFill>
              </a:rPr>
              <a:t> (</a:t>
            </a:r>
            <a:r>
              <a:rPr lang="en-US" sz="1700" i="1" dirty="0">
                <a:solidFill>
                  <a:schemeClr val="bg1"/>
                </a:solidFill>
              </a:rPr>
              <a:t>ziet</a:t>
            </a:r>
            <a:r>
              <a:rPr lang="en-US" sz="1700" dirty="0">
                <a:solidFill>
                  <a:schemeClr val="bg1"/>
                </a:solidFill>
              </a:rPr>
              <a:t>) — jamais « ii ». On ne double pas, on ne simplifie pas.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BONUS : f/v et s/z jouent à cache-cache</a:t>
            </a:r>
            <a:endParaRPr lang="en-US" sz="3000" dirty="0"/>
          </a:p>
        </p:txBody>
      </p:sp>
      <p:sp>
        <p:nvSpPr>
          <p:cNvPr id="3" name="tag"/>
          <p:cNvSpPr/>
          <p:nvPr/>
        </p:nvSpPr>
        <p:spPr>
          <a:xfrm>
            <a:off x="548640" y="237744"/>
            <a:ext cx="1121054"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a:t>
            </a:r>
            <a:endParaRPr lang="en-US" sz="1200" dirty="0"/>
          </a:p>
        </p:txBody>
      </p:sp>
      <p:sp>
        <p:nvSpPr>
          <p:cNvPr id="5" name="Shape 2"/>
          <p:cNvSpPr/>
          <p:nvPr/>
        </p:nvSpPr>
        <p:spPr>
          <a:xfrm>
            <a:off x="548640" y="1600200"/>
            <a:ext cx="2194560" cy="731520"/>
          </a:xfrm>
          <a:prstGeom prst="roundRect">
            <a:avLst>
              <a:gd name="adj" fmla="val 12500"/>
            </a:avLst>
          </a:prstGeom>
          <a:solidFill>
            <a:schemeClr val="bg1"/>
          </a:solidFill>
          <a:ln w="31750">
            <a:solidFill>
              <a:srgbClr val="17375E"/>
            </a:solidFill>
            <a:prstDash val="solid"/>
          </a:ln>
        </p:spPr>
      </p:sp>
      <p:sp>
        <p:nvSpPr>
          <p:cNvPr id="6" name="Text 3"/>
          <p:cNvSpPr txBox="1"/>
          <p:nvPr/>
        </p:nvSpPr>
        <p:spPr>
          <a:xfrm>
            <a:off x="594360" y="1600200"/>
            <a:ext cx="21031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brie</a:t>
            </a:r>
            <a:r>
              <a:rPr lang="en-US" sz="2600" b="1" dirty="0">
                <a:solidFill>
                  <a:schemeClr val="accent1"/>
                </a:solidFill>
                <a:latin typeface="+mj-lt" pitchFamily="34" charset="0"/>
                <a:ea typeface="+mj-lt" pitchFamily="34" charset="-122"/>
                <a:cs typeface="+mj-lt" pitchFamily="34" charset="-120"/>
              </a:rPr>
              <a:t>f</a:t>
            </a:r>
            <a:endParaRPr lang="en-US" sz="2600" dirty="0"/>
          </a:p>
        </p:txBody>
      </p:sp>
      <p:sp>
        <p:nvSpPr>
          <p:cNvPr id="7" name="Shape 4"/>
          <p:cNvSpPr/>
          <p:nvPr/>
        </p:nvSpPr>
        <p:spPr>
          <a:xfrm>
            <a:off x="2834640" y="1965960"/>
            <a:ext cx="822960" cy="914"/>
          </a:xfrm>
          <a:prstGeom prst="line">
            <a:avLst/>
          </a:prstGeom>
          <a:noFill/>
          <a:ln w="31750">
            <a:solidFill>
              <a:srgbClr val="D9700F"/>
            </a:solidFill>
            <a:prstDash val="solid"/>
            <a:tailEnd type="triangle"/>
          </a:ln>
        </p:spPr>
      </p:sp>
      <p:sp>
        <p:nvSpPr>
          <p:cNvPr id="8" name="Shape 5"/>
          <p:cNvSpPr/>
          <p:nvPr/>
        </p:nvSpPr>
        <p:spPr>
          <a:xfrm>
            <a:off x="3749040" y="1600200"/>
            <a:ext cx="2468880" cy="731520"/>
          </a:xfrm>
          <a:prstGeom prst="roundRect">
            <a:avLst>
              <a:gd name="adj" fmla="val 12500"/>
            </a:avLst>
          </a:prstGeom>
          <a:solidFill>
            <a:schemeClr val="bg1"/>
          </a:solidFill>
          <a:ln w="31750">
            <a:solidFill>
              <a:srgbClr val="17375E"/>
            </a:solidFill>
            <a:prstDash val="solid"/>
          </a:ln>
        </p:spPr>
      </p:sp>
      <p:sp>
        <p:nvSpPr>
          <p:cNvPr id="9" name="Text 6"/>
          <p:cNvSpPr txBox="1"/>
          <p:nvPr/>
        </p:nvSpPr>
        <p:spPr>
          <a:xfrm>
            <a:off x="3794760" y="1600200"/>
            <a:ext cx="237744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brie</a:t>
            </a:r>
            <a:r>
              <a:rPr lang="en-US" sz="2600" b="1" dirty="0">
                <a:solidFill>
                  <a:schemeClr val="accent1"/>
                </a:solidFill>
                <a:latin typeface="+mj-lt" pitchFamily="34" charset="0"/>
                <a:ea typeface="+mj-lt" pitchFamily="34" charset="-122"/>
                <a:cs typeface="+mj-lt" pitchFamily="34" charset="-120"/>
              </a:rPr>
              <a:t>v</a:t>
            </a:r>
            <a:r>
              <a:rPr lang="en-US" sz="2600" b="1" dirty="0">
                <a:solidFill>
                  <a:schemeClr val="tx1"/>
                </a:solidFill>
                <a:latin typeface="+mj-lt" pitchFamily="34" charset="0"/>
                <a:ea typeface="+mj-lt" pitchFamily="34" charset="-122"/>
                <a:cs typeface="+mj-lt" pitchFamily="34" charset="-120"/>
              </a:rPr>
              <a:t>en</a:t>
            </a:r>
            <a:endParaRPr lang="en-US" sz="2600" dirty="0"/>
          </a:p>
        </p:txBody>
      </p:sp>
      <p:sp>
        <p:nvSpPr>
          <p:cNvPr id="10" name="Text 7"/>
          <p:cNvSpPr txBox="1"/>
          <p:nvPr/>
        </p:nvSpPr>
        <p:spPr>
          <a:xfrm>
            <a:off x="6355080" y="1600200"/>
            <a:ext cx="1828800" cy="731520"/>
          </a:xfrm>
          <a:prstGeom prst="rect">
            <a:avLst/>
          </a:prstGeom>
          <a:noFill/>
          <a:ln/>
        </p:spPr>
        <p:txBody>
          <a:bodyPr wrap="square" lIns="0" tIns="0" rIns="0" bIns="0" rtlCol="0" anchor="ctr"/>
          <a:lstStyle/>
          <a:p>
            <a:pPr algn="l" indent="0" marL="0">
              <a:buNone/>
            </a:pPr>
            <a:r>
              <a:rPr lang="en-US" sz="1500" i="1" dirty="0">
                <a:solidFill>
                  <a:schemeClr val="accent5"/>
                </a:solidFill>
              </a:rPr>
              <a:t>la lettre</a:t>
            </a:r>
            <a:endParaRPr lang="en-US" sz="1500" dirty="0"/>
          </a:p>
        </p:txBody>
      </p:sp>
      <p:sp>
        <p:nvSpPr>
          <p:cNvPr id="11" name="Shape 8"/>
          <p:cNvSpPr/>
          <p:nvPr/>
        </p:nvSpPr>
        <p:spPr>
          <a:xfrm>
            <a:off x="548640" y="2532888"/>
            <a:ext cx="2194560" cy="731520"/>
          </a:xfrm>
          <a:prstGeom prst="roundRect">
            <a:avLst>
              <a:gd name="adj" fmla="val 12500"/>
            </a:avLst>
          </a:prstGeom>
          <a:solidFill>
            <a:schemeClr val="bg1"/>
          </a:solidFill>
          <a:ln w="31750">
            <a:solidFill>
              <a:srgbClr val="17375E"/>
            </a:solidFill>
            <a:prstDash val="solid"/>
          </a:ln>
        </p:spPr>
      </p:sp>
      <p:sp>
        <p:nvSpPr>
          <p:cNvPr id="12" name="Text 9"/>
          <p:cNvSpPr txBox="1"/>
          <p:nvPr/>
        </p:nvSpPr>
        <p:spPr>
          <a:xfrm>
            <a:off x="594360" y="2532888"/>
            <a:ext cx="21031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nee</a:t>
            </a:r>
            <a:r>
              <a:rPr lang="en-US" sz="2600" b="1" dirty="0">
                <a:solidFill>
                  <a:schemeClr val="accent1"/>
                </a:solidFill>
                <a:latin typeface="+mj-lt" pitchFamily="34" charset="0"/>
                <a:ea typeface="+mj-lt" pitchFamily="34" charset="-122"/>
                <a:cs typeface="+mj-lt" pitchFamily="34" charset="-120"/>
              </a:rPr>
              <a:t>f</a:t>
            </a:r>
            <a:endParaRPr lang="en-US" sz="2600" dirty="0"/>
          </a:p>
        </p:txBody>
      </p:sp>
      <p:sp>
        <p:nvSpPr>
          <p:cNvPr id="13" name="Shape 10"/>
          <p:cNvSpPr/>
          <p:nvPr/>
        </p:nvSpPr>
        <p:spPr>
          <a:xfrm>
            <a:off x="2834640" y="2898648"/>
            <a:ext cx="822960" cy="914"/>
          </a:xfrm>
          <a:prstGeom prst="line">
            <a:avLst/>
          </a:prstGeom>
          <a:noFill/>
          <a:ln w="31750">
            <a:solidFill>
              <a:srgbClr val="D9700F"/>
            </a:solidFill>
            <a:prstDash val="solid"/>
            <a:tailEnd type="triangle"/>
          </a:ln>
        </p:spPr>
      </p:sp>
      <p:sp>
        <p:nvSpPr>
          <p:cNvPr id="14" name="Shape 11"/>
          <p:cNvSpPr/>
          <p:nvPr/>
        </p:nvSpPr>
        <p:spPr>
          <a:xfrm>
            <a:off x="3749040" y="2532888"/>
            <a:ext cx="2468880" cy="731520"/>
          </a:xfrm>
          <a:prstGeom prst="roundRect">
            <a:avLst>
              <a:gd name="adj" fmla="val 12500"/>
            </a:avLst>
          </a:prstGeom>
          <a:solidFill>
            <a:schemeClr val="bg1"/>
          </a:solidFill>
          <a:ln w="31750">
            <a:solidFill>
              <a:srgbClr val="17375E"/>
            </a:solidFill>
            <a:prstDash val="solid"/>
          </a:ln>
        </p:spPr>
      </p:sp>
      <p:sp>
        <p:nvSpPr>
          <p:cNvPr id="15" name="Text 12"/>
          <p:cNvSpPr txBox="1"/>
          <p:nvPr/>
        </p:nvSpPr>
        <p:spPr>
          <a:xfrm>
            <a:off x="3794760" y="2532888"/>
            <a:ext cx="237744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ne</a:t>
            </a:r>
            <a:r>
              <a:rPr lang="en-US" sz="2600" b="1" dirty="0">
                <a:solidFill>
                  <a:schemeClr val="accent1"/>
                </a:solidFill>
                <a:latin typeface="+mj-lt" pitchFamily="34" charset="0"/>
                <a:ea typeface="+mj-lt" pitchFamily="34" charset="-122"/>
                <a:cs typeface="+mj-lt" pitchFamily="34" charset="-120"/>
              </a:rPr>
              <a:t>v</a:t>
            </a:r>
            <a:r>
              <a:rPr lang="en-US" sz="2600" b="1" dirty="0">
                <a:solidFill>
                  <a:schemeClr val="tx1"/>
                </a:solidFill>
                <a:latin typeface="+mj-lt" pitchFamily="34" charset="0"/>
                <a:ea typeface="+mj-lt" pitchFamily="34" charset="-122"/>
                <a:cs typeface="+mj-lt" pitchFamily="34" charset="-120"/>
              </a:rPr>
              <a:t>en</a:t>
            </a:r>
            <a:endParaRPr lang="en-US" sz="2600" dirty="0"/>
          </a:p>
        </p:txBody>
      </p:sp>
      <p:sp>
        <p:nvSpPr>
          <p:cNvPr id="16" name="Text 13"/>
          <p:cNvSpPr txBox="1"/>
          <p:nvPr/>
        </p:nvSpPr>
        <p:spPr>
          <a:xfrm>
            <a:off x="6355080" y="2532888"/>
            <a:ext cx="1828800" cy="731520"/>
          </a:xfrm>
          <a:prstGeom prst="rect">
            <a:avLst/>
          </a:prstGeom>
          <a:noFill/>
          <a:ln/>
        </p:spPr>
        <p:txBody>
          <a:bodyPr wrap="square" lIns="0" tIns="0" rIns="0" bIns="0" rtlCol="0" anchor="ctr"/>
          <a:lstStyle/>
          <a:p>
            <a:pPr algn="l" indent="0" marL="0">
              <a:buNone/>
            </a:pPr>
            <a:r>
              <a:rPr lang="en-US" sz="1500" i="1" dirty="0">
                <a:solidFill>
                  <a:schemeClr val="accent5"/>
                </a:solidFill>
              </a:rPr>
              <a:t>le cousin / neveu</a:t>
            </a:r>
            <a:endParaRPr lang="en-US" sz="1500" dirty="0"/>
          </a:p>
        </p:txBody>
      </p:sp>
      <p:sp>
        <p:nvSpPr>
          <p:cNvPr id="17" name="Shape 14"/>
          <p:cNvSpPr/>
          <p:nvPr/>
        </p:nvSpPr>
        <p:spPr>
          <a:xfrm>
            <a:off x="548640" y="3465576"/>
            <a:ext cx="2194560" cy="731520"/>
          </a:xfrm>
          <a:prstGeom prst="roundRect">
            <a:avLst>
              <a:gd name="adj" fmla="val 12500"/>
            </a:avLst>
          </a:prstGeom>
          <a:solidFill>
            <a:schemeClr val="bg1"/>
          </a:solidFill>
          <a:ln w="31750">
            <a:solidFill>
              <a:srgbClr val="17375E"/>
            </a:solidFill>
            <a:prstDash val="solid"/>
          </a:ln>
        </p:spPr>
      </p:sp>
      <p:sp>
        <p:nvSpPr>
          <p:cNvPr id="18" name="Text 15"/>
          <p:cNvSpPr txBox="1"/>
          <p:nvPr/>
        </p:nvSpPr>
        <p:spPr>
          <a:xfrm>
            <a:off x="594360" y="3465576"/>
            <a:ext cx="21031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hui</a:t>
            </a:r>
            <a:r>
              <a:rPr lang="en-US" sz="2600" b="1" dirty="0">
                <a:solidFill>
                  <a:schemeClr val="accent1"/>
                </a:solidFill>
                <a:latin typeface="+mj-lt" pitchFamily="34" charset="0"/>
                <a:ea typeface="+mj-lt" pitchFamily="34" charset="-122"/>
                <a:cs typeface="+mj-lt" pitchFamily="34" charset="-120"/>
              </a:rPr>
              <a:t>s</a:t>
            </a:r>
            <a:endParaRPr lang="en-US" sz="2600" dirty="0"/>
          </a:p>
        </p:txBody>
      </p:sp>
      <p:sp>
        <p:nvSpPr>
          <p:cNvPr id="19" name="Shape 16"/>
          <p:cNvSpPr/>
          <p:nvPr/>
        </p:nvSpPr>
        <p:spPr>
          <a:xfrm>
            <a:off x="2834640" y="3831336"/>
            <a:ext cx="822960" cy="914"/>
          </a:xfrm>
          <a:prstGeom prst="line">
            <a:avLst/>
          </a:prstGeom>
          <a:noFill/>
          <a:ln w="31750">
            <a:solidFill>
              <a:srgbClr val="D9700F"/>
            </a:solidFill>
            <a:prstDash val="solid"/>
            <a:tailEnd type="triangle"/>
          </a:ln>
        </p:spPr>
      </p:sp>
      <p:sp>
        <p:nvSpPr>
          <p:cNvPr id="20" name="Shape 17"/>
          <p:cNvSpPr/>
          <p:nvPr/>
        </p:nvSpPr>
        <p:spPr>
          <a:xfrm>
            <a:off x="3749040" y="3465576"/>
            <a:ext cx="2468880" cy="731520"/>
          </a:xfrm>
          <a:prstGeom prst="roundRect">
            <a:avLst>
              <a:gd name="adj" fmla="val 12500"/>
            </a:avLst>
          </a:prstGeom>
          <a:solidFill>
            <a:schemeClr val="bg1"/>
          </a:solidFill>
          <a:ln w="31750">
            <a:solidFill>
              <a:srgbClr val="17375E"/>
            </a:solidFill>
            <a:prstDash val="solid"/>
          </a:ln>
        </p:spPr>
      </p:sp>
      <p:sp>
        <p:nvSpPr>
          <p:cNvPr id="21" name="Text 18"/>
          <p:cNvSpPr txBox="1"/>
          <p:nvPr/>
        </p:nvSpPr>
        <p:spPr>
          <a:xfrm>
            <a:off x="3794760" y="3465576"/>
            <a:ext cx="237744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hui</a:t>
            </a:r>
            <a:r>
              <a:rPr lang="en-US" sz="2600" b="1" dirty="0">
                <a:solidFill>
                  <a:schemeClr val="accent1"/>
                </a:solidFill>
                <a:latin typeface="+mj-lt" pitchFamily="34" charset="0"/>
                <a:ea typeface="+mj-lt" pitchFamily="34" charset="-122"/>
                <a:cs typeface="+mj-lt" pitchFamily="34" charset="-120"/>
              </a:rPr>
              <a:t>z</a:t>
            </a:r>
            <a:r>
              <a:rPr lang="en-US" sz="2600" b="1" dirty="0">
                <a:solidFill>
                  <a:schemeClr val="tx1"/>
                </a:solidFill>
                <a:latin typeface="+mj-lt" pitchFamily="34" charset="0"/>
                <a:ea typeface="+mj-lt" pitchFamily="34" charset="-122"/>
                <a:cs typeface="+mj-lt" pitchFamily="34" charset="-120"/>
              </a:rPr>
              <a:t>en</a:t>
            </a:r>
            <a:endParaRPr lang="en-US" sz="2600" dirty="0"/>
          </a:p>
        </p:txBody>
      </p:sp>
      <p:sp>
        <p:nvSpPr>
          <p:cNvPr id="22" name="Text 19"/>
          <p:cNvSpPr txBox="1"/>
          <p:nvPr/>
        </p:nvSpPr>
        <p:spPr>
          <a:xfrm>
            <a:off x="6355080" y="3465576"/>
            <a:ext cx="1828800" cy="731520"/>
          </a:xfrm>
          <a:prstGeom prst="rect">
            <a:avLst/>
          </a:prstGeom>
          <a:noFill/>
          <a:ln/>
        </p:spPr>
        <p:txBody>
          <a:bodyPr wrap="square" lIns="0" tIns="0" rIns="0" bIns="0" rtlCol="0" anchor="ctr"/>
          <a:lstStyle/>
          <a:p>
            <a:pPr algn="l" indent="0" marL="0">
              <a:buNone/>
            </a:pPr>
            <a:r>
              <a:rPr lang="en-US" sz="1500" i="1" dirty="0">
                <a:solidFill>
                  <a:schemeClr val="accent5"/>
                </a:solidFill>
              </a:rPr>
              <a:t>la maison</a:t>
            </a:r>
            <a:endParaRPr lang="en-US" sz="1500" dirty="0"/>
          </a:p>
        </p:txBody>
      </p:sp>
      <p:sp>
        <p:nvSpPr>
          <p:cNvPr id="23" name="Shape 20"/>
          <p:cNvSpPr/>
          <p:nvPr/>
        </p:nvSpPr>
        <p:spPr>
          <a:xfrm>
            <a:off x="548640" y="4398264"/>
            <a:ext cx="2194560" cy="731520"/>
          </a:xfrm>
          <a:prstGeom prst="roundRect">
            <a:avLst>
              <a:gd name="adj" fmla="val 12500"/>
            </a:avLst>
          </a:prstGeom>
          <a:solidFill>
            <a:schemeClr val="bg1"/>
          </a:solidFill>
          <a:ln w="31750">
            <a:solidFill>
              <a:srgbClr val="17375E"/>
            </a:solidFill>
            <a:prstDash val="solid"/>
          </a:ln>
        </p:spPr>
      </p:sp>
      <p:sp>
        <p:nvSpPr>
          <p:cNvPr id="24" name="Text 21"/>
          <p:cNvSpPr txBox="1"/>
          <p:nvPr/>
        </p:nvSpPr>
        <p:spPr>
          <a:xfrm>
            <a:off x="594360" y="4398264"/>
            <a:ext cx="21031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rei</a:t>
            </a:r>
            <a:r>
              <a:rPr lang="en-US" sz="2600" b="1" dirty="0">
                <a:solidFill>
                  <a:schemeClr val="accent1"/>
                </a:solidFill>
                <a:latin typeface="+mj-lt" pitchFamily="34" charset="0"/>
                <a:ea typeface="+mj-lt" pitchFamily="34" charset="-122"/>
                <a:cs typeface="+mj-lt" pitchFamily="34" charset="-120"/>
              </a:rPr>
              <a:t>s</a:t>
            </a:r>
            <a:endParaRPr lang="en-US" sz="2600" dirty="0"/>
          </a:p>
        </p:txBody>
      </p:sp>
      <p:sp>
        <p:nvSpPr>
          <p:cNvPr id="25" name="Shape 22"/>
          <p:cNvSpPr/>
          <p:nvPr/>
        </p:nvSpPr>
        <p:spPr>
          <a:xfrm>
            <a:off x="2834640" y="4764024"/>
            <a:ext cx="822960" cy="914"/>
          </a:xfrm>
          <a:prstGeom prst="line">
            <a:avLst/>
          </a:prstGeom>
          <a:noFill/>
          <a:ln w="31750">
            <a:solidFill>
              <a:srgbClr val="D9700F"/>
            </a:solidFill>
            <a:prstDash val="solid"/>
            <a:tailEnd type="triangle"/>
          </a:ln>
        </p:spPr>
      </p:sp>
      <p:sp>
        <p:nvSpPr>
          <p:cNvPr id="26" name="Shape 23"/>
          <p:cNvSpPr/>
          <p:nvPr/>
        </p:nvSpPr>
        <p:spPr>
          <a:xfrm>
            <a:off x="3749040" y="4398264"/>
            <a:ext cx="2468880" cy="731520"/>
          </a:xfrm>
          <a:prstGeom prst="roundRect">
            <a:avLst>
              <a:gd name="adj" fmla="val 12500"/>
            </a:avLst>
          </a:prstGeom>
          <a:solidFill>
            <a:schemeClr val="bg1"/>
          </a:solidFill>
          <a:ln w="31750">
            <a:solidFill>
              <a:srgbClr val="17375E"/>
            </a:solidFill>
            <a:prstDash val="solid"/>
          </a:ln>
        </p:spPr>
      </p:sp>
      <p:sp>
        <p:nvSpPr>
          <p:cNvPr id="27" name="Text 24"/>
          <p:cNvSpPr txBox="1"/>
          <p:nvPr/>
        </p:nvSpPr>
        <p:spPr>
          <a:xfrm>
            <a:off x="3794760" y="4398264"/>
            <a:ext cx="237744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rei</a:t>
            </a:r>
            <a:r>
              <a:rPr lang="en-US" sz="2600" b="1" dirty="0">
                <a:solidFill>
                  <a:schemeClr val="accent1"/>
                </a:solidFill>
                <a:latin typeface="+mj-lt" pitchFamily="34" charset="0"/>
                <a:ea typeface="+mj-lt" pitchFamily="34" charset="-122"/>
                <a:cs typeface="+mj-lt" pitchFamily="34" charset="-120"/>
              </a:rPr>
              <a:t>z</a:t>
            </a:r>
            <a:r>
              <a:rPr lang="en-US" sz="2600" b="1" dirty="0">
                <a:solidFill>
                  <a:schemeClr val="tx1"/>
                </a:solidFill>
                <a:latin typeface="+mj-lt" pitchFamily="34" charset="0"/>
                <a:ea typeface="+mj-lt" pitchFamily="34" charset="-122"/>
                <a:cs typeface="+mj-lt" pitchFamily="34" charset="-120"/>
              </a:rPr>
              <a:t>en</a:t>
            </a:r>
            <a:endParaRPr lang="en-US" sz="2600" dirty="0"/>
          </a:p>
        </p:txBody>
      </p:sp>
      <p:sp>
        <p:nvSpPr>
          <p:cNvPr id="28" name="Text 25"/>
          <p:cNvSpPr txBox="1"/>
          <p:nvPr/>
        </p:nvSpPr>
        <p:spPr>
          <a:xfrm>
            <a:off x="6355080" y="4398264"/>
            <a:ext cx="1828800" cy="731520"/>
          </a:xfrm>
          <a:prstGeom prst="rect">
            <a:avLst/>
          </a:prstGeom>
          <a:noFill/>
          <a:ln/>
        </p:spPr>
        <p:txBody>
          <a:bodyPr wrap="square" lIns="0" tIns="0" rIns="0" bIns="0" rtlCol="0" anchor="ctr"/>
          <a:lstStyle/>
          <a:p>
            <a:pPr algn="l" indent="0" marL="0">
              <a:buNone/>
            </a:pPr>
            <a:r>
              <a:rPr lang="en-US" sz="1500" i="1" dirty="0">
                <a:solidFill>
                  <a:schemeClr val="accent5"/>
                </a:solidFill>
              </a:rPr>
              <a:t>le voyage</a:t>
            </a:r>
            <a:endParaRPr lang="en-US" sz="1500" dirty="0"/>
          </a:p>
        </p:txBody>
      </p:sp>
      <p:sp>
        <p:nvSpPr>
          <p:cNvPr id="29" name="Shape 26"/>
          <p:cNvSpPr/>
          <p:nvPr/>
        </p:nvSpPr>
        <p:spPr>
          <a:xfrm>
            <a:off x="8503920" y="1600200"/>
            <a:ext cx="3136392" cy="3566160"/>
          </a:xfrm>
          <a:prstGeom prst="roundRect">
            <a:avLst>
              <a:gd name="adj" fmla="val 2332"/>
            </a:avLst>
          </a:prstGeom>
          <a:solidFill>
            <a:schemeClr val="bg2"/>
          </a:solidFill>
          <a:ln w="25400">
            <a:solidFill>
              <a:srgbClr val="17375E"/>
            </a:solidFill>
            <a:prstDash val="solid"/>
          </a:ln>
        </p:spPr>
      </p:sp>
      <p:sp>
        <p:nvSpPr>
          <p:cNvPr id="30" name="Text 27"/>
          <p:cNvSpPr txBox="1"/>
          <p:nvPr/>
        </p:nvSpPr>
        <p:spPr>
          <a:xfrm>
            <a:off x="8503920" y="1691640"/>
            <a:ext cx="3136392" cy="411480"/>
          </a:xfrm>
          <a:prstGeom prst="rect">
            <a:avLst/>
          </a:prstGeom>
          <a:noFill/>
          <a:ln/>
        </p:spPr>
        <p:txBody>
          <a:bodyPr wrap="square" lIns="0" tIns="0" rIns="0" bIns="0" rtlCol="0" anchor="t"/>
          <a:lstStyle/>
          <a:p>
            <a:pPr algn="ctr" indent="0" marL="0">
              <a:buNone/>
            </a:pPr>
            <a:r>
              <a:rPr lang="en-US" sz="1600" b="1" spc="200" kern="0" dirty="0">
                <a:solidFill>
                  <a:schemeClr val="tx2"/>
                </a:solidFill>
              </a:rPr>
              <a:t>FIN DE MOT</a:t>
            </a:r>
            <a:endParaRPr lang="en-US" sz="1600" dirty="0"/>
          </a:p>
        </p:txBody>
      </p:sp>
      <p:pic>
        <p:nvPicPr>
          <p:cNvPr id="31" name="Image 0" descr="man guard">    </p:cNvPr>
          <p:cNvPicPr>
            <a:picLocks noChangeAspect="1"/>
          </p:cNvPicPr>
          <p:nvPr/>
        </p:nvPicPr>
        <p:blipFill>
          <a:blip r:embed="rId1"/>
          <a:stretch>
            <a:fillRect/>
          </a:stretch>
        </p:blipFill>
        <p:spPr>
          <a:xfrm>
            <a:off x="8732520" y="2148840"/>
            <a:ext cx="1280160" cy="1280160"/>
          </a:xfrm>
          <a:prstGeom prst="rect">
            <a:avLst/>
          </a:prstGeom>
        </p:spPr>
      </p:pic>
      <p:pic>
        <p:nvPicPr>
          <p:cNvPr id="32" name="Image 1" descr="no entry">    </p:cNvPr>
          <p:cNvPicPr>
            <a:picLocks noChangeAspect="1"/>
          </p:cNvPicPr>
          <p:nvPr/>
        </p:nvPicPr>
        <p:blipFill>
          <a:blip r:embed="rId2"/>
          <a:stretch>
            <a:fillRect/>
          </a:stretch>
        </p:blipFill>
        <p:spPr>
          <a:xfrm>
            <a:off x="10195560" y="2331720"/>
            <a:ext cx="960120" cy="960120"/>
          </a:xfrm>
          <a:prstGeom prst="rect">
            <a:avLst/>
          </a:prstGeom>
        </p:spPr>
      </p:pic>
      <p:sp>
        <p:nvSpPr>
          <p:cNvPr id="33" name="Text 28"/>
          <p:cNvSpPr txBox="1"/>
          <p:nvPr/>
        </p:nvSpPr>
        <p:spPr>
          <a:xfrm>
            <a:off x="8503920" y="3520440"/>
            <a:ext cx="3136392" cy="731520"/>
          </a:xfrm>
          <a:prstGeom prst="rect">
            <a:avLst/>
          </a:prstGeom>
          <a:noFill/>
          <a:ln/>
        </p:spPr>
        <p:txBody>
          <a:bodyPr wrap="square" lIns="0" tIns="0" rIns="0" bIns="0" rtlCol="0" anchor="ctr"/>
          <a:lstStyle/>
          <a:p>
            <a:pPr algn="ctr" indent="0" marL="0">
              <a:buNone/>
            </a:pPr>
            <a:r>
              <a:rPr lang="en-US" sz="4000" b="1" strike="sngStrike" dirty="0">
                <a:solidFill>
                  <a:schemeClr val="accent6"/>
                </a:solidFill>
                <a:latin typeface="+mj-lt" pitchFamily="34" charset="0"/>
                <a:ea typeface="+mj-lt" pitchFamily="34" charset="-122"/>
                <a:cs typeface="+mj-lt" pitchFamily="34" charset="-120"/>
              </a:rPr>
              <a:t>V</a:t>
            </a:r>
            <a:r>
              <a:rPr lang="en-US" sz="4000" b="1" dirty="0">
                <a:solidFill>
                  <a:schemeClr val="tx1"/>
                </a:solidFill>
                <a:latin typeface="+mj-lt" pitchFamily="34" charset="0"/>
                <a:ea typeface="+mj-lt" pitchFamily="34" charset="-122"/>
                <a:cs typeface="+mj-lt" pitchFamily="34" charset="-120"/>
              </a:rPr>
              <a:t>   </a:t>
            </a:r>
            <a:r>
              <a:rPr lang="en-US" sz="4000" b="1" strike="sngStrike" dirty="0">
                <a:solidFill>
                  <a:schemeClr val="accent6"/>
                </a:solidFill>
                <a:latin typeface="+mj-lt" pitchFamily="34" charset="0"/>
                <a:ea typeface="+mj-lt" pitchFamily="34" charset="-122"/>
                <a:cs typeface="+mj-lt" pitchFamily="34" charset="-120"/>
              </a:rPr>
              <a:t>Z</a:t>
            </a:r>
            <a:endParaRPr lang="en-US" sz="4000" dirty="0"/>
          </a:p>
        </p:txBody>
      </p:sp>
      <p:sp>
        <p:nvSpPr>
          <p:cNvPr id="34" name="Text 29"/>
          <p:cNvSpPr txBox="1"/>
          <p:nvPr/>
        </p:nvSpPr>
        <p:spPr>
          <a:xfrm>
            <a:off x="8503920" y="4343400"/>
            <a:ext cx="3136392" cy="548640"/>
          </a:xfrm>
          <a:prstGeom prst="rect">
            <a:avLst/>
          </a:prstGeom>
          <a:noFill/>
          <a:ln/>
        </p:spPr>
        <p:txBody>
          <a:bodyPr wrap="square" lIns="0" tIns="0" rIns="0" bIns="0" rtlCol="0" anchor="ctr"/>
          <a:lstStyle/>
          <a:p>
            <a:pPr algn="ctr" indent="0" marL="0">
              <a:buNone/>
            </a:pPr>
            <a:r>
              <a:rPr lang="en-US" sz="1700" dirty="0">
                <a:solidFill>
                  <a:schemeClr val="tx1"/>
                </a:solidFill>
              </a:rPr>
              <a:t>interdits → </a:t>
            </a:r>
            <a:r>
              <a:rPr lang="en-US" sz="1700" b="1" dirty="0">
                <a:solidFill>
                  <a:schemeClr val="tx1"/>
                </a:solidFill>
              </a:rPr>
              <a:t>f</a:t>
            </a:r>
            <a:r>
              <a:rPr lang="en-US" sz="1700" dirty="0">
                <a:solidFill>
                  <a:schemeClr val="tx1"/>
                </a:solidFill>
              </a:rPr>
              <a:t> et </a:t>
            </a:r>
            <a:r>
              <a:rPr lang="en-US" sz="1700" b="1" dirty="0">
                <a:solidFill>
                  <a:schemeClr val="tx1"/>
                </a:solidFill>
              </a:rPr>
              <a:t>s</a:t>
            </a:r>
            <a:endParaRPr lang="en-US" sz="1700" dirty="0"/>
          </a:p>
        </p:txBody>
      </p:sp>
      <p:sp>
        <p:nvSpPr>
          <p:cNvPr id="35" name="Shape 30"/>
          <p:cNvSpPr/>
          <p:nvPr/>
        </p:nvSpPr>
        <p:spPr>
          <a:xfrm>
            <a:off x="548640" y="5486400"/>
            <a:ext cx="11091672" cy="777240"/>
          </a:xfrm>
          <a:prstGeom prst="roundRect">
            <a:avLst>
              <a:gd name="adj" fmla="val 9412"/>
            </a:avLst>
          </a:prstGeom>
          <a:solidFill>
            <a:schemeClr val="accent1">
              <a:alpha val="12000"/>
            </a:schemeClr>
          </a:solidFill>
          <a:ln w="12700">
            <a:solidFill>
              <a:srgbClr val="D9700F"/>
            </a:solidFill>
            <a:prstDash val="solid"/>
          </a:ln>
        </p:spPr>
      </p:sp>
      <p:sp>
        <p:nvSpPr>
          <p:cNvPr id="36" name="Text 31"/>
          <p:cNvSpPr txBox="1"/>
          <p:nvPr/>
        </p:nvSpPr>
        <p:spPr>
          <a:xfrm>
            <a:off x="822960" y="5486400"/>
            <a:ext cx="10607040" cy="777240"/>
          </a:xfrm>
          <a:prstGeom prst="rect">
            <a:avLst/>
          </a:prstGeom>
          <a:noFill/>
          <a:ln/>
        </p:spPr>
        <p:txBody>
          <a:bodyPr wrap="square" lIns="0" tIns="0" rIns="0" bIns="0" rtlCol="0" anchor="ctr"/>
          <a:lstStyle/>
          <a:p>
            <a:pPr algn="l" indent="0" marL="0">
              <a:buNone/>
            </a:pPr>
            <a:r>
              <a:rPr lang="en-US" sz="1700" dirty="0">
                <a:solidFill>
                  <a:schemeClr val="tx1"/>
                </a:solidFill>
              </a:rPr>
              <a:t>En fin de mot : </a:t>
            </a:r>
            <a:r>
              <a:rPr lang="en-US" sz="1700" b="1" dirty="0">
                <a:solidFill>
                  <a:schemeClr val="tx1"/>
                </a:solidFill>
              </a:rPr>
              <a:t>jamais de v ni de z</a:t>
            </a:r>
            <a:r>
              <a:rPr lang="en-US" sz="1700" dirty="0">
                <a:solidFill>
                  <a:schemeClr val="tx1"/>
                </a:solidFill>
              </a:rPr>
              <a:t> → on écrit </a:t>
            </a:r>
            <a:r>
              <a:rPr lang="en-US" sz="1700" b="1" dirty="0">
                <a:solidFill>
                  <a:schemeClr val="tx1"/>
                </a:solidFill>
              </a:rPr>
              <a:t>f</a:t>
            </a:r>
            <a:r>
              <a:rPr lang="en-US" sz="1700" dirty="0">
                <a:solidFill>
                  <a:schemeClr val="tx1"/>
                </a:solidFill>
              </a:rPr>
              <a:t> et </a:t>
            </a:r>
            <a:r>
              <a:rPr lang="en-US" sz="1700" b="1" dirty="0">
                <a:solidFill>
                  <a:schemeClr val="tx1"/>
                </a:solidFill>
              </a:rPr>
              <a:t>s</a:t>
            </a:r>
            <a:r>
              <a:rPr lang="en-US" sz="1700" dirty="0">
                <a:solidFill>
                  <a:schemeClr val="tx1"/>
                </a:solidFill>
              </a:rPr>
              <a:t>. Ce « videur » revient au module 4 : </a:t>
            </a:r>
            <a:r>
              <a:rPr lang="en-US" sz="1700" i="1" dirty="0">
                <a:solidFill>
                  <a:schemeClr val="tx1"/>
                </a:solidFill>
              </a:rPr>
              <a:t>lezen → ik lees</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6 sons à surveiller</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7" name="Text 4"/>
          <p:cNvSpPr txBox="1"/>
          <p:nvPr/>
        </p:nvSpPr>
        <p:spPr>
          <a:xfrm>
            <a:off x="731520" y="1554480"/>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u</a:t>
            </a:r>
            <a:endParaRPr lang="en-US" sz="2400" dirty="0"/>
          </a:p>
        </p:txBody>
      </p:sp>
      <p:sp>
        <p:nvSpPr>
          <p:cNvPr id="8" name="Text 5"/>
          <p:cNvSpPr txBox="1"/>
          <p:nvPr/>
        </p:nvSpPr>
        <p:spPr>
          <a:xfrm>
            <a:off x="2468880" y="1554480"/>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bus</a:t>
            </a:r>
            <a:endParaRPr lang="en-US" sz="1700" dirty="0"/>
          </a:p>
        </p:txBody>
      </p:sp>
      <p:sp>
        <p:nvSpPr>
          <p:cNvPr id="9" name="Text 6"/>
          <p:cNvSpPr txBox="1"/>
          <p:nvPr/>
        </p:nvSpPr>
        <p:spPr>
          <a:xfrm>
            <a:off x="731520" y="2331720"/>
            <a:ext cx="3154680" cy="1325880"/>
          </a:xfrm>
          <a:prstGeom prst="rect">
            <a:avLst/>
          </a:prstGeom>
          <a:noFill/>
          <a:ln/>
        </p:spPr>
        <p:txBody>
          <a:bodyPr wrap="square" lIns="0" tIns="0" rIns="0" bIns="0" rtlCol="0" anchor="t"/>
          <a:lstStyle/>
          <a:p>
            <a:pPr algn="l" indent="0" marL="0">
              <a:spcAft>
                <a:spcPts val="800"/>
              </a:spcAft>
              <a:buNone/>
            </a:pPr>
            <a:r>
              <a:rPr lang="en-US" sz="1800" strike="sngStrike" dirty="0">
                <a:solidFill>
                  <a:schemeClr val="accent6"/>
                </a:solidFill>
              </a:rPr>
              <a:t>« u » français</a:t>
            </a:r>
            <a:endParaRPr lang="en-US" sz="1800" dirty="0"/>
          </a:p>
          <a:p>
            <a:pPr algn="l" indent="0" marL="0">
              <a:spcAft>
                <a:spcPts val="800"/>
              </a:spcAft>
              <a:buNone/>
            </a:pPr>
            <a:r>
              <a:rPr lang="en-US" sz="1800" dirty="0">
                <a:solidFill>
                  <a:schemeClr val="tx1"/>
                </a:solidFill>
              </a:rPr>
              <a:t>→ plutôt « eu » bref</a:t>
            </a:r>
            <a:endParaRPr lang="en-US" sz="1800" dirty="0"/>
          </a:p>
        </p:txBody>
      </p:sp>
      <p:sp>
        <p:nvSpPr>
          <p:cNvPr id="10" name="Shape 7"/>
          <p:cNvSpPr/>
          <p:nvPr/>
        </p:nvSpPr>
        <p:spPr>
          <a:xfrm>
            <a:off x="4334256" y="1554480"/>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334256" y="1554480"/>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12" name="Text 9"/>
          <p:cNvSpPr txBox="1"/>
          <p:nvPr/>
        </p:nvSpPr>
        <p:spPr>
          <a:xfrm>
            <a:off x="4517136" y="1554480"/>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uu</a:t>
            </a:r>
            <a:endParaRPr lang="en-US" sz="2400" dirty="0"/>
          </a:p>
        </p:txBody>
      </p:sp>
      <p:sp>
        <p:nvSpPr>
          <p:cNvPr id="13" name="Text 10"/>
          <p:cNvSpPr txBox="1"/>
          <p:nvPr/>
        </p:nvSpPr>
        <p:spPr>
          <a:xfrm>
            <a:off x="6254496" y="1554480"/>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vuur</a:t>
            </a:r>
            <a:endParaRPr lang="en-US" sz="1700" dirty="0"/>
          </a:p>
        </p:txBody>
      </p:sp>
      <p:sp>
        <p:nvSpPr>
          <p:cNvPr id="14" name="Text 11"/>
          <p:cNvSpPr txBox="1"/>
          <p:nvPr/>
        </p:nvSpPr>
        <p:spPr>
          <a:xfrm>
            <a:off x="4517136" y="2331720"/>
            <a:ext cx="3154680" cy="1325880"/>
          </a:xfrm>
          <a:prstGeom prst="rect">
            <a:avLst/>
          </a:prstGeom>
          <a:noFill/>
          <a:ln/>
        </p:spPr>
        <p:txBody>
          <a:bodyPr wrap="square" lIns="0" tIns="0" rIns="0" bIns="0" rtlCol="0" anchor="t"/>
          <a:lstStyle/>
          <a:p>
            <a:pPr algn="l" indent="0" marL="0">
              <a:spcAft>
                <a:spcPts val="800"/>
              </a:spcAft>
              <a:buNone/>
            </a:pPr>
            <a:r>
              <a:rPr lang="en-US" sz="1800" dirty="0">
                <a:solidFill>
                  <a:schemeClr val="tx1"/>
                </a:solidFill>
              </a:rPr>
              <a:t>= « u » français</a:t>
            </a:r>
            <a:endParaRPr lang="en-US" sz="1800" dirty="0"/>
          </a:p>
          <a:p>
            <a:pPr algn="l" indent="0" marL="0">
              <a:spcAft>
                <a:spcPts val="800"/>
              </a:spcAft>
              <a:buNone/>
            </a:pPr>
            <a:r>
              <a:rPr lang="en-US" sz="1800" dirty="0">
                <a:solidFill>
                  <a:schemeClr val="tx1"/>
                </a:solidFill>
              </a:rPr>
              <a:t>→ mais long</a:t>
            </a:r>
            <a:endParaRPr lang="en-US" sz="1800" dirty="0"/>
          </a:p>
        </p:txBody>
      </p:sp>
      <p:sp>
        <p:nvSpPr>
          <p:cNvPr id="15" name="Shape 12"/>
          <p:cNvSpPr/>
          <p:nvPr/>
        </p:nvSpPr>
        <p:spPr>
          <a:xfrm>
            <a:off x="8119872" y="1554480"/>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8119872" y="1554480"/>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17" name="Text 14"/>
          <p:cNvSpPr txBox="1"/>
          <p:nvPr/>
        </p:nvSpPr>
        <p:spPr>
          <a:xfrm>
            <a:off x="8302752" y="1554480"/>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g / ch</a:t>
            </a:r>
            <a:endParaRPr lang="en-US" sz="2400" dirty="0"/>
          </a:p>
        </p:txBody>
      </p:sp>
      <p:sp>
        <p:nvSpPr>
          <p:cNvPr id="18" name="Text 15"/>
          <p:cNvSpPr txBox="1"/>
          <p:nvPr/>
        </p:nvSpPr>
        <p:spPr>
          <a:xfrm>
            <a:off x="10040112" y="1554480"/>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goed, acht</a:t>
            </a:r>
            <a:endParaRPr lang="en-US" sz="1700" dirty="0"/>
          </a:p>
        </p:txBody>
      </p:sp>
      <p:sp>
        <p:nvSpPr>
          <p:cNvPr id="19" name="Text 16"/>
          <p:cNvSpPr txBox="1"/>
          <p:nvPr/>
        </p:nvSpPr>
        <p:spPr>
          <a:xfrm>
            <a:off x="8302752" y="2331720"/>
            <a:ext cx="3154680" cy="1325880"/>
          </a:xfrm>
          <a:prstGeom prst="rect">
            <a:avLst/>
          </a:prstGeom>
          <a:noFill/>
          <a:ln/>
        </p:spPr>
        <p:txBody>
          <a:bodyPr wrap="square" lIns="0" tIns="0" rIns="0" bIns="0" rtlCol="0" anchor="t"/>
          <a:lstStyle/>
          <a:p>
            <a:pPr algn="l" indent="0" marL="0">
              <a:spcAft>
                <a:spcPts val="800"/>
              </a:spcAft>
              <a:buNone/>
            </a:pPr>
            <a:r>
              <a:rPr lang="en-US" sz="1800" strike="sngStrike" dirty="0">
                <a:solidFill>
                  <a:schemeClr val="accent6"/>
                </a:solidFill>
              </a:rPr>
              <a:t>« g » de gare</a:t>
            </a:r>
            <a:endParaRPr lang="en-US" sz="1800" dirty="0"/>
          </a:p>
          <a:p>
            <a:pPr algn="l" indent="0" marL="0">
              <a:spcAft>
                <a:spcPts val="800"/>
              </a:spcAft>
              <a:buNone/>
            </a:pPr>
            <a:r>
              <a:rPr lang="en-US" sz="1800" dirty="0">
                <a:solidFill>
                  <a:schemeClr val="tx1"/>
                </a:solidFill>
              </a:rPr>
              <a:t>→ son raclé au fond de la gorge</a:t>
            </a:r>
            <a:endParaRPr lang="en-US" sz="1800" dirty="0"/>
          </a:p>
        </p:txBody>
      </p:sp>
      <p:sp>
        <p:nvSpPr>
          <p:cNvPr id="20" name="Shape 17"/>
          <p:cNvSpPr/>
          <p:nvPr/>
        </p:nvSpPr>
        <p:spPr>
          <a:xfrm>
            <a:off x="548640" y="3995928"/>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548640" y="3995928"/>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22" name="Text 19"/>
          <p:cNvSpPr txBox="1"/>
          <p:nvPr/>
        </p:nvSpPr>
        <p:spPr>
          <a:xfrm>
            <a:off x="731520" y="3995928"/>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h</a:t>
            </a:r>
            <a:endParaRPr lang="en-US" sz="2400" dirty="0"/>
          </a:p>
        </p:txBody>
      </p:sp>
      <p:sp>
        <p:nvSpPr>
          <p:cNvPr id="23" name="Text 20"/>
          <p:cNvSpPr txBox="1"/>
          <p:nvPr/>
        </p:nvSpPr>
        <p:spPr>
          <a:xfrm>
            <a:off x="2468880" y="3995928"/>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heten</a:t>
            </a:r>
            <a:endParaRPr lang="en-US" sz="1700" dirty="0"/>
          </a:p>
        </p:txBody>
      </p:sp>
      <p:sp>
        <p:nvSpPr>
          <p:cNvPr id="24" name="Text 21"/>
          <p:cNvSpPr txBox="1"/>
          <p:nvPr/>
        </p:nvSpPr>
        <p:spPr>
          <a:xfrm>
            <a:off x="731520" y="4773168"/>
            <a:ext cx="3154680" cy="1325880"/>
          </a:xfrm>
          <a:prstGeom prst="rect">
            <a:avLst/>
          </a:prstGeom>
          <a:noFill/>
          <a:ln/>
        </p:spPr>
        <p:txBody>
          <a:bodyPr wrap="square" lIns="0" tIns="0" rIns="0" bIns="0" rtlCol="0" anchor="t"/>
          <a:lstStyle/>
          <a:p>
            <a:pPr algn="l" indent="0" marL="0">
              <a:spcAft>
                <a:spcPts val="800"/>
              </a:spcAft>
              <a:buNone/>
            </a:pPr>
            <a:r>
              <a:rPr lang="en-US" sz="1800" strike="sngStrike" dirty="0">
                <a:solidFill>
                  <a:schemeClr val="accent6"/>
                </a:solidFill>
              </a:rPr>
              <a:t>h muet</a:t>
            </a:r>
            <a:endParaRPr lang="en-US" sz="1800" dirty="0"/>
          </a:p>
          <a:p>
            <a:pPr algn="l" indent="0" marL="0">
              <a:spcAft>
                <a:spcPts val="800"/>
              </a:spcAft>
              <a:buNone/>
            </a:pPr>
            <a:r>
              <a:rPr lang="en-US" sz="1800" dirty="0">
                <a:solidFill>
                  <a:schemeClr val="tx1"/>
                </a:solidFill>
              </a:rPr>
              <a:t>→ on souffle ! </a:t>
            </a:r>
            <a:r>
              <a:rPr lang="en-US" sz="1800" i="1" dirty="0">
                <a:solidFill>
                  <a:schemeClr val="tx1"/>
                </a:solidFill>
              </a:rPr>
              <a:t>Ik heet Tom</a:t>
            </a:r>
            <a:r>
              <a:rPr lang="en-US" sz="1800" dirty="0">
                <a:solidFill>
                  <a:schemeClr val="tx1"/>
                </a:solidFill>
              </a:rPr>
              <a:t> ≠ </a:t>
            </a:r>
            <a:r>
              <a:rPr lang="en-US" sz="1800" i="1" dirty="0">
                <a:solidFill>
                  <a:schemeClr val="tx1"/>
                </a:solidFill>
              </a:rPr>
              <a:t>Ik eet Tom</a:t>
            </a:r>
            <a:r>
              <a:rPr lang="en-US" sz="1800" dirty="0">
                <a:solidFill>
                  <a:schemeClr val="tx1"/>
                </a:solidFill>
              </a:rPr>
              <a:t> 😄</a:t>
            </a:r>
            <a:endParaRPr lang="en-US" sz="1800" dirty="0"/>
          </a:p>
        </p:txBody>
      </p:sp>
      <p:sp>
        <p:nvSpPr>
          <p:cNvPr id="25" name="Shape 22"/>
          <p:cNvSpPr/>
          <p:nvPr/>
        </p:nvSpPr>
        <p:spPr>
          <a:xfrm>
            <a:off x="4334256" y="3995928"/>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4334256" y="3995928"/>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27" name="Text 24"/>
          <p:cNvSpPr txBox="1"/>
          <p:nvPr/>
        </p:nvSpPr>
        <p:spPr>
          <a:xfrm>
            <a:off x="4517136" y="3995928"/>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-en final</a:t>
            </a:r>
            <a:endParaRPr lang="en-US" sz="2400" dirty="0"/>
          </a:p>
        </p:txBody>
      </p:sp>
      <p:sp>
        <p:nvSpPr>
          <p:cNvPr id="28" name="Text 25"/>
          <p:cNvSpPr txBox="1"/>
          <p:nvPr/>
        </p:nvSpPr>
        <p:spPr>
          <a:xfrm>
            <a:off x="6254496" y="3995928"/>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lopen</a:t>
            </a:r>
            <a:endParaRPr lang="en-US" sz="1700" dirty="0"/>
          </a:p>
        </p:txBody>
      </p:sp>
      <p:sp>
        <p:nvSpPr>
          <p:cNvPr id="29" name="Text 26"/>
          <p:cNvSpPr txBox="1"/>
          <p:nvPr/>
        </p:nvSpPr>
        <p:spPr>
          <a:xfrm>
            <a:off x="4517136" y="4773168"/>
            <a:ext cx="3154680" cy="1325880"/>
          </a:xfrm>
          <a:prstGeom prst="rect">
            <a:avLst/>
          </a:prstGeom>
          <a:noFill/>
          <a:ln/>
        </p:spPr>
        <p:txBody>
          <a:bodyPr wrap="square" lIns="0" tIns="0" rIns="0" bIns="0" rtlCol="0" anchor="t"/>
          <a:lstStyle/>
          <a:p>
            <a:pPr algn="l" indent="0" marL="0">
              <a:spcAft>
                <a:spcPts val="800"/>
              </a:spcAft>
              <a:buNone/>
            </a:pPr>
            <a:r>
              <a:rPr lang="en-US" sz="1800" strike="sngStrike" dirty="0">
                <a:solidFill>
                  <a:schemeClr val="accent6"/>
                </a:solidFill>
              </a:rPr>
              <a:t>« pène »</a:t>
            </a:r>
            <a:endParaRPr lang="en-US" sz="1800" dirty="0"/>
          </a:p>
          <a:p>
            <a:pPr algn="l" indent="0" marL="0">
              <a:spcAft>
                <a:spcPts val="800"/>
              </a:spcAft>
              <a:buNone/>
            </a:pPr>
            <a:r>
              <a:rPr lang="en-US" sz="1800" dirty="0">
                <a:solidFill>
                  <a:schemeClr val="tx1"/>
                </a:solidFill>
              </a:rPr>
              <a:t>→ « lopeu »</a:t>
            </a:r>
            <a:endParaRPr lang="en-US" sz="1800" dirty="0"/>
          </a:p>
        </p:txBody>
      </p:sp>
      <p:sp>
        <p:nvSpPr>
          <p:cNvPr id="30" name="Shape 27"/>
          <p:cNvSpPr/>
          <p:nvPr/>
        </p:nvSpPr>
        <p:spPr>
          <a:xfrm>
            <a:off x="8119872" y="3995928"/>
            <a:ext cx="3520440" cy="2240280"/>
          </a:xfrm>
          <a:prstGeom prst="roundRect">
            <a:avLst>
              <a:gd name="adj" fmla="val 3265"/>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1" name="Shape 28"/>
          <p:cNvSpPr/>
          <p:nvPr/>
        </p:nvSpPr>
        <p:spPr>
          <a:xfrm>
            <a:off x="8119872" y="3995928"/>
            <a:ext cx="3520440" cy="640080"/>
          </a:xfrm>
          <a:prstGeom prst="roundRect">
            <a:avLst>
              <a:gd name="adj" fmla="val 11429"/>
            </a:avLst>
          </a:prstGeom>
          <a:solidFill>
            <a:schemeClr val="accent6">
              <a:alpha val="10000"/>
            </a:schemeClr>
          </a:solidFill>
          <a:ln w="12700">
            <a:solidFill>
              <a:srgbClr val="FFFFFF">
                <a:alpha val="0"/>
              </a:srgbClr>
            </a:solidFill>
            <a:prstDash val="solid"/>
          </a:ln>
        </p:spPr>
      </p:sp>
      <p:sp>
        <p:nvSpPr>
          <p:cNvPr id="32" name="Text 29"/>
          <p:cNvSpPr txBox="1"/>
          <p:nvPr/>
        </p:nvSpPr>
        <p:spPr>
          <a:xfrm>
            <a:off x="8302752" y="3995928"/>
            <a:ext cx="1828800" cy="64008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d final</a:t>
            </a:r>
            <a:endParaRPr lang="en-US" sz="2400" dirty="0"/>
          </a:p>
        </p:txBody>
      </p:sp>
      <p:sp>
        <p:nvSpPr>
          <p:cNvPr id="33" name="Text 30"/>
          <p:cNvSpPr txBox="1"/>
          <p:nvPr/>
        </p:nvSpPr>
        <p:spPr>
          <a:xfrm>
            <a:off x="10040112" y="3995928"/>
            <a:ext cx="1417320" cy="640080"/>
          </a:xfrm>
          <a:prstGeom prst="rect">
            <a:avLst/>
          </a:prstGeom>
          <a:noFill/>
          <a:ln/>
        </p:spPr>
        <p:txBody>
          <a:bodyPr wrap="square" lIns="0" tIns="0" rIns="0" bIns="0" rtlCol="0" anchor="ctr"/>
          <a:lstStyle/>
          <a:p>
            <a:pPr algn="r" indent="0" marL="0">
              <a:buNone/>
            </a:pPr>
            <a:r>
              <a:rPr lang="en-US" sz="1700" i="1" dirty="0">
                <a:solidFill>
                  <a:schemeClr val="tx1"/>
                </a:solidFill>
              </a:rPr>
              <a:t>stad</a:t>
            </a:r>
            <a:endParaRPr lang="en-US" sz="1700" dirty="0"/>
          </a:p>
        </p:txBody>
      </p:sp>
      <p:sp>
        <p:nvSpPr>
          <p:cNvPr id="34" name="Text 31"/>
          <p:cNvSpPr txBox="1"/>
          <p:nvPr/>
        </p:nvSpPr>
        <p:spPr>
          <a:xfrm>
            <a:off x="8302752" y="4773168"/>
            <a:ext cx="3154680" cy="1325880"/>
          </a:xfrm>
          <a:prstGeom prst="rect">
            <a:avLst/>
          </a:prstGeom>
          <a:noFill/>
          <a:ln/>
        </p:spPr>
        <p:txBody>
          <a:bodyPr wrap="square" lIns="0" tIns="0" rIns="0" bIns="0" rtlCol="0" anchor="t"/>
          <a:lstStyle/>
          <a:p>
            <a:pPr algn="l" indent="0" marL="0">
              <a:spcAft>
                <a:spcPts val="800"/>
              </a:spcAft>
              <a:buNone/>
            </a:pPr>
            <a:r>
              <a:rPr lang="en-US" sz="1800" strike="sngStrike" dirty="0">
                <a:solidFill>
                  <a:schemeClr val="accent6"/>
                </a:solidFill>
              </a:rPr>
              <a:t>« d »</a:t>
            </a:r>
            <a:endParaRPr lang="en-US" sz="1800" dirty="0"/>
          </a:p>
          <a:p>
            <a:pPr algn="l" indent="0" marL="0">
              <a:spcAft>
                <a:spcPts val="800"/>
              </a:spcAft>
              <a:buNone/>
            </a:pPr>
            <a:r>
              <a:rPr lang="en-US" sz="1800" dirty="0">
                <a:solidFill>
                  <a:schemeClr val="tx1"/>
                </a:solidFill>
              </a:rPr>
              <a:t>→ se prononce </a:t>
            </a:r>
            <a:r>
              <a:rPr lang="en-US" sz="1800" b="1" dirty="0">
                <a:solidFill>
                  <a:schemeClr val="tx1"/>
                </a:solidFill>
              </a:rPr>
              <a:t>t</a:t>
            </a:r>
            <a:r>
              <a:rPr lang="en-US" sz="1800" dirty="0">
                <a:solidFill>
                  <a:schemeClr val="tx1"/>
                </a:solidFill>
              </a:rPr>
              <a:t> : « stat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Lire un mot inconnu : la méthode en 3 étapes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Text 2"/>
          <p:cNvSpPr/>
          <p:nvPr/>
        </p:nvSpPr>
        <p:spPr>
          <a:xfrm>
            <a:off x="548640" y="1600200"/>
            <a:ext cx="3703320" cy="914400"/>
          </a:xfrm>
          <a:prstGeom prst="chevron">
            <a:avLst/>
          </a:prstGeom>
          <a:solidFill>
            <a:schemeClr val="accent2"/>
          </a:solidFill>
          <a:ln/>
        </p:spPr>
        <p:txBody>
          <a:bodyPr wrap="square" lIns="0" tIns="0" rIns="0" bIns="0" rtlCol="0" anchor="ctr"/>
          <a:lstStyle/>
          <a:p>
            <a:pPr algn="ctr" indent="0" marL="0">
              <a:buNone/>
            </a:pPr>
            <a:r>
              <a:rPr lang="en-US" sz="2000" b="1" dirty="0">
                <a:solidFill>
                  <a:srgbClr val="FFFFFF"/>
                </a:solidFill>
              </a:rPr>
              <a:t>✂ 1 · Je coupe</a:t>
            </a:r>
            <a:endParaRPr lang="en-US" sz="2000" dirty="0"/>
          </a:p>
        </p:txBody>
      </p:sp>
      <p:sp>
        <p:nvSpPr>
          <p:cNvPr id="6" name="Text 3"/>
          <p:cNvSpPr/>
          <p:nvPr/>
        </p:nvSpPr>
        <p:spPr>
          <a:xfrm>
            <a:off x="4206240" y="1600200"/>
            <a:ext cx="3703320" cy="914400"/>
          </a:xfrm>
          <a:prstGeom prst="chevron">
            <a:avLst/>
          </a:prstGeom>
          <a:solidFill>
            <a:schemeClr val="tx2"/>
          </a:solidFill>
          <a:ln/>
        </p:spPr>
        <p:txBody>
          <a:bodyPr wrap="square" lIns="0" tIns="0" rIns="0" bIns="0" rtlCol="0" anchor="ctr"/>
          <a:lstStyle/>
          <a:p>
            <a:pPr algn="ctr" indent="0" marL="0">
              <a:buNone/>
            </a:pPr>
            <a:r>
              <a:rPr lang="en-US" sz="2000" b="1" dirty="0">
                <a:solidFill>
                  <a:srgbClr val="FFFFFF"/>
                </a:solidFill>
              </a:rPr>
              <a:t>2 · Porte ouverte ?</a:t>
            </a:r>
            <a:endParaRPr lang="en-US" sz="2000" dirty="0"/>
          </a:p>
        </p:txBody>
      </p:sp>
      <p:sp>
        <p:nvSpPr>
          <p:cNvPr id="7" name="Text 4"/>
          <p:cNvSpPr/>
          <p:nvPr/>
        </p:nvSpPr>
        <p:spPr>
          <a:xfrm>
            <a:off x="7863840" y="1600200"/>
            <a:ext cx="3703320" cy="914400"/>
          </a:xfrm>
          <a:prstGeom prst="chevron">
            <a:avLst/>
          </a:prstGeom>
          <a:solidFill>
            <a:schemeClr val="accent3"/>
          </a:solidFill>
          <a:ln/>
        </p:spPr>
        <p:txBody>
          <a:bodyPr wrap="square" lIns="0" tIns="0" rIns="0" bIns="0" rtlCol="0" anchor="ctr"/>
          <a:lstStyle/>
          <a:p>
            <a:pPr algn="ctr" indent="0" marL="0">
              <a:buNone/>
            </a:pPr>
            <a:r>
              <a:rPr lang="en-US" sz="2000" b="1" dirty="0">
                <a:solidFill>
                  <a:srgbClr val="FFFFFF"/>
                </a:solidFill>
              </a:rPr>
              <a:t>3 · Je prononce</a:t>
            </a:r>
            <a:endParaRPr lang="en-US" sz="2000" dirty="0"/>
          </a:p>
        </p:txBody>
      </p:sp>
      <p:sp>
        <p:nvSpPr>
          <p:cNvPr id="8" name="Text 5"/>
          <p:cNvSpPr txBox="1"/>
          <p:nvPr/>
        </p:nvSpPr>
        <p:spPr>
          <a:xfrm>
            <a:off x="548640" y="2788920"/>
            <a:ext cx="11091672" cy="457200"/>
          </a:xfrm>
          <a:prstGeom prst="rect">
            <a:avLst/>
          </a:prstGeom>
          <a:noFill/>
          <a:ln/>
        </p:spPr>
        <p:txBody>
          <a:bodyPr wrap="square" lIns="0" tIns="0" rIns="0" bIns="0" rtlCol="0" anchor="t"/>
          <a:lstStyle/>
          <a:p>
            <a:pPr algn="ctr" indent="0" marL="0">
              <a:buNone/>
            </a:pPr>
            <a:r>
              <a:rPr lang="en-US" sz="2200" b="1" dirty="0">
                <a:solidFill>
                  <a:schemeClr val="tx1"/>
                </a:solidFill>
              </a:rPr>
              <a:t>vergadering</a:t>
            </a:r>
            <a:r>
              <a:rPr lang="en-US" sz="2200" dirty="0">
                <a:solidFill>
                  <a:schemeClr val="tx1"/>
                </a:solidFill>
              </a:rPr>
              <a:t> </a:t>
            </a:r>
            <a:r>
              <a:rPr lang="en-US" sz="2200" i="1" dirty="0">
                <a:solidFill>
                  <a:schemeClr val="tx1"/>
                </a:solidFill>
              </a:rPr>
              <a:t>(la réunion)</a:t>
            </a:r>
            <a:endParaRPr lang="en-US" sz="2200" dirty="0"/>
          </a:p>
        </p:txBody>
      </p:sp>
      <p:sp>
        <p:nvSpPr>
          <p:cNvPr id="9" name="Shape 6"/>
          <p:cNvSpPr/>
          <p:nvPr/>
        </p:nvSpPr>
        <p:spPr>
          <a:xfrm>
            <a:off x="1463040" y="3383280"/>
            <a:ext cx="2103120" cy="1097280"/>
          </a:xfrm>
          <a:prstGeom prst="roundRect">
            <a:avLst>
              <a:gd name="adj" fmla="val 6667"/>
            </a:avLst>
          </a:prstGeom>
          <a:solidFill>
            <a:schemeClr val="bg1"/>
          </a:solidFill>
          <a:ln w="31750">
            <a:solidFill>
              <a:srgbClr val="4A5A70"/>
            </a:solidFill>
            <a:prstDash val="solid"/>
          </a:ln>
        </p:spPr>
      </p:sp>
      <p:sp>
        <p:nvSpPr>
          <p:cNvPr id="10" name="Text 7"/>
          <p:cNvSpPr txBox="1"/>
          <p:nvPr/>
        </p:nvSpPr>
        <p:spPr>
          <a:xfrm>
            <a:off x="1463040" y="3383280"/>
            <a:ext cx="2103120" cy="1097280"/>
          </a:xfrm>
          <a:prstGeom prst="rect">
            <a:avLst/>
          </a:prstGeom>
          <a:noFill/>
          <a:ln/>
        </p:spPr>
        <p:txBody>
          <a:bodyPr wrap="square" lIns="0" tIns="0" rIns="0" bIns="0" rtlCol="0" anchor="ctr"/>
          <a:lstStyle/>
          <a:p>
            <a:pPr algn="ctr" indent="0" marL="0">
              <a:buNone/>
            </a:pPr>
            <a:r>
              <a:rPr lang="en-US" sz="3600" b="1" dirty="0">
                <a:solidFill>
                  <a:schemeClr val="accent5"/>
                </a:solidFill>
                <a:latin typeface="+mj-lt" pitchFamily="34" charset="0"/>
                <a:ea typeface="+mj-lt" pitchFamily="34" charset="-122"/>
                <a:cs typeface="+mj-lt" pitchFamily="34" charset="-120"/>
              </a:rPr>
              <a:t>ver</a:t>
            </a:r>
            <a:endParaRPr lang="en-US" sz="3600" dirty="0"/>
          </a:p>
        </p:txBody>
      </p:sp>
      <p:sp>
        <p:nvSpPr>
          <p:cNvPr id="11" name="Text 8"/>
          <p:cNvSpPr txBox="1"/>
          <p:nvPr/>
        </p:nvSpPr>
        <p:spPr>
          <a:xfrm>
            <a:off x="1371600" y="4526280"/>
            <a:ext cx="2286000" cy="411480"/>
          </a:xfrm>
          <a:prstGeom prst="rect">
            <a:avLst/>
          </a:prstGeom>
          <a:noFill/>
          <a:ln/>
        </p:spPr>
        <p:txBody>
          <a:bodyPr wrap="square" lIns="0" tIns="0" rIns="0" bIns="0" rtlCol="0" anchor="t"/>
          <a:lstStyle/>
          <a:p>
            <a:pPr algn="ctr" indent="0" marL="0">
              <a:buNone/>
            </a:pPr>
            <a:r>
              <a:rPr lang="en-US" sz="1500" i="1" dirty="0">
                <a:solidFill>
                  <a:schemeClr val="accent5"/>
                </a:solidFill>
              </a:rPr>
              <a:t>fermée · e muet</a:t>
            </a:r>
            <a:endParaRPr lang="en-US" sz="1500" dirty="0"/>
          </a:p>
        </p:txBody>
      </p:sp>
      <p:sp>
        <p:nvSpPr>
          <p:cNvPr id="12" name="Text 9"/>
          <p:cNvSpPr txBox="1"/>
          <p:nvPr/>
        </p:nvSpPr>
        <p:spPr>
          <a:xfrm>
            <a:off x="3566160" y="3383280"/>
            <a:ext cx="320040" cy="109728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13" name="Shape 10"/>
          <p:cNvSpPr/>
          <p:nvPr/>
        </p:nvSpPr>
        <p:spPr>
          <a:xfrm>
            <a:off x="3886200" y="3383280"/>
            <a:ext cx="2103120" cy="1097280"/>
          </a:xfrm>
          <a:prstGeom prst="roundRect">
            <a:avLst>
              <a:gd name="adj" fmla="val 6667"/>
            </a:avLst>
          </a:prstGeom>
          <a:solidFill>
            <a:schemeClr val="bg1"/>
          </a:solidFill>
          <a:ln w="31750">
            <a:solidFill>
              <a:srgbClr val="2E7D4F"/>
            </a:solidFill>
            <a:prstDash val="solid"/>
          </a:ln>
        </p:spPr>
      </p:sp>
      <p:sp>
        <p:nvSpPr>
          <p:cNvPr id="14" name="Text 11"/>
          <p:cNvSpPr txBox="1"/>
          <p:nvPr/>
        </p:nvSpPr>
        <p:spPr>
          <a:xfrm>
            <a:off x="3886200" y="3383280"/>
            <a:ext cx="2103120" cy="1097280"/>
          </a:xfrm>
          <a:prstGeom prst="rect">
            <a:avLst/>
          </a:prstGeom>
          <a:noFill/>
          <a:ln/>
        </p:spPr>
        <p:txBody>
          <a:bodyPr wrap="square" lIns="0" tIns="0" rIns="0" bIns="0" rtlCol="0" anchor="ctr"/>
          <a:lstStyle/>
          <a:p>
            <a:pPr algn="ctr" indent="0" marL="0">
              <a:buNone/>
            </a:pPr>
            <a:r>
              <a:rPr lang="en-US" sz="3600" b="1" dirty="0">
                <a:solidFill>
                  <a:schemeClr val="accent3"/>
                </a:solidFill>
                <a:latin typeface="+mj-lt" pitchFamily="34" charset="0"/>
                <a:ea typeface="+mj-lt" pitchFamily="34" charset="-122"/>
                <a:cs typeface="+mj-lt" pitchFamily="34" charset="-120"/>
              </a:rPr>
              <a:t>GA</a:t>
            </a:r>
            <a:endParaRPr lang="en-US" sz="3600" dirty="0"/>
          </a:p>
        </p:txBody>
      </p:sp>
      <p:sp>
        <p:nvSpPr>
          <p:cNvPr id="15" name="Text 12"/>
          <p:cNvSpPr txBox="1"/>
          <p:nvPr/>
        </p:nvSpPr>
        <p:spPr>
          <a:xfrm>
            <a:off x="3794760" y="4526280"/>
            <a:ext cx="2286000" cy="411480"/>
          </a:xfrm>
          <a:prstGeom prst="rect">
            <a:avLst/>
          </a:prstGeom>
          <a:noFill/>
          <a:ln/>
        </p:spPr>
        <p:txBody>
          <a:bodyPr wrap="square" lIns="0" tIns="0" rIns="0" bIns="0" rtlCol="0" anchor="t"/>
          <a:lstStyle/>
          <a:p>
            <a:pPr algn="ctr" indent="0" marL="0">
              <a:buNone/>
            </a:pPr>
            <a:r>
              <a:rPr lang="en-US" sz="1500" i="1" dirty="0">
                <a:solidFill>
                  <a:schemeClr val="accent3"/>
                </a:solidFill>
              </a:rPr>
              <a:t>OUVERTE → long</a:t>
            </a:r>
            <a:endParaRPr lang="en-US" sz="1500" dirty="0"/>
          </a:p>
        </p:txBody>
      </p:sp>
      <p:sp>
        <p:nvSpPr>
          <p:cNvPr id="16" name="Text 13"/>
          <p:cNvSpPr txBox="1"/>
          <p:nvPr/>
        </p:nvSpPr>
        <p:spPr>
          <a:xfrm>
            <a:off x="5989320" y="3383280"/>
            <a:ext cx="320040" cy="109728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17" name="Shape 14"/>
          <p:cNvSpPr/>
          <p:nvPr/>
        </p:nvSpPr>
        <p:spPr>
          <a:xfrm>
            <a:off x="6309360" y="3383280"/>
            <a:ext cx="2103120" cy="1097280"/>
          </a:xfrm>
          <a:prstGeom prst="roundRect">
            <a:avLst>
              <a:gd name="adj" fmla="val 6667"/>
            </a:avLst>
          </a:prstGeom>
          <a:solidFill>
            <a:schemeClr val="bg1"/>
          </a:solidFill>
          <a:ln w="31750">
            <a:solidFill>
              <a:srgbClr val="4A5A70"/>
            </a:solidFill>
            <a:prstDash val="solid"/>
          </a:ln>
        </p:spPr>
      </p:sp>
      <p:sp>
        <p:nvSpPr>
          <p:cNvPr id="18" name="Text 15"/>
          <p:cNvSpPr txBox="1"/>
          <p:nvPr/>
        </p:nvSpPr>
        <p:spPr>
          <a:xfrm>
            <a:off x="6309360" y="3383280"/>
            <a:ext cx="2103120" cy="1097280"/>
          </a:xfrm>
          <a:prstGeom prst="rect">
            <a:avLst/>
          </a:prstGeom>
          <a:noFill/>
          <a:ln/>
        </p:spPr>
        <p:txBody>
          <a:bodyPr wrap="square" lIns="0" tIns="0" rIns="0" bIns="0" rtlCol="0" anchor="ctr"/>
          <a:lstStyle/>
          <a:p>
            <a:pPr algn="ctr" indent="0" marL="0">
              <a:buNone/>
            </a:pPr>
            <a:r>
              <a:rPr lang="en-US" sz="3600" b="1" dirty="0">
                <a:solidFill>
                  <a:schemeClr val="accent5"/>
                </a:solidFill>
                <a:latin typeface="+mj-lt" pitchFamily="34" charset="0"/>
                <a:ea typeface="+mj-lt" pitchFamily="34" charset="-122"/>
                <a:cs typeface="+mj-lt" pitchFamily="34" charset="-120"/>
              </a:rPr>
              <a:t>de</a:t>
            </a:r>
            <a:endParaRPr lang="en-US" sz="3600" dirty="0"/>
          </a:p>
        </p:txBody>
      </p:sp>
      <p:sp>
        <p:nvSpPr>
          <p:cNvPr id="19" name="Text 16"/>
          <p:cNvSpPr txBox="1"/>
          <p:nvPr/>
        </p:nvSpPr>
        <p:spPr>
          <a:xfrm>
            <a:off x="6217920" y="4526280"/>
            <a:ext cx="2286000" cy="411480"/>
          </a:xfrm>
          <a:prstGeom prst="rect">
            <a:avLst/>
          </a:prstGeom>
          <a:noFill/>
          <a:ln/>
        </p:spPr>
        <p:txBody>
          <a:bodyPr wrap="square" lIns="0" tIns="0" rIns="0" bIns="0" rtlCol="0" anchor="t"/>
          <a:lstStyle/>
          <a:p>
            <a:pPr algn="ctr" indent="0" marL="0">
              <a:buNone/>
            </a:pPr>
            <a:r>
              <a:rPr lang="en-US" sz="1500" i="1" dirty="0">
                <a:solidFill>
                  <a:schemeClr val="accent5"/>
                </a:solidFill>
              </a:rPr>
              <a:t>e muet</a:t>
            </a:r>
            <a:endParaRPr lang="en-US" sz="1500" dirty="0"/>
          </a:p>
        </p:txBody>
      </p:sp>
      <p:sp>
        <p:nvSpPr>
          <p:cNvPr id="20" name="Text 17"/>
          <p:cNvSpPr txBox="1"/>
          <p:nvPr/>
        </p:nvSpPr>
        <p:spPr>
          <a:xfrm>
            <a:off x="8412480" y="3383280"/>
            <a:ext cx="320040" cy="109728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21" name="Shape 18"/>
          <p:cNvSpPr/>
          <p:nvPr/>
        </p:nvSpPr>
        <p:spPr>
          <a:xfrm>
            <a:off x="8732520" y="3383280"/>
            <a:ext cx="2103120" cy="1097280"/>
          </a:xfrm>
          <a:prstGeom prst="roundRect">
            <a:avLst>
              <a:gd name="adj" fmla="val 6667"/>
            </a:avLst>
          </a:prstGeom>
          <a:solidFill>
            <a:schemeClr val="bg1"/>
          </a:solidFill>
          <a:ln w="31750">
            <a:solidFill>
              <a:srgbClr val="B4236A"/>
            </a:solidFill>
            <a:prstDash val="solid"/>
          </a:ln>
        </p:spPr>
      </p:sp>
      <p:sp>
        <p:nvSpPr>
          <p:cNvPr id="22" name="Text 19"/>
          <p:cNvSpPr txBox="1"/>
          <p:nvPr/>
        </p:nvSpPr>
        <p:spPr>
          <a:xfrm>
            <a:off x="8732520" y="3383280"/>
            <a:ext cx="2103120" cy="1097280"/>
          </a:xfrm>
          <a:prstGeom prst="rect">
            <a:avLst/>
          </a:prstGeom>
          <a:noFill/>
          <a:ln/>
        </p:spPr>
        <p:txBody>
          <a:bodyPr wrap="square" lIns="0" tIns="0" rIns="0" bIns="0" rtlCol="0" anchor="ctr"/>
          <a:lstStyle/>
          <a:p>
            <a:pPr algn="ctr" indent="0" marL="0">
              <a:buNone/>
            </a:pPr>
            <a:r>
              <a:rPr lang="en-US" sz="3600" b="1" dirty="0">
                <a:solidFill>
                  <a:schemeClr val="accent4"/>
                </a:solidFill>
                <a:latin typeface="+mj-lt" pitchFamily="34" charset="0"/>
                <a:ea typeface="+mj-lt" pitchFamily="34" charset="-122"/>
                <a:cs typeface="+mj-lt" pitchFamily="34" charset="-120"/>
              </a:rPr>
              <a:t>ring</a:t>
            </a:r>
            <a:endParaRPr lang="en-US" sz="3600" dirty="0"/>
          </a:p>
        </p:txBody>
      </p:sp>
      <p:sp>
        <p:nvSpPr>
          <p:cNvPr id="23" name="Text 20"/>
          <p:cNvSpPr txBox="1"/>
          <p:nvPr/>
        </p:nvSpPr>
        <p:spPr>
          <a:xfrm>
            <a:off x="8641080" y="4526280"/>
            <a:ext cx="2286000" cy="411480"/>
          </a:xfrm>
          <a:prstGeom prst="rect">
            <a:avLst/>
          </a:prstGeom>
          <a:noFill/>
          <a:ln/>
        </p:spPr>
        <p:txBody>
          <a:bodyPr wrap="square" lIns="0" tIns="0" rIns="0" bIns="0" rtlCol="0" anchor="t"/>
          <a:lstStyle/>
          <a:p>
            <a:pPr algn="ctr" indent="0" marL="0">
              <a:buNone/>
            </a:pPr>
            <a:r>
              <a:rPr lang="en-US" sz="1500" i="1" dirty="0">
                <a:solidFill>
                  <a:schemeClr val="accent4"/>
                </a:solidFill>
              </a:rPr>
              <a:t>fermée</a:t>
            </a:r>
            <a:endParaRPr lang="en-US" sz="1500" dirty="0"/>
          </a:p>
        </p:txBody>
      </p:sp>
      <p:sp>
        <p:nvSpPr>
          <p:cNvPr id="24" name="Shape 21"/>
          <p:cNvSpPr/>
          <p:nvPr/>
        </p:nvSpPr>
        <p:spPr>
          <a:xfrm>
            <a:off x="3108960" y="5166360"/>
            <a:ext cx="5943600" cy="868680"/>
          </a:xfrm>
          <a:prstGeom prst="roundRect">
            <a:avLst>
              <a:gd name="adj" fmla="val 8421"/>
            </a:avLst>
          </a:prstGeom>
          <a:solidFill>
            <a:schemeClr val="tx2"/>
          </a:solidFill>
          <a:ln w="12700">
            <a:solidFill>
              <a:srgbClr val="FFFFFF">
                <a:alpha val="0"/>
              </a:srgbClr>
            </a:solidFill>
            <a:prstDash val="solid"/>
          </a:ln>
        </p:spPr>
      </p:sp>
      <p:sp>
        <p:nvSpPr>
          <p:cNvPr id="25" name="Text 22"/>
          <p:cNvSpPr txBox="1"/>
          <p:nvPr/>
        </p:nvSpPr>
        <p:spPr>
          <a:xfrm>
            <a:off x="3108960" y="5166360"/>
            <a:ext cx="5943600" cy="868680"/>
          </a:xfrm>
          <a:prstGeom prst="rect">
            <a:avLst/>
          </a:prstGeom>
          <a:noFill/>
          <a:ln/>
        </p:spPr>
        <p:txBody>
          <a:bodyPr wrap="square" lIns="0" tIns="0" rIns="0" bIns="0" rtlCol="0" anchor="ctr"/>
          <a:lstStyle/>
          <a:p>
            <a:pPr algn="ctr" indent="0" marL="0">
              <a:buNone/>
            </a:pPr>
            <a:r>
              <a:rPr lang="en-US" sz="2600" dirty="0">
                <a:solidFill>
                  <a:schemeClr val="bg1"/>
                </a:solidFill>
              </a:rPr>
              <a:t>→ « vər-</a:t>
            </a:r>
            <a:r>
              <a:rPr lang="en-US" sz="2600" b="1" dirty="0">
                <a:solidFill>
                  <a:schemeClr val="bg1"/>
                </a:solidFill>
              </a:rPr>
              <a:t>GHAA</a:t>
            </a:r>
            <a:r>
              <a:rPr lang="en-US" sz="2600" dirty="0">
                <a:solidFill>
                  <a:schemeClr val="bg1"/>
                </a:solidFill>
              </a:rPr>
              <a:t>-də-ring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Headphones">    </p:cNvPr>
          <p:cNvPicPr>
            <a:picLocks noChangeAspect="1"/>
          </p:cNvPicPr>
          <p:nvPr/>
        </p:nvPicPr>
        <p:blipFill>
          <a:blip r:embed="rId1"/>
          <a:stretch>
            <a:fillRect/>
          </a:stretch>
        </p:blipFill>
        <p:spPr>
          <a:xfrm>
            <a:off x="2987040" y="2770632"/>
            <a:ext cx="384048" cy="384048"/>
          </a:xfrm>
          <a:prstGeom prst="rect">
            <a:avLst/>
          </a:prstGeom>
        </p:spPr>
      </p:pic>
      <p:sp>
        <p:nvSpPr>
          <p:cNvPr id="10" name="Text 6"/>
          <p:cNvSpPr txBox="1"/>
          <p:nvPr/>
        </p:nvSpPr>
        <p:spPr>
          <a:xfrm>
            <a:off x="68580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Oreille d’or</a:t>
            </a:r>
            <a:endParaRPr lang="en-US" sz="1600" dirty="0"/>
          </a:p>
        </p:txBody>
      </p:sp>
      <p:sp>
        <p:nvSpPr>
          <p:cNvPr id="11" name="Text 7"/>
          <p:cNvSpPr txBox="1"/>
          <p:nvPr/>
        </p:nvSpPr>
        <p:spPr>
          <a:xfrm>
            <a:off x="68580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376428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90144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90144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Scissors">    </p:cNvPr>
          <p:cNvPicPr>
            <a:picLocks noChangeAspect="1"/>
          </p:cNvPicPr>
          <p:nvPr/>
        </p:nvPicPr>
        <p:blipFill>
          <a:blip r:embed="rId2"/>
          <a:stretch>
            <a:fillRect/>
          </a:stretch>
        </p:blipFill>
        <p:spPr>
          <a:xfrm>
            <a:off x="6202680" y="2770632"/>
            <a:ext cx="384048" cy="384048"/>
          </a:xfrm>
          <a:prstGeom prst="rect">
            <a:avLst/>
          </a:prstGeom>
        </p:spPr>
      </p:pic>
      <p:sp>
        <p:nvSpPr>
          <p:cNvPr id="16" name="Text 11"/>
          <p:cNvSpPr txBox="1"/>
          <p:nvPr/>
        </p:nvSpPr>
        <p:spPr>
          <a:xfrm>
            <a:off x="390144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Ciseaux magiques</a:t>
            </a:r>
            <a:endParaRPr lang="en-US" sz="1600" dirty="0"/>
          </a:p>
        </p:txBody>
      </p:sp>
      <p:sp>
        <p:nvSpPr>
          <p:cNvPr id="17" name="Text 12"/>
          <p:cNvSpPr txBox="1"/>
          <p:nvPr/>
        </p:nvSpPr>
        <p:spPr>
          <a:xfrm>
            <a:off x="390144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697992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711708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711708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Factory">    </p:cNvPr>
          <p:cNvPicPr>
            <a:picLocks noChangeAspect="1"/>
          </p:cNvPicPr>
          <p:nvPr/>
        </p:nvPicPr>
        <p:blipFill>
          <a:blip r:embed="rId3"/>
          <a:stretch>
            <a:fillRect/>
          </a:stretch>
        </p:blipFill>
        <p:spPr>
          <a:xfrm>
            <a:off x="9418320" y="2770632"/>
            <a:ext cx="384048" cy="384048"/>
          </a:xfrm>
          <a:prstGeom prst="rect">
            <a:avLst/>
          </a:prstGeom>
        </p:spPr>
      </p:pic>
      <p:sp>
        <p:nvSpPr>
          <p:cNvPr id="22" name="Text 16"/>
          <p:cNvSpPr txBox="1"/>
          <p:nvPr/>
        </p:nvSpPr>
        <p:spPr>
          <a:xfrm>
            <a:off x="711708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L’usine à pluriels</a:t>
            </a:r>
            <a:endParaRPr lang="en-US" sz="1600" dirty="0"/>
          </a:p>
        </p:txBody>
      </p:sp>
      <p:sp>
        <p:nvSpPr>
          <p:cNvPr id="23" name="Text 17"/>
          <p:cNvSpPr txBox="1"/>
          <p:nvPr/>
        </p:nvSpPr>
        <p:spPr>
          <a:xfrm>
            <a:off x="711708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54864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Check">    </p:cNvPr>
          <p:cNvPicPr>
            <a:picLocks noChangeAspect="1"/>
          </p:cNvPicPr>
          <p:nvPr/>
        </p:nvPicPr>
        <p:blipFill>
          <a:blip r:embed="rId4"/>
          <a:stretch>
            <a:fillRect/>
          </a:stretch>
        </p:blipFill>
        <p:spPr>
          <a:xfrm>
            <a:off x="2987040" y="4599432"/>
            <a:ext cx="384048" cy="384048"/>
          </a:xfrm>
          <a:prstGeom prst="rect">
            <a:avLst/>
          </a:prstGeom>
        </p:spPr>
      </p:pic>
      <p:sp>
        <p:nvSpPr>
          <p:cNvPr id="28" name="Text 21"/>
          <p:cNvSpPr txBox="1"/>
          <p:nvPr/>
        </p:nvSpPr>
        <p:spPr>
          <a:xfrm>
            <a:off x="68580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Le correcteur</a:t>
            </a:r>
            <a:endParaRPr lang="en-US" sz="1600" dirty="0"/>
          </a:p>
        </p:txBody>
      </p:sp>
      <p:sp>
        <p:nvSpPr>
          <p:cNvPr id="29" name="Text 22"/>
          <p:cNvSpPr txBox="1"/>
          <p:nvPr/>
        </p:nvSpPr>
        <p:spPr>
          <a:xfrm>
            <a:off x="68580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376428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390144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390144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Microphone">    </p:cNvPr>
          <p:cNvPicPr>
            <a:picLocks noChangeAspect="1"/>
          </p:cNvPicPr>
          <p:nvPr/>
        </p:nvPicPr>
        <p:blipFill>
          <a:blip r:embed="rId5"/>
          <a:stretch>
            <a:fillRect/>
          </a:stretch>
        </p:blipFill>
        <p:spPr>
          <a:xfrm>
            <a:off x="6202680" y="4599432"/>
            <a:ext cx="384048" cy="384048"/>
          </a:xfrm>
          <a:prstGeom prst="rect">
            <a:avLst/>
          </a:prstGeom>
        </p:spPr>
      </p:pic>
      <p:sp>
        <p:nvSpPr>
          <p:cNvPr id="34" name="Text 26"/>
          <p:cNvSpPr txBox="1"/>
          <p:nvPr/>
        </p:nvSpPr>
        <p:spPr>
          <a:xfrm>
            <a:off x="390144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Tongbrekers</a:t>
            </a:r>
            <a:endParaRPr lang="en-US" sz="1600" dirty="0"/>
          </a:p>
        </p:txBody>
      </p:sp>
      <p:sp>
        <p:nvSpPr>
          <p:cNvPr id="35" name="Text 27"/>
          <p:cNvSpPr txBox="1"/>
          <p:nvPr/>
        </p:nvSpPr>
        <p:spPr>
          <a:xfrm>
            <a:off x="390144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697992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711708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711708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PhoneAlt">    </p:cNvPr>
          <p:cNvPicPr>
            <a:picLocks noChangeAspect="1"/>
          </p:cNvPicPr>
          <p:nvPr/>
        </p:nvPicPr>
        <p:blipFill>
          <a:blip r:embed="rId6"/>
          <a:stretch>
            <a:fillRect/>
          </a:stretch>
        </p:blipFill>
        <p:spPr>
          <a:xfrm>
            <a:off x="9418320" y="4599432"/>
            <a:ext cx="384048" cy="384048"/>
          </a:xfrm>
          <a:prstGeom prst="rect">
            <a:avLst/>
          </a:prstGeom>
        </p:spPr>
      </p:pic>
      <p:sp>
        <p:nvSpPr>
          <p:cNvPr id="40" name="Text 31"/>
          <p:cNvSpPr txBox="1"/>
          <p:nvPr/>
        </p:nvSpPr>
        <p:spPr>
          <a:xfrm>
            <a:off x="711708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Dictée en miroir</a:t>
            </a:r>
            <a:endParaRPr lang="en-US" sz="1600" dirty="0"/>
          </a:p>
        </p:txBody>
      </p:sp>
      <p:sp>
        <p:nvSpPr>
          <p:cNvPr id="41" name="Text 32"/>
          <p:cNvSpPr txBox="1"/>
          <p:nvPr/>
        </p:nvSpPr>
        <p:spPr>
          <a:xfrm>
            <a:off x="711708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2" name="Image 6" descr="man teacher">    </p:cNvPr>
          <p:cNvPicPr>
            <a:picLocks noChangeAspect="1"/>
          </p:cNvPicPr>
          <p:nvPr/>
        </p:nvPicPr>
        <p:blipFill>
          <a:blip r:embed="rId7"/>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Oreille d’or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Écoutez. Long ou court ? Levez votre carton !</a:t>
            </a:r>
            <a:endParaRPr lang="en-US" sz="1700" dirty="0"/>
          </a:p>
        </p:txBody>
      </p:sp>
      <p:sp>
        <p:nvSpPr>
          <p:cNvPr id="8" name="Shape 4"/>
          <p:cNvSpPr/>
          <p:nvPr/>
        </p:nvSpPr>
        <p:spPr>
          <a:xfrm>
            <a:off x="822960" y="2115312"/>
            <a:ext cx="3291840" cy="1737360"/>
          </a:xfrm>
          <a:prstGeom prst="roundRect">
            <a:avLst>
              <a:gd name="adj" fmla="val 15789"/>
            </a:avLst>
          </a:prstGeom>
          <a:solidFill>
            <a:schemeClr val="accent3"/>
          </a:solidFill>
          <a:ln w="12700">
            <a:solidFill>
              <a:srgbClr val="FFFFFF">
                <a:alpha val="0"/>
              </a:srgbClr>
            </a:solidFill>
            <a:prstDash val="solid"/>
          </a:ln>
        </p:spPr>
      </p:sp>
      <p:sp>
        <p:nvSpPr>
          <p:cNvPr id="9" name="Text 5"/>
          <p:cNvSpPr txBox="1"/>
          <p:nvPr/>
        </p:nvSpPr>
        <p:spPr>
          <a:xfrm>
            <a:off x="822960" y="2115312"/>
            <a:ext cx="3291840" cy="173736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LONG</a:t>
            </a:r>
            <a:endParaRPr lang="en-US" sz="4400" dirty="0"/>
          </a:p>
        </p:txBody>
      </p:sp>
      <p:sp>
        <p:nvSpPr>
          <p:cNvPr id="10" name="Shape 6"/>
          <p:cNvSpPr/>
          <p:nvPr/>
        </p:nvSpPr>
        <p:spPr>
          <a:xfrm>
            <a:off x="5166360" y="2069592"/>
            <a:ext cx="1828800" cy="1828800"/>
          </a:xfrm>
          <a:prstGeom prst="ellipse">
            <a:avLst/>
          </a:prstGeom>
          <a:solidFill>
            <a:schemeClr val="tx2"/>
          </a:solidFill>
          <a:ln w="12700">
            <a:solidFill>
              <a:srgbClr val="FFFFFF">
                <a:alpha val="0"/>
              </a:srgbClr>
            </a:solidFill>
            <a:prstDash val="solid"/>
          </a:ln>
        </p:spPr>
      </p:sp>
      <p:pic>
        <p:nvPicPr>
          <p:cNvPr id="11" name="Image 1" descr="VolumeUp">    </p:cNvPr>
          <p:cNvPicPr>
            <a:picLocks noChangeAspect="1"/>
          </p:cNvPicPr>
          <p:nvPr/>
        </p:nvPicPr>
        <p:blipFill>
          <a:blip r:embed="rId2"/>
          <a:stretch>
            <a:fillRect/>
          </a:stretch>
        </p:blipFill>
        <p:spPr>
          <a:xfrm>
            <a:off x="5605272" y="2508504"/>
            <a:ext cx="950976" cy="950976"/>
          </a:xfrm>
          <a:prstGeom prst="rect">
            <a:avLst/>
          </a:prstGeom>
        </p:spPr>
      </p:pic>
      <p:sp>
        <p:nvSpPr>
          <p:cNvPr id="12" name="Shape 7"/>
          <p:cNvSpPr/>
          <p:nvPr/>
        </p:nvSpPr>
        <p:spPr>
          <a:xfrm>
            <a:off x="8046720" y="2115312"/>
            <a:ext cx="3291840" cy="1737360"/>
          </a:xfrm>
          <a:prstGeom prst="roundRect">
            <a:avLst>
              <a:gd name="adj" fmla="val 15789"/>
            </a:avLst>
          </a:prstGeom>
          <a:solidFill>
            <a:schemeClr val="accent4"/>
          </a:solidFill>
          <a:ln w="12700">
            <a:solidFill>
              <a:srgbClr val="FFFFFF">
                <a:alpha val="0"/>
              </a:srgbClr>
            </a:solidFill>
            <a:prstDash val="solid"/>
          </a:ln>
        </p:spPr>
      </p:sp>
      <p:sp>
        <p:nvSpPr>
          <p:cNvPr id="13" name="Text 8"/>
          <p:cNvSpPr txBox="1"/>
          <p:nvPr/>
        </p:nvSpPr>
        <p:spPr>
          <a:xfrm>
            <a:off x="8046720" y="2115312"/>
            <a:ext cx="3291840" cy="173736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COURT</a:t>
            </a:r>
            <a:endParaRPr lang="en-US" sz="4400" dirty="0"/>
          </a:p>
        </p:txBody>
      </p:sp>
      <p:sp>
        <p:nvSpPr>
          <p:cNvPr id="14" name="Shape 9"/>
          <p:cNvSpPr/>
          <p:nvPr/>
        </p:nvSpPr>
        <p:spPr>
          <a:xfrm>
            <a:off x="685800" y="4401312"/>
            <a:ext cx="1188720" cy="1188720"/>
          </a:xfrm>
          <a:prstGeom prst="roundRect">
            <a:avLst>
              <a:gd name="adj" fmla="val 6154"/>
            </a:avLst>
          </a:prstGeom>
          <a:solidFill>
            <a:schemeClr val="bg2"/>
          </a:solidFill>
          <a:ln w="15875">
            <a:solidFill>
              <a:srgbClr val="D5DCE6"/>
            </a:solidFill>
            <a:prstDash val="solid"/>
          </a:ln>
        </p:spPr>
      </p:sp>
      <p:sp>
        <p:nvSpPr>
          <p:cNvPr id="15" name="Text 10"/>
          <p:cNvSpPr txBox="1"/>
          <p:nvPr/>
        </p:nvSpPr>
        <p:spPr>
          <a:xfrm>
            <a:off x="6858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1</a:t>
            </a:r>
            <a:endParaRPr lang="en-US" sz="3000" dirty="0"/>
          </a:p>
        </p:txBody>
      </p:sp>
      <p:sp>
        <p:nvSpPr>
          <p:cNvPr id="16" name="Shape 11"/>
          <p:cNvSpPr/>
          <p:nvPr/>
        </p:nvSpPr>
        <p:spPr>
          <a:xfrm>
            <a:off x="2057400" y="4401312"/>
            <a:ext cx="1188720" cy="1188720"/>
          </a:xfrm>
          <a:prstGeom prst="roundRect">
            <a:avLst>
              <a:gd name="adj" fmla="val 6154"/>
            </a:avLst>
          </a:prstGeom>
          <a:solidFill>
            <a:schemeClr val="bg2"/>
          </a:solidFill>
          <a:ln w="15875">
            <a:solidFill>
              <a:srgbClr val="D5DCE6"/>
            </a:solidFill>
            <a:prstDash val="solid"/>
          </a:ln>
        </p:spPr>
      </p:sp>
      <p:sp>
        <p:nvSpPr>
          <p:cNvPr id="17" name="Text 12"/>
          <p:cNvSpPr txBox="1"/>
          <p:nvPr/>
        </p:nvSpPr>
        <p:spPr>
          <a:xfrm>
            <a:off x="20574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2</a:t>
            </a:r>
            <a:endParaRPr lang="en-US" sz="3000" dirty="0"/>
          </a:p>
        </p:txBody>
      </p:sp>
      <p:sp>
        <p:nvSpPr>
          <p:cNvPr id="18" name="Shape 13"/>
          <p:cNvSpPr/>
          <p:nvPr/>
        </p:nvSpPr>
        <p:spPr>
          <a:xfrm>
            <a:off x="3429000" y="4401312"/>
            <a:ext cx="1188720" cy="1188720"/>
          </a:xfrm>
          <a:prstGeom prst="roundRect">
            <a:avLst>
              <a:gd name="adj" fmla="val 6154"/>
            </a:avLst>
          </a:prstGeom>
          <a:solidFill>
            <a:schemeClr val="bg2"/>
          </a:solidFill>
          <a:ln w="15875">
            <a:solidFill>
              <a:srgbClr val="D5DCE6"/>
            </a:solidFill>
            <a:prstDash val="solid"/>
          </a:ln>
        </p:spPr>
      </p:sp>
      <p:sp>
        <p:nvSpPr>
          <p:cNvPr id="19" name="Text 14"/>
          <p:cNvSpPr txBox="1"/>
          <p:nvPr/>
        </p:nvSpPr>
        <p:spPr>
          <a:xfrm>
            <a:off x="34290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3</a:t>
            </a:r>
            <a:endParaRPr lang="en-US" sz="3000" dirty="0"/>
          </a:p>
        </p:txBody>
      </p:sp>
      <p:sp>
        <p:nvSpPr>
          <p:cNvPr id="20" name="Shape 15"/>
          <p:cNvSpPr/>
          <p:nvPr/>
        </p:nvSpPr>
        <p:spPr>
          <a:xfrm>
            <a:off x="4800600" y="4401312"/>
            <a:ext cx="1188720" cy="1188720"/>
          </a:xfrm>
          <a:prstGeom prst="roundRect">
            <a:avLst>
              <a:gd name="adj" fmla="val 6154"/>
            </a:avLst>
          </a:prstGeom>
          <a:solidFill>
            <a:schemeClr val="bg2"/>
          </a:solidFill>
          <a:ln w="15875">
            <a:solidFill>
              <a:srgbClr val="D5DCE6"/>
            </a:solidFill>
            <a:prstDash val="solid"/>
          </a:ln>
        </p:spPr>
      </p:sp>
      <p:sp>
        <p:nvSpPr>
          <p:cNvPr id="21" name="Text 16"/>
          <p:cNvSpPr txBox="1"/>
          <p:nvPr/>
        </p:nvSpPr>
        <p:spPr>
          <a:xfrm>
            <a:off x="48006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4</a:t>
            </a:r>
            <a:endParaRPr lang="en-US" sz="3000" dirty="0"/>
          </a:p>
        </p:txBody>
      </p:sp>
      <p:sp>
        <p:nvSpPr>
          <p:cNvPr id="22" name="Shape 17"/>
          <p:cNvSpPr/>
          <p:nvPr/>
        </p:nvSpPr>
        <p:spPr>
          <a:xfrm>
            <a:off x="6172200" y="4401312"/>
            <a:ext cx="1188720" cy="1188720"/>
          </a:xfrm>
          <a:prstGeom prst="roundRect">
            <a:avLst>
              <a:gd name="adj" fmla="val 6154"/>
            </a:avLst>
          </a:prstGeom>
          <a:solidFill>
            <a:schemeClr val="bg2"/>
          </a:solidFill>
          <a:ln w="15875">
            <a:solidFill>
              <a:srgbClr val="D5DCE6"/>
            </a:solidFill>
            <a:prstDash val="solid"/>
          </a:ln>
        </p:spPr>
      </p:sp>
      <p:sp>
        <p:nvSpPr>
          <p:cNvPr id="23" name="Text 18"/>
          <p:cNvSpPr txBox="1"/>
          <p:nvPr/>
        </p:nvSpPr>
        <p:spPr>
          <a:xfrm>
            <a:off x="61722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5</a:t>
            </a:r>
            <a:endParaRPr lang="en-US" sz="3000" dirty="0"/>
          </a:p>
        </p:txBody>
      </p:sp>
      <p:sp>
        <p:nvSpPr>
          <p:cNvPr id="24" name="Shape 19"/>
          <p:cNvSpPr/>
          <p:nvPr/>
        </p:nvSpPr>
        <p:spPr>
          <a:xfrm>
            <a:off x="7543800" y="4401312"/>
            <a:ext cx="1188720" cy="1188720"/>
          </a:xfrm>
          <a:prstGeom prst="roundRect">
            <a:avLst>
              <a:gd name="adj" fmla="val 6154"/>
            </a:avLst>
          </a:prstGeom>
          <a:solidFill>
            <a:schemeClr val="bg2"/>
          </a:solidFill>
          <a:ln w="15875">
            <a:solidFill>
              <a:srgbClr val="D5DCE6"/>
            </a:solidFill>
            <a:prstDash val="solid"/>
          </a:ln>
        </p:spPr>
      </p:sp>
      <p:sp>
        <p:nvSpPr>
          <p:cNvPr id="25" name="Text 20"/>
          <p:cNvSpPr txBox="1"/>
          <p:nvPr/>
        </p:nvSpPr>
        <p:spPr>
          <a:xfrm>
            <a:off x="75438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6</a:t>
            </a:r>
            <a:endParaRPr lang="en-US" sz="3000" dirty="0"/>
          </a:p>
        </p:txBody>
      </p:sp>
      <p:sp>
        <p:nvSpPr>
          <p:cNvPr id="26" name="Shape 21"/>
          <p:cNvSpPr/>
          <p:nvPr/>
        </p:nvSpPr>
        <p:spPr>
          <a:xfrm>
            <a:off x="8915400" y="4401312"/>
            <a:ext cx="1188720" cy="1188720"/>
          </a:xfrm>
          <a:prstGeom prst="roundRect">
            <a:avLst>
              <a:gd name="adj" fmla="val 6154"/>
            </a:avLst>
          </a:prstGeom>
          <a:solidFill>
            <a:schemeClr val="bg2"/>
          </a:solidFill>
          <a:ln w="15875">
            <a:solidFill>
              <a:srgbClr val="D5DCE6"/>
            </a:solidFill>
            <a:prstDash val="solid"/>
          </a:ln>
        </p:spPr>
      </p:sp>
      <p:sp>
        <p:nvSpPr>
          <p:cNvPr id="27" name="Text 22"/>
          <p:cNvSpPr txBox="1"/>
          <p:nvPr/>
        </p:nvSpPr>
        <p:spPr>
          <a:xfrm>
            <a:off x="89154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7</a:t>
            </a:r>
            <a:endParaRPr lang="en-US" sz="3000" dirty="0"/>
          </a:p>
        </p:txBody>
      </p:sp>
      <p:sp>
        <p:nvSpPr>
          <p:cNvPr id="28" name="Shape 23"/>
          <p:cNvSpPr/>
          <p:nvPr/>
        </p:nvSpPr>
        <p:spPr>
          <a:xfrm>
            <a:off x="10287000" y="4401312"/>
            <a:ext cx="1188720" cy="1188720"/>
          </a:xfrm>
          <a:prstGeom prst="roundRect">
            <a:avLst>
              <a:gd name="adj" fmla="val 6154"/>
            </a:avLst>
          </a:prstGeom>
          <a:solidFill>
            <a:schemeClr val="bg2"/>
          </a:solidFill>
          <a:ln w="15875">
            <a:solidFill>
              <a:srgbClr val="D5DCE6"/>
            </a:solidFill>
            <a:prstDash val="solid"/>
          </a:ln>
        </p:spPr>
      </p:sp>
      <p:sp>
        <p:nvSpPr>
          <p:cNvPr id="29" name="Text 24"/>
          <p:cNvSpPr txBox="1"/>
          <p:nvPr/>
        </p:nvSpPr>
        <p:spPr>
          <a:xfrm>
            <a:off x="10287000" y="4401312"/>
            <a:ext cx="1188720" cy="1188720"/>
          </a:xfrm>
          <a:prstGeom prst="rect">
            <a:avLst/>
          </a:prstGeom>
          <a:noFill/>
          <a:ln/>
        </p:spPr>
        <p:txBody>
          <a:bodyPr wrap="square" lIns="0" tIns="0" rIns="0" bIns="0" rtlCol="0" anchor="ctr"/>
          <a:lstStyle/>
          <a:p>
            <a:pPr algn="ctr" indent="0" marL="0">
              <a:buNone/>
            </a:pPr>
            <a:r>
              <a:rPr lang="en-US" sz="3000" b="1" dirty="0">
                <a:solidFill>
                  <a:schemeClr val="accent5"/>
                </a:solidFill>
              </a:rPr>
              <a:t>8</a:t>
            </a: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Oreille d’or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Écoutez. Long ou court ? Levez votre carton !</a:t>
            </a:r>
            <a:endParaRPr lang="en-US" sz="1700" dirty="0"/>
          </a:p>
        </p:txBody>
      </p:sp>
      <p:sp>
        <p:nvSpPr>
          <p:cNvPr id="9" name="Shape 5"/>
          <p:cNvSpPr/>
          <p:nvPr/>
        </p:nvSpPr>
        <p:spPr>
          <a:xfrm>
            <a:off x="548640" y="193243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548640" y="197815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man</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maan</a:t>
            </a:r>
            <a:endParaRPr lang="en-US" sz="2800" dirty="0"/>
          </a:p>
        </p:txBody>
      </p:sp>
      <p:pic>
        <p:nvPicPr>
          <p:cNvPr id="11" name="Image 1" descr="man">    </p:cNvPr>
          <p:cNvPicPr>
            <a:picLocks noChangeAspect="1"/>
          </p:cNvPicPr>
          <p:nvPr/>
        </p:nvPicPr>
        <p:blipFill>
          <a:blip r:embed="rId2"/>
          <a:stretch>
            <a:fillRect/>
          </a:stretch>
        </p:blipFill>
        <p:spPr>
          <a:xfrm>
            <a:off x="960120" y="2645664"/>
            <a:ext cx="685800" cy="685800"/>
          </a:xfrm>
          <a:prstGeom prst="rect">
            <a:avLst/>
          </a:prstGeom>
        </p:spPr>
      </p:pic>
      <p:pic>
        <p:nvPicPr>
          <p:cNvPr id="12" name="Image 2" descr="crescent moon">    </p:cNvPr>
          <p:cNvPicPr>
            <a:picLocks noChangeAspect="1"/>
          </p:cNvPicPr>
          <p:nvPr/>
        </p:nvPicPr>
        <p:blipFill>
          <a:blip r:embed="rId3"/>
          <a:stretch>
            <a:fillRect/>
          </a:stretch>
        </p:blipFill>
        <p:spPr>
          <a:xfrm>
            <a:off x="2057400" y="2645664"/>
            <a:ext cx="685800" cy="685800"/>
          </a:xfrm>
          <a:prstGeom prst="rect">
            <a:avLst/>
          </a:prstGeom>
        </p:spPr>
      </p:pic>
      <p:sp>
        <p:nvSpPr>
          <p:cNvPr id="13" name="Text 7"/>
          <p:cNvSpPr txBox="1"/>
          <p:nvPr/>
        </p:nvSpPr>
        <p:spPr>
          <a:xfrm>
            <a:off x="640080" y="337718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homme / lune</a:t>
            </a:r>
            <a:endParaRPr lang="en-US" sz="1400" dirty="0"/>
          </a:p>
        </p:txBody>
      </p:sp>
      <p:sp>
        <p:nvSpPr>
          <p:cNvPr id="14" name="Shape 8"/>
          <p:cNvSpPr/>
          <p:nvPr/>
        </p:nvSpPr>
        <p:spPr>
          <a:xfrm>
            <a:off x="3383280" y="193243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Text 9"/>
          <p:cNvSpPr txBox="1"/>
          <p:nvPr/>
        </p:nvSpPr>
        <p:spPr>
          <a:xfrm>
            <a:off x="3383280" y="197815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tak</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taak</a:t>
            </a:r>
            <a:endParaRPr lang="en-US" sz="2800" dirty="0"/>
          </a:p>
        </p:txBody>
      </p:sp>
      <p:pic>
        <p:nvPicPr>
          <p:cNvPr id="16" name="Image 3" descr="herb">    </p:cNvPr>
          <p:cNvPicPr>
            <a:picLocks noChangeAspect="1"/>
          </p:cNvPicPr>
          <p:nvPr/>
        </p:nvPicPr>
        <p:blipFill>
          <a:blip r:embed="rId4"/>
          <a:stretch>
            <a:fillRect/>
          </a:stretch>
        </p:blipFill>
        <p:spPr>
          <a:xfrm>
            <a:off x="3794760" y="2645664"/>
            <a:ext cx="685800" cy="685800"/>
          </a:xfrm>
          <a:prstGeom prst="rect">
            <a:avLst/>
          </a:prstGeom>
        </p:spPr>
      </p:pic>
      <p:pic>
        <p:nvPicPr>
          <p:cNvPr id="17" name="Image 4" descr="clipboard">    </p:cNvPr>
          <p:cNvPicPr>
            <a:picLocks noChangeAspect="1"/>
          </p:cNvPicPr>
          <p:nvPr/>
        </p:nvPicPr>
        <p:blipFill>
          <a:blip r:embed="rId5"/>
          <a:stretch>
            <a:fillRect/>
          </a:stretch>
        </p:blipFill>
        <p:spPr>
          <a:xfrm>
            <a:off x="4892040" y="2645664"/>
            <a:ext cx="685800" cy="685800"/>
          </a:xfrm>
          <a:prstGeom prst="rect">
            <a:avLst/>
          </a:prstGeom>
        </p:spPr>
      </p:pic>
      <p:sp>
        <p:nvSpPr>
          <p:cNvPr id="18" name="Text 10"/>
          <p:cNvSpPr txBox="1"/>
          <p:nvPr/>
        </p:nvSpPr>
        <p:spPr>
          <a:xfrm>
            <a:off x="3474720" y="337718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branche / tâche</a:t>
            </a:r>
            <a:endParaRPr lang="en-US" sz="1400" dirty="0"/>
          </a:p>
        </p:txBody>
      </p:sp>
      <p:sp>
        <p:nvSpPr>
          <p:cNvPr id="19" name="Shape 11"/>
          <p:cNvSpPr/>
          <p:nvPr/>
        </p:nvSpPr>
        <p:spPr>
          <a:xfrm>
            <a:off x="6217920" y="193243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0" name="Text 12"/>
          <p:cNvSpPr txBox="1"/>
          <p:nvPr/>
        </p:nvSpPr>
        <p:spPr>
          <a:xfrm>
            <a:off x="6217920" y="197815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stad</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staat</a:t>
            </a:r>
            <a:endParaRPr lang="en-US" sz="2800" dirty="0"/>
          </a:p>
        </p:txBody>
      </p:sp>
      <p:pic>
        <p:nvPicPr>
          <p:cNvPr id="21" name="Image 5" descr="cityscape">    </p:cNvPr>
          <p:cNvPicPr>
            <a:picLocks noChangeAspect="1"/>
          </p:cNvPicPr>
          <p:nvPr/>
        </p:nvPicPr>
        <p:blipFill>
          <a:blip r:embed="rId6"/>
          <a:stretch>
            <a:fillRect/>
          </a:stretch>
        </p:blipFill>
        <p:spPr>
          <a:xfrm>
            <a:off x="6629400" y="2645664"/>
            <a:ext cx="685800" cy="685800"/>
          </a:xfrm>
          <a:prstGeom prst="rect">
            <a:avLst/>
          </a:prstGeom>
        </p:spPr>
      </p:pic>
      <p:pic>
        <p:nvPicPr>
          <p:cNvPr id="22" name="Image 6" descr="classical building">    </p:cNvPr>
          <p:cNvPicPr>
            <a:picLocks noChangeAspect="1"/>
          </p:cNvPicPr>
          <p:nvPr/>
        </p:nvPicPr>
        <p:blipFill>
          <a:blip r:embed="rId7"/>
          <a:stretch>
            <a:fillRect/>
          </a:stretch>
        </p:blipFill>
        <p:spPr>
          <a:xfrm>
            <a:off x="7726680" y="2645664"/>
            <a:ext cx="685800" cy="685800"/>
          </a:xfrm>
          <a:prstGeom prst="rect">
            <a:avLst/>
          </a:prstGeom>
        </p:spPr>
      </p:pic>
      <p:sp>
        <p:nvSpPr>
          <p:cNvPr id="23" name="Text 13"/>
          <p:cNvSpPr txBox="1"/>
          <p:nvPr/>
        </p:nvSpPr>
        <p:spPr>
          <a:xfrm>
            <a:off x="6309360" y="337718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ville / État</a:t>
            </a:r>
            <a:endParaRPr lang="en-US" sz="1400" dirty="0"/>
          </a:p>
        </p:txBody>
      </p:sp>
      <p:sp>
        <p:nvSpPr>
          <p:cNvPr id="24" name="Shape 14"/>
          <p:cNvSpPr/>
          <p:nvPr/>
        </p:nvSpPr>
        <p:spPr>
          <a:xfrm>
            <a:off x="9052560" y="193243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Text 15"/>
          <p:cNvSpPr txBox="1"/>
          <p:nvPr/>
        </p:nvSpPr>
        <p:spPr>
          <a:xfrm>
            <a:off x="9052560" y="197815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wet</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weet</a:t>
            </a:r>
            <a:endParaRPr lang="en-US" sz="2800" dirty="0"/>
          </a:p>
        </p:txBody>
      </p:sp>
      <p:pic>
        <p:nvPicPr>
          <p:cNvPr id="26" name="Image 7" descr="balance scale">    </p:cNvPr>
          <p:cNvPicPr>
            <a:picLocks noChangeAspect="1"/>
          </p:cNvPicPr>
          <p:nvPr/>
        </p:nvPicPr>
        <p:blipFill>
          <a:blip r:embed="rId8"/>
          <a:stretch>
            <a:fillRect/>
          </a:stretch>
        </p:blipFill>
        <p:spPr>
          <a:xfrm>
            <a:off x="9464040" y="2645664"/>
            <a:ext cx="685800" cy="685800"/>
          </a:xfrm>
          <a:prstGeom prst="rect">
            <a:avLst/>
          </a:prstGeom>
        </p:spPr>
      </p:pic>
      <p:pic>
        <p:nvPicPr>
          <p:cNvPr id="27" name="Image 8" descr="light bulb">    </p:cNvPr>
          <p:cNvPicPr>
            <a:picLocks noChangeAspect="1"/>
          </p:cNvPicPr>
          <p:nvPr/>
        </p:nvPicPr>
        <p:blipFill>
          <a:blip r:embed="rId9"/>
          <a:stretch>
            <a:fillRect/>
          </a:stretch>
        </p:blipFill>
        <p:spPr>
          <a:xfrm>
            <a:off x="10561320" y="2645664"/>
            <a:ext cx="685800" cy="685800"/>
          </a:xfrm>
          <a:prstGeom prst="rect">
            <a:avLst/>
          </a:prstGeom>
        </p:spPr>
      </p:pic>
      <p:sp>
        <p:nvSpPr>
          <p:cNvPr id="28" name="Text 16"/>
          <p:cNvSpPr txBox="1"/>
          <p:nvPr/>
        </p:nvSpPr>
        <p:spPr>
          <a:xfrm>
            <a:off x="9144000" y="337718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loi / je sais</a:t>
            </a:r>
            <a:endParaRPr lang="en-US" sz="1400" dirty="0"/>
          </a:p>
        </p:txBody>
      </p:sp>
      <p:sp>
        <p:nvSpPr>
          <p:cNvPr id="29" name="Shape 17"/>
          <p:cNvSpPr/>
          <p:nvPr/>
        </p:nvSpPr>
        <p:spPr>
          <a:xfrm>
            <a:off x="548640" y="403555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Text 18"/>
          <p:cNvSpPr txBox="1"/>
          <p:nvPr/>
        </p:nvSpPr>
        <p:spPr>
          <a:xfrm>
            <a:off x="548640" y="408127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bom</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boom</a:t>
            </a:r>
            <a:endParaRPr lang="en-US" sz="2800" dirty="0"/>
          </a:p>
        </p:txBody>
      </p:sp>
      <p:pic>
        <p:nvPicPr>
          <p:cNvPr id="31" name="Image 9" descr="bomb">    </p:cNvPr>
          <p:cNvPicPr>
            <a:picLocks noChangeAspect="1"/>
          </p:cNvPicPr>
          <p:nvPr/>
        </p:nvPicPr>
        <p:blipFill>
          <a:blip r:embed="rId10"/>
          <a:stretch>
            <a:fillRect/>
          </a:stretch>
        </p:blipFill>
        <p:spPr>
          <a:xfrm>
            <a:off x="960120" y="4748784"/>
            <a:ext cx="685800" cy="685800"/>
          </a:xfrm>
          <a:prstGeom prst="rect">
            <a:avLst/>
          </a:prstGeom>
        </p:spPr>
      </p:pic>
      <p:pic>
        <p:nvPicPr>
          <p:cNvPr id="32" name="Image 10" descr="deciduous tree">    </p:cNvPr>
          <p:cNvPicPr>
            <a:picLocks noChangeAspect="1"/>
          </p:cNvPicPr>
          <p:nvPr/>
        </p:nvPicPr>
        <p:blipFill>
          <a:blip r:embed="rId11"/>
          <a:stretch>
            <a:fillRect/>
          </a:stretch>
        </p:blipFill>
        <p:spPr>
          <a:xfrm>
            <a:off x="2057400" y="4748784"/>
            <a:ext cx="685800" cy="685800"/>
          </a:xfrm>
          <a:prstGeom prst="rect">
            <a:avLst/>
          </a:prstGeom>
        </p:spPr>
      </p:pic>
      <p:sp>
        <p:nvSpPr>
          <p:cNvPr id="33" name="Text 19"/>
          <p:cNvSpPr txBox="1"/>
          <p:nvPr/>
        </p:nvSpPr>
        <p:spPr>
          <a:xfrm>
            <a:off x="640080" y="548030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bombe / arbre</a:t>
            </a:r>
            <a:endParaRPr lang="en-US" sz="1400" dirty="0"/>
          </a:p>
        </p:txBody>
      </p:sp>
      <p:sp>
        <p:nvSpPr>
          <p:cNvPr id="34" name="Shape 20"/>
          <p:cNvSpPr/>
          <p:nvPr/>
        </p:nvSpPr>
        <p:spPr>
          <a:xfrm>
            <a:off x="3383280" y="403555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5" name="Text 21"/>
          <p:cNvSpPr txBox="1"/>
          <p:nvPr/>
        </p:nvSpPr>
        <p:spPr>
          <a:xfrm>
            <a:off x="3383280" y="408127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zon</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zoon</a:t>
            </a:r>
            <a:endParaRPr lang="en-US" sz="2800" dirty="0"/>
          </a:p>
        </p:txBody>
      </p:sp>
      <p:pic>
        <p:nvPicPr>
          <p:cNvPr id="36" name="Image 11" descr="sun">    </p:cNvPr>
          <p:cNvPicPr>
            <a:picLocks noChangeAspect="1"/>
          </p:cNvPicPr>
          <p:nvPr/>
        </p:nvPicPr>
        <p:blipFill>
          <a:blip r:embed="rId12"/>
          <a:stretch>
            <a:fillRect/>
          </a:stretch>
        </p:blipFill>
        <p:spPr>
          <a:xfrm>
            <a:off x="3794760" y="4748784"/>
            <a:ext cx="685800" cy="685800"/>
          </a:xfrm>
          <a:prstGeom prst="rect">
            <a:avLst/>
          </a:prstGeom>
        </p:spPr>
      </p:pic>
      <p:pic>
        <p:nvPicPr>
          <p:cNvPr id="37" name="Image 12" descr="boy">    </p:cNvPr>
          <p:cNvPicPr>
            <a:picLocks noChangeAspect="1"/>
          </p:cNvPicPr>
          <p:nvPr/>
        </p:nvPicPr>
        <p:blipFill>
          <a:blip r:embed="rId13"/>
          <a:stretch>
            <a:fillRect/>
          </a:stretch>
        </p:blipFill>
        <p:spPr>
          <a:xfrm>
            <a:off x="4892040" y="4748784"/>
            <a:ext cx="685800" cy="685800"/>
          </a:xfrm>
          <a:prstGeom prst="rect">
            <a:avLst/>
          </a:prstGeom>
        </p:spPr>
      </p:pic>
      <p:sp>
        <p:nvSpPr>
          <p:cNvPr id="38" name="Text 22"/>
          <p:cNvSpPr txBox="1"/>
          <p:nvPr/>
        </p:nvSpPr>
        <p:spPr>
          <a:xfrm>
            <a:off x="3474720" y="548030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soleil / fils</a:t>
            </a:r>
            <a:endParaRPr lang="en-US" sz="1400" dirty="0"/>
          </a:p>
        </p:txBody>
      </p:sp>
      <p:sp>
        <p:nvSpPr>
          <p:cNvPr id="39" name="Shape 23"/>
          <p:cNvSpPr/>
          <p:nvPr/>
        </p:nvSpPr>
        <p:spPr>
          <a:xfrm>
            <a:off x="6217920" y="403555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0" name="Text 24"/>
          <p:cNvSpPr txBox="1"/>
          <p:nvPr/>
        </p:nvSpPr>
        <p:spPr>
          <a:xfrm>
            <a:off x="6217920" y="408127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zit</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ziet</a:t>
            </a:r>
            <a:endParaRPr lang="en-US" sz="2800" dirty="0"/>
          </a:p>
        </p:txBody>
      </p:sp>
      <p:pic>
        <p:nvPicPr>
          <p:cNvPr id="41" name="Image 13" descr="chair">    </p:cNvPr>
          <p:cNvPicPr>
            <a:picLocks noChangeAspect="1"/>
          </p:cNvPicPr>
          <p:nvPr/>
        </p:nvPicPr>
        <p:blipFill>
          <a:blip r:embed="rId14"/>
          <a:stretch>
            <a:fillRect/>
          </a:stretch>
        </p:blipFill>
        <p:spPr>
          <a:xfrm>
            <a:off x="6629400" y="4748784"/>
            <a:ext cx="685800" cy="685800"/>
          </a:xfrm>
          <a:prstGeom prst="rect">
            <a:avLst/>
          </a:prstGeom>
        </p:spPr>
      </p:pic>
      <p:pic>
        <p:nvPicPr>
          <p:cNvPr id="42" name="Image 14" descr="eyes">    </p:cNvPr>
          <p:cNvPicPr>
            <a:picLocks noChangeAspect="1"/>
          </p:cNvPicPr>
          <p:nvPr/>
        </p:nvPicPr>
        <p:blipFill>
          <a:blip r:embed="rId15"/>
          <a:stretch>
            <a:fillRect/>
          </a:stretch>
        </p:blipFill>
        <p:spPr>
          <a:xfrm>
            <a:off x="7726680" y="4748784"/>
            <a:ext cx="685800" cy="685800"/>
          </a:xfrm>
          <a:prstGeom prst="rect">
            <a:avLst/>
          </a:prstGeom>
        </p:spPr>
      </p:pic>
      <p:sp>
        <p:nvSpPr>
          <p:cNvPr id="43" name="Text 25"/>
          <p:cNvSpPr txBox="1"/>
          <p:nvPr/>
        </p:nvSpPr>
        <p:spPr>
          <a:xfrm>
            <a:off x="6309360" y="548030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est assis / voit</a:t>
            </a:r>
            <a:endParaRPr lang="en-US" sz="1400" dirty="0"/>
          </a:p>
        </p:txBody>
      </p:sp>
      <p:sp>
        <p:nvSpPr>
          <p:cNvPr id="44" name="Shape 26"/>
          <p:cNvSpPr/>
          <p:nvPr/>
        </p:nvSpPr>
        <p:spPr>
          <a:xfrm>
            <a:off x="9052560" y="4035552"/>
            <a:ext cx="2606040" cy="1920240"/>
          </a:xfrm>
          <a:prstGeom prst="roundRect">
            <a:avLst>
              <a:gd name="adj" fmla="val 381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Text 27"/>
          <p:cNvSpPr txBox="1"/>
          <p:nvPr/>
        </p:nvSpPr>
        <p:spPr>
          <a:xfrm>
            <a:off x="9052560" y="4081272"/>
            <a:ext cx="2606040" cy="640080"/>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pen</a:t>
            </a:r>
            <a:r>
              <a:rPr lang="en-US" sz="2800" dirty="0">
                <a:solidFill>
                  <a:schemeClr val="tx1"/>
                </a:solidFill>
                <a:latin typeface="+mj-lt" pitchFamily="34" charset="0"/>
                <a:ea typeface="+mj-lt" pitchFamily="34" charset="-122"/>
                <a:cs typeface="+mj-lt" pitchFamily="34" charset="-120"/>
              </a:rPr>
              <a:t>  /  </a:t>
            </a:r>
            <a:r>
              <a:rPr lang="en-US" sz="2800" b="1" dirty="0">
                <a:solidFill>
                  <a:schemeClr val="accent3"/>
                </a:solidFill>
                <a:latin typeface="+mj-lt" pitchFamily="34" charset="0"/>
                <a:ea typeface="+mj-lt" pitchFamily="34" charset="-122"/>
                <a:cs typeface="+mj-lt" pitchFamily="34" charset="-120"/>
              </a:rPr>
              <a:t>peen</a:t>
            </a:r>
            <a:endParaRPr lang="en-US" sz="2800" dirty="0"/>
          </a:p>
        </p:txBody>
      </p:sp>
      <p:pic>
        <p:nvPicPr>
          <p:cNvPr id="46" name="Image 15" descr="fountain pen">    </p:cNvPr>
          <p:cNvPicPr>
            <a:picLocks noChangeAspect="1"/>
          </p:cNvPicPr>
          <p:nvPr/>
        </p:nvPicPr>
        <p:blipFill>
          <a:blip r:embed="rId16"/>
          <a:stretch>
            <a:fillRect/>
          </a:stretch>
        </p:blipFill>
        <p:spPr>
          <a:xfrm>
            <a:off x="9464040" y="4748784"/>
            <a:ext cx="685800" cy="685800"/>
          </a:xfrm>
          <a:prstGeom prst="rect">
            <a:avLst/>
          </a:prstGeom>
        </p:spPr>
      </p:pic>
      <p:pic>
        <p:nvPicPr>
          <p:cNvPr id="47" name="Image 16" descr="carrot">    </p:cNvPr>
          <p:cNvPicPr>
            <a:picLocks noChangeAspect="1"/>
          </p:cNvPicPr>
          <p:nvPr/>
        </p:nvPicPr>
        <p:blipFill>
          <a:blip r:embed="rId17"/>
          <a:stretch>
            <a:fillRect/>
          </a:stretch>
        </p:blipFill>
        <p:spPr>
          <a:xfrm>
            <a:off x="10561320" y="4748784"/>
            <a:ext cx="685800" cy="685800"/>
          </a:xfrm>
          <a:prstGeom prst="rect">
            <a:avLst/>
          </a:prstGeom>
        </p:spPr>
      </p:pic>
      <p:sp>
        <p:nvSpPr>
          <p:cNvPr id="48" name="Text 28"/>
          <p:cNvSpPr txBox="1"/>
          <p:nvPr/>
        </p:nvSpPr>
        <p:spPr>
          <a:xfrm>
            <a:off x="9144000" y="5480304"/>
            <a:ext cx="2423160" cy="411480"/>
          </a:xfrm>
          <a:prstGeom prst="rect">
            <a:avLst/>
          </a:prstGeom>
          <a:noFill/>
          <a:ln/>
        </p:spPr>
        <p:txBody>
          <a:bodyPr wrap="square" lIns="0" tIns="0" rIns="0" bIns="0" rtlCol="0" anchor="ctr"/>
          <a:lstStyle/>
          <a:p>
            <a:pPr algn="ctr" indent="0" marL="0">
              <a:buNone/>
            </a:pPr>
            <a:r>
              <a:rPr lang="en-US" sz="1400" i="1" dirty="0">
                <a:solidFill>
                  <a:schemeClr val="accent5"/>
                </a:solidFill>
              </a:rPr>
              <a:t>stylo / carotte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Ciseaux magiques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Coupez chaque mot, puis classez-le : long ou court ?</a:t>
            </a:r>
            <a:endParaRPr lang="en-US" sz="1700" dirty="0"/>
          </a:p>
        </p:txBody>
      </p:sp>
      <p:sp>
        <p:nvSpPr>
          <p:cNvPr id="8" name="Shape 4"/>
          <p:cNvSpPr/>
          <p:nvPr/>
        </p:nvSpPr>
        <p:spPr>
          <a:xfrm>
            <a:off x="548640" y="1932432"/>
            <a:ext cx="2057400" cy="777240"/>
          </a:xfrm>
          <a:prstGeom prst="roundRect">
            <a:avLst>
              <a:gd name="adj" fmla="val 9412"/>
            </a:avLst>
          </a:prstGeom>
          <a:solidFill>
            <a:schemeClr val="bg1"/>
          </a:solidFill>
          <a:ln w="15875">
            <a:solidFill>
              <a:srgbClr val="4A5A70"/>
            </a:solidFill>
            <a:prstDash val="dash"/>
          </a:ln>
        </p:spPr>
      </p:sp>
      <p:sp>
        <p:nvSpPr>
          <p:cNvPr id="9" name="Text 5"/>
          <p:cNvSpPr txBox="1"/>
          <p:nvPr/>
        </p:nvSpPr>
        <p:spPr>
          <a:xfrm>
            <a:off x="548640" y="193243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wonen</a:t>
            </a:r>
            <a:endParaRPr lang="en-US" sz="2400" dirty="0"/>
          </a:p>
        </p:txBody>
      </p:sp>
      <p:pic>
        <p:nvPicPr>
          <p:cNvPr id="10" name="Image 1" descr="scissors">    </p:cNvPr>
          <p:cNvPicPr>
            <a:picLocks noChangeAspect="1"/>
          </p:cNvPicPr>
          <p:nvPr/>
        </p:nvPicPr>
        <p:blipFill>
          <a:blip r:embed="rId2"/>
          <a:stretch>
            <a:fillRect/>
          </a:stretch>
        </p:blipFill>
        <p:spPr>
          <a:xfrm>
            <a:off x="2286000" y="1795272"/>
            <a:ext cx="347472" cy="347472"/>
          </a:xfrm>
          <a:prstGeom prst="rect">
            <a:avLst/>
          </a:prstGeom>
        </p:spPr>
      </p:pic>
      <p:sp>
        <p:nvSpPr>
          <p:cNvPr id="11" name="Shape 6"/>
          <p:cNvSpPr/>
          <p:nvPr/>
        </p:nvSpPr>
        <p:spPr>
          <a:xfrm>
            <a:off x="2816352" y="1932432"/>
            <a:ext cx="2057400" cy="777240"/>
          </a:xfrm>
          <a:prstGeom prst="roundRect">
            <a:avLst>
              <a:gd name="adj" fmla="val 9412"/>
            </a:avLst>
          </a:prstGeom>
          <a:solidFill>
            <a:schemeClr val="bg1"/>
          </a:solidFill>
          <a:ln w="15875">
            <a:solidFill>
              <a:srgbClr val="4A5A70"/>
            </a:solidFill>
            <a:prstDash val="dash"/>
          </a:ln>
        </p:spPr>
      </p:sp>
      <p:sp>
        <p:nvSpPr>
          <p:cNvPr id="12" name="Text 7"/>
          <p:cNvSpPr txBox="1"/>
          <p:nvPr/>
        </p:nvSpPr>
        <p:spPr>
          <a:xfrm>
            <a:off x="2816352" y="193243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werken</a:t>
            </a:r>
            <a:endParaRPr lang="en-US" sz="2400" dirty="0"/>
          </a:p>
        </p:txBody>
      </p:sp>
      <p:pic>
        <p:nvPicPr>
          <p:cNvPr id="13" name="Image 2" descr="scissors">    </p:cNvPr>
          <p:cNvPicPr>
            <a:picLocks noChangeAspect="1"/>
          </p:cNvPicPr>
          <p:nvPr/>
        </p:nvPicPr>
        <p:blipFill>
          <a:blip r:embed="rId3"/>
          <a:stretch>
            <a:fillRect/>
          </a:stretch>
        </p:blipFill>
        <p:spPr>
          <a:xfrm>
            <a:off x="4553712" y="1795272"/>
            <a:ext cx="347472" cy="347472"/>
          </a:xfrm>
          <a:prstGeom prst="rect">
            <a:avLst/>
          </a:prstGeom>
        </p:spPr>
      </p:pic>
      <p:sp>
        <p:nvSpPr>
          <p:cNvPr id="14" name="Shape 8"/>
          <p:cNvSpPr/>
          <p:nvPr/>
        </p:nvSpPr>
        <p:spPr>
          <a:xfrm>
            <a:off x="5084064" y="1932432"/>
            <a:ext cx="2057400" cy="777240"/>
          </a:xfrm>
          <a:prstGeom prst="roundRect">
            <a:avLst>
              <a:gd name="adj" fmla="val 9412"/>
            </a:avLst>
          </a:prstGeom>
          <a:solidFill>
            <a:schemeClr val="bg1"/>
          </a:solidFill>
          <a:ln w="15875">
            <a:solidFill>
              <a:srgbClr val="4A5A70"/>
            </a:solidFill>
            <a:prstDash val="dash"/>
          </a:ln>
        </p:spPr>
      </p:sp>
      <p:sp>
        <p:nvSpPr>
          <p:cNvPr id="15" name="Text 9"/>
          <p:cNvSpPr txBox="1"/>
          <p:nvPr/>
        </p:nvSpPr>
        <p:spPr>
          <a:xfrm>
            <a:off x="5084064" y="193243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spreken</a:t>
            </a:r>
            <a:endParaRPr lang="en-US" sz="2400" dirty="0"/>
          </a:p>
        </p:txBody>
      </p:sp>
      <p:pic>
        <p:nvPicPr>
          <p:cNvPr id="16" name="Image 3" descr="scissors">    </p:cNvPr>
          <p:cNvPicPr>
            <a:picLocks noChangeAspect="1"/>
          </p:cNvPicPr>
          <p:nvPr/>
        </p:nvPicPr>
        <p:blipFill>
          <a:blip r:embed="rId4"/>
          <a:stretch>
            <a:fillRect/>
          </a:stretch>
        </p:blipFill>
        <p:spPr>
          <a:xfrm>
            <a:off x="6821424" y="1795272"/>
            <a:ext cx="347472" cy="347472"/>
          </a:xfrm>
          <a:prstGeom prst="rect">
            <a:avLst/>
          </a:prstGeom>
        </p:spPr>
      </p:pic>
      <p:sp>
        <p:nvSpPr>
          <p:cNvPr id="17" name="Shape 10"/>
          <p:cNvSpPr/>
          <p:nvPr/>
        </p:nvSpPr>
        <p:spPr>
          <a:xfrm>
            <a:off x="7351776" y="1932432"/>
            <a:ext cx="2057400" cy="777240"/>
          </a:xfrm>
          <a:prstGeom prst="roundRect">
            <a:avLst>
              <a:gd name="adj" fmla="val 9412"/>
            </a:avLst>
          </a:prstGeom>
          <a:solidFill>
            <a:schemeClr val="bg1"/>
          </a:solidFill>
          <a:ln w="15875">
            <a:solidFill>
              <a:srgbClr val="4A5A70"/>
            </a:solidFill>
            <a:prstDash val="dash"/>
          </a:ln>
        </p:spPr>
      </p:sp>
      <p:sp>
        <p:nvSpPr>
          <p:cNvPr id="18" name="Text 11"/>
          <p:cNvSpPr txBox="1"/>
          <p:nvPr/>
        </p:nvSpPr>
        <p:spPr>
          <a:xfrm>
            <a:off x="7351776" y="193243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zitten</a:t>
            </a:r>
            <a:endParaRPr lang="en-US" sz="2400" dirty="0"/>
          </a:p>
        </p:txBody>
      </p:sp>
      <p:pic>
        <p:nvPicPr>
          <p:cNvPr id="19" name="Image 4" descr="scissors">    </p:cNvPr>
          <p:cNvPicPr>
            <a:picLocks noChangeAspect="1"/>
          </p:cNvPicPr>
          <p:nvPr/>
        </p:nvPicPr>
        <p:blipFill>
          <a:blip r:embed="rId5"/>
          <a:stretch>
            <a:fillRect/>
          </a:stretch>
        </p:blipFill>
        <p:spPr>
          <a:xfrm>
            <a:off x="9089136" y="1795272"/>
            <a:ext cx="347472" cy="347472"/>
          </a:xfrm>
          <a:prstGeom prst="rect">
            <a:avLst/>
          </a:prstGeom>
        </p:spPr>
      </p:pic>
      <p:sp>
        <p:nvSpPr>
          <p:cNvPr id="20" name="Shape 12"/>
          <p:cNvSpPr/>
          <p:nvPr/>
        </p:nvSpPr>
        <p:spPr>
          <a:xfrm>
            <a:off x="9619488" y="1932432"/>
            <a:ext cx="2057400" cy="777240"/>
          </a:xfrm>
          <a:prstGeom prst="roundRect">
            <a:avLst>
              <a:gd name="adj" fmla="val 9412"/>
            </a:avLst>
          </a:prstGeom>
          <a:solidFill>
            <a:schemeClr val="bg1"/>
          </a:solidFill>
          <a:ln w="15875">
            <a:solidFill>
              <a:srgbClr val="4A5A70"/>
            </a:solidFill>
            <a:prstDash val="dash"/>
          </a:ln>
        </p:spPr>
      </p:sp>
      <p:sp>
        <p:nvSpPr>
          <p:cNvPr id="21" name="Text 13"/>
          <p:cNvSpPr txBox="1"/>
          <p:nvPr/>
        </p:nvSpPr>
        <p:spPr>
          <a:xfrm>
            <a:off x="9619488" y="193243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maken</a:t>
            </a:r>
            <a:endParaRPr lang="en-US" sz="2400" dirty="0"/>
          </a:p>
        </p:txBody>
      </p:sp>
      <p:pic>
        <p:nvPicPr>
          <p:cNvPr id="22" name="Image 5" descr="scissors">    </p:cNvPr>
          <p:cNvPicPr>
            <a:picLocks noChangeAspect="1"/>
          </p:cNvPicPr>
          <p:nvPr/>
        </p:nvPicPr>
        <p:blipFill>
          <a:blip r:embed="rId6"/>
          <a:stretch>
            <a:fillRect/>
          </a:stretch>
        </p:blipFill>
        <p:spPr>
          <a:xfrm>
            <a:off x="11356848" y="1795272"/>
            <a:ext cx="347472" cy="347472"/>
          </a:xfrm>
          <a:prstGeom prst="rect">
            <a:avLst/>
          </a:prstGeom>
        </p:spPr>
      </p:pic>
      <p:sp>
        <p:nvSpPr>
          <p:cNvPr id="23" name="Shape 14"/>
          <p:cNvSpPr/>
          <p:nvPr/>
        </p:nvSpPr>
        <p:spPr>
          <a:xfrm>
            <a:off x="548640" y="2892552"/>
            <a:ext cx="2057400" cy="777240"/>
          </a:xfrm>
          <a:prstGeom prst="roundRect">
            <a:avLst>
              <a:gd name="adj" fmla="val 9412"/>
            </a:avLst>
          </a:prstGeom>
          <a:solidFill>
            <a:schemeClr val="bg1"/>
          </a:solidFill>
          <a:ln w="15875">
            <a:solidFill>
              <a:srgbClr val="4A5A70"/>
            </a:solidFill>
            <a:prstDash val="dash"/>
          </a:ln>
        </p:spPr>
      </p:sp>
      <p:sp>
        <p:nvSpPr>
          <p:cNvPr id="24" name="Text 15"/>
          <p:cNvSpPr txBox="1"/>
          <p:nvPr/>
        </p:nvSpPr>
        <p:spPr>
          <a:xfrm>
            <a:off x="548640" y="289255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bakken</a:t>
            </a:r>
            <a:endParaRPr lang="en-US" sz="2400" dirty="0"/>
          </a:p>
        </p:txBody>
      </p:sp>
      <p:pic>
        <p:nvPicPr>
          <p:cNvPr id="25" name="Image 6" descr="scissors">    </p:cNvPr>
          <p:cNvPicPr>
            <a:picLocks noChangeAspect="1"/>
          </p:cNvPicPr>
          <p:nvPr/>
        </p:nvPicPr>
        <p:blipFill>
          <a:blip r:embed="rId7"/>
          <a:stretch>
            <a:fillRect/>
          </a:stretch>
        </p:blipFill>
        <p:spPr>
          <a:xfrm>
            <a:off x="2286000" y="2755392"/>
            <a:ext cx="347472" cy="347472"/>
          </a:xfrm>
          <a:prstGeom prst="rect">
            <a:avLst/>
          </a:prstGeom>
        </p:spPr>
      </p:pic>
      <p:sp>
        <p:nvSpPr>
          <p:cNvPr id="26" name="Shape 16"/>
          <p:cNvSpPr/>
          <p:nvPr/>
        </p:nvSpPr>
        <p:spPr>
          <a:xfrm>
            <a:off x="2816352" y="2892552"/>
            <a:ext cx="2057400" cy="777240"/>
          </a:xfrm>
          <a:prstGeom prst="roundRect">
            <a:avLst>
              <a:gd name="adj" fmla="val 9412"/>
            </a:avLst>
          </a:prstGeom>
          <a:solidFill>
            <a:schemeClr val="bg1"/>
          </a:solidFill>
          <a:ln w="15875">
            <a:solidFill>
              <a:srgbClr val="4A5A70"/>
            </a:solidFill>
            <a:prstDash val="dash"/>
          </a:ln>
        </p:spPr>
      </p:sp>
      <p:sp>
        <p:nvSpPr>
          <p:cNvPr id="27" name="Text 17"/>
          <p:cNvSpPr txBox="1"/>
          <p:nvPr/>
        </p:nvSpPr>
        <p:spPr>
          <a:xfrm>
            <a:off x="2816352" y="289255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lopen</a:t>
            </a:r>
            <a:endParaRPr lang="en-US" sz="2400" dirty="0"/>
          </a:p>
        </p:txBody>
      </p:sp>
      <p:pic>
        <p:nvPicPr>
          <p:cNvPr id="28" name="Image 7" descr="scissors">    </p:cNvPr>
          <p:cNvPicPr>
            <a:picLocks noChangeAspect="1"/>
          </p:cNvPicPr>
          <p:nvPr/>
        </p:nvPicPr>
        <p:blipFill>
          <a:blip r:embed="rId8"/>
          <a:stretch>
            <a:fillRect/>
          </a:stretch>
        </p:blipFill>
        <p:spPr>
          <a:xfrm>
            <a:off x="4553712" y="2755392"/>
            <a:ext cx="347472" cy="347472"/>
          </a:xfrm>
          <a:prstGeom prst="rect">
            <a:avLst/>
          </a:prstGeom>
        </p:spPr>
      </p:pic>
      <p:sp>
        <p:nvSpPr>
          <p:cNvPr id="29" name="Shape 18"/>
          <p:cNvSpPr/>
          <p:nvPr/>
        </p:nvSpPr>
        <p:spPr>
          <a:xfrm>
            <a:off x="5084064" y="2892552"/>
            <a:ext cx="2057400" cy="777240"/>
          </a:xfrm>
          <a:prstGeom prst="roundRect">
            <a:avLst>
              <a:gd name="adj" fmla="val 9412"/>
            </a:avLst>
          </a:prstGeom>
          <a:solidFill>
            <a:schemeClr val="bg1"/>
          </a:solidFill>
          <a:ln w="15875">
            <a:solidFill>
              <a:srgbClr val="4A5A70"/>
            </a:solidFill>
            <a:prstDash val="dash"/>
          </a:ln>
        </p:spPr>
      </p:sp>
      <p:sp>
        <p:nvSpPr>
          <p:cNvPr id="30" name="Text 19"/>
          <p:cNvSpPr txBox="1"/>
          <p:nvPr/>
        </p:nvSpPr>
        <p:spPr>
          <a:xfrm>
            <a:off x="5084064" y="289255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koppel</a:t>
            </a:r>
            <a:endParaRPr lang="en-US" sz="2400" dirty="0"/>
          </a:p>
        </p:txBody>
      </p:sp>
      <p:pic>
        <p:nvPicPr>
          <p:cNvPr id="31" name="Image 8" descr="scissors">    </p:cNvPr>
          <p:cNvPicPr>
            <a:picLocks noChangeAspect="1"/>
          </p:cNvPicPr>
          <p:nvPr/>
        </p:nvPicPr>
        <p:blipFill>
          <a:blip r:embed="rId9"/>
          <a:stretch>
            <a:fillRect/>
          </a:stretch>
        </p:blipFill>
        <p:spPr>
          <a:xfrm>
            <a:off x="6821424" y="2755392"/>
            <a:ext cx="347472" cy="347472"/>
          </a:xfrm>
          <a:prstGeom prst="rect">
            <a:avLst/>
          </a:prstGeom>
        </p:spPr>
      </p:pic>
      <p:sp>
        <p:nvSpPr>
          <p:cNvPr id="32" name="Shape 20"/>
          <p:cNvSpPr/>
          <p:nvPr/>
        </p:nvSpPr>
        <p:spPr>
          <a:xfrm>
            <a:off x="7351776" y="2892552"/>
            <a:ext cx="2057400" cy="777240"/>
          </a:xfrm>
          <a:prstGeom prst="roundRect">
            <a:avLst>
              <a:gd name="adj" fmla="val 9412"/>
            </a:avLst>
          </a:prstGeom>
          <a:solidFill>
            <a:schemeClr val="bg1"/>
          </a:solidFill>
          <a:ln w="15875">
            <a:solidFill>
              <a:srgbClr val="4A5A70"/>
            </a:solidFill>
            <a:prstDash val="dash"/>
          </a:ln>
        </p:spPr>
      </p:sp>
      <p:sp>
        <p:nvSpPr>
          <p:cNvPr id="33" name="Text 21"/>
          <p:cNvSpPr txBox="1"/>
          <p:nvPr/>
        </p:nvSpPr>
        <p:spPr>
          <a:xfrm>
            <a:off x="7351776" y="289255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slapen</a:t>
            </a:r>
            <a:endParaRPr lang="en-US" sz="2400" dirty="0"/>
          </a:p>
        </p:txBody>
      </p:sp>
      <p:pic>
        <p:nvPicPr>
          <p:cNvPr id="34" name="Image 9" descr="scissors">    </p:cNvPr>
          <p:cNvPicPr>
            <a:picLocks noChangeAspect="1"/>
          </p:cNvPicPr>
          <p:nvPr/>
        </p:nvPicPr>
        <p:blipFill>
          <a:blip r:embed="rId10"/>
          <a:stretch>
            <a:fillRect/>
          </a:stretch>
        </p:blipFill>
        <p:spPr>
          <a:xfrm>
            <a:off x="9089136" y="2755392"/>
            <a:ext cx="347472" cy="347472"/>
          </a:xfrm>
          <a:prstGeom prst="rect">
            <a:avLst/>
          </a:prstGeom>
        </p:spPr>
      </p:pic>
      <p:sp>
        <p:nvSpPr>
          <p:cNvPr id="35" name="Shape 22"/>
          <p:cNvSpPr/>
          <p:nvPr/>
        </p:nvSpPr>
        <p:spPr>
          <a:xfrm>
            <a:off x="9619488" y="2892552"/>
            <a:ext cx="2057400" cy="777240"/>
          </a:xfrm>
          <a:prstGeom prst="roundRect">
            <a:avLst>
              <a:gd name="adj" fmla="val 9412"/>
            </a:avLst>
          </a:prstGeom>
          <a:solidFill>
            <a:schemeClr val="bg1"/>
          </a:solidFill>
          <a:ln w="15875">
            <a:solidFill>
              <a:srgbClr val="4A5A70"/>
            </a:solidFill>
            <a:prstDash val="dash"/>
          </a:ln>
        </p:spPr>
      </p:sp>
      <p:sp>
        <p:nvSpPr>
          <p:cNvPr id="36" name="Text 23"/>
          <p:cNvSpPr txBox="1"/>
          <p:nvPr/>
        </p:nvSpPr>
        <p:spPr>
          <a:xfrm>
            <a:off x="9619488" y="2892552"/>
            <a:ext cx="2057400" cy="77724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zeggen</a:t>
            </a:r>
            <a:endParaRPr lang="en-US" sz="2400" dirty="0"/>
          </a:p>
        </p:txBody>
      </p:sp>
      <p:pic>
        <p:nvPicPr>
          <p:cNvPr id="37" name="Image 10" descr="scissors">    </p:cNvPr>
          <p:cNvPicPr>
            <a:picLocks noChangeAspect="1"/>
          </p:cNvPicPr>
          <p:nvPr/>
        </p:nvPicPr>
        <p:blipFill>
          <a:blip r:embed="rId11"/>
          <a:stretch>
            <a:fillRect/>
          </a:stretch>
        </p:blipFill>
        <p:spPr>
          <a:xfrm>
            <a:off x="11356848" y="2755392"/>
            <a:ext cx="347472" cy="347472"/>
          </a:xfrm>
          <a:prstGeom prst="rect">
            <a:avLst/>
          </a:prstGeom>
        </p:spPr>
      </p:pic>
      <p:sp>
        <p:nvSpPr>
          <p:cNvPr id="38" name="Shape 24"/>
          <p:cNvSpPr/>
          <p:nvPr/>
        </p:nvSpPr>
        <p:spPr>
          <a:xfrm>
            <a:off x="548640" y="4081272"/>
            <a:ext cx="5468112" cy="2209800"/>
          </a:xfrm>
          <a:prstGeom prst="roundRect">
            <a:avLst>
              <a:gd name="adj" fmla="val 3310"/>
            </a:avLst>
          </a:prstGeom>
          <a:solidFill>
            <a:schemeClr val="accent3">
              <a:alpha val="10000"/>
            </a:schemeClr>
          </a:solidFill>
          <a:ln w="25400">
            <a:solidFill>
              <a:srgbClr val="2E7D4F"/>
            </a:solidFill>
            <a:prstDash val="solid"/>
          </a:ln>
        </p:spPr>
      </p:sp>
      <p:sp>
        <p:nvSpPr>
          <p:cNvPr id="39" name="Text 25"/>
          <p:cNvSpPr txBox="1"/>
          <p:nvPr/>
        </p:nvSpPr>
        <p:spPr>
          <a:xfrm>
            <a:off x="548640" y="4154424"/>
            <a:ext cx="5468112" cy="502920"/>
          </a:xfrm>
          <a:prstGeom prst="rect">
            <a:avLst/>
          </a:prstGeom>
          <a:noFill/>
          <a:ln/>
        </p:spPr>
        <p:txBody>
          <a:bodyPr wrap="square" lIns="0" tIns="0" rIns="0" bIns="0" rtlCol="0" anchor="t"/>
          <a:lstStyle/>
          <a:p>
            <a:pPr algn="ctr" indent="0" marL="0">
              <a:buNone/>
            </a:pPr>
            <a:r>
              <a:rPr lang="en-US" sz="2400" b="1" dirty="0">
                <a:solidFill>
                  <a:schemeClr val="accent3"/>
                </a:solidFill>
                <a:latin typeface="+mj-lt" pitchFamily="34" charset="0"/>
                <a:ea typeface="+mj-lt" pitchFamily="34" charset="-122"/>
                <a:cs typeface="+mj-lt" pitchFamily="34" charset="-120"/>
              </a:rPr>
              <a:t>LONG</a:t>
            </a:r>
            <a:endParaRPr lang="en-US" sz="2400" dirty="0"/>
          </a:p>
        </p:txBody>
      </p:sp>
      <p:pic>
        <p:nvPicPr>
          <p:cNvPr id="40" name="Image 11" descr="basket">    </p:cNvPr>
          <p:cNvPicPr>
            <a:picLocks noChangeAspect="1"/>
          </p:cNvPicPr>
          <p:nvPr/>
        </p:nvPicPr>
        <p:blipFill>
          <a:blip r:embed="rId12"/>
          <a:stretch>
            <a:fillRect/>
          </a:stretch>
        </p:blipFill>
        <p:spPr>
          <a:xfrm>
            <a:off x="2825496" y="4957572"/>
            <a:ext cx="914400" cy="914400"/>
          </a:xfrm>
          <a:prstGeom prst="rect">
            <a:avLst/>
          </a:prstGeom>
        </p:spPr>
      </p:pic>
      <p:sp>
        <p:nvSpPr>
          <p:cNvPr id="41" name="Shape 26"/>
          <p:cNvSpPr/>
          <p:nvPr/>
        </p:nvSpPr>
        <p:spPr>
          <a:xfrm>
            <a:off x="6172200" y="4081272"/>
            <a:ext cx="5468112" cy="2209800"/>
          </a:xfrm>
          <a:prstGeom prst="roundRect">
            <a:avLst>
              <a:gd name="adj" fmla="val 3310"/>
            </a:avLst>
          </a:prstGeom>
          <a:solidFill>
            <a:schemeClr val="accent4">
              <a:alpha val="10000"/>
            </a:schemeClr>
          </a:solidFill>
          <a:ln w="25400">
            <a:solidFill>
              <a:srgbClr val="B4236A"/>
            </a:solidFill>
            <a:prstDash val="solid"/>
          </a:ln>
        </p:spPr>
      </p:sp>
      <p:sp>
        <p:nvSpPr>
          <p:cNvPr id="42" name="Text 27"/>
          <p:cNvSpPr txBox="1"/>
          <p:nvPr/>
        </p:nvSpPr>
        <p:spPr>
          <a:xfrm>
            <a:off x="6172200" y="4154424"/>
            <a:ext cx="5468112" cy="502920"/>
          </a:xfrm>
          <a:prstGeom prst="rect">
            <a:avLst/>
          </a:prstGeom>
          <a:noFill/>
          <a:ln/>
        </p:spPr>
        <p:txBody>
          <a:bodyPr wrap="square" lIns="0" tIns="0" rIns="0" bIns="0" rtlCol="0" anchor="t"/>
          <a:lstStyle/>
          <a:p>
            <a:pPr algn="ctr" indent="0" marL="0">
              <a:buNone/>
            </a:pPr>
            <a:r>
              <a:rPr lang="en-US" sz="2400" b="1" dirty="0">
                <a:solidFill>
                  <a:schemeClr val="accent4"/>
                </a:solidFill>
                <a:latin typeface="+mj-lt" pitchFamily="34" charset="0"/>
                <a:ea typeface="+mj-lt" pitchFamily="34" charset="-122"/>
                <a:cs typeface="+mj-lt" pitchFamily="34" charset="-120"/>
              </a:rPr>
              <a:t>COURT</a:t>
            </a:r>
            <a:endParaRPr lang="en-US" sz="2400" dirty="0"/>
          </a:p>
        </p:txBody>
      </p:sp>
      <p:pic>
        <p:nvPicPr>
          <p:cNvPr id="43" name="Image 12" descr="basket">    </p:cNvPr>
          <p:cNvPicPr>
            <a:picLocks noChangeAspect="1"/>
          </p:cNvPicPr>
          <p:nvPr/>
        </p:nvPicPr>
        <p:blipFill>
          <a:blip r:embed="rId13"/>
          <a:stretch>
            <a:fillRect/>
          </a:stretch>
        </p:blipFill>
        <p:spPr>
          <a:xfrm>
            <a:off x="8449056" y="4957572"/>
            <a:ext cx="914400" cy="91440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Ciseaux magiques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Coupez chaque mot, puis classez-le : long ou court ?</a:t>
            </a:r>
            <a:endParaRPr lang="en-US" sz="1700" dirty="0"/>
          </a:p>
        </p:txBody>
      </p:sp>
      <p:sp>
        <p:nvSpPr>
          <p:cNvPr id="9" name="Shape 5"/>
          <p:cNvSpPr/>
          <p:nvPr/>
        </p:nvSpPr>
        <p:spPr>
          <a:xfrm>
            <a:off x="548640" y="2023872"/>
            <a:ext cx="5468112" cy="4267200"/>
          </a:xfrm>
          <a:prstGeom prst="roundRect">
            <a:avLst>
              <a:gd name="adj" fmla="val 1714"/>
            </a:avLst>
          </a:prstGeom>
          <a:solidFill>
            <a:schemeClr val="accent3">
              <a:alpha val="10000"/>
            </a:schemeClr>
          </a:solidFill>
          <a:ln w="25400">
            <a:solidFill>
              <a:srgbClr val="2E7D4F"/>
            </a:solidFill>
            <a:prstDash val="solid"/>
          </a:ln>
        </p:spPr>
      </p:sp>
      <p:sp>
        <p:nvSpPr>
          <p:cNvPr id="10" name="Text 6"/>
          <p:cNvSpPr txBox="1"/>
          <p:nvPr/>
        </p:nvSpPr>
        <p:spPr>
          <a:xfrm>
            <a:off x="548640" y="2097024"/>
            <a:ext cx="5468112" cy="502920"/>
          </a:xfrm>
          <a:prstGeom prst="rect">
            <a:avLst/>
          </a:prstGeom>
          <a:noFill/>
          <a:ln/>
        </p:spPr>
        <p:txBody>
          <a:bodyPr wrap="square" lIns="0" tIns="0" rIns="0" bIns="0" rtlCol="0" anchor="t"/>
          <a:lstStyle/>
          <a:p>
            <a:pPr algn="ctr" indent="0" marL="0">
              <a:buNone/>
            </a:pPr>
            <a:r>
              <a:rPr lang="en-US" sz="2400" b="1" dirty="0">
                <a:solidFill>
                  <a:schemeClr val="accent3"/>
                </a:solidFill>
                <a:latin typeface="+mj-lt" pitchFamily="34" charset="0"/>
                <a:ea typeface="+mj-lt" pitchFamily="34" charset="-122"/>
                <a:cs typeface="+mj-lt" pitchFamily="34" charset="-120"/>
              </a:rPr>
              <a:t>LONG</a:t>
            </a:r>
            <a:endParaRPr lang="en-US" sz="2400" dirty="0"/>
          </a:p>
        </p:txBody>
      </p:sp>
      <p:sp>
        <p:nvSpPr>
          <p:cNvPr id="11" name="Text 7"/>
          <p:cNvSpPr txBox="1"/>
          <p:nvPr/>
        </p:nvSpPr>
        <p:spPr>
          <a:xfrm>
            <a:off x="822960" y="280111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wo·nen</a:t>
            </a:r>
            <a:endParaRPr lang="en-US" sz="2800" dirty="0"/>
          </a:p>
        </p:txBody>
      </p:sp>
      <p:sp>
        <p:nvSpPr>
          <p:cNvPr id="12" name="Text 8"/>
          <p:cNvSpPr txBox="1"/>
          <p:nvPr/>
        </p:nvSpPr>
        <p:spPr>
          <a:xfrm>
            <a:off x="3383280" y="280111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spre·ken</a:t>
            </a:r>
            <a:endParaRPr lang="en-US" sz="2800" dirty="0"/>
          </a:p>
        </p:txBody>
      </p:sp>
      <p:sp>
        <p:nvSpPr>
          <p:cNvPr id="13" name="Text 9"/>
          <p:cNvSpPr txBox="1"/>
          <p:nvPr/>
        </p:nvSpPr>
        <p:spPr>
          <a:xfrm>
            <a:off x="822960" y="357835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ma·ken</a:t>
            </a:r>
            <a:endParaRPr lang="en-US" sz="2800" dirty="0"/>
          </a:p>
        </p:txBody>
      </p:sp>
      <p:sp>
        <p:nvSpPr>
          <p:cNvPr id="14" name="Text 10"/>
          <p:cNvSpPr txBox="1"/>
          <p:nvPr/>
        </p:nvSpPr>
        <p:spPr>
          <a:xfrm>
            <a:off x="3383280" y="357835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lo·pen</a:t>
            </a:r>
            <a:endParaRPr lang="en-US" sz="2800" dirty="0"/>
          </a:p>
        </p:txBody>
      </p:sp>
      <p:sp>
        <p:nvSpPr>
          <p:cNvPr id="15" name="Text 11"/>
          <p:cNvSpPr txBox="1"/>
          <p:nvPr/>
        </p:nvSpPr>
        <p:spPr>
          <a:xfrm>
            <a:off x="822960" y="435559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sla·pen</a:t>
            </a:r>
            <a:endParaRPr lang="en-US" sz="2800" dirty="0"/>
          </a:p>
        </p:txBody>
      </p:sp>
      <p:sp>
        <p:nvSpPr>
          <p:cNvPr id="16" name="Shape 12"/>
          <p:cNvSpPr/>
          <p:nvPr/>
        </p:nvSpPr>
        <p:spPr>
          <a:xfrm>
            <a:off x="6172200" y="2023872"/>
            <a:ext cx="5468112" cy="4267200"/>
          </a:xfrm>
          <a:prstGeom prst="roundRect">
            <a:avLst>
              <a:gd name="adj" fmla="val 1714"/>
            </a:avLst>
          </a:prstGeom>
          <a:solidFill>
            <a:schemeClr val="accent4">
              <a:alpha val="10000"/>
            </a:schemeClr>
          </a:solidFill>
          <a:ln w="25400">
            <a:solidFill>
              <a:srgbClr val="B4236A"/>
            </a:solidFill>
            <a:prstDash val="solid"/>
          </a:ln>
        </p:spPr>
      </p:sp>
      <p:sp>
        <p:nvSpPr>
          <p:cNvPr id="17" name="Text 13"/>
          <p:cNvSpPr txBox="1"/>
          <p:nvPr/>
        </p:nvSpPr>
        <p:spPr>
          <a:xfrm>
            <a:off x="6172200" y="2097024"/>
            <a:ext cx="5468112" cy="502920"/>
          </a:xfrm>
          <a:prstGeom prst="rect">
            <a:avLst/>
          </a:prstGeom>
          <a:noFill/>
          <a:ln/>
        </p:spPr>
        <p:txBody>
          <a:bodyPr wrap="square" lIns="0" tIns="0" rIns="0" bIns="0" rtlCol="0" anchor="t"/>
          <a:lstStyle/>
          <a:p>
            <a:pPr algn="ctr" indent="0" marL="0">
              <a:buNone/>
            </a:pPr>
            <a:r>
              <a:rPr lang="en-US" sz="2400" b="1" dirty="0">
                <a:solidFill>
                  <a:schemeClr val="accent4"/>
                </a:solidFill>
                <a:latin typeface="+mj-lt" pitchFamily="34" charset="0"/>
                <a:ea typeface="+mj-lt" pitchFamily="34" charset="-122"/>
                <a:cs typeface="+mj-lt" pitchFamily="34" charset="-120"/>
              </a:rPr>
              <a:t>COURT</a:t>
            </a:r>
            <a:endParaRPr lang="en-US" sz="2400" dirty="0"/>
          </a:p>
        </p:txBody>
      </p:sp>
      <p:sp>
        <p:nvSpPr>
          <p:cNvPr id="18" name="Text 14"/>
          <p:cNvSpPr txBox="1"/>
          <p:nvPr/>
        </p:nvSpPr>
        <p:spPr>
          <a:xfrm>
            <a:off x="6446520" y="280111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wer·ken</a:t>
            </a:r>
            <a:endParaRPr lang="en-US" sz="2800" dirty="0"/>
          </a:p>
        </p:txBody>
      </p:sp>
      <p:sp>
        <p:nvSpPr>
          <p:cNvPr id="19" name="Text 15"/>
          <p:cNvSpPr txBox="1"/>
          <p:nvPr/>
        </p:nvSpPr>
        <p:spPr>
          <a:xfrm>
            <a:off x="9006840" y="280111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zit·ten</a:t>
            </a:r>
            <a:endParaRPr lang="en-US" sz="2800" dirty="0"/>
          </a:p>
        </p:txBody>
      </p:sp>
      <p:sp>
        <p:nvSpPr>
          <p:cNvPr id="20" name="Text 16"/>
          <p:cNvSpPr txBox="1"/>
          <p:nvPr/>
        </p:nvSpPr>
        <p:spPr>
          <a:xfrm>
            <a:off x="6446520" y="357835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bak·ken</a:t>
            </a:r>
            <a:endParaRPr lang="en-US" sz="2800" dirty="0"/>
          </a:p>
        </p:txBody>
      </p:sp>
      <p:sp>
        <p:nvSpPr>
          <p:cNvPr id="21" name="Text 17"/>
          <p:cNvSpPr txBox="1"/>
          <p:nvPr/>
        </p:nvSpPr>
        <p:spPr>
          <a:xfrm>
            <a:off x="9006840" y="357835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kop·pel</a:t>
            </a:r>
            <a:endParaRPr lang="en-US" sz="2800" dirty="0"/>
          </a:p>
        </p:txBody>
      </p:sp>
      <p:sp>
        <p:nvSpPr>
          <p:cNvPr id="22" name="Text 18"/>
          <p:cNvSpPr txBox="1"/>
          <p:nvPr/>
        </p:nvSpPr>
        <p:spPr>
          <a:xfrm>
            <a:off x="6446520" y="4355592"/>
            <a:ext cx="246888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zeg·gen</a:t>
            </a:r>
            <a:endParaRPr lang="en-US" sz="2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L’usine à pluriels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pluriel. Attention à la porte : je double ou je simplifie ?</a:t>
            </a:r>
            <a:endParaRPr lang="en-US" sz="1700" dirty="0"/>
          </a:p>
        </p:txBody>
      </p:sp>
      <p:pic>
        <p:nvPicPr>
          <p:cNvPr id="8" name="Image 1" descr="factory">    </p:cNvPr>
          <p:cNvPicPr>
            <a:picLocks noChangeAspect="1"/>
          </p:cNvPicPr>
          <p:nvPr/>
        </p:nvPicPr>
        <p:blipFill>
          <a:blip r:embed="rId2"/>
          <a:stretch>
            <a:fillRect/>
          </a:stretch>
        </p:blipFill>
        <p:spPr>
          <a:xfrm>
            <a:off x="548640" y="1950720"/>
            <a:ext cx="731520" cy="731520"/>
          </a:xfrm>
          <a:prstGeom prst="rect">
            <a:avLst/>
          </a:prstGeom>
        </p:spPr>
      </p:pic>
      <p:sp>
        <p:nvSpPr>
          <p:cNvPr id="9" name="Text 4"/>
          <p:cNvSpPr txBox="1"/>
          <p:nvPr/>
        </p:nvSpPr>
        <p:spPr>
          <a:xfrm>
            <a:off x="1371600" y="1978152"/>
            <a:ext cx="5486400" cy="685800"/>
          </a:xfrm>
          <a:prstGeom prst="rect">
            <a:avLst/>
          </a:prstGeom>
          <a:noFill/>
          <a:ln/>
        </p:spPr>
        <p:txBody>
          <a:bodyPr wrap="square" lIns="0" tIns="0" rIns="0" bIns="0" rtlCol="0" anchor="ctr"/>
          <a:lstStyle/>
          <a:p>
            <a:pPr algn="l" indent="0" marL="0">
              <a:buNone/>
            </a:pPr>
            <a:r>
              <a:rPr lang="en-US" sz="2000" b="1" dirty="0">
                <a:solidFill>
                  <a:schemeClr val="tx2"/>
                </a:solidFill>
              </a:rPr>
              <a:t>singulier  →  ⚙ + en  →  pluriel</a:t>
            </a:r>
            <a:endParaRPr lang="en-US" sz="2000" dirty="0"/>
          </a:p>
        </p:txBody>
      </p:sp>
      <p:sp>
        <p:nvSpPr>
          <p:cNvPr id="10" name="Text 5"/>
          <p:cNvSpPr txBox="1"/>
          <p:nvPr/>
        </p:nvSpPr>
        <p:spPr>
          <a:xfrm>
            <a:off x="548640" y="2846832"/>
            <a:ext cx="3634740" cy="3444240"/>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b="1" dirty="0">
                <a:solidFill>
                  <a:schemeClr val="tx1"/>
                </a:solidFill>
              </a:rPr>
              <a:t>kat</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2  </a:t>
            </a:r>
            <a:r>
              <a:rPr lang="en-US" sz="2400" b="1" dirty="0">
                <a:solidFill>
                  <a:schemeClr val="tx1"/>
                </a:solidFill>
              </a:rPr>
              <a:t>raam</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3  </a:t>
            </a:r>
            <a:r>
              <a:rPr lang="en-US" sz="2400" b="1" dirty="0">
                <a:solidFill>
                  <a:schemeClr val="tx1"/>
                </a:solidFill>
              </a:rPr>
              <a:t>boom</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4  </a:t>
            </a:r>
            <a:r>
              <a:rPr lang="en-US" sz="2400" b="1" dirty="0">
                <a:solidFill>
                  <a:schemeClr val="tx1"/>
                </a:solidFill>
              </a:rPr>
              <a:t>bus</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5  </a:t>
            </a:r>
            <a:r>
              <a:rPr lang="en-US" sz="2400" b="1" dirty="0">
                <a:solidFill>
                  <a:schemeClr val="tx1"/>
                </a:solidFill>
              </a:rPr>
              <a:t>pen</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6  </a:t>
            </a:r>
            <a:r>
              <a:rPr lang="en-US" sz="2400" b="1" dirty="0">
                <a:solidFill>
                  <a:schemeClr val="tx1"/>
                </a:solidFill>
              </a:rPr>
              <a:t>been</a:t>
            </a:r>
            <a:r>
              <a:rPr lang="en-US" sz="2400" dirty="0">
                <a:solidFill>
                  <a:schemeClr val="tx1"/>
                </a:solidFill>
              </a:rPr>
              <a:t>  →  </a:t>
            </a:r>
            <a:r>
              <a:rPr lang="en-US" sz="2400" dirty="0">
                <a:solidFill>
                  <a:schemeClr val="accent5"/>
                </a:solidFill>
              </a:rPr>
              <a:t>…………</a:t>
            </a:r>
            <a:endParaRPr lang="en-US" sz="2400" dirty="0"/>
          </a:p>
        </p:txBody>
      </p:sp>
      <p:sp>
        <p:nvSpPr>
          <p:cNvPr id="11" name="Text 6"/>
          <p:cNvSpPr txBox="1"/>
          <p:nvPr/>
        </p:nvSpPr>
        <p:spPr>
          <a:xfrm>
            <a:off x="4594860" y="2846832"/>
            <a:ext cx="3634740" cy="3444240"/>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7  </a:t>
            </a:r>
            <a:r>
              <a:rPr lang="en-US" sz="2400" b="1" dirty="0">
                <a:solidFill>
                  <a:schemeClr val="tx1"/>
                </a:solidFill>
              </a:rPr>
              <a:t>jaar</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8  </a:t>
            </a:r>
            <a:r>
              <a:rPr lang="en-US" sz="2400" b="1" dirty="0">
                <a:solidFill>
                  <a:schemeClr val="tx1"/>
                </a:solidFill>
              </a:rPr>
              <a:t>vis</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9  </a:t>
            </a:r>
            <a:r>
              <a:rPr lang="en-US" sz="2400" b="1" dirty="0">
                <a:solidFill>
                  <a:schemeClr val="tx1"/>
                </a:solidFill>
              </a:rPr>
              <a:t>uur</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10  </a:t>
            </a:r>
            <a:r>
              <a:rPr lang="en-US" sz="2400" b="1" dirty="0">
                <a:solidFill>
                  <a:schemeClr val="tx1"/>
                </a:solidFill>
              </a:rPr>
              <a:t>les</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11  </a:t>
            </a:r>
            <a:r>
              <a:rPr lang="en-US" sz="2400" b="1" dirty="0">
                <a:solidFill>
                  <a:schemeClr val="tx1"/>
                </a:solidFill>
              </a:rPr>
              <a:t>dier</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12  </a:t>
            </a:r>
            <a:r>
              <a:rPr lang="en-US" sz="2400" b="1" dirty="0">
                <a:solidFill>
                  <a:schemeClr val="tx1"/>
                </a:solidFill>
              </a:rPr>
              <a:t>boek</a:t>
            </a:r>
            <a:r>
              <a:rPr lang="en-US" sz="2400" dirty="0">
                <a:solidFill>
                  <a:schemeClr val="tx1"/>
                </a:solidFill>
              </a:rPr>
              <a:t>  →  </a:t>
            </a:r>
            <a:r>
              <a:rPr lang="en-US" sz="2400" dirty="0">
                <a:solidFill>
                  <a:schemeClr val="accent5"/>
                </a:solidFill>
              </a:rPr>
              <a:t>…………</a:t>
            </a:r>
            <a:endParaRPr lang="en-US" sz="2400" dirty="0"/>
          </a:p>
        </p:txBody>
      </p:sp>
      <p:sp>
        <p:nvSpPr>
          <p:cNvPr id="12" name="Shape 7"/>
          <p:cNvSpPr/>
          <p:nvPr/>
        </p:nvSpPr>
        <p:spPr>
          <a:xfrm>
            <a:off x="8503920" y="2846832"/>
            <a:ext cx="3136392" cy="3444240"/>
          </a:xfrm>
          <a:prstGeom prst="roundRect">
            <a:avLst>
              <a:gd name="adj" fmla="val 2332"/>
            </a:avLst>
          </a:prstGeom>
          <a:solidFill>
            <a:schemeClr val="accent1">
              <a:alpha val="10000"/>
            </a:schemeClr>
          </a:solidFill>
          <a:ln w="15875">
            <a:solidFill>
              <a:srgbClr val="D9700F"/>
            </a:solidFill>
            <a:prstDash val="solid"/>
          </a:ln>
        </p:spPr>
      </p:sp>
      <p:sp>
        <p:nvSpPr>
          <p:cNvPr id="13" name="Text 8"/>
          <p:cNvSpPr txBox="1"/>
          <p:nvPr/>
        </p:nvSpPr>
        <p:spPr>
          <a:xfrm>
            <a:off x="8641080" y="2938272"/>
            <a:ext cx="2834640" cy="411480"/>
          </a:xfrm>
          <a:prstGeom prst="rect">
            <a:avLst/>
          </a:prstGeom>
          <a:noFill/>
          <a:ln/>
        </p:spPr>
        <p:txBody>
          <a:bodyPr wrap="square" lIns="0" tIns="0" rIns="0" bIns="0" rtlCol="0" anchor="t"/>
          <a:lstStyle/>
          <a:p>
            <a:pPr algn="l" indent="0" marL="0">
              <a:buNone/>
            </a:pPr>
            <a:r>
              <a:rPr lang="en-US" sz="1600" b="1" dirty="0">
                <a:solidFill>
                  <a:schemeClr val="accent1"/>
                </a:solidFill>
              </a:rPr>
              <a:t>★★★ Bonus du videur</a:t>
            </a:r>
            <a:endParaRPr lang="en-US" sz="1600" dirty="0"/>
          </a:p>
        </p:txBody>
      </p:sp>
      <p:sp>
        <p:nvSpPr>
          <p:cNvPr id="14" name="Text 9"/>
          <p:cNvSpPr txBox="1"/>
          <p:nvPr/>
        </p:nvSpPr>
        <p:spPr>
          <a:xfrm>
            <a:off x="8686800" y="3441192"/>
            <a:ext cx="2834640" cy="2743200"/>
          </a:xfrm>
          <a:prstGeom prst="rect">
            <a:avLst/>
          </a:prstGeom>
          <a:noFill/>
          <a:ln/>
        </p:spPr>
        <p:txBody>
          <a:bodyPr wrap="square" lIns="0" tIns="0" rIns="0" bIns="0" rtlCol="0" anchor="t"/>
          <a:lstStyle/>
          <a:p>
            <a:pPr algn="l" indent="0" marL="0">
              <a:spcAft>
                <a:spcPts val="1200"/>
              </a:spcAft>
              <a:buNone/>
            </a:pPr>
            <a:r>
              <a:rPr lang="en-US" sz="2200" b="1" dirty="0">
                <a:solidFill>
                  <a:schemeClr val="tx1"/>
                </a:solidFill>
              </a:rPr>
              <a:t>brief</a:t>
            </a:r>
            <a:r>
              <a:rPr lang="en-US" sz="2200" dirty="0">
                <a:solidFill>
                  <a:schemeClr val="tx1"/>
                </a:solidFill>
              </a:rPr>
              <a:t> → </a:t>
            </a:r>
            <a:r>
              <a:rPr lang="en-US" sz="2200" dirty="0">
                <a:solidFill>
                  <a:schemeClr val="accent5"/>
                </a:solidFill>
              </a:rPr>
              <a:t>…………</a:t>
            </a:r>
            <a:endParaRPr lang="en-US" sz="2200" dirty="0"/>
          </a:p>
          <a:p>
            <a:pPr algn="l" indent="0" marL="0">
              <a:spcAft>
                <a:spcPts val="1200"/>
              </a:spcAft>
              <a:buNone/>
            </a:pPr>
            <a:r>
              <a:rPr lang="en-US" sz="2200" b="1" dirty="0">
                <a:solidFill>
                  <a:schemeClr val="tx1"/>
                </a:solidFill>
              </a:rPr>
              <a:t>huis</a:t>
            </a:r>
            <a:r>
              <a:rPr lang="en-US" sz="2200" dirty="0">
                <a:solidFill>
                  <a:schemeClr val="tx1"/>
                </a:solidFill>
              </a:rPr>
              <a:t> → </a:t>
            </a:r>
            <a:r>
              <a:rPr lang="en-US" sz="2200" dirty="0">
                <a:solidFill>
                  <a:schemeClr val="accent5"/>
                </a:solidFill>
              </a:rPr>
              <a:t>…………</a:t>
            </a:r>
            <a:endParaRPr lang="en-US" sz="2200" dirty="0"/>
          </a:p>
          <a:p>
            <a:pPr algn="l" indent="0" marL="0">
              <a:spcAft>
                <a:spcPts val="1200"/>
              </a:spcAft>
              <a:buNone/>
            </a:pPr>
            <a:r>
              <a:rPr lang="en-US" sz="2200" b="1" dirty="0">
                <a:solidFill>
                  <a:schemeClr val="tx1"/>
                </a:solidFill>
              </a:rPr>
              <a:t>neef</a:t>
            </a:r>
            <a:r>
              <a:rPr lang="en-US" sz="2200" dirty="0">
                <a:solidFill>
                  <a:schemeClr val="tx1"/>
                </a:solidFill>
              </a:rPr>
              <a:t> → </a:t>
            </a:r>
            <a:r>
              <a:rPr lang="en-US" sz="2200" dirty="0">
                <a:solidFill>
                  <a:schemeClr val="accent5"/>
                </a:solidFill>
              </a:rPr>
              <a:t>…………</a:t>
            </a:r>
            <a:endParaRPr lang="en-US" sz="2200" dirty="0"/>
          </a:p>
          <a:p>
            <a:pPr algn="l" indent="0" marL="0">
              <a:spcAft>
                <a:spcPts val="1200"/>
              </a:spcAft>
              <a:buNone/>
            </a:pPr>
            <a:r>
              <a:rPr lang="en-US" sz="2200" b="1" dirty="0">
                <a:solidFill>
                  <a:schemeClr val="tx1"/>
                </a:solidFill>
              </a:rPr>
              <a:t>reis</a:t>
            </a:r>
            <a:r>
              <a:rPr lang="en-US" sz="2200" dirty="0">
                <a:solidFill>
                  <a:schemeClr val="tx1"/>
                </a:solidFill>
              </a:rPr>
              <a:t> → </a:t>
            </a:r>
            <a:r>
              <a:rPr lang="en-US" sz="2200" dirty="0">
                <a:solidFill>
                  <a:schemeClr val="accent5"/>
                </a:solidFill>
              </a:rPr>
              <a: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L’usine à pluriels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pluriel. Attention à la porte : je double ou je simplifie ?</a:t>
            </a:r>
            <a:endParaRPr lang="en-US" sz="1700" dirty="0"/>
          </a:p>
        </p:txBody>
      </p:sp>
      <p:pic>
        <p:nvPicPr>
          <p:cNvPr id="9" name="Image 1" descr="factory">    </p:cNvPr>
          <p:cNvPicPr>
            <a:picLocks noChangeAspect="1"/>
          </p:cNvPicPr>
          <p:nvPr/>
        </p:nvPicPr>
        <p:blipFill>
          <a:blip r:embed="rId2"/>
          <a:stretch>
            <a:fillRect/>
          </a:stretch>
        </p:blipFill>
        <p:spPr>
          <a:xfrm>
            <a:off x="548640" y="1950720"/>
            <a:ext cx="731520" cy="731520"/>
          </a:xfrm>
          <a:prstGeom prst="rect">
            <a:avLst/>
          </a:prstGeom>
        </p:spPr>
      </p:pic>
      <p:sp>
        <p:nvSpPr>
          <p:cNvPr id="10" name="Text 5"/>
          <p:cNvSpPr txBox="1"/>
          <p:nvPr/>
        </p:nvSpPr>
        <p:spPr>
          <a:xfrm>
            <a:off x="1371600" y="1978152"/>
            <a:ext cx="5486400" cy="685800"/>
          </a:xfrm>
          <a:prstGeom prst="rect">
            <a:avLst/>
          </a:prstGeom>
          <a:noFill/>
          <a:ln/>
        </p:spPr>
        <p:txBody>
          <a:bodyPr wrap="square" lIns="0" tIns="0" rIns="0" bIns="0" rtlCol="0" anchor="ctr"/>
          <a:lstStyle/>
          <a:p>
            <a:pPr algn="l" indent="0" marL="0">
              <a:buNone/>
            </a:pPr>
            <a:r>
              <a:rPr lang="en-US" sz="2000" b="1" dirty="0">
                <a:solidFill>
                  <a:schemeClr val="tx2"/>
                </a:solidFill>
              </a:rPr>
              <a:t>singulier  →  ⚙ + en  →  pluriel</a:t>
            </a:r>
            <a:endParaRPr lang="en-US" sz="2000" dirty="0"/>
          </a:p>
        </p:txBody>
      </p:sp>
      <p:sp>
        <p:nvSpPr>
          <p:cNvPr id="11" name="Text 6"/>
          <p:cNvSpPr txBox="1"/>
          <p:nvPr/>
        </p:nvSpPr>
        <p:spPr>
          <a:xfrm>
            <a:off x="548640" y="2846832"/>
            <a:ext cx="3634740" cy="3444240"/>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b="1" dirty="0">
                <a:solidFill>
                  <a:schemeClr val="tx1"/>
                </a:solidFill>
              </a:rPr>
              <a:t>kat</a:t>
            </a:r>
            <a:r>
              <a:rPr lang="en-US" sz="2400" dirty="0">
                <a:solidFill>
                  <a:schemeClr val="tx1"/>
                </a:solidFill>
              </a:rPr>
              <a:t>  →  </a:t>
            </a:r>
            <a:r>
              <a:rPr lang="en-US" sz="2400" b="1" dirty="0">
                <a:solidFill>
                  <a:schemeClr val="accent3"/>
                </a:solidFill>
              </a:rPr>
              <a:t>katten</a:t>
            </a:r>
            <a:endParaRPr lang="en-US" sz="2400" dirty="0"/>
          </a:p>
          <a:p>
            <a:pPr indent="0" marL="0">
              <a:spcAft>
                <a:spcPts val="1000"/>
              </a:spcAft>
              <a:buNone/>
            </a:pPr>
            <a:r>
              <a:rPr lang="en-US" sz="2400" b="1" dirty="0">
                <a:solidFill>
                  <a:schemeClr val="tx2"/>
                </a:solidFill>
              </a:rPr>
              <a:t>2  </a:t>
            </a:r>
            <a:r>
              <a:rPr lang="en-US" sz="2400" b="1" dirty="0">
                <a:solidFill>
                  <a:schemeClr val="tx1"/>
                </a:solidFill>
              </a:rPr>
              <a:t>raam</a:t>
            </a:r>
            <a:r>
              <a:rPr lang="en-US" sz="2400" dirty="0">
                <a:solidFill>
                  <a:schemeClr val="tx1"/>
                </a:solidFill>
              </a:rPr>
              <a:t>  →  </a:t>
            </a:r>
            <a:r>
              <a:rPr lang="en-US" sz="2400" b="1" dirty="0">
                <a:solidFill>
                  <a:schemeClr val="accent3"/>
                </a:solidFill>
              </a:rPr>
              <a:t>ramen</a:t>
            </a:r>
            <a:endParaRPr lang="en-US" sz="2400" dirty="0"/>
          </a:p>
          <a:p>
            <a:pPr indent="0" marL="0">
              <a:spcAft>
                <a:spcPts val="1000"/>
              </a:spcAft>
              <a:buNone/>
            </a:pPr>
            <a:r>
              <a:rPr lang="en-US" sz="2400" b="1" dirty="0">
                <a:solidFill>
                  <a:schemeClr val="tx2"/>
                </a:solidFill>
              </a:rPr>
              <a:t>3  </a:t>
            </a:r>
            <a:r>
              <a:rPr lang="en-US" sz="2400" b="1" dirty="0">
                <a:solidFill>
                  <a:schemeClr val="tx1"/>
                </a:solidFill>
              </a:rPr>
              <a:t>boom</a:t>
            </a:r>
            <a:r>
              <a:rPr lang="en-US" sz="2400" dirty="0">
                <a:solidFill>
                  <a:schemeClr val="tx1"/>
                </a:solidFill>
              </a:rPr>
              <a:t>  →  </a:t>
            </a:r>
            <a:r>
              <a:rPr lang="en-US" sz="2400" b="1" dirty="0">
                <a:solidFill>
                  <a:schemeClr val="accent3"/>
                </a:solidFill>
              </a:rPr>
              <a:t>bomen</a:t>
            </a:r>
            <a:endParaRPr lang="en-US" sz="2400" dirty="0"/>
          </a:p>
          <a:p>
            <a:pPr indent="0" marL="0">
              <a:spcAft>
                <a:spcPts val="1000"/>
              </a:spcAft>
              <a:buNone/>
            </a:pPr>
            <a:r>
              <a:rPr lang="en-US" sz="2400" b="1" dirty="0">
                <a:solidFill>
                  <a:schemeClr val="tx2"/>
                </a:solidFill>
              </a:rPr>
              <a:t>4  </a:t>
            </a:r>
            <a:r>
              <a:rPr lang="en-US" sz="2400" b="1" dirty="0">
                <a:solidFill>
                  <a:schemeClr val="tx1"/>
                </a:solidFill>
              </a:rPr>
              <a:t>bus</a:t>
            </a:r>
            <a:r>
              <a:rPr lang="en-US" sz="2400" dirty="0">
                <a:solidFill>
                  <a:schemeClr val="tx1"/>
                </a:solidFill>
              </a:rPr>
              <a:t>  →  </a:t>
            </a:r>
            <a:r>
              <a:rPr lang="en-US" sz="2400" b="1" dirty="0">
                <a:solidFill>
                  <a:schemeClr val="accent3"/>
                </a:solidFill>
              </a:rPr>
              <a:t>bussen</a:t>
            </a:r>
            <a:endParaRPr lang="en-US" sz="2400" dirty="0"/>
          </a:p>
          <a:p>
            <a:pPr indent="0" marL="0">
              <a:spcAft>
                <a:spcPts val="1000"/>
              </a:spcAft>
              <a:buNone/>
            </a:pPr>
            <a:r>
              <a:rPr lang="en-US" sz="2400" b="1" dirty="0">
                <a:solidFill>
                  <a:schemeClr val="tx2"/>
                </a:solidFill>
              </a:rPr>
              <a:t>5  </a:t>
            </a:r>
            <a:r>
              <a:rPr lang="en-US" sz="2400" b="1" dirty="0">
                <a:solidFill>
                  <a:schemeClr val="tx1"/>
                </a:solidFill>
              </a:rPr>
              <a:t>pen</a:t>
            </a:r>
            <a:r>
              <a:rPr lang="en-US" sz="2400" dirty="0">
                <a:solidFill>
                  <a:schemeClr val="tx1"/>
                </a:solidFill>
              </a:rPr>
              <a:t>  →  </a:t>
            </a:r>
            <a:r>
              <a:rPr lang="en-US" sz="2400" b="1" dirty="0">
                <a:solidFill>
                  <a:schemeClr val="accent3"/>
                </a:solidFill>
              </a:rPr>
              <a:t>pennen</a:t>
            </a:r>
            <a:endParaRPr lang="en-US" sz="2400" dirty="0"/>
          </a:p>
          <a:p>
            <a:pPr indent="0" marL="0">
              <a:spcAft>
                <a:spcPts val="1000"/>
              </a:spcAft>
              <a:buNone/>
            </a:pPr>
            <a:r>
              <a:rPr lang="en-US" sz="2400" b="1" dirty="0">
                <a:solidFill>
                  <a:schemeClr val="tx2"/>
                </a:solidFill>
              </a:rPr>
              <a:t>6  </a:t>
            </a:r>
            <a:r>
              <a:rPr lang="en-US" sz="2400" b="1" dirty="0">
                <a:solidFill>
                  <a:schemeClr val="tx1"/>
                </a:solidFill>
              </a:rPr>
              <a:t>been</a:t>
            </a:r>
            <a:r>
              <a:rPr lang="en-US" sz="2400" dirty="0">
                <a:solidFill>
                  <a:schemeClr val="tx1"/>
                </a:solidFill>
              </a:rPr>
              <a:t>  →  </a:t>
            </a:r>
            <a:r>
              <a:rPr lang="en-US" sz="2400" b="1" dirty="0">
                <a:solidFill>
                  <a:schemeClr val="accent3"/>
                </a:solidFill>
              </a:rPr>
              <a:t>benen</a:t>
            </a:r>
            <a:endParaRPr lang="en-US" sz="2400" dirty="0"/>
          </a:p>
        </p:txBody>
      </p:sp>
      <p:sp>
        <p:nvSpPr>
          <p:cNvPr id="12" name="Text 7"/>
          <p:cNvSpPr txBox="1"/>
          <p:nvPr/>
        </p:nvSpPr>
        <p:spPr>
          <a:xfrm>
            <a:off x="4594860" y="2846832"/>
            <a:ext cx="3634740" cy="3444240"/>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7  </a:t>
            </a:r>
            <a:r>
              <a:rPr lang="en-US" sz="2400" b="1" dirty="0">
                <a:solidFill>
                  <a:schemeClr val="tx1"/>
                </a:solidFill>
              </a:rPr>
              <a:t>jaar</a:t>
            </a:r>
            <a:r>
              <a:rPr lang="en-US" sz="2400" dirty="0">
                <a:solidFill>
                  <a:schemeClr val="tx1"/>
                </a:solidFill>
              </a:rPr>
              <a:t>  →  </a:t>
            </a:r>
            <a:r>
              <a:rPr lang="en-US" sz="2400" b="1" dirty="0">
                <a:solidFill>
                  <a:schemeClr val="accent3"/>
                </a:solidFill>
              </a:rPr>
              <a:t>jaren</a:t>
            </a:r>
            <a:endParaRPr lang="en-US" sz="2400" dirty="0"/>
          </a:p>
          <a:p>
            <a:pPr indent="0" marL="0">
              <a:spcAft>
                <a:spcPts val="1000"/>
              </a:spcAft>
              <a:buNone/>
            </a:pPr>
            <a:r>
              <a:rPr lang="en-US" sz="2400" b="1" dirty="0">
                <a:solidFill>
                  <a:schemeClr val="tx2"/>
                </a:solidFill>
              </a:rPr>
              <a:t>8  </a:t>
            </a:r>
            <a:r>
              <a:rPr lang="en-US" sz="2400" b="1" dirty="0">
                <a:solidFill>
                  <a:schemeClr val="tx1"/>
                </a:solidFill>
              </a:rPr>
              <a:t>vis</a:t>
            </a:r>
            <a:r>
              <a:rPr lang="en-US" sz="2400" dirty="0">
                <a:solidFill>
                  <a:schemeClr val="tx1"/>
                </a:solidFill>
              </a:rPr>
              <a:t>  →  </a:t>
            </a:r>
            <a:r>
              <a:rPr lang="en-US" sz="2400" b="1" dirty="0">
                <a:solidFill>
                  <a:schemeClr val="accent3"/>
                </a:solidFill>
              </a:rPr>
              <a:t>vissen</a:t>
            </a:r>
            <a:endParaRPr lang="en-US" sz="2400" dirty="0"/>
          </a:p>
          <a:p>
            <a:pPr indent="0" marL="0">
              <a:spcAft>
                <a:spcPts val="1000"/>
              </a:spcAft>
              <a:buNone/>
            </a:pPr>
            <a:r>
              <a:rPr lang="en-US" sz="2400" b="1" dirty="0">
                <a:solidFill>
                  <a:schemeClr val="tx2"/>
                </a:solidFill>
              </a:rPr>
              <a:t>9  </a:t>
            </a:r>
            <a:r>
              <a:rPr lang="en-US" sz="2400" b="1" dirty="0">
                <a:solidFill>
                  <a:schemeClr val="tx1"/>
                </a:solidFill>
              </a:rPr>
              <a:t>uur</a:t>
            </a:r>
            <a:r>
              <a:rPr lang="en-US" sz="2400" dirty="0">
                <a:solidFill>
                  <a:schemeClr val="tx1"/>
                </a:solidFill>
              </a:rPr>
              <a:t>  →  </a:t>
            </a:r>
            <a:r>
              <a:rPr lang="en-US" sz="2400" b="1" dirty="0">
                <a:solidFill>
                  <a:schemeClr val="accent3"/>
                </a:solidFill>
              </a:rPr>
              <a:t>uren</a:t>
            </a:r>
            <a:endParaRPr lang="en-US" sz="2400" dirty="0"/>
          </a:p>
          <a:p>
            <a:pPr indent="0" marL="0">
              <a:spcAft>
                <a:spcPts val="1000"/>
              </a:spcAft>
              <a:buNone/>
            </a:pPr>
            <a:r>
              <a:rPr lang="en-US" sz="2400" b="1" dirty="0">
                <a:solidFill>
                  <a:schemeClr val="tx2"/>
                </a:solidFill>
              </a:rPr>
              <a:t>10  </a:t>
            </a:r>
            <a:r>
              <a:rPr lang="en-US" sz="2400" b="1" dirty="0">
                <a:solidFill>
                  <a:schemeClr val="tx1"/>
                </a:solidFill>
              </a:rPr>
              <a:t>les</a:t>
            </a:r>
            <a:r>
              <a:rPr lang="en-US" sz="2400" dirty="0">
                <a:solidFill>
                  <a:schemeClr val="tx1"/>
                </a:solidFill>
              </a:rPr>
              <a:t>  →  </a:t>
            </a:r>
            <a:r>
              <a:rPr lang="en-US" sz="2400" b="1" dirty="0">
                <a:solidFill>
                  <a:schemeClr val="accent3"/>
                </a:solidFill>
              </a:rPr>
              <a:t>lessen</a:t>
            </a:r>
            <a:endParaRPr lang="en-US" sz="2400" dirty="0"/>
          </a:p>
          <a:p>
            <a:pPr indent="0" marL="0">
              <a:spcAft>
                <a:spcPts val="1000"/>
              </a:spcAft>
              <a:buNone/>
            </a:pPr>
            <a:r>
              <a:rPr lang="en-US" sz="2400" b="1" dirty="0">
                <a:solidFill>
                  <a:schemeClr val="tx2"/>
                </a:solidFill>
              </a:rPr>
              <a:t>11  </a:t>
            </a:r>
            <a:r>
              <a:rPr lang="en-US" sz="2400" b="1" dirty="0">
                <a:solidFill>
                  <a:schemeClr val="tx1"/>
                </a:solidFill>
              </a:rPr>
              <a:t>dier</a:t>
            </a:r>
            <a:r>
              <a:rPr lang="en-US" sz="2400" dirty="0">
                <a:solidFill>
                  <a:schemeClr val="tx1"/>
                </a:solidFill>
              </a:rPr>
              <a:t>  →  </a:t>
            </a:r>
            <a:r>
              <a:rPr lang="en-US" sz="2400" b="1" dirty="0">
                <a:solidFill>
                  <a:schemeClr val="accent3"/>
                </a:solidFill>
              </a:rPr>
              <a:t>dieren</a:t>
            </a:r>
            <a:endParaRPr lang="en-US" sz="2400" dirty="0"/>
          </a:p>
          <a:p>
            <a:pPr indent="0" marL="0">
              <a:spcAft>
                <a:spcPts val="1000"/>
              </a:spcAft>
              <a:buNone/>
            </a:pPr>
            <a:r>
              <a:rPr lang="en-US" sz="2400" b="1" dirty="0">
                <a:solidFill>
                  <a:schemeClr val="tx2"/>
                </a:solidFill>
              </a:rPr>
              <a:t>12  </a:t>
            </a:r>
            <a:r>
              <a:rPr lang="en-US" sz="2400" b="1" dirty="0">
                <a:solidFill>
                  <a:schemeClr val="tx1"/>
                </a:solidFill>
              </a:rPr>
              <a:t>boek</a:t>
            </a:r>
            <a:r>
              <a:rPr lang="en-US" sz="2400" dirty="0">
                <a:solidFill>
                  <a:schemeClr val="tx1"/>
                </a:solidFill>
              </a:rPr>
              <a:t>  →  </a:t>
            </a:r>
            <a:r>
              <a:rPr lang="en-US" sz="2400" b="1" dirty="0">
                <a:solidFill>
                  <a:schemeClr val="accent3"/>
                </a:solidFill>
              </a:rPr>
              <a:t>boeken</a:t>
            </a:r>
            <a:endParaRPr lang="en-US" sz="2400" dirty="0"/>
          </a:p>
        </p:txBody>
      </p:sp>
      <p:sp>
        <p:nvSpPr>
          <p:cNvPr id="13" name="Shape 8"/>
          <p:cNvSpPr/>
          <p:nvPr/>
        </p:nvSpPr>
        <p:spPr>
          <a:xfrm>
            <a:off x="8503920" y="2846832"/>
            <a:ext cx="3136392" cy="3444240"/>
          </a:xfrm>
          <a:prstGeom prst="roundRect">
            <a:avLst>
              <a:gd name="adj" fmla="val 2332"/>
            </a:avLst>
          </a:prstGeom>
          <a:solidFill>
            <a:schemeClr val="accent1">
              <a:alpha val="10000"/>
            </a:schemeClr>
          </a:solidFill>
          <a:ln w="15875">
            <a:solidFill>
              <a:srgbClr val="D9700F"/>
            </a:solidFill>
            <a:prstDash val="solid"/>
          </a:ln>
        </p:spPr>
      </p:sp>
      <p:sp>
        <p:nvSpPr>
          <p:cNvPr id="14" name="Text 9"/>
          <p:cNvSpPr txBox="1"/>
          <p:nvPr/>
        </p:nvSpPr>
        <p:spPr>
          <a:xfrm>
            <a:off x="8641080" y="2938272"/>
            <a:ext cx="2834640" cy="411480"/>
          </a:xfrm>
          <a:prstGeom prst="rect">
            <a:avLst/>
          </a:prstGeom>
          <a:noFill/>
          <a:ln/>
        </p:spPr>
        <p:txBody>
          <a:bodyPr wrap="square" lIns="0" tIns="0" rIns="0" bIns="0" rtlCol="0" anchor="t"/>
          <a:lstStyle/>
          <a:p>
            <a:pPr algn="l" indent="0" marL="0">
              <a:buNone/>
            </a:pPr>
            <a:r>
              <a:rPr lang="en-US" sz="1600" b="1" dirty="0">
                <a:solidFill>
                  <a:schemeClr val="accent1"/>
                </a:solidFill>
              </a:rPr>
              <a:t>★★★ Bonus du videur</a:t>
            </a:r>
            <a:endParaRPr lang="en-US" sz="1600" dirty="0"/>
          </a:p>
        </p:txBody>
      </p:sp>
      <p:sp>
        <p:nvSpPr>
          <p:cNvPr id="15" name="Text 10"/>
          <p:cNvSpPr txBox="1"/>
          <p:nvPr/>
        </p:nvSpPr>
        <p:spPr>
          <a:xfrm>
            <a:off x="8686800" y="3441192"/>
            <a:ext cx="2834640" cy="2743200"/>
          </a:xfrm>
          <a:prstGeom prst="rect">
            <a:avLst/>
          </a:prstGeom>
          <a:noFill/>
          <a:ln/>
        </p:spPr>
        <p:txBody>
          <a:bodyPr wrap="square" lIns="0" tIns="0" rIns="0" bIns="0" rtlCol="0" anchor="t"/>
          <a:lstStyle/>
          <a:p>
            <a:pPr algn="l" indent="0" marL="0">
              <a:spcAft>
                <a:spcPts val="1200"/>
              </a:spcAft>
              <a:buNone/>
            </a:pPr>
            <a:r>
              <a:rPr lang="en-US" sz="2200" b="1" dirty="0">
                <a:solidFill>
                  <a:schemeClr val="tx1"/>
                </a:solidFill>
              </a:rPr>
              <a:t>brief</a:t>
            </a:r>
            <a:r>
              <a:rPr lang="en-US" sz="2200" dirty="0">
                <a:solidFill>
                  <a:schemeClr val="tx1"/>
                </a:solidFill>
              </a:rPr>
              <a:t> → </a:t>
            </a:r>
            <a:r>
              <a:rPr lang="en-US" sz="2200" b="1" dirty="0">
                <a:solidFill>
                  <a:schemeClr val="accent3"/>
                </a:solidFill>
              </a:rPr>
              <a:t>brieven</a:t>
            </a:r>
            <a:endParaRPr lang="en-US" sz="2200" dirty="0"/>
          </a:p>
          <a:p>
            <a:pPr algn="l" indent="0" marL="0">
              <a:spcAft>
                <a:spcPts val="1200"/>
              </a:spcAft>
              <a:buNone/>
            </a:pPr>
            <a:r>
              <a:rPr lang="en-US" sz="2200" b="1" dirty="0">
                <a:solidFill>
                  <a:schemeClr val="tx1"/>
                </a:solidFill>
              </a:rPr>
              <a:t>huis</a:t>
            </a:r>
            <a:r>
              <a:rPr lang="en-US" sz="2200" dirty="0">
                <a:solidFill>
                  <a:schemeClr val="tx1"/>
                </a:solidFill>
              </a:rPr>
              <a:t> → </a:t>
            </a:r>
            <a:r>
              <a:rPr lang="en-US" sz="2200" b="1" dirty="0">
                <a:solidFill>
                  <a:schemeClr val="accent3"/>
                </a:solidFill>
              </a:rPr>
              <a:t>huizen</a:t>
            </a:r>
            <a:endParaRPr lang="en-US" sz="2200" dirty="0"/>
          </a:p>
          <a:p>
            <a:pPr algn="l" indent="0" marL="0">
              <a:spcAft>
                <a:spcPts val="1200"/>
              </a:spcAft>
              <a:buNone/>
            </a:pPr>
            <a:r>
              <a:rPr lang="en-US" sz="2200" b="1" dirty="0">
                <a:solidFill>
                  <a:schemeClr val="tx1"/>
                </a:solidFill>
              </a:rPr>
              <a:t>neef</a:t>
            </a:r>
            <a:r>
              <a:rPr lang="en-US" sz="2200" dirty="0">
                <a:solidFill>
                  <a:schemeClr val="tx1"/>
                </a:solidFill>
              </a:rPr>
              <a:t> → </a:t>
            </a:r>
            <a:r>
              <a:rPr lang="en-US" sz="2200" b="1" dirty="0">
                <a:solidFill>
                  <a:schemeClr val="accent3"/>
                </a:solidFill>
              </a:rPr>
              <a:t>neven</a:t>
            </a:r>
            <a:endParaRPr lang="en-US" sz="2200" dirty="0"/>
          </a:p>
          <a:p>
            <a:pPr algn="l" indent="0" marL="0">
              <a:spcAft>
                <a:spcPts val="1200"/>
              </a:spcAft>
              <a:buNone/>
            </a:pPr>
            <a:r>
              <a:rPr lang="en-US" sz="2200" b="1" dirty="0">
                <a:solidFill>
                  <a:schemeClr val="tx1"/>
                </a:solidFill>
              </a:rPr>
              <a:t>reis</a:t>
            </a:r>
            <a:r>
              <a:rPr lang="en-US" sz="2200" dirty="0">
                <a:solidFill>
                  <a:schemeClr val="tx1"/>
                </a:solidFill>
              </a:rPr>
              <a:t> → </a:t>
            </a:r>
            <a:r>
              <a:rPr lang="en-US" sz="2200" b="1" dirty="0">
                <a:solidFill>
                  <a:schemeClr val="accent3"/>
                </a:solidFill>
              </a:rPr>
              <a:t>reizen</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correcteur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Quelle est la bonne orthographe ? Vous avez 60 secondes.</a:t>
            </a:r>
            <a:endParaRPr lang="en-US" sz="1700" dirty="0"/>
          </a:p>
        </p:txBody>
      </p:sp>
      <p:pic>
        <p:nvPicPr>
          <p:cNvPr id="8" name="Image 1" descr="stopwatch">    </p:cNvPr>
          <p:cNvPicPr>
            <a:picLocks noChangeAspect="1"/>
          </p:cNvPicPr>
          <p:nvPr/>
        </p:nvPicPr>
        <p:blipFill>
          <a:blip r:embed="rId2"/>
          <a:stretch>
            <a:fillRect/>
          </a:stretch>
        </p:blipFill>
        <p:spPr>
          <a:xfrm>
            <a:off x="10927080" y="868680"/>
            <a:ext cx="640080" cy="640080"/>
          </a:xfrm>
          <a:prstGeom prst="rect">
            <a:avLst/>
          </a:prstGeom>
        </p:spPr>
      </p:pic>
      <p:sp>
        <p:nvSpPr>
          <p:cNvPr id="9" name="Shape 4"/>
          <p:cNvSpPr/>
          <p:nvPr/>
        </p:nvSpPr>
        <p:spPr>
          <a:xfrm>
            <a:off x="548640" y="2042160"/>
            <a:ext cx="457200" cy="457200"/>
          </a:xfrm>
          <a:prstGeom prst="ellipse">
            <a:avLst/>
          </a:prstGeom>
          <a:solidFill>
            <a:schemeClr val="tx2"/>
          </a:solidFill>
          <a:ln w="12700">
            <a:solidFill>
              <a:srgbClr val="FFFFFF">
                <a:alpha val="0"/>
              </a:srgbClr>
            </a:solidFill>
            <a:prstDash val="solid"/>
          </a:ln>
        </p:spPr>
      </p:sp>
      <p:sp>
        <p:nvSpPr>
          <p:cNvPr id="10" name="Text 5"/>
          <p:cNvSpPr txBox="1"/>
          <p:nvPr/>
        </p:nvSpPr>
        <p:spPr>
          <a:xfrm>
            <a:off x="548640" y="2042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Shape 6"/>
          <p:cNvSpPr/>
          <p:nvPr/>
        </p:nvSpPr>
        <p:spPr>
          <a:xfrm>
            <a:off x="1280160" y="1978152"/>
            <a:ext cx="2834640" cy="594360"/>
          </a:xfrm>
          <a:prstGeom prst="roundRect">
            <a:avLst>
              <a:gd name="adj" fmla="val 12308"/>
            </a:avLst>
          </a:prstGeom>
          <a:solidFill>
            <a:schemeClr val="bg1"/>
          </a:solidFill>
          <a:ln w="12700">
            <a:solidFill>
              <a:srgbClr val="4A5A70"/>
            </a:solidFill>
            <a:prstDash val="solid"/>
          </a:ln>
        </p:spPr>
      </p:sp>
      <p:sp>
        <p:nvSpPr>
          <p:cNvPr id="12" name="Text 7"/>
          <p:cNvSpPr txBox="1"/>
          <p:nvPr/>
        </p:nvSpPr>
        <p:spPr>
          <a:xfrm>
            <a:off x="1280160" y="197815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raamen</a:t>
            </a:r>
            <a:endParaRPr lang="en-US" sz="2200" dirty="0"/>
          </a:p>
        </p:txBody>
      </p:sp>
      <p:sp>
        <p:nvSpPr>
          <p:cNvPr id="13" name="Shape 8"/>
          <p:cNvSpPr/>
          <p:nvPr/>
        </p:nvSpPr>
        <p:spPr>
          <a:xfrm>
            <a:off x="4389120" y="1978152"/>
            <a:ext cx="2834640" cy="594360"/>
          </a:xfrm>
          <a:prstGeom prst="roundRect">
            <a:avLst>
              <a:gd name="adj" fmla="val 12308"/>
            </a:avLst>
          </a:prstGeom>
          <a:solidFill>
            <a:schemeClr val="bg1"/>
          </a:solidFill>
          <a:ln w="12700">
            <a:solidFill>
              <a:srgbClr val="4A5A70"/>
            </a:solidFill>
            <a:prstDash val="solid"/>
          </a:ln>
        </p:spPr>
      </p:sp>
      <p:sp>
        <p:nvSpPr>
          <p:cNvPr id="14" name="Text 9"/>
          <p:cNvSpPr txBox="1"/>
          <p:nvPr/>
        </p:nvSpPr>
        <p:spPr>
          <a:xfrm>
            <a:off x="4389120" y="197815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ramen</a:t>
            </a:r>
            <a:endParaRPr lang="en-US" sz="2200" dirty="0"/>
          </a:p>
        </p:txBody>
      </p:sp>
      <p:sp>
        <p:nvSpPr>
          <p:cNvPr id="15" name="Shape 10"/>
          <p:cNvSpPr/>
          <p:nvPr/>
        </p:nvSpPr>
        <p:spPr>
          <a:xfrm>
            <a:off x="548640" y="2791968"/>
            <a:ext cx="457200" cy="457200"/>
          </a:xfrm>
          <a:prstGeom prst="ellipse">
            <a:avLst/>
          </a:prstGeom>
          <a:solidFill>
            <a:schemeClr val="tx2"/>
          </a:solidFill>
          <a:ln w="12700">
            <a:solidFill>
              <a:srgbClr val="FFFFFF">
                <a:alpha val="0"/>
              </a:srgbClr>
            </a:solidFill>
            <a:prstDash val="solid"/>
          </a:ln>
        </p:spPr>
      </p:sp>
      <p:sp>
        <p:nvSpPr>
          <p:cNvPr id="16" name="Text 11"/>
          <p:cNvSpPr txBox="1"/>
          <p:nvPr/>
        </p:nvSpPr>
        <p:spPr>
          <a:xfrm>
            <a:off x="548640" y="27919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Shape 12"/>
          <p:cNvSpPr/>
          <p:nvPr/>
        </p:nvSpPr>
        <p:spPr>
          <a:xfrm>
            <a:off x="1280160" y="2727960"/>
            <a:ext cx="2834640" cy="594360"/>
          </a:xfrm>
          <a:prstGeom prst="roundRect">
            <a:avLst>
              <a:gd name="adj" fmla="val 12308"/>
            </a:avLst>
          </a:prstGeom>
          <a:solidFill>
            <a:schemeClr val="bg1"/>
          </a:solidFill>
          <a:ln w="12700">
            <a:solidFill>
              <a:srgbClr val="4A5A70"/>
            </a:solidFill>
            <a:prstDash val="solid"/>
          </a:ln>
        </p:spPr>
      </p:sp>
      <p:sp>
        <p:nvSpPr>
          <p:cNvPr id="18" name="Text 13"/>
          <p:cNvSpPr txBox="1"/>
          <p:nvPr/>
        </p:nvSpPr>
        <p:spPr>
          <a:xfrm>
            <a:off x="1280160" y="2727960"/>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katten</a:t>
            </a:r>
            <a:endParaRPr lang="en-US" sz="2200" dirty="0"/>
          </a:p>
        </p:txBody>
      </p:sp>
      <p:sp>
        <p:nvSpPr>
          <p:cNvPr id="19" name="Shape 14"/>
          <p:cNvSpPr/>
          <p:nvPr/>
        </p:nvSpPr>
        <p:spPr>
          <a:xfrm>
            <a:off x="4389120" y="2727960"/>
            <a:ext cx="2834640" cy="594360"/>
          </a:xfrm>
          <a:prstGeom prst="roundRect">
            <a:avLst>
              <a:gd name="adj" fmla="val 12308"/>
            </a:avLst>
          </a:prstGeom>
          <a:solidFill>
            <a:schemeClr val="bg1"/>
          </a:solidFill>
          <a:ln w="12700">
            <a:solidFill>
              <a:srgbClr val="4A5A70"/>
            </a:solidFill>
            <a:prstDash val="solid"/>
          </a:ln>
        </p:spPr>
      </p:sp>
      <p:sp>
        <p:nvSpPr>
          <p:cNvPr id="20" name="Text 15"/>
          <p:cNvSpPr txBox="1"/>
          <p:nvPr/>
        </p:nvSpPr>
        <p:spPr>
          <a:xfrm>
            <a:off x="4389120" y="2727960"/>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katen</a:t>
            </a:r>
            <a:endParaRPr lang="en-US" sz="2200" dirty="0"/>
          </a:p>
        </p:txBody>
      </p:sp>
      <p:sp>
        <p:nvSpPr>
          <p:cNvPr id="21" name="Shape 16"/>
          <p:cNvSpPr/>
          <p:nvPr/>
        </p:nvSpPr>
        <p:spPr>
          <a:xfrm>
            <a:off x="548640" y="3541776"/>
            <a:ext cx="457200" cy="457200"/>
          </a:xfrm>
          <a:prstGeom prst="ellipse">
            <a:avLst/>
          </a:prstGeom>
          <a:solidFill>
            <a:schemeClr val="tx2"/>
          </a:solidFill>
          <a:ln w="12700">
            <a:solidFill>
              <a:srgbClr val="FFFFFF">
                <a:alpha val="0"/>
              </a:srgbClr>
            </a:solidFill>
            <a:prstDash val="solid"/>
          </a:ln>
        </p:spPr>
      </p:sp>
      <p:sp>
        <p:nvSpPr>
          <p:cNvPr id="22" name="Text 17"/>
          <p:cNvSpPr txBox="1"/>
          <p:nvPr/>
        </p:nvSpPr>
        <p:spPr>
          <a:xfrm>
            <a:off x="548640" y="35417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Shape 18"/>
          <p:cNvSpPr/>
          <p:nvPr/>
        </p:nvSpPr>
        <p:spPr>
          <a:xfrm>
            <a:off x="1280160" y="3477768"/>
            <a:ext cx="2834640" cy="594360"/>
          </a:xfrm>
          <a:prstGeom prst="roundRect">
            <a:avLst>
              <a:gd name="adj" fmla="val 12308"/>
            </a:avLst>
          </a:prstGeom>
          <a:solidFill>
            <a:schemeClr val="bg1"/>
          </a:solidFill>
          <a:ln w="12700">
            <a:solidFill>
              <a:srgbClr val="4A5A70"/>
            </a:solidFill>
            <a:prstDash val="solid"/>
          </a:ln>
        </p:spPr>
      </p:sp>
      <p:sp>
        <p:nvSpPr>
          <p:cNvPr id="24" name="Text 19"/>
          <p:cNvSpPr txBox="1"/>
          <p:nvPr/>
        </p:nvSpPr>
        <p:spPr>
          <a:xfrm>
            <a:off x="1280160" y="3477768"/>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boomen</a:t>
            </a:r>
            <a:endParaRPr lang="en-US" sz="2200" dirty="0"/>
          </a:p>
        </p:txBody>
      </p:sp>
      <p:sp>
        <p:nvSpPr>
          <p:cNvPr id="25" name="Shape 20"/>
          <p:cNvSpPr/>
          <p:nvPr/>
        </p:nvSpPr>
        <p:spPr>
          <a:xfrm>
            <a:off x="4389120" y="3477768"/>
            <a:ext cx="2834640" cy="594360"/>
          </a:xfrm>
          <a:prstGeom prst="roundRect">
            <a:avLst>
              <a:gd name="adj" fmla="val 12308"/>
            </a:avLst>
          </a:prstGeom>
          <a:solidFill>
            <a:schemeClr val="bg1"/>
          </a:solidFill>
          <a:ln w="12700">
            <a:solidFill>
              <a:srgbClr val="4A5A70"/>
            </a:solidFill>
            <a:prstDash val="solid"/>
          </a:ln>
        </p:spPr>
      </p:sp>
      <p:sp>
        <p:nvSpPr>
          <p:cNvPr id="26" name="Text 21"/>
          <p:cNvSpPr txBox="1"/>
          <p:nvPr/>
        </p:nvSpPr>
        <p:spPr>
          <a:xfrm>
            <a:off x="4389120" y="3477768"/>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bomen</a:t>
            </a:r>
            <a:endParaRPr lang="en-US" sz="2200" dirty="0"/>
          </a:p>
        </p:txBody>
      </p:sp>
      <p:sp>
        <p:nvSpPr>
          <p:cNvPr id="27" name="Shape 22"/>
          <p:cNvSpPr/>
          <p:nvPr/>
        </p:nvSpPr>
        <p:spPr>
          <a:xfrm>
            <a:off x="548640" y="4291584"/>
            <a:ext cx="457200" cy="457200"/>
          </a:xfrm>
          <a:prstGeom prst="ellipse">
            <a:avLst/>
          </a:prstGeom>
          <a:solidFill>
            <a:schemeClr val="tx2"/>
          </a:solidFill>
          <a:ln w="12700">
            <a:solidFill>
              <a:srgbClr val="FFFFFF">
                <a:alpha val="0"/>
              </a:srgbClr>
            </a:solidFill>
            <a:prstDash val="solid"/>
          </a:ln>
        </p:spPr>
      </p:sp>
      <p:sp>
        <p:nvSpPr>
          <p:cNvPr id="28" name="Text 23"/>
          <p:cNvSpPr txBox="1"/>
          <p:nvPr/>
        </p:nvSpPr>
        <p:spPr>
          <a:xfrm>
            <a:off x="548640" y="4291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9" name="Shape 24"/>
          <p:cNvSpPr/>
          <p:nvPr/>
        </p:nvSpPr>
        <p:spPr>
          <a:xfrm>
            <a:off x="1280160" y="4227576"/>
            <a:ext cx="2834640" cy="594360"/>
          </a:xfrm>
          <a:prstGeom prst="roundRect">
            <a:avLst>
              <a:gd name="adj" fmla="val 12308"/>
            </a:avLst>
          </a:prstGeom>
          <a:solidFill>
            <a:schemeClr val="bg1"/>
          </a:solidFill>
          <a:ln w="12700">
            <a:solidFill>
              <a:srgbClr val="4A5A70"/>
            </a:solidFill>
            <a:prstDash val="solid"/>
          </a:ln>
        </p:spPr>
      </p:sp>
      <p:sp>
        <p:nvSpPr>
          <p:cNvPr id="30" name="Text 25"/>
          <p:cNvSpPr txBox="1"/>
          <p:nvPr/>
        </p:nvSpPr>
        <p:spPr>
          <a:xfrm>
            <a:off x="1280160" y="4227576"/>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bussen</a:t>
            </a:r>
            <a:endParaRPr lang="en-US" sz="2200" dirty="0"/>
          </a:p>
        </p:txBody>
      </p:sp>
      <p:sp>
        <p:nvSpPr>
          <p:cNvPr id="31" name="Shape 26"/>
          <p:cNvSpPr/>
          <p:nvPr/>
        </p:nvSpPr>
        <p:spPr>
          <a:xfrm>
            <a:off x="4389120" y="4227576"/>
            <a:ext cx="2834640" cy="594360"/>
          </a:xfrm>
          <a:prstGeom prst="roundRect">
            <a:avLst>
              <a:gd name="adj" fmla="val 12308"/>
            </a:avLst>
          </a:prstGeom>
          <a:solidFill>
            <a:schemeClr val="bg1"/>
          </a:solidFill>
          <a:ln w="12700">
            <a:solidFill>
              <a:srgbClr val="4A5A70"/>
            </a:solidFill>
            <a:prstDash val="solid"/>
          </a:ln>
        </p:spPr>
      </p:sp>
      <p:sp>
        <p:nvSpPr>
          <p:cNvPr id="32" name="Text 27"/>
          <p:cNvSpPr txBox="1"/>
          <p:nvPr/>
        </p:nvSpPr>
        <p:spPr>
          <a:xfrm>
            <a:off x="4389120" y="4227576"/>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busen</a:t>
            </a:r>
            <a:endParaRPr lang="en-US" sz="2200" dirty="0"/>
          </a:p>
        </p:txBody>
      </p:sp>
      <p:sp>
        <p:nvSpPr>
          <p:cNvPr id="33" name="Shape 28"/>
          <p:cNvSpPr/>
          <p:nvPr/>
        </p:nvSpPr>
        <p:spPr>
          <a:xfrm>
            <a:off x="548640" y="5041392"/>
            <a:ext cx="457200" cy="457200"/>
          </a:xfrm>
          <a:prstGeom prst="ellipse">
            <a:avLst/>
          </a:prstGeom>
          <a:solidFill>
            <a:schemeClr val="tx2"/>
          </a:solidFill>
          <a:ln w="12700">
            <a:solidFill>
              <a:srgbClr val="FFFFFF">
                <a:alpha val="0"/>
              </a:srgbClr>
            </a:solidFill>
            <a:prstDash val="solid"/>
          </a:ln>
        </p:spPr>
      </p:sp>
      <p:sp>
        <p:nvSpPr>
          <p:cNvPr id="34" name="Text 29"/>
          <p:cNvSpPr txBox="1"/>
          <p:nvPr/>
        </p:nvSpPr>
        <p:spPr>
          <a:xfrm>
            <a:off x="548640" y="50413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5" name="Shape 30"/>
          <p:cNvSpPr/>
          <p:nvPr/>
        </p:nvSpPr>
        <p:spPr>
          <a:xfrm>
            <a:off x="1280160" y="4977384"/>
            <a:ext cx="2834640" cy="594360"/>
          </a:xfrm>
          <a:prstGeom prst="roundRect">
            <a:avLst>
              <a:gd name="adj" fmla="val 12308"/>
            </a:avLst>
          </a:prstGeom>
          <a:solidFill>
            <a:schemeClr val="bg1"/>
          </a:solidFill>
          <a:ln w="12700">
            <a:solidFill>
              <a:srgbClr val="4A5A70"/>
            </a:solidFill>
            <a:prstDash val="solid"/>
          </a:ln>
        </p:spPr>
      </p:sp>
      <p:sp>
        <p:nvSpPr>
          <p:cNvPr id="36" name="Text 31"/>
          <p:cNvSpPr txBox="1"/>
          <p:nvPr/>
        </p:nvSpPr>
        <p:spPr>
          <a:xfrm>
            <a:off x="1280160" y="4977384"/>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jaaren</a:t>
            </a:r>
            <a:endParaRPr lang="en-US" sz="2200" dirty="0"/>
          </a:p>
        </p:txBody>
      </p:sp>
      <p:sp>
        <p:nvSpPr>
          <p:cNvPr id="37" name="Shape 32"/>
          <p:cNvSpPr/>
          <p:nvPr/>
        </p:nvSpPr>
        <p:spPr>
          <a:xfrm>
            <a:off x="4389120" y="4977384"/>
            <a:ext cx="2834640" cy="594360"/>
          </a:xfrm>
          <a:prstGeom prst="roundRect">
            <a:avLst>
              <a:gd name="adj" fmla="val 12308"/>
            </a:avLst>
          </a:prstGeom>
          <a:solidFill>
            <a:schemeClr val="bg1"/>
          </a:solidFill>
          <a:ln w="12700">
            <a:solidFill>
              <a:srgbClr val="4A5A70"/>
            </a:solidFill>
            <a:prstDash val="solid"/>
          </a:ln>
        </p:spPr>
      </p:sp>
      <p:sp>
        <p:nvSpPr>
          <p:cNvPr id="38" name="Text 33"/>
          <p:cNvSpPr txBox="1"/>
          <p:nvPr/>
        </p:nvSpPr>
        <p:spPr>
          <a:xfrm>
            <a:off x="4389120" y="4977384"/>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jaren</a:t>
            </a:r>
            <a:endParaRPr lang="en-US" sz="2200" dirty="0"/>
          </a:p>
        </p:txBody>
      </p:sp>
      <p:sp>
        <p:nvSpPr>
          <p:cNvPr id="39" name="Shape 34"/>
          <p:cNvSpPr/>
          <p:nvPr/>
        </p:nvSpPr>
        <p:spPr>
          <a:xfrm>
            <a:off x="548640" y="5791200"/>
            <a:ext cx="457200" cy="457200"/>
          </a:xfrm>
          <a:prstGeom prst="ellipse">
            <a:avLst/>
          </a:prstGeom>
          <a:solidFill>
            <a:schemeClr val="tx2"/>
          </a:solidFill>
          <a:ln w="12700">
            <a:solidFill>
              <a:srgbClr val="FFFFFF">
                <a:alpha val="0"/>
              </a:srgbClr>
            </a:solidFill>
            <a:prstDash val="solid"/>
          </a:ln>
        </p:spPr>
      </p:sp>
      <p:sp>
        <p:nvSpPr>
          <p:cNvPr id="40" name="Text 35"/>
          <p:cNvSpPr txBox="1"/>
          <p:nvPr/>
        </p:nvSpPr>
        <p:spPr>
          <a:xfrm>
            <a:off x="548640" y="5791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41" name="Shape 36"/>
          <p:cNvSpPr/>
          <p:nvPr/>
        </p:nvSpPr>
        <p:spPr>
          <a:xfrm>
            <a:off x="1280160" y="5727192"/>
            <a:ext cx="2834640" cy="594360"/>
          </a:xfrm>
          <a:prstGeom prst="roundRect">
            <a:avLst>
              <a:gd name="adj" fmla="val 12308"/>
            </a:avLst>
          </a:prstGeom>
          <a:solidFill>
            <a:schemeClr val="bg1"/>
          </a:solidFill>
          <a:ln w="12700">
            <a:solidFill>
              <a:srgbClr val="4A5A70"/>
            </a:solidFill>
            <a:prstDash val="solid"/>
          </a:ln>
        </p:spPr>
      </p:sp>
      <p:sp>
        <p:nvSpPr>
          <p:cNvPr id="42" name="Text 37"/>
          <p:cNvSpPr txBox="1"/>
          <p:nvPr/>
        </p:nvSpPr>
        <p:spPr>
          <a:xfrm>
            <a:off x="1280160" y="572719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lessen</a:t>
            </a:r>
            <a:endParaRPr lang="en-US" sz="2200" dirty="0"/>
          </a:p>
        </p:txBody>
      </p:sp>
      <p:sp>
        <p:nvSpPr>
          <p:cNvPr id="43" name="Shape 38"/>
          <p:cNvSpPr/>
          <p:nvPr/>
        </p:nvSpPr>
        <p:spPr>
          <a:xfrm>
            <a:off x="4389120" y="5727192"/>
            <a:ext cx="2834640" cy="594360"/>
          </a:xfrm>
          <a:prstGeom prst="roundRect">
            <a:avLst>
              <a:gd name="adj" fmla="val 12308"/>
            </a:avLst>
          </a:prstGeom>
          <a:solidFill>
            <a:schemeClr val="bg1"/>
          </a:solidFill>
          <a:ln w="12700">
            <a:solidFill>
              <a:srgbClr val="4A5A70"/>
            </a:solidFill>
            <a:prstDash val="solid"/>
          </a:ln>
        </p:spPr>
      </p:sp>
      <p:sp>
        <p:nvSpPr>
          <p:cNvPr id="44" name="Text 39"/>
          <p:cNvSpPr txBox="1"/>
          <p:nvPr/>
        </p:nvSpPr>
        <p:spPr>
          <a:xfrm>
            <a:off x="4389120" y="572719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lesen</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correcteur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Quelle est la bonne orthographe ? Vous avez 60 secondes.</a:t>
            </a:r>
            <a:endParaRPr lang="en-US" sz="1700" dirty="0"/>
          </a:p>
        </p:txBody>
      </p:sp>
      <p:pic>
        <p:nvPicPr>
          <p:cNvPr id="9" name="Image 1" descr="stopwatch">    </p:cNvPr>
          <p:cNvPicPr>
            <a:picLocks noChangeAspect="1"/>
          </p:cNvPicPr>
          <p:nvPr/>
        </p:nvPicPr>
        <p:blipFill>
          <a:blip r:embed="rId2"/>
          <a:stretch>
            <a:fillRect/>
          </a:stretch>
        </p:blipFill>
        <p:spPr>
          <a:xfrm>
            <a:off x="10927080" y="868680"/>
            <a:ext cx="640080" cy="640080"/>
          </a:xfrm>
          <a:prstGeom prst="rect">
            <a:avLst/>
          </a:prstGeom>
        </p:spPr>
      </p:pic>
      <p:sp>
        <p:nvSpPr>
          <p:cNvPr id="10" name="Shape 5"/>
          <p:cNvSpPr/>
          <p:nvPr/>
        </p:nvSpPr>
        <p:spPr>
          <a:xfrm>
            <a:off x="548640" y="2042160"/>
            <a:ext cx="457200" cy="457200"/>
          </a:xfrm>
          <a:prstGeom prst="ellipse">
            <a:avLst/>
          </a:prstGeom>
          <a:solidFill>
            <a:schemeClr val="tx2"/>
          </a:solidFill>
          <a:ln w="12700">
            <a:solidFill>
              <a:srgbClr val="FFFFFF">
                <a:alpha val="0"/>
              </a:srgbClr>
            </a:solidFill>
            <a:prstDash val="solid"/>
          </a:ln>
        </p:spPr>
      </p:sp>
      <p:sp>
        <p:nvSpPr>
          <p:cNvPr id="11" name="Text 6"/>
          <p:cNvSpPr txBox="1"/>
          <p:nvPr/>
        </p:nvSpPr>
        <p:spPr>
          <a:xfrm>
            <a:off x="548640" y="2042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Shape 7"/>
          <p:cNvSpPr/>
          <p:nvPr/>
        </p:nvSpPr>
        <p:spPr>
          <a:xfrm>
            <a:off x="1280160" y="1978152"/>
            <a:ext cx="2834640" cy="594360"/>
          </a:xfrm>
          <a:prstGeom prst="roundRect">
            <a:avLst>
              <a:gd name="adj" fmla="val 12308"/>
            </a:avLst>
          </a:prstGeom>
          <a:solidFill>
            <a:schemeClr val="bg1"/>
          </a:solidFill>
          <a:ln w="25400">
            <a:solidFill>
              <a:srgbClr val="B83227"/>
            </a:solidFill>
            <a:prstDash val="solid"/>
          </a:ln>
        </p:spPr>
      </p:sp>
      <p:sp>
        <p:nvSpPr>
          <p:cNvPr id="13" name="Text 8"/>
          <p:cNvSpPr txBox="1"/>
          <p:nvPr/>
        </p:nvSpPr>
        <p:spPr>
          <a:xfrm>
            <a:off x="1280160" y="1978152"/>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raamen</a:t>
            </a:r>
            <a:endParaRPr lang="en-US" sz="2200" dirty="0"/>
          </a:p>
        </p:txBody>
      </p:sp>
      <p:pic>
        <p:nvPicPr>
          <p:cNvPr id="14" name="Image 2" descr="Times">    </p:cNvPr>
          <p:cNvPicPr>
            <a:picLocks noChangeAspect="1"/>
          </p:cNvPicPr>
          <p:nvPr/>
        </p:nvPicPr>
        <p:blipFill>
          <a:blip r:embed="rId3"/>
          <a:stretch>
            <a:fillRect/>
          </a:stretch>
        </p:blipFill>
        <p:spPr>
          <a:xfrm>
            <a:off x="3749040" y="2115312"/>
            <a:ext cx="274320" cy="274320"/>
          </a:xfrm>
          <a:prstGeom prst="rect">
            <a:avLst/>
          </a:prstGeom>
        </p:spPr>
      </p:pic>
      <p:sp>
        <p:nvSpPr>
          <p:cNvPr id="15" name="Shape 9"/>
          <p:cNvSpPr/>
          <p:nvPr/>
        </p:nvSpPr>
        <p:spPr>
          <a:xfrm>
            <a:off x="4389120" y="1978152"/>
            <a:ext cx="2834640" cy="594360"/>
          </a:xfrm>
          <a:prstGeom prst="roundRect">
            <a:avLst>
              <a:gd name="adj" fmla="val 12308"/>
            </a:avLst>
          </a:prstGeom>
          <a:solidFill>
            <a:srgbClr val="EDF6F0"/>
          </a:solidFill>
          <a:ln w="25400">
            <a:solidFill>
              <a:srgbClr val="2E7D4F"/>
            </a:solidFill>
            <a:prstDash val="solid"/>
          </a:ln>
        </p:spPr>
      </p:sp>
      <p:sp>
        <p:nvSpPr>
          <p:cNvPr id="16" name="Text 10"/>
          <p:cNvSpPr txBox="1"/>
          <p:nvPr/>
        </p:nvSpPr>
        <p:spPr>
          <a:xfrm>
            <a:off x="4389120" y="197815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ramen</a:t>
            </a:r>
            <a:endParaRPr lang="en-US" sz="2200" dirty="0"/>
          </a:p>
        </p:txBody>
      </p:sp>
      <p:pic>
        <p:nvPicPr>
          <p:cNvPr id="17" name="Image 3" descr="Check">    </p:cNvPr>
          <p:cNvPicPr>
            <a:picLocks noChangeAspect="1"/>
          </p:cNvPicPr>
          <p:nvPr/>
        </p:nvPicPr>
        <p:blipFill>
          <a:blip r:embed="rId4"/>
          <a:stretch>
            <a:fillRect/>
          </a:stretch>
        </p:blipFill>
        <p:spPr>
          <a:xfrm>
            <a:off x="6858000" y="2115312"/>
            <a:ext cx="274320" cy="274320"/>
          </a:xfrm>
          <a:prstGeom prst="rect">
            <a:avLst/>
          </a:prstGeom>
        </p:spPr>
      </p:pic>
      <p:sp>
        <p:nvSpPr>
          <p:cNvPr id="18" name="Shape 11"/>
          <p:cNvSpPr/>
          <p:nvPr/>
        </p:nvSpPr>
        <p:spPr>
          <a:xfrm>
            <a:off x="548640" y="2791968"/>
            <a:ext cx="457200" cy="457200"/>
          </a:xfrm>
          <a:prstGeom prst="ellipse">
            <a:avLst/>
          </a:prstGeom>
          <a:solidFill>
            <a:schemeClr val="tx2"/>
          </a:solidFill>
          <a:ln w="12700">
            <a:solidFill>
              <a:srgbClr val="FFFFFF">
                <a:alpha val="0"/>
              </a:srgbClr>
            </a:solidFill>
            <a:prstDash val="solid"/>
          </a:ln>
        </p:spPr>
      </p:sp>
      <p:sp>
        <p:nvSpPr>
          <p:cNvPr id="19" name="Text 12"/>
          <p:cNvSpPr txBox="1"/>
          <p:nvPr/>
        </p:nvSpPr>
        <p:spPr>
          <a:xfrm>
            <a:off x="548640" y="27919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0" name="Shape 13"/>
          <p:cNvSpPr/>
          <p:nvPr/>
        </p:nvSpPr>
        <p:spPr>
          <a:xfrm>
            <a:off x="1280160" y="2727960"/>
            <a:ext cx="2834640" cy="594360"/>
          </a:xfrm>
          <a:prstGeom prst="roundRect">
            <a:avLst>
              <a:gd name="adj" fmla="val 12308"/>
            </a:avLst>
          </a:prstGeom>
          <a:solidFill>
            <a:srgbClr val="EDF6F0"/>
          </a:solidFill>
          <a:ln w="25400">
            <a:solidFill>
              <a:srgbClr val="2E7D4F"/>
            </a:solidFill>
            <a:prstDash val="solid"/>
          </a:ln>
        </p:spPr>
      </p:sp>
      <p:sp>
        <p:nvSpPr>
          <p:cNvPr id="21" name="Text 14"/>
          <p:cNvSpPr txBox="1"/>
          <p:nvPr/>
        </p:nvSpPr>
        <p:spPr>
          <a:xfrm>
            <a:off x="1280160" y="2727960"/>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katten</a:t>
            </a:r>
            <a:endParaRPr lang="en-US" sz="2200" dirty="0"/>
          </a:p>
        </p:txBody>
      </p:sp>
      <p:pic>
        <p:nvPicPr>
          <p:cNvPr id="22" name="Image 4" descr="Check">    </p:cNvPr>
          <p:cNvPicPr>
            <a:picLocks noChangeAspect="1"/>
          </p:cNvPicPr>
          <p:nvPr/>
        </p:nvPicPr>
        <p:blipFill>
          <a:blip r:embed="rId5"/>
          <a:stretch>
            <a:fillRect/>
          </a:stretch>
        </p:blipFill>
        <p:spPr>
          <a:xfrm>
            <a:off x="3749040" y="2865120"/>
            <a:ext cx="274320" cy="274320"/>
          </a:xfrm>
          <a:prstGeom prst="rect">
            <a:avLst/>
          </a:prstGeom>
        </p:spPr>
      </p:pic>
      <p:sp>
        <p:nvSpPr>
          <p:cNvPr id="23" name="Shape 15"/>
          <p:cNvSpPr/>
          <p:nvPr/>
        </p:nvSpPr>
        <p:spPr>
          <a:xfrm>
            <a:off x="4389120" y="2727960"/>
            <a:ext cx="2834640" cy="594360"/>
          </a:xfrm>
          <a:prstGeom prst="roundRect">
            <a:avLst>
              <a:gd name="adj" fmla="val 12308"/>
            </a:avLst>
          </a:prstGeom>
          <a:solidFill>
            <a:schemeClr val="bg1"/>
          </a:solidFill>
          <a:ln w="25400">
            <a:solidFill>
              <a:srgbClr val="B83227"/>
            </a:solidFill>
            <a:prstDash val="solid"/>
          </a:ln>
        </p:spPr>
      </p:sp>
      <p:sp>
        <p:nvSpPr>
          <p:cNvPr id="24" name="Text 16"/>
          <p:cNvSpPr txBox="1"/>
          <p:nvPr/>
        </p:nvSpPr>
        <p:spPr>
          <a:xfrm>
            <a:off x="4389120" y="2727960"/>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katen</a:t>
            </a:r>
            <a:endParaRPr lang="en-US" sz="2200" dirty="0"/>
          </a:p>
        </p:txBody>
      </p:sp>
      <p:pic>
        <p:nvPicPr>
          <p:cNvPr id="25" name="Image 5" descr="Times">    </p:cNvPr>
          <p:cNvPicPr>
            <a:picLocks noChangeAspect="1"/>
          </p:cNvPicPr>
          <p:nvPr/>
        </p:nvPicPr>
        <p:blipFill>
          <a:blip r:embed="rId6"/>
          <a:stretch>
            <a:fillRect/>
          </a:stretch>
        </p:blipFill>
        <p:spPr>
          <a:xfrm>
            <a:off x="6858000" y="2865120"/>
            <a:ext cx="274320" cy="274320"/>
          </a:xfrm>
          <a:prstGeom prst="rect">
            <a:avLst/>
          </a:prstGeom>
        </p:spPr>
      </p:pic>
      <p:sp>
        <p:nvSpPr>
          <p:cNvPr id="26" name="Shape 17"/>
          <p:cNvSpPr/>
          <p:nvPr/>
        </p:nvSpPr>
        <p:spPr>
          <a:xfrm>
            <a:off x="548640" y="3541776"/>
            <a:ext cx="457200" cy="457200"/>
          </a:xfrm>
          <a:prstGeom prst="ellipse">
            <a:avLst/>
          </a:prstGeom>
          <a:solidFill>
            <a:schemeClr val="tx2"/>
          </a:solidFill>
          <a:ln w="12700">
            <a:solidFill>
              <a:srgbClr val="FFFFFF">
                <a:alpha val="0"/>
              </a:srgbClr>
            </a:solidFill>
            <a:prstDash val="solid"/>
          </a:ln>
        </p:spPr>
      </p:sp>
      <p:sp>
        <p:nvSpPr>
          <p:cNvPr id="27" name="Text 18"/>
          <p:cNvSpPr txBox="1"/>
          <p:nvPr/>
        </p:nvSpPr>
        <p:spPr>
          <a:xfrm>
            <a:off x="548640" y="35417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Shape 19"/>
          <p:cNvSpPr/>
          <p:nvPr/>
        </p:nvSpPr>
        <p:spPr>
          <a:xfrm>
            <a:off x="1280160" y="3477768"/>
            <a:ext cx="2834640" cy="594360"/>
          </a:xfrm>
          <a:prstGeom prst="roundRect">
            <a:avLst>
              <a:gd name="adj" fmla="val 12308"/>
            </a:avLst>
          </a:prstGeom>
          <a:solidFill>
            <a:schemeClr val="bg1"/>
          </a:solidFill>
          <a:ln w="25400">
            <a:solidFill>
              <a:srgbClr val="B83227"/>
            </a:solidFill>
            <a:prstDash val="solid"/>
          </a:ln>
        </p:spPr>
      </p:sp>
      <p:sp>
        <p:nvSpPr>
          <p:cNvPr id="29" name="Text 20"/>
          <p:cNvSpPr txBox="1"/>
          <p:nvPr/>
        </p:nvSpPr>
        <p:spPr>
          <a:xfrm>
            <a:off x="1280160" y="3477768"/>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boomen</a:t>
            </a:r>
            <a:endParaRPr lang="en-US" sz="2200" dirty="0"/>
          </a:p>
        </p:txBody>
      </p:sp>
      <p:pic>
        <p:nvPicPr>
          <p:cNvPr id="30" name="Image 6" descr="Times">    </p:cNvPr>
          <p:cNvPicPr>
            <a:picLocks noChangeAspect="1"/>
          </p:cNvPicPr>
          <p:nvPr/>
        </p:nvPicPr>
        <p:blipFill>
          <a:blip r:embed="rId7"/>
          <a:stretch>
            <a:fillRect/>
          </a:stretch>
        </p:blipFill>
        <p:spPr>
          <a:xfrm>
            <a:off x="3749040" y="3614928"/>
            <a:ext cx="274320" cy="274320"/>
          </a:xfrm>
          <a:prstGeom prst="rect">
            <a:avLst/>
          </a:prstGeom>
        </p:spPr>
      </p:pic>
      <p:sp>
        <p:nvSpPr>
          <p:cNvPr id="31" name="Shape 21"/>
          <p:cNvSpPr/>
          <p:nvPr/>
        </p:nvSpPr>
        <p:spPr>
          <a:xfrm>
            <a:off x="4389120" y="3477768"/>
            <a:ext cx="2834640" cy="594360"/>
          </a:xfrm>
          <a:prstGeom prst="roundRect">
            <a:avLst>
              <a:gd name="adj" fmla="val 12308"/>
            </a:avLst>
          </a:prstGeom>
          <a:solidFill>
            <a:srgbClr val="EDF6F0"/>
          </a:solidFill>
          <a:ln w="25400">
            <a:solidFill>
              <a:srgbClr val="2E7D4F"/>
            </a:solidFill>
            <a:prstDash val="solid"/>
          </a:ln>
        </p:spPr>
      </p:sp>
      <p:sp>
        <p:nvSpPr>
          <p:cNvPr id="32" name="Text 22"/>
          <p:cNvSpPr txBox="1"/>
          <p:nvPr/>
        </p:nvSpPr>
        <p:spPr>
          <a:xfrm>
            <a:off x="4389120" y="3477768"/>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bomen</a:t>
            </a:r>
            <a:endParaRPr lang="en-US" sz="2200" dirty="0"/>
          </a:p>
        </p:txBody>
      </p:sp>
      <p:pic>
        <p:nvPicPr>
          <p:cNvPr id="33" name="Image 7" descr="Check">    </p:cNvPr>
          <p:cNvPicPr>
            <a:picLocks noChangeAspect="1"/>
          </p:cNvPicPr>
          <p:nvPr/>
        </p:nvPicPr>
        <p:blipFill>
          <a:blip r:embed="rId8"/>
          <a:stretch>
            <a:fillRect/>
          </a:stretch>
        </p:blipFill>
        <p:spPr>
          <a:xfrm>
            <a:off x="6858000" y="3614928"/>
            <a:ext cx="274320" cy="274320"/>
          </a:xfrm>
          <a:prstGeom prst="rect">
            <a:avLst/>
          </a:prstGeom>
        </p:spPr>
      </p:pic>
      <p:sp>
        <p:nvSpPr>
          <p:cNvPr id="34" name="Shape 23"/>
          <p:cNvSpPr/>
          <p:nvPr/>
        </p:nvSpPr>
        <p:spPr>
          <a:xfrm>
            <a:off x="548640" y="4291584"/>
            <a:ext cx="457200" cy="457200"/>
          </a:xfrm>
          <a:prstGeom prst="ellipse">
            <a:avLst/>
          </a:prstGeom>
          <a:solidFill>
            <a:schemeClr val="tx2"/>
          </a:solidFill>
          <a:ln w="12700">
            <a:solidFill>
              <a:srgbClr val="FFFFFF">
                <a:alpha val="0"/>
              </a:srgbClr>
            </a:solidFill>
            <a:prstDash val="solid"/>
          </a:ln>
        </p:spPr>
      </p:sp>
      <p:sp>
        <p:nvSpPr>
          <p:cNvPr id="35" name="Text 24"/>
          <p:cNvSpPr txBox="1"/>
          <p:nvPr/>
        </p:nvSpPr>
        <p:spPr>
          <a:xfrm>
            <a:off x="548640" y="4291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6" name="Shape 25"/>
          <p:cNvSpPr/>
          <p:nvPr/>
        </p:nvSpPr>
        <p:spPr>
          <a:xfrm>
            <a:off x="1280160" y="4227576"/>
            <a:ext cx="2834640" cy="594360"/>
          </a:xfrm>
          <a:prstGeom prst="roundRect">
            <a:avLst>
              <a:gd name="adj" fmla="val 12308"/>
            </a:avLst>
          </a:prstGeom>
          <a:solidFill>
            <a:srgbClr val="EDF6F0"/>
          </a:solidFill>
          <a:ln w="25400">
            <a:solidFill>
              <a:srgbClr val="2E7D4F"/>
            </a:solidFill>
            <a:prstDash val="solid"/>
          </a:ln>
        </p:spPr>
      </p:sp>
      <p:sp>
        <p:nvSpPr>
          <p:cNvPr id="37" name="Text 26"/>
          <p:cNvSpPr txBox="1"/>
          <p:nvPr/>
        </p:nvSpPr>
        <p:spPr>
          <a:xfrm>
            <a:off x="1280160" y="4227576"/>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bussen</a:t>
            </a:r>
            <a:endParaRPr lang="en-US" sz="2200" dirty="0"/>
          </a:p>
        </p:txBody>
      </p:sp>
      <p:pic>
        <p:nvPicPr>
          <p:cNvPr id="38" name="Image 8" descr="Check">    </p:cNvPr>
          <p:cNvPicPr>
            <a:picLocks noChangeAspect="1"/>
          </p:cNvPicPr>
          <p:nvPr/>
        </p:nvPicPr>
        <p:blipFill>
          <a:blip r:embed="rId9"/>
          <a:stretch>
            <a:fillRect/>
          </a:stretch>
        </p:blipFill>
        <p:spPr>
          <a:xfrm>
            <a:off x="3749040" y="4364736"/>
            <a:ext cx="274320" cy="274320"/>
          </a:xfrm>
          <a:prstGeom prst="rect">
            <a:avLst/>
          </a:prstGeom>
        </p:spPr>
      </p:pic>
      <p:sp>
        <p:nvSpPr>
          <p:cNvPr id="39" name="Shape 27"/>
          <p:cNvSpPr/>
          <p:nvPr/>
        </p:nvSpPr>
        <p:spPr>
          <a:xfrm>
            <a:off x="4389120" y="4227576"/>
            <a:ext cx="2834640" cy="594360"/>
          </a:xfrm>
          <a:prstGeom prst="roundRect">
            <a:avLst>
              <a:gd name="adj" fmla="val 12308"/>
            </a:avLst>
          </a:prstGeom>
          <a:solidFill>
            <a:schemeClr val="bg1"/>
          </a:solidFill>
          <a:ln w="25400">
            <a:solidFill>
              <a:srgbClr val="B83227"/>
            </a:solidFill>
            <a:prstDash val="solid"/>
          </a:ln>
        </p:spPr>
      </p:sp>
      <p:sp>
        <p:nvSpPr>
          <p:cNvPr id="40" name="Text 28"/>
          <p:cNvSpPr txBox="1"/>
          <p:nvPr/>
        </p:nvSpPr>
        <p:spPr>
          <a:xfrm>
            <a:off x="4389120" y="4227576"/>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busen</a:t>
            </a:r>
            <a:endParaRPr lang="en-US" sz="2200" dirty="0"/>
          </a:p>
        </p:txBody>
      </p:sp>
      <p:pic>
        <p:nvPicPr>
          <p:cNvPr id="41" name="Image 9" descr="Times">    </p:cNvPr>
          <p:cNvPicPr>
            <a:picLocks noChangeAspect="1"/>
          </p:cNvPicPr>
          <p:nvPr/>
        </p:nvPicPr>
        <p:blipFill>
          <a:blip r:embed="rId10"/>
          <a:stretch>
            <a:fillRect/>
          </a:stretch>
        </p:blipFill>
        <p:spPr>
          <a:xfrm>
            <a:off x="6858000" y="4364736"/>
            <a:ext cx="274320" cy="274320"/>
          </a:xfrm>
          <a:prstGeom prst="rect">
            <a:avLst/>
          </a:prstGeom>
        </p:spPr>
      </p:pic>
      <p:sp>
        <p:nvSpPr>
          <p:cNvPr id="42" name="Shape 29"/>
          <p:cNvSpPr/>
          <p:nvPr/>
        </p:nvSpPr>
        <p:spPr>
          <a:xfrm>
            <a:off x="548640" y="5041392"/>
            <a:ext cx="457200" cy="457200"/>
          </a:xfrm>
          <a:prstGeom prst="ellipse">
            <a:avLst/>
          </a:prstGeom>
          <a:solidFill>
            <a:schemeClr val="tx2"/>
          </a:solidFill>
          <a:ln w="12700">
            <a:solidFill>
              <a:srgbClr val="FFFFFF">
                <a:alpha val="0"/>
              </a:srgbClr>
            </a:solidFill>
            <a:prstDash val="solid"/>
          </a:ln>
        </p:spPr>
      </p:sp>
      <p:sp>
        <p:nvSpPr>
          <p:cNvPr id="43" name="Text 30"/>
          <p:cNvSpPr txBox="1"/>
          <p:nvPr/>
        </p:nvSpPr>
        <p:spPr>
          <a:xfrm>
            <a:off x="548640" y="50413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4" name="Shape 31"/>
          <p:cNvSpPr/>
          <p:nvPr/>
        </p:nvSpPr>
        <p:spPr>
          <a:xfrm>
            <a:off x="1280160" y="4977384"/>
            <a:ext cx="2834640" cy="594360"/>
          </a:xfrm>
          <a:prstGeom prst="roundRect">
            <a:avLst>
              <a:gd name="adj" fmla="val 12308"/>
            </a:avLst>
          </a:prstGeom>
          <a:solidFill>
            <a:schemeClr val="bg1"/>
          </a:solidFill>
          <a:ln w="25400">
            <a:solidFill>
              <a:srgbClr val="B83227"/>
            </a:solidFill>
            <a:prstDash val="solid"/>
          </a:ln>
        </p:spPr>
      </p:sp>
      <p:sp>
        <p:nvSpPr>
          <p:cNvPr id="45" name="Text 32"/>
          <p:cNvSpPr txBox="1"/>
          <p:nvPr/>
        </p:nvSpPr>
        <p:spPr>
          <a:xfrm>
            <a:off x="1280160" y="4977384"/>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jaaren</a:t>
            </a:r>
            <a:endParaRPr lang="en-US" sz="2200" dirty="0"/>
          </a:p>
        </p:txBody>
      </p:sp>
      <p:pic>
        <p:nvPicPr>
          <p:cNvPr id="46" name="Image 10" descr="Times">    </p:cNvPr>
          <p:cNvPicPr>
            <a:picLocks noChangeAspect="1"/>
          </p:cNvPicPr>
          <p:nvPr/>
        </p:nvPicPr>
        <p:blipFill>
          <a:blip r:embed="rId11"/>
          <a:stretch>
            <a:fillRect/>
          </a:stretch>
        </p:blipFill>
        <p:spPr>
          <a:xfrm>
            <a:off x="3749040" y="5114544"/>
            <a:ext cx="274320" cy="274320"/>
          </a:xfrm>
          <a:prstGeom prst="rect">
            <a:avLst/>
          </a:prstGeom>
        </p:spPr>
      </p:pic>
      <p:sp>
        <p:nvSpPr>
          <p:cNvPr id="47" name="Shape 33"/>
          <p:cNvSpPr/>
          <p:nvPr/>
        </p:nvSpPr>
        <p:spPr>
          <a:xfrm>
            <a:off x="4389120" y="4977384"/>
            <a:ext cx="2834640" cy="594360"/>
          </a:xfrm>
          <a:prstGeom prst="roundRect">
            <a:avLst>
              <a:gd name="adj" fmla="val 12308"/>
            </a:avLst>
          </a:prstGeom>
          <a:solidFill>
            <a:srgbClr val="EDF6F0"/>
          </a:solidFill>
          <a:ln w="25400">
            <a:solidFill>
              <a:srgbClr val="2E7D4F"/>
            </a:solidFill>
            <a:prstDash val="solid"/>
          </a:ln>
        </p:spPr>
      </p:sp>
      <p:sp>
        <p:nvSpPr>
          <p:cNvPr id="48" name="Text 34"/>
          <p:cNvSpPr txBox="1"/>
          <p:nvPr/>
        </p:nvSpPr>
        <p:spPr>
          <a:xfrm>
            <a:off x="4389120" y="4977384"/>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jaren</a:t>
            </a:r>
            <a:endParaRPr lang="en-US" sz="2200" dirty="0"/>
          </a:p>
        </p:txBody>
      </p:sp>
      <p:pic>
        <p:nvPicPr>
          <p:cNvPr id="49" name="Image 11" descr="Check">    </p:cNvPr>
          <p:cNvPicPr>
            <a:picLocks noChangeAspect="1"/>
          </p:cNvPicPr>
          <p:nvPr/>
        </p:nvPicPr>
        <p:blipFill>
          <a:blip r:embed="rId12"/>
          <a:stretch>
            <a:fillRect/>
          </a:stretch>
        </p:blipFill>
        <p:spPr>
          <a:xfrm>
            <a:off x="6858000" y="5114544"/>
            <a:ext cx="274320" cy="274320"/>
          </a:xfrm>
          <a:prstGeom prst="rect">
            <a:avLst/>
          </a:prstGeom>
        </p:spPr>
      </p:pic>
      <p:sp>
        <p:nvSpPr>
          <p:cNvPr id="50" name="Shape 35"/>
          <p:cNvSpPr/>
          <p:nvPr/>
        </p:nvSpPr>
        <p:spPr>
          <a:xfrm>
            <a:off x="548640" y="5791200"/>
            <a:ext cx="457200" cy="457200"/>
          </a:xfrm>
          <a:prstGeom prst="ellipse">
            <a:avLst/>
          </a:prstGeom>
          <a:solidFill>
            <a:schemeClr val="tx2"/>
          </a:solidFill>
          <a:ln w="12700">
            <a:solidFill>
              <a:srgbClr val="FFFFFF">
                <a:alpha val="0"/>
              </a:srgbClr>
            </a:solidFill>
            <a:prstDash val="solid"/>
          </a:ln>
        </p:spPr>
      </p:sp>
      <p:sp>
        <p:nvSpPr>
          <p:cNvPr id="51" name="Text 36"/>
          <p:cNvSpPr txBox="1"/>
          <p:nvPr/>
        </p:nvSpPr>
        <p:spPr>
          <a:xfrm>
            <a:off x="548640" y="5791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52" name="Shape 37"/>
          <p:cNvSpPr/>
          <p:nvPr/>
        </p:nvSpPr>
        <p:spPr>
          <a:xfrm>
            <a:off x="1280160" y="5727192"/>
            <a:ext cx="2834640" cy="594360"/>
          </a:xfrm>
          <a:prstGeom prst="roundRect">
            <a:avLst>
              <a:gd name="adj" fmla="val 12308"/>
            </a:avLst>
          </a:prstGeom>
          <a:solidFill>
            <a:srgbClr val="EDF6F0"/>
          </a:solidFill>
          <a:ln w="25400">
            <a:solidFill>
              <a:srgbClr val="2E7D4F"/>
            </a:solidFill>
            <a:prstDash val="solid"/>
          </a:ln>
        </p:spPr>
      </p:sp>
      <p:sp>
        <p:nvSpPr>
          <p:cNvPr id="53" name="Text 38"/>
          <p:cNvSpPr txBox="1"/>
          <p:nvPr/>
        </p:nvSpPr>
        <p:spPr>
          <a:xfrm>
            <a:off x="1280160" y="5727192"/>
            <a:ext cx="283464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de lessen</a:t>
            </a:r>
            <a:endParaRPr lang="en-US" sz="2200" dirty="0"/>
          </a:p>
        </p:txBody>
      </p:sp>
      <p:pic>
        <p:nvPicPr>
          <p:cNvPr id="54" name="Image 12" descr="Check">    </p:cNvPr>
          <p:cNvPicPr>
            <a:picLocks noChangeAspect="1"/>
          </p:cNvPicPr>
          <p:nvPr/>
        </p:nvPicPr>
        <p:blipFill>
          <a:blip r:embed="rId13"/>
          <a:stretch>
            <a:fillRect/>
          </a:stretch>
        </p:blipFill>
        <p:spPr>
          <a:xfrm>
            <a:off x="3749040" y="5864352"/>
            <a:ext cx="274320" cy="274320"/>
          </a:xfrm>
          <a:prstGeom prst="rect">
            <a:avLst/>
          </a:prstGeom>
        </p:spPr>
      </p:pic>
      <p:sp>
        <p:nvSpPr>
          <p:cNvPr id="55" name="Shape 39"/>
          <p:cNvSpPr/>
          <p:nvPr/>
        </p:nvSpPr>
        <p:spPr>
          <a:xfrm>
            <a:off x="4389120" y="5727192"/>
            <a:ext cx="2834640" cy="594360"/>
          </a:xfrm>
          <a:prstGeom prst="roundRect">
            <a:avLst>
              <a:gd name="adj" fmla="val 12308"/>
            </a:avLst>
          </a:prstGeom>
          <a:solidFill>
            <a:schemeClr val="bg1"/>
          </a:solidFill>
          <a:ln w="25400">
            <a:solidFill>
              <a:srgbClr val="B83227"/>
            </a:solidFill>
            <a:prstDash val="solid"/>
          </a:ln>
        </p:spPr>
      </p:sp>
      <p:sp>
        <p:nvSpPr>
          <p:cNvPr id="56" name="Text 40"/>
          <p:cNvSpPr txBox="1"/>
          <p:nvPr/>
        </p:nvSpPr>
        <p:spPr>
          <a:xfrm>
            <a:off x="4389120" y="5727192"/>
            <a:ext cx="2834640" cy="594360"/>
          </a:xfrm>
          <a:prstGeom prst="rect">
            <a:avLst/>
          </a:prstGeom>
          <a:noFill/>
          <a:ln/>
        </p:spPr>
        <p:txBody>
          <a:bodyPr wrap="square" lIns="0" tIns="0" rIns="0" bIns="0" rtlCol="0" anchor="ctr"/>
          <a:lstStyle/>
          <a:p>
            <a:pPr algn="ctr" indent="0" marL="0">
              <a:buNone/>
            </a:pPr>
            <a:r>
              <a:rPr lang="en-US" sz="2200" b="1" strike="sngStrike" dirty="0">
                <a:solidFill>
                  <a:schemeClr val="accent6"/>
                </a:solidFill>
                <a:latin typeface="+mj-lt" pitchFamily="34" charset="0"/>
                <a:ea typeface="+mj-lt" pitchFamily="34" charset="-122"/>
                <a:cs typeface="+mj-lt" pitchFamily="34" charset="-120"/>
              </a:rPr>
              <a:t>de lesen</a:t>
            </a:r>
            <a:endParaRPr lang="en-US" sz="2200" dirty="0"/>
          </a:p>
        </p:txBody>
      </p:sp>
      <p:pic>
        <p:nvPicPr>
          <p:cNvPr id="57" name="Image 13" descr="Times">    </p:cNvPr>
          <p:cNvPicPr>
            <a:picLocks noChangeAspect="1"/>
          </p:cNvPicPr>
          <p:nvPr/>
        </p:nvPicPr>
        <p:blipFill>
          <a:blip r:embed="rId14"/>
          <a:stretch>
            <a:fillRect/>
          </a:stretch>
        </p:blipFill>
        <p:spPr>
          <a:xfrm>
            <a:off x="6858000" y="5864352"/>
            <a:ext cx="274320" cy="274320"/>
          </a:xfrm>
          <a:prstGeom prst="rect">
            <a:avLst/>
          </a:prstGeom>
        </p:spPr>
      </p:pic>
      <p:sp>
        <p:nvSpPr>
          <p:cNvPr id="58" name="Shape 41"/>
          <p:cNvSpPr/>
          <p:nvPr/>
        </p:nvSpPr>
        <p:spPr>
          <a:xfrm>
            <a:off x="7680960" y="1932432"/>
            <a:ext cx="3959352" cy="2103120"/>
          </a:xfrm>
          <a:prstGeom prst="roundRect">
            <a:avLst>
              <a:gd name="adj" fmla="val 434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9" name="Shape 42"/>
          <p:cNvSpPr/>
          <p:nvPr/>
        </p:nvSpPr>
        <p:spPr>
          <a:xfrm>
            <a:off x="7863840" y="2097024"/>
            <a:ext cx="566928" cy="566928"/>
          </a:xfrm>
          <a:prstGeom prst="ellipse">
            <a:avLst/>
          </a:prstGeom>
          <a:solidFill>
            <a:schemeClr val="accent3"/>
          </a:solidFill>
          <a:ln w="12700">
            <a:solidFill>
              <a:srgbClr val="FFFFFF">
                <a:alpha val="0"/>
              </a:srgbClr>
            </a:solidFill>
            <a:prstDash val="solid"/>
          </a:ln>
        </p:spPr>
      </p:sp>
      <p:pic>
        <p:nvPicPr>
          <p:cNvPr id="60" name="Image 14" descr="DoorOpen">    </p:cNvPr>
          <p:cNvPicPr>
            <a:picLocks noChangeAspect="1"/>
          </p:cNvPicPr>
          <p:nvPr/>
        </p:nvPicPr>
        <p:blipFill>
          <a:blip r:embed="rId15"/>
          <a:stretch>
            <a:fillRect/>
          </a:stretch>
        </p:blipFill>
        <p:spPr>
          <a:xfrm>
            <a:off x="7999903" y="2233087"/>
            <a:ext cx="294803" cy="294803"/>
          </a:xfrm>
          <a:prstGeom prst="rect">
            <a:avLst/>
          </a:prstGeom>
        </p:spPr>
      </p:pic>
      <p:sp>
        <p:nvSpPr>
          <p:cNvPr id="61" name="Text 43"/>
          <p:cNvSpPr txBox="1"/>
          <p:nvPr/>
        </p:nvSpPr>
        <p:spPr>
          <a:xfrm>
            <a:off x="8577072" y="2078736"/>
            <a:ext cx="2926080" cy="603504"/>
          </a:xfrm>
          <a:prstGeom prst="rect">
            <a:avLst/>
          </a:prstGeom>
          <a:noFill/>
          <a:ln/>
        </p:spPr>
        <p:txBody>
          <a:bodyPr wrap="square" lIns="0" tIns="0" rIns="0" bIns="0" rtlCol="0" anchor="ctr"/>
          <a:lstStyle/>
          <a:p>
            <a:pPr algn="l" indent="0" marL="0">
              <a:buNone/>
            </a:pPr>
            <a:r>
              <a:rPr lang="en-US" sz="1900" b="1" dirty="0">
                <a:solidFill>
                  <a:schemeClr val="accent3"/>
                </a:solidFill>
              </a:rPr>
              <a:t>Porte ouverte</a:t>
            </a:r>
            <a:endParaRPr lang="en-US" sz="1900" dirty="0"/>
          </a:p>
        </p:txBody>
      </p:sp>
      <p:sp>
        <p:nvSpPr>
          <p:cNvPr id="62" name="Text 44"/>
          <p:cNvSpPr txBox="1"/>
          <p:nvPr/>
        </p:nvSpPr>
        <p:spPr>
          <a:xfrm>
            <a:off x="7882128" y="2801112"/>
            <a:ext cx="3557016" cy="1124712"/>
          </a:xfrm>
          <a:prstGeom prst="rect">
            <a:avLst/>
          </a:prstGeom>
          <a:noFill/>
          <a:ln/>
        </p:spPr>
        <p:txBody>
          <a:bodyPr wrap="square" lIns="0" tIns="0" rIns="0" bIns="0" rtlCol="0" anchor="t"/>
          <a:lstStyle/>
          <a:p>
            <a:pPr algn="l" indent="0" marL="0">
              <a:spcAft>
                <a:spcPts val="600"/>
              </a:spcAft>
              <a:buNone/>
            </a:pPr>
            <a:r>
              <a:rPr lang="en-US" sz="1800" i="1" dirty="0">
                <a:solidFill>
                  <a:schemeClr val="tx1"/>
                </a:solidFill>
              </a:rPr>
              <a:t>ramen, bomen, jaren</a:t>
            </a:r>
            <a:r>
              <a:rPr lang="en-US" sz="1800" dirty="0">
                <a:solidFill>
                  <a:schemeClr val="tx1"/>
                </a:solidFill>
              </a:rPr>
              <a:t> : 1 voyelle suffit.</a:t>
            </a:r>
            <a:endParaRPr lang="en-US" sz="1800" dirty="0"/>
          </a:p>
        </p:txBody>
      </p:sp>
      <p:sp>
        <p:nvSpPr>
          <p:cNvPr id="63" name="Shape 45"/>
          <p:cNvSpPr/>
          <p:nvPr/>
        </p:nvSpPr>
        <p:spPr>
          <a:xfrm>
            <a:off x="7680960" y="4264152"/>
            <a:ext cx="3959352" cy="2103120"/>
          </a:xfrm>
          <a:prstGeom prst="roundRect">
            <a:avLst>
              <a:gd name="adj" fmla="val 434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4" name="Shape 46"/>
          <p:cNvSpPr/>
          <p:nvPr/>
        </p:nvSpPr>
        <p:spPr>
          <a:xfrm>
            <a:off x="7863840" y="4428744"/>
            <a:ext cx="566928" cy="566928"/>
          </a:xfrm>
          <a:prstGeom prst="ellipse">
            <a:avLst/>
          </a:prstGeom>
          <a:solidFill>
            <a:schemeClr val="accent4"/>
          </a:solidFill>
          <a:ln w="12700">
            <a:solidFill>
              <a:srgbClr val="FFFFFF">
                <a:alpha val="0"/>
              </a:srgbClr>
            </a:solidFill>
            <a:prstDash val="solid"/>
          </a:ln>
        </p:spPr>
      </p:sp>
      <p:pic>
        <p:nvPicPr>
          <p:cNvPr id="65" name="Image 15" descr="ShieldAlt">    </p:cNvPr>
          <p:cNvPicPr>
            <a:picLocks noChangeAspect="1"/>
          </p:cNvPicPr>
          <p:nvPr/>
        </p:nvPicPr>
        <p:blipFill>
          <a:blip r:embed="rId16"/>
          <a:stretch>
            <a:fillRect/>
          </a:stretch>
        </p:blipFill>
        <p:spPr>
          <a:xfrm>
            <a:off x="7999903" y="4564807"/>
            <a:ext cx="294803" cy="294803"/>
          </a:xfrm>
          <a:prstGeom prst="rect">
            <a:avLst/>
          </a:prstGeom>
        </p:spPr>
      </p:pic>
      <p:sp>
        <p:nvSpPr>
          <p:cNvPr id="66" name="Text 47"/>
          <p:cNvSpPr txBox="1"/>
          <p:nvPr/>
        </p:nvSpPr>
        <p:spPr>
          <a:xfrm>
            <a:off x="8577072" y="4410456"/>
            <a:ext cx="2926080" cy="603504"/>
          </a:xfrm>
          <a:prstGeom prst="rect">
            <a:avLst/>
          </a:prstGeom>
          <a:noFill/>
          <a:ln/>
        </p:spPr>
        <p:txBody>
          <a:bodyPr wrap="square" lIns="0" tIns="0" rIns="0" bIns="0" rtlCol="0" anchor="ctr"/>
          <a:lstStyle/>
          <a:p>
            <a:pPr algn="l" indent="0" marL="0">
              <a:buNone/>
            </a:pPr>
            <a:r>
              <a:rPr lang="en-US" sz="1900" b="1" dirty="0">
                <a:solidFill>
                  <a:schemeClr val="accent4"/>
                </a:solidFill>
              </a:rPr>
              <a:t>Son court</a:t>
            </a:r>
            <a:endParaRPr lang="en-US" sz="1900" dirty="0"/>
          </a:p>
        </p:txBody>
      </p:sp>
      <p:sp>
        <p:nvSpPr>
          <p:cNvPr id="67" name="Text 48"/>
          <p:cNvSpPr txBox="1"/>
          <p:nvPr/>
        </p:nvSpPr>
        <p:spPr>
          <a:xfrm>
            <a:off x="7882128" y="5132832"/>
            <a:ext cx="3557016" cy="1124712"/>
          </a:xfrm>
          <a:prstGeom prst="rect">
            <a:avLst/>
          </a:prstGeom>
          <a:noFill/>
          <a:ln/>
        </p:spPr>
        <p:txBody>
          <a:bodyPr wrap="square" lIns="0" tIns="0" rIns="0" bIns="0" rtlCol="0" anchor="t"/>
          <a:lstStyle/>
          <a:p>
            <a:pPr algn="l" indent="0" marL="0">
              <a:spcAft>
                <a:spcPts val="600"/>
              </a:spcAft>
              <a:buNone/>
            </a:pPr>
            <a:r>
              <a:rPr lang="en-US" sz="1800" i="1" dirty="0">
                <a:solidFill>
                  <a:schemeClr val="tx1"/>
                </a:solidFill>
              </a:rPr>
              <a:t>katten, bussen, lessen</a:t>
            </a:r>
            <a:r>
              <a:rPr lang="en-US" sz="1800" dirty="0">
                <a:solidFill>
                  <a:schemeClr val="tx1"/>
                </a:solidFill>
              </a:rPr>
              <a:t> : je double la consonne.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Tongbrekers (virelangues)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54480"/>
            <a:ext cx="11091672" cy="1143000"/>
          </a:xfrm>
          <a:prstGeom prst="roundRect">
            <a:avLst>
              <a:gd name="adj" fmla="val 64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77240" y="1783080"/>
            <a:ext cx="731520" cy="731520"/>
          </a:xfrm>
          <a:prstGeom prst="ellipse">
            <a:avLst/>
          </a:prstGeom>
          <a:solidFill>
            <a:schemeClr val="accent1"/>
          </a:solidFill>
          <a:ln w="12700">
            <a:solidFill>
              <a:srgbClr val="FFFFFF">
                <a:alpha val="0"/>
              </a:srgbClr>
            </a:solidFill>
            <a:prstDash val="solid"/>
          </a:ln>
        </p:spPr>
      </p:sp>
      <p:pic>
        <p:nvPicPr>
          <p:cNvPr id="8" name="Image 0" descr="Microphone">    </p:cNvPr>
          <p:cNvPicPr>
            <a:picLocks noChangeAspect="1"/>
          </p:cNvPicPr>
          <p:nvPr/>
        </p:nvPicPr>
        <p:blipFill>
          <a:blip r:embed="rId1"/>
          <a:stretch>
            <a:fillRect/>
          </a:stretch>
        </p:blipFill>
        <p:spPr>
          <a:xfrm>
            <a:off x="952805" y="1958645"/>
            <a:ext cx="380390" cy="380390"/>
          </a:xfrm>
          <a:prstGeom prst="rect">
            <a:avLst/>
          </a:prstGeom>
        </p:spPr>
      </p:pic>
      <p:sp>
        <p:nvSpPr>
          <p:cNvPr id="9" name="Text 5"/>
          <p:cNvSpPr txBox="1"/>
          <p:nvPr/>
        </p:nvSpPr>
        <p:spPr>
          <a:xfrm>
            <a:off x="1783080" y="1627632"/>
            <a:ext cx="9692640" cy="685800"/>
          </a:xfrm>
          <a:prstGeom prst="rect">
            <a:avLst/>
          </a:prstGeom>
          <a:noFill/>
          <a:ln/>
        </p:spPr>
        <p:txBody>
          <a:bodyPr wrap="square" lIns="0" tIns="0" rIns="0" bIns="0" rtlCol="0" anchor="ctr"/>
          <a:lstStyle/>
          <a:p>
            <a:pPr algn="l" indent="0" marL="0">
              <a:buNone/>
            </a:pPr>
            <a:r>
              <a:rPr lang="en-US" sz="3000" b="1" dirty="0">
                <a:solidFill>
                  <a:schemeClr val="accent3"/>
                </a:solidFill>
                <a:latin typeface="+mj-lt" pitchFamily="34" charset="0"/>
                <a:ea typeface="+mj-lt" pitchFamily="34" charset="-122"/>
                <a:cs typeface="+mj-lt" pitchFamily="34" charset="-120"/>
              </a:rPr>
              <a:t>Kaat</a:t>
            </a:r>
            <a:r>
              <a:rPr lang="en-US" sz="3000" dirty="0">
                <a:solidFill>
                  <a:schemeClr val="tx1"/>
                </a:solidFill>
                <a:latin typeface="+mj-lt" pitchFamily="34" charset="0"/>
                <a:ea typeface="+mj-lt" pitchFamily="34" charset="-122"/>
                <a:cs typeface="+mj-lt" pitchFamily="34" charset="-120"/>
              </a:rPr>
              <a:t> </a:t>
            </a:r>
            <a:r>
              <a:rPr lang="en-US" sz="3000" b="1" dirty="0">
                <a:solidFill>
                  <a:schemeClr val="accent4"/>
                </a:solidFill>
                <a:latin typeface="+mj-lt" pitchFamily="34" charset="0"/>
                <a:ea typeface="+mj-lt" pitchFamily="34" charset="-122"/>
                <a:cs typeface="+mj-lt" pitchFamily="34" charset="-120"/>
              </a:rPr>
              <a:t>zat</a:t>
            </a:r>
            <a:r>
              <a:rPr lang="en-US" sz="3000" dirty="0">
                <a:solidFill>
                  <a:schemeClr val="tx1"/>
                </a:solidFill>
                <a:latin typeface="+mj-lt" pitchFamily="34" charset="0"/>
                <a:ea typeface="+mj-lt" pitchFamily="34" charset="-122"/>
                <a:cs typeface="+mj-lt" pitchFamily="34" charset="-120"/>
              </a:rPr>
              <a:t> </a:t>
            </a:r>
            <a:r>
              <a:rPr lang="en-US" sz="3000" b="1" dirty="0">
                <a:solidFill>
                  <a:schemeClr val="accent3"/>
                </a:solidFill>
                <a:latin typeface="+mj-lt" pitchFamily="34" charset="0"/>
                <a:ea typeface="+mj-lt" pitchFamily="34" charset="-122"/>
                <a:cs typeface="+mj-lt" pitchFamily="34" charset="-120"/>
              </a:rPr>
              <a:t>laat</a:t>
            </a:r>
            <a:r>
              <a:rPr lang="en-US" sz="3000" dirty="0">
                <a:solidFill>
                  <a:schemeClr val="tx1"/>
                </a:solidFill>
                <a:latin typeface="+mj-lt" pitchFamily="34" charset="0"/>
                <a:ea typeface="+mj-lt" pitchFamily="34" charset="-122"/>
                <a:cs typeface="+mj-lt" pitchFamily="34" charset="-120"/>
              </a:rPr>
              <a:t> in de </a:t>
            </a:r>
            <a:r>
              <a:rPr lang="en-US" sz="3000" b="1" dirty="0">
                <a:solidFill>
                  <a:schemeClr val="accent4"/>
                </a:solidFill>
                <a:latin typeface="+mj-lt" pitchFamily="34" charset="0"/>
                <a:ea typeface="+mj-lt" pitchFamily="34" charset="-122"/>
                <a:cs typeface="+mj-lt" pitchFamily="34" charset="-120"/>
              </a:rPr>
              <a:t>stad</a:t>
            </a:r>
            <a:r>
              <a:rPr lang="en-US" sz="3000" dirty="0">
                <a:solidFill>
                  <a:schemeClr val="tx1"/>
                </a:solidFill>
                <a:latin typeface="+mj-lt" pitchFamily="34" charset="0"/>
                <a:ea typeface="+mj-lt" pitchFamily="34" charset="-122"/>
                <a:cs typeface="+mj-lt" pitchFamily="34" charset="-120"/>
              </a:rPr>
              <a:t> met de </a:t>
            </a:r>
            <a:r>
              <a:rPr lang="en-US" sz="3000" b="1" dirty="0">
                <a:solidFill>
                  <a:schemeClr val="accent4"/>
                </a:solidFill>
                <a:latin typeface="+mj-lt" pitchFamily="34" charset="0"/>
                <a:ea typeface="+mj-lt" pitchFamily="34" charset="-122"/>
                <a:cs typeface="+mj-lt" pitchFamily="34" charset="-120"/>
              </a:rPr>
              <a:t>kat</a:t>
            </a:r>
            <a:r>
              <a:rPr lang="en-US" sz="3000" dirty="0">
                <a:solidFill>
                  <a:schemeClr val="tx1"/>
                </a:solidFill>
                <a:latin typeface="+mj-lt" pitchFamily="34" charset="0"/>
                <a:ea typeface="+mj-lt" pitchFamily="34" charset="-122"/>
                <a:cs typeface="+mj-lt" pitchFamily="34" charset="-120"/>
              </a:rPr>
              <a:t>.</a:t>
            </a:r>
            <a:endParaRPr lang="en-US" sz="3000" dirty="0"/>
          </a:p>
        </p:txBody>
      </p:sp>
      <p:sp>
        <p:nvSpPr>
          <p:cNvPr id="10" name="Text 6"/>
          <p:cNvSpPr txBox="1"/>
          <p:nvPr/>
        </p:nvSpPr>
        <p:spPr>
          <a:xfrm>
            <a:off x="1783080" y="2286000"/>
            <a:ext cx="9692640" cy="384048"/>
          </a:xfrm>
          <a:prstGeom prst="rect">
            <a:avLst/>
          </a:prstGeom>
          <a:noFill/>
          <a:ln/>
        </p:spPr>
        <p:txBody>
          <a:bodyPr wrap="square" lIns="0" tIns="0" rIns="0" bIns="0" rtlCol="0" anchor="t"/>
          <a:lstStyle/>
          <a:p>
            <a:pPr algn="l" indent="0" marL="0">
              <a:buNone/>
            </a:pPr>
            <a:r>
              <a:rPr lang="en-US" sz="1600" i="1" dirty="0">
                <a:solidFill>
                  <a:schemeClr val="accent5"/>
                </a:solidFill>
              </a:rPr>
              <a:t>Kaat était assise tard en ville avec le chat.</a:t>
            </a:r>
            <a:endParaRPr lang="en-US" sz="1600" dirty="0"/>
          </a:p>
        </p:txBody>
      </p:sp>
      <p:pic>
        <p:nvPicPr>
          <p:cNvPr id="11" name="Image 1" descr="cat">    </p:cNvPr>
          <p:cNvPicPr>
            <a:picLocks noChangeAspect="1"/>
          </p:cNvPicPr>
          <p:nvPr/>
        </p:nvPicPr>
        <p:blipFill>
          <a:blip r:embed="rId2"/>
          <a:stretch>
            <a:fillRect/>
          </a:stretch>
        </p:blipFill>
        <p:spPr>
          <a:xfrm>
            <a:off x="10607040" y="1709928"/>
            <a:ext cx="822960" cy="822960"/>
          </a:xfrm>
          <a:prstGeom prst="rect">
            <a:avLst/>
          </a:prstGeom>
        </p:spPr>
      </p:pic>
      <p:sp>
        <p:nvSpPr>
          <p:cNvPr id="12" name="Shape 7"/>
          <p:cNvSpPr/>
          <p:nvPr/>
        </p:nvSpPr>
        <p:spPr>
          <a:xfrm>
            <a:off x="548640" y="2852928"/>
            <a:ext cx="11091672" cy="1143000"/>
          </a:xfrm>
          <a:prstGeom prst="roundRect">
            <a:avLst>
              <a:gd name="adj" fmla="val 6400"/>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3" name="Shape 8"/>
          <p:cNvSpPr/>
          <p:nvPr/>
        </p:nvSpPr>
        <p:spPr>
          <a:xfrm>
            <a:off x="777240" y="3081528"/>
            <a:ext cx="731520" cy="731520"/>
          </a:xfrm>
          <a:prstGeom prst="ellipse">
            <a:avLst/>
          </a:prstGeom>
          <a:solidFill>
            <a:schemeClr val="accent1"/>
          </a:solidFill>
          <a:ln w="12700">
            <a:solidFill>
              <a:srgbClr val="FFFFFF">
                <a:alpha val="0"/>
              </a:srgbClr>
            </a:solidFill>
            <a:prstDash val="solid"/>
          </a:ln>
        </p:spPr>
      </p:sp>
      <p:pic>
        <p:nvPicPr>
          <p:cNvPr id="14" name="Image 2" descr="Microphone">    </p:cNvPr>
          <p:cNvPicPr>
            <a:picLocks noChangeAspect="1"/>
          </p:cNvPicPr>
          <p:nvPr/>
        </p:nvPicPr>
        <p:blipFill>
          <a:blip r:embed="rId3"/>
          <a:stretch>
            <a:fillRect/>
          </a:stretch>
        </p:blipFill>
        <p:spPr>
          <a:xfrm>
            <a:off x="952805" y="3257093"/>
            <a:ext cx="380390" cy="380390"/>
          </a:xfrm>
          <a:prstGeom prst="rect">
            <a:avLst/>
          </a:prstGeom>
        </p:spPr>
      </p:pic>
      <p:sp>
        <p:nvSpPr>
          <p:cNvPr id="15" name="Text 9"/>
          <p:cNvSpPr txBox="1"/>
          <p:nvPr/>
        </p:nvSpPr>
        <p:spPr>
          <a:xfrm>
            <a:off x="1783080" y="2926080"/>
            <a:ext cx="9692640" cy="685800"/>
          </a:xfrm>
          <a:prstGeom prst="rect">
            <a:avLst/>
          </a:prstGeom>
          <a:noFill/>
          <a:ln/>
        </p:spPr>
        <p:txBody>
          <a:bodyPr wrap="square" lIns="0" tIns="0" rIns="0" bIns="0" rtlCol="0" anchor="ctr"/>
          <a:lstStyle/>
          <a:p>
            <a:pPr algn="l" indent="0" marL="0">
              <a:buNone/>
            </a:pPr>
            <a:r>
              <a:rPr lang="en-US" sz="3000" dirty="0">
                <a:solidFill>
                  <a:schemeClr val="tx1"/>
                </a:solidFill>
                <a:latin typeface="+mj-lt" pitchFamily="34" charset="0"/>
                <a:ea typeface="+mj-lt" pitchFamily="34" charset="-122"/>
                <a:cs typeface="+mj-lt" pitchFamily="34" charset="-120"/>
              </a:rPr>
              <a:t>De </a:t>
            </a:r>
            <a:r>
              <a:rPr lang="en-US" sz="3000" b="1" dirty="0">
                <a:solidFill>
                  <a:schemeClr val="accent3"/>
                </a:solidFill>
                <a:latin typeface="+mj-lt" pitchFamily="34" charset="0"/>
                <a:ea typeface="+mj-lt" pitchFamily="34" charset="-122"/>
                <a:cs typeface="+mj-lt" pitchFamily="34" charset="-120"/>
              </a:rPr>
              <a:t>zoon</a:t>
            </a:r>
            <a:r>
              <a:rPr lang="en-US" sz="3000" dirty="0">
                <a:solidFill>
                  <a:schemeClr val="tx1"/>
                </a:solidFill>
                <a:latin typeface="+mj-lt" pitchFamily="34" charset="0"/>
                <a:ea typeface="+mj-lt" pitchFamily="34" charset="-122"/>
                <a:cs typeface="+mj-lt" pitchFamily="34" charset="-120"/>
              </a:rPr>
              <a:t> </a:t>
            </a:r>
            <a:r>
              <a:rPr lang="en-US" sz="3000" b="1" dirty="0">
                <a:solidFill>
                  <a:schemeClr val="accent3"/>
                </a:solidFill>
                <a:latin typeface="+mj-lt" pitchFamily="34" charset="0"/>
                <a:ea typeface="+mj-lt" pitchFamily="34" charset="-122"/>
                <a:cs typeface="+mj-lt" pitchFamily="34" charset="-120"/>
              </a:rPr>
              <a:t>ziet</a:t>
            </a:r>
            <a:r>
              <a:rPr lang="en-US" sz="3000" dirty="0">
                <a:solidFill>
                  <a:schemeClr val="tx1"/>
                </a:solidFill>
                <a:latin typeface="+mj-lt" pitchFamily="34" charset="0"/>
                <a:ea typeface="+mj-lt" pitchFamily="34" charset="-122"/>
                <a:cs typeface="+mj-lt" pitchFamily="34" charset="-120"/>
              </a:rPr>
              <a:t> de </a:t>
            </a:r>
            <a:r>
              <a:rPr lang="en-US" sz="3000" b="1" dirty="0">
                <a:solidFill>
                  <a:schemeClr val="accent4"/>
                </a:solidFill>
                <a:latin typeface="+mj-lt" pitchFamily="34" charset="0"/>
                <a:ea typeface="+mj-lt" pitchFamily="34" charset="-122"/>
                <a:cs typeface="+mj-lt" pitchFamily="34" charset="-120"/>
              </a:rPr>
              <a:t>zon</a:t>
            </a:r>
            <a:r>
              <a:rPr lang="en-US" sz="3000" dirty="0">
                <a:solidFill>
                  <a:schemeClr val="tx1"/>
                </a:solidFill>
                <a:latin typeface="+mj-lt" pitchFamily="34" charset="0"/>
                <a:ea typeface="+mj-lt" pitchFamily="34" charset="-122"/>
                <a:cs typeface="+mj-lt" pitchFamily="34" charset="-120"/>
              </a:rPr>
              <a:t> niet.</a:t>
            </a:r>
            <a:endParaRPr lang="en-US" sz="3000" dirty="0"/>
          </a:p>
        </p:txBody>
      </p:sp>
      <p:sp>
        <p:nvSpPr>
          <p:cNvPr id="16" name="Text 10"/>
          <p:cNvSpPr txBox="1"/>
          <p:nvPr/>
        </p:nvSpPr>
        <p:spPr>
          <a:xfrm>
            <a:off x="1783080" y="3584448"/>
            <a:ext cx="9692640" cy="384048"/>
          </a:xfrm>
          <a:prstGeom prst="rect">
            <a:avLst/>
          </a:prstGeom>
          <a:noFill/>
          <a:ln/>
        </p:spPr>
        <p:txBody>
          <a:bodyPr wrap="square" lIns="0" tIns="0" rIns="0" bIns="0" rtlCol="0" anchor="t"/>
          <a:lstStyle/>
          <a:p>
            <a:pPr algn="l" indent="0" marL="0">
              <a:buNone/>
            </a:pPr>
            <a:r>
              <a:rPr lang="en-US" sz="1600" i="1" dirty="0">
                <a:solidFill>
                  <a:schemeClr val="accent5"/>
                </a:solidFill>
              </a:rPr>
              <a:t>Le fils ne voit pas le soleil.</a:t>
            </a:r>
            <a:endParaRPr lang="en-US" sz="1600" dirty="0"/>
          </a:p>
        </p:txBody>
      </p:sp>
      <p:pic>
        <p:nvPicPr>
          <p:cNvPr id="17" name="Image 3" descr="sun behind cloud">    </p:cNvPr>
          <p:cNvPicPr>
            <a:picLocks noChangeAspect="1"/>
          </p:cNvPicPr>
          <p:nvPr/>
        </p:nvPicPr>
        <p:blipFill>
          <a:blip r:embed="rId4"/>
          <a:stretch>
            <a:fillRect/>
          </a:stretch>
        </p:blipFill>
        <p:spPr>
          <a:xfrm>
            <a:off x="10607040" y="3008376"/>
            <a:ext cx="822960" cy="822960"/>
          </a:xfrm>
          <a:prstGeom prst="rect">
            <a:avLst/>
          </a:prstGeom>
        </p:spPr>
      </p:pic>
      <p:sp>
        <p:nvSpPr>
          <p:cNvPr id="18" name="Shape 11"/>
          <p:cNvSpPr/>
          <p:nvPr/>
        </p:nvSpPr>
        <p:spPr>
          <a:xfrm>
            <a:off x="548640" y="4151376"/>
            <a:ext cx="11091672" cy="1143000"/>
          </a:xfrm>
          <a:prstGeom prst="roundRect">
            <a:avLst>
              <a:gd name="adj" fmla="val 640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2"/>
          <p:cNvSpPr/>
          <p:nvPr/>
        </p:nvSpPr>
        <p:spPr>
          <a:xfrm>
            <a:off x="777240" y="4379976"/>
            <a:ext cx="731520" cy="731520"/>
          </a:xfrm>
          <a:prstGeom prst="ellipse">
            <a:avLst/>
          </a:prstGeom>
          <a:solidFill>
            <a:schemeClr val="accent1"/>
          </a:solidFill>
          <a:ln w="12700">
            <a:solidFill>
              <a:srgbClr val="FFFFFF">
                <a:alpha val="0"/>
              </a:srgbClr>
            </a:solidFill>
            <a:prstDash val="solid"/>
          </a:ln>
        </p:spPr>
      </p:sp>
      <p:pic>
        <p:nvPicPr>
          <p:cNvPr id="20" name="Image 4" descr="Microphone">    </p:cNvPr>
          <p:cNvPicPr>
            <a:picLocks noChangeAspect="1"/>
          </p:cNvPicPr>
          <p:nvPr/>
        </p:nvPicPr>
        <p:blipFill>
          <a:blip r:embed="rId5"/>
          <a:stretch>
            <a:fillRect/>
          </a:stretch>
        </p:blipFill>
        <p:spPr>
          <a:xfrm>
            <a:off x="952805" y="4555541"/>
            <a:ext cx="380390" cy="380390"/>
          </a:xfrm>
          <a:prstGeom prst="rect">
            <a:avLst/>
          </a:prstGeom>
        </p:spPr>
      </p:pic>
      <p:sp>
        <p:nvSpPr>
          <p:cNvPr id="21" name="Text 13"/>
          <p:cNvSpPr txBox="1"/>
          <p:nvPr/>
        </p:nvSpPr>
        <p:spPr>
          <a:xfrm>
            <a:off x="1783080" y="4224528"/>
            <a:ext cx="9692640" cy="685800"/>
          </a:xfrm>
          <a:prstGeom prst="rect">
            <a:avLst/>
          </a:prstGeom>
          <a:noFill/>
          <a:ln/>
        </p:spPr>
        <p:txBody>
          <a:bodyPr wrap="square" lIns="0" tIns="0" rIns="0" bIns="0" rtlCol="0" anchor="ctr"/>
          <a:lstStyle/>
          <a:p>
            <a:pPr algn="l" indent="0" marL="0">
              <a:buNone/>
            </a:pPr>
            <a:r>
              <a:rPr lang="en-US" sz="3000" dirty="0">
                <a:solidFill>
                  <a:schemeClr val="tx1"/>
                </a:solidFill>
                <a:latin typeface="+mj-lt" pitchFamily="34" charset="0"/>
                <a:ea typeface="+mj-lt" pitchFamily="34" charset="-122"/>
                <a:cs typeface="+mj-lt" pitchFamily="34" charset="-120"/>
              </a:rPr>
              <a:t>Ik </a:t>
            </a:r>
            <a:r>
              <a:rPr lang="en-US" sz="3000" b="1" dirty="0">
                <a:solidFill>
                  <a:schemeClr val="accent3"/>
                </a:solidFill>
                <a:latin typeface="+mj-lt" pitchFamily="34" charset="0"/>
                <a:ea typeface="+mj-lt" pitchFamily="34" charset="-122"/>
                <a:cs typeface="+mj-lt" pitchFamily="34" charset="-120"/>
              </a:rPr>
              <a:t>weet</a:t>
            </a:r>
            <a:r>
              <a:rPr lang="en-US" sz="3000" dirty="0">
                <a:solidFill>
                  <a:schemeClr val="tx1"/>
                </a:solidFill>
                <a:latin typeface="+mj-lt" pitchFamily="34" charset="0"/>
                <a:ea typeface="+mj-lt" pitchFamily="34" charset="-122"/>
                <a:cs typeface="+mj-lt" pitchFamily="34" charset="-120"/>
              </a:rPr>
              <a:t>: de </a:t>
            </a:r>
            <a:r>
              <a:rPr lang="en-US" sz="3000" b="1" dirty="0">
                <a:solidFill>
                  <a:schemeClr val="accent4"/>
                </a:solidFill>
                <a:latin typeface="+mj-lt" pitchFamily="34" charset="0"/>
                <a:ea typeface="+mj-lt" pitchFamily="34" charset="-122"/>
                <a:cs typeface="+mj-lt" pitchFamily="34" charset="-120"/>
              </a:rPr>
              <a:t>wet</a:t>
            </a:r>
            <a:r>
              <a:rPr lang="en-US" sz="3000" dirty="0">
                <a:solidFill>
                  <a:schemeClr val="tx1"/>
                </a:solidFill>
                <a:latin typeface="+mj-lt" pitchFamily="34" charset="0"/>
                <a:ea typeface="+mj-lt" pitchFamily="34" charset="-122"/>
                <a:cs typeface="+mj-lt" pitchFamily="34" charset="-120"/>
              </a:rPr>
              <a:t> is de </a:t>
            </a:r>
            <a:r>
              <a:rPr lang="en-US" sz="3000" b="1" dirty="0">
                <a:solidFill>
                  <a:schemeClr val="accent4"/>
                </a:solidFill>
                <a:latin typeface="+mj-lt" pitchFamily="34" charset="0"/>
                <a:ea typeface="+mj-lt" pitchFamily="34" charset="-122"/>
                <a:cs typeface="+mj-lt" pitchFamily="34" charset="-120"/>
              </a:rPr>
              <a:t>wet</a:t>
            </a:r>
            <a:r>
              <a:rPr lang="en-US" sz="3000" dirty="0">
                <a:solidFill>
                  <a:schemeClr val="tx1"/>
                </a:solidFill>
                <a:latin typeface="+mj-lt" pitchFamily="34" charset="0"/>
                <a:ea typeface="+mj-lt" pitchFamily="34" charset="-122"/>
                <a:cs typeface="+mj-lt" pitchFamily="34" charset="-120"/>
              </a:rPr>
              <a:t>.</a:t>
            </a:r>
            <a:endParaRPr lang="en-US" sz="3000" dirty="0"/>
          </a:p>
        </p:txBody>
      </p:sp>
      <p:sp>
        <p:nvSpPr>
          <p:cNvPr id="22" name="Text 14"/>
          <p:cNvSpPr txBox="1"/>
          <p:nvPr/>
        </p:nvSpPr>
        <p:spPr>
          <a:xfrm>
            <a:off x="1783080" y="4882896"/>
            <a:ext cx="9692640" cy="384048"/>
          </a:xfrm>
          <a:prstGeom prst="rect">
            <a:avLst/>
          </a:prstGeom>
          <a:noFill/>
          <a:ln/>
        </p:spPr>
        <p:txBody>
          <a:bodyPr wrap="square" lIns="0" tIns="0" rIns="0" bIns="0" rtlCol="0" anchor="t"/>
          <a:lstStyle/>
          <a:p>
            <a:pPr algn="l" indent="0" marL="0">
              <a:buNone/>
            </a:pPr>
            <a:r>
              <a:rPr lang="en-US" sz="1600" i="1" dirty="0">
                <a:solidFill>
                  <a:schemeClr val="accent5"/>
                </a:solidFill>
              </a:rPr>
              <a:t>Je sais : la loi, c’est la loi.</a:t>
            </a:r>
            <a:endParaRPr lang="en-US" sz="1600" dirty="0"/>
          </a:p>
        </p:txBody>
      </p:sp>
      <p:pic>
        <p:nvPicPr>
          <p:cNvPr id="23" name="Image 5" descr="balance scale">    </p:cNvPr>
          <p:cNvPicPr>
            <a:picLocks noChangeAspect="1"/>
          </p:cNvPicPr>
          <p:nvPr/>
        </p:nvPicPr>
        <p:blipFill>
          <a:blip r:embed="rId6"/>
          <a:stretch>
            <a:fillRect/>
          </a:stretch>
        </p:blipFill>
        <p:spPr>
          <a:xfrm>
            <a:off x="10607040" y="4306824"/>
            <a:ext cx="822960" cy="822960"/>
          </a:xfrm>
          <a:prstGeom prst="rect">
            <a:avLst/>
          </a:prstGeom>
        </p:spPr>
      </p:pic>
      <p:sp>
        <p:nvSpPr>
          <p:cNvPr id="24" name="Text 15"/>
          <p:cNvSpPr txBox="1"/>
          <p:nvPr/>
        </p:nvSpPr>
        <p:spPr>
          <a:xfrm>
            <a:off x="548640" y="5852160"/>
            <a:ext cx="11091672" cy="411480"/>
          </a:xfrm>
          <a:prstGeom prst="rect">
            <a:avLst/>
          </a:prstGeom>
          <a:noFill/>
          <a:ln/>
        </p:spPr>
        <p:txBody>
          <a:bodyPr wrap="square" lIns="0" tIns="0" rIns="0" bIns="0" rtlCol="0" anchor="t"/>
          <a:lstStyle/>
          <a:p>
            <a:pPr algn="ctr" indent="0" marL="0">
              <a:buNone/>
            </a:pPr>
            <a:r>
              <a:rPr lang="en-US" sz="1800" b="1" dirty="0">
                <a:solidFill>
                  <a:schemeClr val="accent1"/>
                </a:solidFill>
              </a:rPr>
              <a:t>① lentement en chœur   ② vite   ③ défi : la phrase 1, trois fois sans erreur !</a:t>
            </a:r>
            <a:endParaRPr lang="en-US" sz="1800" dirty="0"/>
          </a:p>
        </p:txBody>
      </p:sp>
      <p:sp>
        <p:nvSpPr>
          <p:cNvPr id="25" name="Text 16"/>
          <p:cNvSpPr txBox="1"/>
          <p:nvPr/>
        </p:nvSpPr>
        <p:spPr>
          <a:xfrm>
            <a:off x="548640" y="5486400"/>
            <a:ext cx="11091672" cy="320040"/>
          </a:xfrm>
          <a:prstGeom prst="rect">
            <a:avLst/>
          </a:prstGeom>
          <a:noFill/>
          <a:ln/>
        </p:spPr>
        <p:txBody>
          <a:bodyPr wrap="square" lIns="0" tIns="0" rIns="0" bIns="0" rtlCol="0" anchor="t"/>
          <a:lstStyle/>
          <a:p>
            <a:pPr algn="ctr" indent="0" marL="0">
              <a:buNone/>
            </a:pPr>
            <a:r>
              <a:rPr lang="en-US" sz="1400" b="1" i="1" dirty="0">
                <a:solidFill>
                  <a:schemeClr val="accent3"/>
                </a:solidFill>
              </a:rPr>
              <a:t>vert</a:t>
            </a:r>
            <a:r>
              <a:rPr lang="en-US" sz="1400" i="1" dirty="0">
                <a:solidFill>
                  <a:schemeClr val="accent5"/>
                </a:solidFill>
              </a:rPr>
              <a:t> = son long · </a:t>
            </a:r>
            <a:r>
              <a:rPr lang="en-US" sz="1400" b="1" i="1" dirty="0">
                <a:solidFill>
                  <a:schemeClr val="accent4"/>
                </a:solidFill>
              </a:rPr>
              <a:t>framboise</a:t>
            </a:r>
            <a:r>
              <a:rPr lang="en-US" sz="1400" i="1" dirty="0">
                <a:solidFill>
                  <a:schemeClr val="accent5"/>
                </a:solidFill>
              </a:rPr>
              <a:t> = son court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Dictée en miroir</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54480"/>
            <a:ext cx="5120640" cy="3017520"/>
          </a:xfrm>
          <a:prstGeom prst="roundRect">
            <a:avLst>
              <a:gd name="adj" fmla="val 2424"/>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31520" y="1691640"/>
            <a:ext cx="548640" cy="548640"/>
          </a:xfrm>
          <a:prstGeom prst="ellipse">
            <a:avLst/>
          </a:prstGeom>
          <a:solidFill>
            <a:schemeClr val="accent2"/>
          </a:solidFill>
          <a:ln w="12700">
            <a:solidFill>
              <a:srgbClr val="FFFFFF">
                <a:alpha val="0"/>
              </a:srgbClr>
            </a:solidFill>
            <a:prstDash val="solid"/>
          </a:ln>
        </p:spPr>
      </p:sp>
      <p:sp>
        <p:nvSpPr>
          <p:cNvPr id="8" name="Text 5"/>
          <p:cNvSpPr txBox="1"/>
          <p:nvPr/>
        </p:nvSpPr>
        <p:spPr>
          <a:xfrm>
            <a:off x="73152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9" name="Text 6"/>
          <p:cNvSpPr txBox="1"/>
          <p:nvPr/>
        </p:nvSpPr>
        <p:spPr>
          <a:xfrm>
            <a:off x="1417320" y="1691640"/>
            <a:ext cx="3657600" cy="548640"/>
          </a:xfrm>
          <a:prstGeom prst="rect">
            <a:avLst/>
          </a:prstGeom>
          <a:noFill/>
          <a:ln/>
        </p:spPr>
        <p:txBody>
          <a:bodyPr wrap="square" lIns="0" tIns="0" rIns="0" bIns="0" rtlCol="0" anchor="ctr"/>
          <a:lstStyle/>
          <a:p>
            <a:pPr algn="l" indent="0" marL="0">
              <a:buNone/>
            </a:pPr>
            <a:r>
              <a:rPr lang="en-US" sz="2200" b="1" dirty="0">
                <a:solidFill>
                  <a:schemeClr val="accent2"/>
                </a:solidFill>
                <a:latin typeface="+mj-lt" pitchFamily="34" charset="0"/>
                <a:ea typeface="+mj-lt" pitchFamily="34" charset="-122"/>
                <a:cs typeface="+mj-lt" pitchFamily="34" charset="-120"/>
              </a:rPr>
              <a:t>A dicte</a:t>
            </a:r>
            <a:endParaRPr lang="en-US" sz="2200" dirty="0"/>
          </a:p>
        </p:txBody>
      </p:sp>
      <p:sp>
        <p:nvSpPr>
          <p:cNvPr id="10" name="Text 7"/>
          <p:cNvSpPr txBox="1"/>
          <p:nvPr/>
        </p:nvSpPr>
        <p:spPr>
          <a:xfrm>
            <a:off x="822960" y="2377440"/>
            <a:ext cx="4572000" cy="822960"/>
          </a:xfrm>
          <a:prstGeom prst="rect">
            <a:avLst/>
          </a:prstGeom>
          <a:noFill/>
          <a:ln/>
        </p:spPr>
        <p:txBody>
          <a:bodyPr wrap="square" lIns="0" tIns="0" rIns="0" bIns="0" rtlCol="0" anchor="ctr"/>
          <a:lstStyle/>
          <a:p>
            <a:pPr algn="l" indent="0" marL="0">
              <a:buNone/>
            </a:pPr>
            <a:r>
              <a:rPr lang="en-US" sz="2000" b="1" dirty="0">
                <a:solidFill>
                  <a:schemeClr val="tx1"/>
                </a:solidFill>
              </a:rPr>
              <a:t>maan · katten · lopen · deur · huis · stad</a:t>
            </a:r>
            <a:endParaRPr lang="en-US" sz="2000" dirty="0"/>
          </a:p>
        </p:txBody>
      </p:sp>
      <p:sp>
        <p:nvSpPr>
          <p:cNvPr id="11" name="Shape 8"/>
          <p:cNvSpPr/>
          <p:nvPr/>
        </p:nvSpPr>
        <p:spPr>
          <a:xfrm>
            <a:off x="822960" y="3520440"/>
            <a:ext cx="4572000" cy="914"/>
          </a:xfrm>
          <a:prstGeom prst="line">
            <a:avLst/>
          </a:prstGeom>
          <a:noFill/>
          <a:ln w="12700">
            <a:solidFill>
              <a:srgbClr val="B8C2CF"/>
            </a:solidFill>
            <a:prstDash val="sysDot"/>
          </a:ln>
        </p:spPr>
      </p:sp>
      <p:sp>
        <p:nvSpPr>
          <p:cNvPr id="12" name="Shape 9"/>
          <p:cNvSpPr/>
          <p:nvPr/>
        </p:nvSpPr>
        <p:spPr>
          <a:xfrm>
            <a:off x="822960" y="3886200"/>
            <a:ext cx="4572000" cy="914"/>
          </a:xfrm>
          <a:prstGeom prst="line">
            <a:avLst/>
          </a:prstGeom>
          <a:noFill/>
          <a:ln w="12700">
            <a:solidFill>
              <a:srgbClr val="B8C2CF"/>
            </a:solidFill>
            <a:prstDash val="sysDot"/>
          </a:ln>
        </p:spPr>
      </p:sp>
      <p:sp>
        <p:nvSpPr>
          <p:cNvPr id="13" name="Shape 10"/>
          <p:cNvSpPr/>
          <p:nvPr/>
        </p:nvSpPr>
        <p:spPr>
          <a:xfrm>
            <a:off x="822960" y="4251960"/>
            <a:ext cx="4572000" cy="914"/>
          </a:xfrm>
          <a:prstGeom prst="line">
            <a:avLst/>
          </a:prstGeom>
          <a:noFill/>
          <a:ln w="12700">
            <a:solidFill>
              <a:srgbClr val="B8C2CF"/>
            </a:solidFill>
            <a:prstDash val="sysDot"/>
          </a:ln>
        </p:spPr>
      </p:sp>
      <p:sp>
        <p:nvSpPr>
          <p:cNvPr id="14" name="Shape 11"/>
          <p:cNvSpPr/>
          <p:nvPr/>
        </p:nvSpPr>
        <p:spPr>
          <a:xfrm>
            <a:off x="6519672" y="1554480"/>
            <a:ext cx="5120640" cy="3017520"/>
          </a:xfrm>
          <a:prstGeom prst="roundRect">
            <a:avLst>
              <a:gd name="adj" fmla="val 2424"/>
            </a:avLst>
          </a:prstGeom>
          <a:solidFill>
            <a:schemeClr val="bg1"/>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6702552" y="1691640"/>
            <a:ext cx="548640" cy="548640"/>
          </a:xfrm>
          <a:prstGeom prst="ellipse">
            <a:avLst/>
          </a:prstGeom>
          <a:solidFill>
            <a:srgbClr val="6E4A9E"/>
          </a:solidFill>
          <a:ln w="12700">
            <a:solidFill>
              <a:srgbClr val="FFFFFF">
                <a:alpha val="0"/>
              </a:srgbClr>
            </a:solidFill>
            <a:prstDash val="solid"/>
          </a:ln>
        </p:spPr>
      </p:sp>
      <p:sp>
        <p:nvSpPr>
          <p:cNvPr id="16" name="Text 13"/>
          <p:cNvSpPr txBox="1"/>
          <p:nvPr/>
        </p:nvSpPr>
        <p:spPr>
          <a:xfrm>
            <a:off x="6702552"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7" name="Text 14"/>
          <p:cNvSpPr txBox="1"/>
          <p:nvPr/>
        </p:nvSpPr>
        <p:spPr>
          <a:xfrm>
            <a:off x="7388352" y="1691640"/>
            <a:ext cx="3657600" cy="548640"/>
          </a:xfrm>
          <a:prstGeom prst="rect">
            <a:avLst/>
          </a:prstGeom>
          <a:noFill/>
          <a:ln/>
        </p:spPr>
        <p:txBody>
          <a:bodyPr wrap="square" lIns="0" tIns="0" rIns="0" bIns="0" rtlCol="0" anchor="ctr"/>
          <a:lstStyle/>
          <a:p>
            <a:pPr algn="l" indent="0" marL="0">
              <a:buNone/>
            </a:pPr>
            <a:r>
              <a:rPr lang="en-US" sz="2200" b="1" dirty="0">
                <a:solidFill>
                  <a:srgbClr val="6E4A9E"/>
                </a:solidFill>
                <a:latin typeface="+mj-lt" pitchFamily="34" charset="0"/>
                <a:ea typeface="+mj-lt" pitchFamily="34" charset="-122"/>
                <a:cs typeface="+mj-lt" pitchFamily="34" charset="-120"/>
              </a:rPr>
              <a:t>B dicte</a:t>
            </a:r>
            <a:endParaRPr lang="en-US" sz="2200" dirty="0"/>
          </a:p>
        </p:txBody>
      </p:sp>
      <p:sp>
        <p:nvSpPr>
          <p:cNvPr id="18" name="Text 15"/>
          <p:cNvSpPr txBox="1"/>
          <p:nvPr/>
        </p:nvSpPr>
        <p:spPr>
          <a:xfrm>
            <a:off x="6793992" y="2377440"/>
            <a:ext cx="4572000" cy="822960"/>
          </a:xfrm>
          <a:prstGeom prst="rect">
            <a:avLst/>
          </a:prstGeom>
          <a:noFill/>
          <a:ln/>
        </p:spPr>
        <p:txBody>
          <a:bodyPr wrap="square" lIns="0" tIns="0" rIns="0" bIns="0" rtlCol="0" anchor="ctr"/>
          <a:lstStyle/>
          <a:p>
            <a:pPr algn="l" indent="0" marL="0">
              <a:buNone/>
            </a:pPr>
            <a:r>
              <a:rPr lang="en-US" sz="2000" b="1" dirty="0">
                <a:solidFill>
                  <a:schemeClr val="tx1"/>
                </a:solidFill>
              </a:rPr>
              <a:t>boom · bussen · slapen · boek · tijd · staat</a:t>
            </a:r>
            <a:endParaRPr lang="en-US" sz="2000" dirty="0"/>
          </a:p>
        </p:txBody>
      </p:sp>
      <p:sp>
        <p:nvSpPr>
          <p:cNvPr id="19" name="Shape 16"/>
          <p:cNvSpPr/>
          <p:nvPr/>
        </p:nvSpPr>
        <p:spPr>
          <a:xfrm>
            <a:off x="6793992" y="3520440"/>
            <a:ext cx="4572000" cy="914"/>
          </a:xfrm>
          <a:prstGeom prst="line">
            <a:avLst/>
          </a:prstGeom>
          <a:noFill/>
          <a:ln w="12700">
            <a:solidFill>
              <a:srgbClr val="B8C2CF"/>
            </a:solidFill>
            <a:prstDash val="sysDot"/>
          </a:ln>
        </p:spPr>
      </p:sp>
      <p:sp>
        <p:nvSpPr>
          <p:cNvPr id="20" name="Shape 17"/>
          <p:cNvSpPr/>
          <p:nvPr/>
        </p:nvSpPr>
        <p:spPr>
          <a:xfrm>
            <a:off x="6793992" y="3886200"/>
            <a:ext cx="4572000" cy="914"/>
          </a:xfrm>
          <a:prstGeom prst="line">
            <a:avLst/>
          </a:prstGeom>
          <a:noFill/>
          <a:ln w="12700">
            <a:solidFill>
              <a:srgbClr val="B8C2CF"/>
            </a:solidFill>
            <a:prstDash val="sysDot"/>
          </a:ln>
        </p:spPr>
      </p:sp>
      <p:sp>
        <p:nvSpPr>
          <p:cNvPr id="21" name="Shape 18"/>
          <p:cNvSpPr/>
          <p:nvPr/>
        </p:nvSpPr>
        <p:spPr>
          <a:xfrm>
            <a:off x="6793992" y="4251960"/>
            <a:ext cx="4572000" cy="914"/>
          </a:xfrm>
          <a:prstGeom prst="line">
            <a:avLst/>
          </a:prstGeom>
          <a:noFill/>
          <a:ln w="12700">
            <a:solidFill>
              <a:srgbClr val="B8C2CF"/>
            </a:solidFill>
            <a:prstDash val="sysDot"/>
          </a:ln>
        </p:spPr>
      </p:sp>
      <p:sp>
        <p:nvSpPr>
          <p:cNvPr id="22" name="Shape 19"/>
          <p:cNvSpPr/>
          <p:nvPr/>
        </p:nvSpPr>
        <p:spPr>
          <a:xfrm>
            <a:off x="5879592" y="1554480"/>
            <a:ext cx="429768" cy="3017520"/>
          </a:xfrm>
          <a:prstGeom prst="roundRect">
            <a:avLst>
              <a:gd name="adj" fmla="val 10638"/>
            </a:avLst>
          </a:prstGeom>
          <a:solidFill>
            <a:schemeClr val="accent5">
              <a:alpha val="60000"/>
            </a:schemeClr>
          </a:solidFill>
          <a:ln w="12700">
            <a:solidFill>
              <a:srgbClr val="FFFFFF">
                <a:alpha val="0"/>
              </a:srgbClr>
            </a:solidFill>
            <a:prstDash val="solid"/>
          </a:ln>
        </p:spPr>
      </p:sp>
      <p:pic>
        <p:nvPicPr>
          <p:cNvPr id="23" name="Image 0" descr="PhoneAlt">    </p:cNvPr>
          <p:cNvPicPr>
            <a:picLocks noChangeAspect="1"/>
          </p:cNvPicPr>
          <p:nvPr/>
        </p:nvPicPr>
        <p:blipFill>
          <a:blip r:embed="rId1"/>
          <a:stretch>
            <a:fillRect/>
          </a:stretch>
        </p:blipFill>
        <p:spPr>
          <a:xfrm>
            <a:off x="5943600" y="2880360"/>
            <a:ext cx="301752" cy="301752"/>
          </a:xfrm>
          <a:prstGeom prst="rect">
            <a:avLst/>
          </a:prstGeom>
        </p:spPr>
      </p:pic>
      <p:sp>
        <p:nvSpPr>
          <p:cNvPr id="24" name="Shape 20"/>
          <p:cNvSpPr/>
          <p:nvPr/>
        </p:nvSpPr>
        <p:spPr>
          <a:xfrm>
            <a:off x="548640" y="4800600"/>
            <a:ext cx="11091672" cy="1463040"/>
          </a:xfrm>
          <a:prstGeom prst="roundRect">
            <a:avLst>
              <a:gd name="adj" fmla="val 5000"/>
            </a:avLst>
          </a:prstGeom>
          <a:solidFill>
            <a:schemeClr val="bg2"/>
          </a:solidFill>
          <a:ln w="12700">
            <a:solidFill>
              <a:srgbClr val="D5DCE6"/>
            </a:solidFill>
            <a:prstDash val="solid"/>
          </a:ln>
        </p:spPr>
      </p:sp>
      <p:sp>
        <p:nvSpPr>
          <p:cNvPr id="25" name="Text 21"/>
          <p:cNvSpPr txBox="1"/>
          <p:nvPr/>
        </p:nvSpPr>
        <p:spPr>
          <a:xfrm>
            <a:off x="777240" y="4892040"/>
            <a:ext cx="36576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PHRASES UTILES</a:t>
            </a:r>
            <a:endParaRPr lang="en-US" sz="1300" dirty="0"/>
          </a:p>
        </p:txBody>
      </p:sp>
      <p:sp>
        <p:nvSpPr>
          <p:cNvPr id="26" name="Text 22"/>
          <p:cNvSpPr txBox="1"/>
          <p:nvPr/>
        </p:nvSpPr>
        <p:spPr>
          <a:xfrm>
            <a:off x="777240" y="5257800"/>
            <a:ext cx="10607040" cy="914400"/>
          </a:xfrm>
          <a:prstGeom prst="rect">
            <a:avLst/>
          </a:prstGeom>
          <a:noFill/>
          <a:ln/>
        </p:spPr>
        <p:txBody>
          <a:bodyPr wrap="square" lIns="0" tIns="0" rIns="0" bIns="0" rtlCol="0" anchor="ctr"/>
          <a:lstStyle/>
          <a:p>
            <a:pPr algn="l" indent="0" marL="0">
              <a:buNone/>
            </a:pPr>
            <a:r>
              <a:rPr lang="en-US" sz="1900" i="1" dirty="0">
                <a:solidFill>
                  <a:schemeClr val="tx1"/>
                </a:solidFill>
              </a:rPr>
              <a:t>Kun je dat herhalen?</a:t>
            </a:r>
            <a:r>
              <a:rPr lang="en-US" sz="1900" dirty="0">
                <a:solidFill>
                  <a:schemeClr val="tx1"/>
                </a:solidFill>
              </a:rPr>
              <a:t> (Tu peux répéter ?) · </a:t>
            </a:r>
            <a:r>
              <a:rPr lang="en-US" sz="1900" i="1" dirty="0">
                <a:solidFill>
                  <a:schemeClr val="tx1"/>
                </a:solidFill>
              </a:rPr>
              <a:t>Lang of kort?</a:t>
            </a:r>
            <a:r>
              <a:rPr lang="en-US" sz="1900" dirty="0">
                <a:solidFill>
                  <a:schemeClr val="tx1"/>
                </a:solidFill>
              </a:rPr>
              <a:t> · </a:t>
            </a:r>
            <a:r>
              <a:rPr lang="en-US" sz="1900" i="1" dirty="0">
                <a:solidFill>
                  <a:schemeClr val="tx1"/>
                </a:solidFill>
              </a:rPr>
              <a:t>Met één t of twee t’s?</a:t>
            </a:r>
            <a:r>
              <a:rPr lang="en-US" sz="1900" dirty="0">
                <a:solidFill>
                  <a:schemeClr val="tx1"/>
                </a:solidFill>
              </a:rPr>
              <a:t> · </a:t>
            </a:r>
            <a:r>
              <a:rPr lang="en-US" sz="1900" i="1" dirty="0">
                <a:solidFill>
                  <a:schemeClr val="tx1"/>
                </a:solidFill>
              </a:rPr>
              <a:t>Lange ij of korte ei?</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de straat</a:t>
            </a:r>
            <a:r>
              <a:rPr lang="en-US" sz="2000" dirty="0">
                <a:solidFill>
                  <a:schemeClr val="tx1"/>
                </a:solidFill>
              </a:rPr>
              <a:t> : son long ou court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Le pluriel de </a:t>
            </a:r>
            <a:r>
              <a:rPr lang="en-US" sz="2000" i="1" dirty="0">
                <a:solidFill>
                  <a:schemeClr val="tx1"/>
                </a:solidFill>
              </a:rPr>
              <a:t>de bel</a:t>
            </a:r>
            <a:r>
              <a:rPr lang="en-US" sz="2000" dirty="0">
                <a:solidFill>
                  <a:schemeClr val="tx1"/>
                </a:solidFill>
              </a:rPr>
              <a:t> (la sonnette)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Pourquoi </a:t>
            </a:r>
            <a:r>
              <a:rPr lang="en-US" sz="2000" i="1" dirty="0">
                <a:solidFill>
                  <a:schemeClr val="tx1"/>
                </a:solidFill>
              </a:rPr>
              <a:t>bomen</a:t>
            </a:r>
            <a:r>
              <a:rPr lang="en-US" sz="2000" dirty="0">
                <a:solidFill>
                  <a:schemeClr val="tx1"/>
                </a:solidFill>
              </a:rPr>
              <a:t> s’écrit-il avec un seul </a:t>
            </a:r>
            <a:r>
              <a:rPr lang="en-US" sz="2000" b="1" dirty="0">
                <a:solidFill>
                  <a:schemeClr val="tx1"/>
                </a:solidFill>
              </a:rPr>
              <a:t>o</a:t>
            </a:r>
            <a:r>
              <a:rPr lang="en-US" sz="2000" dirty="0">
                <a:solidFill>
                  <a:schemeClr val="tx1"/>
                </a:solidFill>
              </a:rPr>
              <a:t> ?</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Je distingue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Je lis</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J’écris</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IdCard">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Ik stel me voor</a:t>
            </a:r>
            <a:r>
              <a:rPr lang="en-US" sz="1800" dirty="0">
                <a:solidFill>
                  <a:schemeClr val="bg1"/>
                </a:solidFill>
              </a:rPr>
              <a:t> — se présenter en néerlandais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Klanken — Long ou court ?</dc:title>
  <dc:subject>Néerlandais 1 — Langue en situation, en milieu professionnel</dc:subject>
  <dc:creator>A. Jouniaux</dc:creator>
  <cp:lastModifiedBy>A. Jouniaux</cp:lastModifiedBy>
  <cp:revision>1</cp:revision>
  <dcterms:created xsi:type="dcterms:W3CDTF">2026-10-04T18:33:09Z</dcterms:created>
  <dcterms:modified xsi:type="dcterms:W3CDTF">2026-10-04T18:33:09Z</dcterms:modified>
</cp:coreProperties>
</file>