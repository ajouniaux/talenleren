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31bfbba-6a98-b187-b8e9-4c8b648a64bf}">
          <p14:sldIdLst>
            <p14:sldId id="256"/>
          </p14:sldIdLst>
        </p14:section>
        <p14:section name="Le parcours" id="{8c66d7d3-ea9b-edcd-e914-ac4a3e29f7fc}">
          <p14:sldIdLst>
            <p14:sldId id="257"/>
          </p14:sldIdLst>
        </p14:section>
        <p14:section name="Séance 1 · Long ou court ?" id="{7db188a8-bac8-1d1b-0aea-6bf5b70e2542}">
          <p14:sldIdLst>
            <p14:sldId id="258"/>
            <p14:sldId id="259"/>
            <p14:sldId id="260"/>
          </p14:sldIdLst>
        </p14:section>
        <p14:section name="Séance 2 · Les sons doubles" id="{25ce4687-b92d-45c9-8035-3868e33d80f4}">
          <p14:sldIdLst>
            <p14:sldId id="261"/>
            <p14:sldId id="262"/>
            <p14:sldId id="263"/>
          </p14:sldIdLst>
        </p14:section>
        <p14:section name="Séance 3 · Les consonnes-pièges" id="{fe741db7-fb4d-80fa-0023-2099116143f1}">
          <p14:sldIdLst>
            <p14:sldId id="264"/>
            <p14:sldId id="265"/>
            <p14:sldId id="266"/>
          </p14:sldIdLst>
        </p14:section>
        <p14:section name="Séance 4 · Mots courts, mots longs" id="{07f3214e-1c3f-ba2c-2e7b-579a97438450}">
          <p14:sldIdLst>
            <p14:sldId id="267"/>
            <p14:sldId id="268"/>
            <p14:sldId id="269"/>
          </p14:sldIdLst>
        </p14:section>
        <p14:section name="Séance 5 · La phrase qui chante" id="{b7f3a2aa-32b5-683c-67c4-b6e2f9776f49}">
          <p14:sldIdLst>
            <p14:sldId id="270"/>
            <p14:sldId id="271"/>
            <p14:sldId id="272"/>
          </p14:sldIdLst>
        </p14:section>
        <p14:section name="Annexe · Corrigés" id="{ede2308a-969d-6769-7c28-8b338929c7c2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parcours : 5 séances pour bien prononcer le néerlandais.
Lisez les cinq mots de la ligne d'accroche et demandez : « Qu'est-ce qui change d'un mot à l'autre ? » Réponse : voyelle courte (man) et longue (maan), son double (kijk), g raclé (goed), mot long (gezellig). Ce sont les quatre premières séances ; la cinquième les réunit dans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visibles la progression et le fonctionnement des séances.
Une séance = 30 à 45 minutes, en début ou en fin de cours. Les séances peuvent être espacées (une par semaine) : c'est la régularité qui installe la prononciation. Rappelez la règle d'or : on ne cherche pas l'accent parfait, mais à être compris et à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à l'oreille les voyelles courtes et longues (a / aa, e / ee, i / ie, o / oo, u / uu).
Liste à lire (exemple) : maan, vak, laat, pen, been, hel, vies, lid, ziet, bos, boom, pot, muur, kus, zuur. Changez l'ordre à chaque tour. Pour le u : mus ≈ « meus » bref, muur ≈ « mur » long (M1, diapo 12). i / ie : le son « i » s'écrit presque toujours ie (sauf emprunts : juni, kilo). En réalité, la différence est surtout de timbre : i bref est plus ouvert, presque « é » ; ie = « i » français, allongé seulement devant r (bier). Sens utiles : vaak (souvent), laat (tard), peen (carotte), been (jambe), heel (très), vies (sale), lied (chanson), boos (fâché), poot (patte), muur (mur), zuur (acide).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de la syllabe-porte à des mots d'une et de deux syllabes.
Corrigé : long = raam, keel, roos, vuur, ma·ken, le·zen, wo·nen, mu·ren · court = tak, nek, bol, stuk, kat·ten, pen·nen, bom·men, zus·sen. Faites justifier avec le geste de la porte (M1) : ma·ken = porte ouverte, donc « maa-ken » ; kat·ten = deux consonnes, porte fermée. Les finales -en ont un e muet (séance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des voyelles courtes ou longues dans une phrase, avec fluidité.
Corrigé : 1 kort · 2 lang · 3 kort · 4 lang · 5 kort · 6 kort. Sens : 1 Les chats aiment bien ronronner. 2 Les chasseurs tuent de grands lièvres. 3 Les moineaux ont de gros cous. 4 Les singes mangent des noix acides. 5 Les porcelets savent grogner de façon mignonne. 6 Les gros hommes ont des chaussettes fines. Le sens n'est pas l'objectif : ces phrases servent à faire travailler la bouche. Exemples de défi : Kom! Ik zit in de bus. (100 % court) · De boze baas eet zure peren. (100 % long ; de a un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six familles de sons écrits avec deux lettres : ij / ei, ui, ou / au, eu, oe, ie.
Lisez les mots dans le désordre et notez-les pour vérifier le gagnant. eu et oe s'écrivent avec deux lettres mais ne « glissent » pas (M6). nieuw (rangé avec ie dans le support) est un son à trois lettres : il est traité diapo 8 ; il est remplacé ici par drie. Griet est un prénom flamand. Variante : un·e apprenant·e prend la place de l'enseignant·e.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confondre u, uu et ui ; associer ij et ei au même son.
Sens : bus (bus) / buur (voisin) / buis (tube) · mus (moineau) / muur (mur) / muis (souris) · hut (cabane) / huur (loyer) / huis (maison) · dun (fin) / duur (cher) / duin (dune) · zus (sœur) / zuur (acide) / zuid (sud). Dictée : wijn, trein, tijd, klein, mei, vijf → ij, ei, ij, ei, ei, ij. En Belgique, on dit souvent « lange ij » et « korte ei » pour les distinguer à l'écrit.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et enchaîner les sons doubles dans une phrase, y compris les sons à trois lettres.
Corrigé : 1 → 2 (oei, ui) · 2 → 4 (oe, ij, eu, ui) · 3 → 3 (ei, oe, ui) · 4 → 6 (IJ, ou, ie, ui, eu, oe) · 5 → 6 (ooi, ieuw, ui, ij, ooi, aai). Dans leren, e est long mais simple : ce n'est pas un son double. Sens : 1 Salut ! Je rentre à la maison. 2 Les mères coupent des oignons géants. 3 Apprendre à tricoter des pulls verts. 4 Une bière glacée de la cuisine de Koen. Doei! s'entend surtout aux Pays-Bas ; en Flandre, on dit plutôt Daag! 5 Les beaux pulls neufs ne sont jamais ennuyeux.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le h (soufflé) et le g / ch (raclé), deux sons absents du français.
Jeu d'écoute : lisez un mot de chaque paire ; main levée = on entend le h. Sens : heten (s'appeler) / eten (manger) · hoor (j'entends) / oor (oreille) · hij (il) / ei (œuf) · hal (hall) / al (déjà). Le g belge est plus doux que le g néerlandais : les deux sont corrects. Mettez la main sur la gorge pour sentir le frottement. sch au début = « s » + ch raclé (school) ; -isch en fin de mot = « is » (Russisch, praktisch).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graphies-pièges à leur vrai son (d et b finaux, j, w final, ng, nk, sj, nj, tsj, -isch, sch, g final).
Corrigé : 1-B · 2-G · 3-E · 4-I · 5-A · 6-H · 7-C · 8-J · 9-F · 10-D · 11-L · 12-K. En fin de mot, d se prononce « t » et b « p » (hond, ik heb). Dans lang, on n'entend pas le g : ng est un seul son. v et z se prononcent parfois presque « f » et « s », surtout aux Pays-Bas : ce n'est pas une faute, mais en Belgique on entend surtout v et 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toutes les consonnes-pièges dans un jeu de plateau.
Aide-mémoire : goed (« ghout » : gh raclé, d → t) · hallo (h soufflé) · jij (« yèï ») · dag (g final raclé) · brengen (ng) · meisje (« mèï-cheu ») · hebben (h, e muet) · school (s + ch) · oranje (« o-ra-gneu », comme montagne, accent sur ra) · denken (nk) · Russisch (« reu-sis ») · alsjeblieft (sj) · Tsjechië (« tchè-ghi-yeu », gh raclé). Jouez en 2 à 4 équipes, avec un pion par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méthode pour lire efficacement un mot d'une ou de plusieurs syllabes.
C'est la seule diapo de théorie du parcours : elle reprend la méthode en 3 étapes du M1 (diapo 13) et ajoute l'accent tonique. Corrigé du mini-défi : be·ta·len (be muet, ta long, len muet) · ge·zel·lig (ge muet, zel court, lig « leugh ») · vrien·de·lijk (vrien « vrinn », de muet, lijk « leuk »). Faites frapper les syllabes dans les mains et taper du pied sur la syllabe accentuée. L'accent néerlandais est fort : la syllabe accentuée est plus longue et plus haute, les autres s'effacent.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des mots de plus en plus longs construits sur une même base, en gardant l'accent au bon endroit.
Corrigé (syllabe accentuée en majuscules) :
• TAAL (1) · TA·len (2) · ver·TA·len (3) · ver·TA·ling (3) · ver·TA·lin·gen (4)
• NAAM (1) · NA·men (2) · VOOR·naam (2) · ACH·ter·naam (3) · ACH·ter·na·men (4)
• WERK (1) · WER·ken (2) · ge·WERKT (2) · ME·de·wer·ker (4) · ME·de·wer·kers (4)
• HUIS (1) · HUI·zen (2) · HUIS·je (2) · ZIE·ken·huis (3) · ZIE·ken·hui·zen (4)
Observation : l'accent ne bouge pas quand on ajoute un préfixe ou une finale (ta·len → ver·ta·len → ver·ta·lin·gen). Dans un mot composé, il passe sur le premier mot (zie·ken·huis). taal → talen : la porte s'ouvre, une seule voyelle suffit 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sans hésiter des mots longs du quotidien et du travail.
Corrigé : moei·lijk (2) · mak·ke·lijk (3) · ge·zond·heid (3) · na·tuur·lijk (3) · for·mu·lier (3) · woor·den·schat (3) · in·lich·tin·gen (4) · na·tio·na·li·teit (5) · ar·beids·on·ge·schikt·heids·ver·ze·ke·ring (10). Pièges : -lijk = « leuk », -heid garde son ei, -tio- se prononce « tsio » ou « sio ». Sens : difficile · facile · santé · naturellement · formulaire · vocabulaire · renseignements · nationalité · assurance invalidité (le mot-boss est célèbre pour sa longueur). En Belgique, on dit souvent ge·mak·ke·lijk (4 syllabes)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Entendre que l'accent de phrase change le sens ; reconnaître les mots qui « fondent » à l'oral.
Corrigé : IK woon… → ② · Ik WOON… → ③ · …in BRUSsel → ① · 1-C · 2-A · 3-D · 4-B. Lisez d'abord les formes écrites lentement, puis les formes rapides dans le désordre. Les formes réduites ('k, 't, 'n, da's) sont à reconnaître : on ne les écrit pas dans un e-mail professionnel. 'n et een non accentué se prononcent « eun » ; één accentué (= un seul) garde son « é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tous les sons du parcours avec rythme, grâce aux virelangues.
Sens : 1 Le chat gratte les boucles de l'escalier. 2 Liesje apprenait à Lotje à marcher le long de la longue allée des Tilleuls. 3 Je m'appelle Hans et j'aime manger du hareng. 4 Huit oies grises sont allées hier, toutes contentes, à Gand. 5 Le cocher astique la diligence avec du produit à diligence. 6 Quand des mouches volent derrière des mouches, des mouches poursuivent des mouches (vliegen = les mouches et voler). Les virelangues 1, 2, 5 et 6 sont des classiques ; 3 et 4 ont été créés pour ce parcours. Lisez d'abord lentement, syllabe par syllabe.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tout le parcours dans un jeu final en équipes.
Corrigé : ① court – long – court – long · ② « eu » bref – « u » – « œil » · ③ dictez par exemple klein (ei) et wijn (ij) · ④ h soufflé · ⑤ sche·ve·nin·gen : s + ch raclé, e long, deux e muets · ⑥ « mèï-cheu » · « o-ra-gneu » · « tchè-ghi-yeu » · ⑦ ver·ga·de·ring (4) · ⑧ ver·jaar·dags·feest (4) · ⑨ Hoe gaat 't? Scheveningen (station balnéaire près de La Haye) est un célèbre mot-test de la Seconde Guerre mondiale : il aurait servi à démasquer les espions allemands. Félicitez chaque tentative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1, à projeter ou à distribuer.
À projeter en fin de séance ou à imprimer. Faites relire chaque panier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2.
Le détail des sons de chaque phrase est donné dans les notes de la diapo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3.
Les repères entre guillemets sont des approximations : faites toujours entendre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4.
Faites relire chaque mot en tapant du pied sur la syllabe accentuée.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5 et clore le parcours.
Pour aller plus loin : reprenez une liste des Uitspraakoefeningen 5 et 6 à chaque début de cours (5 mots, 2 minutes), en appliquant les 4 gestes de la séance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36225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PRONONCIATION · 5 SÉANCES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Uitspraak!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prononciation en 5 séances d’entraînement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man · maan · kijk · goed · gezellig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7360920" y="402336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8275320" y="329184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9189720" y="256032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10104120" y="182880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949440" y="43434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0" y="4343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45552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Long ou court 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36118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5760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sons doubles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2880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0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292608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consonnes-pièges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92640" y="21488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19456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Mots courts, mots longs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607040" y="1417320"/>
            <a:ext cx="822960" cy="8229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0704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146304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La phrase qui chante</a:t>
            </a:r>
            <a:endParaRPr lang="en-US" sz="1100" dirty="0"/>
          </a:p>
        </p:txBody>
      </p:sp>
      <p:pic>
        <p:nvPicPr>
          <p:cNvPr id="24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5257800"/>
            <a:ext cx="548640" cy="54864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680960" y="5257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klank</a:t>
            </a:r>
            <a:endParaRPr lang="en-US" sz="1600" dirty="0"/>
          </a:p>
        </p:txBody>
      </p:sp>
      <p:pic>
        <p:nvPicPr>
          <p:cNvPr id="26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411480"/>
            <a:ext cx="777240" cy="77724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104120" y="50292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zin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parcours — du son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4655" y="1965960"/>
            <a:ext cx="9019642" cy="914"/>
          </a:xfrm>
          <a:prstGeom prst="line">
            <a:avLst/>
          </a:prstGeom>
          <a:noFill/>
          <a:ln w="38100">
            <a:solidFill>
              <a:srgbClr val="D5DCE6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54864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8895" y="16002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8895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 ou court ?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/ maan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voyelles courtes et longues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80355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B423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3806" y="160020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380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291327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sons doubles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91327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huis · tijd · boek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91327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ij, ui, ou, eu, oe, ie…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5846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28716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2871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516818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consonnes-pièges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16818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goed · hoor · meisje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16818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g, h, j, ng, sj, d final…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337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83626" y="16002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8362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2309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Mots courts, mots longs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42309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kaas → vergadering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42309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couper, porte, accent, e muet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568282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238537" y="1600200"/>
            <a:ext cx="731520" cy="73152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38537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9678010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 phrase qui chante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678010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’t?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678010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rythme, accent, mots qui fondent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5262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CHAQUE SÉANCE = 3 TEMPS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29200"/>
            <a:ext cx="640080" cy="6400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3716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· Écouter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distingue les sons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30632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1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5029200"/>
            <a:ext cx="640080" cy="64008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38862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2 · S’entraîner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classe, je lis, je répète</a:t>
            </a:r>
            <a:endParaRPr lang="en-US" sz="1300" dirty="0"/>
          </a:p>
        </p:txBody>
      </p:sp>
      <p:sp>
        <p:nvSpPr>
          <p:cNvPr id="43" name="Shape 38"/>
          <p:cNvSpPr/>
          <p:nvPr/>
        </p:nvSpPr>
        <p:spPr>
          <a:xfrm>
            <a:off x="55778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2" descr="game d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5029200"/>
            <a:ext cx="640080" cy="64008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64008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3 · Jouer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relève un défi en équipe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183880" y="4526280"/>
            <a:ext cx="3456432" cy="1280160"/>
          </a:xfrm>
          <a:prstGeom prst="roundRect">
            <a:avLst>
              <a:gd name="adj" fmla="val 714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832104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Matériel</a:t>
            </a:r>
            <a:endParaRPr lang="en-US" sz="1400" dirty="0"/>
          </a:p>
        </p:txBody>
      </p:sp>
      <p:sp>
        <p:nvSpPr>
          <p:cNvPr id="48" name="Shape 42"/>
          <p:cNvSpPr/>
          <p:nvPr/>
        </p:nvSpPr>
        <p:spPr>
          <a:xfrm>
            <a:off x="8366760" y="5029200"/>
            <a:ext cx="27432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641080" y="5029200"/>
            <a:ext cx="27432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006840" y="4983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 framboise / vert (M1)</a:t>
            </a:r>
            <a:endParaRPr lang="en-US" sz="1300" dirty="0"/>
          </a:p>
        </p:txBody>
      </p:sp>
      <p:pic>
        <p:nvPicPr>
          <p:cNvPr id="51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413248"/>
            <a:ext cx="329184" cy="329184"/>
          </a:xfrm>
          <a:prstGeom prst="rect">
            <a:avLst/>
          </a:prstGeom>
        </p:spPr>
      </p:pic>
      <p:pic>
        <p:nvPicPr>
          <p:cNvPr id="52" name="Image 4" descr="stopwat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5413248"/>
            <a:ext cx="329184" cy="32918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9125712" y="5376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dé · un chronomètre</a:t>
            </a:r>
            <a:endParaRPr lang="en-US" sz="1300" dirty="0"/>
          </a:p>
        </p:txBody>
      </p:sp>
      <p:sp>
        <p:nvSpPr>
          <p:cNvPr id="54" name="Text 4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but : être compris et ne pas confondre les sons — pas l’accent parfait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Oreille d’or : court ou long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L’enseignant·e lit un mot par paire : carton </a:t>
            </a:r>
            <a:r>
              <a:rPr lang="en-US" sz="1700" b="1" i="1" dirty="0">
                <a:solidFill>
                  <a:schemeClr val="accent5"/>
                </a:solidFill>
              </a:rPr>
              <a:t>framboise</a:t>
            </a:r>
            <a:r>
              <a:rPr lang="en-US" sz="1700" i="1" dirty="0">
                <a:solidFill>
                  <a:schemeClr val="accent5"/>
                </a:solidFill>
              </a:rPr>
              <a:t> = court, </a:t>
            </a:r>
            <a:r>
              <a:rPr lang="en-US" sz="1700" b="1" i="1" dirty="0">
                <a:solidFill>
                  <a:schemeClr val="accent5"/>
                </a:solidFill>
              </a:rPr>
              <a:t>vert</a:t>
            </a:r>
            <a:r>
              <a:rPr lang="en-US" sz="1700" i="1" dirty="0">
                <a:solidFill>
                  <a:schemeClr val="accent5"/>
                </a:solidFill>
              </a:rPr>
              <a:t> = long. Puis, à deux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20055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fermée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kat · man · bos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369722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74294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ouverte ou voyelle doublée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ma·ken · maan · boos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3520440" y="2005584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2005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411480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11480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man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5353812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353812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maan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6684264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84264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vak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7923276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23276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vaak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9253728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9253728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lat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1049274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49274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laat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3520440" y="268909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20440" y="268909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11480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11480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pen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353812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353812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peen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6684264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84264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ben</a:t>
            </a:r>
            <a:endParaRPr lang="en-US" sz="2000" dirty="0"/>
          </a:p>
        </p:txBody>
      </p:sp>
      <p:sp>
        <p:nvSpPr>
          <p:cNvPr id="44" name="Shape 40"/>
          <p:cNvSpPr/>
          <p:nvPr/>
        </p:nvSpPr>
        <p:spPr>
          <a:xfrm>
            <a:off x="7923276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23276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been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9253728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53728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hel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1049274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049274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heel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3520440" y="3372612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520440" y="33726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411480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11480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vis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353812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53812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vies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6684264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684264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lid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7923276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923276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lied</a:t>
            </a:r>
            <a:endParaRPr lang="en-US" sz="2000" dirty="0"/>
          </a:p>
        </p:txBody>
      </p:sp>
      <p:sp>
        <p:nvSpPr>
          <p:cNvPr id="60" name="Shape 56"/>
          <p:cNvSpPr/>
          <p:nvPr/>
        </p:nvSpPr>
        <p:spPr>
          <a:xfrm>
            <a:off x="9253728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9253728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zit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1049274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1049274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ziet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3520440" y="4056126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3520440" y="405612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411480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11480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bos</a:t>
            </a:r>
            <a:endParaRPr lang="en-US" sz="2000" dirty="0"/>
          </a:p>
        </p:txBody>
      </p:sp>
      <p:sp>
        <p:nvSpPr>
          <p:cNvPr id="68" name="Shape 64"/>
          <p:cNvSpPr/>
          <p:nvPr/>
        </p:nvSpPr>
        <p:spPr>
          <a:xfrm>
            <a:off x="5353812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353812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boos</a:t>
            </a:r>
            <a:endParaRPr lang="en-US" sz="2000" dirty="0"/>
          </a:p>
        </p:txBody>
      </p:sp>
      <p:sp>
        <p:nvSpPr>
          <p:cNvPr id="70" name="Shape 66"/>
          <p:cNvSpPr/>
          <p:nvPr/>
        </p:nvSpPr>
        <p:spPr>
          <a:xfrm>
            <a:off x="6684264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684264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bom</a:t>
            </a:r>
            <a:endParaRPr lang="en-US" sz="2000" dirty="0"/>
          </a:p>
        </p:txBody>
      </p:sp>
      <p:sp>
        <p:nvSpPr>
          <p:cNvPr id="72" name="Shape 68"/>
          <p:cNvSpPr/>
          <p:nvPr/>
        </p:nvSpPr>
        <p:spPr>
          <a:xfrm>
            <a:off x="7923276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7923276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boom</a:t>
            </a:r>
            <a:endParaRPr lang="en-US" sz="2000" dirty="0"/>
          </a:p>
        </p:txBody>
      </p:sp>
      <p:sp>
        <p:nvSpPr>
          <p:cNvPr id="74" name="Shape 70"/>
          <p:cNvSpPr/>
          <p:nvPr/>
        </p:nvSpPr>
        <p:spPr>
          <a:xfrm>
            <a:off x="9253728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9253728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pot</a:t>
            </a:r>
            <a:endParaRPr lang="en-US" sz="2000" dirty="0"/>
          </a:p>
        </p:txBody>
      </p:sp>
      <p:sp>
        <p:nvSpPr>
          <p:cNvPr id="76" name="Shape 72"/>
          <p:cNvSpPr/>
          <p:nvPr/>
        </p:nvSpPr>
        <p:spPr>
          <a:xfrm>
            <a:off x="1049274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049274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poot</a:t>
            </a:r>
            <a:endParaRPr lang="en-US" sz="2000" dirty="0"/>
          </a:p>
        </p:txBody>
      </p:sp>
      <p:sp>
        <p:nvSpPr>
          <p:cNvPr id="78" name="Shape 74"/>
          <p:cNvSpPr/>
          <p:nvPr/>
        </p:nvSpPr>
        <p:spPr>
          <a:xfrm>
            <a:off x="3520440" y="4739640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3520440" y="4739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</a:t>
            </a:r>
            <a:endParaRPr lang="en-US" sz="2000" dirty="0"/>
          </a:p>
        </p:txBody>
      </p:sp>
      <p:sp>
        <p:nvSpPr>
          <p:cNvPr id="80" name="Shape 76"/>
          <p:cNvSpPr/>
          <p:nvPr/>
        </p:nvSpPr>
        <p:spPr>
          <a:xfrm>
            <a:off x="411480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11480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82" name="Shape 78"/>
          <p:cNvSpPr/>
          <p:nvPr/>
        </p:nvSpPr>
        <p:spPr>
          <a:xfrm>
            <a:off x="5353812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353812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84" name="Shape 80"/>
          <p:cNvSpPr/>
          <p:nvPr/>
        </p:nvSpPr>
        <p:spPr>
          <a:xfrm>
            <a:off x="6684264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6684264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kus</a:t>
            </a:r>
            <a:endParaRPr lang="en-US" sz="2000" dirty="0"/>
          </a:p>
        </p:txBody>
      </p:sp>
      <p:sp>
        <p:nvSpPr>
          <p:cNvPr id="86" name="Shape 82"/>
          <p:cNvSpPr/>
          <p:nvPr/>
        </p:nvSpPr>
        <p:spPr>
          <a:xfrm>
            <a:off x="7923276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7923276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kuur</a:t>
            </a:r>
            <a:endParaRPr lang="en-US" sz="2000" dirty="0"/>
          </a:p>
        </p:txBody>
      </p:sp>
      <p:sp>
        <p:nvSpPr>
          <p:cNvPr id="88" name="Shape 84"/>
          <p:cNvSpPr/>
          <p:nvPr/>
        </p:nvSpPr>
        <p:spPr>
          <a:xfrm>
            <a:off x="9253728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9253728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90" name="Shape 86"/>
          <p:cNvSpPr/>
          <p:nvPr/>
        </p:nvSpPr>
        <p:spPr>
          <a:xfrm>
            <a:off x="1049274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91" name="Text 87"/>
          <p:cNvSpPr txBox="1"/>
          <p:nvPr/>
        </p:nvSpPr>
        <p:spPr>
          <a:xfrm>
            <a:off x="1049274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92" name="Shape 8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</a:t>
            </a:r>
            <a:r>
              <a:rPr lang="en-US" sz="1700" dirty="0">
                <a:solidFill>
                  <a:schemeClr val="bg1"/>
                </a:solidFill>
              </a:rPr>
              <a:t> ≠ </a:t>
            </a:r>
            <a:r>
              <a:rPr lang="en-US" sz="1700" i="1" dirty="0">
                <a:solidFill>
                  <a:schemeClr val="bg1"/>
                </a:solidFill>
              </a:rPr>
              <a:t>uu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mus</a:t>
            </a:r>
            <a:r>
              <a:rPr lang="en-US" sz="1700" dirty="0">
                <a:solidFill>
                  <a:schemeClr val="bg1"/>
                </a:solidFill>
              </a:rPr>
              <a:t> « meus », bref · </a:t>
            </a:r>
            <a:r>
              <a:rPr lang="en-US" sz="1700" i="1" dirty="0">
                <a:solidFill>
                  <a:schemeClr val="bg1"/>
                </a:solidFill>
              </a:rPr>
              <a:t>muur</a:t>
            </a:r>
            <a:r>
              <a:rPr lang="en-US" sz="1700" dirty="0">
                <a:solidFill>
                  <a:schemeClr val="bg1"/>
                </a:solidFill>
              </a:rPr>
              <a:t> « mur », long — le son « i » s’écrit presque toujours </a:t>
            </a:r>
            <a:r>
              <a:rPr lang="en-US" sz="1700" i="1" dirty="0">
                <a:solidFill>
                  <a:schemeClr val="bg1"/>
                </a:solidFill>
              </a:rPr>
              <a:t>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paniers : porte ouverte ou fermée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le bon panier, puis lisez chaque panier à voix haute.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80000">
            <a:off x="54864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4864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tak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120000">
            <a:off x="228600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28600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maken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 rot="-60000">
            <a:off x="402336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402336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raam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 rot="180000">
            <a:off x="576072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76072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katten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 rot="120000">
            <a:off x="54864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54864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nek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 rot="-60000">
            <a:off x="228600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228600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lezen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 rot="180000">
            <a:off x="402336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402336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keel</a:t>
            </a:r>
            <a:endParaRPr lang="en-US" sz="2100" dirty="0"/>
          </a:p>
        </p:txBody>
      </p:sp>
      <p:sp>
        <p:nvSpPr>
          <p:cNvPr id="32" name="Shape 28"/>
          <p:cNvSpPr/>
          <p:nvPr/>
        </p:nvSpPr>
        <p:spPr>
          <a:xfrm rot="-180000">
            <a:off x="576072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576072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pennen</a:t>
            </a:r>
            <a:endParaRPr lang="en-US" sz="2100" dirty="0"/>
          </a:p>
        </p:txBody>
      </p:sp>
      <p:sp>
        <p:nvSpPr>
          <p:cNvPr id="34" name="Shape 30"/>
          <p:cNvSpPr/>
          <p:nvPr/>
        </p:nvSpPr>
        <p:spPr>
          <a:xfrm rot="-60000">
            <a:off x="54864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54864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bol</a:t>
            </a:r>
            <a:endParaRPr lang="en-US" sz="2100" dirty="0"/>
          </a:p>
        </p:txBody>
      </p:sp>
      <p:sp>
        <p:nvSpPr>
          <p:cNvPr id="36" name="Shape 32"/>
          <p:cNvSpPr/>
          <p:nvPr/>
        </p:nvSpPr>
        <p:spPr>
          <a:xfrm rot="180000">
            <a:off x="228600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228600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wonen</a:t>
            </a:r>
            <a:endParaRPr lang="en-US" sz="2100" dirty="0"/>
          </a:p>
        </p:txBody>
      </p:sp>
      <p:sp>
        <p:nvSpPr>
          <p:cNvPr id="38" name="Shape 34"/>
          <p:cNvSpPr/>
          <p:nvPr/>
        </p:nvSpPr>
        <p:spPr>
          <a:xfrm rot="-180000">
            <a:off x="402336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402336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roos</a:t>
            </a:r>
            <a:endParaRPr lang="en-US" sz="2100" dirty="0"/>
          </a:p>
        </p:txBody>
      </p:sp>
      <p:sp>
        <p:nvSpPr>
          <p:cNvPr id="40" name="Shape 36"/>
          <p:cNvSpPr/>
          <p:nvPr/>
        </p:nvSpPr>
        <p:spPr>
          <a:xfrm rot="120000">
            <a:off x="576072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576072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bommen</a:t>
            </a:r>
            <a:endParaRPr lang="en-US" sz="2100" dirty="0"/>
          </a:p>
        </p:txBody>
      </p:sp>
      <p:sp>
        <p:nvSpPr>
          <p:cNvPr id="42" name="Shape 38"/>
          <p:cNvSpPr/>
          <p:nvPr/>
        </p:nvSpPr>
        <p:spPr>
          <a:xfrm rot="180000">
            <a:off x="54864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54864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stuk</a:t>
            </a:r>
            <a:endParaRPr lang="en-US" sz="2100" dirty="0"/>
          </a:p>
        </p:txBody>
      </p:sp>
      <p:sp>
        <p:nvSpPr>
          <p:cNvPr id="44" name="Shape 40"/>
          <p:cNvSpPr/>
          <p:nvPr/>
        </p:nvSpPr>
        <p:spPr>
          <a:xfrm rot="-180000">
            <a:off x="228600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Text 41"/>
          <p:cNvSpPr txBox="1"/>
          <p:nvPr/>
        </p:nvSpPr>
        <p:spPr>
          <a:xfrm>
            <a:off x="228600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muren</a:t>
            </a:r>
            <a:endParaRPr lang="en-US" sz="2100" dirty="0"/>
          </a:p>
        </p:txBody>
      </p:sp>
      <p:sp>
        <p:nvSpPr>
          <p:cNvPr id="46" name="Shape 42"/>
          <p:cNvSpPr/>
          <p:nvPr/>
        </p:nvSpPr>
        <p:spPr>
          <a:xfrm rot="120000">
            <a:off x="402336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402336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vuur</a:t>
            </a:r>
            <a:endParaRPr lang="en-US" sz="2100" dirty="0"/>
          </a:p>
        </p:txBody>
      </p:sp>
      <p:sp>
        <p:nvSpPr>
          <p:cNvPr id="48" name="Shape 44"/>
          <p:cNvSpPr/>
          <p:nvPr/>
        </p:nvSpPr>
        <p:spPr>
          <a:xfrm rot="-60000">
            <a:off x="576072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Text 45"/>
          <p:cNvSpPr txBox="1"/>
          <p:nvPr/>
        </p:nvSpPr>
        <p:spPr>
          <a:xfrm>
            <a:off x="576072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zussen</a:t>
            </a:r>
            <a:endParaRPr lang="en-US" sz="2100" dirty="0"/>
          </a:p>
        </p:txBody>
      </p:sp>
      <p:sp>
        <p:nvSpPr>
          <p:cNvPr id="50" name="Shape 46"/>
          <p:cNvSpPr/>
          <p:nvPr/>
        </p:nvSpPr>
        <p:spPr>
          <a:xfrm>
            <a:off x="7635240" y="19598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dash"/>
          </a:ln>
        </p:spPr>
      </p:sp>
      <p:pic>
        <p:nvPicPr>
          <p:cNvPr id="51" name="Image 1" descr="bas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234184"/>
            <a:ext cx="914400" cy="914400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8823960" y="19598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4"/>
                </a:solidFill>
              </a:rPr>
              <a:t>COURT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porte fermée</a:t>
            </a:r>
            <a:endParaRPr lang="en-US" sz="2000" dirty="0"/>
          </a:p>
        </p:txBody>
      </p:sp>
      <p:sp>
        <p:nvSpPr>
          <p:cNvPr id="53" name="Shape 48"/>
          <p:cNvSpPr/>
          <p:nvPr/>
        </p:nvSpPr>
        <p:spPr>
          <a:xfrm>
            <a:off x="7635240" y="35600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dash"/>
          </a:ln>
        </p:spPr>
      </p:sp>
      <p:pic>
        <p:nvPicPr>
          <p:cNvPr id="54" name="Image 2" descr="bas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834384"/>
            <a:ext cx="914400" cy="914400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8823960" y="35600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LONG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porte ouverte</a:t>
            </a:r>
            <a:endParaRPr lang="en-US" sz="2000" dirty="0"/>
          </a:p>
        </p:txBody>
      </p:sp>
      <p:sp>
        <p:nvSpPr>
          <p:cNvPr id="56" name="Shape 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Une seule voyelle à la fin de la syllabe = </a:t>
            </a:r>
            <a:r>
              <a:rPr lang="en-US" sz="1700" b="1" dirty="0">
                <a:solidFill>
                  <a:schemeClr val="bg1"/>
                </a:solidFill>
              </a:rPr>
              <a:t>long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ma·ken</a:t>
            </a:r>
            <a:r>
              <a:rPr lang="en-US" sz="1700" dirty="0">
                <a:solidFill>
                  <a:schemeClr val="bg1"/>
                </a:solidFill>
              </a:rPr>
              <a:t> « maa-ken » · deux consonnes = porte fermée : </a:t>
            </a:r>
            <a:r>
              <a:rPr lang="en-US" sz="1700" i="1" dirty="0">
                <a:solidFill>
                  <a:schemeClr val="bg1"/>
                </a:solidFill>
              </a:rPr>
              <a:t>kat·ten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duel des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la phrase 3 fois, de plus en plus vite. L’autre équipe crie « </a:t>
            </a:r>
            <a:r>
              <a:rPr lang="en-US" sz="1700" b="1" i="1" dirty="0">
                <a:solidFill>
                  <a:schemeClr val="accent5"/>
                </a:solidFill>
              </a:rPr>
              <a:t>KORT!</a:t>
            </a:r>
            <a:r>
              <a:rPr lang="en-US" sz="1700" i="1" dirty="0">
                <a:solidFill>
                  <a:schemeClr val="accent5"/>
                </a:solidFill>
              </a:rPr>
              <a:t> » ou « </a:t>
            </a:r>
            <a:r>
              <a:rPr lang="en-US" sz="1700" b="1" i="1" dirty="0">
                <a:solidFill>
                  <a:schemeClr val="accent5"/>
                </a:solidFill>
              </a:rPr>
              <a:t>LANG!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70432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Katten willen lekker snorren.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8986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986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8130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130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956048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93208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93208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Jagers doden grote hazen.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73060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060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82204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204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48640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85800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1170432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Mussen hebben dikke nekken.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8986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8986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38130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130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4956048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093208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093208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5577840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Apen eten zure noten.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73060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060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2204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2204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548640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85800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53" name="Text 49"/>
          <p:cNvSpPr txBox="1"/>
          <p:nvPr/>
        </p:nvSpPr>
        <p:spPr>
          <a:xfrm>
            <a:off x="1170432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Biggen kunnen schattig knorren.</a:t>
            </a:r>
            <a:endParaRPr lang="en-US" sz="1600" dirty="0"/>
          </a:p>
        </p:txBody>
      </p:sp>
      <p:sp>
        <p:nvSpPr>
          <p:cNvPr id="54" name="Shape 50"/>
          <p:cNvSpPr/>
          <p:nvPr/>
        </p:nvSpPr>
        <p:spPr>
          <a:xfrm>
            <a:off x="28986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8986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>
            <a:off x="38130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8130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4956048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093208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093208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61" name="Text 57"/>
          <p:cNvSpPr txBox="1"/>
          <p:nvPr/>
        </p:nvSpPr>
        <p:spPr>
          <a:xfrm>
            <a:off x="5577840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Dikke mannen hebben dunne sokken.</a:t>
            </a:r>
            <a:endParaRPr lang="en-US" sz="1600" dirty="0"/>
          </a:p>
        </p:txBody>
      </p:sp>
      <p:sp>
        <p:nvSpPr>
          <p:cNvPr id="62" name="Shape 58"/>
          <p:cNvSpPr/>
          <p:nvPr/>
        </p:nvSpPr>
        <p:spPr>
          <a:xfrm>
            <a:off x="73060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3060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82204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2204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pic>
        <p:nvPicPr>
          <p:cNvPr id="66" name="Image 1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959864"/>
            <a:ext cx="914400" cy="914400"/>
          </a:xfrm>
          <a:prstGeom prst="rect">
            <a:avLst/>
          </a:prstGeom>
        </p:spPr>
      </p:pic>
      <p:sp>
        <p:nvSpPr>
          <p:cNvPr id="67" name="Shape 62"/>
          <p:cNvSpPr/>
          <p:nvPr/>
        </p:nvSpPr>
        <p:spPr>
          <a:xfrm>
            <a:off x="932688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32688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2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69" name="Shape 64"/>
          <p:cNvSpPr/>
          <p:nvPr/>
        </p:nvSpPr>
        <p:spPr>
          <a:xfrm>
            <a:off x="1051560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1051560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71" name="Text 66"/>
          <p:cNvSpPr txBox="1"/>
          <p:nvPr/>
        </p:nvSpPr>
        <p:spPr>
          <a:xfrm>
            <a:off x="9326880" y="4291584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bonne réponse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lecture sans faute</a:t>
            </a:r>
            <a:endParaRPr lang="en-US" sz="1300" dirty="0"/>
          </a:p>
        </p:txBody>
      </p:sp>
      <p:sp>
        <p:nvSpPr>
          <p:cNvPr id="72" name="Shape 6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Défi : inventez une phrase 100 % courte ou 100 % longue… et faites-la lire à l’autre équipe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loto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Recopiez 9 mots dans une grille 3 × 3. L’enseignant·e lit : cochez ! Une ligne = « </a:t>
            </a:r>
            <a:r>
              <a:rPr lang="en-US" sz="1700" b="1" i="1" dirty="0">
                <a:solidFill>
                  <a:schemeClr val="accent5"/>
                </a:solidFill>
              </a:rPr>
              <a:t>Bingo!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réveil »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lijst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reis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ijs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prijs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420112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2420112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420112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2420112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œil »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2420112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kuit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2420112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luis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2420112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kuil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2420112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ruit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2420112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uit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4291584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4291584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91584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9" name="Text 35"/>
          <p:cNvSpPr txBox="1"/>
          <p:nvPr/>
        </p:nvSpPr>
        <p:spPr>
          <a:xfrm>
            <a:off x="4291584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aou »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4291584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rauw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4291584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4291584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klauw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4291584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stout</a:t>
            </a:r>
            <a:endParaRPr lang="en-US" sz="2000" dirty="0"/>
          </a:p>
        </p:txBody>
      </p:sp>
      <p:sp>
        <p:nvSpPr>
          <p:cNvPr id="44" name="Text 40"/>
          <p:cNvSpPr txBox="1"/>
          <p:nvPr/>
        </p:nvSpPr>
        <p:spPr>
          <a:xfrm>
            <a:off x="4291584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koud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6163056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163056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163056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600" dirty="0"/>
          </a:p>
        </p:txBody>
      </p:sp>
      <p:sp>
        <p:nvSpPr>
          <p:cNvPr id="48" name="Text 44"/>
          <p:cNvSpPr txBox="1"/>
          <p:nvPr/>
        </p:nvSpPr>
        <p:spPr>
          <a:xfrm>
            <a:off x="6163056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peu »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6163056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beuk</a:t>
            </a:r>
            <a:endParaRPr lang="en-US" sz="2000" dirty="0"/>
          </a:p>
        </p:txBody>
      </p:sp>
      <p:sp>
        <p:nvSpPr>
          <p:cNvPr id="50" name="Text 46"/>
          <p:cNvSpPr txBox="1"/>
          <p:nvPr/>
        </p:nvSpPr>
        <p:spPr>
          <a:xfrm>
            <a:off x="6163056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51" name="Text 47"/>
          <p:cNvSpPr txBox="1"/>
          <p:nvPr/>
        </p:nvSpPr>
        <p:spPr>
          <a:xfrm>
            <a:off x="6163056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kleur</a:t>
            </a:r>
            <a:endParaRPr lang="en-US" sz="20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leuk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6163056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8034528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8034528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34528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600" dirty="0"/>
          </a:p>
        </p:txBody>
      </p:sp>
      <p:sp>
        <p:nvSpPr>
          <p:cNvPr id="57" name="Text 53"/>
          <p:cNvSpPr txBox="1"/>
          <p:nvPr/>
        </p:nvSpPr>
        <p:spPr>
          <a:xfrm>
            <a:off x="8034528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ou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8034528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zoet</a:t>
            </a:r>
            <a:endParaRPr lang="en-US" sz="2000" dirty="0"/>
          </a:p>
        </p:txBody>
      </p:sp>
      <p:sp>
        <p:nvSpPr>
          <p:cNvPr id="59" name="Text 55"/>
          <p:cNvSpPr txBox="1"/>
          <p:nvPr/>
        </p:nvSpPr>
        <p:spPr>
          <a:xfrm>
            <a:off x="8034528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stoep</a:t>
            </a:r>
            <a:endParaRPr lang="en-US" sz="2000" dirty="0"/>
          </a:p>
        </p:txBody>
      </p:sp>
      <p:sp>
        <p:nvSpPr>
          <p:cNvPr id="60" name="Text 56"/>
          <p:cNvSpPr txBox="1"/>
          <p:nvPr/>
        </p:nvSpPr>
        <p:spPr>
          <a:xfrm>
            <a:off x="8034528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boef</a:t>
            </a:r>
            <a:endParaRPr lang="en-US" sz="2000" dirty="0"/>
          </a:p>
        </p:txBody>
      </p:sp>
      <p:sp>
        <p:nvSpPr>
          <p:cNvPr id="61" name="Text 57"/>
          <p:cNvSpPr txBox="1"/>
          <p:nvPr/>
        </p:nvSpPr>
        <p:spPr>
          <a:xfrm>
            <a:off x="8034528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moe</a:t>
            </a:r>
            <a:endParaRPr lang="en-US" sz="2000" dirty="0"/>
          </a:p>
        </p:txBody>
      </p:sp>
      <p:sp>
        <p:nvSpPr>
          <p:cNvPr id="62" name="Text 58"/>
          <p:cNvSpPr txBox="1"/>
          <p:nvPr/>
        </p:nvSpPr>
        <p:spPr>
          <a:xfrm>
            <a:off x="8034528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Koen</a:t>
            </a:r>
            <a:endParaRPr lang="en-US" sz="2000" dirty="0"/>
          </a:p>
        </p:txBody>
      </p:sp>
      <p:sp>
        <p:nvSpPr>
          <p:cNvPr id="63" name="Shape 59"/>
          <p:cNvSpPr/>
          <p:nvPr/>
        </p:nvSpPr>
        <p:spPr>
          <a:xfrm>
            <a:off x="990600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4" name="Shape 60"/>
          <p:cNvSpPr/>
          <p:nvPr/>
        </p:nvSpPr>
        <p:spPr>
          <a:xfrm>
            <a:off x="990600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990600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</a:t>
            </a:r>
            <a:endParaRPr lang="en-US" sz="2600" dirty="0"/>
          </a:p>
        </p:txBody>
      </p:sp>
      <p:sp>
        <p:nvSpPr>
          <p:cNvPr id="66" name="Text 62"/>
          <p:cNvSpPr txBox="1"/>
          <p:nvPr/>
        </p:nvSpPr>
        <p:spPr>
          <a:xfrm>
            <a:off x="990600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i »</a:t>
            </a:r>
            <a:endParaRPr lang="en-US" sz="1400" dirty="0"/>
          </a:p>
        </p:txBody>
      </p:sp>
      <p:sp>
        <p:nvSpPr>
          <p:cNvPr id="67" name="Text 63"/>
          <p:cNvSpPr txBox="1"/>
          <p:nvPr/>
        </p:nvSpPr>
        <p:spPr>
          <a:xfrm>
            <a:off x="990600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bier</a:t>
            </a:r>
            <a:endParaRPr lang="en-US" sz="2000" dirty="0"/>
          </a:p>
        </p:txBody>
      </p:sp>
      <p:sp>
        <p:nvSpPr>
          <p:cNvPr id="68" name="Text 64"/>
          <p:cNvSpPr txBox="1"/>
          <p:nvPr/>
        </p:nvSpPr>
        <p:spPr>
          <a:xfrm>
            <a:off x="990600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lief</a:t>
            </a:r>
            <a:endParaRPr lang="en-US" sz="2000" dirty="0"/>
          </a:p>
        </p:txBody>
      </p:sp>
      <p:sp>
        <p:nvSpPr>
          <p:cNvPr id="69" name="Text 65"/>
          <p:cNvSpPr txBox="1"/>
          <p:nvPr/>
        </p:nvSpPr>
        <p:spPr>
          <a:xfrm>
            <a:off x="990600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stier</a:t>
            </a:r>
            <a:endParaRPr lang="en-US" sz="2000" dirty="0"/>
          </a:p>
        </p:txBody>
      </p:sp>
      <p:sp>
        <p:nvSpPr>
          <p:cNvPr id="70" name="Text 66"/>
          <p:cNvSpPr txBox="1"/>
          <p:nvPr/>
        </p:nvSpPr>
        <p:spPr>
          <a:xfrm>
            <a:off x="990600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Griet</a:t>
            </a:r>
            <a:endParaRPr lang="en-US" sz="2000" dirty="0"/>
          </a:p>
        </p:txBody>
      </p:sp>
      <p:sp>
        <p:nvSpPr>
          <p:cNvPr id="71" name="Text 67"/>
          <p:cNvSpPr txBox="1"/>
          <p:nvPr/>
        </p:nvSpPr>
        <p:spPr>
          <a:xfrm>
            <a:off x="990600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drie</a:t>
            </a:r>
            <a:endParaRPr lang="en-US" sz="2000" dirty="0"/>
          </a:p>
        </p:txBody>
      </p:sp>
      <p:sp>
        <p:nvSpPr>
          <p:cNvPr id="72" name="Text 68"/>
          <p:cNvSpPr txBox="1"/>
          <p:nvPr/>
        </p:nvSpPr>
        <p:spPr>
          <a:xfrm>
            <a:off x="548640" y="5663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Ma grille :</a:t>
            </a:r>
            <a:endParaRPr lang="en-US" sz="1400" dirty="0"/>
          </a:p>
        </p:txBody>
      </p:sp>
      <p:sp>
        <p:nvSpPr>
          <p:cNvPr id="73" name="Shape 69"/>
          <p:cNvSpPr/>
          <p:nvPr/>
        </p:nvSpPr>
        <p:spPr>
          <a:xfrm>
            <a:off x="1874520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258568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42616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874520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258568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642616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874520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258568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2642616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3200400" y="5617464"/>
            <a:ext cx="8439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eu</a:t>
            </a:r>
            <a:r>
              <a:rPr lang="en-US" sz="1500" i="1" dirty="0">
                <a:solidFill>
                  <a:schemeClr val="accent5"/>
                </a:solidFill>
              </a:rPr>
              <a:t> et </a:t>
            </a:r>
            <a:r>
              <a:rPr lang="en-US" sz="1500" i="1" dirty="0">
                <a:solidFill>
                  <a:schemeClr val="accent5"/>
                </a:solidFill>
              </a:rPr>
              <a:t>oe</a:t>
            </a:r>
            <a:r>
              <a:rPr lang="en-US" sz="1500" i="1" dirty="0">
                <a:solidFill>
                  <a:schemeClr val="accent5"/>
                </a:solidFill>
              </a:rPr>
              <a:t> : deux lettres, mais un seul son, sans glissement (M6). Ligne gagnante = à lire sans faute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toboggan u · uu · ui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chaque rangée en glissant, de plus en plus vite. Puis : 1, 2 ou 3 doigts ?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① 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eu » bref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297180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97180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② uu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u » long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39496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39496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③ ui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œil 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258165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258165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2606040" y="283768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2971800" y="263652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26365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buur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5029200" y="289255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394960" y="269138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394960" y="269138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buis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548640" y="318516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31851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06040" y="344119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2971800" y="324002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971800" y="32400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37" name="Shape 33"/>
          <p:cNvSpPr/>
          <p:nvPr/>
        </p:nvSpPr>
        <p:spPr>
          <a:xfrm>
            <a:off x="5029200" y="349605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5394960" y="329488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394960" y="32948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muis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48640" y="378866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37886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hut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2606040" y="404469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2971800" y="384352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71800" y="38435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huur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5029200" y="409956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5394960" y="389839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394960" y="38983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548640" y="439216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439216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dun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2606040" y="464820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2971800" y="444703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2971800" y="444703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duur</a:t>
            </a:r>
            <a:endParaRPr lang="en-US" sz="2000" dirty="0"/>
          </a:p>
        </p:txBody>
      </p:sp>
      <p:sp>
        <p:nvSpPr>
          <p:cNvPr id="53" name="Shape 49"/>
          <p:cNvSpPr/>
          <p:nvPr/>
        </p:nvSpPr>
        <p:spPr>
          <a:xfrm>
            <a:off x="5029200" y="470306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Shape 50"/>
          <p:cNvSpPr/>
          <p:nvPr/>
        </p:nvSpPr>
        <p:spPr>
          <a:xfrm>
            <a:off x="5394960" y="450189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94960" y="450189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duin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548640" y="499567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48640" y="49956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06040" y="525170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2971800" y="505053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971800" y="50505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61" name="Shape 57"/>
          <p:cNvSpPr/>
          <p:nvPr/>
        </p:nvSpPr>
        <p:spPr>
          <a:xfrm>
            <a:off x="5029200" y="530656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394960" y="510540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394960" y="5105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zuid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7818120" y="1959864"/>
            <a:ext cx="3822192" cy="3611880"/>
          </a:xfrm>
          <a:prstGeom prst="roundRect">
            <a:avLst>
              <a:gd name="adj" fmla="val 2532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001000" y="2051304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ij = ei</a:t>
            </a:r>
            <a:r>
              <a:rPr lang="en-US" sz="2000" dirty="0">
                <a:solidFill>
                  <a:schemeClr val="accent1"/>
                </a:solidFill>
              </a:rPr>
              <a:t> : même son !</a:t>
            </a:r>
            <a:endParaRPr lang="en-US" sz="2000" dirty="0"/>
          </a:p>
        </p:txBody>
      </p:sp>
      <p:sp>
        <p:nvSpPr>
          <p:cNvPr id="66" name="Text 62"/>
          <p:cNvSpPr txBox="1"/>
          <p:nvPr/>
        </p:nvSpPr>
        <p:spPr>
          <a:xfrm>
            <a:off x="8001000" y="2554224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Dictée : </a:t>
            </a:r>
            <a:r>
              <a:rPr lang="en-US" sz="1500" i="1" dirty="0">
                <a:solidFill>
                  <a:schemeClr val="accent5"/>
                </a:solidFill>
              </a:rPr>
              <a:t>lange ij</a:t>
            </a:r>
            <a:r>
              <a:rPr lang="en-US" sz="1500" i="1" dirty="0">
                <a:solidFill>
                  <a:schemeClr val="accent5"/>
                </a:solidFill>
              </a:rPr>
              <a:t> of </a:t>
            </a:r>
            <a:r>
              <a:rPr lang="en-US" sz="1500" i="1" dirty="0">
                <a:solidFill>
                  <a:schemeClr val="accent5"/>
                </a:solidFill>
              </a:rPr>
              <a:t>korte ei</a:t>
            </a:r>
            <a:r>
              <a:rPr lang="en-US" sz="1500" i="1" dirty="0">
                <a:solidFill>
                  <a:schemeClr val="accent5"/>
                </a:solidFill>
              </a:rPr>
              <a:t> ?</a:t>
            </a:r>
            <a:endParaRPr lang="en-US" sz="1500" dirty="0"/>
          </a:p>
        </p:txBody>
      </p:sp>
      <p:sp>
        <p:nvSpPr>
          <p:cNvPr id="67" name="Shape 63"/>
          <p:cNvSpPr/>
          <p:nvPr/>
        </p:nvSpPr>
        <p:spPr>
          <a:xfrm>
            <a:off x="804672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804672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9" name="Shape 65"/>
          <p:cNvSpPr/>
          <p:nvPr/>
        </p:nvSpPr>
        <p:spPr>
          <a:xfrm>
            <a:off x="850392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0" name="Shape 66"/>
          <p:cNvSpPr/>
          <p:nvPr/>
        </p:nvSpPr>
        <p:spPr>
          <a:xfrm>
            <a:off x="982980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82980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1028700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3" name="Shape 69"/>
          <p:cNvSpPr/>
          <p:nvPr/>
        </p:nvSpPr>
        <p:spPr>
          <a:xfrm>
            <a:off x="804672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804672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5" name="Shape 71"/>
          <p:cNvSpPr/>
          <p:nvPr/>
        </p:nvSpPr>
        <p:spPr>
          <a:xfrm>
            <a:off x="850392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6" name="Shape 72"/>
          <p:cNvSpPr/>
          <p:nvPr/>
        </p:nvSpPr>
        <p:spPr>
          <a:xfrm>
            <a:off x="982980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982980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1028700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9" name="Shape 75"/>
          <p:cNvSpPr/>
          <p:nvPr/>
        </p:nvSpPr>
        <p:spPr>
          <a:xfrm>
            <a:off x="804672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804672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850392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2" name="Shape 78"/>
          <p:cNvSpPr/>
          <p:nvPr/>
        </p:nvSpPr>
        <p:spPr>
          <a:xfrm>
            <a:off x="982980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982980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84" name="Shape 80"/>
          <p:cNvSpPr/>
          <p:nvPr/>
        </p:nvSpPr>
        <p:spPr>
          <a:xfrm>
            <a:off x="1028700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5" name="Shape 81"/>
          <p:cNvSpPr/>
          <p:nvPr/>
        </p:nvSpPr>
        <p:spPr>
          <a:xfrm>
            <a:off x="548640" y="5742432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822960" y="574243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Rappel M6 : </a:t>
            </a:r>
            <a:r>
              <a:rPr lang="en-US" sz="1600" i="1" dirty="0">
                <a:solidFill>
                  <a:schemeClr val="bg1"/>
                </a:solidFill>
              </a:rPr>
              <a:t>ui</a:t>
            </a:r>
            <a:r>
              <a:rPr lang="en-US" sz="1600" dirty="0">
                <a:solidFill>
                  <a:schemeClr val="bg1"/>
                </a:solidFill>
              </a:rPr>
              <a:t> part de « eu » et glisse vers « u », lèvres arrondies (</a:t>
            </a:r>
            <a:r>
              <a:rPr lang="en-US" sz="1600" i="1" dirty="0">
                <a:solidFill>
                  <a:schemeClr val="bg1"/>
                </a:solidFill>
              </a:rPr>
              <a:t>huis</a:t>
            </a:r>
            <a:r>
              <a:rPr lang="en-US" sz="1600" dirty="0">
                <a:solidFill>
                  <a:schemeClr val="bg1"/>
                </a:solidFill>
              </a:rPr>
              <a:t> ≈ « heuïs »)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chasse aux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Par équipe : comptez les sons doubles de chaque phrase, puis lisez-la sans faute. Bon nombre + bonne lecture = 2 points.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36524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221894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Doei! Ik ga naar huis.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221894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766560" y="2310384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766560" y="2310384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005328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5800" y="3151632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234440" y="300532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Moeders snijden reuzenuien.</a:t>
            </a:r>
            <a:endParaRPr lang="en-US" sz="1900" dirty="0"/>
          </a:p>
        </p:txBody>
      </p:sp>
      <p:sp>
        <p:nvSpPr>
          <p:cNvPr id="29" name="Text 25"/>
          <p:cNvSpPr txBox="1"/>
          <p:nvPr/>
        </p:nvSpPr>
        <p:spPr>
          <a:xfrm>
            <a:off x="6080760" y="30053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766560" y="3096768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66560" y="3096768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548640" y="3791712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85800" y="393801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3938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1234440" y="3791712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 breien groene truien.</a:t>
            </a:r>
            <a:endParaRPr lang="en-US" sz="1900" dirty="0"/>
          </a:p>
        </p:txBody>
      </p:sp>
      <p:sp>
        <p:nvSpPr>
          <p:cNvPr id="36" name="Text 32"/>
          <p:cNvSpPr txBox="1"/>
          <p:nvPr/>
        </p:nvSpPr>
        <p:spPr>
          <a:xfrm>
            <a:off x="6080760" y="379171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6766560" y="3883152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766560" y="3883152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548640" y="4578096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85800" y="47244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" y="472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1234440" y="4578096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IJskoud bier uit de keuken van Koen.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6080760" y="457809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6766560" y="4669536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66560" y="4669536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548640" y="5364480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5800" y="5510784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85800" y="551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34440" y="53644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Mooie, nieuwe truien zijn nooit saai.</a:t>
            </a:r>
            <a:endParaRPr lang="en-US" sz="1900" dirty="0"/>
          </a:p>
        </p:txBody>
      </p:sp>
      <p:sp>
        <p:nvSpPr>
          <p:cNvPr id="50" name="Text 46"/>
          <p:cNvSpPr txBox="1"/>
          <p:nvPr/>
        </p:nvSpPr>
        <p:spPr>
          <a:xfrm>
            <a:off x="6080760" y="536448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766560" y="5455920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766560" y="5455920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7772400" y="2218944"/>
            <a:ext cx="3867912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7772400" y="2218944"/>
            <a:ext cx="386791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909560" y="2218944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sons à trois lettres</a:t>
            </a:r>
            <a:endParaRPr lang="en-US" sz="1600" dirty="0"/>
          </a:p>
        </p:txBody>
      </p:sp>
      <p:sp>
        <p:nvSpPr>
          <p:cNvPr id="56" name="Text 52"/>
          <p:cNvSpPr txBox="1"/>
          <p:nvPr/>
        </p:nvSpPr>
        <p:spPr>
          <a:xfrm>
            <a:off x="7955280" y="284073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aai</a:t>
            </a:r>
            <a:endParaRPr lang="en-US" sz="1900" dirty="0"/>
          </a:p>
        </p:txBody>
      </p:sp>
      <p:sp>
        <p:nvSpPr>
          <p:cNvPr id="57" name="Text 53"/>
          <p:cNvSpPr txBox="1"/>
          <p:nvPr/>
        </p:nvSpPr>
        <p:spPr>
          <a:xfrm>
            <a:off x="8823960" y="284073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aïe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9875520" y="28407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saai</a:t>
            </a:r>
            <a:endParaRPr lang="en-US" sz="1800" dirty="0"/>
          </a:p>
        </p:txBody>
      </p:sp>
      <p:pic>
        <p:nvPicPr>
          <p:cNvPr id="59" name="Image 1" descr="yawn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904744"/>
            <a:ext cx="438912" cy="438912"/>
          </a:xfrm>
          <a:prstGeom prst="rect">
            <a:avLst/>
          </a:prstGeom>
        </p:spPr>
      </p:pic>
      <p:sp>
        <p:nvSpPr>
          <p:cNvPr id="60" name="Text 55"/>
          <p:cNvSpPr txBox="1"/>
          <p:nvPr/>
        </p:nvSpPr>
        <p:spPr>
          <a:xfrm>
            <a:off x="7955280" y="346252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ooi</a:t>
            </a:r>
            <a:endParaRPr lang="en-US" sz="1900" dirty="0"/>
          </a:p>
        </p:txBody>
      </p:sp>
      <p:sp>
        <p:nvSpPr>
          <p:cNvPr id="61" name="Text 56"/>
          <p:cNvSpPr txBox="1"/>
          <p:nvPr/>
        </p:nvSpPr>
        <p:spPr>
          <a:xfrm>
            <a:off x="8823960" y="34625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ô-y »</a:t>
            </a:r>
            <a:endParaRPr lang="en-US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9875520" y="34625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mooi</a:t>
            </a:r>
            <a:endParaRPr lang="en-US" sz="1800" dirty="0"/>
          </a:p>
        </p:txBody>
      </p:sp>
      <p:pic>
        <p:nvPicPr>
          <p:cNvPr id="63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526536"/>
            <a:ext cx="438912" cy="43891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55280" y="408432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oei</a:t>
            </a:r>
            <a:endParaRPr lang="en-US" sz="1900" dirty="0"/>
          </a:p>
        </p:txBody>
      </p:sp>
      <p:sp>
        <p:nvSpPr>
          <p:cNvPr id="65" name="Text 59"/>
          <p:cNvSpPr txBox="1"/>
          <p:nvPr/>
        </p:nvSpPr>
        <p:spPr>
          <a:xfrm>
            <a:off x="8823960" y="4084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ouille »</a:t>
            </a:r>
            <a:endParaRPr lang="en-US" sz="1400" dirty="0"/>
          </a:p>
        </p:txBody>
      </p:sp>
      <p:sp>
        <p:nvSpPr>
          <p:cNvPr id="66" name="Text 60"/>
          <p:cNvSpPr txBox="1"/>
          <p:nvPr/>
        </p:nvSpPr>
        <p:spPr>
          <a:xfrm>
            <a:off x="9875520" y="4084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doei</a:t>
            </a:r>
            <a:endParaRPr lang="en-US" sz="1800" dirty="0"/>
          </a:p>
        </p:txBody>
      </p:sp>
      <p:pic>
        <p:nvPicPr>
          <p:cNvPr id="67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148328"/>
            <a:ext cx="438912" cy="438912"/>
          </a:xfrm>
          <a:prstGeom prst="rect">
            <a:avLst/>
          </a:prstGeom>
        </p:spPr>
      </p:pic>
      <p:sp>
        <p:nvSpPr>
          <p:cNvPr id="68" name="Text 61"/>
          <p:cNvSpPr txBox="1"/>
          <p:nvPr/>
        </p:nvSpPr>
        <p:spPr>
          <a:xfrm>
            <a:off x="7955280" y="470611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eeuw</a:t>
            </a:r>
            <a:endParaRPr lang="en-US" sz="1900" dirty="0"/>
          </a:p>
        </p:txBody>
      </p:sp>
      <p:sp>
        <p:nvSpPr>
          <p:cNvPr id="69" name="Text 62"/>
          <p:cNvSpPr txBox="1"/>
          <p:nvPr/>
        </p:nvSpPr>
        <p:spPr>
          <a:xfrm>
            <a:off x="8823960" y="47061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é-ou »</a:t>
            </a:r>
            <a:endParaRPr lang="en-US" sz="1400" dirty="0"/>
          </a:p>
        </p:txBody>
      </p:sp>
      <p:sp>
        <p:nvSpPr>
          <p:cNvPr id="70" name="Text 63"/>
          <p:cNvSpPr txBox="1"/>
          <p:nvPr/>
        </p:nvSpPr>
        <p:spPr>
          <a:xfrm>
            <a:off x="9875520" y="47061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sneeuw</a:t>
            </a:r>
            <a:endParaRPr lang="en-US" sz="1800" dirty="0"/>
          </a:p>
        </p:txBody>
      </p:sp>
      <p:pic>
        <p:nvPicPr>
          <p:cNvPr id="71" name="Image 4" descr="snowfl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4770120"/>
            <a:ext cx="438912" cy="438912"/>
          </a:xfrm>
          <a:prstGeom prst="rect">
            <a:avLst/>
          </a:prstGeom>
        </p:spPr>
      </p:pic>
      <p:sp>
        <p:nvSpPr>
          <p:cNvPr id="72" name="Text 64"/>
          <p:cNvSpPr txBox="1"/>
          <p:nvPr/>
        </p:nvSpPr>
        <p:spPr>
          <a:xfrm>
            <a:off x="7955280" y="532790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ieuw</a:t>
            </a:r>
            <a:endParaRPr lang="en-US" sz="1900" dirty="0"/>
          </a:p>
        </p:txBody>
      </p:sp>
      <p:sp>
        <p:nvSpPr>
          <p:cNvPr id="73" name="Text 65"/>
          <p:cNvSpPr txBox="1"/>
          <p:nvPr/>
        </p:nvSpPr>
        <p:spPr>
          <a:xfrm>
            <a:off x="8823960" y="532790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i-ou »</a:t>
            </a:r>
            <a:endParaRPr lang="en-US" sz="1400" dirty="0"/>
          </a:p>
        </p:txBody>
      </p:sp>
      <p:sp>
        <p:nvSpPr>
          <p:cNvPr id="74" name="Text 66"/>
          <p:cNvSpPr txBox="1"/>
          <p:nvPr/>
        </p:nvSpPr>
        <p:spPr>
          <a:xfrm>
            <a:off x="9875520" y="53279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nieuw</a:t>
            </a:r>
            <a:endParaRPr lang="en-US" sz="1800" dirty="0"/>
          </a:p>
        </p:txBody>
      </p:sp>
      <p:pic>
        <p:nvPicPr>
          <p:cNvPr id="75" name="Image 5" descr="new butt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5391912"/>
            <a:ext cx="438912" cy="438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Souffle ou silence ? h, g et 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main levée si vous entendez le </a:t>
            </a:r>
            <a:r>
              <a:rPr lang="en-US" sz="1700" i="1" dirty="0">
                <a:solidFill>
                  <a:schemeClr val="accent5"/>
                </a:solidFill>
              </a:rPr>
              <a:t>h</a:t>
            </a:r>
            <a:r>
              <a:rPr lang="en-US" sz="1700" i="1" dirty="0">
                <a:solidFill>
                  <a:schemeClr val="accent5"/>
                </a:solidFill>
              </a:rPr>
              <a:t>. Puis relevez le défi du </a:t>
            </a:r>
            <a:r>
              <a:rPr lang="en-US" sz="1700" i="1" dirty="0">
                <a:solidFill>
                  <a:schemeClr val="accent5"/>
                </a:solidFill>
              </a:rPr>
              <a:t>g</a:t>
            </a:r>
            <a:r>
              <a:rPr lang="en-US" sz="1700" i="1" dirty="0">
                <a:solidFill>
                  <a:schemeClr val="accent5"/>
                </a:solidFill>
              </a:rPr>
              <a:t>… en une seule respiration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</a:t>
            </a:r>
            <a:r>
              <a:rPr lang="en-US" sz="1900" dirty="0">
                <a:solidFill>
                  <a:schemeClr val="bg1"/>
                </a:solidFill>
              </a:rPr>
              <a:t> = on souffle !</a:t>
            </a:r>
            <a:endParaRPr lang="en-US" sz="1900" dirty="0"/>
          </a:p>
        </p:txBody>
      </p:sp>
      <p:pic>
        <p:nvPicPr>
          <p:cNvPr id="21" name="Image 1" descr="win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2005584"/>
            <a:ext cx="457200" cy="4572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2606040" y="26730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306324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06324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7" name="Shape 22"/>
          <p:cNvSpPr/>
          <p:nvPr/>
        </p:nvSpPr>
        <p:spPr>
          <a:xfrm>
            <a:off x="82296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29" name="Text 24"/>
          <p:cNvSpPr txBox="1"/>
          <p:nvPr/>
        </p:nvSpPr>
        <p:spPr>
          <a:xfrm>
            <a:off x="2606040" y="3221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306324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06324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32" name="Shape 27"/>
          <p:cNvSpPr/>
          <p:nvPr/>
        </p:nvSpPr>
        <p:spPr>
          <a:xfrm>
            <a:off x="82296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2296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ij</a:t>
            </a:r>
            <a:endParaRPr lang="en-US" sz="1900" dirty="0"/>
          </a:p>
        </p:txBody>
      </p:sp>
      <p:sp>
        <p:nvSpPr>
          <p:cNvPr id="34" name="Text 29"/>
          <p:cNvSpPr txBox="1"/>
          <p:nvPr/>
        </p:nvSpPr>
        <p:spPr>
          <a:xfrm>
            <a:off x="2606040" y="377037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5" name="Shape 30"/>
          <p:cNvSpPr/>
          <p:nvPr/>
        </p:nvSpPr>
        <p:spPr>
          <a:xfrm>
            <a:off x="306324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06324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ei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2296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2296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2606040" y="43190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306324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06324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pic>
        <p:nvPicPr>
          <p:cNvPr id="42" name="Image 2" descr="face with tears of jo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04232"/>
            <a:ext cx="457200" cy="45720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1325880" y="4858512"/>
            <a:ext cx="4498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eet Tom.</a:t>
            </a:r>
            <a:r>
              <a:rPr lang="en-US" sz="1900" dirty="0">
                <a:solidFill>
                  <a:schemeClr val="tx1"/>
                </a:solidFill>
              </a:rPr>
              <a:t> ≠ </a:t>
            </a:r>
            <a:r>
              <a:rPr lang="en-US" sz="1900" i="1" dirty="0">
                <a:solidFill>
                  <a:schemeClr val="tx1"/>
                </a:solidFill>
              </a:rPr>
              <a:t>Ik eet Tom!</a:t>
            </a:r>
            <a:endParaRPr lang="en-US" sz="1900" dirty="0"/>
          </a:p>
        </p:txBody>
      </p:sp>
      <p:sp>
        <p:nvSpPr>
          <p:cNvPr id="44" name="Shape 38"/>
          <p:cNvSpPr/>
          <p:nvPr/>
        </p:nvSpPr>
        <p:spPr>
          <a:xfrm>
            <a:off x="6227064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6227064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409944" y="1959864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b="1" dirty="0">
                <a:solidFill>
                  <a:schemeClr val="bg1"/>
                </a:solidFill>
              </a:rPr>
              <a:t>ch</a:t>
            </a:r>
            <a:r>
              <a:rPr lang="en-US" sz="1700" dirty="0">
                <a:solidFill>
                  <a:schemeClr val="bg1"/>
                </a:solidFill>
              </a:rPr>
              <a:t> : le son raclé (« jota » espagnole)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50138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50138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goed</a:t>
            </a:r>
            <a:endParaRPr lang="en-US" sz="1900" dirty="0"/>
          </a:p>
        </p:txBody>
      </p:sp>
      <p:sp>
        <p:nvSpPr>
          <p:cNvPr id="49" name="Shape 43"/>
          <p:cNvSpPr/>
          <p:nvPr/>
        </p:nvSpPr>
        <p:spPr>
          <a:xfrm>
            <a:off x="814730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814730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groot</a:t>
            </a:r>
            <a:endParaRPr lang="en-US" sz="1900" dirty="0"/>
          </a:p>
        </p:txBody>
      </p:sp>
      <p:sp>
        <p:nvSpPr>
          <p:cNvPr id="51" name="Shape 45"/>
          <p:cNvSpPr/>
          <p:nvPr/>
        </p:nvSpPr>
        <p:spPr>
          <a:xfrm>
            <a:off x="979322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979322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gaan</a:t>
            </a:r>
            <a:endParaRPr lang="en-US" sz="1900" dirty="0"/>
          </a:p>
        </p:txBody>
      </p:sp>
      <p:sp>
        <p:nvSpPr>
          <p:cNvPr id="53" name="Shape 47"/>
          <p:cNvSpPr/>
          <p:nvPr/>
        </p:nvSpPr>
        <p:spPr>
          <a:xfrm>
            <a:off x="650138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138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dag</a:t>
            </a:r>
            <a:endParaRPr lang="en-US" sz="1900" dirty="0"/>
          </a:p>
        </p:txBody>
      </p:sp>
      <p:sp>
        <p:nvSpPr>
          <p:cNvPr id="55" name="Shape 49"/>
          <p:cNvSpPr/>
          <p:nvPr/>
        </p:nvSpPr>
        <p:spPr>
          <a:xfrm>
            <a:off x="814730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4730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acht</a:t>
            </a:r>
            <a:endParaRPr lang="en-US" sz="1900" dirty="0"/>
          </a:p>
        </p:txBody>
      </p:sp>
      <p:sp>
        <p:nvSpPr>
          <p:cNvPr id="57" name="Shape 51"/>
          <p:cNvSpPr/>
          <p:nvPr/>
        </p:nvSpPr>
        <p:spPr>
          <a:xfrm>
            <a:off x="979322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79322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lachen</a:t>
            </a:r>
            <a:endParaRPr lang="en-US" sz="1900" dirty="0"/>
          </a:p>
        </p:txBody>
      </p:sp>
      <p:sp>
        <p:nvSpPr>
          <p:cNvPr id="59" name="Text 53"/>
          <p:cNvSpPr txBox="1"/>
          <p:nvPr/>
        </p:nvSpPr>
        <p:spPr>
          <a:xfrm>
            <a:off x="6501384" y="3925824"/>
            <a:ext cx="49560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i="1" dirty="0">
                <a:solidFill>
                  <a:schemeClr val="tx1"/>
                </a:solidFill>
              </a:rPr>
              <a:t>ool</a:t>
            </a:r>
            <a:r>
              <a:rPr lang="en-US" sz="1500" dirty="0">
                <a:solidFill>
                  <a:schemeClr val="tx1"/>
                </a:solidFill>
              </a:rPr>
              <a:t> = « s » + </a:t>
            </a: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raclé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</a:t>
            </a: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dirty="0">
                <a:solidFill>
                  <a:schemeClr val="tx1"/>
                </a:solidFill>
              </a:rPr>
              <a:t> = « is » (</a:t>
            </a:r>
            <a:r>
              <a:rPr lang="en-US" sz="1500" i="1" dirty="0">
                <a:solidFill>
                  <a:schemeClr val="tx1"/>
                </a:solidFill>
              </a:rPr>
              <a:t>-isch</a:t>
            </a:r>
            <a:r>
              <a:rPr lang="en-US" sz="1500" dirty="0">
                <a:solidFill>
                  <a:schemeClr val="tx1"/>
                </a:solidFill>
              </a:rPr>
              <a:t> en fin de mot)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Repère : « gh » = raclé (</a:t>
            </a: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≈ « ghout »)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 Belgique, le </a:t>
            </a:r>
            <a:r>
              <a:rPr lang="en-US" sz="1500" i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est plus doux : c’est correct !</a:t>
            </a:r>
            <a:endParaRPr lang="en-US" sz="1500" dirty="0"/>
          </a:p>
        </p:txBody>
      </p:sp>
      <p:sp>
        <p:nvSpPr>
          <p:cNvPr id="60" name="Shape 5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Défi 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i="1" dirty="0">
                <a:solidFill>
                  <a:schemeClr val="bg1"/>
                </a:solidFill>
              </a:rPr>
              <a:t>Goedemorgen! Goed geslapen? Ga je graag naar Gent?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lettres caméléons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le mot, trouvez son étiquette (A à L), puis relisez-le correctement.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836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836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09728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hon</a:t>
            </a:r>
            <a:r>
              <a:rPr lang="en-US" sz="2000" i="1" u="sng" dirty="0">
                <a:solidFill>
                  <a:schemeClr val="tx1"/>
                </a:solidFill>
              </a:rPr>
              <a:t>d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269748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80720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80720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24612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</a:t>
            </a:r>
            <a:r>
              <a:rPr lang="en-US" sz="2000" i="1" u="sng" dirty="0">
                <a:solidFill>
                  <a:schemeClr val="tx1"/>
                </a:solidFill>
              </a:rPr>
              <a:t>b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484632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95604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95604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39496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j</a:t>
            </a:r>
            <a:r>
              <a:rPr lang="en-US" sz="2000" i="1" dirty="0">
                <a:solidFill>
                  <a:schemeClr val="tx1"/>
                </a:solidFill>
              </a:rPr>
              <a:t>uni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54864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5836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109728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nieu</a:t>
            </a:r>
            <a:r>
              <a:rPr lang="en-US" sz="2000" i="1" u="sng" dirty="0">
                <a:solidFill>
                  <a:schemeClr val="tx1"/>
                </a:solidFill>
              </a:rPr>
              <a:t>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9748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80720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80720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324612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</a:t>
            </a:r>
            <a:r>
              <a:rPr lang="en-US" sz="2000" i="1" u="sng" dirty="0">
                <a:solidFill>
                  <a:schemeClr val="tx1"/>
                </a:solidFill>
              </a:rPr>
              <a:t>ng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84632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5604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95604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39496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ba</a:t>
            </a:r>
            <a:r>
              <a:rPr lang="en-US" sz="2000" i="1" u="sng" dirty="0">
                <a:solidFill>
                  <a:schemeClr val="tx1"/>
                </a:solidFill>
              </a:rPr>
              <a:t>nk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54864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5836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5836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109728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mei</a:t>
            </a:r>
            <a:r>
              <a:rPr lang="en-US" sz="2000" i="1" u="sng" dirty="0">
                <a:solidFill>
                  <a:schemeClr val="tx1"/>
                </a:solidFill>
              </a:rPr>
              <a:t>sj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269748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80720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80720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324612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ora</a:t>
            </a:r>
            <a:r>
              <a:rPr lang="en-US" sz="2000" i="1" u="sng" dirty="0">
                <a:solidFill>
                  <a:schemeClr val="tx1"/>
                </a:solidFill>
              </a:rPr>
              <a:t>nj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484632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95604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495604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539496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Tsj</a:t>
            </a:r>
            <a:r>
              <a:rPr lang="en-US" sz="2000" i="1" dirty="0">
                <a:solidFill>
                  <a:schemeClr val="tx1"/>
                </a:solidFill>
              </a:rPr>
              <a:t>echië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4864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5836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09728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Russi</a:t>
            </a: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9748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80720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80720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61" name="Text 57"/>
          <p:cNvSpPr txBox="1"/>
          <p:nvPr/>
        </p:nvSpPr>
        <p:spPr>
          <a:xfrm>
            <a:off x="324612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r>
              <a:rPr lang="en-US" sz="2000" i="1" dirty="0">
                <a:solidFill>
                  <a:schemeClr val="tx1"/>
                </a:solidFill>
              </a:rPr>
              <a:t>ool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484632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495604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495604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65" name="Text 61"/>
          <p:cNvSpPr txBox="1"/>
          <p:nvPr/>
        </p:nvSpPr>
        <p:spPr>
          <a:xfrm>
            <a:off x="539496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da</a:t>
            </a:r>
            <a:r>
              <a:rPr lang="en-US" sz="2000" i="1" u="sng" dirty="0">
                <a:solidFill>
                  <a:schemeClr val="tx1"/>
                </a:solidFill>
              </a:rPr>
              <a:t>g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7178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32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232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7680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(ping-pong)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7178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7232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232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73" name="Text 69"/>
          <p:cNvSpPr txBox="1"/>
          <p:nvPr/>
        </p:nvSpPr>
        <p:spPr>
          <a:xfrm>
            <a:off x="7680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 »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7178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232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7232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77" name="Text 73"/>
          <p:cNvSpPr txBox="1"/>
          <p:nvPr/>
        </p:nvSpPr>
        <p:spPr>
          <a:xfrm>
            <a:off x="7680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(chocolat)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7178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32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7232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81" name="Text 77"/>
          <p:cNvSpPr txBox="1"/>
          <p:nvPr/>
        </p:nvSpPr>
        <p:spPr>
          <a:xfrm>
            <a:off x="7680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is »</a:t>
            </a:r>
            <a:endParaRPr lang="en-US" sz="1300" dirty="0"/>
          </a:p>
        </p:txBody>
      </p:sp>
      <p:sp>
        <p:nvSpPr>
          <p:cNvPr id="82" name="Shape 78"/>
          <p:cNvSpPr/>
          <p:nvPr/>
        </p:nvSpPr>
        <p:spPr>
          <a:xfrm>
            <a:off x="7178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232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7232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85" name="Text 81"/>
          <p:cNvSpPr txBox="1"/>
          <p:nvPr/>
        </p:nvSpPr>
        <p:spPr>
          <a:xfrm>
            <a:off x="7680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y » (yaourt)</a:t>
            </a:r>
            <a:endParaRPr lang="en-US" sz="1300" dirty="0"/>
          </a:p>
        </p:txBody>
      </p:sp>
      <p:sp>
        <p:nvSpPr>
          <p:cNvPr id="86" name="Shape 82"/>
          <p:cNvSpPr/>
          <p:nvPr/>
        </p:nvSpPr>
        <p:spPr>
          <a:xfrm>
            <a:off x="7178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232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4"/>
          <p:cNvSpPr txBox="1"/>
          <p:nvPr/>
        </p:nvSpPr>
        <p:spPr>
          <a:xfrm>
            <a:off x="7232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89" name="Text 85"/>
          <p:cNvSpPr txBox="1"/>
          <p:nvPr/>
        </p:nvSpPr>
        <p:spPr>
          <a:xfrm>
            <a:off x="7680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tch »</a:t>
            </a:r>
            <a:endParaRPr lang="en-US" sz="1300" dirty="0"/>
          </a:p>
        </p:txBody>
      </p:sp>
      <p:sp>
        <p:nvSpPr>
          <p:cNvPr id="90" name="Shape 86"/>
          <p:cNvSpPr/>
          <p:nvPr/>
        </p:nvSpPr>
        <p:spPr>
          <a:xfrm>
            <a:off x="9464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518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518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</a:t>
            </a:r>
            <a:endParaRPr lang="en-US" sz="1300" dirty="0"/>
          </a:p>
        </p:txBody>
      </p:sp>
      <p:sp>
        <p:nvSpPr>
          <p:cNvPr id="93" name="Text 89"/>
          <p:cNvSpPr txBox="1"/>
          <p:nvPr/>
        </p:nvSpPr>
        <p:spPr>
          <a:xfrm>
            <a:off x="9966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p »</a:t>
            </a:r>
            <a:endParaRPr lang="en-US" sz="1300" dirty="0"/>
          </a:p>
        </p:txBody>
      </p:sp>
      <p:sp>
        <p:nvSpPr>
          <p:cNvPr id="94" name="Shape 90"/>
          <p:cNvSpPr/>
          <p:nvPr/>
        </p:nvSpPr>
        <p:spPr>
          <a:xfrm>
            <a:off x="9464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9518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9518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</a:t>
            </a:r>
            <a:endParaRPr lang="en-US" sz="1300" dirty="0"/>
          </a:p>
        </p:txBody>
      </p:sp>
      <p:sp>
        <p:nvSpPr>
          <p:cNvPr id="97" name="Text 93"/>
          <p:cNvSpPr txBox="1"/>
          <p:nvPr/>
        </p:nvSpPr>
        <p:spPr>
          <a:xfrm>
            <a:off x="9966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+ « k »</a:t>
            </a:r>
            <a:endParaRPr lang="en-US" sz="1300" dirty="0"/>
          </a:p>
        </p:txBody>
      </p:sp>
      <p:sp>
        <p:nvSpPr>
          <p:cNvPr id="98" name="Shape 94"/>
          <p:cNvSpPr/>
          <p:nvPr/>
        </p:nvSpPr>
        <p:spPr>
          <a:xfrm>
            <a:off x="9464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9518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96"/>
          <p:cNvSpPr txBox="1"/>
          <p:nvPr/>
        </p:nvSpPr>
        <p:spPr>
          <a:xfrm>
            <a:off x="9518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101" name="Text 97"/>
          <p:cNvSpPr txBox="1"/>
          <p:nvPr/>
        </p:nvSpPr>
        <p:spPr>
          <a:xfrm>
            <a:off x="9966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ou »</a:t>
            </a:r>
            <a:endParaRPr lang="en-US" sz="1300" dirty="0"/>
          </a:p>
        </p:txBody>
      </p:sp>
      <p:sp>
        <p:nvSpPr>
          <p:cNvPr id="102" name="Shape 98"/>
          <p:cNvSpPr/>
          <p:nvPr/>
        </p:nvSpPr>
        <p:spPr>
          <a:xfrm>
            <a:off x="9464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9518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100"/>
          <p:cNvSpPr txBox="1"/>
          <p:nvPr/>
        </p:nvSpPr>
        <p:spPr>
          <a:xfrm>
            <a:off x="9518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9966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gn » (peigne)</a:t>
            </a:r>
            <a:endParaRPr lang="en-US" sz="1300" dirty="0"/>
          </a:p>
        </p:txBody>
      </p:sp>
      <p:sp>
        <p:nvSpPr>
          <p:cNvPr id="106" name="Shape 102"/>
          <p:cNvSpPr/>
          <p:nvPr/>
        </p:nvSpPr>
        <p:spPr>
          <a:xfrm>
            <a:off x="9464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9518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8" name="Text 104"/>
          <p:cNvSpPr txBox="1"/>
          <p:nvPr/>
        </p:nvSpPr>
        <p:spPr>
          <a:xfrm>
            <a:off x="9518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</a:t>
            </a:r>
            <a:endParaRPr lang="en-US" sz="1300" dirty="0"/>
          </a:p>
        </p:txBody>
      </p:sp>
      <p:sp>
        <p:nvSpPr>
          <p:cNvPr id="109" name="Text 105"/>
          <p:cNvSpPr txBox="1"/>
          <p:nvPr/>
        </p:nvSpPr>
        <p:spPr>
          <a:xfrm>
            <a:off x="9966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raclé</a:t>
            </a:r>
            <a:endParaRPr lang="en-US" sz="1300" dirty="0"/>
          </a:p>
        </p:txBody>
      </p:sp>
      <p:sp>
        <p:nvSpPr>
          <p:cNvPr id="110" name="Shape 106"/>
          <p:cNvSpPr/>
          <p:nvPr/>
        </p:nvSpPr>
        <p:spPr>
          <a:xfrm>
            <a:off x="9464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18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Text 108"/>
          <p:cNvSpPr txBox="1"/>
          <p:nvPr/>
        </p:nvSpPr>
        <p:spPr>
          <a:xfrm>
            <a:off x="9518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</a:t>
            </a:r>
            <a:endParaRPr lang="en-US" sz="1300" dirty="0"/>
          </a:p>
        </p:txBody>
      </p:sp>
      <p:sp>
        <p:nvSpPr>
          <p:cNvPr id="113" name="Text 109"/>
          <p:cNvSpPr txBox="1"/>
          <p:nvPr/>
        </p:nvSpPr>
        <p:spPr>
          <a:xfrm>
            <a:off x="9966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s » + « ch » raclé</a:t>
            </a:r>
            <a:endParaRPr lang="en-US" sz="1300" dirty="0"/>
          </a:p>
        </p:txBody>
      </p:sp>
      <p:sp>
        <p:nvSpPr>
          <p:cNvPr id="114" name="Shape 110"/>
          <p:cNvSpPr/>
          <p:nvPr/>
        </p:nvSpPr>
        <p:spPr>
          <a:xfrm>
            <a:off x="548640" y="5480304"/>
            <a:ext cx="6309360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5" name="Text 111"/>
          <p:cNvSpPr txBox="1"/>
          <p:nvPr/>
        </p:nvSpPr>
        <p:spPr>
          <a:xfrm>
            <a:off x="685800" y="548030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Astuce : en fin de mot, </a:t>
            </a:r>
            <a:r>
              <a:rPr lang="en-US" sz="1400" i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se dit « t » et </a:t>
            </a:r>
            <a:r>
              <a:rPr lang="en-US" sz="1400" i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« p ». </a:t>
            </a:r>
            <a:r>
              <a:rPr lang="en-US" sz="1400" i="1" dirty="0">
                <a:solidFill>
                  <a:schemeClr val="tx1"/>
                </a:solidFill>
              </a:rPr>
              <a:t>ng</a:t>
            </a:r>
            <a:r>
              <a:rPr lang="en-US" sz="1400" dirty="0">
                <a:solidFill>
                  <a:schemeClr val="tx1"/>
                </a:solidFill>
              </a:rPr>
              <a:t> = un seul son : on n’entend pas le </a:t>
            </a:r>
            <a:r>
              <a:rPr lang="en-US" sz="1400" i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jeu de l’oie des consonnes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Lancez le dé, avancez et lisez la case. Faute = retour à la case précédente.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3504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DÉPART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2029968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2121408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76272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2176272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goed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3602736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94176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749040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3749040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hallo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175504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5266944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21808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3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321808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jij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6748272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3" name="Shape 29"/>
          <p:cNvSpPr/>
          <p:nvPr/>
        </p:nvSpPr>
        <p:spPr>
          <a:xfrm>
            <a:off x="6839712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94576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4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894576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dag!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7580376" y="2855976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839712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94576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5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6894576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Ik heet Hans.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 flipH="1">
            <a:off x="6748272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266944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321808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6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321808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brengen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 flipH="1">
            <a:off x="5175504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3694176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749040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7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3749040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meisje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 flipH="1">
            <a:off x="3602736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2121408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6">
              <a:alpha val="15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2176272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8</a:t>
            </a:r>
            <a:endParaRPr lang="en-US" sz="1000" dirty="0"/>
          </a:p>
        </p:txBody>
      </p:sp>
      <p:sp>
        <p:nvSpPr>
          <p:cNvPr id="51" name="Text 47"/>
          <p:cNvSpPr txBox="1"/>
          <p:nvPr/>
        </p:nvSpPr>
        <p:spPr>
          <a:xfrm>
            <a:off x="2176272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◀ recule de 2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 flipH="1">
            <a:off x="2029968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48640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03504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9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603504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hebben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1289304" y="3880104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548640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03504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</a:t>
            </a:r>
            <a:endParaRPr lang="en-US" sz="1000" dirty="0"/>
          </a:p>
        </p:txBody>
      </p:sp>
      <p:sp>
        <p:nvSpPr>
          <p:cNvPr id="59" name="Text 55"/>
          <p:cNvSpPr txBox="1"/>
          <p:nvPr/>
        </p:nvSpPr>
        <p:spPr>
          <a:xfrm>
            <a:off x="603504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school</a:t>
            </a:r>
            <a:endParaRPr lang="en-US" sz="1700" dirty="0"/>
          </a:p>
        </p:txBody>
      </p:sp>
      <p:sp>
        <p:nvSpPr>
          <p:cNvPr id="60" name="Shape 56"/>
          <p:cNvSpPr/>
          <p:nvPr/>
        </p:nvSpPr>
        <p:spPr>
          <a:xfrm>
            <a:off x="2029968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2121408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76272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</a:t>
            </a:r>
            <a:endParaRPr lang="en-US" sz="1000" dirty="0"/>
          </a:p>
        </p:txBody>
      </p:sp>
      <p:sp>
        <p:nvSpPr>
          <p:cNvPr id="63" name="Text 59"/>
          <p:cNvSpPr txBox="1"/>
          <p:nvPr/>
        </p:nvSpPr>
        <p:spPr>
          <a:xfrm>
            <a:off x="2176272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oranje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3602736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5" name="Shape 61"/>
          <p:cNvSpPr/>
          <p:nvPr/>
        </p:nvSpPr>
        <p:spPr>
          <a:xfrm>
            <a:off x="3694176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3749040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3749040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Hoe gaat het?</a:t>
            </a:r>
            <a:endParaRPr lang="en-US" sz="1200" dirty="0"/>
          </a:p>
        </p:txBody>
      </p:sp>
      <p:sp>
        <p:nvSpPr>
          <p:cNvPr id="68" name="Shape 64"/>
          <p:cNvSpPr/>
          <p:nvPr/>
        </p:nvSpPr>
        <p:spPr>
          <a:xfrm>
            <a:off x="5175504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9" name="Shape 65"/>
          <p:cNvSpPr/>
          <p:nvPr/>
        </p:nvSpPr>
        <p:spPr>
          <a:xfrm>
            <a:off x="5266944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5321808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13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5321808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denken</a:t>
            </a:r>
            <a:endParaRPr lang="en-US" sz="1700" dirty="0"/>
          </a:p>
        </p:txBody>
      </p:sp>
      <p:sp>
        <p:nvSpPr>
          <p:cNvPr id="72" name="Shape 68"/>
          <p:cNvSpPr/>
          <p:nvPr/>
        </p:nvSpPr>
        <p:spPr>
          <a:xfrm>
            <a:off x="6748272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839712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94576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14</a:t>
            </a:r>
            <a:endParaRPr lang="en-US" sz="1000" dirty="0"/>
          </a:p>
        </p:txBody>
      </p:sp>
      <p:sp>
        <p:nvSpPr>
          <p:cNvPr id="75" name="Text 71"/>
          <p:cNvSpPr txBox="1"/>
          <p:nvPr/>
        </p:nvSpPr>
        <p:spPr>
          <a:xfrm>
            <a:off x="6894576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Russisch</a:t>
            </a:r>
            <a:endParaRPr lang="en-US" sz="1700" dirty="0"/>
          </a:p>
        </p:txBody>
      </p:sp>
      <p:sp>
        <p:nvSpPr>
          <p:cNvPr id="76" name="Shape 72"/>
          <p:cNvSpPr/>
          <p:nvPr/>
        </p:nvSpPr>
        <p:spPr>
          <a:xfrm>
            <a:off x="7580376" y="4904232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6839712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3">
              <a:alpha val="15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894576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15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6894576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▶ rejoue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 flipH="1">
            <a:off x="6748272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1" name="Shape 77"/>
          <p:cNvSpPr/>
          <p:nvPr/>
        </p:nvSpPr>
        <p:spPr>
          <a:xfrm>
            <a:off x="5266944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5321808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16</a:t>
            </a:r>
            <a:endParaRPr lang="en-US" sz="1000" dirty="0"/>
          </a:p>
        </p:txBody>
      </p:sp>
      <p:sp>
        <p:nvSpPr>
          <p:cNvPr id="83" name="Text 79"/>
          <p:cNvSpPr txBox="1"/>
          <p:nvPr/>
        </p:nvSpPr>
        <p:spPr>
          <a:xfrm>
            <a:off x="5321808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alsjeblieft</a:t>
            </a:r>
            <a:endParaRPr lang="en-US" sz="1700" dirty="0"/>
          </a:p>
        </p:txBody>
      </p:sp>
      <p:sp>
        <p:nvSpPr>
          <p:cNvPr id="84" name="Shape 80"/>
          <p:cNvSpPr/>
          <p:nvPr/>
        </p:nvSpPr>
        <p:spPr>
          <a:xfrm flipH="1">
            <a:off x="5175504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5" name="Shape 81"/>
          <p:cNvSpPr/>
          <p:nvPr/>
        </p:nvSpPr>
        <p:spPr>
          <a:xfrm>
            <a:off x="3694176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3749040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17</a:t>
            </a:r>
            <a:endParaRPr lang="en-US" sz="1000" dirty="0"/>
          </a:p>
        </p:txBody>
      </p:sp>
      <p:sp>
        <p:nvSpPr>
          <p:cNvPr id="87" name="Text 83"/>
          <p:cNvSpPr txBox="1"/>
          <p:nvPr/>
        </p:nvSpPr>
        <p:spPr>
          <a:xfrm>
            <a:off x="3749040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Tsjechië</a:t>
            </a:r>
            <a:endParaRPr lang="en-US" sz="1700" dirty="0"/>
          </a:p>
        </p:txBody>
      </p:sp>
      <p:sp>
        <p:nvSpPr>
          <p:cNvPr id="88" name="Shape 84"/>
          <p:cNvSpPr/>
          <p:nvPr/>
        </p:nvSpPr>
        <p:spPr>
          <a:xfrm flipH="1">
            <a:off x="3602736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9" name="Shape 85"/>
          <p:cNvSpPr/>
          <p:nvPr/>
        </p:nvSpPr>
        <p:spPr>
          <a:xfrm>
            <a:off x="2121408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2176272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18</a:t>
            </a:r>
            <a:endParaRPr lang="en-US" sz="1000" dirty="0"/>
          </a:p>
        </p:txBody>
      </p:sp>
      <p:sp>
        <p:nvSpPr>
          <p:cNvPr id="91" name="Text 87"/>
          <p:cNvSpPr txBox="1"/>
          <p:nvPr/>
        </p:nvSpPr>
        <p:spPr>
          <a:xfrm>
            <a:off x="2176272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Goedemiddag!</a:t>
            </a:r>
            <a:endParaRPr lang="en-US" sz="1200" dirty="0"/>
          </a:p>
        </p:txBody>
      </p:sp>
      <p:sp>
        <p:nvSpPr>
          <p:cNvPr id="92" name="Shape 88"/>
          <p:cNvSpPr/>
          <p:nvPr/>
        </p:nvSpPr>
        <p:spPr>
          <a:xfrm flipH="1">
            <a:off x="2029968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3" name="Shape 89"/>
          <p:cNvSpPr/>
          <p:nvPr/>
        </p:nvSpPr>
        <p:spPr>
          <a:xfrm>
            <a:off x="548640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603504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ARRIVÉE</a:t>
            </a:r>
            <a:endParaRPr lang="en-US" sz="1200" dirty="0"/>
          </a:p>
        </p:txBody>
      </p:sp>
      <p:pic>
        <p:nvPicPr>
          <p:cNvPr id="95" name="Image 1" descr="game d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959864"/>
            <a:ext cx="1097280" cy="1097280"/>
          </a:xfrm>
          <a:prstGeom prst="rect">
            <a:avLst/>
          </a:prstGeom>
        </p:spPr>
      </p:pic>
      <p:sp>
        <p:nvSpPr>
          <p:cNvPr id="96" name="Text 91"/>
          <p:cNvSpPr txBox="1"/>
          <p:nvPr/>
        </p:nvSpPr>
        <p:spPr>
          <a:xfrm>
            <a:off x="8595360" y="3148584"/>
            <a:ext cx="30449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Lancez le dé, avancez.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Lisez la case à voix haute.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Faute = case précédente.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★</a:t>
            </a:r>
            <a:r>
              <a:rPr lang="en-US" sz="1400" dirty="0">
                <a:solidFill>
                  <a:schemeClr val="tx1"/>
                </a:solidFill>
              </a:rPr>
              <a:t> = mini-phrase · </a:t>
            </a:r>
            <a:r>
              <a:rPr lang="en-US" sz="1400" b="1" dirty="0">
                <a:solidFill>
                  <a:schemeClr val="tx1"/>
                </a:solidFill>
              </a:rPr>
              <a:t>◀</a:t>
            </a:r>
            <a:r>
              <a:rPr lang="en-US" sz="1400" dirty="0">
                <a:solidFill>
                  <a:schemeClr val="tx1"/>
                </a:solidFill>
              </a:rPr>
              <a:t> = reculez · </a:t>
            </a:r>
            <a:r>
              <a:rPr lang="en-US" sz="1400" b="1" dirty="0">
                <a:solidFill>
                  <a:schemeClr val="tx1"/>
                </a:solidFill>
              </a:rPr>
              <a:t>▶</a:t>
            </a:r>
            <a:r>
              <a:rPr lang="en-US" sz="1400" dirty="0">
                <a:solidFill>
                  <a:schemeClr val="tx1"/>
                </a:solidFill>
              </a:rPr>
              <a:t> = rejouez</a:t>
            </a:r>
            <a:endParaRPr lang="en-US" sz="1400" dirty="0"/>
          </a:p>
        </p:txBody>
      </p:sp>
      <p:pic>
        <p:nvPicPr>
          <p:cNvPr id="97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388864"/>
            <a:ext cx="548640" cy="548640"/>
          </a:xfrm>
          <a:prstGeom prst="rect">
            <a:avLst/>
          </a:prstGeom>
        </p:spPr>
      </p:pic>
      <p:sp>
        <p:nvSpPr>
          <p:cNvPr id="98" name="Text 92"/>
          <p:cNvSpPr txBox="1"/>
          <p:nvPr/>
        </p:nvSpPr>
        <p:spPr>
          <a:xfrm>
            <a:off x="9281160" y="538886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Premier arrivé : </a:t>
            </a:r>
            <a:r>
              <a:rPr lang="en-US" sz="1500" b="1" i="1" dirty="0">
                <a:solidFill>
                  <a:schemeClr val="accent1"/>
                </a:solidFill>
              </a:rPr>
              <a:t>Proficiat!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lire un mot en 4 gestes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525573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① RAPPEL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75564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8872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Je coupe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consonne → avant : </a:t>
            </a:r>
            <a:r>
              <a:rPr lang="en-US" sz="1500" i="1" dirty="0">
                <a:solidFill>
                  <a:schemeClr val="tx1"/>
                </a:solidFill>
              </a:rPr>
              <a:t>wo·nen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consonnes → entre : </a:t>
            </a:r>
            <a:r>
              <a:rPr lang="en-US" sz="1500" i="1" dirty="0">
                <a:solidFill>
                  <a:schemeClr val="tx1"/>
                </a:solidFill>
              </a:rPr>
              <a:t>kat·ten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son double jamais coupé : </a:t>
            </a:r>
            <a:r>
              <a:rPr lang="en-US" sz="1500" i="1" dirty="0">
                <a:solidFill>
                  <a:schemeClr val="tx1"/>
                </a:solidFill>
              </a:rPr>
              <a:t>kij·ken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12496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337185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37185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48157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1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306" y="175564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01193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Je regarde la porte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350901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ouverte → long : </a:t>
            </a:r>
            <a:r>
              <a:rPr lang="en-US" sz="1500" i="1" dirty="0">
                <a:solidFill>
                  <a:schemeClr val="tx1"/>
                </a:solidFill>
              </a:rPr>
              <a:t>ma·ken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fermée → court : </a:t>
            </a:r>
            <a:r>
              <a:rPr lang="en-US" sz="1500" i="1" dirty="0">
                <a:solidFill>
                  <a:schemeClr val="tx1"/>
                </a:solidFill>
              </a:rPr>
              <a:t>mak·ker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voyelle doublée → long : </a:t>
            </a:r>
            <a:r>
              <a:rPr lang="en-US" sz="1500" i="1" dirty="0">
                <a:solidFill>
                  <a:schemeClr val="tx1"/>
                </a:solidFill>
              </a:rPr>
              <a:t>maan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ferme la porte : </a:t>
            </a:r>
            <a:r>
              <a:rPr lang="en-US" sz="1500" i="1" dirty="0">
                <a:solidFill>
                  <a:schemeClr val="tx1"/>
                </a:solidFill>
              </a:rPr>
              <a:t>la·chen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594817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619506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19506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30478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755648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83514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Je trouve l’accent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33222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1re syllabe du mot de base : </a:t>
            </a:r>
            <a:r>
              <a:rPr lang="en-US" sz="1200" b="1" i="1" dirty="0">
                <a:solidFill>
                  <a:schemeClr val="accent1"/>
                </a:solidFill>
              </a:rPr>
              <a:t>wo</a:t>
            </a:r>
            <a:r>
              <a:rPr lang="en-US" sz="1200" i="1" dirty="0">
                <a:solidFill>
                  <a:schemeClr val="tx1"/>
                </a:solidFill>
              </a:rPr>
              <a:t>·nen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jamais sur les 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be·</a:t>
            </a:r>
            <a:r>
              <a:rPr lang="en-US" sz="1200" b="1" i="1" dirty="0">
                <a:solidFill>
                  <a:schemeClr val="accent1"/>
                </a:solidFill>
              </a:rPr>
              <a:t>ta</a:t>
            </a:r>
            <a:r>
              <a:rPr lang="en-US" sz="1200" i="1" dirty="0">
                <a:solidFill>
                  <a:schemeClr val="tx1"/>
                </a:solidFill>
              </a:rPr>
              <a:t>·len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composé → 1er mot : </a:t>
            </a:r>
            <a:r>
              <a:rPr lang="en-US" sz="1200" b="1" i="1" dirty="0">
                <a:solidFill>
                  <a:schemeClr val="accent1"/>
                </a:solidFill>
              </a:rPr>
              <a:t>voor</a:t>
            </a:r>
            <a:r>
              <a:rPr lang="en-US" sz="1200" i="1" dirty="0">
                <a:solidFill>
                  <a:schemeClr val="tx1"/>
                </a:solidFill>
              </a:rPr>
              <a:t>·naam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mot français → souvent à la fin : </a:t>
            </a:r>
            <a:r>
              <a:rPr lang="en-US" sz="1200" i="1" dirty="0">
                <a:solidFill>
                  <a:schemeClr val="tx1"/>
                </a:solidFill>
              </a:rPr>
              <a:t>pa·</a:t>
            </a:r>
            <a:r>
              <a:rPr lang="en-US" sz="1200" b="1" i="1" dirty="0">
                <a:solidFill>
                  <a:schemeClr val="accent1"/>
                </a:solidFill>
              </a:rPr>
              <a:t>pier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877138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901827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01827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12799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3" descr="VolumeM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726" y="1755648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65835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4. J’avale les e muets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915543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, finales </a:t>
            </a:r>
            <a:r>
              <a:rPr lang="en-US" sz="1200" i="1" dirty="0">
                <a:solidFill>
                  <a:schemeClr val="tx1"/>
                </a:solidFill>
              </a:rPr>
              <a:t>-e, -en, -el, -er</a:t>
            </a:r>
            <a:r>
              <a:rPr lang="en-US" sz="1200" dirty="0">
                <a:solidFill>
                  <a:schemeClr val="tx1"/>
                </a:solidFill>
              </a:rPr>
              <a:t> = « e » de </a:t>
            </a:r>
            <a:r>
              <a:rPr lang="en-US" sz="1200" i="1" dirty="0">
                <a:solidFill>
                  <a:schemeClr val="tx1"/>
                </a:solidFill>
              </a:rPr>
              <a:t>le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-en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n</a:t>
            </a:r>
            <a:r>
              <a:rPr lang="en-US" sz="1200" dirty="0">
                <a:solidFill>
                  <a:schemeClr val="tx1"/>
                </a:solidFill>
              </a:rPr>
              <a:t> avalé (NL) ou prononcé (BE)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-ig</a:t>
            </a:r>
            <a:r>
              <a:rPr lang="en-US" sz="1200" dirty="0">
                <a:solidFill>
                  <a:schemeClr val="tx1"/>
                </a:solidFill>
              </a:rPr>
              <a:t> « eugh » : </a:t>
            </a:r>
            <a:r>
              <a:rPr lang="en-US" sz="1200" i="1" dirty="0">
                <a:solidFill>
                  <a:schemeClr val="tx1"/>
                </a:solidFill>
              </a:rPr>
              <a:t>twin·tig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-lijk</a:t>
            </a:r>
            <a:r>
              <a:rPr lang="en-US" sz="1200" dirty="0">
                <a:solidFill>
                  <a:schemeClr val="tx1"/>
                </a:solidFill>
              </a:rPr>
              <a:t> « leuk » : </a:t>
            </a:r>
            <a:r>
              <a:rPr lang="en-US" sz="1200" i="1" dirty="0">
                <a:solidFill>
                  <a:schemeClr val="tx1"/>
                </a:solidFill>
              </a:rPr>
              <a:t>vrien·de·lijk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548640" y="425196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4251960"/>
            <a:ext cx="3977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 mot d’une syllabe lu seul</a:t>
            </a:r>
            <a:r>
              <a:rPr lang="en-US" sz="1400" dirty="0">
                <a:solidFill>
                  <a:schemeClr val="tx1"/>
                </a:solidFill>
              </a:rPr>
              <a:t> est accentué : je lis la voyelle → </a:t>
            </a:r>
            <a:r>
              <a:rPr lang="en-US" sz="1400" b="1" i="1" dirty="0">
                <a:solidFill>
                  <a:schemeClr val="accent4"/>
                </a:solidFill>
              </a:rPr>
              <a:t>kat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b="1" i="1" dirty="0">
                <a:solidFill>
                  <a:schemeClr val="accent3"/>
                </a:solidFill>
              </a:rPr>
              <a:t>maan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huis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Mais </a:t>
            </a:r>
            <a:r>
              <a:rPr lang="en-US" sz="1400" i="1" dirty="0">
                <a:solidFill>
                  <a:schemeClr val="tx1"/>
                </a:solidFill>
              </a:rPr>
              <a:t>de, je, het, een</a:t>
            </a:r>
            <a:r>
              <a:rPr lang="en-US" sz="1400" dirty="0">
                <a:solidFill>
                  <a:schemeClr val="tx1"/>
                </a:solidFill>
              </a:rPr>
              <a:t> restent muets dans la phrase.</a:t>
            </a:r>
            <a:endParaRPr lang="en-US" sz="1400" dirty="0"/>
          </a:p>
        </p:txBody>
      </p:sp>
      <p:sp>
        <p:nvSpPr>
          <p:cNvPr id="45" name="Text 38"/>
          <p:cNvSpPr txBox="1"/>
          <p:nvPr/>
        </p:nvSpPr>
        <p:spPr>
          <a:xfrm>
            <a:off x="4983480" y="4251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verjaardag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4983480" y="4709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(l’anniversaire)</a:t>
            </a:r>
            <a:endParaRPr lang="en-US" sz="1200" dirty="0"/>
          </a:p>
        </p:txBody>
      </p:sp>
      <p:sp>
        <p:nvSpPr>
          <p:cNvPr id="47" name="Shape 40"/>
          <p:cNvSpPr/>
          <p:nvPr/>
        </p:nvSpPr>
        <p:spPr>
          <a:xfrm>
            <a:off x="69494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5">
              <a:alpha val="15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9494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ver</a:t>
            </a:r>
            <a:endParaRPr lang="en-US" sz="2200" dirty="0"/>
          </a:p>
        </p:txBody>
      </p:sp>
      <p:sp>
        <p:nvSpPr>
          <p:cNvPr id="49" name="Text 42"/>
          <p:cNvSpPr txBox="1"/>
          <p:nvPr/>
        </p:nvSpPr>
        <p:spPr>
          <a:xfrm>
            <a:off x="69494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 muet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3941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85496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5496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jaar</a:t>
            </a:r>
            <a:endParaRPr lang="en-US" sz="2600" dirty="0"/>
          </a:p>
        </p:txBody>
      </p:sp>
      <p:sp>
        <p:nvSpPr>
          <p:cNvPr id="53" name="Text 46"/>
          <p:cNvSpPr txBox="1"/>
          <p:nvPr/>
        </p:nvSpPr>
        <p:spPr>
          <a:xfrm>
            <a:off x="85496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long · accent</a:t>
            </a:r>
            <a:endParaRPr lang="en-US" sz="1200" dirty="0"/>
          </a:p>
        </p:txBody>
      </p:sp>
      <p:sp>
        <p:nvSpPr>
          <p:cNvPr id="54" name="Text 47"/>
          <p:cNvSpPr txBox="1"/>
          <p:nvPr/>
        </p:nvSpPr>
        <p:spPr>
          <a:xfrm>
            <a:off x="99943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5" name="Shape 48"/>
          <p:cNvSpPr/>
          <p:nvPr/>
        </p:nvSpPr>
        <p:spPr>
          <a:xfrm>
            <a:off x="101498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4">
              <a:alpha val="15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101498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dag</a:t>
            </a:r>
            <a:endParaRPr lang="en-US" sz="2200" dirty="0"/>
          </a:p>
        </p:txBody>
      </p:sp>
      <p:sp>
        <p:nvSpPr>
          <p:cNvPr id="57" name="Text 50"/>
          <p:cNvSpPr txBox="1"/>
          <p:nvPr/>
        </p:nvSpPr>
        <p:spPr>
          <a:xfrm>
            <a:off x="101498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court</a:t>
            </a:r>
            <a:endParaRPr lang="en-US" sz="1200" dirty="0"/>
          </a:p>
        </p:txBody>
      </p:sp>
      <p:sp>
        <p:nvSpPr>
          <p:cNvPr id="58" name="Shape 5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Mini-défi :</a:t>
            </a:r>
            <a:r>
              <a:rPr lang="en-US" sz="1800" dirty="0">
                <a:solidFill>
                  <a:schemeClr val="bg1"/>
                </a:solidFill>
              </a:rPr>
              <a:t> appliquez les 4 gestes à </a:t>
            </a:r>
            <a:r>
              <a:rPr lang="en-US" sz="1800" i="1" dirty="0">
                <a:solidFill>
                  <a:schemeClr val="bg1"/>
                </a:solidFill>
              </a:rPr>
              <a:t>betalen · gezellig · vriendelijk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L’escalier des syllabes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Frappez les syllabes dans les mains et notez leur nombre · tapez du pied sur la syllabe accentuée · montez l’escalier à voix haute, puis redescendez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taal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253996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8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talen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2363724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24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9536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vertalen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2473452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7824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69264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2583180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87552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6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78992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2692908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378708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470148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naam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084064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3488436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8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79876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namen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193792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598164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24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689604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voornaam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303520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707892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0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799332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achternaam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5413248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817620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6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909060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achternamen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22976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208776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300216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</a:t>
            </a:r>
            <a:endParaRPr lang="en-US" sz="1700" dirty="0"/>
          </a:p>
        </p:txBody>
      </p:sp>
      <p:sp>
        <p:nvSpPr>
          <p:cNvPr id="50" name="Shape 46"/>
          <p:cNvSpPr/>
          <p:nvPr/>
        </p:nvSpPr>
        <p:spPr>
          <a:xfrm>
            <a:off x="7914132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18504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8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09944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werken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8023860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428232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24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519672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gewerkt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8133588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537960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629400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</a:t>
            </a:r>
            <a:endParaRPr lang="en-US" sz="1700" dirty="0"/>
          </a:p>
        </p:txBody>
      </p:sp>
      <p:sp>
        <p:nvSpPr>
          <p:cNvPr id="59" name="Shape 55"/>
          <p:cNvSpPr/>
          <p:nvPr/>
        </p:nvSpPr>
        <p:spPr>
          <a:xfrm>
            <a:off x="8243316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647688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6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39128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medewerkers</a:t>
            </a:r>
            <a:endParaRPr lang="en-US" sz="1700" dirty="0"/>
          </a:p>
        </p:txBody>
      </p:sp>
      <p:sp>
        <p:nvSpPr>
          <p:cNvPr id="62" name="Shape 58"/>
          <p:cNvSpPr/>
          <p:nvPr/>
        </p:nvSpPr>
        <p:spPr>
          <a:xfrm>
            <a:off x="8353044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9038844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130284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</a:t>
            </a:r>
            <a:endParaRPr lang="en-US" sz="1700" dirty="0"/>
          </a:p>
        </p:txBody>
      </p:sp>
      <p:sp>
        <p:nvSpPr>
          <p:cNvPr id="65" name="Shape 61"/>
          <p:cNvSpPr/>
          <p:nvPr/>
        </p:nvSpPr>
        <p:spPr>
          <a:xfrm>
            <a:off x="10744200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148572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8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9240012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huizen</a:t>
            </a:r>
            <a:endParaRPr lang="en-US" sz="1700" dirty="0"/>
          </a:p>
        </p:txBody>
      </p:sp>
      <p:sp>
        <p:nvSpPr>
          <p:cNvPr id="68" name="Shape 64"/>
          <p:cNvSpPr/>
          <p:nvPr/>
        </p:nvSpPr>
        <p:spPr>
          <a:xfrm>
            <a:off x="10853928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258300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24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349740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huisje</a:t>
            </a:r>
            <a:endParaRPr lang="en-US" sz="1700" dirty="0"/>
          </a:p>
        </p:txBody>
      </p:sp>
      <p:sp>
        <p:nvSpPr>
          <p:cNvPr id="71" name="Shape 67"/>
          <p:cNvSpPr/>
          <p:nvPr/>
        </p:nvSpPr>
        <p:spPr>
          <a:xfrm>
            <a:off x="10963656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9368028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0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9459468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ziekenhuis</a:t>
            </a:r>
            <a:endParaRPr lang="en-US" sz="1700" dirty="0"/>
          </a:p>
        </p:txBody>
      </p:sp>
      <p:sp>
        <p:nvSpPr>
          <p:cNvPr id="74" name="Shape 70"/>
          <p:cNvSpPr/>
          <p:nvPr/>
        </p:nvSpPr>
        <p:spPr>
          <a:xfrm>
            <a:off x="11073384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477756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6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9569196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ziekenhuizen</a:t>
            </a:r>
            <a:endParaRPr lang="en-US" sz="1700" dirty="0"/>
          </a:p>
        </p:txBody>
      </p:sp>
      <p:sp>
        <p:nvSpPr>
          <p:cNvPr id="77" name="Shape 73"/>
          <p:cNvSpPr/>
          <p:nvPr/>
        </p:nvSpPr>
        <p:spPr>
          <a:xfrm>
            <a:off x="11183112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défi des mots-monstres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carte : 5 secondes pour couper, porte, accent… puis lisez d’une traite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33016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7335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67335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moeilijk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256032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ctop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03301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368503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368503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263347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makkelijk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457200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3" descr="gobl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033016"/>
            <a:ext cx="457200" cy="4572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569671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69671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64515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gezondheid</a:t>
            </a:r>
            <a:endParaRPr lang="en-US" sz="1700" dirty="0"/>
          </a:p>
        </p:txBody>
      </p:sp>
      <p:sp>
        <p:nvSpPr>
          <p:cNvPr id="33" name="Shape 26"/>
          <p:cNvSpPr/>
          <p:nvPr/>
        </p:nvSpPr>
        <p:spPr>
          <a:xfrm>
            <a:off x="658368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4" descr="spi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2033016"/>
            <a:ext cx="457200" cy="4572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770839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70839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665683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natuurlijk</a:t>
            </a:r>
            <a:endParaRPr lang="en-US" sz="1700" dirty="0"/>
          </a:p>
        </p:txBody>
      </p:sp>
      <p:sp>
        <p:nvSpPr>
          <p:cNvPr id="38" name="Shape 30"/>
          <p:cNvSpPr/>
          <p:nvPr/>
        </p:nvSpPr>
        <p:spPr>
          <a:xfrm>
            <a:off x="54864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5" descr="sauropo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340608"/>
            <a:ext cx="457200" cy="457200"/>
          </a:xfrm>
          <a:prstGeom prst="rect">
            <a:avLst/>
          </a:prstGeom>
        </p:spPr>
      </p:pic>
      <p:sp>
        <p:nvSpPr>
          <p:cNvPr id="40" name="Shape 31"/>
          <p:cNvSpPr/>
          <p:nvPr/>
        </p:nvSpPr>
        <p:spPr>
          <a:xfrm>
            <a:off x="167335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167335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2179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formulier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256032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4" name="Image 6" descr="dragon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3340608"/>
            <a:ext cx="457200" cy="45720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368503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368503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263347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woordenschat</a:t>
            </a:r>
            <a:endParaRPr lang="en-US" sz="1700" dirty="0"/>
          </a:p>
        </p:txBody>
      </p:sp>
      <p:sp>
        <p:nvSpPr>
          <p:cNvPr id="48" name="Shape 38"/>
          <p:cNvSpPr/>
          <p:nvPr/>
        </p:nvSpPr>
        <p:spPr>
          <a:xfrm>
            <a:off x="457200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9" name="Image 7" descr="t rex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340608"/>
            <a:ext cx="457200" cy="457200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569671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9671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2" name="Text 41"/>
          <p:cNvSpPr txBox="1"/>
          <p:nvPr/>
        </p:nvSpPr>
        <p:spPr>
          <a:xfrm>
            <a:off x="464515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inlichtingen</a:t>
            </a:r>
            <a:endParaRPr lang="en-US" sz="1700" dirty="0"/>
          </a:p>
        </p:txBody>
      </p:sp>
      <p:sp>
        <p:nvSpPr>
          <p:cNvPr id="53" name="Shape 42"/>
          <p:cNvSpPr/>
          <p:nvPr/>
        </p:nvSpPr>
        <p:spPr>
          <a:xfrm>
            <a:off x="658368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4" name="Image 8" descr="og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340608"/>
            <a:ext cx="457200" cy="457200"/>
          </a:xfrm>
          <a:prstGeom prst="rect">
            <a:avLst/>
          </a:prstGeom>
        </p:spPr>
      </p:pic>
      <p:sp>
        <p:nvSpPr>
          <p:cNvPr id="55" name="Shape 43"/>
          <p:cNvSpPr/>
          <p:nvPr/>
        </p:nvSpPr>
        <p:spPr>
          <a:xfrm>
            <a:off x="770839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770839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7" name="Text 45"/>
          <p:cNvSpPr txBox="1"/>
          <p:nvPr/>
        </p:nvSpPr>
        <p:spPr>
          <a:xfrm>
            <a:off x="665683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nationaliteit</a:t>
            </a:r>
            <a:endParaRPr lang="en-US" sz="1700" dirty="0"/>
          </a:p>
        </p:txBody>
      </p:sp>
      <p:sp>
        <p:nvSpPr>
          <p:cNvPr id="58" name="Shape 46"/>
          <p:cNvSpPr/>
          <p:nvPr/>
        </p:nvSpPr>
        <p:spPr>
          <a:xfrm>
            <a:off x="548640" y="4575048"/>
            <a:ext cx="7909560" cy="1597152"/>
          </a:xfrm>
          <a:prstGeom prst="roundRect">
            <a:avLst>
              <a:gd name="adj" fmla="val 6870"/>
            </a:avLst>
          </a:prstGeom>
          <a:solidFill>
            <a:schemeClr val="accent6">
              <a:alpha val="10000"/>
            </a:schemeClr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9" name="Image 9" descr="alien mons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757928"/>
            <a:ext cx="868680" cy="868680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1737360" y="4666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BOSS FINAL</a:t>
            </a:r>
            <a:endParaRPr lang="en-US" sz="1400" dirty="0"/>
          </a:p>
        </p:txBody>
      </p:sp>
      <p:sp>
        <p:nvSpPr>
          <p:cNvPr id="61" name="Text 48"/>
          <p:cNvSpPr txBox="1"/>
          <p:nvPr/>
        </p:nvSpPr>
        <p:spPr>
          <a:xfrm>
            <a:off x="1737360" y="503224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arbeidsongeschiktheidsverzekering</a:t>
            </a:r>
            <a:endParaRPr lang="en-US" sz="2200" dirty="0"/>
          </a:p>
        </p:txBody>
      </p:sp>
      <p:pic>
        <p:nvPicPr>
          <p:cNvPr id="62" name="Image 10" descr="stopwatc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23960" y="1959864"/>
            <a:ext cx="822960" cy="822960"/>
          </a:xfrm>
          <a:prstGeom prst="rect">
            <a:avLst/>
          </a:prstGeom>
        </p:spPr>
      </p:pic>
      <p:sp>
        <p:nvSpPr>
          <p:cNvPr id="63" name="Text 49"/>
          <p:cNvSpPr txBox="1"/>
          <p:nvPr/>
        </p:nvSpPr>
        <p:spPr>
          <a:xfrm>
            <a:off x="9738360" y="1959864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s</a:t>
            </a:r>
            <a:endParaRPr lang="en-US" sz="3000" dirty="0"/>
          </a:p>
        </p:txBody>
      </p:sp>
      <p:sp>
        <p:nvSpPr>
          <p:cNvPr id="64" name="Text 50"/>
          <p:cNvSpPr txBox="1"/>
          <p:nvPr/>
        </p:nvSpPr>
        <p:spPr>
          <a:xfrm>
            <a:off x="8732520" y="2919984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Points</a:t>
            </a:r>
            <a:r>
              <a:rPr lang="en-US" sz="1400" dirty="0">
                <a:solidFill>
                  <a:schemeClr val="tx1"/>
                </a:solidFill>
              </a:rPr>
              <a:t> = nombre de syllabes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boss rapporte… beaucoup !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couper · porte · accent · </a:t>
            </a:r>
            <a:r>
              <a:rPr lang="en-US" sz="1400" i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muet</a:t>
            </a:r>
            <a:endParaRPr lang="en-US" sz="1400" dirty="0"/>
          </a:p>
        </p:txBody>
      </p:sp>
      <p:sp>
        <p:nvSpPr>
          <p:cNvPr id="65" name="Shape 51"/>
          <p:cNvSpPr/>
          <p:nvPr/>
        </p:nvSpPr>
        <p:spPr>
          <a:xfrm>
            <a:off x="8732520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6" name="Text 52"/>
          <p:cNvSpPr txBox="1"/>
          <p:nvPr/>
        </p:nvSpPr>
        <p:spPr>
          <a:xfrm>
            <a:off x="8732520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A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67" name="Shape 53"/>
          <p:cNvSpPr/>
          <p:nvPr/>
        </p:nvSpPr>
        <p:spPr>
          <a:xfrm>
            <a:off x="10213848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8" name="Text 54"/>
          <p:cNvSpPr txBox="1"/>
          <p:nvPr/>
        </p:nvSpPr>
        <p:spPr>
          <a:xfrm>
            <a:off x="10213848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B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1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chef d’orchestre : l’accent de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: quel sens ? Puis reliez chaque phrase à sa forme rapide de l’oral.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86400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86400" cy="530352"/>
          </a:xfrm>
          <a:prstGeom prst="roundRect">
            <a:avLst>
              <a:gd name="adj" fmla="val 1379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mot fort change le sens</a:t>
            </a:r>
            <a:endParaRPr lang="en-US" sz="1700" dirty="0"/>
          </a:p>
        </p:txBody>
      </p:sp>
      <p:pic>
        <p:nvPicPr>
          <p:cNvPr id="21" name="Image 1" descr="musical no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014728"/>
            <a:ext cx="420624" cy="42062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77240" y="265480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2654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1280160" y="258165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1"/>
                </a:solidFill>
              </a:rPr>
              <a:t>IK</a:t>
            </a:r>
            <a:r>
              <a:rPr lang="en-US" sz="2100" i="1" dirty="0">
                <a:solidFill>
                  <a:schemeClr val="tx1"/>
                </a:solidFill>
              </a:rPr>
              <a:t> woon in Brussel.</a:t>
            </a:r>
            <a:endParaRPr lang="en-US" sz="2100" dirty="0"/>
          </a:p>
        </p:txBody>
      </p:sp>
      <p:sp>
        <p:nvSpPr>
          <p:cNvPr id="25" name="Shape 20"/>
          <p:cNvSpPr/>
          <p:nvPr/>
        </p:nvSpPr>
        <p:spPr>
          <a:xfrm>
            <a:off x="777240" y="320344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1280160" y="313029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1"/>
                </a:solidFill>
              </a:rPr>
              <a:t>WOON</a:t>
            </a:r>
            <a:r>
              <a:rPr lang="en-US" sz="2100" i="1" dirty="0">
                <a:solidFill>
                  <a:schemeClr val="tx1"/>
                </a:solidFill>
              </a:rPr>
              <a:t> in Brussel.</a:t>
            </a:r>
            <a:endParaRPr lang="en-US" sz="2100" dirty="0"/>
          </a:p>
        </p:txBody>
      </p:sp>
      <p:sp>
        <p:nvSpPr>
          <p:cNvPr id="28" name="Shape 23"/>
          <p:cNvSpPr/>
          <p:nvPr/>
        </p:nvSpPr>
        <p:spPr>
          <a:xfrm>
            <a:off x="777240" y="375208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77240" y="3752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280160" y="367893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woon in </a:t>
            </a:r>
            <a:r>
              <a:rPr lang="en-US" sz="2100" b="1" i="1" dirty="0">
                <a:solidFill>
                  <a:schemeClr val="accent1"/>
                </a:solidFill>
              </a:rPr>
              <a:t>BRUS</a:t>
            </a:r>
            <a:r>
              <a:rPr lang="en-US" sz="2100" i="1" dirty="0">
                <a:solidFill>
                  <a:schemeClr val="tx1"/>
                </a:solidFill>
              </a:rPr>
              <a:t>sel.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777240" y="4245864"/>
            <a:ext cx="502920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22960" y="4291584"/>
            <a:ext cx="49377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① … pas à Gand.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② C’est moi, pas Sofie.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③ J’y habite ; je n’y travaille pas.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6263640" y="1959864"/>
            <a:ext cx="5376672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263640" y="1959864"/>
            <a:ext cx="5376672" cy="530352"/>
          </a:xfrm>
          <a:prstGeom prst="roundRect">
            <a:avLst>
              <a:gd name="adj" fmla="val 1379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46520" y="1959864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mots qui fondent à l’oral</a:t>
            </a:r>
            <a:endParaRPr lang="en-US" sz="1700" dirty="0"/>
          </a:p>
        </p:txBody>
      </p:sp>
      <p:pic>
        <p:nvPicPr>
          <p:cNvPr id="36" name="Image 2" descr="melt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2014728"/>
            <a:ext cx="420624" cy="42062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6446520" y="270967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446520" y="2709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6903720" y="259994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Hoe gaat het?</a:t>
            </a:r>
            <a:endParaRPr lang="en-US" sz="1700" dirty="0"/>
          </a:p>
        </p:txBody>
      </p:sp>
      <p:sp>
        <p:nvSpPr>
          <p:cNvPr id="40" name="Shape 34"/>
          <p:cNvSpPr/>
          <p:nvPr/>
        </p:nvSpPr>
        <p:spPr>
          <a:xfrm>
            <a:off x="9281160" y="259994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18320" y="259994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’k Heb ’t niet.</a:t>
            </a:r>
            <a:endParaRPr lang="en-US" sz="1700" dirty="0"/>
          </a:p>
        </p:txBody>
      </p:sp>
      <p:sp>
        <p:nvSpPr>
          <p:cNvPr id="42" name="Shape 36"/>
          <p:cNvSpPr/>
          <p:nvPr/>
        </p:nvSpPr>
        <p:spPr>
          <a:xfrm>
            <a:off x="6446520" y="344119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46520" y="3441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38"/>
          <p:cNvSpPr txBox="1"/>
          <p:nvPr/>
        </p:nvSpPr>
        <p:spPr>
          <a:xfrm>
            <a:off x="6903720" y="333146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het niet.</a:t>
            </a:r>
            <a:endParaRPr lang="en-US" sz="1700" dirty="0"/>
          </a:p>
        </p:txBody>
      </p:sp>
      <p:sp>
        <p:nvSpPr>
          <p:cNvPr id="45" name="Shape 39"/>
          <p:cNvSpPr/>
          <p:nvPr/>
        </p:nvSpPr>
        <p:spPr>
          <a:xfrm>
            <a:off x="9281160" y="333146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418320" y="333146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Da’s goed.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446520" y="417271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46520" y="4172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9" name="Text 43"/>
          <p:cNvSpPr txBox="1"/>
          <p:nvPr/>
        </p:nvSpPr>
        <p:spPr>
          <a:xfrm>
            <a:off x="6903720" y="40629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 je een pen?</a:t>
            </a:r>
            <a:endParaRPr lang="en-US" sz="1700" dirty="0"/>
          </a:p>
        </p:txBody>
      </p:sp>
      <p:sp>
        <p:nvSpPr>
          <p:cNvPr id="50" name="Shape 44"/>
          <p:cNvSpPr/>
          <p:nvPr/>
        </p:nvSpPr>
        <p:spPr>
          <a:xfrm>
            <a:off x="9281160" y="406298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418320" y="406298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 gaat ’t?</a:t>
            </a:r>
            <a:endParaRPr lang="en-US" sz="1700" dirty="0"/>
          </a:p>
        </p:txBody>
      </p:sp>
      <p:sp>
        <p:nvSpPr>
          <p:cNvPr id="52" name="Shape 46"/>
          <p:cNvSpPr/>
          <p:nvPr/>
        </p:nvSpPr>
        <p:spPr>
          <a:xfrm>
            <a:off x="6446520" y="490423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446520" y="4904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54" name="Text 48"/>
          <p:cNvSpPr txBox="1"/>
          <p:nvPr/>
        </p:nvSpPr>
        <p:spPr>
          <a:xfrm>
            <a:off x="6903720" y="479450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is goed.</a:t>
            </a:r>
            <a:endParaRPr lang="en-US" sz="1700" dirty="0"/>
          </a:p>
        </p:txBody>
      </p:sp>
      <p:sp>
        <p:nvSpPr>
          <p:cNvPr id="55" name="Shape 49"/>
          <p:cNvSpPr/>
          <p:nvPr/>
        </p:nvSpPr>
        <p:spPr>
          <a:xfrm>
            <a:off x="9281160" y="479450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418320" y="479450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’n pen?</a:t>
            </a:r>
            <a:endParaRPr lang="en-US" sz="1700" dirty="0"/>
          </a:p>
        </p:txBody>
      </p:sp>
      <p:sp>
        <p:nvSpPr>
          <p:cNvPr id="57" name="Shape 51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formes rapides (</a:t>
            </a:r>
            <a:r>
              <a:rPr lang="en-US" sz="1700" i="1" dirty="0">
                <a:solidFill>
                  <a:schemeClr val="bg1"/>
                </a:solidFill>
              </a:rPr>
              <a:t>’k, ’t, ’n, da’s</a:t>
            </a:r>
            <a:r>
              <a:rPr lang="en-US" sz="1700" dirty="0">
                <a:solidFill>
                  <a:schemeClr val="bg1"/>
                </a:solidFill>
              </a:rPr>
              <a:t>) sont à </a:t>
            </a:r>
            <a:r>
              <a:rPr lang="en-US" sz="1700" b="1" dirty="0">
                <a:solidFill>
                  <a:schemeClr val="bg1"/>
                </a:solidFill>
              </a:rPr>
              <a:t>reconnaître</a:t>
            </a:r>
            <a:r>
              <a:rPr lang="en-US" sz="1700" dirty="0">
                <a:solidFill>
                  <a:schemeClr val="bg1"/>
                </a:solidFill>
              </a:rPr>
              <a:t> : on ne les écrit pas dans un e-mail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championnat des tongbrekers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 niveau, lisez 3 fois de plus en plus vite. Le jury (la classe) donne 1 à 3 étoiles.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195986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5986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554480" y="195986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kat krabt de krullen van de trap.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7360920" y="209677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60920" y="209677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k · r · a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8640" y="2690876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48640" y="2690876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2690876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554480" y="2690876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Liesje leerde Lotje lopen langs de lange Lindelaan.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7360920" y="2827782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360920" y="282778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 · ie · oo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48640" y="3421888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48640" y="3421888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421888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554480" y="3421888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heet Hans en ik eet graag haring.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7360920" y="3558794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60920" y="3558794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48640" y="4152900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48640" y="4152900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152900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1554480" y="4152900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 grijze ganzen gingen gisteren gezellig naar Gent.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7360920" y="4289806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360920" y="4289806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 / ch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548640" y="4883912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883912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883912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1554480" y="4883912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koetsier poetst de postkoets met postkoetspoets.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7360920" y="5020818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60920" y="5020818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oe · ts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548640" y="561492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48640" y="561492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61492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1554480" y="561492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 achter vliegen vliegen vliegen, vliegen vliegen vliegen achterna.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7360920" y="575183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360920" y="575183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v · ie · ch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9098280" y="4983480"/>
            <a:ext cx="822960" cy="1188720"/>
          </a:xfrm>
          <a:prstGeom prst="roundRect">
            <a:avLst>
              <a:gd name="adj" fmla="val 444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828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pic>
        <p:nvPicPr>
          <p:cNvPr id="56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389120"/>
            <a:ext cx="548640" cy="548640"/>
          </a:xfrm>
          <a:prstGeom prst="rect">
            <a:avLst/>
          </a:prstGeom>
        </p:spPr>
      </p:pic>
      <p:sp>
        <p:nvSpPr>
          <p:cNvPr id="57" name="Shape 52"/>
          <p:cNvSpPr/>
          <p:nvPr/>
        </p:nvSpPr>
        <p:spPr>
          <a:xfrm>
            <a:off x="9966960" y="4480560"/>
            <a:ext cx="822960" cy="16916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9966960" y="4480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pic>
        <p:nvPicPr>
          <p:cNvPr id="59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886200"/>
            <a:ext cx="548640" cy="548640"/>
          </a:xfrm>
          <a:prstGeom prst="rect">
            <a:avLst/>
          </a:prstGeom>
        </p:spPr>
      </p:pic>
      <p:sp>
        <p:nvSpPr>
          <p:cNvPr id="60" name="Shape 54"/>
          <p:cNvSpPr/>
          <p:nvPr/>
        </p:nvSpPr>
        <p:spPr>
          <a:xfrm>
            <a:off x="10835640" y="5303520"/>
            <a:ext cx="822960" cy="868680"/>
          </a:xfrm>
          <a:prstGeom prst="roundRect">
            <a:avLst>
              <a:gd name="adj" fmla="val 444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10835640" y="5303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pic>
        <p:nvPicPr>
          <p:cNvPr id="62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709160"/>
            <a:ext cx="548640" cy="548640"/>
          </a:xfrm>
          <a:prstGeom prst="rect">
            <a:avLst/>
          </a:prstGeom>
        </p:spPr>
      </p:pic>
      <p:pic>
        <p:nvPicPr>
          <p:cNvPr id="63" name="Image 4" descr="troph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959864"/>
            <a:ext cx="822960" cy="822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morpion des sons — bilan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Deux équipes, X et O : choisissez une case, relevez le défi. Réussi = votre signe. Trois signes alignés = victoire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231038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078992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– maan – bom – boom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2990088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081528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81528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520440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099816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bus – buur – buis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31536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522976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522976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961888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Dictée :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541264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? (2 mots)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1078992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58368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heet Tom ≠ Ik eet Tom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990088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081528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081528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3520440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★★★ Lis :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3099816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Scheveningen</a:t>
            </a:r>
            <a:endParaRPr lang="en-US" sz="2000" dirty="0"/>
          </a:p>
        </p:txBody>
      </p:sp>
      <p:pic>
        <p:nvPicPr>
          <p:cNvPr id="43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3643376"/>
            <a:ext cx="457200" cy="45720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5431536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5522976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522976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5961888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48" name="Text 43"/>
          <p:cNvSpPr txBox="1"/>
          <p:nvPr/>
        </p:nvSpPr>
        <p:spPr>
          <a:xfrm>
            <a:off x="5541264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meisje · oranje · Tsjechië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548640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40080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40080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1078992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3" name="Text 48"/>
          <p:cNvSpPr txBox="1"/>
          <p:nvPr/>
        </p:nvSpPr>
        <p:spPr>
          <a:xfrm>
            <a:off x="658368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54" name="Shape 49"/>
          <p:cNvSpPr/>
          <p:nvPr/>
        </p:nvSpPr>
        <p:spPr>
          <a:xfrm>
            <a:off x="2990088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081528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3081528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3520440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8" name="Text 53"/>
          <p:cNvSpPr txBox="1"/>
          <p:nvPr/>
        </p:nvSpPr>
        <p:spPr>
          <a:xfrm>
            <a:off x="3099816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verjaardagsfeest</a:t>
            </a:r>
            <a:endParaRPr lang="en-US" sz="1600" dirty="0"/>
          </a:p>
        </p:txBody>
      </p:sp>
      <p:sp>
        <p:nvSpPr>
          <p:cNvPr id="59" name="Shape 54"/>
          <p:cNvSpPr/>
          <p:nvPr/>
        </p:nvSpPr>
        <p:spPr>
          <a:xfrm>
            <a:off x="5431536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22976" y="504952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522976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5961888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Dis-le comme à l’oral :</a:t>
            </a:r>
            <a:endParaRPr lang="en-US" sz="1200" dirty="0"/>
          </a:p>
        </p:txBody>
      </p:sp>
      <p:sp>
        <p:nvSpPr>
          <p:cNvPr id="63" name="Text 58"/>
          <p:cNvSpPr txBox="1"/>
          <p:nvPr/>
        </p:nvSpPr>
        <p:spPr>
          <a:xfrm>
            <a:off x="5541264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het?</a:t>
            </a:r>
            <a:endParaRPr lang="en-US" sz="1600" dirty="0"/>
          </a:p>
        </p:txBody>
      </p:sp>
      <p:sp>
        <p:nvSpPr>
          <p:cNvPr id="64" name="Shape 59"/>
          <p:cNvSpPr/>
          <p:nvPr/>
        </p:nvSpPr>
        <p:spPr>
          <a:xfrm>
            <a:off x="7955280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7955280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X</a:t>
            </a:r>
            <a:endParaRPr lang="en-US" sz="5400" dirty="0"/>
          </a:p>
        </p:txBody>
      </p:sp>
      <p:sp>
        <p:nvSpPr>
          <p:cNvPr id="66" name="Text 61"/>
          <p:cNvSpPr txBox="1"/>
          <p:nvPr/>
        </p:nvSpPr>
        <p:spPr>
          <a:xfrm>
            <a:off x="7955280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67" name="Shape 62"/>
          <p:cNvSpPr/>
          <p:nvPr/>
        </p:nvSpPr>
        <p:spPr>
          <a:xfrm>
            <a:off x="9843516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843516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endParaRPr lang="en-US" sz="5400" dirty="0"/>
          </a:p>
        </p:txBody>
      </p:sp>
      <p:sp>
        <p:nvSpPr>
          <p:cNvPr id="69" name="Text 64"/>
          <p:cNvSpPr txBox="1"/>
          <p:nvPr/>
        </p:nvSpPr>
        <p:spPr>
          <a:xfrm>
            <a:off x="9843516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70" name="Text 65"/>
          <p:cNvSpPr txBox="1"/>
          <p:nvPr/>
        </p:nvSpPr>
        <p:spPr>
          <a:xfrm>
            <a:off x="7955280" y="4230624"/>
            <a:ext cx="3685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Chaque case révise une séance (pastille ①–⑤).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case du centre vaut le défi le plus célèbre du néerlandais !</a:t>
            </a:r>
            <a:endParaRPr lang="en-US" sz="1400" dirty="0"/>
          </a:p>
        </p:txBody>
      </p:sp>
      <p:pic>
        <p:nvPicPr>
          <p:cNvPr id="71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5465064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1 · Long ou court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Oreille d’or (exemple de liste)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maan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vak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laat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pen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been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hel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vies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lid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ziet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bos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boom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pot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muur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kus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zuur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framboise</a:t>
            </a:r>
            <a:r>
              <a:rPr lang="en-US" sz="1600" dirty="0">
                <a:solidFill>
                  <a:schemeClr val="tx1"/>
                </a:solidFill>
              </a:rPr>
              <a:t> = court · </a:t>
            </a:r>
            <a:r>
              <a:rPr lang="en-US" sz="1600" b="1" dirty="0">
                <a:solidFill>
                  <a:schemeClr val="accent3"/>
                </a:solidFill>
              </a:rPr>
              <a:t>vert</a:t>
            </a:r>
            <a:r>
              <a:rPr lang="en-US" sz="1600" dirty="0">
                <a:solidFill>
                  <a:schemeClr val="tx1"/>
                </a:solidFill>
              </a:rPr>
              <a:t> = long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paniers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raam · keel · roos · vuur · ma·ken · le·zen · wo·nen · mu·ren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tak · nek · bol · stuk · kat·ten · pen·nen · bom·men · zus·sen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duel des phrases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Katten willen…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</a:t>
            </a:r>
            <a:r>
              <a:rPr lang="en-US" sz="1600" i="1" dirty="0">
                <a:solidFill>
                  <a:schemeClr val="tx1"/>
                </a:solidFill>
              </a:rPr>
              <a:t>Jagers doden…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</a:t>
            </a:r>
            <a:r>
              <a:rPr lang="en-US" sz="1600" i="1" dirty="0">
                <a:solidFill>
                  <a:schemeClr val="tx1"/>
                </a:solidFill>
              </a:rPr>
              <a:t>Mussen hebben…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Apen eten…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</a:t>
            </a:r>
            <a:r>
              <a:rPr lang="en-US" sz="1600" i="1" dirty="0">
                <a:solidFill>
                  <a:schemeClr val="tx1"/>
                </a:solidFill>
              </a:rPr>
              <a:t>Biggen kunnen…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 </a:t>
            </a:r>
            <a:r>
              <a:rPr lang="en-US" sz="1600" i="1" dirty="0">
                <a:solidFill>
                  <a:schemeClr val="tx1"/>
                </a:solidFill>
              </a:rPr>
              <a:t>Dikke mannen…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2 · Les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Vérifiez la ligne gagnante : chaque mot est lu avec le son de sa colonne.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Pièges fréquents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ui</a:t>
            </a:r>
            <a:r>
              <a:rPr lang="en-US" sz="1600" dirty="0">
                <a:solidFill>
                  <a:schemeClr val="tx1"/>
                </a:solidFill>
              </a:rPr>
              <a:t> lu comme dans « lui » → </a:t>
            </a:r>
            <a:r>
              <a:rPr lang="en-US" sz="1600" i="1" dirty="0">
                <a:solidFill>
                  <a:schemeClr val="tx1"/>
                </a:solidFill>
              </a:rPr>
              <a:t>uit</a:t>
            </a:r>
            <a:r>
              <a:rPr lang="en-US" sz="1600" dirty="0">
                <a:solidFill>
                  <a:schemeClr val="tx1"/>
                </a:solidFill>
              </a:rPr>
              <a:t> ≈ « euït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lu « u » → </a:t>
            </a:r>
            <a:r>
              <a:rPr lang="en-US" sz="1600" i="1" dirty="0">
                <a:solidFill>
                  <a:schemeClr val="tx1"/>
                </a:solidFill>
              </a:rPr>
              <a:t>bus</a:t>
            </a:r>
            <a:r>
              <a:rPr lang="en-US" sz="1600" dirty="0">
                <a:solidFill>
                  <a:schemeClr val="tx1"/>
                </a:solidFill>
              </a:rPr>
              <a:t> ≈ « beus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lu « i » → </a:t>
            </a:r>
            <a:r>
              <a:rPr lang="en-US" sz="1600" i="1" dirty="0">
                <a:solidFill>
                  <a:schemeClr val="tx1"/>
                </a:solidFill>
              </a:rPr>
              <a:t>prijs</a:t>
            </a:r>
            <a:r>
              <a:rPr lang="en-US" sz="1600" dirty="0">
                <a:solidFill>
                  <a:schemeClr val="tx1"/>
                </a:solidFill>
              </a:rPr>
              <a:t> ≈ « prèïs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oe</a:t>
            </a:r>
            <a:r>
              <a:rPr lang="en-US" sz="1600" dirty="0">
                <a:solidFill>
                  <a:schemeClr val="tx1"/>
                </a:solidFill>
              </a:rPr>
              <a:t> lu « o-é » → </a:t>
            </a:r>
            <a:r>
              <a:rPr lang="en-US" sz="1600" i="1" dirty="0">
                <a:solidFill>
                  <a:schemeClr val="tx1"/>
                </a:solidFill>
              </a:rPr>
              <a:t>moe</a:t>
            </a:r>
            <a:r>
              <a:rPr lang="en-US" sz="1600" dirty="0">
                <a:solidFill>
                  <a:schemeClr val="tx1"/>
                </a:solidFill>
              </a:rPr>
              <a:t> ≈ « mou »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toboggan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Dictée </a:t>
            </a:r>
            <a:r>
              <a:rPr lang="en-US" sz="1600" i="1" dirty="0">
                <a:solidFill>
                  <a:schemeClr val="tx1"/>
                </a:solidFill>
              </a:rPr>
              <a:t>ij / ei</a:t>
            </a:r>
            <a:r>
              <a:rPr lang="en-US" sz="1600" dirty="0">
                <a:solidFill>
                  <a:schemeClr val="tx1"/>
                </a:solidFill>
              </a:rPr>
              <a:t>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w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2 </a:t>
            </a:r>
            <a:r>
              <a:rPr lang="en-US" sz="1600" i="1" dirty="0">
                <a:solidFill>
                  <a:schemeClr val="tx1"/>
                </a:solidFill>
              </a:rPr>
              <a:t>tr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3 </a:t>
            </a:r>
            <a:r>
              <a:rPr lang="en-US" sz="1600" i="1" dirty="0">
                <a:solidFill>
                  <a:schemeClr val="tx1"/>
                </a:solidFill>
              </a:rPr>
              <a:t>t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d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kl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5 </a:t>
            </a:r>
            <a:r>
              <a:rPr lang="en-US" sz="1600" i="1" dirty="0">
                <a:solidFill>
                  <a:schemeClr val="tx1"/>
                </a:solidFill>
              </a:rPr>
              <a:t>m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· 6 </a:t>
            </a:r>
            <a:r>
              <a:rPr lang="en-US" sz="1600" i="1" dirty="0">
                <a:solidFill>
                  <a:schemeClr val="tx1"/>
                </a:solidFill>
              </a:rPr>
              <a:t>v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f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Sens : </a:t>
            </a:r>
            <a:r>
              <a:rPr lang="en-US" sz="1600" i="1" dirty="0">
                <a:solidFill>
                  <a:schemeClr val="tx1"/>
                </a:solidFill>
              </a:rPr>
              <a:t>buur</a:t>
            </a:r>
            <a:r>
              <a:rPr lang="en-US" sz="1600" dirty="0">
                <a:solidFill>
                  <a:schemeClr val="tx1"/>
                </a:solidFill>
              </a:rPr>
              <a:t> voisin · </a:t>
            </a:r>
            <a:r>
              <a:rPr lang="en-US" sz="1600" i="1" dirty="0">
                <a:solidFill>
                  <a:schemeClr val="tx1"/>
                </a:solidFill>
              </a:rPr>
              <a:t>buis</a:t>
            </a:r>
            <a:r>
              <a:rPr lang="en-US" sz="1600" dirty="0">
                <a:solidFill>
                  <a:schemeClr val="tx1"/>
                </a:solidFill>
              </a:rPr>
              <a:t> tube · </a:t>
            </a:r>
            <a:r>
              <a:rPr lang="en-US" sz="1600" i="1" dirty="0">
                <a:solidFill>
                  <a:schemeClr val="tx1"/>
                </a:solidFill>
              </a:rPr>
              <a:t>muis</a:t>
            </a:r>
            <a:r>
              <a:rPr lang="en-US" sz="1600" dirty="0">
                <a:solidFill>
                  <a:schemeClr val="tx1"/>
                </a:solidFill>
              </a:rPr>
              <a:t> souris · </a:t>
            </a:r>
            <a:r>
              <a:rPr lang="en-US" sz="1600" i="1" dirty="0">
                <a:solidFill>
                  <a:schemeClr val="tx1"/>
                </a:solidFill>
              </a:rPr>
              <a:t>huur</a:t>
            </a:r>
            <a:r>
              <a:rPr lang="en-US" sz="1600" dirty="0">
                <a:solidFill>
                  <a:schemeClr val="tx1"/>
                </a:solidFill>
              </a:rPr>
              <a:t> loyer · </a:t>
            </a:r>
            <a:r>
              <a:rPr lang="en-US" sz="1600" i="1" dirty="0">
                <a:solidFill>
                  <a:schemeClr val="tx1"/>
                </a:solidFill>
              </a:rPr>
              <a:t>duin</a:t>
            </a:r>
            <a:r>
              <a:rPr lang="en-US" sz="1600" dirty="0">
                <a:solidFill>
                  <a:schemeClr val="tx1"/>
                </a:solidFill>
              </a:rPr>
              <a:t> dune · </a:t>
            </a:r>
            <a:r>
              <a:rPr lang="en-US" sz="1600" i="1" dirty="0">
                <a:solidFill>
                  <a:schemeClr val="tx1"/>
                </a:solidFill>
              </a:rPr>
              <a:t>zuid</a:t>
            </a:r>
            <a:r>
              <a:rPr lang="en-US" sz="1600" dirty="0">
                <a:solidFill>
                  <a:schemeClr val="tx1"/>
                </a:solidFill>
              </a:rPr>
              <a:t> sud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chasse aux sons doubles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→ </a:t>
            </a: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oei,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→ </a:t>
            </a: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oe, ij, eu,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→ </a:t>
            </a: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ei, oe,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IJ, ou, ie, ui, eu, oe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ooi, ieuw, ui, ij, ooi, aai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3 · Les consonnes-pièges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Souffle ou silence 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heten</a:t>
            </a:r>
            <a:r>
              <a:rPr lang="en-US" sz="1500" dirty="0">
                <a:solidFill>
                  <a:schemeClr val="tx1"/>
                </a:solidFill>
              </a:rPr>
              <a:t> s’appeler · </a:t>
            </a:r>
            <a:r>
              <a:rPr lang="en-US" sz="1500" i="1" dirty="0">
                <a:solidFill>
                  <a:schemeClr val="tx1"/>
                </a:solidFill>
              </a:rPr>
              <a:t>eten</a:t>
            </a:r>
            <a:r>
              <a:rPr lang="en-US" sz="1500" dirty="0">
                <a:solidFill>
                  <a:schemeClr val="tx1"/>
                </a:solidFill>
              </a:rPr>
              <a:t> manger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hoor</a:t>
            </a:r>
            <a:r>
              <a:rPr lang="en-US" sz="1500" dirty="0">
                <a:solidFill>
                  <a:schemeClr val="tx1"/>
                </a:solidFill>
              </a:rPr>
              <a:t> j’entends · </a:t>
            </a:r>
            <a:r>
              <a:rPr lang="en-US" sz="1500" i="1" dirty="0">
                <a:solidFill>
                  <a:schemeClr val="tx1"/>
                </a:solidFill>
              </a:rPr>
              <a:t>oor</a:t>
            </a:r>
            <a:r>
              <a:rPr lang="en-US" sz="1500" dirty="0">
                <a:solidFill>
                  <a:schemeClr val="tx1"/>
                </a:solidFill>
              </a:rPr>
              <a:t> oreille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hij</a:t>
            </a:r>
            <a:r>
              <a:rPr lang="en-US" sz="1500" dirty="0">
                <a:solidFill>
                  <a:schemeClr val="tx1"/>
                </a:solidFill>
              </a:rPr>
              <a:t> il · </a:t>
            </a:r>
            <a:r>
              <a:rPr lang="en-US" sz="1500" i="1" dirty="0">
                <a:solidFill>
                  <a:schemeClr val="tx1"/>
                </a:solidFill>
              </a:rPr>
              <a:t>ei</a:t>
            </a:r>
            <a:r>
              <a:rPr lang="en-US" sz="1500" dirty="0">
                <a:solidFill>
                  <a:schemeClr val="tx1"/>
                </a:solidFill>
              </a:rPr>
              <a:t> œuf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hal</a:t>
            </a:r>
            <a:r>
              <a:rPr lang="en-US" sz="1500" dirty="0">
                <a:solidFill>
                  <a:schemeClr val="tx1"/>
                </a:solidFill>
              </a:rPr>
              <a:t> hall · </a:t>
            </a:r>
            <a:r>
              <a:rPr lang="en-US" sz="1500" i="1" dirty="0">
                <a:solidFill>
                  <a:schemeClr val="tx1"/>
                </a:solidFill>
              </a:rPr>
              <a:t>al</a:t>
            </a:r>
            <a:r>
              <a:rPr lang="en-US" sz="1500" dirty="0">
                <a:solidFill>
                  <a:schemeClr val="tx1"/>
                </a:solidFill>
              </a:rPr>
              <a:t> déjà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Défi : </a:t>
            </a:r>
            <a:r>
              <a:rPr lang="en-US" sz="1500" i="1" dirty="0">
                <a:solidFill>
                  <a:schemeClr val="tx1"/>
                </a:solidFill>
              </a:rPr>
              <a:t>Bonjour ! Bien dormi ? Tu vas volontiers à Gand ?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lettres caméléons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</a:t>
            </a:r>
            <a:r>
              <a:rPr lang="en-US" sz="1500" i="1" dirty="0">
                <a:solidFill>
                  <a:schemeClr val="tx1"/>
                </a:solidFill>
              </a:rPr>
              <a:t>hond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« t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</a:t>
            </a:r>
            <a:r>
              <a:rPr lang="en-US" sz="1500" i="1" dirty="0">
                <a:solidFill>
                  <a:schemeClr val="tx1"/>
                </a:solidFill>
              </a:rPr>
              <a:t>ik heb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« p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3 </a:t>
            </a:r>
            <a:r>
              <a:rPr lang="en-US" sz="1500" i="1" dirty="0">
                <a:solidFill>
                  <a:schemeClr val="tx1"/>
                </a:solidFill>
              </a:rPr>
              <a:t>juni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E</a:t>
            </a:r>
            <a:r>
              <a:rPr lang="en-US" sz="1500" dirty="0">
                <a:solidFill>
                  <a:schemeClr val="tx1"/>
                </a:solidFill>
              </a:rPr>
              <a:t> « y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 </a:t>
            </a:r>
            <a:r>
              <a:rPr lang="en-US" sz="1500" i="1" dirty="0">
                <a:solidFill>
                  <a:schemeClr val="tx1"/>
                </a:solidFill>
              </a:rPr>
              <a:t>nieuw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I</a:t>
            </a:r>
            <a:r>
              <a:rPr lang="en-US" sz="1500" dirty="0">
                <a:solidFill>
                  <a:schemeClr val="tx1"/>
                </a:solidFill>
              </a:rPr>
              <a:t> « ou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 </a:t>
            </a:r>
            <a:r>
              <a:rPr lang="en-US" sz="1500" i="1" dirty="0">
                <a:solidFill>
                  <a:schemeClr val="tx1"/>
                </a:solidFill>
              </a:rPr>
              <a:t>lang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« ng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 </a:t>
            </a:r>
            <a:r>
              <a:rPr lang="en-US" sz="1500" i="1" dirty="0">
                <a:solidFill>
                  <a:schemeClr val="tx1"/>
                </a:solidFill>
              </a:rPr>
              <a:t>bank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H</a:t>
            </a:r>
            <a:r>
              <a:rPr lang="en-US" sz="1500" dirty="0">
                <a:solidFill>
                  <a:schemeClr val="tx1"/>
                </a:solidFill>
              </a:rPr>
              <a:t> « ng-k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 </a:t>
            </a: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« 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8 </a:t>
            </a: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J</a:t>
            </a:r>
            <a:r>
              <a:rPr lang="en-US" sz="1500" dirty="0">
                <a:solidFill>
                  <a:schemeClr val="tx1"/>
                </a:solidFill>
              </a:rPr>
              <a:t> « gn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9 </a:t>
            </a: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F</a:t>
            </a:r>
            <a:r>
              <a:rPr lang="en-US" sz="1500" dirty="0">
                <a:solidFill>
                  <a:schemeClr val="tx1"/>
                </a:solidFill>
              </a:rPr>
              <a:t> « tch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</a:t>
            </a: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D</a:t>
            </a:r>
            <a:r>
              <a:rPr lang="en-US" sz="1500" dirty="0">
                <a:solidFill>
                  <a:schemeClr val="tx1"/>
                </a:solidFill>
              </a:rPr>
              <a:t> « 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11 </a:t>
            </a:r>
            <a:r>
              <a:rPr lang="en-US" sz="1500" i="1" dirty="0">
                <a:solidFill>
                  <a:schemeClr val="tx1"/>
                </a:solidFill>
              </a:rPr>
              <a:t>school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L</a:t>
            </a:r>
            <a:r>
              <a:rPr lang="en-US" sz="1500" dirty="0">
                <a:solidFill>
                  <a:schemeClr val="tx1"/>
                </a:solidFill>
              </a:rPr>
              <a:t> « s » + ch raclé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 </a:t>
            </a:r>
            <a:r>
              <a:rPr lang="en-US" sz="1500" i="1" dirty="0">
                <a:solidFill>
                  <a:schemeClr val="tx1"/>
                </a:solidFill>
              </a:rPr>
              <a:t>dag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K</a:t>
            </a:r>
            <a:r>
              <a:rPr lang="en-US" sz="1500" dirty="0">
                <a:solidFill>
                  <a:schemeClr val="tx1"/>
                </a:solidFill>
              </a:rPr>
              <a:t> « ch » raclé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jeu de l’oie (aide-mémoire)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« ghout » (gh raclé)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jij</a:t>
            </a:r>
            <a:r>
              <a:rPr lang="en-US" sz="1500" dirty="0">
                <a:solidFill>
                  <a:schemeClr val="tx1"/>
                </a:solidFill>
              </a:rPr>
              <a:t> « yèï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brengen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ng</a:t>
            </a:r>
            <a:r>
              <a:rPr lang="en-US" sz="1500" dirty="0">
                <a:solidFill>
                  <a:schemeClr val="tx1"/>
                </a:solidFill>
              </a:rPr>
              <a:t> = un son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« mèï-cheu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« o-ra-gneu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denken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nk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« reu-sis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« tchè-ghi-yeu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4 · Mots courts, mots longs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Mini-défi et escaliers ①②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ge·</a:t>
            </a:r>
            <a:r>
              <a:rPr lang="en-US" sz="1500" b="1" i="1" dirty="0">
                <a:solidFill>
                  <a:schemeClr val="accent1"/>
                </a:solidFill>
              </a:rPr>
              <a:t>zel</a:t>
            </a:r>
            <a:r>
              <a:rPr lang="en-US" sz="1500" i="1" dirty="0">
                <a:solidFill>
                  <a:schemeClr val="tx1"/>
                </a:solidFill>
              </a:rPr>
              <a:t>·lig · </a:t>
            </a:r>
            <a:r>
              <a:rPr lang="en-US" sz="1500" b="1" i="1" dirty="0">
                <a:solidFill>
                  <a:schemeClr val="accent1"/>
                </a:solidFill>
              </a:rPr>
              <a:t>vrien</a:t>
            </a:r>
            <a:r>
              <a:rPr lang="en-US" sz="1500" i="1" dirty="0">
                <a:solidFill>
                  <a:schemeClr val="tx1"/>
                </a:solidFill>
              </a:rPr>
              <a:t>·de·lijk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taal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·ling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·lin·gen</a:t>
            </a:r>
            <a:r>
              <a:rPr lang="en-US" sz="1500" dirty="0">
                <a:solidFill>
                  <a:schemeClr val="tx1"/>
                </a:solidFill>
              </a:rPr>
              <a:t> (1-2-3-3-4)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naam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na</a:t>
            </a:r>
            <a:r>
              <a:rPr lang="en-US" sz="1500" i="1" dirty="0">
                <a:solidFill>
                  <a:schemeClr val="tx1"/>
                </a:solidFill>
              </a:rPr>
              <a:t>·men · </a:t>
            </a:r>
            <a:r>
              <a:rPr lang="en-US" sz="1500" b="1" i="1" dirty="0">
                <a:solidFill>
                  <a:schemeClr val="accent1"/>
                </a:solidFill>
              </a:rPr>
              <a:t>voor</a:t>
            </a:r>
            <a:r>
              <a:rPr lang="en-US" sz="1500" i="1" dirty="0">
                <a:solidFill>
                  <a:schemeClr val="tx1"/>
                </a:solidFill>
              </a:rPr>
              <a:t>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·ter·na·men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Escaliers ③④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werk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wer</a:t>
            </a:r>
            <a:r>
              <a:rPr lang="en-US" sz="1500" i="1" dirty="0">
                <a:solidFill>
                  <a:schemeClr val="tx1"/>
                </a:solidFill>
              </a:rPr>
              <a:t>·ken · ge·</a:t>
            </a:r>
            <a:r>
              <a:rPr lang="en-US" sz="1500" b="1" i="1" dirty="0">
                <a:solidFill>
                  <a:schemeClr val="accent1"/>
                </a:solidFill>
              </a:rPr>
              <a:t>werkt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·de·wer·kers</a:t>
            </a:r>
            <a:r>
              <a:rPr lang="en-US" sz="1500" dirty="0">
                <a:solidFill>
                  <a:schemeClr val="tx1"/>
                </a:solidFill>
              </a:rPr>
              <a:t> (1-2-2-4-4)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hui</a:t>
            </a:r>
            <a:r>
              <a:rPr lang="en-US" sz="1500" i="1" dirty="0">
                <a:solidFill>
                  <a:schemeClr val="tx1"/>
                </a:solidFill>
              </a:rPr>
              <a:t>·zen · </a:t>
            </a: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·je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·ken·huis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·ken·hui·zen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L’accent reste sur la base ; dans un mot composé, il passe sur le 1er mot.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mots-monstres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moei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2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3 (BE : </a:t>
            </a: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zond</a:t>
            </a:r>
            <a:r>
              <a:rPr lang="en-US" sz="1500" i="1" dirty="0">
                <a:solidFill>
                  <a:schemeClr val="tx1"/>
                </a:solidFill>
              </a:rPr>
              <a:t>·heid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i="1" dirty="0">
                <a:solidFill>
                  <a:schemeClr val="tx1"/>
                </a:solidFill>
              </a:rPr>
              <a:t>na·</a:t>
            </a:r>
            <a:r>
              <a:rPr lang="en-US" sz="1500" b="1" i="1" dirty="0">
                <a:solidFill>
                  <a:schemeClr val="accent1"/>
                </a:solidFill>
              </a:rPr>
              <a:t>tuur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for·mu·</a:t>
            </a:r>
            <a:r>
              <a:rPr lang="en-US" sz="1500" b="1" i="1" dirty="0">
                <a:solidFill>
                  <a:schemeClr val="accent1"/>
                </a:solidFill>
              </a:rPr>
              <a:t>lier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b="1" i="1" dirty="0">
                <a:solidFill>
                  <a:schemeClr val="accent1"/>
                </a:solidFill>
              </a:rPr>
              <a:t>woor</a:t>
            </a:r>
            <a:r>
              <a:rPr lang="en-US" sz="1500" i="1" dirty="0">
                <a:solidFill>
                  <a:schemeClr val="tx1"/>
                </a:solidFill>
              </a:rPr>
              <a:t>·den·schat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in</a:t>
            </a:r>
            <a:r>
              <a:rPr lang="en-US" sz="1500" i="1" dirty="0">
                <a:solidFill>
                  <a:schemeClr val="tx1"/>
                </a:solidFill>
              </a:rPr>
              <a:t>·lich·tin·gen</a:t>
            </a:r>
            <a:r>
              <a:rPr lang="en-US" sz="1500" dirty="0">
                <a:solidFill>
                  <a:schemeClr val="tx1"/>
                </a:solidFill>
              </a:rPr>
              <a:t> 4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na·tio·na·li·</a:t>
            </a:r>
            <a:r>
              <a:rPr lang="en-US" sz="1500" b="1" i="1" dirty="0">
                <a:solidFill>
                  <a:schemeClr val="accent1"/>
                </a:solidFill>
              </a:rPr>
              <a:t>teit</a:t>
            </a:r>
            <a:r>
              <a:rPr lang="en-US" sz="1500" dirty="0">
                <a:solidFill>
                  <a:schemeClr val="tx1"/>
                </a:solidFill>
              </a:rPr>
              <a:t> 5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ar</a:t>
            </a:r>
            <a:r>
              <a:rPr lang="en-US" sz="1500" i="1" dirty="0">
                <a:solidFill>
                  <a:schemeClr val="tx1"/>
                </a:solidFill>
              </a:rPr>
              <a:t>·beids·on·ge·schikt·heids·ver·ze·ke·ring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b="1" dirty="0">
                <a:solidFill>
                  <a:schemeClr val="tx1"/>
                </a:solidFill>
              </a:rPr>
              <a:t>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5 · La phrase qui chante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chef d’orchestre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</a:t>
            </a:r>
            <a:r>
              <a:rPr lang="en-US" sz="1400" b="1" dirty="0">
                <a:solidFill>
                  <a:schemeClr val="accent1"/>
                </a:solidFill>
              </a:rPr>
              <a:t>IK</a:t>
            </a:r>
            <a:r>
              <a:rPr lang="en-US" sz="1400" dirty="0">
                <a:solidFill>
                  <a:schemeClr val="tx1"/>
                </a:solidFill>
              </a:rPr>
              <a:t> → ②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 </a:t>
            </a:r>
            <a:r>
              <a:rPr lang="en-US" sz="1400" b="1" dirty="0">
                <a:solidFill>
                  <a:schemeClr val="accent1"/>
                </a:solidFill>
              </a:rPr>
              <a:t>WOON</a:t>
            </a:r>
            <a:r>
              <a:rPr lang="en-US" sz="1400" dirty="0">
                <a:solidFill>
                  <a:schemeClr val="tx1"/>
                </a:solidFill>
              </a:rPr>
              <a:t> → ③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 </a:t>
            </a:r>
            <a:r>
              <a:rPr lang="en-US" sz="1400" b="1" dirty="0">
                <a:solidFill>
                  <a:schemeClr val="accent1"/>
                </a:solidFill>
              </a:rPr>
              <a:t>BRUS</a:t>
            </a:r>
            <a:r>
              <a:rPr lang="en-US" sz="1400" dirty="0">
                <a:solidFill>
                  <a:schemeClr val="tx1"/>
                </a:solidFill>
              </a:rPr>
              <a:t>sel → ①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→ </a:t>
            </a: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→ </a:t>
            </a: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’k Heb ’t niet.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→ </a:t>
            </a: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Heb je ’n pen?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→ </a:t>
            </a: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Da’s goed.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tongbrekers (sens)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Le chat gratte les boucles de l’escalier.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Liesje apprenait à Lotje à marcher le long de la longue allée des Tilleuls.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Je m’appelle Hans et j’aime manger du hareng.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Huit oies grises sont allées hier, toutes contentes, à Gand.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 Le cocher astique la diligence avec du produit à diligence.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 Quand des mouches volent derrière des mouches…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morpion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① court – long – court – long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② « eu » – « u » – « œil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③ p. ex. </a:t>
            </a:r>
            <a:r>
              <a:rPr lang="en-US" sz="1400" i="1" dirty="0">
                <a:solidFill>
                  <a:schemeClr val="tx1"/>
                </a:solidFill>
              </a:rPr>
              <a:t>klein</a:t>
            </a:r>
            <a:r>
              <a:rPr lang="en-US" sz="1400" dirty="0">
                <a:solidFill>
                  <a:schemeClr val="tx1"/>
                </a:solidFill>
              </a:rPr>
              <a:t> (ei) · </a:t>
            </a:r>
            <a:r>
              <a:rPr lang="en-US" sz="1400" i="1" dirty="0">
                <a:solidFill>
                  <a:schemeClr val="tx1"/>
                </a:solidFill>
              </a:rPr>
              <a:t>wijn</a:t>
            </a:r>
            <a:r>
              <a:rPr lang="en-US" sz="1400" dirty="0">
                <a:solidFill>
                  <a:schemeClr val="tx1"/>
                </a:solidFill>
              </a:rPr>
              <a:t> (ij)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④ </a:t>
            </a:r>
            <a:r>
              <a:rPr lang="en-US" sz="1400" i="1" dirty="0">
                <a:solidFill>
                  <a:schemeClr val="tx1"/>
                </a:solidFill>
              </a:rPr>
              <a:t>h</a:t>
            </a:r>
            <a:r>
              <a:rPr lang="en-US" sz="1400" dirty="0">
                <a:solidFill>
                  <a:schemeClr val="tx1"/>
                </a:solidFill>
              </a:rPr>
              <a:t> soufflé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⑤ </a:t>
            </a:r>
            <a:r>
              <a:rPr lang="en-US" sz="1400" b="1" i="1" dirty="0">
                <a:solidFill>
                  <a:schemeClr val="accent1"/>
                </a:solidFill>
              </a:rPr>
              <a:t>sche</a:t>
            </a:r>
            <a:r>
              <a:rPr lang="en-US" sz="1400" i="1" dirty="0">
                <a:solidFill>
                  <a:schemeClr val="tx1"/>
                </a:solidFill>
              </a:rPr>
              <a:t>·ve·nin·gen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⑥ « mèï-cheu » · « o-ra-gneu » · « tchè-ghi-yeu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⑦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ga</a:t>
            </a:r>
            <a:r>
              <a:rPr lang="en-US" sz="1400" i="1" dirty="0">
                <a:solidFill>
                  <a:schemeClr val="tx1"/>
                </a:solidFill>
              </a:rPr>
              <a:t>·de·ring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⑧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jaar</a:t>
            </a:r>
            <a:r>
              <a:rPr lang="en-US" sz="1400" i="1" dirty="0">
                <a:solidFill>
                  <a:schemeClr val="tx1"/>
                </a:solidFill>
              </a:rPr>
              <a:t>·dags·feest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⑨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Proficiat! Je spreekt al heel goed Nederlands.</a:t>
            </a:r>
            <a:endParaRPr lang="en-US" sz="2000" dirty="0"/>
          </a:p>
        </p:txBody>
      </p:sp>
      <p:pic>
        <p:nvPicPr>
          <p:cNvPr id="30" name="Image 0" descr="trop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5669280"/>
            <a:ext cx="530352" cy="530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Uitspraak! — La prononciation en 5 séances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2026-10-06T08:28:23Z</dcterms:created>
  <dcterms:modified xsi:type="dcterms:W3CDTF">2026-10-06T08:28:23Z</dcterms:modified>
</cp:coreProperties>
</file>