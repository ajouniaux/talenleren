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uverture" id="{2397b9a1-6e2e-2e16-effd-9d2a5f5eabf8}">
          <p14:sldIdLst>
            <p14:sldId id="256"/>
          </p14:sldIdLst>
        </p14:section>
        <p14:section name="Le parcours" id="{dbe27606-3804-a323-0c30-310ec01b9802}">
          <p14:sldIdLst>
            <p14:sldId id="257"/>
          </p14:sldIdLst>
        </p14:section>
        <p14:section name="Séance 1 · Long ou court ?" id="{76832737-2abf-ecd5-d33c-26ad2761ee0b}">
          <p14:sldIdLst>
            <p14:sldId id="258"/>
            <p14:sldId id="259"/>
            <p14:sldId id="260"/>
          </p14:sldIdLst>
        </p14:section>
        <p14:section name="Séance 2 · Les sons doubles" id="{eff27532-2542-f2df-50ca-5478d1020f13}">
          <p14:sldIdLst>
            <p14:sldId id="261"/>
            <p14:sldId id="262"/>
            <p14:sldId id="263"/>
          </p14:sldIdLst>
        </p14:section>
        <p14:section name="Séance 3 · Les consonnes-pièges" id="{7af44d55-7ff2-5658-50ee-3ff14503de20}">
          <p14:sldIdLst>
            <p14:sldId id="264"/>
            <p14:sldId id="265"/>
            <p14:sldId id="266"/>
          </p14:sldIdLst>
        </p14:section>
        <p14:section name="Séance 4 · Mots courts, mots longs" id="{18b24dae-d5ac-9c61-0a7a-92e7d8f9c6c6}">
          <p14:sldIdLst>
            <p14:sldId id="267"/>
            <p14:sldId id="268"/>
            <p14:sldId id="269"/>
          </p14:sldIdLst>
        </p14:section>
        <p14:section name="Séance 5 · La phrase qui chante" id="{f6ca7d4a-ca9c-fb8d-7bbd-ca68e3bd3442}">
          <p14:sldIdLst>
            <p14:sldId id="270"/>
            <p14:sldId id="271"/>
            <p14:sldId id="272"/>
          </p14:sldIdLst>
        </p14:section>
        <p14:section name="Annexe · Corrigés" id="{cdd8db26-8069-7529-f17d-1de8844d34a2}">
          <p14:sldIdLst>
            <p14:sldId id="273"/>
            <p14:sldId id="274"/>
            <p14:sldId id="275"/>
            <p14:sldId id="276"/>
            <p14:sldId id="27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Annoncer le parcours : 5 séances pour bien prononcer le néerlandais.
Lisez les cinq mots de la ligne d'accroche et demandez : « Qu'est-ce qui change d'un mot à l'autre ? » Réponse : voyelle courte (man) et longue (maan), son double (kijk), g raclé (goed), mot long (gezellig). Ce sont les quatre premières séances ; la cinquième les réunit dans la phrase.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Rendre visibles la progression et le fonctionnement des séances.
Une séance = 30 à 45 minutes, en début ou en fin de cours. Les séances peuvent être espacées (une par semaine) : c'est la régularité qui installe la prononciation. Rappelez la règle d'or : on ne cherche pas l'accent parfait, mais à être compris et à ne pas confondre les sons.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Distinguer à l'oreille les voyelles courtes et longues (a / aa, e / ee, i / ie, o / oo, u / uu).
Liste à lire (exemple) : maan, vak, laat, pen, been, hel, vies, lid, ziet, bos, boom, pot, muur, kus, zuur. Changez l'ordre à chaque tour. Pour le u : mus ≈ « meus » bref, muur ≈ « mur » long (M1, diapo 12). i / ie : le son « i » s'écrit presque toujours ie (sauf emprunts : juni, kilo). En réalité, la différence est surtout de timbre : i bref est plus ouvert, presque « é » ; ie = « i » français, allongé seulement devant r (bier). Sens utiles : vaak (souvent), laat (tard), peen (carotte), been (jambe), heel (très), vies (sale), lied (chanson), boos (fâché), poot (patte), muur (mur), zuur (acide).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Appliquer la règle de la syllabe-porte à des mots d'une et de deux syllabes.
Corrigé : long = raam, keel, roos, vuur, ma·ken, le·zen, wo·nen, mu·ren · court = tak, nek, bol, stuk, kat·ten, pen·nen, bom·men, zus·sen. Faites justifier avec le geste de la porte (M1) : ma·ken = porte ouverte, donc « maa-ken » ; kat·ten = deux consonnes, porte fermée. Les finales -en ont un e muet (séance 4).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Enchaîner des voyelles courtes ou longues dans une phrase, avec fluidité.
Corrigé : 1 kort · 2 lang · 3 kort · 4 lang · 5 kort · 6 kort. Sens : 1 Les chats aiment bien ronronner. 2 Les chasseurs tuent de grands lièvres. 3 Les moineaux ont de gros cous. 4 Les singes mangent des noix acides. 5 Les porcelets savent grogner de façon mignonne. 6 Les gros hommes ont des chaussettes fines. Le sens n'est pas l'objectif : ces phrases servent à faire travailler la bouche. Exemples de défi : Kom! Ik zit in de bus. (100 % court) · De boze baas eet zure peren. (100 % long ; de a un e muet).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Reconnaître les six familles de sons écrits avec deux lettres : ij / ei, ui, ou / au, eu, oe, ie.
Lisez les mots dans le désordre et notez-les pour vérifier le gagnant. eu et oe s'écrivent avec deux lettres mais ne « glissent » pas (M6). nieuw (rangé avec ie dans le support) est un son à trois lettres : il est traité diapo 8 ; il est remplacé ici par drie. Griet est un prénom flamand. Variante : un·e apprenant·e prend la place de l'enseignant·e.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Ne plus confondre u, uu et ui ; associer ij et ei au même son.
Sens : bus (bus) / buur (voisin) / buis (tube) · mus (moineau) / muur (mur) / muis (souris) · hut (cabane) / huur (loyer) / huis (maison) · dun (fin) / duur (cher) / duin (dune) · zus (sœur) / zuur (acide) / zuid (sud). Dictée : wijn, trein, tijd, klein, mei, vijf → ij, ei, ij, ei, ei, ij. En Belgique, on dit souvent « lange ij » et « korte ei » pour les distinguer à l'écrit.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Repérer et enchaîner les sons doubles dans une phrase, y compris les sons à trois lettres.
Corrigé : 1 → 2 (oei, ui) · 2 → 4 (oe, ij, eu, ui) · 3 → 3 (ei, oe, ui) · 4 → 6 (IJ, ou, ie, ui, eu, oe) · 5 → 6 (ooi, ieuw, ui, ij, ooi, aai). Dans leren, e est long mais simple : ce n'est pas un son double. Sens : 1 Salut ! Je rentre à la maison. 2 Les mères coupent des oignons géants. 3 Apprendre à tricoter des pulls verts. 4 Une bière glacée de la cuisine de Koen. Doei! s'entend surtout aux Pays-Bas ; en Flandre, on dit plutôt Daag! 5 Les beaux pulls neufs ne sont jamais ennuyeux.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Prononcer le h (soufflé) et le g / ch (raclé), deux sons absents du français.
Jeu d'écoute : lisez un mot de chaque paire ; main levée = on entend le h. Sens : heten (s'appeler) / eten (manger) · hoor (j'entends) / oor (oreille) · hij (il) / ei (œuf) · hal (hall) / al (déjà). Le g belge est plus doux que le g néerlandais : les deux sont corrects. Mettez la main sur la gorge pour sentir le frottement. sch au début = « s » + ch raclé (school) ; -isch en fin de mot = « is » (Russisch, praktisch).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Associer les graphies-pièges à leur vrai son (d et b finaux, j, w final, ng, nk, sj, nj, tsj, -isch, sch, g final).
Corrigé : 1-B · 2-G · 3-E · 4-I · 5-A · 6-H · 7-C · 8-J · 9-F · 10-D · 11-L · 12-K. En fin de mot, d se prononce « t » et b « p » (hond, ik heb). Dans lang, on n'entend pas le g : ng est un seul son. v et z se prononcent parfois presque « f » et « s », surtout aux Pays-Bas : ce n'est pas une faute, mais en Belgique on entend surtout v et 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Réinvestir toutes les consonnes-pièges dans un jeu de plateau.
Aide-mémoire : goed (« ghout » : gh raclé, d → t) · hallo (h soufflé) · jij (« yèï ») · dag (g final raclé) · brengen (ng) · meisje (« mèï-cheu ») · hebben (h, e muet) · school (s + ch) · oranje (« o-ra-gneu », comme montagne, accent sur ra) · denken (nk) · Russisch (« reu-sis ») · alsjeblieft (sj) · Tsjechië (« tchè-ghi-yeu », gh raclé). Jouez en 2 à 4 équipes, avec un pion par équipe.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Donner une méthode pour lire efficacement un mot d'une ou de plusieurs syllabes.
C'est la seule diapo de théorie du parcours : elle reprend la méthode en 3 étapes du M1 (diapo 13) et ajoute l'accent tonique. Corrigé du mini-défi : be·ta·len (be muet, ta long, len muet) · ge·zel·lig (ge muet, zel court, lig « leugh ») · vrien·de·lijk (vrien « vrinn », de muet, lijk « leuk »). Faites frapper les syllabes dans les mains et taper du pied sur la syllabe accentuée. L'accent néerlandais est fort : la syllabe accentuée est plus longue et plus haute, les autres s'effacent.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Lire des mots de plus en plus longs construits sur une même base, en gardant l'accent au bon endroit.
Corrigé (syllabe accentuée en majuscules) :
• TAAL (1) · TA·len (2) · ver·TA·len (3) · ver·TA·ling (3) · ver·TA·lin·gen (4)
• NAAM (1) · NA·men (2) · VOOR·naam (2) · ACH·ter·naam (3) · ACH·ter·na·men (4)
• WERK (1) · WER·ken (2) · ge·WERKT (2) · ME·de·wer·ker (4) · ME·de·wer·kers (4)
• HUIS (1) · HUI·zen (2) · HUIS·je (2) · ZIE·ken·huis (3) · ZIE·ken·hui·zen (4)
Observation : l'accent ne bouge pas quand on ajoute un préfixe ou une finale (ta·len → ver·ta·len → ver·ta·lin·gen). Dans un mot composé, il passe sur le premier mot (zie·ken·huis). taal → talen : la porte s'ouvre, une seule voyelle suffit (M1).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Lire sans hésiter des mots longs du quotidien et du travail.
Corrigé : moei·lijk (2) · mak·ke·lijk (3) · ge·zond·heid (3) · na·tuur·lijk (3) · for·mu·lier (3) · woor·den·schat (3) · in·lich·tin·gen (4) · na·tio·na·li·teit (5) · ar·beids·on·ge·schikt·heids·ver·ze·ke·ring (10). Pièges : -lijk = « leuk », -heid garde son ei, -tio- se prononce « tsio » ou « sio ». Sens : difficile · facile · santé · naturellement · formulaire · vocabulaire · renseignements · nationalité · assurance invalidité (le mot-boss est célèbre pour sa longueur). En Belgique, on dit souvent ge·mak·ke·lijk (4 syllabes) : acceptez-le.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Entendre que l'accent de phrase change le sens ; reconnaître les mots qui « fondent » à l'oral.
Corrigé : IK woon… → ② · Ik WOON… → ③ · …in BRUSsel → ① · 1-C · 2-A · 3-D · 4-B. Lisez d'abord les formes écrites lentement, puis les formes rapides dans le désordre. Les formes réduites ('k, 't, 'n, da's) sont à reconnaître : on ne les écrit pas dans un e-mail professionnel. 'n et een non accentué se prononcent « eun » ; één accentué (= un seul) garde son « é 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Enchaîner tous les sons du parcours avec rythme, grâce aux virelangues.
Sens : 1 Le chat gratte les boucles de l'escalier. 2 Liesje apprenait à Lotje à marcher le long de la longue allée des Tilleuls. 3 Je m'appelle Hans et j'aime manger du hareng. 4 Huit oies grises sont allées hier, toutes contentes, à Gand. 5 Le cocher astique la diligence avec du produit à diligence. 6 Quand des mouches volent derrière des mouches, des mouches poursuivent des mouches (vliegen = les mouches et voler). Les virelangues 1, 2, 5 et 6 sont des classiques ; 3 et 4 ont été créés pour ce parcours. Lisez d'abord lentement, syllabe par syllabe.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Réviser tout le parcours dans un jeu final en équipes.
Corrigé : ① court – long – court – long · ② « eu » bref – « u » – « œil » · ③ dictez par exemple klein (ei) et wijn (ij) · ④ h soufflé · ⑤ sche·ve·nin·gen : s + ch raclé, e long, deux e muets · ⑥ « mèï-cheu » · « o-ra-gneu » · « tchè-ghi-yeu » · ⑦ ver·ga·de·ring (4) · ⑧ ver·jaar·dags·feest (4) · ⑨ Hoe gaat 't? Scheveningen (station balnéaire près de La Haye) est un célèbre mot-test de la Seconde Guerre mondiale : il aurait servi à démasquer les espions allemands. Félicitez chaque tentative 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Donner les réponses de la séance 1, à projeter ou à distribuer.
À projeter en fin de séance ou à imprimer. Faites relire chaque panier à voix haute.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Donner les réponses de la séance 2.
Le détail des sons de chaque phrase est donné dans les notes de la diapo 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Donner les réponses de la séance 3.
Les repères entre guillemets sont des approximations : faites toujours entendre le mot.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Donner les réponses de la séance 4.
Faites relire chaque mot en tapant du pied sur la syllabe accentuée.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Donner les réponses de la séance 5 et clore le parcours.
Pour aller plus loin : reprenez une liste des Uitspraakoefeningen 5 et 6 à chaque début de cours (5 mots, 2 minutes), en appliquant les 4 gestes de la séance 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1_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Néerlandais 1 · UE1 · Uitspraak! · 5 séances de prononciation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1_DARK">
    <p:bg>
      <p:bgPr>
        <a:solidFill>
          <a:srgbClr val="1737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Néerlandais 1 · UE1 · Uitspraak! · 5 séances de prononciation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EEF3F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1_COVER">
    <p:bg>
      <p:bgPr>
        <a:solidFill>
          <a:srgbClr val="1737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263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Néerlandais 1 · UE1 · Langue en situation, en milieu professionnel · A. Jouniaux · IRAM</a:t>
            </a:r>
            <a:endParaRPr lang="en-US" sz="12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1737360"/>
            <a:ext cx="566928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2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48640" y="3749040"/>
            <a:ext cx="56692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image" Target="../media/image-14-7.png"/><Relationship Id="rId8" Type="http://schemas.openxmlformats.org/officeDocument/2006/relationships/image" Target="../media/image-14-8.png"/><Relationship Id="rId9" Type="http://schemas.openxmlformats.org/officeDocument/2006/relationships/image" Target="../media/image-14-9.png"/><Relationship Id="rId10" Type="http://schemas.openxmlformats.org/officeDocument/2006/relationships/image" Target="../media/image-14-10.png"/><Relationship Id="rId11" Type="http://schemas.openxmlformats.org/officeDocument/2006/relationships/image" Target="../media/image-14-11.png"/><Relationship Id="rId12" Type="http://schemas.openxmlformats.org/officeDocument/2006/relationships/slideLayout" Target="../slideLayouts/slideLayout2.xml"/><Relationship Id="rId1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/>
          <p:nvPr/>
        </p:nvSpPr>
        <p:spPr>
          <a:xfrm>
            <a:off x="548640" y="640080"/>
            <a:ext cx="3622548" cy="384048"/>
          </a:xfrm>
          <a:prstGeom prst="roundRect">
            <a:avLst>
              <a:gd name="adj" fmla="val 11905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</a:rPr>
              <a:t>PRONONCIATION · 5 SÉANCES</a:t>
            </a:r>
            <a:endParaRPr lang="en-US" sz="14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1737360"/>
            <a:ext cx="5669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200" b="1" dirty="0">
                <a:solidFill>
                  <a:schemeClr val="bg1"/>
                </a:solidFill>
              </a:rPr>
              <a:t>Uitspraak!</a:t>
            </a:r>
            <a:endParaRPr lang="en-US" sz="42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48640" y="3749040"/>
            <a:ext cx="5669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2000" i="1" dirty="0">
                <a:solidFill>
                  <a:schemeClr val="bg2"/>
                </a:solidFill>
              </a:rPr>
              <a:t>La prononciation en 5 séances d’entraînement</a:t>
            </a:r>
            <a:endParaRPr lang="en-US" sz="2000" dirty="0"/>
          </a:p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man · maan · kijk · goed · gezellig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 flipV="1">
            <a:off x="7360920" y="4023360"/>
            <a:ext cx="914400" cy="731520"/>
          </a:xfrm>
          <a:prstGeom prst="line">
            <a:avLst/>
          </a:prstGeom>
          <a:noFill/>
          <a:ln w="25400">
            <a:solidFill>
              <a:srgbClr val="FFFFFF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 flipV="1">
            <a:off x="8275320" y="3291840"/>
            <a:ext cx="914400" cy="731520"/>
          </a:xfrm>
          <a:prstGeom prst="line">
            <a:avLst/>
          </a:prstGeom>
          <a:noFill/>
          <a:ln w="25400">
            <a:solidFill>
              <a:srgbClr val="FFFFFF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 flipV="1">
            <a:off x="9189720" y="2560320"/>
            <a:ext cx="914400" cy="731520"/>
          </a:xfrm>
          <a:prstGeom prst="line">
            <a:avLst/>
          </a:prstGeom>
          <a:noFill/>
          <a:ln w="25400">
            <a:solidFill>
              <a:srgbClr val="FFFFFF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 flipV="1">
            <a:off x="10104120" y="1828800"/>
            <a:ext cx="914400" cy="731520"/>
          </a:xfrm>
          <a:prstGeom prst="line">
            <a:avLst/>
          </a:prstGeom>
          <a:noFill/>
          <a:ln w="25400">
            <a:solidFill>
              <a:srgbClr val="FFFFFF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6949440" y="4343400"/>
            <a:ext cx="822960" cy="822960"/>
          </a:xfrm>
          <a:prstGeom prst="ellipse">
            <a:avLst/>
          </a:prstGeom>
          <a:solidFill>
            <a:schemeClr val="accent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949440" y="43434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7845552" y="457200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Long ou court ?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863840" y="3611880"/>
            <a:ext cx="822960" cy="822960"/>
          </a:xfrm>
          <a:prstGeom prst="ellipse">
            <a:avLst/>
          </a:prstGeom>
          <a:solidFill>
            <a:schemeClr val="accent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863840" y="36118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6446520" y="3657600"/>
            <a:ext cx="13441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Les sons doubles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778240" y="2880360"/>
            <a:ext cx="822960" cy="82296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778240" y="28803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3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7360920" y="2926080"/>
            <a:ext cx="13441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Les consonnes-pièges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692640" y="2148840"/>
            <a:ext cx="822960" cy="822960"/>
          </a:xfrm>
          <a:prstGeom prst="ellipse">
            <a:avLst/>
          </a:prstGeom>
          <a:solidFill>
            <a:schemeClr val="accent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692640" y="21488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4</a:t>
            </a:r>
            <a:endParaRPr lang="en-US" sz="2600" dirty="0"/>
          </a:p>
        </p:txBody>
      </p:sp>
      <p:sp>
        <p:nvSpPr>
          <p:cNvPr id="20" name="Text 18"/>
          <p:cNvSpPr txBox="1"/>
          <p:nvPr/>
        </p:nvSpPr>
        <p:spPr>
          <a:xfrm>
            <a:off x="8275320" y="2194560"/>
            <a:ext cx="13441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Mots courts, mots longs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0607040" y="1417320"/>
            <a:ext cx="822960" cy="822960"/>
          </a:xfrm>
          <a:prstGeom prst="ellipse">
            <a:avLst/>
          </a:prstGeom>
          <a:solidFill>
            <a:srgbClr val="6E4A9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0607040" y="14173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5</a:t>
            </a:r>
            <a:endParaRPr lang="en-US" sz="2600" dirty="0"/>
          </a:p>
        </p:txBody>
      </p:sp>
      <p:sp>
        <p:nvSpPr>
          <p:cNvPr id="23" name="Text 21"/>
          <p:cNvSpPr txBox="1"/>
          <p:nvPr/>
        </p:nvSpPr>
        <p:spPr>
          <a:xfrm>
            <a:off x="9189720" y="1463040"/>
            <a:ext cx="13441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La phrase qui chante</a:t>
            </a:r>
            <a:endParaRPr lang="en-US" sz="1100" dirty="0"/>
          </a:p>
        </p:txBody>
      </p:sp>
      <p:pic>
        <p:nvPicPr>
          <p:cNvPr id="24" name="Image 0" descr="ea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0" y="5257800"/>
            <a:ext cx="548640" cy="548640"/>
          </a:xfrm>
          <a:prstGeom prst="rect">
            <a:avLst/>
          </a:prstGeom>
        </p:spPr>
      </p:pic>
      <p:sp>
        <p:nvSpPr>
          <p:cNvPr id="25" name="Text 22"/>
          <p:cNvSpPr txBox="1"/>
          <p:nvPr/>
        </p:nvSpPr>
        <p:spPr>
          <a:xfrm>
            <a:off x="7680960" y="525780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chemeClr val="bg2"/>
                </a:solidFill>
              </a:rPr>
              <a:t>klank</a:t>
            </a:r>
            <a:endParaRPr lang="en-US" sz="1600" dirty="0"/>
          </a:p>
        </p:txBody>
      </p:sp>
      <p:pic>
        <p:nvPicPr>
          <p:cNvPr id="26" name="Image 1" descr="speaking hea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5640" y="411480"/>
            <a:ext cx="777240" cy="777240"/>
          </a:xfrm>
          <a:prstGeom prst="rect">
            <a:avLst/>
          </a:prstGeom>
        </p:spPr>
      </p:pic>
      <p:sp>
        <p:nvSpPr>
          <p:cNvPr id="27" name="Text 23"/>
          <p:cNvSpPr txBox="1"/>
          <p:nvPr/>
        </p:nvSpPr>
        <p:spPr>
          <a:xfrm>
            <a:off x="10104120" y="502920"/>
            <a:ext cx="68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i="1" dirty="0">
                <a:solidFill>
                  <a:schemeClr val="bg2"/>
                </a:solidFill>
              </a:rPr>
              <a:t>zin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Le parcours — du son à la phrase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013155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MISSIE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1584655" y="1965960"/>
            <a:ext cx="9019642" cy="914"/>
          </a:xfrm>
          <a:prstGeom prst="line">
            <a:avLst/>
          </a:prstGeom>
          <a:noFill/>
          <a:ln w="38100">
            <a:solidFill>
              <a:srgbClr val="D5DCE6"/>
            </a:solidFill>
            <a:prstDash val="dash"/>
          </a:ln>
        </p:spPr>
      </p:sp>
      <p:sp>
        <p:nvSpPr>
          <p:cNvPr id="6" name="Shape 3"/>
          <p:cNvSpPr/>
          <p:nvPr/>
        </p:nvSpPr>
        <p:spPr>
          <a:xfrm>
            <a:off x="548640" y="1965960"/>
            <a:ext cx="2072030" cy="2331720"/>
          </a:xfrm>
          <a:prstGeom prst="roundRect">
            <a:avLst>
              <a:gd name="adj" fmla="val 4413"/>
            </a:avLst>
          </a:prstGeom>
          <a:solidFill>
            <a:schemeClr val="bg2"/>
          </a:solidFill>
          <a:ln w="22225">
            <a:solidFill>
              <a:srgbClr val="2A6FB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218895" y="1600200"/>
            <a:ext cx="731520" cy="731520"/>
          </a:xfrm>
          <a:prstGeom prst="ellipse">
            <a:avLst/>
          </a:prstGeom>
          <a:solidFill>
            <a:schemeClr val="accent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1218895" y="16002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2423160"/>
            <a:ext cx="185257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Long ou court ?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3108960"/>
            <a:ext cx="185257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chemeClr val="tx1"/>
                </a:solidFill>
              </a:rPr>
              <a:t>man / maan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658368" y="3611880"/>
            <a:ext cx="185257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voyelles courtes et longues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2803550" y="1965960"/>
            <a:ext cx="2072030" cy="2331720"/>
          </a:xfrm>
          <a:prstGeom prst="roundRect">
            <a:avLst>
              <a:gd name="adj" fmla="val 4413"/>
            </a:avLst>
          </a:prstGeom>
          <a:solidFill>
            <a:schemeClr val="bg2"/>
          </a:solidFill>
          <a:ln w="22225">
            <a:solidFill>
              <a:srgbClr val="B4236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473806" y="1600200"/>
            <a:ext cx="731520" cy="731520"/>
          </a:xfrm>
          <a:prstGeom prst="ellipse">
            <a:avLst/>
          </a:prstGeom>
          <a:solidFill>
            <a:schemeClr val="accent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473806" y="16002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</a:t>
            </a:r>
            <a:endParaRPr lang="en-US" sz="2400" dirty="0"/>
          </a:p>
        </p:txBody>
      </p:sp>
      <p:sp>
        <p:nvSpPr>
          <p:cNvPr id="15" name="Text 12"/>
          <p:cNvSpPr txBox="1"/>
          <p:nvPr/>
        </p:nvSpPr>
        <p:spPr>
          <a:xfrm>
            <a:off x="2913278" y="2423160"/>
            <a:ext cx="185257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accent4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Les sons doubles</a:t>
            </a:r>
            <a:endParaRPr lang="en-US" sz="1700" dirty="0"/>
          </a:p>
        </p:txBody>
      </p:sp>
      <p:sp>
        <p:nvSpPr>
          <p:cNvPr id="16" name="Text 13"/>
          <p:cNvSpPr txBox="1"/>
          <p:nvPr/>
        </p:nvSpPr>
        <p:spPr>
          <a:xfrm>
            <a:off x="2913278" y="3108960"/>
            <a:ext cx="185257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chemeClr val="tx1"/>
                </a:solidFill>
              </a:rPr>
              <a:t>huis · tijd · boek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2913278" y="3611880"/>
            <a:ext cx="185257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ij, ui, ou, eu, oe, ie…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5058461" y="1965960"/>
            <a:ext cx="2072030" cy="2331720"/>
          </a:xfrm>
          <a:prstGeom prst="roundRect">
            <a:avLst>
              <a:gd name="adj" fmla="val 4413"/>
            </a:avLst>
          </a:prstGeom>
          <a:solidFill>
            <a:schemeClr val="bg2"/>
          </a:solidFill>
          <a:ln w="22225">
            <a:solidFill>
              <a:srgbClr val="D9700F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728716" y="160020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728716" y="16002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3</a:t>
            </a:r>
            <a:endParaRPr lang="en-US" sz="2400" dirty="0"/>
          </a:p>
        </p:txBody>
      </p:sp>
      <p:sp>
        <p:nvSpPr>
          <p:cNvPr id="21" name="Text 18"/>
          <p:cNvSpPr txBox="1"/>
          <p:nvPr/>
        </p:nvSpPr>
        <p:spPr>
          <a:xfrm>
            <a:off x="5168189" y="2423160"/>
            <a:ext cx="185257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Les consonnes-pièges</a:t>
            </a:r>
            <a:endParaRPr lang="en-US" sz="1700" dirty="0"/>
          </a:p>
        </p:txBody>
      </p:sp>
      <p:sp>
        <p:nvSpPr>
          <p:cNvPr id="22" name="Text 19"/>
          <p:cNvSpPr txBox="1"/>
          <p:nvPr/>
        </p:nvSpPr>
        <p:spPr>
          <a:xfrm>
            <a:off x="5168189" y="3108960"/>
            <a:ext cx="185257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chemeClr val="tx1"/>
                </a:solidFill>
              </a:rPr>
              <a:t>goed · hoor · meisje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168189" y="3611880"/>
            <a:ext cx="185257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g, h, j, ng, sj, d final…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7313371" y="1965960"/>
            <a:ext cx="2072030" cy="2331720"/>
          </a:xfrm>
          <a:prstGeom prst="roundRect">
            <a:avLst>
              <a:gd name="adj" fmla="val 4413"/>
            </a:avLst>
          </a:prstGeom>
          <a:solidFill>
            <a:schemeClr val="bg2"/>
          </a:solidFill>
          <a:ln w="22225">
            <a:solidFill>
              <a:srgbClr val="2E7D4F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7983626" y="1600200"/>
            <a:ext cx="731520" cy="731520"/>
          </a:xfrm>
          <a:prstGeom prst="ellipse">
            <a:avLst/>
          </a:prstGeom>
          <a:solidFill>
            <a:schemeClr val="accent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7983626" y="16002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4</a:t>
            </a:r>
            <a:endParaRPr lang="en-US" sz="2400" dirty="0"/>
          </a:p>
        </p:txBody>
      </p:sp>
      <p:sp>
        <p:nvSpPr>
          <p:cNvPr id="27" name="Text 24"/>
          <p:cNvSpPr txBox="1"/>
          <p:nvPr/>
        </p:nvSpPr>
        <p:spPr>
          <a:xfrm>
            <a:off x="7423099" y="2423160"/>
            <a:ext cx="185257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Mots courts, mots longs</a:t>
            </a:r>
            <a:endParaRPr lang="en-US" sz="1700" dirty="0"/>
          </a:p>
        </p:txBody>
      </p:sp>
      <p:sp>
        <p:nvSpPr>
          <p:cNvPr id="28" name="Text 25"/>
          <p:cNvSpPr txBox="1"/>
          <p:nvPr/>
        </p:nvSpPr>
        <p:spPr>
          <a:xfrm>
            <a:off x="7423099" y="3108960"/>
            <a:ext cx="185257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chemeClr val="tx1"/>
                </a:solidFill>
              </a:rPr>
              <a:t>kaas → vergadering</a:t>
            </a:r>
            <a:endParaRPr lang="en-US" sz="1600" dirty="0"/>
          </a:p>
        </p:txBody>
      </p:sp>
      <p:sp>
        <p:nvSpPr>
          <p:cNvPr id="29" name="Text 26"/>
          <p:cNvSpPr txBox="1"/>
          <p:nvPr/>
        </p:nvSpPr>
        <p:spPr>
          <a:xfrm>
            <a:off x="7423099" y="3611880"/>
            <a:ext cx="185257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couper, porte, accent, e muet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9568282" y="1965960"/>
            <a:ext cx="2072030" cy="2331720"/>
          </a:xfrm>
          <a:prstGeom prst="roundRect">
            <a:avLst>
              <a:gd name="adj" fmla="val 4413"/>
            </a:avLst>
          </a:prstGeom>
          <a:solidFill>
            <a:schemeClr val="bg2"/>
          </a:solidFill>
          <a:ln w="22225">
            <a:solidFill>
              <a:srgbClr val="6E4A9E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10238537" y="1600200"/>
            <a:ext cx="731520" cy="731520"/>
          </a:xfrm>
          <a:prstGeom prst="ellipse">
            <a:avLst/>
          </a:prstGeom>
          <a:solidFill>
            <a:srgbClr val="6E4A9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10238537" y="16002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5</a:t>
            </a:r>
            <a:endParaRPr lang="en-US" sz="2400" dirty="0"/>
          </a:p>
        </p:txBody>
      </p:sp>
      <p:sp>
        <p:nvSpPr>
          <p:cNvPr id="33" name="Text 30"/>
          <p:cNvSpPr txBox="1"/>
          <p:nvPr/>
        </p:nvSpPr>
        <p:spPr>
          <a:xfrm>
            <a:off x="9678010" y="2423160"/>
            <a:ext cx="185257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6E4A9E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La phrase qui chante</a:t>
            </a:r>
            <a:endParaRPr lang="en-US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9678010" y="3108960"/>
            <a:ext cx="185257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chemeClr val="tx1"/>
                </a:solidFill>
              </a:rPr>
              <a:t>Hoe gaat ’t?</a:t>
            </a:r>
            <a:endParaRPr lang="en-US" sz="1600" dirty="0"/>
          </a:p>
        </p:txBody>
      </p:sp>
      <p:sp>
        <p:nvSpPr>
          <p:cNvPr id="35" name="Text 32"/>
          <p:cNvSpPr txBox="1"/>
          <p:nvPr/>
        </p:nvSpPr>
        <p:spPr>
          <a:xfrm>
            <a:off x="9678010" y="3611880"/>
            <a:ext cx="185257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rythme, accent, mots qui fondent</a:t>
            </a:r>
            <a:endParaRPr lang="en-US" sz="1300" dirty="0"/>
          </a:p>
        </p:txBody>
      </p:sp>
      <p:sp>
        <p:nvSpPr>
          <p:cNvPr id="36" name="Text 33"/>
          <p:cNvSpPr txBox="1"/>
          <p:nvPr/>
        </p:nvSpPr>
        <p:spPr>
          <a:xfrm>
            <a:off x="548640" y="452628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chemeClr val="accent5"/>
                </a:solidFill>
              </a:rPr>
              <a:t>CHAQUE SÉANCE = 3 TEMPS</a:t>
            </a:r>
            <a:endParaRPr lang="en-US" sz="1200" dirty="0"/>
          </a:p>
        </p:txBody>
      </p:sp>
      <p:sp>
        <p:nvSpPr>
          <p:cNvPr id="37" name="Shape 34"/>
          <p:cNvSpPr/>
          <p:nvPr/>
        </p:nvSpPr>
        <p:spPr>
          <a:xfrm>
            <a:off x="548640" y="4892040"/>
            <a:ext cx="2377440" cy="91440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</p:spPr>
      </p:sp>
      <p:pic>
        <p:nvPicPr>
          <p:cNvPr id="38" name="Image 0" descr="ea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5029200"/>
            <a:ext cx="640080" cy="640080"/>
          </a:xfrm>
          <a:prstGeom prst="rect">
            <a:avLst/>
          </a:prstGeom>
        </p:spPr>
      </p:pic>
      <p:sp>
        <p:nvSpPr>
          <p:cNvPr id="39" name="Text 35"/>
          <p:cNvSpPr txBox="1"/>
          <p:nvPr/>
        </p:nvSpPr>
        <p:spPr>
          <a:xfrm>
            <a:off x="1371600" y="4892040"/>
            <a:ext cx="1508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1 · Écouter</a:t>
            </a:r>
            <a:endParaRPr lang="en-US" sz="13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je distingue les sons</a:t>
            </a:r>
            <a:endParaRPr lang="en-US" sz="1300" dirty="0"/>
          </a:p>
        </p:txBody>
      </p:sp>
      <p:sp>
        <p:nvSpPr>
          <p:cNvPr id="40" name="Shape 36"/>
          <p:cNvSpPr/>
          <p:nvPr/>
        </p:nvSpPr>
        <p:spPr>
          <a:xfrm>
            <a:off x="3063240" y="4892040"/>
            <a:ext cx="2377440" cy="91440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</p:spPr>
      </p:sp>
      <p:pic>
        <p:nvPicPr>
          <p:cNvPr id="41" name="Image 1" descr="speaking hea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2968" y="5029200"/>
            <a:ext cx="640080" cy="640080"/>
          </a:xfrm>
          <a:prstGeom prst="rect">
            <a:avLst/>
          </a:prstGeom>
        </p:spPr>
      </p:pic>
      <p:sp>
        <p:nvSpPr>
          <p:cNvPr id="42" name="Text 37"/>
          <p:cNvSpPr txBox="1"/>
          <p:nvPr/>
        </p:nvSpPr>
        <p:spPr>
          <a:xfrm>
            <a:off x="3886200" y="4892040"/>
            <a:ext cx="1508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2 · S’entraîner</a:t>
            </a:r>
            <a:endParaRPr lang="en-US" sz="13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je classe, je lis, je répète</a:t>
            </a:r>
            <a:endParaRPr lang="en-US" sz="1300" dirty="0"/>
          </a:p>
        </p:txBody>
      </p:sp>
      <p:sp>
        <p:nvSpPr>
          <p:cNvPr id="43" name="Shape 38"/>
          <p:cNvSpPr/>
          <p:nvPr/>
        </p:nvSpPr>
        <p:spPr>
          <a:xfrm>
            <a:off x="5577840" y="4892040"/>
            <a:ext cx="2377440" cy="91440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</p:spPr>
      </p:sp>
      <p:pic>
        <p:nvPicPr>
          <p:cNvPr id="44" name="Image 2" descr="game di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7568" y="5029200"/>
            <a:ext cx="640080" cy="640080"/>
          </a:xfrm>
          <a:prstGeom prst="rect">
            <a:avLst/>
          </a:prstGeom>
        </p:spPr>
      </p:pic>
      <p:sp>
        <p:nvSpPr>
          <p:cNvPr id="45" name="Text 39"/>
          <p:cNvSpPr txBox="1"/>
          <p:nvPr/>
        </p:nvSpPr>
        <p:spPr>
          <a:xfrm>
            <a:off x="6400800" y="4892040"/>
            <a:ext cx="1508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3 · Jouer</a:t>
            </a:r>
            <a:endParaRPr lang="en-US" sz="13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je relève un défi en équipe</a:t>
            </a:r>
            <a:endParaRPr lang="en-US" sz="1300" dirty="0"/>
          </a:p>
        </p:txBody>
      </p:sp>
      <p:sp>
        <p:nvSpPr>
          <p:cNvPr id="46" name="Shape 40"/>
          <p:cNvSpPr/>
          <p:nvPr/>
        </p:nvSpPr>
        <p:spPr>
          <a:xfrm>
            <a:off x="8183880" y="4526280"/>
            <a:ext cx="3456432" cy="1280160"/>
          </a:xfrm>
          <a:prstGeom prst="roundRect">
            <a:avLst>
              <a:gd name="adj" fmla="val 7143"/>
            </a:avLst>
          </a:prstGeom>
          <a:solidFill>
            <a:srgbClr val="FDF1E6"/>
          </a:solidFill>
          <a:ln w="15875">
            <a:solidFill>
              <a:srgbClr val="D9700F"/>
            </a:solidFill>
            <a:prstDash val="solid"/>
          </a:ln>
        </p:spPr>
      </p:sp>
      <p:sp>
        <p:nvSpPr>
          <p:cNvPr id="47" name="Text 41"/>
          <p:cNvSpPr txBox="1"/>
          <p:nvPr/>
        </p:nvSpPr>
        <p:spPr>
          <a:xfrm>
            <a:off x="8321040" y="45720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Matériel</a:t>
            </a:r>
            <a:endParaRPr lang="en-US" sz="1400" dirty="0"/>
          </a:p>
        </p:txBody>
      </p:sp>
      <p:sp>
        <p:nvSpPr>
          <p:cNvPr id="48" name="Shape 42"/>
          <p:cNvSpPr/>
          <p:nvPr/>
        </p:nvSpPr>
        <p:spPr>
          <a:xfrm>
            <a:off x="8366760" y="5029200"/>
            <a:ext cx="274320" cy="365760"/>
          </a:xfrm>
          <a:prstGeom prst="rect">
            <a:avLst/>
          </a:prstGeom>
          <a:solidFill>
            <a:schemeClr val="accent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9" name="Shape 43"/>
          <p:cNvSpPr/>
          <p:nvPr/>
        </p:nvSpPr>
        <p:spPr>
          <a:xfrm>
            <a:off x="8641080" y="5029200"/>
            <a:ext cx="274320" cy="365760"/>
          </a:xfrm>
          <a:prstGeom prst="rect">
            <a:avLst/>
          </a:prstGeom>
          <a:solidFill>
            <a:schemeClr val="accent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0" name="Text 44"/>
          <p:cNvSpPr txBox="1"/>
          <p:nvPr/>
        </p:nvSpPr>
        <p:spPr>
          <a:xfrm>
            <a:off x="9006840" y="498348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carton framboise / vert (M1)</a:t>
            </a:r>
            <a:endParaRPr lang="en-US" sz="1300" dirty="0"/>
          </a:p>
        </p:txBody>
      </p:sp>
      <p:pic>
        <p:nvPicPr>
          <p:cNvPr id="51" name="Image 3" descr="game di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6760" y="5413248"/>
            <a:ext cx="329184" cy="329184"/>
          </a:xfrm>
          <a:prstGeom prst="rect">
            <a:avLst/>
          </a:prstGeom>
        </p:spPr>
      </p:pic>
      <p:pic>
        <p:nvPicPr>
          <p:cNvPr id="52" name="Image 4" descr="stopwatch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32520" y="5413248"/>
            <a:ext cx="329184" cy="329184"/>
          </a:xfrm>
          <a:prstGeom prst="rect">
            <a:avLst/>
          </a:prstGeom>
        </p:spPr>
      </p:pic>
      <p:sp>
        <p:nvSpPr>
          <p:cNvPr id="53" name="Text 45"/>
          <p:cNvSpPr txBox="1"/>
          <p:nvPr/>
        </p:nvSpPr>
        <p:spPr>
          <a:xfrm>
            <a:off x="9125712" y="537667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un dé · un chronomètre</a:t>
            </a:r>
            <a:endParaRPr lang="en-US" sz="1300" dirty="0"/>
          </a:p>
        </p:txBody>
      </p:sp>
      <p:sp>
        <p:nvSpPr>
          <p:cNvPr id="54" name="Text 46"/>
          <p:cNvSpPr txBox="1"/>
          <p:nvPr/>
        </p:nvSpPr>
        <p:spPr>
          <a:xfrm>
            <a:off x="548640" y="589788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i="1" dirty="0">
                <a:solidFill>
                  <a:schemeClr val="accent5"/>
                </a:solidFill>
              </a:rPr>
              <a:t>Le but : être compris et ne pas confondre les sons — pas l’accent parfait !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Oreille d’or : court ou long ?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2633472" cy="310896"/>
          </a:xfrm>
          <a:prstGeom prst="roundRect">
            <a:avLst>
              <a:gd name="adj" fmla="val 14706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SÉANCE 1 · ① ÉCOUTER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9747504" y="393192"/>
            <a:ext cx="1682496" cy="914"/>
          </a:xfrm>
          <a:prstGeom prst="line">
            <a:avLst/>
          </a:prstGeom>
          <a:noFill/>
          <a:ln w="25400">
            <a:solidFill>
              <a:srgbClr val="D5DCE6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9582912" y="228600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582912" y="2286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10003536" y="228600"/>
            <a:ext cx="329184" cy="32918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4236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0003536" y="2286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2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10424160" y="228600"/>
            <a:ext cx="329184" cy="32918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9700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0424160" y="2286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3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10844784" y="228600"/>
            <a:ext cx="329184" cy="32918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E7D4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0844784" y="2286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4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11265408" y="228600"/>
            <a:ext cx="329184" cy="32918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E4A9E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11265408" y="2286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E4A9E"/>
                </a:solidFill>
              </a:rPr>
              <a:t>5</a:t>
            </a:r>
            <a:endParaRPr lang="en-US" sz="1200" dirty="0"/>
          </a:p>
        </p:txBody>
      </p:sp>
      <p:pic>
        <p:nvPicPr>
          <p:cNvPr id="16" name="Image 0" descr="HandPointRigh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17904"/>
            <a:ext cx="274320" cy="27432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960120" y="1481328"/>
            <a:ext cx="10680192" cy="31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accent5"/>
                </a:solidFill>
              </a:rPr>
              <a:t>L’enseignant·e lit un mot par paire : carton </a:t>
            </a:r>
            <a:r>
              <a:rPr lang="en-US" sz="1700" b="1" i="1" dirty="0">
                <a:solidFill>
                  <a:schemeClr val="accent5"/>
                </a:solidFill>
              </a:rPr>
              <a:t>framboise</a:t>
            </a:r>
            <a:r>
              <a:rPr lang="en-US" sz="1700" i="1" dirty="0">
                <a:solidFill>
                  <a:schemeClr val="accent5"/>
                </a:solidFill>
              </a:rPr>
              <a:t> = court, </a:t>
            </a:r>
            <a:r>
              <a:rPr lang="en-US" sz="1700" b="1" i="1" dirty="0">
                <a:solidFill>
                  <a:schemeClr val="accent5"/>
                </a:solidFill>
              </a:rPr>
              <a:t>vert</a:t>
            </a:r>
            <a:r>
              <a:rPr lang="en-US" sz="1700" i="1" dirty="0">
                <a:solidFill>
                  <a:schemeClr val="accent5"/>
                </a:solidFill>
              </a:rPr>
              <a:t> = long. Puis, à deux !</a:t>
            </a:r>
            <a:endParaRPr lang="en-US" sz="1700" dirty="0"/>
          </a:p>
        </p:txBody>
      </p:sp>
      <p:sp>
        <p:nvSpPr>
          <p:cNvPr id="18" name="Shape 14"/>
          <p:cNvSpPr/>
          <p:nvPr/>
        </p:nvSpPr>
        <p:spPr>
          <a:xfrm>
            <a:off x="548640" y="1959864"/>
            <a:ext cx="2743200" cy="1600200"/>
          </a:xfrm>
          <a:prstGeom prst="roundRect">
            <a:avLst>
              <a:gd name="adj" fmla="val 5714"/>
            </a:avLst>
          </a:prstGeom>
          <a:solidFill>
            <a:schemeClr val="accent4">
              <a:alpha val="10000"/>
            </a:schemeClr>
          </a:solidFill>
          <a:ln w="19050">
            <a:solidFill>
              <a:srgbClr val="B4236A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685800" y="2005584"/>
            <a:ext cx="24688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4"/>
                </a:solidFill>
              </a:rPr>
              <a:t>COURT</a:t>
            </a:r>
            <a:endParaRPr lang="en-US" sz="16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porte fermée</a:t>
            </a:r>
            <a:endParaRPr lang="en-US" sz="16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600" i="1" dirty="0">
                <a:solidFill>
                  <a:schemeClr val="tx1"/>
                </a:solidFill>
              </a:rPr>
              <a:t>kat · man · bos</a:t>
            </a:r>
            <a:endParaRPr lang="en-US" sz="1600" dirty="0"/>
          </a:p>
        </p:txBody>
      </p:sp>
      <p:sp>
        <p:nvSpPr>
          <p:cNvPr id="20" name="Shape 16"/>
          <p:cNvSpPr/>
          <p:nvPr/>
        </p:nvSpPr>
        <p:spPr>
          <a:xfrm>
            <a:off x="548640" y="3697224"/>
            <a:ext cx="2743200" cy="1600200"/>
          </a:xfrm>
          <a:prstGeom prst="roundRect">
            <a:avLst>
              <a:gd name="adj" fmla="val 5714"/>
            </a:avLst>
          </a:prstGeom>
          <a:solidFill>
            <a:schemeClr val="accent3">
              <a:alpha val="10000"/>
            </a:schemeClr>
          </a:solidFill>
          <a:ln w="19050">
            <a:solidFill>
              <a:srgbClr val="2E7D4F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685800" y="3742944"/>
            <a:ext cx="24688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3"/>
                </a:solidFill>
              </a:rPr>
              <a:t>LONG</a:t>
            </a:r>
            <a:endParaRPr lang="en-US" sz="16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porte ouverte ou voyelle doublée</a:t>
            </a:r>
            <a:endParaRPr lang="en-US" sz="16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600" i="1" dirty="0">
                <a:solidFill>
                  <a:schemeClr val="tx1"/>
                </a:solidFill>
              </a:rPr>
              <a:t>ma·ken · maan · boos</a:t>
            </a:r>
            <a:endParaRPr lang="en-US" sz="1600" dirty="0"/>
          </a:p>
        </p:txBody>
      </p:sp>
      <p:sp>
        <p:nvSpPr>
          <p:cNvPr id="22" name="Shape 18"/>
          <p:cNvSpPr/>
          <p:nvPr/>
        </p:nvSpPr>
        <p:spPr>
          <a:xfrm>
            <a:off x="3520440" y="2005584"/>
            <a:ext cx="512064" cy="512064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3520440" y="200558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a</a:t>
            </a:r>
            <a:endParaRPr lang="en-US" sz="2000" dirty="0"/>
          </a:p>
        </p:txBody>
      </p:sp>
      <p:sp>
        <p:nvSpPr>
          <p:cNvPr id="24" name="Shape 20"/>
          <p:cNvSpPr/>
          <p:nvPr/>
        </p:nvSpPr>
        <p:spPr>
          <a:xfrm>
            <a:off x="4114800" y="1959864"/>
            <a:ext cx="1147572" cy="603504"/>
          </a:xfrm>
          <a:prstGeom prst="roundRect">
            <a:avLst>
              <a:gd name="adj" fmla="val 18182"/>
            </a:avLst>
          </a:prstGeom>
          <a:solidFill>
            <a:schemeClr val="accent4">
              <a:alpha val="14000"/>
            </a:schemeClr>
          </a:solidFill>
          <a:ln w="19050">
            <a:solidFill>
              <a:srgbClr val="B4236A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4114800" y="1959864"/>
            <a:ext cx="11475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man</a:t>
            </a:r>
            <a:endParaRPr lang="en-US" sz="2000" dirty="0"/>
          </a:p>
        </p:txBody>
      </p:sp>
      <p:sp>
        <p:nvSpPr>
          <p:cNvPr id="26" name="Shape 22"/>
          <p:cNvSpPr/>
          <p:nvPr/>
        </p:nvSpPr>
        <p:spPr>
          <a:xfrm>
            <a:off x="5353812" y="1959864"/>
            <a:ext cx="1147572" cy="603504"/>
          </a:xfrm>
          <a:prstGeom prst="roundRect">
            <a:avLst>
              <a:gd name="adj" fmla="val 18182"/>
            </a:avLst>
          </a:prstGeom>
          <a:solidFill>
            <a:schemeClr val="accent3">
              <a:alpha val="14000"/>
            </a:schemeClr>
          </a:solidFill>
          <a:ln w="19050">
            <a:solidFill>
              <a:srgbClr val="2E7D4F"/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5353812" y="1959864"/>
            <a:ext cx="11475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maan</a:t>
            </a:r>
            <a:endParaRPr lang="en-US" sz="2000" dirty="0"/>
          </a:p>
        </p:txBody>
      </p:sp>
      <p:sp>
        <p:nvSpPr>
          <p:cNvPr id="28" name="Shape 24"/>
          <p:cNvSpPr/>
          <p:nvPr/>
        </p:nvSpPr>
        <p:spPr>
          <a:xfrm>
            <a:off x="6684264" y="1959864"/>
            <a:ext cx="1147572" cy="603504"/>
          </a:xfrm>
          <a:prstGeom prst="roundRect">
            <a:avLst>
              <a:gd name="adj" fmla="val 18182"/>
            </a:avLst>
          </a:prstGeom>
          <a:solidFill>
            <a:schemeClr val="accent4">
              <a:alpha val="14000"/>
            </a:schemeClr>
          </a:solidFill>
          <a:ln w="19050">
            <a:solidFill>
              <a:srgbClr val="B4236A"/>
            </a:solidFill>
            <a:prstDash val="solid"/>
          </a:ln>
        </p:spPr>
      </p:sp>
      <p:sp>
        <p:nvSpPr>
          <p:cNvPr id="29" name="Text 25"/>
          <p:cNvSpPr txBox="1"/>
          <p:nvPr/>
        </p:nvSpPr>
        <p:spPr>
          <a:xfrm>
            <a:off x="6684264" y="1959864"/>
            <a:ext cx="11475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vak</a:t>
            </a:r>
            <a:endParaRPr lang="en-US" sz="2000" dirty="0"/>
          </a:p>
        </p:txBody>
      </p:sp>
      <p:sp>
        <p:nvSpPr>
          <p:cNvPr id="30" name="Shape 26"/>
          <p:cNvSpPr/>
          <p:nvPr/>
        </p:nvSpPr>
        <p:spPr>
          <a:xfrm>
            <a:off x="7923276" y="1959864"/>
            <a:ext cx="1147572" cy="603504"/>
          </a:xfrm>
          <a:prstGeom prst="roundRect">
            <a:avLst>
              <a:gd name="adj" fmla="val 18182"/>
            </a:avLst>
          </a:prstGeom>
          <a:solidFill>
            <a:schemeClr val="accent3">
              <a:alpha val="14000"/>
            </a:schemeClr>
          </a:solidFill>
          <a:ln w="19050">
            <a:solidFill>
              <a:srgbClr val="2E7D4F"/>
            </a:solidFill>
            <a:prstDash val="solid"/>
          </a:ln>
        </p:spPr>
      </p:sp>
      <p:sp>
        <p:nvSpPr>
          <p:cNvPr id="31" name="Text 27"/>
          <p:cNvSpPr txBox="1"/>
          <p:nvPr/>
        </p:nvSpPr>
        <p:spPr>
          <a:xfrm>
            <a:off x="7923276" y="1959864"/>
            <a:ext cx="11475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vaak</a:t>
            </a:r>
            <a:endParaRPr lang="en-US" sz="2000" dirty="0"/>
          </a:p>
        </p:txBody>
      </p:sp>
      <p:sp>
        <p:nvSpPr>
          <p:cNvPr id="32" name="Shape 28"/>
          <p:cNvSpPr/>
          <p:nvPr/>
        </p:nvSpPr>
        <p:spPr>
          <a:xfrm>
            <a:off x="9253728" y="1959864"/>
            <a:ext cx="1147572" cy="603504"/>
          </a:xfrm>
          <a:prstGeom prst="roundRect">
            <a:avLst>
              <a:gd name="adj" fmla="val 18182"/>
            </a:avLst>
          </a:prstGeom>
          <a:solidFill>
            <a:schemeClr val="accent4">
              <a:alpha val="14000"/>
            </a:schemeClr>
          </a:solidFill>
          <a:ln w="19050">
            <a:solidFill>
              <a:srgbClr val="B4236A"/>
            </a:solidFill>
            <a:prstDash val="solid"/>
          </a:ln>
        </p:spPr>
      </p:sp>
      <p:sp>
        <p:nvSpPr>
          <p:cNvPr id="33" name="Text 29"/>
          <p:cNvSpPr txBox="1"/>
          <p:nvPr/>
        </p:nvSpPr>
        <p:spPr>
          <a:xfrm>
            <a:off x="9253728" y="1959864"/>
            <a:ext cx="11475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lat</a:t>
            </a:r>
            <a:endParaRPr lang="en-US" sz="2000" dirty="0"/>
          </a:p>
        </p:txBody>
      </p:sp>
      <p:sp>
        <p:nvSpPr>
          <p:cNvPr id="34" name="Shape 30"/>
          <p:cNvSpPr/>
          <p:nvPr/>
        </p:nvSpPr>
        <p:spPr>
          <a:xfrm>
            <a:off x="10492740" y="1959864"/>
            <a:ext cx="1147572" cy="603504"/>
          </a:xfrm>
          <a:prstGeom prst="roundRect">
            <a:avLst>
              <a:gd name="adj" fmla="val 18182"/>
            </a:avLst>
          </a:prstGeom>
          <a:solidFill>
            <a:schemeClr val="accent3">
              <a:alpha val="14000"/>
            </a:schemeClr>
          </a:solidFill>
          <a:ln w="19050">
            <a:solidFill>
              <a:srgbClr val="2E7D4F"/>
            </a:solidFill>
            <a:prstDash val="solid"/>
          </a:ln>
        </p:spPr>
      </p:sp>
      <p:sp>
        <p:nvSpPr>
          <p:cNvPr id="35" name="Text 31"/>
          <p:cNvSpPr txBox="1"/>
          <p:nvPr/>
        </p:nvSpPr>
        <p:spPr>
          <a:xfrm>
            <a:off x="10492740" y="1959864"/>
            <a:ext cx="11475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laat</a:t>
            </a:r>
            <a:endParaRPr lang="en-US" sz="2000" dirty="0"/>
          </a:p>
        </p:txBody>
      </p:sp>
      <p:sp>
        <p:nvSpPr>
          <p:cNvPr id="36" name="Shape 32"/>
          <p:cNvSpPr/>
          <p:nvPr/>
        </p:nvSpPr>
        <p:spPr>
          <a:xfrm>
            <a:off x="3520440" y="2689098"/>
            <a:ext cx="512064" cy="512064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Text 33"/>
          <p:cNvSpPr txBox="1"/>
          <p:nvPr/>
        </p:nvSpPr>
        <p:spPr>
          <a:xfrm>
            <a:off x="3520440" y="268909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e</a:t>
            </a:r>
            <a:endParaRPr lang="en-US" sz="2000" dirty="0"/>
          </a:p>
        </p:txBody>
      </p:sp>
      <p:sp>
        <p:nvSpPr>
          <p:cNvPr id="38" name="Shape 34"/>
          <p:cNvSpPr/>
          <p:nvPr/>
        </p:nvSpPr>
        <p:spPr>
          <a:xfrm>
            <a:off x="4114800" y="2643378"/>
            <a:ext cx="1147572" cy="603504"/>
          </a:xfrm>
          <a:prstGeom prst="roundRect">
            <a:avLst>
              <a:gd name="adj" fmla="val 18182"/>
            </a:avLst>
          </a:prstGeom>
          <a:solidFill>
            <a:schemeClr val="accent4">
              <a:alpha val="14000"/>
            </a:schemeClr>
          </a:solidFill>
          <a:ln w="19050">
            <a:solidFill>
              <a:srgbClr val="B4236A"/>
            </a:solidFill>
            <a:prstDash val="solid"/>
          </a:ln>
        </p:spPr>
      </p:sp>
      <p:sp>
        <p:nvSpPr>
          <p:cNvPr id="39" name="Text 35"/>
          <p:cNvSpPr txBox="1"/>
          <p:nvPr/>
        </p:nvSpPr>
        <p:spPr>
          <a:xfrm>
            <a:off x="4114800" y="2643378"/>
            <a:ext cx="11475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pen</a:t>
            </a:r>
            <a:endParaRPr lang="en-US" sz="2000" dirty="0"/>
          </a:p>
        </p:txBody>
      </p:sp>
      <p:sp>
        <p:nvSpPr>
          <p:cNvPr id="40" name="Shape 36"/>
          <p:cNvSpPr/>
          <p:nvPr/>
        </p:nvSpPr>
        <p:spPr>
          <a:xfrm>
            <a:off x="5353812" y="2643378"/>
            <a:ext cx="1147572" cy="603504"/>
          </a:xfrm>
          <a:prstGeom prst="roundRect">
            <a:avLst>
              <a:gd name="adj" fmla="val 18182"/>
            </a:avLst>
          </a:prstGeom>
          <a:solidFill>
            <a:schemeClr val="accent3">
              <a:alpha val="14000"/>
            </a:schemeClr>
          </a:solidFill>
          <a:ln w="19050">
            <a:solidFill>
              <a:srgbClr val="2E7D4F"/>
            </a:solidFill>
            <a:prstDash val="solid"/>
          </a:ln>
        </p:spPr>
      </p:sp>
      <p:sp>
        <p:nvSpPr>
          <p:cNvPr id="41" name="Text 37"/>
          <p:cNvSpPr txBox="1"/>
          <p:nvPr/>
        </p:nvSpPr>
        <p:spPr>
          <a:xfrm>
            <a:off x="5353812" y="2643378"/>
            <a:ext cx="11475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peen</a:t>
            </a:r>
            <a:endParaRPr lang="en-US" sz="2000" dirty="0"/>
          </a:p>
        </p:txBody>
      </p:sp>
      <p:sp>
        <p:nvSpPr>
          <p:cNvPr id="42" name="Shape 38"/>
          <p:cNvSpPr/>
          <p:nvPr/>
        </p:nvSpPr>
        <p:spPr>
          <a:xfrm>
            <a:off x="6684264" y="2643378"/>
            <a:ext cx="1147572" cy="603504"/>
          </a:xfrm>
          <a:prstGeom prst="roundRect">
            <a:avLst>
              <a:gd name="adj" fmla="val 18182"/>
            </a:avLst>
          </a:prstGeom>
          <a:solidFill>
            <a:schemeClr val="accent4">
              <a:alpha val="14000"/>
            </a:schemeClr>
          </a:solidFill>
          <a:ln w="19050">
            <a:solidFill>
              <a:srgbClr val="B4236A"/>
            </a:solidFill>
            <a:prstDash val="solid"/>
          </a:ln>
        </p:spPr>
      </p:sp>
      <p:sp>
        <p:nvSpPr>
          <p:cNvPr id="43" name="Text 39"/>
          <p:cNvSpPr txBox="1"/>
          <p:nvPr/>
        </p:nvSpPr>
        <p:spPr>
          <a:xfrm>
            <a:off x="6684264" y="2643378"/>
            <a:ext cx="11475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ben</a:t>
            </a:r>
            <a:endParaRPr lang="en-US" sz="2000" dirty="0"/>
          </a:p>
        </p:txBody>
      </p:sp>
      <p:sp>
        <p:nvSpPr>
          <p:cNvPr id="44" name="Shape 40"/>
          <p:cNvSpPr/>
          <p:nvPr/>
        </p:nvSpPr>
        <p:spPr>
          <a:xfrm>
            <a:off x="7923276" y="2643378"/>
            <a:ext cx="1147572" cy="603504"/>
          </a:xfrm>
          <a:prstGeom prst="roundRect">
            <a:avLst>
              <a:gd name="adj" fmla="val 18182"/>
            </a:avLst>
          </a:prstGeom>
          <a:solidFill>
            <a:schemeClr val="accent3">
              <a:alpha val="14000"/>
            </a:schemeClr>
          </a:solidFill>
          <a:ln w="19050">
            <a:solidFill>
              <a:srgbClr val="2E7D4F"/>
            </a:solidFill>
            <a:prstDash val="solid"/>
          </a:ln>
        </p:spPr>
      </p:sp>
      <p:sp>
        <p:nvSpPr>
          <p:cNvPr id="45" name="Text 41"/>
          <p:cNvSpPr txBox="1"/>
          <p:nvPr/>
        </p:nvSpPr>
        <p:spPr>
          <a:xfrm>
            <a:off x="7923276" y="2643378"/>
            <a:ext cx="11475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been</a:t>
            </a:r>
            <a:endParaRPr lang="en-US" sz="2000" dirty="0"/>
          </a:p>
        </p:txBody>
      </p:sp>
      <p:sp>
        <p:nvSpPr>
          <p:cNvPr id="46" name="Shape 42"/>
          <p:cNvSpPr/>
          <p:nvPr/>
        </p:nvSpPr>
        <p:spPr>
          <a:xfrm>
            <a:off x="9253728" y="2643378"/>
            <a:ext cx="1147572" cy="603504"/>
          </a:xfrm>
          <a:prstGeom prst="roundRect">
            <a:avLst>
              <a:gd name="adj" fmla="val 18182"/>
            </a:avLst>
          </a:prstGeom>
          <a:solidFill>
            <a:schemeClr val="accent4">
              <a:alpha val="14000"/>
            </a:schemeClr>
          </a:solidFill>
          <a:ln w="19050">
            <a:solidFill>
              <a:srgbClr val="B4236A"/>
            </a:solidFill>
            <a:prstDash val="solid"/>
          </a:ln>
        </p:spPr>
      </p:sp>
      <p:sp>
        <p:nvSpPr>
          <p:cNvPr id="47" name="Text 43"/>
          <p:cNvSpPr txBox="1"/>
          <p:nvPr/>
        </p:nvSpPr>
        <p:spPr>
          <a:xfrm>
            <a:off x="9253728" y="2643378"/>
            <a:ext cx="11475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hel</a:t>
            </a:r>
            <a:endParaRPr lang="en-US" sz="2000" dirty="0"/>
          </a:p>
        </p:txBody>
      </p:sp>
      <p:sp>
        <p:nvSpPr>
          <p:cNvPr id="48" name="Shape 44"/>
          <p:cNvSpPr/>
          <p:nvPr/>
        </p:nvSpPr>
        <p:spPr>
          <a:xfrm>
            <a:off x="10492740" y="2643378"/>
            <a:ext cx="1147572" cy="603504"/>
          </a:xfrm>
          <a:prstGeom prst="roundRect">
            <a:avLst>
              <a:gd name="adj" fmla="val 18182"/>
            </a:avLst>
          </a:prstGeom>
          <a:solidFill>
            <a:schemeClr val="accent3">
              <a:alpha val="14000"/>
            </a:schemeClr>
          </a:solidFill>
          <a:ln w="19050">
            <a:solidFill>
              <a:srgbClr val="2E7D4F"/>
            </a:solidFill>
            <a:prstDash val="solid"/>
          </a:ln>
        </p:spPr>
      </p:sp>
      <p:sp>
        <p:nvSpPr>
          <p:cNvPr id="49" name="Text 45"/>
          <p:cNvSpPr txBox="1"/>
          <p:nvPr/>
        </p:nvSpPr>
        <p:spPr>
          <a:xfrm>
            <a:off x="10492740" y="2643378"/>
            <a:ext cx="11475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heel</a:t>
            </a:r>
            <a:endParaRPr lang="en-US" sz="2000" dirty="0"/>
          </a:p>
        </p:txBody>
      </p:sp>
      <p:sp>
        <p:nvSpPr>
          <p:cNvPr id="50" name="Shape 46"/>
          <p:cNvSpPr/>
          <p:nvPr/>
        </p:nvSpPr>
        <p:spPr>
          <a:xfrm>
            <a:off x="3520440" y="3372612"/>
            <a:ext cx="512064" cy="512064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1" name="Text 47"/>
          <p:cNvSpPr txBox="1"/>
          <p:nvPr/>
        </p:nvSpPr>
        <p:spPr>
          <a:xfrm>
            <a:off x="3520440" y="337261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i</a:t>
            </a:r>
            <a:endParaRPr lang="en-US" sz="2000" dirty="0"/>
          </a:p>
        </p:txBody>
      </p:sp>
      <p:sp>
        <p:nvSpPr>
          <p:cNvPr id="52" name="Shape 48"/>
          <p:cNvSpPr/>
          <p:nvPr/>
        </p:nvSpPr>
        <p:spPr>
          <a:xfrm>
            <a:off x="4114800" y="3326892"/>
            <a:ext cx="1147572" cy="603504"/>
          </a:xfrm>
          <a:prstGeom prst="roundRect">
            <a:avLst>
              <a:gd name="adj" fmla="val 18182"/>
            </a:avLst>
          </a:prstGeom>
          <a:solidFill>
            <a:schemeClr val="accent4">
              <a:alpha val="14000"/>
            </a:schemeClr>
          </a:solidFill>
          <a:ln w="19050">
            <a:solidFill>
              <a:srgbClr val="B4236A"/>
            </a:solidFill>
            <a:prstDash val="solid"/>
          </a:ln>
        </p:spPr>
      </p:sp>
      <p:sp>
        <p:nvSpPr>
          <p:cNvPr id="53" name="Text 49"/>
          <p:cNvSpPr txBox="1"/>
          <p:nvPr/>
        </p:nvSpPr>
        <p:spPr>
          <a:xfrm>
            <a:off x="4114800" y="3326892"/>
            <a:ext cx="11475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vis</a:t>
            </a:r>
            <a:endParaRPr lang="en-US" sz="2000" dirty="0"/>
          </a:p>
        </p:txBody>
      </p:sp>
      <p:sp>
        <p:nvSpPr>
          <p:cNvPr id="54" name="Shape 50"/>
          <p:cNvSpPr/>
          <p:nvPr/>
        </p:nvSpPr>
        <p:spPr>
          <a:xfrm>
            <a:off x="5353812" y="3326892"/>
            <a:ext cx="1147572" cy="603504"/>
          </a:xfrm>
          <a:prstGeom prst="roundRect">
            <a:avLst>
              <a:gd name="adj" fmla="val 18182"/>
            </a:avLst>
          </a:prstGeom>
          <a:solidFill>
            <a:schemeClr val="accent3">
              <a:alpha val="14000"/>
            </a:schemeClr>
          </a:solidFill>
          <a:ln w="19050">
            <a:solidFill>
              <a:srgbClr val="2E7D4F"/>
            </a:solidFill>
            <a:prstDash val="solid"/>
          </a:ln>
        </p:spPr>
      </p:sp>
      <p:sp>
        <p:nvSpPr>
          <p:cNvPr id="55" name="Text 51"/>
          <p:cNvSpPr txBox="1"/>
          <p:nvPr/>
        </p:nvSpPr>
        <p:spPr>
          <a:xfrm>
            <a:off x="5353812" y="3326892"/>
            <a:ext cx="11475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vies</a:t>
            </a:r>
            <a:endParaRPr lang="en-US" sz="2000" dirty="0"/>
          </a:p>
        </p:txBody>
      </p:sp>
      <p:sp>
        <p:nvSpPr>
          <p:cNvPr id="56" name="Shape 52"/>
          <p:cNvSpPr/>
          <p:nvPr/>
        </p:nvSpPr>
        <p:spPr>
          <a:xfrm>
            <a:off x="6684264" y="3326892"/>
            <a:ext cx="1147572" cy="603504"/>
          </a:xfrm>
          <a:prstGeom prst="roundRect">
            <a:avLst>
              <a:gd name="adj" fmla="val 18182"/>
            </a:avLst>
          </a:prstGeom>
          <a:solidFill>
            <a:schemeClr val="accent4">
              <a:alpha val="14000"/>
            </a:schemeClr>
          </a:solidFill>
          <a:ln w="19050">
            <a:solidFill>
              <a:srgbClr val="B4236A"/>
            </a:solidFill>
            <a:prstDash val="solid"/>
          </a:ln>
        </p:spPr>
      </p:sp>
      <p:sp>
        <p:nvSpPr>
          <p:cNvPr id="57" name="Text 53"/>
          <p:cNvSpPr txBox="1"/>
          <p:nvPr/>
        </p:nvSpPr>
        <p:spPr>
          <a:xfrm>
            <a:off x="6684264" y="3326892"/>
            <a:ext cx="11475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lid</a:t>
            </a:r>
            <a:endParaRPr lang="en-US" sz="2000" dirty="0"/>
          </a:p>
        </p:txBody>
      </p:sp>
      <p:sp>
        <p:nvSpPr>
          <p:cNvPr id="58" name="Shape 54"/>
          <p:cNvSpPr/>
          <p:nvPr/>
        </p:nvSpPr>
        <p:spPr>
          <a:xfrm>
            <a:off x="7923276" y="3326892"/>
            <a:ext cx="1147572" cy="603504"/>
          </a:xfrm>
          <a:prstGeom prst="roundRect">
            <a:avLst>
              <a:gd name="adj" fmla="val 18182"/>
            </a:avLst>
          </a:prstGeom>
          <a:solidFill>
            <a:schemeClr val="accent3">
              <a:alpha val="14000"/>
            </a:schemeClr>
          </a:solidFill>
          <a:ln w="19050">
            <a:solidFill>
              <a:srgbClr val="2E7D4F"/>
            </a:solidFill>
            <a:prstDash val="solid"/>
          </a:ln>
        </p:spPr>
      </p:sp>
      <p:sp>
        <p:nvSpPr>
          <p:cNvPr id="59" name="Text 55"/>
          <p:cNvSpPr txBox="1"/>
          <p:nvPr/>
        </p:nvSpPr>
        <p:spPr>
          <a:xfrm>
            <a:off x="7923276" y="3326892"/>
            <a:ext cx="11475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lied</a:t>
            </a:r>
            <a:endParaRPr lang="en-US" sz="2000" dirty="0"/>
          </a:p>
        </p:txBody>
      </p:sp>
      <p:sp>
        <p:nvSpPr>
          <p:cNvPr id="60" name="Shape 56"/>
          <p:cNvSpPr/>
          <p:nvPr/>
        </p:nvSpPr>
        <p:spPr>
          <a:xfrm>
            <a:off x="9253728" y="3326892"/>
            <a:ext cx="1147572" cy="603504"/>
          </a:xfrm>
          <a:prstGeom prst="roundRect">
            <a:avLst>
              <a:gd name="adj" fmla="val 18182"/>
            </a:avLst>
          </a:prstGeom>
          <a:solidFill>
            <a:schemeClr val="accent4">
              <a:alpha val="14000"/>
            </a:schemeClr>
          </a:solidFill>
          <a:ln w="19050">
            <a:solidFill>
              <a:srgbClr val="B4236A"/>
            </a:solidFill>
            <a:prstDash val="solid"/>
          </a:ln>
        </p:spPr>
      </p:sp>
      <p:sp>
        <p:nvSpPr>
          <p:cNvPr id="61" name="Text 57"/>
          <p:cNvSpPr txBox="1"/>
          <p:nvPr/>
        </p:nvSpPr>
        <p:spPr>
          <a:xfrm>
            <a:off x="9253728" y="3326892"/>
            <a:ext cx="11475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zit</a:t>
            </a:r>
            <a:endParaRPr lang="en-US" sz="2000" dirty="0"/>
          </a:p>
        </p:txBody>
      </p:sp>
      <p:sp>
        <p:nvSpPr>
          <p:cNvPr id="62" name="Shape 58"/>
          <p:cNvSpPr/>
          <p:nvPr/>
        </p:nvSpPr>
        <p:spPr>
          <a:xfrm>
            <a:off x="10492740" y="3326892"/>
            <a:ext cx="1147572" cy="603504"/>
          </a:xfrm>
          <a:prstGeom prst="roundRect">
            <a:avLst>
              <a:gd name="adj" fmla="val 18182"/>
            </a:avLst>
          </a:prstGeom>
          <a:solidFill>
            <a:schemeClr val="accent3">
              <a:alpha val="14000"/>
            </a:schemeClr>
          </a:solidFill>
          <a:ln w="19050">
            <a:solidFill>
              <a:srgbClr val="2E7D4F"/>
            </a:solidFill>
            <a:prstDash val="solid"/>
          </a:ln>
        </p:spPr>
      </p:sp>
      <p:sp>
        <p:nvSpPr>
          <p:cNvPr id="63" name="Text 59"/>
          <p:cNvSpPr txBox="1"/>
          <p:nvPr/>
        </p:nvSpPr>
        <p:spPr>
          <a:xfrm>
            <a:off x="10492740" y="3326892"/>
            <a:ext cx="11475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ziet</a:t>
            </a:r>
            <a:endParaRPr lang="en-US" sz="2000" dirty="0"/>
          </a:p>
        </p:txBody>
      </p:sp>
      <p:sp>
        <p:nvSpPr>
          <p:cNvPr id="64" name="Shape 60"/>
          <p:cNvSpPr/>
          <p:nvPr/>
        </p:nvSpPr>
        <p:spPr>
          <a:xfrm>
            <a:off x="3520440" y="4056126"/>
            <a:ext cx="512064" cy="512064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5" name="Text 61"/>
          <p:cNvSpPr txBox="1"/>
          <p:nvPr/>
        </p:nvSpPr>
        <p:spPr>
          <a:xfrm>
            <a:off x="3520440" y="405612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o</a:t>
            </a:r>
            <a:endParaRPr lang="en-US" sz="2000" dirty="0"/>
          </a:p>
        </p:txBody>
      </p:sp>
      <p:sp>
        <p:nvSpPr>
          <p:cNvPr id="66" name="Shape 62"/>
          <p:cNvSpPr/>
          <p:nvPr/>
        </p:nvSpPr>
        <p:spPr>
          <a:xfrm>
            <a:off x="4114800" y="4010406"/>
            <a:ext cx="1147572" cy="603504"/>
          </a:xfrm>
          <a:prstGeom prst="roundRect">
            <a:avLst>
              <a:gd name="adj" fmla="val 18182"/>
            </a:avLst>
          </a:prstGeom>
          <a:solidFill>
            <a:schemeClr val="accent4">
              <a:alpha val="14000"/>
            </a:schemeClr>
          </a:solidFill>
          <a:ln w="19050">
            <a:solidFill>
              <a:srgbClr val="B4236A"/>
            </a:solidFill>
            <a:prstDash val="solid"/>
          </a:ln>
        </p:spPr>
      </p:sp>
      <p:sp>
        <p:nvSpPr>
          <p:cNvPr id="67" name="Text 63"/>
          <p:cNvSpPr txBox="1"/>
          <p:nvPr/>
        </p:nvSpPr>
        <p:spPr>
          <a:xfrm>
            <a:off x="4114800" y="4010406"/>
            <a:ext cx="11475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bos</a:t>
            </a:r>
            <a:endParaRPr lang="en-US" sz="2000" dirty="0"/>
          </a:p>
        </p:txBody>
      </p:sp>
      <p:sp>
        <p:nvSpPr>
          <p:cNvPr id="68" name="Shape 64"/>
          <p:cNvSpPr/>
          <p:nvPr/>
        </p:nvSpPr>
        <p:spPr>
          <a:xfrm>
            <a:off x="5353812" y="4010406"/>
            <a:ext cx="1147572" cy="603504"/>
          </a:xfrm>
          <a:prstGeom prst="roundRect">
            <a:avLst>
              <a:gd name="adj" fmla="val 18182"/>
            </a:avLst>
          </a:prstGeom>
          <a:solidFill>
            <a:schemeClr val="accent3">
              <a:alpha val="14000"/>
            </a:schemeClr>
          </a:solidFill>
          <a:ln w="19050">
            <a:solidFill>
              <a:srgbClr val="2E7D4F"/>
            </a:solidFill>
            <a:prstDash val="solid"/>
          </a:ln>
        </p:spPr>
      </p:sp>
      <p:sp>
        <p:nvSpPr>
          <p:cNvPr id="69" name="Text 65"/>
          <p:cNvSpPr txBox="1"/>
          <p:nvPr/>
        </p:nvSpPr>
        <p:spPr>
          <a:xfrm>
            <a:off x="5353812" y="4010406"/>
            <a:ext cx="11475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boos</a:t>
            </a:r>
            <a:endParaRPr lang="en-US" sz="2000" dirty="0"/>
          </a:p>
        </p:txBody>
      </p:sp>
      <p:sp>
        <p:nvSpPr>
          <p:cNvPr id="70" name="Shape 66"/>
          <p:cNvSpPr/>
          <p:nvPr/>
        </p:nvSpPr>
        <p:spPr>
          <a:xfrm>
            <a:off x="6684264" y="4010406"/>
            <a:ext cx="1147572" cy="603504"/>
          </a:xfrm>
          <a:prstGeom prst="roundRect">
            <a:avLst>
              <a:gd name="adj" fmla="val 18182"/>
            </a:avLst>
          </a:prstGeom>
          <a:solidFill>
            <a:schemeClr val="accent4">
              <a:alpha val="14000"/>
            </a:schemeClr>
          </a:solidFill>
          <a:ln w="19050">
            <a:solidFill>
              <a:srgbClr val="B4236A"/>
            </a:solidFill>
            <a:prstDash val="solid"/>
          </a:ln>
        </p:spPr>
      </p:sp>
      <p:sp>
        <p:nvSpPr>
          <p:cNvPr id="71" name="Text 67"/>
          <p:cNvSpPr txBox="1"/>
          <p:nvPr/>
        </p:nvSpPr>
        <p:spPr>
          <a:xfrm>
            <a:off x="6684264" y="4010406"/>
            <a:ext cx="11475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bom</a:t>
            </a:r>
            <a:endParaRPr lang="en-US" sz="2000" dirty="0"/>
          </a:p>
        </p:txBody>
      </p:sp>
      <p:sp>
        <p:nvSpPr>
          <p:cNvPr id="72" name="Shape 68"/>
          <p:cNvSpPr/>
          <p:nvPr/>
        </p:nvSpPr>
        <p:spPr>
          <a:xfrm>
            <a:off x="7923276" y="4010406"/>
            <a:ext cx="1147572" cy="603504"/>
          </a:xfrm>
          <a:prstGeom prst="roundRect">
            <a:avLst>
              <a:gd name="adj" fmla="val 18182"/>
            </a:avLst>
          </a:prstGeom>
          <a:solidFill>
            <a:schemeClr val="accent3">
              <a:alpha val="14000"/>
            </a:schemeClr>
          </a:solidFill>
          <a:ln w="19050">
            <a:solidFill>
              <a:srgbClr val="2E7D4F"/>
            </a:solidFill>
            <a:prstDash val="solid"/>
          </a:ln>
        </p:spPr>
      </p:sp>
      <p:sp>
        <p:nvSpPr>
          <p:cNvPr id="73" name="Text 69"/>
          <p:cNvSpPr txBox="1"/>
          <p:nvPr/>
        </p:nvSpPr>
        <p:spPr>
          <a:xfrm>
            <a:off x="7923276" y="4010406"/>
            <a:ext cx="11475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boom</a:t>
            </a:r>
            <a:endParaRPr lang="en-US" sz="2000" dirty="0"/>
          </a:p>
        </p:txBody>
      </p:sp>
      <p:sp>
        <p:nvSpPr>
          <p:cNvPr id="74" name="Shape 70"/>
          <p:cNvSpPr/>
          <p:nvPr/>
        </p:nvSpPr>
        <p:spPr>
          <a:xfrm>
            <a:off x="9253728" y="4010406"/>
            <a:ext cx="1147572" cy="603504"/>
          </a:xfrm>
          <a:prstGeom prst="roundRect">
            <a:avLst>
              <a:gd name="adj" fmla="val 18182"/>
            </a:avLst>
          </a:prstGeom>
          <a:solidFill>
            <a:schemeClr val="accent4">
              <a:alpha val="14000"/>
            </a:schemeClr>
          </a:solidFill>
          <a:ln w="19050">
            <a:solidFill>
              <a:srgbClr val="B4236A"/>
            </a:solidFill>
            <a:prstDash val="solid"/>
          </a:ln>
        </p:spPr>
      </p:sp>
      <p:sp>
        <p:nvSpPr>
          <p:cNvPr id="75" name="Text 71"/>
          <p:cNvSpPr txBox="1"/>
          <p:nvPr/>
        </p:nvSpPr>
        <p:spPr>
          <a:xfrm>
            <a:off x="9253728" y="4010406"/>
            <a:ext cx="11475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pot</a:t>
            </a:r>
            <a:endParaRPr lang="en-US" sz="2000" dirty="0"/>
          </a:p>
        </p:txBody>
      </p:sp>
      <p:sp>
        <p:nvSpPr>
          <p:cNvPr id="76" name="Shape 72"/>
          <p:cNvSpPr/>
          <p:nvPr/>
        </p:nvSpPr>
        <p:spPr>
          <a:xfrm>
            <a:off x="10492740" y="4010406"/>
            <a:ext cx="1147572" cy="603504"/>
          </a:xfrm>
          <a:prstGeom prst="roundRect">
            <a:avLst>
              <a:gd name="adj" fmla="val 18182"/>
            </a:avLst>
          </a:prstGeom>
          <a:solidFill>
            <a:schemeClr val="accent3">
              <a:alpha val="14000"/>
            </a:schemeClr>
          </a:solidFill>
          <a:ln w="19050">
            <a:solidFill>
              <a:srgbClr val="2E7D4F"/>
            </a:solidFill>
            <a:prstDash val="solid"/>
          </a:ln>
        </p:spPr>
      </p:sp>
      <p:sp>
        <p:nvSpPr>
          <p:cNvPr id="77" name="Text 73"/>
          <p:cNvSpPr txBox="1"/>
          <p:nvPr/>
        </p:nvSpPr>
        <p:spPr>
          <a:xfrm>
            <a:off x="10492740" y="4010406"/>
            <a:ext cx="11475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poot</a:t>
            </a:r>
            <a:endParaRPr lang="en-US" sz="2000" dirty="0"/>
          </a:p>
        </p:txBody>
      </p:sp>
      <p:sp>
        <p:nvSpPr>
          <p:cNvPr id="78" name="Shape 74"/>
          <p:cNvSpPr/>
          <p:nvPr/>
        </p:nvSpPr>
        <p:spPr>
          <a:xfrm>
            <a:off x="3520440" y="4739640"/>
            <a:ext cx="512064" cy="512064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9" name="Text 75"/>
          <p:cNvSpPr txBox="1"/>
          <p:nvPr/>
        </p:nvSpPr>
        <p:spPr>
          <a:xfrm>
            <a:off x="3520440" y="47396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u</a:t>
            </a:r>
            <a:endParaRPr lang="en-US" sz="2000" dirty="0"/>
          </a:p>
        </p:txBody>
      </p:sp>
      <p:sp>
        <p:nvSpPr>
          <p:cNvPr id="80" name="Shape 76"/>
          <p:cNvSpPr/>
          <p:nvPr/>
        </p:nvSpPr>
        <p:spPr>
          <a:xfrm>
            <a:off x="4114800" y="4693920"/>
            <a:ext cx="1147572" cy="603504"/>
          </a:xfrm>
          <a:prstGeom prst="roundRect">
            <a:avLst>
              <a:gd name="adj" fmla="val 18182"/>
            </a:avLst>
          </a:prstGeom>
          <a:solidFill>
            <a:schemeClr val="accent4">
              <a:alpha val="14000"/>
            </a:schemeClr>
          </a:solidFill>
          <a:ln w="19050">
            <a:solidFill>
              <a:srgbClr val="B4236A"/>
            </a:solidFill>
            <a:prstDash val="solid"/>
          </a:ln>
        </p:spPr>
      </p:sp>
      <p:sp>
        <p:nvSpPr>
          <p:cNvPr id="81" name="Text 77"/>
          <p:cNvSpPr txBox="1"/>
          <p:nvPr/>
        </p:nvSpPr>
        <p:spPr>
          <a:xfrm>
            <a:off x="4114800" y="4693920"/>
            <a:ext cx="11475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mus</a:t>
            </a:r>
            <a:endParaRPr lang="en-US" sz="2000" dirty="0"/>
          </a:p>
        </p:txBody>
      </p:sp>
      <p:sp>
        <p:nvSpPr>
          <p:cNvPr id="82" name="Shape 78"/>
          <p:cNvSpPr/>
          <p:nvPr/>
        </p:nvSpPr>
        <p:spPr>
          <a:xfrm>
            <a:off x="5353812" y="4693920"/>
            <a:ext cx="1147572" cy="603504"/>
          </a:xfrm>
          <a:prstGeom prst="roundRect">
            <a:avLst>
              <a:gd name="adj" fmla="val 18182"/>
            </a:avLst>
          </a:prstGeom>
          <a:solidFill>
            <a:schemeClr val="accent3">
              <a:alpha val="14000"/>
            </a:schemeClr>
          </a:solidFill>
          <a:ln w="19050">
            <a:solidFill>
              <a:srgbClr val="2E7D4F"/>
            </a:solidFill>
            <a:prstDash val="solid"/>
          </a:ln>
        </p:spPr>
      </p:sp>
      <p:sp>
        <p:nvSpPr>
          <p:cNvPr id="83" name="Text 79"/>
          <p:cNvSpPr txBox="1"/>
          <p:nvPr/>
        </p:nvSpPr>
        <p:spPr>
          <a:xfrm>
            <a:off x="5353812" y="4693920"/>
            <a:ext cx="11475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muur</a:t>
            </a:r>
            <a:endParaRPr lang="en-US" sz="2000" dirty="0"/>
          </a:p>
        </p:txBody>
      </p:sp>
      <p:sp>
        <p:nvSpPr>
          <p:cNvPr id="84" name="Shape 80"/>
          <p:cNvSpPr/>
          <p:nvPr/>
        </p:nvSpPr>
        <p:spPr>
          <a:xfrm>
            <a:off x="6684264" y="4693920"/>
            <a:ext cx="1147572" cy="603504"/>
          </a:xfrm>
          <a:prstGeom prst="roundRect">
            <a:avLst>
              <a:gd name="adj" fmla="val 18182"/>
            </a:avLst>
          </a:prstGeom>
          <a:solidFill>
            <a:schemeClr val="accent4">
              <a:alpha val="14000"/>
            </a:schemeClr>
          </a:solidFill>
          <a:ln w="19050">
            <a:solidFill>
              <a:srgbClr val="B4236A"/>
            </a:solidFill>
            <a:prstDash val="solid"/>
          </a:ln>
        </p:spPr>
      </p:sp>
      <p:sp>
        <p:nvSpPr>
          <p:cNvPr id="85" name="Text 81"/>
          <p:cNvSpPr txBox="1"/>
          <p:nvPr/>
        </p:nvSpPr>
        <p:spPr>
          <a:xfrm>
            <a:off x="6684264" y="4693920"/>
            <a:ext cx="11475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kus</a:t>
            </a:r>
            <a:endParaRPr lang="en-US" sz="2000" dirty="0"/>
          </a:p>
        </p:txBody>
      </p:sp>
      <p:sp>
        <p:nvSpPr>
          <p:cNvPr id="86" name="Shape 82"/>
          <p:cNvSpPr/>
          <p:nvPr/>
        </p:nvSpPr>
        <p:spPr>
          <a:xfrm>
            <a:off x="7923276" y="4693920"/>
            <a:ext cx="1147572" cy="603504"/>
          </a:xfrm>
          <a:prstGeom prst="roundRect">
            <a:avLst>
              <a:gd name="adj" fmla="val 18182"/>
            </a:avLst>
          </a:prstGeom>
          <a:solidFill>
            <a:schemeClr val="accent3">
              <a:alpha val="14000"/>
            </a:schemeClr>
          </a:solidFill>
          <a:ln w="19050">
            <a:solidFill>
              <a:srgbClr val="2E7D4F"/>
            </a:solidFill>
            <a:prstDash val="solid"/>
          </a:ln>
        </p:spPr>
      </p:sp>
      <p:sp>
        <p:nvSpPr>
          <p:cNvPr id="87" name="Text 83"/>
          <p:cNvSpPr txBox="1"/>
          <p:nvPr/>
        </p:nvSpPr>
        <p:spPr>
          <a:xfrm>
            <a:off x="7923276" y="4693920"/>
            <a:ext cx="11475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kuur</a:t>
            </a:r>
            <a:endParaRPr lang="en-US" sz="2000" dirty="0"/>
          </a:p>
        </p:txBody>
      </p:sp>
      <p:sp>
        <p:nvSpPr>
          <p:cNvPr id="88" name="Shape 84"/>
          <p:cNvSpPr/>
          <p:nvPr/>
        </p:nvSpPr>
        <p:spPr>
          <a:xfrm>
            <a:off x="9253728" y="4693920"/>
            <a:ext cx="1147572" cy="603504"/>
          </a:xfrm>
          <a:prstGeom prst="roundRect">
            <a:avLst>
              <a:gd name="adj" fmla="val 18182"/>
            </a:avLst>
          </a:prstGeom>
          <a:solidFill>
            <a:schemeClr val="accent4">
              <a:alpha val="14000"/>
            </a:schemeClr>
          </a:solidFill>
          <a:ln w="19050">
            <a:solidFill>
              <a:srgbClr val="B4236A"/>
            </a:solidFill>
            <a:prstDash val="solid"/>
          </a:ln>
        </p:spPr>
      </p:sp>
      <p:sp>
        <p:nvSpPr>
          <p:cNvPr id="89" name="Text 85"/>
          <p:cNvSpPr txBox="1"/>
          <p:nvPr/>
        </p:nvSpPr>
        <p:spPr>
          <a:xfrm>
            <a:off x="9253728" y="4693920"/>
            <a:ext cx="11475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zus</a:t>
            </a:r>
            <a:endParaRPr lang="en-US" sz="2000" dirty="0"/>
          </a:p>
        </p:txBody>
      </p:sp>
      <p:sp>
        <p:nvSpPr>
          <p:cNvPr id="90" name="Shape 86"/>
          <p:cNvSpPr/>
          <p:nvPr/>
        </p:nvSpPr>
        <p:spPr>
          <a:xfrm>
            <a:off x="10492740" y="4693920"/>
            <a:ext cx="1147572" cy="603504"/>
          </a:xfrm>
          <a:prstGeom prst="roundRect">
            <a:avLst>
              <a:gd name="adj" fmla="val 18182"/>
            </a:avLst>
          </a:prstGeom>
          <a:solidFill>
            <a:schemeClr val="accent3">
              <a:alpha val="14000"/>
            </a:schemeClr>
          </a:solidFill>
          <a:ln w="19050">
            <a:solidFill>
              <a:srgbClr val="2E7D4F"/>
            </a:solidFill>
            <a:prstDash val="solid"/>
          </a:ln>
        </p:spPr>
      </p:sp>
      <p:sp>
        <p:nvSpPr>
          <p:cNvPr id="91" name="Text 87"/>
          <p:cNvSpPr txBox="1"/>
          <p:nvPr/>
        </p:nvSpPr>
        <p:spPr>
          <a:xfrm>
            <a:off x="10492740" y="4693920"/>
            <a:ext cx="11475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zuur</a:t>
            </a:r>
            <a:endParaRPr lang="en-US" sz="2000" dirty="0"/>
          </a:p>
        </p:txBody>
      </p:sp>
      <p:sp>
        <p:nvSpPr>
          <p:cNvPr id="92" name="Shape 88"/>
          <p:cNvSpPr/>
          <p:nvPr/>
        </p:nvSpPr>
        <p:spPr>
          <a:xfrm>
            <a:off x="548640" y="5577840"/>
            <a:ext cx="11091672" cy="658368"/>
          </a:xfrm>
          <a:prstGeom prst="roundRect">
            <a:avLst>
              <a:gd name="adj" fmla="val 11111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3" name="Text 89"/>
          <p:cNvSpPr txBox="1"/>
          <p:nvPr/>
        </p:nvSpPr>
        <p:spPr>
          <a:xfrm>
            <a:off x="822960" y="5577840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bg1"/>
                </a:solidFill>
              </a:rPr>
              <a:t>u</a:t>
            </a:r>
            <a:r>
              <a:rPr lang="en-US" sz="1700" dirty="0">
                <a:solidFill>
                  <a:schemeClr val="bg1"/>
                </a:solidFill>
              </a:rPr>
              <a:t> ≠ </a:t>
            </a:r>
            <a:r>
              <a:rPr lang="en-US" sz="1700" i="1" dirty="0">
                <a:solidFill>
                  <a:schemeClr val="bg1"/>
                </a:solidFill>
              </a:rPr>
              <a:t>uu</a:t>
            </a:r>
            <a:r>
              <a:rPr lang="en-US" sz="1700" dirty="0">
                <a:solidFill>
                  <a:schemeClr val="bg1"/>
                </a:solidFill>
              </a:rPr>
              <a:t> : </a:t>
            </a:r>
            <a:r>
              <a:rPr lang="en-US" sz="1700" i="1" dirty="0">
                <a:solidFill>
                  <a:schemeClr val="bg1"/>
                </a:solidFill>
              </a:rPr>
              <a:t>mus</a:t>
            </a:r>
            <a:r>
              <a:rPr lang="en-US" sz="1700" dirty="0">
                <a:solidFill>
                  <a:schemeClr val="bg1"/>
                </a:solidFill>
              </a:rPr>
              <a:t> « meus », bref · </a:t>
            </a:r>
            <a:r>
              <a:rPr lang="en-US" sz="1700" i="1" dirty="0">
                <a:solidFill>
                  <a:schemeClr val="bg1"/>
                </a:solidFill>
              </a:rPr>
              <a:t>muur</a:t>
            </a:r>
            <a:r>
              <a:rPr lang="en-US" sz="1700" dirty="0">
                <a:solidFill>
                  <a:schemeClr val="bg1"/>
                </a:solidFill>
              </a:rPr>
              <a:t> « mur », long — le son « i » s’écrit presque toujours </a:t>
            </a:r>
            <a:r>
              <a:rPr lang="en-US" sz="1700" i="1" dirty="0">
                <a:solidFill>
                  <a:schemeClr val="bg1"/>
                </a:solidFill>
              </a:rPr>
              <a:t>ie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Les paniers : porte ouverte ou fermée ?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3065069" cy="310896"/>
          </a:xfrm>
          <a:prstGeom prst="roundRect">
            <a:avLst>
              <a:gd name="adj" fmla="val 14706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SÉANCE 1 · ② S’ENTRAÎNER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9747504" y="393192"/>
            <a:ext cx="1682496" cy="914"/>
          </a:xfrm>
          <a:prstGeom prst="line">
            <a:avLst/>
          </a:prstGeom>
          <a:noFill/>
          <a:ln w="25400">
            <a:solidFill>
              <a:srgbClr val="D5DCE6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9582912" y="228600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582912" y="2286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10003536" y="228600"/>
            <a:ext cx="329184" cy="32918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4236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0003536" y="2286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2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10424160" y="228600"/>
            <a:ext cx="329184" cy="32918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9700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0424160" y="2286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3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10844784" y="228600"/>
            <a:ext cx="329184" cy="32918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E7D4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0844784" y="2286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4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11265408" y="228600"/>
            <a:ext cx="329184" cy="32918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E4A9E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11265408" y="2286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E4A9E"/>
                </a:solidFill>
              </a:rPr>
              <a:t>5</a:t>
            </a:r>
            <a:endParaRPr lang="en-US" sz="1200" dirty="0"/>
          </a:p>
        </p:txBody>
      </p:sp>
      <p:pic>
        <p:nvPicPr>
          <p:cNvPr id="16" name="Image 0" descr="HandPointRigh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17904"/>
            <a:ext cx="274320" cy="27432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960120" y="1481328"/>
            <a:ext cx="10680192" cy="31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accent5"/>
                </a:solidFill>
              </a:rPr>
              <a:t>Rangez chaque mot dans le bon panier, puis lisez chaque panier à voix haute.</a:t>
            </a:r>
            <a:endParaRPr lang="en-US" sz="1700" dirty="0"/>
          </a:p>
        </p:txBody>
      </p:sp>
      <p:sp>
        <p:nvSpPr>
          <p:cNvPr id="18" name="Shape 14"/>
          <p:cNvSpPr/>
          <p:nvPr/>
        </p:nvSpPr>
        <p:spPr>
          <a:xfrm rot="-180000">
            <a:off x="548640" y="2005584"/>
            <a:ext cx="1572768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5875">
            <a:solidFill>
              <a:srgbClr val="4A5A70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19" name="Text 15"/>
          <p:cNvSpPr txBox="1"/>
          <p:nvPr/>
        </p:nvSpPr>
        <p:spPr>
          <a:xfrm>
            <a:off x="548640" y="2005584"/>
            <a:ext cx="157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i="1" dirty="0">
                <a:solidFill>
                  <a:schemeClr val="tx1"/>
                </a:solidFill>
              </a:rPr>
              <a:t>tak</a:t>
            </a:r>
            <a:endParaRPr lang="en-US" sz="2100" dirty="0"/>
          </a:p>
        </p:txBody>
      </p:sp>
      <p:sp>
        <p:nvSpPr>
          <p:cNvPr id="20" name="Shape 16"/>
          <p:cNvSpPr/>
          <p:nvPr/>
        </p:nvSpPr>
        <p:spPr>
          <a:xfrm rot="120000">
            <a:off x="2286000" y="2005584"/>
            <a:ext cx="1572768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5875">
            <a:solidFill>
              <a:srgbClr val="4A5A70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21" name="Text 17"/>
          <p:cNvSpPr txBox="1"/>
          <p:nvPr/>
        </p:nvSpPr>
        <p:spPr>
          <a:xfrm>
            <a:off x="2286000" y="2005584"/>
            <a:ext cx="157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i="1" dirty="0">
                <a:solidFill>
                  <a:schemeClr val="tx1"/>
                </a:solidFill>
              </a:rPr>
              <a:t>maken</a:t>
            </a:r>
            <a:endParaRPr lang="en-US" sz="2100" dirty="0"/>
          </a:p>
        </p:txBody>
      </p:sp>
      <p:sp>
        <p:nvSpPr>
          <p:cNvPr id="22" name="Shape 18"/>
          <p:cNvSpPr/>
          <p:nvPr/>
        </p:nvSpPr>
        <p:spPr>
          <a:xfrm rot="-60000">
            <a:off x="4023360" y="2005584"/>
            <a:ext cx="1572768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5875">
            <a:solidFill>
              <a:srgbClr val="4A5A70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23" name="Text 19"/>
          <p:cNvSpPr txBox="1"/>
          <p:nvPr/>
        </p:nvSpPr>
        <p:spPr>
          <a:xfrm>
            <a:off x="4023360" y="2005584"/>
            <a:ext cx="157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i="1" dirty="0">
                <a:solidFill>
                  <a:schemeClr val="tx1"/>
                </a:solidFill>
              </a:rPr>
              <a:t>raam</a:t>
            </a:r>
            <a:endParaRPr lang="en-US" sz="2100" dirty="0"/>
          </a:p>
        </p:txBody>
      </p:sp>
      <p:sp>
        <p:nvSpPr>
          <p:cNvPr id="24" name="Shape 20"/>
          <p:cNvSpPr/>
          <p:nvPr/>
        </p:nvSpPr>
        <p:spPr>
          <a:xfrm rot="180000">
            <a:off x="5760720" y="2005584"/>
            <a:ext cx="1572768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5875">
            <a:solidFill>
              <a:srgbClr val="4A5A70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25" name="Text 21"/>
          <p:cNvSpPr txBox="1"/>
          <p:nvPr/>
        </p:nvSpPr>
        <p:spPr>
          <a:xfrm>
            <a:off x="5760720" y="2005584"/>
            <a:ext cx="157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i="1" dirty="0">
                <a:solidFill>
                  <a:schemeClr val="tx1"/>
                </a:solidFill>
              </a:rPr>
              <a:t>katten</a:t>
            </a:r>
            <a:endParaRPr lang="en-US" sz="2100" dirty="0"/>
          </a:p>
        </p:txBody>
      </p:sp>
      <p:sp>
        <p:nvSpPr>
          <p:cNvPr id="26" name="Shape 22"/>
          <p:cNvSpPr/>
          <p:nvPr/>
        </p:nvSpPr>
        <p:spPr>
          <a:xfrm rot="120000">
            <a:off x="548640" y="2810256"/>
            <a:ext cx="1572768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5875">
            <a:solidFill>
              <a:srgbClr val="4A5A70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27" name="Text 23"/>
          <p:cNvSpPr txBox="1"/>
          <p:nvPr/>
        </p:nvSpPr>
        <p:spPr>
          <a:xfrm>
            <a:off x="548640" y="2810256"/>
            <a:ext cx="157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i="1" dirty="0">
                <a:solidFill>
                  <a:schemeClr val="tx1"/>
                </a:solidFill>
              </a:rPr>
              <a:t>nek</a:t>
            </a:r>
            <a:endParaRPr lang="en-US" sz="2100" dirty="0"/>
          </a:p>
        </p:txBody>
      </p:sp>
      <p:sp>
        <p:nvSpPr>
          <p:cNvPr id="28" name="Shape 24"/>
          <p:cNvSpPr/>
          <p:nvPr/>
        </p:nvSpPr>
        <p:spPr>
          <a:xfrm rot="-60000">
            <a:off x="2286000" y="2810256"/>
            <a:ext cx="1572768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5875">
            <a:solidFill>
              <a:srgbClr val="4A5A70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29" name="Text 25"/>
          <p:cNvSpPr txBox="1"/>
          <p:nvPr/>
        </p:nvSpPr>
        <p:spPr>
          <a:xfrm>
            <a:off x="2286000" y="2810256"/>
            <a:ext cx="157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i="1" dirty="0">
                <a:solidFill>
                  <a:schemeClr val="tx1"/>
                </a:solidFill>
              </a:rPr>
              <a:t>lezen</a:t>
            </a:r>
            <a:endParaRPr lang="en-US" sz="2100" dirty="0"/>
          </a:p>
        </p:txBody>
      </p:sp>
      <p:sp>
        <p:nvSpPr>
          <p:cNvPr id="30" name="Shape 26"/>
          <p:cNvSpPr/>
          <p:nvPr/>
        </p:nvSpPr>
        <p:spPr>
          <a:xfrm rot="180000">
            <a:off x="4023360" y="2810256"/>
            <a:ext cx="1572768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5875">
            <a:solidFill>
              <a:srgbClr val="4A5A70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31" name="Text 27"/>
          <p:cNvSpPr txBox="1"/>
          <p:nvPr/>
        </p:nvSpPr>
        <p:spPr>
          <a:xfrm>
            <a:off x="4023360" y="2810256"/>
            <a:ext cx="157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i="1" dirty="0">
                <a:solidFill>
                  <a:schemeClr val="tx1"/>
                </a:solidFill>
              </a:rPr>
              <a:t>keel</a:t>
            </a:r>
            <a:endParaRPr lang="en-US" sz="2100" dirty="0"/>
          </a:p>
        </p:txBody>
      </p:sp>
      <p:sp>
        <p:nvSpPr>
          <p:cNvPr id="32" name="Shape 28"/>
          <p:cNvSpPr/>
          <p:nvPr/>
        </p:nvSpPr>
        <p:spPr>
          <a:xfrm rot="-180000">
            <a:off x="5760720" y="2810256"/>
            <a:ext cx="1572768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5875">
            <a:solidFill>
              <a:srgbClr val="4A5A70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33" name="Text 29"/>
          <p:cNvSpPr txBox="1"/>
          <p:nvPr/>
        </p:nvSpPr>
        <p:spPr>
          <a:xfrm>
            <a:off x="5760720" y="2810256"/>
            <a:ext cx="157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i="1" dirty="0">
                <a:solidFill>
                  <a:schemeClr val="tx1"/>
                </a:solidFill>
              </a:rPr>
              <a:t>pennen</a:t>
            </a:r>
            <a:endParaRPr lang="en-US" sz="2100" dirty="0"/>
          </a:p>
        </p:txBody>
      </p:sp>
      <p:sp>
        <p:nvSpPr>
          <p:cNvPr id="34" name="Shape 30"/>
          <p:cNvSpPr/>
          <p:nvPr/>
        </p:nvSpPr>
        <p:spPr>
          <a:xfrm rot="-60000">
            <a:off x="548640" y="3614928"/>
            <a:ext cx="1572768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5875">
            <a:solidFill>
              <a:srgbClr val="4A5A70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35" name="Text 31"/>
          <p:cNvSpPr txBox="1"/>
          <p:nvPr/>
        </p:nvSpPr>
        <p:spPr>
          <a:xfrm>
            <a:off x="548640" y="3614928"/>
            <a:ext cx="157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i="1" dirty="0">
                <a:solidFill>
                  <a:schemeClr val="tx1"/>
                </a:solidFill>
              </a:rPr>
              <a:t>bol</a:t>
            </a:r>
            <a:endParaRPr lang="en-US" sz="2100" dirty="0"/>
          </a:p>
        </p:txBody>
      </p:sp>
      <p:sp>
        <p:nvSpPr>
          <p:cNvPr id="36" name="Shape 32"/>
          <p:cNvSpPr/>
          <p:nvPr/>
        </p:nvSpPr>
        <p:spPr>
          <a:xfrm rot="180000">
            <a:off x="2286000" y="3614928"/>
            <a:ext cx="1572768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5875">
            <a:solidFill>
              <a:srgbClr val="4A5A70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37" name="Text 33"/>
          <p:cNvSpPr txBox="1"/>
          <p:nvPr/>
        </p:nvSpPr>
        <p:spPr>
          <a:xfrm>
            <a:off x="2286000" y="3614928"/>
            <a:ext cx="157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i="1" dirty="0">
                <a:solidFill>
                  <a:schemeClr val="tx1"/>
                </a:solidFill>
              </a:rPr>
              <a:t>wonen</a:t>
            </a:r>
            <a:endParaRPr lang="en-US" sz="2100" dirty="0"/>
          </a:p>
        </p:txBody>
      </p:sp>
      <p:sp>
        <p:nvSpPr>
          <p:cNvPr id="38" name="Shape 34"/>
          <p:cNvSpPr/>
          <p:nvPr/>
        </p:nvSpPr>
        <p:spPr>
          <a:xfrm rot="-180000">
            <a:off x="4023360" y="3614928"/>
            <a:ext cx="1572768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5875">
            <a:solidFill>
              <a:srgbClr val="4A5A70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39" name="Text 35"/>
          <p:cNvSpPr txBox="1"/>
          <p:nvPr/>
        </p:nvSpPr>
        <p:spPr>
          <a:xfrm>
            <a:off x="4023360" y="3614928"/>
            <a:ext cx="157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i="1" dirty="0">
                <a:solidFill>
                  <a:schemeClr val="tx1"/>
                </a:solidFill>
              </a:rPr>
              <a:t>roos</a:t>
            </a:r>
            <a:endParaRPr lang="en-US" sz="2100" dirty="0"/>
          </a:p>
        </p:txBody>
      </p:sp>
      <p:sp>
        <p:nvSpPr>
          <p:cNvPr id="40" name="Shape 36"/>
          <p:cNvSpPr/>
          <p:nvPr/>
        </p:nvSpPr>
        <p:spPr>
          <a:xfrm rot="120000">
            <a:off x="5760720" y="3614928"/>
            <a:ext cx="1572768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5875">
            <a:solidFill>
              <a:srgbClr val="4A5A70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41" name="Text 37"/>
          <p:cNvSpPr txBox="1"/>
          <p:nvPr/>
        </p:nvSpPr>
        <p:spPr>
          <a:xfrm>
            <a:off x="5760720" y="3614928"/>
            <a:ext cx="157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i="1" dirty="0">
                <a:solidFill>
                  <a:schemeClr val="tx1"/>
                </a:solidFill>
              </a:rPr>
              <a:t>bommen</a:t>
            </a:r>
            <a:endParaRPr lang="en-US" sz="2100" dirty="0"/>
          </a:p>
        </p:txBody>
      </p:sp>
      <p:sp>
        <p:nvSpPr>
          <p:cNvPr id="42" name="Shape 38"/>
          <p:cNvSpPr/>
          <p:nvPr/>
        </p:nvSpPr>
        <p:spPr>
          <a:xfrm rot="180000">
            <a:off x="548640" y="4419600"/>
            <a:ext cx="1572768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5875">
            <a:solidFill>
              <a:srgbClr val="4A5A70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43" name="Text 39"/>
          <p:cNvSpPr txBox="1"/>
          <p:nvPr/>
        </p:nvSpPr>
        <p:spPr>
          <a:xfrm>
            <a:off x="548640" y="4419600"/>
            <a:ext cx="157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i="1" dirty="0">
                <a:solidFill>
                  <a:schemeClr val="tx1"/>
                </a:solidFill>
              </a:rPr>
              <a:t>stuk</a:t>
            </a:r>
            <a:endParaRPr lang="en-US" sz="2100" dirty="0"/>
          </a:p>
        </p:txBody>
      </p:sp>
      <p:sp>
        <p:nvSpPr>
          <p:cNvPr id="44" name="Shape 40"/>
          <p:cNvSpPr/>
          <p:nvPr/>
        </p:nvSpPr>
        <p:spPr>
          <a:xfrm rot="-180000">
            <a:off x="2286000" y="4419600"/>
            <a:ext cx="1572768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5875">
            <a:solidFill>
              <a:srgbClr val="4A5A70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45" name="Text 41"/>
          <p:cNvSpPr txBox="1"/>
          <p:nvPr/>
        </p:nvSpPr>
        <p:spPr>
          <a:xfrm>
            <a:off x="2286000" y="4419600"/>
            <a:ext cx="157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i="1" dirty="0">
                <a:solidFill>
                  <a:schemeClr val="tx1"/>
                </a:solidFill>
              </a:rPr>
              <a:t>muren</a:t>
            </a:r>
            <a:endParaRPr lang="en-US" sz="2100" dirty="0"/>
          </a:p>
        </p:txBody>
      </p:sp>
      <p:sp>
        <p:nvSpPr>
          <p:cNvPr id="46" name="Shape 42"/>
          <p:cNvSpPr/>
          <p:nvPr/>
        </p:nvSpPr>
        <p:spPr>
          <a:xfrm rot="120000">
            <a:off x="4023360" y="4419600"/>
            <a:ext cx="1572768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5875">
            <a:solidFill>
              <a:srgbClr val="4A5A70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47" name="Text 43"/>
          <p:cNvSpPr txBox="1"/>
          <p:nvPr/>
        </p:nvSpPr>
        <p:spPr>
          <a:xfrm>
            <a:off x="4023360" y="4419600"/>
            <a:ext cx="157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i="1" dirty="0">
                <a:solidFill>
                  <a:schemeClr val="tx1"/>
                </a:solidFill>
              </a:rPr>
              <a:t>vuur</a:t>
            </a:r>
            <a:endParaRPr lang="en-US" sz="2100" dirty="0"/>
          </a:p>
        </p:txBody>
      </p:sp>
      <p:sp>
        <p:nvSpPr>
          <p:cNvPr id="48" name="Shape 44"/>
          <p:cNvSpPr/>
          <p:nvPr/>
        </p:nvSpPr>
        <p:spPr>
          <a:xfrm rot="-60000">
            <a:off x="5760720" y="4419600"/>
            <a:ext cx="1572768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5875">
            <a:solidFill>
              <a:srgbClr val="4A5A70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49" name="Text 45"/>
          <p:cNvSpPr txBox="1"/>
          <p:nvPr/>
        </p:nvSpPr>
        <p:spPr>
          <a:xfrm>
            <a:off x="5760720" y="4419600"/>
            <a:ext cx="157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i="1" dirty="0">
                <a:solidFill>
                  <a:schemeClr val="tx1"/>
                </a:solidFill>
              </a:rPr>
              <a:t>zussen</a:t>
            </a:r>
            <a:endParaRPr lang="en-US" sz="2100" dirty="0"/>
          </a:p>
        </p:txBody>
      </p:sp>
      <p:sp>
        <p:nvSpPr>
          <p:cNvPr id="50" name="Shape 46"/>
          <p:cNvSpPr/>
          <p:nvPr/>
        </p:nvSpPr>
        <p:spPr>
          <a:xfrm>
            <a:off x="7635240" y="1959864"/>
            <a:ext cx="4005072" cy="1463040"/>
          </a:xfrm>
          <a:prstGeom prst="roundRect">
            <a:avLst>
              <a:gd name="adj" fmla="val 7500"/>
            </a:avLst>
          </a:prstGeom>
          <a:solidFill>
            <a:schemeClr val="accent4">
              <a:alpha val="10000"/>
            </a:schemeClr>
          </a:solidFill>
          <a:ln w="25400">
            <a:solidFill>
              <a:srgbClr val="B4236A"/>
            </a:solidFill>
            <a:prstDash val="dash"/>
          </a:ln>
        </p:spPr>
      </p:sp>
      <p:pic>
        <p:nvPicPr>
          <p:cNvPr id="51" name="Image 1" descr="baske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2234184"/>
            <a:ext cx="914400" cy="914400"/>
          </a:xfrm>
          <a:prstGeom prst="rect">
            <a:avLst/>
          </a:prstGeom>
        </p:spPr>
      </p:pic>
      <p:sp>
        <p:nvSpPr>
          <p:cNvPr id="52" name="Text 47"/>
          <p:cNvSpPr txBox="1"/>
          <p:nvPr/>
        </p:nvSpPr>
        <p:spPr>
          <a:xfrm>
            <a:off x="8823960" y="1959864"/>
            <a:ext cx="2697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2000" b="1" dirty="0">
                <a:solidFill>
                  <a:schemeClr val="accent4"/>
                </a:solidFill>
              </a:rPr>
              <a:t>COURT</a:t>
            </a:r>
            <a:endParaRPr lang="en-US" sz="20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chemeClr val="accent4"/>
                </a:solidFill>
              </a:rPr>
              <a:t>porte fermée</a:t>
            </a:r>
            <a:endParaRPr lang="en-US" sz="2000" dirty="0"/>
          </a:p>
        </p:txBody>
      </p:sp>
      <p:sp>
        <p:nvSpPr>
          <p:cNvPr id="53" name="Shape 48"/>
          <p:cNvSpPr/>
          <p:nvPr/>
        </p:nvSpPr>
        <p:spPr>
          <a:xfrm>
            <a:off x="7635240" y="3560064"/>
            <a:ext cx="4005072" cy="1463040"/>
          </a:xfrm>
          <a:prstGeom prst="roundRect">
            <a:avLst>
              <a:gd name="adj" fmla="val 7500"/>
            </a:avLst>
          </a:prstGeom>
          <a:solidFill>
            <a:schemeClr val="accent3">
              <a:alpha val="10000"/>
            </a:schemeClr>
          </a:solidFill>
          <a:ln w="25400">
            <a:solidFill>
              <a:srgbClr val="2E7D4F"/>
            </a:solidFill>
            <a:prstDash val="dash"/>
          </a:ln>
        </p:spPr>
      </p:sp>
      <p:pic>
        <p:nvPicPr>
          <p:cNvPr id="54" name="Image 2" descr="baske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3834384"/>
            <a:ext cx="914400" cy="914400"/>
          </a:xfrm>
          <a:prstGeom prst="rect">
            <a:avLst/>
          </a:prstGeom>
        </p:spPr>
      </p:pic>
      <p:sp>
        <p:nvSpPr>
          <p:cNvPr id="55" name="Text 49"/>
          <p:cNvSpPr txBox="1"/>
          <p:nvPr/>
        </p:nvSpPr>
        <p:spPr>
          <a:xfrm>
            <a:off x="8823960" y="3560064"/>
            <a:ext cx="2697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2000" b="1" dirty="0">
                <a:solidFill>
                  <a:schemeClr val="accent3"/>
                </a:solidFill>
              </a:rPr>
              <a:t>LONG</a:t>
            </a:r>
            <a:endParaRPr lang="en-US" sz="20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chemeClr val="accent3"/>
                </a:solidFill>
              </a:rPr>
              <a:t>porte ouverte</a:t>
            </a:r>
            <a:endParaRPr lang="en-US" sz="2000" dirty="0"/>
          </a:p>
        </p:txBody>
      </p:sp>
      <p:sp>
        <p:nvSpPr>
          <p:cNvPr id="56" name="Shape 5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8421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7" name="Text 51"/>
          <p:cNvSpPr txBox="1"/>
          <p:nvPr/>
        </p:nvSpPr>
        <p:spPr>
          <a:xfrm>
            <a:off x="822960" y="534924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Une seule voyelle à la fin de la syllabe = </a:t>
            </a:r>
            <a:r>
              <a:rPr lang="en-US" sz="1700" b="1" dirty="0">
                <a:solidFill>
                  <a:schemeClr val="bg1"/>
                </a:solidFill>
              </a:rPr>
              <a:t>long</a:t>
            </a:r>
            <a:r>
              <a:rPr lang="en-US" sz="1700" dirty="0">
                <a:solidFill>
                  <a:schemeClr val="bg1"/>
                </a:solidFill>
              </a:rPr>
              <a:t> : </a:t>
            </a:r>
            <a:r>
              <a:rPr lang="en-US" sz="1700" i="1" dirty="0">
                <a:solidFill>
                  <a:schemeClr val="bg1"/>
                </a:solidFill>
              </a:rPr>
              <a:t>ma·ken</a:t>
            </a:r>
            <a:r>
              <a:rPr lang="en-US" sz="1700" dirty="0">
                <a:solidFill>
                  <a:schemeClr val="bg1"/>
                </a:solidFill>
              </a:rPr>
              <a:t> « maa-ken » · deux consonnes = porte fermée : </a:t>
            </a:r>
            <a:r>
              <a:rPr lang="en-US" sz="1700" i="1" dirty="0">
                <a:solidFill>
                  <a:schemeClr val="bg1"/>
                </a:solidFill>
              </a:rPr>
              <a:t>kat·ten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Le duel des phrases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2417674" cy="310896"/>
          </a:xfrm>
          <a:prstGeom prst="roundRect">
            <a:avLst>
              <a:gd name="adj" fmla="val 14706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SÉANCE 1 · ③ JOUER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9747504" y="393192"/>
            <a:ext cx="1682496" cy="914"/>
          </a:xfrm>
          <a:prstGeom prst="line">
            <a:avLst/>
          </a:prstGeom>
          <a:noFill/>
          <a:ln w="25400">
            <a:solidFill>
              <a:srgbClr val="D5DCE6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9582912" y="228600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582912" y="2286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10003536" y="228600"/>
            <a:ext cx="329184" cy="32918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4236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0003536" y="2286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2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10424160" y="228600"/>
            <a:ext cx="329184" cy="32918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9700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0424160" y="2286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3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10844784" y="228600"/>
            <a:ext cx="329184" cy="32918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E7D4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0844784" y="2286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4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11265408" y="228600"/>
            <a:ext cx="329184" cy="32918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E4A9E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11265408" y="2286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E4A9E"/>
                </a:solidFill>
              </a:rPr>
              <a:t>5</a:t>
            </a:r>
            <a:endParaRPr lang="en-US" sz="1200" dirty="0"/>
          </a:p>
        </p:txBody>
      </p:sp>
      <p:pic>
        <p:nvPicPr>
          <p:cNvPr id="16" name="Image 0" descr="HandPointRigh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17904"/>
            <a:ext cx="274320" cy="27432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960120" y="1481328"/>
            <a:ext cx="10680192" cy="31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accent5"/>
                </a:solidFill>
              </a:rPr>
              <a:t>Lisez la phrase 3 fois, de plus en plus vite. L’autre équipe crie « </a:t>
            </a:r>
            <a:r>
              <a:rPr lang="en-US" sz="1700" b="1" i="1" dirty="0">
                <a:solidFill>
                  <a:schemeClr val="accent5"/>
                </a:solidFill>
              </a:rPr>
              <a:t>KORT!</a:t>
            </a:r>
            <a:r>
              <a:rPr lang="en-US" sz="1700" i="1" dirty="0">
                <a:solidFill>
                  <a:schemeClr val="accent5"/>
                </a:solidFill>
              </a:rPr>
              <a:t> » ou « </a:t>
            </a:r>
            <a:r>
              <a:rPr lang="en-US" sz="1700" b="1" i="1" dirty="0">
                <a:solidFill>
                  <a:schemeClr val="accent5"/>
                </a:solidFill>
              </a:rPr>
              <a:t>LANG!</a:t>
            </a:r>
            <a:r>
              <a:rPr lang="en-US" sz="1700" i="1" dirty="0">
                <a:solidFill>
                  <a:schemeClr val="accent5"/>
                </a:solidFill>
              </a:rPr>
              <a:t> »</a:t>
            </a:r>
            <a:endParaRPr lang="en-US" sz="1700" dirty="0"/>
          </a:p>
        </p:txBody>
      </p:sp>
      <p:sp>
        <p:nvSpPr>
          <p:cNvPr id="18" name="Shape 14"/>
          <p:cNvSpPr/>
          <p:nvPr/>
        </p:nvSpPr>
        <p:spPr>
          <a:xfrm>
            <a:off x="548640" y="1959864"/>
            <a:ext cx="4224528" cy="987552"/>
          </a:xfrm>
          <a:prstGeom prst="roundRect">
            <a:avLst>
              <a:gd name="adj" fmla="val 9259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85800" y="2069592"/>
            <a:ext cx="365760" cy="365760"/>
          </a:xfrm>
          <a:prstGeom prst="ellipse">
            <a:avLst/>
          </a:prstGeom>
          <a:solidFill>
            <a:schemeClr val="accent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685800" y="20695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21" name="Text 17"/>
          <p:cNvSpPr txBox="1"/>
          <p:nvPr/>
        </p:nvSpPr>
        <p:spPr>
          <a:xfrm>
            <a:off x="1170432" y="2005584"/>
            <a:ext cx="34930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chemeClr val="tx1"/>
                </a:solidFill>
              </a:rPr>
              <a:t>Katten willen lekker snorren.</a:t>
            </a:r>
            <a:endParaRPr lang="en-US" sz="1600" dirty="0"/>
          </a:p>
        </p:txBody>
      </p:sp>
      <p:sp>
        <p:nvSpPr>
          <p:cNvPr id="22" name="Shape 18"/>
          <p:cNvSpPr/>
          <p:nvPr/>
        </p:nvSpPr>
        <p:spPr>
          <a:xfrm>
            <a:off x="2898648" y="2581656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B4236A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2898648" y="258165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kort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3813048" y="2581656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3813048" y="258165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3"/>
                </a:solidFill>
              </a:rPr>
              <a:t>lang</a:t>
            </a:r>
            <a:endParaRPr lang="en-US" sz="1100" dirty="0"/>
          </a:p>
        </p:txBody>
      </p:sp>
      <p:sp>
        <p:nvSpPr>
          <p:cNvPr id="26" name="Shape 22"/>
          <p:cNvSpPr/>
          <p:nvPr/>
        </p:nvSpPr>
        <p:spPr>
          <a:xfrm>
            <a:off x="4956048" y="1959864"/>
            <a:ext cx="4224528" cy="987552"/>
          </a:xfrm>
          <a:prstGeom prst="roundRect">
            <a:avLst>
              <a:gd name="adj" fmla="val 9259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5093208" y="2069592"/>
            <a:ext cx="365760" cy="365760"/>
          </a:xfrm>
          <a:prstGeom prst="ellipse">
            <a:avLst/>
          </a:prstGeom>
          <a:solidFill>
            <a:schemeClr val="accent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5093208" y="20695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29" name="Text 25"/>
          <p:cNvSpPr txBox="1"/>
          <p:nvPr/>
        </p:nvSpPr>
        <p:spPr>
          <a:xfrm>
            <a:off x="5577840" y="2005584"/>
            <a:ext cx="34930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chemeClr val="tx1"/>
                </a:solidFill>
              </a:rPr>
              <a:t>Jagers doden grote hazen.</a:t>
            </a:r>
            <a:endParaRPr lang="en-US" sz="1600" dirty="0"/>
          </a:p>
        </p:txBody>
      </p:sp>
      <p:sp>
        <p:nvSpPr>
          <p:cNvPr id="30" name="Shape 26"/>
          <p:cNvSpPr/>
          <p:nvPr/>
        </p:nvSpPr>
        <p:spPr>
          <a:xfrm>
            <a:off x="7306056" y="2581656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B4236A"/>
            </a:solidFill>
            <a:prstDash val="solid"/>
          </a:ln>
        </p:spPr>
      </p:sp>
      <p:sp>
        <p:nvSpPr>
          <p:cNvPr id="31" name="Text 27"/>
          <p:cNvSpPr txBox="1"/>
          <p:nvPr/>
        </p:nvSpPr>
        <p:spPr>
          <a:xfrm>
            <a:off x="7306056" y="258165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kort</a:t>
            </a:r>
            <a:endParaRPr lang="en-US" sz="1100" dirty="0"/>
          </a:p>
        </p:txBody>
      </p:sp>
      <p:sp>
        <p:nvSpPr>
          <p:cNvPr id="32" name="Shape 28"/>
          <p:cNvSpPr/>
          <p:nvPr/>
        </p:nvSpPr>
        <p:spPr>
          <a:xfrm>
            <a:off x="8220456" y="2581656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33" name="Text 29"/>
          <p:cNvSpPr txBox="1"/>
          <p:nvPr/>
        </p:nvSpPr>
        <p:spPr>
          <a:xfrm>
            <a:off x="8220456" y="258165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3"/>
                </a:solidFill>
              </a:rPr>
              <a:t>lang</a:t>
            </a:r>
            <a:endParaRPr lang="en-US" sz="1100" dirty="0"/>
          </a:p>
        </p:txBody>
      </p:sp>
      <p:sp>
        <p:nvSpPr>
          <p:cNvPr id="34" name="Shape 30"/>
          <p:cNvSpPr/>
          <p:nvPr/>
        </p:nvSpPr>
        <p:spPr>
          <a:xfrm>
            <a:off x="548640" y="3093720"/>
            <a:ext cx="4224528" cy="987552"/>
          </a:xfrm>
          <a:prstGeom prst="roundRect">
            <a:avLst>
              <a:gd name="adj" fmla="val 9259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685800" y="3203448"/>
            <a:ext cx="365760" cy="365760"/>
          </a:xfrm>
          <a:prstGeom prst="ellipse">
            <a:avLst/>
          </a:prstGeom>
          <a:solidFill>
            <a:schemeClr val="accent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Text 32"/>
          <p:cNvSpPr txBox="1"/>
          <p:nvPr/>
        </p:nvSpPr>
        <p:spPr>
          <a:xfrm>
            <a:off x="685800" y="32034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37" name="Text 33"/>
          <p:cNvSpPr txBox="1"/>
          <p:nvPr/>
        </p:nvSpPr>
        <p:spPr>
          <a:xfrm>
            <a:off x="1170432" y="3139440"/>
            <a:ext cx="34930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chemeClr val="tx1"/>
                </a:solidFill>
              </a:rPr>
              <a:t>Mussen hebben dikke nekken.</a:t>
            </a:r>
            <a:endParaRPr lang="en-US" sz="1600" dirty="0"/>
          </a:p>
        </p:txBody>
      </p:sp>
      <p:sp>
        <p:nvSpPr>
          <p:cNvPr id="38" name="Shape 34"/>
          <p:cNvSpPr/>
          <p:nvPr/>
        </p:nvSpPr>
        <p:spPr>
          <a:xfrm>
            <a:off x="2898648" y="3715512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B4236A"/>
            </a:solidFill>
            <a:prstDash val="solid"/>
          </a:ln>
        </p:spPr>
      </p:sp>
      <p:sp>
        <p:nvSpPr>
          <p:cNvPr id="39" name="Text 35"/>
          <p:cNvSpPr txBox="1"/>
          <p:nvPr/>
        </p:nvSpPr>
        <p:spPr>
          <a:xfrm>
            <a:off x="2898648" y="371551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kort</a:t>
            </a:r>
            <a:endParaRPr lang="en-US" sz="1100" dirty="0"/>
          </a:p>
        </p:txBody>
      </p:sp>
      <p:sp>
        <p:nvSpPr>
          <p:cNvPr id="40" name="Shape 36"/>
          <p:cNvSpPr/>
          <p:nvPr/>
        </p:nvSpPr>
        <p:spPr>
          <a:xfrm>
            <a:off x="3813048" y="3715512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41" name="Text 37"/>
          <p:cNvSpPr txBox="1"/>
          <p:nvPr/>
        </p:nvSpPr>
        <p:spPr>
          <a:xfrm>
            <a:off x="3813048" y="371551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3"/>
                </a:solidFill>
              </a:rPr>
              <a:t>lang</a:t>
            </a:r>
            <a:endParaRPr lang="en-US" sz="1100" dirty="0"/>
          </a:p>
        </p:txBody>
      </p:sp>
      <p:sp>
        <p:nvSpPr>
          <p:cNvPr id="42" name="Shape 38"/>
          <p:cNvSpPr/>
          <p:nvPr/>
        </p:nvSpPr>
        <p:spPr>
          <a:xfrm>
            <a:off x="4956048" y="3093720"/>
            <a:ext cx="4224528" cy="987552"/>
          </a:xfrm>
          <a:prstGeom prst="roundRect">
            <a:avLst>
              <a:gd name="adj" fmla="val 9259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43" name="Shape 39"/>
          <p:cNvSpPr/>
          <p:nvPr/>
        </p:nvSpPr>
        <p:spPr>
          <a:xfrm>
            <a:off x="5093208" y="3203448"/>
            <a:ext cx="365760" cy="365760"/>
          </a:xfrm>
          <a:prstGeom prst="ellipse">
            <a:avLst/>
          </a:prstGeom>
          <a:solidFill>
            <a:schemeClr val="accent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" name="Text 40"/>
          <p:cNvSpPr txBox="1"/>
          <p:nvPr/>
        </p:nvSpPr>
        <p:spPr>
          <a:xfrm>
            <a:off x="5093208" y="32034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45" name="Text 41"/>
          <p:cNvSpPr txBox="1"/>
          <p:nvPr/>
        </p:nvSpPr>
        <p:spPr>
          <a:xfrm>
            <a:off x="5577840" y="3139440"/>
            <a:ext cx="34930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chemeClr val="tx1"/>
                </a:solidFill>
              </a:rPr>
              <a:t>Apen eten zure noten.</a:t>
            </a:r>
            <a:endParaRPr lang="en-US" sz="1600" dirty="0"/>
          </a:p>
        </p:txBody>
      </p:sp>
      <p:sp>
        <p:nvSpPr>
          <p:cNvPr id="46" name="Shape 42"/>
          <p:cNvSpPr/>
          <p:nvPr/>
        </p:nvSpPr>
        <p:spPr>
          <a:xfrm>
            <a:off x="7306056" y="3715512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B4236A"/>
            </a:solidFill>
            <a:prstDash val="solid"/>
          </a:ln>
        </p:spPr>
      </p:sp>
      <p:sp>
        <p:nvSpPr>
          <p:cNvPr id="47" name="Text 43"/>
          <p:cNvSpPr txBox="1"/>
          <p:nvPr/>
        </p:nvSpPr>
        <p:spPr>
          <a:xfrm>
            <a:off x="7306056" y="371551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kort</a:t>
            </a:r>
            <a:endParaRPr lang="en-US" sz="1100" dirty="0"/>
          </a:p>
        </p:txBody>
      </p:sp>
      <p:sp>
        <p:nvSpPr>
          <p:cNvPr id="48" name="Shape 44"/>
          <p:cNvSpPr/>
          <p:nvPr/>
        </p:nvSpPr>
        <p:spPr>
          <a:xfrm>
            <a:off x="8220456" y="3715512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49" name="Text 45"/>
          <p:cNvSpPr txBox="1"/>
          <p:nvPr/>
        </p:nvSpPr>
        <p:spPr>
          <a:xfrm>
            <a:off x="8220456" y="371551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3"/>
                </a:solidFill>
              </a:rPr>
              <a:t>lang</a:t>
            </a:r>
            <a:endParaRPr lang="en-US" sz="1100" dirty="0"/>
          </a:p>
        </p:txBody>
      </p:sp>
      <p:sp>
        <p:nvSpPr>
          <p:cNvPr id="50" name="Shape 46"/>
          <p:cNvSpPr/>
          <p:nvPr/>
        </p:nvSpPr>
        <p:spPr>
          <a:xfrm>
            <a:off x="548640" y="4227576"/>
            <a:ext cx="4224528" cy="987552"/>
          </a:xfrm>
          <a:prstGeom prst="roundRect">
            <a:avLst>
              <a:gd name="adj" fmla="val 9259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51" name="Shape 47"/>
          <p:cNvSpPr/>
          <p:nvPr/>
        </p:nvSpPr>
        <p:spPr>
          <a:xfrm>
            <a:off x="685800" y="4337304"/>
            <a:ext cx="365760" cy="365760"/>
          </a:xfrm>
          <a:prstGeom prst="ellipse">
            <a:avLst/>
          </a:prstGeom>
          <a:solidFill>
            <a:schemeClr val="accent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2" name="Text 48"/>
          <p:cNvSpPr txBox="1"/>
          <p:nvPr/>
        </p:nvSpPr>
        <p:spPr>
          <a:xfrm>
            <a:off x="685800" y="43373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53" name="Text 49"/>
          <p:cNvSpPr txBox="1"/>
          <p:nvPr/>
        </p:nvSpPr>
        <p:spPr>
          <a:xfrm>
            <a:off x="1170432" y="4273296"/>
            <a:ext cx="34930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chemeClr val="tx1"/>
                </a:solidFill>
              </a:rPr>
              <a:t>Biggen kunnen schattig knorren.</a:t>
            </a:r>
            <a:endParaRPr lang="en-US" sz="1600" dirty="0"/>
          </a:p>
        </p:txBody>
      </p:sp>
      <p:sp>
        <p:nvSpPr>
          <p:cNvPr id="54" name="Shape 50"/>
          <p:cNvSpPr/>
          <p:nvPr/>
        </p:nvSpPr>
        <p:spPr>
          <a:xfrm>
            <a:off x="2898648" y="4849368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B4236A"/>
            </a:solidFill>
            <a:prstDash val="solid"/>
          </a:ln>
        </p:spPr>
      </p:sp>
      <p:sp>
        <p:nvSpPr>
          <p:cNvPr id="55" name="Text 51"/>
          <p:cNvSpPr txBox="1"/>
          <p:nvPr/>
        </p:nvSpPr>
        <p:spPr>
          <a:xfrm>
            <a:off x="2898648" y="484936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kort</a:t>
            </a:r>
            <a:endParaRPr lang="en-US" sz="1100" dirty="0"/>
          </a:p>
        </p:txBody>
      </p:sp>
      <p:sp>
        <p:nvSpPr>
          <p:cNvPr id="56" name="Shape 52"/>
          <p:cNvSpPr/>
          <p:nvPr/>
        </p:nvSpPr>
        <p:spPr>
          <a:xfrm>
            <a:off x="3813048" y="4849368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57" name="Text 53"/>
          <p:cNvSpPr txBox="1"/>
          <p:nvPr/>
        </p:nvSpPr>
        <p:spPr>
          <a:xfrm>
            <a:off x="3813048" y="484936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3"/>
                </a:solidFill>
              </a:rPr>
              <a:t>lang</a:t>
            </a:r>
            <a:endParaRPr lang="en-US" sz="1100" dirty="0"/>
          </a:p>
        </p:txBody>
      </p:sp>
      <p:sp>
        <p:nvSpPr>
          <p:cNvPr id="58" name="Shape 54"/>
          <p:cNvSpPr/>
          <p:nvPr/>
        </p:nvSpPr>
        <p:spPr>
          <a:xfrm>
            <a:off x="4956048" y="4227576"/>
            <a:ext cx="4224528" cy="987552"/>
          </a:xfrm>
          <a:prstGeom prst="roundRect">
            <a:avLst>
              <a:gd name="adj" fmla="val 9259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59" name="Shape 55"/>
          <p:cNvSpPr/>
          <p:nvPr/>
        </p:nvSpPr>
        <p:spPr>
          <a:xfrm>
            <a:off x="5093208" y="4337304"/>
            <a:ext cx="365760" cy="365760"/>
          </a:xfrm>
          <a:prstGeom prst="ellipse">
            <a:avLst/>
          </a:prstGeom>
          <a:solidFill>
            <a:schemeClr val="accent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0" name="Text 56"/>
          <p:cNvSpPr txBox="1"/>
          <p:nvPr/>
        </p:nvSpPr>
        <p:spPr>
          <a:xfrm>
            <a:off x="5093208" y="43373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6</a:t>
            </a:r>
            <a:endParaRPr lang="en-US" sz="1400" dirty="0"/>
          </a:p>
        </p:txBody>
      </p:sp>
      <p:sp>
        <p:nvSpPr>
          <p:cNvPr id="61" name="Text 57"/>
          <p:cNvSpPr txBox="1"/>
          <p:nvPr/>
        </p:nvSpPr>
        <p:spPr>
          <a:xfrm>
            <a:off x="5577840" y="4273296"/>
            <a:ext cx="34930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chemeClr val="tx1"/>
                </a:solidFill>
              </a:rPr>
              <a:t>Dikke mannen hebben dunne sokken.</a:t>
            </a:r>
            <a:endParaRPr lang="en-US" sz="1600" dirty="0"/>
          </a:p>
        </p:txBody>
      </p:sp>
      <p:sp>
        <p:nvSpPr>
          <p:cNvPr id="62" name="Shape 58"/>
          <p:cNvSpPr/>
          <p:nvPr/>
        </p:nvSpPr>
        <p:spPr>
          <a:xfrm>
            <a:off x="7306056" y="4849368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B4236A"/>
            </a:solidFill>
            <a:prstDash val="solid"/>
          </a:ln>
        </p:spPr>
      </p:sp>
      <p:sp>
        <p:nvSpPr>
          <p:cNvPr id="63" name="Text 59"/>
          <p:cNvSpPr txBox="1"/>
          <p:nvPr/>
        </p:nvSpPr>
        <p:spPr>
          <a:xfrm>
            <a:off x="7306056" y="484936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kort</a:t>
            </a:r>
            <a:endParaRPr lang="en-US" sz="1100" dirty="0"/>
          </a:p>
        </p:txBody>
      </p:sp>
      <p:sp>
        <p:nvSpPr>
          <p:cNvPr id="64" name="Shape 60"/>
          <p:cNvSpPr/>
          <p:nvPr/>
        </p:nvSpPr>
        <p:spPr>
          <a:xfrm>
            <a:off x="8220456" y="4849368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65" name="Text 61"/>
          <p:cNvSpPr txBox="1"/>
          <p:nvPr/>
        </p:nvSpPr>
        <p:spPr>
          <a:xfrm>
            <a:off x="8220456" y="484936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3"/>
                </a:solidFill>
              </a:rPr>
              <a:t>lang</a:t>
            </a:r>
            <a:endParaRPr lang="en-US" sz="1100" dirty="0"/>
          </a:p>
        </p:txBody>
      </p:sp>
      <p:pic>
        <p:nvPicPr>
          <p:cNvPr id="66" name="Image 1" descr="stopwatch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2680" y="1959864"/>
            <a:ext cx="914400" cy="914400"/>
          </a:xfrm>
          <a:prstGeom prst="rect">
            <a:avLst/>
          </a:prstGeom>
        </p:spPr>
      </p:pic>
      <p:sp>
        <p:nvSpPr>
          <p:cNvPr id="67" name="Shape 62"/>
          <p:cNvSpPr/>
          <p:nvPr/>
        </p:nvSpPr>
        <p:spPr>
          <a:xfrm>
            <a:off x="9326880" y="3011424"/>
            <a:ext cx="1097280" cy="1143000"/>
          </a:xfrm>
          <a:prstGeom prst="roundRect">
            <a:avLst>
              <a:gd name="adj" fmla="val 8333"/>
            </a:avLst>
          </a:prstGeom>
          <a:solidFill>
            <a:srgbClr val="EAF1F8"/>
          </a:solidFill>
          <a:ln w="19050">
            <a:solidFill>
              <a:srgbClr val="2A6FB0"/>
            </a:solidFill>
            <a:prstDash val="solid"/>
          </a:ln>
        </p:spPr>
      </p:sp>
      <p:sp>
        <p:nvSpPr>
          <p:cNvPr id="68" name="Text 63"/>
          <p:cNvSpPr txBox="1"/>
          <p:nvPr/>
        </p:nvSpPr>
        <p:spPr>
          <a:xfrm>
            <a:off x="9326880" y="3011424"/>
            <a:ext cx="1097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accent2"/>
                </a:solidFill>
              </a:rPr>
              <a:t>A</a:t>
            </a:r>
            <a:endParaRPr lang="en-US" sz="16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chemeClr val="accent2"/>
                </a:solidFill>
              </a:rPr>
              <a:t>…… pts</a:t>
            </a:r>
            <a:endParaRPr lang="en-US" sz="1600" dirty="0"/>
          </a:p>
        </p:txBody>
      </p:sp>
      <p:sp>
        <p:nvSpPr>
          <p:cNvPr id="69" name="Shape 64"/>
          <p:cNvSpPr/>
          <p:nvPr/>
        </p:nvSpPr>
        <p:spPr>
          <a:xfrm>
            <a:off x="10515600" y="3011424"/>
            <a:ext cx="1097280" cy="1143000"/>
          </a:xfrm>
          <a:prstGeom prst="roundRect">
            <a:avLst>
              <a:gd name="adj" fmla="val 8333"/>
            </a:avLst>
          </a:prstGeom>
          <a:solidFill>
            <a:srgbClr val="FDF1E6"/>
          </a:solidFill>
          <a:ln w="19050">
            <a:solidFill>
              <a:srgbClr val="D9700F"/>
            </a:solidFill>
            <a:prstDash val="solid"/>
          </a:ln>
        </p:spPr>
      </p:sp>
      <p:sp>
        <p:nvSpPr>
          <p:cNvPr id="70" name="Text 65"/>
          <p:cNvSpPr txBox="1"/>
          <p:nvPr/>
        </p:nvSpPr>
        <p:spPr>
          <a:xfrm>
            <a:off x="10515600" y="3011424"/>
            <a:ext cx="1097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</a:rPr>
              <a:t>B</a:t>
            </a:r>
            <a:endParaRPr lang="en-US" sz="16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chemeClr val="accent1"/>
                </a:solidFill>
              </a:rPr>
              <a:t>…… pts</a:t>
            </a:r>
            <a:endParaRPr lang="en-US" sz="1600" dirty="0"/>
          </a:p>
        </p:txBody>
      </p:sp>
      <p:sp>
        <p:nvSpPr>
          <p:cNvPr id="71" name="Text 66"/>
          <p:cNvSpPr txBox="1"/>
          <p:nvPr/>
        </p:nvSpPr>
        <p:spPr>
          <a:xfrm>
            <a:off x="9326880" y="4291584"/>
            <a:ext cx="23134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1 point</a:t>
            </a:r>
            <a:r>
              <a:rPr lang="en-US" sz="1300" dirty="0">
                <a:solidFill>
                  <a:schemeClr val="tx1"/>
                </a:solidFill>
              </a:rPr>
              <a:t> : bonne réponse</a:t>
            </a:r>
            <a:endParaRPr lang="en-US" sz="13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1 point</a:t>
            </a:r>
            <a:r>
              <a:rPr lang="en-US" sz="1300" dirty="0">
                <a:solidFill>
                  <a:schemeClr val="tx1"/>
                </a:solidFill>
              </a:rPr>
              <a:t> : lecture sans faute</a:t>
            </a:r>
            <a:endParaRPr lang="en-US" sz="1300" dirty="0"/>
          </a:p>
        </p:txBody>
      </p:sp>
      <p:sp>
        <p:nvSpPr>
          <p:cNvPr id="72" name="Shape 67"/>
          <p:cNvSpPr/>
          <p:nvPr/>
        </p:nvSpPr>
        <p:spPr>
          <a:xfrm>
            <a:off x="548640" y="5623560"/>
            <a:ext cx="11091672" cy="621792"/>
          </a:xfrm>
          <a:prstGeom prst="roundRect">
            <a:avLst>
              <a:gd name="adj" fmla="val 11765"/>
            </a:avLst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3" name="Text 68"/>
          <p:cNvSpPr txBox="1"/>
          <p:nvPr/>
        </p:nvSpPr>
        <p:spPr>
          <a:xfrm>
            <a:off x="822960" y="5623560"/>
            <a:ext cx="10607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Défi : inventez une phrase 100 % courte ou 100 % longue… et faites-la lire à l’autre équipe !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Le loto des sons doubles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2633472" cy="310896"/>
          </a:xfrm>
          <a:prstGeom prst="roundRect">
            <a:avLst>
              <a:gd name="adj" fmla="val 14706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SÉANCE 2 · ① ÉCOUTER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9747504" y="393192"/>
            <a:ext cx="1682496" cy="914"/>
          </a:xfrm>
          <a:prstGeom prst="line">
            <a:avLst/>
          </a:prstGeom>
          <a:noFill/>
          <a:ln w="25400">
            <a:solidFill>
              <a:srgbClr val="D5DCE6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9582912" y="228600"/>
            <a:ext cx="329184" cy="32918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A6FB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582912" y="2286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1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10003536" y="228600"/>
            <a:ext cx="329184" cy="329184"/>
          </a:xfrm>
          <a:prstGeom prst="ellipse">
            <a:avLst/>
          </a:prstGeom>
          <a:solidFill>
            <a:schemeClr val="accent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0003536" y="2286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10424160" y="228600"/>
            <a:ext cx="329184" cy="32918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9700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0424160" y="2286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3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10844784" y="228600"/>
            <a:ext cx="329184" cy="32918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E7D4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0844784" y="2286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4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11265408" y="228600"/>
            <a:ext cx="329184" cy="32918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E4A9E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11265408" y="2286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E4A9E"/>
                </a:solidFill>
              </a:rPr>
              <a:t>5</a:t>
            </a:r>
            <a:endParaRPr lang="en-US" sz="1200" dirty="0"/>
          </a:p>
        </p:txBody>
      </p:sp>
      <p:pic>
        <p:nvPicPr>
          <p:cNvPr id="16" name="Image 0" descr="HandPointRigh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17904"/>
            <a:ext cx="274320" cy="27432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960120" y="1481328"/>
            <a:ext cx="10680192" cy="31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accent5"/>
                </a:solidFill>
              </a:rPr>
              <a:t>Recopiez 9 mots dans une grille 3 × 3. L’enseignant·e lit : cochez ! Une ligne = « </a:t>
            </a:r>
            <a:r>
              <a:rPr lang="en-US" sz="1700" b="1" i="1" dirty="0">
                <a:solidFill>
                  <a:schemeClr val="accent5"/>
                </a:solidFill>
              </a:rPr>
              <a:t>Bingo!</a:t>
            </a:r>
            <a:r>
              <a:rPr lang="en-US" sz="1700" i="1" dirty="0">
                <a:solidFill>
                  <a:schemeClr val="accent5"/>
                </a:solidFill>
              </a:rPr>
              <a:t> »</a:t>
            </a:r>
            <a:endParaRPr lang="en-US" sz="1700" dirty="0"/>
          </a:p>
        </p:txBody>
      </p:sp>
      <p:sp>
        <p:nvSpPr>
          <p:cNvPr id="18" name="Shape 14"/>
          <p:cNvSpPr/>
          <p:nvPr/>
        </p:nvSpPr>
        <p:spPr>
          <a:xfrm>
            <a:off x="548640" y="1959864"/>
            <a:ext cx="1734312" cy="3566160"/>
          </a:xfrm>
          <a:prstGeom prst="roundRect">
            <a:avLst>
              <a:gd name="adj" fmla="val 4218"/>
            </a:avLst>
          </a:prstGeom>
          <a:solidFill>
            <a:schemeClr val="bg1"/>
          </a:solidFill>
          <a:ln w="22225">
            <a:solidFill>
              <a:srgbClr val="D9700F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548640" y="1959864"/>
            <a:ext cx="1734312" cy="914400"/>
          </a:xfrm>
          <a:prstGeom prst="roundRect">
            <a:avLst>
              <a:gd name="adj" fmla="val 8000"/>
            </a:avLst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548640" y="1978152"/>
            <a:ext cx="17343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ij / ei</a:t>
            </a:r>
            <a:endParaRPr lang="en-US" sz="2600" dirty="0"/>
          </a:p>
        </p:txBody>
      </p:sp>
      <p:sp>
        <p:nvSpPr>
          <p:cNvPr id="21" name="Text 17"/>
          <p:cNvSpPr txBox="1"/>
          <p:nvPr/>
        </p:nvSpPr>
        <p:spPr>
          <a:xfrm>
            <a:off x="548640" y="2490216"/>
            <a:ext cx="1734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bg1"/>
                </a:solidFill>
              </a:rPr>
              <a:t>« réveil »</a:t>
            </a:r>
            <a:endParaRPr lang="en-US" sz="1400" dirty="0"/>
          </a:p>
        </p:txBody>
      </p:sp>
      <p:sp>
        <p:nvSpPr>
          <p:cNvPr id="22" name="Text 18"/>
          <p:cNvSpPr txBox="1"/>
          <p:nvPr/>
        </p:nvSpPr>
        <p:spPr>
          <a:xfrm>
            <a:off x="548640" y="2983992"/>
            <a:ext cx="1734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klein</a:t>
            </a:r>
            <a:endParaRPr lang="en-US" sz="2000" dirty="0"/>
          </a:p>
        </p:txBody>
      </p:sp>
      <p:sp>
        <p:nvSpPr>
          <p:cNvPr id="23" name="Text 19"/>
          <p:cNvSpPr txBox="1"/>
          <p:nvPr/>
        </p:nvSpPr>
        <p:spPr>
          <a:xfrm>
            <a:off x="548640" y="3477768"/>
            <a:ext cx="1734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lijst</a:t>
            </a:r>
            <a:endParaRPr lang="en-US" sz="2000" dirty="0"/>
          </a:p>
        </p:txBody>
      </p:sp>
      <p:sp>
        <p:nvSpPr>
          <p:cNvPr id="24" name="Text 20"/>
          <p:cNvSpPr txBox="1"/>
          <p:nvPr/>
        </p:nvSpPr>
        <p:spPr>
          <a:xfrm>
            <a:off x="548640" y="3971544"/>
            <a:ext cx="1734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reis</a:t>
            </a:r>
            <a:endParaRPr lang="en-US" sz="2000" dirty="0"/>
          </a:p>
        </p:txBody>
      </p:sp>
      <p:sp>
        <p:nvSpPr>
          <p:cNvPr id="25" name="Text 21"/>
          <p:cNvSpPr txBox="1"/>
          <p:nvPr/>
        </p:nvSpPr>
        <p:spPr>
          <a:xfrm>
            <a:off x="548640" y="4465320"/>
            <a:ext cx="1734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ijs</a:t>
            </a:r>
            <a:endParaRPr lang="en-US" sz="2000" dirty="0"/>
          </a:p>
        </p:txBody>
      </p:sp>
      <p:sp>
        <p:nvSpPr>
          <p:cNvPr id="26" name="Text 22"/>
          <p:cNvSpPr txBox="1"/>
          <p:nvPr/>
        </p:nvSpPr>
        <p:spPr>
          <a:xfrm>
            <a:off x="548640" y="4959096"/>
            <a:ext cx="1734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prijs</a:t>
            </a:r>
            <a:endParaRPr lang="en-US" sz="2000" dirty="0"/>
          </a:p>
        </p:txBody>
      </p:sp>
      <p:sp>
        <p:nvSpPr>
          <p:cNvPr id="27" name="Shape 23"/>
          <p:cNvSpPr/>
          <p:nvPr/>
        </p:nvSpPr>
        <p:spPr>
          <a:xfrm>
            <a:off x="2420112" y="1959864"/>
            <a:ext cx="1734312" cy="3566160"/>
          </a:xfrm>
          <a:prstGeom prst="roundRect">
            <a:avLst>
              <a:gd name="adj" fmla="val 4218"/>
            </a:avLst>
          </a:prstGeom>
          <a:solidFill>
            <a:schemeClr val="bg1"/>
          </a:solidFill>
          <a:ln w="22225">
            <a:solidFill>
              <a:srgbClr val="2A6FB0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28" name="Shape 24"/>
          <p:cNvSpPr/>
          <p:nvPr/>
        </p:nvSpPr>
        <p:spPr>
          <a:xfrm>
            <a:off x="2420112" y="1959864"/>
            <a:ext cx="1734312" cy="914400"/>
          </a:xfrm>
          <a:prstGeom prst="roundRect">
            <a:avLst>
              <a:gd name="adj" fmla="val 8000"/>
            </a:avLst>
          </a:prstGeom>
          <a:solidFill>
            <a:schemeClr val="accent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Text 25"/>
          <p:cNvSpPr txBox="1"/>
          <p:nvPr/>
        </p:nvSpPr>
        <p:spPr>
          <a:xfrm>
            <a:off x="2420112" y="1978152"/>
            <a:ext cx="17343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ui</a:t>
            </a:r>
            <a:endParaRPr lang="en-US" sz="2600" dirty="0"/>
          </a:p>
        </p:txBody>
      </p:sp>
      <p:sp>
        <p:nvSpPr>
          <p:cNvPr id="30" name="Text 26"/>
          <p:cNvSpPr txBox="1"/>
          <p:nvPr/>
        </p:nvSpPr>
        <p:spPr>
          <a:xfrm>
            <a:off x="2420112" y="2490216"/>
            <a:ext cx="1734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bg1"/>
                </a:solidFill>
              </a:rPr>
              <a:t>« œil »</a:t>
            </a:r>
            <a:endParaRPr lang="en-US" sz="1400" dirty="0"/>
          </a:p>
        </p:txBody>
      </p:sp>
      <p:sp>
        <p:nvSpPr>
          <p:cNvPr id="31" name="Text 27"/>
          <p:cNvSpPr txBox="1"/>
          <p:nvPr/>
        </p:nvSpPr>
        <p:spPr>
          <a:xfrm>
            <a:off x="2420112" y="2983992"/>
            <a:ext cx="1734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kuit</a:t>
            </a:r>
            <a:endParaRPr lang="en-US" sz="2000" dirty="0"/>
          </a:p>
        </p:txBody>
      </p:sp>
      <p:sp>
        <p:nvSpPr>
          <p:cNvPr id="32" name="Text 28"/>
          <p:cNvSpPr txBox="1"/>
          <p:nvPr/>
        </p:nvSpPr>
        <p:spPr>
          <a:xfrm>
            <a:off x="2420112" y="3477768"/>
            <a:ext cx="1734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luis</a:t>
            </a:r>
            <a:endParaRPr lang="en-US" sz="2000" dirty="0"/>
          </a:p>
        </p:txBody>
      </p:sp>
      <p:sp>
        <p:nvSpPr>
          <p:cNvPr id="33" name="Text 29"/>
          <p:cNvSpPr txBox="1"/>
          <p:nvPr/>
        </p:nvSpPr>
        <p:spPr>
          <a:xfrm>
            <a:off x="2420112" y="3971544"/>
            <a:ext cx="1734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kuil</a:t>
            </a:r>
            <a:endParaRPr lang="en-US" sz="2000" dirty="0"/>
          </a:p>
        </p:txBody>
      </p:sp>
      <p:sp>
        <p:nvSpPr>
          <p:cNvPr id="34" name="Text 30"/>
          <p:cNvSpPr txBox="1"/>
          <p:nvPr/>
        </p:nvSpPr>
        <p:spPr>
          <a:xfrm>
            <a:off x="2420112" y="4465320"/>
            <a:ext cx="1734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ruit</a:t>
            </a:r>
            <a:endParaRPr lang="en-US" sz="2000" dirty="0"/>
          </a:p>
        </p:txBody>
      </p:sp>
      <p:sp>
        <p:nvSpPr>
          <p:cNvPr id="35" name="Text 31"/>
          <p:cNvSpPr txBox="1"/>
          <p:nvPr/>
        </p:nvSpPr>
        <p:spPr>
          <a:xfrm>
            <a:off x="2420112" y="4959096"/>
            <a:ext cx="1734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uit</a:t>
            </a:r>
            <a:endParaRPr lang="en-US" sz="2000" dirty="0"/>
          </a:p>
        </p:txBody>
      </p:sp>
      <p:sp>
        <p:nvSpPr>
          <p:cNvPr id="36" name="Shape 32"/>
          <p:cNvSpPr/>
          <p:nvPr/>
        </p:nvSpPr>
        <p:spPr>
          <a:xfrm>
            <a:off x="4291584" y="1959864"/>
            <a:ext cx="1734312" cy="3566160"/>
          </a:xfrm>
          <a:prstGeom prst="roundRect">
            <a:avLst>
              <a:gd name="adj" fmla="val 4218"/>
            </a:avLst>
          </a:prstGeom>
          <a:solidFill>
            <a:schemeClr val="bg1"/>
          </a:solidFill>
          <a:ln w="22225">
            <a:solidFill>
              <a:srgbClr val="2E7D4F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37" name="Shape 33"/>
          <p:cNvSpPr/>
          <p:nvPr/>
        </p:nvSpPr>
        <p:spPr>
          <a:xfrm>
            <a:off x="4291584" y="1959864"/>
            <a:ext cx="1734312" cy="914400"/>
          </a:xfrm>
          <a:prstGeom prst="roundRect">
            <a:avLst>
              <a:gd name="adj" fmla="val 8000"/>
            </a:avLst>
          </a:prstGeom>
          <a:solidFill>
            <a:schemeClr val="accent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Text 34"/>
          <p:cNvSpPr txBox="1"/>
          <p:nvPr/>
        </p:nvSpPr>
        <p:spPr>
          <a:xfrm>
            <a:off x="4291584" y="1978152"/>
            <a:ext cx="17343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ou / au</a:t>
            </a:r>
            <a:endParaRPr lang="en-US" sz="2600" dirty="0"/>
          </a:p>
        </p:txBody>
      </p:sp>
      <p:sp>
        <p:nvSpPr>
          <p:cNvPr id="39" name="Text 35"/>
          <p:cNvSpPr txBox="1"/>
          <p:nvPr/>
        </p:nvSpPr>
        <p:spPr>
          <a:xfrm>
            <a:off x="4291584" y="2490216"/>
            <a:ext cx="1734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bg1"/>
                </a:solidFill>
              </a:rPr>
              <a:t>« aou »</a:t>
            </a:r>
            <a:endParaRPr lang="en-US" sz="1400" dirty="0"/>
          </a:p>
        </p:txBody>
      </p:sp>
      <p:sp>
        <p:nvSpPr>
          <p:cNvPr id="40" name="Text 36"/>
          <p:cNvSpPr txBox="1"/>
          <p:nvPr/>
        </p:nvSpPr>
        <p:spPr>
          <a:xfrm>
            <a:off x="4291584" y="2983992"/>
            <a:ext cx="1734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rauw</a:t>
            </a:r>
            <a:endParaRPr lang="en-US" sz="2000" dirty="0"/>
          </a:p>
        </p:txBody>
      </p:sp>
      <p:sp>
        <p:nvSpPr>
          <p:cNvPr id="41" name="Text 37"/>
          <p:cNvSpPr txBox="1"/>
          <p:nvPr/>
        </p:nvSpPr>
        <p:spPr>
          <a:xfrm>
            <a:off x="4291584" y="3477768"/>
            <a:ext cx="1734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bouw</a:t>
            </a:r>
            <a:endParaRPr lang="en-US" sz="2000" dirty="0"/>
          </a:p>
        </p:txBody>
      </p:sp>
      <p:sp>
        <p:nvSpPr>
          <p:cNvPr id="42" name="Text 38"/>
          <p:cNvSpPr txBox="1"/>
          <p:nvPr/>
        </p:nvSpPr>
        <p:spPr>
          <a:xfrm>
            <a:off x="4291584" y="3971544"/>
            <a:ext cx="1734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klauw</a:t>
            </a:r>
            <a:endParaRPr lang="en-US" sz="2000" dirty="0"/>
          </a:p>
        </p:txBody>
      </p:sp>
      <p:sp>
        <p:nvSpPr>
          <p:cNvPr id="43" name="Text 39"/>
          <p:cNvSpPr txBox="1"/>
          <p:nvPr/>
        </p:nvSpPr>
        <p:spPr>
          <a:xfrm>
            <a:off x="4291584" y="4465320"/>
            <a:ext cx="1734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stout</a:t>
            </a:r>
            <a:endParaRPr lang="en-US" sz="2000" dirty="0"/>
          </a:p>
        </p:txBody>
      </p:sp>
      <p:sp>
        <p:nvSpPr>
          <p:cNvPr id="44" name="Text 40"/>
          <p:cNvSpPr txBox="1"/>
          <p:nvPr/>
        </p:nvSpPr>
        <p:spPr>
          <a:xfrm>
            <a:off x="4291584" y="4959096"/>
            <a:ext cx="1734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koud</a:t>
            </a:r>
            <a:endParaRPr lang="en-US" sz="2000" dirty="0"/>
          </a:p>
        </p:txBody>
      </p:sp>
      <p:sp>
        <p:nvSpPr>
          <p:cNvPr id="45" name="Shape 41"/>
          <p:cNvSpPr/>
          <p:nvPr/>
        </p:nvSpPr>
        <p:spPr>
          <a:xfrm>
            <a:off x="6163056" y="1959864"/>
            <a:ext cx="1734312" cy="3566160"/>
          </a:xfrm>
          <a:prstGeom prst="roundRect">
            <a:avLst>
              <a:gd name="adj" fmla="val 4218"/>
            </a:avLst>
          </a:prstGeom>
          <a:solidFill>
            <a:schemeClr val="bg1"/>
          </a:solidFill>
          <a:ln w="22225">
            <a:solidFill>
              <a:srgbClr val="B4236A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46" name="Shape 42"/>
          <p:cNvSpPr/>
          <p:nvPr/>
        </p:nvSpPr>
        <p:spPr>
          <a:xfrm>
            <a:off x="6163056" y="1959864"/>
            <a:ext cx="1734312" cy="914400"/>
          </a:xfrm>
          <a:prstGeom prst="roundRect">
            <a:avLst>
              <a:gd name="adj" fmla="val 8000"/>
            </a:avLst>
          </a:prstGeom>
          <a:solidFill>
            <a:schemeClr val="accent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7" name="Text 43"/>
          <p:cNvSpPr txBox="1"/>
          <p:nvPr/>
        </p:nvSpPr>
        <p:spPr>
          <a:xfrm>
            <a:off x="6163056" y="1978152"/>
            <a:ext cx="17343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eu</a:t>
            </a:r>
            <a:endParaRPr lang="en-US" sz="2600" dirty="0"/>
          </a:p>
        </p:txBody>
      </p:sp>
      <p:sp>
        <p:nvSpPr>
          <p:cNvPr id="48" name="Text 44"/>
          <p:cNvSpPr txBox="1"/>
          <p:nvPr/>
        </p:nvSpPr>
        <p:spPr>
          <a:xfrm>
            <a:off x="6163056" y="2490216"/>
            <a:ext cx="1734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bg1"/>
                </a:solidFill>
              </a:rPr>
              <a:t>« peu »</a:t>
            </a:r>
            <a:endParaRPr lang="en-US" sz="1400" dirty="0"/>
          </a:p>
        </p:txBody>
      </p:sp>
      <p:sp>
        <p:nvSpPr>
          <p:cNvPr id="49" name="Text 45"/>
          <p:cNvSpPr txBox="1"/>
          <p:nvPr/>
        </p:nvSpPr>
        <p:spPr>
          <a:xfrm>
            <a:off x="6163056" y="2983992"/>
            <a:ext cx="1734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beuk</a:t>
            </a:r>
            <a:endParaRPr lang="en-US" sz="2000" dirty="0"/>
          </a:p>
        </p:txBody>
      </p:sp>
      <p:sp>
        <p:nvSpPr>
          <p:cNvPr id="50" name="Text 46"/>
          <p:cNvSpPr txBox="1"/>
          <p:nvPr/>
        </p:nvSpPr>
        <p:spPr>
          <a:xfrm>
            <a:off x="6163056" y="3477768"/>
            <a:ext cx="1734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deur</a:t>
            </a:r>
            <a:endParaRPr lang="en-US" sz="2000" dirty="0"/>
          </a:p>
        </p:txBody>
      </p:sp>
      <p:sp>
        <p:nvSpPr>
          <p:cNvPr id="51" name="Text 47"/>
          <p:cNvSpPr txBox="1"/>
          <p:nvPr/>
        </p:nvSpPr>
        <p:spPr>
          <a:xfrm>
            <a:off x="6163056" y="3971544"/>
            <a:ext cx="1734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kleur</a:t>
            </a:r>
            <a:endParaRPr lang="en-US" sz="2000" dirty="0"/>
          </a:p>
        </p:txBody>
      </p:sp>
      <p:sp>
        <p:nvSpPr>
          <p:cNvPr id="52" name="Text 48"/>
          <p:cNvSpPr txBox="1"/>
          <p:nvPr/>
        </p:nvSpPr>
        <p:spPr>
          <a:xfrm>
            <a:off x="6163056" y="4465320"/>
            <a:ext cx="1734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leuk</a:t>
            </a:r>
            <a:endParaRPr lang="en-US" sz="2000" dirty="0"/>
          </a:p>
        </p:txBody>
      </p:sp>
      <p:sp>
        <p:nvSpPr>
          <p:cNvPr id="53" name="Text 49"/>
          <p:cNvSpPr txBox="1"/>
          <p:nvPr/>
        </p:nvSpPr>
        <p:spPr>
          <a:xfrm>
            <a:off x="6163056" y="4959096"/>
            <a:ext cx="1734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keuken</a:t>
            </a:r>
            <a:endParaRPr lang="en-US" sz="2000" dirty="0"/>
          </a:p>
        </p:txBody>
      </p:sp>
      <p:sp>
        <p:nvSpPr>
          <p:cNvPr id="54" name="Shape 50"/>
          <p:cNvSpPr/>
          <p:nvPr/>
        </p:nvSpPr>
        <p:spPr>
          <a:xfrm>
            <a:off x="8034528" y="1959864"/>
            <a:ext cx="1734312" cy="3566160"/>
          </a:xfrm>
          <a:prstGeom prst="roundRect">
            <a:avLst>
              <a:gd name="adj" fmla="val 4218"/>
            </a:avLst>
          </a:prstGeom>
          <a:solidFill>
            <a:schemeClr val="bg1"/>
          </a:solidFill>
          <a:ln w="22225">
            <a:solidFill>
              <a:srgbClr val="6E4A9E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55" name="Shape 51"/>
          <p:cNvSpPr/>
          <p:nvPr/>
        </p:nvSpPr>
        <p:spPr>
          <a:xfrm>
            <a:off x="8034528" y="1959864"/>
            <a:ext cx="1734312" cy="914400"/>
          </a:xfrm>
          <a:prstGeom prst="roundRect">
            <a:avLst>
              <a:gd name="adj" fmla="val 8000"/>
            </a:avLst>
          </a:prstGeom>
          <a:solidFill>
            <a:srgbClr val="6E4A9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6" name="Text 52"/>
          <p:cNvSpPr txBox="1"/>
          <p:nvPr/>
        </p:nvSpPr>
        <p:spPr>
          <a:xfrm>
            <a:off x="8034528" y="1978152"/>
            <a:ext cx="17343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oe</a:t>
            </a:r>
            <a:endParaRPr lang="en-US" sz="2600" dirty="0"/>
          </a:p>
        </p:txBody>
      </p:sp>
      <p:sp>
        <p:nvSpPr>
          <p:cNvPr id="57" name="Text 53"/>
          <p:cNvSpPr txBox="1"/>
          <p:nvPr/>
        </p:nvSpPr>
        <p:spPr>
          <a:xfrm>
            <a:off x="8034528" y="2490216"/>
            <a:ext cx="1734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bg1"/>
                </a:solidFill>
              </a:rPr>
              <a:t>« ou »</a:t>
            </a:r>
            <a:endParaRPr lang="en-US" sz="1400" dirty="0"/>
          </a:p>
        </p:txBody>
      </p:sp>
      <p:sp>
        <p:nvSpPr>
          <p:cNvPr id="58" name="Text 54"/>
          <p:cNvSpPr txBox="1"/>
          <p:nvPr/>
        </p:nvSpPr>
        <p:spPr>
          <a:xfrm>
            <a:off x="8034528" y="2983992"/>
            <a:ext cx="1734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zoet</a:t>
            </a:r>
            <a:endParaRPr lang="en-US" sz="2000" dirty="0"/>
          </a:p>
        </p:txBody>
      </p:sp>
      <p:sp>
        <p:nvSpPr>
          <p:cNvPr id="59" name="Text 55"/>
          <p:cNvSpPr txBox="1"/>
          <p:nvPr/>
        </p:nvSpPr>
        <p:spPr>
          <a:xfrm>
            <a:off x="8034528" y="3477768"/>
            <a:ext cx="1734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stoep</a:t>
            </a:r>
            <a:endParaRPr lang="en-US" sz="2000" dirty="0"/>
          </a:p>
        </p:txBody>
      </p:sp>
      <p:sp>
        <p:nvSpPr>
          <p:cNvPr id="60" name="Text 56"/>
          <p:cNvSpPr txBox="1"/>
          <p:nvPr/>
        </p:nvSpPr>
        <p:spPr>
          <a:xfrm>
            <a:off x="8034528" y="3971544"/>
            <a:ext cx="1734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boef</a:t>
            </a:r>
            <a:endParaRPr lang="en-US" sz="2000" dirty="0"/>
          </a:p>
        </p:txBody>
      </p:sp>
      <p:sp>
        <p:nvSpPr>
          <p:cNvPr id="61" name="Text 57"/>
          <p:cNvSpPr txBox="1"/>
          <p:nvPr/>
        </p:nvSpPr>
        <p:spPr>
          <a:xfrm>
            <a:off x="8034528" y="4465320"/>
            <a:ext cx="1734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moe</a:t>
            </a:r>
            <a:endParaRPr lang="en-US" sz="2000" dirty="0"/>
          </a:p>
        </p:txBody>
      </p:sp>
      <p:sp>
        <p:nvSpPr>
          <p:cNvPr id="62" name="Text 58"/>
          <p:cNvSpPr txBox="1"/>
          <p:nvPr/>
        </p:nvSpPr>
        <p:spPr>
          <a:xfrm>
            <a:off x="8034528" y="4959096"/>
            <a:ext cx="1734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Koen</a:t>
            </a:r>
            <a:endParaRPr lang="en-US" sz="2000" dirty="0"/>
          </a:p>
        </p:txBody>
      </p:sp>
      <p:sp>
        <p:nvSpPr>
          <p:cNvPr id="63" name="Shape 59"/>
          <p:cNvSpPr/>
          <p:nvPr/>
        </p:nvSpPr>
        <p:spPr>
          <a:xfrm>
            <a:off x="9906000" y="1959864"/>
            <a:ext cx="1734312" cy="3566160"/>
          </a:xfrm>
          <a:prstGeom prst="roundRect">
            <a:avLst>
              <a:gd name="adj" fmla="val 4218"/>
            </a:avLst>
          </a:prstGeom>
          <a:solidFill>
            <a:schemeClr val="bg1"/>
          </a:solidFill>
          <a:ln w="22225">
            <a:solidFill>
              <a:srgbClr val="4A5A70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64" name="Shape 60"/>
          <p:cNvSpPr/>
          <p:nvPr/>
        </p:nvSpPr>
        <p:spPr>
          <a:xfrm>
            <a:off x="9906000" y="1959864"/>
            <a:ext cx="1734312" cy="914400"/>
          </a:xfrm>
          <a:prstGeom prst="roundRect">
            <a:avLst>
              <a:gd name="adj" fmla="val 8000"/>
            </a:avLst>
          </a:prstGeom>
          <a:solidFill>
            <a:schemeClr val="accent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5" name="Text 61"/>
          <p:cNvSpPr txBox="1"/>
          <p:nvPr/>
        </p:nvSpPr>
        <p:spPr>
          <a:xfrm>
            <a:off x="9906000" y="1978152"/>
            <a:ext cx="17343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ie</a:t>
            </a:r>
            <a:endParaRPr lang="en-US" sz="2600" dirty="0"/>
          </a:p>
        </p:txBody>
      </p:sp>
      <p:sp>
        <p:nvSpPr>
          <p:cNvPr id="66" name="Text 62"/>
          <p:cNvSpPr txBox="1"/>
          <p:nvPr/>
        </p:nvSpPr>
        <p:spPr>
          <a:xfrm>
            <a:off x="9906000" y="2490216"/>
            <a:ext cx="1734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bg1"/>
                </a:solidFill>
              </a:rPr>
              <a:t>« i »</a:t>
            </a:r>
            <a:endParaRPr lang="en-US" sz="1400" dirty="0"/>
          </a:p>
        </p:txBody>
      </p:sp>
      <p:sp>
        <p:nvSpPr>
          <p:cNvPr id="67" name="Text 63"/>
          <p:cNvSpPr txBox="1"/>
          <p:nvPr/>
        </p:nvSpPr>
        <p:spPr>
          <a:xfrm>
            <a:off x="9906000" y="2983992"/>
            <a:ext cx="1734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bier</a:t>
            </a:r>
            <a:endParaRPr lang="en-US" sz="2000" dirty="0"/>
          </a:p>
        </p:txBody>
      </p:sp>
      <p:sp>
        <p:nvSpPr>
          <p:cNvPr id="68" name="Text 64"/>
          <p:cNvSpPr txBox="1"/>
          <p:nvPr/>
        </p:nvSpPr>
        <p:spPr>
          <a:xfrm>
            <a:off x="9906000" y="3477768"/>
            <a:ext cx="1734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lief</a:t>
            </a:r>
            <a:endParaRPr lang="en-US" sz="2000" dirty="0"/>
          </a:p>
        </p:txBody>
      </p:sp>
      <p:sp>
        <p:nvSpPr>
          <p:cNvPr id="69" name="Text 65"/>
          <p:cNvSpPr txBox="1"/>
          <p:nvPr/>
        </p:nvSpPr>
        <p:spPr>
          <a:xfrm>
            <a:off x="9906000" y="3971544"/>
            <a:ext cx="1734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stier</a:t>
            </a:r>
            <a:endParaRPr lang="en-US" sz="2000" dirty="0"/>
          </a:p>
        </p:txBody>
      </p:sp>
      <p:sp>
        <p:nvSpPr>
          <p:cNvPr id="70" name="Text 66"/>
          <p:cNvSpPr txBox="1"/>
          <p:nvPr/>
        </p:nvSpPr>
        <p:spPr>
          <a:xfrm>
            <a:off x="9906000" y="4465320"/>
            <a:ext cx="1734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Griet</a:t>
            </a:r>
            <a:endParaRPr lang="en-US" sz="2000" dirty="0"/>
          </a:p>
        </p:txBody>
      </p:sp>
      <p:sp>
        <p:nvSpPr>
          <p:cNvPr id="71" name="Text 67"/>
          <p:cNvSpPr txBox="1"/>
          <p:nvPr/>
        </p:nvSpPr>
        <p:spPr>
          <a:xfrm>
            <a:off x="9906000" y="4959096"/>
            <a:ext cx="1734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drie</a:t>
            </a:r>
            <a:endParaRPr lang="en-US" sz="2000" dirty="0"/>
          </a:p>
        </p:txBody>
      </p:sp>
      <p:sp>
        <p:nvSpPr>
          <p:cNvPr id="72" name="Text 68"/>
          <p:cNvSpPr txBox="1"/>
          <p:nvPr/>
        </p:nvSpPr>
        <p:spPr>
          <a:xfrm>
            <a:off x="548640" y="5663184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Ma grille :</a:t>
            </a:r>
            <a:endParaRPr lang="en-US" sz="1400" dirty="0"/>
          </a:p>
        </p:txBody>
      </p:sp>
      <p:sp>
        <p:nvSpPr>
          <p:cNvPr id="73" name="Shape 69"/>
          <p:cNvSpPr/>
          <p:nvPr/>
        </p:nvSpPr>
        <p:spPr>
          <a:xfrm>
            <a:off x="1874520" y="5617464"/>
            <a:ext cx="36576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4A5A70"/>
            </a:solidFill>
            <a:prstDash val="solid"/>
          </a:ln>
        </p:spPr>
      </p:sp>
      <p:sp>
        <p:nvSpPr>
          <p:cNvPr id="74" name="Shape 70"/>
          <p:cNvSpPr/>
          <p:nvPr/>
        </p:nvSpPr>
        <p:spPr>
          <a:xfrm>
            <a:off x="2258568" y="5617464"/>
            <a:ext cx="36576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4A5A70"/>
            </a:solidFill>
            <a:prstDash val="solid"/>
          </a:ln>
        </p:spPr>
      </p:sp>
      <p:sp>
        <p:nvSpPr>
          <p:cNvPr id="75" name="Shape 71"/>
          <p:cNvSpPr/>
          <p:nvPr/>
        </p:nvSpPr>
        <p:spPr>
          <a:xfrm>
            <a:off x="2642616" y="5617464"/>
            <a:ext cx="36576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4A5A70"/>
            </a:solidFill>
            <a:prstDash val="solid"/>
          </a:ln>
        </p:spPr>
      </p:sp>
      <p:sp>
        <p:nvSpPr>
          <p:cNvPr id="76" name="Shape 72"/>
          <p:cNvSpPr/>
          <p:nvPr/>
        </p:nvSpPr>
        <p:spPr>
          <a:xfrm>
            <a:off x="1874520" y="5836920"/>
            <a:ext cx="36576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4A5A70"/>
            </a:solidFill>
            <a:prstDash val="solid"/>
          </a:ln>
        </p:spPr>
      </p:sp>
      <p:sp>
        <p:nvSpPr>
          <p:cNvPr id="77" name="Shape 73"/>
          <p:cNvSpPr/>
          <p:nvPr/>
        </p:nvSpPr>
        <p:spPr>
          <a:xfrm>
            <a:off x="2258568" y="5836920"/>
            <a:ext cx="36576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4A5A70"/>
            </a:solidFill>
            <a:prstDash val="solid"/>
          </a:ln>
        </p:spPr>
      </p:sp>
      <p:sp>
        <p:nvSpPr>
          <p:cNvPr id="78" name="Shape 74"/>
          <p:cNvSpPr/>
          <p:nvPr/>
        </p:nvSpPr>
        <p:spPr>
          <a:xfrm>
            <a:off x="2642616" y="5836920"/>
            <a:ext cx="36576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4A5A70"/>
            </a:solidFill>
            <a:prstDash val="solid"/>
          </a:ln>
        </p:spPr>
      </p:sp>
      <p:sp>
        <p:nvSpPr>
          <p:cNvPr id="79" name="Shape 75"/>
          <p:cNvSpPr/>
          <p:nvPr/>
        </p:nvSpPr>
        <p:spPr>
          <a:xfrm>
            <a:off x="1874520" y="6056376"/>
            <a:ext cx="36576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4A5A70"/>
            </a:solidFill>
            <a:prstDash val="solid"/>
          </a:ln>
        </p:spPr>
      </p:sp>
      <p:sp>
        <p:nvSpPr>
          <p:cNvPr id="80" name="Shape 76"/>
          <p:cNvSpPr/>
          <p:nvPr/>
        </p:nvSpPr>
        <p:spPr>
          <a:xfrm>
            <a:off x="2258568" y="6056376"/>
            <a:ext cx="36576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4A5A70"/>
            </a:solidFill>
            <a:prstDash val="solid"/>
          </a:ln>
        </p:spPr>
      </p:sp>
      <p:sp>
        <p:nvSpPr>
          <p:cNvPr id="81" name="Shape 77"/>
          <p:cNvSpPr/>
          <p:nvPr/>
        </p:nvSpPr>
        <p:spPr>
          <a:xfrm>
            <a:off x="2642616" y="6056376"/>
            <a:ext cx="36576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4A5A70"/>
            </a:solidFill>
            <a:prstDash val="solid"/>
          </a:ln>
        </p:spPr>
      </p:sp>
      <p:sp>
        <p:nvSpPr>
          <p:cNvPr id="82" name="Text 78"/>
          <p:cNvSpPr txBox="1"/>
          <p:nvPr/>
        </p:nvSpPr>
        <p:spPr>
          <a:xfrm>
            <a:off x="3200400" y="5617464"/>
            <a:ext cx="84399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chemeClr val="accent5"/>
                </a:solidFill>
              </a:rPr>
              <a:t>eu</a:t>
            </a:r>
            <a:r>
              <a:rPr lang="en-US" sz="1500" i="1" dirty="0">
                <a:solidFill>
                  <a:schemeClr val="accent5"/>
                </a:solidFill>
              </a:rPr>
              <a:t> et </a:t>
            </a:r>
            <a:r>
              <a:rPr lang="en-US" sz="1500" i="1" dirty="0">
                <a:solidFill>
                  <a:schemeClr val="accent5"/>
                </a:solidFill>
              </a:rPr>
              <a:t>oe</a:t>
            </a:r>
            <a:r>
              <a:rPr lang="en-US" sz="1500" i="1" dirty="0">
                <a:solidFill>
                  <a:schemeClr val="accent5"/>
                </a:solidFill>
              </a:rPr>
              <a:t> : deux lettres, mais un seul son, sans glissement (M6). Ligne gagnante = à lire sans faute !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Le toboggan u · uu · ui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3065069" cy="310896"/>
          </a:xfrm>
          <a:prstGeom prst="roundRect">
            <a:avLst>
              <a:gd name="adj" fmla="val 14706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SÉANCE 2 · ② S’ENTRAÎNER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9747504" y="393192"/>
            <a:ext cx="1682496" cy="914"/>
          </a:xfrm>
          <a:prstGeom prst="line">
            <a:avLst/>
          </a:prstGeom>
          <a:noFill/>
          <a:ln w="25400">
            <a:solidFill>
              <a:srgbClr val="D5DCE6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9582912" y="228600"/>
            <a:ext cx="329184" cy="32918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A6FB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582912" y="2286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1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10003536" y="228600"/>
            <a:ext cx="329184" cy="329184"/>
          </a:xfrm>
          <a:prstGeom prst="ellipse">
            <a:avLst/>
          </a:prstGeom>
          <a:solidFill>
            <a:schemeClr val="accent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0003536" y="2286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10424160" y="228600"/>
            <a:ext cx="329184" cy="32918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9700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0424160" y="2286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3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10844784" y="228600"/>
            <a:ext cx="329184" cy="32918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E7D4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0844784" y="2286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4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11265408" y="228600"/>
            <a:ext cx="329184" cy="32918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E4A9E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11265408" y="2286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E4A9E"/>
                </a:solidFill>
              </a:rPr>
              <a:t>5</a:t>
            </a:r>
            <a:endParaRPr lang="en-US" sz="1200" dirty="0"/>
          </a:p>
        </p:txBody>
      </p:sp>
      <p:pic>
        <p:nvPicPr>
          <p:cNvPr id="16" name="Image 0" descr="HandPointRigh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17904"/>
            <a:ext cx="274320" cy="27432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960120" y="1481328"/>
            <a:ext cx="10680192" cy="31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accent5"/>
                </a:solidFill>
              </a:rPr>
              <a:t>Lisez chaque rangée en glissant, de plus en plus vite. Puis : 1, 2 ou 3 doigts ?</a:t>
            </a:r>
            <a:endParaRPr lang="en-US" sz="1700" dirty="0"/>
          </a:p>
        </p:txBody>
      </p:sp>
      <p:sp>
        <p:nvSpPr>
          <p:cNvPr id="18" name="Shape 14"/>
          <p:cNvSpPr/>
          <p:nvPr/>
        </p:nvSpPr>
        <p:spPr>
          <a:xfrm>
            <a:off x="548640" y="1959864"/>
            <a:ext cx="2011680" cy="502920"/>
          </a:xfrm>
          <a:prstGeom prst="roundRect">
            <a:avLst>
              <a:gd name="adj" fmla="val 18182"/>
            </a:avLst>
          </a:prstGeom>
          <a:solidFill>
            <a:schemeClr val="accent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548640" y="1959864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bg1"/>
                </a:solidFill>
              </a:rPr>
              <a:t>① u</a:t>
            </a:r>
            <a:r>
              <a:rPr lang="en-US" sz="1600" dirty="0">
                <a:solidFill>
                  <a:schemeClr val="bg1"/>
                </a:solidFill>
              </a:rPr>
              <a:t>  </a:t>
            </a:r>
            <a:r>
              <a:rPr lang="en-US" sz="1600" i="1" dirty="0">
                <a:solidFill>
                  <a:schemeClr val="bg1"/>
                </a:solidFill>
              </a:rPr>
              <a:t>« eu » bref</a:t>
            </a:r>
            <a:endParaRPr lang="en-US" sz="1600" dirty="0"/>
          </a:p>
        </p:txBody>
      </p:sp>
      <p:sp>
        <p:nvSpPr>
          <p:cNvPr id="20" name="Shape 16"/>
          <p:cNvSpPr/>
          <p:nvPr/>
        </p:nvSpPr>
        <p:spPr>
          <a:xfrm>
            <a:off x="2971800" y="1959864"/>
            <a:ext cx="2011680" cy="502920"/>
          </a:xfrm>
          <a:prstGeom prst="roundRect">
            <a:avLst>
              <a:gd name="adj" fmla="val 18182"/>
            </a:avLst>
          </a:prstGeom>
          <a:solidFill>
            <a:schemeClr val="accent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2971800" y="1959864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bg1"/>
                </a:solidFill>
              </a:rPr>
              <a:t>② uu</a:t>
            </a:r>
            <a:r>
              <a:rPr lang="en-US" sz="1600" dirty="0">
                <a:solidFill>
                  <a:schemeClr val="bg1"/>
                </a:solidFill>
              </a:rPr>
              <a:t>  </a:t>
            </a:r>
            <a:r>
              <a:rPr lang="en-US" sz="1600" i="1" dirty="0">
                <a:solidFill>
                  <a:schemeClr val="bg1"/>
                </a:solidFill>
              </a:rPr>
              <a:t>« u » long</a:t>
            </a:r>
            <a:endParaRPr lang="en-US" sz="1600" dirty="0"/>
          </a:p>
        </p:txBody>
      </p:sp>
      <p:sp>
        <p:nvSpPr>
          <p:cNvPr id="22" name="Shape 18"/>
          <p:cNvSpPr/>
          <p:nvPr/>
        </p:nvSpPr>
        <p:spPr>
          <a:xfrm>
            <a:off x="5394960" y="1959864"/>
            <a:ext cx="2011680" cy="502920"/>
          </a:xfrm>
          <a:prstGeom prst="roundRect">
            <a:avLst>
              <a:gd name="adj" fmla="val 18182"/>
            </a:avLst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5394960" y="1959864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bg1"/>
                </a:solidFill>
              </a:rPr>
              <a:t>③ ui</a:t>
            </a:r>
            <a:r>
              <a:rPr lang="en-US" sz="1600" dirty="0">
                <a:solidFill>
                  <a:schemeClr val="bg1"/>
                </a:solidFill>
              </a:rPr>
              <a:t>  </a:t>
            </a:r>
            <a:r>
              <a:rPr lang="en-US" sz="1600" i="1" dirty="0">
                <a:solidFill>
                  <a:schemeClr val="bg1"/>
                </a:solidFill>
              </a:rPr>
              <a:t>« œil »</a:t>
            </a:r>
            <a:endParaRPr lang="en-US" sz="1600" dirty="0"/>
          </a:p>
        </p:txBody>
      </p:sp>
      <p:sp>
        <p:nvSpPr>
          <p:cNvPr id="24" name="Shape 20"/>
          <p:cNvSpPr/>
          <p:nvPr/>
        </p:nvSpPr>
        <p:spPr>
          <a:xfrm>
            <a:off x="548640" y="2581656"/>
            <a:ext cx="2011680" cy="475488"/>
          </a:xfrm>
          <a:prstGeom prst="roundRect">
            <a:avLst>
              <a:gd name="adj" fmla="val 23077"/>
            </a:avLst>
          </a:prstGeom>
          <a:solidFill>
            <a:schemeClr val="accent4">
              <a:alpha val="14000"/>
            </a:schemeClr>
          </a:solidFill>
          <a:ln w="19050">
            <a:solidFill>
              <a:srgbClr val="B4236A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548640" y="2581656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bus</a:t>
            </a:r>
            <a:endParaRPr lang="en-US" sz="2000" dirty="0"/>
          </a:p>
        </p:txBody>
      </p:sp>
      <p:sp>
        <p:nvSpPr>
          <p:cNvPr id="26" name="Shape 22"/>
          <p:cNvSpPr/>
          <p:nvPr/>
        </p:nvSpPr>
        <p:spPr>
          <a:xfrm>
            <a:off x="2606040" y="2837688"/>
            <a:ext cx="320040" cy="54864"/>
          </a:xfrm>
          <a:prstGeom prst="line">
            <a:avLst/>
          </a:prstGeom>
          <a:noFill/>
          <a:ln w="25400">
            <a:solidFill>
              <a:srgbClr val="4A5A70"/>
            </a:solidFill>
            <a:prstDash val="solid"/>
            <a:tailEnd type="triangle"/>
          </a:ln>
        </p:spPr>
      </p:sp>
      <p:sp>
        <p:nvSpPr>
          <p:cNvPr id="27" name="Shape 23"/>
          <p:cNvSpPr/>
          <p:nvPr/>
        </p:nvSpPr>
        <p:spPr>
          <a:xfrm>
            <a:off x="2971800" y="2636520"/>
            <a:ext cx="2011680" cy="475488"/>
          </a:xfrm>
          <a:prstGeom prst="roundRect">
            <a:avLst>
              <a:gd name="adj" fmla="val 23077"/>
            </a:avLst>
          </a:prstGeom>
          <a:solidFill>
            <a:schemeClr val="accent3">
              <a:alpha val="14000"/>
            </a:schemeClr>
          </a:solidFill>
          <a:ln w="19050">
            <a:solidFill>
              <a:srgbClr val="2E7D4F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2971800" y="2636520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buur</a:t>
            </a:r>
            <a:endParaRPr lang="en-US" sz="2000" dirty="0"/>
          </a:p>
        </p:txBody>
      </p:sp>
      <p:sp>
        <p:nvSpPr>
          <p:cNvPr id="29" name="Shape 25"/>
          <p:cNvSpPr/>
          <p:nvPr/>
        </p:nvSpPr>
        <p:spPr>
          <a:xfrm>
            <a:off x="5029200" y="2892552"/>
            <a:ext cx="320040" cy="54864"/>
          </a:xfrm>
          <a:prstGeom prst="line">
            <a:avLst/>
          </a:prstGeom>
          <a:noFill/>
          <a:ln w="25400">
            <a:solidFill>
              <a:srgbClr val="4A5A70"/>
            </a:solidFill>
            <a:prstDash val="solid"/>
            <a:tailEnd type="triangle"/>
          </a:ln>
        </p:spPr>
      </p:sp>
      <p:sp>
        <p:nvSpPr>
          <p:cNvPr id="30" name="Shape 26"/>
          <p:cNvSpPr/>
          <p:nvPr/>
        </p:nvSpPr>
        <p:spPr>
          <a:xfrm>
            <a:off x="5394960" y="2691384"/>
            <a:ext cx="2011680" cy="475488"/>
          </a:xfrm>
          <a:prstGeom prst="roundRect">
            <a:avLst>
              <a:gd name="adj" fmla="val 23077"/>
            </a:avLst>
          </a:prstGeom>
          <a:solidFill>
            <a:schemeClr val="accent1">
              <a:alpha val="14000"/>
            </a:schemeClr>
          </a:solidFill>
          <a:ln w="19050">
            <a:solidFill>
              <a:srgbClr val="D9700F"/>
            </a:solidFill>
            <a:prstDash val="solid"/>
          </a:ln>
        </p:spPr>
      </p:sp>
      <p:sp>
        <p:nvSpPr>
          <p:cNvPr id="31" name="Text 27"/>
          <p:cNvSpPr txBox="1"/>
          <p:nvPr/>
        </p:nvSpPr>
        <p:spPr>
          <a:xfrm>
            <a:off x="5394960" y="2691384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buis</a:t>
            </a:r>
            <a:endParaRPr lang="en-US" sz="2000" dirty="0"/>
          </a:p>
        </p:txBody>
      </p:sp>
      <p:sp>
        <p:nvSpPr>
          <p:cNvPr id="32" name="Shape 28"/>
          <p:cNvSpPr/>
          <p:nvPr/>
        </p:nvSpPr>
        <p:spPr>
          <a:xfrm>
            <a:off x="548640" y="3185160"/>
            <a:ext cx="2011680" cy="475488"/>
          </a:xfrm>
          <a:prstGeom prst="roundRect">
            <a:avLst>
              <a:gd name="adj" fmla="val 23077"/>
            </a:avLst>
          </a:prstGeom>
          <a:solidFill>
            <a:schemeClr val="accent4">
              <a:alpha val="14000"/>
            </a:schemeClr>
          </a:solidFill>
          <a:ln w="19050">
            <a:solidFill>
              <a:srgbClr val="B4236A"/>
            </a:solidFill>
            <a:prstDash val="solid"/>
          </a:ln>
        </p:spPr>
      </p:sp>
      <p:sp>
        <p:nvSpPr>
          <p:cNvPr id="33" name="Text 29"/>
          <p:cNvSpPr txBox="1"/>
          <p:nvPr/>
        </p:nvSpPr>
        <p:spPr>
          <a:xfrm>
            <a:off x="548640" y="3185160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mus</a:t>
            </a:r>
            <a:endParaRPr lang="en-US" sz="2000" dirty="0"/>
          </a:p>
        </p:txBody>
      </p:sp>
      <p:sp>
        <p:nvSpPr>
          <p:cNvPr id="34" name="Shape 30"/>
          <p:cNvSpPr/>
          <p:nvPr/>
        </p:nvSpPr>
        <p:spPr>
          <a:xfrm>
            <a:off x="2606040" y="3441192"/>
            <a:ext cx="320040" cy="54864"/>
          </a:xfrm>
          <a:prstGeom prst="line">
            <a:avLst/>
          </a:prstGeom>
          <a:noFill/>
          <a:ln w="25400">
            <a:solidFill>
              <a:srgbClr val="4A5A70"/>
            </a:solidFill>
            <a:prstDash val="solid"/>
            <a:tailEnd type="triangle"/>
          </a:ln>
        </p:spPr>
      </p:sp>
      <p:sp>
        <p:nvSpPr>
          <p:cNvPr id="35" name="Shape 31"/>
          <p:cNvSpPr/>
          <p:nvPr/>
        </p:nvSpPr>
        <p:spPr>
          <a:xfrm>
            <a:off x="2971800" y="3240024"/>
            <a:ext cx="2011680" cy="475488"/>
          </a:xfrm>
          <a:prstGeom prst="roundRect">
            <a:avLst>
              <a:gd name="adj" fmla="val 23077"/>
            </a:avLst>
          </a:prstGeom>
          <a:solidFill>
            <a:schemeClr val="accent3">
              <a:alpha val="14000"/>
            </a:schemeClr>
          </a:solidFill>
          <a:ln w="19050">
            <a:solidFill>
              <a:srgbClr val="2E7D4F"/>
            </a:solidFill>
            <a:prstDash val="solid"/>
          </a:ln>
        </p:spPr>
      </p:sp>
      <p:sp>
        <p:nvSpPr>
          <p:cNvPr id="36" name="Text 32"/>
          <p:cNvSpPr txBox="1"/>
          <p:nvPr/>
        </p:nvSpPr>
        <p:spPr>
          <a:xfrm>
            <a:off x="2971800" y="3240024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muur</a:t>
            </a:r>
            <a:endParaRPr lang="en-US" sz="2000" dirty="0"/>
          </a:p>
        </p:txBody>
      </p:sp>
      <p:sp>
        <p:nvSpPr>
          <p:cNvPr id="37" name="Shape 33"/>
          <p:cNvSpPr/>
          <p:nvPr/>
        </p:nvSpPr>
        <p:spPr>
          <a:xfrm>
            <a:off x="5029200" y="3496056"/>
            <a:ext cx="320040" cy="54864"/>
          </a:xfrm>
          <a:prstGeom prst="line">
            <a:avLst/>
          </a:prstGeom>
          <a:noFill/>
          <a:ln w="25400">
            <a:solidFill>
              <a:srgbClr val="4A5A70"/>
            </a:solidFill>
            <a:prstDash val="solid"/>
            <a:tailEnd type="triangle"/>
          </a:ln>
        </p:spPr>
      </p:sp>
      <p:sp>
        <p:nvSpPr>
          <p:cNvPr id="38" name="Shape 34"/>
          <p:cNvSpPr/>
          <p:nvPr/>
        </p:nvSpPr>
        <p:spPr>
          <a:xfrm>
            <a:off x="5394960" y="3294888"/>
            <a:ext cx="2011680" cy="475488"/>
          </a:xfrm>
          <a:prstGeom prst="roundRect">
            <a:avLst>
              <a:gd name="adj" fmla="val 23077"/>
            </a:avLst>
          </a:prstGeom>
          <a:solidFill>
            <a:schemeClr val="accent1">
              <a:alpha val="14000"/>
            </a:schemeClr>
          </a:solidFill>
          <a:ln w="19050">
            <a:solidFill>
              <a:srgbClr val="D9700F"/>
            </a:solidFill>
            <a:prstDash val="solid"/>
          </a:ln>
        </p:spPr>
      </p:sp>
      <p:sp>
        <p:nvSpPr>
          <p:cNvPr id="39" name="Text 35"/>
          <p:cNvSpPr txBox="1"/>
          <p:nvPr/>
        </p:nvSpPr>
        <p:spPr>
          <a:xfrm>
            <a:off x="5394960" y="3294888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muis</a:t>
            </a:r>
            <a:endParaRPr lang="en-US" sz="2000" dirty="0"/>
          </a:p>
        </p:txBody>
      </p:sp>
      <p:sp>
        <p:nvSpPr>
          <p:cNvPr id="40" name="Shape 36"/>
          <p:cNvSpPr/>
          <p:nvPr/>
        </p:nvSpPr>
        <p:spPr>
          <a:xfrm>
            <a:off x="548640" y="3788664"/>
            <a:ext cx="2011680" cy="475488"/>
          </a:xfrm>
          <a:prstGeom prst="roundRect">
            <a:avLst>
              <a:gd name="adj" fmla="val 23077"/>
            </a:avLst>
          </a:prstGeom>
          <a:solidFill>
            <a:schemeClr val="accent4">
              <a:alpha val="14000"/>
            </a:schemeClr>
          </a:solidFill>
          <a:ln w="19050">
            <a:solidFill>
              <a:srgbClr val="B4236A"/>
            </a:solidFill>
            <a:prstDash val="solid"/>
          </a:ln>
        </p:spPr>
      </p:sp>
      <p:sp>
        <p:nvSpPr>
          <p:cNvPr id="41" name="Text 37"/>
          <p:cNvSpPr txBox="1"/>
          <p:nvPr/>
        </p:nvSpPr>
        <p:spPr>
          <a:xfrm>
            <a:off x="548640" y="3788664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hut</a:t>
            </a:r>
            <a:endParaRPr lang="en-US" sz="2000" dirty="0"/>
          </a:p>
        </p:txBody>
      </p:sp>
      <p:sp>
        <p:nvSpPr>
          <p:cNvPr id="42" name="Shape 38"/>
          <p:cNvSpPr/>
          <p:nvPr/>
        </p:nvSpPr>
        <p:spPr>
          <a:xfrm>
            <a:off x="2606040" y="4044696"/>
            <a:ext cx="320040" cy="54864"/>
          </a:xfrm>
          <a:prstGeom prst="line">
            <a:avLst/>
          </a:prstGeom>
          <a:noFill/>
          <a:ln w="25400">
            <a:solidFill>
              <a:srgbClr val="4A5A70"/>
            </a:solidFill>
            <a:prstDash val="solid"/>
            <a:tailEnd type="triangle"/>
          </a:ln>
        </p:spPr>
      </p:sp>
      <p:sp>
        <p:nvSpPr>
          <p:cNvPr id="43" name="Shape 39"/>
          <p:cNvSpPr/>
          <p:nvPr/>
        </p:nvSpPr>
        <p:spPr>
          <a:xfrm>
            <a:off x="2971800" y="3843528"/>
            <a:ext cx="2011680" cy="475488"/>
          </a:xfrm>
          <a:prstGeom prst="roundRect">
            <a:avLst>
              <a:gd name="adj" fmla="val 23077"/>
            </a:avLst>
          </a:prstGeom>
          <a:solidFill>
            <a:schemeClr val="accent3">
              <a:alpha val="14000"/>
            </a:schemeClr>
          </a:solidFill>
          <a:ln w="19050">
            <a:solidFill>
              <a:srgbClr val="2E7D4F"/>
            </a:solidFill>
            <a:prstDash val="solid"/>
          </a:ln>
        </p:spPr>
      </p:sp>
      <p:sp>
        <p:nvSpPr>
          <p:cNvPr id="44" name="Text 40"/>
          <p:cNvSpPr txBox="1"/>
          <p:nvPr/>
        </p:nvSpPr>
        <p:spPr>
          <a:xfrm>
            <a:off x="2971800" y="3843528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huur</a:t>
            </a:r>
            <a:endParaRPr lang="en-US" sz="2000" dirty="0"/>
          </a:p>
        </p:txBody>
      </p:sp>
      <p:sp>
        <p:nvSpPr>
          <p:cNvPr id="45" name="Shape 41"/>
          <p:cNvSpPr/>
          <p:nvPr/>
        </p:nvSpPr>
        <p:spPr>
          <a:xfrm>
            <a:off x="5029200" y="4099560"/>
            <a:ext cx="320040" cy="54864"/>
          </a:xfrm>
          <a:prstGeom prst="line">
            <a:avLst/>
          </a:prstGeom>
          <a:noFill/>
          <a:ln w="25400">
            <a:solidFill>
              <a:srgbClr val="4A5A70"/>
            </a:solidFill>
            <a:prstDash val="solid"/>
            <a:tailEnd type="triangle"/>
          </a:ln>
        </p:spPr>
      </p:sp>
      <p:sp>
        <p:nvSpPr>
          <p:cNvPr id="46" name="Shape 42"/>
          <p:cNvSpPr/>
          <p:nvPr/>
        </p:nvSpPr>
        <p:spPr>
          <a:xfrm>
            <a:off x="5394960" y="3898392"/>
            <a:ext cx="2011680" cy="475488"/>
          </a:xfrm>
          <a:prstGeom prst="roundRect">
            <a:avLst>
              <a:gd name="adj" fmla="val 23077"/>
            </a:avLst>
          </a:prstGeom>
          <a:solidFill>
            <a:schemeClr val="accent1">
              <a:alpha val="14000"/>
            </a:schemeClr>
          </a:solidFill>
          <a:ln w="19050">
            <a:solidFill>
              <a:srgbClr val="D9700F"/>
            </a:solidFill>
            <a:prstDash val="solid"/>
          </a:ln>
        </p:spPr>
      </p:sp>
      <p:sp>
        <p:nvSpPr>
          <p:cNvPr id="47" name="Text 43"/>
          <p:cNvSpPr txBox="1"/>
          <p:nvPr/>
        </p:nvSpPr>
        <p:spPr>
          <a:xfrm>
            <a:off x="5394960" y="3898392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huis</a:t>
            </a:r>
            <a:endParaRPr lang="en-US" sz="2000" dirty="0"/>
          </a:p>
        </p:txBody>
      </p:sp>
      <p:sp>
        <p:nvSpPr>
          <p:cNvPr id="48" name="Shape 44"/>
          <p:cNvSpPr/>
          <p:nvPr/>
        </p:nvSpPr>
        <p:spPr>
          <a:xfrm>
            <a:off x="548640" y="4392168"/>
            <a:ext cx="2011680" cy="475488"/>
          </a:xfrm>
          <a:prstGeom prst="roundRect">
            <a:avLst>
              <a:gd name="adj" fmla="val 23077"/>
            </a:avLst>
          </a:prstGeom>
          <a:solidFill>
            <a:schemeClr val="accent4">
              <a:alpha val="14000"/>
            </a:schemeClr>
          </a:solidFill>
          <a:ln w="19050">
            <a:solidFill>
              <a:srgbClr val="B4236A"/>
            </a:solidFill>
            <a:prstDash val="solid"/>
          </a:ln>
        </p:spPr>
      </p:sp>
      <p:sp>
        <p:nvSpPr>
          <p:cNvPr id="49" name="Text 45"/>
          <p:cNvSpPr txBox="1"/>
          <p:nvPr/>
        </p:nvSpPr>
        <p:spPr>
          <a:xfrm>
            <a:off x="548640" y="4392168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dun</a:t>
            </a:r>
            <a:endParaRPr lang="en-US" sz="2000" dirty="0"/>
          </a:p>
        </p:txBody>
      </p:sp>
      <p:sp>
        <p:nvSpPr>
          <p:cNvPr id="50" name="Shape 46"/>
          <p:cNvSpPr/>
          <p:nvPr/>
        </p:nvSpPr>
        <p:spPr>
          <a:xfrm>
            <a:off x="2606040" y="4648200"/>
            <a:ext cx="320040" cy="54864"/>
          </a:xfrm>
          <a:prstGeom prst="line">
            <a:avLst/>
          </a:prstGeom>
          <a:noFill/>
          <a:ln w="25400">
            <a:solidFill>
              <a:srgbClr val="4A5A70"/>
            </a:solidFill>
            <a:prstDash val="solid"/>
            <a:tailEnd type="triangle"/>
          </a:ln>
        </p:spPr>
      </p:sp>
      <p:sp>
        <p:nvSpPr>
          <p:cNvPr id="51" name="Shape 47"/>
          <p:cNvSpPr/>
          <p:nvPr/>
        </p:nvSpPr>
        <p:spPr>
          <a:xfrm>
            <a:off x="2971800" y="4447032"/>
            <a:ext cx="2011680" cy="475488"/>
          </a:xfrm>
          <a:prstGeom prst="roundRect">
            <a:avLst>
              <a:gd name="adj" fmla="val 23077"/>
            </a:avLst>
          </a:prstGeom>
          <a:solidFill>
            <a:schemeClr val="accent3">
              <a:alpha val="14000"/>
            </a:schemeClr>
          </a:solidFill>
          <a:ln w="19050">
            <a:solidFill>
              <a:srgbClr val="2E7D4F"/>
            </a:solidFill>
            <a:prstDash val="solid"/>
          </a:ln>
        </p:spPr>
      </p:sp>
      <p:sp>
        <p:nvSpPr>
          <p:cNvPr id="52" name="Text 48"/>
          <p:cNvSpPr txBox="1"/>
          <p:nvPr/>
        </p:nvSpPr>
        <p:spPr>
          <a:xfrm>
            <a:off x="2971800" y="4447032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duur</a:t>
            </a:r>
            <a:endParaRPr lang="en-US" sz="2000" dirty="0"/>
          </a:p>
        </p:txBody>
      </p:sp>
      <p:sp>
        <p:nvSpPr>
          <p:cNvPr id="53" name="Shape 49"/>
          <p:cNvSpPr/>
          <p:nvPr/>
        </p:nvSpPr>
        <p:spPr>
          <a:xfrm>
            <a:off x="5029200" y="4703064"/>
            <a:ext cx="320040" cy="54864"/>
          </a:xfrm>
          <a:prstGeom prst="line">
            <a:avLst/>
          </a:prstGeom>
          <a:noFill/>
          <a:ln w="25400">
            <a:solidFill>
              <a:srgbClr val="4A5A70"/>
            </a:solidFill>
            <a:prstDash val="solid"/>
            <a:tailEnd type="triangle"/>
          </a:ln>
        </p:spPr>
      </p:sp>
      <p:sp>
        <p:nvSpPr>
          <p:cNvPr id="54" name="Shape 50"/>
          <p:cNvSpPr/>
          <p:nvPr/>
        </p:nvSpPr>
        <p:spPr>
          <a:xfrm>
            <a:off x="5394960" y="4501896"/>
            <a:ext cx="2011680" cy="475488"/>
          </a:xfrm>
          <a:prstGeom prst="roundRect">
            <a:avLst>
              <a:gd name="adj" fmla="val 23077"/>
            </a:avLst>
          </a:prstGeom>
          <a:solidFill>
            <a:schemeClr val="accent1">
              <a:alpha val="14000"/>
            </a:schemeClr>
          </a:solidFill>
          <a:ln w="19050">
            <a:solidFill>
              <a:srgbClr val="D9700F"/>
            </a:solidFill>
            <a:prstDash val="solid"/>
          </a:ln>
        </p:spPr>
      </p:sp>
      <p:sp>
        <p:nvSpPr>
          <p:cNvPr id="55" name="Text 51"/>
          <p:cNvSpPr txBox="1"/>
          <p:nvPr/>
        </p:nvSpPr>
        <p:spPr>
          <a:xfrm>
            <a:off x="5394960" y="4501896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duin</a:t>
            </a:r>
            <a:endParaRPr lang="en-US" sz="2000" dirty="0"/>
          </a:p>
        </p:txBody>
      </p:sp>
      <p:sp>
        <p:nvSpPr>
          <p:cNvPr id="56" name="Shape 52"/>
          <p:cNvSpPr/>
          <p:nvPr/>
        </p:nvSpPr>
        <p:spPr>
          <a:xfrm>
            <a:off x="548640" y="4995672"/>
            <a:ext cx="2011680" cy="475488"/>
          </a:xfrm>
          <a:prstGeom prst="roundRect">
            <a:avLst>
              <a:gd name="adj" fmla="val 23077"/>
            </a:avLst>
          </a:prstGeom>
          <a:solidFill>
            <a:schemeClr val="accent4">
              <a:alpha val="14000"/>
            </a:schemeClr>
          </a:solidFill>
          <a:ln w="19050">
            <a:solidFill>
              <a:srgbClr val="B4236A"/>
            </a:solidFill>
            <a:prstDash val="solid"/>
          </a:ln>
        </p:spPr>
      </p:sp>
      <p:sp>
        <p:nvSpPr>
          <p:cNvPr id="57" name="Text 53"/>
          <p:cNvSpPr txBox="1"/>
          <p:nvPr/>
        </p:nvSpPr>
        <p:spPr>
          <a:xfrm>
            <a:off x="548640" y="4995672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zus</a:t>
            </a:r>
            <a:endParaRPr lang="en-US" sz="2000" dirty="0"/>
          </a:p>
        </p:txBody>
      </p:sp>
      <p:sp>
        <p:nvSpPr>
          <p:cNvPr id="58" name="Shape 54"/>
          <p:cNvSpPr/>
          <p:nvPr/>
        </p:nvSpPr>
        <p:spPr>
          <a:xfrm>
            <a:off x="2606040" y="5251704"/>
            <a:ext cx="320040" cy="54864"/>
          </a:xfrm>
          <a:prstGeom prst="line">
            <a:avLst/>
          </a:prstGeom>
          <a:noFill/>
          <a:ln w="25400">
            <a:solidFill>
              <a:srgbClr val="4A5A70"/>
            </a:solidFill>
            <a:prstDash val="solid"/>
            <a:tailEnd type="triangle"/>
          </a:ln>
        </p:spPr>
      </p:sp>
      <p:sp>
        <p:nvSpPr>
          <p:cNvPr id="59" name="Shape 55"/>
          <p:cNvSpPr/>
          <p:nvPr/>
        </p:nvSpPr>
        <p:spPr>
          <a:xfrm>
            <a:off x="2971800" y="5050536"/>
            <a:ext cx="2011680" cy="475488"/>
          </a:xfrm>
          <a:prstGeom prst="roundRect">
            <a:avLst>
              <a:gd name="adj" fmla="val 23077"/>
            </a:avLst>
          </a:prstGeom>
          <a:solidFill>
            <a:schemeClr val="accent3">
              <a:alpha val="14000"/>
            </a:schemeClr>
          </a:solidFill>
          <a:ln w="19050">
            <a:solidFill>
              <a:srgbClr val="2E7D4F"/>
            </a:solidFill>
            <a:prstDash val="solid"/>
          </a:ln>
        </p:spPr>
      </p:sp>
      <p:sp>
        <p:nvSpPr>
          <p:cNvPr id="60" name="Text 56"/>
          <p:cNvSpPr txBox="1"/>
          <p:nvPr/>
        </p:nvSpPr>
        <p:spPr>
          <a:xfrm>
            <a:off x="2971800" y="5050536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zuur</a:t>
            </a:r>
            <a:endParaRPr lang="en-US" sz="2000" dirty="0"/>
          </a:p>
        </p:txBody>
      </p:sp>
      <p:sp>
        <p:nvSpPr>
          <p:cNvPr id="61" name="Shape 57"/>
          <p:cNvSpPr/>
          <p:nvPr/>
        </p:nvSpPr>
        <p:spPr>
          <a:xfrm>
            <a:off x="5029200" y="5306568"/>
            <a:ext cx="320040" cy="54864"/>
          </a:xfrm>
          <a:prstGeom prst="line">
            <a:avLst/>
          </a:prstGeom>
          <a:noFill/>
          <a:ln w="25400">
            <a:solidFill>
              <a:srgbClr val="4A5A70"/>
            </a:solidFill>
            <a:prstDash val="solid"/>
            <a:tailEnd type="triangle"/>
          </a:ln>
        </p:spPr>
      </p:sp>
      <p:sp>
        <p:nvSpPr>
          <p:cNvPr id="62" name="Shape 58"/>
          <p:cNvSpPr/>
          <p:nvPr/>
        </p:nvSpPr>
        <p:spPr>
          <a:xfrm>
            <a:off x="5394960" y="5105400"/>
            <a:ext cx="2011680" cy="475488"/>
          </a:xfrm>
          <a:prstGeom prst="roundRect">
            <a:avLst>
              <a:gd name="adj" fmla="val 23077"/>
            </a:avLst>
          </a:prstGeom>
          <a:solidFill>
            <a:schemeClr val="accent1">
              <a:alpha val="14000"/>
            </a:schemeClr>
          </a:solidFill>
          <a:ln w="19050">
            <a:solidFill>
              <a:srgbClr val="D9700F"/>
            </a:solidFill>
            <a:prstDash val="solid"/>
          </a:ln>
        </p:spPr>
      </p:sp>
      <p:sp>
        <p:nvSpPr>
          <p:cNvPr id="63" name="Text 59"/>
          <p:cNvSpPr txBox="1"/>
          <p:nvPr/>
        </p:nvSpPr>
        <p:spPr>
          <a:xfrm>
            <a:off x="5394960" y="5105400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zuid</a:t>
            </a:r>
            <a:endParaRPr lang="en-US" sz="2000" dirty="0"/>
          </a:p>
        </p:txBody>
      </p:sp>
      <p:sp>
        <p:nvSpPr>
          <p:cNvPr id="64" name="Shape 60"/>
          <p:cNvSpPr/>
          <p:nvPr/>
        </p:nvSpPr>
        <p:spPr>
          <a:xfrm>
            <a:off x="7818120" y="1959864"/>
            <a:ext cx="3822192" cy="3611880"/>
          </a:xfrm>
          <a:prstGeom prst="roundRect">
            <a:avLst>
              <a:gd name="adj" fmla="val 2532"/>
            </a:avLst>
          </a:prstGeom>
          <a:solidFill>
            <a:srgbClr val="FDF1E6"/>
          </a:solidFill>
          <a:ln w="22225">
            <a:solidFill>
              <a:srgbClr val="D9700F"/>
            </a:solidFill>
            <a:prstDash val="solid"/>
          </a:ln>
        </p:spPr>
      </p:sp>
      <p:sp>
        <p:nvSpPr>
          <p:cNvPr id="65" name="Text 61"/>
          <p:cNvSpPr txBox="1"/>
          <p:nvPr/>
        </p:nvSpPr>
        <p:spPr>
          <a:xfrm>
            <a:off x="8001000" y="2051304"/>
            <a:ext cx="3456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ij = ei</a:t>
            </a:r>
            <a:r>
              <a:rPr lang="en-US" sz="2000" dirty="0">
                <a:solidFill>
                  <a:schemeClr val="accent1"/>
                </a:solidFill>
              </a:rPr>
              <a:t> : même son !</a:t>
            </a:r>
            <a:endParaRPr lang="en-US" sz="2000" dirty="0"/>
          </a:p>
        </p:txBody>
      </p:sp>
      <p:sp>
        <p:nvSpPr>
          <p:cNvPr id="66" name="Text 62"/>
          <p:cNvSpPr txBox="1"/>
          <p:nvPr/>
        </p:nvSpPr>
        <p:spPr>
          <a:xfrm>
            <a:off x="8001000" y="2554224"/>
            <a:ext cx="3456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chemeClr val="accent5"/>
                </a:solidFill>
              </a:rPr>
              <a:t>Dictée : </a:t>
            </a:r>
            <a:r>
              <a:rPr lang="en-US" sz="1500" i="1" dirty="0">
                <a:solidFill>
                  <a:schemeClr val="accent5"/>
                </a:solidFill>
              </a:rPr>
              <a:t>lange ij</a:t>
            </a:r>
            <a:r>
              <a:rPr lang="en-US" sz="1500" i="1" dirty="0">
                <a:solidFill>
                  <a:schemeClr val="accent5"/>
                </a:solidFill>
              </a:rPr>
              <a:t> of </a:t>
            </a:r>
            <a:r>
              <a:rPr lang="en-US" sz="1500" i="1" dirty="0">
                <a:solidFill>
                  <a:schemeClr val="accent5"/>
                </a:solidFill>
              </a:rPr>
              <a:t>korte ei</a:t>
            </a:r>
            <a:r>
              <a:rPr lang="en-US" sz="1500" i="1" dirty="0">
                <a:solidFill>
                  <a:schemeClr val="accent5"/>
                </a:solidFill>
              </a:rPr>
              <a:t> ?</a:t>
            </a:r>
            <a:endParaRPr lang="en-US" sz="1500" dirty="0"/>
          </a:p>
        </p:txBody>
      </p:sp>
      <p:sp>
        <p:nvSpPr>
          <p:cNvPr id="67" name="Shape 63"/>
          <p:cNvSpPr/>
          <p:nvPr/>
        </p:nvSpPr>
        <p:spPr>
          <a:xfrm>
            <a:off x="8046720" y="3212592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8" name="Text 64"/>
          <p:cNvSpPr txBox="1"/>
          <p:nvPr/>
        </p:nvSpPr>
        <p:spPr>
          <a:xfrm>
            <a:off x="8046720" y="32125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69" name="Shape 65"/>
          <p:cNvSpPr/>
          <p:nvPr/>
        </p:nvSpPr>
        <p:spPr>
          <a:xfrm>
            <a:off x="8503920" y="3102864"/>
            <a:ext cx="114300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D9700F"/>
            </a:solidFill>
            <a:prstDash val="dash"/>
          </a:ln>
        </p:spPr>
      </p:sp>
      <p:sp>
        <p:nvSpPr>
          <p:cNvPr id="70" name="Shape 66"/>
          <p:cNvSpPr/>
          <p:nvPr/>
        </p:nvSpPr>
        <p:spPr>
          <a:xfrm>
            <a:off x="9829800" y="3212592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1" name="Text 67"/>
          <p:cNvSpPr txBox="1"/>
          <p:nvPr/>
        </p:nvSpPr>
        <p:spPr>
          <a:xfrm>
            <a:off x="9829800" y="32125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72" name="Shape 68"/>
          <p:cNvSpPr/>
          <p:nvPr/>
        </p:nvSpPr>
        <p:spPr>
          <a:xfrm>
            <a:off x="10287000" y="3102864"/>
            <a:ext cx="114300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D9700F"/>
            </a:solidFill>
            <a:prstDash val="dash"/>
          </a:ln>
        </p:spPr>
      </p:sp>
      <p:sp>
        <p:nvSpPr>
          <p:cNvPr id="73" name="Shape 69"/>
          <p:cNvSpPr/>
          <p:nvPr/>
        </p:nvSpPr>
        <p:spPr>
          <a:xfrm>
            <a:off x="8046720" y="4017264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4" name="Text 70"/>
          <p:cNvSpPr txBox="1"/>
          <p:nvPr/>
        </p:nvSpPr>
        <p:spPr>
          <a:xfrm>
            <a:off x="8046720" y="40172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75" name="Shape 71"/>
          <p:cNvSpPr/>
          <p:nvPr/>
        </p:nvSpPr>
        <p:spPr>
          <a:xfrm>
            <a:off x="8503920" y="3907536"/>
            <a:ext cx="114300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D9700F"/>
            </a:solidFill>
            <a:prstDash val="dash"/>
          </a:ln>
        </p:spPr>
      </p:sp>
      <p:sp>
        <p:nvSpPr>
          <p:cNvPr id="76" name="Shape 72"/>
          <p:cNvSpPr/>
          <p:nvPr/>
        </p:nvSpPr>
        <p:spPr>
          <a:xfrm>
            <a:off x="9829800" y="4017264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7" name="Text 73"/>
          <p:cNvSpPr txBox="1"/>
          <p:nvPr/>
        </p:nvSpPr>
        <p:spPr>
          <a:xfrm>
            <a:off x="9829800" y="40172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78" name="Shape 74"/>
          <p:cNvSpPr/>
          <p:nvPr/>
        </p:nvSpPr>
        <p:spPr>
          <a:xfrm>
            <a:off x="10287000" y="3907536"/>
            <a:ext cx="114300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D9700F"/>
            </a:solidFill>
            <a:prstDash val="dash"/>
          </a:ln>
        </p:spPr>
      </p:sp>
      <p:sp>
        <p:nvSpPr>
          <p:cNvPr id="79" name="Shape 75"/>
          <p:cNvSpPr/>
          <p:nvPr/>
        </p:nvSpPr>
        <p:spPr>
          <a:xfrm>
            <a:off x="8046720" y="4821936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0" name="Text 76"/>
          <p:cNvSpPr txBox="1"/>
          <p:nvPr/>
        </p:nvSpPr>
        <p:spPr>
          <a:xfrm>
            <a:off x="8046720" y="48219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81" name="Shape 77"/>
          <p:cNvSpPr/>
          <p:nvPr/>
        </p:nvSpPr>
        <p:spPr>
          <a:xfrm>
            <a:off x="8503920" y="4712208"/>
            <a:ext cx="114300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D9700F"/>
            </a:solidFill>
            <a:prstDash val="dash"/>
          </a:ln>
        </p:spPr>
      </p:sp>
      <p:sp>
        <p:nvSpPr>
          <p:cNvPr id="82" name="Shape 78"/>
          <p:cNvSpPr/>
          <p:nvPr/>
        </p:nvSpPr>
        <p:spPr>
          <a:xfrm>
            <a:off x="9829800" y="4821936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3" name="Text 79"/>
          <p:cNvSpPr txBox="1"/>
          <p:nvPr/>
        </p:nvSpPr>
        <p:spPr>
          <a:xfrm>
            <a:off x="9829800" y="48219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84" name="Shape 80"/>
          <p:cNvSpPr/>
          <p:nvPr/>
        </p:nvSpPr>
        <p:spPr>
          <a:xfrm>
            <a:off x="10287000" y="4712208"/>
            <a:ext cx="114300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D9700F"/>
            </a:solidFill>
            <a:prstDash val="dash"/>
          </a:ln>
        </p:spPr>
      </p:sp>
      <p:sp>
        <p:nvSpPr>
          <p:cNvPr id="85" name="Shape 81"/>
          <p:cNvSpPr/>
          <p:nvPr/>
        </p:nvSpPr>
        <p:spPr>
          <a:xfrm>
            <a:off x="548640" y="5742432"/>
            <a:ext cx="11091672" cy="530352"/>
          </a:xfrm>
          <a:prstGeom prst="roundRect">
            <a:avLst>
              <a:gd name="adj" fmla="val 13793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6" name="Text 82"/>
          <p:cNvSpPr txBox="1"/>
          <p:nvPr/>
        </p:nvSpPr>
        <p:spPr>
          <a:xfrm>
            <a:off x="822960" y="5742432"/>
            <a:ext cx="10607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Rappel M6 : </a:t>
            </a:r>
            <a:r>
              <a:rPr lang="en-US" sz="1600" i="1" dirty="0">
                <a:solidFill>
                  <a:schemeClr val="bg1"/>
                </a:solidFill>
              </a:rPr>
              <a:t>ui</a:t>
            </a:r>
            <a:r>
              <a:rPr lang="en-US" sz="1600" dirty="0">
                <a:solidFill>
                  <a:schemeClr val="bg1"/>
                </a:solidFill>
              </a:rPr>
              <a:t> part de « eu » et glisse vers « u », lèvres arrondies (</a:t>
            </a:r>
            <a:r>
              <a:rPr lang="en-US" sz="1600" i="1" dirty="0">
                <a:solidFill>
                  <a:schemeClr val="bg1"/>
                </a:solidFill>
              </a:rPr>
              <a:t>huis</a:t>
            </a:r>
            <a:r>
              <a:rPr lang="en-US" sz="1600" dirty="0">
                <a:solidFill>
                  <a:schemeClr val="bg1"/>
                </a:solidFill>
              </a:rPr>
              <a:t> ≈ « heuïs »)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La chasse aux sons doubles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2417674" cy="310896"/>
          </a:xfrm>
          <a:prstGeom prst="roundRect">
            <a:avLst>
              <a:gd name="adj" fmla="val 14706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SÉANCE 2 · ③ JOUER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9747504" y="393192"/>
            <a:ext cx="1682496" cy="914"/>
          </a:xfrm>
          <a:prstGeom prst="line">
            <a:avLst/>
          </a:prstGeom>
          <a:noFill/>
          <a:ln w="25400">
            <a:solidFill>
              <a:srgbClr val="D5DCE6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9582912" y="228600"/>
            <a:ext cx="329184" cy="32918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A6FB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582912" y="2286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1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10003536" y="228600"/>
            <a:ext cx="329184" cy="329184"/>
          </a:xfrm>
          <a:prstGeom prst="ellipse">
            <a:avLst/>
          </a:prstGeom>
          <a:solidFill>
            <a:schemeClr val="accent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0003536" y="2286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10424160" y="228600"/>
            <a:ext cx="329184" cy="32918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9700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0424160" y="2286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3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10844784" y="228600"/>
            <a:ext cx="329184" cy="32918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E7D4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0844784" y="2286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4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11265408" y="228600"/>
            <a:ext cx="329184" cy="32918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E4A9E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11265408" y="2286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E4A9E"/>
                </a:solidFill>
              </a:rPr>
              <a:t>5</a:t>
            </a:r>
            <a:endParaRPr lang="en-US" sz="1200" dirty="0"/>
          </a:p>
        </p:txBody>
      </p:sp>
      <p:pic>
        <p:nvPicPr>
          <p:cNvPr id="16" name="Image 0" descr="HandPointRigh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17904"/>
            <a:ext cx="274320" cy="27432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960120" y="1481328"/>
            <a:ext cx="10680192" cy="573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accent5"/>
                </a:solidFill>
              </a:rPr>
              <a:t>Par équipe : comptez les sons doubles de chaque phrase, puis lisez-la sans faute. Bon nombre + bonne lecture = 2 points.</a:t>
            </a:r>
            <a:endParaRPr lang="en-US" sz="1700" dirty="0"/>
          </a:p>
        </p:txBody>
      </p:sp>
      <p:sp>
        <p:nvSpPr>
          <p:cNvPr id="18" name="Shape 14"/>
          <p:cNvSpPr/>
          <p:nvPr/>
        </p:nvSpPr>
        <p:spPr>
          <a:xfrm>
            <a:off x="548640" y="2218944"/>
            <a:ext cx="6949440" cy="676656"/>
          </a:xfrm>
          <a:prstGeom prst="roundRect">
            <a:avLst>
              <a:gd name="adj" fmla="val 10811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85800" y="2365248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685800" y="2365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21" name="Text 17"/>
          <p:cNvSpPr txBox="1"/>
          <p:nvPr/>
        </p:nvSpPr>
        <p:spPr>
          <a:xfrm>
            <a:off x="1234440" y="2218944"/>
            <a:ext cx="49377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i="1" dirty="0">
                <a:solidFill>
                  <a:schemeClr val="tx1"/>
                </a:solidFill>
              </a:rPr>
              <a:t>Doei! Ik ga naar huis.</a:t>
            </a:r>
            <a:endParaRPr lang="en-US" sz="1900" dirty="0"/>
          </a:p>
        </p:txBody>
      </p:sp>
      <p:sp>
        <p:nvSpPr>
          <p:cNvPr id="22" name="Text 18"/>
          <p:cNvSpPr txBox="1"/>
          <p:nvPr/>
        </p:nvSpPr>
        <p:spPr>
          <a:xfrm>
            <a:off x="6080760" y="2218944"/>
            <a:ext cx="640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chemeClr val="accent1"/>
                </a:solidFill>
              </a:rPr>
              <a:t>★</a:t>
            </a:r>
            <a:endParaRPr lang="en-US" sz="1200" dirty="0"/>
          </a:p>
        </p:txBody>
      </p:sp>
      <p:sp>
        <p:nvSpPr>
          <p:cNvPr id="23" name="Shape 19"/>
          <p:cNvSpPr/>
          <p:nvPr/>
        </p:nvSpPr>
        <p:spPr>
          <a:xfrm>
            <a:off x="6766560" y="2310384"/>
            <a:ext cx="594360" cy="493776"/>
          </a:xfrm>
          <a:prstGeom prst="roundRect">
            <a:avLst>
              <a:gd name="adj" fmla="val 18519"/>
            </a:avLst>
          </a:prstGeom>
          <a:solidFill>
            <a:srgbClr val="FFFFFF"/>
          </a:solidFill>
          <a:ln w="19050">
            <a:solidFill>
              <a:srgbClr val="B4236A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6766560" y="2310384"/>
            <a:ext cx="594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4"/>
                </a:solidFill>
              </a:rPr>
              <a:t>?</a:t>
            </a:r>
            <a:endParaRPr lang="en-US" sz="1800" dirty="0"/>
          </a:p>
        </p:txBody>
      </p:sp>
      <p:sp>
        <p:nvSpPr>
          <p:cNvPr id="25" name="Shape 21"/>
          <p:cNvSpPr/>
          <p:nvPr/>
        </p:nvSpPr>
        <p:spPr>
          <a:xfrm>
            <a:off x="548640" y="3005328"/>
            <a:ext cx="6949440" cy="676656"/>
          </a:xfrm>
          <a:prstGeom prst="roundRect">
            <a:avLst>
              <a:gd name="adj" fmla="val 10811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685800" y="3151632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685800" y="3151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28" name="Text 24"/>
          <p:cNvSpPr txBox="1"/>
          <p:nvPr/>
        </p:nvSpPr>
        <p:spPr>
          <a:xfrm>
            <a:off x="1234440" y="3005328"/>
            <a:ext cx="49377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i="1" dirty="0">
                <a:solidFill>
                  <a:schemeClr val="tx1"/>
                </a:solidFill>
              </a:rPr>
              <a:t>Moeders snijden reuzenuien.</a:t>
            </a:r>
            <a:endParaRPr lang="en-US" sz="1900" dirty="0"/>
          </a:p>
        </p:txBody>
      </p:sp>
      <p:sp>
        <p:nvSpPr>
          <p:cNvPr id="29" name="Text 25"/>
          <p:cNvSpPr txBox="1"/>
          <p:nvPr/>
        </p:nvSpPr>
        <p:spPr>
          <a:xfrm>
            <a:off x="6080760" y="3005328"/>
            <a:ext cx="640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chemeClr val="accent1"/>
                </a:solidFill>
              </a:rPr>
              <a:t>★★</a:t>
            </a:r>
            <a:endParaRPr lang="en-US" sz="1200" dirty="0"/>
          </a:p>
        </p:txBody>
      </p:sp>
      <p:sp>
        <p:nvSpPr>
          <p:cNvPr id="30" name="Shape 26"/>
          <p:cNvSpPr/>
          <p:nvPr/>
        </p:nvSpPr>
        <p:spPr>
          <a:xfrm>
            <a:off x="6766560" y="3096768"/>
            <a:ext cx="594360" cy="493776"/>
          </a:xfrm>
          <a:prstGeom prst="roundRect">
            <a:avLst>
              <a:gd name="adj" fmla="val 18519"/>
            </a:avLst>
          </a:prstGeom>
          <a:solidFill>
            <a:srgbClr val="FFFFFF"/>
          </a:solidFill>
          <a:ln w="19050">
            <a:solidFill>
              <a:srgbClr val="B4236A"/>
            </a:solidFill>
            <a:prstDash val="solid"/>
          </a:ln>
        </p:spPr>
      </p:sp>
      <p:sp>
        <p:nvSpPr>
          <p:cNvPr id="31" name="Text 27"/>
          <p:cNvSpPr txBox="1"/>
          <p:nvPr/>
        </p:nvSpPr>
        <p:spPr>
          <a:xfrm>
            <a:off x="6766560" y="3096768"/>
            <a:ext cx="594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4"/>
                </a:solidFill>
              </a:rPr>
              <a:t>?</a:t>
            </a:r>
            <a:endParaRPr lang="en-US" sz="1800" dirty="0"/>
          </a:p>
        </p:txBody>
      </p:sp>
      <p:sp>
        <p:nvSpPr>
          <p:cNvPr id="32" name="Shape 28"/>
          <p:cNvSpPr/>
          <p:nvPr/>
        </p:nvSpPr>
        <p:spPr>
          <a:xfrm>
            <a:off x="548640" y="3791712"/>
            <a:ext cx="6949440" cy="676656"/>
          </a:xfrm>
          <a:prstGeom prst="roundRect">
            <a:avLst>
              <a:gd name="adj" fmla="val 10811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685800" y="3938016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Text 30"/>
          <p:cNvSpPr txBox="1"/>
          <p:nvPr/>
        </p:nvSpPr>
        <p:spPr>
          <a:xfrm>
            <a:off x="685800" y="39380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35" name="Text 31"/>
          <p:cNvSpPr txBox="1"/>
          <p:nvPr/>
        </p:nvSpPr>
        <p:spPr>
          <a:xfrm>
            <a:off x="1234440" y="3791712"/>
            <a:ext cx="49377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i="1" dirty="0">
                <a:solidFill>
                  <a:schemeClr val="tx1"/>
                </a:solidFill>
              </a:rPr>
              <a:t>Leren breien groene truien.</a:t>
            </a:r>
            <a:endParaRPr lang="en-US" sz="1900" dirty="0"/>
          </a:p>
        </p:txBody>
      </p:sp>
      <p:sp>
        <p:nvSpPr>
          <p:cNvPr id="36" name="Text 32"/>
          <p:cNvSpPr txBox="1"/>
          <p:nvPr/>
        </p:nvSpPr>
        <p:spPr>
          <a:xfrm>
            <a:off x="6080760" y="3791712"/>
            <a:ext cx="640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chemeClr val="accent1"/>
                </a:solidFill>
              </a:rPr>
              <a:t>★★</a:t>
            </a:r>
            <a:endParaRPr lang="en-US" sz="1200" dirty="0"/>
          </a:p>
        </p:txBody>
      </p:sp>
      <p:sp>
        <p:nvSpPr>
          <p:cNvPr id="37" name="Shape 33"/>
          <p:cNvSpPr/>
          <p:nvPr/>
        </p:nvSpPr>
        <p:spPr>
          <a:xfrm>
            <a:off x="6766560" y="3883152"/>
            <a:ext cx="594360" cy="493776"/>
          </a:xfrm>
          <a:prstGeom prst="roundRect">
            <a:avLst>
              <a:gd name="adj" fmla="val 18519"/>
            </a:avLst>
          </a:prstGeom>
          <a:solidFill>
            <a:srgbClr val="FFFFFF"/>
          </a:solidFill>
          <a:ln w="19050">
            <a:solidFill>
              <a:srgbClr val="B4236A"/>
            </a:solidFill>
            <a:prstDash val="solid"/>
          </a:ln>
        </p:spPr>
      </p:sp>
      <p:sp>
        <p:nvSpPr>
          <p:cNvPr id="38" name="Text 34"/>
          <p:cNvSpPr txBox="1"/>
          <p:nvPr/>
        </p:nvSpPr>
        <p:spPr>
          <a:xfrm>
            <a:off x="6766560" y="3883152"/>
            <a:ext cx="594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4"/>
                </a:solidFill>
              </a:rPr>
              <a:t>?</a:t>
            </a:r>
            <a:endParaRPr lang="en-US" sz="1800" dirty="0"/>
          </a:p>
        </p:txBody>
      </p:sp>
      <p:sp>
        <p:nvSpPr>
          <p:cNvPr id="39" name="Shape 35"/>
          <p:cNvSpPr/>
          <p:nvPr/>
        </p:nvSpPr>
        <p:spPr>
          <a:xfrm>
            <a:off x="548640" y="4578096"/>
            <a:ext cx="6949440" cy="676656"/>
          </a:xfrm>
          <a:prstGeom prst="roundRect">
            <a:avLst>
              <a:gd name="adj" fmla="val 10811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40" name="Shape 36"/>
          <p:cNvSpPr/>
          <p:nvPr/>
        </p:nvSpPr>
        <p:spPr>
          <a:xfrm>
            <a:off x="685800" y="4724400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" name="Text 37"/>
          <p:cNvSpPr txBox="1"/>
          <p:nvPr/>
        </p:nvSpPr>
        <p:spPr>
          <a:xfrm>
            <a:off x="685800" y="4724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42" name="Text 38"/>
          <p:cNvSpPr txBox="1"/>
          <p:nvPr/>
        </p:nvSpPr>
        <p:spPr>
          <a:xfrm>
            <a:off x="1234440" y="4578096"/>
            <a:ext cx="49377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i="1" dirty="0">
                <a:solidFill>
                  <a:schemeClr val="tx1"/>
                </a:solidFill>
              </a:rPr>
              <a:t>IJskoud bier uit de keuken van Koen.</a:t>
            </a:r>
            <a:endParaRPr lang="en-US" sz="1900" dirty="0"/>
          </a:p>
        </p:txBody>
      </p:sp>
      <p:sp>
        <p:nvSpPr>
          <p:cNvPr id="43" name="Text 39"/>
          <p:cNvSpPr txBox="1"/>
          <p:nvPr/>
        </p:nvSpPr>
        <p:spPr>
          <a:xfrm>
            <a:off x="6080760" y="4578096"/>
            <a:ext cx="640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chemeClr val="accent1"/>
                </a:solidFill>
              </a:rPr>
              <a:t>★★★</a:t>
            </a:r>
            <a:endParaRPr lang="en-US" sz="1200" dirty="0"/>
          </a:p>
        </p:txBody>
      </p:sp>
      <p:sp>
        <p:nvSpPr>
          <p:cNvPr id="44" name="Shape 40"/>
          <p:cNvSpPr/>
          <p:nvPr/>
        </p:nvSpPr>
        <p:spPr>
          <a:xfrm>
            <a:off x="6766560" y="4669536"/>
            <a:ext cx="594360" cy="493776"/>
          </a:xfrm>
          <a:prstGeom prst="roundRect">
            <a:avLst>
              <a:gd name="adj" fmla="val 18519"/>
            </a:avLst>
          </a:prstGeom>
          <a:solidFill>
            <a:srgbClr val="FFFFFF"/>
          </a:solidFill>
          <a:ln w="19050">
            <a:solidFill>
              <a:srgbClr val="B4236A"/>
            </a:solidFill>
            <a:prstDash val="solid"/>
          </a:ln>
        </p:spPr>
      </p:sp>
      <p:sp>
        <p:nvSpPr>
          <p:cNvPr id="45" name="Text 41"/>
          <p:cNvSpPr txBox="1"/>
          <p:nvPr/>
        </p:nvSpPr>
        <p:spPr>
          <a:xfrm>
            <a:off x="6766560" y="4669536"/>
            <a:ext cx="594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4"/>
                </a:solidFill>
              </a:rPr>
              <a:t>?</a:t>
            </a:r>
            <a:endParaRPr lang="en-US" sz="1800" dirty="0"/>
          </a:p>
        </p:txBody>
      </p:sp>
      <p:sp>
        <p:nvSpPr>
          <p:cNvPr id="46" name="Shape 42"/>
          <p:cNvSpPr/>
          <p:nvPr/>
        </p:nvSpPr>
        <p:spPr>
          <a:xfrm>
            <a:off x="548640" y="5364480"/>
            <a:ext cx="6949440" cy="676656"/>
          </a:xfrm>
          <a:prstGeom prst="roundRect">
            <a:avLst>
              <a:gd name="adj" fmla="val 10811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47" name="Shape 43"/>
          <p:cNvSpPr/>
          <p:nvPr/>
        </p:nvSpPr>
        <p:spPr>
          <a:xfrm>
            <a:off x="685800" y="5510784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8" name="Text 44"/>
          <p:cNvSpPr txBox="1"/>
          <p:nvPr/>
        </p:nvSpPr>
        <p:spPr>
          <a:xfrm>
            <a:off x="685800" y="55107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49" name="Text 45"/>
          <p:cNvSpPr txBox="1"/>
          <p:nvPr/>
        </p:nvSpPr>
        <p:spPr>
          <a:xfrm>
            <a:off x="1234440" y="5364480"/>
            <a:ext cx="49377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i="1" dirty="0">
                <a:solidFill>
                  <a:schemeClr val="tx1"/>
                </a:solidFill>
              </a:rPr>
              <a:t>Mooie, nieuwe truien zijn nooit saai.</a:t>
            </a:r>
            <a:endParaRPr lang="en-US" sz="1900" dirty="0"/>
          </a:p>
        </p:txBody>
      </p:sp>
      <p:sp>
        <p:nvSpPr>
          <p:cNvPr id="50" name="Text 46"/>
          <p:cNvSpPr txBox="1"/>
          <p:nvPr/>
        </p:nvSpPr>
        <p:spPr>
          <a:xfrm>
            <a:off x="6080760" y="5364480"/>
            <a:ext cx="640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chemeClr val="accent1"/>
                </a:solidFill>
              </a:rPr>
              <a:t>★★★</a:t>
            </a:r>
            <a:endParaRPr lang="en-US" sz="1200" dirty="0"/>
          </a:p>
        </p:txBody>
      </p:sp>
      <p:sp>
        <p:nvSpPr>
          <p:cNvPr id="51" name="Shape 47"/>
          <p:cNvSpPr/>
          <p:nvPr/>
        </p:nvSpPr>
        <p:spPr>
          <a:xfrm>
            <a:off x="6766560" y="5455920"/>
            <a:ext cx="594360" cy="493776"/>
          </a:xfrm>
          <a:prstGeom prst="roundRect">
            <a:avLst>
              <a:gd name="adj" fmla="val 18519"/>
            </a:avLst>
          </a:prstGeom>
          <a:solidFill>
            <a:srgbClr val="FFFFFF"/>
          </a:solidFill>
          <a:ln w="19050">
            <a:solidFill>
              <a:srgbClr val="B4236A"/>
            </a:solidFill>
            <a:prstDash val="solid"/>
          </a:ln>
        </p:spPr>
      </p:sp>
      <p:sp>
        <p:nvSpPr>
          <p:cNvPr id="52" name="Text 48"/>
          <p:cNvSpPr txBox="1"/>
          <p:nvPr/>
        </p:nvSpPr>
        <p:spPr>
          <a:xfrm>
            <a:off x="6766560" y="5455920"/>
            <a:ext cx="594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4"/>
                </a:solidFill>
              </a:rPr>
              <a:t>?</a:t>
            </a:r>
            <a:endParaRPr lang="en-US" sz="1800" dirty="0"/>
          </a:p>
        </p:txBody>
      </p:sp>
      <p:sp>
        <p:nvSpPr>
          <p:cNvPr id="53" name="Shape 49"/>
          <p:cNvSpPr/>
          <p:nvPr/>
        </p:nvSpPr>
        <p:spPr>
          <a:xfrm>
            <a:off x="7772400" y="2218944"/>
            <a:ext cx="3867912" cy="3840480"/>
          </a:xfrm>
          <a:prstGeom prst="roundRect">
            <a:avLst>
              <a:gd name="adj" fmla="val 2381"/>
            </a:avLst>
          </a:prstGeom>
          <a:solidFill>
            <a:schemeClr val="bg1"/>
          </a:solidFill>
          <a:ln w="22225">
            <a:solidFill>
              <a:srgbClr val="B4236A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54" name="Shape 50"/>
          <p:cNvSpPr/>
          <p:nvPr/>
        </p:nvSpPr>
        <p:spPr>
          <a:xfrm>
            <a:off x="7772400" y="2218944"/>
            <a:ext cx="3867912" cy="502920"/>
          </a:xfrm>
          <a:prstGeom prst="roundRect">
            <a:avLst>
              <a:gd name="adj" fmla="val 14545"/>
            </a:avLst>
          </a:prstGeom>
          <a:solidFill>
            <a:schemeClr val="accent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5" name="Text 51"/>
          <p:cNvSpPr txBox="1"/>
          <p:nvPr/>
        </p:nvSpPr>
        <p:spPr>
          <a:xfrm>
            <a:off x="7909560" y="2218944"/>
            <a:ext cx="3593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Les sons à trois lettres</a:t>
            </a:r>
            <a:endParaRPr lang="en-US" sz="1600" dirty="0"/>
          </a:p>
        </p:txBody>
      </p:sp>
      <p:sp>
        <p:nvSpPr>
          <p:cNvPr id="56" name="Text 52"/>
          <p:cNvSpPr txBox="1"/>
          <p:nvPr/>
        </p:nvSpPr>
        <p:spPr>
          <a:xfrm>
            <a:off x="7955280" y="2840736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chemeClr val="accent4"/>
                </a:solidFill>
              </a:rPr>
              <a:t>aai</a:t>
            </a:r>
            <a:endParaRPr lang="en-US" sz="1900" dirty="0"/>
          </a:p>
        </p:txBody>
      </p:sp>
      <p:sp>
        <p:nvSpPr>
          <p:cNvPr id="57" name="Text 53"/>
          <p:cNvSpPr txBox="1"/>
          <p:nvPr/>
        </p:nvSpPr>
        <p:spPr>
          <a:xfrm>
            <a:off x="8823960" y="2840736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« aïe »</a:t>
            </a:r>
            <a:endParaRPr lang="en-US" sz="1400" dirty="0"/>
          </a:p>
        </p:txBody>
      </p:sp>
      <p:sp>
        <p:nvSpPr>
          <p:cNvPr id="58" name="Text 54"/>
          <p:cNvSpPr txBox="1"/>
          <p:nvPr/>
        </p:nvSpPr>
        <p:spPr>
          <a:xfrm>
            <a:off x="9875520" y="2840736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saai</a:t>
            </a:r>
            <a:endParaRPr lang="en-US" sz="1800" dirty="0"/>
          </a:p>
        </p:txBody>
      </p:sp>
      <p:pic>
        <p:nvPicPr>
          <p:cNvPr id="59" name="Image 1" descr="yawning fac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2904744"/>
            <a:ext cx="438912" cy="438912"/>
          </a:xfrm>
          <a:prstGeom prst="rect">
            <a:avLst/>
          </a:prstGeom>
        </p:spPr>
      </p:pic>
      <p:sp>
        <p:nvSpPr>
          <p:cNvPr id="60" name="Text 55"/>
          <p:cNvSpPr txBox="1"/>
          <p:nvPr/>
        </p:nvSpPr>
        <p:spPr>
          <a:xfrm>
            <a:off x="7955280" y="3462528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chemeClr val="accent4"/>
                </a:solidFill>
              </a:rPr>
              <a:t>ooi</a:t>
            </a:r>
            <a:endParaRPr lang="en-US" sz="1900" dirty="0"/>
          </a:p>
        </p:txBody>
      </p:sp>
      <p:sp>
        <p:nvSpPr>
          <p:cNvPr id="61" name="Text 56"/>
          <p:cNvSpPr txBox="1"/>
          <p:nvPr/>
        </p:nvSpPr>
        <p:spPr>
          <a:xfrm>
            <a:off x="8823960" y="3462528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« ô-y »</a:t>
            </a:r>
            <a:endParaRPr lang="en-US" sz="1400" dirty="0"/>
          </a:p>
        </p:txBody>
      </p:sp>
      <p:sp>
        <p:nvSpPr>
          <p:cNvPr id="62" name="Text 57"/>
          <p:cNvSpPr txBox="1"/>
          <p:nvPr/>
        </p:nvSpPr>
        <p:spPr>
          <a:xfrm>
            <a:off x="9875520" y="3462528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mooi</a:t>
            </a:r>
            <a:endParaRPr lang="en-US" sz="1800" dirty="0"/>
          </a:p>
        </p:txBody>
      </p:sp>
      <p:pic>
        <p:nvPicPr>
          <p:cNvPr id="63" name="Image 2" descr="sparkle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0" y="3526536"/>
            <a:ext cx="438912" cy="438912"/>
          </a:xfrm>
          <a:prstGeom prst="rect">
            <a:avLst/>
          </a:prstGeom>
        </p:spPr>
      </p:pic>
      <p:sp>
        <p:nvSpPr>
          <p:cNvPr id="64" name="Text 58"/>
          <p:cNvSpPr txBox="1"/>
          <p:nvPr/>
        </p:nvSpPr>
        <p:spPr>
          <a:xfrm>
            <a:off x="7955280" y="4084320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chemeClr val="accent4"/>
                </a:solidFill>
              </a:rPr>
              <a:t>oei</a:t>
            </a:r>
            <a:endParaRPr lang="en-US" sz="1900" dirty="0"/>
          </a:p>
        </p:txBody>
      </p:sp>
      <p:sp>
        <p:nvSpPr>
          <p:cNvPr id="65" name="Text 59"/>
          <p:cNvSpPr txBox="1"/>
          <p:nvPr/>
        </p:nvSpPr>
        <p:spPr>
          <a:xfrm>
            <a:off x="8823960" y="408432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« ouille »</a:t>
            </a:r>
            <a:endParaRPr lang="en-US" sz="1400" dirty="0"/>
          </a:p>
        </p:txBody>
      </p:sp>
      <p:sp>
        <p:nvSpPr>
          <p:cNvPr id="66" name="Text 60"/>
          <p:cNvSpPr txBox="1"/>
          <p:nvPr/>
        </p:nvSpPr>
        <p:spPr>
          <a:xfrm>
            <a:off x="9875520" y="408432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doei</a:t>
            </a:r>
            <a:endParaRPr lang="en-US" sz="1800" dirty="0"/>
          </a:p>
        </p:txBody>
      </p:sp>
      <p:pic>
        <p:nvPicPr>
          <p:cNvPr id="67" name="Image 3" descr="waving hand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0" y="4148328"/>
            <a:ext cx="438912" cy="438912"/>
          </a:xfrm>
          <a:prstGeom prst="rect">
            <a:avLst/>
          </a:prstGeom>
        </p:spPr>
      </p:pic>
      <p:sp>
        <p:nvSpPr>
          <p:cNvPr id="68" name="Text 61"/>
          <p:cNvSpPr txBox="1"/>
          <p:nvPr/>
        </p:nvSpPr>
        <p:spPr>
          <a:xfrm>
            <a:off x="7955280" y="4706112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chemeClr val="accent4"/>
                </a:solidFill>
              </a:rPr>
              <a:t>eeuw</a:t>
            </a:r>
            <a:endParaRPr lang="en-US" sz="1900" dirty="0"/>
          </a:p>
        </p:txBody>
      </p:sp>
      <p:sp>
        <p:nvSpPr>
          <p:cNvPr id="69" name="Text 62"/>
          <p:cNvSpPr txBox="1"/>
          <p:nvPr/>
        </p:nvSpPr>
        <p:spPr>
          <a:xfrm>
            <a:off x="8823960" y="4706112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« é-ou »</a:t>
            </a:r>
            <a:endParaRPr lang="en-US" sz="1400" dirty="0"/>
          </a:p>
        </p:txBody>
      </p:sp>
      <p:sp>
        <p:nvSpPr>
          <p:cNvPr id="70" name="Text 63"/>
          <p:cNvSpPr txBox="1"/>
          <p:nvPr/>
        </p:nvSpPr>
        <p:spPr>
          <a:xfrm>
            <a:off x="9875520" y="4706112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sneeuw</a:t>
            </a:r>
            <a:endParaRPr lang="en-US" sz="1800" dirty="0"/>
          </a:p>
        </p:txBody>
      </p:sp>
      <p:pic>
        <p:nvPicPr>
          <p:cNvPr id="71" name="Image 4" descr="snowflak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72800" y="4770120"/>
            <a:ext cx="438912" cy="438912"/>
          </a:xfrm>
          <a:prstGeom prst="rect">
            <a:avLst/>
          </a:prstGeom>
        </p:spPr>
      </p:pic>
      <p:sp>
        <p:nvSpPr>
          <p:cNvPr id="72" name="Text 64"/>
          <p:cNvSpPr txBox="1"/>
          <p:nvPr/>
        </p:nvSpPr>
        <p:spPr>
          <a:xfrm>
            <a:off x="7955280" y="5327904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chemeClr val="accent4"/>
                </a:solidFill>
              </a:rPr>
              <a:t>ieuw</a:t>
            </a:r>
            <a:endParaRPr lang="en-US" sz="1900" dirty="0"/>
          </a:p>
        </p:txBody>
      </p:sp>
      <p:sp>
        <p:nvSpPr>
          <p:cNvPr id="73" name="Text 65"/>
          <p:cNvSpPr txBox="1"/>
          <p:nvPr/>
        </p:nvSpPr>
        <p:spPr>
          <a:xfrm>
            <a:off x="8823960" y="5327904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« i-ou »</a:t>
            </a:r>
            <a:endParaRPr lang="en-US" sz="1400" dirty="0"/>
          </a:p>
        </p:txBody>
      </p:sp>
      <p:sp>
        <p:nvSpPr>
          <p:cNvPr id="74" name="Text 66"/>
          <p:cNvSpPr txBox="1"/>
          <p:nvPr/>
        </p:nvSpPr>
        <p:spPr>
          <a:xfrm>
            <a:off x="9875520" y="5327904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nieuw</a:t>
            </a:r>
            <a:endParaRPr lang="en-US" sz="1800" dirty="0"/>
          </a:p>
        </p:txBody>
      </p:sp>
      <p:pic>
        <p:nvPicPr>
          <p:cNvPr id="75" name="Image 5" descr="new butto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72800" y="5391912"/>
            <a:ext cx="438912" cy="43891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Souffle ou silence ? h, g et ch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2633472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SÉANCE 3 · ① ÉCOUTER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9747504" y="393192"/>
            <a:ext cx="1682496" cy="914"/>
          </a:xfrm>
          <a:prstGeom prst="line">
            <a:avLst/>
          </a:prstGeom>
          <a:noFill/>
          <a:ln w="25400">
            <a:solidFill>
              <a:srgbClr val="D5DCE6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9582912" y="228600"/>
            <a:ext cx="329184" cy="32918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A6FB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582912" y="2286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1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10003536" y="228600"/>
            <a:ext cx="329184" cy="32918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4236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0003536" y="2286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2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10424160" y="228600"/>
            <a:ext cx="329184" cy="329184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0424160" y="2286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10844784" y="228600"/>
            <a:ext cx="329184" cy="32918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E7D4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0844784" y="2286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4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11265408" y="228600"/>
            <a:ext cx="329184" cy="32918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E4A9E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11265408" y="2286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E4A9E"/>
                </a:solidFill>
              </a:rPr>
              <a:t>5</a:t>
            </a:r>
            <a:endParaRPr lang="en-US" sz="1200" dirty="0"/>
          </a:p>
        </p:txBody>
      </p:sp>
      <p:pic>
        <p:nvPicPr>
          <p:cNvPr id="16" name="Image 0" descr="HandPointRigh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17904"/>
            <a:ext cx="274320" cy="27432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960120" y="1481328"/>
            <a:ext cx="10680192" cy="31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accent5"/>
                </a:solidFill>
              </a:rPr>
              <a:t>Écoutez : main levée si vous entendez le </a:t>
            </a:r>
            <a:r>
              <a:rPr lang="en-US" sz="1700" i="1" dirty="0">
                <a:solidFill>
                  <a:schemeClr val="accent5"/>
                </a:solidFill>
              </a:rPr>
              <a:t>h</a:t>
            </a:r>
            <a:r>
              <a:rPr lang="en-US" sz="1700" i="1" dirty="0">
                <a:solidFill>
                  <a:schemeClr val="accent5"/>
                </a:solidFill>
              </a:rPr>
              <a:t>. Puis relevez le défi du </a:t>
            </a:r>
            <a:r>
              <a:rPr lang="en-US" sz="1700" i="1" dirty="0">
                <a:solidFill>
                  <a:schemeClr val="accent5"/>
                </a:solidFill>
              </a:rPr>
              <a:t>g</a:t>
            </a:r>
            <a:r>
              <a:rPr lang="en-US" sz="1700" i="1" dirty="0">
                <a:solidFill>
                  <a:schemeClr val="accent5"/>
                </a:solidFill>
              </a:rPr>
              <a:t>… en une seule respiration !</a:t>
            </a:r>
            <a:endParaRPr lang="en-US" sz="1700" dirty="0"/>
          </a:p>
        </p:txBody>
      </p:sp>
      <p:sp>
        <p:nvSpPr>
          <p:cNvPr id="18" name="Shape 14"/>
          <p:cNvSpPr/>
          <p:nvPr/>
        </p:nvSpPr>
        <p:spPr>
          <a:xfrm>
            <a:off x="548640" y="1959864"/>
            <a:ext cx="5413248" cy="3520440"/>
          </a:xfrm>
          <a:prstGeom prst="roundRect">
            <a:avLst>
              <a:gd name="adj" fmla="val 2078"/>
            </a:avLst>
          </a:prstGeom>
          <a:solidFill>
            <a:schemeClr val="bg1"/>
          </a:solidFill>
          <a:ln w="25400">
            <a:solidFill>
              <a:srgbClr val="2A6FB0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548640" y="1959864"/>
            <a:ext cx="5413248" cy="548640"/>
          </a:xfrm>
          <a:prstGeom prst="roundRect">
            <a:avLst>
              <a:gd name="adj" fmla="val 13333"/>
            </a:avLst>
          </a:prstGeom>
          <a:solidFill>
            <a:schemeClr val="accent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731520" y="1959864"/>
            <a:ext cx="43159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h</a:t>
            </a:r>
            <a:r>
              <a:rPr lang="en-US" sz="1900" dirty="0">
                <a:solidFill>
                  <a:schemeClr val="bg1"/>
                </a:solidFill>
              </a:rPr>
              <a:t> = on souffle !</a:t>
            </a:r>
            <a:endParaRPr lang="en-US" sz="1900" dirty="0"/>
          </a:p>
        </p:txBody>
      </p:sp>
      <p:pic>
        <p:nvPicPr>
          <p:cNvPr id="21" name="Image 1" descr="wind fac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6088" y="2005584"/>
            <a:ext cx="457200" cy="457200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822960" y="2673096"/>
            <a:ext cx="1737360" cy="457200"/>
          </a:xfrm>
          <a:prstGeom prst="roundRect">
            <a:avLst>
              <a:gd name="adj" fmla="val 24000"/>
            </a:avLst>
          </a:prstGeom>
          <a:solidFill>
            <a:schemeClr val="accent2">
              <a:alpha val="14000"/>
            </a:schemeClr>
          </a:solidFill>
          <a:ln w="19050">
            <a:solidFill>
              <a:srgbClr val="2A6FB0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822960" y="2673096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i="1" dirty="0">
                <a:solidFill>
                  <a:schemeClr val="tx1"/>
                </a:solidFill>
              </a:rPr>
              <a:t>h</a:t>
            </a:r>
            <a:r>
              <a:rPr lang="en-US" sz="1900" i="1" dirty="0">
                <a:solidFill>
                  <a:schemeClr val="tx1"/>
                </a:solidFill>
              </a:rPr>
              <a:t>eten</a:t>
            </a:r>
            <a:endParaRPr lang="en-US" sz="1900" dirty="0"/>
          </a:p>
        </p:txBody>
      </p:sp>
      <p:sp>
        <p:nvSpPr>
          <p:cNvPr id="24" name="Text 19"/>
          <p:cNvSpPr txBox="1"/>
          <p:nvPr/>
        </p:nvSpPr>
        <p:spPr>
          <a:xfrm>
            <a:off x="2606040" y="2673096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5"/>
                </a:solidFill>
              </a:rPr>
              <a:t>≠</a:t>
            </a:r>
            <a:endParaRPr lang="en-US" sz="2000" dirty="0"/>
          </a:p>
        </p:txBody>
      </p:sp>
      <p:sp>
        <p:nvSpPr>
          <p:cNvPr id="25" name="Shape 20"/>
          <p:cNvSpPr/>
          <p:nvPr/>
        </p:nvSpPr>
        <p:spPr>
          <a:xfrm>
            <a:off x="3063240" y="2673096"/>
            <a:ext cx="1737360" cy="457200"/>
          </a:xfrm>
          <a:prstGeom prst="roundRect">
            <a:avLst>
              <a:gd name="adj" fmla="val 24000"/>
            </a:avLst>
          </a:prstGeom>
          <a:solidFill>
            <a:schemeClr val="accent5">
              <a:alpha val="14000"/>
            </a:schemeClr>
          </a:solidFill>
          <a:ln w="19050">
            <a:solidFill>
              <a:srgbClr val="4A5A70"/>
            </a:solidFill>
            <a:prstDash val="solid"/>
          </a:ln>
        </p:spPr>
      </p:sp>
      <p:sp>
        <p:nvSpPr>
          <p:cNvPr id="26" name="Text 21"/>
          <p:cNvSpPr txBox="1"/>
          <p:nvPr/>
        </p:nvSpPr>
        <p:spPr>
          <a:xfrm>
            <a:off x="3063240" y="2673096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i="1" dirty="0">
                <a:solidFill>
                  <a:schemeClr val="tx1"/>
                </a:solidFill>
              </a:rPr>
              <a:t>eten</a:t>
            </a:r>
            <a:endParaRPr lang="en-US" sz="1900" dirty="0"/>
          </a:p>
        </p:txBody>
      </p:sp>
      <p:sp>
        <p:nvSpPr>
          <p:cNvPr id="27" name="Shape 22"/>
          <p:cNvSpPr/>
          <p:nvPr/>
        </p:nvSpPr>
        <p:spPr>
          <a:xfrm>
            <a:off x="822960" y="3221736"/>
            <a:ext cx="1737360" cy="457200"/>
          </a:xfrm>
          <a:prstGeom prst="roundRect">
            <a:avLst>
              <a:gd name="adj" fmla="val 24000"/>
            </a:avLst>
          </a:prstGeom>
          <a:solidFill>
            <a:schemeClr val="accent2">
              <a:alpha val="14000"/>
            </a:schemeClr>
          </a:solidFill>
          <a:ln w="19050">
            <a:solidFill>
              <a:srgbClr val="2A6FB0"/>
            </a:solidFill>
            <a:prstDash val="solid"/>
          </a:ln>
        </p:spPr>
      </p:sp>
      <p:sp>
        <p:nvSpPr>
          <p:cNvPr id="28" name="Text 23"/>
          <p:cNvSpPr txBox="1"/>
          <p:nvPr/>
        </p:nvSpPr>
        <p:spPr>
          <a:xfrm>
            <a:off x="822960" y="3221736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i="1" dirty="0">
                <a:solidFill>
                  <a:schemeClr val="tx1"/>
                </a:solidFill>
              </a:rPr>
              <a:t>h</a:t>
            </a:r>
            <a:r>
              <a:rPr lang="en-US" sz="1900" i="1" dirty="0">
                <a:solidFill>
                  <a:schemeClr val="tx1"/>
                </a:solidFill>
              </a:rPr>
              <a:t>oor</a:t>
            </a:r>
            <a:endParaRPr lang="en-US" sz="1900" dirty="0"/>
          </a:p>
        </p:txBody>
      </p:sp>
      <p:sp>
        <p:nvSpPr>
          <p:cNvPr id="29" name="Text 24"/>
          <p:cNvSpPr txBox="1"/>
          <p:nvPr/>
        </p:nvSpPr>
        <p:spPr>
          <a:xfrm>
            <a:off x="2606040" y="3221736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5"/>
                </a:solidFill>
              </a:rPr>
              <a:t>≠</a:t>
            </a:r>
            <a:endParaRPr lang="en-US" sz="2000" dirty="0"/>
          </a:p>
        </p:txBody>
      </p:sp>
      <p:sp>
        <p:nvSpPr>
          <p:cNvPr id="30" name="Shape 25"/>
          <p:cNvSpPr/>
          <p:nvPr/>
        </p:nvSpPr>
        <p:spPr>
          <a:xfrm>
            <a:off x="3063240" y="3221736"/>
            <a:ext cx="1737360" cy="457200"/>
          </a:xfrm>
          <a:prstGeom prst="roundRect">
            <a:avLst>
              <a:gd name="adj" fmla="val 24000"/>
            </a:avLst>
          </a:prstGeom>
          <a:solidFill>
            <a:schemeClr val="accent5">
              <a:alpha val="14000"/>
            </a:schemeClr>
          </a:solidFill>
          <a:ln w="19050">
            <a:solidFill>
              <a:srgbClr val="4A5A70"/>
            </a:solidFill>
            <a:prstDash val="solid"/>
          </a:ln>
        </p:spPr>
      </p:sp>
      <p:sp>
        <p:nvSpPr>
          <p:cNvPr id="31" name="Text 26"/>
          <p:cNvSpPr txBox="1"/>
          <p:nvPr/>
        </p:nvSpPr>
        <p:spPr>
          <a:xfrm>
            <a:off x="3063240" y="3221736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i="1" dirty="0">
                <a:solidFill>
                  <a:schemeClr val="tx1"/>
                </a:solidFill>
              </a:rPr>
              <a:t>oor</a:t>
            </a:r>
            <a:endParaRPr lang="en-US" sz="1900" dirty="0"/>
          </a:p>
        </p:txBody>
      </p:sp>
      <p:sp>
        <p:nvSpPr>
          <p:cNvPr id="32" name="Shape 27"/>
          <p:cNvSpPr/>
          <p:nvPr/>
        </p:nvSpPr>
        <p:spPr>
          <a:xfrm>
            <a:off x="822960" y="3770376"/>
            <a:ext cx="1737360" cy="457200"/>
          </a:xfrm>
          <a:prstGeom prst="roundRect">
            <a:avLst>
              <a:gd name="adj" fmla="val 24000"/>
            </a:avLst>
          </a:prstGeom>
          <a:solidFill>
            <a:schemeClr val="accent2">
              <a:alpha val="14000"/>
            </a:schemeClr>
          </a:solidFill>
          <a:ln w="19050">
            <a:solidFill>
              <a:srgbClr val="2A6FB0"/>
            </a:solidFill>
            <a:prstDash val="solid"/>
          </a:ln>
        </p:spPr>
      </p:sp>
      <p:sp>
        <p:nvSpPr>
          <p:cNvPr id="33" name="Text 28"/>
          <p:cNvSpPr txBox="1"/>
          <p:nvPr/>
        </p:nvSpPr>
        <p:spPr>
          <a:xfrm>
            <a:off x="822960" y="3770376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i="1" dirty="0">
                <a:solidFill>
                  <a:schemeClr val="tx1"/>
                </a:solidFill>
              </a:rPr>
              <a:t>h</a:t>
            </a:r>
            <a:r>
              <a:rPr lang="en-US" sz="1900" i="1" dirty="0">
                <a:solidFill>
                  <a:schemeClr val="tx1"/>
                </a:solidFill>
              </a:rPr>
              <a:t>ij</a:t>
            </a:r>
            <a:endParaRPr lang="en-US" sz="1900" dirty="0"/>
          </a:p>
        </p:txBody>
      </p:sp>
      <p:sp>
        <p:nvSpPr>
          <p:cNvPr id="34" name="Text 29"/>
          <p:cNvSpPr txBox="1"/>
          <p:nvPr/>
        </p:nvSpPr>
        <p:spPr>
          <a:xfrm>
            <a:off x="2606040" y="3770376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5"/>
                </a:solidFill>
              </a:rPr>
              <a:t>≠</a:t>
            </a:r>
            <a:endParaRPr lang="en-US" sz="2000" dirty="0"/>
          </a:p>
        </p:txBody>
      </p:sp>
      <p:sp>
        <p:nvSpPr>
          <p:cNvPr id="35" name="Shape 30"/>
          <p:cNvSpPr/>
          <p:nvPr/>
        </p:nvSpPr>
        <p:spPr>
          <a:xfrm>
            <a:off x="3063240" y="3770376"/>
            <a:ext cx="1737360" cy="457200"/>
          </a:xfrm>
          <a:prstGeom prst="roundRect">
            <a:avLst>
              <a:gd name="adj" fmla="val 24000"/>
            </a:avLst>
          </a:prstGeom>
          <a:solidFill>
            <a:schemeClr val="accent5">
              <a:alpha val="14000"/>
            </a:schemeClr>
          </a:solidFill>
          <a:ln w="19050">
            <a:solidFill>
              <a:srgbClr val="4A5A70"/>
            </a:solidFill>
            <a:prstDash val="solid"/>
          </a:ln>
        </p:spPr>
      </p:sp>
      <p:sp>
        <p:nvSpPr>
          <p:cNvPr id="36" name="Text 31"/>
          <p:cNvSpPr txBox="1"/>
          <p:nvPr/>
        </p:nvSpPr>
        <p:spPr>
          <a:xfrm>
            <a:off x="3063240" y="3770376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i="1" dirty="0">
                <a:solidFill>
                  <a:schemeClr val="tx1"/>
                </a:solidFill>
              </a:rPr>
              <a:t>ei</a:t>
            </a:r>
            <a:endParaRPr lang="en-US" sz="1900" dirty="0"/>
          </a:p>
        </p:txBody>
      </p:sp>
      <p:sp>
        <p:nvSpPr>
          <p:cNvPr id="37" name="Shape 32"/>
          <p:cNvSpPr/>
          <p:nvPr/>
        </p:nvSpPr>
        <p:spPr>
          <a:xfrm>
            <a:off x="822960" y="4319016"/>
            <a:ext cx="1737360" cy="457200"/>
          </a:xfrm>
          <a:prstGeom prst="roundRect">
            <a:avLst>
              <a:gd name="adj" fmla="val 24000"/>
            </a:avLst>
          </a:prstGeom>
          <a:solidFill>
            <a:schemeClr val="accent2">
              <a:alpha val="14000"/>
            </a:schemeClr>
          </a:solidFill>
          <a:ln w="19050">
            <a:solidFill>
              <a:srgbClr val="2A6FB0"/>
            </a:solidFill>
            <a:prstDash val="solid"/>
          </a:ln>
        </p:spPr>
      </p:sp>
      <p:sp>
        <p:nvSpPr>
          <p:cNvPr id="38" name="Text 33"/>
          <p:cNvSpPr txBox="1"/>
          <p:nvPr/>
        </p:nvSpPr>
        <p:spPr>
          <a:xfrm>
            <a:off x="822960" y="4319016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i="1" dirty="0">
                <a:solidFill>
                  <a:schemeClr val="tx1"/>
                </a:solidFill>
              </a:rPr>
              <a:t>h</a:t>
            </a:r>
            <a:r>
              <a:rPr lang="en-US" sz="1900" i="1" dirty="0">
                <a:solidFill>
                  <a:schemeClr val="tx1"/>
                </a:solidFill>
              </a:rPr>
              <a:t>al</a:t>
            </a:r>
            <a:endParaRPr lang="en-US" sz="1900" dirty="0"/>
          </a:p>
        </p:txBody>
      </p:sp>
      <p:sp>
        <p:nvSpPr>
          <p:cNvPr id="39" name="Text 34"/>
          <p:cNvSpPr txBox="1"/>
          <p:nvPr/>
        </p:nvSpPr>
        <p:spPr>
          <a:xfrm>
            <a:off x="2606040" y="4319016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5"/>
                </a:solidFill>
              </a:rPr>
              <a:t>≠</a:t>
            </a:r>
            <a:endParaRPr lang="en-US" sz="2000" dirty="0"/>
          </a:p>
        </p:txBody>
      </p:sp>
      <p:sp>
        <p:nvSpPr>
          <p:cNvPr id="40" name="Shape 35"/>
          <p:cNvSpPr/>
          <p:nvPr/>
        </p:nvSpPr>
        <p:spPr>
          <a:xfrm>
            <a:off x="3063240" y="4319016"/>
            <a:ext cx="1737360" cy="457200"/>
          </a:xfrm>
          <a:prstGeom prst="roundRect">
            <a:avLst>
              <a:gd name="adj" fmla="val 24000"/>
            </a:avLst>
          </a:prstGeom>
          <a:solidFill>
            <a:schemeClr val="accent5">
              <a:alpha val="14000"/>
            </a:schemeClr>
          </a:solidFill>
          <a:ln w="19050">
            <a:solidFill>
              <a:srgbClr val="4A5A70"/>
            </a:solidFill>
            <a:prstDash val="solid"/>
          </a:ln>
        </p:spPr>
      </p:sp>
      <p:sp>
        <p:nvSpPr>
          <p:cNvPr id="41" name="Text 36"/>
          <p:cNvSpPr txBox="1"/>
          <p:nvPr/>
        </p:nvSpPr>
        <p:spPr>
          <a:xfrm>
            <a:off x="3063240" y="4319016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i="1" dirty="0">
                <a:solidFill>
                  <a:schemeClr val="tx1"/>
                </a:solidFill>
              </a:rPr>
              <a:t>al</a:t>
            </a:r>
            <a:endParaRPr lang="en-US" sz="1900" dirty="0"/>
          </a:p>
        </p:txBody>
      </p:sp>
      <p:pic>
        <p:nvPicPr>
          <p:cNvPr id="42" name="Image 2" descr="face with tears of joy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904232"/>
            <a:ext cx="457200" cy="457200"/>
          </a:xfrm>
          <a:prstGeom prst="rect">
            <a:avLst/>
          </a:prstGeom>
        </p:spPr>
      </p:pic>
      <p:sp>
        <p:nvSpPr>
          <p:cNvPr id="43" name="Text 37"/>
          <p:cNvSpPr txBox="1"/>
          <p:nvPr/>
        </p:nvSpPr>
        <p:spPr>
          <a:xfrm>
            <a:off x="1325880" y="4858512"/>
            <a:ext cx="4498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i="1" dirty="0">
                <a:solidFill>
                  <a:schemeClr val="tx1"/>
                </a:solidFill>
              </a:rPr>
              <a:t>Ik </a:t>
            </a:r>
            <a:r>
              <a:rPr lang="en-US" sz="1900" b="1" i="1" dirty="0">
                <a:solidFill>
                  <a:schemeClr val="tx1"/>
                </a:solidFill>
              </a:rPr>
              <a:t>h</a:t>
            </a:r>
            <a:r>
              <a:rPr lang="en-US" sz="1900" i="1" dirty="0">
                <a:solidFill>
                  <a:schemeClr val="tx1"/>
                </a:solidFill>
              </a:rPr>
              <a:t>eet Tom.</a:t>
            </a:r>
            <a:r>
              <a:rPr lang="en-US" sz="1900" dirty="0">
                <a:solidFill>
                  <a:schemeClr val="tx1"/>
                </a:solidFill>
              </a:rPr>
              <a:t> ≠ </a:t>
            </a:r>
            <a:r>
              <a:rPr lang="en-US" sz="1900" i="1" dirty="0">
                <a:solidFill>
                  <a:schemeClr val="tx1"/>
                </a:solidFill>
              </a:rPr>
              <a:t>Ik eet Tom!</a:t>
            </a:r>
            <a:endParaRPr lang="en-US" sz="1900" dirty="0"/>
          </a:p>
        </p:txBody>
      </p:sp>
      <p:sp>
        <p:nvSpPr>
          <p:cNvPr id="44" name="Shape 38"/>
          <p:cNvSpPr/>
          <p:nvPr/>
        </p:nvSpPr>
        <p:spPr>
          <a:xfrm>
            <a:off x="6227064" y="1959864"/>
            <a:ext cx="5413248" cy="3520440"/>
          </a:xfrm>
          <a:prstGeom prst="roundRect">
            <a:avLst>
              <a:gd name="adj" fmla="val 2078"/>
            </a:avLst>
          </a:prstGeom>
          <a:solidFill>
            <a:schemeClr val="bg1"/>
          </a:solidFill>
          <a:ln w="25400">
            <a:solidFill>
              <a:srgbClr val="D9700F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45" name="Shape 39"/>
          <p:cNvSpPr/>
          <p:nvPr/>
        </p:nvSpPr>
        <p:spPr>
          <a:xfrm>
            <a:off x="6227064" y="1959864"/>
            <a:ext cx="5413248" cy="54864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6" name="Text 40"/>
          <p:cNvSpPr txBox="1"/>
          <p:nvPr/>
        </p:nvSpPr>
        <p:spPr>
          <a:xfrm>
            <a:off x="6409944" y="1959864"/>
            <a:ext cx="50474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g</a:t>
            </a:r>
            <a:r>
              <a:rPr lang="en-US" sz="1700" dirty="0">
                <a:solidFill>
                  <a:schemeClr val="bg1"/>
                </a:solidFill>
              </a:rPr>
              <a:t> = </a:t>
            </a:r>
            <a:r>
              <a:rPr lang="en-US" sz="1700" b="1" dirty="0">
                <a:solidFill>
                  <a:schemeClr val="bg1"/>
                </a:solidFill>
              </a:rPr>
              <a:t>ch</a:t>
            </a:r>
            <a:r>
              <a:rPr lang="en-US" sz="1700" dirty="0">
                <a:solidFill>
                  <a:schemeClr val="bg1"/>
                </a:solidFill>
              </a:rPr>
              <a:t> : le son raclé (« jota » espagnole)</a:t>
            </a:r>
            <a:endParaRPr lang="en-US" sz="1700" dirty="0"/>
          </a:p>
        </p:txBody>
      </p:sp>
      <p:sp>
        <p:nvSpPr>
          <p:cNvPr id="47" name="Shape 41"/>
          <p:cNvSpPr/>
          <p:nvPr/>
        </p:nvSpPr>
        <p:spPr>
          <a:xfrm>
            <a:off x="6501384" y="2691384"/>
            <a:ext cx="1508760" cy="493776"/>
          </a:xfrm>
          <a:prstGeom prst="roundRect">
            <a:avLst>
              <a:gd name="adj" fmla="val 22222"/>
            </a:avLst>
          </a:prstGeom>
          <a:solidFill>
            <a:schemeClr val="accent1">
              <a:alpha val="14000"/>
            </a:schemeClr>
          </a:solidFill>
          <a:ln w="19050">
            <a:solidFill>
              <a:srgbClr val="D9700F"/>
            </a:solidFill>
            <a:prstDash val="solid"/>
          </a:ln>
        </p:spPr>
      </p:sp>
      <p:sp>
        <p:nvSpPr>
          <p:cNvPr id="48" name="Text 42"/>
          <p:cNvSpPr txBox="1"/>
          <p:nvPr/>
        </p:nvSpPr>
        <p:spPr>
          <a:xfrm>
            <a:off x="6501384" y="2691384"/>
            <a:ext cx="15087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i="1" dirty="0">
                <a:solidFill>
                  <a:schemeClr val="tx1"/>
                </a:solidFill>
              </a:rPr>
              <a:t>goed</a:t>
            </a:r>
            <a:endParaRPr lang="en-US" sz="1900" dirty="0"/>
          </a:p>
        </p:txBody>
      </p:sp>
      <p:sp>
        <p:nvSpPr>
          <p:cNvPr id="49" name="Shape 43"/>
          <p:cNvSpPr/>
          <p:nvPr/>
        </p:nvSpPr>
        <p:spPr>
          <a:xfrm>
            <a:off x="8147304" y="2691384"/>
            <a:ext cx="1508760" cy="493776"/>
          </a:xfrm>
          <a:prstGeom prst="roundRect">
            <a:avLst>
              <a:gd name="adj" fmla="val 22222"/>
            </a:avLst>
          </a:prstGeom>
          <a:solidFill>
            <a:schemeClr val="accent1">
              <a:alpha val="14000"/>
            </a:schemeClr>
          </a:solidFill>
          <a:ln w="19050">
            <a:solidFill>
              <a:srgbClr val="D9700F"/>
            </a:solidFill>
            <a:prstDash val="solid"/>
          </a:ln>
        </p:spPr>
      </p:sp>
      <p:sp>
        <p:nvSpPr>
          <p:cNvPr id="50" name="Text 44"/>
          <p:cNvSpPr txBox="1"/>
          <p:nvPr/>
        </p:nvSpPr>
        <p:spPr>
          <a:xfrm>
            <a:off x="8147304" y="2691384"/>
            <a:ext cx="15087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i="1" dirty="0">
                <a:solidFill>
                  <a:schemeClr val="tx1"/>
                </a:solidFill>
              </a:rPr>
              <a:t>groot</a:t>
            </a:r>
            <a:endParaRPr lang="en-US" sz="1900" dirty="0"/>
          </a:p>
        </p:txBody>
      </p:sp>
      <p:sp>
        <p:nvSpPr>
          <p:cNvPr id="51" name="Shape 45"/>
          <p:cNvSpPr/>
          <p:nvPr/>
        </p:nvSpPr>
        <p:spPr>
          <a:xfrm>
            <a:off x="9793224" y="2691384"/>
            <a:ext cx="1508760" cy="493776"/>
          </a:xfrm>
          <a:prstGeom prst="roundRect">
            <a:avLst>
              <a:gd name="adj" fmla="val 22222"/>
            </a:avLst>
          </a:prstGeom>
          <a:solidFill>
            <a:schemeClr val="accent1">
              <a:alpha val="14000"/>
            </a:schemeClr>
          </a:solidFill>
          <a:ln w="19050">
            <a:solidFill>
              <a:srgbClr val="D9700F"/>
            </a:solidFill>
            <a:prstDash val="solid"/>
          </a:ln>
        </p:spPr>
      </p:sp>
      <p:sp>
        <p:nvSpPr>
          <p:cNvPr id="52" name="Text 46"/>
          <p:cNvSpPr txBox="1"/>
          <p:nvPr/>
        </p:nvSpPr>
        <p:spPr>
          <a:xfrm>
            <a:off x="9793224" y="2691384"/>
            <a:ext cx="15087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i="1" dirty="0">
                <a:solidFill>
                  <a:schemeClr val="tx1"/>
                </a:solidFill>
              </a:rPr>
              <a:t>gaan</a:t>
            </a:r>
            <a:endParaRPr lang="en-US" sz="1900" dirty="0"/>
          </a:p>
        </p:txBody>
      </p:sp>
      <p:sp>
        <p:nvSpPr>
          <p:cNvPr id="53" name="Shape 47"/>
          <p:cNvSpPr/>
          <p:nvPr/>
        </p:nvSpPr>
        <p:spPr>
          <a:xfrm>
            <a:off x="6501384" y="3294888"/>
            <a:ext cx="1508760" cy="493776"/>
          </a:xfrm>
          <a:prstGeom prst="roundRect">
            <a:avLst>
              <a:gd name="adj" fmla="val 22222"/>
            </a:avLst>
          </a:prstGeom>
          <a:solidFill>
            <a:schemeClr val="accent1">
              <a:alpha val="14000"/>
            </a:schemeClr>
          </a:solidFill>
          <a:ln w="19050">
            <a:solidFill>
              <a:srgbClr val="D9700F"/>
            </a:solidFill>
            <a:prstDash val="solid"/>
          </a:ln>
        </p:spPr>
      </p:sp>
      <p:sp>
        <p:nvSpPr>
          <p:cNvPr id="54" name="Text 48"/>
          <p:cNvSpPr txBox="1"/>
          <p:nvPr/>
        </p:nvSpPr>
        <p:spPr>
          <a:xfrm>
            <a:off x="6501384" y="3294888"/>
            <a:ext cx="15087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i="1" dirty="0">
                <a:solidFill>
                  <a:schemeClr val="tx1"/>
                </a:solidFill>
              </a:rPr>
              <a:t>dag</a:t>
            </a:r>
            <a:endParaRPr lang="en-US" sz="1900" dirty="0"/>
          </a:p>
        </p:txBody>
      </p:sp>
      <p:sp>
        <p:nvSpPr>
          <p:cNvPr id="55" name="Shape 49"/>
          <p:cNvSpPr/>
          <p:nvPr/>
        </p:nvSpPr>
        <p:spPr>
          <a:xfrm>
            <a:off x="8147304" y="3294888"/>
            <a:ext cx="1508760" cy="493776"/>
          </a:xfrm>
          <a:prstGeom prst="roundRect">
            <a:avLst>
              <a:gd name="adj" fmla="val 22222"/>
            </a:avLst>
          </a:prstGeom>
          <a:solidFill>
            <a:schemeClr val="accent1">
              <a:alpha val="14000"/>
            </a:schemeClr>
          </a:solidFill>
          <a:ln w="19050">
            <a:solidFill>
              <a:srgbClr val="D9700F"/>
            </a:solidFill>
            <a:prstDash val="solid"/>
          </a:ln>
        </p:spPr>
      </p:sp>
      <p:sp>
        <p:nvSpPr>
          <p:cNvPr id="56" name="Text 50"/>
          <p:cNvSpPr txBox="1"/>
          <p:nvPr/>
        </p:nvSpPr>
        <p:spPr>
          <a:xfrm>
            <a:off x="8147304" y="3294888"/>
            <a:ext cx="15087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i="1" dirty="0">
                <a:solidFill>
                  <a:schemeClr val="tx1"/>
                </a:solidFill>
              </a:rPr>
              <a:t>acht</a:t>
            </a:r>
            <a:endParaRPr lang="en-US" sz="1900" dirty="0"/>
          </a:p>
        </p:txBody>
      </p:sp>
      <p:sp>
        <p:nvSpPr>
          <p:cNvPr id="57" name="Shape 51"/>
          <p:cNvSpPr/>
          <p:nvPr/>
        </p:nvSpPr>
        <p:spPr>
          <a:xfrm>
            <a:off x="9793224" y="3294888"/>
            <a:ext cx="1508760" cy="493776"/>
          </a:xfrm>
          <a:prstGeom prst="roundRect">
            <a:avLst>
              <a:gd name="adj" fmla="val 22222"/>
            </a:avLst>
          </a:prstGeom>
          <a:solidFill>
            <a:schemeClr val="accent1">
              <a:alpha val="14000"/>
            </a:schemeClr>
          </a:solidFill>
          <a:ln w="19050">
            <a:solidFill>
              <a:srgbClr val="D9700F"/>
            </a:solidFill>
            <a:prstDash val="solid"/>
          </a:ln>
        </p:spPr>
      </p:sp>
      <p:sp>
        <p:nvSpPr>
          <p:cNvPr id="58" name="Text 52"/>
          <p:cNvSpPr txBox="1"/>
          <p:nvPr/>
        </p:nvSpPr>
        <p:spPr>
          <a:xfrm>
            <a:off x="9793224" y="3294888"/>
            <a:ext cx="15087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i="1" dirty="0">
                <a:solidFill>
                  <a:schemeClr val="tx1"/>
                </a:solidFill>
              </a:rPr>
              <a:t>lachen</a:t>
            </a:r>
            <a:endParaRPr lang="en-US" sz="1900" dirty="0"/>
          </a:p>
        </p:txBody>
      </p:sp>
      <p:sp>
        <p:nvSpPr>
          <p:cNvPr id="59" name="Text 53"/>
          <p:cNvSpPr txBox="1"/>
          <p:nvPr/>
        </p:nvSpPr>
        <p:spPr>
          <a:xfrm>
            <a:off x="6501384" y="3925824"/>
            <a:ext cx="495604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500" b="1" i="1" dirty="0">
                <a:solidFill>
                  <a:schemeClr val="tx1"/>
                </a:solidFill>
              </a:rPr>
              <a:t>sch</a:t>
            </a:r>
            <a:r>
              <a:rPr lang="en-US" sz="1500" i="1" dirty="0">
                <a:solidFill>
                  <a:schemeClr val="tx1"/>
                </a:solidFill>
              </a:rPr>
              <a:t>ool</a:t>
            </a:r>
            <a:r>
              <a:rPr lang="en-US" sz="1500" dirty="0">
                <a:solidFill>
                  <a:schemeClr val="tx1"/>
                </a:solidFill>
              </a:rPr>
              <a:t> = « s » + </a:t>
            </a:r>
            <a:r>
              <a:rPr lang="en-US" sz="1500" i="1" dirty="0">
                <a:solidFill>
                  <a:schemeClr val="tx1"/>
                </a:solidFill>
              </a:rPr>
              <a:t>ch</a:t>
            </a:r>
            <a:r>
              <a:rPr lang="en-US" sz="1500" dirty="0">
                <a:solidFill>
                  <a:schemeClr val="tx1"/>
                </a:solidFill>
              </a:rPr>
              <a:t> raclé</a:t>
            </a:r>
            <a:endParaRPr lang="en-US" sz="15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500" i="1" dirty="0">
                <a:solidFill>
                  <a:schemeClr val="tx1"/>
                </a:solidFill>
              </a:rPr>
              <a:t>Russi</a:t>
            </a:r>
            <a:r>
              <a:rPr lang="en-US" sz="1500" b="1" i="1" dirty="0">
                <a:solidFill>
                  <a:schemeClr val="tx1"/>
                </a:solidFill>
              </a:rPr>
              <a:t>sch</a:t>
            </a:r>
            <a:r>
              <a:rPr lang="en-US" sz="1500" dirty="0">
                <a:solidFill>
                  <a:schemeClr val="tx1"/>
                </a:solidFill>
              </a:rPr>
              <a:t> = « is » (</a:t>
            </a:r>
            <a:r>
              <a:rPr lang="en-US" sz="1500" i="1" dirty="0">
                <a:solidFill>
                  <a:schemeClr val="tx1"/>
                </a:solidFill>
              </a:rPr>
              <a:t>-isch</a:t>
            </a:r>
            <a:r>
              <a:rPr lang="en-US" sz="1500" dirty="0">
                <a:solidFill>
                  <a:schemeClr val="tx1"/>
                </a:solidFill>
              </a:rPr>
              <a:t> en fin de mot)</a:t>
            </a:r>
            <a:endParaRPr lang="en-US" sz="15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Repère : « gh » = raclé (</a:t>
            </a:r>
            <a:r>
              <a:rPr lang="en-US" sz="1500" i="1" dirty="0">
                <a:solidFill>
                  <a:schemeClr val="tx1"/>
                </a:solidFill>
              </a:rPr>
              <a:t>goed</a:t>
            </a:r>
            <a:r>
              <a:rPr lang="en-US" sz="1500" dirty="0">
                <a:solidFill>
                  <a:schemeClr val="tx1"/>
                </a:solidFill>
              </a:rPr>
              <a:t> ≈ « ghout »)</a:t>
            </a:r>
            <a:endParaRPr lang="en-US" sz="15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En Belgique, le </a:t>
            </a:r>
            <a:r>
              <a:rPr lang="en-US" sz="1500" i="1" dirty="0">
                <a:solidFill>
                  <a:schemeClr val="tx1"/>
                </a:solidFill>
              </a:rPr>
              <a:t>g</a:t>
            </a:r>
            <a:r>
              <a:rPr lang="en-US" sz="1500" dirty="0">
                <a:solidFill>
                  <a:schemeClr val="tx1"/>
                </a:solidFill>
              </a:rPr>
              <a:t> est plus doux : c’est correct !</a:t>
            </a:r>
            <a:endParaRPr lang="en-US" sz="1500" dirty="0"/>
          </a:p>
        </p:txBody>
      </p:sp>
      <p:sp>
        <p:nvSpPr>
          <p:cNvPr id="60" name="Shape 54"/>
          <p:cNvSpPr/>
          <p:nvPr/>
        </p:nvSpPr>
        <p:spPr>
          <a:xfrm>
            <a:off x="548640" y="5577840"/>
            <a:ext cx="11091672" cy="685800"/>
          </a:xfrm>
          <a:prstGeom prst="roundRect">
            <a:avLst>
              <a:gd name="adj" fmla="val 10667"/>
            </a:avLst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1" name="Text 55"/>
          <p:cNvSpPr txBox="1"/>
          <p:nvPr/>
        </p:nvSpPr>
        <p:spPr>
          <a:xfrm>
            <a:off x="822960" y="557784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Défi :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i="1" dirty="0">
                <a:solidFill>
                  <a:schemeClr val="bg1"/>
                </a:solidFill>
              </a:rPr>
              <a:t>Goedemorgen! Goed geslapen? Ga je graag naar Gent?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Les lettres caméléons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3065069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SÉANCE 3 · ② S’ENTRAÎNER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9747504" y="393192"/>
            <a:ext cx="1682496" cy="914"/>
          </a:xfrm>
          <a:prstGeom prst="line">
            <a:avLst/>
          </a:prstGeom>
          <a:noFill/>
          <a:ln w="25400">
            <a:solidFill>
              <a:srgbClr val="D5DCE6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9582912" y="228600"/>
            <a:ext cx="329184" cy="32918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A6FB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582912" y="2286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1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10003536" y="228600"/>
            <a:ext cx="329184" cy="32918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4236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0003536" y="2286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2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10424160" y="228600"/>
            <a:ext cx="329184" cy="329184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0424160" y="2286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10844784" y="228600"/>
            <a:ext cx="329184" cy="32918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E7D4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0844784" y="2286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4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11265408" y="228600"/>
            <a:ext cx="329184" cy="32918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E4A9E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11265408" y="2286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E4A9E"/>
                </a:solidFill>
              </a:rPr>
              <a:t>5</a:t>
            </a:r>
            <a:endParaRPr lang="en-US" sz="1200" dirty="0"/>
          </a:p>
        </p:txBody>
      </p:sp>
      <p:pic>
        <p:nvPicPr>
          <p:cNvPr id="16" name="Image 0" descr="HandPointRigh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17904"/>
            <a:ext cx="274320" cy="27432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960120" y="1481328"/>
            <a:ext cx="10680192" cy="31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accent5"/>
                </a:solidFill>
              </a:rPr>
              <a:t>Lisez le mot, trouvez son étiquette (A à L), puis relisez-le correctement.</a:t>
            </a:r>
            <a:endParaRPr lang="en-US" sz="1700" dirty="0"/>
          </a:p>
        </p:txBody>
      </p:sp>
      <p:sp>
        <p:nvSpPr>
          <p:cNvPr id="18" name="Shape 14"/>
          <p:cNvSpPr/>
          <p:nvPr/>
        </p:nvSpPr>
        <p:spPr>
          <a:xfrm>
            <a:off x="548640" y="1959864"/>
            <a:ext cx="2011680" cy="713232"/>
          </a:xfrm>
          <a:prstGeom prst="roundRect">
            <a:avLst>
              <a:gd name="adj" fmla="val 12821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58368" y="2115312"/>
            <a:ext cx="402336" cy="402336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658368" y="21153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21" name="Text 17"/>
          <p:cNvSpPr txBox="1"/>
          <p:nvPr/>
        </p:nvSpPr>
        <p:spPr>
          <a:xfrm>
            <a:off x="1097280" y="1959864"/>
            <a:ext cx="1417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hon</a:t>
            </a:r>
            <a:r>
              <a:rPr lang="en-US" sz="2000" i="1" u="sng" dirty="0">
                <a:solidFill>
                  <a:schemeClr val="tx1"/>
                </a:solidFill>
              </a:rPr>
              <a:t>d</a:t>
            </a:r>
            <a:endParaRPr lang="en-US" sz="2000" dirty="0"/>
          </a:p>
        </p:txBody>
      </p:sp>
      <p:sp>
        <p:nvSpPr>
          <p:cNvPr id="22" name="Shape 18"/>
          <p:cNvSpPr/>
          <p:nvPr/>
        </p:nvSpPr>
        <p:spPr>
          <a:xfrm>
            <a:off x="2697480" y="1959864"/>
            <a:ext cx="2011680" cy="713232"/>
          </a:xfrm>
          <a:prstGeom prst="roundRect">
            <a:avLst>
              <a:gd name="adj" fmla="val 12821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2807208" y="2115312"/>
            <a:ext cx="402336" cy="402336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2807208" y="21153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25" name="Text 21"/>
          <p:cNvSpPr txBox="1"/>
          <p:nvPr/>
        </p:nvSpPr>
        <p:spPr>
          <a:xfrm>
            <a:off x="3246120" y="1959864"/>
            <a:ext cx="1417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ik he</a:t>
            </a:r>
            <a:r>
              <a:rPr lang="en-US" sz="2000" i="1" u="sng" dirty="0">
                <a:solidFill>
                  <a:schemeClr val="tx1"/>
                </a:solidFill>
              </a:rPr>
              <a:t>b</a:t>
            </a:r>
            <a:endParaRPr lang="en-US" sz="2000" dirty="0"/>
          </a:p>
        </p:txBody>
      </p:sp>
      <p:sp>
        <p:nvSpPr>
          <p:cNvPr id="26" name="Shape 22"/>
          <p:cNvSpPr/>
          <p:nvPr/>
        </p:nvSpPr>
        <p:spPr>
          <a:xfrm>
            <a:off x="4846320" y="1959864"/>
            <a:ext cx="2011680" cy="713232"/>
          </a:xfrm>
          <a:prstGeom prst="roundRect">
            <a:avLst>
              <a:gd name="adj" fmla="val 12821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4956048" y="2115312"/>
            <a:ext cx="402336" cy="402336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4956048" y="21153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29" name="Text 25"/>
          <p:cNvSpPr txBox="1"/>
          <p:nvPr/>
        </p:nvSpPr>
        <p:spPr>
          <a:xfrm>
            <a:off x="5394960" y="1959864"/>
            <a:ext cx="1417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i="1" u="sng" dirty="0">
                <a:solidFill>
                  <a:schemeClr val="tx1"/>
                </a:solidFill>
              </a:rPr>
              <a:t>j</a:t>
            </a:r>
            <a:r>
              <a:rPr lang="en-US" sz="2000" i="1" dirty="0">
                <a:solidFill>
                  <a:schemeClr val="tx1"/>
                </a:solidFill>
              </a:rPr>
              <a:t>uni</a:t>
            </a:r>
            <a:endParaRPr lang="en-US" sz="2000" dirty="0"/>
          </a:p>
        </p:txBody>
      </p:sp>
      <p:sp>
        <p:nvSpPr>
          <p:cNvPr id="30" name="Shape 26"/>
          <p:cNvSpPr/>
          <p:nvPr/>
        </p:nvSpPr>
        <p:spPr>
          <a:xfrm>
            <a:off x="548640" y="2828544"/>
            <a:ext cx="2011680" cy="713232"/>
          </a:xfrm>
          <a:prstGeom prst="roundRect">
            <a:avLst>
              <a:gd name="adj" fmla="val 12821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658368" y="2983992"/>
            <a:ext cx="402336" cy="402336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ext 28"/>
          <p:cNvSpPr txBox="1"/>
          <p:nvPr/>
        </p:nvSpPr>
        <p:spPr>
          <a:xfrm>
            <a:off x="658368" y="29839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33" name="Text 29"/>
          <p:cNvSpPr txBox="1"/>
          <p:nvPr/>
        </p:nvSpPr>
        <p:spPr>
          <a:xfrm>
            <a:off x="1097280" y="2828544"/>
            <a:ext cx="1417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nieu</a:t>
            </a:r>
            <a:r>
              <a:rPr lang="en-US" sz="2000" i="1" u="sng" dirty="0">
                <a:solidFill>
                  <a:schemeClr val="tx1"/>
                </a:solidFill>
              </a:rPr>
              <a:t>w</a:t>
            </a:r>
            <a:endParaRPr lang="en-US" sz="2000" dirty="0"/>
          </a:p>
        </p:txBody>
      </p:sp>
      <p:sp>
        <p:nvSpPr>
          <p:cNvPr id="34" name="Shape 30"/>
          <p:cNvSpPr/>
          <p:nvPr/>
        </p:nvSpPr>
        <p:spPr>
          <a:xfrm>
            <a:off x="2697480" y="2828544"/>
            <a:ext cx="2011680" cy="713232"/>
          </a:xfrm>
          <a:prstGeom prst="roundRect">
            <a:avLst>
              <a:gd name="adj" fmla="val 12821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2807208" y="2983992"/>
            <a:ext cx="402336" cy="402336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Text 32"/>
          <p:cNvSpPr txBox="1"/>
          <p:nvPr/>
        </p:nvSpPr>
        <p:spPr>
          <a:xfrm>
            <a:off x="2807208" y="29839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37" name="Text 33"/>
          <p:cNvSpPr txBox="1"/>
          <p:nvPr/>
        </p:nvSpPr>
        <p:spPr>
          <a:xfrm>
            <a:off x="3246120" y="2828544"/>
            <a:ext cx="1417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la</a:t>
            </a:r>
            <a:r>
              <a:rPr lang="en-US" sz="2000" i="1" u="sng" dirty="0">
                <a:solidFill>
                  <a:schemeClr val="tx1"/>
                </a:solidFill>
              </a:rPr>
              <a:t>ng</a:t>
            </a:r>
            <a:endParaRPr lang="en-US" sz="2000" dirty="0"/>
          </a:p>
        </p:txBody>
      </p:sp>
      <p:sp>
        <p:nvSpPr>
          <p:cNvPr id="38" name="Shape 34"/>
          <p:cNvSpPr/>
          <p:nvPr/>
        </p:nvSpPr>
        <p:spPr>
          <a:xfrm>
            <a:off x="4846320" y="2828544"/>
            <a:ext cx="2011680" cy="713232"/>
          </a:xfrm>
          <a:prstGeom prst="roundRect">
            <a:avLst>
              <a:gd name="adj" fmla="val 12821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39" name="Shape 35"/>
          <p:cNvSpPr/>
          <p:nvPr/>
        </p:nvSpPr>
        <p:spPr>
          <a:xfrm>
            <a:off x="4956048" y="2983992"/>
            <a:ext cx="402336" cy="402336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Text 36"/>
          <p:cNvSpPr txBox="1"/>
          <p:nvPr/>
        </p:nvSpPr>
        <p:spPr>
          <a:xfrm>
            <a:off x="4956048" y="29839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41" name="Text 37"/>
          <p:cNvSpPr txBox="1"/>
          <p:nvPr/>
        </p:nvSpPr>
        <p:spPr>
          <a:xfrm>
            <a:off x="5394960" y="2828544"/>
            <a:ext cx="1417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ba</a:t>
            </a:r>
            <a:r>
              <a:rPr lang="en-US" sz="2000" i="1" u="sng" dirty="0">
                <a:solidFill>
                  <a:schemeClr val="tx1"/>
                </a:solidFill>
              </a:rPr>
              <a:t>nk</a:t>
            </a:r>
            <a:endParaRPr lang="en-US" sz="2000" dirty="0"/>
          </a:p>
        </p:txBody>
      </p:sp>
      <p:sp>
        <p:nvSpPr>
          <p:cNvPr id="42" name="Shape 38"/>
          <p:cNvSpPr/>
          <p:nvPr/>
        </p:nvSpPr>
        <p:spPr>
          <a:xfrm>
            <a:off x="548640" y="3697224"/>
            <a:ext cx="2011680" cy="713232"/>
          </a:xfrm>
          <a:prstGeom prst="roundRect">
            <a:avLst>
              <a:gd name="adj" fmla="val 12821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43" name="Shape 39"/>
          <p:cNvSpPr/>
          <p:nvPr/>
        </p:nvSpPr>
        <p:spPr>
          <a:xfrm>
            <a:off x="658368" y="3852672"/>
            <a:ext cx="402336" cy="402336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" name="Text 40"/>
          <p:cNvSpPr txBox="1"/>
          <p:nvPr/>
        </p:nvSpPr>
        <p:spPr>
          <a:xfrm>
            <a:off x="658368" y="38526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7</a:t>
            </a:r>
            <a:endParaRPr lang="en-US" sz="1300" dirty="0"/>
          </a:p>
        </p:txBody>
      </p:sp>
      <p:sp>
        <p:nvSpPr>
          <p:cNvPr id="45" name="Text 41"/>
          <p:cNvSpPr txBox="1"/>
          <p:nvPr/>
        </p:nvSpPr>
        <p:spPr>
          <a:xfrm>
            <a:off x="1097280" y="3697224"/>
            <a:ext cx="1417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mei</a:t>
            </a:r>
            <a:r>
              <a:rPr lang="en-US" sz="2000" i="1" u="sng" dirty="0">
                <a:solidFill>
                  <a:schemeClr val="tx1"/>
                </a:solidFill>
              </a:rPr>
              <a:t>sj</a:t>
            </a:r>
            <a:r>
              <a:rPr lang="en-US" sz="2000" i="1" dirty="0">
                <a:solidFill>
                  <a:schemeClr val="tx1"/>
                </a:solidFill>
              </a:rPr>
              <a:t>e</a:t>
            </a:r>
            <a:endParaRPr lang="en-US" sz="2000" dirty="0"/>
          </a:p>
        </p:txBody>
      </p:sp>
      <p:sp>
        <p:nvSpPr>
          <p:cNvPr id="46" name="Shape 42"/>
          <p:cNvSpPr/>
          <p:nvPr/>
        </p:nvSpPr>
        <p:spPr>
          <a:xfrm>
            <a:off x="2697480" y="3697224"/>
            <a:ext cx="2011680" cy="713232"/>
          </a:xfrm>
          <a:prstGeom prst="roundRect">
            <a:avLst>
              <a:gd name="adj" fmla="val 12821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47" name="Shape 43"/>
          <p:cNvSpPr/>
          <p:nvPr/>
        </p:nvSpPr>
        <p:spPr>
          <a:xfrm>
            <a:off x="2807208" y="3852672"/>
            <a:ext cx="402336" cy="402336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8" name="Text 44"/>
          <p:cNvSpPr txBox="1"/>
          <p:nvPr/>
        </p:nvSpPr>
        <p:spPr>
          <a:xfrm>
            <a:off x="2807208" y="38526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8</a:t>
            </a:r>
            <a:endParaRPr lang="en-US" sz="1300" dirty="0"/>
          </a:p>
        </p:txBody>
      </p:sp>
      <p:sp>
        <p:nvSpPr>
          <p:cNvPr id="49" name="Text 45"/>
          <p:cNvSpPr txBox="1"/>
          <p:nvPr/>
        </p:nvSpPr>
        <p:spPr>
          <a:xfrm>
            <a:off x="3246120" y="3697224"/>
            <a:ext cx="1417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ora</a:t>
            </a:r>
            <a:r>
              <a:rPr lang="en-US" sz="2000" i="1" u="sng" dirty="0">
                <a:solidFill>
                  <a:schemeClr val="tx1"/>
                </a:solidFill>
              </a:rPr>
              <a:t>nj</a:t>
            </a:r>
            <a:r>
              <a:rPr lang="en-US" sz="2000" i="1" dirty="0">
                <a:solidFill>
                  <a:schemeClr val="tx1"/>
                </a:solidFill>
              </a:rPr>
              <a:t>e</a:t>
            </a:r>
            <a:endParaRPr lang="en-US" sz="2000" dirty="0"/>
          </a:p>
        </p:txBody>
      </p:sp>
      <p:sp>
        <p:nvSpPr>
          <p:cNvPr id="50" name="Shape 46"/>
          <p:cNvSpPr/>
          <p:nvPr/>
        </p:nvSpPr>
        <p:spPr>
          <a:xfrm>
            <a:off x="4846320" y="3697224"/>
            <a:ext cx="2011680" cy="713232"/>
          </a:xfrm>
          <a:prstGeom prst="roundRect">
            <a:avLst>
              <a:gd name="adj" fmla="val 12821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51" name="Shape 47"/>
          <p:cNvSpPr/>
          <p:nvPr/>
        </p:nvSpPr>
        <p:spPr>
          <a:xfrm>
            <a:off x="4956048" y="3852672"/>
            <a:ext cx="402336" cy="402336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2" name="Text 48"/>
          <p:cNvSpPr txBox="1"/>
          <p:nvPr/>
        </p:nvSpPr>
        <p:spPr>
          <a:xfrm>
            <a:off x="4956048" y="38526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9</a:t>
            </a:r>
            <a:endParaRPr lang="en-US" sz="1300" dirty="0"/>
          </a:p>
        </p:txBody>
      </p:sp>
      <p:sp>
        <p:nvSpPr>
          <p:cNvPr id="53" name="Text 49"/>
          <p:cNvSpPr txBox="1"/>
          <p:nvPr/>
        </p:nvSpPr>
        <p:spPr>
          <a:xfrm>
            <a:off x="5394960" y="3697224"/>
            <a:ext cx="1417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i="1" u="sng" dirty="0">
                <a:solidFill>
                  <a:schemeClr val="tx1"/>
                </a:solidFill>
              </a:rPr>
              <a:t>Tsj</a:t>
            </a:r>
            <a:r>
              <a:rPr lang="en-US" sz="2000" i="1" dirty="0">
                <a:solidFill>
                  <a:schemeClr val="tx1"/>
                </a:solidFill>
              </a:rPr>
              <a:t>echië</a:t>
            </a:r>
            <a:endParaRPr lang="en-US" sz="2000" dirty="0"/>
          </a:p>
        </p:txBody>
      </p:sp>
      <p:sp>
        <p:nvSpPr>
          <p:cNvPr id="54" name="Shape 50"/>
          <p:cNvSpPr/>
          <p:nvPr/>
        </p:nvSpPr>
        <p:spPr>
          <a:xfrm>
            <a:off x="548640" y="4565904"/>
            <a:ext cx="2011680" cy="713232"/>
          </a:xfrm>
          <a:prstGeom prst="roundRect">
            <a:avLst>
              <a:gd name="adj" fmla="val 12821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55" name="Shape 51"/>
          <p:cNvSpPr/>
          <p:nvPr/>
        </p:nvSpPr>
        <p:spPr>
          <a:xfrm>
            <a:off x="658368" y="4721352"/>
            <a:ext cx="402336" cy="402336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6" name="Text 52"/>
          <p:cNvSpPr txBox="1"/>
          <p:nvPr/>
        </p:nvSpPr>
        <p:spPr>
          <a:xfrm>
            <a:off x="658368" y="47213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10</a:t>
            </a:r>
            <a:endParaRPr lang="en-US" sz="1300" dirty="0"/>
          </a:p>
        </p:txBody>
      </p:sp>
      <p:sp>
        <p:nvSpPr>
          <p:cNvPr id="57" name="Text 53"/>
          <p:cNvSpPr txBox="1"/>
          <p:nvPr/>
        </p:nvSpPr>
        <p:spPr>
          <a:xfrm>
            <a:off x="1097280" y="4565904"/>
            <a:ext cx="1417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Russi</a:t>
            </a:r>
            <a:r>
              <a:rPr lang="en-US" sz="2000" i="1" u="sng" dirty="0">
                <a:solidFill>
                  <a:schemeClr val="tx1"/>
                </a:solidFill>
              </a:rPr>
              <a:t>sch</a:t>
            </a:r>
            <a:endParaRPr lang="en-US" sz="2000" dirty="0"/>
          </a:p>
        </p:txBody>
      </p:sp>
      <p:sp>
        <p:nvSpPr>
          <p:cNvPr id="58" name="Shape 54"/>
          <p:cNvSpPr/>
          <p:nvPr/>
        </p:nvSpPr>
        <p:spPr>
          <a:xfrm>
            <a:off x="2697480" y="4565904"/>
            <a:ext cx="2011680" cy="713232"/>
          </a:xfrm>
          <a:prstGeom prst="roundRect">
            <a:avLst>
              <a:gd name="adj" fmla="val 12821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59" name="Shape 55"/>
          <p:cNvSpPr/>
          <p:nvPr/>
        </p:nvSpPr>
        <p:spPr>
          <a:xfrm>
            <a:off x="2807208" y="4721352"/>
            <a:ext cx="402336" cy="402336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0" name="Text 56"/>
          <p:cNvSpPr txBox="1"/>
          <p:nvPr/>
        </p:nvSpPr>
        <p:spPr>
          <a:xfrm>
            <a:off x="2807208" y="47213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11</a:t>
            </a:r>
            <a:endParaRPr lang="en-US" sz="1300" dirty="0"/>
          </a:p>
        </p:txBody>
      </p:sp>
      <p:sp>
        <p:nvSpPr>
          <p:cNvPr id="61" name="Text 57"/>
          <p:cNvSpPr txBox="1"/>
          <p:nvPr/>
        </p:nvSpPr>
        <p:spPr>
          <a:xfrm>
            <a:off x="3246120" y="4565904"/>
            <a:ext cx="1417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i="1" u="sng" dirty="0">
                <a:solidFill>
                  <a:schemeClr val="tx1"/>
                </a:solidFill>
              </a:rPr>
              <a:t>sch</a:t>
            </a:r>
            <a:r>
              <a:rPr lang="en-US" sz="2000" i="1" dirty="0">
                <a:solidFill>
                  <a:schemeClr val="tx1"/>
                </a:solidFill>
              </a:rPr>
              <a:t>ool</a:t>
            </a:r>
            <a:endParaRPr lang="en-US" sz="2000" dirty="0"/>
          </a:p>
        </p:txBody>
      </p:sp>
      <p:sp>
        <p:nvSpPr>
          <p:cNvPr id="62" name="Shape 58"/>
          <p:cNvSpPr/>
          <p:nvPr/>
        </p:nvSpPr>
        <p:spPr>
          <a:xfrm>
            <a:off x="4846320" y="4565904"/>
            <a:ext cx="2011680" cy="713232"/>
          </a:xfrm>
          <a:prstGeom prst="roundRect">
            <a:avLst>
              <a:gd name="adj" fmla="val 12821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63" name="Shape 59"/>
          <p:cNvSpPr/>
          <p:nvPr/>
        </p:nvSpPr>
        <p:spPr>
          <a:xfrm>
            <a:off x="4956048" y="4721352"/>
            <a:ext cx="402336" cy="402336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4" name="Text 60"/>
          <p:cNvSpPr txBox="1"/>
          <p:nvPr/>
        </p:nvSpPr>
        <p:spPr>
          <a:xfrm>
            <a:off x="4956048" y="47213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12</a:t>
            </a:r>
            <a:endParaRPr lang="en-US" sz="1300" dirty="0"/>
          </a:p>
        </p:txBody>
      </p:sp>
      <p:sp>
        <p:nvSpPr>
          <p:cNvPr id="65" name="Text 61"/>
          <p:cNvSpPr txBox="1"/>
          <p:nvPr/>
        </p:nvSpPr>
        <p:spPr>
          <a:xfrm>
            <a:off x="5394960" y="4565904"/>
            <a:ext cx="1417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da</a:t>
            </a:r>
            <a:r>
              <a:rPr lang="en-US" sz="2000" i="1" u="sng" dirty="0">
                <a:solidFill>
                  <a:schemeClr val="tx1"/>
                </a:solidFill>
              </a:rPr>
              <a:t>g</a:t>
            </a:r>
            <a:endParaRPr lang="en-US" sz="2000" dirty="0"/>
          </a:p>
        </p:txBody>
      </p:sp>
      <p:sp>
        <p:nvSpPr>
          <p:cNvPr id="66" name="Shape 62"/>
          <p:cNvSpPr/>
          <p:nvPr/>
        </p:nvSpPr>
        <p:spPr>
          <a:xfrm>
            <a:off x="7178040" y="1959864"/>
            <a:ext cx="2103120" cy="51206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2E7D4F"/>
            </a:solidFill>
            <a:prstDash val="solid"/>
          </a:ln>
        </p:spPr>
      </p:sp>
      <p:sp>
        <p:nvSpPr>
          <p:cNvPr id="67" name="Shape 63"/>
          <p:cNvSpPr/>
          <p:nvPr/>
        </p:nvSpPr>
        <p:spPr>
          <a:xfrm>
            <a:off x="7232904" y="2014728"/>
            <a:ext cx="402336" cy="402336"/>
          </a:xfrm>
          <a:prstGeom prst="ellipse">
            <a:avLst/>
          </a:prstGeom>
          <a:solidFill>
            <a:schemeClr val="accent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8" name="Text 64"/>
          <p:cNvSpPr txBox="1"/>
          <p:nvPr/>
        </p:nvSpPr>
        <p:spPr>
          <a:xfrm>
            <a:off x="7232904" y="20147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A</a:t>
            </a:r>
            <a:endParaRPr lang="en-US" sz="1300" dirty="0"/>
          </a:p>
        </p:txBody>
      </p:sp>
      <p:sp>
        <p:nvSpPr>
          <p:cNvPr id="69" name="Text 65"/>
          <p:cNvSpPr txBox="1"/>
          <p:nvPr/>
        </p:nvSpPr>
        <p:spPr>
          <a:xfrm>
            <a:off x="7680960" y="1959864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« ng » (ping-pong)</a:t>
            </a:r>
            <a:endParaRPr lang="en-US" sz="1300" dirty="0"/>
          </a:p>
        </p:txBody>
      </p:sp>
      <p:sp>
        <p:nvSpPr>
          <p:cNvPr id="70" name="Shape 66"/>
          <p:cNvSpPr/>
          <p:nvPr/>
        </p:nvSpPr>
        <p:spPr>
          <a:xfrm>
            <a:off x="7178040" y="2563368"/>
            <a:ext cx="2103120" cy="51206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2E7D4F"/>
            </a:solidFill>
            <a:prstDash val="solid"/>
          </a:ln>
        </p:spPr>
      </p:sp>
      <p:sp>
        <p:nvSpPr>
          <p:cNvPr id="71" name="Shape 67"/>
          <p:cNvSpPr/>
          <p:nvPr/>
        </p:nvSpPr>
        <p:spPr>
          <a:xfrm>
            <a:off x="7232904" y="2618232"/>
            <a:ext cx="402336" cy="402336"/>
          </a:xfrm>
          <a:prstGeom prst="ellipse">
            <a:avLst/>
          </a:prstGeom>
          <a:solidFill>
            <a:schemeClr val="accent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2" name="Text 68"/>
          <p:cNvSpPr txBox="1"/>
          <p:nvPr/>
        </p:nvSpPr>
        <p:spPr>
          <a:xfrm>
            <a:off x="7232904" y="26182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B</a:t>
            </a:r>
            <a:endParaRPr lang="en-US" sz="1300" dirty="0"/>
          </a:p>
        </p:txBody>
      </p:sp>
      <p:sp>
        <p:nvSpPr>
          <p:cNvPr id="73" name="Text 69"/>
          <p:cNvSpPr txBox="1"/>
          <p:nvPr/>
        </p:nvSpPr>
        <p:spPr>
          <a:xfrm>
            <a:off x="7680960" y="2563368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« t »</a:t>
            </a:r>
            <a:endParaRPr lang="en-US" sz="1300" dirty="0"/>
          </a:p>
        </p:txBody>
      </p:sp>
      <p:sp>
        <p:nvSpPr>
          <p:cNvPr id="74" name="Shape 70"/>
          <p:cNvSpPr/>
          <p:nvPr/>
        </p:nvSpPr>
        <p:spPr>
          <a:xfrm>
            <a:off x="7178040" y="3166872"/>
            <a:ext cx="2103120" cy="51206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2E7D4F"/>
            </a:solidFill>
            <a:prstDash val="solid"/>
          </a:ln>
        </p:spPr>
      </p:sp>
      <p:sp>
        <p:nvSpPr>
          <p:cNvPr id="75" name="Shape 71"/>
          <p:cNvSpPr/>
          <p:nvPr/>
        </p:nvSpPr>
        <p:spPr>
          <a:xfrm>
            <a:off x="7232904" y="3221736"/>
            <a:ext cx="402336" cy="402336"/>
          </a:xfrm>
          <a:prstGeom prst="ellipse">
            <a:avLst/>
          </a:prstGeom>
          <a:solidFill>
            <a:schemeClr val="accent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6" name="Text 72"/>
          <p:cNvSpPr txBox="1"/>
          <p:nvPr/>
        </p:nvSpPr>
        <p:spPr>
          <a:xfrm>
            <a:off x="7232904" y="32217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C</a:t>
            </a:r>
            <a:endParaRPr lang="en-US" sz="1300" dirty="0"/>
          </a:p>
        </p:txBody>
      </p:sp>
      <p:sp>
        <p:nvSpPr>
          <p:cNvPr id="77" name="Text 73"/>
          <p:cNvSpPr txBox="1"/>
          <p:nvPr/>
        </p:nvSpPr>
        <p:spPr>
          <a:xfrm>
            <a:off x="7680960" y="3166872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« ch » (chocolat)</a:t>
            </a:r>
            <a:endParaRPr lang="en-US" sz="1300" dirty="0"/>
          </a:p>
        </p:txBody>
      </p:sp>
      <p:sp>
        <p:nvSpPr>
          <p:cNvPr id="78" name="Shape 74"/>
          <p:cNvSpPr/>
          <p:nvPr/>
        </p:nvSpPr>
        <p:spPr>
          <a:xfrm>
            <a:off x="7178040" y="3770376"/>
            <a:ext cx="2103120" cy="51206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2E7D4F"/>
            </a:solidFill>
            <a:prstDash val="solid"/>
          </a:ln>
        </p:spPr>
      </p:sp>
      <p:sp>
        <p:nvSpPr>
          <p:cNvPr id="79" name="Shape 75"/>
          <p:cNvSpPr/>
          <p:nvPr/>
        </p:nvSpPr>
        <p:spPr>
          <a:xfrm>
            <a:off x="7232904" y="3825240"/>
            <a:ext cx="402336" cy="402336"/>
          </a:xfrm>
          <a:prstGeom prst="ellipse">
            <a:avLst/>
          </a:prstGeom>
          <a:solidFill>
            <a:schemeClr val="accent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0" name="Text 76"/>
          <p:cNvSpPr txBox="1"/>
          <p:nvPr/>
        </p:nvSpPr>
        <p:spPr>
          <a:xfrm>
            <a:off x="7232904" y="38252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D</a:t>
            </a:r>
            <a:endParaRPr lang="en-US" sz="1300" dirty="0"/>
          </a:p>
        </p:txBody>
      </p:sp>
      <p:sp>
        <p:nvSpPr>
          <p:cNvPr id="81" name="Text 77"/>
          <p:cNvSpPr txBox="1"/>
          <p:nvPr/>
        </p:nvSpPr>
        <p:spPr>
          <a:xfrm>
            <a:off x="7680960" y="3770376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« is »</a:t>
            </a:r>
            <a:endParaRPr lang="en-US" sz="1300" dirty="0"/>
          </a:p>
        </p:txBody>
      </p:sp>
      <p:sp>
        <p:nvSpPr>
          <p:cNvPr id="82" name="Shape 78"/>
          <p:cNvSpPr/>
          <p:nvPr/>
        </p:nvSpPr>
        <p:spPr>
          <a:xfrm>
            <a:off x="7178040" y="4373880"/>
            <a:ext cx="2103120" cy="51206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2E7D4F"/>
            </a:solidFill>
            <a:prstDash val="solid"/>
          </a:ln>
        </p:spPr>
      </p:sp>
      <p:sp>
        <p:nvSpPr>
          <p:cNvPr id="83" name="Shape 79"/>
          <p:cNvSpPr/>
          <p:nvPr/>
        </p:nvSpPr>
        <p:spPr>
          <a:xfrm>
            <a:off x="7232904" y="4428744"/>
            <a:ext cx="402336" cy="402336"/>
          </a:xfrm>
          <a:prstGeom prst="ellipse">
            <a:avLst/>
          </a:prstGeom>
          <a:solidFill>
            <a:schemeClr val="accent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4" name="Text 80"/>
          <p:cNvSpPr txBox="1"/>
          <p:nvPr/>
        </p:nvSpPr>
        <p:spPr>
          <a:xfrm>
            <a:off x="7232904" y="44287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E</a:t>
            </a:r>
            <a:endParaRPr lang="en-US" sz="1300" dirty="0"/>
          </a:p>
        </p:txBody>
      </p:sp>
      <p:sp>
        <p:nvSpPr>
          <p:cNvPr id="85" name="Text 81"/>
          <p:cNvSpPr txBox="1"/>
          <p:nvPr/>
        </p:nvSpPr>
        <p:spPr>
          <a:xfrm>
            <a:off x="7680960" y="4373880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« y » (yaourt)</a:t>
            </a:r>
            <a:endParaRPr lang="en-US" sz="1300" dirty="0"/>
          </a:p>
        </p:txBody>
      </p:sp>
      <p:sp>
        <p:nvSpPr>
          <p:cNvPr id="86" name="Shape 82"/>
          <p:cNvSpPr/>
          <p:nvPr/>
        </p:nvSpPr>
        <p:spPr>
          <a:xfrm>
            <a:off x="7178040" y="4977384"/>
            <a:ext cx="2103120" cy="51206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2E7D4F"/>
            </a:solidFill>
            <a:prstDash val="solid"/>
          </a:ln>
        </p:spPr>
      </p:sp>
      <p:sp>
        <p:nvSpPr>
          <p:cNvPr id="87" name="Shape 83"/>
          <p:cNvSpPr/>
          <p:nvPr/>
        </p:nvSpPr>
        <p:spPr>
          <a:xfrm>
            <a:off x="7232904" y="5032248"/>
            <a:ext cx="402336" cy="402336"/>
          </a:xfrm>
          <a:prstGeom prst="ellipse">
            <a:avLst/>
          </a:prstGeom>
          <a:solidFill>
            <a:schemeClr val="accent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8" name="Text 84"/>
          <p:cNvSpPr txBox="1"/>
          <p:nvPr/>
        </p:nvSpPr>
        <p:spPr>
          <a:xfrm>
            <a:off x="7232904" y="50322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F</a:t>
            </a:r>
            <a:endParaRPr lang="en-US" sz="1300" dirty="0"/>
          </a:p>
        </p:txBody>
      </p:sp>
      <p:sp>
        <p:nvSpPr>
          <p:cNvPr id="89" name="Text 85"/>
          <p:cNvSpPr txBox="1"/>
          <p:nvPr/>
        </p:nvSpPr>
        <p:spPr>
          <a:xfrm>
            <a:off x="7680960" y="4977384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« tch »</a:t>
            </a:r>
            <a:endParaRPr lang="en-US" sz="1300" dirty="0"/>
          </a:p>
        </p:txBody>
      </p:sp>
      <p:sp>
        <p:nvSpPr>
          <p:cNvPr id="90" name="Shape 86"/>
          <p:cNvSpPr/>
          <p:nvPr/>
        </p:nvSpPr>
        <p:spPr>
          <a:xfrm>
            <a:off x="9464040" y="1959864"/>
            <a:ext cx="2103120" cy="51206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2E7D4F"/>
            </a:solidFill>
            <a:prstDash val="solid"/>
          </a:ln>
        </p:spPr>
      </p:sp>
      <p:sp>
        <p:nvSpPr>
          <p:cNvPr id="91" name="Shape 87"/>
          <p:cNvSpPr/>
          <p:nvPr/>
        </p:nvSpPr>
        <p:spPr>
          <a:xfrm>
            <a:off x="9518904" y="2014728"/>
            <a:ext cx="402336" cy="402336"/>
          </a:xfrm>
          <a:prstGeom prst="ellipse">
            <a:avLst/>
          </a:prstGeom>
          <a:solidFill>
            <a:schemeClr val="accent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2" name="Text 88"/>
          <p:cNvSpPr txBox="1"/>
          <p:nvPr/>
        </p:nvSpPr>
        <p:spPr>
          <a:xfrm>
            <a:off x="9518904" y="20147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G</a:t>
            </a:r>
            <a:endParaRPr lang="en-US" sz="1300" dirty="0"/>
          </a:p>
        </p:txBody>
      </p:sp>
      <p:sp>
        <p:nvSpPr>
          <p:cNvPr id="93" name="Text 89"/>
          <p:cNvSpPr txBox="1"/>
          <p:nvPr/>
        </p:nvSpPr>
        <p:spPr>
          <a:xfrm>
            <a:off x="9966960" y="1959864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« p »</a:t>
            </a:r>
            <a:endParaRPr lang="en-US" sz="1300" dirty="0"/>
          </a:p>
        </p:txBody>
      </p:sp>
      <p:sp>
        <p:nvSpPr>
          <p:cNvPr id="94" name="Shape 90"/>
          <p:cNvSpPr/>
          <p:nvPr/>
        </p:nvSpPr>
        <p:spPr>
          <a:xfrm>
            <a:off x="9464040" y="2563368"/>
            <a:ext cx="2103120" cy="51206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2E7D4F"/>
            </a:solidFill>
            <a:prstDash val="solid"/>
          </a:ln>
        </p:spPr>
      </p:sp>
      <p:sp>
        <p:nvSpPr>
          <p:cNvPr id="95" name="Shape 91"/>
          <p:cNvSpPr/>
          <p:nvPr/>
        </p:nvSpPr>
        <p:spPr>
          <a:xfrm>
            <a:off x="9518904" y="2618232"/>
            <a:ext cx="402336" cy="402336"/>
          </a:xfrm>
          <a:prstGeom prst="ellipse">
            <a:avLst/>
          </a:prstGeom>
          <a:solidFill>
            <a:schemeClr val="accent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6" name="Text 92"/>
          <p:cNvSpPr txBox="1"/>
          <p:nvPr/>
        </p:nvSpPr>
        <p:spPr>
          <a:xfrm>
            <a:off x="9518904" y="26182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H</a:t>
            </a:r>
            <a:endParaRPr lang="en-US" sz="1300" dirty="0"/>
          </a:p>
        </p:txBody>
      </p:sp>
      <p:sp>
        <p:nvSpPr>
          <p:cNvPr id="97" name="Text 93"/>
          <p:cNvSpPr txBox="1"/>
          <p:nvPr/>
        </p:nvSpPr>
        <p:spPr>
          <a:xfrm>
            <a:off x="9966960" y="2563368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« ng » + « k »</a:t>
            </a:r>
            <a:endParaRPr lang="en-US" sz="1300" dirty="0"/>
          </a:p>
        </p:txBody>
      </p:sp>
      <p:sp>
        <p:nvSpPr>
          <p:cNvPr id="98" name="Shape 94"/>
          <p:cNvSpPr/>
          <p:nvPr/>
        </p:nvSpPr>
        <p:spPr>
          <a:xfrm>
            <a:off x="9464040" y="3166872"/>
            <a:ext cx="2103120" cy="51206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2E7D4F"/>
            </a:solidFill>
            <a:prstDash val="solid"/>
          </a:ln>
        </p:spPr>
      </p:sp>
      <p:sp>
        <p:nvSpPr>
          <p:cNvPr id="99" name="Shape 95"/>
          <p:cNvSpPr/>
          <p:nvPr/>
        </p:nvSpPr>
        <p:spPr>
          <a:xfrm>
            <a:off x="9518904" y="3221736"/>
            <a:ext cx="402336" cy="402336"/>
          </a:xfrm>
          <a:prstGeom prst="ellipse">
            <a:avLst/>
          </a:prstGeom>
          <a:solidFill>
            <a:schemeClr val="accent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0" name="Text 96"/>
          <p:cNvSpPr txBox="1"/>
          <p:nvPr/>
        </p:nvSpPr>
        <p:spPr>
          <a:xfrm>
            <a:off x="9518904" y="32217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I</a:t>
            </a:r>
            <a:endParaRPr lang="en-US" sz="1300" dirty="0"/>
          </a:p>
        </p:txBody>
      </p:sp>
      <p:sp>
        <p:nvSpPr>
          <p:cNvPr id="101" name="Text 97"/>
          <p:cNvSpPr txBox="1"/>
          <p:nvPr/>
        </p:nvSpPr>
        <p:spPr>
          <a:xfrm>
            <a:off x="9966960" y="3166872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« ou »</a:t>
            </a:r>
            <a:endParaRPr lang="en-US" sz="1300" dirty="0"/>
          </a:p>
        </p:txBody>
      </p:sp>
      <p:sp>
        <p:nvSpPr>
          <p:cNvPr id="102" name="Shape 98"/>
          <p:cNvSpPr/>
          <p:nvPr/>
        </p:nvSpPr>
        <p:spPr>
          <a:xfrm>
            <a:off x="9464040" y="3770376"/>
            <a:ext cx="2103120" cy="51206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2E7D4F"/>
            </a:solidFill>
            <a:prstDash val="solid"/>
          </a:ln>
        </p:spPr>
      </p:sp>
      <p:sp>
        <p:nvSpPr>
          <p:cNvPr id="103" name="Shape 99"/>
          <p:cNvSpPr/>
          <p:nvPr/>
        </p:nvSpPr>
        <p:spPr>
          <a:xfrm>
            <a:off x="9518904" y="3825240"/>
            <a:ext cx="402336" cy="402336"/>
          </a:xfrm>
          <a:prstGeom prst="ellipse">
            <a:avLst/>
          </a:prstGeom>
          <a:solidFill>
            <a:schemeClr val="accent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4" name="Text 100"/>
          <p:cNvSpPr txBox="1"/>
          <p:nvPr/>
        </p:nvSpPr>
        <p:spPr>
          <a:xfrm>
            <a:off x="9518904" y="38252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J</a:t>
            </a:r>
            <a:endParaRPr lang="en-US" sz="1300" dirty="0"/>
          </a:p>
        </p:txBody>
      </p:sp>
      <p:sp>
        <p:nvSpPr>
          <p:cNvPr id="105" name="Text 101"/>
          <p:cNvSpPr txBox="1"/>
          <p:nvPr/>
        </p:nvSpPr>
        <p:spPr>
          <a:xfrm>
            <a:off x="9966960" y="3770376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« gn » (peigne)</a:t>
            </a:r>
            <a:endParaRPr lang="en-US" sz="1300" dirty="0"/>
          </a:p>
        </p:txBody>
      </p:sp>
      <p:sp>
        <p:nvSpPr>
          <p:cNvPr id="106" name="Shape 102"/>
          <p:cNvSpPr/>
          <p:nvPr/>
        </p:nvSpPr>
        <p:spPr>
          <a:xfrm>
            <a:off x="9464040" y="4373880"/>
            <a:ext cx="2103120" cy="51206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2E7D4F"/>
            </a:solidFill>
            <a:prstDash val="solid"/>
          </a:ln>
        </p:spPr>
      </p:sp>
      <p:sp>
        <p:nvSpPr>
          <p:cNvPr id="107" name="Shape 103"/>
          <p:cNvSpPr/>
          <p:nvPr/>
        </p:nvSpPr>
        <p:spPr>
          <a:xfrm>
            <a:off x="9518904" y="4428744"/>
            <a:ext cx="402336" cy="402336"/>
          </a:xfrm>
          <a:prstGeom prst="ellipse">
            <a:avLst/>
          </a:prstGeom>
          <a:solidFill>
            <a:schemeClr val="accent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8" name="Text 104"/>
          <p:cNvSpPr txBox="1"/>
          <p:nvPr/>
        </p:nvSpPr>
        <p:spPr>
          <a:xfrm>
            <a:off x="9518904" y="44287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K</a:t>
            </a:r>
            <a:endParaRPr lang="en-US" sz="1300" dirty="0"/>
          </a:p>
        </p:txBody>
      </p:sp>
      <p:sp>
        <p:nvSpPr>
          <p:cNvPr id="109" name="Text 105"/>
          <p:cNvSpPr txBox="1"/>
          <p:nvPr/>
        </p:nvSpPr>
        <p:spPr>
          <a:xfrm>
            <a:off x="9966960" y="4373880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« ch » raclé</a:t>
            </a:r>
            <a:endParaRPr lang="en-US" sz="1300" dirty="0"/>
          </a:p>
        </p:txBody>
      </p:sp>
      <p:sp>
        <p:nvSpPr>
          <p:cNvPr id="110" name="Shape 106"/>
          <p:cNvSpPr/>
          <p:nvPr/>
        </p:nvSpPr>
        <p:spPr>
          <a:xfrm>
            <a:off x="9464040" y="4977384"/>
            <a:ext cx="2103120" cy="51206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2E7D4F"/>
            </a:solidFill>
            <a:prstDash val="solid"/>
          </a:ln>
        </p:spPr>
      </p:sp>
      <p:sp>
        <p:nvSpPr>
          <p:cNvPr id="111" name="Shape 107"/>
          <p:cNvSpPr/>
          <p:nvPr/>
        </p:nvSpPr>
        <p:spPr>
          <a:xfrm>
            <a:off x="9518904" y="5032248"/>
            <a:ext cx="402336" cy="402336"/>
          </a:xfrm>
          <a:prstGeom prst="ellipse">
            <a:avLst/>
          </a:prstGeom>
          <a:solidFill>
            <a:schemeClr val="accent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2" name="Text 108"/>
          <p:cNvSpPr txBox="1"/>
          <p:nvPr/>
        </p:nvSpPr>
        <p:spPr>
          <a:xfrm>
            <a:off x="9518904" y="50322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L</a:t>
            </a:r>
            <a:endParaRPr lang="en-US" sz="1300" dirty="0"/>
          </a:p>
        </p:txBody>
      </p:sp>
      <p:sp>
        <p:nvSpPr>
          <p:cNvPr id="113" name="Text 109"/>
          <p:cNvSpPr txBox="1"/>
          <p:nvPr/>
        </p:nvSpPr>
        <p:spPr>
          <a:xfrm>
            <a:off x="9966960" y="4977384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« s » + « ch » raclé</a:t>
            </a:r>
            <a:endParaRPr lang="en-US" sz="1300" dirty="0"/>
          </a:p>
        </p:txBody>
      </p:sp>
      <p:sp>
        <p:nvSpPr>
          <p:cNvPr id="114" name="Shape 110"/>
          <p:cNvSpPr/>
          <p:nvPr/>
        </p:nvSpPr>
        <p:spPr>
          <a:xfrm>
            <a:off x="548640" y="5480304"/>
            <a:ext cx="6309360" cy="685800"/>
          </a:xfrm>
          <a:prstGeom prst="roundRect">
            <a:avLst>
              <a:gd name="adj" fmla="val 13333"/>
            </a:avLst>
          </a:prstGeom>
          <a:solidFill>
            <a:srgbClr val="FDF1E6"/>
          </a:solidFill>
          <a:ln w="12700">
            <a:solidFill>
              <a:srgbClr val="D9700F"/>
            </a:solidFill>
            <a:prstDash val="solid"/>
          </a:ln>
        </p:spPr>
      </p:sp>
      <p:sp>
        <p:nvSpPr>
          <p:cNvPr id="115" name="Text 111"/>
          <p:cNvSpPr txBox="1"/>
          <p:nvPr/>
        </p:nvSpPr>
        <p:spPr>
          <a:xfrm>
            <a:off x="685800" y="5480304"/>
            <a:ext cx="603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Astuce : en fin de mot, </a:t>
            </a:r>
            <a:r>
              <a:rPr lang="en-US" sz="1400" i="1" dirty="0">
                <a:solidFill>
                  <a:schemeClr val="tx1"/>
                </a:solidFill>
              </a:rPr>
              <a:t>d</a:t>
            </a:r>
            <a:r>
              <a:rPr lang="en-US" sz="1400" dirty="0">
                <a:solidFill>
                  <a:schemeClr val="tx1"/>
                </a:solidFill>
              </a:rPr>
              <a:t> se dit « t » et </a:t>
            </a:r>
            <a:r>
              <a:rPr lang="en-US" sz="1400" i="1" dirty="0">
                <a:solidFill>
                  <a:schemeClr val="tx1"/>
                </a:solidFill>
              </a:rPr>
              <a:t>b</a:t>
            </a:r>
            <a:r>
              <a:rPr lang="en-US" sz="1400" dirty="0">
                <a:solidFill>
                  <a:schemeClr val="tx1"/>
                </a:solidFill>
              </a:rPr>
              <a:t> « p ». </a:t>
            </a:r>
            <a:r>
              <a:rPr lang="en-US" sz="1400" i="1" dirty="0">
                <a:solidFill>
                  <a:schemeClr val="tx1"/>
                </a:solidFill>
              </a:rPr>
              <a:t>ng</a:t>
            </a:r>
            <a:r>
              <a:rPr lang="en-US" sz="1400" dirty="0">
                <a:solidFill>
                  <a:schemeClr val="tx1"/>
                </a:solidFill>
              </a:rPr>
              <a:t> = un seul son : on n’entend pas le </a:t>
            </a:r>
            <a:r>
              <a:rPr lang="en-US" sz="1400" i="1" dirty="0">
                <a:solidFill>
                  <a:schemeClr val="tx1"/>
                </a:solidFill>
              </a:rPr>
              <a:t>g</a:t>
            </a:r>
            <a:r>
              <a:rPr lang="en-US" sz="1400" dirty="0">
                <a:solidFill>
                  <a:schemeClr val="tx1"/>
                </a:solidFill>
              </a:rPr>
              <a:t> !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Le jeu de l’oie des consonnes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2417674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SÉANCE 3 · ③ JOUER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9747504" y="393192"/>
            <a:ext cx="1682496" cy="914"/>
          </a:xfrm>
          <a:prstGeom prst="line">
            <a:avLst/>
          </a:prstGeom>
          <a:noFill/>
          <a:ln w="25400">
            <a:solidFill>
              <a:srgbClr val="D5DCE6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9582912" y="228600"/>
            <a:ext cx="329184" cy="32918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A6FB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582912" y="2286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1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10003536" y="228600"/>
            <a:ext cx="329184" cy="32918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4236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0003536" y="2286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2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10424160" y="228600"/>
            <a:ext cx="329184" cy="329184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0424160" y="2286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10844784" y="228600"/>
            <a:ext cx="329184" cy="32918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E7D4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0844784" y="2286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4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11265408" y="228600"/>
            <a:ext cx="329184" cy="32918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E4A9E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11265408" y="2286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E4A9E"/>
                </a:solidFill>
              </a:rPr>
              <a:t>5</a:t>
            </a:r>
            <a:endParaRPr lang="en-US" sz="1200" dirty="0"/>
          </a:p>
        </p:txBody>
      </p:sp>
      <p:pic>
        <p:nvPicPr>
          <p:cNvPr id="16" name="Image 0" descr="HandPointRigh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17904"/>
            <a:ext cx="274320" cy="27432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960120" y="1481328"/>
            <a:ext cx="10680192" cy="31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accent5"/>
                </a:solidFill>
              </a:rPr>
              <a:t>Lancez le dé, avancez et lisez la case. Faute = retour à la case précédente.</a:t>
            </a:r>
            <a:endParaRPr lang="en-US" sz="1700" dirty="0"/>
          </a:p>
        </p:txBody>
      </p:sp>
      <p:sp>
        <p:nvSpPr>
          <p:cNvPr id="18" name="Shape 14"/>
          <p:cNvSpPr/>
          <p:nvPr/>
        </p:nvSpPr>
        <p:spPr>
          <a:xfrm>
            <a:off x="548640" y="1959864"/>
            <a:ext cx="1481328" cy="896112"/>
          </a:xfrm>
          <a:prstGeom prst="roundRect">
            <a:avLst>
              <a:gd name="adj" fmla="val 12245"/>
            </a:avLst>
          </a:prstGeom>
          <a:solidFill>
            <a:schemeClr val="tx2"/>
          </a:solidFill>
          <a:ln w="19050">
            <a:solidFill>
              <a:srgbClr val="17375E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603504" y="2142744"/>
            <a:ext cx="13716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DÉPART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2029968" y="2407920"/>
            <a:ext cx="91440" cy="914"/>
          </a:xfrm>
          <a:prstGeom prst="line">
            <a:avLst/>
          </a:prstGeom>
          <a:noFill/>
          <a:ln w="19050">
            <a:solidFill>
              <a:srgbClr val="4A5A70"/>
            </a:solidFill>
            <a:prstDash val="solid"/>
            <a:tailEnd type="triangle"/>
          </a:ln>
        </p:spPr>
      </p:sp>
      <p:sp>
        <p:nvSpPr>
          <p:cNvPr id="21" name="Shape 17"/>
          <p:cNvSpPr/>
          <p:nvPr/>
        </p:nvSpPr>
        <p:spPr>
          <a:xfrm>
            <a:off x="2121408" y="1959864"/>
            <a:ext cx="1481328" cy="896112"/>
          </a:xfrm>
          <a:prstGeom prst="roundRect">
            <a:avLst>
              <a:gd name="adj" fmla="val 12245"/>
            </a:avLst>
          </a:prstGeom>
          <a:solidFill>
            <a:srgbClr val="FFFFFF"/>
          </a:solidFill>
          <a:ln w="19050">
            <a:solidFill>
              <a:srgbClr val="D9700F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2176272" y="1987296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1</a:t>
            </a:r>
            <a:endParaRPr lang="en-US" sz="1000" dirty="0"/>
          </a:p>
        </p:txBody>
      </p:sp>
      <p:sp>
        <p:nvSpPr>
          <p:cNvPr id="23" name="Text 19"/>
          <p:cNvSpPr txBox="1"/>
          <p:nvPr/>
        </p:nvSpPr>
        <p:spPr>
          <a:xfrm>
            <a:off x="2176272" y="2142744"/>
            <a:ext cx="13716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chemeClr val="tx1"/>
                </a:solidFill>
              </a:rPr>
              <a:t>goed</a:t>
            </a:r>
            <a:endParaRPr lang="en-US" sz="1700" dirty="0"/>
          </a:p>
        </p:txBody>
      </p:sp>
      <p:sp>
        <p:nvSpPr>
          <p:cNvPr id="24" name="Shape 20"/>
          <p:cNvSpPr/>
          <p:nvPr/>
        </p:nvSpPr>
        <p:spPr>
          <a:xfrm>
            <a:off x="3602736" y="2407920"/>
            <a:ext cx="91440" cy="914"/>
          </a:xfrm>
          <a:prstGeom prst="line">
            <a:avLst/>
          </a:prstGeom>
          <a:noFill/>
          <a:ln w="19050">
            <a:solidFill>
              <a:srgbClr val="4A5A70"/>
            </a:solidFill>
            <a:prstDash val="solid"/>
            <a:tailEnd type="triangle"/>
          </a:ln>
        </p:spPr>
      </p:sp>
      <p:sp>
        <p:nvSpPr>
          <p:cNvPr id="25" name="Shape 21"/>
          <p:cNvSpPr/>
          <p:nvPr/>
        </p:nvSpPr>
        <p:spPr>
          <a:xfrm>
            <a:off x="3694176" y="1959864"/>
            <a:ext cx="1481328" cy="896112"/>
          </a:xfrm>
          <a:prstGeom prst="roundRect">
            <a:avLst>
              <a:gd name="adj" fmla="val 12245"/>
            </a:avLst>
          </a:prstGeom>
          <a:solidFill>
            <a:srgbClr val="FFFFFF"/>
          </a:solidFill>
          <a:ln w="19050">
            <a:solidFill>
              <a:srgbClr val="D9700F"/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3749040" y="1987296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2</a:t>
            </a:r>
            <a:endParaRPr lang="en-US" sz="1000" dirty="0"/>
          </a:p>
        </p:txBody>
      </p:sp>
      <p:sp>
        <p:nvSpPr>
          <p:cNvPr id="27" name="Text 23"/>
          <p:cNvSpPr txBox="1"/>
          <p:nvPr/>
        </p:nvSpPr>
        <p:spPr>
          <a:xfrm>
            <a:off x="3749040" y="2142744"/>
            <a:ext cx="13716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chemeClr val="tx1"/>
                </a:solidFill>
              </a:rPr>
              <a:t>hallo</a:t>
            </a:r>
            <a:endParaRPr lang="en-US" sz="1700" dirty="0"/>
          </a:p>
        </p:txBody>
      </p:sp>
      <p:sp>
        <p:nvSpPr>
          <p:cNvPr id="28" name="Shape 24"/>
          <p:cNvSpPr/>
          <p:nvPr/>
        </p:nvSpPr>
        <p:spPr>
          <a:xfrm>
            <a:off x="5175504" y="2407920"/>
            <a:ext cx="91440" cy="914"/>
          </a:xfrm>
          <a:prstGeom prst="line">
            <a:avLst/>
          </a:prstGeom>
          <a:noFill/>
          <a:ln w="19050">
            <a:solidFill>
              <a:srgbClr val="4A5A70"/>
            </a:solidFill>
            <a:prstDash val="solid"/>
            <a:tailEnd type="triangle"/>
          </a:ln>
        </p:spPr>
      </p:sp>
      <p:sp>
        <p:nvSpPr>
          <p:cNvPr id="29" name="Shape 25"/>
          <p:cNvSpPr/>
          <p:nvPr/>
        </p:nvSpPr>
        <p:spPr>
          <a:xfrm>
            <a:off x="5266944" y="1959864"/>
            <a:ext cx="1481328" cy="896112"/>
          </a:xfrm>
          <a:prstGeom prst="roundRect">
            <a:avLst>
              <a:gd name="adj" fmla="val 12245"/>
            </a:avLst>
          </a:prstGeom>
          <a:solidFill>
            <a:srgbClr val="FFFFFF"/>
          </a:solidFill>
          <a:ln w="19050">
            <a:solidFill>
              <a:srgbClr val="D9700F"/>
            </a:solidFill>
            <a:prstDash val="solid"/>
          </a:ln>
        </p:spPr>
      </p:sp>
      <p:sp>
        <p:nvSpPr>
          <p:cNvPr id="30" name="Text 26"/>
          <p:cNvSpPr txBox="1"/>
          <p:nvPr/>
        </p:nvSpPr>
        <p:spPr>
          <a:xfrm>
            <a:off x="5321808" y="1987296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3</a:t>
            </a:r>
            <a:endParaRPr lang="en-US" sz="1000" dirty="0"/>
          </a:p>
        </p:txBody>
      </p:sp>
      <p:sp>
        <p:nvSpPr>
          <p:cNvPr id="31" name="Text 27"/>
          <p:cNvSpPr txBox="1"/>
          <p:nvPr/>
        </p:nvSpPr>
        <p:spPr>
          <a:xfrm>
            <a:off x="5321808" y="2142744"/>
            <a:ext cx="13716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chemeClr val="tx1"/>
                </a:solidFill>
              </a:rPr>
              <a:t>jij</a:t>
            </a:r>
            <a:endParaRPr lang="en-US" sz="1700" dirty="0"/>
          </a:p>
        </p:txBody>
      </p:sp>
      <p:sp>
        <p:nvSpPr>
          <p:cNvPr id="32" name="Shape 28"/>
          <p:cNvSpPr/>
          <p:nvPr/>
        </p:nvSpPr>
        <p:spPr>
          <a:xfrm>
            <a:off x="6748272" y="2407920"/>
            <a:ext cx="91440" cy="914"/>
          </a:xfrm>
          <a:prstGeom prst="line">
            <a:avLst/>
          </a:prstGeom>
          <a:noFill/>
          <a:ln w="19050">
            <a:solidFill>
              <a:srgbClr val="4A5A70"/>
            </a:solidFill>
            <a:prstDash val="solid"/>
            <a:tailEnd type="triangle"/>
          </a:ln>
        </p:spPr>
      </p:sp>
      <p:sp>
        <p:nvSpPr>
          <p:cNvPr id="33" name="Shape 29"/>
          <p:cNvSpPr/>
          <p:nvPr/>
        </p:nvSpPr>
        <p:spPr>
          <a:xfrm>
            <a:off x="6839712" y="1959864"/>
            <a:ext cx="1481328" cy="896112"/>
          </a:xfrm>
          <a:prstGeom prst="roundRect">
            <a:avLst>
              <a:gd name="adj" fmla="val 12245"/>
            </a:avLst>
          </a:prstGeom>
          <a:solidFill>
            <a:srgbClr val="FFFFFF"/>
          </a:solidFill>
          <a:ln w="19050">
            <a:solidFill>
              <a:srgbClr val="D9700F"/>
            </a:solidFill>
            <a:prstDash val="solid"/>
          </a:ln>
        </p:spPr>
      </p:sp>
      <p:sp>
        <p:nvSpPr>
          <p:cNvPr id="34" name="Text 30"/>
          <p:cNvSpPr txBox="1"/>
          <p:nvPr/>
        </p:nvSpPr>
        <p:spPr>
          <a:xfrm>
            <a:off x="6894576" y="1987296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4</a:t>
            </a:r>
            <a:endParaRPr lang="en-US" sz="1000" dirty="0"/>
          </a:p>
        </p:txBody>
      </p:sp>
      <p:sp>
        <p:nvSpPr>
          <p:cNvPr id="35" name="Text 31"/>
          <p:cNvSpPr txBox="1"/>
          <p:nvPr/>
        </p:nvSpPr>
        <p:spPr>
          <a:xfrm>
            <a:off x="6894576" y="2142744"/>
            <a:ext cx="13716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chemeClr val="tx1"/>
                </a:solidFill>
              </a:rPr>
              <a:t>dag!</a:t>
            </a:r>
            <a:endParaRPr lang="en-US" sz="1700" dirty="0"/>
          </a:p>
        </p:txBody>
      </p:sp>
      <p:sp>
        <p:nvSpPr>
          <p:cNvPr id="36" name="Shape 32"/>
          <p:cNvSpPr/>
          <p:nvPr/>
        </p:nvSpPr>
        <p:spPr>
          <a:xfrm>
            <a:off x="7580376" y="2855976"/>
            <a:ext cx="914" cy="128016"/>
          </a:xfrm>
          <a:prstGeom prst="line">
            <a:avLst/>
          </a:prstGeom>
          <a:noFill/>
          <a:ln w="19050">
            <a:solidFill>
              <a:srgbClr val="4A5A70"/>
            </a:solidFill>
            <a:prstDash val="solid"/>
            <a:tailEnd type="triangle"/>
          </a:ln>
        </p:spPr>
      </p:sp>
      <p:sp>
        <p:nvSpPr>
          <p:cNvPr id="37" name="Shape 33"/>
          <p:cNvSpPr/>
          <p:nvPr/>
        </p:nvSpPr>
        <p:spPr>
          <a:xfrm>
            <a:off x="6839712" y="2983992"/>
            <a:ext cx="1481328" cy="896112"/>
          </a:xfrm>
          <a:prstGeom prst="roundRect">
            <a:avLst>
              <a:gd name="adj" fmla="val 12245"/>
            </a:avLst>
          </a:prstGeom>
          <a:solidFill>
            <a:schemeClr val="accent1">
              <a:alpha val="15000"/>
            </a:schemeClr>
          </a:solidFill>
          <a:ln w="19050">
            <a:solidFill>
              <a:srgbClr val="D9700F"/>
            </a:solidFill>
            <a:prstDash val="solid"/>
          </a:ln>
        </p:spPr>
      </p:sp>
      <p:sp>
        <p:nvSpPr>
          <p:cNvPr id="38" name="Text 34"/>
          <p:cNvSpPr txBox="1"/>
          <p:nvPr/>
        </p:nvSpPr>
        <p:spPr>
          <a:xfrm>
            <a:off x="6894576" y="301142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5</a:t>
            </a:r>
            <a:endParaRPr lang="en-US" sz="1000" dirty="0"/>
          </a:p>
        </p:txBody>
      </p:sp>
      <p:sp>
        <p:nvSpPr>
          <p:cNvPr id="39" name="Text 35"/>
          <p:cNvSpPr txBox="1"/>
          <p:nvPr/>
        </p:nvSpPr>
        <p:spPr>
          <a:xfrm>
            <a:off x="6894576" y="3166872"/>
            <a:ext cx="13716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★ </a:t>
            </a:r>
            <a:r>
              <a:rPr lang="en-US" sz="1200" i="1" dirty="0">
                <a:solidFill>
                  <a:schemeClr val="tx1"/>
                </a:solidFill>
              </a:rPr>
              <a:t>Ik heet Hans.</a:t>
            </a:r>
            <a:endParaRPr lang="en-US" sz="1200" dirty="0"/>
          </a:p>
        </p:txBody>
      </p:sp>
      <p:sp>
        <p:nvSpPr>
          <p:cNvPr id="40" name="Shape 36"/>
          <p:cNvSpPr/>
          <p:nvPr/>
        </p:nvSpPr>
        <p:spPr>
          <a:xfrm flipH="1">
            <a:off x="6748272" y="3432048"/>
            <a:ext cx="91440" cy="914"/>
          </a:xfrm>
          <a:prstGeom prst="line">
            <a:avLst/>
          </a:prstGeom>
          <a:noFill/>
          <a:ln w="19050">
            <a:solidFill>
              <a:srgbClr val="4A5A70"/>
            </a:solidFill>
            <a:prstDash val="solid"/>
            <a:tailEnd type="triangle"/>
          </a:ln>
        </p:spPr>
      </p:sp>
      <p:sp>
        <p:nvSpPr>
          <p:cNvPr id="41" name="Shape 37"/>
          <p:cNvSpPr/>
          <p:nvPr/>
        </p:nvSpPr>
        <p:spPr>
          <a:xfrm>
            <a:off x="5266944" y="2983992"/>
            <a:ext cx="1481328" cy="896112"/>
          </a:xfrm>
          <a:prstGeom prst="roundRect">
            <a:avLst>
              <a:gd name="adj" fmla="val 12245"/>
            </a:avLst>
          </a:prstGeom>
          <a:solidFill>
            <a:srgbClr val="FFFFFF"/>
          </a:solidFill>
          <a:ln w="19050">
            <a:solidFill>
              <a:srgbClr val="D9700F"/>
            </a:solidFill>
            <a:prstDash val="solid"/>
          </a:ln>
        </p:spPr>
      </p:sp>
      <p:sp>
        <p:nvSpPr>
          <p:cNvPr id="42" name="Text 38"/>
          <p:cNvSpPr txBox="1"/>
          <p:nvPr/>
        </p:nvSpPr>
        <p:spPr>
          <a:xfrm>
            <a:off x="5321808" y="301142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6</a:t>
            </a:r>
            <a:endParaRPr lang="en-US" sz="1000" dirty="0"/>
          </a:p>
        </p:txBody>
      </p:sp>
      <p:sp>
        <p:nvSpPr>
          <p:cNvPr id="43" name="Text 39"/>
          <p:cNvSpPr txBox="1"/>
          <p:nvPr/>
        </p:nvSpPr>
        <p:spPr>
          <a:xfrm>
            <a:off x="5321808" y="3166872"/>
            <a:ext cx="13716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chemeClr val="tx1"/>
                </a:solidFill>
              </a:rPr>
              <a:t>brengen</a:t>
            </a:r>
            <a:endParaRPr lang="en-US" sz="1700" dirty="0"/>
          </a:p>
        </p:txBody>
      </p:sp>
      <p:sp>
        <p:nvSpPr>
          <p:cNvPr id="44" name="Shape 40"/>
          <p:cNvSpPr/>
          <p:nvPr/>
        </p:nvSpPr>
        <p:spPr>
          <a:xfrm flipH="1">
            <a:off x="5175504" y="3432048"/>
            <a:ext cx="91440" cy="914"/>
          </a:xfrm>
          <a:prstGeom prst="line">
            <a:avLst/>
          </a:prstGeom>
          <a:noFill/>
          <a:ln w="19050">
            <a:solidFill>
              <a:srgbClr val="4A5A70"/>
            </a:solidFill>
            <a:prstDash val="solid"/>
            <a:tailEnd type="triangle"/>
          </a:ln>
        </p:spPr>
      </p:sp>
      <p:sp>
        <p:nvSpPr>
          <p:cNvPr id="45" name="Shape 41"/>
          <p:cNvSpPr/>
          <p:nvPr/>
        </p:nvSpPr>
        <p:spPr>
          <a:xfrm>
            <a:off x="3694176" y="2983992"/>
            <a:ext cx="1481328" cy="896112"/>
          </a:xfrm>
          <a:prstGeom prst="roundRect">
            <a:avLst>
              <a:gd name="adj" fmla="val 12245"/>
            </a:avLst>
          </a:prstGeom>
          <a:solidFill>
            <a:srgbClr val="FFFFFF"/>
          </a:solidFill>
          <a:ln w="19050">
            <a:solidFill>
              <a:srgbClr val="D9700F"/>
            </a:solidFill>
            <a:prstDash val="solid"/>
          </a:ln>
        </p:spPr>
      </p:sp>
      <p:sp>
        <p:nvSpPr>
          <p:cNvPr id="46" name="Text 42"/>
          <p:cNvSpPr txBox="1"/>
          <p:nvPr/>
        </p:nvSpPr>
        <p:spPr>
          <a:xfrm>
            <a:off x="3749040" y="301142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7</a:t>
            </a:r>
            <a:endParaRPr lang="en-US" sz="1000" dirty="0"/>
          </a:p>
        </p:txBody>
      </p:sp>
      <p:sp>
        <p:nvSpPr>
          <p:cNvPr id="47" name="Text 43"/>
          <p:cNvSpPr txBox="1"/>
          <p:nvPr/>
        </p:nvSpPr>
        <p:spPr>
          <a:xfrm>
            <a:off x="3749040" y="3166872"/>
            <a:ext cx="13716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chemeClr val="tx1"/>
                </a:solidFill>
              </a:rPr>
              <a:t>meisje</a:t>
            </a:r>
            <a:endParaRPr lang="en-US" sz="1700" dirty="0"/>
          </a:p>
        </p:txBody>
      </p:sp>
      <p:sp>
        <p:nvSpPr>
          <p:cNvPr id="48" name="Shape 44"/>
          <p:cNvSpPr/>
          <p:nvPr/>
        </p:nvSpPr>
        <p:spPr>
          <a:xfrm flipH="1">
            <a:off x="3602736" y="3432048"/>
            <a:ext cx="91440" cy="914"/>
          </a:xfrm>
          <a:prstGeom prst="line">
            <a:avLst/>
          </a:prstGeom>
          <a:noFill/>
          <a:ln w="19050">
            <a:solidFill>
              <a:srgbClr val="4A5A70"/>
            </a:solidFill>
            <a:prstDash val="solid"/>
            <a:tailEnd type="triangle"/>
          </a:ln>
        </p:spPr>
      </p:sp>
      <p:sp>
        <p:nvSpPr>
          <p:cNvPr id="49" name="Shape 45"/>
          <p:cNvSpPr/>
          <p:nvPr/>
        </p:nvSpPr>
        <p:spPr>
          <a:xfrm>
            <a:off x="2121408" y="2983992"/>
            <a:ext cx="1481328" cy="896112"/>
          </a:xfrm>
          <a:prstGeom prst="roundRect">
            <a:avLst>
              <a:gd name="adj" fmla="val 12245"/>
            </a:avLst>
          </a:prstGeom>
          <a:solidFill>
            <a:schemeClr val="accent6">
              <a:alpha val="15000"/>
            </a:schemeClr>
          </a:solidFill>
          <a:ln w="19050">
            <a:solidFill>
              <a:srgbClr val="B83227"/>
            </a:solidFill>
            <a:prstDash val="solid"/>
          </a:ln>
        </p:spPr>
      </p:sp>
      <p:sp>
        <p:nvSpPr>
          <p:cNvPr id="50" name="Text 46"/>
          <p:cNvSpPr txBox="1"/>
          <p:nvPr/>
        </p:nvSpPr>
        <p:spPr>
          <a:xfrm>
            <a:off x="2176272" y="301142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8</a:t>
            </a:r>
            <a:endParaRPr lang="en-US" sz="1000" dirty="0"/>
          </a:p>
        </p:txBody>
      </p:sp>
      <p:sp>
        <p:nvSpPr>
          <p:cNvPr id="51" name="Text 47"/>
          <p:cNvSpPr txBox="1"/>
          <p:nvPr/>
        </p:nvSpPr>
        <p:spPr>
          <a:xfrm>
            <a:off x="2176272" y="3166872"/>
            <a:ext cx="13716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◀ recule de 2</a:t>
            </a:r>
            <a:endParaRPr lang="en-US" sz="1200" dirty="0"/>
          </a:p>
        </p:txBody>
      </p:sp>
      <p:sp>
        <p:nvSpPr>
          <p:cNvPr id="52" name="Shape 48"/>
          <p:cNvSpPr/>
          <p:nvPr/>
        </p:nvSpPr>
        <p:spPr>
          <a:xfrm flipH="1">
            <a:off x="2029968" y="3432048"/>
            <a:ext cx="91440" cy="914"/>
          </a:xfrm>
          <a:prstGeom prst="line">
            <a:avLst/>
          </a:prstGeom>
          <a:noFill/>
          <a:ln w="19050">
            <a:solidFill>
              <a:srgbClr val="4A5A70"/>
            </a:solidFill>
            <a:prstDash val="solid"/>
            <a:tailEnd type="triangle"/>
          </a:ln>
        </p:spPr>
      </p:sp>
      <p:sp>
        <p:nvSpPr>
          <p:cNvPr id="53" name="Shape 49"/>
          <p:cNvSpPr/>
          <p:nvPr/>
        </p:nvSpPr>
        <p:spPr>
          <a:xfrm>
            <a:off x="548640" y="2983992"/>
            <a:ext cx="1481328" cy="896112"/>
          </a:xfrm>
          <a:prstGeom prst="roundRect">
            <a:avLst>
              <a:gd name="adj" fmla="val 12245"/>
            </a:avLst>
          </a:prstGeom>
          <a:solidFill>
            <a:srgbClr val="FFFFFF"/>
          </a:solidFill>
          <a:ln w="19050">
            <a:solidFill>
              <a:srgbClr val="D9700F"/>
            </a:solidFill>
            <a:prstDash val="solid"/>
          </a:ln>
        </p:spPr>
      </p:sp>
      <p:sp>
        <p:nvSpPr>
          <p:cNvPr id="54" name="Text 50"/>
          <p:cNvSpPr txBox="1"/>
          <p:nvPr/>
        </p:nvSpPr>
        <p:spPr>
          <a:xfrm>
            <a:off x="603504" y="301142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9</a:t>
            </a:r>
            <a:endParaRPr lang="en-US" sz="1000" dirty="0"/>
          </a:p>
        </p:txBody>
      </p:sp>
      <p:sp>
        <p:nvSpPr>
          <p:cNvPr id="55" name="Text 51"/>
          <p:cNvSpPr txBox="1"/>
          <p:nvPr/>
        </p:nvSpPr>
        <p:spPr>
          <a:xfrm>
            <a:off x="603504" y="3166872"/>
            <a:ext cx="13716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chemeClr val="tx1"/>
                </a:solidFill>
              </a:rPr>
              <a:t>hebben</a:t>
            </a:r>
            <a:endParaRPr lang="en-US" sz="1700" dirty="0"/>
          </a:p>
        </p:txBody>
      </p:sp>
      <p:sp>
        <p:nvSpPr>
          <p:cNvPr id="56" name="Shape 52"/>
          <p:cNvSpPr/>
          <p:nvPr/>
        </p:nvSpPr>
        <p:spPr>
          <a:xfrm>
            <a:off x="1289304" y="3880104"/>
            <a:ext cx="914" cy="128016"/>
          </a:xfrm>
          <a:prstGeom prst="line">
            <a:avLst/>
          </a:prstGeom>
          <a:noFill/>
          <a:ln w="19050">
            <a:solidFill>
              <a:srgbClr val="4A5A70"/>
            </a:solidFill>
            <a:prstDash val="solid"/>
            <a:tailEnd type="triangle"/>
          </a:ln>
        </p:spPr>
      </p:sp>
      <p:sp>
        <p:nvSpPr>
          <p:cNvPr id="57" name="Shape 53"/>
          <p:cNvSpPr/>
          <p:nvPr/>
        </p:nvSpPr>
        <p:spPr>
          <a:xfrm>
            <a:off x="548640" y="4008120"/>
            <a:ext cx="1481328" cy="896112"/>
          </a:xfrm>
          <a:prstGeom prst="roundRect">
            <a:avLst>
              <a:gd name="adj" fmla="val 12245"/>
            </a:avLst>
          </a:prstGeom>
          <a:solidFill>
            <a:srgbClr val="FFFFFF"/>
          </a:solidFill>
          <a:ln w="19050">
            <a:solidFill>
              <a:srgbClr val="D9700F"/>
            </a:solidFill>
            <a:prstDash val="solid"/>
          </a:ln>
        </p:spPr>
      </p:sp>
      <p:sp>
        <p:nvSpPr>
          <p:cNvPr id="58" name="Text 54"/>
          <p:cNvSpPr txBox="1"/>
          <p:nvPr/>
        </p:nvSpPr>
        <p:spPr>
          <a:xfrm>
            <a:off x="603504" y="403555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10</a:t>
            </a:r>
            <a:endParaRPr lang="en-US" sz="1000" dirty="0"/>
          </a:p>
        </p:txBody>
      </p:sp>
      <p:sp>
        <p:nvSpPr>
          <p:cNvPr id="59" name="Text 55"/>
          <p:cNvSpPr txBox="1"/>
          <p:nvPr/>
        </p:nvSpPr>
        <p:spPr>
          <a:xfrm>
            <a:off x="603504" y="4191000"/>
            <a:ext cx="13716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chemeClr val="tx1"/>
                </a:solidFill>
              </a:rPr>
              <a:t>school</a:t>
            </a:r>
            <a:endParaRPr lang="en-US" sz="1700" dirty="0"/>
          </a:p>
        </p:txBody>
      </p:sp>
      <p:sp>
        <p:nvSpPr>
          <p:cNvPr id="60" name="Shape 56"/>
          <p:cNvSpPr/>
          <p:nvPr/>
        </p:nvSpPr>
        <p:spPr>
          <a:xfrm>
            <a:off x="2029968" y="4456176"/>
            <a:ext cx="91440" cy="914"/>
          </a:xfrm>
          <a:prstGeom prst="line">
            <a:avLst/>
          </a:prstGeom>
          <a:noFill/>
          <a:ln w="19050">
            <a:solidFill>
              <a:srgbClr val="4A5A70"/>
            </a:solidFill>
            <a:prstDash val="solid"/>
            <a:tailEnd type="triangle"/>
          </a:ln>
        </p:spPr>
      </p:sp>
      <p:sp>
        <p:nvSpPr>
          <p:cNvPr id="61" name="Shape 57"/>
          <p:cNvSpPr/>
          <p:nvPr/>
        </p:nvSpPr>
        <p:spPr>
          <a:xfrm>
            <a:off x="2121408" y="4008120"/>
            <a:ext cx="1481328" cy="896112"/>
          </a:xfrm>
          <a:prstGeom prst="roundRect">
            <a:avLst>
              <a:gd name="adj" fmla="val 12245"/>
            </a:avLst>
          </a:prstGeom>
          <a:solidFill>
            <a:srgbClr val="FFFFFF"/>
          </a:solidFill>
          <a:ln w="19050">
            <a:solidFill>
              <a:srgbClr val="D9700F"/>
            </a:solidFill>
            <a:prstDash val="solid"/>
          </a:ln>
        </p:spPr>
      </p:sp>
      <p:sp>
        <p:nvSpPr>
          <p:cNvPr id="62" name="Text 58"/>
          <p:cNvSpPr txBox="1"/>
          <p:nvPr/>
        </p:nvSpPr>
        <p:spPr>
          <a:xfrm>
            <a:off x="2176272" y="403555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11</a:t>
            </a:r>
            <a:endParaRPr lang="en-US" sz="1000" dirty="0"/>
          </a:p>
        </p:txBody>
      </p:sp>
      <p:sp>
        <p:nvSpPr>
          <p:cNvPr id="63" name="Text 59"/>
          <p:cNvSpPr txBox="1"/>
          <p:nvPr/>
        </p:nvSpPr>
        <p:spPr>
          <a:xfrm>
            <a:off x="2176272" y="4191000"/>
            <a:ext cx="13716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chemeClr val="tx1"/>
                </a:solidFill>
              </a:rPr>
              <a:t>oranje</a:t>
            </a:r>
            <a:endParaRPr lang="en-US" sz="1700" dirty="0"/>
          </a:p>
        </p:txBody>
      </p:sp>
      <p:sp>
        <p:nvSpPr>
          <p:cNvPr id="64" name="Shape 60"/>
          <p:cNvSpPr/>
          <p:nvPr/>
        </p:nvSpPr>
        <p:spPr>
          <a:xfrm>
            <a:off x="3602736" y="4456176"/>
            <a:ext cx="91440" cy="914"/>
          </a:xfrm>
          <a:prstGeom prst="line">
            <a:avLst/>
          </a:prstGeom>
          <a:noFill/>
          <a:ln w="19050">
            <a:solidFill>
              <a:srgbClr val="4A5A70"/>
            </a:solidFill>
            <a:prstDash val="solid"/>
            <a:tailEnd type="triangle"/>
          </a:ln>
        </p:spPr>
      </p:sp>
      <p:sp>
        <p:nvSpPr>
          <p:cNvPr id="65" name="Shape 61"/>
          <p:cNvSpPr/>
          <p:nvPr/>
        </p:nvSpPr>
        <p:spPr>
          <a:xfrm>
            <a:off x="3694176" y="4008120"/>
            <a:ext cx="1481328" cy="896112"/>
          </a:xfrm>
          <a:prstGeom prst="roundRect">
            <a:avLst>
              <a:gd name="adj" fmla="val 12245"/>
            </a:avLst>
          </a:prstGeom>
          <a:solidFill>
            <a:schemeClr val="accent1">
              <a:alpha val="15000"/>
            </a:schemeClr>
          </a:solidFill>
          <a:ln w="19050">
            <a:solidFill>
              <a:srgbClr val="D9700F"/>
            </a:solidFill>
            <a:prstDash val="solid"/>
          </a:ln>
        </p:spPr>
      </p:sp>
      <p:sp>
        <p:nvSpPr>
          <p:cNvPr id="66" name="Text 62"/>
          <p:cNvSpPr txBox="1"/>
          <p:nvPr/>
        </p:nvSpPr>
        <p:spPr>
          <a:xfrm>
            <a:off x="3749040" y="403555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12</a:t>
            </a:r>
            <a:endParaRPr lang="en-US" sz="1000" dirty="0"/>
          </a:p>
        </p:txBody>
      </p:sp>
      <p:sp>
        <p:nvSpPr>
          <p:cNvPr id="67" name="Text 63"/>
          <p:cNvSpPr txBox="1"/>
          <p:nvPr/>
        </p:nvSpPr>
        <p:spPr>
          <a:xfrm>
            <a:off x="3749040" y="4191000"/>
            <a:ext cx="13716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★ </a:t>
            </a:r>
            <a:r>
              <a:rPr lang="en-US" sz="1200" i="1" dirty="0">
                <a:solidFill>
                  <a:schemeClr val="tx1"/>
                </a:solidFill>
              </a:rPr>
              <a:t>Hoe gaat het?</a:t>
            </a:r>
            <a:endParaRPr lang="en-US" sz="1200" dirty="0"/>
          </a:p>
        </p:txBody>
      </p:sp>
      <p:sp>
        <p:nvSpPr>
          <p:cNvPr id="68" name="Shape 64"/>
          <p:cNvSpPr/>
          <p:nvPr/>
        </p:nvSpPr>
        <p:spPr>
          <a:xfrm>
            <a:off x="5175504" y="4456176"/>
            <a:ext cx="91440" cy="914"/>
          </a:xfrm>
          <a:prstGeom prst="line">
            <a:avLst/>
          </a:prstGeom>
          <a:noFill/>
          <a:ln w="19050">
            <a:solidFill>
              <a:srgbClr val="4A5A70"/>
            </a:solidFill>
            <a:prstDash val="solid"/>
            <a:tailEnd type="triangle"/>
          </a:ln>
        </p:spPr>
      </p:sp>
      <p:sp>
        <p:nvSpPr>
          <p:cNvPr id="69" name="Shape 65"/>
          <p:cNvSpPr/>
          <p:nvPr/>
        </p:nvSpPr>
        <p:spPr>
          <a:xfrm>
            <a:off x="5266944" y="4008120"/>
            <a:ext cx="1481328" cy="896112"/>
          </a:xfrm>
          <a:prstGeom prst="roundRect">
            <a:avLst>
              <a:gd name="adj" fmla="val 12245"/>
            </a:avLst>
          </a:prstGeom>
          <a:solidFill>
            <a:srgbClr val="FFFFFF"/>
          </a:solidFill>
          <a:ln w="19050">
            <a:solidFill>
              <a:srgbClr val="D9700F"/>
            </a:solidFill>
            <a:prstDash val="solid"/>
          </a:ln>
        </p:spPr>
      </p:sp>
      <p:sp>
        <p:nvSpPr>
          <p:cNvPr id="70" name="Text 66"/>
          <p:cNvSpPr txBox="1"/>
          <p:nvPr/>
        </p:nvSpPr>
        <p:spPr>
          <a:xfrm>
            <a:off x="5321808" y="403555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13</a:t>
            </a:r>
            <a:endParaRPr lang="en-US" sz="1000" dirty="0"/>
          </a:p>
        </p:txBody>
      </p:sp>
      <p:sp>
        <p:nvSpPr>
          <p:cNvPr id="71" name="Text 67"/>
          <p:cNvSpPr txBox="1"/>
          <p:nvPr/>
        </p:nvSpPr>
        <p:spPr>
          <a:xfrm>
            <a:off x="5321808" y="4191000"/>
            <a:ext cx="13716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chemeClr val="tx1"/>
                </a:solidFill>
              </a:rPr>
              <a:t>denken</a:t>
            </a:r>
            <a:endParaRPr lang="en-US" sz="1700" dirty="0"/>
          </a:p>
        </p:txBody>
      </p:sp>
      <p:sp>
        <p:nvSpPr>
          <p:cNvPr id="72" name="Shape 68"/>
          <p:cNvSpPr/>
          <p:nvPr/>
        </p:nvSpPr>
        <p:spPr>
          <a:xfrm>
            <a:off x="6748272" y="4456176"/>
            <a:ext cx="91440" cy="914"/>
          </a:xfrm>
          <a:prstGeom prst="line">
            <a:avLst/>
          </a:prstGeom>
          <a:noFill/>
          <a:ln w="19050">
            <a:solidFill>
              <a:srgbClr val="4A5A70"/>
            </a:solidFill>
            <a:prstDash val="solid"/>
            <a:tailEnd type="triangle"/>
          </a:ln>
        </p:spPr>
      </p:sp>
      <p:sp>
        <p:nvSpPr>
          <p:cNvPr id="73" name="Shape 69"/>
          <p:cNvSpPr/>
          <p:nvPr/>
        </p:nvSpPr>
        <p:spPr>
          <a:xfrm>
            <a:off x="6839712" y="4008120"/>
            <a:ext cx="1481328" cy="896112"/>
          </a:xfrm>
          <a:prstGeom prst="roundRect">
            <a:avLst>
              <a:gd name="adj" fmla="val 12245"/>
            </a:avLst>
          </a:prstGeom>
          <a:solidFill>
            <a:srgbClr val="FFFFFF"/>
          </a:solidFill>
          <a:ln w="19050">
            <a:solidFill>
              <a:srgbClr val="D9700F"/>
            </a:solidFill>
            <a:prstDash val="solid"/>
          </a:ln>
        </p:spPr>
      </p:sp>
      <p:sp>
        <p:nvSpPr>
          <p:cNvPr id="74" name="Text 70"/>
          <p:cNvSpPr txBox="1"/>
          <p:nvPr/>
        </p:nvSpPr>
        <p:spPr>
          <a:xfrm>
            <a:off x="6894576" y="403555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14</a:t>
            </a:r>
            <a:endParaRPr lang="en-US" sz="1000" dirty="0"/>
          </a:p>
        </p:txBody>
      </p:sp>
      <p:sp>
        <p:nvSpPr>
          <p:cNvPr id="75" name="Text 71"/>
          <p:cNvSpPr txBox="1"/>
          <p:nvPr/>
        </p:nvSpPr>
        <p:spPr>
          <a:xfrm>
            <a:off x="6894576" y="4191000"/>
            <a:ext cx="13716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chemeClr val="tx1"/>
                </a:solidFill>
              </a:rPr>
              <a:t>Russisch</a:t>
            </a:r>
            <a:endParaRPr lang="en-US" sz="1700" dirty="0"/>
          </a:p>
        </p:txBody>
      </p:sp>
      <p:sp>
        <p:nvSpPr>
          <p:cNvPr id="76" name="Shape 72"/>
          <p:cNvSpPr/>
          <p:nvPr/>
        </p:nvSpPr>
        <p:spPr>
          <a:xfrm>
            <a:off x="7580376" y="4904232"/>
            <a:ext cx="914" cy="128016"/>
          </a:xfrm>
          <a:prstGeom prst="line">
            <a:avLst/>
          </a:prstGeom>
          <a:noFill/>
          <a:ln w="19050">
            <a:solidFill>
              <a:srgbClr val="4A5A70"/>
            </a:solidFill>
            <a:prstDash val="solid"/>
            <a:tailEnd type="triangle"/>
          </a:ln>
        </p:spPr>
      </p:sp>
      <p:sp>
        <p:nvSpPr>
          <p:cNvPr id="77" name="Shape 73"/>
          <p:cNvSpPr/>
          <p:nvPr/>
        </p:nvSpPr>
        <p:spPr>
          <a:xfrm>
            <a:off x="6839712" y="5032248"/>
            <a:ext cx="1481328" cy="896112"/>
          </a:xfrm>
          <a:prstGeom prst="roundRect">
            <a:avLst>
              <a:gd name="adj" fmla="val 12245"/>
            </a:avLst>
          </a:prstGeom>
          <a:solidFill>
            <a:schemeClr val="accent3">
              <a:alpha val="15000"/>
            </a:schemeClr>
          </a:solidFill>
          <a:ln w="19050">
            <a:solidFill>
              <a:srgbClr val="2E7D4F"/>
            </a:solidFill>
            <a:prstDash val="solid"/>
          </a:ln>
        </p:spPr>
      </p:sp>
      <p:sp>
        <p:nvSpPr>
          <p:cNvPr id="78" name="Text 74"/>
          <p:cNvSpPr txBox="1"/>
          <p:nvPr/>
        </p:nvSpPr>
        <p:spPr>
          <a:xfrm>
            <a:off x="6894576" y="505968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15</a:t>
            </a:r>
            <a:endParaRPr lang="en-US" sz="1000" dirty="0"/>
          </a:p>
        </p:txBody>
      </p:sp>
      <p:sp>
        <p:nvSpPr>
          <p:cNvPr id="79" name="Text 75"/>
          <p:cNvSpPr txBox="1"/>
          <p:nvPr/>
        </p:nvSpPr>
        <p:spPr>
          <a:xfrm>
            <a:off x="6894576" y="5215128"/>
            <a:ext cx="13716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▶ rejoue</a:t>
            </a:r>
            <a:endParaRPr lang="en-US" sz="1200" dirty="0"/>
          </a:p>
        </p:txBody>
      </p:sp>
      <p:sp>
        <p:nvSpPr>
          <p:cNvPr id="80" name="Shape 76"/>
          <p:cNvSpPr/>
          <p:nvPr/>
        </p:nvSpPr>
        <p:spPr>
          <a:xfrm flipH="1">
            <a:off x="6748272" y="5480304"/>
            <a:ext cx="91440" cy="914"/>
          </a:xfrm>
          <a:prstGeom prst="line">
            <a:avLst/>
          </a:prstGeom>
          <a:noFill/>
          <a:ln w="19050">
            <a:solidFill>
              <a:srgbClr val="4A5A70"/>
            </a:solidFill>
            <a:prstDash val="solid"/>
            <a:tailEnd type="triangle"/>
          </a:ln>
        </p:spPr>
      </p:sp>
      <p:sp>
        <p:nvSpPr>
          <p:cNvPr id="81" name="Shape 77"/>
          <p:cNvSpPr/>
          <p:nvPr/>
        </p:nvSpPr>
        <p:spPr>
          <a:xfrm>
            <a:off x="5266944" y="5032248"/>
            <a:ext cx="1481328" cy="896112"/>
          </a:xfrm>
          <a:prstGeom prst="roundRect">
            <a:avLst>
              <a:gd name="adj" fmla="val 12245"/>
            </a:avLst>
          </a:prstGeom>
          <a:solidFill>
            <a:srgbClr val="FFFFFF"/>
          </a:solidFill>
          <a:ln w="19050">
            <a:solidFill>
              <a:srgbClr val="D9700F"/>
            </a:solidFill>
            <a:prstDash val="solid"/>
          </a:ln>
        </p:spPr>
      </p:sp>
      <p:sp>
        <p:nvSpPr>
          <p:cNvPr id="82" name="Text 78"/>
          <p:cNvSpPr txBox="1"/>
          <p:nvPr/>
        </p:nvSpPr>
        <p:spPr>
          <a:xfrm>
            <a:off x="5321808" y="505968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16</a:t>
            </a:r>
            <a:endParaRPr lang="en-US" sz="1000" dirty="0"/>
          </a:p>
        </p:txBody>
      </p:sp>
      <p:sp>
        <p:nvSpPr>
          <p:cNvPr id="83" name="Text 79"/>
          <p:cNvSpPr txBox="1"/>
          <p:nvPr/>
        </p:nvSpPr>
        <p:spPr>
          <a:xfrm>
            <a:off x="5321808" y="5215128"/>
            <a:ext cx="13716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chemeClr val="tx1"/>
                </a:solidFill>
              </a:rPr>
              <a:t>alsjeblieft</a:t>
            </a:r>
            <a:endParaRPr lang="en-US" sz="1700" dirty="0"/>
          </a:p>
        </p:txBody>
      </p:sp>
      <p:sp>
        <p:nvSpPr>
          <p:cNvPr id="84" name="Shape 80"/>
          <p:cNvSpPr/>
          <p:nvPr/>
        </p:nvSpPr>
        <p:spPr>
          <a:xfrm flipH="1">
            <a:off x="5175504" y="5480304"/>
            <a:ext cx="91440" cy="914"/>
          </a:xfrm>
          <a:prstGeom prst="line">
            <a:avLst/>
          </a:prstGeom>
          <a:noFill/>
          <a:ln w="19050">
            <a:solidFill>
              <a:srgbClr val="4A5A70"/>
            </a:solidFill>
            <a:prstDash val="solid"/>
            <a:tailEnd type="triangle"/>
          </a:ln>
        </p:spPr>
      </p:sp>
      <p:sp>
        <p:nvSpPr>
          <p:cNvPr id="85" name="Shape 81"/>
          <p:cNvSpPr/>
          <p:nvPr/>
        </p:nvSpPr>
        <p:spPr>
          <a:xfrm>
            <a:off x="3694176" y="5032248"/>
            <a:ext cx="1481328" cy="896112"/>
          </a:xfrm>
          <a:prstGeom prst="roundRect">
            <a:avLst>
              <a:gd name="adj" fmla="val 12245"/>
            </a:avLst>
          </a:prstGeom>
          <a:solidFill>
            <a:srgbClr val="FFFFFF"/>
          </a:solidFill>
          <a:ln w="19050">
            <a:solidFill>
              <a:srgbClr val="D9700F"/>
            </a:solidFill>
            <a:prstDash val="solid"/>
          </a:ln>
        </p:spPr>
      </p:sp>
      <p:sp>
        <p:nvSpPr>
          <p:cNvPr id="86" name="Text 82"/>
          <p:cNvSpPr txBox="1"/>
          <p:nvPr/>
        </p:nvSpPr>
        <p:spPr>
          <a:xfrm>
            <a:off x="3749040" y="505968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17</a:t>
            </a:r>
            <a:endParaRPr lang="en-US" sz="1000" dirty="0"/>
          </a:p>
        </p:txBody>
      </p:sp>
      <p:sp>
        <p:nvSpPr>
          <p:cNvPr id="87" name="Text 83"/>
          <p:cNvSpPr txBox="1"/>
          <p:nvPr/>
        </p:nvSpPr>
        <p:spPr>
          <a:xfrm>
            <a:off x="3749040" y="5215128"/>
            <a:ext cx="13716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chemeClr val="tx1"/>
                </a:solidFill>
              </a:rPr>
              <a:t>Tsjechië</a:t>
            </a:r>
            <a:endParaRPr lang="en-US" sz="1700" dirty="0"/>
          </a:p>
        </p:txBody>
      </p:sp>
      <p:sp>
        <p:nvSpPr>
          <p:cNvPr id="88" name="Shape 84"/>
          <p:cNvSpPr/>
          <p:nvPr/>
        </p:nvSpPr>
        <p:spPr>
          <a:xfrm flipH="1">
            <a:off x="3602736" y="5480304"/>
            <a:ext cx="91440" cy="914"/>
          </a:xfrm>
          <a:prstGeom prst="line">
            <a:avLst/>
          </a:prstGeom>
          <a:noFill/>
          <a:ln w="19050">
            <a:solidFill>
              <a:srgbClr val="4A5A70"/>
            </a:solidFill>
            <a:prstDash val="solid"/>
            <a:tailEnd type="triangle"/>
          </a:ln>
        </p:spPr>
      </p:sp>
      <p:sp>
        <p:nvSpPr>
          <p:cNvPr id="89" name="Shape 85"/>
          <p:cNvSpPr/>
          <p:nvPr/>
        </p:nvSpPr>
        <p:spPr>
          <a:xfrm>
            <a:off x="2121408" y="5032248"/>
            <a:ext cx="1481328" cy="896112"/>
          </a:xfrm>
          <a:prstGeom prst="roundRect">
            <a:avLst>
              <a:gd name="adj" fmla="val 12245"/>
            </a:avLst>
          </a:prstGeom>
          <a:solidFill>
            <a:schemeClr val="accent1">
              <a:alpha val="15000"/>
            </a:schemeClr>
          </a:solidFill>
          <a:ln w="19050">
            <a:solidFill>
              <a:srgbClr val="D9700F"/>
            </a:solidFill>
            <a:prstDash val="solid"/>
          </a:ln>
        </p:spPr>
      </p:sp>
      <p:sp>
        <p:nvSpPr>
          <p:cNvPr id="90" name="Text 86"/>
          <p:cNvSpPr txBox="1"/>
          <p:nvPr/>
        </p:nvSpPr>
        <p:spPr>
          <a:xfrm>
            <a:off x="2176272" y="505968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18</a:t>
            </a:r>
            <a:endParaRPr lang="en-US" sz="1000" dirty="0"/>
          </a:p>
        </p:txBody>
      </p:sp>
      <p:sp>
        <p:nvSpPr>
          <p:cNvPr id="91" name="Text 87"/>
          <p:cNvSpPr txBox="1"/>
          <p:nvPr/>
        </p:nvSpPr>
        <p:spPr>
          <a:xfrm>
            <a:off x="2176272" y="5215128"/>
            <a:ext cx="13716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★ </a:t>
            </a:r>
            <a:r>
              <a:rPr lang="en-US" sz="1200" i="1" dirty="0">
                <a:solidFill>
                  <a:schemeClr val="tx1"/>
                </a:solidFill>
              </a:rPr>
              <a:t>Goedemiddag!</a:t>
            </a:r>
            <a:endParaRPr lang="en-US" sz="1200" dirty="0"/>
          </a:p>
        </p:txBody>
      </p:sp>
      <p:sp>
        <p:nvSpPr>
          <p:cNvPr id="92" name="Shape 88"/>
          <p:cNvSpPr/>
          <p:nvPr/>
        </p:nvSpPr>
        <p:spPr>
          <a:xfrm flipH="1">
            <a:off x="2029968" y="5480304"/>
            <a:ext cx="91440" cy="914"/>
          </a:xfrm>
          <a:prstGeom prst="line">
            <a:avLst/>
          </a:prstGeom>
          <a:noFill/>
          <a:ln w="19050">
            <a:solidFill>
              <a:srgbClr val="4A5A70"/>
            </a:solidFill>
            <a:prstDash val="solid"/>
            <a:tailEnd type="triangle"/>
          </a:ln>
        </p:spPr>
      </p:sp>
      <p:sp>
        <p:nvSpPr>
          <p:cNvPr id="93" name="Shape 89"/>
          <p:cNvSpPr/>
          <p:nvPr/>
        </p:nvSpPr>
        <p:spPr>
          <a:xfrm>
            <a:off x="548640" y="5032248"/>
            <a:ext cx="1481328" cy="896112"/>
          </a:xfrm>
          <a:prstGeom prst="roundRect">
            <a:avLst>
              <a:gd name="adj" fmla="val 12245"/>
            </a:avLst>
          </a:prstGeom>
          <a:solidFill>
            <a:schemeClr val="tx2"/>
          </a:solidFill>
          <a:ln w="19050">
            <a:solidFill>
              <a:srgbClr val="17375E"/>
            </a:solidFill>
            <a:prstDash val="solid"/>
          </a:ln>
        </p:spPr>
      </p:sp>
      <p:sp>
        <p:nvSpPr>
          <p:cNvPr id="94" name="Text 90"/>
          <p:cNvSpPr txBox="1"/>
          <p:nvPr/>
        </p:nvSpPr>
        <p:spPr>
          <a:xfrm>
            <a:off x="603504" y="5215128"/>
            <a:ext cx="13716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ARRIVÉE</a:t>
            </a:r>
            <a:endParaRPr lang="en-US" sz="1200" dirty="0"/>
          </a:p>
        </p:txBody>
      </p:sp>
      <p:pic>
        <p:nvPicPr>
          <p:cNvPr id="95" name="Image 1" descr="game di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5480" y="1959864"/>
            <a:ext cx="1097280" cy="1097280"/>
          </a:xfrm>
          <a:prstGeom prst="rect">
            <a:avLst/>
          </a:prstGeom>
        </p:spPr>
      </p:pic>
      <p:sp>
        <p:nvSpPr>
          <p:cNvPr id="96" name="Text 91"/>
          <p:cNvSpPr txBox="1"/>
          <p:nvPr/>
        </p:nvSpPr>
        <p:spPr>
          <a:xfrm>
            <a:off x="8595360" y="3148584"/>
            <a:ext cx="3044952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1.</a:t>
            </a:r>
            <a:r>
              <a:rPr lang="en-US" sz="1400" dirty="0">
                <a:solidFill>
                  <a:schemeClr val="tx1"/>
                </a:solidFill>
              </a:rPr>
              <a:t> Lancez le dé, avancez.</a:t>
            </a:r>
            <a:endParaRPr lang="en-US" sz="14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2.</a:t>
            </a:r>
            <a:r>
              <a:rPr lang="en-US" sz="1400" dirty="0">
                <a:solidFill>
                  <a:schemeClr val="tx1"/>
                </a:solidFill>
              </a:rPr>
              <a:t> Lisez la case à voix haute.</a:t>
            </a:r>
            <a:endParaRPr lang="en-US" sz="14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3.</a:t>
            </a:r>
            <a:r>
              <a:rPr lang="en-US" sz="1400" dirty="0">
                <a:solidFill>
                  <a:schemeClr val="tx1"/>
                </a:solidFill>
              </a:rPr>
              <a:t> Faute = case précédente.</a:t>
            </a:r>
            <a:endParaRPr lang="en-US" sz="14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★</a:t>
            </a:r>
            <a:r>
              <a:rPr lang="en-US" sz="1400" dirty="0">
                <a:solidFill>
                  <a:schemeClr val="tx1"/>
                </a:solidFill>
              </a:rPr>
              <a:t> = mini-phrase · </a:t>
            </a:r>
            <a:r>
              <a:rPr lang="en-US" sz="1400" b="1" dirty="0">
                <a:solidFill>
                  <a:schemeClr val="tx1"/>
                </a:solidFill>
              </a:rPr>
              <a:t>◀</a:t>
            </a:r>
            <a:r>
              <a:rPr lang="en-US" sz="1400" dirty="0">
                <a:solidFill>
                  <a:schemeClr val="tx1"/>
                </a:solidFill>
              </a:rPr>
              <a:t> = reculez · </a:t>
            </a:r>
            <a:r>
              <a:rPr lang="en-US" sz="1400" b="1" dirty="0">
                <a:solidFill>
                  <a:schemeClr val="tx1"/>
                </a:solidFill>
              </a:rPr>
              <a:t>▶</a:t>
            </a:r>
            <a:r>
              <a:rPr lang="en-US" sz="1400" dirty="0">
                <a:solidFill>
                  <a:schemeClr val="tx1"/>
                </a:solidFill>
              </a:rPr>
              <a:t> = rejouez</a:t>
            </a:r>
            <a:endParaRPr lang="en-US" sz="1400" dirty="0"/>
          </a:p>
        </p:txBody>
      </p:sp>
      <p:pic>
        <p:nvPicPr>
          <p:cNvPr id="97" name="Image 2" descr="trophy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0" y="5388864"/>
            <a:ext cx="548640" cy="548640"/>
          </a:xfrm>
          <a:prstGeom prst="rect">
            <a:avLst/>
          </a:prstGeom>
        </p:spPr>
      </p:pic>
      <p:sp>
        <p:nvSpPr>
          <p:cNvPr id="98" name="Text 92"/>
          <p:cNvSpPr txBox="1"/>
          <p:nvPr/>
        </p:nvSpPr>
        <p:spPr>
          <a:xfrm>
            <a:off x="9281160" y="5388864"/>
            <a:ext cx="2359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Premier arrivé : </a:t>
            </a:r>
            <a:r>
              <a:rPr lang="en-US" sz="1500" b="1" i="1" dirty="0">
                <a:solidFill>
                  <a:schemeClr val="accent1"/>
                </a:solidFill>
              </a:rPr>
              <a:t>Proficiat!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Rappel : lire un mot en 4 gestes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2525573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SÉANCE 4 · ① RAPPEL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9747504" y="393192"/>
            <a:ext cx="1682496" cy="914"/>
          </a:xfrm>
          <a:prstGeom prst="line">
            <a:avLst/>
          </a:prstGeom>
          <a:noFill/>
          <a:ln w="25400">
            <a:solidFill>
              <a:srgbClr val="D5DCE6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9582912" y="228600"/>
            <a:ext cx="329184" cy="32918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A6FB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582912" y="2286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1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10003536" y="228600"/>
            <a:ext cx="329184" cy="32918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4236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0003536" y="2286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2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10424160" y="228600"/>
            <a:ext cx="329184" cy="32918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9700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0424160" y="2286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3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10844784" y="228600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0844784" y="2286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4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11265408" y="228600"/>
            <a:ext cx="329184" cy="32918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E4A9E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11265408" y="2286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E4A9E"/>
                </a:solidFill>
              </a:rPr>
              <a:t>5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48640" y="1572768"/>
            <a:ext cx="2622042" cy="2514600"/>
          </a:xfrm>
          <a:prstGeom prst="roundRect">
            <a:avLst>
              <a:gd name="adj" fmla="val 3636"/>
            </a:avLst>
          </a:prstGeom>
          <a:solidFill>
            <a:schemeClr val="bg1"/>
          </a:solidFill>
          <a:ln w="25400">
            <a:solidFill>
              <a:srgbClr val="2A6FB0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548640" y="1572768"/>
            <a:ext cx="2622042" cy="603504"/>
          </a:xfrm>
          <a:prstGeom prst="roundRect">
            <a:avLst>
              <a:gd name="adj" fmla="val 15152"/>
            </a:avLst>
          </a:prstGeom>
          <a:solidFill>
            <a:schemeClr val="accent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58368" y="164592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9" name="Image 0" descr="Cu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1755648"/>
            <a:ext cx="237744" cy="237744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1188720" y="1572768"/>
            <a:ext cx="190881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1. Je coupe</a:t>
            </a:r>
            <a:endParaRPr lang="en-US" sz="1400" dirty="0"/>
          </a:p>
        </p:txBody>
      </p:sp>
      <p:sp>
        <p:nvSpPr>
          <p:cNvPr id="21" name="Text 17"/>
          <p:cNvSpPr txBox="1"/>
          <p:nvPr/>
        </p:nvSpPr>
        <p:spPr>
          <a:xfrm>
            <a:off x="685800" y="2258568"/>
            <a:ext cx="234772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1 consonne → avant : </a:t>
            </a:r>
            <a:r>
              <a:rPr lang="en-US" sz="1500" i="1" dirty="0">
                <a:solidFill>
                  <a:schemeClr val="tx1"/>
                </a:solidFill>
              </a:rPr>
              <a:t>wo·nen</a:t>
            </a:r>
            <a:endParaRPr lang="en-US" sz="1500" dirty="0"/>
          </a:p>
          <a:p>
            <a:pPr algn="l" indent="0" marL="0">
              <a:spcAft>
                <a:spcPts val="7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2 consonnes → entre : </a:t>
            </a:r>
            <a:r>
              <a:rPr lang="en-US" sz="1500" i="1" dirty="0">
                <a:solidFill>
                  <a:schemeClr val="tx1"/>
                </a:solidFill>
              </a:rPr>
              <a:t>kat·ten</a:t>
            </a:r>
            <a:endParaRPr lang="en-US" sz="1500" dirty="0"/>
          </a:p>
          <a:p>
            <a:pPr algn="l" indent="0" marL="0">
              <a:spcAft>
                <a:spcPts val="7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son double jamais coupé : </a:t>
            </a:r>
            <a:r>
              <a:rPr lang="en-US" sz="1500" i="1" dirty="0">
                <a:solidFill>
                  <a:schemeClr val="tx1"/>
                </a:solidFill>
              </a:rPr>
              <a:t>kij·ken</a:t>
            </a:r>
            <a:endParaRPr lang="en-US" sz="1500" dirty="0"/>
          </a:p>
        </p:txBody>
      </p:sp>
      <p:sp>
        <p:nvSpPr>
          <p:cNvPr id="22" name="Text 18"/>
          <p:cNvSpPr txBox="1"/>
          <p:nvPr/>
        </p:nvSpPr>
        <p:spPr>
          <a:xfrm>
            <a:off x="3124962" y="2647188"/>
            <a:ext cx="292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➜</a:t>
            </a:r>
            <a:endParaRPr lang="en-US" sz="1600" dirty="0"/>
          </a:p>
        </p:txBody>
      </p:sp>
      <p:sp>
        <p:nvSpPr>
          <p:cNvPr id="23" name="Shape 19"/>
          <p:cNvSpPr/>
          <p:nvPr/>
        </p:nvSpPr>
        <p:spPr>
          <a:xfrm>
            <a:off x="3371850" y="1572768"/>
            <a:ext cx="2622042" cy="2514600"/>
          </a:xfrm>
          <a:prstGeom prst="roundRect">
            <a:avLst>
              <a:gd name="adj" fmla="val 3636"/>
            </a:avLst>
          </a:prstGeom>
          <a:solidFill>
            <a:schemeClr val="bg1"/>
          </a:solidFill>
          <a:ln w="25400">
            <a:solidFill>
              <a:srgbClr val="2E7D4F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3371850" y="1572768"/>
            <a:ext cx="2622042" cy="603504"/>
          </a:xfrm>
          <a:prstGeom prst="roundRect">
            <a:avLst>
              <a:gd name="adj" fmla="val 15152"/>
            </a:avLst>
          </a:prstGeom>
          <a:solidFill>
            <a:schemeClr val="accent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3481578" y="164592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6" name="Image 1" descr="DoorOpe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1306" y="1755648"/>
            <a:ext cx="237744" cy="237744"/>
          </a:xfrm>
          <a:prstGeom prst="rect">
            <a:avLst/>
          </a:prstGeom>
        </p:spPr>
      </p:pic>
      <p:sp>
        <p:nvSpPr>
          <p:cNvPr id="27" name="Text 22"/>
          <p:cNvSpPr txBox="1"/>
          <p:nvPr/>
        </p:nvSpPr>
        <p:spPr>
          <a:xfrm>
            <a:off x="4011930" y="1572768"/>
            <a:ext cx="190881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2. Je regarde la porte</a:t>
            </a:r>
            <a:endParaRPr lang="en-US" sz="1400" dirty="0"/>
          </a:p>
        </p:txBody>
      </p:sp>
      <p:sp>
        <p:nvSpPr>
          <p:cNvPr id="28" name="Text 23"/>
          <p:cNvSpPr txBox="1"/>
          <p:nvPr/>
        </p:nvSpPr>
        <p:spPr>
          <a:xfrm>
            <a:off x="3509010" y="2258568"/>
            <a:ext cx="234772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ouverte → long : </a:t>
            </a:r>
            <a:r>
              <a:rPr lang="en-US" sz="1500" i="1" dirty="0">
                <a:solidFill>
                  <a:schemeClr val="tx1"/>
                </a:solidFill>
              </a:rPr>
              <a:t>ma·ken</a:t>
            </a:r>
            <a:endParaRPr lang="en-US" sz="1500" dirty="0"/>
          </a:p>
          <a:p>
            <a:pPr algn="l" indent="0" marL="0">
              <a:spcAft>
                <a:spcPts val="7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fermée → court : </a:t>
            </a:r>
            <a:r>
              <a:rPr lang="en-US" sz="1500" i="1" dirty="0">
                <a:solidFill>
                  <a:schemeClr val="tx1"/>
                </a:solidFill>
              </a:rPr>
              <a:t>mak·ker</a:t>
            </a:r>
            <a:endParaRPr lang="en-US" sz="1500" dirty="0"/>
          </a:p>
          <a:p>
            <a:pPr algn="l" indent="0" marL="0">
              <a:spcAft>
                <a:spcPts val="7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voyelle doublée → long : </a:t>
            </a:r>
            <a:r>
              <a:rPr lang="en-US" sz="1500" i="1" dirty="0">
                <a:solidFill>
                  <a:schemeClr val="tx1"/>
                </a:solidFill>
              </a:rPr>
              <a:t>maan</a:t>
            </a:r>
            <a:endParaRPr lang="en-US" sz="1500" dirty="0"/>
          </a:p>
          <a:p>
            <a:pPr algn="l" indent="0" marL="0">
              <a:spcAft>
                <a:spcPts val="700"/>
              </a:spcAft>
              <a:buNone/>
            </a:pPr>
            <a:r>
              <a:rPr lang="en-US" sz="1500" i="1" dirty="0">
                <a:solidFill>
                  <a:schemeClr val="tx1"/>
                </a:solidFill>
              </a:rPr>
              <a:t>ch</a:t>
            </a:r>
            <a:r>
              <a:rPr lang="en-US" sz="1500" dirty="0">
                <a:solidFill>
                  <a:schemeClr val="tx1"/>
                </a:solidFill>
              </a:rPr>
              <a:t> ferme la porte : </a:t>
            </a:r>
            <a:r>
              <a:rPr lang="en-US" sz="1500" i="1" dirty="0">
                <a:solidFill>
                  <a:schemeClr val="tx1"/>
                </a:solidFill>
              </a:rPr>
              <a:t>la·chen</a:t>
            </a:r>
            <a:endParaRPr lang="en-US" sz="1500" dirty="0"/>
          </a:p>
        </p:txBody>
      </p:sp>
      <p:sp>
        <p:nvSpPr>
          <p:cNvPr id="29" name="Text 24"/>
          <p:cNvSpPr txBox="1"/>
          <p:nvPr/>
        </p:nvSpPr>
        <p:spPr>
          <a:xfrm>
            <a:off x="5948172" y="2647188"/>
            <a:ext cx="292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➜</a:t>
            </a:r>
            <a:endParaRPr lang="en-US" sz="1600" dirty="0"/>
          </a:p>
        </p:txBody>
      </p:sp>
      <p:sp>
        <p:nvSpPr>
          <p:cNvPr id="30" name="Shape 25"/>
          <p:cNvSpPr/>
          <p:nvPr/>
        </p:nvSpPr>
        <p:spPr>
          <a:xfrm>
            <a:off x="6195060" y="1572768"/>
            <a:ext cx="2622042" cy="2514600"/>
          </a:xfrm>
          <a:prstGeom prst="roundRect">
            <a:avLst>
              <a:gd name="adj" fmla="val 3636"/>
            </a:avLst>
          </a:prstGeom>
          <a:solidFill>
            <a:schemeClr val="bg1"/>
          </a:solidFill>
          <a:ln w="25400">
            <a:solidFill>
              <a:srgbClr val="D9700F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6195060" y="1572768"/>
            <a:ext cx="2622042" cy="603504"/>
          </a:xfrm>
          <a:prstGeom prst="roundRect">
            <a:avLst>
              <a:gd name="adj" fmla="val 15152"/>
            </a:avLst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6304788" y="164592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3" name="Image 2" descr="Bullsey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4516" y="1755648"/>
            <a:ext cx="237744" cy="237744"/>
          </a:xfrm>
          <a:prstGeom prst="rect">
            <a:avLst/>
          </a:prstGeom>
        </p:spPr>
      </p:pic>
      <p:sp>
        <p:nvSpPr>
          <p:cNvPr id="34" name="Text 28"/>
          <p:cNvSpPr txBox="1"/>
          <p:nvPr/>
        </p:nvSpPr>
        <p:spPr>
          <a:xfrm>
            <a:off x="6835140" y="1572768"/>
            <a:ext cx="190881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3. Je trouve l’accent</a:t>
            </a:r>
            <a:endParaRPr lang="en-US" sz="1400" dirty="0"/>
          </a:p>
        </p:txBody>
      </p:sp>
      <p:sp>
        <p:nvSpPr>
          <p:cNvPr id="35" name="Text 29"/>
          <p:cNvSpPr txBox="1"/>
          <p:nvPr/>
        </p:nvSpPr>
        <p:spPr>
          <a:xfrm>
            <a:off x="6332220" y="2258568"/>
            <a:ext cx="234772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1re syllabe du mot de base : </a:t>
            </a:r>
            <a:r>
              <a:rPr lang="en-US" sz="1200" b="1" i="1" dirty="0">
                <a:solidFill>
                  <a:schemeClr val="accent1"/>
                </a:solidFill>
              </a:rPr>
              <a:t>wo</a:t>
            </a:r>
            <a:r>
              <a:rPr lang="en-US" sz="1200" i="1" dirty="0">
                <a:solidFill>
                  <a:schemeClr val="tx1"/>
                </a:solidFill>
              </a:rPr>
              <a:t>·nen</a:t>
            </a:r>
            <a:endParaRPr lang="en-US" sz="1200" dirty="0"/>
          </a:p>
          <a:p>
            <a:pPr algn="l"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jamais sur les préfixes </a:t>
            </a:r>
            <a:r>
              <a:rPr lang="en-US" sz="1200" i="1" dirty="0">
                <a:solidFill>
                  <a:schemeClr val="tx1"/>
                </a:solidFill>
              </a:rPr>
              <a:t>be-, ge-, ver-</a:t>
            </a:r>
            <a:r>
              <a:rPr lang="en-US" sz="1200" dirty="0">
                <a:solidFill>
                  <a:schemeClr val="tx1"/>
                </a:solidFill>
              </a:rPr>
              <a:t> : </a:t>
            </a:r>
            <a:r>
              <a:rPr lang="en-US" sz="1200" i="1" dirty="0">
                <a:solidFill>
                  <a:schemeClr val="tx1"/>
                </a:solidFill>
              </a:rPr>
              <a:t>be·</a:t>
            </a:r>
            <a:r>
              <a:rPr lang="en-US" sz="1200" b="1" i="1" dirty="0">
                <a:solidFill>
                  <a:schemeClr val="accent1"/>
                </a:solidFill>
              </a:rPr>
              <a:t>ta</a:t>
            </a:r>
            <a:r>
              <a:rPr lang="en-US" sz="1200" i="1" dirty="0">
                <a:solidFill>
                  <a:schemeClr val="tx1"/>
                </a:solidFill>
              </a:rPr>
              <a:t>·len</a:t>
            </a:r>
            <a:endParaRPr lang="en-US" sz="1200" dirty="0"/>
          </a:p>
          <a:p>
            <a:pPr algn="l"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composé → 1er mot : </a:t>
            </a:r>
            <a:r>
              <a:rPr lang="en-US" sz="1200" b="1" i="1" dirty="0">
                <a:solidFill>
                  <a:schemeClr val="accent1"/>
                </a:solidFill>
              </a:rPr>
              <a:t>voor</a:t>
            </a:r>
            <a:r>
              <a:rPr lang="en-US" sz="1200" i="1" dirty="0">
                <a:solidFill>
                  <a:schemeClr val="tx1"/>
                </a:solidFill>
              </a:rPr>
              <a:t>·naam</a:t>
            </a:r>
            <a:endParaRPr lang="en-US" sz="1200" dirty="0"/>
          </a:p>
          <a:p>
            <a:pPr algn="l"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mot français → souvent à la fin : </a:t>
            </a:r>
            <a:r>
              <a:rPr lang="en-US" sz="1200" i="1" dirty="0">
                <a:solidFill>
                  <a:schemeClr val="tx1"/>
                </a:solidFill>
              </a:rPr>
              <a:t>pa·</a:t>
            </a:r>
            <a:r>
              <a:rPr lang="en-US" sz="1200" b="1" i="1" dirty="0">
                <a:solidFill>
                  <a:schemeClr val="accent1"/>
                </a:solidFill>
              </a:rPr>
              <a:t>pier</a:t>
            </a:r>
            <a:endParaRPr lang="en-US" sz="1200" dirty="0"/>
          </a:p>
        </p:txBody>
      </p:sp>
      <p:sp>
        <p:nvSpPr>
          <p:cNvPr id="36" name="Text 30"/>
          <p:cNvSpPr txBox="1"/>
          <p:nvPr/>
        </p:nvSpPr>
        <p:spPr>
          <a:xfrm>
            <a:off x="8771382" y="2647188"/>
            <a:ext cx="292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➜</a:t>
            </a:r>
            <a:endParaRPr lang="en-US" sz="1600" dirty="0"/>
          </a:p>
        </p:txBody>
      </p:sp>
      <p:sp>
        <p:nvSpPr>
          <p:cNvPr id="37" name="Shape 31"/>
          <p:cNvSpPr/>
          <p:nvPr/>
        </p:nvSpPr>
        <p:spPr>
          <a:xfrm>
            <a:off x="9018270" y="1572768"/>
            <a:ext cx="2622042" cy="2514600"/>
          </a:xfrm>
          <a:prstGeom prst="roundRect">
            <a:avLst>
              <a:gd name="adj" fmla="val 3636"/>
            </a:avLst>
          </a:prstGeom>
          <a:solidFill>
            <a:schemeClr val="bg1"/>
          </a:solidFill>
          <a:ln w="25400">
            <a:solidFill>
              <a:srgbClr val="4A5A70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38" name="Shape 32"/>
          <p:cNvSpPr/>
          <p:nvPr/>
        </p:nvSpPr>
        <p:spPr>
          <a:xfrm>
            <a:off x="9018270" y="1572768"/>
            <a:ext cx="2622042" cy="603504"/>
          </a:xfrm>
          <a:prstGeom prst="roundRect">
            <a:avLst>
              <a:gd name="adj" fmla="val 15152"/>
            </a:avLst>
          </a:prstGeom>
          <a:solidFill>
            <a:schemeClr val="accent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Shape 33"/>
          <p:cNvSpPr/>
          <p:nvPr/>
        </p:nvSpPr>
        <p:spPr>
          <a:xfrm>
            <a:off x="9127998" y="164592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0" name="Image 3" descr="VolumeMut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7726" y="1755648"/>
            <a:ext cx="237744" cy="237744"/>
          </a:xfrm>
          <a:prstGeom prst="rect">
            <a:avLst/>
          </a:prstGeom>
        </p:spPr>
      </p:pic>
      <p:sp>
        <p:nvSpPr>
          <p:cNvPr id="41" name="Text 34"/>
          <p:cNvSpPr txBox="1"/>
          <p:nvPr/>
        </p:nvSpPr>
        <p:spPr>
          <a:xfrm>
            <a:off x="9658350" y="1572768"/>
            <a:ext cx="190881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4. J’avale les e muets</a:t>
            </a:r>
            <a:endParaRPr lang="en-US" sz="1400" dirty="0"/>
          </a:p>
        </p:txBody>
      </p:sp>
      <p:sp>
        <p:nvSpPr>
          <p:cNvPr id="42" name="Text 35"/>
          <p:cNvSpPr txBox="1"/>
          <p:nvPr/>
        </p:nvSpPr>
        <p:spPr>
          <a:xfrm>
            <a:off x="9155430" y="2258568"/>
            <a:ext cx="234772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préfixes </a:t>
            </a:r>
            <a:r>
              <a:rPr lang="en-US" sz="1200" i="1" dirty="0">
                <a:solidFill>
                  <a:schemeClr val="tx1"/>
                </a:solidFill>
              </a:rPr>
              <a:t>be-, ge-, ver-</a:t>
            </a:r>
            <a:r>
              <a:rPr lang="en-US" sz="1200" dirty="0">
                <a:solidFill>
                  <a:schemeClr val="tx1"/>
                </a:solidFill>
              </a:rPr>
              <a:t>, finales </a:t>
            </a:r>
            <a:r>
              <a:rPr lang="en-US" sz="1200" i="1" dirty="0">
                <a:solidFill>
                  <a:schemeClr val="tx1"/>
                </a:solidFill>
              </a:rPr>
              <a:t>-e, -en, -el, -er</a:t>
            </a:r>
            <a:r>
              <a:rPr lang="en-US" sz="1200" dirty="0">
                <a:solidFill>
                  <a:schemeClr val="tx1"/>
                </a:solidFill>
              </a:rPr>
              <a:t> = « e » de </a:t>
            </a:r>
            <a:r>
              <a:rPr lang="en-US" sz="1200" i="1" dirty="0">
                <a:solidFill>
                  <a:schemeClr val="tx1"/>
                </a:solidFill>
              </a:rPr>
              <a:t>le</a:t>
            </a:r>
            <a:endParaRPr lang="en-US" sz="1200" dirty="0"/>
          </a:p>
          <a:p>
            <a:pPr algn="l" indent="0" marL="0">
              <a:spcAft>
                <a:spcPts val="700"/>
              </a:spcAft>
              <a:buNone/>
            </a:pPr>
            <a:r>
              <a:rPr lang="en-US" sz="1200" i="1" dirty="0">
                <a:solidFill>
                  <a:schemeClr val="tx1"/>
                </a:solidFill>
              </a:rPr>
              <a:t>-en</a:t>
            </a:r>
            <a:r>
              <a:rPr lang="en-US" sz="1200" dirty="0">
                <a:solidFill>
                  <a:schemeClr val="tx1"/>
                </a:solidFill>
              </a:rPr>
              <a:t> : </a:t>
            </a:r>
            <a:r>
              <a:rPr lang="en-US" sz="1200" i="1" dirty="0">
                <a:solidFill>
                  <a:schemeClr val="tx1"/>
                </a:solidFill>
              </a:rPr>
              <a:t>n</a:t>
            </a:r>
            <a:r>
              <a:rPr lang="en-US" sz="1200" dirty="0">
                <a:solidFill>
                  <a:schemeClr val="tx1"/>
                </a:solidFill>
              </a:rPr>
              <a:t> avalé (NL) ou prononcé (BE)</a:t>
            </a:r>
            <a:endParaRPr lang="en-US" sz="1200" dirty="0"/>
          </a:p>
          <a:p>
            <a:pPr algn="l" indent="0" marL="0">
              <a:spcAft>
                <a:spcPts val="700"/>
              </a:spcAft>
              <a:buNone/>
            </a:pPr>
            <a:r>
              <a:rPr lang="en-US" sz="1200" i="1" dirty="0">
                <a:solidFill>
                  <a:schemeClr val="tx1"/>
                </a:solidFill>
              </a:rPr>
              <a:t>-ig</a:t>
            </a:r>
            <a:r>
              <a:rPr lang="en-US" sz="1200" dirty="0">
                <a:solidFill>
                  <a:schemeClr val="tx1"/>
                </a:solidFill>
              </a:rPr>
              <a:t> « eugh » : </a:t>
            </a:r>
            <a:r>
              <a:rPr lang="en-US" sz="1200" i="1" dirty="0">
                <a:solidFill>
                  <a:schemeClr val="tx1"/>
                </a:solidFill>
              </a:rPr>
              <a:t>twin·tig</a:t>
            </a:r>
            <a:endParaRPr lang="en-US" sz="1200" dirty="0"/>
          </a:p>
          <a:p>
            <a:pPr algn="l" indent="0" marL="0">
              <a:spcAft>
                <a:spcPts val="700"/>
              </a:spcAft>
              <a:buNone/>
            </a:pPr>
            <a:r>
              <a:rPr lang="en-US" sz="1200" i="1" dirty="0">
                <a:solidFill>
                  <a:schemeClr val="tx1"/>
                </a:solidFill>
              </a:rPr>
              <a:t>-lijk</a:t>
            </a:r>
            <a:r>
              <a:rPr lang="en-US" sz="1200" dirty="0">
                <a:solidFill>
                  <a:schemeClr val="tx1"/>
                </a:solidFill>
              </a:rPr>
              <a:t> « leuk » : </a:t>
            </a:r>
            <a:r>
              <a:rPr lang="en-US" sz="1200" i="1" dirty="0">
                <a:solidFill>
                  <a:schemeClr val="tx1"/>
                </a:solidFill>
              </a:rPr>
              <a:t>vrien·de·lijk</a:t>
            </a:r>
            <a:endParaRPr lang="en-US" sz="1200" dirty="0"/>
          </a:p>
        </p:txBody>
      </p:sp>
      <p:sp>
        <p:nvSpPr>
          <p:cNvPr id="43" name="Shape 36"/>
          <p:cNvSpPr/>
          <p:nvPr/>
        </p:nvSpPr>
        <p:spPr>
          <a:xfrm>
            <a:off x="548640" y="4251960"/>
            <a:ext cx="4206240" cy="1234440"/>
          </a:xfrm>
          <a:prstGeom prst="roundRect">
            <a:avLst>
              <a:gd name="adj" fmla="val 7407"/>
            </a:avLst>
          </a:prstGeom>
          <a:solidFill>
            <a:srgbClr val="EAF1F8"/>
          </a:solidFill>
          <a:ln w="19050">
            <a:solidFill>
              <a:srgbClr val="2A6FB0"/>
            </a:solidFill>
            <a:prstDash val="solid"/>
          </a:ln>
        </p:spPr>
      </p:sp>
      <p:sp>
        <p:nvSpPr>
          <p:cNvPr id="44" name="Text 37"/>
          <p:cNvSpPr txBox="1"/>
          <p:nvPr/>
        </p:nvSpPr>
        <p:spPr>
          <a:xfrm>
            <a:off x="685800" y="4251960"/>
            <a:ext cx="3977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Un mot d’une syllabe lu seul</a:t>
            </a:r>
            <a:r>
              <a:rPr lang="en-US" sz="1400" dirty="0">
                <a:solidFill>
                  <a:schemeClr val="tx1"/>
                </a:solidFill>
              </a:rPr>
              <a:t> est accentué : je lis la voyelle → </a:t>
            </a:r>
            <a:r>
              <a:rPr lang="en-US" sz="1400" b="1" i="1" dirty="0">
                <a:solidFill>
                  <a:schemeClr val="accent4"/>
                </a:solidFill>
              </a:rPr>
              <a:t>kat</a:t>
            </a:r>
            <a:r>
              <a:rPr lang="en-US" sz="1400" dirty="0">
                <a:solidFill>
                  <a:schemeClr val="tx1"/>
                </a:solidFill>
              </a:rPr>
              <a:t> · </a:t>
            </a:r>
            <a:r>
              <a:rPr lang="en-US" sz="1400" b="1" i="1" dirty="0">
                <a:solidFill>
                  <a:schemeClr val="accent3"/>
                </a:solidFill>
              </a:rPr>
              <a:t>maan</a:t>
            </a:r>
            <a:r>
              <a:rPr lang="en-US" sz="1400" dirty="0">
                <a:solidFill>
                  <a:schemeClr val="tx1"/>
                </a:solidFill>
              </a:rPr>
              <a:t> · </a:t>
            </a:r>
            <a:r>
              <a:rPr lang="en-US" sz="1400" i="1" dirty="0">
                <a:solidFill>
                  <a:schemeClr val="tx1"/>
                </a:solidFill>
              </a:rPr>
              <a:t>huis</a:t>
            </a:r>
            <a:endParaRPr lang="en-US" sz="14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Mais </a:t>
            </a:r>
            <a:r>
              <a:rPr lang="en-US" sz="1400" i="1" dirty="0">
                <a:solidFill>
                  <a:schemeClr val="tx1"/>
                </a:solidFill>
              </a:rPr>
              <a:t>de, je, het, een</a:t>
            </a:r>
            <a:r>
              <a:rPr lang="en-US" sz="1400" dirty="0">
                <a:solidFill>
                  <a:schemeClr val="tx1"/>
                </a:solidFill>
              </a:rPr>
              <a:t> restent muets dans la phrase.</a:t>
            </a:r>
            <a:endParaRPr lang="en-US" sz="1400" dirty="0"/>
          </a:p>
        </p:txBody>
      </p:sp>
      <p:sp>
        <p:nvSpPr>
          <p:cNvPr id="45" name="Text 38"/>
          <p:cNvSpPr txBox="1"/>
          <p:nvPr/>
        </p:nvSpPr>
        <p:spPr>
          <a:xfrm>
            <a:off x="4983480" y="42519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verjaardag</a:t>
            </a:r>
            <a:endParaRPr lang="en-US" sz="1800" dirty="0"/>
          </a:p>
        </p:txBody>
      </p:sp>
      <p:sp>
        <p:nvSpPr>
          <p:cNvPr id="46" name="Text 39"/>
          <p:cNvSpPr txBox="1"/>
          <p:nvPr/>
        </p:nvSpPr>
        <p:spPr>
          <a:xfrm>
            <a:off x="4983480" y="47091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(l’anniversaire)</a:t>
            </a:r>
            <a:endParaRPr lang="en-US" sz="1200" dirty="0"/>
          </a:p>
        </p:txBody>
      </p:sp>
      <p:sp>
        <p:nvSpPr>
          <p:cNvPr id="47" name="Shape 40"/>
          <p:cNvSpPr/>
          <p:nvPr/>
        </p:nvSpPr>
        <p:spPr>
          <a:xfrm>
            <a:off x="6949440" y="4251960"/>
            <a:ext cx="1463040" cy="731520"/>
          </a:xfrm>
          <a:prstGeom prst="roundRect">
            <a:avLst>
              <a:gd name="adj" fmla="val 12500"/>
            </a:avLst>
          </a:prstGeom>
          <a:solidFill>
            <a:schemeClr val="accent5">
              <a:alpha val="15000"/>
            </a:schemeClr>
          </a:solidFill>
          <a:ln w="19050">
            <a:solidFill>
              <a:srgbClr val="4A5A70"/>
            </a:solidFill>
            <a:prstDash val="solid"/>
          </a:ln>
        </p:spPr>
      </p:sp>
      <p:sp>
        <p:nvSpPr>
          <p:cNvPr id="48" name="Text 41"/>
          <p:cNvSpPr txBox="1"/>
          <p:nvPr/>
        </p:nvSpPr>
        <p:spPr>
          <a:xfrm>
            <a:off x="6949440" y="425196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ver</a:t>
            </a:r>
            <a:endParaRPr lang="en-US" sz="2200" dirty="0"/>
          </a:p>
        </p:txBody>
      </p:sp>
      <p:sp>
        <p:nvSpPr>
          <p:cNvPr id="49" name="Text 42"/>
          <p:cNvSpPr txBox="1"/>
          <p:nvPr/>
        </p:nvSpPr>
        <p:spPr>
          <a:xfrm>
            <a:off x="6949440" y="50292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e muet</a:t>
            </a:r>
            <a:endParaRPr lang="en-US" sz="1200" dirty="0"/>
          </a:p>
        </p:txBody>
      </p:sp>
      <p:sp>
        <p:nvSpPr>
          <p:cNvPr id="50" name="Text 43"/>
          <p:cNvSpPr txBox="1"/>
          <p:nvPr/>
        </p:nvSpPr>
        <p:spPr>
          <a:xfrm>
            <a:off x="8394192" y="4251960"/>
            <a:ext cx="182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5"/>
                </a:solidFill>
              </a:rPr>
              <a:t>·</a:t>
            </a:r>
            <a:endParaRPr lang="en-US" sz="2200" dirty="0"/>
          </a:p>
        </p:txBody>
      </p:sp>
      <p:sp>
        <p:nvSpPr>
          <p:cNvPr id="51" name="Shape 44"/>
          <p:cNvSpPr/>
          <p:nvPr/>
        </p:nvSpPr>
        <p:spPr>
          <a:xfrm>
            <a:off x="8549640" y="4251960"/>
            <a:ext cx="1463040" cy="731520"/>
          </a:xfrm>
          <a:prstGeom prst="roundRect">
            <a:avLst>
              <a:gd name="adj" fmla="val 12500"/>
            </a:avLst>
          </a:prstGeom>
          <a:solidFill>
            <a:schemeClr val="accent1"/>
          </a:solidFill>
          <a:ln w="19050">
            <a:solidFill>
              <a:srgbClr val="D9700F"/>
            </a:solidFill>
            <a:prstDash val="solid"/>
          </a:ln>
        </p:spPr>
      </p:sp>
      <p:sp>
        <p:nvSpPr>
          <p:cNvPr id="52" name="Text 45"/>
          <p:cNvSpPr txBox="1"/>
          <p:nvPr/>
        </p:nvSpPr>
        <p:spPr>
          <a:xfrm>
            <a:off x="8549640" y="425196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jaar</a:t>
            </a:r>
            <a:endParaRPr lang="en-US" sz="2600" dirty="0"/>
          </a:p>
        </p:txBody>
      </p:sp>
      <p:sp>
        <p:nvSpPr>
          <p:cNvPr id="53" name="Text 46"/>
          <p:cNvSpPr txBox="1"/>
          <p:nvPr/>
        </p:nvSpPr>
        <p:spPr>
          <a:xfrm>
            <a:off x="8549640" y="50292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chemeClr val="accent1"/>
                </a:solidFill>
              </a:rPr>
              <a:t>long · accent</a:t>
            </a:r>
            <a:endParaRPr lang="en-US" sz="1200" dirty="0"/>
          </a:p>
        </p:txBody>
      </p:sp>
      <p:sp>
        <p:nvSpPr>
          <p:cNvPr id="54" name="Text 47"/>
          <p:cNvSpPr txBox="1"/>
          <p:nvPr/>
        </p:nvSpPr>
        <p:spPr>
          <a:xfrm>
            <a:off x="9994392" y="4251960"/>
            <a:ext cx="182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5"/>
                </a:solidFill>
              </a:rPr>
              <a:t>·</a:t>
            </a:r>
            <a:endParaRPr lang="en-US" sz="2200" dirty="0"/>
          </a:p>
        </p:txBody>
      </p:sp>
      <p:sp>
        <p:nvSpPr>
          <p:cNvPr id="55" name="Shape 48"/>
          <p:cNvSpPr/>
          <p:nvPr/>
        </p:nvSpPr>
        <p:spPr>
          <a:xfrm>
            <a:off x="10149840" y="4251960"/>
            <a:ext cx="1463040" cy="731520"/>
          </a:xfrm>
          <a:prstGeom prst="roundRect">
            <a:avLst>
              <a:gd name="adj" fmla="val 12500"/>
            </a:avLst>
          </a:prstGeom>
          <a:solidFill>
            <a:schemeClr val="accent4">
              <a:alpha val="15000"/>
            </a:schemeClr>
          </a:solidFill>
          <a:ln w="19050">
            <a:solidFill>
              <a:srgbClr val="B4236A"/>
            </a:solidFill>
            <a:prstDash val="solid"/>
          </a:ln>
        </p:spPr>
      </p:sp>
      <p:sp>
        <p:nvSpPr>
          <p:cNvPr id="56" name="Text 49"/>
          <p:cNvSpPr txBox="1"/>
          <p:nvPr/>
        </p:nvSpPr>
        <p:spPr>
          <a:xfrm>
            <a:off x="10149840" y="425196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dag</a:t>
            </a:r>
            <a:endParaRPr lang="en-US" sz="2200" dirty="0"/>
          </a:p>
        </p:txBody>
      </p:sp>
      <p:sp>
        <p:nvSpPr>
          <p:cNvPr id="57" name="Text 50"/>
          <p:cNvSpPr txBox="1"/>
          <p:nvPr/>
        </p:nvSpPr>
        <p:spPr>
          <a:xfrm>
            <a:off x="10149840" y="50292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chemeClr val="accent4"/>
                </a:solidFill>
              </a:rPr>
              <a:t>court</a:t>
            </a:r>
            <a:endParaRPr lang="en-US" sz="1200" dirty="0"/>
          </a:p>
        </p:txBody>
      </p:sp>
      <p:sp>
        <p:nvSpPr>
          <p:cNvPr id="58" name="Shape 51"/>
          <p:cNvSpPr/>
          <p:nvPr/>
        </p:nvSpPr>
        <p:spPr>
          <a:xfrm>
            <a:off x="548640" y="5623560"/>
            <a:ext cx="11091672" cy="621792"/>
          </a:xfrm>
          <a:prstGeom prst="roundRect">
            <a:avLst>
              <a:gd name="adj" fmla="val 11765"/>
            </a:avLst>
          </a:prstGeom>
          <a:solidFill>
            <a:schemeClr val="accent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9" name="Text 52"/>
          <p:cNvSpPr txBox="1"/>
          <p:nvPr/>
        </p:nvSpPr>
        <p:spPr>
          <a:xfrm>
            <a:off x="822960" y="5623560"/>
            <a:ext cx="10607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Mini-défi :</a:t>
            </a:r>
            <a:r>
              <a:rPr lang="en-US" sz="1800" dirty="0">
                <a:solidFill>
                  <a:schemeClr val="bg1"/>
                </a:solidFill>
              </a:rPr>
              <a:t> appliquez les 4 gestes à </a:t>
            </a:r>
            <a:r>
              <a:rPr lang="en-US" sz="1800" i="1" dirty="0">
                <a:solidFill>
                  <a:schemeClr val="bg1"/>
                </a:solidFill>
              </a:rPr>
              <a:t>betalen · gezellig · vriendelijk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L’escalier des syllabes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3065069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SÉANCE 4 · ② S’ENTRAÎNER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9747504" y="393192"/>
            <a:ext cx="1682496" cy="914"/>
          </a:xfrm>
          <a:prstGeom prst="line">
            <a:avLst/>
          </a:prstGeom>
          <a:noFill/>
          <a:ln w="25400">
            <a:solidFill>
              <a:srgbClr val="D5DCE6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9582912" y="228600"/>
            <a:ext cx="329184" cy="32918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A6FB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582912" y="2286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1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10003536" y="228600"/>
            <a:ext cx="329184" cy="32918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4236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0003536" y="2286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2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10424160" y="228600"/>
            <a:ext cx="329184" cy="32918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9700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0424160" y="2286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3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10844784" y="228600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0844784" y="2286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4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11265408" y="228600"/>
            <a:ext cx="329184" cy="32918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E4A9E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11265408" y="2286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E4A9E"/>
                </a:solidFill>
              </a:rPr>
              <a:t>5</a:t>
            </a:r>
            <a:endParaRPr lang="en-US" sz="1200" dirty="0"/>
          </a:p>
        </p:txBody>
      </p:sp>
      <p:pic>
        <p:nvPicPr>
          <p:cNvPr id="16" name="Image 0" descr="HandPointRigh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17904"/>
            <a:ext cx="274320" cy="27432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960120" y="1481328"/>
            <a:ext cx="10680192" cy="573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accent5"/>
                </a:solidFill>
              </a:rPr>
              <a:t>Frappez les syllabes dans les mains et notez leur nombre · tapez du pied sur la syllabe accentuée · montez l’escalier à voix haute, puis redescendez !</a:t>
            </a:r>
            <a:endParaRPr lang="en-US" sz="1700" dirty="0"/>
          </a:p>
        </p:txBody>
      </p:sp>
      <p:sp>
        <p:nvSpPr>
          <p:cNvPr id="18" name="Shape 14"/>
          <p:cNvSpPr/>
          <p:nvPr/>
        </p:nvSpPr>
        <p:spPr>
          <a:xfrm>
            <a:off x="548640" y="5422392"/>
            <a:ext cx="2162556" cy="640080"/>
          </a:xfrm>
          <a:prstGeom prst="roundRect">
            <a:avLst>
              <a:gd name="adj" fmla="val 8571"/>
            </a:avLst>
          </a:prstGeom>
          <a:solidFill>
            <a:schemeClr val="accent2">
              <a:alpha val="12000"/>
            </a:schemeClr>
          </a:solidFill>
          <a:ln w="15875">
            <a:solidFill>
              <a:srgbClr val="2A6FB0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640080" y="5422392"/>
            <a:ext cx="15956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tx1"/>
                </a:solidFill>
              </a:rPr>
              <a:t>taal</a:t>
            </a:r>
            <a:endParaRPr lang="en-US" sz="1700" dirty="0"/>
          </a:p>
        </p:txBody>
      </p:sp>
      <p:sp>
        <p:nvSpPr>
          <p:cNvPr id="20" name="Shape 16"/>
          <p:cNvSpPr/>
          <p:nvPr/>
        </p:nvSpPr>
        <p:spPr>
          <a:xfrm>
            <a:off x="2253996" y="5550408"/>
            <a:ext cx="384048" cy="38404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A6FB0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658368" y="4672584"/>
            <a:ext cx="2162556" cy="640080"/>
          </a:xfrm>
          <a:prstGeom prst="roundRect">
            <a:avLst>
              <a:gd name="adj" fmla="val 8571"/>
            </a:avLst>
          </a:prstGeom>
          <a:solidFill>
            <a:schemeClr val="accent2">
              <a:alpha val="18000"/>
            </a:schemeClr>
          </a:solidFill>
          <a:ln w="15875">
            <a:solidFill>
              <a:srgbClr val="2A6FB0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749808" y="4672584"/>
            <a:ext cx="15956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tx1"/>
                </a:solidFill>
              </a:rPr>
              <a:t>talen</a:t>
            </a:r>
            <a:endParaRPr lang="en-US" sz="1700" dirty="0"/>
          </a:p>
        </p:txBody>
      </p:sp>
      <p:sp>
        <p:nvSpPr>
          <p:cNvPr id="23" name="Shape 19"/>
          <p:cNvSpPr/>
          <p:nvPr/>
        </p:nvSpPr>
        <p:spPr>
          <a:xfrm>
            <a:off x="2363724" y="4800600"/>
            <a:ext cx="384048" cy="38404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A6FB0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768096" y="3922776"/>
            <a:ext cx="2162556" cy="640080"/>
          </a:xfrm>
          <a:prstGeom prst="roundRect">
            <a:avLst>
              <a:gd name="adj" fmla="val 8571"/>
            </a:avLst>
          </a:prstGeom>
          <a:solidFill>
            <a:schemeClr val="accent2">
              <a:alpha val="24000"/>
            </a:schemeClr>
          </a:solidFill>
          <a:ln w="15875">
            <a:solidFill>
              <a:srgbClr val="2A6FB0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859536" y="3922776"/>
            <a:ext cx="15956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tx1"/>
                </a:solidFill>
              </a:rPr>
              <a:t>vertalen</a:t>
            </a:r>
            <a:endParaRPr lang="en-US" sz="1700" dirty="0"/>
          </a:p>
        </p:txBody>
      </p:sp>
      <p:sp>
        <p:nvSpPr>
          <p:cNvPr id="26" name="Shape 22"/>
          <p:cNvSpPr/>
          <p:nvPr/>
        </p:nvSpPr>
        <p:spPr>
          <a:xfrm>
            <a:off x="2473452" y="4050792"/>
            <a:ext cx="384048" cy="38404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A6FB0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877824" y="3172968"/>
            <a:ext cx="2162556" cy="640080"/>
          </a:xfrm>
          <a:prstGeom prst="roundRect">
            <a:avLst>
              <a:gd name="adj" fmla="val 8571"/>
            </a:avLst>
          </a:prstGeom>
          <a:solidFill>
            <a:schemeClr val="accent2">
              <a:alpha val="30000"/>
            </a:schemeClr>
          </a:solidFill>
          <a:ln w="15875">
            <a:solidFill>
              <a:srgbClr val="2A6FB0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969264" y="3172968"/>
            <a:ext cx="15956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tx1"/>
                </a:solidFill>
              </a:rPr>
              <a:t>vertaling</a:t>
            </a:r>
            <a:endParaRPr lang="en-US" sz="1700" dirty="0"/>
          </a:p>
        </p:txBody>
      </p:sp>
      <p:sp>
        <p:nvSpPr>
          <p:cNvPr id="29" name="Shape 25"/>
          <p:cNvSpPr/>
          <p:nvPr/>
        </p:nvSpPr>
        <p:spPr>
          <a:xfrm>
            <a:off x="2583180" y="3300984"/>
            <a:ext cx="384048" cy="38404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A6FB0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987552" y="2423160"/>
            <a:ext cx="2162556" cy="640080"/>
          </a:xfrm>
          <a:prstGeom prst="roundRect">
            <a:avLst>
              <a:gd name="adj" fmla="val 8571"/>
            </a:avLst>
          </a:prstGeom>
          <a:solidFill>
            <a:schemeClr val="accent2">
              <a:alpha val="36000"/>
            </a:schemeClr>
          </a:solidFill>
          <a:ln w="15875">
            <a:solidFill>
              <a:srgbClr val="2A6FB0"/>
            </a:solidFill>
            <a:prstDash val="solid"/>
          </a:ln>
        </p:spPr>
      </p:sp>
      <p:sp>
        <p:nvSpPr>
          <p:cNvPr id="31" name="Text 27"/>
          <p:cNvSpPr txBox="1"/>
          <p:nvPr/>
        </p:nvSpPr>
        <p:spPr>
          <a:xfrm>
            <a:off x="1078992" y="2423160"/>
            <a:ext cx="15956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tx1"/>
                </a:solidFill>
              </a:rPr>
              <a:t>vertalingen</a:t>
            </a:r>
            <a:endParaRPr lang="en-US" sz="1700" dirty="0"/>
          </a:p>
        </p:txBody>
      </p:sp>
      <p:sp>
        <p:nvSpPr>
          <p:cNvPr id="32" name="Shape 28"/>
          <p:cNvSpPr/>
          <p:nvPr/>
        </p:nvSpPr>
        <p:spPr>
          <a:xfrm>
            <a:off x="2692908" y="2551176"/>
            <a:ext cx="384048" cy="38404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A6FB0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3378708" y="5422392"/>
            <a:ext cx="2162556" cy="640080"/>
          </a:xfrm>
          <a:prstGeom prst="roundRect">
            <a:avLst>
              <a:gd name="adj" fmla="val 8571"/>
            </a:avLst>
          </a:prstGeom>
          <a:solidFill>
            <a:schemeClr val="accent4">
              <a:alpha val="12000"/>
            </a:schemeClr>
          </a:solidFill>
          <a:ln w="15875">
            <a:solidFill>
              <a:srgbClr val="B4236A"/>
            </a:solidFill>
            <a:prstDash val="solid"/>
          </a:ln>
        </p:spPr>
      </p:sp>
      <p:sp>
        <p:nvSpPr>
          <p:cNvPr id="34" name="Text 30"/>
          <p:cNvSpPr txBox="1"/>
          <p:nvPr/>
        </p:nvSpPr>
        <p:spPr>
          <a:xfrm>
            <a:off x="3470148" y="5422392"/>
            <a:ext cx="15956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tx1"/>
                </a:solidFill>
              </a:rPr>
              <a:t>naam</a:t>
            </a:r>
            <a:endParaRPr lang="en-US" sz="1700" dirty="0"/>
          </a:p>
        </p:txBody>
      </p:sp>
      <p:sp>
        <p:nvSpPr>
          <p:cNvPr id="35" name="Shape 31"/>
          <p:cNvSpPr/>
          <p:nvPr/>
        </p:nvSpPr>
        <p:spPr>
          <a:xfrm>
            <a:off x="5084064" y="5550408"/>
            <a:ext cx="384048" cy="38404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B4236A"/>
            </a:solidFill>
            <a:prstDash val="solid"/>
          </a:ln>
        </p:spPr>
      </p:sp>
      <p:sp>
        <p:nvSpPr>
          <p:cNvPr id="36" name="Shape 32"/>
          <p:cNvSpPr/>
          <p:nvPr/>
        </p:nvSpPr>
        <p:spPr>
          <a:xfrm>
            <a:off x="3488436" y="4672584"/>
            <a:ext cx="2162556" cy="640080"/>
          </a:xfrm>
          <a:prstGeom prst="roundRect">
            <a:avLst>
              <a:gd name="adj" fmla="val 8571"/>
            </a:avLst>
          </a:prstGeom>
          <a:solidFill>
            <a:schemeClr val="accent4">
              <a:alpha val="18000"/>
            </a:schemeClr>
          </a:solidFill>
          <a:ln w="15875">
            <a:solidFill>
              <a:srgbClr val="B4236A"/>
            </a:solidFill>
            <a:prstDash val="solid"/>
          </a:ln>
        </p:spPr>
      </p:sp>
      <p:sp>
        <p:nvSpPr>
          <p:cNvPr id="37" name="Text 33"/>
          <p:cNvSpPr txBox="1"/>
          <p:nvPr/>
        </p:nvSpPr>
        <p:spPr>
          <a:xfrm>
            <a:off x="3579876" y="4672584"/>
            <a:ext cx="15956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tx1"/>
                </a:solidFill>
              </a:rPr>
              <a:t>namen</a:t>
            </a:r>
            <a:endParaRPr lang="en-US" sz="1700" dirty="0"/>
          </a:p>
        </p:txBody>
      </p:sp>
      <p:sp>
        <p:nvSpPr>
          <p:cNvPr id="38" name="Shape 34"/>
          <p:cNvSpPr/>
          <p:nvPr/>
        </p:nvSpPr>
        <p:spPr>
          <a:xfrm>
            <a:off x="5193792" y="4800600"/>
            <a:ext cx="384048" cy="38404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B4236A"/>
            </a:solidFill>
            <a:prstDash val="solid"/>
          </a:ln>
        </p:spPr>
      </p:sp>
      <p:sp>
        <p:nvSpPr>
          <p:cNvPr id="39" name="Shape 35"/>
          <p:cNvSpPr/>
          <p:nvPr/>
        </p:nvSpPr>
        <p:spPr>
          <a:xfrm>
            <a:off x="3598164" y="3922776"/>
            <a:ext cx="2162556" cy="640080"/>
          </a:xfrm>
          <a:prstGeom prst="roundRect">
            <a:avLst>
              <a:gd name="adj" fmla="val 8571"/>
            </a:avLst>
          </a:prstGeom>
          <a:solidFill>
            <a:schemeClr val="accent4">
              <a:alpha val="24000"/>
            </a:schemeClr>
          </a:solidFill>
          <a:ln w="15875">
            <a:solidFill>
              <a:srgbClr val="B4236A"/>
            </a:solidFill>
            <a:prstDash val="solid"/>
          </a:ln>
        </p:spPr>
      </p:sp>
      <p:sp>
        <p:nvSpPr>
          <p:cNvPr id="40" name="Text 36"/>
          <p:cNvSpPr txBox="1"/>
          <p:nvPr/>
        </p:nvSpPr>
        <p:spPr>
          <a:xfrm>
            <a:off x="3689604" y="3922776"/>
            <a:ext cx="15956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tx1"/>
                </a:solidFill>
              </a:rPr>
              <a:t>voornaam</a:t>
            </a:r>
            <a:endParaRPr lang="en-US" sz="1700" dirty="0"/>
          </a:p>
        </p:txBody>
      </p:sp>
      <p:sp>
        <p:nvSpPr>
          <p:cNvPr id="41" name="Shape 37"/>
          <p:cNvSpPr/>
          <p:nvPr/>
        </p:nvSpPr>
        <p:spPr>
          <a:xfrm>
            <a:off x="5303520" y="4050792"/>
            <a:ext cx="384048" cy="38404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B4236A"/>
            </a:solidFill>
            <a:prstDash val="solid"/>
          </a:ln>
        </p:spPr>
      </p:sp>
      <p:sp>
        <p:nvSpPr>
          <p:cNvPr id="42" name="Shape 38"/>
          <p:cNvSpPr/>
          <p:nvPr/>
        </p:nvSpPr>
        <p:spPr>
          <a:xfrm>
            <a:off x="3707892" y="3172968"/>
            <a:ext cx="2162556" cy="640080"/>
          </a:xfrm>
          <a:prstGeom prst="roundRect">
            <a:avLst>
              <a:gd name="adj" fmla="val 8571"/>
            </a:avLst>
          </a:prstGeom>
          <a:solidFill>
            <a:schemeClr val="accent4">
              <a:alpha val="30000"/>
            </a:schemeClr>
          </a:solidFill>
          <a:ln w="15875">
            <a:solidFill>
              <a:srgbClr val="B4236A"/>
            </a:solidFill>
            <a:prstDash val="solid"/>
          </a:ln>
        </p:spPr>
      </p:sp>
      <p:sp>
        <p:nvSpPr>
          <p:cNvPr id="43" name="Text 39"/>
          <p:cNvSpPr txBox="1"/>
          <p:nvPr/>
        </p:nvSpPr>
        <p:spPr>
          <a:xfrm>
            <a:off x="3799332" y="3172968"/>
            <a:ext cx="15956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tx1"/>
                </a:solidFill>
              </a:rPr>
              <a:t>achternaam</a:t>
            </a:r>
            <a:endParaRPr lang="en-US" sz="1700" dirty="0"/>
          </a:p>
        </p:txBody>
      </p:sp>
      <p:sp>
        <p:nvSpPr>
          <p:cNvPr id="44" name="Shape 40"/>
          <p:cNvSpPr/>
          <p:nvPr/>
        </p:nvSpPr>
        <p:spPr>
          <a:xfrm>
            <a:off x="5413248" y="3300984"/>
            <a:ext cx="384048" cy="38404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B4236A"/>
            </a:solidFill>
            <a:prstDash val="solid"/>
          </a:ln>
        </p:spPr>
      </p:sp>
      <p:sp>
        <p:nvSpPr>
          <p:cNvPr id="45" name="Shape 41"/>
          <p:cNvSpPr/>
          <p:nvPr/>
        </p:nvSpPr>
        <p:spPr>
          <a:xfrm>
            <a:off x="3817620" y="2423160"/>
            <a:ext cx="2162556" cy="640080"/>
          </a:xfrm>
          <a:prstGeom prst="roundRect">
            <a:avLst>
              <a:gd name="adj" fmla="val 8571"/>
            </a:avLst>
          </a:prstGeom>
          <a:solidFill>
            <a:schemeClr val="accent4">
              <a:alpha val="36000"/>
            </a:schemeClr>
          </a:solidFill>
          <a:ln w="15875">
            <a:solidFill>
              <a:srgbClr val="B4236A"/>
            </a:solidFill>
            <a:prstDash val="solid"/>
          </a:ln>
        </p:spPr>
      </p:sp>
      <p:sp>
        <p:nvSpPr>
          <p:cNvPr id="46" name="Text 42"/>
          <p:cNvSpPr txBox="1"/>
          <p:nvPr/>
        </p:nvSpPr>
        <p:spPr>
          <a:xfrm>
            <a:off x="3909060" y="2423160"/>
            <a:ext cx="15956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tx1"/>
                </a:solidFill>
              </a:rPr>
              <a:t>achternamen</a:t>
            </a:r>
            <a:endParaRPr lang="en-US" sz="1700" dirty="0"/>
          </a:p>
        </p:txBody>
      </p:sp>
      <p:sp>
        <p:nvSpPr>
          <p:cNvPr id="47" name="Shape 43"/>
          <p:cNvSpPr/>
          <p:nvPr/>
        </p:nvSpPr>
        <p:spPr>
          <a:xfrm>
            <a:off x="5522976" y="2551176"/>
            <a:ext cx="384048" cy="38404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B4236A"/>
            </a:solidFill>
            <a:prstDash val="solid"/>
          </a:ln>
        </p:spPr>
      </p:sp>
      <p:sp>
        <p:nvSpPr>
          <p:cNvPr id="48" name="Shape 44"/>
          <p:cNvSpPr/>
          <p:nvPr/>
        </p:nvSpPr>
        <p:spPr>
          <a:xfrm>
            <a:off x="6208776" y="5422392"/>
            <a:ext cx="2162556" cy="640080"/>
          </a:xfrm>
          <a:prstGeom prst="roundRect">
            <a:avLst>
              <a:gd name="adj" fmla="val 8571"/>
            </a:avLst>
          </a:prstGeom>
          <a:solidFill>
            <a:schemeClr val="accent1">
              <a:alpha val="12000"/>
            </a:schemeClr>
          </a:solidFill>
          <a:ln w="15875">
            <a:solidFill>
              <a:srgbClr val="D9700F"/>
            </a:solidFill>
            <a:prstDash val="solid"/>
          </a:ln>
        </p:spPr>
      </p:sp>
      <p:sp>
        <p:nvSpPr>
          <p:cNvPr id="49" name="Text 45"/>
          <p:cNvSpPr txBox="1"/>
          <p:nvPr/>
        </p:nvSpPr>
        <p:spPr>
          <a:xfrm>
            <a:off x="6300216" y="5422392"/>
            <a:ext cx="15956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tx1"/>
                </a:solidFill>
              </a:rPr>
              <a:t>werk</a:t>
            </a:r>
            <a:endParaRPr lang="en-US" sz="1700" dirty="0"/>
          </a:p>
        </p:txBody>
      </p:sp>
      <p:sp>
        <p:nvSpPr>
          <p:cNvPr id="50" name="Shape 46"/>
          <p:cNvSpPr/>
          <p:nvPr/>
        </p:nvSpPr>
        <p:spPr>
          <a:xfrm>
            <a:off x="7914132" y="5550408"/>
            <a:ext cx="384048" cy="38404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D9700F"/>
            </a:solidFill>
            <a:prstDash val="solid"/>
          </a:ln>
        </p:spPr>
      </p:sp>
      <p:sp>
        <p:nvSpPr>
          <p:cNvPr id="51" name="Shape 47"/>
          <p:cNvSpPr/>
          <p:nvPr/>
        </p:nvSpPr>
        <p:spPr>
          <a:xfrm>
            <a:off x="6318504" y="4672584"/>
            <a:ext cx="2162556" cy="640080"/>
          </a:xfrm>
          <a:prstGeom prst="roundRect">
            <a:avLst>
              <a:gd name="adj" fmla="val 8571"/>
            </a:avLst>
          </a:prstGeom>
          <a:solidFill>
            <a:schemeClr val="accent1">
              <a:alpha val="18000"/>
            </a:schemeClr>
          </a:solidFill>
          <a:ln w="15875">
            <a:solidFill>
              <a:srgbClr val="D9700F"/>
            </a:solidFill>
            <a:prstDash val="solid"/>
          </a:ln>
        </p:spPr>
      </p:sp>
      <p:sp>
        <p:nvSpPr>
          <p:cNvPr id="52" name="Text 48"/>
          <p:cNvSpPr txBox="1"/>
          <p:nvPr/>
        </p:nvSpPr>
        <p:spPr>
          <a:xfrm>
            <a:off x="6409944" y="4672584"/>
            <a:ext cx="15956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tx1"/>
                </a:solidFill>
              </a:rPr>
              <a:t>werken</a:t>
            </a:r>
            <a:endParaRPr lang="en-US" sz="1700" dirty="0"/>
          </a:p>
        </p:txBody>
      </p:sp>
      <p:sp>
        <p:nvSpPr>
          <p:cNvPr id="53" name="Shape 49"/>
          <p:cNvSpPr/>
          <p:nvPr/>
        </p:nvSpPr>
        <p:spPr>
          <a:xfrm>
            <a:off x="8023860" y="4800600"/>
            <a:ext cx="384048" cy="38404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D9700F"/>
            </a:solidFill>
            <a:prstDash val="solid"/>
          </a:ln>
        </p:spPr>
      </p:sp>
      <p:sp>
        <p:nvSpPr>
          <p:cNvPr id="54" name="Shape 50"/>
          <p:cNvSpPr/>
          <p:nvPr/>
        </p:nvSpPr>
        <p:spPr>
          <a:xfrm>
            <a:off x="6428232" y="3922776"/>
            <a:ext cx="2162556" cy="640080"/>
          </a:xfrm>
          <a:prstGeom prst="roundRect">
            <a:avLst>
              <a:gd name="adj" fmla="val 8571"/>
            </a:avLst>
          </a:prstGeom>
          <a:solidFill>
            <a:schemeClr val="accent1">
              <a:alpha val="24000"/>
            </a:schemeClr>
          </a:solidFill>
          <a:ln w="15875">
            <a:solidFill>
              <a:srgbClr val="D9700F"/>
            </a:solidFill>
            <a:prstDash val="solid"/>
          </a:ln>
        </p:spPr>
      </p:sp>
      <p:sp>
        <p:nvSpPr>
          <p:cNvPr id="55" name="Text 51"/>
          <p:cNvSpPr txBox="1"/>
          <p:nvPr/>
        </p:nvSpPr>
        <p:spPr>
          <a:xfrm>
            <a:off x="6519672" y="3922776"/>
            <a:ext cx="15956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tx1"/>
                </a:solidFill>
              </a:rPr>
              <a:t>gewerkt</a:t>
            </a:r>
            <a:endParaRPr lang="en-US" sz="1700" dirty="0"/>
          </a:p>
        </p:txBody>
      </p:sp>
      <p:sp>
        <p:nvSpPr>
          <p:cNvPr id="56" name="Shape 52"/>
          <p:cNvSpPr/>
          <p:nvPr/>
        </p:nvSpPr>
        <p:spPr>
          <a:xfrm>
            <a:off x="8133588" y="4050792"/>
            <a:ext cx="384048" cy="38404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D9700F"/>
            </a:solidFill>
            <a:prstDash val="solid"/>
          </a:ln>
        </p:spPr>
      </p:sp>
      <p:sp>
        <p:nvSpPr>
          <p:cNvPr id="57" name="Shape 53"/>
          <p:cNvSpPr/>
          <p:nvPr/>
        </p:nvSpPr>
        <p:spPr>
          <a:xfrm>
            <a:off x="6537960" y="3172968"/>
            <a:ext cx="2162556" cy="640080"/>
          </a:xfrm>
          <a:prstGeom prst="roundRect">
            <a:avLst>
              <a:gd name="adj" fmla="val 8571"/>
            </a:avLst>
          </a:prstGeom>
          <a:solidFill>
            <a:schemeClr val="accent1">
              <a:alpha val="30000"/>
            </a:schemeClr>
          </a:solidFill>
          <a:ln w="15875">
            <a:solidFill>
              <a:srgbClr val="D9700F"/>
            </a:solidFill>
            <a:prstDash val="solid"/>
          </a:ln>
        </p:spPr>
      </p:sp>
      <p:sp>
        <p:nvSpPr>
          <p:cNvPr id="58" name="Text 54"/>
          <p:cNvSpPr txBox="1"/>
          <p:nvPr/>
        </p:nvSpPr>
        <p:spPr>
          <a:xfrm>
            <a:off x="6629400" y="3172968"/>
            <a:ext cx="15956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tx1"/>
                </a:solidFill>
              </a:rPr>
              <a:t>medewerker</a:t>
            </a:r>
            <a:endParaRPr lang="en-US" sz="1700" dirty="0"/>
          </a:p>
        </p:txBody>
      </p:sp>
      <p:sp>
        <p:nvSpPr>
          <p:cNvPr id="59" name="Shape 55"/>
          <p:cNvSpPr/>
          <p:nvPr/>
        </p:nvSpPr>
        <p:spPr>
          <a:xfrm>
            <a:off x="8243316" y="3300984"/>
            <a:ext cx="384048" cy="38404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D9700F"/>
            </a:solidFill>
            <a:prstDash val="solid"/>
          </a:ln>
        </p:spPr>
      </p:sp>
      <p:sp>
        <p:nvSpPr>
          <p:cNvPr id="60" name="Shape 56"/>
          <p:cNvSpPr/>
          <p:nvPr/>
        </p:nvSpPr>
        <p:spPr>
          <a:xfrm>
            <a:off x="6647688" y="2423160"/>
            <a:ext cx="2162556" cy="640080"/>
          </a:xfrm>
          <a:prstGeom prst="roundRect">
            <a:avLst>
              <a:gd name="adj" fmla="val 8571"/>
            </a:avLst>
          </a:prstGeom>
          <a:solidFill>
            <a:schemeClr val="accent1">
              <a:alpha val="36000"/>
            </a:schemeClr>
          </a:solidFill>
          <a:ln w="15875">
            <a:solidFill>
              <a:srgbClr val="D9700F"/>
            </a:solidFill>
            <a:prstDash val="solid"/>
          </a:ln>
        </p:spPr>
      </p:sp>
      <p:sp>
        <p:nvSpPr>
          <p:cNvPr id="61" name="Text 57"/>
          <p:cNvSpPr txBox="1"/>
          <p:nvPr/>
        </p:nvSpPr>
        <p:spPr>
          <a:xfrm>
            <a:off x="6739128" y="2423160"/>
            <a:ext cx="15956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tx1"/>
                </a:solidFill>
              </a:rPr>
              <a:t>medewerkers</a:t>
            </a:r>
            <a:endParaRPr lang="en-US" sz="1700" dirty="0"/>
          </a:p>
        </p:txBody>
      </p:sp>
      <p:sp>
        <p:nvSpPr>
          <p:cNvPr id="62" name="Shape 58"/>
          <p:cNvSpPr/>
          <p:nvPr/>
        </p:nvSpPr>
        <p:spPr>
          <a:xfrm>
            <a:off x="8353044" y="2551176"/>
            <a:ext cx="384048" cy="38404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D9700F"/>
            </a:solidFill>
            <a:prstDash val="solid"/>
          </a:ln>
        </p:spPr>
      </p:sp>
      <p:sp>
        <p:nvSpPr>
          <p:cNvPr id="63" name="Shape 59"/>
          <p:cNvSpPr/>
          <p:nvPr/>
        </p:nvSpPr>
        <p:spPr>
          <a:xfrm>
            <a:off x="9038844" y="5422392"/>
            <a:ext cx="2162556" cy="640080"/>
          </a:xfrm>
          <a:prstGeom prst="roundRect">
            <a:avLst>
              <a:gd name="adj" fmla="val 8571"/>
            </a:avLst>
          </a:prstGeom>
          <a:solidFill>
            <a:srgbClr val="6E4A9E">
              <a:alpha val="12000"/>
            </a:srgbClr>
          </a:solidFill>
          <a:ln w="15875">
            <a:solidFill>
              <a:srgbClr val="6E4A9E"/>
            </a:solidFill>
            <a:prstDash val="solid"/>
          </a:ln>
        </p:spPr>
      </p:sp>
      <p:sp>
        <p:nvSpPr>
          <p:cNvPr id="64" name="Text 60"/>
          <p:cNvSpPr txBox="1"/>
          <p:nvPr/>
        </p:nvSpPr>
        <p:spPr>
          <a:xfrm>
            <a:off x="9130284" y="5422392"/>
            <a:ext cx="15956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tx1"/>
                </a:solidFill>
              </a:rPr>
              <a:t>huis</a:t>
            </a:r>
            <a:endParaRPr lang="en-US" sz="1700" dirty="0"/>
          </a:p>
        </p:txBody>
      </p:sp>
      <p:sp>
        <p:nvSpPr>
          <p:cNvPr id="65" name="Shape 61"/>
          <p:cNvSpPr/>
          <p:nvPr/>
        </p:nvSpPr>
        <p:spPr>
          <a:xfrm>
            <a:off x="10744200" y="5550408"/>
            <a:ext cx="384048" cy="38404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6E4A9E"/>
            </a:solidFill>
            <a:prstDash val="solid"/>
          </a:ln>
        </p:spPr>
      </p:sp>
      <p:sp>
        <p:nvSpPr>
          <p:cNvPr id="66" name="Shape 62"/>
          <p:cNvSpPr/>
          <p:nvPr/>
        </p:nvSpPr>
        <p:spPr>
          <a:xfrm>
            <a:off x="9148572" y="4672584"/>
            <a:ext cx="2162556" cy="640080"/>
          </a:xfrm>
          <a:prstGeom prst="roundRect">
            <a:avLst>
              <a:gd name="adj" fmla="val 8571"/>
            </a:avLst>
          </a:prstGeom>
          <a:solidFill>
            <a:srgbClr val="6E4A9E">
              <a:alpha val="18000"/>
            </a:srgbClr>
          </a:solidFill>
          <a:ln w="15875">
            <a:solidFill>
              <a:srgbClr val="6E4A9E"/>
            </a:solidFill>
            <a:prstDash val="solid"/>
          </a:ln>
        </p:spPr>
      </p:sp>
      <p:sp>
        <p:nvSpPr>
          <p:cNvPr id="67" name="Text 63"/>
          <p:cNvSpPr txBox="1"/>
          <p:nvPr/>
        </p:nvSpPr>
        <p:spPr>
          <a:xfrm>
            <a:off x="9240012" y="4672584"/>
            <a:ext cx="15956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tx1"/>
                </a:solidFill>
              </a:rPr>
              <a:t>huizen</a:t>
            </a:r>
            <a:endParaRPr lang="en-US" sz="1700" dirty="0"/>
          </a:p>
        </p:txBody>
      </p:sp>
      <p:sp>
        <p:nvSpPr>
          <p:cNvPr id="68" name="Shape 64"/>
          <p:cNvSpPr/>
          <p:nvPr/>
        </p:nvSpPr>
        <p:spPr>
          <a:xfrm>
            <a:off x="10853928" y="4800600"/>
            <a:ext cx="384048" cy="38404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6E4A9E"/>
            </a:solidFill>
            <a:prstDash val="solid"/>
          </a:ln>
        </p:spPr>
      </p:sp>
      <p:sp>
        <p:nvSpPr>
          <p:cNvPr id="69" name="Shape 65"/>
          <p:cNvSpPr/>
          <p:nvPr/>
        </p:nvSpPr>
        <p:spPr>
          <a:xfrm>
            <a:off x="9258300" y="3922776"/>
            <a:ext cx="2162556" cy="640080"/>
          </a:xfrm>
          <a:prstGeom prst="roundRect">
            <a:avLst>
              <a:gd name="adj" fmla="val 8571"/>
            </a:avLst>
          </a:prstGeom>
          <a:solidFill>
            <a:srgbClr val="6E4A9E">
              <a:alpha val="24000"/>
            </a:srgbClr>
          </a:solidFill>
          <a:ln w="15875">
            <a:solidFill>
              <a:srgbClr val="6E4A9E"/>
            </a:solidFill>
            <a:prstDash val="solid"/>
          </a:ln>
        </p:spPr>
      </p:sp>
      <p:sp>
        <p:nvSpPr>
          <p:cNvPr id="70" name="Text 66"/>
          <p:cNvSpPr txBox="1"/>
          <p:nvPr/>
        </p:nvSpPr>
        <p:spPr>
          <a:xfrm>
            <a:off x="9349740" y="3922776"/>
            <a:ext cx="15956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tx1"/>
                </a:solidFill>
              </a:rPr>
              <a:t>huisje</a:t>
            </a:r>
            <a:endParaRPr lang="en-US" sz="1700" dirty="0"/>
          </a:p>
        </p:txBody>
      </p:sp>
      <p:sp>
        <p:nvSpPr>
          <p:cNvPr id="71" name="Shape 67"/>
          <p:cNvSpPr/>
          <p:nvPr/>
        </p:nvSpPr>
        <p:spPr>
          <a:xfrm>
            <a:off x="10963656" y="4050792"/>
            <a:ext cx="384048" cy="38404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6E4A9E"/>
            </a:solidFill>
            <a:prstDash val="solid"/>
          </a:ln>
        </p:spPr>
      </p:sp>
      <p:sp>
        <p:nvSpPr>
          <p:cNvPr id="72" name="Shape 68"/>
          <p:cNvSpPr/>
          <p:nvPr/>
        </p:nvSpPr>
        <p:spPr>
          <a:xfrm>
            <a:off x="9368028" y="3172968"/>
            <a:ext cx="2162556" cy="640080"/>
          </a:xfrm>
          <a:prstGeom prst="roundRect">
            <a:avLst>
              <a:gd name="adj" fmla="val 8571"/>
            </a:avLst>
          </a:prstGeom>
          <a:solidFill>
            <a:srgbClr val="6E4A9E">
              <a:alpha val="30000"/>
            </a:srgbClr>
          </a:solidFill>
          <a:ln w="15875">
            <a:solidFill>
              <a:srgbClr val="6E4A9E"/>
            </a:solidFill>
            <a:prstDash val="solid"/>
          </a:ln>
        </p:spPr>
      </p:sp>
      <p:sp>
        <p:nvSpPr>
          <p:cNvPr id="73" name="Text 69"/>
          <p:cNvSpPr txBox="1"/>
          <p:nvPr/>
        </p:nvSpPr>
        <p:spPr>
          <a:xfrm>
            <a:off x="9459468" y="3172968"/>
            <a:ext cx="15956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tx1"/>
                </a:solidFill>
              </a:rPr>
              <a:t>ziekenhuis</a:t>
            </a:r>
            <a:endParaRPr lang="en-US" sz="1700" dirty="0"/>
          </a:p>
        </p:txBody>
      </p:sp>
      <p:sp>
        <p:nvSpPr>
          <p:cNvPr id="74" name="Shape 70"/>
          <p:cNvSpPr/>
          <p:nvPr/>
        </p:nvSpPr>
        <p:spPr>
          <a:xfrm>
            <a:off x="11073384" y="3300984"/>
            <a:ext cx="384048" cy="38404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6E4A9E"/>
            </a:solidFill>
            <a:prstDash val="solid"/>
          </a:ln>
        </p:spPr>
      </p:sp>
      <p:sp>
        <p:nvSpPr>
          <p:cNvPr id="75" name="Shape 71"/>
          <p:cNvSpPr/>
          <p:nvPr/>
        </p:nvSpPr>
        <p:spPr>
          <a:xfrm>
            <a:off x="9477756" y="2423160"/>
            <a:ext cx="2162556" cy="640080"/>
          </a:xfrm>
          <a:prstGeom prst="roundRect">
            <a:avLst>
              <a:gd name="adj" fmla="val 8571"/>
            </a:avLst>
          </a:prstGeom>
          <a:solidFill>
            <a:srgbClr val="6E4A9E">
              <a:alpha val="36000"/>
            </a:srgbClr>
          </a:solidFill>
          <a:ln w="15875">
            <a:solidFill>
              <a:srgbClr val="6E4A9E"/>
            </a:solidFill>
            <a:prstDash val="solid"/>
          </a:ln>
        </p:spPr>
      </p:sp>
      <p:sp>
        <p:nvSpPr>
          <p:cNvPr id="76" name="Text 72"/>
          <p:cNvSpPr txBox="1"/>
          <p:nvPr/>
        </p:nvSpPr>
        <p:spPr>
          <a:xfrm>
            <a:off x="9569196" y="2423160"/>
            <a:ext cx="15956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tx1"/>
                </a:solidFill>
              </a:rPr>
              <a:t>ziekenhuizen</a:t>
            </a:r>
            <a:endParaRPr lang="en-US" sz="1700" dirty="0"/>
          </a:p>
        </p:txBody>
      </p:sp>
      <p:sp>
        <p:nvSpPr>
          <p:cNvPr id="77" name="Shape 73"/>
          <p:cNvSpPr/>
          <p:nvPr/>
        </p:nvSpPr>
        <p:spPr>
          <a:xfrm>
            <a:off x="11183112" y="2551176"/>
            <a:ext cx="384048" cy="38404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6E4A9E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Le défi des mots-monstres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2417674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SÉANCE 4 · ③ JOUER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9747504" y="393192"/>
            <a:ext cx="1682496" cy="914"/>
          </a:xfrm>
          <a:prstGeom prst="line">
            <a:avLst/>
          </a:prstGeom>
          <a:noFill/>
          <a:ln w="25400">
            <a:solidFill>
              <a:srgbClr val="D5DCE6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9582912" y="228600"/>
            <a:ext cx="329184" cy="32918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A6FB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582912" y="2286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1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10003536" y="228600"/>
            <a:ext cx="329184" cy="32918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4236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0003536" y="2286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2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10424160" y="228600"/>
            <a:ext cx="329184" cy="32918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9700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0424160" y="2286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3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10844784" y="228600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0844784" y="2286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4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11265408" y="228600"/>
            <a:ext cx="329184" cy="32918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E4A9E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11265408" y="2286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E4A9E"/>
                </a:solidFill>
              </a:rPr>
              <a:t>5</a:t>
            </a:r>
            <a:endParaRPr lang="en-US" sz="1200" dirty="0"/>
          </a:p>
        </p:txBody>
      </p:sp>
      <p:pic>
        <p:nvPicPr>
          <p:cNvPr id="16" name="Image 0" descr="HandPointRigh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17904"/>
            <a:ext cx="274320" cy="27432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960120" y="1481328"/>
            <a:ext cx="10680192" cy="31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accent5"/>
                </a:solidFill>
              </a:rPr>
              <a:t>Choisissez une carte : 5 secondes pour couper, porte, accent… puis lisez d’une traite !</a:t>
            </a:r>
            <a:endParaRPr lang="en-US" sz="1700" dirty="0"/>
          </a:p>
        </p:txBody>
      </p:sp>
      <p:sp>
        <p:nvSpPr>
          <p:cNvPr id="18" name="Shape 14"/>
          <p:cNvSpPr/>
          <p:nvPr/>
        </p:nvSpPr>
        <p:spPr>
          <a:xfrm>
            <a:off x="548640" y="1959864"/>
            <a:ext cx="1874520" cy="1170432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9050">
            <a:solidFill>
              <a:srgbClr val="2E7D4F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pic>
        <p:nvPicPr>
          <p:cNvPr id="19" name="Image 1" descr="ghos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033016"/>
            <a:ext cx="457200" cy="457200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1673352" y="2069592"/>
            <a:ext cx="640080" cy="329184"/>
          </a:xfrm>
          <a:prstGeom prst="roundRect">
            <a:avLst>
              <a:gd name="adj" fmla="val 50000"/>
            </a:avLst>
          </a:prstGeom>
          <a:solidFill>
            <a:schemeClr val="accent3">
              <a:alpha val="20000"/>
            </a:scheme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1673352" y="2069592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3"/>
                </a:solidFill>
              </a:rPr>
              <a:t>? pts</a:t>
            </a:r>
            <a:endParaRPr lang="en-US" sz="1000" dirty="0"/>
          </a:p>
        </p:txBody>
      </p:sp>
      <p:sp>
        <p:nvSpPr>
          <p:cNvPr id="22" name="Text 17"/>
          <p:cNvSpPr txBox="1"/>
          <p:nvPr/>
        </p:nvSpPr>
        <p:spPr>
          <a:xfrm>
            <a:off x="621792" y="2508504"/>
            <a:ext cx="17282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i="1" dirty="0">
                <a:solidFill>
                  <a:schemeClr val="tx1"/>
                </a:solidFill>
              </a:rPr>
              <a:t>moeilijk</a:t>
            </a:r>
            <a:endParaRPr lang="en-US" sz="1700" dirty="0"/>
          </a:p>
        </p:txBody>
      </p:sp>
      <p:sp>
        <p:nvSpPr>
          <p:cNvPr id="23" name="Shape 18"/>
          <p:cNvSpPr/>
          <p:nvPr/>
        </p:nvSpPr>
        <p:spPr>
          <a:xfrm>
            <a:off x="2560320" y="1959864"/>
            <a:ext cx="1874520" cy="1170432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9050">
            <a:solidFill>
              <a:srgbClr val="2E7D4F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pic>
        <p:nvPicPr>
          <p:cNvPr id="24" name="Image 2" descr="octopu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1760" y="2033016"/>
            <a:ext cx="457200" cy="457200"/>
          </a:xfrm>
          <a:prstGeom prst="rect">
            <a:avLst/>
          </a:prstGeom>
        </p:spPr>
      </p:pic>
      <p:sp>
        <p:nvSpPr>
          <p:cNvPr id="25" name="Shape 19"/>
          <p:cNvSpPr/>
          <p:nvPr/>
        </p:nvSpPr>
        <p:spPr>
          <a:xfrm>
            <a:off x="3685032" y="2069592"/>
            <a:ext cx="640080" cy="329184"/>
          </a:xfrm>
          <a:prstGeom prst="roundRect">
            <a:avLst>
              <a:gd name="adj" fmla="val 50000"/>
            </a:avLst>
          </a:prstGeom>
          <a:solidFill>
            <a:schemeClr val="accent3">
              <a:alpha val="20000"/>
            </a:scheme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20"/>
          <p:cNvSpPr txBox="1"/>
          <p:nvPr/>
        </p:nvSpPr>
        <p:spPr>
          <a:xfrm>
            <a:off x="3685032" y="2069592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3"/>
                </a:solidFill>
              </a:rPr>
              <a:t>? pts</a:t>
            </a:r>
            <a:endParaRPr lang="en-US" sz="1000" dirty="0"/>
          </a:p>
        </p:txBody>
      </p:sp>
      <p:sp>
        <p:nvSpPr>
          <p:cNvPr id="27" name="Text 21"/>
          <p:cNvSpPr txBox="1"/>
          <p:nvPr/>
        </p:nvSpPr>
        <p:spPr>
          <a:xfrm>
            <a:off x="2633472" y="2508504"/>
            <a:ext cx="17282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i="1" dirty="0">
                <a:solidFill>
                  <a:schemeClr val="tx1"/>
                </a:solidFill>
              </a:rPr>
              <a:t>makkelijk</a:t>
            </a:r>
            <a:endParaRPr lang="en-US" sz="1700" dirty="0"/>
          </a:p>
        </p:txBody>
      </p:sp>
      <p:sp>
        <p:nvSpPr>
          <p:cNvPr id="28" name="Shape 22"/>
          <p:cNvSpPr/>
          <p:nvPr/>
        </p:nvSpPr>
        <p:spPr>
          <a:xfrm>
            <a:off x="4572000" y="1959864"/>
            <a:ext cx="1874520" cy="1170432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9050">
            <a:solidFill>
              <a:srgbClr val="2E7D4F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pic>
        <p:nvPicPr>
          <p:cNvPr id="29" name="Image 3" descr="gobli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2033016"/>
            <a:ext cx="457200" cy="457200"/>
          </a:xfrm>
          <a:prstGeom prst="rect">
            <a:avLst/>
          </a:prstGeom>
        </p:spPr>
      </p:pic>
      <p:sp>
        <p:nvSpPr>
          <p:cNvPr id="30" name="Shape 23"/>
          <p:cNvSpPr/>
          <p:nvPr/>
        </p:nvSpPr>
        <p:spPr>
          <a:xfrm>
            <a:off x="5696712" y="2069592"/>
            <a:ext cx="640080" cy="329184"/>
          </a:xfrm>
          <a:prstGeom prst="roundRect">
            <a:avLst>
              <a:gd name="adj" fmla="val 50000"/>
            </a:avLst>
          </a:prstGeom>
          <a:solidFill>
            <a:schemeClr val="accent3">
              <a:alpha val="20000"/>
            </a:scheme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Text 24"/>
          <p:cNvSpPr txBox="1"/>
          <p:nvPr/>
        </p:nvSpPr>
        <p:spPr>
          <a:xfrm>
            <a:off x="5696712" y="2069592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3"/>
                </a:solidFill>
              </a:rPr>
              <a:t>? pts</a:t>
            </a:r>
            <a:endParaRPr lang="en-US" sz="1000" dirty="0"/>
          </a:p>
        </p:txBody>
      </p:sp>
      <p:sp>
        <p:nvSpPr>
          <p:cNvPr id="32" name="Text 25"/>
          <p:cNvSpPr txBox="1"/>
          <p:nvPr/>
        </p:nvSpPr>
        <p:spPr>
          <a:xfrm>
            <a:off x="4645152" y="2508504"/>
            <a:ext cx="17282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i="1" dirty="0">
                <a:solidFill>
                  <a:schemeClr val="tx1"/>
                </a:solidFill>
              </a:rPr>
              <a:t>gezondheid</a:t>
            </a:r>
            <a:endParaRPr lang="en-US" sz="1700" dirty="0"/>
          </a:p>
        </p:txBody>
      </p:sp>
      <p:sp>
        <p:nvSpPr>
          <p:cNvPr id="33" name="Shape 26"/>
          <p:cNvSpPr/>
          <p:nvPr/>
        </p:nvSpPr>
        <p:spPr>
          <a:xfrm>
            <a:off x="6583680" y="1959864"/>
            <a:ext cx="1874520" cy="1170432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9050">
            <a:solidFill>
              <a:srgbClr val="2E7D4F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pic>
        <p:nvPicPr>
          <p:cNvPr id="34" name="Image 4" descr="spider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5120" y="2033016"/>
            <a:ext cx="457200" cy="457200"/>
          </a:xfrm>
          <a:prstGeom prst="rect">
            <a:avLst/>
          </a:prstGeom>
        </p:spPr>
      </p:pic>
      <p:sp>
        <p:nvSpPr>
          <p:cNvPr id="35" name="Shape 27"/>
          <p:cNvSpPr/>
          <p:nvPr/>
        </p:nvSpPr>
        <p:spPr>
          <a:xfrm>
            <a:off x="7708392" y="2069592"/>
            <a:ext cx="640080" cy="329184"/>
          </a:xfrm>
          <a:prstGeom prst="roundRect">
            <a:avLst>
              <a:gd name="adj" fmla="val 50000"/>
            </a:avLst>
          </a:prstGeom>
          <a:solidFill>
            <a:schemeClr val="accent3">
              <a:alpha val="20000"/>
            </a:scheme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Text 28"/>
          <p:cNvSpPr txBox="1"/>
          <p:nvPr/>
        </p:nvSpPr>
        <p:spPr>
          <a:xfrm>
            <a:off x="7708392" y="2069592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3"/>
                </a:solidFill>
              </a:rPr>
              <a:t>? pts</a:t>
            </a:r>
            <a:endParaRPr lang="en-US" sz="1000" dirty="0"/>
          </a:p>
        </p:txBody>
      </p:sp>
      <p:sp>
        <p:nvSpPr>
          <p:cNvPr id="37" name="Text 29"/>
          <p:cNvSpPr txBox="1"/>
          <p:nvPr/>
        </p:nvSpPr>
        <p:spPr>
          <a:xfrm>
            <a:off x="6656832" y="2508504"/>
            <a:ext cx="17282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i="1" dirty="0">
                <a:solidFill>
                  <a:schemeClr val="tx1"/>
                </a:solidFill>
              </a:rPr>
              <a:t>natuurlijk</a:t>
            </a:r>
            <a:endParaRPr lang="en-US" sz="1700" dirty="0"/>
          </a:p>
        </p:txBody>
      </p:sp>
      <p:sp>
        <p:nvSpPr>
          <p:cNvPr id="38" name="Shape 30"/>
          <p:cNvSpPr/>
          <p:nvPr/>
        </p:nvSpPr>
        <p:spPr>
          <a:xfrm>
            <a:off x="548640" y="3267456"/>
            <a:ext cx="1874520" cy="1170432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9050">
            <a:solidFill>
              <a:srgbClr val="2E7D4F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pic>
        <p:nvPicPr>
          <p:cNvPr id="39" name="Image 5" descr="sauropod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3340608"/>
            <a:ext cx="457200" cy="457200"/>
          </a:xfrm>
          <a:prstGeom prst="rect">
            <a:avLst/>
          </a:prstGeom>
        </p:spPr>
      </p:pic>
      <p:sp>
        <p:nvSpPr>
          <p:cNvPr id="40" name="Shape 31"/>
          <p:cNvSpPr/>
          <p:nvPr/>
        </p:nvSpPr>
        <p:spPr>
          <a:xfrm>
            <a:off x="1673352" y="3377184"/>
            <a:ext cx="640080" cy="329184"/>
          </a:xfrm>
          <a:prstGeom prst="roundRect">
            <a:avLst>
              <a:gd name="adj" fmla="val 50000"/>
            </a:avLst>
          </a:prstGeom>
          <a:solidFill>
            <a:schemeClr val="accent3">
              <a:alpha val="20000"/>
            </a:scheme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" name="Text 32"/>
          <p:cNvSpPr txBox="1"/>
          <p:nvPr/>
        </p:nvSpPr>
        <p:spPr>
          <a:xfrm>
            <a:off x="1673352" y="3377184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3"/>
                </a:solidFill>
              </a:rPr>
              <a:t>? pts</a:t>
            </a:r>
            <a:endParaRPr lang="en-US" sz="1000" dirty="0"/>
          </a:p>
        </p:txBody>
      </p:sp>
      <p:sp>
        <p:nvSpPr>
          <p:cNvPr id="42" name="Text 33"/>
          <p:cNvSpPr txBox="1"/>
          <p:nvPr/>
        </p:nvSpPr>
        <p:spPr>
          <a:xfrm>
            <a:off x="621792" y="3816096"/>
            <a:ext cx="17282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i="1" dirty="0">
                <a:solidFill>
                  <a:schemeClr val="tx1"/>
                </a:solidFill>
              </a:rPr>
              <a:t>formulier</a:t>
            </a:r>
            <a:endParaRPr lang="en-US" sz="1700" dirty="0"/>
          </a:p>
        </p:txBody>
      </p:sp>
      <p:sp>
        <p:nvSpPr>
          <p:cNvPr id="43" name="Shape 34"/>
          <p:cNvSpPr/>
          <p:nvPr/>
        </p:nvSpPr>
        <p:spPr>
          <a:xfrm>
            <a:off x="2560320" y="3267456"/>
            <a:ext cx="1874520" cy="1170432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9050">
            <a:solidFill>
              <a:srgbClr val="2E7D4F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pic>
        <p:nvPicPr>
          <p:cNvPr id="44" name="Image 6" descr="dragon face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51760" y="3340608"/>
            <a:ext cx="457200" cy="457200"/>
          </a:xfrm>
          <a:prstGeom prst="rect">
            <a:avLst/>
          </a:prstGeom>
        </p:spPr>
      </p:pic>
      <p:sp>
        <p:nvSpPr>
          <p:cNvPr id="45" name="Shape 35"/>
          <p:cNvSpPr/>
          <p:nvPr/>
        </p:nvSpPr>
        <p:spPr>
          <a:xfrm>
            <a:off x="3685032" y="3377184"/>
            <a:ext cx="640080" cy="329184"/>
          </a:xfrm>
          <a:prstGeom prst="roundRect">
            <a:avLst>
              <a:gd name="adj" fmla="val 50000"/>
            </a:avLst>
          </a:prstGeom>
          <a:solidFill>
            <a:schemeClr val="accent3">
              <a:alpha val="20000"/>
            </a:scheme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6" name="Text 36"/>
          <p:cNvSpPr txBox="1"/>
          <p:nvPr/>
        </p:nvSpPr>
        <p:spPr>
          <a:xfrm>
            <a:off x="3685032" y="3377184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3"/>
                </a:solidFill>
              </a:rPr>
              <a:t>? pts</a:t>
            </a:r>
            <a:endParaRPr lang="en-US" sz="1000" dirty="0"/>
          </a:p>
        </p:txBody>
      </p:sp>
      <p:sp>
        <p:nvSpPr>
          <p:cNvPr id="47" name="Text 37"/>
          <p:cNvSpPr txBox="1"/>
          <p:nvPr/>
        </p:nvSpPr>
        <p:spPr>
          <a:xfrm>
            <a:off x="2633472" y="3816096"/>
            <a:ext cx="17282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i="1" dirty="0">
                <a:solidFill>
                  <a:schemeClr val="tx1"/>
                </a:solidFill>
              </a:rPr>
              <a:t>woordenschat</a:t>
            </a:r>
            <a:endParaRPr lang="en-US" sz="1700" dirty="0"/>
          </a:p>
        </p:txBody>
      </p:sp>
      <p:sp>
        <p:nvSpPr>
          <p:cNvPr id="48" name="Shape 38"/>
          <p:cNvSpPr/>
          <p:nvPr/>
        </p:nvSpPr>
        <p:spPr>
          <a:xfrm>
            <a:off x="4572000" y="3267456"/>
            <a:ext cx="1874520" cy="1170432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9050">
            <a:solidFill>
              <a:srgbClr val="2E7D4F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pic>
        <p:nvPicPr>
          <p:cNvPr id="49" name="Image 7" descr="t rex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63440" y="3340608"/>
            <a:ext cx="457200" cy="457200"/>
          </a:xfrm>
          <a:prstGeom prst="rect">
            <a:avLst/>
          </a:prstGeom>
        </p:spPr>
      </p:pic>
      <p:sp>
        <p:nvSpPr>
          <p:cNvPr id="50" name="Shape 39"/>
          <p:cNvSpPr/>
          <p:nvPr/>
        </p:nvSpPr>
        <p:spPr>
          <a:xfrm>
            <a:off x="5696712" y="3377184"/>
            <a:ext cx="640080" cy="329184"/>
          </a:xfrm>
          <a:prstGeom prst="roundRect">
            <a:avLst>
              <a:gd name="adj" fmla="val 50000"/>
            </a:avLst>
          </a:prstGeom>
          <a:solidFill>
            <a:schemeClr val="accent3">
              <a:alpha val="20000"/>
            </a:scheme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1" name="Text 40"/>
          <p:cNvSpPr txBox="1"/>
          <p:nvPr/>
        </p:nvSpPr>
        <p:spPr>
          <a:xfrm>
            <a:off x="5696712" y="3377184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3"/>
                </a:solidFill>
              </a:rPr>
              <a:t>? pts</a:t>
            </a:r>
            <a:endParaRPr lang="en-US" sz="1000" dirty="0"/>
          </a:p>
        </p:txBody>
      </p:sp>
      <p:sp>
        <p:nvSpPr>
          <p:cNvPr id="52" name="Text 41"/>
          <p:cNvSpPr txBox="1"/>
          <p:nvPr/>
        </p:nvSpPr>
        <p:spPr>
          <a:xfrm>
            <a:off x="4645152" y="3816096"/>
            <a:ext cx="17282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i="1" dirty="0">
                <a:solidFill>
                  <a:schemeClr val="tx1"/>
                </a:solidFill>
              </a:rPr>
              <a:t>inlichtingen</a:t>
            </a:r>
            <a:endParaRPr lang="en-US" sz="1700" dirty="0"/>
          </a:p>
        </p:txBody>
      </p:sp>
      <p:sp>
        <p:nvSpPr>
          <p:cNvPr id="53" name="Shape 42"/>
          <p:cNvSpPr/>
          <p:nvPr/>
        </p:nvSpPr>
        <p:spPr>
          <a:xfrm>
            <a:off x="6583680" y="3267456"/>
            <a:ext cx="1874520" cy="1170432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9050">
            <a:solidFill>
              <a:srgbClr val="2E7D4F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pic>
        <p:nvPicPr>
          <p:cNvPr id="54" name="Image 8" descr="ogre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75120" y="3340608"/>
            <a:ext cx="457200" cy="457200"/>
          </a:xfrm>
          <a:prstGeom prst="rect">
            <a:avLst/>
          </a:prstGeom>
        </p:spPr>
      </p:pic>
      <p:sp>
        <p:nvSpPr>
          <p:cNvPr id="55" name="Shape 43"/>
          <p:cNvSpPr/>
          <p:nvPr/>
        </p:nvSpPr>
        <p:spPr>
          <a:xfrm>
            <a:off x="7708392" y="3377184"/>
            <a:ext cx="640080" cy="329184"/>
          </a:xfrm>
          <a:prstGeom prst="roundRect">
            <a:avLst>
              <a:gd name="adj" fmla="val 50000"/>
            </a:avLst>
          </a:prstGeom>
          <a:solidFill>
            <a:schemeClr val="accent3">
              <a:alpha val="20000"/>
            </a:scheme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6" name="Text 44"/>
          <p:cNvSpPr txBox="1"/>
          <p:nvPr/>
        </p:nvSpPr>
        <p:spPr>
          <a:xfrm>
            <a:off x="7708392" y="3377184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3"/>
                </a:solidFill>
              </a:rPr>
              <a:t>? pts</a:t>
            </a:r>
            <a:endParaRPr lang="en-US" sz="1000" dirty="0"/>
          </a:p>
        </p:txBody>
      </p:sp>
      <p:sp>
        <p:nvSpPr>
          <p:cNvPr id="57" name="Text 45"/>
          <p:cNvSpPr txBox="1"/>
          <p:nvPr/>
        </p:nvSpPr>
        <p:spPr>
          <a:xfrm>
            <a:off x="6656832" y="3816096"/>
            <a:ext cx="17282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i="1" dirty="0">
                <a:solidFill>
                  <a:schemeClr val="tx1"/>
                </a:solidFill>
              </a:rPr>
              <a:t>nationaliteit</a:t>
            </a:r>
            <a:endParaRPr lang="en-US" sz="1700" dirty="0"/>
          </a:p>
        </p:txBody>
      </p:sp>
      <p:sp>
        <p:nvSpPr>
          <p:cNvPr id="58" name="Shape 46"/>
          <p:cNvSpPr/>
          <p:nvPr/>
        </p:nvSpPr>
        <p:spPr>
          <a:xfrm>
            <a:off x="548640" y="4575048"/>
            <a:ext cx="7909560" cy="1597152"/>
          </a:xfrm>
          <a:prstGeom prst="roundRect">
            <a:avLst>
              <a:gd name="adj" fmla="val 6870"/>
            </a:avLst>
          </a:prstGeom>
          <a:solidFill>
            <a:schemeClr val="accent6">
              <a:alpha val="10000"/>
            </a:schemeClr>
          </a:solidFill>
          <a:ln w="31750">
            <a:solidFill>
              <a:srgbClr val="B83227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pic>
        <p:nvPicPr>
          <p:cNvPr id="59" name="Image 9" descr="alien monster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1520" y="4757928"/>
            <a:ext cx="868680" cy="868680"/>
          </a:xfrm>
          <a:prstGeom prst="rect">
            <a:avLst/>
          </a:prstGeom>
        </p:spPr>
      </p:pic>
      <p:sp>
        <p:nvSpPr>
          <p:cNvPr id="60" name="Text 47"/>
          <p:cNvSpPr txBox="1"/>
          <p:nvPr/>
        </p:nvSpPr>
        <p:spPr>
          <a:xfrm>
            <a:off x="1737360" y="466648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chemeClr val="accent6"/>
                </a:solidFill>
              </a:rPr>
              <a:t>BOSS FINAL</a:t>
            </a:r>
            <a:endParaRPr lang="en-US" sz="1400" dirty="0"/>
          </a:p>
        </p:txBody>
      </p:sp>
      <p:sp>
        <p:nvSpPr>
          <p:cNvPr id="61" name="Text 48"/>
          <p:cNvSpPr txBox="1"/>
          <p:nvPr/>
        </p:nvSpPr>
        <p:spPr>
          <a:xfrm>
            <a:off x="1737360" y="5032248"/>
            <a:ext cx="6537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i="1" dirty="0">
                <a:solidFill>
                  <a:schemeClr val="tx1"/>
                </a:solidFill>
              </a:rPr>
              <a:t>arbeidsongeschiktheidsverzekering</a:t>
            </a:r>
            <a:endParaRPr lang="en-US" sz="2200" dirty="0"/>
          </a:p>
        </p:txBody>
      </p:sp>
      <p:pic>
        <p:nvPicPr>
          <p:cNvPr id="62" name="Image 10" descr="stopwatch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823960" y="1959864"/>
            <a:ext cx="822960" cy="822960"/>
          </a:xfrm>
          <a:prstGeom prst="rect">
            <a:avLst/>
          </a:prstGeom>
        </p:spPr>
      </p:pic>
      <p:sp>
        <p:nvSpPr>
          <p:cNvPr id="63" name="Text 49"/>
          <p:cNvSpPr txBox="1"/>
          <p:nvPr/>
        </p:nvSpPr>
        <p:spPr>
          <a:xfrm>
            <a:off x="9738360" y="1959864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5 s</a:t>
            </a:r>
            <a:endParaRPr lang="en-US" sz="3000" dirty="0"/>
          </a:p>
        </p:txBody>
      </p:sp>
      <p:sp>
        <p:nvSpPr>
          <p:cNvPr id="64" name="Text 50"/>
          <p:cNvSpPr txBox="1"/>
          <p:nvPr/>
        </p:nvSpPr>
        <p:spPr>
          <a:xfrm>
            <a:off x="8732520" y="2919984"/>
            <a:ext cx="290779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Points</a:t>
            </a:r>
            <a:r>
              <a:rPr lang="en-US" sz="1400" dirty="0">
                <a:solidFill>
                  <a:schemeClr val="tx1"/>
                </a:solidFill>
              </a:rPr>
              <a:t> = nombre de syllabes</a:t>
            </a:r>
            <a:endParaRPr lang="en-US" sz="14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Le boss rapporte… beaucoup !</a:t>
            </a:r>
            <a:endParaRPr lang="en-US" sz="1400" dirty="0"/>
          </a:p>
          <a:p>
            <a:pPr algn="l" indent="0" marL="0">
              <a:spcAft>
                <a:spcPts val="600"/>
              </a:spcAft>
              <a:buNone/>
            </a:pPr>
            <a:endParaRPr lang="en-US" sz="14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couper · porte · accent · </a:t>
            </a:r>
            <a:r>
              <a:rPr lang="en-US" sz="1400" i="1" dirty="0">
                <a:solidFill>
                  <a:schemeClr val="tx1"/>
                </a:solidFill>
              </a:rPr>
              <a:t>e</a:t>
            </a:r>
            <a:r>
              <a:rPr lang="en-US" sz="1400" dirty="0">
                <a:solidFill>
                  <a:schemeClr val="tx1"/>
                </a:solidFill>
              </a:rPr>
              <a:t> muet</a:t>
            </a:r>
            <a:endParaRPr lang="en-US" sz="1400" dirty="0"/>
          </a:p>
        </p:txBody>
      </p:sp>
      <p:sp>
        <p:nvSpPr>
          <p:cNvPr id="65" name="Shape 51"/>
          <p:cNvSpPr/>
          <p:nvPr/>
        </p:nvSpPr>
        <p:spPr>
          <a:xfrm>
            <a:off x="8732520" y="4977384"/>
            <a:ext cx="1371600" cy="868680"/>
          </a:xfrm>
          <a:prstGeom prst="roundRect">
            <a:avLst>
              <a:gd name="adj" fmla="val 10526"/>
            </a:avLst>
          </a:prstGeom>
          <a:solidFill>
            <a:srgbClr val="EAF1F8"/>
          </a:solidFill>
          <a:ln w="19050">
            <a:solidFill>
              <a:srgbClr val="2A6FB0"/>
            </a:solidFill>
            <a:prstDash val="solid"/>
          </a:ln>
        </p:spPr>
      </p:sp>
      <p:sp>
        <p:nvSpPr>
          <p:cNvPr id="66" name="Text 52"/>
          <p:cNvSpPr txBox="1"/>
          <p:nvPr/>
        </p:nvSpPr>
        <p:spPr>
          <a:xfrm>
            <a:off x="8732520" y="4977384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100"/>
              </a:spcAft>
              <a:buNone/>
            </a:pPr>
            <a:r>
              <a:rPr lang="en-US" sz="1400" b="1" dirty="0">
                <a:solidFill>
                  <a:schemeClr val="accent2"/>
                </a:solidFill>
              </a:rPr>
              <a:t>A</a:t>
            </a:r>
            <a:endParaRPr lang="en-US" sz="1400" dirty="0"/>
          </a:p>
          <a:p>
            <a:pPr algn="ctr"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chemeClr val="accent2"/>
                </a:solidFill>
              </a:rPr>
              <a:t>…… pts</a:t>
            </a:r>
            <a:endParaRPr lang="en-US" sz="1400" dirty="0"/>
          </a:p>
        </p:txBody>
      </p:sp>
      <p:sp>
        <p:nvSpPr>
          <p:cNvPr id="67" name="Shape 53"/>
          <p:cNvSpPr/>
          <p:nvPr/>
        </p:nvSpPr>
        <p:spPr>
          <a:xfrm>
            <a:off x="10213848" y="4977384"/>
            <a:ext cx="1371600" cy="868680"/>
          </a:xfrm>
          <a:prstGeom prst="roundRect">
            <a:avLst>
              <a:gd name="adj" fmla="val 10526"/>
            </a:avLst>
          </a:prstGeom>
          <a:solidFill>
            <a:srgbClr val="FDF1E6"/>
          </a:solidFill>
          <a:ln w="19050">
            <a:solidFill>
              <a:srgbClr val="D9700F"/>
            </a:solidFill>
            <a:prstDash val="solid"/>
          </a:ln>
        </p:spPr>
      </p:sp>
      <p:sp>
        <p:nvSpPr>
          <p:cNvPr id="68" name="Text 54"/>
          <p:cNvSpPr txBox="1"/>
          <p:nvPr/>
        </p:nvSpPr>
        <p:spPr>
          <a:xfrm>
            <a:off x="10213848" y="4977384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1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</a:rPr>
              <a:t>B</a:t>
            </a:r>
            <a:endParaRPr lang="en-US" sz="1400" dirty="0"/>
          </a:p>
          <a:p>
            <a:pPr algn="ctr"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chemeClr val="accent1"/>
                </a:solidFill>
              </a:rPr>
              <a:t>…… pts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Le chef d’orchestre : l’accent de phrase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2633472" cy="310896"/>
          </a:xfrm>
          <a:prstGeom prst="roundRect">
            <a:avLst>
              <a:gd name="adj" fmla="val 14706"/>
            </a:avLst>
          </a:prstGeom>
          <a:solidFill>
            <a:srgbClr val="6E4A9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SÉANCE 5 · ① ÉCOUTER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9747504" y="393192"/>
            <a:ext cx="1682496" cy="914"/>
          </a:xfrm>
          <a:prstGeom prst="line">
            <a:avLst/>
          </a:prstGeom>
          <a:noFill/>
          <a:ln w="25400">
            <a:solidFill>
              <a:srgbClr val="D5DCE6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9582912" y="228600"/>
            <a:ext cx="329184" cy="32918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A6FB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582912" y="2286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1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10003536" y="228600"/>
            <a:ext cx="329184" cy="32918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4236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0003536" y="2286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2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10424160" y="228600"/>
            <a:ext cx="329184" cy="32918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9700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0424160" y="2286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3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10844784" y="228600"/>
            <a:ext cx="329184" cy="32918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E7D4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0844784" y="2286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4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11265408" y="228600"/>
            <a:ext cx="329184" cy="329184"/>
          </a:xfrm>
          <a:prstGeom prst="ellipse">
            <a:avLst/>
          </a:prstGeom>
          <a:solidFill>
            <a:srgbClr val="6E4A9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11265408" y="2286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5</a:t>
            </a:r>
            <a:endParaRPr lang="en-US" sz="1200" dirty="0"/>
          </a:p>
        </p:txBody>
      </p:sp>
      <p:pic>
        <p:nvPicPr>
          <p:cNvPr id="16" name="Image 0" descr="HandPointRigh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17904"/>
            <a:ext cx="274320" cy="27432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960120" y="1481328"/>
            <a:ext cx="10680192" cy="31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accent5"/>
                </a:solidFill>
              </a:rPr>
              <a:t>Écoutez l’enseignant·e : quel sens ? Puis reliez chaque phrase à sa forme rapide de l’oral.</a:t>
            </a:r>
            <a:endParaRPr lang="en-US" sz="1700" dirty="0"/>
          </a:p>
        </p:txBody>
      </p:sp>
      <p:sp>
        <p:nvSpPr>
          <p:cNvPr id="18" name="Shape 14"/>
          <p:cNvSpPr/>
          <p:nvPr/>
        </p:nvSpPr>
        <p:spPr>
          <a:xfrm>
            <a:off x="548640" y="1959864"/>
            <a:ext cx="5486400" cy="3544824"/>
          </a:xfrm>
          <a:prstGeom prst="roundRect">
            <a:avLst>
              <a:gd name="adj" fmla="val 2064"/>
            </a:avLst>
          </a:prstGeom>
          <a:solidFill>
            <a:schemeClr val="bg1"/>
          </a:solidFill>
          <a:ln w="25400">
            <a:solidFill>
              <a:srgbClr val="6E4A9E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548640" y="1959864"/>
            <a:ext cx="5486400" cy="530352"/>
          </a:xfrm>
          <a:prstGeom prst="roundRect">
            <a:avLst>
              <a:gd name="adj" fmla="val 13793"/>
            </a:avLst>
          </a:prstGeom>
          <a:solidFill>
            <a:srgbClr val="6E4A9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731520" y="1959864"/>
            <a:ext cx="4480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Le mot fort change le sens</a:t>
            </a:r>
            <a:endParaRPr lang="en-US" sz="1700" dirty="0"/>
          </a:p>
        </p:txBody>
      </p:sp>
      <p:pic>
        <p:nvPicPr>
          <p:cNvPr id="21" name="Image 1" descr="musical not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3248" y="2014728"/>
            <a:ext cx="420624" cy="420624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777240" y="2654808"/>
            <a:ext cx="365760" cy="365760"/>
          </a:xfrm>
          <a:prstGeom prst="ellipse">
            <a:avLst/>
          </a:prstGeom>
          <a:solidFill>
            <a:srgbClr val="6E4A9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777240" y="26548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a</a:t>
            </a:r>
            <a:endParaRPr lang="en-US" sz="1300" dirty="0"/>
          </a:p>
        </p:txBody>
      </p:sp>
      <p:sp>
        <p:nvSpPr>
          <p:cNvPr id="24" name="Text 19"/>
          <p:cNvSpPr txBox="1"/>
          <p:nvPr/>
        </p:nvSpPr>
        <p:spPr>
          <a:xfrm>
            <a:off x="1280160" y="2581656"/>
            <a:ext cx="4572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i="1" dirty="0">
                <a:solidFill>
                  <a:schemeClr val="accent1"/>
                </a:solidFill>
              </a:rPr>
              <a:t>IK</a:t>
            </a:r>
            <a:r>
              <a:rPr lang="en-US" sz="2100" i="1" dirty="0">
                <a:solidFill>
                  <a:schemeClr val="tx1"/>
                </a:solidFill>
              </a:rPr>
              <a:t> woon in Brussel.</a:t>
            </a:r>
            <a:endParaRPr lang="en-US" sz="2100" dirty="0"/>
          </a:p>
        </p:txBody>
      </p:sp>
      <p:sp>
        <p:nvSpPr>
          <p:cNvPr id="25" name="Shape 20"/>
          <p:cNvSpPr/>
          <p:nvPr/>
        </p:nvSpPr>
        <p:spPr>
          <a:xfrm>
            <a:off x="777240" y="3203448"/>
            <a:ext cx="365760" cy="365760"/>
          </a:xfrm>
          <a:prstGeom prst="ellipse">
            <a:avLst/>
          </a:prstGeom>
          <a:solidFill>
            <a:srgbClr val="6E4A9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21"/>
          <p:cNvSpPr txBox="1"/>
          <p:nvPr/>
        </p:nvSpPr>
        <p:spPr>
          <a:xfrm>
            <a:off x="777240" y="32034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b</a:t>
            </a:r>
            <a:endParaRPr lang="en-US" sz="1300" dirty="0"/>
          </a:p>
        </p:txBody>
      </p:sp>
      <p:sp>
        <p:nvSpPr>
          <p:cNvPr id="27" name="Text 22"/>
          <p:cNvSpPr txBox="1"/>
          <p:nvPr/>
        </p:nvSpPr>
        <p:spPr>
          <a:xfrm>
            <a:off x="1280160" y="3130296"/>
            <a:ext cx="4572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i="1" dirty="0">
                <a:solidFill>
                  <a:schemeClr val="tx1"/>
                </a:solidFill>
              </a:rPr>
              <a:t>Ik </a:t>
            </a:r>
            <a:r>
              <a:rPr lang="en-US" sz="2100" b="1" i="1" dirty="0">
                <a:solidFill>
                  <a:schemeClr val="accent1"/>
                </a:solidFill>
              </a:rPr>
              <a:t>WOON</a:t>
            </a:r>
            <a:r>
              <a:rPr lang="en-US" sz="2100" i="1" dirty="0">
                <a:solidFill>
                  <a:schemeClr val="tx1"/>
                </a:solidFill>
              </a:rPr>
              <a:t> in Brussel.</a:t>
            </a:r>
            <a:endParaRPr lang="en-US" sz="2100" dirty="0"/>
          </a:p>
        </p:txBody>
      </p:sp>
      <p:sp>
        <p:nvSpPr>
          <p:cNvPr id="28" name="Shape 23"/>
          <p:cNvSpPr/>
          <p:nvPr/>
        </p:nvSpPr>
        <p:spPr>
          <a:xfrm>
            <a:off x="777240" y="3752088"/>
            <a:ext cx="365760" cy="365760"/>
          </a:xfrm>
          <a:prstGeom prst="ellipse">
            <a:avLst/>
          </a:prstGeom>
          <a:solidFill>
            <a:srgbClr val="6E4A9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Text 24"/>
          <p:cNvSpPr txBox="1"/>
          <p:nvPr/>
        </p:nvSpPr>
        <p:spPr>
          <a:xfrm>
            <a:off x="777240" y="37520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c</a:t>
            </a:r>
            <a:endParaRPr lang="en-US" sz="1300" dirty="0"/>
          </a:p>
        </p:txBody>
      </p:sp>
      <p:sp>
        <p:nvSpPr>
          <p:cNvPr id="30" name="Text 25"/>
          <p:cNvSpPr txBox="1"/>
          <p:nvPr/>
        </p:nvSpPr>
        <p:spPr>
          <a:xfrm>
            <a:off x="1280160" y="3678936"/>
            <a:ext cx="4572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i="1" dirty="0">
                <a:solidFill>
                  <a:schemeClr val="tx1"/>
                </a:solidFill>
              </a:rPr>
              <a:t>Ik woon in </a:t>
            </a:r>
            <a:r>
              <a:rPr lang="en-US" sz="2100" b="1" i="1" dirty="0">
                <a:solidFill>
                  <a:schemeClr val="accent1"/>
                </a:solidFill>
              </a:rPr>
              <a:t>BRUS</a:t>
            </a:r>
            <a:r>
              <a:rPr lang="en-US" sz="2100" i="1" dirty="0">
                <a:solidFill>
                  <a:schemeClr val="tx1"/>
                </a:solidFill>
              </a:rPr>
              <a:t>sel.</a:t>
            </a:r>
            <a:endParaRPr lang="en-US" sz="2100" dirty="0"/>
          </a:p>
        </p:txBody>
      </p:sp>
      <p:sp>
        <p:nvSpPr>
          <p:cNvPr id="31" name="Shape 26"/>
          <p:cNvSpPr/>
          <p:nvPr/>
        </p:nvSpPr>
        <p:spPr>
          <a:xfrm>
            <a:off x="777240" y="4245864"/>
            <a:ext cx="5029200" cy="914"/>
          </a:xfrm>
          <a:prstGeom prst="line">
            <a:avLst/>
          </a:prstGeom>
          <a:noFill/>
          <a:ln w="12700">
            <a:solidFill>
              <a:srgbClr val="D5DCE6"/>
            </a:solidFill>
            <a:prstDash val="solid"/>
          </a:ln>
        </p:spPr>
      </p:sp>
      <p:sp>
        <p:nvSpPr>
          <p:cNvPr id="32" name="Text 27"/>
          <p:cNvSpPr txBox="1"/>
          <p:nvPr/>
        </p:nvSpPr>
        <p:spPr>
          <a:xfrm>
            <a:off x="822960" y="4291584"/>
            <a:ext cx="4937760" cy="1167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① … pas à Gand.</a:t>
            </a:r>
            <a:endParaRPr lang="en-US" sz="16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② C’est moi, pas Sofie.</a:t>
            </a:r>
            <a:endParaRPr lang="en-US" sz="16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③ J’y habite ; je n’y travaille pas.</a:t>
            </a:r>
            <a:endParaRPr lang="en-US" sz="1600" dirty="0"/>
          </a:p>
        </p:txBody>
      </p:sp>
      <p:sp>
        <p:nvSpPr>
          <p:cNvPr id="33" name="Shape 28"/>
          <p:cNvSpPr/>
          <p:nvPr/>
        </p:nvSpPr>
        <p:spPr>
          <a:xfrm>
            <a:off x="6263640" y="1959864"/>
            <a:ext cx="5376672" cy="3544824"/>
          </a:xfrm>
          <a:prstGeom prst="roundRect">
            <a:avLst>
              <a:gd name="adj" fmla="val 2064"/>
            </a:avLst>
          </a:prstGeom>
          <a:solidFill>
            <a:schemeClr val="bg1"/>
          </a:solidFill>
          <a:ln w="25400">
            <a:solidFill>
              <a:srgbClr val="B4236A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34" name="Shape 29"/>
          <p:cNvSpPr/>
          <p:nvPr/>
        </p:nvSpPr>
        <p:spPr>
          <a:xfrm>
            <a:off x="6263640" y="1959864"/>
            <a:ext cx="5376672" cy="530352"/>
          </a:xfrm>
          <a:prstGeom prst="roundRect">
            <a:avLst>
              <a:gd name="adj" fmla="val 13793"/>
            </a:avLst>
          </a:prstGeom>
          <a:solidFill>
            <a:schemeClr val="accent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Text 30"/>
          <p:cNvSpPr txBox="1"/>
          <p:nvPr/>
        </p:nvSpPr>
        <p:spPr>
          <a:xfrm>
            <a:off x="6446520" y="1959864"/>
            <a:ext cx="45537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Les mots qui fondent à l’oral</a:t>
            </a:r>
            <a:endParaRPr lang="en-US" sz="1700" dirty="0"/>
          </a:p>
        </p:txBody>
      </p:sp>
      <p:pic>
        <p:nvPicPr>
          <p:cNvPr id="36" name="Image 2" descr="melting fac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8520" y="2014728"/>
            <a:ext cx="420624" cy="420624"/>
          </a:xfrm>
          <a:prstGeom prst="rect">
            <a:avLst/>
          </a:prstGeom>
        </p:spPr>
      </p:pic>
      <p:sp>
        <p:nvSpPr>
          <p:cNvPr id="37" name="Shape 31"/>
          <p:cNvSpPr/>
          <p:nvPr/>
        </p:nvSpPr>
        <p:spPr>
          <a:xfrm>
            <a:off x="6446520" y="2709672"/>
            <a:ext cx="365760" cy="365760"/>
          </a:xfrm>
          <a:prstGeom prst="ellipse">
            <a:avLst/>
          </a:prstGeom>
          <a:solidFill>
            <a:schemeClr val="accent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Text 32"/>
          <p:cNvSpPr txBox="1"/>
          <p:nvPr/>
        </p:nvSpPr>
        <p:spPr>
          <a:xfrm>
            <a:off x="6446520" y="27096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39" name="Text 33"/>
          <p:cNvSpPr txBox="1"/>
          <p:nvPr/>
        </p:nvSpPr>
        <p:spPr>
          <a:xfrm>
            <a:off x="6903720" y="2599944"/>
            <a:ext cx="2240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tx1"/>
                </a:solidFill>
              </a:rPr>
              <a:t>Hoe gaat het?</a:t>
            </a:r>
            <a:endParaRPr lang="en-US" sz="1700" dirty="0"/>
          </a:p>
        </p:txBody>
      </p:sp>
      <p:sp>
        <p:nvSpPr>
          <p:cNvPr id="40" name="Shape 34"/>
          <p:cNvSpPr/>
          <p:nvPr/>
        </p:nvSpPr>
        <p:spPr>
          <a:xfrm>
            <a:off x="9281160" y="2599944"/>
            <a:ext cx="2176272" cy="585216"/>
          </a:xfrm>
          <a:prstGeom prst="roundRect">
            <a:avLst>
              <a:gd name="adj" fmla="val 46875"/>
            </a:avLst>
          </a:prstGeom>
          <a:solidFill>
            <a:schemeClr val="accent4">
              <a:alpha val="12000"/>
            </a:schemeClr>
          </a:solidFill>
          <a:ln w="12700">
            <a:solidFill>
              <a:srgbClr val="B4236A"/>
            </a:solidFill>
            <a:prstDash val="solid"/>
          </a:ln>
        </p:spPr>
      </p:sp>
      <p:sp>
        <p:nvSpPr>
          <p:cNvPr id="41" name="Text 35"/>
          <p:cNvSpPr txBox="1"/>
          <p:nvPr/>
        </p:nvSpPr>
        <p:spPr>
          <a:xfrm>
            <a:off x="9418320" y="2599944"/>
            <a:ext cx="19933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</a:t>
            </a:r>
            <a:r>
              <a:rPr lang="en-US" sz="1700" dirty="0">
                <a:solidFill>
                  <a:schemeClr val="tx1"/>
                </a:solidFill>
              </a:rPr>
              <a:t>  </a:t>
            </a:r>
            <a:r>
              <a:rPr lang="en-US" sz="1700" i="1" dirty="0">
                <a:solidFill>
                  <a:schemeClr val="tx1"/>
                </a:solidFill>
              </a:rPr>
              <a:t>’k Heb ’t niet.</a:t>
            </a:r>
            <a:endParaRPr lang="en-US" sz="1700" dirty="0"/>
          </a:p>
        </p:txBody>
      </p:sp>
      <p:sp>
        <p:nvSpPr>
          <p:cNvPr id="42" name="Shape 36"/>
          <p:cNvSpPr/>
          <p:nvPr/>
        </p:nvSpPr>
        <p:spPr>
          <a:xfrm>
            <a:off x="6446520" y="3441192"/>
            <a:ext cx="365760" cy="365760"/>
          </a:xfrm>
          <a:prstGeom prst="ellipse">
            <a:avLst/>
          </a:prstGeom>
          <a:solidFill>
            <a:schemeClr val="accent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" name="Text 37"/>
          <p:cNvSpPr txBox="1"/>
          <p:nvPr/>
        </p:nvSpPr>
        <p:spPr>
          <a:xfrm>
            <a:off x="6446520" y="34411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44" name="Text 38"/>
          <p:cNvSpPr txBox="1"/>
          <p:nvPr/>
        </p:nvSpPr>
        <p:spPr>
          <a:xfrm>
            <a:off x="6903720" y="3331464"/>
            <a:ext cx="2240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tx1"/>
                </a:solidFill>
              </a:rPr>
              <a:t>Ik heb het niet.</a:t>
            </a:r>
            <a:endParaRPr lang="en-US" sz="1700" dirty="0"/>
          </a:p>
        </p:txBody>
      </p:sp>
      <p:sp>
        <p:nvSpPr>
          <p:cNvPr id="45" name="Shape 39"/>
          <p:cNvSpPr/>
          <p:nvPr/>
        </p:nvSpPr>
        <p:spPr>
          <a:xfrm>
            <a:off x="9281160" y="3331464"/>
            <a:ext cx="2176272" cy="585216"/>
          </a:xfrm>
          <a:prstGeom prst="roundRect">
            <a:avLst>
              <a:gd name="adj" fmla="val 46875"/>
            </a:avLst>
          </a:prstGeom>
          <a:solidFill>
            <a:schemeClr val="accent4">
              <a:alpha val="12000"/>
            </a:schemeClr>
          </a:solidFill>
          <a:ln w="12700">
            <a:solidFill>
              <a:srgbClr val="B4236A"/>
            </a:solidFill>
            <a:prstDash val="solid"/>
          </a:ln>
        </p:spPr>
      </p:sp>
      <p:sp>
        <p:nvSpPr>
          <p:cNvPr id="46" name="Text 40"/>
          <p:cNvSpPr txBox="1"/>
          <p:nvPr/>
        </p:nvSpPr>
        <p:spPr>
          <a:xfrm>
            <a:off x="9418320" y="3331464"/>
            <a:ext cx="19933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B</a:t>
            </a:r>
            <a:r>
              <a:rPr lang="en-US" sz="1700" dirty="0">
                <a:solidFill>
                  <a:schemeClr val="tx1"/>
                </a:solidFill>
              </a:rPr>
              <a:t>  </a:t>
            </a:r>
            <a:r>
              <a:rPr lang="en-US" sz="1700" i="1" dirty="0">
                <a:solidFill>
                  <a:schemeClr val="tx1"/>
                </a:solidFill>
              </a:rPr>
              <a:t>Da’s goed.</a:t>
            </a:r>
            <a:endParaRPr lang="en-US" sz="1700" dirty="0"/>
          </a:p>
        </p:txBody>
      </p:sp>
      <p:sp>
        <p:nvSpPr>
          <p:cNvPr id="47" name="Shape 41"/>
          <p:cNvSpPr/>
          <p:nvPr/>
        </p:nvSpPr>
        <p:spPr>
          <a:xfrm>
            <a:off x="6446520" y="4172712"/>
            <a:ext cx="365760" cy="365760"/>
          </a:xfrm>
          <a:prstGeom prst="ellipse">
            <a:avLst/>
          </a:prstGeom>
          <a:solidFill>
            <a:schemeClr val="accent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8" name="Text 42"/>
          <p:cNvSpPr txBox="1"/>
          <p:nvPr/>
        </p:nvSpPr>
        <p:spPr>
          <a:xfrm>
            <a:off x="6446520" y="41727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49" name="Text 43"/>
          <p:cNvSpPr txBox="1"/>
          <p:nvPr/>
        </p:nvSpPr>
        <p:spPr>
          <a:xfrm>
            <a:off x="6903720" y="4062984"/>
            <a:ext cx="2240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tx1"/>
                </a:solidFill>
              </a:rPr>
              <a:t>Heb je een pen?</a:t>
            </a:r>
            <a:endParaRPr lang="en-US" sz="1700" dirty="0"/>
          </a:p>
        </p:txBody>
      </p:sp>
      <p:sp>
        <p:nvSpPr>
          <p:cNvPr id="50" name="Shape 44"/>
          <p:cNvSpPr/>
          <p:nvPr/>
        </p:nvSpPr>
        <p:spPr>
          <a:xfrm>
            <a:off x="9281160" y="4062984"/>
            <a:ext cx="2176272" cy="585216"/>
          </a:xfrm>
          <a:prstGeom prst="roundRect">
            <a:avLst>
              <a:gd name="adj" fmla="val 46875"/>
            </a:avLst>
          </a:prstGeom>
          <a:solidFill>
            <a:schemeClr val="accent4">
              <a:alpha val="12000"/>
            </a:schemeClr>
          </a:solidFill>
          <a:ln w="12700">
            <a:solidFill>
              <a:srgbClr val="B4236A"/>
            </a:solidFill>
            <a:prstDash val="solid"/>
          </a:ln>
        </p:spPr>
      </p:sp>
      <p:sp>
        <p:nvSpPr>
          <p:cNvPr id="51" name="Text 45"/>
          <p:cNvSpPr txBox="1"/>
          <p:nvPr/>
        </p:nvSpPr>
        <p:spPr>
          <a:xfrm>
            <a:off x="9418320" y="4062984"/>
            <a:ext cx="19933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C</a:t>
            </a:r>
            <a:r>
              <a:rPr lang="en-US" sz="1700" dirty="0">
                <a:solidFill>
                  <a:schemeClr val="tx1"/>
                </a:solidFill>
              </a:rPr>
              <a:t>  </a:t>
            </a:r>
            <a:r>
              <a:rPr lang="en-US" sz="1700" i="1" dirty="0">
                <a:solidFill>
                  <a:schemeClr val="tx1"/>
                </a:solidFill>
              </a:rPr>
              <a:t>Hoe gaat ’t?</a:t>
            </a:r>
            <a:endParaRPr lang="en-US" sz="1700" dirty="0"/>
          </a:p>
        </p:txBody>
      </p:sp>
      <p:sp>
        <p:nvSpPr>
          <p:cNvPr id="52" name="Shape 46"/>
          <p:cNvSpPr/>
          <p:nvPr/>
        </p:nvSpPr>
        <p:spPr>
          <a:xfrm>
            <a:off x="6446520" y="4904232"/>
            <a:ext cx="365760" cy="365760"/>
          </a:xfrm>
          <a:prstGeom prst="ellipse">
            <a:avLst/>
          </a:prstGeom>
          <a:solidFill>
            <a:schemeClr val="accent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3" name="Text 47"/>
          <p:cNvSpPr txBox="1"/>
          <p:nvPr/>
        </p:nvSpPr>
        <p:spPr>
          <a:xfrm>
            <a:off x="6446520" y="49042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54" name="Text 48"/>
          <p:cNvSpPr txBox="1"/>
          <p:nvPr/>
        </p:nvSpPr>
        <p:spPr>
          <a:xfrm>
            <a:off x="6903720" y="4794504"/>
            <a:ext cx="2240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tx1"/>
                </a:solidFill>
              </a:rPr>
              <a:t>Dat is goed.</a:t>
            </a:r>
            <a:endParaRPr lang="en-US" sz="1700" dirty="0"/>
          </a:p>
        </p:txBody>
      </p:sp>
      <p:sp>
        <p:nvSpPr>
          <p:cNvPr id="55" name="Shape 49"/>
          <p:cNvSpPr/>
          <p:nvPr/>
        </p:nvSpPr>
        <p:spPr>
          <a:xfrm>
            <a:off x="9281160" y="4794504"/>
            <a:ext cx="2176272" cy="585216"/>
          </a:xfrm>
          <a:prstGeom prst="roundRect">
            <a:avLst>
              <a:gd name="adj" fmla="val 46875"/>
            </a:avLst>
          </a:prstGeom>
          <a:solidFill>
            <a:schemeClr val="accent4">
              <a:alpha val="12000"/>
            </a:schemeClr>
          </a:solidFill>
          <a:ln w="12700">
            <a:solidFill>
              <a:srgbClr val="B4236A"/>
            </a:solidFill>
            <a:prstDash val="solid"/>
          </a:ln>
        </p:spPr>
      </p:sp>
      <p:sp>
        <p:nvSpPr>
          <p:cNvPr id="56" name="Text 50"/>
          <p:cNvSpPr txBox="1"/>
          <p:nvPr/>
        </p:nvSpPr>
        <p:spPr>
          <a:xfrm>
            <a:off x="9418320" y="4794504"/>
            <a:ext cx="19933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D</a:t>
            </a:r>
            <a:r>
              <a:rPr lang="en-US" sz="1700" dirty="0">
                <a:solidFill>
                  <a:schemeClr val="tx1"/>
                </a:solidFill>
              </a:rPr>
              <a:t>  </a:t>
            </a:r>
            <a:r>
              <a:rPr lang="en-US" sz="1700" i="1" dirty="0">
                <a:solidFill>
                  <a:schemeClr val="tx1"/>
                </a:solidFill>
              </a:rPr>
              <a:t>Heb je ’n pen?</a:t>
            </a:r>
            <a:endParaRPr lang="en-US" sz="1700" dirty="0"/>
          </a:p>
        </p:txBody>
      </p:sp>
      <p:sp>
        <p:nvSpPr>
          <p:cNvPr id="57" name="Shape 51"/>
          <p:cNvSpPr/>
          <p:nvPr/>
        </p:nvSpPr>
        <p:spPr>
          <a:xfrm>
            <a:off x="548640" y="5669280"/>
            <a:ext cx="11091672" cy="566928"/>
          </a:xfrm>
          <a:prstGeom prst="roundRect">
            <a:avLst>
              <a:gd name="adj" fmla="val 12903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8" name="Text 52"/>
          <p:cNvSpPr txBox="1"/>
          <p:nvPr/>
        </p:nvSpPr>
        <p:spPr>
          <a:xfrm>
            <a:off x="822960" y="566928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Les formes rapides (</a:t>
            </a:r>
            <a:r>
              <a:rPr lang="en-US" sz="1700" i="1" dirty="0">
                <a:solidFill>
                  <a:schemeClr val="bg1"/>
                </a:solidFill>
              </a:rPr>
              <a:t>’k, ’t, ’n, da’s</a:t>
            </a:r>
            <a:r>
              <a:rPr lang="en-US" sz="1700" dirty="0">
                <a:solidFill>
                  <a:schemeClr val="bg1"/>
                </a:solidFill>
              </a:rPr>
              <a:t>) sont à </a:t>
            </a:r>
            <a:r>
              <a:rPr lang="en-US" sz="1700" b="1" dirty="0">
                <a:solidFill>
                  <a:schemeClr val="bg1"/>
                </a:solidFill>
              </a:rPr>
              <a:t>reconnaître</a:t>
            </a:r>
            <a:r>
              <a:rPr lang="en-US" sz="1700" dirty="0">
                <a:solidFill>
                  <a:schemeClr val="bg1"/>
                </a:solidFill>
              </a:rPr>
              <a:t> : on ne les écrit pas dans un e-mail !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Le championnat des tongbrekers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3065069" cy="310896"/>
          </a:xfrm>
          <a:prstGeom prst="roundRect">
            <a:avLst>
              <a:gd name="adj" fmla="val 14706"/>
            </a:avLst>
          </a:prstGeom>
          <a:solidFill>
            <a:srgbClr val="6E4A9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SÉANCE 5 · ② S’ENTRAÎNER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9747504" y="393192"/>
            <a:ext cx="1682496" cy="914"/>
          </a:xfrm>
          <a:prstGeom prst="line">
            <a:avLst/>
          </a:prstGeom>
          <a:noFill/>
          <a:ln w="25400">
            <a:solidFill>
              <a:srgbClr val="D5DCE6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9582912" y="228600"/>
            <a:ext cx="329184" cy="32918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A6FB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582912" y="2286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1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10003536" y="228600"/>
            <a:ext cx="329184" cy="32918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4236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0003536" y="2286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2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10424160" y="228600"/>
            <a:ext cx="329184" cy="32918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9700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0424160" y="2286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3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10844784" y="228600"/>
            <a:ext cx="329184" cy="32918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E7D4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0844784" y="2286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4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11265408" y="228600"/>
            <a:ext cx="329184" cy="329184"/>
          </a:xfrm>
          <a:prstGeom prst="ellipse">
            <a:avLst/>
          </a:prstGeom>
          <a:solidFill>
            <a:srgbClr val="6E4A9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11265408" y="2286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5</a:t>
            </a:r>
            <a:endParaRPr lang="en-US" sz="1200" dirty="0"/>
          </a:p>
        </p:txBody>
      </p:sp>
      <p:pic>
        <p:nvPicPr>
          <p:cNvPr id="16" name="Image 0" descr="HandPointRigh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17904"/>
            <a:ext cx="274320" cy="27432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960120" y="1481328"/>
            <a:ext cx="10680192" cy="31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accent5"/>
                </a:solidFill>
              </a:rPr>
              <a:t>Choisissez un niveau, lisez 3 fois de plus en plus vite. Le jury (la classe) donne 1 à 3 étoiles.</a:t>
            </a:r>
            <a:endParaRPr lang="en-US" sz="1700" dirty="0"/>
          </a:p>
        </p:txBody>
      </p:sp>
      <p:sp>
        <p:nvSpPr>
          <p:cNvPr id="18" name="Shape 14"/>
          <p:cNvSpPr/>
          <p:nvPr/>
        </p:nvSpPr>
        <p:spPr>
          <a:xfrm>
            <a:off x="548640" y="1959864"/>
            <a:ext cx="8229600" cy="621284"/>
          </a:xfrm>
          <a:prstGeom prst="roundRect">
            <a:avLst>
              <a:gd name="adj" fmla="val 11774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548640" y="1959864"/>
            <a:ext cx="868680" cy="621284"/>
          </a:xfrm>
          <a:prstGeom prst="roundRect">
            <a:avLst>
              <a:gd name="adj" fmla="val 11774"/>
            </a:avLst>
          </a:prstGeom>
          <a:solidFill>
            <a:schemeClr val="accent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548640" y="1959864"/>
            <a:ext cx="868680" cy="6212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★</a:t>
            </a:r>
            <a:endParaRPr lang="en-US" sz="1400" dirty="0"/>
          </a:p>
        </p:txBody>
      </p:sp>
      <p:sp>
        <p:nvSpPr>
          <p:cNvPr id="21" name="Text 17"/>
          <p:cNvSpPr txBox="1"/>
          <p:nvPr/>
        </p:nvSpPr>
        <p:spPr>
          <a:xfrm>
            <a:off x="1554480" y="1959864"/>
            <a:ext cx="5166360" cy="6212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tx1"/>
                </a:solidFill>
              </a:rPr>
              <a:t>De kat krabt de krullen van de trap.</a:t>
            </a:r>
            <a:endParaRPr lang="en-US" sz="1700" dirty="0"/>
          </a:p>
        </p:txBody>
      </p:sp>
      <p:sp>
        <p:nvSpPr>
          <p:cNvPr id="22" name="Shape 18"/>
          <p:cNvSpPr/>
          <p:nvPr/>
        </p:nvSpPr>
        <p:spPr>
          <a:xfrm>
            <a:off x="7360920" y="2096770"/>
            <a:ext cx="1298448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7360920" y="2096770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3"/>
                </a:solidFill>
              </a:rPr>
              <a:t>k · r · a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548640" y="2690876"/>
            <a:ext cx="8229600" cy="621284"/>
          </a:xfrm>
          <a:prstGeom prst="roundRect">
            <a:avLst>
              <a:gd name="adj" fmla="val 11774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548640" y="2690876"/>
            <a:ext cx="868680" cy="621284"/>
          </a:xfrm>
          <a:prstGeom prst="roundRect">
            <a:avLst>
              <a:gd name="adj" fmla="val 11774"/>
            </a:avLst>
          </a:prstGeom>
          <a:solidFill>
            <a:schemeClr val="accent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548640" y="2690876"/>
            <a:ext cx="868680" cy="6212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★</a:t>
            </a:r>
            <a:endParaRPr lang="en-US" sz="1400" dirty="0"/>
          </a:p>
        </p:txBody>
      </p:sp>
      <p:sp>
        <p:nvSpPr>
          <p:cNvPr id="27" name="Text 23"/>
          <p:cNvSpPr txBox="1"/>
          <p:nvPr/>
        </p:nvSpPr>
        <p:spPr>
          <a:xfrm>
            <a:off x="1554480" y="2690876"/>
            <a:ext cx="5166360" cy="6212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tx1"/>
                </a:solidFill>
              </a:rPr>
              <a:t>Liesje leerde Lotje lopen langs de lange Lindelaan.</a:t>
            </a:r>
            <a:endParaRPr lang="en-US" sz="1700" dirty="0"/>
          </a:p>
        </p:txBody>
      </p:sp>
      <p:sp>
        <p:nvSpPr>
          <p:cNvPr id="28" name="Shape 24"/>
          <p:cNvSpPr/>
          <p:nvPr/>
        </p:nvSpPr>
        <p:spPr>
          <a:xfrm>
            <a:off x="7360920" y="2827782"/>
            <a:ext cx="1298448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29" name="Text 25"/>
          <p:cNvSpPr txBox="1"/>
          <p:nvPr/>
        </p:nvSpPr>
        <p:spPr>
          <a:xfrm>
            <a:off x="7360920" y="2827782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3"/>
                </a:solidFill>
              </a:rPr>
              <a:t>l · ie · oo</a:t>
            </a:r>
            <a:endParaRPr lang="en-US" sz="1100" dirty="0"/>
          </a:p>
        </p:txBody>
      </p:sp>
      <p:sp>
        <p:nvSpPr>
          <p:cNvPr id="30" name="Shape 26"/>
          <p:cNvSpPr/>
          <p:nvPr/>
        </p:nvSpPr>
        <p:spPr>
          <a:xfrm>
            <a:off x="548640" y="3421888"/>
            <a:ext cx="8229600" cy="621284"/>
          </a:xfrm>
          <a:prstGeom prst="roundRect">
            <a:avLst>
              <a:gd name="adj" fmla="val 11774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548640" y="3421888"/>
            <a:ext cx="868680" cy="621284"/>
          </a:xfrm>
          <a:prstGeom prst="roundRect">
            <a:avLst>
              <a:gd name="adj" fmla="val 11774"/>
            </a:avLst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ext 28"/>
          <p:cNvSpPr txBox="1"/>
          <p:nvPr/>
        </p:nvSpPr>
        <p:spPr>
          <a:xfrm>
            <a:off x="548640" y="3421888"/>
            <a:ext cx="868680" cy="6212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★★</a:t>
            </a:r>
            <a:endParaRPr lang="en-US" sz="1400" dirty="0"/>
          </a:p>
        </p:txBody>
      </p:sp>
      <p:sp>
        <p:nvSpPr>
          <p:cNvPr id="33" name="Text 29"/>
          <p:cNvSpPr txBox="1"/>
          <p:nvPr/>
        </p:nvSpPr>
        <p:spPr>
          <a:xfrm>
            <a:off x="1554480" y="3421888"/>
            <a:ext cx="5166360" cy="6212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tx1"/>
                </a:solidFill>
              </a:rPr>
              <a:t>Ik heet Hans en ik eet graag haring.</a:t>
            </a:r>
            <a:endParaRPr lang="en-US" sz="1700" dirty="0"/>
          </a:p>
        </p:txBody>
      </p:sp>
      <p:sp>
        <p:nvSpPr>
          <p:cNvPr id="34" name="Shape 30"/>
          <p:cNvSpPr/>
          <p:nvPr/>
        </p:nvSpPr>
        <p:spPr>
          <a:xfrm>
            <a:off x="7360920" y="3558794"/>
            <a:ext cx="1298448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700F"/>
            </a:solidFill>
            <a:prstDash val="solid"/>
          </a:ln>
        </p:spPr>
      </p:sp>
      <p:sp>
        <p:nvSpPr>
          <p:cNvPr id="35" name="Text 31"/>
          <p:cNvSpPr txBox="1"/>
          <p:nvPr/>
        </p:nvSpPr>
        <p:spPr>
          <a:xfrm>
            <a:off x="7360920" y="3558794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h</a:t>
            </a:r>
            <a:endParaRPr lang="en-US" sz="1100" dirty="0"/>
          </a:p>
        </p:txBody>
      </p:sp>
      <p:sp>
        <p:nvSpPr>
          <p:cNvPr id="36" name="Shape 32"/>
          <p:cNvSpPr/>
          <p:nvPr/>
        </p:nvSpPr>
        <p:spPr>
          <a:xfrm>
            <a:off x="548640" y="4152900"/>
            <a:ext cx="8229600" cy="621284"/>
          </a:xfrm>
          <a:prstGeom prst="roundRect">
            <a:avLst>
              <a:gd name="adj" fmla="val 11774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37" name="Shape 33"/>
          <p:cNvSpPr/>
          <p:nvPr/>
        </p:nvSpPr>
        <p:spPr>
          <a:xfrm>
            <a:off x="548640" y="4152900"/>
            <a:ext cx="868680" cy="621284"/>
          </a:xfrm>
          <a:prstGeom prst="roundRect">
            <a:avLst>
              <a:gd name="adj" fmla="val 11774"/>
            </a:avLst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Text 34"/>
          <p:cNvSpPr txBox="1"/>
          <p:nvPr/>
        </p:nvSpPr>
        <p:spPr>
          <a:xfrm>
            <a:off x="548640" y="4152900"/>
            <a:ext cx="868680" cy="6212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★★</a:t>
            </a:r>
            <a:endParaRPr lang="en-US" sz="1400" dirty="0"/>
          </a:p>
        </p:txBody>
      </p:sp>
      <p:sp>
        <p:nvSpPr>
          <p:cNvPr id="39" name="Text 35"/>
          <p:cNvSpPr txBox="1"/>
          <p:nvPr/>
        </p:nvSpPr>
        <p:spPr>
          <a:xfrm>
            <a:off x="1554480" y="4152900"/>
            <a:ext cx="5166360" cy="6212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tx1"/>
                </a:solidFill>
              </a:rPr>
              <a:t>Acht grijze ganzen gingen gisteren gezellig naar Gent.</a:t>
            </a:r>
            <a:endParaRPr lang="en-US" sz="1700" dirty="0"/>
          </a:p>
        </p:txBody>
      </p:sp>
      <p:sp>
        <p:nvSpPr>
          <p:cNvPr id="40" name="Shape 36"/>
          <p:cNvSpPr/>
          <p:nvPr/>
        </p:nvSpPr>
        <p:spPr>
          <a:xfrm>
            <a:off x="7360920" y="4289806"/>
            <a:ext cx="1298448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700F"/>
            </a:solidFill>
            <a:prstDash val="solid"/>
          </a:ln>
        </p:spPr>
      </p:sp>
      <p:sp>
        <p:nvSpPr>
          <p:cNvPr id="41" name="Text 37"/>
          <p:cNvSpPr txBox="1"/>
          <p:nvPr/>
        </p:nvSpPr>
        <p:spPr>
          <a:xfrm>
            <a:off x="7360920" y="4289806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g / ch</a:t>
            </a:r>
            <a:endParaRPr lang="en-US" sz="1100" dirty="0"/>
          </a:p>
        </p:txBody>
      </p:sp>
      <p:sp>
        <p:nvSpPr>
          <p:cNvPr id="42" name="Shape 38"/>
          <p:cNvSpPr/>
          <p:nvPr/>
        </p:nvSpPr>
        <p:spPr>
          <a:xfrm>
            <a:off x="548640" y="4883912"/>
            <a:ext cx="8229600" cy="621284"/>
          </a:xfrm>
          <a:prstGeom prst="roundRect">
            <a:avLst>
              <a:gd name="adj" fmla="val 11774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43" name="Shape 39"/>
          <p:cNvSpPr/>
          <p:nvPr/>
        </p:nvSpPr>
        <p:spPr>
          <a:xfrm>
            <a:off x="548640" y="4883912"/>
            <a:ext cx="868680" cy="621284"/>
          </a:xfrm>
          <a:prstGeom prst="roundRect">
            <a:avLst>
              <a:gd name="adj" fmla="val 11774"/>
            </a:avLst>
          </a:prstGeom>
          <a:solidFill>
            <a:schemeClr val="accent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" name="Text 40"/>
          <p:cNvSpPr txBox="1"/>
          <p:nvPr/>
        </p:nvSpPr>
        <p:spPr>
          <a:xfrm>
            <a:off x="548640" y="4883912"/>
            <a:ext cx="868680" cy="6212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★★★</a:t>
            </a:r>
            <a:endParaRPr lang="en-US" sz="1400" dirty="0"/>
          </a:p>
        </p:txBody>
      </p:sp>
      <p:sp>
        <p:nvSpPr>
          <p:cNvPr id="45" name="Text 41"/>
          <p:cNvSpPr txBox="1"/>
          <p:nvPr/>
        </p:nvSpPr>
        <p:spPr>
          <a:xfrm>
            <a:off x="1554480" y="4883912"/>
            <a:ext cx="5166360" cy="6212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tx1"/>
                </a:solidFill>
              </a:rPr>
              <a:t>De koetsier poetst de postkoets met postkoetspoets.</a:t>
            </a:r>
            <a:endParaRPr lang="en-US" sz="1700" dirty="0"/>
          </a:p>
        </p:txBody>
      </p:sp>
      <p:sp>
        <p:nvSpPr>
          <p:cNvPr id="46" name="Shape 42"/>
          <p:cNvSpPr/>
          <p:nvPr/>
        </p:nvSpPr>
        <p:spPr>
          <a:xfrm>
            <a:off x="7360920" y="5020818"/>
            <a:ext cx="1298448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47" name="Text 43"/>
          <p:cNvSpPr txBox="1"/>
          <p:nvPr/>
        </p:nvSpPr>
        <p:spPr>
          <a:xfrm>
            <a:off x="7360920" y="5020818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6"/>
                </a:solidFill>
              </a:rPr>
              <a:t>oe · ts</a:t>
            </a:r>
            <a:endParaRPr lang="en-US" sz="1100" dirty="0"/>
          </a:p>
        </p:txBody>
      </p:sp>
      <p:sp>
        <p:nvSpPr>
          <p:cNvPr id="48" name="Shape 44"/>
          <p:cNvSpPr/>
          <p:nvPr/>
        </p:nvSpPr>
        <p:spPr>
          <a:xfrm>
            <a:off x="548640" y="5614924"/>
            <a:ext cx="8229600" cy="621284"/>
          </a:xfrm>
          <a:prstGeom prst="roundRect">
            <a:avLst>
              <a:gd name="adj" fmla="val 11774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49" name="Shape 45"/>
          <p:cNvSpPr/>
          <p:nvPr/>
        </p:nvSpPr>
        <p:spPr>
          <a:xfrm>
            <a:off x="548640" y="5614924"/>
            <a:ext cx="868680" cy="621284"/>
          </a:xfrm>
          <a:prstGeom prst="roundRect">
            <a:avLst>
              <a:gd name="adj" fmla="val 11774"/>
            </a:avLst>
          </a:prstGeom>
          <a:solidFill>
            <a:schemeClr val="accent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0" name="Text 46"/>
          <p:cNvSpPr txBox="1"/>
          <p:nvPr/>
        </p:nvSpPr>
        <p:spPr>
          <a:xfrm>
            <a:off x="548640" y="5614924"/>
            <a:ext cx="868680" cy="6212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★★★</a:t>
            </a:r>
            <a:endParaRPr lang="en-US" sz="1400" dirty="0"/>
          </a:p>
        </p:txBody>
      </p:sp>
      <p:sp>
        <p:nvSpPr>
          <p:cNvPr id="51" name="Text 47"/>
          <p:cNvSpPr txBox="1"/>
          <p:nvPr/>
        </p:nvSpPr>
        <p:spPr>
          <a:xfrm>
            <a:off x="1554480" y="5614924"/>
            <a:ext cx="5166360" cy="6212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tx1"/>
                </a:solidFill>
              </a:rPr>
              <a:t>Als achter vliegen vliegen vliegen, vliegen vliegen vliegen achterna.</a:t>
            </a:r>
            <a:endParaRPr lang="en-US" sz="1700" dirty="0"/>
          </a:p>
        </p:txBody>
      </p:sp>
      <p:sp>
        <p:nvSpPr>
          <p:cNvPr id="52" name="Shape 48"/>
          <p:cNvSpPr/>
          <p:nvPr/>
        </p:nvSpPr>
        <p:spPr>
          <a:xfrm>
            <a:off x="7360920" y="5751830"/>
            <a:ext cx="1298448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53" name="Text 49"/>
          <p:cNvSpPr txBox="1"/>
          <p:nvPr/>
        </p:nvSpPr>
        <p:spPr>
          <a:xfrm>
            <a:off x="7360920" y="5751830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6"/>
                </a:solidFill>
              </a:rPr>
              <a:t>v · ie · ch</a:t>
            </a:r>
            <a:endParaRPr lang="en-US" sz="1100" dirty="0"/>
          </a:p>
        </p:txBody>
      </p:sp>
      <p:sp>
        <p:nvSpPr>
          <p:cNvPr id="54" name="Shape 50"/>
          <p:cNvSpPr/>
          <p:nvPr/>
        </p:nvSpPr>
        <p:spPr>
          <a:xfrm>
            <a:off x="9098280" y="4983480"/>
            <a:ext cx="822960" cy="1188720"/>
          </a:xfrm>
          <a:prstGeom prst="roundRect">
            <a:avLst>
              <a:gd name="adj" fmla="val 4444"/>
            </a:avLst>
          </a:prstGeom>
          <a:solidFill>
            <a:schemeClr val="accent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5" name="Text 51"/>
          <p:cNvSpPr txBox="1"/>
          <p:nvPr/>
        </p:nvSpPr>
        <p:spPr>
          <a:xfrm>
            <a:off x="9098280" y="498348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pic>
        <p:nvPicPr>
          <p:cNvPr id="56" name="Image 1" descr="2nd place meda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5440" y="4389120"/>
            <a:ext cx="548640" cy="548640"/>
          </a:xfrm>
          <a:prstGeom prst="rect">
            <a:avLst/>
          </a:prstGeom>
        </p:spPr>
      </p:pic>
      <p:sp>
        <p:nvSpPr>
          <p:cNvPr id="57" name="Shape 52"/>
          <p:cNvSpPr/>
          <p:nvPr/>
        </p:nvSpPr>
        <p:spPr>
          <a:xfrm>
            <a:off x="9966960" y="4480560"/>
            <a:ext cx="822960" cy="1691640"/>
          </a:xfrm>
          <a:prstGeom prst="roundRect">
            <a:avLst>
              <a:gd name="adj" fmla="val 4444"/>
            </a:avLst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8" name="Text 53"/>
          <p:cNvSpPr txBox="1"/>
          <p:nvPr/>
        </p:nvSpPr>
        <p:spPr>
          <a:xfrm>
            <a:off x="9966960" y="448056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pic>
        <p:nvPicPr>
          <p:cNvPr id="59" name="Image 2" descr="1st place medal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4120" y="3886200"/>
            <a:ext cx="548640" cy="548640"/>
          </a:xfrm>
          <a:prstGeom prst="rect">
            <a:avLst/>
          </a:prstGeom>
        </p:spPr>
      </p:pic>
      <p:sp>
        <p:nvSpPr>
          <p:cNvPr id="60" name="Shape 54"/>
          <p:cNvSpPr/>
          <p:nvPr/>
        </p:nvSpPr>
        <p:spPr>
          <a:xfrm>
            <a:off x="10835640" y="5303520"/>
            <a:ext cx="822960" cy="868680"/>
          </a:xfrm>
          <a:prstGeom prst="roundRect">
            <a:avLst>
              <a:gd name="adj" fmla="val 4444"/>
            </a:avLst>
          </a:prstGeom>
          <a:solidFill>
            <a:schemeClr val="accent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1" name="Text 55"/>
          <p:cNvSpPr txBox="1"/>
          <p:nvPr/>
        </p:nvSpPr>
        <p:spPr>
          <a:xfrm>
            <a:off x="10835640" y="530352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pic>
        <p:nvPicPr>
          <p:cNvPr id="62" name="Image 3" descr="3rd place medal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0" y="4709160"/>
            <a:ext cx="548640" cy="548640"/>
          </a:xfrm>
          <a:prstGeom prst="rect">
            <a:avLst/>
          </a:prstGeom>
        </p:spPr>
      </p:pic>
      <p:pic>
        <p:nvPicPr>
          <p:cNvPr id="63" name="Image 4" descr="trophy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66960" y="1959864"/>
            <a:ext cx="822960" cy="8229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Le morpion des sons — bilan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2417674" cy="310896"/>
          </a:xfrm>
          <a:prstGeom prst="roundRect">
            <a:avLst>
              <a:gd name="adj" fmla="val 14706"/>
            </a:avLst>
          </a:prstGeom>
          <a:solidFill>
            <a:srgbClr val="6E4A9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SÉANCE 5 · ③ JOUER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9747504" y="393192"/>
            <a:ext cx="1682496" cy="914"/>
          </a:xfrm>
          <a:prstGeom prst="line">
            <a:avLst/>
          </a:prstGeom>
          <a:noFill/>
          <a:ln w="25400">
            <a:solidFill>
              <a:srgbClr val="D5DCE6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9582912" y="228600"/>
            <a:ext cx="329184" cy="32918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A6FB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582912" y="2286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1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10003536" y="228600"/>
            <a:ext cx="329184" cy="32918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4236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0003536" y="2286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2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10424160" y="228600"/>
            <a:ext cx="329184" cy="32918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9700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0424160" y="2286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3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10844784" y="228600"/>
            <a:ext cx="329184" cy="32918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E7D4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0844784" y="2286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4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11265408" y="228600"/>
            <a:ext cx="329184" cy="329184"/>
          </a:xfrm>
          <a:prstGeom prst="ellipse">
            <a:avLst/>
          </a:prstGeom>
          <a:solidFill>
            <a:srgbClr val="6E4A9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11265408" y="2286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5</a:t>
            </a:r>
            <a:endParaRPr lang="en-US" sz="1200" dirty="0"/>
          </a:p>
        </p:txBody>
      </p:sp>
      <p:pic>
        <p:nvPicPr>
          <p:cNvPr id="16" name="Image 0" descr="HandPointRigh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17904"/>
            <a:ext cx="274320" cy="27432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960120" y="1481328"/>
            <a:ext cx="10680192" cy="573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accent5"/>
                </a:solidFill>
              </a:rPr>
              <a:t>Deux équipes, X et O : choisissez une case, relevez le défi. Réussi = votre signe. Trois signes alignés = victoire !</a:t>
            </a:r>
            <a:endParaRPr lang="en-US" sz="1700" dirty="0"/>
          </a:p>
        </p:txBody>
      </p:sp>
      <p:sp>
        <p:nvSpPr>
          <p:cNvPr id="18" name="Shape 14"/>
          <p:cNvSpPr/>
          <p:nvPr/>
        </p:nvSpPr>
        <p:spPr>
          <a:xfrm>
            <a:off x="548640" y="2218944"/>
            <a:ext cx="2331720" cy="1259840"/>
          </a:xfrm>
          <a:prstGeom prst="roundRect">
            <a:avLst>
              <a:gd name="adj" fmla="val 4355"/>
            </a:avLst>
          </a:prstGeom>
          <a:solidFill>
            <a:srgbClr val="FFFFFF"/>
          </a:solidFill>
          <a:ln w="25400">
            <a:solidFill>
              <a:srgbClr val="17375E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40080" y="2310384"/>
            <a:ext cx="365760" cy="365760"/>
          </a:xfrm>
          <a:prstGeom prst="ellipse">
            <a:avLst/>
          </a:prstGeom>
          <a:solidFill>
            <a:schemeClr val="accent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640080" y="23103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21" name="Text 17"/>
          <p:cNvSpPr txBox="1"/>
          <p:nvPr/>
        </p:nvSpPr>
        <p:spPr>
          <a:xfrm>
            <a:off x="1078992" y="2292096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Lis :</a:t>
            </a:r>
            <a:endParaRPr lang="en-US" sz="1200" dirty="0"/>
          </a:p>
        </p:txBody>
      </p:sp>
      <p:sp>
        <p:nvSpPr>
          <p:cNvPr id="22" name="Text 18"/>
          <p:cNvSpPr txBox="1"/>
          <p:nvPr/>
        </p:nvSpPr>
        <p:spPr>
          <a:xfrm>
            <a:off x="658368" y="2721864"/>
            <a:ext cx="2112264" cy="692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chemeClr val="tx1"/>
                </a:solidFill>
              </a:rPr>
              <a:t>man – maan – bom – boom</a:t>
            </a:r>
            <a:endParaRPr lang="en-US" sz="1600" dirty="0"/>
          </a:p>
        </p:txBody>
      </p:sp>
      <p:sp>
        <p:nvSpPr>
          <p:cNvPr id="23" name="Shape 19"/>
          <p:cNvSpPr/>
          <p:nvPr/>
        </p:nvSpPr>
        <p:spPr>
          <a:xfrm>
            <a:off x="2990088" y="2218944"/>
            <a:ext cx="2331720" cy="1259840"/>
          </a:xfrm>
          <a:prstGeom prst="roundRect">
            <a:avLst>
              <a:gd name="adj" fmla="val 4355"/>
            </a:avLst>
          </a:prstGeom>
          <a:solidFill>
            <a:srgbClr val="FFFFFF"/>
          </a:solidFill>
          <a:ln w="25400">
            <a:solidFill>
              <a:srgbClr val="17375E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3081528" y="2310384"/>
            <a:ext cx="365760" cy="365760"/>
          </a:xfrm>
          <a:prstGeom prst="ellipse">
            <a:avLst/>
          </a:prstGeom>
          <a:solidFill>
            <a:schemeClr val="accent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3081528" y="23103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26" name="Text 22"/>
          <p:cNvSpPr txBox="1"/>
          <p:nvPr/>
        </p:nvSpPr>
        <p:spPr>
          <a:xfrm>
            <a:off x="3520440" y="2292096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Lis :</a:t>
            </a:r>
            <a:endParaRPr lang="en-US" sz="1200" dirty="0"/>
          </a:p>
        </p:txBody>
      </p:sp>
      <p:sp>
        <p:nvSpPr>
          <p:cNvPr id="27" name="Text 23"/>
          <p:cNvSpPr txBox="1"/>
          <p:nvPr/>
        </p:nvSpPr>
        <p:spPr>
          <a:xfrm>
            <a:off x="3099816" y="2721864"/>
            <a:ext cx="2112264" cy="692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chemeClr val="tx1"/>
                </a:solidFill>
              </a:rPr>
              <a:t>bus – buur – buis</a:t>
            </a:r>
            <a:endParaRPr lang="en-US" sz="1600" dirty="0"/>
          </a:p>
        </p:txBody>
      </p:sp>
      <p:sp>
        <p:nvSpPr>
          <p:cNvPr id="28" name="Shape 24"/>
          <p:cNvSpPr/>
          <p:nvPr/>
        </p:nvSpPr>
        <p:spPr>
          <a:xfrm>
            <a:off x="5431536" y="2218944"/>
            <a:ext cx="2331720" cy="1259840"/>
          </a:xfrm>
          <a:prstGeom prst="roundRect">
            <a:avLst>
              <a:gd name="adj" fmla="val 4355"/>
            </a:avLst>
          </a:prstGeom>
          <a:solidFill>
            <a:srgbClr val="FFFFFF"/>
          </a:solidFill>
          <a:ln w="25400">
            <a:solidFill>
              <a:srgbClr val="17375E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5522976" y="2310384"/>
            <a:ext cx="365760" cy="365760"/>
          </a:xfrm>
          <a:prstGeom prst="ellipse">
            <a:avLst/>
          </a:prstGeom>
          <a:solidFill>
            <a:schemeClr val="accent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Text 26"/>
          <p:cNvSpPr txBox="1"/>
          <p:nvPr/>
        </p:nvSpPr>
        <p:spPr>
          <a:xfrm>
            <a:off x="5522976" y="23103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31" name="Text 27"/>
          <p:cNvSpPr txBox="1"/>
          <p:nvPr/>
        </p:nvSpPr>
        <p:spPr>
          <a:xfrm>
            <a:off x="5961888" y="2292096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Dictée :</a:t>
            </a:r>
            <a:endParaRPr lang="en-US" sz="1200" dirty="0"/>
          </a:p>
        </p:txBody>
      </p:sp>
      <p:sp>
        <p:nvSpPr>
          <p:cNvPr id="32" name="Text 28"/>
          <p:cNvSpPr txBox="1"/>
          <p:nvPr/>
        </p:nvSpPr>
        <p:spPr>
          <a:xfrm>
            <a:off x="5541264" y="2721864"/>
            <a:ext cx="2112264" cy="692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chemeClr val="tx1"/>
                </a:solidFill>
              </a:rPr>
              <a:t>ij</a:t>
            </a:r>
            <a:r>
              <a:rPr lang="en-US" sz="1600" dirty="0">
                <a:solidFill>
                  <a:schemeClr val="tx1"/>
                </a:solidFill>
              </a:rPr>
              <a:t> ou </a:t>
            </a:r>
            <a:r>
              <a:rPr lang="en-US" sz="1600" i="1" dirty="0">
                <a:solidFill>
                  <a:schemeClr val="tx1"/>
                </a:solidFill>
              </a:rPr>
              <a:t>ei</a:t>
            </a:r>
            <a:r>
              <a:rPr lang="en-US" sz="1600" dirty="0">
                <a:solidFill>
                  <a:schemeClr val="tx1"/>
                </a:solidFill>
              </a:rPr>
              <a:t> ? (2 mots)</a:t>
            </a:r>
            <a:endParaRPr lang="en-US" sz="1600" dirty="0"/>
          </a:p>
        </p:txBody>
      </p:sp>
      <p:sp>
        <p:nvSpPr>
          <p:cNvPr id="33" name="Shape 29"/>
          <p:cNvSpPr/>
          <p:nvPr/>
        </p:nvSpPr>
        <p:spPr>
          <a:xfrm>
            <a:off x="548640" y="3588512"/>
            <a:ext cx="2331720" cy="1259840"/>
          </a:xfrm>
          <a:prstGeom prst="roundRect">
            <a:avLst>
              <a:gd name="adj" fmla="val 4355"/>
            </a:avLst>
          </a:prstGeom>
          <a:solidFill>
            <a:srgbClr val="FFFFFF"/>
          </a:solidFill>
          <a:ln w="25400">
            <a:solidFill>
              <a:srgbClr val="17375E"/>
            </a:solidFill>
            <a:prstDash val="solid"/>
          </a:ln>
        </p:spPr>
      </p:sp>
      <p:sp>
        <p:nvSpPr>
          <p:cNvPr id="34" name="Shape 30"/>
          <p:cNvSpPr/>
          <p:nvPr/>
        </p:nvSpPr>
        <p:spPr>
          <a:xfrm>
            <a:off x="640080" y="3679952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Text 31"/>
          <p:cNvSpPr txBox="1"/>
          <p:nvPr/>
        </p:nvSpPr>
        <p:spPr>
          <a:xfrm>
            <a:off x="640080" y="36799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36" name="Text 32"/>
          <p:cNvSpPr txBox="1"/>
          <p:nvPr/>
        </p:nvSpPr>
        <p:spPr>
          <a:xfrm>
            <a:off x="1078992" y="3661664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Lis :</a:t>
            </a:r>
            <a:endParaRPr lang="en-US" sz="1200" dirty="0"/>
          </a:p>
        </p:txBody>
      </p:sp>
      <p:sp>
        <p:nvSpPr>
          <p:cNvPr id="37" name="Text 33"/>
          <p:cNvSpPr txBox="1"/>
          <p:nvPr/>
        </p:nvSpPr>
        <p:spPr>
          <a:xfrm>
            <a:off x="658368" y="4091432"/>
            <a:ext cx="2112264" cy="692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chemeClr val="tx1"/>
                </a:solidFill>
              </a:rPr>
              <a:t>Ik heet Tom ≠ Ik eet Tom</a:t>
            </a:r>
            <a:endParaRPr lang="en-US" sz="1600" dirty="0"/>
          </a:p>
        </p:txBody>
      </p:sp>
      <p:sp>
        <p:nvSpPr>
          <p:cNvPr id="38" name="Shape 34"/>
          <p:cNvSpPr/>
          <p:nvPr/>
        </p:nvSpPr>
        <p:spPr>
          <a:xfrm>
            <a:off x="2990088" y="3588512"/>
            <a:ext cx="2331720" cy="1259840"/>
          </a:xfrm>
          <a:prstGeom prst="roundRect">
            <a:avLst>
              <a:gd name="adj" fmla="val 4355"/>
            </a:avLst>
          </a:prstGeom>
          <a:solidFill>
            <a:srgbClr val="FDF1E6"/>
          </a:solidFill>
          <a:ln w="38100">
            <a:solidFill>
              <a:srgbClr val="D9700F"/>
            </a:solidFill>
            <a:prstDash val="solid"/>
          </a:ln>
        </p:spPr>
      </p:sp>
      <p:sp>
        <p:nvSpPr>
          <p:cNvPr id="39" name="Shape 35"/>
          <p:cNvSpPr/>
          <p:nvPr/>
        </p:nvSpPr>
        <p:spPr>
          <a:xfrm>
            <a:off x="3081528" y="3679952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Text 36"/>
          <p:cNvSpPr txBox="1"/>
          <p:nvPr/>
        </p:nvSpPr>
        <p:spPr>
          <a:xfrm>
            <a:off x="3081528" y="36799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41" name="Text 37"/>
          <p:cNvSpPr txBox="1"/>
          <p:nvPr/>
        </p:nvSpPr>
        <p:spPr>
          <a:xfrm>
            <a:off x="3520440" y="3661664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★★★ Lis :</a:t>
            </a:r>
            <a:endParaRPr lang="en-US" sz="1200" dirty="0"/>
          </a:p>
        </p:txBody>
      </p:sp>
      <p:sp>
        <p:nvSpPr>
          <p:cNvPr id="42" name="Text 38"/>
          <p:cNvSpPr txBox="1"/>
          <p:nvPr/>
        </p:nvSpPr>
        <p:spPr>
          <a:xfrm>
            <a:off x="3099816" y="4091432"/>
            <a:ext cx="2112264" cy="692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i="1" dirty="0">
                <a:solidFill>
                  <a:schemeClr val="tx1"/>
                </a:solidFill>
              </a:rPr>
              <a:t>Scheveningen</a:t>
            </a:r>
            <a:endParaRPr lang="en-US" sz="2000" dirty="0"/>
          </a:p>
        </p:txBody>
      </p:sp>
      <p:pic>
        <p:nvPicPr>
          <p:cNvPr id="43" name="Image 1" descr="beach with umbrell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3168" y="3643376"/>
            <a:ext cx="457200" cy="457200"/>
          </a:xfrm>
          <a:prstGeom prst="rect">
            <a:avLst/>
          </a:prstGeom>
        </p:spPr>
      </p:pic>
      <p:sp>
        <p:nvSpPr>
          <p:cNvPr id="44" name="Shape 39"/>
          <p:cNvSpPr/>
          <p:nvPr/>
        </p:nvSpPr>
        <p:spPr>
          <a:xfrm>
            <a:off x="5431536" y="3588512"/>
            <a:ext cx="2331720" cy="1259840"/>
          </a:xfrm>
          <a:prstGeom prst="roundRect">
            <a:avLst>
              <a:gd name="adj" fmla="val 4355"/>
            </a:avLst>
          </a:prstGeom>
          <a:solidFill>
            <a:srgbClr val="FFFFFF"/>
          </a:solidFill>
          <a:ln w="25400">
            <a:solidFill>
              <a:srgbClr val="17375E"/>
            </a:solidFill>
            <a:prstDash val="solid"/>
          </a:ln>
        </p:spPr>
      </p:sp>
      <p:sp>
        <p:nvSpPr>
          <p:cNvPr id="45" name="Shape 40"/>
          <p:cNvSpPr/>
          <p:nvPr/>
        </p:nvSpPr>
        <p:spPr>
          <a:xfrm>
            <a:off x="5522976" y="3679952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6" name="Text 41"/>
          <p:cNvSpPr txBox="1"/>
          <p:nvPr/>
        </p:nvSpPr>
        <p:spPr>
          <a:xfrm>
            <a:off x="5522976" y="36799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47" name="Text 42"/>
          <p:cNvSpPr txBox="1"/>
          <p:nvPr/>
        </p:nvSpPr>
        <p:spPr>
          <a:xfrm>
            <a:off x="5961888" y="3661664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Lis :</a:t>
            </a:r>
            <a:endParaRPr lang="en-US" sz="1200" dirty="0"/>
          </a:p>
        </p:txBody>
      </p:sp>
      <p:sp>
        <p:nvSpPr>
          <p:cNvPr id="48" name="Text 43"/>
          <p:cNvSpPr txBox="1"/>
          <p:nvPr/>
        </p:nvSpPr>
        <p:spPr>
          <a:xfrm>
            <a:off x="5541264" y="4091432"/>
            <a:ext cx="2112264" cy="692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chemeClr val="tx1"/>
                </a:solidFill>
              </a:rPr>
              <a:t>meisje · oranje · Tsjechië</a:t>
            </a:r>
            <a:endParaRPr lang="en-US" sz="1600" dirty="0"/>
          </a:p>
        </p:txBody>
      </p:sp>
      <p:sp>
        <p:nvSpPr>
          <p:cNvPr id="49" name="Shape 44"/>
          <p:cNvSpPr/>
          <p:nvPr/>
        </p:nvSpPr>
        <p:spPr>
          <a:xfrm>
            <a:off x="548640" y="4958080"/>
            <a:ext cx="2331720" cy="1259840"/>
          </a:xfrm>
          <a:prstGeom prst="roundRect">
            <a:avLst>
              <a:gd name="adj" fmla="val 4355"/>
            </a:avLst>
          </a:prstGeom>
          <a:solidFill>
            <a:srgbClr val="FFFFFF"/>
          </a:solidFill>
          <a:ln w="25400">
            <a:solidFill>
              <a:srgbClr val="17375E"/>
            </a:solidFill>
            <a:prstDash val="solid"/>
          </a:ln>
        </p:spPr>
      </p:sp>
      <p:sp>
        <p:nvSpPr>
          <p:cNvPr id="50" name="Shape 45"/>
          <p:cNvSpPr/>
          <p:nvPr/>
        </p:nvSpPr>
        <p:spPr>
          <a:xfrm>
            <a:off x="640080" y="5049520"/>
            <a:ext cx="365760" cy="365760"/>
          </a:xfrm>
          <a:prstGeom prst="ellipse">
            <a:avLst/>
          </a:prstGeom>
          <a:solidFill>
            <a:schemeClr val="accent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1" name="Text 46"/>
          <p:cNvSpPr txBox="1"/>
          <p:nvPr/>
        </p:nvSpPr>
        <p:spPr>
          <a:xfrm>
            <a:off x="640080" y="5049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4</a:t>
            </a:r>
            <a:endParaRPr lang="en-US" sz="1200" dirty="0"/>
          </a:p>
        </p:txBody>
      </p:sp>
      <p:sp>
        <p:nvSpPr>
          <p:cNvPr id="52" name="Text 47"/>
          <p:cNvSpPr txBox="1"/>
          <p:nvPr/>
        </p:nvSpPr>
        <p:spPr>
          <a:xfrm>
            <a:off x="1078992" y="5031232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Syllabes + accent :</a:t>
            </a:r>
            <a:endParaRPr lang="en-US" sz="1200" dirty="0"/>
          </a:p>
        </p:txBody>
      </p:sp>
      <p:sp>
        <p:nvSpPr>
          <p:cNvPr id="53" name="Text 48"/>
          <p:cNvSpPr txBox="1"/>
          <p:nvPr/>
        </p:nvSpPr>
        <p:spPr>
          <a:xfrm>
            <a:off x="658368" y="5461000"/>
            <a:ext cx="2112264" cy="692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chemeClr val="tx1"/>
                </a:solidFill>
              </a:rPr>
              <a:t>vergadering</a:t>
            </a:r>
            <a:endParaRPr lang="en-US" sz="1600" dirty="0"/>
          </a:p>
        </p:txBody>
      </p:sp>
      <p:sp>
        <p:nvSpPr>
          <p:cNvPr id="54" name="Shape 49"/>
          <p:cNvSpPr/>
          <p:nvPr/>
        </p:nvSpPr>
        <p:spPr>
          <a:xfrm>
            <a:off x="2990088" y="4958080"/>
            <a:ext cx="2331720" cy="1259840"/>
          </a:xfrm>
          <a:prstGeom prst="roundRect">
            <a:avLst>
              <a:gd name="adj" fmla="val 4355"/>
            </a:avLst>
          </a:prstGeom>
          <a:solidFill>
            <a:srgbClr val="FFFFFF"/>
          </a:solidFill>
          <a:ln w="25400">
            <a:solidFill>
              <a:srgbClr val="17375E"/>
            </a:solidFill>
            <a:prstDash val="solid"/>
          </a:ln>
        </p:spPr>
      </p:sp>
      <p:sp>
        <p:nvSpPr>
          <p:cNvPr id="55" name="Shape 50"/>
          <p:cNvSpPr/>
          <p:nvPr/>
        </p:nvSpPr>
        <p:spPr>
          <a:xfrm>
            <a:off x="3081528" y="5049520"/>
            <a:ext cx="365760" cy="365760"/>
          </a:xfrm>
          <a:prstGeom prst="ellipse">
            <a:avLst/>
          </a:prstGeom>
          <a:solidFill>
            <a:schemeClr val="accent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6" name="Text 51"/>
          <p:cNvSpPr txBox="1"/>
          <p:nvPr/>
        </p:nvSpPr>
        <p:spPr>
          <a:xfrm>
            <a:off x="3081528" y="5049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4</a:t>
            </a:r>
            <a:endParaRPr lang="en-US" sz="1200" dirty="0"/>
          </a:p>
        </p:txBody>
      </p:sp>
      <p:sp>
        <p:nvSpPr>
          <p:cNvPr id="57" name="Text 52"/>
          <p:cNvSpPr txBox="1"/>
          <p:nvPr/>
        </p:nvSpPr>
        <p:spPr>
          <a:xfrm>
            <a:off x="3520440" y="5031232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Syllabes + accent :</a:t>
            </a:r>
            <a:endParaRPr lang="en-US" sz="1200" dirty="0"/>
          </a:p>
        </p:txBody>
      </p:sp>
      <p:sp>
        <p:nvSpPr>
          <p:cNvPr id="58" name="Text 53"/>
          <p:cNvSpPr txBox="1"/>
          <p:nvPr/>
        </p:nvSpPr>
        <p:spPr>
          <a:xfrm>
            <a:off x="3099816" y="5461000"/>
            <a:ext cx="2112264" cy="692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chemeClr val="tx1"/>
                </a:solidFill>
              </a:rPr>
              <a:t>verjaardagsfeest</a:t>
            </a:r>
            <a:endParaRPr lang="en-US" sz="1600" dirty="0"/>
          </a:p>
        </p:txBody>
      </p:sp>
      <p:sp>
        <p:nvSpPr>
          <p:cNvPr id="59" name="Shape 54"/>
          <p:cNvSpPr/>
          <p:nvPr/>
        </p:nvSpPr>
        <p:spPr>
          <a:xfrm>
            <a:off x="5431536" y="4958080"/>
            <a:ext cx="2331720" cy="1259840"/>
          </a:xfrm>
          <a:prstGeom prst="roundRect">
            <a:avLst>
              <a:gd name="adj" fmla="val 4355"/>
            </a:avLst>
          </a:prstGeom>
          <a:solidFill>
            <a:srgbClr val="FFFFFF"/>
          </a:solidFill>
          <a:ln w="25400">
            <a:solidFill>
              <a:srgbClr val="17375E"/>
            </a:solidFill>
            <a:prstDash val="solid"/>
          </a:ln>
        </p:spPr>
      </p:sp>
      <p:sp>
        <p:nvSpPr>
          <p:cNvPr id="60" name="Shape 55"/>
          <p:cNvSpPr/>
          <p:nvPr/>
        </p:nvSpPr>
        <p:spPr>
          <a:xfrm>
            <a:off x="5522976" y="5049520"/>
            <a:ext cx="365760" cy="365760"/>
          </a:xfrm>
          <a:prstGeom prst="ellipse">
            <a:avLst/>
          </a:prstGeom>
          <a:solidFill>
            <a:srgbClr val="6E4A9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1" name="Text 56"/>
          <p:cNvSpPr txBox="1"/>
          <p:nvPr/>
        </p:nvSpPr>
        <p:spPr>
          <a:xfrm>
            <a:off x="5522976" y="5049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5</a:t>
            </a:r>
            <a:endParaRPr lang="en-US" sz="1200" dirty="0"/>
          </a:p>
        </p:txBody>
      </p:sp>
      <p:sp>
        <p:nvSpPr>
          <p:cNvPr id="62" name="Text 57"/>
          <p:cNvSpPr txBox="1"/>
          <p:nvPr/>
        </p:nvSpPr>
        <p:spPr>
          <a:xfrm>
            <a:off x="5961888" y="5031232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Dis-le comme à l’oral :</a:t>
            </a:r>
            <a:endParaRPr lang="en-US" sz="1200" dirty="0"/>
          </a:p>
        </p:txBody>
      </p:sp>
      <p:sp>
        <p:nvSpPr>
          <p:cNvPr id="63" name="Text 58"/>
          <p:cNvSpPr txBox="1"/>
          <p:nvPr/>
        </p:nvSpPr>
        <p:spPr>
          <a:xfrm>
            <a:off x="5541264" y="5461000"/>
            <a:ext cx="2112264" cy="692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chemeClr val="tx1"/>
                </a:solidFill>
              </a:rPr>
              <a:t>Hoe gaat het?</a:t>
            </a:r>
            <a:endParaRPr lang="en-US" sz="1600" dirty="0"/>
          </a:p>
        </p:txBody>
      </p:sp>
      <p:sp>
        <p:nvSpPr>
          <p:cNvPr id="64" name="Shape 59"/>
          <p:cNvSpPr/>
          <p:nvPr/>
        </p:nvSpPr>
        <p:spPr>
          <a:xfrm>
            <a:off x="7955280" y="2218944"/>
            <a:ext cx="1796796" cy="1828800"/>
          </a:xfrm>
          <a:prstGeom prst="roundRect">
            <a:avLst>
              <a:gd name="adj" fmla="val 5089"/>
            </a:avLst>
          </a:prstGeom>
          <a:solidFill>
            <a:schemeClr val="bg1"/>
          </a:solidFill>
          <a:ln w="25400">
            <a:solidFill>
              <a:srgbClr val="2A6FB0"/>
            </a:solidFill>
            <a:prstDash val="solid"/>
          </a:ln>
        </p:spPr>
      </p:sp>
      <p:sp>
        <p:nvSpPr>
          <p:cNvPr id="65" name="Text 60"/>
          <p:cNvSpPr txBox="1"/>
          <p:nvPr/>
        </p:nvSpPr>
        <p:spPr>
          <a:xfrm>
            <a:off x="7955280" y="2264664"/>
            <a:ext cx="17967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X</a:t>
            </a:r>
            <a:endParaRPr lang="en-US" sz="5400" dirty="0"/>
          </a:p>
        </p:txBody>
      </p:sp>
      <p:sp>
        <p:nvSpPr>
          <p:cNvPr id="66" name="Text 61"/>
          <p:cNvSpPr txBox="1"/>
          <p:nvPr/>
        </p:nvSpPr>
        <p:spPr>
          <a:xfrm>
            <a:off x="7955280" y="3316224"/>
            <a:ext cx="17967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Équipe ……</a:t>
            </a:r>
            <a:endParaRPr lang="en-US" sz="1300" dirty="0"/>
          </a:p>
        </p:txBody>
      </p:sp>
      <p:sp>
        <p:nvSpPr>
          <p:cNvPr id="67" name="Shape 62"/>
          <p:cNvSpPr/>
          <p:nvPr/>
        </p:nvSpPr>
        <p:spPr>
          <a:xfrm>
            <a:off x="9843516" y="2218944"/>
            <a:ext cx="1796796" cy="1828800"/>
          </a:xfrm>
          <a:prstGeom prst="roundRect">
            <a:avLst>
              <a:gd name="adj" fmla="val 5089"/>
            </a:avLst>
          </a:prstGeom>
          <a:solidFill>
            <a:schemeClr val="bg1"/>
          </a:solidFill>
          <a:ln w="25400">
            <a:solidFill>
              <a:srgbClr val="D9700F"/>
            </a:solidFill>
            <a:prstDash val="solid"/>
          </a:ln>
        </p:spPr>
      </p:sp>
      <p:sp>
        <p:nvSpPr>
          <p:cNvPr id="68" name="Text 63"/>
          <p:cNvSpPr txBox="1"/>
          <p:nvPr/>
        </p:nvSpPr>
        <p:spPr>
          <a:xfrm>
            <a:off x="9843516" y="2264664"/>
            <a:ext cx="17967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O</a:t>
            </a:r>
            <a:endParaRPr lang="en-US" sz="5400" dirty="0"/>
          </a:p>
        </p:txBody>
      </p:sp>
      <p:sp>
        <p:nvSpPr>
          <p:cNvPr id="69" name="Text 64"/>
          <p:cNvSpPr txBox="1"/>
          <p:nvPr/>
        </p:nvSpPr>
        <p:spPr>
          <a:xfrm>
            <a:off x="9843516" y="3316224"/>
            <a:ext cx="17967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Équipe ……</a:t>
            </a:r>
            <a:endParaRPr lang="en-US" sz="1300" dirty="0"/>
          </a:p>
        </p:txBody>
      </p:sp>
      <p:sp>
        <p:nvSpPr>
          <p:cNvPr id="70" name="Text 65"/>
          <p:cNvSpPr txBox="1"/>
          <p:nvPr/>
        </p:nvSpPr>
        <p:spPr>
          <a:xfrm>
            <a:off x="7955280" y="4230624"/>
            <a:ext cx="36850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Chaque case révise une séance (pastille ①–⑤).</a:t>
            </a:r>
            <a:endParaRPr lang="en-US" sz="14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La case du centre vaut le défi le plus célèbre du néerlandais !</a:t>
            </a:r>
            <a:endParaRPr lang="en-US" sz="1400" dirty="0"/>
          </a:p>
        </p:txBody>
      </p:sp>
      <p:pic>
        <p:nvPicPr>
          <p:cNvPr id="71" name="Image 2" descr="trophy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0" y="5465064"/>
            <a:ext cx="731520" cy="7315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Corrigés — Séance 1 · Long ou court ?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338682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CORRIGÉS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9747504" y="393192"/>
            <a:ext cx="1682496" cy="914"/>
          </a:xfrm>
          <a:prstGeom prst="line">
            <a:avLst/>
          </a:prstGeom>
          <a:noFill/>
          <a:ln w="25400">
            <a:solidFill>
              <a:srgbClr val="D5DCE6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9582912" y="228600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582912" y="2286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10003536" y="228600"/>
            <a:ext cx="329184" cy="32918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4236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0003536" y="2286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2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10424160" y="228600"/>
            <a:ext cx="329184" cy="32918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9700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0424160" y="2286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3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10844784" y="228600"/>
            <a:ext cx="329184" cy="32918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E7D4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0844784" y="2286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4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11265408" y="228600"/>
            <a:ext cx="329184" cy="32918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E4A9E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11265408" y="2286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E4A9E"/>
                </a:solidFill>
              </a:rPr>
              <a:t>5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48640" y="1572768"/>
            <a:ext cx="3544824" cy="4617720"/>
          </a:xfrm>
          <a:prstGeom prst="roundRect">
            <a:avLst>
              <a:gd name="adj" fmla="val 2064"/>
            </a:avLst>
          </a:prstGeom>
          <a:solidFill>
            <a:schemeClr val="bg1"/>
          </a:solidFill>
          <a:ln w="25400">
            <a:solidFill>
              <a:srgbClr val="2A6FB0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548640" y="1572768"/>
            <a:ext cx="3544824" cy="502920"/>
          </a:xfrm>
          <a:prstGeom prst="roundRect">
            <a:avLst>
              <a:gd name="adj" fmla="val 14545"/>
            </a:avLst>
          </a:prstGeom>
          <a:solidFill>
            <a:schemeClr val="accent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85800" y="1572768"/>
            <a:ext cx="32705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Oreille d’or (exemple de liste)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731520" y="2194560"/>
            <a:ext cx="3179064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i="1" dirty="0">
                <a:solidFill>
                  <a:schemeClr val="accent3"/>
                </a:solidFill>
              </a:rPr>
              <a:t>maan</a:t>
            </a:r>
            <a:r>
              <a:rPr lang="en-US" sz="1600" i="1" dirty="0">
                <a:solidFill>
                  <a:schemeClr val="tx1"/>
                </a:solidFill>
              </a:rPr>
              <a:t> · </a:t>
            </a:r>
            <a:r>
              <a:rPr lang="en-US" sz="1600" b="1" i="1" dirty="0">
                <a:solidFill>
                  <a:schemeClr val="accent4"/>
                </a:solidFill>
              </a:rPr>
              <a:t>vak</a:t>
            </a:r>
            <a:r>
              <a:rPr lang="en-US" sz="1600" i="1" dirty="0">
                <a:solidFill>
                  <a:schemeClr val="tx1"/>
                </a:solidFill>
              </a:rPr>
              <a:t> · </a:t>
            </a:r>
            <a:r>
              <a:rPr lang="en-US" sz="1600" b="1" i="1" dirty="0">
                <a:solidFill>
                  <a:schemeClr val="accent3"/>
                </a:solidFill>
              </a:rPr>
              <a:t>laat</a:t>
            </a:r>
            <a:endParaRPr lang="en-US" sz="16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600" b="1" i="1" dirty="0">
                <a:solidFill>
                  <a:schemeClr val="accent4"/>
                </a:solidFill>
              </a:rPr>
              <a:t>pen</a:t>
            </a:r>
            <a:r>
              <a:rPr lang="en-US" sz="1600" i="1" dirty="0">
                <a:solidFill>
                  <a:schemeClr val="tx1"/>
                </a:solidFill>
              </a:rPr>
              <a:t> · </a:t>
            </a:r>
            <a:r>
              <a:rPr lang="en-US" sz="1600" b="1" i="1" dirty="0">
                <a:solidFill>
                  <a:schemeClr val="accent3"/>
                </a:solidFill>
              </a:rPr>
              <a:t>been</a:t>
            </a:r>
            <a:r>
              <a:rPr lang="en-US" sz="1600" i="1" dirty="0">
                <a:solidFill>
                  <a:schemeClr val="tx1"/>
                </a:solidFill>
              </a:rPr>
              <a:t> · </a:t>
            </a:r>
            <a:r>
              <a:rPr lang="en-US" sz="1600" b="1" i="1" dirty="0">
                <a:solidFill>
                  <a:schemeClr val="accent4"/>
                </a:solidFill>
              </a:rPr>
              <a:t>hel</a:t>
            </a:r>
            <a:endParaRPr lang="en-US" sz="16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600" b="1" i="1" dirty="0">
                <a:solidFill>
                  <a:schemeClr val="accent3"/>
                </a:solidFill>
              </a:rPr>
              <a:t>vies</a:t>
            </a:r>
            <a:r>
              <a:rPr lang="en-US" sz="1600" i="1" dirty="0">
                <a:solidFill>
                  <a:schemeClr val="tx1"/>
                </a:solidFill>
              </a:rPr>
              <a:t> · </a:t>
            </a:r>
            <a:r>
              <a:rPr lang="en-US" sz="1600" b="1" i="1" dirty="0">
                <a:solidFill>
                  <a:schemeClr val="accent4"/>
                </a:solidFill>
              </a:rPr>
              <a:t>lid</a:t>
            </a:r>
            <a:r>
              <a:rPr lang="en-US" sz="1600" i="1" dirty="0">
                <a:solidFill>
                  <a:schemeClr val="tx1"/>
                </a:solidFill>
              </a:rPr>
              <a:t> · </a:t>
            </a:r>
            <a:r>
              <a:rPr lang="en-US" sz="1600" b="1" i="1" dirty="0">
                <a:solidFill>
                  <a:schemeClr val="accent3"/>
                </a:solidFill>
              </a:rPr>
              <a:t>ziet</a:t>
            </a:r>
            <a:endParaRPr lang="en-US" sz="16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600" b="1" i="1" dirty="0">
                <a:solidFill>
                  <a:schemeClr val="accent4"/>
                </a:solidFill>
              </a:rPr>
              <a:t>bos</a:t>
            </a:r>
            <a:r>
              <a:rPr lang="en-US" sz="1600" i="1" dirty="0">
                <a:solidFill>
                  <a:schemeClr val="tx1"/>
                </a:solidFill>
              </a:rPr>
              <a:t> · </a:t>
            </a:r>
            <a:r>
              <a:rPr lang="en-US" sz="1600" b="1" i="1" dirty="0">
                <a:solidFill>
                  <a:schemeClr val="accent3"/>
                </a:solidFill>
              </a:rPr>
              <a:t>boom</a:t>
            </a:r>
            <a:r>
              <a:rPr lang="en-US" sz="1600" i="1" dirty="0">
                <a:solidFill>
                  <a:schemeClr val="tx1"/>
                </a:solidFill>
              </a:rPr>
              <a:t> · </a:t>
            </a:r>
            <a:r>
              <a:rPr lang="en-US" sz="1600" b="1" i="1" dirty="0">
                <a:solidFill>
                  <a:schemeClr val="accent4"/>
                </a:solidFill>
              </a:rPr>
              <a:t>pot</a:t>
            </a:r>
            <a:endParaRPr lang="en-US" sz="16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600" b="1" i="1" dirty="0">
                <a:solidFill>
                  <a:schemeClr val="accent3"/>
                </a:solidFill>
              </a:rPr>
              <a:t>muur</a:t>
            </a:r>
            <a:r>
              <a:rPr lang="en-US" sz="1600" i="1" dirty="0">
                <a:solidFill>
                  <a:schemeClr val="tx1"/>
                </a:solidFill>
              </a:rPr>
              <a:t> · </a:t>
            </a:r>
            <a:r>
              <a:rPr lang="en-US" sz="1600" b="1" i="1" dirty="0">
                <a:solidFill>
                  <a:schemeClr val="accent4"/>
                </a:solidFill>
              </a:rPr>
              <a:t>kus</a:t>
            </a:r>
            <a:r>
              <a:rPr lang="en-US" sz="1600" i="1" dirty="0">
                <a:solidFill>
                  <a:schemeClr val="tx1"/>
                </a:solidFill>
              </a:rPr>
              <a:t> · </a:t>
            </a:r>
            <a:r>
              <a:rPr lang="en-US" sz="1600" b="1" i="1" dirty="0">
                <a:solidFill>
                  <a:schemeClr val="accent3"/>
                </a:solidFill>
              </a:rPr>
              <a:t>zuur</a:t>
            </a:r>
            <a:endParaRPr lang="en-US" sz="1600" dirty="0"/>
          </a:p>
          <a:p>
            <a:pPr algn="l" indent="0" marL="0">
              <a:spcAft>
                <a:spcPts val="600"/>
              </a:spcAft>
              <a:buNone/>
            </a:pPr>
            <a:endParaRPr lang="en-US" sz="16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accent4"/>
                </a:solidFill>
              </a:rPr>
              <a:t>framboise</a:t>
            </a:r>
            <a:r>
              <a:rPr lang="en-US" sz="1600" dirty="0">
                <a:solidFill>
                  <a:schemeClr val="tx1"/>
                </a:solidFill>
              </a:rPr>
              <a:t> = court · </a:t>
            </a:r>
            <a:r>
              <a:rPr lang="en-US" sz="1600" b="1" dirty="0">
                <a:solidFill>
                  <a:schemeClr val="accent3"/>
                </a:solidFill>
              </a:rPr>
              <a:t>vert</a:t>
            </a:r>
            <a:r>
              <a:rPr lang="en-US" sz="1600" dirty="0">
                <a:solidFill>
                  <a:schemeClr val="tx1"/>
                </a:solidFill>
              </a:rPr>
              <a:t> = long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4322064" y="1572768"/>
            <a:ext cx="3544824" cy="4617720"/>
          </a:xfrm>
          <a:prstGeom prst="roundRect">
            <a:avLst>
              <a:gd name="adj" fmla="val 2064"/>
            </a:avLst>
          </a:prstGeom>
          <a:solidFill>
            <a:schemeClr val="bg1"/>
          </a:solidFill>
          <a:ln w="25400">
            <a:solidFill>
              <a:srgbClr val="2A6FB0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4322064" y="1572768"/>
            <a:ext cx="3544824" cy="502920"/>
          </a:xfrm>
          <a:prstGeom prst="roundRect">
            <a:avLst>
              <a:gd name="adj" fmla="val 14545"/>
            </a:avLst>
          </a:prstGeom>
          <a:solidFill>
            <a:schemeClr val="accent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4459224" y="1572768"/>
            <a:ext cx="32705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Les paniers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4504944" y="2194560"/>
            <a:ext cx="3179064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accent3"/>
                </a:solidFill>
              </a:rPr>
              <a:t>LONG</a:t>
            </a:r>
            <a:r>
              <a:rPr lang="en-US" sz="1600" dirty="0">
                <a:solidFill>
                  <a:schemeClr val="tx1"/>
                </a:solidFill>
              </a:rPr>
              <a:t> : </a:t>
            </a:r>
            <a:r>
              <a:rPr lang="en-US" sz="1600" i="1" dirty="0">
                <a:solidFill>
                  <a:schemeClr val="tx1"/>
                </a:solidFill>
              </a:rPr>
              <a:t>raam · keel · roos · vuur · ma·ken · le·zen · wo·nen · mu·ren</a:t>
            </a:r>
            <a:endParaRPr lang="en-US" sz="1600" dirty="0"/>
          </a:p>
          <a:p>
            <a:pPr algn="l" indent="0" marL="0">
              <a:spcAft>
                <a:spcPts val="600"/>
              </a:spcAft>
              <a:buNone/>
            </a:pPr>
            <a:endParaRPr lang="en-US" sz="16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accent4"/>
                </a:solidFill>
              </a:rPr>
              <a:t>COURT</a:t>
            </a:r>
            <a:r>
              <a:rPr lang="en-US" sz="1600" dirty="0">
                <a:solidFill>
                  <a:schemeClr val="tx1"/>
                </a:solidFill>
              </a:rPr>
              <a:t> : </a:t>
            </a:r>
            <a:r>
              <a:rPr lang="en-US" sz="1600" i="1" dirty="0">
                <a:solidFill>
                  <a:schemeClr val="tx1"/>
                </a:solidFill>
              </a:rPr>
              <a:t>tak · nek · bol · stuk · kat·ten · pen·nen · bom·men · zus·sen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8095488" y="1572768"/>
            <a:ext cx="3544824" cy="4617720"/>
          </a:xfrm>
          <a:prstGeom prst="roundRect">
            <a:avLst>
              <a:gd name="adj" fmla="val 2064"/>
            </a:avLst>
          </a:prstGeom>
          <a:solidFill>
            <a:schemeClr val="bg1"/>
          </a:solidFill>
          <a:ln w="25400">
            <a:solidFill>
              <a:srgbClr val="2A6FB0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8095488" y="1572768"/>
            <a:ext cx="3544824" cy="502920"/>
          </a:xfrm>
          <a:prstGeom prst="roundRect">
            <a:avLst>
              <a:gd name="adj" fmla="val 14545"/>
            </a:avLst>
          </a:prstGeom>
          <a:solidFill>
            <a:schemeClr val="accent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232648" y="1572768"/>
            <a:ext cx="32705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Le duel des phrases</a:t>
            </a:r>
            <a:endParaRPr lang="en-US" sz="1600" dirty="0"/>
          </a:p>
        </p:txBody>
      </p:sp>
      <p:sp>
        <p:nvSpPr>
          <p:cNvPr id="27" name="Text 24"/>
          <p:cNvSpPr txBox="1"/>
          <p:nvPr/>
        </p:nvSpPr>
        <p:spPr>
          <a:xfrm>
            <a:off x="8278368" y="2194560"/>
            <a:ext cx="3179064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1 </a:t>
            </a:r>
            <a:r>
              <a:rPr lang="en-US" sz="1600" i="1" dirty="0">
                <a:solidFill>
                  <a:schemeClr val="tx1"/>
                </a:solidFill>
              </a:rPr>
              <a:t>Katten willen…</a:t>
            </a:r>
            <a:r>
              <a:rPr lang="en-US" sz="1600" dirty="0">
                <a:solidFill>
                  <a:schemeClr val="tx1"/>
                </a:solidFill>
              </a:rPr>
              <a:t> → </a:t>
            </a:r>
            <a:r>
              <a:rPr lang="en-US" sz="1600" b="1" dirty="0">
                <a:solidFill>
                  <a:schemeClr val="accent4"/>
                </a:solidFill>
              </a:rPr>
              <a:t>kort</a:t>
            </a:r>
            <a:endParaRPr lang="en-US" sz="16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2 </a:t>
            </a:r>
            <a:r>
              <a:rPr lang="en-US" sz="1600" i="1" dirty="0">
                <a:solidFill>
                  <a:schemeClr val="tx1"/>
                </a:solidFill>
              </a:rPr>
              <a:t>Jagers doden…</a:t>
            </a:r>
            <a:r>
              <a:rPr lang="en-US" sz="1600" dirty="0">
                <a:solidFill>
                  <a:schemeClr val="tx1"/>
                </a:solidFill>
              </a:rPr>
              <a:t> → </a:t>
            </a:r>
            <a:r>
              <a:rPr lang="en-US" sz="1600" b="1" dirty="0">
                <a:solidFill>
                  <a:schemeClr val="accent3"/>
                </a:solidFill>
              </a:rPr>
              <a:t>lang</a:t>
            </a:r>
            <a:endParaRPr lang="en-US" sz="16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3 </a:t>
            </a:r>
            <a:r>
              <a:rPr lang="en-US" sz="1600" i="1" dirty="0">
                <a:solidFill>
                  <a:schemeClr val="tx1"/>
                </a:solidFill>
              </a:rPr>
              <a:t>Mussen hebben…</a:t>
            </a:r>
            <a:r>
              <a:rPr lang="en-US" sz="1600" dirty="0">
                <a:solidFill>
                  <a:schemeClr val="tx1"/>
                </a:solidFill>
              </a:rPr>
              <a:t> → </a:t>
            </a:r>
            <a:r>
              <a:rPr lang="en-US" sz="1600" b="1" dirty="0">
                <a:solidFill>
                  <a:schemeClr val="accent4"/>
                </a:solidFill>
              </a:rPr>
              <a:t>kort</a:t>
            </a:r>
            <a:endParaRPr lang="en-US" sz="16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4 </a:t>
            </a:r>
            <a:r>
              <a:rPr lang="en-US" sz="1600" i="1" dirty="0">
                <a:solidFill>
                  <a:schemeClr val="tx1"/>
                </a:solidFill>
              </a:rPr>
              <a:t>Apen eten…</a:t>
            </a:r>
            <a:r>
              <a:rPr lang="en-US" sz="1600" dirty="0">
                <a:solidFill>
                  <a:schemeClr val="tx1"/>
                </a:solidFill>
              </a:rPr>
              <a:t> → </a:t>
            </a:r>
            <a:r>
              <a:rPr lang="en-US" sz="1600" b="1" dirty="0">
                <a:solidFill>
                  <a:schemeClr val="accent3"/>
                </a:solidFill>
              </a:rPr>
              <a:t>lang</a:t>
            </a:r>
            <a:endParaRPr lang="en-US" sz="16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5 </a:t>
            </a:r>
            <a:r>
              <a:rPr lang="en-US" sz="1600" i="1" dirty="0">
                <a:solidFill>
                  <a:schemeClr val="tx1"/>
                </a:solidFill>
              </a:rPr>
              <a:t>Biggen kunnen…</a:t>
            </a:r>
            <a:r>
              <a:rPr lang="en-US" sz="1600" dirty="0">
                <a:solidFill>
                  <a:schemeClr val="tx1"/>
                </a:solidFill>
              </a:rPr>
              <a:t> → </a:t>
            </a:r>
            <a:r>
              <a:rPr lang="en-US" sz="1600" b="1" dirty="0">
                <a:solidFill>
                  <a:schemeClr val="accent4"/>
                </a:solidFill>
              </a:rPr>
              <a:t>kort</a:t>
            </a:r>
            <a:endParaRPr lang="en-US" sz="16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6 </a:t>
            </a:r>
            <a:r>
              <a:rPr lang="en-US" sz="1600" i="1" dirty="0">
                <a:solidFill>
                  <a:schemeClr val="tx1"/>
                </a:solidFill>
              </a:rPr>
              <a:t>Dikke mannen…</a:t>
            </a:r>
            <a:r>
              <a:rPr lang="en-US" sz="1600" dirty="0">
                <a:solidFill>
                  <a:schemeClr val="tx1"/>
                </a:solidFill>
              </a:rPr>
              <a:t> → </a:t>
            </a:r>
            <a:r>
              <a:rPr lang="en-US" sz="1600" b="1" dirty="0">
                <a:solidFill>
                  <a:schemeClr val="accent4"/>
                </a:solidFill>
              </a:rPr>
              <a:t>kort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Corrigés — Séance 2 · Les sons doubles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338682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CORRIGÉS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9747504" y="393192"/>
            <a:ext cx="1682496" cy="914"/>
          </a:xfrm>
          <a:prstGeom prst="line">
            <a:avLst/>
          </a:prstGeom>
          <a:noFill/>
          <a:ln w="25400">
            <a:solidFill>
              <a:srgbClr val="D5DCE6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9582912" y="228600"/>
            <a:ext cx="329184" cy="32918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A6FB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582912" y="2286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1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10003536" y="228600"/>
            <a:ext cx="329184" cy="329184"/>
          </a:xfrm>
          <a:prstGeom prst="ellipse">
            <a:avLst/>
          </a:prstGeom>
          <a:solidFill>
            <a:schemeClr val="accent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0003536" y="2286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10424160" y="228600"/>
            <a:ext cx="329184" cy="32918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9700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0424160" y="2286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3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10844784" y="228600"/>
            <a:ext cx="329184" cy="32918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E7D4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0844784" y="2286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4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11265408" y="228600"/>
            <a:ext cx="329184" cy="32918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E4A9E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11265408" y="2286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E4A9E"/>
                </a:solidFill>
              </a:rPr>
              <a:t>5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48640" y="1572768"/>
            <a:ext cx="3544824" cy="4617720"/>
          </a:xfrm>
          <a:prstGeom prst="roundRect">
            <a:avLst>
              <a:gd name="adj" fmla="val 2064"/>
            </a:avLst>
          </a:prstGeom>
          <a:solidFill>
            <a:schemeClr val="bg1"/>
          </a:solidFill>
          <a:ln w="25400">
            <a:solidFill>
              <a:srgbClr val="B4236A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548640" y="1572768"/>
            <a:ext cx="3544824" cy="502920"/>
          </a:xfrm>
          <a:prstGeom prst="roundRect">
            <a:avLst>
              <a:gd name="adj" fmla="val 14545"/>
            </a:avLst>
          </a:prstGeom>
          <a:solidFill>
            <a:schemeClr val="accent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85800" y="1572768"/>
            <a:ext cx="32705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Le loto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731520" y="2194560"/>
            <a:ext cx="3179064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Vérifiez la ligne gagnante : chaque mot est lu avec le son de sa colonne.</a:t>
            </a:r>
            <a:endParaRPr lang="en-US" sz="1600" dirty="0"/>
          </a:p>
          <a:p>
            <a:pPr algn="l" indent="0" marL="0">
              <a:spcAft>
                <a:spcPts val="600"/>
              </a:spcAft>
              <a:buNone/>
            </a:pPr>
            <a:endParaRPr lang="en-US" sz="16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Pièges fréquents :</a:t>
            </a:r>
            <a:endParaRPr lang="en-US" sz="16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600" i="1" dirty="0">
                <a:solidFill>
                  <a:schemeClr val="tx1"/>
                </a:solidFill>
              </a:rPr>
              <a:t>ui</a:t>
            </a:r>
            <a:r>
              <a:rPr lang="en-US" sz="1600" dirty="0">
                <a:solidFill>
                  <a:schemeClr val="tx1"/>
                </a:solidFill>
              </a:rPr>
              <a:t> lu comme dans « lui » → </a:t>
            </a:r>
            <a:r>
              <a:rPr lang="en-US" sz="1600" i="1" dirty="0">
                <a:solidFill>
                  <a:schemeClr val="tx1"/>
                </a:solidFill>
              </a:rPr>
              <a:t>uit</a:t>
            </a:r>
            <a:r>
              <a:rPr lang="en-US" sz="1600" dirty="0">
                <a:solidFill>
                  <a:schemeClr val="tx1"/>
                </a:solidFill>
              </a:rPr>
              <a:t> ≈ « euït »</a:t>
            </a:r>
            <a:endParaRPr lang="en-US" sz="16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600" i="1" dirty="0">
                <a:solidFill>
                  <a:schemeClr val="tx1"/>
                </a:solidFill>
              </a:rPr>
              <a:t>u</a:t>
            </a:r>
            <a:r>
              <a:rPr lang="en-US" sz="1600" dirty="0">
                <a:solidFill>
                  <a:schemeClr val="tx1"/>
                </a:solidFill>
              </a:rPr>
              <a:t> lu « u » → </a:t>
            </a:r>
            <a:r>
              <a:rPr lang="en-US" sz="1600" i="1" dirty="0">
                <a:solidFill>
                  <a:schemeClr val="tx1"/>
                </a:solidFill>
              </a:rPr>
              <a:t>bus</a:t>
            </a:r>
            <a:r>
              <a:rPr lang="en-US" sz="1600" dirty="0">
                <a:solidFill>
                  <a:schemeClr val="tx1"/>
                </a:solidFill>
              </a:rPr>
              <a:t> ≈ « beus »</a:t>
            </a:r>
            <a:endParaRPr lang="en-US" sz="16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600" i="1" dirty="0">
                <a:solidFill>
                  <a:schemeClr val="tx1"/>
                </a:solidFill>
              </a:rPr>
              <a:t>ij</a:t>
            </a:r>
            <a:r>
              <a:rPr lang="en-US" sz="1600" dirty="0">
                <a:solidFill>
                  <a:schemeClr val="tx1"/>
                </a:solidFill>
              </a:rPr>
              <a:t> lu « i » → </a:t>
            </a:r>
            <a:r>
              <a:rPr lang="en-US" sz="1600" i="1" dirty="0">
                <a:solidFill>
                  <a:schemeClr val="tx1"/>
                </a:solidFill>
              </a:rPr>
              <a:t>prijs</a:t>
            </a:r>
            <a:r>
              <a:rPr lang="en-US" sz="1600" dirty="0">
                <a:solidFill>
                  <a:schemeClr val="tx1"/>
                </a:solidFill>
              </a:rPr>
              <a:t> ≈ « prèïs »</a:t>
            </a:r>
            <a:endParaRPr lang="en-US" sz="16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600" i="1" dirty="0">
                <a:solidFill>
                  <a:schemeClr val="tx1"/>
                </a:solidFill>
              </a:rPr>
              <a:t>oe</a:t>
            </a:r>
            <a:r>
              <a:rPr lang="en-US" sz="1600" dirty="0">
                <a:solidFill>
                  <a:schemeClr val="tx1"/>
                </a:solidFill>
              </a:rPr>
              <a:t> lu « o-é » → </a:t>
            </a:r>
            <a:r>
              <a:rPr lang="en-US" sz="1600" i="1" dirty="0">
                <a:solidFill>
                  <a:schemeClr val="tx1"/>
                </a:solidFill>
              </a:rPr>
              <a:t>moe</a:t>
            </a:r>
            <a:r>
              <a:rPr lang="en-US" sz="1600" dirty="0">
                <a:solidFill>
                  <a:schemeClr val="tx1"/>
                </a:solidFill>
              </a:rPr>
              <a:t> ≈ « mou »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4322064" y="1572768"/>
            <a:ext cx="3544824" cy="4617720"/>
          </a:xfrm>
          <a:prstGeom prst="roundRect">
            <a:avLst>
              <a:gd name="adj" fmla="val 2064"/>
            </a:avLst>
          </a:prstGeom>
          <a:solidFill>
            <a:schemeClr val="bg1"/>
          </a:solidFill>
          <a:ln w="25400">
            <a:solidFill>
              <a:srgbClr val="B4236A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4322064" y="1572768"/>
            <a:ext cx="3544824" cy="502920"/>
          </a:xfrm>
          <a:prstGeom prst="roundRect">
            <a:avLst>
              <a:gd name="adj" fmla="val 14545"/>
            </a:avLst>
          </a:prstGeom>
          <a:solidFill>
            <a:schemeClr val="accent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4459224" y="1572768"/>
            <a:ext cx="32705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Le toboggan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4504944" y="2194560"/>
            <a:ext cx="3179064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Dictée </a:t>
            </a:r>
            <a:r>
              <a:rPr lang="en-US" sz="1600" i="1" dirty="0">
                <a:solidFill>
                  <a:schemeClr val="tx1"/>
                </a:solidFill>
              </a:rPr>
              <a:t>ij / ei</a:t>
            </a:r>
            <a:r>
              <a:rPr lang="en-US" sz="1600" dirty="0">
                <a:solidFill>
                  <a:schemeClr val="tx1"/>
                </a:solidFill>
              </a:rPr>
              <a:t> :</a:t>
            </a:r>
            <a:endParaRPr lang="en-US" sz="16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1 </a:t>
            </a:r>
            <a:r>
              <a:rPr lang="en-US" sz="1600" i="1" dirty="0">
                <a:solidFill>
                  <a:schemeClr val="tx1"/>
                </a:solidFill>
              </a:rPr>
              <a:t>w</a:t>
            </a:r>
            <a:r>
              <a:rPr lang="en-US" sz="1600" b="1" i="1" dirty="0">
                <a:solidFill>
                  <a:schemeClr val="tx1"/>
                </a:solidFill>
              </a:rPr>
              <a:t>ij</a:t>
            </a:r>
            <a:r>
              <a:rPr lang="en-US" sz="1600" i="1" dirty="0">
                <a:solidFill>
                  <a:schemeClr val="tx1"/>
                </a:solidFill>
              </a:rPr>
              <a:t>n</a:t>
            </a:r>
            <a:r>
              <a:rPr lang="en-US" sz="1600" dirty="0">
                <a:solidFill>
                  <a:schemeClr val="tx1"/>
                </a:solidFill>
              </a:rPr>
              <a:t> · 2 </a:t>
            </a:r>
            <a:r>
              <a:rPr lang="en-US" sz="1600" i="1" dirty="0">
                <a:solidFill>
                  <a:schemeClr val="tx1"/>
                </a:solidFill>
              </a:rPr>
              <a:t>tr</a:t>
            </a:r>
            <a:r>
              <a:rPr lang="en-US" sz="1600" b="1" i="1" dirty="0">
                <a:solidFill>
                  <a:schemeClr val="tx1"/>
                </a:solidFill>
              </a:rPr>
              <a:t>ei</a:t>
            </a:r>
            <a:r>
              <a:rPr lang="en-US" sz="1600" i="1" dirty="0">
                <a:solidFill>
                  <a:schemeClr val="tx1"/>
                </a:solidFill>
              </a:rPr>
              <a:t>n</a:t>
            </a:r>
            <a:r>
              <a:rPr lang="en-US" sz="1600" dirty="0">
                <a:solidFill>
                  <a:schemeClr val="tx1"/>
                </a:solidFill>
              </a:rPr>
              <a:t> · 3 </a:t>
            </a:r>
            <a:r>
              <a:rPr lang="en-US" sz="1600" i="1" dirty="0">
                <a:solidFill>
                  <a:schemeClr val="tx1"/>
                </a:solidFill>
              </a:rPr>
              <a:t>t</a:t>
            </a:r>
            <a:r>
              <a:rPr lang="en-US" sz="1600" b="1" i="1" dirty="0">
                <a:solidFill>
                  <a:schemeClr val="tx1"/>
                </a:solidFill>
              </a:rPr>
              <a:t>ij</a:t>
            </a:r>
            <a:r>
              <a:rPr lang="en-US" sz="1600" i="1" dirty="0">
                <a:solidFill>
                  <a:schemeClr val="tx1"/>
                </a:solidFill>
              </a:rPr>
              <a:t>d</a:t>
            </a:r>
            <a:endParaRPr lang="en-US" sz="16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4 </a:t>
            </a:r>
            <a:r>
              <a:rPr lang="en-US" sz="1600" i="1" dirty="0">
                <a:solidFill>
                  <a:schemeClr val="tx1"/>
                </a:solidFill>
              </a:rPr>
              <a:t>kl</a:t>
            </a:r>
            <a:r>
              <a:rPr lang="en-US" sz="1600" b="1" i="1" dirty="0">
                <a:solidFill>
                  <a:schemeClr val="tx1"/>
                </a:solidFill>
              </a:rPr>
              <a:t>ei</a:t>
            </a:r>
            <a:r>
              <a:rPr lang="en-US" sz="1600" i="1" dirty="0">
                <a:solidFill>
                  <a:schemeClr val="tx1"/>
                </a:solidFill>
              </a:rPr>
              <a:t>n</a:t>
            </a:r>
            <a:r>
              <a:rPr lang="en-US" sz="1600" dirty="0">
                <a:solidFill>
                  <a:schemeClr val="tx1"/>
                </a:solidFill>
              </a:rPr>
              <a:t> · 5 </a:t>
            </a:r>
            <a:r>
              <a:rPr lang="en-US" sz="1600" i="1" dirty="0">
                <a:solidFill>
                  <a:schemeClr val="tx1"/>
                </a:solidFill>
              </a:rPr>
              <a:t>m</a:t>
            </a:r>
            <a:r>
              <a:rPr lang="en-US" sz="1600" b="1" i="1" dirty="0">
                <a:solidFill>
                  <a:schemeClr val="tx1"/>
                </a:solidFill>
              </a:rPr>
              <a:t>ei</a:t>
            </a:r>
            <a:r>
              <a:rPr lang="en-US" sz="1600" dirty="0">
                <a:solidFill>
                  <a:schemeClr val="tx1"/>
                </a:solidFill>
              </a:rPr>
              <a:t> · 6 </a:t>
            </a:r>
            <a:r>
              <a:rPr lang="en-US" sz="1600" i="1" dirty="0">
                <a:solidFill>
                  <a:schemeClr val="tx1"/>
                </a:solidFill>
              </a:rPr>
              <a:t>v</a:t>
            </a:r>
            <a:r>
              <a:rPr lang="en-US" sz="1600" b="1" i="1" dirty="0">
                <a:solidFill>
                  <a:schemeClr val="tx1"/>
                </a:solidFill>
              </a:rPr>
              <a:t>ij</a:t>
            </a:r>
            <a:r>
              <a:rPr lang="en-US" sz="1600" i="1" dirty="0">
                <a:solidFill>
                  <a:schemeClr val="tx1"/>
                </a:solidFill>
              </a:rPr>
              <a:t>f</a:t>
            </a:r>
            <a:endParaRPr lang="en-US" sz="1600" dirty="0"/>
          </a:p>
          <a:p>
            <a:pPr algn="l" indent="0" marL="0">
              <a:spcAft>
                <a:spcPts val="600"/>
              </a:spcAft>
              <a:buNone/>
            </a:pPr>
            <a:endParaRPr lang="en-US" sz="16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Sens : </a:t>
            </a:r>
            <a:r>
              <a:rPr lang="en-US" sz="1600" i="1" dirty="0">
                <a:solidFill>
                  <a:schemeClr val="tx1"/>
                </a:solidFill>
              </a:rPr>
              <a:t>buur</a:t>
            </a:r>
            <a:r>
              <a:rPr lang="en-US" sz="1600" dirty="0">
                <a:solidFill>
                  <a:schemeClr val="tx1"/>
                </a:solidFill>
              </a:rPr>
              <a:t> voisin · </a:t>
            </a:r>
            <a:r>
              <a:rPr lang="en-US" sz="1600" i="1" dirty="0">
                <a:solidFill>
                  <a:schemeClr val="tx1"/>
                </a:solidFill>
              </a:rPr>
              <a:t>buis</a:t>
            </a:r>
            <a:r>
              <a:rPr lang="en-US" sz="1600" dirty="0">
                <a:solidFill>
                  <a:schemeClr val="tx1"/>
                </a:solidFill>
              </a:rPr>
              <a:t> tube · </a:t>
            </a:r>
            <a:r>
              <a:rPr lang="en-US" sz="1600" i="1" dirty="0">
                <a:solidFill>
                  <a:schemeClr val="tx1"/>
                </a:solidFill>
              </a:rPr>
              <a:t>muis</a:t>
            </a:r>
            <a:r>
              <a:rPr lang="en-US" sz="1600" dirty="0">
                <a:solidFill>
                  <a:schemeClr val="tx1"/>
                </a:solidFill>
              </a:rPr>
              <a:t> souris · </a:t>
            </a:r>
            <a:r>
              <a:rPr lang="en-US" sz="1600" i="1" dirty="0">
                <a:solidFill>
                  <a:schemeClr val="tx1"/>
                </a:solidFill>
              </a:rPr>
              <a:t>huur</a:t>
            </a:r>
            <a:r>
              <a:rPr lang="en-US" sz="1600" dirty="0">
                <a:solidFill>
                  <a:schemeClr val="tx1"/>
                </a:solidFill>
              </a:rPr>
              <a:t> loyer · </a:t>
            </a:r>
            <a:r>
              <a:rPr lang="en-US" sz="1600" i="1" dirty="0">
                <a:solidFill>
                  <a:schemeClr val="tx1"/>
                </a:solidFill>
              </a:rPr>
              <a:t>duin</a:t>
            </a:r>
            <a:r>
              <a:rPr lang="en-US" sz="1600" dirty="0">
                <a:solidFill>
                  <a:schemeClr val="tx1"/>
                </a:solidFill>
              </a:rPr>
              <a:t> dune · </a:t>
            </a:r>
            <a:r>
              <a:rPr lang="en-US" sz="1600" i="1" dirty="0">
                <a:solidFill>
                  <a:schemeClr val="tx1"/>
                </a:solidFill>
              </a:rPr>
              <a:t>zuid</a:t>
            </a:r>
            <a:r>
              <a:rPr lang="en-US" sz="1600" dirty="0">
                <a:solidFill>
                  <a:schemeClr val="tx1"/>
                </a:solidFill>
              </a:rPr>
              <a:t> sud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8095488" y="1572768"/>
            <a:ext cx="3544824" cy="4617720"/>
          </a:xfrm>
          <a:prstGeom prst="roundRect">
            <a:avLst>
              <a:gd name="adj" fmla="val 2064"/>
            </a:avLst>
          </a:prstGeom>
          <a:solidFill>
            <a:schemeClr val="bg1"/>
          </a:solidFill>
          <a:ln w="25400">
            <a:solidFill>
              <a:srgbClr val="B4236A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8095488" y="1572768"/>
            <a:ext cx="3544824" cy="502920"/>
          </a:xfrm>
          <a:prstGeom prst="roundRect">
            <a:avLst>
              <a:gd name="adj" fmla="val 14545"/>
            </a:avLst>
          </a:prstGeom>
          <a:solidFill>
            <a:schemeClr val="accent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232648" y="1572768"/>
            <a:ext cx="32705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La chasse aux sons doubles</a:t>
            </a:r>
            <a:endParaRPr lang="en-US" sz="1600" dirty="0"/>
          </a:p>
        </p:txBody>
      </p:sp>
      <p:sp>
        <p:nvSpPr>
          <p:cNvPr id="27" name="Text 24"/>
          <p:cNvSpPr txBox="1"/>
          <p:nvPr/>
        </p:nvSpPr>
        <p:spPr>
          <a:xfrm>
            <a:off x="8278368" y="2194560"/>
            <a:ext cx="3179064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1 → </a:t>
            </a:r>
            <a:r>
              <a:rPr lang="en-US" sz="1600" b="1" dirty="0">
                <a:solidFill>
                  <a:schemeClr val="tx1"/>
                </a:solidFill>
              </a:rPr>
              <a:t>2</a:t>
            </a:r>
            <a:r>
              <a:rPr lang="en-US" sz="1600" dirty="0">
                <a:solidFill>
                  <a:schemeClr val="tx1"/>
                </a:solidFill>
              </a:rPr>
              <a:t> : </a:t>
            </a:r>
            <a:r>
              <a:rPr lang="en-US" sz="1600" i="1" dirty="0">
                <a:solidFill>
                  <a:schemeClr val="tx1"/>
                </a:solidFill>
              </a:rPr>
              <a:t>oei, ui</a:t>
            </a:r>
            <a:endParaRPr lang="en-US" sz="16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2 → </a:t>
            </a:r>
            <a:r>
              <a:rPr lang="en-US" sz="1600" b="1" dirty="0">
                <a:solidFill>
                  <a:schemeClr val="tx1"/>
                </a:solidFill>
              </a:rPr>
              <a:t>4</a:t>
            </a:r>
            <a:r>
              <a:rPr lang="en-US" sz="1600" dirty="0">
                <a:solidFill>
                  <a:schemeClr val="tx1"/>
                </a:solidFill>
              </a:rPr>
              <a:t> : </a:t>
            </a:r>
            <a:r>
              <a:rPr lang="en-US" sz="1600" i="1" dirty="0">
                <a:solidFill>
                  <a:schemeClr val="tx1"/>
                </a:solidFill>
              </a:rPr>
              <a:t>oe, ij, eu, ui</a:t>
            </a:r>
            <a:endParaRPr lang="en-US" sz="16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3 → </a:t>
            </a:r>
            <a:r>
              <a:rPr lang="en-US" sz="1600" b="1" dirty="0">
                <a:solidFill>
                  <a:schemeClr val="tx1"/>
                </a:solidFill>
              </a:rPr>
              <a:t>3</a:t>
            </a:r>
            <a:r>
              <a:rPr lang="en-US" sz="1600" dirty="0">
                <a:solidFill>
                  <a:schemeClr val="tx1"/>
                </a:solidFill>
              </a:rPr>
              <a:t> : </a:t>
            </a:r>
            <a:r>
              <a:rPr lang="en-US" sz="1600" i="1" dirty="0">
                <a:solidFill>
                  <a:schemeClr val="tx1"/>
                </a:solidFill>
              </a:rPr>
              <a:t>ei, oe, ui</a:t>
            </a:r>
            <a:endParaRPr lang="en-US" sz="16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4 → </a:t>
            </a:r>
            <a:r>
              <a:rPr lang="en-US" sz="1600" b="1" dirty="0">
                <a:solidFill>
                  <a:schemeClr val="tx1"/>
                </a:solidFill>
              </a:rPr>
              <a:t>6</a:t>
            </a:r>
            <a:r>
              <a:rPr lang="en-US" sz="1600" dirty="0">
                <a:solidFill>
                  <a:schemeClr val="tx1"/>
                </a:solidFill>
              </a:rPr>
              <a:t> : </a:t>
            </a:r>
            <a:r>
              <a:rPr lang="en-US" sz="1600" i="1" dirty="0">
                <a:solidFill>
                  <a:schemeClr val="tx1"/>
                </a:solidFill>
              </a:rPr>
              <a:t>IJ, ou, ie, ui, eu, oe</a:t>
            </a:r>
            <a:endParaRPr lang="en-US" sz="16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5 → </a:t>
            </a:r>
            <a:r>
              <a:rPr lang="en-US" sz="1600" b="1" dirty="0">
                <a:solidFill>
                  <a:schemeClr val="tx1"/>
                </a:solidFill>
              </a:rPr>
              <a:t>6</a:t>
            </a:r>
            <a:r>
              <a:rPr lang="en-US" sz="1600" dirty="0">
                <a:solidFill>
                  <a:schemeClr val="tx1"/>
                </a:solidFill>
              </a:rPr>
              <a:t> : </a:t>
            </a:r>
            <a:r>
              <a:rPr lang="en-US" sz="1600" i="1" dirty="0">
                <a:solidFill>
                  <a:schemeClr val="tx1"/>
                </a:solidFill>
              </a:rPr>
              <a:t>ooi, ieuw, ui, ij, ooi, aai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Corrigés — Séance 3 · Les consonnes-pièges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338682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CORRIGÉS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9747504" y="393192"/>
            <a:ext cx="1682496" cy="914"/>
          </a:xfrm>
          <a:prstGeom prst="line">
            <a:avLst/>
          </a:prstGeom>
          <a:noFill/>
          <a:ln w="25400">
            <a:solidFill>
              <a:srgbClr val="D5DCE6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9582912" y="228600"/>
            <a:ext cx="329184" cy="32918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A6FB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582912" y="2286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1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10003536" y="228600"/>
            <a:ext cx="329184" cy="32918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4236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0003536" y="2286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2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10424160" y="228600"/>
            <a:ext cx="329184" cy="329184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0424160" y="2286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10844784" y="228600"/>
            <a:ext cx="329184" cy="32918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E7D4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0844784" y="2286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4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11265408" y="228600"/>
            <a:ext cx="329184" cy="32918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E4A9E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11265408" y="2286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E4A9E"/>
                </a:solidFill>
              </a:rPr>
              <a:t>5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48640" y="1572768"/>
            <a:ext cx="3544824" cy="4617720"/>
          </a:xfrm>
          <a:prstGeom prst="roundRect">
            <a:avLst>
              <a:gd name="adj" fmla="val 2064"/>
            </a:avLst>
          </a:prstGeom>
          <a:solidFill>
            <a:schemeClr val="bg1"/>
          </a:solidFill>
          <a:ln w="25400">
            <a:solidFill>
              <a:srgbClr val="D9700F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548640" y="1572768"/>
            <a:ext cx="3544824" cy="502920"/>
          </a:xfrm>
          <a:prstGeom prst="roundRect">
            <a:avLst>
              <a:gd name="adj" fmla="val 14545"/>
            </a:avLst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85800" y="1572768"/>
            <a:ext cx="32705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Souffle ou silence ?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731520" y="2194560"/>
            <a:ext cx="3179064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500" i="1" dirty="0">
                <a:solidFill>
                  <a:schemeClr val="tx1"/>
                </a:solidFill>
              </a:rPr>
              <a:t>heten</a:t>
            </a:r>
            <a:r>
              <a:rPr lang="en-US" sz="1500" dirty="0">
                <a:solidFill>
                  <a:schemeClr val="tx1"/>
                </a:solidFill>
              </a:rPr>
              <a:t> s’appeler · </a:t>
            </a:r>
            <a:r>
              <a:rPr lang="en-US" sz="1500" i="1" dirty="0">
                <a:solidFill>
                  <a:schemeClr val="tx1"/>
                </a:solidFill>
              </a:rPr>
              <a:t>eten</a:t>
            </a:r>
            <a:r>
              <a:rPr lang="en-US" sz="1500" dirty="0">
                <a:solidFill>
                  <a:schemeClr val="tx1"/>
                </a:solidFill>
              </a:rPr>
              <a:t> manger</a:t>
            </a:r>
            <a:endParaRPr lang="en-US" sz="15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500" i="1" dirty="0">
                <a:solidFill>
                  <a:schemeClr val="tx1"/>
                </a:solidFill>
              </a:rPr>
              <a:t>hoor</a:t>
            </a:r>
            <a:r>
              <a:rPr lang="en-US" sz="1500" dirty="0">
                <a:solidFill>
                  <a:schemeClr val="tx1"/>
                </a:solidFill>
              </a:rPr>
              <a:t> j’entends · </a:t>
            </a:r>
            <a:r>
              <a:rPr lang="en-US" sz="1500" i="1" dirty="0">
                <a:solidFill>
                  <a:schemeClr val="tx1"/>
                </a:solidFill>
              </a:rPr>
              <a:t>oor</a:t>
            </a:r>
            <a:r>
              <a:rPr lang="en-US" sz="1500" dirty="0">
                <a:solidFill>
                  <a:schemeClr val="tx1"/>
                </a:solidFill>
              </a:rPr>
              <a:t> oreille</a:t>
            </a:r>
            <a:endParaRPr lang="en-US" sz="15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500" i="1" dirty="0">
                <a:solidFill>
                  <a:schemeClr val="tx1"/>
                </a:solidFill>
              </a:rPr>
              <a:t>hij</a:t>
            </a:r>
            <a:r>
              <a:rPr lang="en-US" sz="1500" dirty="0">
                <a:solidFill>
                  <a:schemeClr val="tx1"/>
                </a:solidFill>
              </a:rPr>
              <a:t> il · </a:t>
            </a:r>
            <a:r>
              <a:rPr lang="en-US" sz="1500" i="1" dirty="0">
                <a:solidFill>
                  <a:schemeClr val="tx1"/>
                </a:solidFill>
              </a:rPr>
              <a:t>ei</a:t>
            </a:r>
            <a:r>
              <a:rPr lang="en-US" sz="1500" dirty="0">
                <a:solidFill>
                  <a:schemeClr val="tx1"/>
                </a:solidFill>
              </a:rPr>
              <a:t> œuf</a:t>
            </a:r>
            <a:endParaRPr lang="en-US" sz="15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500" i="1" dirty="0">
                <a:solidFill>
                  <a:schemeClr val="tx1"/>
                </a:solidFill>
              </a:rPr>
              <a:t>hal</a:t>
            </a:r>
            <a:r>
              <a:rPr lang="en-US" sz="1500" dirty="0">
                <a:solidFill>
                  <a:schemeClr val="tx1"/>
                </a:solidFill>
              </a:rPr>
              <a:t> hall · </a:t>
            </a:r>
            <a:r>
              <a:rPr lang="en-US" sz="1500" i="1" dirty="0">
                <a:solidFill>
                  <a:schemeClr val="tx1"/>
                </a:solidFill>
              </a:rPr>
              <a:t>al</a:t>
            </a:r>
            <a:r>
              <a:rPr lang="en-US" sz="1500" dirty="0">
                <a:solidFill>
                  <a:schemeClr val="tx1"/>
                </a:solidFill>
              </a:rPr>
              <a:t> déjà</a:t>
            </a:r>
            <a:endParaRPr lang="en-US" sz="1500" dirty="0"/>
          </a:p>
          <a:p>
            <a:pPr algn="l" indent="0" marL="0">
              <a:spcAft>
                <a:spcPts val="300"/>
              </a:spcAft>
              <a:buNone/>
            </a:pPr>
            <a:endParaRPr lang="en-US" sz="15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Défi : </a:t>
            </a:r>
            <a:r>
              <a:rPr lang="en-US" sz="1500" i="1" dirty="0">
                <a:solidFill>
                  <a:schemeClr val="tx1"/>
                </a:solidFill>
              </a:rPr>
              <a:t>Bonjour ! Bien dormi ? Tu vas volontiers à Gand ?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4322064" y="1572768"/>
            <a:ext cx="3544824" cy="4617720"/>
          </a:xfrm>
          <a:prstGeom prst="roundRect">
            <a:avLst>
              <a:gd name="adj" fmla="val 2064"/>
            </a:avLst>
          </a:prstGeom>
          <a:solidFill>
            <a:schemeClr val="bg1"/>
          </a:solidFill>
          <a:ln w="25400">
            <a:solidFill>
              <a:srgbClr val="D9700F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4322064" y="1572768"/>
            <a:ext cx="3544824" cy="502920"/>
          </a:xfrm>
          <a:prstGeom prst="roundRect">
            <a:avLst>
              <a:gd name="adj" fmla="val 14545"/>
            </a:avLst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4459224" y="1572768"/>
            <a:ext cx="32705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Les lettres caméléons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4504944" y="2194560"/>
            <a:ext cx="3179064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1 </a:t>
            </a:r>
            <a:r>
              <a:rPr lang="en-US" sz="1500" i="1" dirty="0">
                <a:solidFill>
                  <a:schemeClr val="tx1"/>
                </a:solidFill>
              </a:rPr>
              <a:t>hond</a:t>
            </a:r>
            <a:r>
              <a:rPr lang="en-US" sz="1500" dirty="0">
                <a:solidFill>
                  <a:schemeClr val="tx1"/>
                </a:solidFill>
              </a:rPr>
              <a:t> → </a:t>
            </a:r>
            <a:r>
              <a:rPr lang="en-US" sz="1500" b="1" dirty="0">
                <a:solidFill>
                  <a:schemeClr val="tx1"/>
                </a:solidFill>
              </a:rPr>
              <a:t>B</a:t>
            </a:r>
            <a:r>
              <a:rPr lang="en-US" sz="1500" dirty="0">
                <a:solidFill>
                  <a:schemeClr val="tx1"/>
                </a:solidFill>
              </a:rPr>
              <a:t> « t »</a:t>
            </a:r>
            <a:endParaRPr lang="en-US" sz="15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2 </a:t>
            </a:r>
            <a:r>
              <a:rPr lang="en-US" sz="1500" i="1" dirty="0">
                <a:solidFill>
                  <a:schemeClr val="tx1"/>
                </a:solidFill>
              </a:rPr>
              <a:t>ik heb</a:t>
            </a:r>
            <a:r>
              <a:rPr lang="en-US" sz="1500" dirty="0">
                <a:solidFill>
                  <a:schemeClr val="tx1"/>
                </a:solidFill>
              </a:rPr>
              <a:t> → </a:t>
            </a:r>
            <a:r>
              <a:rPr lang="en-US" sz="1500" b="1" dirty="0">
                <a:solidFill>
                  <a:schemeClr val="tx1"/>
                </a:solidFill>
              </a:rPr>
              <a:t>G</a:t>
            </a:r>
            <a:r>
              <a:rPr lang="en-US" sz="1500" dirty="0">
                <a:solidFill>
                  <a:schemeClr val="tx1"/>
                </a:solidFill>
              </a:rPr>
              <a:t> « p »</a:t>
            </a:r>
            <a:endParaRPr lang="en-US" sz="15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3 </a:t>
            </a:r>
            <a:r>
              <a:rPr lang="en-US" sz="1500" i="1" dirty="0">
                <a:solidFill>
                  <a:schemeClr val="tx1"/>
                </a:solidFill>
              </a:rPr>
              <a:t>juni</a:t>
            </a:r>
            <a:r>
              <a:rPr lang="en-US" sz="1500" dirty="0">
                <a:solidFill>
                  <a:schemeClr val="tx1"/>
                </a:solidFill>
              </a:rPr>
              <a:t> → </a:t>
            </a:r>
            <a:r>
              <a:rPr lang="en-US" sz="1500" b="1" dirty="0">
                <a:solidFill>
                  <a:schemeClr val="tx1"/>
                </a:solidFill>
              </a:rPr>
              <a:t>E</a:t>
            </a:r>
            <a:r>
              <a:rPr lang="en-US" sz="1500" dirty="0">
                <a:solidFill>
                  <a:schemeClr val="tx1"/>
                </a:solidFill>
              </a:rPr>
              <a:t> « y »</a:t>
            </a:r>
            <a:endParaRPr lang="en-US" sz="15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4 </a:t>
            </a:r>
            <a:r>
              <a:rPr lang="en-US" sz="1500" i="1" dirty="0">
                <a:solidFill>
                  <a:schemeClr val="tx1"/>
                </a:solidFill>
              </a:rPr>
              <a:t>nieuw</a:t>
            </a:r>
            <a:r>
              <a:rPr lang="en-US" sz="1500" dirty="0">
                <a:solidFill>
                  <a:schemeClr val="tx1"/>
                </a:solidFill>
              </a:rPr>
              <a:t> → </a:t>
            </a:r>
            <a:r>
              <a:rPr lang="en-US" sz="1500" b="1" dirty="0">
                <a:solidFill>
                  <a:schemeClr val="tx1"/>
                </a:solidFill>
              </a:rPr>
              <a:t>I</a:t>
            </a:r>
            <a:r>
              <a:rPr lang="en-US" sz="1500" dirty="0">
                <a:solidFill>
                  <a:schemeClr val="tx1"/>
                </a:solidFill>
              </a:rPr>
              <a:t> « ou »</a:t>
            </a:r>
            <a:endParaRPr lang="en-US" sz="15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5 </a:t>
            </a:r>
            <a:r>
              <a:rPr lang="en-US" sz="1500" i="1" dirty="0">
                <a:solidFill>
                  <a:schemeClr val="tx1"/>
                </a:solidFill>
              </a:rPr>
              <a:t>lang</a:t>
            </a:r>
            <a:r>
              <a:rPr lang="en-US" sz="1500" dirty="0">
                <a:solidFill>
                  <a:schemeClr val="tx1"/>
                </a:solidFill>
              </a:rPr>
              <a:t> → </a:t>
            </a:r>
            <a:r>
              <a:rPr lang="en-US" sz="1500" b="1" dirty="0">
                <a:solidFill>
                  <a:schemeClr val="tx1"/>
                </a:solidFill>
              </a:rPr>
              <a:t>A</a:t>
            </a:r>
            <a:r>
              <a:rPr lang="en-US" sz="1500" dirty="0">
                <a:solidFill>
                  <a:schemeClr val="tx1"/>
                </a:solidFill>
              </a:rPr>
              <a:t> « ng »</a:t>
            </a:r>
            <a:endParaRPr lang="en-US" sz="15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6 </a:t>
            </a:r>
            <a:r>
              <a:rPr lang="en-US" sz="1500" i="1" dirty="0">
                <a:solidFill>
                  <a:schemeClr val="tx1"/>
                </a:solidFill>
              </a:rPr>
              <a:t>bank</a:t>
            </a:r>
            <a:r>
              <a:rPr lang="en-US" sz="1500" dirty="0">
                <a:solidFill>
                  <a:schemeClr val="tx1"/>
                </a:solidFill>
              </a:rPr>
              <a:t> → </a:t>
            </a:r>
            <a:r>
              <a:rPr lang="en-US" sz="1500" b="1" dirty="0">
                <a:solidFill>
                  <a:schemeClr val="tx1"/>
                </a:solidFill>
              </a:rPr>
              <a:t>H</a:t>
            </a:r>
            <a:r>
              <a:rPr lang="en-US" sz="1500" dirty="0">
                <a:solidFill>
                  <a:schemeClr val="tx1"/>
                </a:solidFill>
              </a:rPr>
              <a:t> « ng-k »</a:t>
            </a:r>
            <a:endParaRPr lang="en-US" sz="15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7 </a:t>
            </a:r>
            <a:r>
              <a:rPr lang="en-US" sz="1500" i="1" dirty="0">
                <a:solidFill>
                  <a:schemeClr val="tx1"/>
                </a:solidFill>
              </a:rPr>
              <a:t>meisje</a:t>
            </a:r>
            <a:r>
              <a:rPr lang="en-US" sz="1500" dirty="0">
                <a:solidFill>
                  <a:schemeClr val="tx1"/>
                </a:solidFill>
              </a:rPr>
              <a:t> → </a:t>
            </a:r>
            <a:r>
              <a:rPr lang="en-US" sz="1500" b="1" dirty="0">
                <a:solidFill>
                  <a:schemeClr val="tx1"/>
                </a:solidFill>
              </a:rPr>
              <a:t>C</a:t>
            </a:r>
            <a:r>
              <a:rPr lang="en-US" sz="1500" dirty="0">
                <a:solidFill>
                  <a:schemeClr val="tx1"/>
                </a:solidFill>
              </a:rPr>
              <a:t> « ch »</a:t>
            </a:r>
            <a:endParaRPr lang="en-US" sz="15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8 </a:t>
            </a:r>
            <a:r>
              <a:rPr lang="en-US" sz="1500" i="1" dirty="0">
                <a:solidFill>
                  <a:schemeClr val="tx1"/>
                </a:solidFill>
              </a:rPr>
              <a:t>oranje</a:t>
            </a:r>
            <a:r>
              <a:rPr lang="en-US" sz="1500" dirty="0">
                <a:solidFill>
                  <a:schemeClr val="tx1"/>
                </a:solidFill>
              </a:rPr>
              <a:t> → </a:t>
            </a:r>
            <a:r>
              <a:rPr lang="en-US" sz="1500" b="1" dirty="0">
                <a:solidFill>
                  <a:schemeClr val="tx1"/>
                </a:solidFill>
              </a:rPr>
              <a:t>J</a:t>
            </a:r>
            <a:r>
              <a:rPr lang="en-US" sz="1500" dirty="0">
                <a:solidFill>
                  <a:schemeClr val="tx1"/>
                </a:solidFill>
              </a:rPr>
              <a:t> « gn »</a:t>
            </a:r>
            <a:endParaRPr lang="en-US" sz="15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9 </a:t>
            </a:r>
            <a:r>
              <a:rPr lang="en-US" sz="1500" i="1" dirty="0">
                <a:solidFill>
                  <a:schemeClr val="tx1"/>
                </a:solidFill>
              </a:rPr>
              <a:t>Tsjechië</a:t>
            </a:r>
            <a:r>
              <a:rPr lang="en-US" sz="1500" dirty="0">
                <a:solidFill>
                  <a:schemeClr val="tx1"/>
                </a:solidFill>
              </a:rPr>
              <a:t> → </a:t>
            </a:r>
            <a:r>
              <a:rPr lang="en-US" sz="1500" b="1" dirty="0">
                <a:solidFill>
                  <a:schemeClr val="tx1"/>
                </a:solidFill>
              </a:rPr>
              <a:t>F</a:t>
            </a:r>
            <a:r>
              <a:rPr lang="en-US" sz="1500" dirty="0">
                <a:solidFill>
                  <a:schemeClr val="tx1"/>
                </a:solidFill>
              </a:rPr>
              <a:t> « tch »</a:t>
            </a:r>
            <a:endParaRPr lang="en-US" sz="15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10 </a:t>
            </a:r>
            <a:r>
              <a:rPr lang="en-US" sz="1500" i="1" dirty="0">
                <a:solidFill>
                  <a:schemeClr val="tx1"/>
                </a:solidFill>
              </a:rPr>
              <a:t>Russisch</a:t>
            </a:r>
            <a:r>
              <a:rPr lang="en-US" sz="1500" dirty="0">
                <a:solidFill>
                  <a:schemeClr val="tx1"/>
                </a:solidFill>
              </a:rPr>
              <a:t> → </a:t>
            </a:r>
            <a:r>
              <a:rPr lang="en-US" sz="1500" b="1" dirty="0">
                <a:solidFill>
                  <a:schemeClr val="tx1"/>
                </a:solidFill>
              </a:rPr>
              <a:t>D</a:t>
            </a:r>
            <a:r>
              <a:rPr lang="en-US" sz="1500" dirty="0">
                <a:solidFill>
                  <a:schemeClr val="tx1"/>
                </a:solidFill>
              </a:rPr>
              <a:t> « is »</a:t>
            </a:r>
            <a:endParaRPr lang="en-US" sz="15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11 </a:t>
            </a:r>
            <a:r>
              <a:rPr lang="en-US" sz="1500" i="1" dirty="0">
                <a:solidFill>
                  <a:schemeClr val="tx1"/>
                </a:solidFill>
              </a:rPr>
              <a:t>school</a:t>
            </a:r>
            <a:r>
              <a:rPr lang="en-US" sz="1500" dirty="0">
                <a:solidFill>
                  <a:schemeClr val="tx1"/>
                </a:solidFill>
              </a:rPr>
              <a:t> → </a:t>
            </a:r>
            <a:r>
              <a:rPr lang="en-US" sz="1500" b="1" dirty="0">
                <a:solidFill>
                  <a:schemeClr val="tx1"/>
                </a:solidFill>
              </a:rPr>
              <a:t>L</a:t>
            </a:r>
            <a:r>
              <a:rPr lang="en-US" sz="1500" dirty="0">
                <a:solidFill>
                  <a:schemeClr val="tx1"/>
                </a:solidFill>
              </a:rPr>
              <a:t> « s » + ch raclé</a:t>
            </a:r>
            <a:endParaRPr lang="en-US" sz="15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12 </a:t>
            </a:r>
            <a:r>
              <a:rPr lang="en-US" sz="1500" i="1" dirty="0">
                <a:solidFill>
                  <a:schemeClr val="tx1"/>
                </a:solidFill>
              </a:rPr>
              <a:t>dag</a:t>
            </a:r>
            <a:r>
              <a:rPr lang="en-US" sz="1500" dirty="0">
                <a:solidFill>
                  <a:schemeClr val="tx1"/>
                </a:solidFill>
              </a:rPr>
              <a:t> → </a:t>
            </a:r>
            <a:r>
              <a:rPr lang="en-US" sz="1500" b="1" dirty="0">
                <a:solidFill>
                  <a:schemeClr val="tx1"/>
                </a:solidFill>
              </a:rPr>
              <a:t>K</a:t>
            </a:r>
            <a:r>
              <a:rPr lang="en-US" sz="1500" dirty="0">
                <a:solidFill>
                  <a:schemeClr val="tx1"/>
                </a:solidFill>
              </a:rPr>
              <a:t> « ch » raclé</a:t>
            </a:r>
            <a:endParaRPr lang="en-US" sz="1500" dirty="0"/>
          </a:p>
        </p:txBody>
      </p:sp>
      <p:sp>
        <p:nvSpPr>
          <p:cNvPr id="24" name="Shape 21"/>
          <p:cNvSpPr/>
          <p:nvPr/>
        </p:nvSpPr>
        <p:spPr>
          <a:xfrm>
            <a:off x="8095488" y="1572768"/>
            <a:ext cx="3544824" cy="4617720"/>
          </a:xfrm>
          <a:prstGeom prst="roundRect">
            <a:avLst>
              <a:gd name="adj" fmla="val 2064"/>
            </a:avLst>
          </a:prstGeom>
          <a:solidFill>
            <a:schemeClr val="bg1"/>
          </a:solidFill>
          <a:ln w="25400">
            <a:solidFill>
              <a:srgbClr val="D9700F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8095488" y="1572768"/>
            <a:ext cx="3544824" cy="502920"/>
          </a:xfrm>
          <a:prstGeom prst="roundRect">
            <a:avLst>
              <a:gd name="adj" fmla="val 14545"/>
            </a:avLst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232648" y="1572768"/>
            <a:ext cx="32705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Le jeu de l’oie (aide-mémoire)</a:t>
            </a:r>
            <a:endParaRPr lang="en-US" sz="1600" dirty="0"/>
          </a:p>
        </p:txBody>
      </p:sp>
      <p:sp>
        <p:nvSpPr>
          <p:cNvPr id="27" name="Text 24"/>
          <p:cNvSpPr txBox="1"/>
          <p:nvPr/>
        </p:nvSpPr>
        <p:spPr>
          <a:xfrm>
            <a:off x="8278368" y="2194560"/>
            <a:ext cx="3179064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500" i="1" dirty="0">
                <a:solidFill>
                  <a:schemeClr val="tx1"/>
                </a:solidFill>
              </a:rPr>
              <a:t>goed</a:t>
            </a:r>
            <a:r>
              <a:rPr lang="en-US" sz="1500" dirty="0">
                <a:solidFill>
                  <a:schemeClr val="tx1"/>
                </a:solidFill>
              </a:rPr>
              <a:t> « ghout » (gh raclé)</a:t>
            </a:r>
            <a:endParaRPr lang="en-US" sz="15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500" i="1" dirty="0">
                <a:solidFill>
                  <a:schemeClr val="tx1"/>
                </a:solidFill>
              </a:rPr>
              <a:t>jij</a:t>
            </a:r>
            <a:r>
              <a:rPr lang="en-US" sz="1500" dirty="0">
                <a:solidFill>
                  <a:schemeClr val="tx1"/>
                </a:solidFill>
              </a:rPr>
              <a:t> « yèï »</a:t>
            </a:r>
            <a:endParaRPr lang="en-US" sz="15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500" i="1" dirty="0">
                <a:solidFill>
                  <a:schemeClr val="tx1"/>
                </a:solidFill>
              </a:rPr>
              <a:t>brengen</a:t>
            </a:r>
            <a:r>
              <a:rPr lang="en-US" sz="1500" dirty="0">
                <a:solidFill>
                  <a:schemeClr val="tx1"/>
                </a:solidFill>
              </a:rPr>
              <a:t> </a:t>
            </a:r>
            <a:r>
              <a:rPr lang="en-US" sz="1500" i="1" dirty="0">
                <a:solidFill>
                  <a:schemeClr val="tx1"/>
                </a:solidFill>
              </a:rPr>
              <a:t>ng</a:t>
            </a:r>
            <a:r>
              <a:rPr lang="en-US" sz="1500" dirty="0">
                <a:solidFill>
                  <a:schemeClr val="tx1"/>
                </a:solidFill>
              </a:rPr>
              <a:t> = un son</a:t>
            </a:r>
            <a:endParaRPr lang="en-US" sz="15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500" i="1" dirty="0">
                <a:solidFill>
                  <a:schemeClr val="tx1"/>
                </a:solidFill>
              </a:rPr>
              <a:t>meisje</a:t>
            </a:r>
            <a:r>
              <a:rPr lang="en-US" sz="1500" dirty="0">
                <a:solidFill>
                  <a:schemeClr val="tx1"/>
                </a:solidFill>
              </a:rPr>
              <a:t> « mèï-cheu »</a:t>
            </a:r>
            <a:endParaRPr lang="en-US" sz="15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500" i="1" dirty="0">
                <a:solidFill>
                  <a:schemeClr val="tx1"/>
                </a:solidFill>
              </a:rPr>
              <a:t>oranje</a:t>
            </a:r>
            <a:r>
              <a:rPr lang="en-US" sz="1500" dirty="0">
                <a:solidFill>
                  <a:schemeClr val="tx1"/>
                </a:solidFill>
              </a:rPr>
              <a:t> « o-ra-gneu »</a:t>
            </a:r>
            <a:endParaRPr lang="en-US" sz="15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500" i="1" dirty="0">
                <a:solidFill>
                  <a:schemeClr val="tx1"/>
                </a:solidFill>
              </a:rPr>
              <a:t>denken</a:t>
            </a:r>
            <a:r>
              <a:rPr lang="en-US" sz="1500" dirty="0">
                <a:solidFill>
                  <a:schemeClr val="tx1"/>
                </a:solidFill>
              </a:rPr>
              <a:t> </a:t>
            </a:r>
            <a:r>
              <a:rPr lang="en-US" sz="1500" i="1" dirty="0">
                <a:solidFill>
                  <a:schemeClr val="tx1"/>
                </a:solidFill>
              </a:rPr>
              <a:t>nk</a:t>
            </a:r>
            <a:endParaRPr lang="en-US" sz="15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500" i="1" dirty="0">
                <a:solidFill>
                  <a:schemeClr val="tx1"/>
                </a:solidFill>
              </a:rPr>
              <a:t>Russisch</a:t>
            </a:r>
            <a:r>
              <a:rPr lang="en-US" sz="1500" dirty="0">
                <a:solidFill>
                  <a:schemeClr val="tx1"/>
                </a:solidFill>
              </a:rPr>
              <a:t> « reu-sis »</a:t>
            </a:r>
            <a:endParaRPr lang="en-US" sz="15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500" i="1" dirty="0">
                <a:solidFill>
                  <a:schemeClr val="tx1"/>
                </a:solidFill>
              </a:rPr>
              <a:t>Tsjechië</a:t>
            </a:r>
            <a:r>
              <a:rPr lang="en-US" sz="1500" dirty="0">
                <a:solidFill>
                  <a:schemeClr val="tx1"/>
                </a:solidFill>
              </a:rPr>
              <a:t> « tchè-ghi-yeu »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Corrigés — Séance 4 · Mots courts, mots longs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338682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CORRIGÉS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9747504" y="393192"/>
            <a:ext cx="1682496" cy="914"/>
          </a:xfrm>
          <a:prstGeom prst="line">
            <a:avLst/>
          </a:prstGeom>
          <a:noFill/>
          <a:ln w="25400">
            <a:solidFill>
              <a:srgbClr val="D5DCE6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9582912" y="228600"/>
            <a:ext cx="329184" cy="32918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A6FB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582912" y="2286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1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10003536" y="228600"/>
            <a:ext cx="329184" cy="32918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4236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0003536" y="2286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2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10424160" y="228600"/>
            <a:ext cx="329184" cy="32918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9700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0424160" y="2286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3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10844784" y="228600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0844784" y="2286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4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11265408" y="228600"/>
            <a:ext cx="329184" cy="32918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E4A9E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11265408" y="2286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E4A9E"/>
                </a:solidFill>
              </a:rPr>
              <a:t>5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48640" y="1572768"/>
            <a:ext cx="3544824" cy="4617720"/>
          </a:xfrm>
          <a:prstGeom prst="roundRect">
            <a:avLst>
              <a:gd name="adj" fmla="val 2064"/>
            </a:avLst>
          </a:prstGeom>
          <a:solidFill>
            <a:schemeClr val="bg1"/>
          </a:solidFill>
          <a:ln w="25400">
            <a:solidFill>
              <a:srgbClr val="2E7D4F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548640" y="1572768"/>
            <a:ext cx="3544824" cy="502920"/>
          </a:xfrm>
          <a:prstGeom prst="roundRect">
            <a:avLst>
              <a:gd name="adj" fmla="val 14545"/>
            </a:avLst>
          </a:prstGeom>
          <a:solidFill>
            <a:schemeClr val="accent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85800" y="1572768"/>
            <a:ext cx="32705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Mini-défi et escaliers ①②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731520" y="2194560"/>
            <a:ext cx="3179064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500" i="1" dirty="0">
                <a:solidFill>
                  <a:schemeClr val="tx1"/>
                </a:solidFill>
              </a:rPr>
              <a:t>be·</a:t>
            </a:r>
            <a:r>
              <a:rPr lang="en-US" sz="1500" b="1" i="1" dirty="0">
                <a:solidFill>
                  <a:schemeClr val="accent1"/>
                </a:solidFill>
              </a:rPr>
              <a:t>ta</a:t>
            </a:r>
            <a:r>
              <a:rPr lang="en-US" sz="1500" i="1" dirty="0">
                <a:solidFill>
                  <a:schemeClr val="tx1"/>
                </a:solidFill>
              </a:rPr>
              <a:t>·len · ge·</a:t>
            </a:r>
            <a:r>
              <a:rPr lang="en-US" sz="1500" b="1" i="1" dirty="0">
                <a:solidFill>
                  <a:schemeClr val="accent1"/>
                </a:solidFill>
              </a:rPr>
              <a:t>zel</a:t>
            </a:r>
            <a:r>
              <a:rPr lang="en-US" sz="1500" i="1" dirty="0">
                <a:solidFill>
                  <a:schemeClr val="tx1"/>
                </a:solidFill>
              </a:rPr>
              <a:t>·lig · </a:t>
            </a:r>
            <a:r>
              <a:rPr lang="en-US" sz="1500" b="1" i="1" dirty="0">
                <a:solidFill>
                  <a:schemeClr val="accent1"/>
                </a:solidFill>
              </a:rPr>
              <a:t>vrien</a:t>
            </a:r>
            <a:r>
              <a:rPr lang="en-US" sz="1500" i="1" dirty="0">
                <a:solidFill>
                  <a:schemeClr val="tx1"/>
                </a:solidFill>
              </a:rPr>
              <a:t>·de·lijk</a:t>
            </a:r>
            <a:endParaRPr lang="en-US" sz="1500" dirty="0"/>
          </a:p>
          <a:p>
            <a:pPr algn="l" indent="0" marL="0">
              <a:spcAft>
                <a:spcPts val="500"/>
              </a:spcAft>
              <a:buNone/>
            </a:pPr>
            <a:endParaRPr lang="en-US" sz="15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500" b="1" i="1" dirty="0">
                <a:solidFill>
                  <a:schemeClr val="accent1"/>
                </a:solidFill>
              </a:rPr>
              <a:t>taal</a:t>
            </a:r>
            <a:r>
              <a:rPr lang="en-US" sz="1500" i="1" dirty="0">
                <a:solidFill>
                  <a:schemeClr val="tx1"/>
                </a:solidFill>
              </a:rPr>
              <a:t> · </a:t>
            </a:r>
            <a:r>
              <a:rPr lang="en-US" sz="1500" b="1" i="1" dirty="0">
                <a:solidFill>
                  <a:schemeClr val="accent1"/>
                </a:solidFill>
              </a:rPr>
              <a:t>ta</a:t>
            </a:r>
            <a:r>
              <a:rPr lang="en-US" sz="1500" i="1" dirty="0">
                <a:solidFill>
                  <a:schemeClr val="tx1"/>
                </a:solidFill>
              </a:rPr>
              <a:t>·len · ver·</a:t>
            </a:r>
            <a:r>
              <a:rPr lang="en-US" sz="1500" b="1" i="1" dirty="0">
                <a:solidFill>
                  <a:schemeClr val="accent1"/>
                </a:solidFill>
              </a:rPr>
              <a:t>ta</a:t>
            </a:r>
            <a:r>
              <a:rPr lang="en-US" sz="1500" i="1" dirty="0">
                <a:solidFill>
                  <a:schemeClr val="tx1"/>
                </a:solidFill>
              </a:rPr>
              <a:t>·len · ver·</a:t>
            </a:r>
            <a:r>
              <a:rPr lang="en-US" sz="1500" b="1" i="1" dirty="0">
                <a:solidFill>
                  <a:schemeClr val="accent1"/>
                </a:solidFill>
              </a:rPr>
              <a:t>ta</a:t>
            </a:r>
            <a:r>
              <a:rPr lang="en-US" sz="1500" i="1" dirty="0">
                <a:solidFill>
                  <a:schemeClr val="tx1"/>
                </a:solidFill>
              </a:rPr>
              <a:t>·ling · ver·</a:t>
            </a:r>
            <a:r>
              <a:rPr lang="en-US" sz="1500" b="1" i="1" dirty="0">
                <a:solidFill>
                  <a:schemeClr val="accent1"/>
                </a:solidFill>
              </a:rPr>
              <a:t>ta</a:t>
            </a:r>
            <a:r>
              <a:rPr lang="en-US" sz="1500" i="1" dirty="0">
                <a:solidFill>
                  <a:schemeClr val="tx1"/>
                </a:solidFill>
              </a:rPr>
              <a:t>·lin·gen</a:t>
            </a:r>
            <a:r>
              <a:rPr lang="en-US" sz="1500" dirty="0">
                <a:solidFill>
                  <a:schemeClr val="tx1"/>
                </a:solidFill>
              </a:rPr>
              <a:t> (1-2-3-3-4)</a:t>
            </a:r>
            <a:endParaRPr lang="en-US" sz="1500" dirty="0"/>
          </a:p>
          <a:p>
            <a:pPr algn="l" indent="0" marL="0">
              <a:spcAft>
                <a:spcPts val="500"/>
              </a:spcAft>
              <a:buNone/>
            </a:pPr>
            <a:endParaRPr lang="en-US" sz="15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500" b="1" i="1" dirty="0">
                <a:solidFill>
                  <a:schemeClr val="accent1"/>
                </a:solidFill>
              </a:rPr>
              <a:t>naam</a:t>
            </a:r>
            <a:r>
              <a:rPr lang="en-US" sz="1500" i="1" dirty="0">
                <a:solidFill>
                  <a:schemeClr val="tx1"/>
                </a:solidFill>
              </a:rPr>
              <a:t> · </a:t>
            </a:r>
            <a:r>
              <a:rPr lang="en-US" sz="1500" b="1" i="1" dirty="0">
                <a:solidFill>
                  <a:schemeClr val="accent1"/>
                </a:solidFill>
              </a:rPr>
              <a:t>na</a:t>
            </a:r>
            <a:r>
              <a:rPr lang="en-US" sz="1500" i="1" dirty="0">
                <a:solidFill>
                  <a:schemeClr val="tx1"/>
                </a:solidFill>
              </a:rPr>
              <a:t>·men · </a:t>
            </a:r>
            <a:r>
              <a:rPr lang="en-US" sz="1500" b="1" i="1" dirty="0">
                <a:solidFill>
                  <a:schemeClr val="accent1"/>
                </a:solidFill>
              </a:rPr>
              <a:t>voor</a:t>
            </a:r>
            <a:r>
              <a:rPr lang="en-US" sz="1500" i="1" dirty="0">
                <a:solidFill>
                  <a:schemeClr val="tx1"/>
                </a:solidFill>
              </a:rPr>
              <a:t>·naam · </a:t>
            </a:r>
            <a:r>
              <a:rPr lang="en-US" sz="1500" b="1" i="1" dirty="0">
                <a:solidFill>
                  <a:schemeClr val="accent1"/>
                </a:solidFill>
              </a:rPr>
              <a:t>ach</a:t>
            </a:r>
            <a:r>
              <a:rPr lang="en-US" sz="1500" i="1" dirty="0">
                <a:solidFill>
                  <a:schemeClr val="tx1"/>
                </a:solidFill>
              </a:rPr>
              <a:t>·ter·naam · </a:t>
            </a:r>
            <a:r>
              <a:rPr lang="en-US" sz="1500" b="1" i="1" dirty="0">
                <a:solidFill>
                  <a:schemeClr val="accent1"/>
                </a:solidFill>
              </a:rPr>
              <a:t>ach</a:t>
            </a:r>
            <a:r>
              <a:rPr lang="en-US" sz="1500" i="1" dirty="0">
                <a:solidFill>
                  <a:schemeClr val="tx1"/>
                </a:solidFill>
              </a:rPr>
              <a:t>·ter·na·men</a:t>
            </a:r>
            <a:r>
              <a:rPr lang="en-US" sz="1500" dirty="0">
                <a:solidFill>
                  <a:schemeClr val="tx1"/>
                </a:solidFill>
              </a:rPr>
              <a:t> (1-2-2-3-4)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4322064" y="1572768"/>
            <a:ext cx="3544824" cy="4617720"/>
          </a:xfrm>
          <a:prstGeom prst="roundRect">
            <a:avLst>
              <a:gd name="adj" fmla="val 2064"/>
            </a:avLst>
          </a:prstGeom>
          <a:solidFill>
            <a:schemeClr val="bg1"/>
          </a:solidFill>
          <a:ln w="25400">
            <a:solidFill>
              <a:srgbClr val="2E7D4F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4322064" y="1572768"/>
            <a:ext cx="3544824" cy="502920"/>
          </a:xfrm>
          <a:prstGeom prst="roundRect">
            <a:avLst>
              <a:gd name="adj" fmla="val 14545"/>
            </a:avLst>
          </a:prstGeom>
          <a:solidFill>
            <a:schemeClr val="accent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4459224" y="1572768"/>
            <a:ext cx="32705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Escaliers ③④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4504944" y="2194560"/>
            <a:ext cx="3179064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500" b="1" i="1" dirty="0">
                <a:solidFill>
                  <a:schemeClr val="accent1"/>
                </a:solidFill>
              </a:rPr>
              <a:t>werk</a:t>
            </a:r>
            <a:r>
              <a:rPr lang="en-US" sz="1500" i="1" dirty="0">
                <a:solidFill>
                  <a:schemeClr val="tx1"/>
                </a:solidFill>
              </a:rPr>
              <a:t> · </a:t>
            </a:r>
            <a:r>
              <a:rPr lang="en-US" sz="1500" b="1" i="1" dirty="0">
                <a:solidFill>
                  <a:schemeClr val="accent1"/>
                </a:solidFill>
              </a:rPr>
              <a:t>wer</a:t>
            </a:r>
            <a:r>
              <a:rPr lang="en-US" sz="1500" i="1" dirty="0">
                <a:solidFill>
                  <a:schemeClr val="tx1"/>
                </a:solidFill>
              </a:rPr>
              <a:t>·ken · ge·</a:t>
            </a:r>
            <a:r>
              <a:rPr lang="en-US" sz="1500" b="1" i="1" dirty="0">
                <a:solidFill>
                  <a:schemeClr val="accent1"/>
                </a:solidFill>
              </a:rPr>
              <a:t>werkt</a:t>
            </a:r>
            <a:r>
              <a:rPr lang="en-US" sz="1500" i="1" dirty="0">
                <a:solidFill>
                  <a:schemeClr val="tx1"/>
                </a:solidFill>
              </a:rPr>
              <a:t> · </a:t>
            </a:r>
            <a:r>
              <a:rPr lang="en-US" sz="1500" b="1" i="1" dirty="0">
                <a:solidFill>
                  <a:schemeClr val="accent1"/>
                </a:solidFill>
              </a:rPr>
              <a:t>me</a:t>
            </a:r>
            <a:r>
              <a:rPr lang="en-US" sz="1500" i="1" dirty="0">
                <a:solidFill>
                  <a:schemeClr val="tx1"/>
                </a:solidFill>
              </a:rPr>
              <a:t>·de·wer·ker · </a:t>
            </a:r>
            <a:r>
              <a:rPr lang="en-US" sz="1500" b="1" i="1" dirty="0">
                <a:solidFill>
                  <a:schemeClr val="accent1"/>
                </a:solidFill>
              </a:rPr>
              <a:t>me</a:t>
            </a:r>
            <a:r>
              <a:rPr lang="en-US" sz="1500" i="1" dirty="0">
                <a:solidFill>
                  <a:schemeClr val="tx1"/>
                </a:solidFill>
              </a:rPr>
              <a:t>·de·wer·kers</a:t>
            </a:r>
            <a:r>
              <a:rPr lang="en-US" sz="1500" dirty="0">
                <a:solidFill>
                  <a:schemeClr val="tx1"/>
                </a:solidFill>
              </a:rPr>
              <a:t> (1-2-2-4-4)</a:t>
            </a:r>
            <a:endParaRPr lang="en-US" sz="1500" dirty="0"/>
          </a:p>
          <a:p>
            <a:pPr algn="l" indent="0" marL="0">
              <a:spcAft>
                <a:spcPts val="500"/>
              </a:spcAft>
              <a:buNone/>
            </a:pPr>
            <a:endParaRPr lang="en-US" sz="15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500" b="1" i="1" dirty="0">
                <a:solidFill>
                  <a:schemeClr val="accent1"/>
                </a:solidFill>
              </a:rPr>
              <a:t>huis</a:t>
            </a:r>
            <a:r>
              <a:rPr lang="en-US" sz="1500" i="1" dirty="0">
                <a:solidFill>
                  <a:schemeClr val="tx1"/>
                </a:solidFill>
              </a:rPr>
              <a:t> · </a:t>
            </a:r>
            <a:r>
              <a:rPr lang="en-US" sz="1500" b="1" i="1" dirty="0">
                <a:solidFill>
                  <a:schemeClr val="accent1"/>
                </a:solidFill>
              </a:rPr>
              <a:t>hui</a:t>
            </a:r>
            <a:r>
              <a:rPr lang="en-US" sz="1500" i="1" dirty="0">
                <a:solidFill>
                  <a:schemeClr val="tx1"/>
                </a:solidFill>
              </a:rPr>
              <a:t>·zen · </a:t>
            </a:r>
            <a:r>
              <a:rPr lang="en-US" sz="1500" b="1" i="1" dirty="0">
                <a:solidFill>
                  <a:schemeClr val="accent1"/>
                </a:solidFill>
              </a:rPr>
              <a:t>huis</a:t>
            </a:r>
            <a:r>
              <a:rPr lang="en-US" sz="1500" i="1" dirty="0">
                <a:solidFill>
                  <a:schemeClr val="tx1"/>
                </a:solidFill>
              </a:rPr>
              <a:t>·je · </a:t>
            </a:r>
            <a:r>
              <a:rPr lang="en-US" sz="1500" b="1" i="1" dirty="0">
                <a:solidFill>
                  <a:schemeClr val="accent1"/>
                </a:solidFill>
              </a:rPr>
              <a:t>zie</a:t>
            </a:r>
            <a:r>
              <a:rPr lang="en-US" sz="1500" i="1" dirty="0">
                <a:solidFill>
                  <a:schemeClr val="tx1"/>
                </a:solidFill>
              </a:rPr>
              <a:t>·ken·huis · </a:t>
            </a:r>
            <a:r>
              <a:rPr lang="en-US" sz="1500" b="1" i="1" dirty="0">
                <a:solidFill>
                  <a:schemeClr val="accent1"/>
                </a:solidFill>
              </a:rPr>
              <a:t>zie</a:t>
            </a:r>
            <a:r>
              <a:rPr lang="en-US" sz="1500" i="1" dirty="0">
                <a:solidFill>
                  <a:schemeClr val="tx1"/>
                </a:solidFill>
              </a:rPr>
              <a:t>·ken·hui·zen</a:t>
            </a:r>
            <a:r>
              <a:rPr lang="en-US" sz="1500" dirty="0">
                <a:solidFill>
                  <a:schemeClr val="tx1"/>
                </a:solidFill>
              </a:rPr>
              <a:t> (1-2-2-3-4)</a:t>
            </a:r>
            <a:endParaRPr lang="en-US" sz="1500" dirty="0"/>
          </a:p>
          <a:p>
            <a:pPr algn="l" indent="0" marL="0">
              <a:spcAft>
                <a:spcPts val="500"/>
              </a:spcAft>
              <a:buNone/>
            </a:pPr>
            <a:endParaRPr lang="en-US" sz="15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L’accent reste sur la base ; dans un mot composé, il passe sur le 1er mot.</a:t>
            </a:r>
            <a:endParaRPr lang="en-US" sz="1500" dirty="0"/>
          </a:p>
        </p:txBody>
      </p:sp>
      <p:sp>
        <p:nvSpPr>
          <p:cNvPr id="24" name="Shape 21"/>
          <p:cNvSpPr/>
          <p:nvPr/>
        </p:nvSpPr>
        <p:spPr>
          <a:xfrm>
            <a:off x="8095488" y="1572768"/>
            <a:ext cx="3544824" cy="4617720"/>
          </a:xfrm>
          <a:prstGeom prst="roundRect">
            <a:avLst>
              <a:gd name="adj" fmla="val 2064"/>
            </a:avLst>
          </a:prstGeom>
          <a:solidFill>
            <a:schemeClr val="bg1"/>
          </a:solidFill>
          <a:ln w="25400">
            <a:solidFill>
              <a:srgbClr val="2E7D4F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8095488" y="1572768"/>
            <a:ext cx="3544824" cy="502920"/>
          </a:xfrm>
          <a:prstGeom prst="roundRect">
            <a:avLst>
              <a:gd name="adj" fmla="val 14545"/>
            </a:avLst>
          </a:prstGeom>
          <a:solidFill>
            <a:schemeClr val="accent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232648" y="1572768"/>
            <a:ext cx="32705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Les mots-monstres</a:t>
            </a:r>
            <a:endParaRPr lang="en-US" sz="1600" dirty="0"/>
          </a:p>
        </p:txBody>
      </p:sp>
      <p:sp>
        <p:nvSpPr>
          <p:cNvPr id="27" name="Text 24"/>
          <p:cNvSpPr txBox="1"/>
          <p:nvPr/>
        </p:nvSpPr>
        <p:spPr>
          <a:xfrm>
            <a:off x="8278368" y="2194560"/>
            <a:ext cx="3179064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500" b="1" i="1" dirty="0">
                <a:solidFill>
                  <a:schemeClr val="accent1"/>
                </a:solidFill>
              </a:rPr>
              <a:t>moei</a:t>
            </a:r>
            <a:r>
              <a:rPr lang="en-US" sz="1500" i="1" dirty="0">
                <a:solidFill>
                  <a:schemeClr val="tx1"/>
                </a:solidFill>
              </a:rPr>
              <a:t>·lijk</a:t>
            </a:r>
            <a:r>
              <a:rPr lang="en-US" sz="1500" dirty="0">
                <a:solidFill>
                  <a:schemeClr val="tx1"/>
                </a:solidFill>
              </a:rPr>
              <a:t> 2</a:t>
            </a:r>
            <a:endParaRPr lang="en-US" sz="15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500" b="1" i="1" dirty="0">
                <a:solidFill>
                  <a:schemeClr val="accent1"/>
                </a:solidFill>
              </a:rPr>
              <a:t>mak</a:t>
            </a:r>
            <a:r>
              <a:rPr lang="en-US" sz="1500" i="1" dirty="0">
                <a:solidFill>
                  <a:schemeClr val="tx1"/>
                </a:solidFill>
              </a:rPr>
              <a:t>·ke·lijk</a:t>
            </a:r>
            <a:r>
              <a:rPr lang="en-US" sz="1500" dirty="0">
                <a:solidFill>
                  <a:schemeClr val="tx1"/>
                </a:solidFill>
              </a:rPr>
              <a:t> 3 (BE : </a:t>
            </a:r>
            <a:r>
              <a:rPr lang="en-US" sz="1500" i="1" dirty="0">
                <a:solidFill>
                  <a:schemeClr val="tx1"/>
                </a:solidFill>
              </a:rPr>
              <a:t>ge·</a:t>
            </a:r>
            <a:r>
              <a:rPr lang="en-US" sz="1500" b="1" i="1" dirty="0">
                <a:solidFill>
                  <a:schemeClr val="accent1"/>
                </a:solidFill>
              </a:rPr>
              <a:t>mak</a:t>
            </a:r>
            <a:r>
              <a:rPr lang="en-US" sz="1500" i="1" dirty="0">
                <a:solidFill>
                  <a:schemeClr val="tx1"/>
                </a:solidFill>
              </a:rPr>
              <a:t>·ke·lijk</a:t>
            </a:r>
            <a:r>
              <a:rPr lang="en-US" sz="1500" dirty="0">
                <a:solidFill>
                  <a:schemeClr val="tx1"/>
                </a:solidFill>
              </a:rPr>
              <a:t> 4)</a:t>
            </a:r>
            <a:endParaRPr lang="en-US" sz="15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500" i="1" dirty="0">
                <a:solidFill>
                  <a:schemeClr val="tx1"/>
                </a:solidFill>
              </a:rPr>
              <a:t>ge·</a:t>
            </a:r>
            <a:r>
              <a:rPr lang="en-US" sz="1500" b="1" i="1" dirty="0">
                <a:solidFill>
                  <a:schemeClr val="accent1"/>
                </a:solidFill>
              </a:rPr>
              <a:t>zond</a:t>
            </a:r>
            <a:r>
              <a:rPr lang="en-US" sz="1500" i="1" dirty="0">
                <a:solidFill>
                  <a:schemeClr val="tx1"/>
                </a:solidFill>
              </a:rPr>
              <a:t>·heid</a:t>
            </a:r>
            <a:r>
              <a:rPr lang="en-US" sz="1500" dirty="0">
                <a:solidFill>
                  <a:schemeClr val="tx1"/>
                </a:solidFill>
              </a:rPr>
              <a:t> 3 · </a:t>
            </a:r>
            <a:r>
              <a:rPr lang="en-US" sz="1500" i="1" dirty="0">
                <a:solidFill>
                  <a:schemeClr val="tx1"/>
                </a:solidFill>
              </a:rPr>
              <a:t>na·</a:t>
            </a:r>
            <a:r>
              <a:rPr lang="en-US" sz="1500" b="1" i="1" dirty="0">
                <a:solidFill>
                  <a:schemeClr val="accent1"/>
                </a:solidFill>
              </a:rPr>
              <a:t>tuur</a:t>
            </a:r>
            <a:r>
              <a:rPr lang="en-US" sz="1500" i="1" dirty="0">
                <a:solidFill>
                  <a:schemeClr val="tx1"/>
                </a:solidFill>
              </a:rPr>
              <a:t>·lijk</a:t>
            </a:r>
            <a:r>
              <a:rPr lang="en-US" sz="1500" dirty="0">
                <a:solidFill>
                  <a:schemeClr val="tx1"/>
                </a:solidFill>
              </a:rPr>
              <a:t> 3</a:t>
            </a:r>
            <a:endParaRPr lang="en-US" sz="15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500" i="1" dirty="0">
                <a:solidFill>
                  <a:schemeClr val="tx1"/>
                </a:solidFill>
              </a:rPr>
              <a:t>for·mu·</a:t>
            </a:r>
            <a:r>
              <a:rPr lang="en-US" sz="1500" b="1" i="1" dirty="0">
                <a:solidFill>
                  <a:schemeClr val="accent1"/>
                </a:solidFill>
              </a:rPr>
              <a:t>lier</a:t>
            </a:r>
            <a:r>
              <a:rPr lang="en-US" sz="1500" dirty="0">
                <a:solidFill>
                  <a:schemeClr val="tx1"/>
                </a:solidFill>
              </a:rPr>
              <a:t> 3 · </a:t>
            </a:r>
            <a:r>
              <a:rPr lang="en-US" sz="1500" b="1" i="1" dirty="0">
                <a:solidFill>
                  <a:schemeClr val="accent1"/>
                </a:solidFill>
              </a:rPr>
              <a:t>woor</a:t>
            </a:r>
            <a:r>
              <a:rPr lang="en-US" sz="1500" i="1" dirty="0">
                <a:solidFill>
                  <a:schemeClr val="tx1"/>
                </a:solidFill>
              </a:rPr>
              <a:t>·den·schat</a:t>
            </a:r>
            <a:r>
              <a:rPr lang="en-US" sz="1500" dirty="0">
                <a:solidFill>
                  <a:schemeClr val="tx1"/>
                </a:solidFill>
              </a:rPr>
              <a:t> 3</a:t>
            </a:r>
            <a:endParaRPr lang="en-US" sz="15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500" b="1" i="1" dirty="0">
                <a:solidFill>
                  <a:schemeClr val="accent1"/>
                </a:solidFill>
              </a:rPr>
              <a:t>in</a:t>
            </a:r>
            <a:r>
              <a:rPr lang="en-US" sz="1500" i="1" dirty="0">
                <a:solidFill>
                  <a:schemeClr val="tx1"/>
                </a:solidFill>
              </a:rPr>
              <a:t>·lich·tin·gen</a:t>
            </a:r>
            <a:r>
              <a:rPr lang="en-US" sz="1500" dirty="0">
                <a:solidFill>
                  <a:schemeClr val="tx1"/>
                </a:solidFill>
              </a:rPr>
              <a:t> 4</a:t>
            </a:r>
            <a:endParaRPr lang="en-US" sz="15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500" i="1" dirty="0">
                <a:solidFill>
                  <a:schemeClr val="tx1"/>
                </a:solidFill>
              </a:rPr>
              <a:t>na·tio·na·li·</a:t>
            </a:r>
            <a:r>
              <a:rPr lang="en-US" sz="1500" b="1" i="1" dirty="0">
                <a:solidFill>
                  <a:schemeClr val="accent1"/>
                </a:solidFill>
              </a:rPr>
              <a:t>teit</a:t>
            </a:r>
            <a:r>
              <a:rPr lang="en-US" sz="1500" dirty="0">
                <a:solidFill>
                  <a:schemeClr val="tx1"/>
                </a:solidFill>
              </a:rPr>
              <a:t> 5</a:t>
            </a:r>
            <a:endParaRPr lang="en-US" sz="15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500" b="1" i="1" dirty="0">
                <a:solidFill>
                  <a:schemeClr val="accent1"/>
                </a:solidFill>
              </a:rPr>
              <a:t>ar</a:t>
            </a:r>
            <a:r>
              <a:rPr lang="en-US" sz="1500" i="1" dirty="0">
                <a:solidFill>
                  <a:schemeClr val="tx1"/>
                </a:solidFill>
              </a:rPr>
              <a:t>·beids·on·ge·schikt·heids·ver·ze·ke·ring</a:t>
            </a:r>
            <a:r>
              <a:rPr lang="en-US" sz="1500" dirty="0">
                <a:solidFill>
                  <a:schemeClr val="tx1"/>
                </a:solidFill>
              </a:rPr>
              <a:t> </a:t>
            </a:r>
            <a:r>
              <a:rPr lang="en-US" sz="1500" b="1" dirty="0">
                <a:solidFill>
                  <a:schemeClr val="tx1"/>
                </a:solidFill>
              </a:rPr>
              <a:t>10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Corrigés — Séance 5 · La phrase qui chante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338682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CORRIGÉS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9747504" y="393192"/>
            <a:ext cx="1682496" cy="914"/>
          </a:xfrm>
          <a:prstGeom prst="line">
            <a:avLst/>
          </a:prstGeom>
          <a:noFill/>
          <a:ln w="25400">
            <a:solidFill>
              <a:srgbClr val="D5DCE6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9582912" y="228600"/>
            <a:ext cx="329184" cy="32918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A6FB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582912" y="2286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1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10003536" y="228600"/>
            <a:ext cx="329184" cy="32918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4236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0003536" y="2286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2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10424160" y="228600"/>
            <a:ext cx="329184" cy="32918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9700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0424160" y="2286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3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10844784" y="228600"/>
            <a:ext cx="329184" cy="32918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E7D4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0844784" y="2286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4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11265408" y="228600"/>
            <a:ext cx="329184" cy="329184"/>
          </a:xfrm>
          <a:prstGeom prst="ellipse">
            <a:avLst/>
          </a:prstGeom>
          <a:solidFill>
            <a:srgbClr val="6E4A9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11265408" y="2286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5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48640" y="1572768"/>
            <a:ext cx="3544824" cy="3931920"/>
          </a:xfrm>
          <a:prstGeom prst="roundRect">
            <a:avLst>
              <a:gd name="adj" fmla="val 2064"/>
            </a:avLst>
          </a:prstGeom>
          <a:solidFill>
            <a:schemeClr val="bg1"/>
          </a:solidFill>
          <a:ln w="25400">
            <a:solidFill>
              <a:srgbClr val="6E4A9E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548640" y="1572768"/>
            <a:ext cx="3544824" cy="502920"/>
          </a:xfrm>
          <a:prstGeom prst="roundRect">
            <a:avLst>
              <a:gd name="adj" fmla="val 14545"/>
            </a:avLst>
          </a:prstGeom>
          <a:solidFill>
            <a:srgbClr val="6E4A9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85800" y="1572768"/>
            <a:ext cx="32705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Le chef d’orchestre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731520" y="2194560"/>
            <a:ext cx="3179064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a </a:t>
            </a:r>
            <a:r>
              <a:rPr lang="en-US" sz="1400" b="1" dirty="0">
                <a:solidFill>
                  <a:schemeClr val="accent1"/>
                </a:solidFill>
              </a:rPr>
              <a:t>IK</a:t>
            </a:r>
            <a:r>
              <a:rPr lang="en-US" sz="1400" dirty="0">
                <a:solidFill>
                  <a:schemeClr val="tx1"/>
                </a:solidFill>
              </a:rPr>
              <a:t> → ②</a:t>
            </a:r>
            <a:endParaRPr lang="en-US" sz="14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b </a:t>
            </a:r>
            <a:r>
              <a:rPr lang="en-US" sz="1400" b="1" dirty="0">
                <a:solidFill>
                  <a:schemeClr val="accent1"/>
                </a:solidFill>
              </a:rPr>
              <a:t>WOON</a:t>
            </a:r>
            <a:r>
              <a:rPr lang="en-US" sz="1400" dirty="0">
                <a:solidFill>
                  <a:schemeClr val="tx1"/>
                </a:solidFill>
              </a:rPr>
              <a:t> → ③</a:t>
            </a:r>
            <a:endParaRPr lang="en-US" sz="14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c </a:t>
            </a:r>
            <a:r>
              <a:rPr lang="en-US" sz="1400" b="1" dirty="0">
                <a:solidFill>
                  <a:schemeClr val="accent1"/>
                </a:solidFill>
              </a:rPr>
              <a:t>BRUS</a:t>
            </a:r>
            <a:r>
              <a:rPr lang="en-US" sz="1400" dirty="0">
                <a:solidFill>
                  <a:schemeClr val="tx1"/>
                </a:solidFill>
              </a:rPr>
              <a:t>sel → ①</a:t>
            </a:r>
            <a:endParaRPr lang="en-US" sz="1400" dirty="0"/>
          </a:p>
          <a:p>
            <a:pPr algn="l" indent="0" marL="0">
              <a:spcAft>
                <a:spcPts val="300"/>
              </a:spcAft>
              <a:buNone/>
            </a:pPr>
            <a:endParaRPr lang="en-US" sz="14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1 → </a:t>
            </a:r>
            <a:r>
              <a:rPr lang="en-US" sz="1400" b="1" dirty="0">
                <a:solidFill>
                  <a:schemeClr val="tx1"/>
                </a:solidFill>
              </a:rPr>
              <a:t>C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i="1" dirty="0">
                <a:solidFill>
                  <a:schemeClr val="tx1"/>
                </a:solidFill>
              </a:rPr>
              <a:t>Hoe gaat ’t?</a:t>
            </a:r>
            <a:endParaRPr lang="en-US" sz="14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2 → </a:t>
            </a:r>
            <a:r>
              <a:rPr lang="en-US" sz="1400" b="1" dirty="0">
                <a:solidFill>
                  <a:schemeClr val="tx1"/>
                </a:solidFill>
              </a:rPr>
              <a:t>A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i="1" dirty="0">
                <a:solidFill>
                  <a:schemeClr val="tx1"/>
                </a:solidFill>
              </a:rPr>
              <a:t>’k Heb ’t niet.</a:t>
            </a:r>
            <a:endParaRPr lang="en-US" sz="14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3 → </a:t>
            </a:r>
            <a:r>
              <a:rPr lang="en-US" sz="1400" b="1" dirty="0">
                <a:solidFill>
                  <a:schemeClr val="tx1"/>
                </a:solidFill>
              </a:rPr>
              <a:t>D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i="1" dirty="0">
                <a:solidFill>
                  <a:schemeClr val="tx1"/>
                </a:solidFill>
              </a:rPr>
              <a:t>Heb je ’n pen?</a:t>
            </a:r>
            <a:endParaRPr lang="en-US" sz="14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4 → </a:t>
            </a:r>
            <a:r>
              <a:rPr lang="en-US" sz="1400" b="1" dirty="0">
                <a:solidFill>
                  <a:schemeClr val="tx1"/>
                </a:solidFill>
              </a:rPr>
              <a:t>B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i="1" dirty="0">
                <a:solidFill>
                  <a:schemeClr val="tx1"/>
                </a:solidFill>
              </a:rPr>
              <a:t>Da’s goed.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4322064" y="1572768"/>
            <a:ext cx="3544824" cy="3931920"/>
          </a:xfrm>
          <a:prstGeom prst="roundRect">
            <a:avLst>
              <a:gd name="adj" fmla="val 2064"/>
            </a:avLst>
          </a:prstGeom>
          <a:solidFill>
            <a:schemeClr val="bg1"/>
          </a:solidFill>
          <a:ln w="25400">
            <a:solidFill>
              <a:srgbClr val="6E4A9E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4322064" y="1572768"/>
            <a:ext cx="3544824" cy="502920"/>
          </a:xfrm>
          <a:prstGeom prst="roundRect">
            <a:avLst>
              <a:gd name="adj" fmla="val 14545"/>
            </a:avLst>
          </a:prstGeom>
          <a:solidFill>
            <a:srgbClr val="6E4A9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4459224" y="1572768"/>
            <a:ext cx="32705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Les tongbrekers (sens)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4504944" y="2194560"/>
            <a:ext cx="3179064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1 Le chat gratte les boucles de l’escalier.</a:t>
            </a:r>
            <a:endParaRPr lang="en-US" sz="14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2 Liesje apprenait à Lotje à marcher le long de la longue allée des Tilleuls.</a:t>
            </a:r>
            <a:endParaRPr lang="en-US" sz="14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3 Je m’appelle Hans et j’aime manger du hareng.</a:t>
            </a:r>
            <a:endParaRPr lang="en-US" sz="14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4 Huit oies grises sont allées hier, toutes contentes, à Gand.</a:t>
            </a:r>
            <a:endParaRPr lang="en-US" sz="14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5 Le cocher astique la diligence avec du produit à diligence.</a:t>
            </a:r>
            <a:endParaRPr lang="en-US" sz="14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6 Quand des mouches volent derrière des mouches…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8095488" y="1572768"/>
            <a:ext cx="3544824" cy="3931920"/>
          </a:xfrm>
          <a:prstGeom prst="roundRect">
            <a:avLst>
              <a:gd name="adj" fmla="val 2064"/>
            </a:avLst>
          </a:prstGeom>
          <a:solidFill>
            <a:schemeClr val="bg1"/>
          </a:solidFill>
          <a:ln w="25400">
            <a:solidFill>
              <a:srgbClr val="6E4A9E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8095488" y="1572768"/>
            <a:ext cx="3544824" cy="502920"/>
          </a:xfrm>
          <a:prstGeom prst="roundRect">
            <a:avLst>
              <a:gd name="adj" fmla="val 14545"/>
            </a:avLst>
          </a:prstGeom>
          <a:solidFill>
            <a:srgbClr val="6E4A9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232648" y="1572768"/>
            <a:ext cx="32705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Le morpion</a:t>
            </a:r>
            <a:endParaRPr lang="en-US" sz="1600" dirty="0"/>
          </a:p>
        </p:txBody>
      </p:sp>
      <p:sp>
        <p:nvSpPr>
          <p:cNvPr id="27" name="Text 24"/>
          <p:cNvSpPr txBox="1"/>
          <p:nvPr/>
        </p:nvSpPr>
        <p:spPr>
          <a:xfrm>
            <a:off x="8278368" y="2194560"/>
            <a:ext cx="3179064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① court – long – court – long</a:t>
            </a:r>
            <a:endParaRPr lang="en-US" sz="14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② « eu » – « u » – « œil »</a:t>
            </a:r>
            <a:endParaRPr lang="en-US" sz="14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③ p. ex. </a:t>
            </a:r>
            <a:r>
              <a:rPr lang="en-US" sz="1400" i="1" dirty="0">
                <a:solidFill>
                  <a:schemeClr val="tx1"/>
                </a:solidFill>
              </a:rPr>
              <a:t>klein</a:t>
            </a:r>
            <a:r>
              <a:rPr lang="en-US" sz="1400" dirty="0">
                <a:solidFill>
                  <a:schemeClr val="tx1"/>
                </a:solidFill>
              </a:rPr>
              <a:t> (ei) · </a:t>
            </a:r>
            <a:r>
              <a:rPr lang="en-US" sz="1400" i="1" dirty="0">
                <a:solidFill>
                  <a:schemeClr val="tx1"/>
                </a:solidFill>
              </a:rPr>
              <a:t>wijn</a:t>
            </a:r>
            <a:r>
              <a:rPr lang="en-US" sz="1400" dirty="0">
                <a:solidFill>
                  <a:schemeClr val="tx1"/>
                </a:solidFill>
              </a:rPr>
              <a:t> (ij)</a:t>
            </a:r>
            <a:endParaRPr lang="en-US" sz="14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④ </a:t>
            </a:r>
            <a:r>
              <a:rPr lang="en-US" sz="1400" i="1" dirty="0">
                <a:solidFill>
                  <a:schemeClr val="tx1"/>
                </a:solidFill>
              </a:rPr>
              <a:t>h</a:t>
            </a:r>
            <a:r>
              <a:rPr lang="en-US" sz="1400" dirty="0">
                <a:solidFill>
                  <a:schemeClr val="tx1"/>
                </a:solidFill>
              </a:rPr>
              <a:t> soufflé</a:t>
            </a:r>
            <a:endParaRPr lang="en-US" sz="14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⑤ </a:t>
            </a:r>
            <a:r>
              <a:rPr lang="en-US" sz="1400" b="1" i="1" dirty="0">
                <a:solidFill>
                  <a:schemeClr val="accent1"/>
                </a:solidFill>
              </a:rPr>
              <a:t>sche</a:t>
            </a:r>
            <a:r>
              <a:rPr lang="en-US" sz="1400" i="1" dirty="0">
                <a:solidFill>
                  <a:schemeClr val="tx1"/>
                </a:solidFill>
              </a:rPr>
              <a:t>·ve·nin·gen</a:t>
            </a:r>
            <a:endParaRPr lang="en-US" sz="14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⑥ « mèï-cheu » · « o-ra-gneu » · « tchè-ghi-yeu »</a:t>
            </a:r>
            <a:endParaRPr lang="en-US" sz="14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⑦ </a:t>
            </a:r>
            <a:r>
              <a:rPr lang="en-US" sz="1400" i="1" dirty="0">
                <a:solidFill>
                  <a:schemeClr val="tx1"/>
                </a:solidFill>
              </a:rPr>
              <a:t>ver·</a:t>
            </a:r>
            <a:r>
              <a:rPr lang="en-US" sz="1400" b="1" i="1" dirty="0">
                <a:solidFill>
                  <a:schemeClr val="accent1"/>
                </a:solidFill>
              </a:rPr>
              <a:t>ga</a:t>
            </a:r>
            <a:r>
              <a:rPr lang="en-US" sz="1400" i="1" dirty="0">
                <a:solidFill>
                  <a:schemeClr val="tx1"/>
                </a:solidFill>
              </a:rPr>
              <a:t>·de·ring</a:t>
            </a:r>
            <a:r>
              <a:rPr lang="en-US" sz="1400" dirty="0">
                <a:solidFill>
                  <a:schemeClr val="tx1"/>
                </a:solidFill>
              </a:rPr>
              <a:t> (4)</a:t>
            </a:r>
            <a:endParaRPr lang="en-US" sz="14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⑧ </a:t>
            </a:r>
            <a:r>
              <a:rPr lang="en-US" sz="1400" i="1" dirty="0">
                <a:solidFill>
                  <a:schemeClr val="tx1"/>
                </a:solidFill>
              </a:rPr>
              <a:t>ver·</a:t>
            </a:r>
            <a:r>
              <a:rPr lang="en-US" sz="1400" b="1" i="1" dirty="0">
                <a:solidFill>
                  <a:schemeClr val="accent1"/>
                </a:solidFill>
              </a:rPr>
              <a:t>jaar</a:t>
            </a:r>
            <a:r>
              <a:rPr lang="en-US" sz="1400" i="1" dirty="0">
                <a:solidFill>
                  <a:schemeClr val="tx1"/>
                </a:solidFill>
              </a:rPr>
              <a:t>·dags·feest</a:t>
            </a:r>
            <a:r>
              <a:rPr lang="en-US" sz="1400" dirty="0">
                <a:solidFill>
                  <a:schemeClr val="tx1"/>
                </a:solidFill>
              </a:rPr>
              <a:t> (4)</a:t>
            </a:r>
            <a:endParaRPr lang="en-US" sz="14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⑨ </a:t>
            </a:r>
            <a:r>
              <a:rPr lang="en-US" sz="1400" i="1" dirty="0">
                <a:solidFill>
                  <a:schemeClr val="tx1"/>
                </a:solidFill>
              </a:rPr>
              <a:t>Hoe gaat ’t?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548640" y="5623560"/>
            <a:ext cx="11091672" cy="621792"/>
          </a:xfrm>
          <a:prstGeom prst="roundRect">
            <a:avLst>
              <a:gd name="adj" fmla="val 11765"/>
            </a:avLst>
          </a:prstGeom>
          <a:solidFill>
            <a:srgbClr val="6E4A9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822960" y="5623560"/>
            <a:ext cx="10607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i="1" dirty="0">
                <a:solidFill>
                  <a:schemeClr val="bg1"/>
                </a:solidFill>
              </a:rPr>
              <a:t>Proficiat! Je spreekt al heel goed Nederlands.</a:t>
            </a:r>
            <a:endParaRPr lang="en-US" sz="2000" dirty="0"/>
          </a:p>
        </p:txBody>
      </p:sp>
      <p:pic>
        <p:nvPicPr>
          <p:cNvPr id="30" name="Image 0" descr="troph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1360" y="5669280"/>
            <a:ext cx="530352" cy="53035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ederlands 1">
  <a:themeElements>
    <a:clrScheme name="Nederlands 1">
      <a:dk1>
        <a:srgbClr val="1B2333"/>
      </a:dk1>
      <a:lt1>
        <a:srgbClr val="FFFFFF"/>
      </a:lt1>
      <a:dk2>
        <a:srgbClr val="17375E"/>
      </a:dk2>
      <a:lt2>
        <a:srgbClr val="EEF3F8"/>
      </a:lt2>
      <a:accent1>
        <a:srgbClr val="D9700F"/>
      </a:accent1>
      <a:accent2>
        <a:srgbClr val="2A6FB0"/>
      </a:accent2>
      <a:accent3>
        <a:srgbClr val="2E7D4F"/>
      </a:accent3>
      <a:accent4>
        <a:srgbClr val="B4236A"/>
      </a:accent4>
      <a:accent5>
        <a:srgbClr val="4A5A70"/>
      </a:accent5>
      <a:accent6>
        <a:srgbClr val="B83227"/>
      </a:accent6>
      <a:hlink>
        <a:srgbClr val="2A6FB0"/>
      </a:hlink>
      <a:folHlink>
        <a:srgbClr val="B4236A"/>
      </a:folHlink>
    </a:clrScheme>
    <a:fontScheme name="Nederlands 1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IRAM — Néerlandais 1 (UE1)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Uitspraak! — La prononciation en 5 séances</dc:title>
  <dc:subject>Néerlandais 1 — Langue en situation, en milieu professionnel</dc:subject>
  <dc:creator>A. Jouniaux</dc:creator>
  <cp:lastModifiedBy>A. Jouniaux</cp:lastModifiedBy>
  <cp:revision>1</cp:revision>
  <dcterms:created xsi:type="dcterms:W3CDTF">2026-10-05T06:01:44Z</dcterms:created>
  <dcterms:modified xsi:type="dcterms:W3CDTF">2026-10-05T06:01:44Z</dcterms:modified>
</cp:coreProperties>
</file>