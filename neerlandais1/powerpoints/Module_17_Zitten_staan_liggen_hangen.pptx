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51e2ae7-4950-86c1-0b7c-87c1082cdec6}">
          <p14:sldIdLst>
            <p14:sldId id="256"/>
          </p14:sldIdLst>
        </p14:section>
        <p14:section name="Découvrir" id="{de5b0b28-e942-c8bd-a6f0-90b368dd51f0}">
          <p14:sldIdLst>
            <p14:sldId id="257"/>
            <p14:sldId id="258"/>
          </p14:sldIdLst>
        </p14:section>
        <p14:section name="Comprendre" id="{31342178-ced0-0b48-9d93-ef0e39b9782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59c778dd-2a0f-dc86-be23-4893cb500bcd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fe29ec13-b581-52f5-6765-dfa33b8d9c1c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dire où sont les choses.
Montrez un stylo : posez-le à plat sur la table, puis debout dans un pot. « Où est le stylo ? » En français, la réponse ne change pas. En néerlandais,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Ces quatre verbes remplacent très souvent zijn : la question Waar is…? appelle une réponse avec ligt, staat, zit ou hangt.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quatre verbes par l'observation.
Faites deviner la logique avant de la donner : à plat, debout, suspendu, dedans. Les apprenants miment chaque position avec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le critère de chaque verbe.
De auto staat in de garage : un véhicule « est debout » sur ses roues (Mijn fiets staat buiten). Pour les personnes : zitten = être assis, staan = être debout, liggen = être couché.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que c'est la position réelle qui décide, pas l'objet.
Faites l'expérience en classe avec une bouteille d'eau et un livre. Question-piège : Waar is mijn gsm? Dans la poche : Hij zit in mijn zak. Sur la table : Hij ligt op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Élargir l'emploi de zitten : contenu et personnes.
de la = le tiroir. in een vergadering zitten = être en réunion (donc occupé). Waar zit je? est très fréquent au téléphone en Flandre.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Remplacer is par le verbe de position.
is n'est pas toujours faux, mais il sonne étrange pour un objet que l'on situe. Villes, pays, bâtiments : liggen (Gent ligt aan de Schelde). Un texte écrit : staan (Het staat in de mail, M10).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Réviser les prépositions avec les verbes de position.
op = sur, avec contact ; boven = au-dessus, sans contact. aan = accroché à (aan de muur). tussen = entre (tussen de kast en de deur).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le verbe de position du verbe d'action « mettre ».
hangen sert aux deux. stoppen in = mettre dans (en Flandre, aussi steken). Pour les personnes, l'action se dit avec gaan : gaan zitten, gaan liggen, gaan staan (M16 : Ga zitten!).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« mettre » selon la position finale de l'objet.
Question-réflexe : « À la fin, l'objet sera couché, debout, suspendu ou dedans ? » Attention : de tas = le sac, pas la tasse (het kopje). aanzetten = allumer (Zet de printer aan, 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le participe des verbes de position et d'action (lien M15).
gelegd, gezet sont réguliers (SoFT KetCHuP, M15). gezeten, gestaan, gelegen, gehangen sont irréguliers. En Flandre, on entend Ik ben … gezeten ; la norme reste hebben. Teaser M19 : à l'imparfait, zat, stond, lag, 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zitten / staan / liggen + te + infinitif.
Très fréquent à l'oral : la posture et l'action en même temps. aan het + infinitif (Ik ben aan het koken) est la forme neutre. À reconnaître seulement en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 Une armoire, un garage, une pièce ne sont pas des contenants : la position compte (De kopjes staan in de kast. · De auto staat in de garage.).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verbe de position et le conjuguer.
N° 1 et 3 : pluriel (zitten, staan). N° 8 : le bonus « en train de » ; de bank = le canapé (et aussi la banque 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le verbe de position et le conjuguer.
N° 1 et 3 : pluriel (zitten, staan). N° 8 : le bonus « en train de » ; de bank = le canapé (et aussi la banque 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Décrire une scène avec les verbes de position.
Er liggen… : er + verbe de position = « il y a » (aperçu). Ensuite, demandez aux apprenants de décrire leur propre bureau ou leur salon.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Décrire une scène avec les verbes de position.
Er liggen… : er + verbe de position = « il y a » (aperçu). Ensuite, demandez aux apprenants de décrire leur propre bureau ou leur salon.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le verbe de position et le verbe d'action.
N° 5 : hangen = position et action. N° 6 et 7 : le piège gelegd / gelegen (diapo 11). N° 8 : impératif (M16).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le verbe de position et le verbe d'action.
N° 5 : hangen = position et action. N° 6 et 7 : le piège gelegd / gelegen (diapo 11). N° 8 : impératif (M16).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Associer la préposition à la position.
N° 6 : on ne voit qu'une partie de la balle. Prolongez avec des objets réels et l'impératif : Leg je pen onder je boek!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Associer la préposition à la position.
N° 6 : on ne voit qu'une partie de la balle. Prolongez avec des objets réels et l'impératif : Leg je pen onder je boek!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message.
Leurre : mijn jas hangt aan de kapstok. de bril = les lunettes (un singulier en néerlandais !). Chaque erreur renvoie à une diapo : 7 (is), 4 (zitten), 5 (position réelle), 9 (legt / ligt), 10 (stoppen).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message.
Leurre : mijn jas hangt aan de kapstok. de bril = les lunettes (un singulier en néerlandais !). Chaque erreur renvoie à une diapo : 7 (is), 4 (zitten), 5 (position réelle), 9 (legt / ligt), 10 (stoppen).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Réutiliser les verbes de position et d'action à l'oral, au passé composé.
Variante en équipes : chaque équipe déplace 2 objets pour l'autre. Exigez le bon verbe et la bonne préposition. Le passé composé (gelegd, gezet, gehangen) réactive le M15.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professionnelle : aménager un nouveau bureau.
Comparez ensuite les deux plans : Nee, de printer staat niet naast de deur, hij staat in de hoek. tegen de muur = contre le mur ; in de hoek = dans le 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hangt · zitten.
2. leg.
3. Zet de fles op tafel.
Teaser M18 : Wat ga je morgen doen?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17 · Zitten, staan, liggen, hangen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17 · Zitten, staan, liggen, hangen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17 / 24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Zitten, staan, liggen, hangen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verbes de position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Waar is mijn sleutel? — Hij ligt op tafel.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46520" y="86868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20840" y="2176272"/>
            <a:ext cx="91440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6872" y="1221638"/>
            <a:ext cx="402336" cy="954634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86868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098280" y="86868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72600" y="2176272"/>
            <a:ext cx="91440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52483" y="1773936"/>
            <a:ext cx="95463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78440" y="86868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liggen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3247034"/>
            <a:ext cx="457200" cy="547726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045866"/>
            <a:ext cx="73152" cy="82204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2088" y="3045866"/>
            <a:ext cx="73152" cy="82204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849624"/>
            <a:ext cx="9144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256032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zitten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98280" y="25603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2697480"/>
            <a:ext cx="91440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78892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9555480" y="2898648"/>
            <a:ext cx="274320" cy="301752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2898648"/>
            <a:ext cx="274320" cy="301752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45752" y="3200400"/>
            <a:ext cx="768096" cy="66294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78440" y="256032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hangen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46520" y="4434840"/>
            <a:ext cx="51206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572000"/>
            <a:ext cx="594360" cy="5943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315200" y="4434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Waar </a:t>
            </a: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</a:t>
            </a: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mijn sleutel?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Situer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où se trouve une chose : </a:t>
            </a:r>
            <a:r>
              <a:rPr lang="en-US" sz="2000" i="1" dirty="0">
                <a:solidFill>
                  <a:schemeClr val="tx1"/>
                </a:solidFill>
              </a:rPr>
              <a:t>De klok hangt aan de muur.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Hand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Choisir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distingue la position et l’action : </a:t>
            </a:r>
            <a:r>
              <a:rPr lang="en-US" sz="2000" i="1" dirty="0">
                <a:solidFill>
                  <a:schemeClr val="tx1"/>
                </a:solidFill>
              </a:rPr>
              <a:t>ligt / legt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H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Décrire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décris mon bureau et je range.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Ces quatre verbes remplacent très souvent </a:t>
            </a:r>
            <a:r>
              <a:rPr lang="en-US" sz="1700" i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Waar is…?</a:t>
            </a:r>
            <a:r>
              <a:rPr lang="en-US" sz="1700" dirty="0">
                <a:solidFill>
                  <a:schemeClr val="tx1"/>
                </a:solidFill>
              </a:rPr>
              <a:t> appelle </a:t>
            </a:r>
            <a:r>
              <a:rPr lang="en-US" sz="1700" i="1" dirty="0">
                <a:solidFill>
                  <a:schemeClr val="tx1"/>
                </a:solidFill>
              </a:rPr>
              <a:t>ligt, staat, zit</a:t>
            </a:r>
            <a:r>
              <a:rPr lang="en-US" sz="1700" dirty="0">
                <a:solidFill>
                  <a:schemeClr val="tx1"/>
                </a:solidFill>
              </a:rPr>
              <a:t> ou </a:t>
            </a:r>
            <a:r>
              <a:rPr lang="en-US" sz="1700" i="1" dirty="0">
                <a:solidFill>
                  <a:schemeClr val="tx1"/>
                </a:solidFill>
              </a:rPr>
              <a:t>hangt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où sont les choses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1468" cy="3291840"/>
          </a:xfrm>
          <a:prstGeom prst="roundRect">
            <a:avLst>
              <a:gd name="adj" fmla="val 2812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3063240"/>
            <a:ext cx="2052828" cy="109728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open 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454" y="224028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337560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livre </a:t>
            </a:r>
            <a:r>
              <a:rPr lang="en-US" sz="1400" b="1" i="1" dirty="0">
                <a:solidFill>
                  <a:schemeClr val="accent5"/>
                </a:solidFill>
              </a:rPr>
              <a:t>est</a:t>
            </a:r>
            <a:r>
              <a:rPr lang="en-US" sz="1400" i="1" dirty="0">
                <a:solidFill>
                  <a:schemeClr val="accent5"/>
                </a:solidFill>
              </a:rPr>
              <a:t> sur la table.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886200"/>
            <a:ext cx="2327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boek </a:t>
            </a:r>
            <a:r>
              <a:rPr lang="en-US" sz="1900" b="1" i="1" dirty="0">
                <a:solidFill>
                  <a:schemeClr val="tx1"/>
                </a:solidFill>
              </a:rPr>
              <a:t>ligt</a:t>
            </a:r>
            <a:r>
              <a:rPr lang="en-US" sz="1900" i="1" dirty="0">
                <a:solidFill>
                  <a:schemeClr val="tx1"/>
                </a:solidFill>
              </a:rPr>
              <a:t> op tafel.</a:t>
            </a:r>
            <a:endParaRPr lang="en-US" sz="1900" dirty="0"/>
          </a:p>
        </p:txBody>
      </p:sp>
      <p:sp>
        <p:nvSpPr>
          <p:cNvPr id="10" name="tag"/>
          <p:cNvSpPr/>
          <p:nvPr/>
        </p:nvSpPr>
        <p:spPr>
          <a:xfrm>
            <a:off x="1392174" y="4754880"/>
            <a:ext cx="1013155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liggen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78708" y="1600200"/>
            <a:ext cx="2601468" cy="3291840"/>
          </a:xfrm>
          <a:prstGeom prst="roundRect">
            <a:avLst>
              <a:gd name="adj" fmla="val 281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3028" y="3063240"/>
            <a:ext cx="2052828" cy="109728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50842" y="1984248"/>
            <a:ext cx="457200" cy="10515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06290" y="1682496"/>
            <a:ext cx="146304" cy="365760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88002" y="1572768"/>
            <a:ext cx="182880" cy="128016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15868" y="3337560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La bouteille </a:t>
            </a:r>
            <a:r>
              <a:rPr lang="en-US" sz="1400" b="1" i="1" dirty="0">
                <a:solidFill>
                  <a:schemeClr val="accent5"/>
                </a:solidFill>
              </a:rPr>
              <a:t>est</a:t>
            </a:r>
            <a:r>
              <a:rPr lang="en-US" sz="1400" i="1" dirty="0">
                <a:solidFill>
                  <a:schemeClr val="accent5"/>
                </a:solidFill>
              </a:rPr>
              <a:t> sur la table.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515868" y="3886200"/>
            <a:ext cx="2327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fles </a:t>
            </a:r>
            <a:r>
              <a:rPr lang="en-US" sz="1900" b="1" i="1" dirty="0">
                <a:solidFill>
                  <a:schemeClr val="tx1"/>
                </a:solidFill>
              </a:rPr>
              <a:t>staat</a:t>
            </a:r>
            <a:r>
              <a:rPr lang="en-US" sz="1900" i="1" dirty="0">
                <a:solidFill>
                  <a:schemeClr val="tx1"/>
                </a:solidFill>
              </a:rPr>
              <a:t> op tafel.</a:t>
            </a:r>
            <a:endParaRPr lang="en-US" sz="1900" dirty="0"/>
          </a:p>
        </p:txBody>
      </p:sp>
      <p:sp>
        <p:nvSpPr>
          <p:cNvPr id="18" name="tag"/>
          <p:cNvSpPr/>
          <p:nvPr/>
        </p:nvSpPr>
        <p:spPr>
          <a:xfrm>
            <a:off x="4222242" y="4754880"/>
            <a:ext cx="9052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staan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08776" y="1600200"/>
            <a:ext cx="2601468" cy="3291840"/>
          </a:xfrm>
          <a:prstGeom prst="roundRect">
            <a:avLst>
              <a:gd name="adj" fmla="val 2812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3096" y="1737360"/>
            <a:ext cx="2052828" cy="1435608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52310" y="1965960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V="1">
            <a:off x="7509510" y="214884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09510" y="2423160"/>
            <a:ext cx="201168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45936" y="3337560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L’horloge </a:t>
            </a:r>
            <a:r>
              <a:rPr lang="en-US" sz="1400" b="1" i="1" dirty="0">
                <a:solidFill>
                  <a:schemeClr val="accent5"/>
                </a:solidFill>
              </a:rPr>
              <a:t>est</a:t>
            </a:r>
            <a:r>
              <a:rPr lang="en-US" sz="1400" i="1" dirty="0">
                <a:solidFill>
                  <a:schemeClr val="accent5"/>
                </a:solidFill>
              </a:rPr>
              <a:t> au mur.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345936" y="3886200"/>
            <a:ext cx="2327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klok </a:t>
            </a:r>
            <a:r>
              <a:rPr lang="en-US" sz="1900" b="1" i="1" dirty="0">
                <a:solidFill>
                  <a:schemeClr val="tx1"/>
                </a:solidFill>
              </a:rPr>
              <a:t>hangt</a:t>
            </a:r>
            <a:r>
              <a:rPr lang="en-US" sz="1900" i="1" dirty="0">
                <a:solidFill>
                  <a:schemeClr val="tx1"/>
                </a:solidFill>
              </a:rPr>
              <a:t> aan de muur.</a:t>
            </a:r>
            <a:endParaRPr lang="en-US" sz="1900" dirty="0"/>
          </a:p>
        </p:txBody>
      </p:sp>
      <p:sp>
        <p:nvSpPr>
          <p:cNvPr id="26" name="tag"/>
          <p:cNvSpPr/>
          <p:nvPr/>
        </p:nvSpPr>
        <p:spPr>
          <a:xfrm>
            <a:off x="7052310" y="4754880"/>
            <a:ext cx="1013155" cy="292608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hangen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038844" y="1600200"/>
            <a:ext cx="2601468" cy="3291840"/>
          </a:xfrm>
          <a:prstGeom prst="roundRect">
            <a:avLst>
              <a:gd name="adj" fmla="val 2812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8" name="Image 1" descr="handb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778" y="1783080"/>
            <a:ext cx="1371600" cy="1371600"/>
          </a:xfrm>
          <a:prstGeom prst="rect">
            <a:avLst/>
          </a:prstGeom>
        </p:spPr>
      </p:pic>
      <p:pic>
        <p:nvPicPr>
          <p:cNvPr id="29" name="Image 2" descr="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418" y="196596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76004" y="3337560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La clé </a:t>
            </a:r>
            <a:r>
              <a:rPr lang="en-US" sz="1400" b="1" i="1" dirty="0">
                <a:solidFill>
                  <a:schemeClr val="accent5"/>
                </a:solidFill>
              </a:rPr>
              <a:t>est</a:t>
            </a:r>
            <a:r>
              <a:rPr lang="en-US" sz="1400" i="1" dirty="0">
                <a:solidFill>
                  <a:schemeClr val="accent5"/>
                </a:solidFill>
              </a:rPr>
              <a:t> dans le sac.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176004" y="3886200"/>
            <a:ext cx="2327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sleutel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de tas.</a:t>
            </a:r>
            <a:endParaRPr lang="en-US" sz="1900" dirty="0"/>
          </a:p>
        </p:txBody>
      </p:sp>
      <p:sp>
        <p:nvSpPr>
          <p:cNvPr id="32" name="tag"/>
          <p:cNvSpPr/>
          <p:nvPr/>
        </p:nvSpPr>
        <p:spPr>
          <a:xfrm>
            <a:off x="9882378" y="4754880"/>
            <a:ext cx="1013155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zitten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34" name="Image 3" descr="thinking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85232"/>
            <a:ext cx="822960" cy="82296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828800" y="51206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En français : « </a:t>
            </a:r>
            <a:r>
              <a:rPr lang="en-US" sz="2000" b="1" dirty="0">
                <a:solidFill>
                  <a:schemeClr val="tx1"/>
                </a:solidFill>
              </a:rPr>
              <a:t>est</a:t>
            </a:r>
            <a:r>
              <a:rPr lang="en-US" sz="2000" dirty="0">
                <a:solidFill>
                  <a:schemeClr val="tx1"/>
                </a:solidFill>
              </a:rPr>
              <a:t> » × 4. En néerlandais : </a:t>
            </a:r>
            <a:r>
              <a:rPr lang="en-US" sz="2000" b="1" dirty="0">
                <a:solidFill>
                  <a:schemeClr val="tx1"/>
                </a:solidFill>
              </a:rPr>
              <a:t>4 verbes</a:t>
            </a:r>
            <a:r>
              <a:rPr lang="en-US" sz="2000" dirty="0">
                <a:solidFill>
                  <a:schemeClr val="tx1"/>
                </a:solidFill>
              </a:rPr>
              <a:t> !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Quelle est la logique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quatre positions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35758" cy="470916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2635758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26357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STAAN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272159" y="3410712"/>
            <a:ext cx="118872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65351" y="2456078"/>
            <a:ext cx="402336" cy="954634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566160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debout, sur sa base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6908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fles </a:t>
            </a:r>
            <a:r>
              <a:rPr lang="en-US" sz="1600" b="1" i="1" dirty="0">
                <a:solidFill>
                  <a:schemeClr val="tx1"/>
                </a:solidFill>
              </a:rPr>
              <a:t>staat</a:t>
            </a:r>
            <a:r>
              <a:rPr lang="en-US" sz="1600" i="1" dirty="0">
                <a:solidFill>
                  <a:schemeClr val="tx1"/>
                </a:solidFill>
              </a:rPr>
              <a:t> op tafel.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boeken </a:t>
            </a:r>
            <a:r>
              <a:rPr lang="en-US" sz="1600" b="1" i="1" dirty="0">
                <a:solidFill>
                  <a:schemeClr val="tx1"/>
                </a:solidFill>
              </a:rPr>
              <a:t>staan</a:t>
            </a:r>
            <a:r>
              <a:rPr lang="en-US" sz="1600" i="1" dirty="0">
                <a:solidFill>
                  <a:schemeClr val="tx1"/>
                </a:solidFill>
              </a:rPr>
              <a:t> in de kast.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auto </a:t>
            </a:r>
            <a:r>
              <a:rPr lang="en-US" sz="1600" b="1" i="1" dirty="0">
                <a:solidFill>
                  <a:schemeClr val="tx1"/>
                </a:solidFill>
              </a:rPr>
              <a:t>staat</a:t>
            </a:r>
            <a:r>
              <a:rPr lang="en-US" sz="1600" i="1" dirty="0">
                <a:solidFill>
                  <a:schemeClr val="tx1"/>
                </a:solidFill>
              </a:rPr>
              <a:t> in de garage.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67278" y="1554480"/>
            <a:ext cx="2635758" cy="470916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7278" y="1554480"/>
            <a:ext cx="2635758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67278" y="1554480"/>
            <a:ext cx="26357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LIGGEN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090797" y="3410712"/>
            <a:ext cx="118872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7840" y="3008376"/>
            <a:ext cx="954634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58718" y="3566160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plat, couché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04438" y="406908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pen </a:t>
            </a:r>
            <a:r>
              <a:rPr lang="en-US" sz="1600" b="1" i="1" dirty="0">
                <a:solidFill>
                  <a:schemeClr val="tx1"/>
                </a:solidFill>
              </a:rPr>
              <a:t>ligt</a:t>
            </a:r>
            <a:r>
              <a:rPr lang="en-US" sz="1600" i="1" dirty="0">
                <a:solidFill>
                  <a:schemeClr val="tx1"/>
                </a:solidFill>
              </a:rPr>
              <a:t> op het bureau.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krant </a:t>
            </a:r>
            <a:r>
              <a:rPr lang="en-US" sz="1600" b="1" i="1" dirty="0">
                <a:solidFill>
                  <a:schemeClr val="tx1"/>
                </a:solidFill>
              </a:rPr>
              <a:t>ligt</a:t>
            </a:r>
            <a:r>
              <a:rPr lang="en-US" sz="1600" i="1" dirty="0">
                <a:solidFill>
                  <a:schemeClr val="tx1"/>
                </a:solidFill>
              </a:rPr>
              <a:t> op de stoel.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lig</a:t>
            </a:r>
            <a:r>
              <a:rPr lang="en-US" sz="1600" i="1" dirty="0">
                <a:solidFill>
                  <a:schemeClr val="tx1"/>
                </a:solidFill>
              </a:rPr>
              <a:t> in bed.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85916" y="1554480"/>
            <a:ext cx="2635758" cy="470916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5916" y="1554480"/>
            <a:ext cx="263575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85916" y="1554480"/>
            <a:ext cx="26357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ZITTEN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183755" y="2789834"/>
            <a:ext cx="640080" cy="547726"/>
          </a:xfrm>
          <a:prstGeom prst="roundRect">
            <a:avLst>
              <a:gd name="adj" fmla="val 1001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55155" y="2588666"/>
            <a:ext cx="73152" cy="82204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79283" y="2588666"/>
            <a:ext cx="73152" cy="82204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55155" y="3392424"/>
            <a:ext cx="1097280" cy="7315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77356" y="3566160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dans un contenant (sac, poche, boîte)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323076" y="406908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Mijn sleutel </a:t>
            </a:r>
            <a:r>
              <a:rPr lang="en-US" sz="1600" b="1" i="1" dirty="0">
                <a:solidFill>
                  <a:schemeClr val="tx1"/>
                </a:solidFill>
              </a:rPr>
              <a:t>zit</a:t>
            </a:r>
            <a:r>
              <a:rPr lang="en-US" sz="1600" i="1" dirty="0">
                <a:solidFill>
                  <a:schemeClr val="tx1"/>
                </a:solidFill>
              </a:rPr>
              <a:t> in mijn tas.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Er </a:t>
            </a:r>
            <a:r>
              <a:rPr lang="en-US" sz="1600" b="1" i="1" dirty="0">
                <a:solidFill>
                  <a:schemeClr val="tx1"/>
                </a:solidFill>
              </a:rPr>
              <a:t>zit</a:t>
            </a:r>
            <a:r>
              <a:rPr lang="en-US" sz="1600" i="1" dirty="0">
                <a:solidFill>
                  <a:schemeClr val="tx1"/>
                </a:solidFill>
              </a:rPr>
              <a:t> koffie in de thermos.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004554" y="1554480"/>
            <a:ext cx="2635758" cy="470916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004554" y="1554480"/>
            <a:ext cx="2635758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04554" y="1554480"/>
            <a:ext cx="26357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HANGEN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9728073" y="2240280"/>
            <a:ext cx="1188720" cy="5486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58425" y="233172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10048113" y="2441448"/>
            <a:ext cx="274320" cy="301752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322433" y="2441448"/>
            <a:ext cx="274320" cy="301752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938385" y="2743200"/>
            <a:ext cx="768096" cy="66294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95994" y="3566160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suspendu, accroché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141714" y="4069080"/>
            <a:ext cx="23614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klok </a:t>
            </a:r>
            <a:r>
              <a:rPr lang="en-US" sz="1600" b="1" i="1" dirty="0">
                <a:solidFill>
                  <a:schemeClr val="tx1"/>
                </a:solidFill>
              </a:rPr>
              <a:t>hangt</a:t>
            </a:r>
            <a:r>
              <a:rPr lang="en-US" sz="1600" i="1" dirty="0">
                <a:solidFill>
                  <a:schemeClr val="tx1"/>
                </a:solidFill>
              </a:rPr>
              <a:t> aan de muur.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Mijn jas </a:t>
            </a:r>
            <a:r>
              <a:rPr lang="en-US" sz="1600" b="1" i="1" dirty="0">
                <a:solidFill>
                  <a:schemeClr val="tx1"/>
                </a:solidFill>
              </a:rPr>
              <a:t>hangt</a:t>
            </a:r>
            <a:r>
              <a:rPr lang="en-US" sz="1600" i="1" dirty="0">
                <a:solidFill>
                  <a:schemeClr val="tx1"/>
                </a:solidFill>
              </a:rPr>
              <a:t> aan de kapstok.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Même objet, autre position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246120"/>
            <a:ext cx="2148840" cy="91440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37360" y="2194560"/>
            <a:ext cx="457200" cy="10515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92808" y="1892808"/>
            <a:ext cx="146304" cy="365760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1783080"/>
            <a:ext cx="182880" cy="128016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1618488" y="3520440"/>
            <a:ext cx="995172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staat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11880" y="3246120"/>
            <a:ext cx="2148840" cy="91440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31920" y="2788920"/>
            <a:ext cx="105156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56048" y="2944368"/>
            <a:ext cx="365760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0" y="2926080"/>
            <a:ext cx="128016" cy="1828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ag"/>
          <p:cNvSpPr/>
          <p:nvPr/>
        </p:nvSpPr>
        <p:spPr>
          <a:xfrm>
            <a:off x="4315968" y="3520440"/>
            <a:ext cx="869290" cy="329184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ligt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346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⇄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fles </a:t>
            </a:r>
            <a:r>
              <a:rPr lang="en-US" sz="1700" b="1" i="1" dirty="0">
                <a:solidFill>
                  <a:schemeClr val="tx1"/>
                </a:solidFill>
              </a:rPr>
              <a:t>staat</a:t>
            </a:r>
            <a:r>
              <a:rPr lang="en-US" sz="1700" i="1" dirty="0">
                <a:solidFill>
                  <a:schemeClr val="tx1"/>
                </a:solidFill>
              </a:rPr>
              <a:t> op tafel.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fles </a:t>
            </a:r>
            <a:r>
              <a:rPr lang="en-US" sz="1700" b="1" i="1" dirty="0">
                <a:solidFill>
                  <a:schemeClr val="tx1"/>
                </a:solidFill>
              </a:rPr>
              <a:t>ligt</a:t>
            </a:r>
            <a:r>
              <a:rPr lang="en-US" sz="1700" i="1" dirty="0">
                <a:solidFill>
                  <a:schemeClr val="tx1"/>
                </a:solidFill>
              </a:rPr>
              <a:t> op tafel.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227064" y="1554480"/>
            <a:ext cx="5413248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92824" y="1783080"/>
            <a:ext cx="2148840" cy="1554480"/>
          </a:xfrm>
          <a:prstGeom prst="roundRect">
            <a:avLst>
              <a:gd name="adj" fmla="val 1176"/>
            </a:avLst>
          </a:prstGeom>
          <a:noFill/>
          <a:ln w="25400">
            <a:solidFill>
              <a:srgbClr val="9C7A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75704" y="2121408"/>
            <a:ext cx="292608" cy="1188720"/>
          </a:xfrm>
          <a:prstGeom prst="roundRect">
            <a:avLst>
              <a:gd name="adj" fmla="val 937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21424" y="2304288"/>
            <a:ext cx="20116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41464" y="2121408"/>
            <a:ext cx="292608" cy="1188720"/>
          </a:xfrm>
          <a:prstGeom prst="roundRect">
            <a:avLst>
              <a:gd name="adj" fmla="val 937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87184" y="2304288"/>
            <a:ext cx="20116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07224" y="2121408"/>
            <a:ext cx="292608" cy="1188720"/>
          </a:xfrm>
          <a:prstGeom prst="roundRect">
            <a:avLst>
              <a:gd name="adj" fmla="val 937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52944" y="2304288"/>
            <a:ext cx="20116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ag"/>
          <p:cNvSpPr/>
          <p:nvPr/>
        </p:nvSpPr>
        <p:spPr>
          <a:xfrm>
            <a:off x="7296912" y="3520440"/>
            <a:ext cx="995172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staat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290304" y="3246120"/>
            <a:ext cx="2148840" cy="91440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47504" y="2953512"/>
            <a:ext cx="1188720" cy="292608"/>
          </a:xfrm>
          <a:prstGeom prst="roundRect">
            <a:avLst>
              <a:gd name="adj" fmla="val 937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857232" y="2953512"/>
            <a:ext cx="731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ag"/>
          <p:cNvSpPr/>
          <p:nvPr/>
        </p:nvSpPr>
        <p:spPr>
          <a:xfrm>
            <a:off x="9994392" y="3520440"/>
            <a:ext cx="869290" cy="329184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ligt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13064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⇄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6501384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boek </a:t>
            </a:r>
            <a:r>
              <a:rPr lang="en-US" sz="1700" b="1" i="1" dirty="0">
                <a:solidFill>
                  <a:schemeClr val="tx1"/>
                </a:solidFill>
              </a:rPr>
              <a:t>staat</a:t>
            </a:r>
            <a:r>
              <a:rPr lang="en-US" sz="1700" i="1" dirty="0">
                <a:solidFill>
                  <a:schemeClr val="tx1"/>
                </a:solidFill>
              </a:rPr>
              <a:t> in de kast.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boek </a:t>
            </a:r>
            <a:r>
              <a:rPr lang="en-US" sz="1700" b="1" i="1" dirty="0">
                <a:solidFill>
                  <a:schemeClr val="tx1"/>
                </a:solidFill>
              </a:rPr>
              <a:t>ligt</a:t>
            </a:r>
            <a:r>
              <a:rPr lang="en-US" sz="1700" i="1" dirty="0">
                <a:solidFill>
                  <a:schemeClr val="tx1"/>
                </a:solidFill>
              </a:rPr>
              <a:t> op tafel.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 regarde la </a:t>
            </a:r>
            <a:r>
              <a:rPr lang="en-US" sz="1800" b="1" dirty="0">
                <a:solidFill>
                  <a:schemeClr val="bg1"/>
                </a:solidFill>
              </a:rPr>
              <a:t>position de l’objet à ce moment-là</a:t>
            </a:r>
            <a:r>
              <a:rPr lang="en-US" sz="1800" dirty="0">
                <a:solidFill>
                  <a:schemeClr val="bg1"/>
                </a:solidFill>
              </a:rPr>
              <a:t>, pas l’objet lui-même. </a:t>
            </a:r>
            <a:r>
              <a:rPr lang="en-US" sz="1800" i="1" dirty="0">
                <a:solidFill>
                  <a:schemeClr val="bg1"/>
                </a:solidFill>
              </a:rPr>
              <a:t>Mijn gsm </a:t>
            </a:r>
            <a:r>
              <a:rPr lang="en-US" sz="1800" b="1" i="1" dirty="0">
                <a:solidFill>
                  <a:schemeClr val="bg1"/>
                </a:solidFill>
              </a:rPr>
              <a:t>zit</a:t>
            </a:r>
            <a:r>
              <a:rPr lang="en-US" sz="1800" i="1" dirty="0">
                <a:solidFill>
                  <a:schemeClr val="bg1"/>
                </a:solidFill>
              </a:rPr>
              <a:t> in mijn zak · </a:t>
            </a:r>
            <a:r>
              <a:rPr lang="en-US" sz="1800" b="1" i="1" dirty="0">
                <a:solidFill>
                  <a:schemeClr val="bg1"/>
                </a:solidFill>
              </a:rPr>
              <a:t>ligt</a:t>
            </a:r>
            <a:r>
              <a:rPr lang="en-US" sz="1800" i="1" dirty="0">
                <a:solidFill>
                  <a:schemeClr val="bg1"/>
                </a:solidFill>
              </a:rPr>
              <a:t> op tafel.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Zitten : dedans… et les personnes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74904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DEDANS</a:t>
            </a:r>
            <a:endParaRPr lang="en-US" sz="1700" dirty="0"/>
          </a:p>
        </p:txBody>
      </p:sp>
      <p:pic>
        <p:nvPicPr>
          <p:cNvPr id="8" name="Image 0" descr="pu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1945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geld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mijn portemonnee.</a:t>
            </a:r>
            <a:endParaRPr lang="en-US" sz="1900" dirty="0"/>
          </a:p>
        </p:txBody>
      </p:sp>
      <p:pic>
        <p:nvPicPr>
          <p:cNvPr id="10" name="Image 1" descr="honey p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10128"/>
            <a:ext cx="777240" cy="7772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21868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suiker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de pot.</a:t>
            </a:r>
            <a:endParaRPr lang="en-US" sz="1900" dirty="0"/>
          </a:p>
        </p:txBody>
      </p:sp>
      <p:pic>
        <p:nvPicPr>
          <p:cNvPr id="12" name="Image 2" descr="card file 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34256"/>
            <a:ext cx="777240" cy="7772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737360" y="4242816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documenten </a:t>
            </a:r>
            <a:r>
              <a:rPr lang="en-US" sz="1900" b="1" i="1" dirty="0">
                <a:solidFill>
                  <a:schemeClr val="tx1"/>
                </a:solidFill>
              </a:rPr>
              <a:t>zitten</a:t>
            </a:r>
            <a:r>
              <a:rPr lang="en-US" sz="1900" i="1" dirty="0">
                <a:solidFill>
                  <a:schemeClr val="tx1"/>
                </a:solidFill>
              </a:rPr>
              <a:t> in de la.</a:t>
            </a:r>
            <a:endParaRPr lang="en-US" sz="1900" dirty="0"/>
          </a:p>
        </p:txBody>
      </p:sp>
      <p:sp>
        <p:nvSpPr>
          <p:cNvPr id="14" name="Shape 8"/>
          <p:cNvSpPr/>
          <p:nvPr/>
        </p:nvSpPr>
        <p:spPr>
          <a:xfrm>
            <a:off x="6227064" y="1554480"/>
            <a:ext cx="5413248" cy="374904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227064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LES PERSONNES</a:t>
            </a:r>
            <a:endParaRPr lang="en-US" sz="1700" dirty="0"/>
          </a:p>
        </p:txBody>
      </p:sp>
      <p:pic>
        <p:nvPicPr>
          <p:cNvPr id="17" name="Image 3" descr="c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86000"/>
            <a:ext cx="777240" cy="7772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15784" y="21945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Karim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op zijn stoel.</a:t>
            </a:r>
            <a:endParaRPr lang="en-US" sz="1900" dirty="0"/>
          </a:p>
        </p:txBody>
      </p:sp>
      <p:pic>
        <p:nvPicPr>
          <p:cNvPr id="19" name="Image 4" descr="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310128"/>
            <a:ext cx="777240" cy="7772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15784" y="321868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de trein.</a:t>
            </a:r>
            <a:endParaRPr lang="en-US" sz="1900" dirty="0"/>
          </a:p>
        </p:txBody>
      </p:sp>
      <p:pic>
        <p:nvPicPr>
          <p:cNvPr id="21" name="Image 5" descr="busts in silhouet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334256"/>
            <a:ext cx="777240" cy="77724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415784" y="4242816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An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een vergadering.</a:t>
            </a:r>
            <a:endParaRPr lang="en-US" sz="1900" dirty="0"/>
          </a:p>
        </p:txBody>
      </p:sp>
      <p:sp>
        <p:nvSpPr>
          <p:cNvPr id="23" name="Shape 1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82296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Waar </a:t>
            </a:r>
            <a:r>
              <a:rPr lang="en-US" sz="1800" b="1" i="1" dirty="0">
                <a:solidFill>
                  <a:schemeClr val="bg1"/>
                </a:solidFill>
              </a:rPr>
              <a:t>zit</a:t>
            </a:r>
            <a:r>
              <a:rPr lang="en-US" sz="1800" i="1" dirty="0">
                <a:solidFill>
                  <a:schemeClr val="bg1"/>
                </a:solidFill>
              </a:rPr>
              <a:t> je?</a:t>
            </a:r>
            <a:r>
              <a:rPr lang="en-US" sz="1800" dirty="0">
                <a:solidFill>
                  <a:schemeClr val="bg1"/>
                </a:solidFill>
              </a:rPr>
              <a:t> = Où es-tu ? (familier, très courant au téléphone en Flandre) · </a:t>
            </a:r>
            <a:r>
              <a:rPr lang="en-US" sz="1800" i="1" dirty="0">
                <a:solidFill>
                  <a:schemeClr val="bg1"/>
                </a:solidFill>
              </a:rPr>
              <a:t>de la</a:t>
            </a:r>
            <a:r>
              <a:rPr lang="en-US" sz="1800" dirty="0">
                <a:solidFill>
                  <a:schemeClr val="bg1"/>
                </a:solidFill>
              </a:rPr>
              <a:t> = le tiroir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« être » ne suffit pas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103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Mes clés </a:t>
            </a:r>
            <a:r>
              <a:rPr lang="en-US" sz="1600" b="1" dirty="0">
                <a:solidFill>
                  <a:schemeClr val="tx1"/>
                </a:solidFill>
              </a:rPr>
              <a:t>sont</a:t>
            </a:r>
            <a:r>
              <a:rPr lang="en-US" sz="1600" dirty="0">
                <a:solidFill>
                  <a:schemeClr val="tx1"/>
                </a:solidFill>
              </a:rPr>
              <a:t> dans mon sac. »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98348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✗ </a:t>
            </a:r>
            <a:r>
              <a:rPr lang="en-US" sz="1300" i="1" strike="sngStrike" dirty="0">
                <a:solidFill>
                  <a:schemeClr val="accent6"/>
                </a:solidFill>
              </a:rPr>
              <a:t>Mijn sleutels zijn in mijn tas.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726680" y="2487168"/>
            <a:ext cx="22860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8001000" y="2176272"/>
            <a:ext cx="3520440" cy="640080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Mijn sleutels </a:t>
            </a:r>
            <a:r>
              <a:rPr lang="en-US" sz="1700" b="1" i="1" dirty="0">
                <a:solidFill>
                  <a:schemeClr val="accent1"/>
                </a:solidFill>
              </a:rPr>
              <a:t>zitten</a:t>
            </a:r>
            <a:r>
              <a:rPr lang="en-US" sz="1700" i="1" dirty="0">
                <a:solidFill>
                  <a:schemeClr val="tx1"/>
                </a:solidFill>
              </a:rPr>
              <a:t> in mijn tas.</a:t>
            </a:r>
            <a:endParaRPr lang="en-US" sz="1700" dirty="0"/>
          </a:p>
        </p:txBody>
      </p:sp>
      <p:pic>
        <p:nvPicPr>
          <p:cNvPr id="13" name="Image 1" descr="framed pic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54096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962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Le tableau </a:t>
            </a:r>
            <a:r>
              <a:rPr lang="en-US" sz="1600" b="1" dirty="0">
                <a:solidFill>
                  <a:schemeClr val="tx1"/>
                </a:solidFill>
              </a:rPr>
              <a:t>est</a:t>
            </a:r>
            <a:r>
              <a:rPr lang="en-US" sz="1600" dirty="0">
                <a:solidFill>
                  <a:schemeClr val="tx1"/>
                </a:solidFill>
              </a:rPr>
              <a:t> au mur. »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983480" y="296265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✗ </a:t>
            </a:r>
            <a:r>
              <a:rPr lang="en-US" sz="1300" i="1" strike="sngStrike" dirty="0">
                <a:solidFill>
                  <a:schemeClr val="accent6"/>
                </a:solidFill>
              </a:rPr>
              <a:t>Het schilderij is aan de muur.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726680" y="3346704"/>
            <a:ext cx="22860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001000" y="3035808"/>
            <a:ext cx="3520440" cy="640080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92440" y="30358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Het schilderij </a:t>
            </a:r>
            <a:r>
              <a:rPr lang="en-US" sz="1700" b="1" i="1" dirty="0">
                <a:solidFill>
                  <a:schemeClr val="accent4"/>
                </a:solidFill>
              </a:rPr>
              <a:t>hangt</a:t>
            </a:r>
            <a:r>
              <a:rPr lang="en-US" sz="1700" i="1" dirty="0">
                <a:solidFill>
                  <a:schemeClr val="tx1"/>
                </a:solidFill>
              </a:rPr>
              <a:t> aan de muur.</a:t>
            </a:r>
            <a:endParaRPr lang="en-US" sz="1700" dirty="0"/>
          </a:p>
        </p:txBody>
      </p:sp>
      <p:pic>
        <p:nvPicPr>
          <p:cNvPr id="19" name="Image 2" descr="citysca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13632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38221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Bruxelles </a:t>
            </a:r>
            <a:r>
              <a:rPr lang="en-US" sz="1600" b="1" dirty="0">
                <a:solidFill>
                  <a:schemeClr val="tx1"/>
                </a:solidFill>
              </a:rPr>
              <a:t>se trouve</a:t>
            </a:r>
            <a:r>
              <a:rPr lang="en-US" sz="1600" dirty="0">
                <a:solidFill>
                  <a:schemeClr val="tx1"/>
                </a:solidFill>
              </a:rPr>
              <a:t> en Belgique. »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726680" y="4206240"/>
            <a:ext cx="22860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8001000" y="3895344"/>
            <a:ext cx="3520440" cy="640080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092440" y="38953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Brussel </a:t>
            </a:r>
            <a:r>
              <a:rPr lang="en-US" sz="1700" b="1" i="1" dirty="0">
                <a:solidFill>
                  <a:schemeClr val="accent3"/>
                </a:solidFill>
              </a:rPr>
              <a:t>ligt</a:t>
            </a:r>
            <a:r>
              <a:rPr lang="en-US" sz="1700" i="1" dirty="0">
                <a:solidFill>
                  <a:schemeClr val="tx1"/>
                </a:solidFill>
              </a:rPr>
              <a:t> in België.</a:t>
            </a:r>
            <a:endParaRPr lang="en-US" sz="1700" dirty="0"/>
          </a:p>
        </p:txBody>
      </p:sp>
      <p:pic>
        <p:nvPicPr>
          <p:cNvPr id="24" name="Image 3" descr="page facing 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73168"/>
            <a:ext cx="594360" cy="5943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6817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Qu’est-ce qui </a:t>
            </a:r>
            <a:r>
              <a:rPr lang="en-US" sz="1600" b="1" dirty="0">
                <a:solidFill>
                  <a:schemeClr val="tx1"/>
                </a:solidFill>
              </a:rPr>
              <a:t>est</a:t>
            </a:r>
            <a:r>
              <a:rPr lang="en-US" sz="1600" dirty="0">
                <a:solidFill>
                  <a:schemeClr val="tx1"/>
                </a:solidFill>
              </a:rPr>
              <a:t> écrit ? »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7726680" y="5065776"/>
            <a:ext cx="22860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8001000" y="4754880"/>
            <a:ext cx="3520440" cy="640080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09244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Wat </a:t>
            </a:r>
            <a:r>
              <a:rPr lang="en-US" sz="1700" b="1" i="1" dirty="0">
                <a:solidFill>
                  <a:schemeClr val="accent2"/>
                </a:solidFill>
              </a:rPr>
              <a:t>staat</a:t>
            </a:r>
            <a:r>
              <a:rPr lang="en-US" sz="1700" i="1" dirty="0">
                <a:solidFill>
                  <a:schemeClr val="tx1"/>
                </a:solidFill>
              </a:rPr>
              <a:t> er?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Villes, pays : </a:t>
            </a:r>
            <a:r>
              <a:rPr lang="en-US" sz="1700" i="1" dirty="0">
                <a:solidFill>
                  <a:schemeClr val="bg1"/>
                </a:solidFill>
              </a:rPr>
              <a:t>liggen</a:t>
            </a:r>
            <a:r>
              <a:rPr lang="en-US" sz="1700" dirty="0">
                <a:solidFill>
                  <a:schemeClr val="bg1"/>
                </a:solidFill>
              </a:rPr>
              <a:t> (</a:t>
            </a:r>
            <a:r>
              <a:rPr lang="en-US" sz="1700" i="1" dirty="0">
                <a:solidFill>
                  <a:schemeClr val="bg1"/>
                </a:solidFill>
              </a:rPr>
              <a:t>Gent ligt aan de Schelde</a:t>
            </a:r>
            <a:r>
              <a:rPr lang="en-US" sz="1700" dirty="0">
                <a:solidFill>
                  <a:schemeClr val="bg1"/>
                </a:solidFill>
              </a:rPr>
              <a:t>) · un texte : </a:t>
            </a:r>
            <a:r>
              <a:rPr lang="en-US" sz="1700" i="1" dirty="0">
                <a:solidFill>
                  <a:schemeClr val="bg1"/>
                </a:solidFill>
              </a:rPr>
              <a:t>staan</a:t>
            </a:r>
            <a:r>
              <a:rPr lang="en-US" sz="1700" dirty="0">
                <a:solidFill>
                  <a:schemeClr val="bg1"/>
                </a:solidFill>
              </a:rPr>
              <a:t> (</a:t>
            </a:r>
            <a:r>
              <a:rPr lang="en-US" sz="1700" i="1" dirty="0">
                <a:solidFill>
                  <a:schemeClr val="bg1"/>
                </a:solidFill>
              </a:rPr>
              <a:t>Het staat in de mail</a:t>
            </a:r>
            <a:r>
              <a:rPr lang="en-US" sz="1700" dirty="0">
                <a:solidFill>
                  <a:schemeClr val="bg1"/>
                </a:solidFill>
              </a:rPr>
              <a:t>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prépositions de lieu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77063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20370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4420" y="192938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10512" y="155448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71800" y="155448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8960" y="277063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24597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2203704"/>
            <a:ext cx="777240" cy="566928"/>
          </a:xfrm>
          <a:prstGeom prst="roundRect">
            <a:avLst>
              <a:gd name="adj" fmla="val 4839"/>
            </a:avLst>
          </a:prstGeom>
          <a:noFill/>
          <a:ln w="19050">
            <a:solidFill>
              <a:srgbClr val="9C7A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20370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>
              <a:alpha val="45000"/>
            </a:srgbClr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33672" y="155448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394960" y="155448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277063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0740" y="24963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19293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56832" y="155448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423367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3666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63040" y="3959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810512" y="301752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naast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971800" y="301752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108960" y="423367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46120" y="3557016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97580" y="3977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233672" y="301752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voor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394960" y="301752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32120" y="423367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36208" y="34838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69280" y="3666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56832" y="301752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achter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48640" y="448056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85800" y="569671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51297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4400" y="51297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74420" y="54223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810512" y="448056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tussen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2971800" y="448056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108960" y="569671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46120" y="51297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34740" y="4572000"/>
            <a:ext cx="914" cy="5486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497580" y="46268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233672" y="448056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boven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5394960" y="4480560"/>
            <a:ext cx="2286000" cy="1353312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532120" y="5696712"/>
            <a:ext cx="105156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623560" y="4572000"/>
            <a:ext cx="868680" cy="1078992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83580" y="475488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6057900" y="4864608"/>
            <a:ext cx="914" cy="164592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057900" y="5029200"/>
            <a:ext cx="120701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56832" y="4480560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aan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8046720" y="1554480"/>
            <a:ext cx="3593592" cy="4279392"/>
          </a:xfrm>
          <a:prstGeom prst="roundRect">
            <a:avLst>
              <a:gd name="adj" fmla="val 203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960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EN PHRASE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8229600" y="2011680"/>
            <a:ext cx="3246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 bal </a:t>
            </a:r>
            <a:r>
              <a:rPr lang="en-US" sz="1800" b="1" i="1" dirty="0">
                <a:solidFill>
                  <a:schemeClr val="tx1"/>
                </a:solidFill>
              </a:rPr>
              <a:t>ligt onder</a:t>
            </a:r>
            <a:r>
              <a:rPr lang="en-US" sz="1800" i="1" dirty="0">
                <a:solidFill>
                  <a:schemeClr val="tx1"/>
                </a:solidFill>
              </a:rPr>
              <a:t> de doos.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 lamp </a:t>
            </a:r>
            <a:r>
              <a:rPr lang="en-US" sz="1800" b="1" i="1" dirty="0">
                <a:solidFill>
                  <a:schemeClr val="tx1"/>
                </a:solidFill>
              </a:rPr>
              <a:t>hangt boven</a:t>
            </a:r>
            <a:r>
              <a:rPr lang="en-US" sz="1800" i="1" dirty="0">
                <a:solidFill>
                  <a:schemeClr val="tx1"/>
                </a:solidFill>
              </a:rPr>
              <a:t> de tafel.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 printer </a:t>
            </a:r>
            <a:r>
              <a:rPr lang="en-US" sz="1800" b="1" i="1" dirty="0">
                <a:solidFill>
                  <a:schemeClr val="tx1"/>
                </a:solidFill>
              </a:rPr>
              <a:t>staat naast</a:t>
            </a:r>
            <a:r>
              <a:rPr lang="en-US" sz="1800" i="1" dirty="0">
                <a:solidFill>
                  <a:schemeClr val="tx1"/>
                </a:solidFill>
              </a:rPr>
              <a:t> de kast.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 klok </a:t>
            </a:r>
            <a:r>
              <a:rPr lang="en-US" sz="1800" b="1" i="1" dirty="0">
                <a:solidFill>
                  <a:schemeClr val="tx1"/>
                </a:solidFill>
              </a:rPr>
              <a:t>hangt aan</a:t>
            </a:r>
            <a:r>
              <a:rPr lang="en-US" sz="1800" i="1" dirty="0">
                <a:solidFill>
                  <a:schemeClr val="tx1"/>
                </a:solidFill>
              </a:rPr>
              <a:t> de muur.</a:t>
            </a:r>
            <a:endParaRPr lang="en-US" sz="18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594360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op</a:t>
            </a:r>
            <a:r>
              <a:rPr lang="en-US" sz="1500" i="1" dirty="0">
                <a:solidFill>
                  <a:schemeClr val="accent5"/>
                </a:solidFill>
              </a:rPr>
              <a:t> = sur (contact) · </a:t>
            </a:r>
            <a:r>
              <a:rPr lang="en-US" sz="1500" i="1" dirty="0">
                <a:solidFill>
                  <a:schemeClr val="accent5"/>
                </a:solidFill>
              </a:rPr>
              <a:t>boven</a:t>
            </a:r>
            <a:r>
              <a:rPr lang="en-US" sz="1500" i="1" dirty="0">
                <a:solidFill>
                  <a:schemeClr val="accent5"/>
                </a:solidFill>
              </a:rPr>
              <a:t> = au-dessus (sans contact) · </a:t>
            </a:r>
            <a:r>
              <a:rPr lang="en-US" sz="1500" i="1" dirty="0">
                <a:solidFill>
                  <a:schemeClr val="accent5"/>
                </a:solidFill>
              </a:rPr>
              <a:t>aan</a:t>
            </a:r>
            <a:r>
              <a:rPr lang="en-US" sz="1500" i="1" dirty="0">
                <a:solidFill>
                  <a:schemeClr val="accent5"/>
                </a:solidFill>
              </a:rPr>
              <a:t> = accroché à · </a:t>
            </a:r>
            <a:r>
              <a:rPr lang="en-US" sz="1500" i="1" dirty="0">
                <a:solidFill>
                  <a:schemeClr val="accent5"/>
                </a:solidFill>
              </a:rPr>
              <a:t>tussen</a:t>
            </a:r>
            <a:r>
              <a:rPr lang="en-US" sz="1500" i="1" dirty="0">
                <a:solidFill>
                  <a:schemeClr val="accent5"/>
                </a:solidFill>
              </a:rPr>
              <a:t> = entre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Position ou action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pic>
        <p:nvPicPr>
          <p:cNvPr id="5" name="Image 0" descr="HandPa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347472" cy="347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554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ACTION — je mets</a:t>
            </a:r>
            <a:endParaRPr lang="en-US" sz="1500" dirty="0"/>
          </a:p>
        </p:txBody>
      </p:sp>
      <p:pic>
        <p:nvPicPr>
          <p:cNvPr id="7" name="Image 1" descr="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347472" cy="34747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858000" y="1554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POSITION — le résultat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48640" y="205740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dash"/>
          </a:ln>
        </p:spPr>
      </p:sp>
      <p:sp>
        <p:nvSpPr>
          <p:cNvPr id="10" name="Text 5"/>
          <p:cNvSpPr txBox="1"/>
          <p:nvPr/>
        </p:nvSpPr>
        <p:spPr>
          <a:xfrm>
            <a:off x="73152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leg</a:t>
            </a:r>
            <a:r>
              <a:rPr lang="en-US" sz="1900" i="1" dirty="0">
                <a:solidFill>
                  <a:schemeClr val="tx1"/>
                </a:solidFill>
              </a:rPr>
              <a:t> het boek op tafel.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6035040" y="2423160"/>
            <a:ext cx="32004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6400800" y="2057400"/>
            <a:ext cx="523951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5000"/>
            </a:schemeClr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83680" y="2057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boek </a:t>
            </a:r>
            <a:r>
              <a:rPr lang="en-US" sz="1900" b="1" i="1" dirty="0">
                <a:solidFill>
                  <a:schemeClr val="tx1"/>
                </a:solidFill>
              </a:rPr>
              <a:t>ligt</a:t>
            </a:r>
            <a:r>
              <a:rPr lang="en-US" sz="1900" i="1" dirty="0">
                <a:solidFill>
                  <a:schemeClr val="tx1"/>
                </a:solidFill>
              </a:rPr>
              <a:t> op tafel.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548640" y="292608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dash"/>
          </a:ln>
        </p:spPr>
      </p:sp>
      <p:sp>
        <p:nvSpPr>
          <p:cNvPr id="15" name="Text 10"/>
          <p:cNvSpPr txBox="1"/>
          <p:nvPr/>
        </p:nvSpPr>
        <p:spPr>
          <a:xfrm>
            <a:off x="73152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zet</a:t>
            </a:r>
            <a:r>
              <a:rPr lang="en-US" sz="1900" i="1" dirty="0">
                <a:solidFill>
                  <a:schemeClr val="tx1"/>
                </a:solidFill>
              </a:rPr>
              <a:t> de vaas op tafel.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035040" y="3291840"/>
            <a:ext cx="320040" cy="914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400800" y="2926080"/>
            <a:ext cx="5239512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836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vaas </a:t>
            </a:r>
            <a:r>
              <a:rPr lang="en-US" sz="1900" b="1" i="1" dirty="0">
                <a:solidFill>
                  <a:schemeClr val="tx1"/>
                </a:solidFill>
              </a:rPr>
              <a:t>staat</a:t>
            </a:r>
            <a:r>
              <a:rPr lang="en-US" sz="1900" i="1" dirty="0">
                <a:solidFill>
                  <a:schemeClr val="tx1"/>
                </a:solidFill>
              </a:rPr>
              <a:t> op tafel.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73152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hang</a:t>
            </a:r>
            <a:r>
              <a:rPr lang="en-US" sz="1900" i="1" dirty="0">
                <a:solidFill>
                  <a:schemeClr val="tx1"/>
                </a:solidFill>
              </a:rPr>
              <a:t> mijn jas aan de kapstok.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6035040" y="4160520"/>
            <a:ext cx="320040" cy="914"/>
          </a:xfrm>
          <a:prstGeom prst="line">
            <a:avLst/>
          </a:prstGeom>
          <a:noFill/>
          <a:ln w="381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400800" y="3794760"/>
            <a:ext cx="5239512" cy="731520"/>
          </a:xfrm>
          <a:prstGeom prst="roundRect">
            <a:avLst>
              <a:gd name="adj" fmla="val 10000"/>
            </a:avLst>
          </a:prstGeom>
          <a:solidFill>
            <a:schemeClr val="accent4">
              <a:alpha val="15000"/>
            </a:scheme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583680" y="3794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Mijn jas </a:t>
            </a:r>
            <a:r>
              <a:rPr lang="en-US" sz="1900" b="1" i="1" dirty="0">
                <a:solidFill>
                  <a:schemeClr val="tx1"/>
                </a:solidFill>
              </a:rPr>
              <a:t>hangt</a:t>
            </a:r>
            <a:r>
              <a:rPr lang="en-US" sz="1900" i="1" dirty="0">
                <a:solidFill>
                  <a:schemeClr val="tx1"/>
                </a:solidFill>
              </a:rPr>
              <a:t> aan de kapstok.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548640" y="4663440"/>
            <a:ext cx="5440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731520" y="4663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</a:t>
            </a:r>
            <a:r>
              <a:rPr lang="en-US" sz="1900" b="1" i="1" dirty="0">
                <a:solidFill>
                  <a:schemeClr val="tx1"/>
                </a:solidFill>
              </a:rPr>
              <a:t>stop</a:t>
            </a:r>
            <a:r>
              <a:rPr lang="en-US" sz="1900" i="1" dirty="0">
                <a:solidFill>
                  <a:schemeClr val="tx1"/>
                </a:solidFill>
              </a:rPr>
              <a:t> de sleutel in mijn tas.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6035040" y="5029200"/>
            <a:ext cx="3200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400800" y="4663440"/>
            <a:ext cx="5239512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583680" y="4663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De sleutel </a:t>
            </a:r>
            <a:r>
              <a:rPr lang="en-US" sz="1900" b="1" i="1" dirty="0">
                <a:solidFill>
                  <a:schemeClr val="tx1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mijn tas.</a:t>
            </a:r>
            <a:endParaRPr lang="en-US" sz="1900" dirty="0"/>
          </a:p>
        </p:txBody>
      </p:sp>
      <p:sp>
        <p:nvSpPr>
          <p:cNvPr id="29" name="Shape 24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hangen</a:t>
            </a:r>
            <a:r>
              <a:rPr lang="en-US" sz="1700" dirty="0">
                <a:solidFill>
                  <a:schemeClr val="bg1"/>
                </a:solidFill>
              </a:rPr>
              <a:t> sert aux deux · </a:t>
            </a:r>
            <a:r>
              <a:rPr lang="en-US" sz="1700" i="1" dirty="0">
                <a:solidFill>
                  <a:schemeClr val="bg1"/>
                </a:solidFill>
              </a:rPr>
              <a:t>stoppen in</a:t>
            </a:r>
            <a:r>
              <a:rPr lang="en-US" sz="1700" dirty="0">
                <a:solidFill>
                  <a:schemeClr val="bg1"/>
                </a:solidFill>
              </a:rPr>
              <a:t> = mettre dans · personnes : </a:t>
            </a:r>
            <a:r>
              <a:rPr lang="en-US" sz="1700" i="1" dirty="0">
                <a:solidFill>
                  <a:schemeClr val="bg1"/>
                </a:solidFill>
              </a:rPr>
              <a:t>gaan zitten / liggen / staan</a:t>
            </a:r>
            <a:r>
              <a:rPr lang="en-US" sz="1700" dirty="0">
                <a:solidFill>
                  <a:schemeClr val="bg1"/>
                </a:solidFill>
              </a:rPr>
              <a:t> (M16)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« mettre » = quatre verbes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« mettre »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 flipV="1">
            <a:off x="2651760" y="2148840"/>
            <a:ext cx="411480" cy="141732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108960" y="1892808"/>
            <a:ext cx="1325880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8960" y="189280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leggen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Mets le dossier sur la table. »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828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→ </a:t>
            </a:r>
            <a:r>
              <a:rPr lang="en-US" sz="1700" b="1" i="1" dirty="0">
                <a:solidFill>
                  <a:schemeClr val="tx1"/>
                </a:solidFill>
              </a:rPr>
              <a:t>Leg het dossier op tafel.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 flipV="1">
            <a:off x="2651760" y="2880360"/>
            <a:ext cx="411480" cy="685800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108960" y="2624328"/>
            <a:ext cx="1325880" cy="512064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62432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zetten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Mets la tasse sur la table. »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5603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→ </a:t>
            </a:r>
            <a:r>
              <a:rPr lang="en-US" sz="1700" b="1" i="1" dirty="0">
                <a:solidFill>
                  <a:schemeClr val="tx1"/>
                </a:solidFill>
              </a:rPr>
              <a:t>Zet het kopje op tafel.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651760" y="3566160"/>
            <a:ext cx="411480" cy="45720"/>
          </a:xfrm>
          <a:prstGeom prst="line">
            <a:avLst/>
          </a:prstGeom>
          <a:noFill/>
          <a:ln w="25400">
            <a:solidFill>
              <a:srgbClr val="B4236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108960" y="3355848"/>
            <a:ext cx="1325880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08960" y="335584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hangen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Mets ton manteau au portemanteau. »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32918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→ </a:t>
            </a:r>
            <a:r>
              <a:rPr lang="en-US" sz="1700" b="1" i="1" dirty="0">
                <a:solidFill>
                  <a:schemeClr val="tx1"/>
                </a:solidFill>
              </a:rPr>
              <a:t>Hang je jas aan de kapstok.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2651760" y="3566160"/>
            <a:ext cx="411480" cy="777240"/>
          </a:xfrm>
          <a:prstGeom prst="line">
            <a:avLst/>
          </a:prstGeom>
          <a:noFill/>
          <a:ln w="254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108960" y="4087368"/>
            <a:ext cx="1325880" cy="512064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8960" y="408736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stoppen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61772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Mets la clé dans ton sac. »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0" y="4023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→ </a:t>
            </a:r>
            <a:r>
              <a:rPr lang="en-US" sz="1700" b="1" i="1" dirty="0">
                <a:solidFill>
                  <a:schemeClr val="tx1"/>
                </a:solidFill>
              </a:rPr>
              <a:t>Stop de sleutel in je tas.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2651760" y="3566160"/>
            <a:ext cx="411480" cy="1508760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108960" y="4818888"/>
            <a:ext cx="1325880" cy="512064"/>
          </a:xfrm>
          <a:prstGeom prst="roundRect">
            <a:avLst>
              <a:gd name="adj" fmla="val 17857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08960" y="48188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aandoen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« Mets ton manteau ! » (enfiler)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47548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→ </a:t>
            </a:r>
            <a:r>
              <a:rPr lang="en-US" sz="1700" b="1" i="1" dirty="0">
                <a:solidFill>
                  <a:schemeClr val="tx1"/>
                </a:solidFill>
              </a:rPr>
              <a:t>Doe je jas aan! (M11)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Réflexe : à la fin, l’objet sera </a:t>
            </a:r>
            <a:r>
              <a:rPr lang="en-US" sz="1800" b="1" dirty="0">
                <a:solidFill>
                  <a:schemeClr val="bg1"/>
                </a:solidFill>
              </a:rPr>
              <a:t>couché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b="1" dirty="0">
                <a:solidFill>
                  <a:schemeClr val="bg1"/>
                </a:solidFill>
              </a:rPr>
              <a:t>debout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b="1" dirty="0">
                <a:solidFill>
                  <a:schemeClr val="bg1"/>
                </a:solidFill>
              </a:rPr>
              <a:t>suspendu</a:t>
            </a:r>
            <a:r>
              <a:rPr lang="en-US" sz="1800" dirty="0">
                <a:solidFill>
                  <a:schemeClr val="bg1"/>
                </a:solidFill>
              </a:rPr>
              <a:t> ou </a:t>
            </a:r>
            <a:r>
              <a:rPr lang="en-US" sz="1800" b="1" dirty="0">
                <a:solidFill>
                  <a:schemeClr val="bg1"/>
                </a:solidFill>
              </a:rPr>
              <a:t>dedans</a:t>
            </a:r>
            <a:r>
              <a:rPr lang="en-US" sz="1800" dirty="0">
                <a:solidFill>
                  <a:schemeClr val="bg1"/>
                </a:solidFill>
              </a:rPr>
              <a:t>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Au passé composé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POSITION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lang </a:t>
            </a:r>
            <a:r>
              <a:rPr lang="en-US" sz="1900" b="1" i="1" dirty="0">
                <a:solidFill>
                  <a:schemeClr val="accent6"/>
                </a:solidFill>
              </a:rPr>
              <a:t>gezeten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We hebben een uur </a:t>
            </a:r>
            <a:r>
              <a:rPr lang="en-US" sz="1900" b="1" i="1" dirty="0">
                <a:solidFill>
                  <a:schemeClr val="accent6"/>
                </a:solidFill>
              </a:rPr>
              <a:t>gestaan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Het boek heeft daar </a:t>
            </a:r>
            <a:r>
              <a:rPr lang="en-US" sz="1900" b="1" i="1" dirty="0">
                <a:solidFill>
                  <a:schemeClr val="accent6"/>
                </a:solidFill>
              </a:rPr>
              <a:t>gelegen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jas heeft daar </a:t>
            </a:r>
            <a:r>
              <a:rPr lang="en-US" sz="1900" b="1" i="1" dirty="0">
                <a:solidFill>
                  <a:schemeClr val="accent6"/>
                </a:solidFill>
              </a:rPr>
              <a:t>gehangen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irréguliers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27064" y="1554480"/>
            <a:ext cx="5413248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27064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ACTION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501384" y="21945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het boek op tafel </a:t>
            </a:r>
            <a:r>
              <a:rPr lang="en-US" sz="1900" b="1" i="1" dirty="0">
                <a:solidFill>
                  <a:schemeClr val="accent6"/>
                </a:solidFill>
              </a:rPr>
              <a:t>gelegd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de vaas op tafel </a:t>
            </a:r>
            <a:r>
              <a:rPr lang="en-US" sz="1900" b="1" i="1" dirty="0">
                <a:solidFill>
                  <a:schemeClr val="accent6"/>
                </a:solidFill>
              </a:rPr>
              <a:t>gezet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Ik heb mijn jas aan de kapstok </a:t>
            </a:r>
            <a:r>
              <a:rPr lang="en-US" sz="1900" b="1" i="1" dirty="0">
                <a:solidFill>
                  <a:schemeClr val="accent6"/>
                </a:solidFill>
              </a:rPr>
              <a:t>gehangen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501384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gelegd, gezet</a:t>
            </a:r>
            <a:r>
              <a:rPr lang="en-US" sz="1400" i="1" dirty="0">
                <a:solidFill>
                  <a:schemeClr val="accent5"/>
                </a:solidFill>
              </a:rPr>
              <a:t> : réguliers (M15)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accent6">
              <a:alpha val="10000"/>
            </a:schemeClr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50292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⚠ </a:t>
            </a:r>
            <a:r>
              <a:rPr lang="en-US" sz="2000" b="1" i="1" dirty="0">
                <a:solidFill>
                  <a:schemeClr val="tx1"/>
                </a:solidFill>
              </a:rPr>
              <a:t>gelegen</a:t>
            </a:r>
            <a:r>
              <a:rPr lang="en-US" sz="2000" dirty="0">
                <a:solidFill>
                  <a:schemeClr val="tx1"/>
                </a:solidFill>
              </a:rPr>
              <a:t> (position) ≠ </a:t>
            </a:r>
            <a:r>
              <a:rPr lang="en-US" sz="2000" b="1" i="1" dirty="0">
                <a:solidFill>
                  <a:schemeClr val="tx1"/>
                </a:solidFill>
              </a:rPr>
              <a:t>gelegd</a:t>
            </a:r>
            <a:r>
              <a:rPr lang="en-US" sz="2000" dirty="0">
                <a:solidFill>
                  <a:schemeClr val="tx1"/>
                </a:solidFill>
              </a:rPr>
              <a:t> (action)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583680" y="5029200"/>
            <a:ext cx="505663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5029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Norme : </a:t>
            </a:r>
            <a:r>
              <a:rPr lang="en-US" sz="1500" i="1" dirty="0">
                <a:solidFill>
                  <a:schemeClr val="tx1"/>
                </a:solidFill>
              </a:rPr>
              <a:t>hebben</a:t>
            </a:r>
            <a:r>
              <a:rPr lang="en-US" sz="1500" dirty="0">
                <a:solidFill>
                  <a:schemeClr val="tx1"/>
                </a:solidFill>
              </a:rPr>
              <a:t> (en Flandre, on entend </a:t>
            </a:r>
            <a:r>
              <a:rPr lang="en-US" sz="1500" i="1" dirty="0">
                <a:solidFill>
                  <a:schemeClr val="tx1"/>
                </a:solidFill>
              </a:rPr>
              <a:t>Ik ben gezeten</a:t>
            </a: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Teaser M19 : </a:t>
            </a:r>
            <a:r>
              <a:rPr lang="en-US" sz="1500" i="1" dirty="0">
                <a:solidFill>
                  <a:schemeClr val="tx1"/>
                </a:solidFill>
              </a:rPr>
              <a:t>zat, stond, lag, hing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BONUS : être en train de…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BONUS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man technolog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812" y="1737360"/>
            <a:ext cx="1554480" cy="1554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3429000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 </a:t>
            </a:r>
            <a:r>
              <a:rPr lang="en-US" sz="2200" b="1" i="1" dirty="0">
                <a:solidFill>
                  <a:schemeClr val="tx1"/>
                </a:solidFill>
              </a:rPr>
              <a:t>zit te</a:t>
            </a:r>
            <a:r>
              <a:rPr lang="en-US" sz="2200" i="1" dirty="0">
                <a:solidFill>
                  <a:schemeClr val="tx1"/>
                </a:solidFill>
              </a:rPr>
              <a:t> werken.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4322064" y="1554480"/>
            <a:ext cx="3544824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bus s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1737360"/>
            <a:ext cx="1554480" cy="1554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04944" y="3429000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 </a:t>
            </a:r>
            <a:r>
              <a:rPr lang="en-US" sz="2200" b="1" i="1" dirty="0">
                <a:solidFill>
                  <a:schemeClr val="tx1"/>
                </a:solidFill>
              </a:rPr>
              <a:t>sta</a:t>
            </a:r>
            <a:r>
              <a:rPr lang="en-US" sz="2200" i="1" dirty="0">
                <a:solidFill>
                  <a:schemeClr val="tx1"/>
                </a:solidFill>
              </a:rPr>
              <a:t> op de bus </a:t>
            </a:r>
            <a:r>
              <a:rPr lang="en-US" sz="2200" b="1" i="1" dirty="0">
                <a:solidFill>
                  <a:schemeClr val="tx1"/>
                </a:solidFill>
              </a:rPr>
              <a:t>te</a:t>
            </a:r>
            <a:r>
              <a:rPr lang="en-US" sz="2200" i="1" dirty="0">
                <a:solidFill>
                  <a:schemeClr val="tx1"/>
                </a:solidFill>
              </a:rPr>
              <a:t> wachten.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8095488" y="1554480"/>
            <a:ext cx="3544824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erson in b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660" y="1737360"/>
            <a:ext cx="1554480" cy="15544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78368" y="3429000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Hij </a:t>
            </a:r>
            <a:r>
              <a:rPr lang="en-US" sz="2200" b="1" i="1" dirty="0">
                <a:solidFill>
                  <a:schemeClr val="tx1"/>
                </a:solidFill>
              </a:rPr>
              <a:t>ligt te</a:t>
            </a:r>
            <a:r>
              <a:rPr lang="en-US" sz="2200" i="1" dirty="0">
                <a:solidFill>
                  <a:schemeClr val="tx1"/>
                </a:solidFill>
              </a:rPr>
              <a:t> slapen.</a:t>
            </a:r>
            <a:endParaRPr lang="en-US" sz="2200" dirty="0"/>
          </a:p>
        </p:txBody>
      </p:sp>
      <p:sp>
        <p:nvSpPr>
          <p:cNvPr id="14" name="Shape 8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= « être </a:t>
            </a:r>
            <a:r>
              <a:rPr lang="en-US" sz="2000" b="1" dirty="0">
                <a:solidFill>
                  <a:schemeClr val="bg1"/>
                </a:solidFill>
              </a:rPr>
              <a:t>en train de</a:t>
            </a:r>
            <a:r>
              <a:rPr lang="en-US" sz="2000" dirty="0">
                <a:solidFill>
                  <a:schemeClr val="bg1"/>
                </a:solidFill>
              </a:rPr>
              <a:t>… » avec la posture · sans posture : </a:t>
            </a:r>
            <a:r>
              <a:rPr lang="en-US" sz="2000" i="1" dirty="0">
                <a:solidFill>
                  <a:schemeClr val="bg1"/>
                </a:solidFill>
              </a:rPr>
              <a:t>Ik ben </a:t>
            </a:r>
            <a:r>
              <a:rPr lang="en-US" sz="2000" b="1" i="1" dirty="0">
                <a:solidFill>
                  <a:schemeClr val="bg1"/>
                </a:solidFill>
              </a:rPr>
              <a:t>aan het</a:t>
            </a:r>
            <a:r>
              <a:rPr lang="en-US" sz="2000" i="1" dirty="0">
                <a:solidFill>
                  <a:schemeClr val="bg1"/>
                </a:solidFill>
              </a:rPr>
              <a:t> werken.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l’organigramme de la position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C’est dans un contenant (sac, poche, boîte) 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73168" y="2011680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75488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03520" y="164592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645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zitten</a:t>
            </a:r>
            <a:r>
              <a:rPr lang="en-US" sz="1800" dirty="0">
                <a:solidFill>
                  <a:schemeClr val="bg1"/>
                </a:solidFill>
              </a:rPr>
              <a:t>  ·  action : </a:t>
            </a:r>
            <a:r>
              <a:rPr lang="en-US" sz="1800" i="1" dirty="0">
                <a:solidFill>
                  <a:schemeClr val="bg1"/>
                </a:solidFill>
              </a:rPr>
              <a:t>stoppen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651760" y="2468880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743200" y="2450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670048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C’est suspendu 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73168" y="3127248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754880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03520" y="2761488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0" y="27614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hangen</a:t>
            </a:r>
            <a:r>
              <a:rPr lang="en-US" sz="1800" dirty="0">
                <a:solidFill>
                  <a:schemeClr val="bg1"/>
                </a:solidFill>
              </a:rPr>
              <a:t>  ·  action : </a:t>
            </a:r>
            <a:r>
              <a:rPr lang="en-US" sz="1800" i="1" dirty="0">
                <a:solidFill>
                  <a:schemeClr val="bg1"/>
                </a:solidFill>
              </a:rPr>
              <a:t>hangen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651760" y="3584448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743200" y="3566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785616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C’est debout, sur sa base 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73168" y="4242816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754880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03520" y="3877056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0" y="3877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staan</a:t>
            </a:r>
            <a:r>
              <a:rPr lang="en-US" sz="1800" dirty="0">
                <a:solidFill>
                  <a:schemeClr val="bg1"/>
                </a:solidFill>
              </a:rPr>
              <a:t>  ·  action : </a:t>
            </a:r>
            <a:r>
              <a:rPr lang="en-US" sz="1800" i="1" dirty="0">
                <a:solidFill>
                  <a:schemeClr val="bg1"/>
                </a:solidFill>
              </a:rPr>
              <a:t>zetten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2651760" y="4700016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743200" y="4681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901184"/>
            <a:ext cx="827532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901184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sinon (à plat, couché) → </a:t>
            </a:r>
            <a:r>
              <a:rPr lang="en-US" sz="1900" b="1" dirty="0">
                <a:solidFill>
                  <a:schemeClr val="bg1"/>
                </a:solidFill>
              </a:rPr>
              <a:t>liggen</a:t>
            </a:r>
            <a:r>
              <a:rPr lang="en-US" sz="1900" dirty="0">
                <a:solidFill>
                  <a:schemeClr val="bg1"/>
                </a:solidFill>
              </a:rPr>
              <a:t>  ·  action : </a:t>
            </a:r>
            <a:r>
              <a:rPr lang="en-US" sz="1900" i="1" dirty="0">
                <a:solidFill>
                  <a:schemeClr val="bg1"/>
                </a:solidFill>
              </a:rPr>
              <a:t>leggen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9098280" y="1554480"/>
            <a:ext cx="2542032" cy="4169664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98280" y="16459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LES PERSONNES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281160" y="2103120"/>
            <a:ext cx="21762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81160" y="21031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zitten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281160" y="25603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assis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281160" y="3017520"/>
            <a:ext cx="2176272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81160" y="30175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staan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9281160" y="34747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debout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9281160" y="3931920"/>
            <a:ext cx="2176272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281160" y="39319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liggen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9281160" y="43891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couché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235440" y="4846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action : </a:t>
            </a:r>
            <a:r>
              <a:rPr lang="en-US" sz="1300" i="1" dirty="0">
                <a:solidFill>
                  <a:schemeClr val="tx1"/>
                </a:solidFill>
              </a:rPr>
              <a:t>gaan zitten, gaan staan, gaan liggen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852160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kast, garage</a:t>
            </a:r>
            <a:r>
              <a:rPr lang="en-US" sz="1500" i="1" dirty="0">
                <a:solidFill>
                  <a:schemeClr val="accent5"/>
                </a:solidFill>
              </a:rPr>
              <a:t> : la position compte → </a:t>
            </a:r>
            <a:r>
              <a:rPr lang="en-US" sz="1500" i="1" dirty="0">
                <a:solidFill>
                  <a:schemeClr val="accent5"/>
                </a:solidFill>
              </a:rPr>
              <a:t>De kopjes </a:t>
            </a:r>
            <a:r>
              <a:rPr lang="en-US" sz="1500" b="1" i="1" dirty="0">
                <a:solidFill>
                  <a:schemeClr val="accent5"/>
                </a:solidFill>
              </a:rPr>
              <a:t>staan</a:t>
            </a:r>
            <a:r>
              <a:rPr lang="en-US" sz="1500" i="1" dirty="0">
                <a:solidFill>
                  <a:schemeClr val="accent5"/>
                </a:solidFill>
              </a:rPr>
              <a:t> in de kast.</a:t>
            </a:r>
            <a:endParaRPr lang="en-US" sz="1500" dirty="0"/>
          </a:p>
        </p:txBody>
      </p:sp>
      <p:pic>
        <p:nvPicPr>
          <p:cNvPr id="41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Où est-il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bureau de Karim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Hand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Position ou action 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Box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prépositions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Exchange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Qu’est-ce qui a changé ?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Tru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déménagement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Où est-il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staan, liggen, zitten ou hangen (conjugué).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8729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4362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98729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Mijn sleutels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in mijn jaszak.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6199632" y="198729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three o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34362"/>
            <a:ext cx="685800" cy="6858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159752" y="198729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klok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aan de muur.</a:t>
            </a:r>
            <a:endParaRPr lang="en-US" sz="1900" dirty="0"/>
          </a:p>
        </p:txBody>
      </p:sp>
      <p:sp>
        <p:nvSpPr>
          <p:cNvPr id="14" name="Shape 8"/>
          <p:cNvSpPr/>
          <p:nvPr/>
        </p:nvSpPr>
        <p:spPr>
          <a:xfrm>
            <a:off x="548640" y="307695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teacup without han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24022"/>
            <a:ext cx="685800" cy="6858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508760" y="307695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kopjes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in de kast.</a:t>
            </a:r>
            <a:endParaRPr lang="en-US" sz="1900" dirty="0"/>
          </a:p>
        </p:txBody>
      </p:sp>
      <p:sp>
        <p:nvSpPr>
          <p:cNvPr id="17" name="Shape 10"/>
          <p:cNvSpPr/>
          <p:nvPr/>
        </p:nvSpPr>
        <p:spPr>
          <a:xfrm>
            <a:off x="6199632" y="307695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newspa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224022"/>
            <a:ext cx="685800" cy="6858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159752" y="307695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krant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op de stoel.</a:t>
            </a:r>
            <a:endParaRPr lang="en-US" sz="1900" dirty="0"/>
          </a:p>
        </p:txBody>
      </p:sp>
      <p:sp>
        <p:nvSpPr>
          <p:cNvPr id="20" name="Shape 12"/>
          <p:cNvSpPr/>
          <p:nvPr/>
        </p:nvSpPr>
        <p:spPr>
          <a:xfrm>
            <a:off x="548640" y="416661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5" descr="man office work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3682"/>
            <a:ext cx="685800" cy="6858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508760" y="416661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Karim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op zijn stoel.</a:t>
            </a:r>
            <a:endParaRPr lang="en-US" sz="1900" dirty="0"/>
          </a:p>
        </p:txBody>
      </p:sp>
      <p:sp>
        <p:nvSpPr>
          <p:cNvPr id="23" name="Shape 14"/>
          <p:cNvSpPr/>
          <p:nvPr/>
        </p:nvSpPr>
        <p:spPr>
          <a:xfrm>
            <a:off x="6199632" y="416661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6" descr="bicy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4313682"/>
            <a:ext cx="685800" cy="6858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159752" y="416661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6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fiets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voor de deur.</a:t>
            </a:r>
            <a:endParaRPr lang="en-US" sz="1900" dirty="0"/>
          </a:p>
        </p:txBody>
      </p:sp>
      <p:sp>
        <p:nvSpPr>
          <p:cNvPr id="26" name="Shape 16"/>
          <p:cNvSpPr/>
          <p:nvPr/>
        </p:nvSpPr>
        <p:spPr>
          <a:xfrm>
            <a:off x="548640" y="525627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7" descr="euro bankno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403342"/>
            <a:ext cx="685800" cy="6858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508760" y="525627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7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geld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in mijn portemonnee.</a:t>
            </a:r>
            <a:endParaRPr lang="en-US" sz="1900" dirty="0"/>
          </a:p>
        </p:txBody>
      </p:sp>
      <p:sp>
        <p:nvSpPr>
          <p:cNvPr id="29" name="Shape 18"/>
          <p:cNvSpPr/>
          <p:nvPr/>
        </p:nvSpPr>
        <p:spPr>
          <a:xfrm>
            <a:off x="6199632" y="525627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8" descr="c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5403342"/>
            <a:ext cx="685800" cy="6858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159752" y="525627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8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kat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op de bank te slapen.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Où est-il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staan, liggen, zitten ou hangen (conjugué).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8729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4362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198729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Mijn sleutels </a:t>
            </a:r>
            <a:r>
              <a:rPr lang="en-US" sz="1900" b="1" i="1" dirty="0">
                <a:solidFill>
                  <a:schemeClr val="accent3"/>
                </a:solidFill>
              </a:rPr>
              <a:t>zitten</a:t>
            </a:r>
            <a:r>
              <a:rPr lang="en-US" sz="1900" i="1" dirty="0">
                <a:solidFill>
                  <a:schemeClr val="tx1"/>
                </a:solidFill>
              </a:rPr>
              <a:t> in mijn jaszak.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6199632" y="198729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three o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34362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59752" y="198729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klok </a:t>
            </a:r>
            <a:r>
              <a:rPr lang="en-US" sz="1900" b="1" i="1" dirty="0">
                <a:solidFill>
                  <a:schemeClr val="accent3"/>
                </a:solidFill>
              </a:rPr>
              <a:t>hangt</a:t>
            </a:r>
            <a:r>
              <a:rPr lang="en-US" sz="1900" i="1" dirty="0">
                <a:solidFill>
                  <a:schemeClr val="tx1"/>
                </a:solidFill>
              </a:rPr>
              <a:t> aan de muur.</a:t>
            </a:r>
            <a:endParaRPr lang="en-US" sz="1900" dirty="0"/>
          </a:p>
        </p:txBody>
      </p:sp>
      <p:sp>
        <p:nvSpPr>
          <p:cNvPr id="15" name="Shape 9"/>
          <p:cNvSpPr/>
          <p:nvPr/>
        </p:nvSpPr>
        <p:spPr>
          <a:xfrm>
            <a:off x="548640" y="307695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teacup without hand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24022"/>
            <a:ext cx="685800" cy="6858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307695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kopjes </a:t>
            </a:r>
            <a:r>
              <a:rPr lang="en-US" sz="1900" b="1" i="1" dirty="0">
                <a:solidFill>
                  <a:schemeClr val="accent3"/>
                </a:solidFill>
              </a:rPr>
              <a:t>staan</a:t>
            </a:r>
            <a:r>
              <a:rPr lang="en-US" sz="1900" i="1" dirty="0">
                <a:solidFill>
                  <a:schemeClr val="tx1"/>
                </a:solidFill>
              </a:rPr>
              <a:t> in de kast.</a:t>
            </a:r>
            <a:endParaRPr lang="en-US" sz="1900" dirty="0"/>
          </a:p>
        </p:txBody>
      </p:sp>
      <p:sp>
        <p:nvSpPr>
          <p:cNvPr id="18" name="Shape 11"/>
          <p:cNvSpPr/>
          <p:nvPr/>
        </p:nvSpPr>
        <p:spPr>
          <a:xfrm>
            <a:off x="6199632" y="307695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newspa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224022"/>
            <a:ext cx="685800" cy="6858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159752" y="307695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krant </a:t>
            </a:r>
            <a:r>
              <a:rPr lang="en-US" sz="1900" b="1" i="1" dirty="0">
                <a:solidFill>
                  <a:schemeClr val="accent3"/>
                </a:solidFill>
              </a:rPr>
              <a:t>ligt</a:t>
            </a:r>
            <a:r>
              <a:rPr lang="en-US" sz="1900" i="1" dirty="0">
                <a:solidFill>
                  <a:schemeClr val="tx1"/>
                </a:solidFill>
              </a:rPr>
              <a:t> op de stoel.</a:t>
            </a:r>
            <a:endParaRPr lang="en-US" sz="1900" dirty="0"/>
          </a:p>
        </p:txBody>
      </p:sp>
      <p:sp>
        <p:nvSpPr>
          <p:cNvPr id="21" name="Shape 13"/>
          <p:cNvSpPr/>
          <p:nvPr/>
        </p:nvSpPr>
        <p:spPr>
          <a:xfrm>
            <a:off x="548640" y="416661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man office work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3682"/>
            <a:ext cx="685800" cy="6858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08760" y="416661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Karim </a:t>
            </a:r>
            <a:r>
              <a:rPr lang="en-US" sz="1900" b="1" i="1" dirty="0">
                <a:solidFill>
                  <a:schemeClr val="accent3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op zijn stoel.</a:t>
            </a:r>
            <a:endParaRPr lang="en-US" sz="1900" dirty="0"/>
          </a:p>
        </p:txBody>
      </p:sp>
      <p:sp>
        <p:nvSpPr>
          <p:cNvPr id="24" name="Shape 15"/>
          <p:cNvSpPr/>
          <p:nvPr/>
        </p:nvSpPr>
        <p:spPr>
          <a:xfrm>
            <a:off x="6199632" y="416661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bicy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4313682"/>
            <a:ext cx="685800" cy="6858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159752" y="416661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6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fiets </a:t>
            </a:r>
            <a:r>
              <a:rPr lang="en-US" sz="1900" b="1" i="1" dirty="0">
                <a:solidFill>
                  <a:schemeClr val="accent3"/>
                </a:solidFill>
              </a:rPr>
              <a:t>staat</a:t>
            </a:r>
            <a:r>
              <a:rPr lang="en-US" sz="1900" i="1" dirty="0">
                <a:solidFill>
                  <a:schemeClr val="tx1"/>
                </a:solidFill>
              </a:rPr>
              <a:t> voor de deur.</a:t>
            </a:r>
            <a:endParaRPr lang="en-US" sz="1900" dirty="0"/>
          </a:p>
        </p:txBody>
      </p:sp>
      <p:sp>
        <p:nvSpPr>
          <p:cNvPr id="27" name="Shape 17"/>
          <p:cNvSpPr/>
          <p:nvPr/>
        </p:nvSpPr>
        <p:spPr>
          <a:xfrm>
            <a:off x="548640" y="525627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8" name="Image 7" descr="euro bankno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403342"/>
            <a:ext cx="685800" cy="68580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508760" y="525627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7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Het geld </a:t>
            </a:r>
            <a:r>
              <a:rPr lang="en-US" sz="1900" b="1" i="1" dirty="0">
                <a:solidFill>
                  <a:schemeClr val="accent3"/>
                </a:solidFill>
              </a:rPr>
              <a:t>zit</a:t>
            </a:r>
            <a:r>
              <a:rPr lang="en-US" sz="1900" i="1" dirty="0">
                <a:solidFill>
                  <a:schemeClr val="tx1"/>
                </a:solidFill>
              </a:rPr>
              <a:t> in mijn portemonnee.</a:t>
            </a:r>
            <a:endParaRPr lang="en-US" sz="1900" dirty="0"/>
          </a:p>
        </p:txBody>
      </p:sp>
      <p:sp>
        <p:nvSpPr>
          <p:cNvPr id="30" name="Shape 19"/>
          <p:cNvSpPr/>
          <p:nvPr/>
        </p:nvSpPr>
        <p:spPr>
          <a:xfrm>
            <a:off x="6199632" y="5256276"/>
            <a:ext cx="5440680" cy="961644"/>
          </a:xfrm>
          <a:prstGeom prst="roundRect">
            <a:avLst>
              <a:gd name="adj" fmla="val 760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1" name="Image 8" descr="c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5403342"/>
            <a:ext cx="685800" cy="6858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7159752" y="5256276"/>
            <a:ext cx="4389120" cy="961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8</a:t>
            </a:r>
            <a:r>
              <a:rPr lang="en-US" sz="1900" dirty="0">
                <a:solidFill>
                  <a:schemeClr val="tx1"/>
                </a:solidFill>
              </a:rPr>
              <a:t>  </a:t>
            </a:r>
            <a:r>
              <a:rPr lang="en-US" sz="1900" i="1" dirty="0">
                <a:solidFill>
                  <a:schemeClr val="tx1"/>
                </a:solidFill>
              </a:rPr>
              <a:t>De kat </a:t>
            </a:r>
            <a:r>
              <a:rPr lang="en-US" sz="1900" b="1" i="1" dirty="0">
                <a:solidFill>
                  <a:schemeClr val="accent3"/>
                </a:solidFill>
              </a:rPr>
              <a:t>ligt</a:t>
            </a:r>
            <a:r>
              <a:rPr lang="en-US" sz="1900" i="1" dirty="0">
                <a:solidFill>
                  <a:schemeClr val="tx1"/>
                </a:solidFill>
              </a:rPr>
              <a:t> op de bank te slapen.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Le bureau de Karim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Regardez le dessin et complétez avec le bon verbe de position.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4480560" cy="4358640"/>
          </a:xfrm>
          <a:prstGeom prst="roundRect">
            <a:avLst>
              <a:gd name="adj" fmla="val 839"/>
            </a:avLst>
          </a:prstGeom>
          <a:solidFill>
            <a:srgbClr val="F7F3EA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4809134"/>
            <a:ext cx="4480560" cy="1481938"/>
          </a:xfrm>
          <a:prstGeom prst="rect">
            <a:avLst/>
          </a:prstGeom>
          <a:solidFill>
            <a:srgbClr val="E9E1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15312"/>
            <a:ext cx="822960" cy="8229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43400" y="2161032"/>
            <a:ext cx="914" cy="2968142"/>
          </a:xfrm>
          <a:prstGeom prst="line">
            <a:avLst/>
          </a:prstGeom>
          <a:noFill/>
          <a:ln w="38100">
            <a:solidFill>
              <a:srgbClr val="8A6A4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14800" y="2133600"/>
            <a:ext cx="457200" cy="54864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co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206752"/>
            <a:ext cx="822960" cy="8229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77240" y="4329684"/>
            <a:ext cx="3017520" cy="128016"/>
          </a:xfrm>
          <a:prstGeom prst="roundRect">
            <a:avLst>
              <a:gd name="adj" fmla="val 14286"/>
            </a:avLst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914400" y="4457700"/>
            <a:ext cx="109728" cy="1743456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566160" y="4457700"/>
            <a:ext cx="109728" cy="1743456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desktop comp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369564"/>
            <a:ext cx="1005840" cy="1005840"/>
          </a:xfrm>
          <a:prstGeom prst="rect">
            <a:avLst/>
          </a:prstGeom>
        </p:spPr>
      </p:pic>
      <p:pic>
        <p:nvPicPr>
          <p:cNvPr id="18" name="Image 4" descr="key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3982212"/>
            <a:ext cx="411480" cy="411480"/>
          </a:xfrm>
          <a:prstGeom prst="rect">
            <a:avLst/>
          </a:prstGeom>
        </p:spPr>
      </p:pic>
      <p:pic>
        <p:nvPicPr>
          <p:cNvPr id="19" name="Image 5" descr="hot beve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890772"/>
            <a:ext cx="457200" cy="45720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60120" y="421995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960120" y="412851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960120" y="403707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6" descr="man office wor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735324"/>
            <a:ext cx="1097280" cy="10972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257800" y="1932432"/>
            <a:ext cx="6382512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ext 15"/>
          <p:cNvSpPr txBox="1"/>
          <p:nvPr/>
        </p:nvSpPr>
        <p:spPr>
          <a:xfrm>
            <a:off x="5486400" y="2115312"/>
            <a:ext cx="594360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Op Karims bureau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een groot scherm. Voor het scherm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het toetsenbord. Naast het toetsenbord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een kopje koffie. Er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ook drie mappen. Aan de muur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een kalender. Zijn jas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aan de kapstok. Zijn badge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in zijn jaszak. En Karim? Hij </a:t>
            </a:r>
            <a:r>
              <a:rPr lang="en-US" sz="2000" dirty="0">
                <a:solidFill>
                  <a:schemeClr val="accent5"/>
                </a:solidFill>
              </a:rPr>
              <a:t>…………</a:t>
            </a:r>
            <a:r>
              <a:rPr lang="en-US" sz="2000" dirty="0">
                <a:solidFill>
                  <a:schemeClr val="tx1"/>
                </a:solidFill>
              </a:rPr>
              <a:t> op zijn stoel te werken!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Le bureau de Karim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Regardez le dessin et complétez avec le bon verbe de position.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4480560" cy="4358640"/>
          </a:xfrm>
          <a:prstGeom prst="roundRect">
            <a:avLst>
              <a:gd name="adj" fmla="val 839"/>
            </a:avLst>
          </a:prstGeom>
          <a:solidFill>
            <a:srgbClr val="F7F3EA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809134"/>
            <a:ext cx="4480560" cy="1481938"/>
          </a:xfrm>
          <a:prstGeom prst="rect">
            <a:avLst/>
          </a:prstGeom>
          <a:solidFill>
            <a:srgbClr val="E9E1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15312"/>
            <a:ext cx="822960" cy="822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43400" y="2161032"/>
            <a:ext cx="914" cy="2968142"/>
          </a:xfrm>
          <a:prstGeom prst="line">
            <a:avLst/>
          </a:prstGeom>
          <a:noFill/>
          <a:ln w="38100">
            <a:solidFill>
              <a:srgbClr val="8A6A4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114800" y="2133600"/>
            <a:ext cx="457200" cy="54864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co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206752"/>
            <a:ext cx="822960" cy="8229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77240" y="4329684"/>
            <a:ext cx="3017520" cy="128016"/>
          </a:xfrm>
          <a:prstGeom prst="roundRect">
            <a:avLst>
              <a:gd name="adj" fmla="val 14286"/>
            </a:avLst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14400" y="4457700"/>
            <a:ext cx="109728" cy="1743456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566160" y="4457700"/>
            <a:ext cx="109728" cy="1743456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desktop comp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369564"/>
            <a:ext cx="1005840" cy="1005840"/>
          </a:xfrm>
          <a:prstGeom prst="rect">
            <a:avLst/>
          </a:prstGeom>
        </p:spPr>
      </p:pic>
      <p:pic>
        <p:nvPicPr>
          <p:cNvPr id="19" name="Image 4" descr="key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3982212"/>
            <a:ext cx="411480" cy="411480"/>
          </a:xfrm>
          <a:prstGeom prst="rect">
            <a:avLst/>
          </a:prstGeom>
        </p:spPr>
      </p:pic>
      <p:pic>
        <p:nvPicPr>
          <p:cNvPr id="20" name="Image 5" descr="hot beve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890772"/>
            <a:ext cx="457200" cy="4572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960120" y="421995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960120" y="412851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960120" y="4037076"/>
            <a:ext cx="548640" cy="8229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man office wor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735324"/>
            <a:ext cx="1097280" cy="109728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5257800" y="1932432"/>
            <a:ext cx="6382512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16"/>
          <p:cNvSpPr txBox="1"/>
          <p:nvPr/>
        </p:nvSpPr>
        <p:spPr>
          <a:xfrm>
            <a:off x="5486400" y="2115312"/>
            <a:ext cx="5943600" cy="399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Op Karims bureau </a:t>
            </a:r>
            <a:r>
              <a:rPr lang="en-US" sz="2000" b="1" dirty="0">
                <a:solidFill>
                  <a:schemeClr val="accent3"/>
                </a:solidFill>
              </a:rPr>
              <a:t>staat</a:t>
            </a:r>
            <a:r>
              <a:rPr lang="en-US" sz="2000" dirty="0">
                <a:solidFill>
                  <a:schemeClr val="tx1"/>
                </a:solidFill>
              </a:rPr>
              <a:t> een groot scherm. Voor het scherm </a:t>
            </a:r>
            <a:r>
              <a:rPr lang="en-US" sz="2000" b="1" dirty="0">
                <a:solidFill>
                  <a:schemeClr val="accent3"/>
                </a:solidFill>
              </a:rPr>
              <a:t>ligt</a:t>
            </a:r>
            <a:r>
              <a:rPr lang="en-US" sz="2000" dirty="0">
                <a:solidFill>
                  <a:schemeClr val="tx1"/>
                </a:solidFill>
              </a:rPr>
              <a:t> het toetsenbord. Naast het toetsenbord </a:t>
            </a:r>
            <a:r>
              <a:rPr lang="en-US" sz="2000" b="1" dirty="0">
                <a:solidFill>
                  <a:schemeClr val="accent3"/>
                </a:solidFill>
              </a:rPr>
              <a:t>staat</a:t>
            </a:r>
            <a:r>
              <a:rPr lang="en-US" sz="2000" dirty="0">
                <a:solidFill>
                  <a:schemeClr val="tx1"/>
                </a:solidFill>
              </a:rPr>
              <a:t> een kopje koffie. Er </a:t>
            </a:r>
            <a:r>
              <a:rPr lang="en-US" sz="2000" b="1" dirty="0">
                <a:solidFill>
                  <a:schemeClr val="accent3"/>
                </a:solidFill>
              </a:rPr>
              <a:t>liggen</a:t>
            </a:r>
            <a:r>
              <a:rPr lang="en-US" sz="2000" dirty="0">
                <a:solidFill>
                  <a:schemeClr val="tx1"/>
                </a:solidFill>
              </a:rPr>
              <a:t> ook drie mappen. Aan de muur </a:t>
            </a:r>
            <a:r>
              <a:rPr lang="en-US" sz="2000" b="1" dirty="0">
                <a:solidFill>
                  <a:schemeClr val="accent3"/>
                </a:solidFill>
              </a:rPr>
              <a:t>hangt</a:t>
            </a:r>
            <a:r>
              <a:rPr lang="en-US" sz="2000" dirty="0">
                <a:solidFill>
                  <a:schemeClr val="tx1"/>
                </a:solidFill>
              </a:rPr>
              <a:t> een kalender. Zijn jas </a:t>
            </a:r>
            <a:r>
              <a:rPr lang="en-US" sz="2000" b="1" dirty="0">
                <a:solidFill>
                  <a:schemeClr val="accent3"/>
                </a:solidFill>
              </a:rPr>
              <a:t>hangt</a:t>
            </a:r>
            <a:r>
              <a:rPr lang="en-US" sz="2000" dirty="0">
                <a:solidFill>
                  <a:schemeClr val="tx1"/>
                </a:solidFill>
              </a:rPr>
              <a:t> aan de kapstok. Zijn badge </a:t>
            </a:r>
            <a:r>
              <a:rPr lang="en-US" sz="2000" b="1" dirty="0">
                <a:solidFill>
                  <a:schemeClr val="accent3"/>
                </a:solidFill>
              </a:rPr>
              <a:t>zit</a:t>
            </a:r>
            <a:r>
              <a:rPr lang="en-US" sz="2000" dirty="0">
                <a:solidFill>
                  <a:schemeClr val="tx1"/>
                </a:solidFill>
              </a:rPr>
              <a:t> in zijn jaszak. En Karim? Hij </a:t>
            </a:r>
            <a:r>
              <a:rPr lang="en-US" sz="2000" b="1" dirty="0">
                <a:solidFill>
                  <a:schemeClr val="accent3"/>
                </a:solidFill>
              </a:rPr>
              <a:t>zit</a:t>
            </a:r>
            <a:r>
              <a:rPr lang="en-US" sz="2000" dirty="0">
                <a:solidFill>
                  <a:schemeClr val="tx1"/>
                </a:solidFill>
              </a:rPr>
              <a:t> op zijn stoel te werken!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Position ou action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le bon verbe.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417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i="1" dirty="0">
                <a:solidFill>
                  <a:schemeClr val="tx1"/>
                </a:solidFill>
              </a:rPr>
              <a:t>Ik (leg / lig) de documenten op je bureau.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i="1" dirty="0">
                <a:solidFill>
                  <a:schemeClr val="tx1"/>
                </a:solidFill>
              </a:rPr>
              <a:t>Je telefoon (legt / ligt) naast de printer.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i="1" dirty="0">
                <a:solidFill>
                  <a:schemeClr val="tx1"/>
                </a:solidFill>
              </a:rPr>
              <a:t>Kun je de stoelen in de vergaderzaal (staan / zetten)?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i="1" dirty="0">
                <a:solidFill>
                  <a:schemeClr val="tx1"/>
                </a:solidFill>
              </a:rPr>
              <a:t>De stoelen (staan / zetten) al klaar.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417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i="1" dirty="0">
                <a:solidFill>
                  <a:schemeClr val="tx1"/>
                </a:solidFill>
              </a:rPr>
              <a:t>Waar (hang / hangt) ik mijn jas?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i="1" dirty="0">
                <a:solidFill>
                  <a:schemeClr val="tx1"/>
                </a:solidFill>
              </a:rPr>
              <a:t>Ik heb mijn sleutels op tafel (gelegen / gelegd).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i="1" dirty="0">
                <a:solidFill>
                  <a:schemeClr val="tx1"/>
                </a:solidFill>
              </a:rPr>
              <a:t>Het boek heeft de hele dag op tafel (gelegen / gelegd).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i="1" dirty="0">
                <a:solidFill>
                  <a:schemeClr val="tx1"/>
                </a:solidFill>
              </a:rPr>
              <a:t>(Zit / Zet) de fles water op tafel, alsjeblieft.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Position ou action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Choisissez le bon verbe.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417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i="1" dirty="0">
                <a:solidFill>
                  <a:schemeClr val="tx1"/>
                </a:solidFill>
              </a:rPr>
              <a:t>Ik </a:t>
            </a:r>
            <a:r>
              <a:rPr lang="en-US" sz="2100" b="1" i="1" dirty="0">
                <a:solidFill>
                  <a:schemeClr val="accent3"/>
                </a:solidFill>
              </a:rPr>
              <a:t>leg</a:t>
            </a:r>
            <a:r>
              <a:rPr lang="en-US" sz="2100" i="1" dirty="0">
                <a:solidFill>
                  <a:schemeClr val="tx1"/>
                </a:solidFill>
              </a:rPr>
              <a:t> de documenten op je bureau.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i="1" dirty="0">
                <a:solidFill>
                  <a:schemeClr val="tx1"/>
                </a:solidFill>
              </a:rPr>
              <a:t>Je telefoon </a:t>
            </a:r>
            <a:r>
              <a:rPr lang="en-US" sz="2100" b="1" i="1" dirty="0">
                <a:solidFill>
                  <a:schemeClr val="accent3"/>
                </a:solidFill>
              </a:rPr>
              <a:t>ligt</a:t>
            </a:r>
            <a:r>
              <a:rPr lang="en-US" sz="2100" i="1" dirty="0">
                <a:solidFill>
                  <a:schemeClr val="tx1"/>
                </a:solidFill>
              </a:rPr>
              <a:t> naast de printer.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i="1" dirty="0">
                <a:solidFill>
                  <a:schemeClr val="tx1"/>
                </a:solidFill>
              </a:rPr>
              <a:t>Kun je de stoelen in de vergaderzaal </a:t>
            </a:r>
            <a:r>
              <a:rPr lang="en-US" sz="2100" b="1" i="1" dirty="0">
                <a:solidFill>
                  <a:schemeClr val="accent3"/>
                </a:solidFill>
              </a:rPr>
              <a:t>zetten</a:t>
            </a:r>
            <a:r>
              <a:rPr lang="en-US" sz="2100" i="1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i="1" dirty="0">
                <a:solidFill>
                  <a:schemeClr val="tx1"/>
                </a:solidFill>
              </a:rPr>
              <a:t>De stoelen </a:t>
            </a:r>
            <a:r>
              <a:rPr lang="en-US" sz="2100" b="1" i="1" dirty="0">
                <a:solidFill>
                  <a:schemeClr val="accent3"/>
                </a:solidFill>
              </a:rPr>
              <a:t>staan</a:t>
            </a:r>
            <a:r>
              <a:rPr lang="en-US" sz="2100" i="1" dirty="0">
                <a:solidFill>
                  <a:schemeClr val="tx1"/>
                </a:solidFill>
              </a:rPr>
              <a:t> al klaar.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417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i="1" dirty="0">
                <a:solidFill>
                  <a:schemeClr val="tx1"/>
                </a:solidFill>
              </a:rPr>
              <a:t>Waar </a:t>
            </a:r>
            <a:r>
              <a:rPr lang="en-US" sz="2100" b="1" i="1" dirty="0">
                <a:solidFill>
                  <a:schemeClr val="accent3"/>
                </a:solidFill>
              </a:rPr>
              <a:t>hang</a:t>
            </a:r>
            <a:r>
              <a:rPr lang="en-US" sz="2100" i="1" dirty="0">
                <a:solidFill>
                  <a:schemeClr val="tx1"/>
                </a:solidFill>
              </a:rPr>
              <a:t> ik mijn jas?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i="1" dirty="0">
                <a:solidFill>
                  <a:schemeClr val="tx1"/>
                </a:solidFill>
              </a:rPr>
              <a:t>Ik heb mijn sleutels op tafel </a:t>
            </a:r>
            <a:r>
              <a:rPr lang="en-US" sz="2100" b="1" i="1" dirty="0">
                <a:solidFill>
                  <a:schemeClr val="accent3"/>
                </a:solidFill>
              </a:rPr>
              <a:t>gelegd</a:t>
            </a:r>
            <a:r>
              <a:rPr lang="en-US" sz="2100" i="1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i="1" dirty="0">
                <a:solidFill>
                  <a:schemeClr val="tx1"/>
                </a:solidFill>
              </a:rPr>
              <a:t>Het boek heeft de hele dag op tafel </a:t>
            </a:r>
            <a:r>
              <a:rPr lang="en-US" sz="2100" b="1" i="1" dirty="0">
                <a:solidFill>
                  <a:schemeClr val="accent3"/>
                </a:solidFill>
              </a:rPr>
              <a:t>gelegen</a:t>
            </a:r>
            <a:r>
              <a:rPr lang="en-US" sz="2100" i="1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b="1" i="1" dirty="0">
                <a:solidFill>
                  <a:schemeClr val="accent3"/>
                </a:solidFill>
              </a:rPr>
              <a:t>Zet</a:t>
            </a:r>
            <a:r>
              <a:rPr lang="en-US" sz="2100" i="1" dirty="0">
                <a:solidFill>
                  <a:schemeClr val="tx1"/>
                </a:solidFill>
              </a:rPr>
              <a:t> de fles water op tafel, alsjeblieft.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Les prépositions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Où est la balle ? Complétez avec la bonne préposition.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043559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477899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729359" y="22646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62197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47997" y="27950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6537" y="2538984"/>
            <a:ext cx="777240" cy="566928"/>
          </a:xfrm>
          <a:prstGeom prst="roundRect">
            <a:avLst>
              <a:gd name="adj" fmla="val 4839"/>
            </a:avLst>
          </a:prstGeom>
          <a:noFill/>
          <a:ln w="19050">
            <a:solidFill>
              <a:srgbClr val="9C7A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6537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>
              <a:alpha val="45000"/>
            </a:srgbClr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77006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zit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80835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6635" y="28315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15175" y="226466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95644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499473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705213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573893" y="28315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114282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1043559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477899" y="4700016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729359" y="5120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8368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862197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63465" y="46268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296537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477006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680835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726555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503795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366635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295644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twee dozen.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9499473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933813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 flipV="1">
            <a:off x="10322433" y="4306824"/>
            <a:ext cx="914" cy="33528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0185273" y="430682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114282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hangt </a:t>
            </a:r>
            <a:r>
              <a:rPr lang="en-US" sz="1600" i="1" dirty="0">
                <a:solidFill>
                  <a:schemeClr val="accent5"/>
                </a:solidFill>
              </a:rPr>
              <a:t>…………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Les prépositions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Où est la balle ? Complétez avec la bonne préposition.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043559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477899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729359" y="22646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op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62197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47997" y="27950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6537" y="2538984"/>
            <a:ext cx="777240" cy="566928"/>
          </a:xfrm>
          <a:prstGeom prst="roundRect">
            <a:avLst>
              <a:gd name="adj" fmla="val 4839"/>
            </a:avLst>
          </a:prstGeom>
          <a:noFill/>
          <a:ln w="19050">
            <a:solidFill>
              <a:srgbClr val="9C7A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6537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>
              <a:alpha val="45000"/>
            </a:srgbClr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477006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zit </a:t>
            </a:r>
            <a:r>
              <a:rPr lang="en-US" sz="1600" b="1" i="1" dirty="0">
                <a:solidFill>
                  <a:schemeClr val="accent3"/>
                </a:solidFill>
              </a:rPr>
              <a:t>in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80835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6635" y="28315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15175" y="226466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95644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onder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499473" y="310591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705213" y="253898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573893" y="28315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114282" y="324307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naast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1043559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477899" y="4700016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729359" y="5120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58368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voor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862197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863465" y="46268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296537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477006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achter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680835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726555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503795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66635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295644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ligt </a:t>
            </a:r>
            <a:r>
              <a:rPr lang="en-US" sz="1600" b="1" i="1" dirty="0">
                <a:solidFill>
                  <a:schemeClr val="accent3"/>
                </a:solidFill>
              </a:rPr>
              <a:t>tussen</a:t>
            </a:r>
            <a:r>
              <a:rPr lang="en-US" sz="1600" i="1" dirty="0">
                <a:solidFill>
                  <a:schemeClr val="tx1"/>
                </a:solidFill>
              </a:rPr>
              <a:t> de twee dozen.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9499473" y="5376672"/>
            <a:ext cx="1645920" cy="914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933813" y="4809744"/>
            <a:ext cx="777240" cy="566928"/>
          </a:xfrm>
          <a:prstGeom prst="roundRect">
            <a:avLst>
              <a:gd name="adj" fmla="val 4839"/>
            </a:avLst>
          </a:prstGeom>
          <a:solidFill>
            <a:srgbClr val="D9B98F"/>
          </a:solidFill>
          <a:ln w="19050">
            <a:solidFill>
              <a:srgbClr val="9C7A5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 flipV="1">
            <a:off x="10322433" y="4306824"/>
            <a:ext cx="914" cy="33528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185273" y="430682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9114282" y="5513832"/>
            <a:ext cx="2416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De bal hangt </a:t>
            </a:r>
            <a:r>
              <a:rPr lang="en-US" sz="1600" b="1" i="1" dirty="0">
                <a:solidFill>
                  <a:schemeClr val="accent3"/>
                </a:solidFill>
              </a:rPr>
              <a:t>boven</a:t>
            </a:r>
            <a:r>
              <a:rPr lang="en-US" sz="1600" i="1" dirty="0">
                <a:solidFill>
                  <a:schemeClr val="tx1"/>
                </a:solidFill>
              </a:rPr>
              <a:t> de doos.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travaille à la maison et écrit à Karim.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Sofie → Karim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Hoi Karim, ik werk vandaag thuis. Kun je iets voor me zoeken? Mijn agenda </a:t>
            </a:r>
            <a:r>
              <a:rPr lang="en-US" sz="2100" i="1" dirty="0">
                <a:solidFill>
                  <a:schemeClr val="tx1"/>
                </a:solidFill>
              </a:rPr>
              <a:t>is</a:t>
            </a:r>
            <a:r>
              <a:rPr lang="en-US" sz="2100" i="1" dirty="0">
                <a:solidFill>
                  <a:schemeClr val="tx1"/>
                </a:solidFill>
              </a:rPr>
              <a:t> op mijn bureau. Mijn sleutels </a:t>
            </a:r>
            <a:r>
              <a:rPr lang="en-US" sz="2100" i="1" dirty="0">
                <a:solidFill>
                  <a:schemeClr val="tx1"/>
                </a:solidFill>
              </a:rPr>
              <a:t>liggen</a:t>
            </a:r>
            <a:r>
              <a:rPr lang="en-US" sz="2100" i="1" dirty="0">
                <a:solidFill>
                  <a:schemeClr val="tx1"/>
                </a:solidFill>
              </a:rPr>
              <a:t> in mijn jaszak, en mijn jas hangt aan de kapstok. Mijn bril </a:t>
            </a:r>
            <a:r>
              <a:rPr lang="en-US" sz="2100" i="1" dirty="0">
                <a:solidFill>
                  <a:schemeClr val="tx1"/>
                </a:solidFill>
              </a:rPr>
              <a:t>staat</a:t>
            </a:r>
            <a:r>
              <a:rPr lang="en-US" sz="2100" i="1" dirty="0">
                <a:solidFill>
                  <a:schemeClr val="tx1"/>
                </a:solidFill>
              </a:rPr>
              <a:t> naast de computer en mijn gsm </a:t>
            </a:r>
            <a:r>
              <a:rPr lang="en-US" sz="2100" i="1" dirty="0">
                <a:solidFill>
                  <a:schemeClr val="tx1"/>
                </a:solidFill>
              </a:rPr>
              <a:t>legt</a:t>
            </a:r>
            <a:r>
              <a:rPr lang="en-US" sz="2100" i="1" dirty="0">
                <a:solidFill>
                  <a:schemeClr val="tx1"/>
                </a:solidFill>
              </a:rPr>
              <a:t> op de kast. Kun je mijn agenda in mijn tas </a:t>
            </a:r>
            <a:r>
              <a:rPr lang="en-US" sz="2100" i="1" dirty="0">
                <a:solidFill>
                  <a:schemeClr val="tx1"/>
                </a:solidFill>
              </a:rPr>
              <a:t>zitten</a:t>
            </a:r>
            <a:r>
              <a:rPr lang="en-US" sz="2100" i="1" dirty="0">
                <a:solidFill>
                  <a:schemeClr val="tx1"/>
                </a:solidFill>
              </a:rPr>
              <a:t>? Dank je!</a:t>
            </a:r>
            <a:endParaRPr lang="en-US" sz="21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travaille à la maison et écrit à Karim.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Sofie → Karim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Hoi Karim, ik werk vandaag thuis. Kun je iets voor me zoeken? Mijn agenda </a:t>
            </a:r>
            <a:r>
              <a:rPr lang="en-US" sz="2100" i="1" strike="sngStrike" dirty="0">
                <a:solidFill>
                  <a:schemeClr val="accent6"/>
                </a:solidFill>
              </a:rPr>
              <a:t>is</a:t>
            </a:r>
            <a:r>
              <a:rPr lang="en-US" sz="2100" b="1" i="1" dirty="0">
                <a:solidFill>
                  <a:schemeClr val="accent3"/>
                </a:solidFill>
              </a:rPr>
              <a:t> ligt</a:t>
            </a:r>
            <a:r>
              <a:rPr lang="en-US" sz="2100" i="1" dirty="0">
                <a:solidFill>
                  <a:schemeClr val="tx1"/>
                </a:solidFill>
              </a:rPr>
              <a:t> op mijn bureau. Mijn sleutels </a:t>
            </a:r>
            <a:r>
              <a:rPr lang="en-US" sz="2100" i="1" strike="sngStrike" dirty="0">
                <a:solidFill>
                  <a:schemeClr val="accent6"/>
                </a:solidFill>
              </a:rPr>
              <a:t>liggen</a:t>
            </a:r>
            <a:r>
              <a:rPr lang="en-US" sz="2100" b="1" i="1" dirty="0">
                <a:solidFill>
                  <a:schemeClr val="accent3"/>
                </a:solidFill>
              </a:rPr>
              <a:t> zitten</a:t>
            </a:r>
            <a:r>
              <a:rPr lang="en-US" sz="2100" i="1" dirty="0">
                <a:solidFill>
                  <a:schemeClr val="tx1"/>
                </a:solidFill>
              </a:rPr>
              <a:t> in mijn jaszak, en mijn jas hangt aan de kapstok. Mijn bril </a:t>
            </a:r>
            <a:r>
              <a:rPr lang="en-US" sz="2100" i="1" strike="sngStrike" dirty="0">
                <a:solidFill>
                  <a:schemeClr val="accent6"/>
                </a:solidFill>
              </a:rPr>
              <a:t>staat</a:t>
            </a:r>
            <a:r>
              <a:rPr lang="en-US" sz="2100" b="1" i="1" dirty="0">
                <a:solidFill>
                  <a:schemeClr val="accent3"/>
                </a:solidFill>
              </a:rPr>
              <a:t> ligt</a:t>
            </a:r>
            <a:r>
              <a:rPr lang="en-US" sz="2100" i="1" dirty="0">
                <a:solidFill>
                  <a:schemeClr val="tx1"/>
                </a:solidFill>
              </a:rPr>
              <a:t> naast de computer en mijn gsm </a:t>
            </a:r>
            <a:r>
              <a:rPr lang="en-US" sz="2100" i="1" strike="sngStrike" dirty="0">
                <a:solidFill>
                  <a:schemeClr val="accent6"/>
                </a:solidFill>
              </a:rPr>
              <a:t>legt</a:t>
            </a:r>
            <a:r>
              <a:rPr lang="en-US" sz="2100" b="1" i="1" dirty="0">
                <a:solidFill>
                  <a:schemeClr val="accent3"/>
                </a:solidFill>
              </a:rPr>
              <a:t> ligt</a:t>
            </a:r>
            <a:r>
              <a:rPr lang="en-US" sz="2100" i="1" dirty="0">
                <a:solidFill>
                  <a:schemeClr val="tx1"/>
                </a:solidFill>
              </a:rPr>
              <a:t> op de kast. Kun je mijn agenda in mijn tas </a:t>
            </a:r>
            <a:r>
              <a:rPr lang="en-US" sz="2100" i="1" strike="sngStrike" dirty="0">
                <a:solidFill>
                  <a:schemeClr val="accent6"/>
                </a:solidFill>
              </a:rPr>
              <a:t>zitten</a:t>
            </a:r>
            <a:r>
              <a:rPr lang="en-US" sz="2100" b="1" i="1" dirty="0">
                <a:solidFill>
                  <a:schemeClr val="accent3"/>
                </a:solidFill>
              </a:rPr>
              <a:t> stoppen</a:t>
            </a:r>
            <a:r>
              <a:rPr lang="en-US" sz="2100" i="1" dirty="0">
                <a:solidFill>
                  <a:schemeClr val="tx1"/>
                </a:solidFill>
              </a:rPr>
              <a:t>? Dank je!</a:t>
            </a:r>
            <a:endParaRPr lang="en-US" sz="21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mijn jas hangt aan de kapstok</a:t>
            </a:r>
            <a:r>
              <a:rPr lang="en-US" sz="1400" i="1" dirty="0">
                <a:solidFill>
                  <a:schemeClr val="accent5"/>
                </a:solidFill>
              </a:rPr>
              <a:t>. </a:t>
            </a:r>
            <a:r>
              <a:rPr lang="en-US" sz="1400" i="1" dirty="0">
                <a:solidFill>
                  <a:schemeClr val="accent5"/>
                </a:solidFill>
              </a:rPr>
              <a:t>de bril</a:t>
            </a:r>
            <a:r>
              <a:rPr lang="en-US" sz="1400" i="1" dirty="0">
                <a:solidFill>
                  <a:schemeClr val="accent5"/>
                </a:solidFill>
              </a:rPr>
              <a:t> = les lunettes (singulier !).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Qu’est-ce qui a changé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6675120" cy="4709160"/>
          </a:xfrm>
          <a:prstGeom prst="roundRect">
            <a:avLst>
              <a:gd name="adj" fmla="val 777"/>
            </a:avLst>
          </a:prstGeom>
          <a:solidFill>
            <a:srgbClr val="F7F3EA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756709"/>
            <a:ext cx="6675120" cy="1506931"/>
          </a:xfrm>
          <a:prstGeom prst="rect">
            <a:avLst/>
          </a:prstGeom>
          <a:solidFill>
            <a:srgbClr val="E9E1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182880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737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371600" y="1975104"/>
            <a:ext cx="914" cy="219456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2194560"/>
            <a:ext cx="160934" cy="914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pic>
        <p:nvPicPr>
          <p:cNvPr id="11" name="Image 0" descr="wind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737360"/>
            <a:ext cx="1280160" cy="1280160"/>
          </a:xfrm>
          <a:prstGeom prst="rect">
            <a:avLst/>
          </a:prstGeom>
        </p:spPr>
      </p:pic>
      <p:pic>
        <p:nvPicPr>
          <p:cNvPr id="12" name="Image 1" descr="framed pic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914400" cy="914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463040" y="4144518"/>
            <a:ext cx="4023360" cy="128016"/>
          </a:xfrm>
          <a:prstGeom prst="roundRect">
            <a:avLst>
              <a:gd name="adj" fmla="val 14286"/>
            </a:avLst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645920" y="4272534"/>
            <a:ext cx="109728" cy="1188720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212080" y="4272534"/>
            <a:ext cx="109728" cy="1188720"/>
          </a:xfrm>
          <a:prstGeom prst="rect">
            <a:avLst/>
          </a:prstGeom>
          <a:solidFill>
            <a:srgbClr val="8A6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lap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458718"/>
            <a:ext cx="731520" cy="731520"/>
          </a:xfrm>
          <a:prstGeom prst="rect">
            <a:avLst/>
          </a:prstGeom>
        </p:spPr>
      </p:pic>
      <p:pic>
        <p:nvPicPr>
          <p:cNvPr id="17" name="Image 3" descr="potted pl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275838"/>
            <a:ext cx="868680" cy="868680"/>
          </a:xfrm>
          <a:prstGeom prst="rect">
            <a:avLst/>
          </a:prstGeom>
        </p:spPr>
      </p:pic>
      <p:pic>
        <p:nvPicPr>
          <p:cNvPr id="18" name="Image 4" descr="open 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733038"/>
            <a:ext cx="548640" cy="548640"/>
          </a:xfrm>
          <a:prstGeom prst="rect">
            <a:avLst/>
          </a:prstGeom>
        </p:spPr>
      </p:pic>
      <p:pic>
        <p:nvPicPr>
          <p:cNvPr id="19" name="Image 5" descr="teacup without hand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733038"/>
            <a:ext cx="457200" cy="457200"/>
          </a:xfrm>
          <a:prstGeom prst="rect">
            <a:avLst/>
          </a:prstGeom>
        </p:spPr>
      </p:pic>
      <p:pic>
        <p:nvPicPr>
          <p:cNvPr id="20" name="Image 6" descr="cha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053078"/>
            <a:ext cx="1188720" cy="1188720"/>
          </a:xfrm>
          <a:prstGeom prst="rect">
            <a:avLst/>
          </a:prstGeom>
        </p:spPr>
      </p:pic>
      <p:pic>
        <p:nvPicPr>
          <p:cNvPr id="21" name="Image 7" descr="handba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4921758"/>
            <a:ext cx="731520" cy="731520"/>
          </a:xfrm>
          <a:prstGeom prst="rect">
            <a:avLst/>
          </a:prstGeom>
        </p:spPr>
      </p:pic>
      <p:pic>
        <p:nvPicPr>
          <p:cNvPr id="22" name="Image 8" descr="stopwat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1600200"/>
            <a:ext cx="822960" cy="82296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8412480" y="160020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Kim’s game</a:t>
            </a:r>
            <a:endParaRPr lang="en-US" sz="2200" dirty="0"/>
          </a:p>
        </p:txBody>
      </p:sp>
      <p:sp>
        <p:nvSpPr>
          <p:cNvPr id="24" name="Text 12"/>
          <p:cNvSpPr txBox="1"/>
          <p:nvPr/>
        </p:nvSpPr>
        <p:spPr>
          <a:xfrm>
            <a:off x="7498080" y="2560320"/>
            <a:ext cx="4142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Observez la classe pendant 1 minute.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Fermez les yeux : l’enseignant·e déplace 3 objets.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Dites ce qui a changé :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7498080" y="4434840"/>
            <a:ext cx="414223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7680960" y="44348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Je hebt de pen onder de stoel </a:t>
            </a:r>
            <a:r>
              <a:rPr lang="en-US" sz="1600" b="1" i="1" dirty="0">
                <a:solidFill>
                  <a:schemeClr val="tx1"/>
                </a:solidFill>
              </a:rPr>
              <a:t>gelegd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tas </a:t>
            </a:r>
            <a:r>
              <a:rPr lang="en-US" sz="1600" b="1" i="1" dirty="0">
                <a:solidFill>
                  <a:schemeClr val="tx1"/>
                </a:solidFill>
              </a:rPr>
              <a:t>staat</a:t>
            </a:r>
            <a:r>
              <a:rPr lang="en-US" sz="1600" i="1" dirty="0">
                <a:solidFill>
                  <a:schemeClr val="tx1"/>
                </a:solidFill>
              </a:rPr>
              <a:t> nu op de tafel.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De klok </a:t>
            </a:r>
            <a:r>
              <a:rPr lang="en-US" sz="1600" b="1" i="1" dirty="0">
                <a:solidFill>
                  <a:schemeClr val="tx1"/>
                </a:solidFill>
              </a:rPr>
              <a:t>hangt</a:t>
            </a:r>
            <a:r>
              <a:rPr lang="en-US" sz="1600" i="1" dirty="0">
                <a:solidFill>
                  <a:schemeClr val="tx1"/>
                </a:solidFill>
              </a:rPr>
              <a:t> niet meer aan de muur!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déménagement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Peeters &amp; Co déménage. An a le plan du nouveau bureau ; Karim place les objets sur un plan vide.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</a:t>
            </a:r>
            <a:r>
              <a:rPr lang="en-US" sz="1700" dirty="0">
                <a:solidFill>
                  <a:schemeClr val="tx1"/>
                </a:solidFill>
              </a:rPr>
              <a:t> : décrivez votre plan et donnez des ordres : </a:t>
            </a:r>
            <a:r>
              <a:rPr lang="en-US" sz="1700" i="1" dirty="0">
                <a:solidFill>
                  <a:schemeClr val="tx1"/>
                </a:solidFill>
              </a:rPr>
              <a:t>Zet… · Hang… · Leg…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dessinez sur le plan vide et vérifiez : </a:t>
            </a:r>
            <a:r>
              <a:rPr lang="en-US" sz="1700" i="1" dirty="0">
                <a:solidFill>
                  <a:schemeClr val="tx1"/>
                </a:solidFill>
              </a:rPr>
              <a:t>Staat de printer naast de deur?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Zet de kast tegen de muur. · Hang de klok boven de deur. · Leg de mappen in de kast. · Waar moet de printer staan? · Staat de plant goed zo? · Ja, perfect!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NIEUW KANTOOR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02752" y="2167128"/>
            <a:ext cx="3108960" cy="2103120"/>
          </a:xfrm>
          <a:prstGeom prst="rect">
            <a:avLst/>
          </a:prstGeom>
          <a:solidFill>
            <a:srgbClr val="F7F7F7"/>
          </a:solidFill>
          <a:ln w="25400">
            <a:solidFill>
              <a:srgbClr val="4A5A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20912" y="2167128"/>
            <a:ext cx="914" cy="210312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39072" y="2167128"/>
            <a:ext cx="914" cy="210312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57232" y="2167128"/>
            <a:ext cx="914" cy="210312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75392" y="2167128"/>
            <a:ext cx="914" cy="210312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893552" y="2167128"/>
            <a:ext cx="914" cy="210312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02752" y="2692908"/>
            <a:ext cx="3108960" cy="914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02752" y="3218688"/>
            <a:ext cx="3108960" cy="914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02752" y="3744468"/>
            <a:ext cx="3108960" cy="914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37192" y="4224528"/>
            <a:ext cx="64008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4288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deur</a:t>
            </a:r>
            <a:endParaRPr lang="en-US" sz="1000" dirty="0"/>
          </a:p>
        </p:txBody>
      </p:sp>
      <p:pic>
        <p:nvPicPr>
          <p:cNvPr id="33" name="Image 0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4590288"/>
            <a:ext cx="347472" cy="34747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668512" y="4572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het bureau</a:t>
            </a:r>
            <a:endParaRPr lang="en-US" sz="1200" dirty="0"/>
          </a:p>
        </p:txBody>
      </p:sp>
      <p:pic>
        <p:nvPicPr>
          <p:cNvPr id="35" name="Image 1" descr="file cabi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59028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0360152" y="4572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kast</a:t>
            </a:r>
            <a:endParaRPr lang="en-US" sz="1200" dirty="0"/>
          </a:p>
        </p:txBody>
      </p:sp>
      <p:pic>
        <p:nvPicPr>
          <p:cNvPr id="37" name="Image 2" descr="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001768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668512" y="4983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printer</a:t>
            </a:r>
            <a:endParaRPr lang="en-US" sz="1200" dirty="0"/>
          </a:p>
        </p:txBody>
      </p:sp>
      <p:pic>
        <p:nvPicPr>
          <p:cNvPr id="39" name="Image 3" descr="potted pl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5001768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360152" y="4983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plant</a:t>
            </a:r>
            <a:endParaRPr lang="en-US" sz="1200" dirty="0"/>
          </a:p>
        </p:txBody>
      </p:sp>
      <p:pic>
        <p:nvPicPr>
          <p:cNvPr id="41" name="Image 4" descr="three o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5413248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668512" y="5394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klok</a:t>
            </a:r>
            <a:endParaRPr lang="en-US" sz="1200" dirty="0"/>
          </a:p>
        </p:txBody>
      </p:sp>
      <p:pic>
        <p:nvPicPr>
          <p:cNvPr id="43" name="Image 5" descr="co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5413248"/>
            <a:ext cx="347472" cy="34747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360152" y="5394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kapstok</a:t>
            </a:r>
            <a:endParaRPr lang="en-US" sz="1200" dirty="0"/>
          </a:p>
        </p:txBody>
      </p:sp>
      <p:pic>
        <p:nvPicPr>
          <p:cNvPr id="45" name="Image 6" descr="mem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5824728"/>
            <a:ext cx="347472" cy="34747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668512" y="5806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het whiteboard</a:t>
            </a:r>
            <a:endParaRPr lang="en-US" sz="1200" dirty="0"/>
          </a:p>
        </p:txBody>
      </p:sp>
      <p:pic>
        <p:nvPicPr>
          <p:cNvPr id="47" name="Image 7" descr="hot bevera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8672" y="5824728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0360152" y="5806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de koffiemachine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 klok …… aan de muur. · Mijn sleutels …… in mijn tas.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Position ou action : </a:t>
            </a:r>
            <a:r>
              <a:rPr lang="en-US" sz="2000" i="1" dirty="0">
                <a:solidFill>
                  <a:schemeClr val="tx1"/>
                </a:solidFill>
              </a:rPr>
              <a:t>Ik (leg / lig) het dossier op tafel.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Mets la bouteille sur la table. »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Situer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Choisir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Décrire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Calendar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De toekomst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Wat ga je morgen doen?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17 — Zitten, staan, liggen, hangen — Les verbes de position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2026-10-04T18:33:16Z</dcterms:created>
  <dcterms:modified xsi:type="dcterms:W3CDTF">2026-10-04T18:33:16Z</dcterms:modified>
</cp:coreProperties>
</file>