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17d582f1-e75a-78a7-fd2a-eae0ff4f5553}">
          <p14:sldIdLst>
            <p14:sldId id="256"/>
          </p14:sldIdLst>
        </p14:section>
        <p14:section name="Découvrir" id="{1db84d03-70dd-ec10-0f03-306587189a7d}">
          <p14:sldIdLst>
            <p14:sldId id="257"/>
            <p14:sldId id="258"/>
          </p14:sldIdLst>
        </p14:section>
        <p14:section name="Comprendre" id="{4edbb448-112c-f585-bb20-997f083bb2a5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bab85d33-a6f5-1645-f625-803365523adc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13d96fe0-4fd9-b0f8-5e76-2de67db5c352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dire où sont les choses.
Montrez un stylo : posez-le à plat sur la table, puis debout dans un pot. « Où est le stylo ? » En français, la réponse ne change pas. En néerlandais, 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Ces quatre verbes remplacent très souvent zijn : la question Waar is…? appelle une réponse avec ligt, staat, zit ou hangt.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quatre verbes par l'observation.
Faites deviner la logique avant de la donner : à plat, debout, suspendu, dedans. Les apprenants miment chaque position avec la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le critère de chaque verbe.
De auto staat in de garage : un véhicule « est debout » sur ses roues (Mijn fiets staat buiten). Pour les personnes : zitten = être assis, staan = être debout, liggen = être couché.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c'est la position réelle qui décide, pas l'objet.
Faites l'expérience en classe avec une bouteille d'eau et un livre. Question-piège : Waar is mijn gsm? Dans la poche : Hij zit in mijn zak. Sur la table : Hij ligt op tafel.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Élargir l'emploi de zitten : contenu et personnes.
de la = le tiroir. in een vergadering zitten = être en réunion (donc occupé). Waar zit je? est très fréquent au téléphone en Flandre.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Remplacer is par le verbe de position.
is n'est pas toujours faux, mais il sonne étrange pour un objet que l'on situe. Villes, pays, bâtiments : liggen (Gent ligt aan de Schelde). Un texte écrit : staan (Het staat in de mail, M10).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les prépositions avec les verbes de position.
op = sur, avec contact ; boven = au-dessus, sans contact. aan = accroché à (aan de muur). tussen = entre (tussen de kast en de deur).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 verbe de position du verbe d'action « mettre ».
hangen sert aux deux. stoppen in = mettre dans (en Flandre, aussi steken). Pour les personnes, l'action se dit avec gaan : gaan zitten, gaan liggen, gaan staan (M16 : Ga zitten!).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« mettre » selon la position finale de l'objet.
Question-réflexe : « À la fin, l'objet sera couché, debout, suspendu ou dedans ? » Attention : de tas = le sac, pas la tasse (het kopje). aanzetten = allumer (Zet de printer aan,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 participe des verbes de position et d'action (lien M15).
gelegd, gezet sont réguliers (SoFT KetCHuP, M15). gezeten, gestaan, gelegen, gehangen sont irréguliers. En Flandre, on entend Ik ben … gezeten ; la norme reste hebben. Teaser M19 : à l'imparfait, zat, stond, lag, 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zitten / staan / liggen + te + infinitif.
Très fréquent à l'oral : la posture et l'action en même temps. aan het + infinitif (Ik ben aan het koken) est la forme neutre. À reconnaître seulement en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Une armoire, un garage, une pièce ne sont pas des contenants : la position compte (De kopjes staan in de kast. · De auto staat in de garage.).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Réutiliser les verbes de position et d'action à l'oral, au passé composé.
Variante en équipes : chaque équipe déplace 2 objets pour l'autre. Exigez le bon verbe et la bonne préposition. Le passé composé (gelegd, gezet, gehangen) réactive le M15.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aménager un nouveau bureau.
Comparez ensuite les deux plans : Nee, de printer staat niet naast de deur, hij staat in de hoek. tegen de muur = contre le mur ; in de hoek = dans le coin.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hangt · zitten.
2. leg.
3. Zet de fles op tafel.
Teaser M18 : Wat ga je morgen doen?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17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Zitten, staan, liggen, hangen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verbes de position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Waar is mijn sleutel? — Hij ligt op tafel.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4652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2084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76872" y="122163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2668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09828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7260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52483" y="177393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7844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4652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949440" y="3247034"/>
            <a:ext cx="457200" cy="547726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62088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20840" y="3849624"/>
            <a:ext cx="91440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09828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72600" y="2697480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65792" y="27889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955548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2980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445752" y="32004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37844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446520" y="4434840"/>
            <a:ext cx="5120640" cy="868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4572000"/>
            <a:ext cx="594360" cy="59436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315200" y="443484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is</a:t>
            </a: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mijn sleutel?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Situer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où se trouve une chose : </a:t>
            </a:r>
            <a:r>
              <a:rPr lang="en-US" sz="2000" i="1" dirty="0">
                <a:solidFill>
                  <a:schemeClr val="tx1"/>
                </a:solidFill>
              </a:rPr>
              <a:t>De klok hangt aan de muur.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la position et l’action : </a:t>
            </a:r>
            <a:r>
              <a:rPr lang="en-US" sz="2000" i="1" dirty="0">
                <a:solidFill>
                  <a:schemeClr val="tx1"/>
                </a:solidFill>
              </a:rPr>
              <a:t>ligt / legt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mon bureau et je range.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Ces quatre verbes remplacent très souvent </a:t>
            </a:r>
            <a:r>
              <a:rPr lang="en-US" sz="1700" i="1" dirty="0">
                <a:solidFill>
                  <a:schemeClr val="tx1"/>
                </a:solidFill>
              </a:rPr>
              <a:t>zijn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Waar is…?</a:t>
            </a:r>
            <a:r>
              <a:rPr lang="en-US" sz="1700" dirty="0">
                <a:solidFill>
                  <a:schemeClr val="tx1"/>
                </a:solidFill>
              </a:rPr>
              <a:t> appelle </a:t>
            </a:r>
            <a:r>
              <a:rPr lang="en-US" sz="1700" i="1" dirty="0">
                <a:solidFill>
                  <a:schemeClr val="tx1"/>
                </a:solidFill>
              </a:rPr>
              <a:t>ligt, staat, zit</a:t>
            </a:r>
            <a:r>
              <a:rPr lang="en-US" sz="1700" dirty="0">
                <a:solidFill>
                  <a:schemeClr val="tx1"/>
                </a:solidFill>
              </a:rPr>
              <a:t> ou </a:t>
            </a:r>
            <a:r>
              <a:rPr lang="en-US" sz="1700" i="1" dirty="0">
                <a:solidFill>
                  <a:schemeClr val="tx1"/>
                </a:solidFill>
              </a:rPr>
              <a:t>hangt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où sont les choses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6454" y="2240280"/>
            <a:ext cx="1005840" cy="10058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livre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0" name="tag"/>
          <p:cNvSpPr/>
          <p:nvPr/>
        </p:nvSpPr>
        <p:spPr>
          <a:xfrm>
            <a:off x="1392174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liggen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378708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653028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50842" y="1984248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606290" y="1682496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88002" y="1572768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515868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bouteille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3515868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fles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8" name="tag"/>
          <p:cNvSpPr/>
          <p:nvPr/>
        </p:nvSpPr>
        <p:spPr>
          <a:xfrm>
            <a:off x="4222242" y="4754880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staan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08776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83096" y="1737360"/>
            <a:ext cx="2052828" cy="1435608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052310" y="1965960"/>
            <a:ext cx="914400" cy="9144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V="1">
            <a:off x="7509510" y="214884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509510" y="2423160"/>
            <a:ext cx="201168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45936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L’horloge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au mur.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6345936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26" name="tag"/>
          <p:cNvSpPr/>
          <p:nvPr/>
        </p:nvSpPr>
        <p:spPr>
          <a:xfrm>
            <a:off x="7052310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hangen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038844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1" descr="handb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3778" y="1783080"/>
            <a:ext cx="1371600" cy="1371600"/>
          </a:xfrm>
          <a:prstGeom prst="rect">
            <a:avLst/>
          </a:prstGeom>
        </p:spPr>
      </p:pic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2418" y="1965960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176004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clé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dans le sac.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9176004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tas.</a:t>
            </a:r>
            <a:endParaRPr lang="en-US" sz="1900" dirty="0"/>
          </a:p>
        </p:txBody>
      </p:sp>
      <p:sp>
        <p:nvSpPr>
          <p:cNvPr id="32" name="tag"/>
          <p:cNvSpPr/>
          <p:nvPr/>
        </p:nvSpPr>
        <p:spPr>
          <a:xfrm>
            <a:off x="9882378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zitten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285232"/>
            <a:ext cx="822960" cy="82296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828800" y="5120640"/>
            <a:ext cx="9601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En français : « </a:t>
            </a:r>
            <a:r>
              <a:rPr lang="en-US" sz="2000" b="1" dirty="0">
                <a:solidFill>
                  <a:schemeClr val="tx1"/>
                </a:solidFill>
              </a:rPr>
              <a:t>est</a:t>
            </a:r>
            <a:r>
              <a:rPr lang="en-US" sz="2000" dirty="0">
                <a:solidFill>
                  <a:schemeClr val="tx1"/>
                </a:solidFill>
              </a:rPr>
              <a:t> » × 4. En néerlandais : </a:t>
            </a:r>
            <a:r>
              <a:rPr lang="en-US" sz="2000" b="1" dirty="0">
                <a:solidFill>
                  <a:schemeClr val="tx1"/>
                </a:solidFill>
              </a:rPr>
              <a:t>4 verbes</a:t>
            </a:r>
            <a:r>
              <a:rPr lang="en-US" sz="2000" dirty="0">
                <a:solidFill>
                  <a:schemeClr val="tx1"/>
                </a:solidFill>
              </a:rPr>
              <a:t> !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Quelle est la logique 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quatre 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272159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665351" y="245607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debout, sur sa base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fles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op tafel.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boeken </a:t>
            </a:r>
            <a:r>
              <a:rPr lang="en-US" sz="1600" b="1" i="1" dirty="0">
                <a:solidFill>
                  <a:schemeClr val="tx1"/>
                </a:solidFill>
              </a:rPr>
              <a:t>staan</a:t>
            </a:r>
            <a:r>
              <a:rPr lang="en-US" sz="1600" i="1" dirty="0">
                <a:solidFill>
                  <a:schemeClr val="tx1"/>
                </a:solidFill>
              </a:rPr>
              <a:t> in de kast.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auto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in de garage.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367278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67278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67278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090797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07840" y="300837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458718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plat, couché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504438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pen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het bureau.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krant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de stoel.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lig</a:t>
            </a:r>
            <a:r>
              <a:rPr lang="en-US" sz="1600" i="1" dirty="0">
                <a:solidFill>
                  <a:schemeClr val="tx1"/>
                </a:solidFill>
              </a:rPr>
              <a:t> in bed.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185916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185916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85916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183755" y="2789834"/>
            <a:ext cx="640080" cy="547726"/>
          </a:xfrm>
          <a:prstGeom prst="roundRect">
            <a:avLst>
              <a:gd name="adj" fmla="val 1001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55155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979283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955155" y="3392424"/>
            <a:ext cx="109728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77356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dans un contenant (sac, poche, boîte)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323076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sleutel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in mijn tas.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Er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koffie in de thermos.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9004554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004554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004554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9728073" y="2240280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258425" y="23317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1004811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32243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938385" y="27432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095994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suspendu, accroché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9141714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muur.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jas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kapstok.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Même objet, autre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737360" y="2194560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892808" y="1892808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874520" y="1783080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ag"/>
          <p:cNvSpPr/>
          <p:nvPr/>
        </p:nvSpPr>
        <p:spPr>
          <a:xfrm>
            <a:off x="1618488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61188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931920" y="2788920"/>
            <a:ext cx="1051560" cy="45720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56048" y="2944368"/>
            <a:ext cx="365760" cy="146304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03520" y="2926080"/>
            <a:ext cx="128016" cy="182880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ag"/>
          <p:cNvSpPr/>
          <p:nvPr/>
        </p:nvSpPr>
        <p:spPr>
          <a:xfrm>
            <a:off x="4315968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834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227064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92824" y="1783080"/>
            <a:ext cx="2148840" cy="1554480"/>
          </a:xfrm>
          <a:prstGeom prst="roundRect">
            <a:avLst>
              <a:gd name="adj" fmla="val 1176"/>
            </a:avLst>
          </a:prstGeom>
          <a:noFill/>
          <a:ln w="25400">
            <a:solidFill>
              <a:srgbClr val="9C7A5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77570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2142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4146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8718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0722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55294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296912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290304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747504" y="2953512"/>
            <a:ext cx="1188720" cy="292608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57232" y="2953512"/>
            <a:ext cx="7315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9994392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513064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6501384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in de kast.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548640" y="502920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22960" y="50292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 regarde la </a:t>
            </a:r>
            <a:r>
              <a:rPr lang="en-US" sz="1800" b="1" dirty="0">
                <a:solidFill>
                  <a:schemeClr val="bg1"/>
                </a:solidFill>
              </a:rPr>
              <a:t>position de l’objet à ce moment-là</a:t>
            </a:r>
            <a:r>
              <a:rPr lang="en-US" sz="1800" dirty="0">
                <a:solidFill>
                  <a:schemeClr val="bg1"/>
                </a:solidFill>
              </a:rPr>
              <a:t>, pas l’objet lui-même. </a:t>
            </a:r>
            <a:r>
              <a:rPr lang="en-US" sz="1800" i="1" dirty="0">
                <a:solidFill>
                  <a:schemeClr val="bg1"/>
                </a:solidFill>
              </a:rPr>
              <a:t>Mijn gsm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in mijn zak · </a:t>
            </a:r>
            <a:r>
              <a:rPr lang="en-US" sz="1800" b="1" i="1" dirty="0">
                <a:solidFill>
                  <a:schemeClr val="bg1"/>
                </a:solidFill>
              </a:rPr>
              <a:t>ligt</a:t>
            </a:r>
            <a:r>
              <a:rPr lang="en-US" sz="1800" i="1" dirty="0">
                <a:solidFill>
                  <a:schemeClr val="bg1"/>
                </a:solidFill>
              </a:rPr>
              <a:t> op tafel.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Zitten : dedans… et les personnes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DEDANS</a:t>
            </a:r>
            <a:endParaRPr lang="en-US" sz="1700" dirty="0"/>
          </a:p>
        </p:txBody>
      </p:sp>
      <p:pic>
        <p:nvPicPr>
          <p:cNvPr id="8" name="Image 0" descr="pu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86000"/>
            <a:ext cx="777240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37360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pic>
        <p:nvPicPr>
          <p:cNvPr id="10" name="Image 1" descr="honey p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10128"/>
            <a:ext cx="777240" cy="7772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37360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suiker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pot.</a:t>
            </a:r>
            <a:endParaRPr lang="en-US" sz="1900" dirty="0"/>
          </a:p>
        </p:txBody>
      </p:sp>
      <p:pic>
        <p:nvPicPr>
          <p:cNvPr id="12" name="Image 2" descr="card file bo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334256"/>
            <a:ext cx="777240" cy="7772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737360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documenten </a:t>
            </a:r>
            <a:r>
              <a:rPr lang="en-US" sz="1900" b="1" i="1" dirty="0">
                <a:solidFill>
                  <a:schemeClr val="tx1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de la.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6227064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LES PERSONNES</a:t>
            </a:r>
            <a:endParaRPr lang="en-US" sz="1700" dirty="0"/>
          </a:p>
        </p:txBody>
      </p:sp>
      <p:pic>
        <p:nvPicPr>
          <p:cNvPr id="17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2286000"/>
            <a:ext cx="777240" cy="77724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415784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pic>
        <p:nvPicPr>
          <p:cNvPr id="19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3310128"/>
            <a:ext cx="777240" cy="7772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415784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trein.</a:t>
            </a:r>
            <a:endParaRPr lang="en-US" sz="1900" dirty="0"/>
          </a:p>
        </p:txBody>
      </p:sp>
      <p:pic>
        <p:nvPicPr>
          <p:cNvPr id="21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334256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7415784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An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een vergadering.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822960" y="55321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Waar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je?</a:t>
            </a:r>
            <a:r>
              <a:rPr lang="en-US" sz="1800" dirty="0">
                <a:solidFill>
                  <a:schemeClr val="bg1"/>
                </a:solidFill>
              </a:rPr>
              <a:t> = Où es-tu ? (familier, très courant au téléphone en Flandre) · </a:t>
            </a:r>
            <a:r>
              <a:rPr lang="en-US" sz="1800" i="1" dirty="0">
                <a:solidFill>
                  <a:schemeClr val="bg1"/>
                </a:solidFill>
              </a:rPr>
              <a:t>de la</a:t>
            </a:r>
            <a:r>
              <a:rPr lang="en-US" sz="1800" dirty="0">
                <a:solidFill>
                  <a:schemeClr val="bg1"/>
                </a:solidFill>
              </a:rPr>
              <a:t> = le tiroir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être » ne suffit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9456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210312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Mes clés </a:t>
            </a:r>
            <a:r>
              <a:rPr lang="en-US" sz="1600" b="1" dirty="0">
                <a:solidFill>
                  <a:schemeClr val="tx1"/>
                </a:solidFill>
              </a:rPr>
              <a:t>sont</a:t>
            </a:r>
            <a:r>
              <a:rPr lang="en-US" sz="1600" dirty="0">
                <a:solidFill>
                  <a:schemeClr val="tx1"/>
                </a:solidFill>
              </a:rPr>
              <a:t> dans mon sac.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031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Mijn sleutels zijn in mijn tas.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726680" y="2487168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01000" y="2176272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21762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Mijn sleutels </a:t>
            </a:r>
            <a:r>
              <a:rPr lang="en-US" sz="1700" b="1" i="1" dirty="0">
                <a:solidFill>
                  <a:schemeClr val="accent1"/>
                </a:solidFill>
              </a:rPr>
              <a:t>zitten</a:t>
            </a:r>
            <a:r>
              <a:rPr lang="en-US" sz="1700" i="1" dirty="0">
                <a:solidFill>
                  <a:schemeClr val="tx1"/>
                </a:solidFill>
              </a:rPr>
              <a:t> in mijn tas.</a:t>
            </a:r>
            <a:endParaRPr lang="en-US" sz="1700" dirty="0"/>
          </a:p>
        </p:txBody>
      </p:sp>
      <p:pic>
        <p:nvPicPr>
          <p:cNvPr id="13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054096"/>
            <a:ext cx="594360" cy="5943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296265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Le tableau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au mur.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96265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Het schilderij is aan de muur.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726680" y="3346704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01000" y="3035808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92440" y="30358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 schilderij </a:t>
            </a:r>
            <a:r>
              <a:rPr lang="en-US" sz="1700" b="1" i="1" dirty="0">
                <a:solidFill>
                  <a:schemeClr val="accent4"/>
                </a:solidFill>
              </a:rPr>
              <a:t>hangt</a:t>
            </a:r>
            <a:r>
              <a:rPr lang="en-US" sz="1700" i="1" dirty="0">
                <a:solidFill>
                  <a:schemeClr val="tx1"/>
                </a:solidFill>
              </a:rPr>
              <a:t> aan de muur.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13632"/>
            <a:ext cx="594360" cy="5943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63040" y="382219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Bruxelles </a:t>
            </a:r>
            <a:r>
              <a:rPr lang="en-US" sz="1600" b="1" dirty="0">
                <a:solidFill>
                  <a:schemeClr val="tx1"/>
                </a:solidFill>
              </a:rPr>
              <a:t>se trouve</a:t>
            </a:r>
            <a:r>
              <a:rPr lang="en-US" sz="1600" dirty="0">
                <a:solidFill>
                  <a:schemeClr val="tx1"/>
                </a:solidFill>
              </a:rPr>
              <a:t> en Belgique. »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7726680" y="4206240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8001000" y="3895344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92440" y="389534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Brussel </a:t>
            </a:r>
            <a:r>
              <a:rPr lang="en-US" sz="1700" b="1" i="1" dirty="0">
                <a:solidFill>
                  <a:schemeClr val="accent3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in België.</a:t>
            </a:r>
            <a:endParaRPr lang="en-US" sz="1700" dirty="0"/>
          </a:p>
        </p:txBody>
      </p:sp>
      <p:pic>
        <p:nvPicPr>
          <p:cNvPr id="24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773168"/>
            <a:ext cx="594360" cy="5943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463040" y="468172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Qu’est-ce qui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écrit ? »</a:t>
            </a:r>
            <a:endParaRPr lang="en-US" sz="1600" dirty="0"/>
          </a:p>
        </p:txBody>
      </p:sp>
      <p:sp>
        <p:nvSpPr>
          <p:cNvPr id="26" name="Shape 19"/>
          <p:cNvSpPr/>
          <p:nvPr/>
        </p:nvSpPr>
        <p:spPr>
          <a:xfrm>
            <a:off x="7726680" y="5065776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8001000" y="4754880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092440" y="4754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Wat </a:t>
            </a:r>
            <a:r>
              <a:rPr lang="en-US" sz="1700" b="1" i="1" dirty="0">
                <a:solidFill>
                  <a:schemeClr val="accent2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er?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Villes, pays : </a:t>
            </a:r>
            <a:r>
              <a:rPr lang="en-US" sz="1700" i="1" dirty="0">
                <a:solidFill>
                  <a:schemeClr val="bg1"/>
                </a:solidFill>
              </a:rPr>
              <a:t>liggen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Gent ligt aan de Schelde</a:t>
            </a:r>
            <a:r>
              <a:rPr lang="en-US" sz="1700" dirty="0">
                <a:solidFill>
                  <a:schemeClr val="bg1"/>
                </a:solidFill>
              </a:rPr>
              <a:t>) · un texte : </a:t>
            </a:r>
            <a:r>
              <a:rPr lang="en-US" sz="1700" i="1" dirty="0">
                <a:solidFill>
                  <a:schemeClr val="bg1"/>
                </a:solidFill>
              </a:rPr>
              <a:t>staan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Het staat in de mail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prépositions de lieu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74420" y="192938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81051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op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97180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0896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7580" y="24597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3367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39496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53212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20740" y="249631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69280" y="19293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5683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onder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8580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436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463040" y="3959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81051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naast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297180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10896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246120" y="3557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497580" y="3977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23367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voor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39496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53212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236208" y="3483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6928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65683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achter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4864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8580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315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1440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74420" y="54223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81051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tussen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297180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10896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2461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634740" y="4572000"/>
            <a:ext cx="914" cy="5486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3497580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23367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boven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539496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53212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623560" y="4572000"/>
            <a:ext cx="868680" cy="1078992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783580" y="4754880"/>
            <a:ext cx="548640" cy="5486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6057900" y="4864608"/>
            <a:ext cx="914" cy="164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057900" y="5029200"/>
            <a:ext cx="120701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5683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aan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8046720" y="1554480"/>
            <a:ext cx="3593592" cy="4279392"/>
          </a:xfrm>
          <a:prstGeom prst="roundRect">
            <a:avLst>
              <a:gd name="adj" fmla="val 20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9600" y="16459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EN PHRASE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229600" y="2011680"/>
            <a:ext cx="324612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bal </a:t>
            </a:r>
            <a:r>
              <a:rPr lang="en-US" sz="1800" b="1" i="1" dirty="0">
                <a:solidFill>
                  <a:schemeClr val="tx1"/>
                </a:solidFill>
              </a:rPr>
              <a:t>ligt onder</a:t>
            </a:r>
            <a:r>
              <a:rPr lang="en-US" sz="1800" i="1" dirty="0">
                <a:solidFill>
                  <a:schemeClr val="tx1"/>
                </a:solidFill>
              </a:rPr>
              <a:t> de doos.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lamp </a:t>
            </a:r>
            <a:r>
              <a:rPr lang="en-US" sz="1800" b="1" i="1" dirty="0">
                <a:solidFill>
                  <a:schemeClr val="tx1"/>
                </a:solidFill>
              </a:rPr>
              <a:t>hangt boven</a:t>
            </a:r>
            <a:r>
              <a:rPr lang="en-US" sz="1800" i="1" dirty="0">
                <a:solidFill>
                  <a:schemeClr val="tx1"/>
                </a:solidFill>
              </a:rPr>
              <a:t> de tafel.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</a:t>
            </a:r>
            <a:r>
              <a:rPr lang="en-US" sz="1800" b="1" i="1" dirty="0">
                <a:solidFill>
                  <a:schemeClr val="tx1"/>
                </a:solidFill>
              </a:rPr>
              <a:t>staat naast</a:t>
            </a:r>
            <a:r>
              <a:rPr lang="en-US" sz="1800" i="1" dirty="0">
                <a:solidFill>
                  <a:schemeClr val="tx1"/>
                </a:solidFill>
              </a:rPr>
              <a:t> de kast.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klok </a:t>
            </a:r>
            <a:r>
              <a:rPr lang="en-US" sz="1800" b="1" i="1" dirty="0">
                <a:solidFill>
                  <a:schemeClr val="tx1"/>
                </a:solidFill>
              </a:rPr>
              <a:t>hangt aan</a:t>
            </a:r>
            <a:r>
              <a:rPr lang="en-US" sz="1800" i="1" dirty="0">
                <a:solidFill>
                  <a:schemeClr val="tx1"/>
                </a:solidFill>
              </a:rPr>
              <a:t> de muur.</a:t>
            </a:r>
            <a:endParaRPr lang="en-US" sz="1800" dirty="0"/>
          </a:p>
        </p:txBody>
      </p:sp>
      <p:sp>
        <p:nvSpPr>
          <p:cNvPr id="58" name="Text 55"/>
          <p:cNvSpPr txBox="1"/>
          <p:nvPr/>
        </p:nvSpPr>
        <p:spPr>
          <a:xfrm>
            <a:off x="548640" y="594360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op</a:t>
            </a:r>
            <a:r>
              <a:rPr lang="en-US" sz="1500" i="1" dirty="0">
                <a:solidFill>
                  <a:schemeClr val="accent5"/>
                </a:solidFill>
              </a:rPr>
              <a:t> = sur (contact) · </a:t>
            </a:r>
            <a:r>
              <a:rPr lang="en-US" sz="1500" i="1" dirty="0">
                <a:solidFill>
                  <a:schemeClr val="accent5"/>
                </a:solidFill>
              </a:rPr>
              <a:t>boven</a:t>
            </a:r>
            <a:r>
              <a:rPr lang="en-US" sz="1500" i="1" dirty="0">
                <a:solidFill>
                  <a:schemeClr val="accent5"/>
                </a:solidFill>
              </a:rPr>
              <a:t> = au-dessus (sans contact) · </a:t>
            </a:r>
            <a:r>
              <a:rPr lang="en-US" sz="1500" i="1" dirty="0">
                <a:solidFill>
                  <a:schemeClr val="accent5"/>
                </a:solidFill>
              </a:rPr>
              <a:t>aan</a:t>
            </a:r>
            <a:r>
              <a:rPr lang="en-US" sz="1500" i="1" dirty="0">
                <a:solidFill>
                  <a:schemeClr val="accent5"/>
                </a:solidFill>
              </a:rPr>
              <a:t> = accroché à · </a:t>
            </a:r>
            <a:r>
              <a:rPr lang="en-US" sz="1500" i="1" dirty="0">
                <a:solidFill>
                  <a:schemeClr val="accent5"/>
                </a:solidFill>
              </a:rPr>
              <a:t>tussen</a:t>
            </a:r>
            <a:r>
              <a:rPr lang="en-US" sz="1500" i="1" dirty="0">
                <a:solidFill>
                  <a:schemeClr val="accent5"/>
                </a:solidFill>
              </a:rPr>
              <a:t> = entre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Hand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347472" cy="34747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0584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ACTION — je mets</a:t>
            </a:r>
            <a:endParaRPr lang="en-US" sz="1500" dirty="0"/>
          </a:p>
        </p:txBody>
      </p:sp>
      <p:pic>
        <p:nvPicPr>
          <p:cNvPr id="7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72768"/>
            <a:ext cx="347472" cy="34747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85800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POSITION — le résultat</a:t>
            </a:r>
            <a:endParaRPr lang="en-US" sz="1500" dirty="0"/>
          </a:p>
        </p:txBody>
      </p:sp>
      <p:sp>
        <p:nvSpPr>
          <p:cNvPr id="9" name="Shape 4"/>
          <p:cNvSpPr/>
          <p:nvPr/>
        </p:nvSpPr>
        <p:spPr>
          <a:xfrm>
            <a:off x="548640" y="205740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dash"/>
          </a:ln>
        </p:spPr>
      </p:sp>
      <p:sp>
        <p:nvSpPr>
          <p:cNvPr id="10" name="Text 5"/>
          <p:cNvSpPr txBox="1"/>
          <p:nvPr/>
        </p:nvSpPr>
        <p:spPr>
          <a:xfrm>
            <a:off x="731520" y="2057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het boek op tafel.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035040" y="2423160"/>
            <a:ext cx="32004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6400800" y="205740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5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0" y="20574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548640" y="292608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dash"/>
          </a:ln>
        </p:spPr>
      </p:sp>
      <p:sp>
        <p:nvSpPr>
          <p:cNvPr id="15" name="Text 10"/>
          <p:cNvSpPr txBox="1"/>
          <p:nvPr/>
        </p:nvSpPr>
        <p:spPr>
          <a:xfrm>
            <a:off x="731520" y="29260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zet</a:t>
            </a:r>
            <a:r>
              <a:rPr lang="en-US" sz="1900" i="1" dirty="0">
                <a:solidFill>
                  <a:schemeClr val="tx1"/>
                </a:solidFill>
              </a:rPr>
              <a:t> de vaas op tafel.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6035040" y="3291840"/>
            <a:ext cx="32004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400800" y="292608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2">
              <a:alpha val="15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583680" y="29260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vaas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dash"/>
          </a:ln>
        </p:spPr>
      </p:sp>
      <p:sp>
        <p:nvSpPr>
          <p:cNvPr id="20" name="Text 15"/>
          <p:cNvSpPr txBox="1"/>
          <p:nvPr/>
        </p:nvSpPr>
        <p:spPr>
          <a:xfrm>
            <a:off x="731520" y="37947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hang</a:t>
            </a:r>
            <a:r>
              <a:rPr lang="en-US" sz="1900" i="1" dirty="0">
                <a:solidFill>
                  <a:schemeClr val="tx1"/>
                </a:solidFill>
              </a:rPr>
              <a:t> mijn jas aan de kapstok.</a:t>
            </a:r>
            <a:endParaRPr lang="en-US" sz="1900" dirty="0"/>
          </a:p>
        </p:txBody>
      </p:sp>
      <p:sp>
        <p:nvSpPr>
          <p:cNvPr id="21" name="Shape 16"/>
          <p:cNvSpPr/>
          <p:nvPr/>
        </p:nvSpPr>
        <p:spPr>
          <a:xfrm>
            <a:off x="6035040" y="4160520"/>
            <a:ext cx="32004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400800" y="379476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4">
              <a:alpha val="15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583680" y="37947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Mijn jas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kapstok.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548640" y="466344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5" name="Text 20"/>
          <p:cNvSpPr txBox="1"/>
          <p:nvPr/>
        </p:nvSpPr>
        <p:spPr>
          <a:xfrm>
            <a:off x="731520" y="46634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i="1" dirty="0">
                <a:solidFill>
                  <a:schemeClr val="tx1"/>
                </a:solidFill>
              </a:rPr>
              <a:t> de sleutel in mijn tas.</a:t>
            </a:r>
            <a:endParaRPr lang="en-US" sz="1900" dirty="0"/>
          </a:p>
        </p:txBody>
      </p:sp>
      <p:sp>
        <p:nvSpPr>
          <p:cNvPr id="26" name="Shape 21"/>
          <p:cNvSpPr/>
          <p:nvPr/>
        </p:nvSpPr>
        <p:spPr>
          <a:xfrm>
            <a:off x="6035040" y="5029200"/>
            <a:ext cx="3200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6400800" y="466344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5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583680" y="4663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tas.</a:t>
            </a:r>
            <a:endParaRPr lang="en-US" sz="1900" dirty="0"/>
          </a:p>
        </p:txBody>
      </p:sp>
      <p:sp>
        <p:nvSpPr>
          <p:cNvPr id="29" name="Shape 2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hangen</a:t>
            </a:r>
            <a:r>
              <a:rPr lang="en-US" sz="1700" dirty="0">
                <a:solidFill>
                  <a:schemeClr val="bg1"/>
                </a:solidFill>
              </a:rPr>
              <a:t> sert aux deux · </a:t>
            </a:r>
            <a:r>
              <a:rPr lang="en-US" sz="1700" i="1" dirty="0">
                <a:solidFill>
                  <a:schemeClr val="bg1"/>
                </a:solidFill>
              </a:rPr>
              <a:t>stoppen in</a:t>
            </a:r>
            <a:r>
              <a:rPr lang="en-US" sz="1700" dirty="0">
                <a:solidFill>
                  <a:schemeClr val="bg1"/>
                </a:solidFill>
              </a:rPr>
              <a:t> = mettre dans · personnes : </a:t>
            </a:r>
            <a:r>
              <a:rPr lang="en-US" sz="1700" i="1" dirty="0">
                <a:solidFill>
                  <a:schemeClr val="bg1"/>
                </a:solidFill>
              </a:rPr>
              <a:t>gaan zitten / liggen / staan</a:t>
            </a:r>
            <a:r>
              <a:rPr lang="en-US" sz="1700" dirty="0">
                <a:solidFill>
                  <a:schemeClr val="bg1"/>
                </a:solidFill>
              </a:rPr>
              <a:t> (M16)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mettre » = quatre verbes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77240" y="3154680"/>
            <a:ext cx="182880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3154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« mettre »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 flipV="1">
            <a:off x="2651760" y="2148840"/>
            <a:ext cx="411480" cy="141732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108960" y="189280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08960" y="189280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leggen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1828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le dossier sur la table. »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18288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Leg het dossier op tafel.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 flipV="1">
            <a:off x="2651760" y="2880360"/>
            <a:ext cx="411480" cy="685800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108960" y="262432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08960" y="262432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zetten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4617720" y="2560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tasse sur la table. 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955280" y="25603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Zet het kopje op tafel.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2651760" y="3566160"/>
            <a:ext cx="411480" cy="45720"/>
          </a:xfrm>
          <a:prstGeom prst="line">
            <a:avLst/>
          </a:prstGeom>
          <a:noFill/>
          <a:ln w="254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3108960" y="335584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08960" y="335584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hangen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3291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au portemanteau. »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329184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Hang je jas aan de kapstok.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2651760" y="3566160"/>
            <a:ext cx="411480" cy="77724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3108960" y="408736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408736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stoppen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4617720" y="40233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clé dans ton sac. »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955280" y="402336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Stop de sleutel in je tas.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2651760" y="3566160"/>
            <a:ext cx="411480" cy="1508760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3108960" y="481888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108960" y="481888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aandoen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4617720" y="47548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! » (enfiler)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955280" y="47548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Doe je jas aan! (M11)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Réflexe : à la fin, l’objet sera </a:t>
            </a:r>
            <a:r>
              <a:rPr lang="en-US" sz="1800" b="1" dirty="0">
                <a:solidFill>
                  <a:schemeClr val="bg1"/>
                </a:solidFill>
              </a:rPr>
              <a:t>couché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debout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suspendu</a:t>
            </a:r>
            <a:r>
              <a:rPr lang="en-US" sz="1800" dirty="0">
                <a:solidFill>
                  <a:schemeClr val="bg1"/>
                </a:solidFill>
              </a:rPr>
              <a:t> ou </a:t>
            </a:r>
            <a:r>
              <a:rPr lang="en-US" sz="1800" b="1" dirty="0">
                <a:solidFill>
                  <a:schemeClr val="bg1"/>
                </a:solidFill>
              </a:rPr>
              <a:t>dedans</a:t>
            </a:r>
            <a:r>
              <a:rPr lang="en-US" sz="1800" dirty="0">
                <a:solidFill>
                  <a:schemeClr val="bg1"/>
                </a:solidFill>
              </a:rPr>
              <a:t>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passé composé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POSITION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lang </a:t>
            </a:r>
            <a:r>
              <a:rPr lang="en-US" sz="1900" b="1" i="1" dirty="0">
                <a:solidFill>
                  <a:schemeClr val="accent6"/>
                </a:solidFill>
              </a:rPr>
              <a:t>gezeten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We hebben een uur </a:t>
            </a:r>
            <a:r>
              <a:rPr lang="en-US" sz="1900" b="1" i="1" dirty="0">
                <a:solidFill>
                  <a:schemeClr val="accent6"/>
                </a:solidFill>
              </a:rPr>
              <a:t>gestaan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heeft daar </a:t>
            </a:r>
            <a:r>
              <a:rPr lang="en-US" sz="1900" b="1" i="1" dirty="0">
                <a:solidFill>
                  <a:schemeClr val="accent6"/>
                </a:solidFill>
              </a:rPr>
              <a:t>gelegen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jas heeft daar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irréguliers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27064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ACTION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501384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het boek op tafel </a:t>
            </a:r>
            <a:r>
              <a:rPr lang="en-US" sz="1900" b="1" i="1" dirty="0">
                <a:solidFill>
                  <a:schemeClr val="accent6"/>
                </a:solidFill>
              </a:rPr>
              <a:t>gelegd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de vaas op tafel </a:t>
            </a:r>
            <a:r>
              <a:rPr lang="en-US" sz="1900" b="1" i="1" dirty="0">
                <a:solidFill>
                  <a:schemeClr val="accent6"/>
                </a:solidFill>
              </a:rPr>
              <a:t>gezet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mijn jas aan de kapstok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501384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gelegd, gezet</a:t>
            </a:r>
            <a:r>
              <a:rPr lang="en-US" sz="1400" i="1" dirty="0">
                <a:solidFill>
                  <a:schemeClr val="accent5"/>
                </a:solidFill>
              </a:rPr>
              <a:t> : réguliers (M15)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5029200"/>
            <a:ext cx="5852160" cy="1188720"/>
          </a:xfrm>
          <a:prstGeom prst="roundRect">
            <a:avLst>
              <a:gd name="adj" fmla="val 6154"/>
            </a:avLst>
          </a:prstGeom>
          <a:solidFill>
            <a:schemeClr val="accent6">
              <a:alpha val="10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502920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⚠ </a:t>
            </a:r>
            <a:r>
              <a:rPr lang="en-US" sz="2000" b="1" i="1" dirty="0">
                <a:solidFill>
                  <a:schemeClr val="tx1"/>
                </a:solidFill>
              </a:rPr>
              <a:t>gelegen</a:t>
            </a:r>
            <a:r>
              <a:rPr lang="en-US" sz="2000" dirty="0">
                <a:solidFill>
                  <a:schemeClr val="tx1"/>
                </a:solidFill>
              </a:rPr>
              <a:t> (position) ≠ </a:t>
            </a:r>
            <a:r>
              <a:rPr lang="en-US" sz="2000" b="1" i="1" dirty="0">
                <a:solidFill>
                  <a:schemeClr val="tx1"/>
                </a:solidFill>
              </a:rPr>
              <a:t>gelegd</a:t>
            </a:r>
            <a:r>
              <a:rPr lang="en-US" sz="2000" dirty="0">
                <a:solidFill>
                  <a:schemeClr val="tx1"/>
                </a:solidFill>
              </a:rPr>
              <a:t> (action)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583680" y="5029200"/>
            <a:ext cx="505663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66560" y="5029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Norme : </a:t>
            </a:r>
            <a:r>
              <a:rPr lang="en-US" sz="1500" i="1" dirty="0">
                <a:solidFill>
                  <a:schemeClr val="tx1"/>
                </a:solidFill>
              </a:rPr>
              <a:t>hebben</a:t>
            </a:r>
            <a:r>
              <a:rPr lang="en-US" sz="1500" dirty="0">
                <a:solidFill>
                  <a:schemeClr val="tx1"/>
                </a:solidFill>
              </a:rPr>
              <a:t> (en Flandre, on entend </a:t>
            </a:r>
            <a:r>
              <a:rPr lang="en-US" sz="1500" i="1" dirty="0">
                <a:solidFill>
                  <a:schemeClr val="tx1"/>
                </a:solidFill>
              </a:rPr>
              <a:t>Ik ben gezeten</a:t>
            </a:r>
            <a:r>
              <a:rPr lang="en-US" sz="1500" dirty="0">
                <a:solidFill>
                  <a:schemeClr val="tx1"/>
                </a:solidFill>
              </a:rPr>
              <a:t>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Teaser M19 : </a:t>
            </a:r>
            <a:r>
              <a:rPr lang="en-US" sz="1500" i="1" dirty="0">
                <a:solidFill>
                  <a:schemeClr val="tx1"/>
                </a:solidFill>
              </a:rPr>
              <a:t>zat, stond, lag, hing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BONUS : être en train de…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BONUS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technolog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812" y="173736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1520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zit te</a:t>
            </a:r>
            <a:r>
              <a:rPr lang="en-US" sz="2200" i="1" dirty="0">
                <a:solidFill>
                  <a:schemeClr val="tx1"/>
                </a:solidFill>
              </a:rPr>
              <a:t> werken.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us s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236" y="1737360"/>
            <a:ext cx="1554480" cy="1554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504944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sta</a:t>
            </a:r>
            <a:r>
              <a:rPr lang="en-US" sz="2200" i="1" dirty="0">
                <a:solidFill>
                  <a:schemeClr val="tx1"/>
                </a:solidFill>
              </a:rPr>
              <a:t> op de bus </a:t>
            </a:r>
            <a:r>
              <a:rPr lang="en-US" sz="2200" b="1" i="1" dirty="0">
                <a:solidFill>
                  <a:schemeClr val="tx1"/>
                </a:solidFill>
              </a:rPr>
              <a:t>te</a:t>
            </a:r>
            <a:r>
              <a:rPr lang="en-US" sz="2200" i="1" dirty="0">
                <a:solidFill>
                  <a:schemeClr val="tx1"/>
                </a:solidFill>
              </a:rPr>
              <a:t> wachten.</a:t>
            </a:r>
            <a:endParaRPr lang="en-US" sz="22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person in b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0660" y="1737360"/>
            <a:ext cx="1554480" cy="15544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278368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 </a:t>
            </a:r>
            <a:r>
              <a:rPr lang="en-US" sz="2200" b="1" i="1" dirty="0">
                <a:solidFill>
                  <a:schemeClr val="tx1"/>
                </a:solidFill>
              </a:rPr>
              <a:t>ligt te</a:t>
            </a:r>
            <a:r>
              <a:rPr lang="en-US" sz="2200" i="1" dirty="0">
                <a:solidFill>
                  <a:schemeClr val="tx1"/>
                </a:solidFill>
              </a:rPr>
              <a:t> slapen.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548640" y="50292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22960" y="50292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= « être </a:t>
            </a:r>
            <a:r>
              <a:rPr lang="en-US" sz="2000" b="1" dirty="0">
                <a:solidFill>
                  <a:schemeClr val="bg1"/>
                </a:solidFill>
              </a:rPr>
              <a:t>en train de</a:t>
            </a:r>
            <a:r>
              <a:rPr lang="en-US" sz="2000" dirty="0">
                <a:solidFill>
                  <a:schemeClr val="bg1"/>
                </a:solidFill>
              </a:rPr>
              <a:t>… » avec la posture · sans posture : </a:t>
            </a:r>
            <a:r>
              <a:rPr lang="en-US" sz="2000" i="1" dirty="0">
                <a:solidFill>
                  <a:schemeClr val="bg1"/>
                </a:solidFill>
              </a:rPr>
              <a:t>Ik ben </a:t>
            </a:r>
            <a:r>
              <a:rPr lang="en-US" sz="2000" b="1" i="1" dirty="0">
                <a:solidFill>
                  <a:schemeClr val="bg1"/>
                </a:solidFill>
              </a:rPr>
              <a:t>aan het</a:t>
            </a:r>
            <a:r>
              <a:rPr lang="en-US" sz="2000" i="1" dirty="0">
                <a:solidFill>
                  <a:schemeClr val="bg1"/>
                </a:solidFill>
              </a:rPr>
              <a:t> werken.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l’organigramme de la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dans un contenant (sac, poche, boîte) ?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zitten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stoppen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suspendu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hangen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hangen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debout, sur sa base ?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staan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zetten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4901184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sinon (à plat, couché) → </a:t>
            </a:r>
            <a:r>
              <a:rPr lang="en-US" sz="1900" b="1" dirty="0">
                <a:solidFill>
                  <a:schemeClr val="bg1"/>
                </a:solidFill>
              </a:rPr>
              <a:t>liggen</a:t>
            </a:r>
            <a:r>
              <a:rPr lang="en-US" sz="1900" dirty="0">
                <a:solidFill>
                  <a:schemeClr val="bg1"/>
                </a:solidFill>
              </a:rPr>
              <a:t>  ·  action : </a:t>
            </a:r>
            <a:r>
              <a:rPr lang="en-US" sz="1900" i="1" dirty="0">
                <a:solidFill>
                  <a:schemeClr val="bg1"/>
                </a:solidFill>
              </a:rPr>
              <a:t>leggen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PERSONNES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281160" y="21031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281160" y="21031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zitten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9281160" y="25603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assis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281160" y="30175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281160" y="30175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staan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9281160" y="34747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debout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9281160" y="39319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281160" y="39319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liggen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9281160" y="43891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couché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9235440" y="4846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action : </a:t>
            </a:r>
            <a:r>
              <a:rPr lang="en-US" sz="1300" i="1" dirty="0">
                <a:solidFill>
                  <a:schemeClr val="tx1"/>
                </a:solidFill>
              </a:rPr>
              <a:t>gaan zitten, gaan staan, gaan liggen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5852160"/>
            <a:ext cx="8275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kast, garage</a:t>
            </a:r>
            <a:r>
              <a:rPr lang="en-US" sz="1500" i="1" dirty="0">
                <a:solidFill>
                  <a:schemeClr val="accent5"/>
                </a:solidFill>
              </a:rPr>
              <a:t> : la position compte → </a:t>
            </a:r>
            <a:r>
              <a:rPr lang="en-US" sz="1500" i="1" dirty="0">
                <a:solidFill>
                  <a:schemeClr val="accent5"/>
                </a:solidFill>
              </a:rPr>
              <a:t>De kopjes </a:t>
            </a:r>
            <a:r>
              <a:rPr lang="en-US" sz="1500" b="1" i="1" dirty="0">
                <a:solidFill>
                  <a:schemeClr val="accent5"/>
                </a:solidFill>
              </a:rPr>
              <a:t>staan</a:t>
            </a:r>
            <a:r>
              <a:rPr lang="en-US" sz="1500" i="1" dirty="0">
                <a:solidFill>
                  <a:schemeClr val="accent5"/>
                </a:solidFill>
              </a:rPr>
              <a:t> in de kast.</a:t>
            </a:r>
            <a:endParaRPr lang="en-US" sz="1500" dirty="0"/>
          </a:p>
        </p:txBody>
      </p:sp>
      <p:pic>
        <p:nvPicPr>
          <p:cNvPr id="4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est-il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Desk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bureau de Karim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Pap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Position ou action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BoxOp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prépositions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Exchang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a changé 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u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déménagement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7" name="Shape 10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0" name="Shape 12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6" name="Shape 16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29" name="Shape 18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b="1" i="1" dirty="0">
                <a:solidFill>
                  <a:schemeClr val="accent3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2" name="Shape 7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accent3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5" name="Shape 9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b="1" i="1" dirty="0">
                <a:solidFill>
                  <a:schemeClr val="accent3"/>
                </a:solidFill>
              </a:rPr>
              <a:t>staan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8" name="Shape 11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1" name="Shape 13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4" name="Shape 15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b="1" i="1" dirty="0">
                <a:solidFill>
                  <a:schemeClr val="accent3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7" name="Shape 17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30" name="Shape 19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8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19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2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15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9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20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4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16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b="1" dirty="0">
                <a:solidFill>
                  <a:schemeClr val="accent3"/>
                </a:solidFill>
              </a:rPr>
              <a:t>ligt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b="1" dirty="0">
                <a:solidFill>
                  <a:schemeClr val="accent3"/>
                </a:solidFill>
              </a:rPr>
              <a:t>liggen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(leg / lig)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(legt / ligt)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(staan / zetten)?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(staan / zetten) al klaar.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(hang / hangt)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(Zit / Zet)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3"/>
                </a:solidFill>
              </a:rPr>
              <a:t>leg</a:t>
            </a:r>
            <a:r>
              <a:rPr lang="en-US" sz="2100" i="1" dirty="0">
                <a:solidFill>
                  <a:schemeClr val="tx1"/>
                </a:solidFill>
              </a:rPr>
              <a:t>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</a:t>
            </a:r>
            <a:r>
              <a:rPr lang="en-US" sz="2100" b="1" i="1" dirty="0">
                <a:solidFill>
                  <a:schemeClr val="accent3"/>
                </a:solidFill>
              </a:rPr>
              <a:t>ligt</a:t>
            </a:r>
            <a:r>
              <a:rPr lang="en-US" sz="2100" i="1" dirty="0">
                <a:solidFill>
                  <a:schemeClr val="tx1"/>
                </a:solidFill>
              </a:rPr>
              <a:t>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</a:t>
            </a:r>
            <a:r>
              <a:rPr lang="en-US" sz="2100" b="1" i="1" dirty="0">
                <a:solidFill>
                  <a:schemeClr val="accent3"/>
                </a:solidFill>
              </a:rPr>
              <a:t>zetten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</a:t>
            </a:r>
            <a:r>
              <a:rPr lang="en-US" sz="2100" b="1" i="1" dirty="0">
                <a:solidFill>
                  <a:schemeClr val="accent3"/>
                </a:solidFill>
              </a:rPr>
              <a:t>staan</a:t>
            </a:r>
            <a:r>
              <a:rPr lang="en-US" sz="2100" i="1" dirty="0">
                <a:solidFill>
                  <a:schemeClr val="tx1"/>
                </a:solidFill>
              </a:rPr>
              <a:t> al klaar.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</a:t>
            </a:r>
            <a:r>
              <a:rPr lang="en-US" sz="2100" b="1" i="1" dirty="0">
                <a:solidFill>
                  <a:schemeClr val="accent3"/>
                </a:solidFill>
              </a:rPr>
              <a:t>hang</a:t>
            </a:r>
            <a:r>
              <a:rPr lang="en-US" sz="2100" i="1" dirty="0">
                <a:solidFill>
                  <a:schemeClr val="tx1"/>
                </a:solidFill>
              </a:rPr>
              <a:t>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</a:t>
            </a:r>
            <a:r>
              <a:rPr lang="en-US" sz="2100" b="1" i="1" dirty="0">
                <a:solidFill>
                  <a:schemeClr val="accent3"/>
                </a:solidFill>
              </a:rPr>
              <a:t>gelegd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</a:t>
            </a:r>
            <a:r>
              <a:rPr lang="en-US" sz="2100" b="1" i="1" dirty="0">
                <a:solidFill>
                  <a:schemeClr val="accent3"/>
                </a:solidFill>
              </a:rPr>
              <a:t>gelegen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b="1" i="1" dirty="0">
                <a:solidFill>
                  <a:schemeClr val="accent3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op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b="1" i="1" dirty="0">
                <a:solidFill>
                  <a:schemeClr val="accent3"/>
                </a:solidFill>
              </a:rPr>
              <a:t>in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onder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naast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voor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achter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tussen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43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b="1" i="1" dirty="0">
                <a:solidFill>
                  <a:schemeClr val="accent3"/>
                </a:solidFill>
              </a:rPr>
              <a:t>boven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dirty="0">
                <a:solidFill>
                  <a:schemeClr val="tx1"/>
                </a:solidFill>
              </a:rPr>
              <a:t>is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dirty="0">
                <a:solidFill>
                  <a:schemeClr val="tx1"/>
                </a:solidFill>
              </a:rPr>
              <a:t>liggen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dirty="0">
                <a:solidFill>
                  <a:schemeClr val="tx1"/>
                </a:solidFill>
              </a:rPr>
              <a:t>staat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dirty="0">
                <a:solidFill>
                  <a:schemeClr val="tx1"/>
                </a:solidFill>
              </a:rPr>
              <a:t>legt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dirty="0">
                <a:solidFill>
                  <a:schemeClr val="tx1"/>
                </a:solidFill>
              </a:rPr>
              <a:t>zitten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strike="sngStrike" dirty="0">
                <a:solidFill>
                  <a:schemeClr val="accent6"/>
                </a:solidFill>
              </a:rPr>
              <a:t>is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strike="sngStrike" dirty="0">
                <a:solidFill>
                  <a:schemeClr val="accent6"/>
                </a:solidFill>
              </a:rPr>
              <a:t>liggen</a:t>
            </a:r>
            <a:r>
              <a:rPr lang="en-US" sz="2100" b="1" i="1" dirty="0">
                <a:solidFill>
                  <a:schemeClr val="accent3"/>
                </a:solidFill>
              </a:rPr>
              <a:t> zitten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strike="sngStrike" dirty="0">
                <a:solidFill>
                  <a:schemeClr val="accent6"/>
                </a:solidFill>
              </a:rPr>
              <a:t>staat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strike="sngStrike" dirty="0">
                <a:solidFill>
                  <a:schemeClr val="accent6"/>
                </a:solidFill>
              </a:rPr>
              <a:t>legt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strike="sngStrike" dirty="0">
                <a:solidFill>
                  <a:schemeClr val="accent6"/>
                </a:solidFill>
              </a:rPr>
              <a:t>zitten</a:t>
            </a:r>
            <a:r>
              <a:rPr lang="en-US" sz="2100" b="1" i="1" dirty="0">
                <a:solidFill>
                  <a:schemeClr val="accent3"/>
                </a:solidFill>
              </a:rPr>
              <a:t> stoppen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mijn jas hangt aan de kapstok</a:t>
            </a:r>
            <a:r>
              <a:rPr lang="en-US" sz="1400" i="1" dirty="0">
                <a:solidFill>
                  <a:schemeClr val="accent5"/>
                </a:solidFill>
              </a:rPr>
              <a:t>. </a:t>
            </a:r>
            <a:r>
              <a:rPr lang="en-US" sz="1400" i="1" dirty="0">
                <a:solidFill>
                  <a:schemeClr val="accent5"/>
                </a:solidFill>
              </a:rPr>
              <a:t>de bril</a:t>
            </a:r>
            <a:r>
              <a:rPr lang="en-US" sz="1400" i="1" dirty="0">
                <a:solidFill>
                  <a:schemeClr val="accent5"/>
                </a:solidFill>
              </a:rPr>
              <a:t> = les lunettes (singulier !).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Qu’est-ce qui a changé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6675120" cy="4709160"/>
          </a:xfrm>
          <a:prstGeom prst="roundRect">
            <a:avLst>
              <a:gd name="adj" fmla="val 777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4756709"/>
            <a:ext cx="6675120" cy="1506931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05840" y="1828800"/>
            <a:ext cx="731520" cy="7315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371600" y="1975104"/>
            <a:ext cx="914" cy="219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71600" y="2194560"/>
            <a:ext cx="160934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0" descr="wind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1737360"/>
            <a:ext cx="1280160" cy="1280160"/>
          </a:xfrm>
          <a:prstGeom prst="rect">
            <a:avLst/>
          </a:prstGeom>
        </p:spPr>
      </p:pic>
      <p:pic>
        <p:nvPicPr>
          <p:cNvPr id="12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914400" cy="9144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1463040" y="4144518"/>
            <a:ext cx="402336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164592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521208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2" descr="lapto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3458718"/>
            <a:ext cx="731520" cy="731520"/>
          </a:xfrm>
          <a:prstGeom prst="rect">
            <a:avLst/>
          </a:prstGeom>
        </p:spPr>
      </p:pic>
      <p:pic>
        <p:nvPicPr>
          <p:cNvPr id="17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3275838"/>
            <a:ext cx="868680" cy="868680"/>
          </a:xfrm>
          <a:prstGeom prst="rect">
            <a:avLst/>
          </a:prstGeom>
        </p:spPr>
      </p:pic>
      <p:pic>
        <p:nvPicPr>
          <p:cNvPr id="18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3733038"/>
            <a:ext cx="548640" cy="548640"/>
          </a:xfrm>
          <a:prstGeom prst="rect">
            <a:avLst/>
          </a:prstGeom>
        </p:spPr>
      </p:pic>
      <p:pic>
        <p:nvPicPr>
          <p:cNvPr id="19" name="Image 5" descr="teacup without hand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6160" y="3733038"/>
            <a:ext cx="457200" cy="457200"/>
          </a:xfrm>
          <a:prstGeom prst="rect">
            <a:avLst/>
          </a:prstGeom>
        </p:spPr>
      </p:pic>
      <p:pic>
        <p:nvPicPr>
          <p:cNvPr id="20" name="Image 6" descr="c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4053078"/>
            <a:ext cx="1188720" cy="1188720"/>
          </a:xfrm>
          <a:prstGeom prst="rect">
            <a:avLst/>
          </a:prstGeom>
        </p:spPr>
      </p:pic>
      <p:pic>
        <p:nvPicPr>
          <p:cNvPr id="21" name="Image 7" descr="handba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6080" y="4921758"/>
            <a:ext cx="731520" cy="731520"/>
          </a:xfrm>
          <a:prstGeom prst="rect">
            <a:avLst/>
          </a:prstGeom>
        </p:spPr>
      </p:pic>
      <p:pic>
        <p:nvPicPr>
          <p:cNvPr id="22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822960" cy="82296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8412480" y="1600200"/>
            <a:ext cx="3227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Kim’s game</a:t>
            </a:r>
            <a:endParaRPr lang="en-US" sz="2200" dirty="0"/>
          </a:p>
        </p:txBody>
      </p:sp>
      <p:sp>
        <p:nvSpPr>
          <p:cNvPr id="24" name="Text 12"/>
          <p:cNvSpPr txBox="1"/>
          <p:nvPr/>
        </p:nvSpPr>
        <p:spPr>
          <a:xfrm>
            <a:off x="7498080" y="2560320"/>
            <a:ext cx="41422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Observez la classe pendant 1 minute.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Fermez les yeux : l’enseignant·e déplace 3 objets.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Dites ce qui a changé :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7498080" y="4434840"/>
            <a:ext cx="41422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80960" y="443484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Je hebt de pen onder de stoel </a:t>
            </a:r>
            <a:r>
              <a:rPr lang="en-US" sz="1600" b="1" i="1" dirty="0">
                <a:solidFill>
                  <a:schemeClr val="tx1"/>
                </a:solidFill>
              </a:rPr>
              <a:t>gelegd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tas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nu op de tafel.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niet meer aan de muur!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déménagement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Peeters &amp; Co déménage. An a le plan du nouveau bureau ; Karim place les objets sur un plan vide.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décrivez votre plan et donnez des ordres : </a:t>
            </a:r>
            <a:r>
              <a:rPr lang="en-US" sz="1700" i="1" dirty="0">
                <a:solidFill>
                  <a:schemeClr val="tx1"/>
                </a:solidFill>
              </a:rPr>
              <a:t>Zet… · Hang… · Leg…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dessinez sur le plan vide et vérifiez : </a:t>
            </a:r>
            <a:r>
              <a:rPr lang="en-US" sz="1700" i="1" dirty="0">
                <a:solidFill>
                  <a:schemeClr val="tx1"/>
                </a:solidFill>
              </a:rPr>
              <a:t>Staat de printer naast de deur?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Zet de kast tegen de muur. · Hang de klok boven de deur. · Leg de mappen in de kast. · Waar moet de printer staan? · Staat de plant goed zo? · Ja, perfect!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NIEUW KANTOOR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302752" y="2167128"/>
            <a:ext cx="3108960" cy="2103120"/>
          </a:xfrm>
          <a:prstGeom prst="rect">
            <a:avLst/>
          </a:prstGeom>
          <a:solidFill>
            <a:srgbClr val="F7F7F7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82091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33907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85723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37539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89355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02752" y="269290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302752" y="321868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302752" y="374446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537192" y="4224528"/>
            <a:ext cx="64008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491472" y="42885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deur</a:t>
            </a:r>
            <a:endParaRPr lang="en-US" sz="1000" dirty="0"/>
          </a:p>
        </p:txBody>
      </p:sp>
      <p:pic>
        <p:nvPicPr>
          <p:cNvPr id="33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4590288"/>
            <a:ext cx="347472" cy="347472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866851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bureau</a:t>
            </a:r>
            <a:endParaRPr lang="en-US" sz="1200" dirty="0"/>
          </a:p>
        </p:txBody>
      </p:sp>
      <p:pic>
        <p:nvPicPr>
          <p:cNvPr id="35" name="Image 1" descr="file cabin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8672" y="4590288"/>
            <a:ext cx="347472" cy="347472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1036015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kast</a:t>
            </a:r>
            <a:endParaRPr lang="en-US" sz="1200" dirty="0"/>
          </a:p>
        </p:txBody>
      </p:sp>
      <p:pic>
        <p:nvPicPr>
          <p:cNvPr id="37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5001768"/>
            <a:ext cx="347472" cy="347472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866851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printer</a:t>
            </a:r>
            <a:endParaRPr lang="en-US" sz="1200" dirty="0"/>
          </a:p>
        </p:txBody>
      </p:sp>
      <p:pic>
        <p:nvPicPr>
          <p:cNvPr id="39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8672" y="5001768"/>
            <a:ext cx="347472" cy="347472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36015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plant</a:t>
            </a:r>
            <a:endParaRPr lang="en-US" sz="1200" dirty="0"/>
          </a:p>
        </p:txBody>
      </p:sp>
      <p:pic>
        <p:nvPicPr>
          <p:cNvPr id="41" name="Image 4" descr="three o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5413248"/>
            <a:ext cx="347472" cy="347472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866851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klok</a:t>
            </a:r>
            <a:endParaRPr lang="en-US" sz="1200" dirty="0"/>
          </a:p>
        </p:txBody>
      </p:sp>
      <p:pic>
        <p:nvPicPr>
          <p:cNvPr id="43" name="Image 5" descr="co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8672" y="5413248"/>
            <a:ext cx="347472" cy="347472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1036015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kapstok</a:t>
            </a:r>
            <a:endParaRPr lang="en-US" sz="1200" dirty="0"/>
          </a:p>
        </p:txBody>
      </p:sp>
      <p:pic>
        <p:nvPicPr>
          <p:cNvPr id="45" name="Image 6" descr="mem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7032" y="5824728"/>
            <a:ext cx="347472" cy="347472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866851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whiteboard</a:t>
            </a:r>
            <a:endParaRPr lang="en-US" sz="1200" dirty="0"/>
          </a:p>
        </p:txBody>
      </p:sp>
      <p:pic>
        <p:nvPicPr>
          <p:cNvPr id="47" name="Image 7" descr="hot beverag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48672" y="5824728"/>
            <a:ext cx="347472" cy="347472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1036015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koffiemachine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klok …… aan de muur. · Mijn sleutels …… in mijn tas.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Position ou action : </a:t>
            </a:r>
            <a:r>
              <a:rPr lang="en-US" sz="2000" i="1" dirty="0">
                <a:solidFill>
                  <a:schemeClr val="tx1"/>
                </a:solidFill>
              </a:rPr>
              <a:t>Ik (leg / lig) het dossier op tafel.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Mets la bouteille sur la table.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Situer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alendarAl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De toekomst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ga je morgen doen?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17 — Zitten, staan, liggen, hangen — Les verbes de position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2026-10-05T07:24:44Z</dcterms:created>
  <dcterms:modified xsi:type="dcterms:W3CDTF">2026-10-05T07:24:44Z</dcterms:modified>
</cp:coreProperties>
</file>