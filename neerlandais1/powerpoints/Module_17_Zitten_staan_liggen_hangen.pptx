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e245704-2e4c-e418-cf75-bec9fe7be5c5}">
          <p14:sldIdLst>
            <p14:sldId id="256"/>
          </p14:sldIdLst>
        </p14:section>
        <p14:section name="Découvrir" id="{db626da9-cadc-3119-58b2-e9e4e6976496}">
          <p14:sldIdLst>
            <p14:sldId id="257"/>
            <p14:sldId id="258"/>
          </p14:sldIdLst>
        </p14:section>
        <p14:section name="Comprendre" id="{99ea6051-207f-6b9e-d642-c572398994c6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7da7d401-9877-110e-ed98-071b78d1a3f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a7d48632-34b2-62e9-6981-d93ccbc03fd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dire où sont les choses.
Montrez un stylo : posez-le à plat sur la table, puis debout dans un pot. « Où est le stylo ? » En français, la réponse ne change pas. En néerlandais,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Ces quatre verbes remplacent très souvent zijn : la question Waar is…? appelle une réponse avec ligt, staat, zit ou hangt.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quatre verbes par l'observation.
Faites deviner la logique avant de la donner : à plat, debout, suspendu, dedans. Les apprenants miment chaque position avec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 critère de chaque verbe.
De auto staat in de garage : un véhicule « est debout » sur ses roues (Mijn fiets staat buiten). Pour les personnes : zitten = être assis, staan = être debout, liggen = être couché.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c'est la position réelle qui décide, pas l'objet.
Faites l'expérience en classe avec une bouteille d'eau et un livre. Question-piège : Waar is mijn gsm? Dans la poche : Hij zit in mijn zak. Sur la table : Hij ligt op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Élargir l'emploi de zitten : contenu et personnes.
de la = le tiroir. in een vergadering zitten = être en réunion (donc occupé). Waar zit je? est très fréquent au téléphone en Flandre.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is par le verbe de position.
is n'est pas toujours faux, mais il sonne étrange pour un objet que l'on situe. Villes, pays, bâtiments : liggen (Gent ligt aan de Schelde). Un texte écrit : staan (Het staat in de mail, M10).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les prépositions avec les verbes de position.
op = sur, avec contact ; boven = au-dessus, sans contact. aan = accroché à (aan de muur). tussen = entre (tussen de kast en de deur).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 verbe de position du verbe d'action « mettre ».
hangen sert aux deux. stoppen in = mettre dans (en Flandre, aussi steken). Pour les personnes, l'action se dit avec gaan : gaan zitten, gaan liggen, gaan staan (M16 : Ga zitten!).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« mettre » selon la position finale de l'objet.
Question-réflexe : « À la fin, l'objet sera couché, debout, suspendu ou dedans ? » Attention : de tas = le sac, pas la tasse (het kopje). aanzetten = allumer (Zet de printer aan,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participe des verbes de position et d'action (lien M15).
gelegd, gezet sont réguliers (SoFT KetCHuP, M15). gezeten, gestaan, gelegen, gehangen sont irréguliers. En Flandre, on entend Ik ben … gezeten ; la norme reste hebben. Teaser M19 : à l'imparfait, zat, stond, lag, 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zitten / staan / liggen + te + infinitif.
Très fréquent à l'oral : la posture et l'action en même temps. aan het + infinitif (Ik ben aan het koken) est la forme neutre. À reconnaître seulement en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Une armoire, un garage, une pièce ne sont pas des contenants : la position compte (De kopjes staan in de kast. · De auto staat in de garage.).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verbe de position et le conjuguer.
N° 1 et 3 : pluriel (zitten, staan). N° 8 : le bonus « en train de » ; de bank = le canapé (et aussi la banque 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Décrire une scène avec les verbes de position.
Er liggen… : er + verbe de position = « il y a » (aperçu). Ensuite, demandez aux apprenants de décrire leur propre bureau ou leur salon.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le verbe de position et le verbe d'action.
N° 5 : hangen = position et action. N° 6 et 7 : le piège gelegd / gelegen (diapo 11). N° 8 : impératif (M16).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la préposition à la position.
N° 6 : on ne voit qu'une partie de la balle. Prolongez avec des objets réels et l'impératif : Leg je pen onder je boek!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message.
Leurre : mijn jas hangt aan de kapstok. de bril = les lunettes (un singulier en néerlandais !). Chaque erreur renvoie à une diapo : 7 (is), 4 (zitten), 5 (position réelle), 9 (legt / ligt), 10 (stoppen).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verbes de position et d'action à l'oral, au passé composé.
Variante en équipes : chaque équipe déplace 2 objets pour l'autre. Exigez le bon verbe et la bonne préposition. Le passé composé (gelegd, gezet, gehangen) réactive le M15.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aménager un nouveau bureau.
Comparez ensuite les deux plans : Nee, de printer staat niet naast de deur, hij staat in de hoek. tegen de muur = contre le mur ; in de hoek = dans le coin.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hangt · zitten.
2. leg.
3. Zet de fles op tafel.
Teaser M18 : Wat ga je morgen doen?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17 · Zitten, staan, liggen, hangen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Zitten, staan, liggen, hangen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verbes de position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Waar is mijn sleutel? — Hij ligt op tafel.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4652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2084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76872" y="122163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2668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098280" y="86868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372600" y="2176272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52483" y="177393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78440" y="86868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4652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49440" y="3247034"/>
            <a:ext cx="457200" cy="547726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62088" y="30458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20840" y="3849624"/>
            <a:ext cx="91440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098280" y="2560320"/>
            <a:ext cx="246888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72600" y="2697480"/>
            <a:ext cx="91440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65792" y="27889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955548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29800" y="28986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445752" y="32004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378440" y="2560320"/>
            <a:ext cx="1143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6446520" y="4434840"/>
            <a:ext cx="5120640" cy="86868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4572000"/>
            <a:ext cx="594360" cy="59436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315200" y="443484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</a:t>
            </a: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is</a:t>
            </a:r>
            <a:r>
              <a:rPr lang="en-US" sz="24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mijn sleutel?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Situer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où se trouve une chose : </a:t>
            </a:r>
            <a:r>
              <a:rPr lang="en-US" sz="2000" i="1" dirty="0">
                <a:solidFill>
                  <a:schemeClr val="tx1"/>
                </a:solidFill>
              </a:rPr>
              <a:t>De klok hangt aan de muur.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and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distingue la position et l’action : </a:t>
            </a:r>
            <a:r>
              <a:rPr lang="en-US" sz="2000" i="1" dirty="0">
                <a:solidFill>
                  <a:schemeClr val="tx1"/>
                </a:solidFill>
              </a:rPr>
              <a:t>ligt / legt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mon bureau et je range.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Ces quatre verbes remplacent très souvent </a:t>
            </a:r>
            <a:r>
              <a:rPr lang="en-US" sz="1700" i="1" dirty="0">
                <a:solidFill>
                  <a:schemeClr val="tx1"/>
                </a:solidFill>
              </a:rPr>
              <a:t>zijn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Waar is…?</a:t>
            </a:r>
            <a:r>
              <a:rPr lang="en-US" sz="1700" dirty="0">
                <a:solidFill>
                  <a:schemeClr val="tx1"/>
                </a:solidFill>
              </a:rPr>
              <a:t> appelle </a:t>
            </a:r>
            <a:r>
              <a:rPr lang="en-US" sz="1700" i="1" dirty="0">
                <a:solidFill>
                  <a:schemeClr val="tx1"/>
                </a:solidFill>
              </a:rPr>
              <a:t>ligt, staat, zit</a:t>
            </a:r>
            <a:r>
              <a:rPr lang="en-US" sz="1700" dirty="0">
                <a:solidFill>
                  <a:schemeClr val="tx1"/>
                </a:solidFill>
              </a:rPr>
              <a:t> ou </a:t>
            </a:r>
            <a:r>
              <a:rPr lang="en-US" sz="1700" i="1" dirty="0">
                <a:solidFill>
                  <a:schemeClr val="tx1"/>
                </a:solidFill>
              </a:rPr>
              <a:t>hangt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où sont les choses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open 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6454" y="2240280"/>
            <a:ext cx="1005840" cy="10058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 livre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0" name="tag"/>
          <p:cNvSpPr/>
          <p:nvPr/>
        </p:nvSpPr>
        <p:spPr>
          <a:xfrm>
            <a:off x="1392174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liggen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78708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653028" y="3063240"/>
            <a:ext cx="2052828" cy="109728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50842" y="1984248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06290" y="1682496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88002" y="1572768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15868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bouteille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sur la table.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515868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fles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8" name="tag"/>
          <p:cNvSpPr/>
          <p:nvPr/>
        </p:nvSpPr>
        <p:spPr>
          <a:xfrm>
            <a:off x="4222242" y="4754880"/>
            <a:ext cx="905256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staan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208776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83096" y="1737360"/>
            <a:ext cx="2052828" cy="1435608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052310" y="1965960"/>
            <a:ext cx="914400" cy="9144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7509510" y="2148840"/>
            <a:ext cx="914" cy="274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509510" y="2423160"/>
            <a:ext cx="201168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45936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L’horloge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au mur.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6345936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26" name="tag"/>
          <p:cNvSpPr/>
          <p:nvPr/>
        </p:nvSpPr>
        <p:spPr>
          <a:xfrm>
            <a:off x="7052310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hangen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038844" y="1600200"/>
            <a:ext cx="2601468" cy="3291840"/>
          </a:xfrm>
          <a:prstGeom prst="roundRect">
            <a:avLst>
              <a:gd name="adj" fmla="val 2812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1" descr="handb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3778" y="1783080"/>
            <a:ext cx="1371600" cy="1371600"/>
          </a:xfrm>
          <a:prstGeom prst="rect">
            <a:avLst/>
          </a:prstGeom>
        </p:spPr>
      </p:pic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2418" y="1965960"/>
            <a:ext cx="502920" cy="50292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176004" y="3337560"/>
            <a:ext cx="23271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La clé </a:t>
            </a:r>
            <a:r>
              <a:rPr lang="en-US" sz="1400" b="1" i="1" dirty="0">
                <a:solidFill>
                  <a:schemeClr val="accent5"/>
                </a:solidFill>
              </a:rPr>
              <a:t>est</a:t>
            </a:r>
            <a:r>
              <a:rPr lang="en-US" sz="1400" i="1" dirty="0">
                <a:solidFill>
                  <a:schemeClr val="accent5"/>
                </a:solidFill>
              </a:rPr>
              <a:t> dans le sac.</a:t>
            </a:r>
            <a:endParaRPr lang="en-US" sz="1400" dirty="0"/>
          </a:p>
        </p:txBody>
      </p:sp>
      <p:sp>
        <p:nvSpPr>
          <p:cNvPr id="31" name="Text 25"/>
          <p:cNvSpPr txBox="1"/>
          <p:nvPr/>
        </p:nvSpPr>
        <p:spPr>
          <a:xfrm>
            <a:off x="9176004" y="3886200"/>
            <a:ext cx="23271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tas.</a:t>
            </a:r>
            <a:endParaRPr lang="en-US" sz="1900" dirty="0"/>
          </a:p>
        </p:txBody>
      </p:sp>
      <p:sp>
        <p:nvSpPr>
          <p:cNvPr id="32" name="tag"/>
          <p:cNvSpPr/>
          <p:nvPr/>
        </p:nvSpPr>
        <p:spPr>
          <a:xfrm>
            <a:off x="9882378" y="4754880"/>
            <a:ext cx="1013155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zitten</a:t>
            </a:r>
            <a:endParaRPr lang="en-US" sz="1200" dirty="0"/>
          </a:p>
        </p:txBody>
      </p:sp>
      <p:sp>
        <p:nvSpPr>
          <p:cNvPr id="33" name="Shape 27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285232"/>
            <a:ext cx="822960" cy="82296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828800" y="5120640"/>
            <a:ext cx="9601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En français : « </a:t>
            </a:r>
            <a:r>
              <a:rPr lang="en-US" sz="2000" b="1" dirty="0">
                <a:solidFill>
                  <a:schemeClr val="tx1"/>
                </a:solidFill>
              </a:rPr>
              <a:t>est</a:t>
            </a:r>
            <a:r>
              <a:rPr lang="en-US" sz="2000" dirty="0">
                <a:solidFill>
                  <a:schemeClr val="tx1"/>
                </a:solidFill>
              </a:rPr>
              <a:t> » × 4. En néerlandais : </a:t>
            </a:r>
            <a:r>
              <a:rPr lang="en-US" sz="2000" b="1" dirty="0">
                <a:solidFill>
                  <a:schemeClr val="tx1"/>
                </a:solidFill>
              </a:rPr>
              <a:t>4 verbes</a:t>
            </a:r>
            <a:r>
              <a:rPr lang="en-US" sz="2000" dirty="0">
                <a:solidFill>
                  <a:schemeClr val="tx1"/>
                </a:solidFill>
              </a:rPr>
              <a:t> !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Quelle est la logique 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quatre 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STAAN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272159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65351" y="2456078"/>
            <a:ext cx="402336" cy="954634"/>
          </a:xfrm>
          <a:prstGeom prst="roundRect">
            <a:avLst>
              <a:gd name="adj" fmla="val 1363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debout, sur sa base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fles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op tafel.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boeken </a:t>
            </a:r>
            <a:r>
              <a:rPr lang="en-US" sz="1600" b="1" i="1" dirty="0">
                <a:solidFill>
                  <a:schemeClr val="tx1"/>
                </a:solidFill>
              </a:rPr>
              <a:t>staan</a:t>
            </a:r>
            <a:r>
              <a:rPr lang="en-US" sz="1600" i="1" dirty="0">
                <a:solidFill>
                  <a:schemeClr val="tx1"/>
                </a:solidFill>
              </a:rPr>
              <a:t> in de kast.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auto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in de garage.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367278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67278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67278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LIGGEN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090797" y="3410712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07840" y="3008376"/>
            <a:ext cx="954634" cy="402336"/>
          </a:xfrm>
          <a:prstGeom prst="roundRect">
            <a:avLst>
              <a:gd name="adj" fmla="val 1363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58718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plat, couché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3504438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pen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het bureau.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krant </a:t>
            </a:r>
            <a:r>
              <a:rPr lang="en-US" sz="1600" b="1" i="1" dirty="0">
                <a:solidFill>
                  <a:schemeClr val="tx1"/>
                </a:solidFill>
              </a:rPr>
              <a:t>ligt</a:t>
            </a:r>
            <a:r>
              <a:rPr lang="en-US" sz="1600" i="1" dirty="0">
                <a:solidFill>
                  <a:schemeClr val="tx1"/>
                </a:solidFill>
              </a:rPr>
              <a:t> op de stoel.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lig</a:t>
            </a:r>
            <a:r>
              <a:rPr lang="en-US" sz="1600" i="1" dirty="0">
                <a:solidFill>
                  <a:schemeClr val="tx1"/>
                </a:solidFill>
              </a:rPr>
              <a:t> in bed.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185916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85916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85916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ZITTEN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7183755" y="2789834"/>
            <a:ext cx="640080" cy="547726"/>
          </a:xfrm>
          <a:prstGeom prst="roundRect">
            <a:avLst>
              <a:gd name="adj" fmla="val 1001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55155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79283" y="2588666"/>
            <a:ext cx="73152" cy="822046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955155" y="3392424"/>
            <a:ext cx="1097280" cy="73152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277356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dans un contenant (sac, poche, boîte)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6323076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sleutel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in mijn tas.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</a:t>
            </a:r>
            <a:r>
              <a:rPr lang="en-US" sz="1600" b="1" i="1" dirty="0">
                <a:solidFill>
                  <a:schemeClr val="tx1"/>
                </a:solidFill>
              </a:rPr>
              <a:t>zit</a:t>
            </a:r>
            <a:r>
              <a:rPr lang="en-US" sz="1600" i="1" dirty="0">
                <a:solidFill>
                  <a:schemeClr val="tx1"/>
                </a:solidFill>
              </a:rPr>
              <a:t> koffie in de thermos.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004554" y="1554480"/>
            <a:ext cx="2635758" cy="4709160"/>
          </a:xfrm>
          <a:prstGeom prst="roundRect">
            <a:avLst>
              <a:gd name="adj" fmla="val 2775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004554" y="1554480"/>
            <a:ext cx="2635758" cy="54864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004554" y="1554480"/>
            <a:ext cx="26357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2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HANGEN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9728073" y="2240280"/>
            <a:ext cx="1188720" cy="54864"/>
          </a:xfrm>
          <a:prstGeom prst="rect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58425" y="2331720"/>
            <a:ext cx="128016" cy="128016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1004811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322433" y="2441448"/>
            <a:ext cx="274320" cy="301752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938385" y="2743200"/>
            <a:ext cx="768096" cy="66294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5994" y="3566160"/>
            <a:ext cx="24528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suspendu, accroché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9141714" y="4069080"/>
            <a:ext cx="236143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muur.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Mijn jas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aan de kapstok.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Même objet, autre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37360" y="2194560"/>
            <a:ext cx="457200" cy="105156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892808" y="1892808"/>
            <a:ext cx="146304" cy="365760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74520" y="1783080"/>
            <a:ext cx="182880" cy="128016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ag"/>
          <p:cNvSpPr/>
          <p:nvPr/>
        </p:nvSpPr>
        <p:spPr>
          <a:xfrm>
            <a:off x="1618488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11880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931920" y="2788920"/>
            <a:ext cx="105156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56048" y="2944368"/>
            <a:ext cx="365760" cy="146304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0" y="2926080"/>
            <a:ext cx="128016" cy="182880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ag"/>
          <p:cNvSpPr/>
          <p:nvPr/>
        </p:nvSpPr>
        <p:spPr>
          <a:xfrm>
            <a:off x="4315968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834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fles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6227064" y="1554480"/>
            <a:ext cx="541324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92824" y="1783080"/>
            <a:ext cx="2148840" cy="1554480"/>
          </a:xfrm>
          <a:prstGeom prst="roundRect">
            <a:avLst>
              <a:gd name="adj" fmla="val 1176"/>
            </a:avLst>
          </a:prstGeom>
          <a:noFill/>
          <a:ln w="25400">
            <a:solidFill>
              <a:srgbClr val="9C7A5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7570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2142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146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8718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07224" y="2121408"/>
            <a:ext cx="292608" cy="1188720"/>
          </a:xfrm>
          <a:prstGeom prst="roundRect">
            <a:avLst>
              <a:gd name="adj" fmla="val 937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552944" y="2304288"/>
            <a:ext cx="201168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296912" y="3520440"/>
            <a:ext cx="995172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staat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290304" y="3246120"/>
            <a:ext cx="2148840" cy="91440"/>
          </a:xfrm>
          <a:prstGeom prst="rect">
            <a:avLst/>
          </a:prstGeom>
          <a:solidFill>
            <a:srgbClr val="C9A2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747504" y="2953512"/>
            <a:ext cx="1188720" cy="292608"/>
          </a:xfrm>
          <a:prstGeom prst="roundRect">
            <a:avLst>
              <a:gd name="adj" fmla="val 937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57232" y="2953512"/>
            <a:ext cx="73152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ag"/>
          <p:cNvSpPr/>
          <p:nvPr/>
        </p:nvSpPr>
        <p:spPr>
          <a:xfrm>
            <a:off x="9994392" y="3520440"/>
            <a:ext cx="86929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ligt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513064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⇄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6501384" y="3977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in de kast.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boek </a:t>
            </a:r>
            <a:r>
              <a:rPr lang="en-US" sz="1700" b="1" i="1" dirty="0">
                <a:solidFill>
                  <a:schemeClr val="tx1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op tafel.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502920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22960" y="50292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regarde la </a:t>
            </a:r>
            <a:r>
              <a:rPr lang="en-US" sz="1800" b="1" dirty="0">
                <a:solidFill>
                  <a:schemeClr val="bg1"/>
                </a:solidFill>
              </a:rPr>
              <a:t>position de l’objet à ce moment-là</a:t>
            </a:r>
            <a:r>
              <a:rPr lang="en-US" sz="1800" dirty="0">
                <a:solidFill>
                  <a:schemeClr val="bg1"/>
                </a:solidFill>
              </a:rPr>
              <a:t>, pas l’objet lui-même. </a:t>
            </a:r>
            <a:r>
              <a:rPr lang="en-US" sz="1800" i="1" dirty="0">
                <a:solidFill>
                  <a:schemeClr val="bg1"/>
                </a:solidFill>
              </a:rPr>
              <a:t>Mijn gsm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in mijn zak · </a:t>
            </a:r>
            <a:r>
              <a:rPr lang="en-US" sz="1800" b="1" i="1" dirty="0">
                <a:solidFill>
                  <a:schemeClr val="bg1"/>
                </a:solidFill>
              </a:rPr>
              <a:t>ligt</a:t>
            </a:r>
            <a:r>
              <a:rPr lang="en-US" sz="1800" i="1" dirty="0">
                <a:solidFill>
                  <a:schemeClr val="bg1"/>
                </a:solidFill>
              </a:rPr>
              <a:t> op tafel.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Zitten : dedans… et les personnes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DEDANS</a:t>
            </a:r>
            <a:endParaRPr lang="en-US" sz="1700" dirty="0"/>
          </a:p>
        </p:txBody>
      </p:sp>
      <p:pic>
        <p:nvPicPr>
          <p:cNvPr id="8" name="Image 0" descr="pu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777240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pic>
        <p:nvPicPr>
          <p:cNvPr id="10" name="Image 1" descr="honey p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10128"/>
            <a:ext cx="777240" cy="7772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suiker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pot.</a:t>
            </a:r>
            <a:endParaRPr lang="en-US" sz="1900" dirty="0"/>
          </a:p>
        </p:txBody>
      </p:sp>
      <p:pic>
        <p:nvPicPr>
          <p:cNvPr id="12" name="Image 2" descr="card file bo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334256"/>
            <a:ext cx="777240" cy="7772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737360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documenten </a:t>
            </a:r>
            <a:r>
              <a:rPr lang="en-US" sz="1900" b="1" i="1" dirty="0">
                <a:solidFill>
                  <a:schemeClr val="tx1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de la.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6227064" y="1554480"/>
            <a:ext cx="5413248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LES PERSONNES</a:t>
            </a:r>
            <a:endParaRPr lang="en-US" sz="1700" dirty="0"/>
          </a:p>
        </p:txBody>
      </p:sp>
      <p:pic>
        <p:nvPicPr>
          <p:cNvPr id="17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2286000"/>
            <a:ext cx="777240" cy="7772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415784" y="21945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pic>
        <p:nvPicPr>
          <p:cNvPr id="19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3310128"/>
            <a:ext cx="777240" cy="77724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15784" y="321868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de trein.</a:t>
            </a:r>
            <a:endParaRPr lang="en-US" sz="1900" dirty="0"/>
          </a:p>
        </p:txBody>
      </p:sp>
      <p:pic>
        <p:nvPicPr>
          <p:cNvPr id="21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5664" y="4334256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415784" y="424281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An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een vergadering.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5321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Waar </a:t>
            </a:r>
            <a:r>
              <a:rPr lang="en-US" sz="1800" b="1" i="1" dirty="0">
                <a:solidFill>
                  <a:schemeClr val="bg1"/>
                </a:solidFill>
              </a:rPr>
              <a:t>zit</a:t>
            </a:r>
            <a:r>
              <a:rPr lang="en-US" sz="1800" i="1" dirty="0">
                <a:solidFill>
                  <a:schemeClr val="bg1"/>
                </a:solidFill>
              </a:rPr>
              <a:t> je?</a:t>
            </a:r>
            <a:r>
              <a:rPr lang="en-US" sz="1800" dirty="0">
                <a:solidFill>
                  <a:schemeClr val="bg1"/>
                </a:solidFill>
              </a:rPr>
              <a:t> = Où es-tu ? (familier, très courant au téléphone en Flandre) · </a:t>
            </a:r>
            <a:r>
              <a:rPr lang="en-US" sz="1800" i="1" dirty="0">
                <a:solidFill>
                  <a:schemeClr val="bg1"/>
                </a:solidFill>
              </a:rPr>
              <a:t>de la</a:t>
            </a:r>
            <a:r>
              <a:rPr lang="en-US" sz="1800" dirty="0">
                <a:solidFill>
                  <a:schemeClr val="bg1"/>
                </a:solidFill>
              </a:rPr>
              <a:t> = le tiroir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être » ne suffit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9456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210312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Mes clés </a:t>
            </a:r>
            <a:r>
              <a:rPr lang="en-US" sz="1600" b="1" dirty="0">
                <a:solidFill>
                  <a:schemeClr val="tx1"/>
                </a:solidFill>
              </a:rPr>
              <a:t>sont</a:t>
            </a:r>
            <a:r>
              <a:rPr lang="en-US" sz="1600" dirty="0">
                <a:solidFill>
                  <a:schemeClr val="tx1"/>
                </a:solidFill>
              </a:rPr>
              <a:t> dans mon sac.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031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Mijn sleutels zijn in mijn tas.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726680" y="2487168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01000" y="2176272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21762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Mijn sleutels </a:t>
            </a:r>
            <a:r>
              <a:rPr lang="en-US" sz="1700" b="1" i="1" dirty="0">
                <a:solidFill>
                  <a:schemeClr val="accent1"/>
                </a:solidFill>
              </a:rPr>
              <a:t>zitten</a:t>
            </a:r>
            <a:r>
              <a:rPr lang="en-US" sz="1700" i="1" dirty="0">
                <a:solidFill>
                  <a:schemeClr val="tx1"/>
                </a:solidFill>
              </a:rPr>
              <a:t> in mijn tas.</a:t>
            </a:r>
            <a:endParaRPr lang="en-US" sz="1700" dirty="0"/>
          </a:p>
        </p:txBody>
      </p:sp>
      <p:pic>
        <p:nvPicPr>
          <p:cNvPr id="13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594360" cy="5943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2962656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Le tableau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au mur.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962656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✗ </a:t>
            </a:r>
            <a:r>
              <a:rPr lang="en-US" sz="1300" i="1" strike="sngStrike" dirty="0">
                <a:solidFill>
                  <a:schemeClr val="accent6"/>
                </a:solidFill>
              </a:rPr>
              <a:t>Het schilderij is aan de muur.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726680" y="3346704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01000" y="3035808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92440" y="30358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schilderij </a:t>
            </a:r>
            <a:r>
              <a:rPr lang="en-US" sz="1700" b="1" i="1" dirty="0">
                <a:solidFill>
                  <a:schemeClr val="accent4"/>
                </a:solidFill>
              </a:rPr>
              <a:t>hangt</a:t>
            </a:r>
            <a:r>
              <a:rPr lang="en-US" sz="1700" i="1" dirty="0">
                <a:solidFill>
                  <a:schemeClr val="tx1"/>
                </a:solidFill>
              </a:rPr>
              <a:t> aan de muur.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13632"/>
            <a:ext cx="594360" cy="5943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63040" y="3822192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Bruxelles </a:t>
            </a:r>
            <a:r>
              <a:rPr lang="en-US" sz="1600" b="1" dirty="0">
                <a:solidFill>
                  <a:schemeClr val="tx1"/>
                </a:solidFill>
              </a:rPr>
              <a:t>se trouve</a:t>
            </a:r>
            <a:r>
              <a:rPr lang="en-US" sz="1600" dirty="0">
                <a:solidFill>
                  <a:schemeClr val="tx1"/>
                </a:solidFill>
              </a:rPr>
              <a:t> en Belgique. »</a:t>
            </a:r>
            <a:endParaRPr lang="en-US" sz="1600" dirty="0"/>
          </a:p>
        </p:txBody>
      </p:sp>
      <p:sp>
        <p:nvSpPr>
          <p:cNvPr id="21" name="Shape 15"/>
          <p:cNvSpPr/>
          <p:nvPr/>
        </p:nvSpPr>
        <p:spPr>
          <a:xfrm>
            <a:off x="7726680" y="4206240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8001000" y="3895344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92440" y="389534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Brussel </a:t>
            </a:r>
            <a:r>
              <a:rPr lang="en-US" sz="1700" b="1" i="1" dirty="0">
                <a:solidFill>
                  <a:schemeClr val="accent3"/>
                </a:solidFill>
              </a:rPr>
              <a:t>ligt</a:t>
            </a:r>
            <a:r>
              <a:rPr lang="en-US" sz="1700" i="1" dirty="0">
                <a:solidFill>
                  <a:schemeClr val="tx1"/>
                </a:solidFill>
              </a:rPr>
              <a:t> in België.</a:t>
            </a:r>
            <a:endParaRPr lang="en-US" sz="1700" dirty="0"/>
          </a:p>
        </p:txBody>
      </p:sp>
      <p:pic>
        <p:nvPicPr>
          <p:cNvPr id="24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73168"/>
            <a:ext cx="594360" cy="59436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63040" y="468172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Qu’est-ce qui </a:t>
            </a:r>
            <a:r>
              <a:rPr lang="en-US" sz="1600" b="1" dirty="0">
                <a:solidFill>
                  <a:schemeClr val="tx1"/>
                </a:solidFill>
              </a:rPr>
              <a:t>est</a:t>
            </a:r>
            <a:r>
              <a:rPr lang="en-US" sz="1600" dirty="0">
                <a:solidFill>
                  <a:schemeClr val="tx1"/>
                </a:solidFill>
              </a:rPr>
              <a:t> écrit ? »</a:t>
            </a:r>
            <a:endParaRPr lang="en-US" sz="1600" dirty="0"/>
          </a:p>
        </p:txBody>
      </p:sp>
      <p:sp>
        <p:nvSpPr>
          <p:cNvPr id="26" name="Shape 19"/>
          <p:cNvSpPr/>
          <p:nvPr/>
        </p:nvSpPr>
        <p:spPr>
          <a:xfrm>
            <a:off x="7726680" y="5065776"/>
            <a:ext cx="22860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0"/>
          <p:cNvSpPr/>
          <p:nvPr/>
        </p:nvSpPr>
        <p:spPr>
          <a:xfrm>
            <a:off x="8001000" y="4754880"/>
            <a:ext cx="3520440" cy="640080"/>
          </a:xfrm>
          <a:prstGeom prst="roundRect">
            <a:avLst>
              <a:gd name="adj" fmla="val 14286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809244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Wat </a:t>
            </a:r>
            <a:r>
              <a:rPr lang="en-US" sz="1700" b="1" i="1" dirty="0">
                <a:solidFill>
                  <a:schemeClr val="accent2"/>
                </a:solidFill>
              </a:rPr>
              <a:t>staat</a:t>
            </a:r>
            <a:r>
              <a:rPr lang="en-US" sz="1700" i="1" dirty="0">
                <a:solidFill>
                  <a:schemeClr val="tx1"/>
                </a:solidFill>
              </a:rPr>
              <a:t> er?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Villes, pays : </a:t>
            </a:r>
            <a:r>
              <a:rPr lang="en-US" sz="1700" i="1" dirty="0">
                <a:solidFill>
                  <a:schemeClr val="bg1"/>
                </a:solidFill>
              </a:rPr>
              <a:t>liggen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Gent ligt aan de Schelde</a:t>
            </a:r>
            <a:r>
              <a:rPr lang="en-US" sz="1700" dirty="0">
                <a:solidFill>
                  <a:schemeClr val="bg1"/>
                </a:solidFill>
              </a:rPr>
              <a:t>) · un texte : </a:t>
            </a:r>
            <a:r>
              <a:rPr lang="en-US" sz="1700" i="1" dirty="0">
                <a:solidFill>
                  <a:schemeClr val="bg1"/>
                </a:solidFill>
              </a:rPr>
              <a:t>staan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Het staat in de mail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prépositions de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4420" y="192938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81051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97180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0896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24597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46120" y="220370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394960" y="155448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532120" y="277063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20740" y="249631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669280" y="19293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56832" y="155448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onder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8580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9436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463040" y="3959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81051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naast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297180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10896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246120" y="3557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497580" y="3977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23367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voor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394960" y="301752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532120" y="423367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36208" y="3483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69280" y="3666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656832" y="301752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achter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54864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8580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1440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74420" y="54223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81051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tussen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297180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310896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246120" y="51297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634740" y="4572000"/>
            <a:ext cx="914" cy="5486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497580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23367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boven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5394960" y="4480560"/>
            <a:ext cx="2286000" cy="1353312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532120" y="5696712"/>
            <a:ext cx="105156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623560" y="4572000"/>
            <a:ext cx="868680" cy="1078992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783580" y="4754880"/>
            <a:ext cx="548640" cy="5486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6057900" y="4864608"/>
            <a:ext cx="914" cy="164592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057900" y="5029200"/>
            <a:ext cx="120701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6656832" y="4480560"/>
            <a:ext cx="987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aan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8046720" y="1554480"/>
            <a:ext cx="3593592" cy="4279392"/>
          </a:xfrm>
          <a:prstGeom prst="roundRect">
            <a:avLst>
              <a:gd name="adj" fmla="val 20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0" y="16459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EN PHRASE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0" y="2011680"/>
            <a:ext cx="32461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bal </a:t>
            </a:r>
            <a:r>
              <a:rPr lang="en-US" sz="1800" b="1" i="1" dirty="0">
                <a:solidFill>
                  <a:schemeClr val="tx1"/>
                </a:solidFill>
              </a:rPr>
              <a:t>ligt onder</a:t>
            </a:r>
            <a:r>
              <a:rPr lang="en-US" sz="1800" i="1" dirty="0">
                <a:solidFill>
                  <a:schemeClr val="tx1"/>
                </a:solidFill>
              </a:rPr>
              <a:t> de doos.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lamp </a:t>
            </a:r>
            <a:r>
              <a:rPr lang="en-US" sz="1800" b="1" i="1" dirty="0">
                <a:solidFill>
                  <a:schemeClr val="tx1"/>
                </a:solidFill>
              </a:rPr>
              <a:t>hangt boven</a:t>
            </a:r>
            <a:r>
              <a:rPr lang="en-US" sz="1800" i="1" dirty="0">
                <a:solidFill>
                  <a:schemeClr val="tx1"/>
                </a:solidFill>
              </a:rPr>
              <a:t> de tafel.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</a:t>
            </a:r>
            <a:r>
              <a:rPr lang="en-US" sz="1800" b="1" i="1" dirty="0">
                <a:solidFill>
                  <a:schemeClr val="tx1"/>
                </a:solidFill>
              </a:rPr>
              <a:t>staat naast</a:t>
            </a:r>
            <a:r>
              <a:rPr lang="en-US" sz="1800" i="1" dirty="0">
                <a:solidFill>
                  <a:schemeClr val="tx1"/>
                </a:solidFill>
              </a:rPr>
              <a:t> de kast.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De klok </a:t>
            </a:r>
            <a:r>
              <a:rPr lang="en-US" sz="1800" b="1" i="1" dirty="0">
                <a:solidFill>
                  <a:schemeClr val="tx1"/>
                </a:solidFill>
              </a:rPr>
              <a:t>hangt aan</a:t>
            </a:r>
            <a:r>
              <a:rPr lang="en-US" sz="1800" i="1" dirty="0">
                <a:solidFill>
                  <a:schemeClr val="tx1"/>
                </a:solidFill>
              </a:rPr>
              <a:t> de muur.</a:t>
            </a:r>
            <a:endParaRPr lang="en-US" sz="18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5943600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 = sur (contact) · </a:t>
            </a:r>
            <a:r>
              <a:rPr lang="en-US" sz="1500" i="1" dirty="0">
                <a:solidFill>
                  <a:schemeClr val="accent5"/>
                </a:solidFill>
              </a:rPr>
              <a:t>boven</a:t>
            </a:r>
            <a:r>
              <a:rPr lang="en-US" sz="1500" i="1" dirty="0">
                <a:solidFill>
                  <a:schemeClr val="accent5"/>
                </a:solidFill>
              </a:rPr>
              <a:t> = au-dessus (sans contact) · </a:t>
            </a:r>
            <a:r>
              <a:rPr lang="en-US" sz="1500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 = accroché à · </a:t>
            </a:r>
            <a:r>
              <a:rPr lang="en-US" sz="1500" i="1" dirty="0">
                <a:solidFill>
                  <a:schemeClr val="accent5"/>
                </a:solidFill>
              </a:rPr>
              <a:t>tussen</a:t>
            </a:r>
            <a:r>
              <a:rPr lang="en-US" sz="1500" i="1" dirty="0">
                <a:solidFill>
                  <a:schemeClr val="accent5"/>
                </a:solidFill>
              </a:rPr>
              <a:t> = entre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Hand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2768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0584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ACTION — je mets</a:t>
            </a:r>
            <a:endParaRPr lang="en-US" sz="1500" dirty="0"/>
          </a:p>
        </p:txBody>
      </p:sp>
      <p:pic>
        <p:nvPicPr>
          <p:cNvPr id="7" name="Image 1" descr="MapMarker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72768"/>
            <a:ext cx="347472" cy="34747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858000" y="15544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tx2"/>
                </a:solidFill>
              </a:rPr>
              <a:t>POSITION — le résultat</a:t>
            </a:r>
            <a:endParaRPr lang="en-US" sz="1500" dirty="0"/>
          </a:p>
        </p:txBody>
      </p:sp>
      <p:sp>
        <p:nvSpPr>
          <p:cNvPr id="9" name="Shape 4"/>
          <p:cNvSpPr/>
          <p:nvPr/>
        </p:nvSpPr>
        <p:spPr>
          <a:xfrm>
            <a:off x="548640" y="205740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731520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het boek op tafel.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035040" y="2423160"/>
            <a:ext cx="32004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2" name="Shape 7"/>
          <p:cNvSpPr/>
          <p:nvPr/>
        </p:nvSpPr>
        <p:spPr>
          <a:xfrm>
            <a:off x="6400800" y="205740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5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0" y="20574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</a:t>
            </a:r>
            <a:r>
              <a:rPr lang="en-US" sz="1900" b="1" i="1" dirty="0">
                <a:solidFill>
                  <a:schemeClr val="tx1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48640" y="292608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dash"/>
          </a:ln>
        </p:spPr>
      </p:sp>
      <p:sp>
        <p:nvSpPr>
          <p:cNvPr id="15" name="Text 10"/>
          <p:cNvSpPr txBox="1"/>
          <p:nvPr/>
        </p:nvSpPr>
        <p:spPr>
          <a:xfrm>
            <a:off x="731520" y="29260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zet</a:t>
            </a:r>
            <a:r>
              <a:rPr lang="en-US" sz="1900" i="1" dirty="0">
                <a:solidFill>
                  <a:schemeClr val="tx1"/>
                </a:solidFill>
              </a:rPr>
              <a:t> de vaas op tafel.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6035040" y="3291840"/>
            <a:ext cx="32004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0" y="292608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5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583680" y="292608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vaas </a:t>
            </a:r>
            <a:r>
              <a:rPr lang="en-US" sz="1900" b="1" i="1" dirty="0">
                <a:solidFill>
                  <a:schemeClr val="tx1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op tafel.</a:t>
            </a:r>
            <a:endParaRPr lang="en-US" sz="19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dash"/>
          </a:ln>
        </p:spPr>
      </p:sp>
      <p:sp>
        <p:nvSpPr>
          <p:cNvPr id="20" name="Text 15"/>
          <p:cNvSpPr txBox="1"/>
          <p:nvPr/>
        </p:nvSpPr>
        <p:spPr>
          <a:xfrm>
            <a:off x="73152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hang</a:t>
            </a:r>
            <a:r>
              <a:rPr lang="en-US" sz="1900" i="1" dirty="0">
                <a:solidFill>
                  <a:schemeClr val="tx1"/>
                </a:solidFill>
              </a:rPr>
              <a:t> mijn jas aan de kapstok.</a:t>
            </a:r>
            <a:endParaRPr lang="en-US" sz="1900" dirty="0"/>
          </a:p>
        </p:txBody>
      </p:sp>
      <p:sp>
        <p:nvSpPr>
          <p:cNvPr id="21" name="Shape 16"/>
          <p:cNvSpPr/>
          <p:nvPr/>
        </p:nvSpPr>
        <p:spPr>
          <a:xfrm>
            <a:off x="6035040" y="4160520"/>
            <a:ext cx="32004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6400800" y="379476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4">
              <a:alpha val="15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583680" y="3794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Mijn jas </a:t>
            </a:r>
            <a:r>
              <a:rPr lang="en-US" sz="1900" b="1" i="1" dirty="0">
                <a:solidFill>
                  <a:schemeClr val="tx1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kapstok.</a:t>
            </a:r>
            <a:endParaRPr lang="en-US" sz="1900" dirty="0"/>
          </a:p>
        </p:txBody>
      </p:sp>
      <p:sp>
        <p:nvSpPr>
          <p:cNvPr id="24" name="Shape 19"/>
          <p:cNvSpPr/>
          <p:nvPr/>
        </p:nvSpPr>
        <p:spPr>
          <a:xfrm>
            <a:off x="548640" y="4663440"/>
            <a:ext cx="5440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731520" y="4663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stop</a:t>
            </a:r>
            <a:r>
              <a:rPr lang="en-US" sz="1900" i="1" dirty="0">
                <a:solidFill>
                  <a:schemeClr val="tx1"/>
                </a:solidFill>
              </a:rPr>
              <a:t> de sleutel in mijn tas.</a:t>
            </a:r>
            <a:endParaRPr lang="en-US" sz="1900" dirty="0"/>
          </a:p>
        </p:txBody>
      </p:sp>
      <p:sp>
        <p:nvSpPr>
          <p:cNvPr id="26" name="Shape 21"/>
          <p:cNvSpPr/>
          <p:nvPr/>
        </p:nvSpPr>
        <p:spPr>
          <a:xfrm>
            <a:off x="6035040" y="5029200"/>
            <a:ext cx="3200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6400800" y="4663440"/>
            <a:ext cx="5239512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5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583680" y="4663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De sleutel </a:t>
            </a:r>
            <a:r>
              <a:rPr lang="en-US" sz="1900" b="1" i="1" dirty="0">
                <a:solidFill>
                  <a:schemeClr val="tx1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tas.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hangen</a:t>
            </a:r>
            <a:r>
              <a:rPr lang="en-US" sz="1700" dirty="0">
                <a:solidFill>
                  <a:schemeClr val="bg1"/>
                </a:solidFill>
              </a:rPr>
              <a:t> sert aux deux · </a:t>
            </a:r>
            <a:r>
              <a:rPr lang="en-US" sz="1700" i="1" dirty="0">
                <a:solidFill>
                  <a:schemeClr val="bg1"/>
                </a:solidFill>
              </a:rPr>
              <a:t>stoppen in</a:t>
            </a:r>
            <a:r>
              <a:rPr lang="en-US" sz="1700" dirty="0">
                <a:solidFill>
                  <a:schemeClr val="bg1"/>
                </a:solidFill>
              </a:rPr>
              <a:t> = mettre dans · personnes : </a:t>
            </a:r>
            <a:r>
              <a:rPr lang="en-US" sz="1700" i="1" dirty="0">
                <a:solidFill>
                  <a:schemeClr val="bg1"/>
                </a:solidFill>
              </a:rPr>
              <a:t>gaan zitten / liggen / staan</a:t>
            </a:r>
            <a:r>
              <a:rPr lang="en-US" sz="1700" dirty="0">
                <a:solidFill>
                  <a:schemeClr val="bg1"/>
                </a:solidFill>
              </a:rPr>
              <a:t> (M16)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« mettre » = quatre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77240" y="3154680"/>
            <a:ext cx="182880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3154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« mettre »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 flipV="1">
            <a:off x="2651760" y="2148840"/>
            <a:ext cx="411480" cy="141732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108960" y="189280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108960" y="189280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leggen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1828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le dossier sur la table. »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182880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Leg het dossier op tafel.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 flipV="1">
            <a:off x="2651760" y="2880360"/>
            <a:ext cx="411480" cy="685800"/>
          </a:xfrm>
          <a:prstGeom prst="line">
            <a:avLst/>
          </a:prstGeom>
          <a:noFill/>
          <a:ln w="254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3108960" y="262432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262432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zetten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617720" y="25603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tasse sur la table. 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5603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Zet het kopje op tafel.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651760" y="3566160"/>
            <a:ext cx="411480" cy="45720"/>
          </a:xfrm>
          <a:prstGeom prst="line">
            <a:avLst/>
          </a:prstGeom>
          <a:noFill/>
          <a:ln w="254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3108960" y="335584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35584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hangen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617720" y="3291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au portemanteau. »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55280" y="32918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Hang je jas aan de kapstok.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2651760" y="3566160"/>
            <a:ext cx="411480" cy="777240"/>
          </a:xfrm>
          <a:prstGeom prst="line">
            <a:avLst/>
          </a:prstGeom>
          <a:noFill/>
          <a:ln w="254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108960" y="408736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408736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stoppen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la clé dans ton sac. »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4023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Stop de sleutel in je tas.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2651760" y="3566160"/>
            <a:ext cx="411480" cy="150876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3108960" y="4818888"/>
            <a:ext cx="1325880" cy="512064"/>
          </a:xfrm>
          <a:prstGeom prst="roundRect">
            <a:avLst>
              <a:gd name="adj" fmla="val 1785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108960" y="4818888"/>
            <a:ext cx="1325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aandoen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4754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Mets ton manteau ! » (enfiler)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955280" y="47548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→ </a:t>
            </a:r>
            <a:r>
              <a:rPr lang="en-US" sz="1700" b="1" i="1" dirty="0">
                <a:solidFill>
                  <a:schemeClr val="tx1"/>
                </a:solidFill>
              </a:rPr>
              <a:t>Doe je jas aan! (M11)</a:t>
            </a:r>
            <a:endParaRPr lang="en-US" sz="1700" dirty="0"/>
          </a:p>
        </p:txBody>
      </p:sp>
      <p:sp>
        <p:nvSpPr>
          <p:cNvPr id="34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Réflexe : à la fin, l’objet sera </a:t>
            </a:r>
            <a:r>
              <a:rPr lang="en-US" sz="1800" b="1" dirty="0">
                <a:solidFill>
                  <a:schemeClr val="bg1"/>
                </a:solidFill>
              </a:rPr>
              <a:t>couché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debout</a:t>
            </a:r>
            <a:r>
              <a:rPr lang="en-US" sz="1800" dirty="0">
                <a:solidFill>
                  <a:schemeClr val="bg1"/>
                </a:solidFill>
              </a:rPr>
              <a:t>, </a:t>
            </a:r>
            <a:r>
              <a:rPr lang="en-US" sz="1800" b="1" dirty="0">
                <a:solidFill>
                  <a:schemeClr val="bg1"/>
                </a:solidFill>
              </a:rPr>
              <a:t>suspendu</a:t>
            </a:r>
            <a:r>
              <a:rPr lang="en-US" sz="1800" dirty="0">
                <a:solidFill>
                  <a:schemeClr val="bg1"/>
                </a:solidFill>
              </a:rPr>
              <a:t> ou </a:t>
            </a:r>
            <a:r>
              <a:rPr lang="en-US" sz="1800" b="1" dirty="0">
                <a:solidFill>
                  <a:schemeClr val="bg1"/>
                </a:solidFill>
              </a:rPr>
              <a:t>dedans</a:t>
            </a:r>
            <a:r>
              <a:rPr lang="en-US" sz="1800" dirty="0">
                <a:solidFill>
                  <a:schemeClr val="bg1"/>
                </a:solidFill>
              </a:rPr>
              <a:t>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composé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POSITION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lang </a:t>
            </a:r>
            <a:r>
              <a:rPr lang="en-US" sz="1900" b="1" i="1" dirty="0">
                <a:solidFill>
                  <a:schemeClr val="accent6"/>
                </a:solidFill>
              </a:rPr>
              <a:t>gezeten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We hebben een uur </a:t>
            </a:r>
            <a:r>
              <a:rPr lang="en-US" sz="1900" b="1" i="1" dirty="0">
                <a:solidFill>
                  <a:schemeClr val="accent6"/>
                </a:solidFill>
              </a:rPr>
              <a:t>gestaan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Het boek heeft daar </a:t>
            </a:r>
            <a:r>
              <a:rPr lang="en-US" sz="1900" b="1" i="1" dirty="0">
                <a:solidFill>
                  <a:schemeClr val="accent6"/>
                </a:solidFill>
              </a:rPr>
              <a:t>gelegen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jas heeft daar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irréguliers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27064" y="1554480"/>
            <a:ext cx="5413248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ACTION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501384" y="2194560"/>
            <a:ext cx="4937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het boek op tafel </a:t>
            </a:r>
            <a:r>
              <a:rPr lang="en-US" sz="1900" b="1" i="1" dirty="0">
                <a:solidFill>
                  <a:schemeClr val="accent6"/>
                </a:solidFill>
              </a:rPr>
              <a:t>gelegd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de vaas op tafel </a:t>
            </a:r>
            <a:r>
              <a:rPr lang="en-US" sz="1900" b="1" i="1" dirty="0">
                <a:solidFill>
                  <a:schemeClr val="accent6"/>
                </a:solidFill>
              </a:rPr>
              <a:t>gezet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mijn jas aan de kapstok </a:t>
            </a:r>
            <a:r>
              <a:rPr lang="en-US" sz="1900" b="1" i="1" dirty="0">
                <a:solidFill>
                  <a:schemeClr val="accent6"/>
                </a:solidFill>
              </a:rPr>
              <a:t>gehangen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501384" y="4343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gelegd, gezet</a:t>
            </a:r>
            <a:r>
              <a:rPr lang="en-US" sz="1400" i="1" dirty="0">
                <a:solidFill>
                  <a:schemeClr val="accent5"/>
                </a:solidFill>
              </a:rPr>
              <a:t> : réguliers (M15)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5029200"/>
            <a:ext cx="5852160" cy="1188720"/>
          </a:xfrm>
          <a:prstGeom prst="roundRect">
            <a:avLst>
              <a:gd name="adj" fmla="val 6154"/>
            </a:avLst>
          </a:prstGeom>
          <a:solidFill>
            <a:schemeClr val="accent6">
              <a:alpha val="10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02920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⚠ </a:t>
            </a:r>
            <a:r>
              <a:rPr lang="en-US" sz="2000" b="1" i="1" dirty="0">
                <a:solidFill>
                  <a:schemeClr val="tx1"/>
                </a:solidFill>
              </a:rPr>
              <a:t>gelegen</a:t>
            </a:r>
            <a:r>
              <a:rPr lang="en-US" sz="2000" dirty="0">
                <a:solidFill>
                  <a:schemeClr val="tx1"/>
                </a:solidFill>
              </a:rPr>
              <a:t> (position) ≠ </a:t>
            </a:r>
            <a:r>
              <a:rPr lang="en-US" sz="2000" b="1" i="1" dirty="0">
                <a:solidFill>
                  <a:schemeClr val="tx1"/>
                </a:solidFill>
              </a:rPr>
              <a:t>gelegd</a:t>
            </a:r>
            <a:r>
              <a:rPr lang="en-US" sz="2000" dirty="0">
                <a:solidFill>
                  <a:schemeClr val="tx1"/>
                </a:solidFill>
              </a:rPr>
              <a:t> (action)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583680" y="5029200"/>
            <a:ext cx="505663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5029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Norme : </a:t>
            </a:r>
            <a:r>
              <a:rPr lang="en-US" sz="1500" i="1" dirty="0">
                <a:solidFill>
                  <a:schemeClr val="tx1"/>
                </a:solidFill>
              </a:rPr>
              <a:t>hebben</a:t>
            </a:r>
            <a:r>
              <a:rPr lang="en-US" sz="1500" dirty="0">
                <a:solidFill>
                  <a:schemeClr val="tx1"/>
                </a:solidFill>
              </a:rPr>
              <a:t> (en Flandre, on entend </a:t>
            </a:r>
            <a:r>
              <a:rPr lang="en-US" sz="1500" i="1" dirty="0">
                <a:solidFill>
                  <a:schemeClr val="tx1"/>
                </a:solidFill>
              </a:rPr>
              <a:t>Ik ben gezeten</a:t>
            </a:r>
            <a:r>
              <a:rPr lang="en-US" sz="1500" dirty="0">
                <a:solidFill>
                  <a:schemeClr val="tx1"/>
                </a:solidFill>
              </a:rPr>
              <a:t>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Teaser M19 : </a:t>
            </a:r>
            <a:r>
              <a:rPr lang="en-US" sz="1500" i="1" dirty="0">
                <a:solidFill>
                  <a:schemeClr val="tx1"/>
                </a:solidFill>
              </a:rPr>
              <a:t>zat, stond, lag, hing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être en train de…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technolog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812" y="173736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zit te</a:t>
            </a:r>
            <a:r>
              <a:rPr lang="en-US" sz="2200" i="1" dirty="0">
                <a:solidFill>
                  <a:schemeClr val="tx1"/>
                </a:solidFill>
              </a:rPr>
              <a:t> werken.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us s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7236" y="1737360"/>
            <a:ext cx="1554480" cy="1554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504944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</a:t>
            </a:r>
            <a:r>
              <a:rPr lang="en-US" sz="2200" b="1" i="1" dirty="0">
                <a:solidFill>
                  <a:schemeClr val="tx1"/>
                </a:solidFill>
              </a:rPr>
              <a:t>sta</a:t>
            </a:r>
            <a:r>
              <a:rPr lang="en-US" sz="2200" i="1" dirty="0">
                <a:solidFill>
                  <a:schemeClr val="tx1"/>
                </a:solidFill>
              </a:rPr>
              <a:t> op de bus </a:t>
            </a:r>
            <a:r>
              <a:rPr lang="en-US" sz="2200" b="1" i="1" dirty="0">
                <a:solidFill>
                  <a:schemeClr val="tx1"/>
                </a:solidFill>
              </a:rPr>
              <a:t>te</a:t>
            </a:r>
            <a:r>
              <a:rPr lang="en-US" sz="2200" i="1" dirty="0">
                <a:solidFill>
                  <a:schemeClr val="tx1"/>
                </a:solidFill>
              </a:rPr>
              <a:t> wachten.</a:t>
            </a:r>
            <a:endParaRPr lang="en-US" sz="22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32004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erson in b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0660" y="1737360"/>
            <a:ext cx="1554480" cy="15544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78368" y="3429000"/>
            <a:ext cx="3179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 </a:t>
            </a:r>
            <a:r>
              <a:rPr lang="en-US" sz="2200" b="1" i="1" dirty="0">
                <a:solidFill>
                  <a:schemeClr val="tx1"/>
                </a:solidFill>
              </a:rPr>
              <a:t>ligt te</a:t>
            </a:r>
            <a:r>
              <a:rPr lang="en-US" sz="2200" i="1" dirty="0">
                <a:solidFill>
                  <a:schemeClr val="tx1"/>
                </a:solidFill>
              </a:rPr>
              <a:t> slapen.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548640" y="50292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22960" y="50292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= « être </a:t>
            </a:r>
            <a:r>
              <a:rPr lang="en-US" sz="2000" b="1" dirty="0">
                <a:solidFill>
                  <a:schemeClr val="bg1"/>
                </a:solidFill>
              </a:rPr>
              <a:t>en train de</a:t>
            </a:r>
            <a:r>
              <a:rPr lang="en-US" sz="2000" dirty="0">
                <a:solidFill>
                  <a:schemeClr val="bg1"/>
                </a:solidFill>
              </a:rPr>
              <a:t>… » avec la posture · sans posture : </a:t>
            </a:r>
            <a:r>
              <a:rPr lang="en-US" sz="2000" i="1" dirty="0">
                <a:solidFill>
                  <a:schemeClr val="bg1"/>
                </a:solidFill>
              </a:rPr>
              <a:t>Ik ben </a:t>
            </a:r>
            <a:r>
              <a:rPr lang="en-US" sz="2000" b="1" i="1" dirty="0">
                <a:solidFill>
                  <a:schemeClr val="bg1"/>
                </a:solidFill>
              </a:rPr>
              <a:t>aan het</a:t>
            </a:r>
            <a:r>
              <a:rPr lang="en-US" sz="2000" i="1" dirty="0">
                <a:solidFill>
                  <a:schemeClr val="bg1"/>
                </a:solidFill>
              </a:rPr>
              <a:t> werken.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la position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dans un contenant (sac, poche, boîte) 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zitten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stoppen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suspendu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hangen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hangen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C’est debout, sur sa base ?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staan</a:t>
            </a:r>
            <a:r>
              <a:rPr lang="en-US" sz="1800" dirty="0">
                <a:solidFill>
                  <a:schemeClr val="bg1"/>
                </a:solidFill>
              </a:rPr>
              <a:t>  ·  action : </a:t>
            </a:r>
            <a:r>
              <a:rPr lang="en-US" sz="1800" i="1" dirty="0">
                <a:solidFill>
                  <a:schemeClr val="bg1"/>
                </a:solidFill>
              </a:rPr>
              <a:t>zetten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901184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sinon (à plat, couché) → </a:t>
            </a:r>
            <a:r>
              <a:rPr lang="en-US" sz="1900" b="1" dirty="0">
                <a:solidFill>
                  <a:schemeClr val="bg1"/>
                </a:solidFill>
              </a:rPr>
              <a:t>liggen</a:t>
            </a:r>
            <a:r>
              <a:rPr lang="en-US" sz="1900" dirty="0">
                <a:solidFill>
                  <a:schemeClr val="bg1"/>
                </a:solidFill>
              </a:rPr>
              <a:t>  ·  action : </a:t>
            </a:r>
            <a:r>
              <a:rPr lang="en-US" sz="1900" i="1" dirty="0">
                <a:solidFill>
                  <a:schemeClr val="bg1"/>
                </a:solidFill>
              </a:rPr>
              <a:t>leggen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PERSONNES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281160" y="21031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281160" y="21031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zitten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9281160" y="25603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assis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281160" y="30175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281160" y="30175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staan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9281160" y="34747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debout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9281160" y="3931920"/>
            <a:ext cx="2176272" cy="4572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281160" y="3931920"/>
            <a:ext cx="2176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liggen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9281160" y="4389120"/>
            <a:ext cx="2176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couché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9235440" y="4846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action : </a:t>
            </a:r>
            <a:r>
              <a:rPr lang="en-US" sz="1300" i="1" dirty="0">
                <a:solidFill>
                  <a:schemeClr val="tx1"/>
                </a:solidFill>
              </a:rPr>
              <a:t>gaan zitten, gaan staan, gaan liggen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852160"/>
            <a:ext cx="8275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kast, garage</a:t>
            </a:r>
            <a:r>
              <a:rPr lang="en-US" sz="1500" i="1" dirty="0">
                <a:solidFill>
                  <a:schemeClr val="accent5"/>
                </a:solidFill>
              </a:rPr>
              <a:t> : la position compte → </a:t>
            </a:r>
            <a:r>
              <a:rPr lang="en-US" sz="1500" i="1" dirty="0">
                <a:solidFill>
                  <a:schemeClr val="accent5"/>
                </a:solidFill>
              </a:rPr>
              <a:t>De kopjes </a:t>
            </a:r>
            <a:r>
              <a:rPr lang="en-US" sz="1500" b="1" i="1" dirty="0">
                <a:solidFill>
                  <a:schemeClr val="accent5"/>
                </a:solidFill>
              </a:rPr>
              <a:t>staan</a:t>
            </a:r>
            <a:r>
              <a:rPr lang="en-US" sz="1500" i="1" dirty="0">
                <a:solidFill>
                  <a:schemeClr val="accent5"/>
                </a:solidFill>
              </a:rPr>
              <a:t> in de kast.</a:t>
            </a:r>
            <a:endParaRPr lang="en-US" sz="1500" dirty="0"/>
          </a:p>
        </p:txBody>
      </p:sp>
      <p:pic>
        <p:nvPicPr>
          <p:cNvPr id="4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est-il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Desk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bureau de Karim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Pap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Position ou action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oxO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prépositions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change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a changé 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u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déménagement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4" name="Shape 8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7" name="Shape 10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0" name="Shape 12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3" name="Shape 14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6" name="Shape 16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29" name="Shape 18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Où est-il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staan, liggen, zitten ou hangen (conjugué).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34362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Mijn sleutels </a:t>
            </a:r>
            <a:r>
              <a:rPr lang="en-US" sz="1900" b="1" i="1" dirty="0">
                <a:solidFill>
                  <a:schemeClr val="accent3"/>
                </a:solidFill>
              </a:rPr>
              <a:t>zitten</a:t>
            </a:r>
            <a:r>
              <a:rPr lang="en-US" sz="1900" i="1" dirty="0">
                <a:solidFill>
                  <a:schemeClr val="tx1"/>
                </a:solidFill>
              </a:rPr>
              <a:t> in mijn jaszak.</a:t>
            </a:r>
            <a:endParaRPr lang="en-US" sz="1900" dirty="0"/>
          </a:p>
        </p:txBody>
      </p:sp>
      <p:sp>
        <p:nvSpPr>
          <p:cNvPr id="12" name="Shape 7"/>
          <p:cNvSpPr/>
          <p:nvPr/>
        </p:nvSpPr>
        <p:spPr>
          <a:xfrm>
            <a:off x="6199632" y="198729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three o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2134362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59752" y="198729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klok </a:t>
            </a:r>
            <a:r>
              <a:rPr lang="en-US" sz="1900" b="1" i="1" dirty="0">
                <a:solidFill>
                  <a:schemeClr val="accent3"/>
                </a:solidFill>
              </a:rPr>
              <a:t>hangt</a:t>
            </a:r>
            <a:r>
              <a:rPr lang="en-US" sz="1900" i="1" dirty="0">
                <a:solidFill>
                  <a:schemeClr val="tx1"/>
                </a:solidFill>
              </a:rPr>
              <a:t> aan de muur.</a:t>
            </a:r>
            <a:endParaRPr lang="en-US" sz="1900" dirty="0"/>
          </a:p>
        </p:txBody>
      </p:sp>
      <p:sp>
        <p:nvSpPr>
          <p:cNvPr id="15" name="Shape 9"/>
          <p:cNvSpPr/>
          <p:nvPr/>
        </p:nvSpPr>
        <p:spPr>
          <a:xfrm>
            <a:off x="548640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teacup without hand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24022"/>
            <a:ext cx="685800" cy="685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kopjes </a:t>
            </a:r>
            <a:r>
              <a:rPr lang="en-US" sz="1900" b="1" i="1" dirty="0">
                <a:solidFill>
                  <a:schemeClr val="accent3"/>
                </a:solidFill>
              </a:rPr>
              <a:t>staan</a:t>
            </a:r>
            <a:r>
              <a:rPr lang="en-US" sz="1900" i="1" dirty="0">
                <a:solidFill>
                  <a:schemeClr val="tx1"/>
                </a:solidFill>
              </a:rPr>
              <a:t> in de kast.</a:t>
            </a:r>
            <a:endParaRPr lang="en-US" sz="1900" dirty="0"/>
          </a:p>
        </p:txBody>
      </p:sp>
      <p:sp>
        <p:nvSpPr>
          <p:cNvPr id="18" name="Shape 11"/>
          <p:cNvSpPr/>
          <p:nvPr/>
        </p:nvSpPr>
        <p:spPr>
          <a:xfrm>
            <a:off x="6199632" y="307695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newspa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24022"/>
            <a:ext cx="685800" cy="68580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159752" y="307695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krant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stoel.</a:t>
            </a:r>
            <a:endParaRPr lang="en-US" sz="1900" dirty="0"/>
          </a:p>
        </p:txBody>
      </p:sp>
      <p:sp>
        <p:nvSpPr>
          <p:cNvPr id="21" name="Shape 13"/>
          <p:cNvSpPr/>
          <p:nvPr/>
        </p:nvSpPr>
        <p:spPr>
          <a:xfrm>
            <a:off x="548640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3682"/>
            <a:ext cx="685800" cy="68580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508760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5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Karim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op zijn stoel.</a:t>
            </a:r>
            <a:endParaRPr lang="en-US" sz="1900" dirty="0"/>
          </a:p>
        </p:txBody>
      </p:sp>
      <p:sp>
        <p:nvSpPr>
          <p:cNvPr id="24" name="Shape 15"/>
          <p:cNvSpPr/>
          <p:nvPr/>
        </p:nvSpPr>
        <p:spPr>
          <a:xfrm>
            <a:off x="6199632" y="416661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6792" y="4313682"/>
            <a:ext cx="685800" cy="68580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159752" y="416661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6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fiets </a:t>
            </a:r>
            <a:r>
              <a:rPr lang="en-US" sz="1900" b="1" i="1" dirty="0">
                <a:solidFill>
                  <a:schemeClr val="accent3"/>
                </a:solidFill>
              </a:rPr>
              <a:t>staat</a:t>
            </a:r>
            <a:r>
              <a:rPr lang="en-US" sz="1900" i="1" dirty="0">
                <a:solidFill>
                  <a:schemeClr val="tx1"/>
                </a:solidFill>
              </a:rPr>
              <a:t> voor de deur.</a:t>
            </a:r>
            <a:endParaRPr lang="en-US" sz="1900" dirty="0"/>
          </a:p>
        </p:txBody>
      </p:sp>
      <p:sp>
        <p:nvSpPr>
          <p:cNvPr id="27" name="Shape 17"/>
          <p:cNvSpPr/>
          <p:nvPr/>
        </p:nvSpPr>
        <p:spPr>
          <a:xfrm>
            <a:off x="548640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euro bankno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403342"/>
            <a:ext cx="685800" cy="68580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1508760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7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Het geld </a:t>
            </a:r>
            <a:r>
              <a:rPr lang="en-US" sz="1900" b="1" i="1" dirty="0">
                <a:solidFill>
                  <a:schemeClr val="accent3"/>
                </a:solidFill>
              </a:rPr>
              <a:t>zit</a:t>
            </a:r>
            <a:r>
              <a:rPr lang="en-US" sz="1900" i="1" dirty="0">
                <a:solidFill>
                  <a:schemeClr val="tx1"/>
                </a:solidFill>
              </a:rPr>
              <a:t> in mijn portemonnee.</a:t>
            </a:r>
            <a:endParaRPr lang="en-US" sz="1900" dirty="0"/>
          </a:p>
        </p:txBody>
      </p:sp>
      <p:sp>
        <p:nvSpPr>
          <p:cNvPr id="30" name="Shape 19"/>
          <p:cNvSpPr/>
          <p:nvPr/>
        </p:nvSpPr>
        <p:spPr>
          <a:xfrm>
            <a:off x="6199632" y="5256276"/>
            <a:ext cx="5440680" cy="961644"/>
          </a:xfrm>
          <a:prstGeom prst="roundRect">
            <a:avLst>
              <a:gd name="adj" fmla="val 760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6792" y="5403342"/>
            <a:ext cx="685800" cy="685800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7159752" y="5256276"/>
            <a:ext cx="4389120" cy="961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8</a:t>
            </a:r>
            <a:r>
              <a:rPr lang="en-US" sz="1900" dirty="0">
                <a:solidFill>
                  <a:schemeClr val="tx1"/>
                </a:solidFill>
              </a:rPr>
              <a:t>  </a:t>
            </a:r>
            <a:r>
              <a:rPr lang="en-US" sz="1900" i="1" dirty="0">
                <a:solidFill>
                  <a:schemeClr val="tx1"/>
                </a:solidFill>
              </a:rPr>
              <a:t>De kat </a:t>
            </a:r>
            <a:r>
              <a:rPr lang="en-US" sz="1900" b="1" i="1" dirty="0">
                <a:solidFill>
                  <a:schemeClr val="accent3"/>
                </a:solidFill>
              </a:rPr>
              <a:t>ligt</a:t>
            </a:r>
            <a:r>
              <a:rPr lang="en-US" sz="1900" i="1" dirty="0">
                <a:solidFill>
                  <a:schemeClr val="tx1"/>
                </a:solidFill>
              </a:rPr>
              <a:t> op de bank te slapen.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8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19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15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dirty="0">
                <a:solidFill>
                  <a:schemeClr val="accent5"/>
                </a:solidFill>
              </a:rPr>
              <a:t>…………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bureau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dessin et complétez avec le bon verbe de 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480560" cy="4358640"/>
          </a:xfrm>
          <a:prstGeom prst="roundRect">
            <a:avLst>
              <a:gd name="adj" fmla="val 839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4809134"/>
            <a:ext cx="4480560" cy="1481938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15312"/>
            <a:ext cx="822960" cy="8229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343400" y="2161032"/>
            <a:ext cx="914" cy="2968142"/>
          </a:xfrm>
          <a:prstGeom prst="line">
            <a:avLst/>
          </a:prstGeom>
          <a:noFill/>
          <a:ln w="38100">
            <a:solidFill>
              <a:srgbClr val="8A6A45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114800" y="2133600"/>
            <a:ext cx="457200" cy="54864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o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206752"/>
            <a:ext cx="822960" cy="82296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77240" y="4329684"/>
            <a:ext cx="301752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91440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566160" y="4457700"/>
            <a:ext cx="109728" cy="1743456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desktop compu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4480" y="3369564"/>
            <a:ext cx="1005840" cy="1005840"/>
          </a:xfrm>
          <a:prstGeom prst="rect">
            <a:avLst/>
          </a:prstGeom>
        </p:spPr>
      </p:pic>
      <p:pic>
        <p:nvPicPr>
          <p:cNvPr id="19" name="Image 4" descr="keybo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5940" y="3982212"/>
            <a:ext cx="411480" cy="411480"/>
          </a:xfrm>
          <a:prstGeom prst="rect">
            <a:avLst/>
          </a:prstGeom>
        </p:spPr>
      </p:pic>
      <p:pic>
        <p:nvPicPr>
          <p:cNvPr id="20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890772"/>
            <a:ext cx="457200" cy="45720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960120" y="421995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3"/>
          <p:cNvSpPr/>
          <p:nvPr/>
        </p:nvSpPr>
        <p:spPr>
          <a:xfrm>
            <a:off x="960120" y="412851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4"/>
          <p:cNvSpPr/>
          <p:nvPr/>
        </p:nvSpPr>
        <p:spPr>
          <a:xfrm>
            <a:off x="960120" y="4037076"/>
            <a:ext cx="548640" cy="82296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735324"/>
            <a:ext cx="1097280" cy="109728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5257800" y="1932432"/>
            <a:ext cx="6382512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16"/>
          <p:cNvSpPr txBox="1"/>
          <p:nvPr/>
        </p:nvSpPr>
        <p:spPr>
          <a:xfrm>
            <a:off x="5486400" y="2115312"/>
            <a:ext cx="5943600" cy="399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chemeClr val="tx1"/>
                </a:solidFill>
              </a:rPr>
              <a:t>Op Karims bureau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groot scherm. Voor het scherm </a:t>
            </a:r>
            <a:r>
              <a:rPr lang="en-US" sz="2000" b="1" dirty="0">
                <a:solidFill>
                  <a:schemeClr val="accent3"/>
                </a:solidFill>
              </a:rPr>
              <a:t>ligt</a:t>
            </a:r>
            <a:r>
              <a:rPr lang="en-US" sz="2000" dirty="0">
                <a:solidFill>
                  <a:schemeClr val="tx1"/>
                </a:solidFill>
              </a:rPr>
              <a:t> het toetsenbord. Naast het toetsenbord </a:t>
            </a:r>
            <a:r>
              <a:rPr lang="en-US" sz="2000" b="1" dirty="0">
                <a:solidFill>
                  <a:schemeClr val="accent3"/>
                </a:solidFill>
              </a:rPr>
              <a:t>staat</a:t>
            </a:r>
            <a:r>
              <a:rPr lang="en-US" sz="2000" dirty="0">
                <a:solidFill>
                  <a:schemeClr val="tx1"/>
                </a:solidFill>
              </a:rPr>
              <a:t> een kopje koffie. Er </a:t>
            </a:r>
            <a:r>
              <a:rPr lang="en-US" sz="2000" b="1" dirty="0">
                <a:solidFill>
                  <a:schemeClr val="accent3"/>
                </a:solidFill>
              </a:rPr>
              <a:t>liggen</a:t>
            </a:r>
            <a:r>
              <a:rPr lang="en-US" sz="2000" dirty="0">
                <a:solidFill>
                  <a:schemeClr val="tx1"/>
                </a:solidFill>
              </a:rPr>
              <a:t> ook drie mappen. Aan de muur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een kalender. Zijn jas </a:t>
            </a:r>
            <a:r>
              <a:rPr lang="en-US" sz="2000" b="1" dirty="0">
                <a:solidFill>
                  <a:schemeClr val="accent3"/>
                </a:solidFill>
              </a:rPr>
              <a:t>hangt</a:t>
            </a:r>
            <a:r>
              <a:rPr lang="en-US" sz="2000" dirty="0">
                <a:solidFill>
                  <a:schemeClr val="tx1"/>
                </a:solidFill>
              </a:rPr>
              <a:t> aan de kapstok. Zijn badge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in zijn jaszak. En Karim? Hij </a:t>
            </a:r>
            <a:r>
              <a:rPr lang="en-US" sz="2000" b="1" dirty="0">
                <a:solidFill>
                  <a:schemeClr val="accent3"/>
                </a:solidFill>
              </a:rPr>
              <a:t>zit</a:t>
            </a:r>
            <a:r>
              <a:rPr lang="en-US" sz="2000" dirty="0">
                <a:solidFill>
                  <a:schemeClr val="tx1"/>
                </a:solidFill>
              </a:rPr>
              <a:t> op zijn stoel te werken!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(leg / lig)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(legt / ligt)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(staan / zetten)?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(staan / zetten) al klaar.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(hang / hangt)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(gelegen / gelegd).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(Zit / Zet)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Position ou action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le bon verbe.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leg</a:t>
            </a:r>
            <a:r>
              <a:rPr lang="en-US" sz="2100" i="1" dirty="0">
                <a:solidFill>
                  <a:schemeClr val="tx1"/>
                </a:solidFill>
              </a:rPr>
              <a:t> de documenten op je bureau.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Je telefoon </a:t>
            </a:r>
            <a:r>
              <a:rPr lang="en-US" sz="2100" b="1" i="1" dirty="0">
                <a:solidFill>
                  <a:schemeClr val="accent3"/>
                </a:solidFill>
              </a:rPr>
              <a:t>ligt</a:t>
            </a:r>
            <a:r>
              <a:rPr lang="en-US" sz="2100" i="1" dirty="0">
                <a:solidFill>
                  <a:schemeClr val="tx1"/>
                </a:solidFill>
              </a:rPr>
              <a:t> naast de printer.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Kun je de stoelen in de vergaderzaal </a:t>
            </a:r>
            <a:r>
              <a:rPr lang="en-US" sz="2100" b="1" i="1" dirty="0">
                <a:solidFill>
                  <a:schemeClr val="accent3"/>
                </a:solidFill>
              </a:rPr>
              <a:t>zetten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De stoelen </a:t>
            </a:r>
            <a:r>
              <a:rPr lang="en-US" sz="2100" b="1" i="1" dirty="0">
                <a:solidFill>
                  <a:schemeClr val="accent3"/>
                </a:solidFill>
              </a:rPr>
              <a:t>staan</a:t>
            </a:r>
            <a:r>
              <a:rPr lang="en-US" sz="2100" i="1" dirty="0">
                <a:solidFill>
                  <a:schemeClr val="tx1"/>
                </a:solidFill>
              </a:rPr>
              <a:t> al klaar.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17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Waar </a:t>
            </a:r>
            <a:r>
              <a:rPr lang="en-US" sz="2100" b="1" i="1" dirty="0">
                <a:solidFill>
                  <a:schemeClr val="accent3"/>
                </a:solidFill>
              </a:rPr>
              <a:t>hang</a:t>
            </a:r>
            <a:r>
              <a:rPr lang="en-US" sz="2100" i="1" dirty="0">
                <a:solidFill>
                  <a:schemeClr val="tx1"/>
                </a:solidFill>
              </a:rPr>
              <a:t> ik mijn jas?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Ik heb mijn sleutels op tafel </a:t>
            </a:r>
            <a:r>
              <a:rPr lang="en-US" sz="2100" b="1" i="1" dirty="0">
                <a:solidFill>
                  <a:schemeClr val="accent3"/>
                </a:solidFill>
              </a:rPr>
              <a:t>gelegd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Het boek heeft de hele dag op tafel </a:t>
            </a:r>
            <a:r>
              <a:rPr lang="en-US" sz="2100" b="1" i="1" dirty="0">
                <a:solidFill>
                  <a:schemeClr val="accent3"/>
                </a:solidFill>
              </a:rPr>
              <a:t>gelegen</a:t>
            </a:r>
            <a:r>
              <a:rPr lang="en-US" sz="2100" i="1" dirty="0">
                <a:solidFill>
                  <a:schemeClr val="tx1"/>
                </a:solidFill>
              </a:rPr>
              <a:t>.</a:t>
            </a:r>
            <a:endParaRPr lang="en-US" sz="21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b="1" i="1" dirty="0">
                <a:solidFill>
                  <a:schemeClr val="accent3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de fles water op tafel, alsjeblieft.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Shape 31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i="1" dirty="0">
                <a:solidFill>
                  <a:schemeClr val="accent5"/>
                </a:solidFill>
              </a:rPr>
              <a:t>…………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Les prépositions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Où est la balle ? Complétez avec la bonne préposition.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043559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477899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729359" y="22646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3367278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862197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47997" y="27950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noFill/>
          <a:ln w="19050">
            <a:solidFill>
              <a:srgbClr val="9C7A5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296537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>
              <a:alpha val="45000"/>
            </a:srgbClr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77006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zit </a:t>
            </a:r>
            <a:r>
              <a:rPr lang="en-US" sz="1600" b="1" i="1" dirty="0">
                <a:solidFill>
                  <a:schemeClr val="accent3"/>
                </a:solidFill>
              </a:rPr>
              <a:t>in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6185916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680835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66635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115175" y="226466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95644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onder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04554" y="193243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499473" y="310591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9705213" y="253898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0573893" y="283159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114282" y="324307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naast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1043559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477899" y="4700016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729359" y="5120640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58368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voor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3367278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862197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863465" y="462686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296537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3477006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achter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>
            <a:off x="6185916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680835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72655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503795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366635" y="5102352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95644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7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ligt </a:t>
            </a:r>
            <a:r>
              <a:rPr lang="en-US" sz="1600" b="1" i="1" dirty="0">
                <a:solidFill>
                  <a:schemeClr val="accent3"/>
                </a:solidFill>
              </a:rPr>
              <a:t>tussen</a:t>
            </a:r>
            <a:r>
              <a:rPr lang="en-US" sz="1600" i="1" dirty="0">
                <a:solidFill>
                  <a:schemeClr val="tx1"/>
                </a:solidFill>
              </a:rPr>
              <a:t> de twee dozen.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9004554" y="4203192"/>
            <a:ext cx="2635758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9499473" y="5376672"/>
            <a:ext cx="1645920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933813" y="4809744"/>
            <a:ext cx="777240" cy="566928"/>
          </a:xfrm>
          <a:prstGeom prst="roundRect">
            <a:avLst>
              <a:gd name="adj" fmla="val 4839"/>
            </a:avLst>
          </a:prstGeom>
          <a:solidFill>
            <a:srgbClr val="D9B98F"/>
          </a:solidFill>
          <a:ln w="19050">
            <a:solidFill>
              <a:srgbClr val="9C7A50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 flipV="1">
            <a:off x="10322433" y="4306824"/>
            <a:ext cx="914" cy="33528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85273" y="4306824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9114282" y="5513832"/>
            <a:ext cx="24163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8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bal hangt </a:t>
            </a:r>
            <a:r>
              <a:rPr lang="en-US" sz="1600" b="1" i="1" dirty="0">
                <a:solidFill>
                  <a:schemeClr val="accent3"/>
                </a:solidFill>
              </a:rPr>
              <a:t>boven</a:t>
            </a:r>
            <a:r>
              <a:rPr lang="en-US" sz="1600" i="1" dirty="0">
                <a:solidFill>
                  <a:schemeClr val="tx1"/>
                </a:solidFill>
              </a:rPr>
              <a:t> de doos.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dirty="0">
                <a:solidFill>
                  <a:schemeClr val="tx1"/>
                </a:solidFill>
              </a:rPr>
              <a:t>is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dirty="0">
                <a:solidFill>
                  <a:schemeClr val="tx1"/>
                </a:solidFill>
              </a:rPr>
              <a:t>liggen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dirty="0">
                <a:solidFill>
                  <a:schemeClr val="tx1"/>
                </a:solidFill>
              </a:rPr>
              <a:t>staat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dirty="0">
                <a:solidFill>
                  <a:schemeClr val="tx1"/>
                </a:solidFill>
              </a:rPr>
              <a:t>legt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dirty="0">
                <a:solidFill>
                  <a:schemeClr val="tx1"/>
                </a:solidFill>
              </a:rPr>
              <a:t>zitten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travaille à la maison et écrit à Karim.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Sofie → Karim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Hoi Karim, ik werk vandaag thuis. Kun je iets voor me zoeken? Mijn agenda </a:t>
            </a:r>
            <a:r>
              <a:rPr lang="en-US" sz="2100" i="1" strike="sngStrike" dirty="0">
                <a:solidFill>
                  <a:schemeClr val="accent6"/>
                </a:solidFill>
              </a:rPr>
              <a:t>is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mijn bureau. Mijn sleutels </a:t>
            </a:r>
            <a:r>
              <a:rPr lang="en-US" sz="2100" i="1" strike="sngStrike" dirty="0">
                <a:solidFill>
                  <a:schemeClr val="accent6"/>
                </a:solidFill>
              </a:rPr>
              <a:t>liggen</a:t>
            </a:r>
            <a:r>
              <a:rPr lang="en-US" sz="2100" b="1" i="1" dirty="0">
                <a:solidFill>
                  <a:schemeClr val="accent3"/>
                </a:solidFill>
              </a:rPr>
              <a:t> zitten</a:t>
            </a:r>
            <a:r>
              <a:rPr lang="en-US" sz="2100" i="1" dirty="0">
                <a:solidFill>
                  <a:schemeClr val="tx1"/>
                </a:solidFill>
              </a:rPr>
              <a:t> in mijn jaszak, en mijn jas hangt aan de kapstok. Mijn bril </a:t>
            </a:r>
            <a:r>
              <a:rPr lang="en-US" sz="2100" i="1" strike="sngStrike" dirty="0">
                <a:solidFill>
                  <a:schemeClr val="accent6"/>
                </a:solidFill>
              </a:rPr>
              <a:t>staat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naast de computer en mijn gsm </a:t>
            </a:r>
            <a:r>
              <a:rPr lang="en-US" sz="2100" i="1" strike="sngStrike" dirty="0">
                <a:solidFill>
                  <a:schemeClr val="accent6"/>
                </a:solidFill>
              </a:rPr>
              <a:t>legt</a:t>
            </a:r>
            <a:r>
              <a:rPr lang="en-US" sz="2100" b="1" i="1" dirty="0">
                <a:solidFill>
                  <a:schemeClr val="accent3"/>
                </a:solidFill>
              </a:rPr>
              <a:t> ligt</a:t>
            </a:r>
            <a:r>
              <a:rPr lang="en-US" sz="2100" i="1" dirty="0">
                <a:solidFill>
                  <a:schemeClr val="tx1"/>
                </a:solidFill>
              </a:rPr>
              <a:t> op de kast. Kun je mijn agenda in mijn tas </a:t>
            </a:r>
            <a:r>
              <a:rPr lang="en-US" sz="2100" i="1" strike="sngStrike" dirty="0">
                <a:solidFill>
                  <a:schemeClr val="accent6"/>
                </a:solidFill>
              </a:rPr>
              <a:t>zitten</a:t>
            </a:r>
            <a:r>
              <a:rPr lang="en-US" sz="2100" b="1" i="1" dirty="0">
                <a:solidFill>
                  <a:schemeClr val="accent3"/>
                </a:solidFill>
              </a:rPr>
              <a:t> stoppen</a:t>
            </a:r>
            <a:r>
              <a:rPr lang="en-US" sz="2100" i="1" dirty="0">
                <a:solidFill>
                  <a:schemeClr val="tx1"/>
                </a:solidFill>
              </a:rPr>
              <a:t>? Dank je!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mijn jas hangt aan de kapstok</a:t>
            </a:r>
            <a:r>
              <a:rPr lang="en-US" sz="1400" i="1" dirty="0">
                <a:solidFill>
                  <a:schemeClr val="accent5"/>
                </a:solidFill>
              </a:rPr>
              <a:t>. </a:t>
            </a:r>
            <a:r>
              <a:rPr lang="en-US" sz="1400" i="1" dirty="0">
                <a:solidFill>
                  <a:schemeClr val="accent5"/>
                </a:solidFill>
              </a:rPr>
              <a:t>de bril</a:t>
            </a:r>
            <a:r>
              <a:rPr lang="en-US" sz="1400" i="1" dirty="0">
                <a:solidFill>
                  <a:schemeClr val="accent5"/>
                </a:solidFill>
              </a:rPr>
              <a:t> = les lunettes (singulier !).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Qu’est-ce qui a changé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6675120" cy="4709160"/>
          </a:xfrm>
          <a:prstGeom prst="roundRect">
            <a:avLst>
              <a:gd name="adj" fmla="val 777"/>
            </a:avLst>
          </a:prstGeom>
          <a:solidFill>
            <a:srgbClr val="F7F3EA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4756709"/>
            <a:ext cx="6675120" cy="1506931"/>
          </a:xfrm>
          <a:prstGeom prst="rect">
            <a:avLst/>
          </a:prstGeom>
          <a:solidFill>
            <a:srgbClr val="E9E1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05840" y="1828800"/>
            <a:ext cx="731520" cy="7315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371600" y="1975104"/>
            <a:ext cx="914" cy="219456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71600" y="2194560"/>
            <a:ext cx="160934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0" descr="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737360"/>
            <a:ext cx="1280160" cy="1280160"/>
          </a:xfrm>
          <a:prstGeom prst="rect">
            <a:avLst/>
          </a:prstGeom>
        </p:spPr>
      </p:pic>
      <p:pic>
        <p:nvPicPr>
          <p:cNvPr id="12" name="Image 1" descr="framed pic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828800"/>
            <a:ext cx="914400" cy="9144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1463040" y="4144518"/>
            <a:ext cx="4023360" cy="128016"/>
          </a:xfrm>
          <a:prstGeom prst="roundRect">
            <a:avLst>
              <a:gd name="adj" fmla="val 14286"/>
            </a:avLst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164592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212080" y="4272534"/>
            <a:ext cx="109728" cy="1188720"/>
          </a:xfrm>
          <a:prstGeom prst="rect">
            <a:avLst/>
          </a:prstGeom>
          <a:solidFill>
            <a:srgbClr val="8A6A4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3458718"/>
            <a:ext cx="731520" cy="731520"/>
          </a:xfrm>
          <a:prstGeom prst="rect">
            <a:avLst/>
          </a:prstGeom>
        </p:spPr>
      </p:pic>
      <p:pic>
        <p:nvPicPr>
          <p:cNvPr id="17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275838"/>
            <a:ext cx="868680" cy="868680"/>
          </a:xfrm>
          <a:prstGeom prst="rect">
            <a:avLst/>
          </a:prstGeom>
        </p:spPr>
      </p:pic>
      <p:pic>
        <p:nvPicPr>
          <p:cNvPr id="18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3733038"/>
            <a:ext cx="548640" cy="548640"/>
          </a:xfrm>
          <a:prstGeom prst="rect">
            <a:avLst/>
          </a:prstGeom>
        </p:spPr>
      </p:pic>
      <p:pic>
        <p:nvPicPr>
          <p:cNvPr id="19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0" y="3733038"/>
            <a:ext cx="457200" cy="457200"/>
          </a:xfrm>
          <a:prstGeom prst="rect">
            <a:avLst/>
          </a:prstGeom>
        </p:spPr>
      </p:pic>
      <p:pic>
        <p:nvPicPr>
          <p:cNvPr id="20" name="Image 6" descr="c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053078"/>
            <a:ext cx="1188720" cy="1188720"/>
          </a:xfrm>
          <a:prstGeom prst="rect">
            <a:avLst/>
          </a:prstGeom>
        </p:spPr>
      </p:pic>
      <p:pic>
        <p:nvPicPr>
          <p:cNvPr id="21" name="Image 7" descr="handba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26080" y="4921758"/>
            <a:ext cx="731520" cy="731520"/>
          </a:xfrm>
          <a:prstGeom prst="rect">
            <a:avLst/>
          </a:prstGeom>
        </p:spPr>
      </p:pic>
      <p:pic>
        <p:nvPicPr>
          <p:cNvPr id="22" name="Image 8" descr="stopwatch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600200"/>
            <a:ext cx="822960" cy="82296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8412480" y="1600200"/>
            <a:ext cx="3227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Kim’s game</a:t>
            </a:r>
            <a:endParaRPr lang="en-US" sz="2200" dirty="0"/>
          </a:p>
        </p:txBody>
      </p:sp>
      <p:sp>
        <p:nvSpPr>
          <p:cNvPr id="24" name="Text 12"/>
          <p:cNvSpPr txBox="1"/>
          <p:nvPr/>
        </p:nvSpPr>
        <p:spPr>
          <a:xfrm>
            <a:off x="7498080" y="2560320"/>
            <a:ext cx="41422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Observez la classe pendant 1 minute.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Fermez les yeux : l’enseignant·e déplace 3 objets.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Dites ce qui a changé :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7498080" y="4434840"/>
            <a:ext cx="41422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80960" y="443484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Je hebt de pen onder de stoel </a:t>
            </a:r>
            <a:r>
              <a:rPr lang="en-US" sz="1600" b="1" i="1" dirty="0">
                <a:solidFill>
                  <a:schemeClr val="tx1"/>
                </a:solidFill>
              </a:rPr>
              <a:t>gelegd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tas </a:t>
            </a:r>
            <a:r>
              <a:rPr lang="en-US" sz="1600" b="1" i="1" dirty="0">
                <a:solidFill>
                  <a:schemeClr val="tx1"/>
                </a:solidFill>
              </a:rPr>
              <a:t>staat</a:t>
            </a:r>
            <a:r>
              <a:rPr lang="en-US" sz="1600" i="1" dirty="0">
                <a:solidFill>
                  <a:schemeClr val="tx1"/>
                </a:solidFill>
              </a:rPr>
              <a:t> nu op de tafel.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klok </a:t>
            </a:r>
            <a:r>
              <a:rPr lang="en-US" sz="1600" b="1" i="1" dirty="0">
                <a:solidFill>
                  <a:schemeClr val="tx1"/>
                </a:solidFill>
              </a:rPr>
              <a:t>hangt</a:t>
            </a:r>
            <a:r>
              <a:rPr lang="en-US" sz="1600" i="1" dirty="0">
                <a:solidFill>
                  <a:schemeClr val="tx1"/>
                </a:solidFill>
              </a:rPr>
              <a:t> niet meer aan de muur!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déménagement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An a le plan du nouveau bureau ; Karim place les objets sur un plan vide.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décrivez votre plan et donnez des ordres : </a:t>
            </a:r>
            <a:r>
              <a:rPr lang="en-US" sz="1700" i="1" dirty="0">
                <a:solidFill>
                  <a:schemeClr val="tx1"/>
                </a:solidFill>
              </a:rPr>
              <a:t>Zet… · Hang… · Leg…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dessinez sur le plan vide et vérifiez : </a:t>
            </a:r>
            <a:r>
              <a:rPr lang="en-US" sz="1700" i="1" dirty="0">
                <a:solidFill>
                  <a:schemeClr val="tx1"/>
                </a:solidFill>
              </a:rPr>
              <a:t>Staat de printer naast de deur?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Zet de kast tegen de muur. · Hang de klok boven de deur. · Leg de mappen in de kast. · Waar moet de printer staan? · Staat de plant goed zo? · Ja, perfect!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NIEUW KANTOOR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02752" y="2167128"/>
            <a:ext cx="3108960" cy="2103120"/>
          </a:xfrm>
          <a:prstGeom prst="rect">
            <a:avLst/>
          </a:prstGeom>
          <a:solidFill>
            <a:srgbClr val="F7F7F7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82091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33907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85723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7539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893552" y="2167128"/>
            <a:ext cx="914" cy="2103120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02752" y="269290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302752" y="321868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302752" y="3744468"/>
            <a:ext cx="3108960" cy="914"/>
          </a:xfrm>
          <a:prstGeom prst="line">
            <a:avLst/>
          </a:prstGeom>
          <a:noFill/>
          <a:ln w="9525">
            <a:solidFill>
              <a:srgbClr val="E2E6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37192" y="4224528"/>
            <a:ext cx="640080" cy="91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91472" y="4288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deur</a:t>
            </a:r>
            <a:endParaRPr lang="en-US" sz="1000" dirty="0"/>
          </a:p>
        </p:txBody>
      </p:sp>
      <p:pic>
        <p:nvPicPr>
          <p:cNvPr id="33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4590288"/>
            <a:ext cx="347472" cy="347472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866851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bureau</a:t>
            </a:r>
            <a:endParaRPr lang="en-US" sz="1200" dirty="0"/>
          </a:p>
        </p:txBody>
      </p:sp>
      <p:pic>
        <p:nvPicPr>
          <p:cNvPr id="35" name="Image 1" descr="file cabin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8672" y="4590288"/>
            <a:ext cx="347472" cy="347472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10360152" y="4572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kast</a:t>
            </a:r>
            <a:endParaRPr lang="en-US" sz="1200" dirty="0"/>
          </a:p>
        </p:txBody>
      </p:sp>
      <p:pic>
        <p:nvPicPr>
          <p:cNvPr id="37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5001768"/>
            <a:ext cx="347472" cy="347472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866851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39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8672" y="5001768"/>
            <a:ext cx="347472" cy="34747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10360152" y="498348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plant</a:t>
            </a:r>
            <a:endParaRPr lang="en-US" sz="1200" dirty="0"/>
          </a:p>
        </p:txBody>
      </p:sp>
      <p:pic>
        <p:nvPicPr>
          <p:cNvPr id="41" name="Image 4" descr="three o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541324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866851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klok</a:t>
            </a:r>
            <a:endParaRPr lang="en-US" sz="1200" dirty="0"/>
          </a:p>
        </p:txBody>
      </p:sp>
      <p:pic>
        <p:nvPicPr>
          <p:cNvPr id="43" name="Image 5" descr="coa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8672" y="5413248"/>
            <a:ext cx="347472" cy="34747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10360152" y="5394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kapstok</a:t>
            </a:r>
            <a:endParaRPr lang="en-US" sz="1200" dirty="0"/>
          </a:p>
        </p:txBody>
      </p:sp>
      <p:pic>
        <p:nvPicPr>
          <p:cNvPr id="45" name="Image 6" descr="mem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5824728"/>
            <a:ext cx="347472" cy="347472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866851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het whiteboard</a:t>
            </a:r>
            <a:endParaRPr lang="en-US" sz="1200" dirty="0"/>
          </a:p>
        </p:txBody>
      </p:sp>
      <p:pic>
        <p:nvPicPr>
          <p:cNvPr id="47" name="Image 7" descr="hot beverag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8672" y="5824728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10360152" y="58064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de koffiemachine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klok …… aan de muur. · Mijn sleutels …… in mijn tas.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Position ou action : </a:t>
            </a:r>
            <a:r>
              <a:rPr lang="en-US" sz="2000" i="1" dirty="0">
                <a:solidFill>
                  <a:schemeClr val="tx1"/>
                </a:solidFill>
              </a:rPr>
              <a:t>Ik (leg / lig) het dossier op tafel.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Mets la bouteille sur la table.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Situer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alendarAl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toekomst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Wat ga je morgen doen?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 — Zitten, staan, liggen, hangen — Les verbes de position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2026-10-06T11:50:05Z</dcterms:created>
  <dcterms:modified xsi:type="dcterms:W3CDTF">2026-10-06T11:50:05Z</dcterms:modified>
</cp:coreProperties>
</file>