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58ac46e3-b64d-5d6b-84aa-11616b256df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lôture" id="{ae2768b4-c04c-93d9-8acd-08c8e73ba4cf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13. Objectifs : remplacer une personne ou une chose par un pronom objet (fiche A2-04, p. 71), apprendre le vocabulaire du travail et de l’entreprise (thème 07, p. 84), puis s’inscrire dans une agence d’intérim en vouvoyant le conseiller (fiche 1, p. 92). Image : premier rendez-vous à l’agence pour l’emploi (« Ik zoek werk.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La fiche 1 se joue en vouvoiement (u) : rappeler « Zoekt u…? Hebt u…? Bent u…? » (verbe + t avec u). Le jeu de rôle final réutilise les pronoms (Ik bel u morgen) et le vocabulaire du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des fiches A2-07 et A2-10, de la fiche 3 et du thème Telefoon &amp; mail. Interroger un étudiant par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3 : la personne (mijn broer) se place avant l’infinitif final. Transition : « Ik bel mijn broer » → « Ik bel hem » : c’est le sujet de la fiche du jour.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A de la fiche A2-04. Faire lire en chœur la colonne « objet ». « Ik neem het » : het remplace un mot en het (het boek). Remarquer que « u » et « jullie » ne changent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du livret : Jan → hem, Sophie → haar, mijn ouders → ze, le professeur → u (poli). Partie C : Ik geef hem het boek (verbe · personne · chose). Ici, la couleur magenta marque la personne et le gris la chose.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Encadré « hen · hun » du livret : hen après une préposition ou comme COD (met hen), hun comme « leur » (ik geef hun een boek), à l’oral : ze. « Ik zie hun » est très fréquent à l’oral mais considéré comme fautif. Choses : mot en de → hem (en Belgique, on entend aussi ze pour les mots féminins : de vergadering → ze), mot en het → 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A2-04 (p. 71). Le titre néerlandais est ajouté (« Remplace par un pronom » dans le livret).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3 : « hun » n’est correct que pour « leur » (complément indirect), pas pour « les ». Phrase 4 : « Ik vertel haar het verhaal » = je lui raconte l’histoire.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pronoms objets avec le vocabulaire du travail (thème 07, juste après). Phrase 4 : accepter « hen » à l’écrit.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pronoms objets avec le vocabulaire du travail (thème 07, juste après). Phrase 4 : accepter « hen » à l’écrit.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: les étudiants donnent le mot AVEC l’article. Faux-ami à annoncer (séance 14) : het kantoor = le bureau (lieu), het bureau = le bureau (meuble).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mots en het : kantoor, bureau, sollicitatiegesprek (het gesprek), contract, loon. Pluriels utiles : collega’s, klanten, vergaderingen, kantoren (oo → 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définitions simples en néerlandais (compréhension écrite) + réemploi des pronoms. Variante : les étudiants écrivent une devinette pour un autre mot (de printer, de koffieautomaat…).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définitions simples en néerlandais (compréhension écrite) + réemploi des pronoms. Variante : les étudiants écrivent une devinette pour un autre mot (de printer, de koffieautomaat…).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de la page d’ouverture de la section 4 du livret (avant la p. 92) : « Goedendag! » · « Aangenaam. » · « Ik zoek werk. ». Le VDAB est le service public flamand de l’emploi ; un interimkantoor est une agence privée de travail intérimaire. « Goedendag » est une salutation formelle très belge.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Ajouts pour le Jalon 1 : het document · documenten et nodig hebben (vu à la séance 11). « Zich aanmelden » : s’inscrire (en ligne) ou se présenter à l’accueil (Meld u aan aan de balie). « De ploeg » est très courant en Flandre (aussi : het team). En Belgique, on dit aussi « onmiddellijk » pour 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 du livret (phrase 2) : « Quels documents ai-je besoin pour m’inscrire ? » → en français correct « De quels documents ai-je besoin… ? » (corrigé sur la diapositive). Le vocabulaire du livret commence par un « · » isolé (sans conséquence).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Ik meld me aan bij een interimkantoor » ; 2 « Welke documenten zijn nodig om me in te schrijven? » ; 4 « Heeft u geen formulier? » (plus fréquent aux Pays-Bas) ou « Hebt u geen inschrijvingsformulier? » ; 5 « Meneer is een werkzoekende » est possible, mais sans article c’est plus naturel. Phrase 2 : om … te + infinitif, avec « te » entre la particule et le verbe (in te schrijven).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1 : le passé composé n’a pas encore été vu ; donner « Ik heb me ingeschreven » comme un bloc (hebben + me + participe du verbe séparable : in-ge-schreven).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…omdat ik meteen werk zoek » ; 2 « Zij is onmiddellijk beschikbaar… » ; 3 « Ik zoek geen deeltijdse job, ik wil flexibel werken » ou « Ik wil niet deeltijds werken… » ; 4 « In een team helpen we elkaar altijd » ; 5 « Ik heb ervaring, dus ik kan morgen beginnen ». Refuser « we helpen ons » et « omdat ik heb ervaring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séance 11 : omdat en tête → toute la subordonnée occupe la 1re place, donc verbe + sujet ensuite (kan ik). Faire produire d’autres phrases : « Omdat ik direct beschikbaar ben, kan ik maandag beginnen.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observateurs (groupes de trois) cochent les critères. Pour aller plus loin : B demande la disponibilité (Wanneer bent u beschikbaar? — Ik ben direct beschikbaar) et A explique pourquoi il cherche du travail avec omdat.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avant la clôture : faire lire la colonne de gauche, la classe corrige à voix haute avant de dévoiler (cacher la colonne de droite si possible).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du ticket de sortie : Ja, ik ken hem. · Ja, ik heb het. · Ja, ik bel ze / 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image" Target="../media/image-12-8.jpg"/><Relationship Id="rId9" Type="http://schemas.openxmlformats.org/officeDocument/2006/relationships/image" Target="../media/image-12-9.jpg"/><Relationship Id="rId10" Type="http://schemas.openxmlformats.org/officeDocument/2006/relationships/image" Target="../media/image-12-10.jpg"/><Relationship Id="rId11" Type="http://schemas.openxmlformats.org/officeDocument/2006/relationships/image" Target="../media/image-12-11.jpg"/><Relationship Id="rId12" Type="http://schemas.openxmlformats.org/officeDocument/2006/relationships/image" Target="../media/image-12-12.jpg"/><Relationship Id="rId13" Type="http://schemas.openxmlformats.org/officeDocument/2006/relationships/image" Target="../media/image-12-13.jpg"/><Relationship Id="rId14" Type="http://schemas.openxmlformats.org/officeDocument/2006/relationships/image" Target="../media/image-12-14.jpg"/><Relationship Id="rId15" Type="http://schemas.openxmlformats.org/officeDocument/2006/relationships/image" Target="../media/image-12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jpg"/><Relationship Id="rId7" Type="http://schemas.openxmlformats.org/officeDocument/2006/relationships/image" Target="../media/image-13-7.jpg"/><Relationship Id="rId8" Type="http://schemas.openxmlformats.org/officeDocument/2006/relationships/image" Target="../media/image-13-8.jpg"/><Relationship Id="rId9" Type="http://schemas.openxmlformats.org/officeDocument/2006/relationships/image" Target="../media/image-13-9.jpg"/><Relationship Id="rId10" Type="http://schemas.openxmlformats.org/officeDocument/2006/relationships/image" Target="../media/image-13-10.jpg"/><Relationship Id="rId11" Type="http://schemas.openxmlformats.org/officeDocument/2006/relationships/image" Target="../media/image-13-11.jpg"/><Relationship Id="rId12" Type="http://schemas.openxmlformats.org/officeDocument/2006/relationships/image" Target="../media/image-13-12.jpg"/><Relationship Id="rId13" Type="http://schemas.openxmlformats.org/officeDocument/2006/relationships/image" Target="../media/image-13-13.jpg"/><Relationship Id="rId14" Type="http://schemas.openxmlformats.org/officeDocument/2006/relationships/image" Target="../media/image-13-14.jpg"/><Relationship Id="rId15" Type="http://schemas.openxmlformats.org/officeDocument/2006/relationships/image" Target="../media/image-13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13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FICHE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Bij het interimkantoor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À l’agence d’intérim — les pronoms objets et le monde du travail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4 · Mises en situation — Fiche 1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71 · 84 · 92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73387"/>
            <a:ext cx="5120640" cy="291122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71 · 84 · 92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M’inscrire dans une </a:t>
            </a:r>
            <a:r>
              <a:rPr lang="en-US" sz="1600" b="1" dirty="0">
                <a:solidFill>
                  <a:schemeClr val="tx1"/>
                </a:solidFill>
              </a:rPr>
              <a:t>agence d’intérim</a:t>
            </a:r>
            <a:r>
              <a:rPr lang="en-US" sz="1600" dirty="0">
                <a:solidFill>
                  <a:schemeClr val="tx1"/>
                </a:solidFill>
              </a:rPr>
              <a:t> : poser les bonnes questions, parler de ma situation, de ma disponibilité et de mon expérience.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Ik schrijf me in · Zoekt u werk? · Ik ben direct beschikbaar · voltijds / deeltijds · Ik bel hem · Ik help haar · Ik geef hun een boek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Remplacer un nom par un pronom objet · vocabulaire du travail · omdat en tête de phrase · jeu de rôle à l’agence (u)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la séance 12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3288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414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Hem · haar · hun (p. 71)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41448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9981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300837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Werk &amp; bedrijf (p. 84)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3008376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6674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753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Fiche 1 : situation · vocabulaire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75304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23367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1422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Jalon 1 · Jalon 2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142232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800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Phrase-clé · jeu de rôle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709160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36752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760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76088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la séance 12 en six phrases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Transformez ou traduisez, puis lisez à voix haute.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Ik drink koffie. </a:t>
            </a:r>
            <a:r>
              <a:rPr lang="en-US" sz="2200" i="1" dirty="0">
                <a:solidFill>
                  <a:schemeClr val="tx1"/>
                </a:solidFill>
              </a:rPr>
              <a:t>(altijd)</a:t>
            </a:r>
            <a:r>
              <a:rPr lang="en-US" sz="2200" dirty="0">
                <a:solidFill>
                  <a:schemeClr val="tx1"/>
                </a:solidFill>
              </a:rPr>
              <a:t>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Hij is er. </a:t>
            </a:r>
            <a:r>
              <a:rPr lang="en-US" sz="2200" i="1" dirty="0">
                <a:solidFill>
                  <a:schemeClr val="tx1"/>
                </a:solidFill>
              </a:rPr>
              <a:t>(nog niet)</a:t>
            </a:r>
            <a:r>
              <a:rPr lang="en-US" sz="2200" dirty="0">
                <a:solidFill>
                  <a:schemeClr val="tx1"/>
                </a:solidFill>
              </a:rPr>
              <a:t>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Ik bel mijn broer. </a:t>
            </a:r>
            <a:r>
              <a:rPr lang="en-US" sz="2200" i="1" dirty="0">
                <a:solidFill>
                  <a:schemeClr val="tx1"/>
                </a:solidFill>
              </a:rPr>
              <a:t>(futur proche)</a:t>
            </a:r>
            <a:r>
              <a:rPr lang="en-US" sz="2200" dirty="0">
                <a:solidFill>
                  <a:schemeClr val="tx1"/>
                </a:solidFill>
              </a:rPr>
              <a:t>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Quand es-tu disponible ?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On se voit lundi à 9 h.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le mot de passe · la pièce jointe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la séance 12 en six phrases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Transformez ou traduisez, puis lisez à voix haute.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Ik drink koffie. </a:t>
            </a:r>
            <a:r>
              <a:rPr lang="en-US" sz="2200" i="1" dirty="0">
                <a:solidFill>
                  <a:schemeClr val="tx1"/>
                </a:solidFill>
              </a:rPr>
              <a:t>(altijd)</a:t>
            </a:r>
            <a:r>
              <a:rPr lang="en-US" sz="2200" dirty="0">
                <a:solidFill>
                  <a:schemeClr val="tx1"/>
                </a:solidFill>
              </a:rPr>
              <a:t> → </a:t>
            </a:r>
            <a:r>
              <a:rPr lang="en-US" sz="2200" b="1" dirty="0">
                <a:solidFill>
                  <a:schemeClr val="accent3"/>
                </a:solidFill>
              </a:rPr>
              <a:t>Ik drink altijd koffie.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Hij is er. </a:t>
            </a:r>
            <a:r>
              <a:rPr lang="en-US" sz="2200" i="1" dirty="0">
                <a:solidFill>
                  <a:schemeClr val="tx1"/>
                </a:solidFill>
              </a:rPr>
              <a:t>(nog niet)</a:t>
            </a:r>
            <a:r>
              <a:rPr lang="en-US" sz="2200" dirty="0">
                <a:solidFill>
                  <a:schemeClr val="tx1"/>
                </a:solidFill>
              </a:rPr>
              <a:t> → </a:t>
            </a:r>
            <a:r>
              <a:rPr lang="en-US" sz="2200" b="1" dirty="0">
                <a:solidFill>
                  <a:schemeClr val="accent3"/>
                </a:solidFill>
              </a:rPr>
              <a:t>Hij is er nog niet.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Ik bel mijn broer. </a:t>
            </a:r>
            <a:r>
              <a:rPr lang="en-US" sz="2200" i="1" dirty="0">
                <a:solidFill>
                  <a:schemeClr val="tx1"/>
                </a:solidFill>
              </a:rPr>
              <a:t>(futur proche)</a:t>
            </a:r>
            <a:r>
              <a:rPr lang="en-US" sz="2200" dirty="0">
                <a:solidFill>
                  <a:schemeClr val="tx1"/>
                </a:solidFill>
              </a:rPr>
              <a:t> → </a:t>
            </a:r>
            <a:r>
              <a:rPr lang="en-US" sz="2200" b="1" dirty="0">
                <a:solidFill>
                  <a:schemeClr val="accent3"/>
                </a:solidFill>
              </a:rPr>
              <a:t>Ik ga mijn broer bellen.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Quand es-tu disponible ? → </a:t>
            </a:r>
            <a:r>
              <a:rPr lang="en-US" sz="2200" b="1" dirty="0">
                <a:solidFill>
                  <a:schemeClr val="accent3"/>
                </a:solidFill>
              </a:rPr>
              <a:t>Wanneer ben je beschikbaar?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On se voit lundi à 9 h. → </a:t>
            </a:r>
            <a:r>
              <a:rPr lang="en-US" sz="2200" b="1" dirty="0">
                <a:solidFill>
                  <a:schemeClr val="accent3"/>
                </a:solidFill>
              </a:rPr>
              <a:t>We zien elkaar maandag om 9 uur.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le mot de passe · la pièce jointe → </a:t>
            </a:r>
            <a:r>
              <a:rPr lang="en-US" sz="2200" b="1" dirty="0">
                <a:solidFill>
                  <a:schemeClr val="accent3"/>
                </a:solidFill>
              </a:rPr>
              <a:t>het wachtwoord · de bijlage</a:t>
            </a:r>
            <a:endParaRPr lang="en-US" sz="22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Adverbe </a:t>
            </a:r>
            <a:r>
              <a:rPr lang="en-US" sz="1800" b="1" dirty="0">
                <a:solidFill>
                  <a:schemeClr val="tx1"/>
                </a:solidFill>
              </a:rPr>
              <a:t>après le verbe conjugué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gaan</a:t>
            </a:r>
            <a:r>
              <a:rPr lang="en-US" sz="1800" dirty="0">
                <a:solidFill>
                  <a:schemeClr val="tx1"/>
                </a:solidFill>
              </a:rPr>
              <a:t> … </a:t>
            </a:r>
            <a:r>
              <a:rPr lang="en-US" sz="1800" b="1" dirty="0">
                <a:solidFill>
                  <a:schemeClr val="tx1"/>
                </a:solidFill>
              </a:rPr>
              <a:t>infinitif à la fin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on se voit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i="1" dirty="0">
                <a:solidFill>
                  <a:schemeClr val="tx1"/>
                </a:solidFill>
              </a:rPr>
              <a:t>we zien </a:t>
            </a:r>
            <a:r>
              <a:rPr lang="en-US" sz="1800" b="1" i="1" dirty="0">
                <a:solidFill>
                  <a:schemeClr val="tx1"/>
                </a:solidFill>
              </a:rPr>
              <a:t>elkaar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Hem · haar · hun : les pronoms objets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Un seul pronom pour « </a:t>
            </a:r>
            <a:r>
              <a:rPr lang="en-US" sz="1600" b="1" i="1" dirty="0">
                <a:solidFill>
                  <a:schemeClr val="accent5"/>
                </a:solidFill>
              </a:rPr>
              <a:t>le, la</a:t>
            </a:r>
            <a:r>
              <a:rPr lang="en-US" sz="1600" i="1" dirty="0">
                <a:solidFill>
                  <a:schemeClr val="accent5"/>
                </a:solidFill>
              </a:rPr>
              <a:t> » et pour « </a:t>
            </a:r>
            <a:r>
              <a:rPr lang="en-US" sz="1600" b="1" i="1" dirty="0">
                <a:solidFill>
                  <a:schemeClr val="accent5"/>
                </a:solidFill>
              </a:rPr>
              <a:t>lui, leur</a:t>
            </a:r>
            <a:r>
              <a:rPr lang="en-US" sz="1600" i="1" dirty="0">
                <a:solidFill>
                  <a:schemeClr val="accent5"/>
                </a:solidFill>
              </a:rPr>
              <a:t> ».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3749040"/>
                <a:gridCol w="3319272"/>
              </a:tblGrid>
              <a:tr h="4718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SUJET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OBJET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ik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mij · me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Pieter ziet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Pieter me voit.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jij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jou · je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Ik help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je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t’aide.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Ik bel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morgen.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vous appelle demain.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hij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hem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Ik zie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hem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le vois.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zij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haar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Ik help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haar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l’aide.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het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het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Ik neem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het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le prends.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wij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ons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Sarah kent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ons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Sarah nous connaît.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jullie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jullie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Ik zie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jullie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morgen.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vous vois demain.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zij (pluriel)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hen · hun · ze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Hij kent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ze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Il les connaît.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5"/>
                </a:solidFill>
              </a:rPr>
              <a:t>mij, jou</a:t>
            </a:r>
            <a:r>
              <a:rPr lang="en-US" sz="1500" i="1" dirty="0">
                <a:solidFill>
                  <a:schemeClr val="accent5"/>
                </a:solidFill>
              </a:rPr>
              <a:t> = formes accentuées (on insiste) · </a:t>
            </a:r>
            <a:r>
              <a:rPr lang="en-US" sz="1500" b="1" i="1" dirty="0">
                <a:solidFill>
                  <a:schemeClr val="accent5"/>
                </a:solidFill>
              </a:rPr>
              <a:t>me, je, ze</a:t>
            </a:r>
            <a:r>
              <a:rPr lang="en-US" sz="1500" i="1" dirty="0">
                <a:solidFill>
                  <a:schemeClr val="accent5"/>
                </a:solidFill>
              </a:rPr>
              <a:t> = formes courtes, les plus fréquentes à l’oral.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Où va le pronom ? Après le verbe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 pronom objet se place </a:t>
            </a:r>
            <a:r>
              <a:rPr lang="en-US" sz="1800" b="1" dirty="0">
                <a:solidFill>
                  <a:schemeClr val="tx1"/>
                </a:solidFill>
              </a:rPr>
              <a:t>après le verbe</a:t>
            </a:r>
            <a:r>
              <a:rPr lang="en-US" sz="1800" dirty="0">
                <a:solidFill>
                  <a:schemeClr val="tx1"/>
                </a:solidFill>
              </a:rPr>
              <a:t> conjugué. La </a:t>
            </a:r>
            <a:r>
              <a:rPr lang="en-US" sz="1800" b="1" dirty="0">
                <a:solidFill>
                  <a:schemeClr val="tx1"/>
                </a:solidFill>
              </a:rPr>
              <a:t>personne</a:t>
            </a:r>
            <a:r>
              <a:rPr lang="en-US" sz="1800" dirty="0">
                <a:solidFill>
                  <a:schemeClr val="tx1"/>
                </a:solidFill>
              </a:rPr>
              <a:t> vient </a:t>
            </a:r>
            <a:r>
              <a:rPr lang="en-US" sz="1800" b="1" dirty="0">
                <a:solidFill>
                  <a:schemeClr val="tx1"/>
                </a:solidFill>
              </a:rPr>
              <a:t>avant la chose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Jan → hem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9864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3522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zie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94176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pronom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94176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30752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hem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</a:t>
            </a:r>
            <a:r>
              <a:rPr lang="en-US" sz="1400" b="1" i="1" dirty="0">
                <a:solidFill>
                  <a:schemeClr val="accent5"/>
                </a:solidFill>
              </a:rPr>
              <a:t>le</a:t>
            </a:r>
            <a:r>
              <a:rPr lang="en-US" sz="1400" i="1" dirty="0">
                <a:solidFill>
                  <a:schemeClr val="accent5"/>
                </a:solidFill>
              </a:rPr>
              <a:t> vois.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inversion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103120" y="2801874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103120" y="3039618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139696" y="3039618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Morgen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176016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176016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12592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bel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3971544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971544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08120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767072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pronom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67072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3648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Demain, je </a:t>
            </a:r>
            <a:r>
              <a:rPr lang="en-US" sz="1400" b="1" i="1" dirty="0">
                <a:solidFill>
                  <a:schemeClr val="accent5"/>
                </a:solidFill>
              </a:rPr>
              <a:t>vous</a:t>
            </a:r>
            <a:r>
              <a:rPr lang="en-US" sz="1400" i="1" dirty="0">
                <a:solidFill>
                  <a:schemeClr val="accent5"/>
                </a:solidFill>
              </a:rPr>
              <a:t> appelle.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personne + chose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2103120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103120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139696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2898648" y="365607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898648" y="389382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935224" y="389382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geef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3760216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personne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760216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796792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hem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4555744" y="3656076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chose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555744" y="3893820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92320" y="3893820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het boek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</a:t>
            </a:r>
            <a:r>
              <a:rPr lang="en-US" sz="1400" b="1" i="1" dirty="0">
                <a:solidFill>
                  <a:schemeClr val="accent5"/>
                </a:solidFill>
              </a:rPr>
              <a:t>lui</a:t>
            </a:r>
            <a:r>
              <a:rPr lang="en-US" sz="1400" i="1" dirty="0">
                <a:solidFill>
                  <a:schemeClr val="accent5"/>
                </a:solidFill>
              </a:rPr>
              <a:t> donne le livre.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hun = leur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2103120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103120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139696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2898648" y="4510278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2898648" y="4748022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935224" y="4748022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geef</a:t>
            </a:r>
            <a:endParaRPr lang="en-US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3760216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personne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3760216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796792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hun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555744" y="4510278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chose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555744" y="4748022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592320" y="4748022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een boek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</a:t>
            </a:r>
            <a:r>
              <a:rPr lang="en-US" sz="1400" b="1" i="1" dirty="0">
                <a:solidFill>
                  <a:schemeClr val="accent5"/>
                </a:solidFill>
              </a:rPr>
              <a:t>leur</a:t>
            </a:r>
            <a:r>
              <a:rPr lang="en-US" sz="1400" i="1" dirty="0">
                <a:solidFill>
                  <a:schemeClr val="accent5"/>
                </a:solidFill>
              </a:rPr>
              <a:t> donne un livre.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6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62" name="Text 58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Le français met le pronom </a:t>
            </a:r>
            <a:r>
              <a:rPr lang="en-US" sz="1700" b="1" dirty="0">
                <a:solidFill>
                  <a:schemeClr val="tx1"/>
                </a:solidFill>
              </a:rPr>
              <a:t>devant</a:t>
            </a:r>
            <a:r>
              <a:rPr lang="en-US" sz="1700" dirty="0">
                <a:solidFill>
                  <a:schemeClr val="tx1"/>
                </a:solidFill>
              </a:rPr>
              <a:t> le verbe : </a:t>
            </a:r>
            <a:r>
              <a:rPr lang="en-US" sz="1700" i="1" dirty="0">
                <a:solidFill>
                  <a:schemeClr val="tx1"/>
                </a:solidFill>
              </a:rPr>
              <a:t>je </a:t>
            </a:r>
            <a:r>
              <a:rPr lang="en-US" sz="1700" b="1" i="1" dirty="0">
                <a:solidFill>
                  <a:schemeClr val="tx1"/>
                </a:solidFill>
              </a:rPr>
              <a:t>le</a:t>
            </a:r>
            <a:r>
              <a:rPr lang="en-US" sz="1700" i="1" dirty="0">
                <a:solidFill>
                  <a:schemeClr val="tx1"/>
                </a:solidFill>
              </a:rPr>
              <a:t> vois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i="1" dirty="0">
                <a:solidFill>
                  <a:schemeClr val="tx1"/>
                </a:solidFill>
              </a:rPr>
              <a:t>je </a:t>
            </a:r>
            <a:r>
              <a:rPr lang="en-US" sz="1700" b="1" i="1" dirty="0">
                <a:solidFill>
                  <a:schemeClr val="tx1"/>
                </a:solidFill>
              </a:rPr>
              <a:t>lui</a:t>
            </a:r>
            <a:r>
              <a:rPr lang="en-US" sz="1700" i="1" dirty="0">
                <a:solidFill>
                  <a:schemeClr val="tx1"/>
                </a:solidFill>
              </a:rPr>
              <a:t> donne</a:t>
            </a:r>
            <a:r>
              <a:rPr lang="en-US" sz="1700" dirty="0">
                <a:solidFill>
                  <a:schemeClr val="tx1"/>
                </a:solidFill>
              </a:rPr>
              <a:t>. Le néerlandais le met </a:t>
            </a:r>
            <a:r>
              <a:rPr lang="en-US" sz="1700" b="1" dirty="0">
                <a:solidFill>
                  <a:schemeClr val="tx1"/>
                </a:solidFill>
              </a:rPr>
              <a:t>après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Ik zie </a:t>
            </a:r>
            <a:r>
              <a:rPr lang="en-US" sz="1700" b="1" i="1" dirty="0">
                <a:solidFill>
                  <a:schemeClr val="tx1"/>
                </a:solidFill>
              </a:rPr>
              <a:t>hem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Ik hem zie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hen, hun ou ze ? Et pour une chose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256717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HEN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2201418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met hen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83561"/>
            <a:ext cx="2201418" cy="2671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Après une </a:t>
            </a:r>
            <a:r>
              <a:rPr lang="en-US" sz="2000" b="1" dirty="0">
                <a:solidFill>
                  <a:schemeClr val="tx1"/>
                </a:solidFill>
              </a:rPr>
              <a:t>préposition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met hen, voor hen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COD à l’écrit : </a:t>
            </a:r>
            <a:r>
              <a:rPr lang="en-US" sz="2000" i="1" dirty="0">
                <a:solidFill>
                  <a:schemeClr val="tx1"/>
                </a:solidFill>
              </a:rPr>
              <a:t>Ik zie hen.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Ik werk met hen.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90138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90138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4" name="Shape 11"/>
          <p:cNvSpPr/>
          <p:nvPr/>
        </p:nvSpPr>
        <p:spPr>
          <a:xfrm>
            <a:off x="3390138" y="1801368"/>
            <a:ext cx="2567178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73018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HUN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573018" y="2084832"/>
            <a:ext cx="2201418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geef hun…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3573018" y="2583561"/>
            <a:ext cx="2201418" cy="2671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= « </a:t>
            </a:r>
            <a:r>
              <a:rPr lang="en-US" sz="2000" b="1" dirty="0">
                <a:solidFill>
                  <a:schemeClr val="tx1"/>
                </a:solidFill>
              </a:rPr>
              <a:t>leur</a:t>
            </a:r>
            <a:r>
              <a:rPr lang="en-US" sz="2000" dirty="0">
                <a:solidFill>
                  <a:schemeClr val="tx1"/>
                </a:solidFill>
              </a:rPr>
              <a:t> » (à eux).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Ik geef hun een boek.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✗ </a:t>
            </a:r>
            <a:r>
              <a:rPr lang="en-US" sz="2000" i="1" dirty="0">
                <a:solidFill>
                  <a:schemeClr val="tx1"/>
                </a:solidFill>
              </a:rPr>
              <a:t>Ik zie hun</a:t>
            </a:r>
            <a:r>
              <a:rPr lang="en-US" sz="2000" dirty="0">
                <a:solidFill>
                  <a:schemeClr val="tx1"/>
                </a:solidFill>
              </a:rPr>
              <a:t> : fautif (= les).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31636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1636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0" name="Shape 17"/>
          <p:cNvSpPr/>
          <p:nvPr/>
        </p:nvSpPr>
        <p:spPr>
          <a:xfrm>
            <a:off x="6231636" y="1801368"/>
            <a:ext cx="2567178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ZE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14516" y="2084832"/>
            <a:ext cx="2201418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zie ze.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6414516" y="2583561"/>
            <a:ext cx="2201418" cy="2671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À l’</a:t>
            </a:r>
            <a:r>
              <a:rPr lang="en-US" sz="2000" b="1" dirty="0">
                <a:solidFill>
                  <a:schemeClr val="tx1"/>
                </a:solidFill>
              </a:rPr>
              <a:t>oral</a:t>
            </a:r>
            <a:r>
              <a:rPr lang="en-US" sz="2000" dirty="0">
                <a:solidFill>
                  <a:schemeClr val="tx1"/>
                </a:solidFill>
              </a:rPr>
              <a:t> : partout.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Personnes </a:t>
            </a:r>
            <a:r>
              <a:rPr lang="en-US" sz="2000" b="1" dirty="0">
                <a:solidFill>
                  <a:schemeClr val="tx1"/>
                </a:solidFill>
              </a:rPr>
              <a:t>ou</a:t>
            </a:r>
            <a:r>
              <a:rPr lang="en-US" sz="2000" dirty="0">
                <a:solidFill>
                  <a:schemeClr val="tx1"/>
                </a:solidFill>
              </a:rPr>
              <a:t> choses au pluriel.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De klanten? Ik bel ze.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9073134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073134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6" name="Shape 23"/>
          <p:cNvSpPr/>
          <p:nvPr/>
        </p:nvSpPr>
        <p:spPr>
          <a:xfrm>
            <a:off x="9073134" y="1801368"/>
            <a:ext cx="2567178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56014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UNE CHOSE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256014" y="2084832"/>
            <a:ext cx="2201418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zie hem niet.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9256014" y="2583561"/>
            <a:ext cx="2201418" cy="2671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2"/>
                </a:solidFill>
              </a:rPr>
              <a:t>de</a:t>
            </a:r>
            <a:r>
              <a:rPr lang="en-US" sz="2000" dirty="0">
                <a:solidFill>
                  <a:schemeClr val="tx1"/>
                </a:solidFill>
              </a:rPr>
              <a:t> printer → </a:t>
            </a:r>
            <a:r>
              <a:rPr lang="en-US" sz="2000" b="1" dirty="0">
                <a:solidFill>
                  <a:schemeClr val="tx1"/>
                </a:solidFill>
              </a:rPr>
              <a:t>hem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4"/>
                </a:solidFill>
              </a:rPr>
              <a:t>het</a:t>
            </a:r>
            <a:r>
              <a:rPr lang="en-US" sz="2000" dirty="0">
                <a:solidFill>
                  <a:schemeClr val="tx1"/>
                </a:solidFill>
              </a:rPr>
              <a:t> contract → </a:t>
            </a:r>
            <a:r>
              <a:rPr lang="en-US" sz="2000" b="1" dirty="0">
                <a:solidFill>
                  <a:schemeClr val="tx1"/>
                </a:solidFill>
              </a:rPr>
              <a:t>het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Het contract? Ik teken het.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Ne traduisez pas « </a:t>
            </a:r>
            <a:r>
              <a:rPr lang="en-US" sz="1700" i="1" dirty="0">
                <a:solidFill>
                  <a:schemeClr val="tx1"/>
                </a:solidFill>
              </a:rPr>
              <a:t>la</a:t>
            </a:r>
            <a:r>
              <a:rPr lang="en-US" sz="1700" dirty="0">
                <a:solidFill>
                  <a:schemeClr val="tx1"/>
                </a:solidFill>
              </a:rPr>
              <a:t> » par </a:t>
            </a:r>
            <a:r>
              <a:rPr lang="en-US" sz="1700" i="1" dirty="0">
                <a:solidFill>
                  <a:schemeClr val="tx1"/>
                </a:solidFill>
              </a:rPr>
              <a:t>haar</a:t>
            </a:r>
            <a:r>
              <a:rPr lang="en-US" sz="1700" dirty="0">
                <a:solidFill>
                  <a:schemeClr val="tx1"/>
                </a:solidFill>
              </a:rPr>
              <a:t> pour une chose : </a:t>
            </a:r>
            <a:r>
              <a:rPr lang="en-US" sz="1700" i="1" dirty="0">
                <a:solidFill>
                  <a:schemeClr val="tx1"/>
                </a:solidFill>
              </a:rPr>
              <a:t>L’imprimante ? Je ne </a:t>
            </a:r>
            <a:r>
              <a:rPr lang="en-US" sz="1700" b="1" i="1" dirty="0">
                <a:solidFill>
                  <a:schemeClr val="tx1"/>
                </a:solidFill>
              </a:rPr>
              <a:t>la</a:t>
            </a:r>
            <a:r>
              <a:rPr lang="en-US" sz="1700" i="1" dirty="0">
                <a:solidFill>
                  <a:schemeClr val="tx1"/>
                </a:solidFill>
              </a:rPr>
              <a:t> vois pas.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De printer? Ik zie </a:t>
            </a:r>
            <a:r>
              <a:rPr lang="en-US" sz="1700" b="1" i="1" dirty="0">
                <a:solidFill>
                  <a:schemeClr val="tx1"/>
                </a:solidFill>
              </a:rPr>
              <a:t>hem</a:t>
            </a:r>
            <a:r>
              <a:rPr lang="en-US" sz="1700" i="1" dirty="0">
                <a:solidFill>
                  <a:schemeClr val="tx1"/>
                </a:solidFill>
              </a:rPr>
              <a:t> niet.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haar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vervang door een voornaamwoord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Remplacez la personne par un </a:t>
            </a:r>
            <a:r>
              <a:rPr lang="en-US" sz="1600" b="1" i="1" dirty="0">
                <a:solidFill>
                  <a:schemeClr val="accent5"/>
                </a:solidFill>
              </a:rPr>
              <a:t>pronom objet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Ik bel Peter. → Ik bel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Ik vraag Els. → Ik vraag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Zij bezoekt haar vrienden. → Zij bezoekt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Ik vertel </a:t>
            </a:r>
            <a:r>
              <a:rPr lang="en-US" sz="2400" i="1" dirty="0">
                <a:solidFill>
                  <a:schemeClr val="tx1"/>
                </a:solidFill>
              </a:rPr>
              <a:t>(à elle)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het verhaal.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RAPPEL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hij → </a:t>
            </a:r>
            <a:r>
              <a:rPr lang="en-US" sz="1800" b="1" dirty="0">
                <a:solidFill>
                  <a:schemeClr val="tx1"/>
                </a:solidFill>
              </a:rPr>
              <a:t>hem</a:t>
            </a:r>
            <a:r>
              <a:rPr lang="en-US" sz="1800" dirty="0">
                <a:solidFill>
                  <a:schemeClr val="tx1"/>
                </a:solidFill>
              </a:rPr>
              <a:t> · zij → </a:t>
            </a:r>
            <a:r>
              <a:rPr lang="en-US" sz="1800" b="1" dirty="0">
                <a:solidFill>
                  <a:schemeClr val="tx1"/>
                </a:solidFill>
              </a:rPr>
              <a:t>haar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zij (pl.) → </a:t>
            </a:r>
            <a:r>
              <a:rPr lang="en-US" sz="1800" b="1" dirty="0">
                <a:solidFill>
                  <a:schemeClr val="tx1"/>
                </a:solidFill>
              </a:rPr>
              <a:t>hen · hun · ze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Personne </a:t>
            </a:r>
            <a:r>
              <a:rPr lang="en-US" sz="1800" b="1" dirty="0">
                <a:solidFill>
                  <a:schemeClr val="tx1"/>
                </a:solidFill>
              </a:rPr>
              <a:t>avant</a:t>
            </a:r>
            <a:r>
              <a:rPr lang="en-US" sz="1800" dirty="0">
                <a:solidFill>
                  <a:schemeClr val="tx1"/>
                </a:solidFill>
              </a:rPr>
              <a:t> chose.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vervang door een voornaamwoord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Remplacez la personne par un </a:t>
            </a:r>
            <a:r>
              <a:rPr lang="en-US" sz="1600" b="1" i="1" dirty="0">
                <a:solidFill>
                  <a:schemeClr val="accent5"/>
                </a:solidFill>
              </a:rPr>
              <a:t>pronom objet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Ik bel Peter. → Ik bel </a:t>
            </a:r>
            <a:r>
              <a:rPr lang="en-US" sz="2400" b="1" dirty="0">
                <a:solidFill>
                  <a:schemeClr val="accent3"/>
                </a:solidFill>
              </a:rPr>
              <a:t>hem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Ik vraag Els. → Ik vraag </a:t>
            </a:r>
            <a:r>
              <a:rPr lang="en-US" sz="2400" b="1" dirty="0">
                <a:solidFill>
                  <a:schemeClr val="accent3"/>
                </a:solidFill>
              </a:rPr>
              <a:t>haar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Zij bezoekt haar vrienden. → Zij bezoekt </a:t>
            </a:r>
            <a:r>
              <a:rPr lang="en-US" sz="2400" b="1" dirty="0">
                <a:solidFill>
                  <a:schemeClr val="accent3"/>
                </a:solidFill>
              </a:rPr>
              <a:t>ze / hen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Ik vertel </a:t>
            </a:r>
            <a:r>
              <a:rPr lang="en-US" sz="2400" i="1" dirty="0">
                <a:solidFill>
                  <a:schemeClr val="tx1"/>
                </a:solidFill>
              </a:rPr>
              <a:t>(à elle)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haar</a:t>
            </a:r>
            <a:r>
              <a:rPr lang="en-US" sz="2400" dirty="0">
                <a:solidFill>
                  <a:schemeClr val="tx1"/>
                </a:solidFill>
              </a:rPr>
              <a:t> het verhaal.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Phrase 3 : COD → </a:t>
            </a:r>
            <a:r>
              <a:rPr lang="en-US" sz="1800" i="1" dirty="0">
                <a:solidFill>
                  <a:schemeClr val="tx1"/>
                </a:solidFill>
              </a:rPr>
              <a:t>ze</a:t>
            </a:r>
            <a:r>
              <a:rPr lang="en-US" sz="1800" dirty="0">
                <a:solidFill>
                  <a:schemeClr val="tx1"/>
                </a:solidFill>
              </a:rPr>
              <a:t> (oral) ou </a:t>
            </a:r>
            <a:r>
              <a:rPr lang="en-US" sz="1800" i="1" dirty="0">
                <a:solidFill>
                  <a:schemeClr val="tx1"/>
                </a:solidFill>
              </a:rPr>
              <a:t>hen</a:t>
            </a:r>
            <a:r>
              <a:rPr lang="en-US" sz="1800" dirty="0">
                <a:solidFill>
                  <a:schemeClr val="tx1"/>
                </a:solidFill>
              </a:rPr>
              <a:t> (écrit) — ✗ </a:t>
            </a:r>
            <a:r>
              <a:rPr lang="en-US" sz="1800" i="1" dirty="0">
                <a:solidFill>
                  <a:schemeClr val="tx1"/>
                </a:solidFill>
              </a:rPr>
              <a:t>hun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Phrase 4 : la personne (</a:t>
            </a:r>
            <a:r>
              <a:rPr lang="en-US" sz="1800" i="1" dirty="0">
                <a:solidFill>
                  <a:schemeClr val="tx1"/>
                </a:solidFill>
              </a:rPr>
              <a:t>haar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n-US" sz="1800" b="1" dirty="0">
                <a:solidFill>
                  <a:schemeClr val="tx1"/>
                </a:solidFill>
              </a:rPr>
              <a:t>avant</a:t>
            </a:r>
            <a:r>
              <a:rPr lang="en-US" sz="1800" dirty="0">
                <a:solidFill>
                  <a:schemeClr val="tx1"/>
                </a:solidFill>
              </a:rPr>
              <a:t> la chose (</a:t>
            </a:r>
            <a:r>
              <a:rPr lang="en-US" sz="1800" i="1" dirty="0">
                <a:solidFill>
                  <a:schemeClr val="tx1"/>
                </a:solidFill>
              </a:rPr>
              <a:t>het verhaal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Au travail : répondez avec un pronom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A pose la question, B répond </a:t>
            </a:r>
            <a:r>
              <a:rPr lang="en-US" sz="1600" b="1" i="1" dirty="0">
                <a:solidFill>
                  <a:schemeClr val="accent5"/>
                </a:solidFill>
              </a:rPr>
              <a:t>avec un pronom</a:t>
            </a:r>
            <a:r>
              <a:rPr lang="en-US" sz="1600" i="1" dirty="0">
                <a:solidFill>
                  <a:schemeClr val="accent5"/>
                </a:solidFill>
              </a:rPr>
              <a:t>. Puis on inverse.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Ken je mijn collega Sarah? — Ja, ik ken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Waar is de printer? — Ik zie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niet.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Heb je het contract? — Ja, ik heb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Bel je de klanten? — Ja, ik bel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morgen.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Geef je de baas het dossier? — Ja, ik geef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het dossier.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Werk je met Pieter en Sarah? — Ja, ik werk met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Au travail : répondez avec un pronom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A pose la question, B répond </a:t>
            </a:r>
            <a:r>
              <a:rPr lang="en-US" sz="1600" b="1" i="1" dirty="0">
                <a:solidFill>
                  <a:schemeClr val="accent5"/>
                </a:solidFill>
              </a:rPr>
              <a:t>avec un pronom</a:t>
            </a:r>
            <a:r>
              <a:rPr lang="en-US" sz="1600" i="1" dirty="0">
                <a:solidFill>
                  <a:schemeClr val="accent5"/>
                </a:solidFill>
              </a:rPr>
              <a:t>. Puis on inverse.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Ken je mijn collega Sarah? — Ja, ik ken </a:t>
            </a:r>
            <a:r>
              <a:rPr lang="en-US" sz="2400" b="1" dirty="0">
                <a:solidFill>
                  <a:schemeClr val="accent3"/>
                </a:solidFill>
              </a:rPr>
              <a:t>haar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Waar is de printer? — Ik zie </a:t>
            </a:r>
            <a:r>
              <a:rPr lang="en-US" sz="2400" b="1" dirty="0">
                <a:solidFill>
                  <a:schemeClr val="accent3"/>
                </a:solidFill>
              </a:rPr>
              <a:t>hem</a:t>
            </a:r>
            <a:r>
              <a:rPr lang="en-US" sz="2400" dirty="0">
                <a:solidFill>
                  <a:schemeClr val="tx1"/>
                </a:solidFill>
              </a:rPr>
              <a:t> niet.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Heb je het contract? — Ja, ik heb </a:t>
            </a:r>
            <a:r>
              <a:rPr lang="en-US" sz="2400" b="1" dirty="0">
                <a:solidFill>
                  <a:schemeClr val="accent3"/>
                </a:solidFill>
              </a:rPr>
              <a:t>het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Bel je de klanten? — Ja, ik bel </a:t>
            </a:r>
            <a:r>
              <a:rPr lang="en-US" sz="2400" b="1" dirty="0">
                <a:solidFill>
                  <a:schemeClr val="accent3"/>
                </a:solidFill>
              </a:rPr>
              <a:t>ze</a:t>
            </a:r>
            <a:r>
              <a:rPr lang="en-US" sz="2400" dirty="0">
                <a:solidFill>
                  <a:schemeClr val="tx1"/>
                </a:solidFill>
              </a:rPr>
              <a:t> morgen.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Geef je de baas het dossier? — Ja, ik geef </a:t>
            </a:r>
            <a:r>
              <a:rPr lang="en-US" sz="2400" b="1" dirty="0">
                <a:solidFill>
                  <a:schemeClr val="accent3"/>
                </a:solidFill>
              </a:rPr>
              <a:t>hem</a:t>
            </a:r>
            <a:r>
              <a:rPr lang="en-US" sz="2400" dirty="0">
                <a:solidFill>
                  <a:schemeClr val="tx1"/>
                </a:solidFill>
              </a:rPr>
              <a:t> het dossier.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Werk je met Pieter en Sarah? — Ja, ik werk met </a:t>
            </a:r>
            <a:r>
              <a:rPr lang="en-US" sz="2400" b="1" dirty="0">
                <a:solidFill>
                  <a:schemeClr val="accent3"/>
                </a:solidFill>
              </a:rPr>
              <a:t>hen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Chose en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hem</a:t>
            </a:r>
            <a:r>
              <a:rPr lang="en-US" sz="1800" dirty="0">
                <a:solidFill>
                  <a:schemeClr val="tx1"/>
                </a:solidFill>
              </a:rPr>
              <a:t> · en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Après une préposition : </a:t>
            </a:r>
            <a:r>
              <a:rPr lang="en-US" sz="1800" i="1" dirty="0">
                <a:solidFill>
                  <a:schemeClr val="tx1"/>
                </a:solidFill>
              </a:rPr>
              <a:t>met </a:t>
            </a:r>
            <a:r>
              <a:rPr lang="en-US" sz="1800" b="1" i="1" dirty="0">
                <a:solidFill>
                  <a:schemeClr val="tx1"/>
                </a:solidFill>
              </a:rPr>
              <a:t>hen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Personne avant chose : </a:t>
            </a:r>
            <a:r>
              <a:rPr lang="en-US" sz="1800" i="1" dirty="0">
                <a:solidFill>
                  <a:schemeClr val="tx1"/>
                </a:solidFill>
              </a:rPr>
              <a:t>ik geef </a:t>
            </a:r>
            <a:r>
              <a:rPr lang="en-US" sz="1800" b="1" i="1" dirty="0">
                <a:solidFill>
                  <a:schemeClr val="tx1"/>
                </a:solidFill>
              </a:rPr>
              <a:t>hem</a:t>
            </a:r>
            <a:r>
              <a:rPr lang="en-US" sz="1800" i="1" dirty="0">
                <a:solidFill>
                  <a:schemeClr val="tx1"/>
                </a:solidFill>
              </a:rPr>
              <a:t> het dossier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Werk &amp; bedrijf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" name="illustration" descr="le bureau (le lieu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16" y="1581912"/>
            <a:ext cx="993249" cy="7894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llustration" descr="le bureau (le meubl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236" y="1581912"/>
            <a:ext cx="1013344" cy="7894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7" name="illustration" descr="l’ordinateu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416" y="1581912"/>
            <a:ext cx="996120" cy="7894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2" name="illustration" descr="l’impriman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837" y="1581912"/>
            <a:ext cx="948415" cy="7894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7" name="illustration" descr="la réun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811" y="1581912"/>
            <a:ext cx="967602" cy="78943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2" name="illustration" descr="le / la collègu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762" y="3230880"/>
            <a:ext cx="951156" cy="78943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7" name="illustration" descr="le patr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701" y="3230880"/>
            <a:ext cx="948415" cy="78943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1" name="Shape 31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2" name="illustration" descr="l’usi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675" y="3230880"/>
            <a:ext cx="967602" cy="789432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3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6" name="Shape 35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7" name="illustration" descr="l’entretien d’embauch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7466" y="3230880"/>
            <a:ext cx="951156" cy="789432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9" name="Text 37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1" name="Shape 39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2" name="illustration" descr="le contra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405" y="3230880"/>
            <a:ext cx="948415" cy="789432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6" name="Shape 43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7" name="illustration" descr="le salair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539" y="4879848"/>
            <a:ext cx="967602" cy="789432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9" name="Text 45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1" name="Shape 47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2" name="illustration" descr="la machine à café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330" y="4879848"/>
            <a:ext cx="951156" cy="789432"/>
          </a:xfrm>
          <a:prstGeom prst="rect">
            <a:avLst/>
          </a:prstGeom>
        </p:spPr>
      </p:pic>
      <p:sp>
        <p:nvSpPr>
          <p:cNvPr id="63" name="Shape 48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4" name="Text 49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5" name="Text 50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6" name="Shape 51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7" name="illustration" descr="l’ascenseu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3068" y="4879848"/>
            <a:ext cx="1062815" cy="789432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9" name="Text 53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0" name="Text 54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1" name="Shape 55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2" name="illustration" descr="le clien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885" y="4879848"/>
            <a:ext cx="1084317" cy="789432"/>
          </a:xfrm>
          <a:prstGeom prst="rect">
            <a:avLst/>
          </a:prstGeom>
        </p:spPr>
      </p:pic>
      <p:sp>
        <p:nvSpPr>
          <p:cNvPr id="73" name="Shape 56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4" name="Text 57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5" name="Text 58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6" name="Shape 59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7" name="illustration" descr="l’agrafeus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8669" y="4879848"/>
            <a:ext cx="1065887" cy="789432"/>
          </a:xfrm>
          <a:prstGeom prst="rect">
            <a:avLst/>
          </a:prstGeom>
        </p:spPr>
      </p:pic>
      <p:sp>
        <p:nvSpPr>
          <p:cNvPr id="78" name="Shape 60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0" name="Text 62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Werk &amp; bedrijf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3957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8" name="illustration" descr="le bureau (le lieu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16" y="1581912"/>
            <a:ext cx="993249" cy="7894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kantoor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bureau (le lieu)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13" name="illustration" descr="le bureau (le meubl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236" y="1581912"/>
            <a:ext cx="1013344" cy="7894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bureau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bureau (le meuble)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8" name="illustration" descr="l’ordinateu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416" y="1581912"/>
            <a:ext cx="996120" cy="7894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computer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l’ordinateur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3" name="illustration" descr="l’impriman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837" y="1581912"/>
            <a:ext cx="948415" cy="7894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printer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l’imprimante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8" name="illustration" descr="la réun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811" y="1581912"/>
            <a:ext cx="967602" cy="7894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vergadering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réunion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3" name="illustration" descr="le / la collègu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762" y="3230880"/>
            <a:ext cx="951156" cy="78943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collega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/ la collègue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8" name="illustration" descr="le patr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701" y="3230880"/>
            <a:ext cx="948415" cy="78943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baas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patron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43" name="illustration" descr="l’usi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675" y="3230880"/>
            <a:ext cx="967602" cy="789432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fabriek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l’usine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48" name="illustration" descr="l’entretien d’embauch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7466" y="3230880"/>
            <a:ext cx="951156" cy="78943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0" name="Text 38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sollicitatiegesprek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l’entretien d’embauche</a:t>
            </a:r>
            <a:endParaRPr lang="en-US" sz="1600" dirty="0"/>
          </a:p>
        </p:txBody>
      </p:sp>
      <p:sp>
        <p:nvSpPr>
          <p:cNvPr id="52" name="Shape 40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53" name="illustration" descr="le contra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405" y="3230880"/>
            <a:ext cx="948415" cy="789432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5" name="Text 42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contract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contrat</a:t>
            </a:r>
            <a:endParaRPr lang="en-US" sz="1600" dirty="0"/>
          </a:p>
        </p:txBody>
      </p:sp>
      <p:sp>
        <p:nvSpPr>
          <p:cNvPr id="57" name="Shape 44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58" name="illustration" descr="le salair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539" y="4879848"/>
            <a:ext cx="967602" cy="789432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46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1" name="Text 47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loon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salaire</a:t>
            </a:r>
            <a:endParaRPr lang="en-US" sz="1600" dirty="0"/>
          </a:p>
        </p:txBody>
      </p:sp>
      <p:sp>
        <p:nvSpPr>
          <p:cNvPr id="62" name="Shape 48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3" name="illustration" descr="la machine à café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330" y="4879848"/>
            <a:ext cx="951156" cy="789432"/>
          </a:xfrm>
          <a:prstGeom prst="rect">
            <a:avLst/>
          </a:prstGeom>
        </p:spPr>
      </p:pic>
      <p:sp>
        <p:nvSpPr>
          <p:cNvPr id="64" name="Shape 49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5" name="Text 50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6" name="Text 51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koffieautomaat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machine à café</a:t>
            </a:r>
            <a:endParaRPr lang="en-US" sz="1600" dirty="0"/>
          </a:p>
        </p:txBody>
      </p:sp>
      <p:sp>
        <p:nvSpPr>
          <p:cNvPr id="67" name="Shape 52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8" name="illustration" descr="l’ascenseu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3068" y="4879848"/>
            <a:ext cx="1062815" cy="789432"/>
          </a:xfrm>
          <a:prstGeom prst="rect">
            <a:avLst/>
          </a:prstGeom>
        </p:spPr>
      </p:pic>
      <p:sp>
        <p:nvSpPr>
          <p:cNvPr id="69" name="Shape 53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0" name="Text 54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1" name="Text 55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lift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l’ascenseur</a:t>
            </a:r>
            <a:endParaRPr lang="en-US" sz="1600" dirty="0"/>
          </a:p>
        </p:txBody>
      </p:sp>
      <p:sp>
        <p:nvSpPr>
          <p:cNvPr id="72" name="Shape 56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73" name="illustration" descr="le clien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885" y="4879848"/>
            <a:ext cx="1084317" cy="789432"/>
          </a:xfrm>
          <a:prstGeom prst="rect">
            <a:avLst/>
          </a:prstGeom>
        </p:spPr>
      </p:pic>
      <p:sp>
        <p:nvSpPr>
          <p:cNvPr id="74" name="Shape 57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5" name="Text 58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6" name="Text 59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klant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client</a:t>
            </a:r>
            <a:endParaRPr lang="en-US" sz="1600" dirty="0"/>
          </a:p>
        </p:txBody>
      </p:sp>
      <p:sp>
        <p:nvSpPr>
          <p:cNvPr id="77" name="Shape 60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78" name="illustration" descr="l’agrafeus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8669" y="4879848"/>
            <a:ext cx="1065887" cy="789432"/>
          </a:xfrm>
          <a:prstGeom prst="rect">
            <a:avLst/>
          </a:prstGeom>
        </p:spPr>
      </p:pic>
      <p:sp>
        <p:nvSpPr>
          <p:cNvPr id="79" name="Shape 61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0" name="Text 62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1" name="Text 63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nietmachine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l’agrafeuse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Wie of wat is het? Devinettes au travail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puis à deux · 5 min — Trouvez le mot de l’imagier, </a:t>
            </a:r>
            <a:r>
              <a:rPr lang="en-US" sz="1600" b="1" i="1" dirty="0">
                <a:solidFill>
                  <a:schemeClr val="accent5"/>
                </a:solidFill>
              </a:rPr>
              <a:t>avec l’article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Hier werk je met je collega’s, aan een bureau. → 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Hier maakt men auto’s of chocolade. → 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Dat krijg je elke maand voor je werk. →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Die persoon koopt iets in jouw winkel. →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Je tekent het als je een nieuwe job hebt. → </a:t>
            </a:r>
            <a:r>
              <a:rPr lang="en-US" sz="2100" dirty="0">
                <a:solidFill>
                  <a:schemeClr val="accent5"/>
                </a:solidFill>
              </a:rPr>
              <a:t>…………………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Je neemt hem naar de vijfde verdieping. →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7.  </a:t>
            </a:r>
            <a:r>
              <a:rPr lang="en-US" sz="2100" dirty="0">
                <a:solidFill>
                  <a:schemeClr val="tx1"/>
                </a:solidFill>
              </a:rPr>
              <a:t>Dat heb je met de baas, voordat je een job krijgt.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Wie of wat is het? Devinettes au travail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puis à deux · 5 min — Trouvez le mot de l’imagier, </a:t>
            </a:r>
            <a:r>
              <a:rPr lang="en-US" sz="1600" b="1" i="1" dirty="0">
                <a:solidFill>
                  <a:schemeClr val="accent5"/>
                </a:solidFill>
              </a:rPr>
              <a:t>avec l’article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Hier werk je met je collega’s, aan een bureau. → </a:t>
            </a:r>
            <a:r>
              <a:rPr lang="en-US" sz="2100" b="1" dirty="0">
                <a:solidFill>
                  <a:schemeClr val="accent3"/>
                </a:solidFill>
              </a:rPr>
              <a:t>het kantoor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Hier maakt men auto’s of chocolade. → </a:t>
            </a:r>
            <a:r>
              <a:rPr lang="en-US" sz="2100" b="1" dirty="0">
                <a:solidFill>
                  <a:schemeClr val="accent3"/>
                </a:solidFill>
              </a:rPr>
              <a:t>de fabriek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Dat krijg je elke maand voor je werk. → </a:t>
            </a:r>
            <a:r>
              <a:rPr lang="en-US" sz="2100" b="1" dirty="0">
                <a:solidFill>
                  <a:schemeClr val="accent3"/>
                </a:solidFill>
              </a:rPr>
              <a:t>het loon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Die persoon koopt iets in jouw winkel. → </a:t>
            </a:r>
            <a:r>
              <a:rPr lang="en-US" sz="2100" b="1" dirty="0">
                <a:solidFill>
                  <a:schemeClr val="accent3"/>
                </a:solidFill>
              </a:rPr>
              <a:t>de klant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Je tekent het als je een nieuwe job hebt. → </a:t>
            </a:r>
            <a:r>
              <a:rPr lang="en-US" sz="2100" b="1" dirty="0">
                <a:solidFill>
                  <a:schemeClr val="accent3"/>
                </a:solidFill>
              </a:rPr>
              <a:t>het contract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Je neemt hem naar de vijfde verdieping. → </a:t>
            </a:r>
            <a:r>
              <a:rPr lang="en-US" sz="2100" b="1" dirty="0">
                <a:solidFill>
                  <a:schemeClr val="accent3"/>
                </a:solidFill>
              </a:rPr>
              <a:t>de lift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7.  </a:t>
            </a:r>
            <a:r>
              <a:rPr lang="en-US" sz="2100" dirty="0">
                <a:solidFill>
                  <a:schemeClr val="tx1"/>
                </a:solidFill>
              </a:rPr>
              <a:t>Dat heb je met de baas, voordat je een job krijgt. → </a:t>
            </a:r>
            <a:r>
              <a:rPr lang="en-US" sz="2100" b="1" dirty="0">
                <a:solidFill>
                  <a:schemeClr val="accent3"/>
                </a:solidFill>
              </a:rPr>
              <a:t>het sollicitatiegesprek</a:t>
            </a:r>
            <a:endParaRPr lang="en-US" sz="21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Phrases 5 et 6 : </a:t>
            </a:r>
            <a:r>
              <a:rPr lang="en-US" sz="1800" i="1" dirty="0">
                <a:solidFill>
                  <a:schemeClr val="tx1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et </a:t>
            </a:r>
            <a:r>
              <a:rPr lang="en-US" sz="1800" i="1" dirty="0">
                <a:solidFill>
                  <a:schemeClr val="tx1"/>
                </a:solidFill>
              </a:rPr>
              <a:t>hem</a:t>
            </a:r>
            <a:r>
              <a:rPr lang="en-US" sz="1800" dirty="0">
                <a:solidFill>
                  <a:schemeClr val="tx1"/>
                </a:solidFill>
              </a:rPr>
              <a:t> remplacent une </a:t>
            </a:r>
            <a:r>
              <a:rPr lang="en-US" sz="1800" b="1" dirty="0">
                <a:solidFill>
                  <a:schemeClr val="tx1"/>
                </a:solidFill>
              </a:rPr>
              <a:t>chose</a:t>
            </a:r>
            <a:r>
              <a:rPr lang="en-US" sz="1800" dirty="0">
                <a:solidFill>
                  <a:schemeClr val="tx1"/>
                </a:solidFill>
              </a:rPr>
              <a:t> (fiche p. 71) !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de job</a:t>
            </a:r>
            <a:r>
              <a:rPr lang="en-US" sz="1800" dirty="0">
                <a:solidFill>
                  <a:schemeClr val="tx1"/>
                </a:solidFill>
              </a:rPr>
              <a:t> : très courant en Belgique.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kantoor ≠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bureau (séance 14).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 : À l’agence d’intérim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92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3431089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FICHE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560320"/>
            <a:ext cx="4645152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Situation</a:t>
            </a:r>
            <a:r>
              <a:rPr lang="en-US" sz="1600" dirty="0">
                <a:solidFill>
                  <a:schemeClr val="tx1"/>
                </a:solidFill>
              </a:rPr>
              <a:t> : vous cherchez du travail. Vous allez à l’</a:t>
            </a:r>
            <a:r>
              <a:rPr lang="en-US" sz="1600" b="1" dirty="0">
                <a:solidFill>
                  <a:schemeClr val="tx1"/>
                </a:solidFill>
              </a:rPr>
              <a:t>interimkantoor</a:t>
            </a:r>
            <a:r>
              <a:rPr lang="en-US" sz="1600" dirty="0">
                <a:solidFill>
                  <a:schemeClr val="tx1"/>
                </a:solidFill>
              </a:rPr>
              <a:t> pour vous inscrire.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Jalon 1 (A1)</a:t>
            </a:r>
            <a:r>
              <a:rPr lang="en-US" sz="1600" dirty="0">
                <a:solidFill>
                  <a:schemeClr val="tx1"/>
                </a:solidFill>
              </a:rPr>
              <a:t> : poser les questions — documents, formulaire, situation.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Jalon 2 (A2)</a:t>
            </a:r>
            <a:r>
              <a:rPr lang="en-US" sz="1600" dirty="0">
                <a:solidFill>
                  <a:schemeClr val="tx1"/>
                </a:solidFill>
              </a:rPr>
              <a:t> : répondre — disponibilité, temps plein ou partiel, expérience.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On </a:t>
            </a:r>
            <a:r>
              <a:rPr lang="en-US" sz="1600" b="1" dirty="0">
                <a:solidFill>
                  <a:schemeClr val="tx1"/>
                </a:solidFill>
              </a:rPr>
              <a:t>vouvoie</a:t>
            </a:r>
            <a:r>
              <a:rPr lang="en-US" sz="1600" dirty="0">
                <a:solidFill>
                  <a:schemeClr val="tx1"/>
                </a:solidFill>
              </a:rPr>
              <a:t> le conseiller : </a:t>
            </a:r>
            <a:r>
              <a:rPr lang="en-US" sz="1600" i="1" dirty="0">
                <a:solidFill>
                  <a:schemeClr val="tx1"/>
                </a:solidFill>
              </a:rPr>
              <a:t>Zoekt u werk? Hebt u…?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QUESTION À LA CLASSE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Lisez les bulles : qui dit «Ik zoek werk.» ? Que répond le conseiller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 : À l’agence d’intérim — vocabulaire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Nouveau vocabulaire du </a:t>
            </a:r>
            <a:r>
              <a:rPr lang="en-US" sz="1600" b="1" i="1" dirty="0">
                <a:solidFill>
                  <a:schemeClr val="accent5"/>
                </a:solidFill>
              </a:rPr>
              <a:t>Jalon 1</a:t>
            </a:r>
            <a:r>
              <a:rPr lang="en-US" sz="1600" i="1" dirty="0">
                <a:solidFill>
                  <a:schemeClr val="accent5"/>
                </a:solidFill>
              </a:rPr>
              <a:t> (questions) et du </a:t>
            </a:r>
            <a:r>
              <a:rPr lang="en-US" sz="1600" b="1" i="1" dirty="0">
                <a:solidFill>
                  <a:schemeClr val="accent5"/>
                </a:solidFill>
              </a:rPr>
              <a:t>Jalon 2</a:t>
            </a:r>
            <a:r>
              <a:rPr lang="en-US" sz="1600" i="1" dirty="0">
                <a:solidFill>
                  <a:schemeClr val="accent5"/>
                </a:solidFill>
              </a:rPr>
              <a:t> (réponses). Noms avec leur article.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2651760"/>
                <a:gridCol w="2377440"/>
                <a:gridCol w="2816352"/>
              </a:tblGrid>
              <a:tr h="4864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JALON 1 · NL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JALON 2 · NL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zich inschrijven (bij)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s’inscrire (à)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werken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travailler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zoeken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chercher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beschikbaar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disponible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werkzoekende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demandeur d’emploi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direct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tout de suite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interimkantoor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l’agence d’intérim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voltijds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·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deeltijds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à temps plein · partiel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inschrijvingsformulier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formulaire d’inscription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flexibel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flexible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zich aanmelden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s’inscrire, se présenter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elkaar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l’un l’autre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document · documenten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document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ploeg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l’équipe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nodig hebben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avoir besoin de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ervaring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l’expérience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zich inschrijven</a:t>
            </a:r>
            <a:r>
              <a:rPr lang="en-US" sz="1500" i="1" dirty="0">
                <a:solidFill>
                  <a:schemeClr val="accent5"/>
                </a:solidFill>
              </a:rPr>
              <a:t> est </a:t>
            </a:r>
            <a:r>
              <a:rPr lang="en-US" sz="1500" b="1" i="1" dirty="0">
                <a:solidFill>
                  <a:schemeClr val="accent5"/>
                </a:solidFill>
              </a:rPr>
              <a:t>séparable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i="1" dirty="0">
                <a:solidFill>
                  <a:schemeClr val="accent5"/>
                </a:solidFill>
              </a:rPr>
              <a:t>Ik schrijf </a:t>
            </a:r>
            <a:r>
              <a:rPr lang="en-US" sz="1500" b="1" i="1" dirty="0">
                <a:solidFill>
                  <a:schemeClr val="accent5"/>
                </a:solidFill>
              </a:rPr>
              <a:t>me</a:t>
            </a:r>
            <a:r>
              <a:rPr lang="en-US" sz="1500" i="1" dirty="0">
                <a:solidFill>
                  <a:schemeClr val="accent5"/>
                </a:solidFill>
              </a:rPr>
              <a:t> in.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om </a:t>
            </a:r>
            <a:r>
              <a:rPr lang="en-US" sz="1500" b="1" i="1" dirty="0">
                <a:solidFill>
                  <a:schemeClr val="accent5"/>
                </a:solidFill>
              </a:rPr>
              <a:t>me in te schrijven</a:t>
            </a:r>
            <a:r>
              <a:rPr lang="en-US" sz="1500" i="1" dirty="0">
                <a:solidFill>
                  <a:schemeClr val="accent5"/>
                </a:solidFill>
              </a:rPr>
              <a:t> (pour m’inscrire).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 · Jalon 1 (A1) : les questions à l’agence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On </a:t>
            </a:r>
            <a:r>
              <a:rPr lang="en-US" sz="1600" b="1" i="1" dirty="0">
                <a:solidFill>
                  <a:schemeClr val="accent5"/>
                </a:solidFill>
              </a:rPr>
              <a:t>vouvoie</a:t>
            </a:r>
            <a:r>
              <a:rPr lang="en-US" sz="1600" i="1" dirty="0">
                <a:solidFill>
                  <a:schemeClr val="accent5"/>
                </a:solidFill>
              </a:rPr>
              <a:t> : </a:t>
            </a:r>
            <a:r>
              <a:rPr lang="en-US" sz="1600" i="1" dirty="0">
                <a:solidFill>
                  <a:schemeClr val="accent5"/>
                </a:solidFill>
              </a:rPr>
              <a:t>u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199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Je m’inscris dans une agence d’intérim.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quels documents ai-je besoin pour m’inscrire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Cherchez-vous du travail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Vous n’avez pas de formulaire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Monsieur est demandeur d’emploi.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5"/>
                </a:solidFill>
              </a:rPr>
              <a:t>geen</a:t>
            </a:r>
            <a:r>
              <a:rPr lang="en-US" sz="1500" i="1" dirty="0">
                <a:solidFill>
                  <a:schemeClr val="accent5"/>
                </a:solidFill>
              </a:rPr>
              <a:t> + nom (</a:t>
            </a:r>
            <a:r>
              <a:rPr lang="en-US" sz="1500" i="1" dirty="0">
                <a:solidFill>
                  <a:schemeClr val="accent5"/>
                </a:solidFill>
              </a:rPr>
              <a:t>geen formulier</a:t>
            </a:r>
            <a:r>
              <a:rPr lang="en-US" sz="1500" i="1" dirty="0">
                <a:solidFill>
                  <a:schemeClr val="accent5"/>
                </a:solidFill>
              </a:rPr>
              <a:t>) · pas d’article devant un statut ou un métier : </a:t>
            </a:r>
            <a:r>
              <a:rPr lang="en-US" sz="1500" i="1" dirty="0">
                <a:solidFill>
                  <a:schemeClr val="accent5"/>
                </a:solidFill>
              </a:rPr>
              <a:t>Hij is werkzoekende.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 · Jalon 1 (A1) : les questions à l’agence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On </a:t>
            </a:r>
            <a:r>
              <a:rPr lang="en-US" sz="1600" b="1" i="1" dirty="0">
                <a:solidFill>
                  <a:schemeClr val="accent5"/>
                </a:solidFill>
              </a:rPr>
              <a:t>vouvoie</a:t>
            </a:r>
            <a:r>
              <a:rPr lang="en-US" sz="1600" i="1" dirty="0">
                <a:solidFill>
                  <a:schemeClr val="accent5"/>
                </a:solidFill>
              </a:rPr>
              <a:t> : </a:t>
            </a:r>
            <a:r>
              <a:rPr lang="en-US" sz="1600" i="1" dirty="0">
                <a:solidFill>
                  <a:schemeClr val="accent5"/>
                </a:solidFill>
              </a:rPr>
              <a:t>u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199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Je m’inscris dans une agence d’intérim.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Ik schrijf me in bij een interimkantoor.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quels documents ai-je besoin pour m’inscrire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Welke documenten heb ik nodig om me in te schrijven?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Cherchez-vous du travail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Zoekt u werk?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Vous n’avez pas de formulaire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Hebt u geen formulier?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Monsieur est demandeur d’emploi.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Meneer is werkzoekende.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5"/>
                </a:solidFill>
              </a:rPr>
              <a:t>geen</a:t>
            </a:r>
            <a:r>
              <a:rPr lang="en-US" sz="1500" i="1" dirty="0">
                <a:solidFill>
                  <a:schemeClr val="accent5"/>
                </a:solidFill>
              </a:rPr>
              <a:t> + nom (</a:t>
            </a:r>
            <a:r>
              <a:rPr lang="en-US" sz="1500" i="1" dirty="0">
                <a:solidFill>
                  <a:schemeClr val="accent5"/>
                </a:solidFill>
              </a:rPr>
              <a:t>geen formulier</a:t>
            </a:r>
            <a:r>
              <a:rPr lang="en-US" sz="1500" i="1" dirty="0">
                <a:solidFill>
                  <a:schemeClr val="accent5"/>
                </a:solidFill>
              </a:rPr>
              <a:t>) · pas d’article devant un statut ou un métier : </a:t>
            </a:r>
            <a:r>
              <a:rPr lang="en-US" sz="1500" i="1" dirty="0">
                <a:solidFill>
                  <a:schemeClr val="accent5"/>
                </a:solidFill>
              </a:rPr>
              <a:t>Hij is werkzoekende.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 · Jalon 2 (A2) : ma situation et mes besoins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Attention à </a:t>
            </a:r>
            <a:r>
              <a:rPr lang="en-US" sz="1600" b="1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 (verbe à la fin), à </a:t>
            </a:r>
            <a:r>
              <a:rPr lang="en-US" sz="1600" b="1" i="1" dirty="0">
                <a:solidFill>
                  <a:schemeClr val="accent5"/>
                </a:solidFill>
              </a:rPr>
              <a:t>geen</a:t>
            </a:r>
            <a:r>
              <a:rPr lang="en-US" sz="1600" i="1" dirty="0">
                <a:solidFill>
                  <a:schemeClr val="accent5"/>
                </a:solidFill>
              </a:rPr>
              <a:t> et à </a:t>
            </a:r>
            <a:r>
              <a:rPr lang="en-US" sz="1600" b="1" i="1" dirty="0">
                <a:solidFill>
                  <a:schemeClr val="accent5"/>
                </a:solidFill>
              </a:rPr>
              <a:t>elkaar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389120"/>
                <a:gridCol w="5330952"/>
              </a:tblGrid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me suis inscrit parce que je cherche du travail tout de suite.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Elle est disponible immédiatement et elle peut travailler à temps plein.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ne cherche pas un temps partiel, je veux travailler de façon flexible.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9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Dans une équipe, nous nous aidons toujours.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Comme j’ai de l’expérience, je peux commencer demain.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Phrase 1 : </a:t>
            </a:r>
            <a:r>
              <a:rPr lang="en-US" sz="1500" i="1" dirty="0">
                <a:solidFill>
                  <a:schemeClr val="accent5"/>
                </a:solidFill>
              </a:rPr>
              <a:t>Ik </a:t>
            </a:r>
            <a:r>
              <a:rPr lang="en-US" sz="1500" b="1" i="1" dirty="0">
                <a:solidFill>
                  <a:schemeClr val="accent5"/>
                </a:solidFill>
              </a:rPr>
              <a:t>heb</a:t>
            </a:r>
            <a:r>
              <a:rPr lang="en-US" sz="1500" i="1" dirty="0">
                <a:solidFill>
                  <a:schemeClr val="accent5"/>
                </a:solidFill>
              </a:rPr>
              <a:t> me </a:t>
            </a:r>
            <a:r>
              <a:rPr lang="en-US" sz="1500" b="1" i="1" dirty="0">
                <a:solidFill>
                  <a:schemeClr val="accent5"/>
                </a:solidFill>
              </a:rPr>
              <a:t>ingeschreven</a:t>
            </a:r>
            <a:r>
              <a:rPr lang="en-US" sz="1500" i="1" dirty="0">
                <a:solidFill>
                  <a:schemeClr val="accent5"/>
                </a:solidFill>
              </a:rPr>
              <a:t> = passé composé (séance 14) · phrase 3 : </a:t>
            </a:r>
            <a:r>
              <a:rPr lang="en-US" sz="1500" b="1" i="1" dirty="0">
                <a:solidFill>
                  <a:schemeClr val="accent4"/>
                </a:solidFill>
              </a:rPr>
              <a:t>het</a:t>
            </a:r>
            <a:r>
              <a:rPr lang="en-US" sz="1500" i="1" dirty="0">
                <a:solidFill>
                  <a:schemeClr val="accent5"/>
                </a:solidFill>
              </a:rPr>
              <a:t> werk + geen → pas de -e (fiche p. 61).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 · Jalon 2 (A2) : ma situation et mes besoins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Attention à </a:t>
            </a:r>
            <a:r>
              <a:rPr lang="en-US" sz="1600" b="1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 (verbe à la fin), à </a:t>
            </a:r>
            <a:r>
              <a:rPr lang="en-US" sz="1600" b="1" i="1" dirty="0">
                <a:solidFill>
                  <a:schemeClr val="accent5"/>
                </a:solidFill>
              </a:rPr>
              <a:t>geen</a:t>
            </a:r>
            <a:r>
              <a:rPr lang="en-US" sz="1600" i="1" dirty="0">
                <a:solidFill>
                  <a:schemeClr val="accent5"/>
                </a:solidFill>
              </a:rPr>
              <a:t> et à </a:t>
            </a:r>
            <a:r>
              <a:rPr lang="en-US" sz="1600" b="1" i="1" dirty="0">
                <a:solidFill>
                  <a:schemeClr val="accent5"/>
                </a:solidFill>
              </a:rPr>
              <a:t>elkaar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389120"/>
                <a:gridCol w="5330952"/>
              </a:tblGrid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me suis inscrit parce que je cherche du travail tout de suite.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heb me ingeschreven omdat ik direct werk zoek.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Elle est disponible immédiatement et elle peut travailler à temps plein.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Ze is direct beschikbaar en ze kan voltijds werken.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ne cherche pas un temps partiel, je veux travailler de façon flexible.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zoek geen deeltijds werk, ik wil flexibel werken.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9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Dans une équipe, nous nous aidons toujours.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In een ploeg helpen we elkaar altijd.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Comme j’ai de l’expérience, je peux commencer demain.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Omdat ik ervaring heb, kan ik morgen beginnen.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Phrase 1 : </a:t>
            </a:r>
            <a:r>
              <a:rPr lang="en-US" sz="1500" i="1" dirty="0">
                <a:solidFill>
                  <a:schemeClr val="accent5"/>
                </a:solidFill>
              </a:rPr>
              <a:t>Ik </a:t>
            </a:r>
            <a:r>
              <a:rPr lang="en-US" sz="1500" b="1" i="1" dirty="0">
                <a:solidFill>
                  <a:schemeClr val="accent5"/>
                </a:solidFill>
              </a:rPr>
              <a:t>heb</a:t>
            </a:r>
            <a:r>
              <a:rPr lang="en-US" sz="1500" i="1" dirty="0">
                <a:solidFill>
                  <a:schemeClr val="accent5"/>
                </a:solidFill>
              </a:rPr>
              <a:t> me </a:t>
            </a:r>
            <a:r>
              <a:rPr lang="en-US" sz="1500" b="1" i="1" dirty="0">
                <a:solidFill>
                  <a:schemeClr val="accent5"/>
                </a:solidFill>
              </a:rPr>
              <a:t>ingeschreven</a:t>
            </a:r>
            <a:r>
              <a:rPr lang="en-US" sz="1500" i="1" dirty="0">
                <a:solidFill>
                  <a:schemeClr val="accent5"/>
                </a:solidFill>
              </a:rPr>
              <a:t> = passé composé (séance 14) · phrase 3 : </a:t>
            </a:r>
            <a:r>
              <a:rPr lang="en-US" sz="1500" b="1" i="1" dirty="0">
                <a:solidFill>
                  <a:schemeClr val="accent4"/>
                </a:solidFill>
              </a:rPr>
              <a:t>het</a:t>
            </a:r>
            <a:r>
              <a:rPr lang="en-US" sz="1500" i="1" dirty="0">
                <a:solidFill>
                  <a:schemeClr val="accent5"/>
                </a:solidFill>
              </a:rPr>
              <a:t> werk + geen → pas de -e (fiche p. 61).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Phrase-clé : omdat, om … te et elkaar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Trois structures de la fiche : regardez </a:t>
            </a:r>
            <a:r>
              <a:rPr lang="en-US" sz="1800" b="1" dirty="0">
                <a:solidFill>
                  <a:schemeClr val="tx1"/>
                </a:solidFill>
              </a:rPr>
              <a:t>où va le verbe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omdat en tête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265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position 1 = toute la subordonnée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2653792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258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Omdat ik ervaring heb,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6664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6664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0321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kan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66216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216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9874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57696" y="194767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57696" y="2185416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4272" y="2185416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morgen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530592" y="1947672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infinitif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30592" y="2185416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67168" y="2185416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beginnen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Comme j’ai de l’expérience, je peux commencer demain.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omdat après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103120" y="2801874"/>
            <a:ext cx="265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phrase 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03120" y="3039618"/>
            <a:ext cx="2653792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39696" y="3039618"/>
            <a:ext cx="258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Ik heb me ingeschreven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866640" y="2801874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66640" y="3039618"/>
            <a:ext cx="857504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903216" y="3039618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omdat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833872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33872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870448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6629400" y="2801874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629400" y="3039618"/>
            <a:ext cx="149148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665976" y="3039618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direct werk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8230616" y="2801874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 à la fin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230616" y="3039618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267192" y="3039618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zoek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…parce que je cherche du travail tout de suite.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om … te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2103120" y="3656076"/>
            <a:ext cx="201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mot W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103120" y="3893820"/>
            <a:ext cx="2019808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139696" y="3893820"/>
            <a:ext cx="194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Welke documenten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4232656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232656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269232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028184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028184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064760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5823712" y="3656076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823712" y="3893820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860288" y="3893820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nodig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6790944" y="3656076"/>
            <a:ext cx="265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om … te + infinitif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6790944" y="3893820"/>
            <a:ext cx="2653792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827520" y="3893820"/>
            <a:ext cx="258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om me in te schrijven?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 quels documents ai-je besoin pour m’inscrire ?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elkaar</a:t>
            </a:r>
            <a:endParaRPr lang="en-US" sz="1400" dirty="0"/>
          </a:p>
        </p:txBody>
      </p:sp>
      <p:sp>
        <p:nvSpPr>
          <p:cNvPr id="59" name="Text 56"/>
          <p:cNvSpPr txBox="1"/>
          <p:nvPr/>
        </p:nvSpPr>
        <p:spPr>
          <a:xfrm>
            <a:off x="2103120" y="4510278"/>
            <a:ext cx="1597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2103120" y="4748022"/>
            <a:ext cx="1597152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139696" y="4748022"/>
            <a:ext cx="152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 een ploeg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3810000" y="4510278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3810000" y="4748022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3846576" y="4748022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helpen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4882896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882896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919472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5678424" y="4510278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l’un l’autre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5678424" y="4748022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715000" y="4748022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elkaar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6751320" y="4510278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adverbe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6751320" y="4748022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787896" y="4748022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altijd</a:t>
            </a:r>
            <a:endParaRPr lang="en-US" sz="1600" dirty="0"/>
          </a:p>
        </p:txBody>
      </p:sp>
      <p:sp>
        <p:nvSpPr>
          <p:cNvPr id="74" name="Text 71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Dans une équipe, nous nous aidons toujours.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7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77" name="Text 7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Pour m’inscrire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om me </a:t>
            </a:r>
            <a:r>
              <a:rPr lang="en-US" sz="1700" b="1" i="1" dirty="0">
                <a:solidFill>
                  <a:schemeClr val="tx1"/>
                </a:solidFill>
              </a:rPr>
              <a:t>in te schrijven</a:t>
            </a:r>
            <a:r>
              <a:rPr lang="en-US" sz="1700" dirty="0">
                <a:solidFill>
                  <a:schemeClr val="tx1"/>
                </a:solidFill>
              </a:rPr>
              <a:t> : avec un verbe séparable, </a:t>
            </a:r>
            <a:r>
              <a:rPr lang="en-US" sz="1700" b="1" dirty="0">
                <a:solidFill>
                  <a:schemeClr val="tx1"/>
                </a:solidFill>
              </a:rPr>
              <a:t>te</a:t>
            </a:r>
            <a:r>
              <a:rPr lang="en-US" sz="1700" dirty="0">
                <a:solidFill>
                  <a:schemeClr val="tx1"/>
                </a:solidFill>
              </a:rPr>
              <a:t> se glisse entre la particule et le verbe (✗ </a:t>
            </a:r>
            <a:r>
              <a:rPr lang="en-US" sz="1700" i="1" dirty="0">
                <a:solidFill>
                  <a:schemeClr val="tx1"/>
                </a:solidFill>
              </a:rPr>
              <a:t>om te inschrijven</a:t>
            </a:r>
            <a:r>
              <a:rPr lang="en-US" sz="1700" dirty="0">
                <a:solidFill>
                  <a:schemeClr val="tx1"/>
                </a:solidFill>
              </a:rPr>
              <a:t>). Et </a:t>
            </a:r>
            <a:r>
              <a:rPr lang="en-US" sz="1700" i="1" dirty="0">
                <a:solidFill>
                  <a:schemeClr val="tx1"/>
                </a:solidFill>
              </a:rPr>
              <a:t>nous nous aidons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we helpen </a:t>
            </a:r>
            <a:r>
              <a:rPr lang="en-US" sz="1700" b="1" i="1" dirty="0">
                <a:solidFill>
                  <a:schemeClr val="tx1"/>
                </a:solidFill>
              </a:rPr>
              <a:t>elkaar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ons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Jeu de rôle : inscription à l’interimkantoor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 deux · 10 min — A = la personne qui cherche du travail, B = le conseiller. On </a:t>
            </a:r>
            <a:r>
              <a:rPr lang="en-US" sz="1800" b="1" dirty="0">
                <a:solidFill>
                  <a:schemeClr val="tx1"/>
                </a:solidFill>
              </a:rPr>
              <a:t>vouvoie</a:t>
            </a:r>
            <a:r>
              <a:rPr lang="en-US" sz="1800" dirty="0">
                <a:solidFill>
                  <a:schemeClr val="tx1"/>
                </a:solidFill>
              </a:rPr>
              <a:t> (u). Puis on inverse.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93392"/>
            <a:ext cx="2553462" cy="338328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96187" y="217627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9618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Accueil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85032"/>
            <a:ext cx="227914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Goedemorgen, kan ik u helpen?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Ik wil me inschrijven.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678" y="239572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94710" y="1993392"/>
            <a:ext cx="2553462" cy="338328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42257" y="217627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34225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50443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Documents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531870" y="3685032"/>
            <a:ext cx="227914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Welke documenten heb ik nodig?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Uw identiteitskaart en uw cv.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39572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40780" y="1993392"/>
            <a:ext cx="2553462" cy="338328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88327" y="217627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18832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35050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Situation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377940" y="3685032"/>
            <a:ext cx="227914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Zoekt u voltijds of deeltijds werk?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Ik zoek voltijds werk.</a:t>
            </a:r>
            <a:endParaRPr lang="en-US" sz="1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818" y="239572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086850" y="1993392"/>
            <a:ext cx="2553462" cy="338328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034397" y="2176272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003439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919657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Expérience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224010" y="3685032"/>
            <a:ext cx="227914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Hebt u ervaring?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Ja, ik heb ervaring in een fabriek.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Goed, ik bel u morgen!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Critères — </a:t>
            </a:r>
            <a:r>
              <a:rPr lang="en-US" sz="1700" b="1" dirty="0">
                <a:solidFill>
                  <a:schemeClr val="tx1"/>
                </a:solidFill>
              </a:rPr>
              <a:t>u</a:t>
            </a:r>
            <a:r>
              <a:rPr lang="en-US" sz="1700" dirty="0">
                <a:solidFill>
                  <a:schemeClr val="tx1"/>
                </a:solidFill>
              </a:rPr>
              <a:t> du début à la fin · au moins </a:t>
            </a:r>
            <a:r>
              <a:rPr lang="en-US" sz="1700" b="1" dirty="0">
                <a:solidFill>
                  <a:schemeClr val="tx1"/>
                </a:solidFill>
              </a:rPr>
              <a:t>un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i="1" dirty="0">
                <a:solidFill>
                  <a:schemeClr val="tx1"/>
                </a:solidFill>
              </a:rPr>
              <a:t>omdat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b="1" dirty="0">
                <a:solidFill>
                  <a:schemeClr val="tx1"/>
                </a:solidFill>
              </a:rPr>
              <a:t>un</a:t>
            </a:r>
            <a:r>
              <a:rPr lang="en-US" sz="1700" dirty="0">
                <a:solidFill>
                  <a:schemeClr val="tx1"/>
                </a:solidFill>
              </a:rPr>
              <a:t> pronom objet (</a:t>
            </a:r>
            <a:r>
              <a:rPr lang="en-US" sz="1700" i="1" dirty="0">
                <a:solidFill>
                  <a:schemeClr val="tx1"/>
                </a:solidFill>
              </a:rPr>
              <a:t>Ik bel u · Ik help hem</a:t>
            </a:r>
            <a:r>
              <a:rPr lang="en-US" sz="1700" dirty="0">
                <a:solidFill>
                  <a:schemeClr val="tx1"/>
                </a:solidFill>
              </a:rPr>
              <a:t>) · une phrase avec </a:t>
            </a:r>
            <a:r>
              <a:rPr lang="en-US" sz="1700" i="1" dirty="0">
                <a:solidFill>
                  <a:schemeClr val="tx1"/>
                </a:solidFill>
              </a:rPr>
              <a:t>beschikbaar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Erreurs fréquentes de la séance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PIÈGE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71 · 92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591065"/>
          </a:xfrm>
          <a:prstGeom prst="roundRect">
            <a:avLst>
              <a:gd name="adj" fmla="val 928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6713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508760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hem zie.</a:t>
            </a:r>
            <a:endParaRPr lang="en-US" sz="2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6713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937760" y="1508760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zie hem.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8458200" y="1508760"/>
            <a:ext cx="3090672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Le pronom suit le verbe.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2209553"/>
            <a:ext cx="11091672" cy="591065"/>
          </a:xfrm>
          <a:prstGeom prst="roundRect">
            <a:avLst>
              <a:gd name="adj" fmla="val 928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67925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2209553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geef het boek hem.</a:t>
            </a:r>
            <a:endParaRPr lang="en-US" sz="2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67925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937760" y="2209553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geef hem het boek.</a:t>
            </a:r>
            <a:endParaRPr lang="en-US" sz="2000" dirty="0"/>
          </a:p>
        </p:txBody>
      </p:sp>
      <p:sp>
        <p:nvSpPr>
          <p:cNvPr id="17" name="Text 10"/>
          <p:cNvSpPr txBox="1"/>
          <p:nvPr/>
        </p:nvSpPr>
        <p:spPr>
          <a:xfrm>
            <a:off x="8458200" y="2209553"/>
            <a:ext cx="3090672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Personne avant chose.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548640" y="2910345"/>
            <a:ext cx="11091672" cy="591065"/>
          </a:xfrm>
          <a:prstGeom prst="roundRect">
            <a:avLst>
              <a:gd name="adj" fmla="val 928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68717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51560" y="2910345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De printer? Ik zie haar niet.</a:t>
            </a:r>
            <a:endParaRPr lang="en-US" sz="2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068717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4937760" y="2910345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 printer? Ik zie hem niet.</a:t>
            </a:r>
            <a:endParaRPr lang="en-US" sz="2000" dirty="0"/>
          </a:p>
        </p:txBody>
      </p:sp>
      <p:sp>
        <p:nvSpPr>
          <p:cNvPr id="23" name="Text 14"/>
          <p:cNvSpPr txBox="1"/>
          <p:nvPr/>
        </p:nvSpPr>
        <p:spPr>
          <a:xfrm>
            <a:off x="8458200" y="2910345"/>
            <a:ext cx="3090672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Chose en de → hem.</a:t>
            </a:r>
            <a:endParaRPr lang="en-US" sz="1800" dirty="0"/>
          </a:p>
        </p:txBody>
      </p:sp>
      <p:sp>
        <p:nvSpPr>
          <p:cNvPr id="24" name="Shape 15"/>
          <p:cNvSpPr/>
          <p:nvPr/>
        </p:nvSpPr>
        <p:spPr>
          <a:xfrm>
            <a:off x="548640" y="3611138"/>
            <a:ext cx="11091672" cy="591065"/>
          </a:xfrm>
          <a:prstGeom prst="roundRect">
            <a:avLst>
              <a:gd name="adj" fmla="val 928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769510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51560" y="3611138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We helpen ons.</a:t>
            </a:r>
            <a:endParaRPr lang="en-US" sz="2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769510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4937760" y="3611138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 helpen elkaar.</a:t>
            </a:r>
            <a:endParaRPr lang="en-US" sz="2000" dirty="0"/>
          </a:p>
        </p:txBody>
      </p:sp>
      <p:sp>
        <p:nvSpPr>
          <p:cNvPr id="29" name="Text 18"/>
          <p:cNvSpPr txBox="1"/>
          <p:nvPr/>
        </p:nvSpPr>
        <p:spPr>
          <a:xfrm>
            <a:off x="8458200" y="3611138"/>
            <a:ext cx="3090672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Réciproque : elkaar.</a:t>
            </a:r>
            <a:endParaRPr lang="en-US" sz="1800" dirty="0"/>
          </a:p>
        </p:txBody>
      </p:sp>
      <p:sp>
        <p:nvSpPr>
          <p:cNvPr id="30" name="Shape 19"/>
          <p:cNvSpPr/>
          <p:nvPr/>
        </p:nvSpPr>
        <p:spPr>
          <a:xfrm>
            <a:off x="548640" y="4311930"/>
            <a:ext cx="11091672" cy="934707"/>
          </a:xfrm>
          <a:prstGeom prst="roundRect">
            <a:avLst>
              <a:gd name="adj" fmla="val 5870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642124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1051560" y="4311930"/>
            <a:ext cx="3291840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Omdat ik heb ervaring, ik kan beginnen.</a:t>
            </a:r>
            <a:endParaRPr lang="en-US" sz="20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642124"/>
            <a:ext cx="274320" cy="27432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4937760" y="4311930"/>
            <a:ext cx="3291840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Omdat ik ervaring heb, kan ik beginnen.</a:t>
            </a:r>
            <a:endParaRPr lang="en-US" sz="2000" dirty="0"/>
          </a:p>
        </p:txBody>
      </p:sp>
      <p:sp>
        <p:nvSpPr>
          <p:cNvPr id="35" name="Text 22"/>
          <p:cNvSpPr txBox="1"/>
          <p:nvPr/>
        </p:nvSpPr>
        <p:spPr>
          <a:xfrm>
            <a:off x="8458200" y="4311930"/>
            <a:ext cx="3090672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Verbe à la fin, puis inversion.</a:t>
            </a:r>
            <a:endParaRPr lang="en-US" sz="1800" dirty="0"/>
          </a:p>
        </p:txBody>
      </p:sp>
      <p:sp>
        <p:nvSpPr>
          <p:cNvPr id="36" name="Shape 23"/>
          <p:cNvSpPr/>
          <p:nvPr/>
        </p:nvSpPr>
        <p:spPr>
          <a:xfrm>
            <a:off x="548640" y="5356365"/>
            <a:ext cx="11091672" cy="934707"/>
          </a:xfrm>
          <a:prstGeom prst="roundRect">
            <a:avLst>
              <a:gd name="adj" fmla="val 5870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686559"/>
            <a:ext cx="274320" cy="27432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1051560" y="5356365"/>
            <a:ext cx="3291840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om te inschrijven</a:t>
            </a:r>
            <a:endParaRPr lang="en-US" sz="20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5686559"/>
            <a:ext cx="274320" cy="274320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4937760" y="5356365"/>
            <a:ext cx="3291840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om me in te schrijven</a:t>
            </a:r>
            <a:endParaRPr lang="en-US" sz="2000" dirty="0"/>
          </a:p>
        </p:txBody>
      </p:sp>
      <p:sp>
        <p:nvSpPr>
          <p:cNvPr id="41" name="Text 26"/>
          <p:cNvSpPr txBox="1"/>
          <p:nvPr/>
        </p:nvSpPr>
        <p:spPr>
          <a:xfrm>
            <a:off x="8458200" y="5356365"/>
            <a:ext cx="3090672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te entre particule et verbe.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14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Mijn cv.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Raconter son parcours au passé —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heb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in een fabriek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gewerkt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et démasquer les faux-amis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bureau, kantoor, formatie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 tableau </a:t>
            </a:r>
            <a:r>
              <a:rPr lang="en-US" sz="1700" b="1" dirty="0">
                <a:solidFill>
                  <a:schemeClr val="tx1"/>
                </a:solidFill>
              </a:rPr>
              <a:t>sujet → objet</a:t>
            </a:r>
            <a:r>
              <a:rPr lang="en-US" sz="1700" dirty="0">
                <a:solidFill>
                  <a:schemeClr val="tx1"/>
                </a:solidFill>
              </a:rPr>
              <a:t> (p. 71).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Revoir les </a:t>
            </a:r>
            <a:r>
              <a:rPr lang="en-US" sz="1700" b="1" dirty="0">
                <a:solidFill>
                  <a:schemeClr val="tx1"/>
                </a:solidFill>
              </a:rPr>
              <a:t>15 mots</a:t>
            </a:r>
            <a:r>
              <a:rPr lang="en-US" sz="1700" dirty="0">
                <a:solidFill>
                  <a:schemeClr val="tx1"/>
                </a:solidFill>
              </a:rPr>
              <a:t> Werk &amp; bedrijf (p. 84) avec de / het.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Recopier les </a:t>
            </a:r>
            <a:r>
              <a:rPr lang="en-US" sz="1700" b="1" dirty="0">
                <a:solidFill>
                  <a:schemeClr val="tx1"/>
                </a:solidFill>
              </a:rPr>
              <a:t>Jalons 1 et 2</a:t>
            </a:r>
            <a:r>
              <a:rPr lang="en-US" sz="1700" dirty="0">
                <a:solidFill>
                  <a:schemeClr val="tx1"/>
                </a:solidFill>
              </a:rPr>
              <a:t> de la fiche 1, corrigés (p. 92).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Préparer </a:t>
            </a:r>
            <a:r>
              <a:rPr lang="en-US" sz="1700" b="1" dirty="0">
                <a:solidFill>
                  <a:schemeClr val="tx1"/>
                </a:solidFill>
              </a:rPr>
              <a:t>3 phrases</a:t>
            </a:r>
            <a:r>
              <a:rPr lang="en-US" sz="1700" dirty="0">
                <a:solidFill>
                  <a:schemeClr val="tx1"/>
                </a:solidFill>
              </a:rPr>
              <a:t> sur votre expérience : </a:t>
            </a:r>
            <a:r>
              <a:rPr lang="en-US" sz="1700" i="1" dirty="0">
                <a:solidFill>
                  <a:schemeClr val="tx1"/>
                </a:solidFill>
              </a:rPr>
              <a:t>Ik heb ervaring in / als …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Répondez avec un </a:t>
            </a:r>
            <a:r>
              <a:rPr lang="en-US" sz="1600" b="1" dirty="0">
                <a:solidFill>
                  <a:schemeClr val="bg1"/>
                </a:solidFill>
              </a:rPr>
              <a:t>pronom</a:t>
            </a:r>
            <a:r>
              <a:rPr lang="en-US" sz="1600" dirty="0">
                <a:solidFill>
                  <a:schemeClr val="bg1"/>
                </a:solidFill>
              </a:rPr>
              <a:t> : </a:t>
            </a:r>
            <a:r>
              <a:rPr lang="en-US" sz="1600" i="1" dirty="0">
                <a:solidFill>
                  <a:schemeClr val="bg1"/>
                </a:solidFill>
              </a:rPr>
              <a:t>Ken je de baas? · Heb je het contract? · Bel je de klanten?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13 — Bij het interimkantoor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2026-10-03T21:06:38Z</dcterms:created>
  <dcterms:modified xsi:type="dcterms:W3CDTF">2026-10-03T21:06:38Z</dcterms:modified>
</cp:coreProperties>
</file>