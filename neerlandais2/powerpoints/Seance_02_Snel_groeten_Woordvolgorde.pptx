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07bdd3d-1691-4729-9559-282d93cfa36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ôture" id="{bc8ae291-7874-a021-0690-e513e6ff69a9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et dernière séance de la séquence 1.1. On termine le travail sur les salutations (1.1.5 à 1.1.7, Klankmoment, Begroetingscarrousel) puis on rend explicite la règle que les étudiants appliquent depuis la séance 1 : le verbe en 2e position et l’inversion (fiche de grammaire 01, Woordvolgorde, p. 68).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Si le temps manque, le second passage chronométré de 1.1.7 peut se faire à la maison. La fiche Woordvolgorde (p. 68) vient en fin de séance : les étudiants ont pratiqué l’inversion pendant toute la séquence, on leur donne maintenant la règle.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 de table rapide : chaque étudiant lit une phrase de son devoir. La classe répond « Goed zo! » ou « Pas op: het werkwoord! » (Attention : le verbe !). Ne pas encore expliquer la règle : elle sera formalisée en fin de séance avec la fiche Woordvolgorde.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structurée : pas de correction unique. Passer dans les rangs et vérifier que le verbe reste en 2e position quand on change le moment (Vanavond kijk ik… → Morgen kijk ik…). Faire lire deux ou trois phrases réécrites à voix haute avant de compléter le tableau de la page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compléter seul, puis corriger au tableau. Coquille du livret : dans le tableau de la p. 10, « Goedenavond! » est imprimé sur la ligne « Nuit » alors que la case « Soir » est vide. Goedenavond! appartient à la ligne Soir ; la nuit, on dit Goedenacht! (ou Welterusten! avant de dormir). Le défi « trouvez l’erreur » est volontaire.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: ’s middags (habitude), Goedenavond! et vanavond (soir), Goedenacht! / Welterusten! et vannacht (nuit). Rappeler que vannacht peut désigner la nuit passée ou la nuit qui vient.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Rapide, à l’oral après une minute de réflexion individuelle. Coquille du livret : l’exercice 1.1.6 porte le même titre que 1.1.1 (« Tijdsuitdrukkingen herkennen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justifier chaque choix avec les quatre usages de la p. 6 : saluer / habitude / aujourd’hui / en général.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3 · par deux · 20 min. Rien de nouveau : seulement plus vite. Le voisin qui chronomètre suit la colonne néerlandaise et signale les erreurs après le passage, pas pendant. Les deux diapositives suivantes servent à la correction collective.Couche 3 · par deux · 20 min. Rien de nouveau : seulement plus vite. Le voisin qui chronomètre suit la colonne néerlandaise et signale les erreurs après le passage, pas pendant. Les deux diapositives suivantes servent à la correction collective.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collective : un étudiant lit le français, la classe répond en chœur. Item 2 : accepter « Goedemiddag! » seul ou avec le prénom.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10 : accepter aussi « ’s Morgens is het rustig thuis ». Faire remarquer que « het » (sujet) passe après « is » : In de morgen is het…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Même procédure que pour la première moitié. Puis second passage chronométré et calcul du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13 : le livret propose « ’s Morgens zeg ik «hallo» tegen de klas » ; c’est acceptable, mais « bonjour » le matin se traduit plus précisément par «Goedemorgen!». Item 18 : accepter « Hallo allemaal! ». Item 14 : « naar de les » est aussi correct. Item 20 : « vanmorgen » = ce matin (aujourd’hui), ≠ « ’s morgens » (d’habitude).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répéter en chœur, puis par deux. Coquille du livret : « la g et le ch » → « le g et le ch » (les noms de lettres sont masculins). Nuance : en Flandre, g est souvent sonore et ch sourd ; « même son » est une simplification utile pour débuter. Attention aussi aux mots d’origine française où ch = [ʃ] : chef, chocolade. Et sch = s + ch :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Heures à annoncer (dans le désordre) : 07.30 · 12.15 · 15.00 · 19.30 · 23.00, puis « la journée » (Hallo! / Dag!). Coquille du livret : « Begroetingencarrousel » → « Begroetingscarrousel » (s de liaison, pas de pluriel -en). Le schéma du livret montre 8 personnes à l’intérieur et 12 à l’extérieur : faire deux cercles de même taille. Le bilan « Vous savez maintenant saluer… » est imprimé deux fois sur la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de grammaire 01 (p. 68). Montrer d’abord la phrase de base (sujet en tête), puis la même phrase avec « Morgen » en tête : le verbe ne bouge pas, c’est le sujet qui passe derrière. La 2e position est celle du 2e BLOC : « ’s Morgens » ou « Om zeven uur » comptent pour un seul bloc.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carte ④ n’est pas sur la fiche p. 68 mais elle est indispensable dès maintenant (questions « Werk jij ook ’s avonds? » de la séance 1). Le -t tombe seulement avec jij / je placé après le verbe ; avec u, hij, zij, Emma, il reste.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erreur, faire trouver la correction avant de l’afficher (cacher la colonne de droite si besoin). La 2e ligne reprend la coquille du zinnenbouwer 1.1 (famille B : « werk Emma » → « werkt Emma »). La 5e ligne reprend la famille C du même zinnenbouwer (verbes séparables : opstaan → ik sta … op).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p. 68. Faire écrire, puis un étudiant vient construire la phrase au tableau en blocs de couleur (comme sur la diapositive précédente).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3 et 4 : le livret met « wij eten » / « wij gaan » en bloc ; il faut les séparer pour faire l’inversion. Phrase 1 : accepter aussi « Om 8 uur fietst hij snel naar het werk.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ajouté. Oral d’abord (un étudiant par phrase), puis écrit. Les phrases 3 et 6 sont les pièges : jij werkt → ’s Avonds werk jij ; je slaapt → ’s Nachts slaap 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ajouté. Oral d’abord (un étudiant par phrase), puis écrit. Les phrases 3 et 6 sont les pièges : jij werkt → ’s Avonds werk jij ; je slaapt → ’s Nachts slaap 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du ticket de sortie : « Vanavond ga ik met de bus naar de cursus. » (inversion + T-M-P). Accepter aussi « Ik ga vanavond met de bus naar de cursus.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02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02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02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1.1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Snel groeten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Saluer vite et bien — et comprendre pourquoi on dit « ’s Morgens werk ik »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1 · Premiers pas en néerlandais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10–14 · 68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73387"/>
            <a:ext cx="5120640" cy="291122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10–14 · 68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Saluer </a:t>
            </a:r>
            <a:r>
              <a:rPr lang="en-US" sz="1600" b="1" dirty="0">
                <a:solidFill>
                  <a:schemeClr val="tx1"/>
                </a:solidFill>
              </a:rPr>
              <a:t>vite et juste</a:t>
            </a:r>
            <a:r>
              <a:rPr lang="en-US" sz="1600" dirty="0">
                <a:solidFill>
                  <a:schemeClr val="tx1"/>
                </a:solidFill>
              </a:rPr>
              <a:t> à toute heure, prononcer le </a:t>
            </a:r>
            <a:r>
              <a:rPr lang="en-US" sz="1600" b="1" dirty="0">
                <a:solidFill>
                  <a:schemeClr val="tx1"/>
                </a:solidFill>
              </a:rPr>
              <a:t>g / ch</a:t>
            </a:r>
            <a:r>
              <a:rPr lang="en-US" sz="1600" dirty="0">
                <a:solidFill>
                  <a:schemeClr val="tx1"/>
                </a:solidFill>
              </a:rPr>
              <a:t>, et construire une phrase avec le </a:t>
            </a:r>
            <a:r>
              <a:rPr lang="en-US" sz="1600" b="1" dirty="0">
                <a:solidFill>
                  <a:schemeClr val="tx1"/>
                </a:solidFill>
              </a:rPr>
              <a:t>verbe en 2e position</a:t>
            </a:r>
            <a:r>
              <a:rPr lang="en-US" sz="1600" dirty="0">
                <a:solidFill>
                  <a:schemeClr val="tx1"/>
                </a:solidFill>
              </a:rPr>
              <a:t> (</a:t>
            </a:r>
            <a:r>
              <a:rPr lang="en-US" sz="1600" i="1" dirty="0">
                <a:solidFill>
                  <a:schemeClr val="tx1"/>
                </a:solidFill>
              </a:rPr>
              <a:t>’s Morgens werk ik…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’s morgens · vanmorgen · in de morgen · overdag</a:t>
            </a:r>
            <a:r>
              <a:rPr lang="en-US" sz="1800" dirty="0">
                <a:solidFill>
                  <a:schemeClr val="tx1"/>
                </a:solidFill>
              </a:rPr>
              <a:t> — inversion : </a:t>
            </a:r>
            <a:r>
              <a:rPr lang="en-US" sz="1800" i="1" dirty="0">
                <a:solidFill>
                  <a:schemeClr val="tx1"/>
                </a:solidFill>
              </a:rPr>
              <a:t>Vandaag </a:t>
            </a:r>
            <a:r>
              <a:rPr lang="en-US" sz="1800" b="1" i="1" dirty="0">
                <a:solidFill>
                  <a:schemeClr val="tx1"/>
                </a:solidFill>
              </a:rPr>
              <a:t>werk ik</a:t>
            </a:r>
            <a:r>
              <a:rPr lang="en-US" sz="1800" dirty="0">
                <a:solidFill>
                  <a:schemeClr val="tx1"/>
                </a:solidFill>
              </a:rPr>
              <a:t> — ordre </a:t>
            </a:r>
            <a:r>
              <a:rPr lang="en-US" sz="1800" b="1" dirty="0">
                <a:solidFill>
                  <a:schemeClr val="tx1"/>
                </a:solidFill>
              </a:rPr>
              <a:t>T-M-P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Rendre une phrase vraie pour soi · répondre vite (chrono) · prononcer · saluer en carrousel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mes phrases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1.1.5 Waar of niet waar? + la règle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1.1.6 Tijdsuitdrukkingen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1.1.7 Snel groeten (chrono)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Klankmoment g / ch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Jij nu! Begroetingscarrousel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Woordvolgorde (fiche 01)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mes phrases du zinnenbouwer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Devoir : vos </a:t>
            </a:r>
            <a:r>
              <a:rPr lang="en-US" sz="1600" b="1" i="1" dirty="0">
                <a:solidFill>
                  <a:schemeClr val="accent5"/>
                </a:solidFill>
              </a:rPr>
              <a:t>5 phrases</a:t>
            </a:r>
            <a:r>
              <a:rPr lang="en-US" sz="1600" i="1" dirty="0">
                <a:solidFill>
                  <a:schemeClr val="accent5"/>
                </a:solidFill>
              </a:rPr>
              <a:t> avec le zinnenbouwer 1.1. Lisez-en une à voix haute ; la classe vérifie : le </a:t>
            </a:r>
            <a:r>
              <a:rPr lang="en-US" sz="1600" b="1" i="1" dirty="0">
                <a:solidFill>
                  <a:schemeClr val="accent5"/>
                </a:solidFill>
              </a:rPr>
              <a:t>verbe</a:t>
            </a:r>
            <a:r>
              <a:rPr lang="en-US" sz="1600" i="1" dirty="0">
                <a:solidFill>
                  <a:schemeClr val="accent5"/>
                </a:solidFill>
              </a:rPr>
              <a:t> est-il en </a:t>
            </a:r>
            <a:r>
              <a:rPr lang="en-US" sz="1600" b="1" i="1" dirty="0">
                <a:solidFill>
                  <a:schemeClr val="accent5"/>
                </a:solidFill>
              </a:rPr>
              <a:t>2e position</a:t>
            </a:r>
            <a:r>
              <a:rPr lang="en-US" sz="1600" i="1" dirty="0">
                <a:solidFill>
                  <a:schemeClr val="accent5"/>
                </a:solidFill>
              </a:rPr>
              <a:t> ?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Exemples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A</a:t>
            </a:r>
            <a:r>
              <a:rPr lang="en-US" sz="2400" dirty="0">
                <a:solidFill>
                  <a:schemeClr val="tx1"/>
                </a:solidFill>
              </a:rPr>
              <a:t> · ’s Avonds zeg ik «Goedenavond!» tegen mijn buren.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B</a:t>
            </a:r>
            <a:r>
              <a:rPr lang="en-US" sz="2400" dirty="0">
                <a:solidFill>
                  <a:schemeClr val="tx1"/>
                </a:solidFill>
              </a:rPr>
              <a:t> · Vandaag werk ik thuis.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C</a:t>
            </a:r>
            <a:r>
              <a:rPr lang="en-US" sz="2400" dirty="0">
                <a:solidFill>
                  <a:schemeClr val="tx1"/>
                </a:solidFill>
              </a:rPr>
              <a:t> · Om zeven uur sta ik op.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D</a:t>
            </a:r>
            <a:r>
              <a:rPr lang="en-US" sz="2400" dirty="0">
                <a:solidFill>
                  <a:schemeClr val="tx1"/>
                </a:solidFill>
              </a:rPr>
              <a:t> · Na de les zeg ik «Tot morgen!».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La classe réagit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chemeClr val="tx1"/>
                </a:solidFill>
              </a:rPr>
              <a:t>Goed zo!</a:t>
            </a:r>
            <a:r>
              <a:rPr lang="en-US" sz="2400" dirty="0">
                <a:solidFill>
                  <a:schemeClr val="tx1"/>
                </a:solidFill>
              </a:rPr>
              <a:t> — ou — </a:t>
            </a:r>
            <a:r>
              <a:rPr lang="en-US" sz="2400" i="1" dirty="0">
                <a:solidFill>
                  <a:schemeClr val="tx1"/>
                </a:solidFill>
              </a:rPr>
              <a:t>Pas op: het werkwoord!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moment en tête → </a:t>
            </a:r>
            <a:r>
              <a:rPr lang="en-US" sz="1800" b="1" dirty="0">
                <a:solidFill>
                  <a:schemeClr val="tx1"/>
                </a:solidFill>
              </a:rPr>
              <a:t>verbe + sujet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’s Morgens </a:t>
            </a:r>
            <a:r>
              <a:rPr lang="en-US" sz="1800" b="1" i="1" dirty="0">
                <a:solidFill>
                  <a:schemeClr val="tx1"/>
                </a:solidFill>
              </a:rPr>
              <a:t>werk ik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✗ </a:t>
            </a:r>
            <a:r>
              <a:rPr lang="en-US" sz="1800" i="1" dirty="0">
                <a:solidFill>
                  <a:schemeClr val="tx1"/>
                </a:solidFill>
              </a:rPr>
              <a:t>’s Morgens ik werk…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Toute la classe · 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1.1.5 Waar of niet waar?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Huit phrases de Pieter. </a:t>
            </a:r>
            <a:r>
              <a:rPr lang="en-US" sz="1600" b="1" i="1" dirty="0">
                <a:solidFill>
                  <a:schemeClr val="accent5"/>
                </a:solidFill>
              </a:rPr>
              <a:t>Vraie pour vous ?</a:t>
            </a:r>
            <a:r>
              <a:rPr lang="en-US" sz="1600" i="1" dirty="0">
                <a:solidFill>
                  <a:schemeClr val="accent5"/>
                </a:solidFill>
              </a:rPr>
              <a:t> Cochez ☐. </a:t>
            </a:r>
            <a:r>
              <a:rPr lang="en-US" sz="1600" b="1" i="1" dirty="0">
                <a:solidFill>
                  <a:schemeClr val="accent5"/>
                </a:solidFill>
              </a:rPr>
              <a:t>Sinon</a:t>
            </a:r>
            <a:r>
              <a:rPr lang="en-US" sz="1600" i="1" dirty="0">
                <a:solidFill>
                  <a:schemeClr val="accent5"/>
                </a:solidFill>
              </a:rPr>
              <a:t>, changez le moment, l’activité, le lieu ou la personne pour qu’elle devienne vraie.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’s Morgens werk ik op school.  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Vanmiddag ga ik naar de dokter.  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Vanavond kijk ik een film met Emma.  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Vandaag heb ik een vergadering op het werk.  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’s Morgens zeg ik «Goedemorgen!» tegen Emma.  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In de morgen is het druk op school.  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’s Nachts slaap ik thuis.  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Vanavond zeg ik «Goedenavond!» tegen Emma.  ☐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Vraie → ☐ </a:t>
            </a:r>
            <a:r>
              <a:rPr lang="en-US" sz="1800" b="1" dirty="0">
                <a:solidFill>
                  <a:schemeClr val="tx1"/>
                </a:solidFill>
              </a:rPr>
              <a:t>cochée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Fausse → </a:t>
            </a:r>
            <a:r>
              <a:rPr lang="en-US" sz="1800" b="1" dirty="0">
                <a:solidFill>
                  <a:schemeClr val="tx1"/>
                </a:solidFill>
              </a:rPr>
              <a:t>un bloc</a:t>
            </a:r>
            <a:r>
              <a:rPr lang="en-US" sz="1800" dirty="0">
                <a:solidFill>
                  <a:schemeClr val="tx1"/>
                </a:solidFill>
              </a:rPr>
              <a:t> change :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1 → ’s Morgens werk ik </a:t>
            </a:r>
            <a:r>
              <a:rPr lang="en-US" sz="1800" b="1" i="1" dirty="0">
                <a:solidFill>
                  <a:schemeClr val="tx1"/>
                </a:solidFill>
              </a:rPr>
              <a:t>thuis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3 → Vanavond kijk ik een film met </a:t>
            </a:r>
            <a:r>
              <a:rPr lang="en-US" sz="1800" b="1" i="1" dirty="0">
                <a:solidFill>
                  <a:schemeClr val="tx1"/>
                </a:solidFill>
              </a:rPr>
              <a:t>mijn zus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6 → In de morgen is het </a:t>
            </a:r>
            <a:r>
              <a:rPr lang="en-US" sz="1800" b="1" i="1" dirty="0">
                <a:solidFill>
                  <a:schemeClr val="tx1"/>
                </a:solidFill>
              </a:rPr>
              <a:t>rustig</a:t>
            </a:r>
            <a:r>
              <a:rPr lang="en-US" sz="1800" i="1" dirty="0">
                <a:solidFill>
                  <a:schemeClr val="tx1"/>
                </a:solidFill>
              </a:rPr>
              <a:t> op school.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Couche 2 · seul · 15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1.1.5 Wat zit erachter? La règle des moments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Retrouvez la règle à partir de vos phrases : complétez les cases vides. </a:t>
            </a:r>
            <a:r>
              <a:rPr lang="en-US" sz="1600" b="1" i="1" dirty="0">
                <a:solidFill>
                  <a:schemeClr val="accent5"/>
                </a:solidFill>
              </a:rPr>
              <a:t>Attention : une case du livret contient une erreur.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657600"/>
                <a:gridCol w="2194560"/>
                <a:gridCol w="2404872"/>
              </a:tblGrid>
              <a:tr h="6199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MOMENT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JE SALUE (EN ARRIVANT)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D’HABITUDE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AUJOURD’HUI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Matin (5 h – 12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Goedemorgen!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’s morgens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vanmorgen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Après-midi (12 h – 18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Goedemiddag!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vanmiddag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Soir (18 h – 23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’s avonds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Nuit (23 h – 5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Goedenavond!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’s nachts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Toute la journée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Hallo! · Dag! · Hoi!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overdag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vandaag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Wat zit erachter?</a:t>
            </a:r>
            <a:r>
              <a:rPr lang="en-US" sz="1500" i="1" dirty="0">
                <a:solidFill>
                  <a:schemeClr val="accent5"/>
                </a:solidFill>
              </a:rPr>
              <a:t> = « Qu’est-ce qui se cache derrière ? » — la règle derrière vos phrases.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1.1.5 Wat zit erachter? La règle des moments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Retrouvez la règle à partir de vos phrases : complétez les cases vides. </a:t>
            </a:r>
            <a:r>
              <a:rPr lang="en-US" sz="1600" b="1" i="1" dirty="0">
                <a:solidFill>
                  <a:schemeClr val="accent5"/>
                </a:solidFill>
              </a:rPr>
              <a:t>Attention : une case du livret contient une erreur.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657600"/>
                <a:gridCol w="2194560"/>
                <a:gridCol w="2404872"/>
              </a:tblGrid>
              <a:tr h="6199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MOMENT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JE SALUE (EN ARRIVANT)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D’HABITUDE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AUJOURD’HUI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Matin (5 h – 12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Goedemorgen!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’s morgens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vanmorgen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Après-midi (12 h – 18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Goedemiddag!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’s middags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vanmiddag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Soir (18 h – 23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Goedenavond!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’s avonds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vanavond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Nuit (23 h – 5 h)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strike="sngStrike" dirty="0">
                          <a:solidFill>
                            <a:schemeClr val="accent6"/>
                          </a:solidFill>
                        </a:rPr>
                        <a:t>Goedenavond!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Goedenacht! · Welterusten!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’s nachts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vannacht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Toute la journée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Hallo! · Dag! · Hoi!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overdag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vandaag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Wat zit erachter?</a:t>
            </a:r>
            <a:r>
              <a:rPr lang="en-US" sz="1500" i="1" dirty="0">
                <a:solidFill>
                  <a:schemeClr val="accent5"/>
                </a:solidFill>
              </a:rPr>
              <a:t> = « Qu’est-ce qui se cache derrière ? » — la règle derrière vos phrases.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1.1.6 Tijdsuitdrukkingen herkennen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Lisez la situation et choisissez l’expression correcte. Couche 3 · seul · 5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, hoe gaat het?» </a:t>
            </a:r>
            <a:r>
              <a:rPr lang="en-US" sz="2100" i="1" dirty="0">
                <a:solidFill>
                  <a:schemeClr val="tx1"/>
                </a:solidFill>
              </a:rPr>
              <a:t>(Bonjour, comment ça va ?)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accent5"/>
                </a:solidFill>
              </a:rPr>
              <a:t>Goedemorgen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’s morgens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vanmorgen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in de morgen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«Ik werk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.» </a:t>
            </a:r>
            <a:r>
              <a:rPr lang="en-US" sz="2100" i="1" dirty="0">
                <a:solidFill>
                  <a:schemeClr val="tx1"/>
                </a:solidFill>
              </a:rPr>
              <a:t>(Je travaille le matin.)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accent5"/>
                </a:solidFill>
              </a:rPr>
              <a:t>Goedemorgen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’s morgens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vanmorgen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in de morgen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ga ik naar de dokter.» </a:t>
            </a:r>
            <a:r>
              <a:rPr lang="en-US" sz="2100" i="1" dirty="0">
                <a:solidFill>
                  <a:schemeClr val="tx1"/>
                </a:solidFill>
              </a:rPr>
              <a:t>(Cet après-midi…)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accent5"/>
                </a:solidFill>
              </a:rPr>
              <a:t>Goedemiddag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’s middags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vanmiddag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in de middag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kijk ik een film.» </a:t>
            </a:r>
            <a:r>
              <a:rPr lang="en-US" sz="2100" i="1" dirty="0">
                <a:solidFill>
                  <a:schemeClr val="tx1"/>
                </a:solidFill>
              </a:rPr>
              <a:t>(Ce soir…)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accent5"/>
                </a:solidFill>
              </a:rPr>
              <a:t>Goedenavond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’s avonds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vanavond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in de avond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heb ik een vergadering.» </a:t>
            </a:r>
            <a:r>
              <a:rPr lang="en-US" sz="2100" i="1" dirty="0">
                <a:solidFill>
                  <a:schemeClr val="tx1"/>
                </a:solidFill>
              </a:rPr>
              <a:t>(Aujourd’hui…)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chemeClr val="accent5"/>
                </a:solidFill>
              </a:rPr>
              <a:t>Dag / Hallo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overdag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vandaag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dirty="0">
                <a:solidFill>
                  <a:schemeClr val="accent5"/>
                </a:solidFill>
              </a:rPr>
              <a:t>tijdens de dag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1.1.6 Tijdsuitdrukkingen herkennen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Lisez la situation et choisissez l’expression correcte. Couche 3 · seul · 5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b="1" dirty="0">
                <a:solidFill>
                  <a:schemeClr val="accent3"/>
                </a:solidFill>
              </a:rPr>
              <a:t>Goedemorgen</a:t>
            </a:r>
            <a:r>
              <a:rPr lang="en-US" sz="2100" dirty="0">
                <a:solidFill>
                  <a:schemeClr val="tx1"/>
                </a:solidFill>
              </a:rPr>
              <a:t>, hoe gaat het?» </a:t>
            </a:r>
            <a:r>
              <a:rPr lang="en-US" sz="2100" i="1" dirty="0">
                <a:solidFill>
                  <a:schemeClr val="tx1"/>
                </a:solidFill>
              </a:rPr>
              <a:t>(Bonjour, comment ça va ?)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accent3"/>
                </a:solidFill>
              </a:rPr>
              <a:t>Goedemorgen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’s morgens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vanmorgen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in de morgen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«Ik werk </a:t>
            </a:r>
            <a:r>
              <a:rPr lang="en-US" sz="2100" b="1" dirty="0">
                <a:solidFill>
                  <a:schemeClr val="accent3"/>
                </a:solidFill>
              </a:rPr>
              <a:t>’s morgens</a:t>
            </a:r>
            <a:r>
              <a:rPr lang="en-US" sz="2100" dirty="0">
                <a:solidFill>
                  <a:schemeClr val="tx1"/>
                </a:solidFill>
              </a:rPr>
              <a:t>.» </a:t>
            </a:r>
            <a:r>
              <a:rPr lang="en-US" sz="2100" i="1" dirty="0">
                <a:solidFill>
                  <a:schemeClr val="tx1"/>
                </a:solidFill>
              </a:rPr>
              <a:t>(Je travaille le matin.)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strike="sngStrike" dirty="0">
                <a:solidFill>
                  <a:schemeClr val="accent6"/>
                </a:solidFill>
              </a:rPr>
              <a:t>Goedemorgen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b="1" dirty="0">
                <a:solidFill>
                  <a:schemeClr val="accent3"/>
                </a:solidFill>
              </a:rPr>
              <a:t>’s morgens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vanmorgen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in de morgen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b="1" dirty="0">
                <a:solidFill>
                  <a:schemeClr val="accent3"/>
                </a:solidFill>
              </a:rPr>
              <a:t>Vanmiddag</a:t>
            </a:r>
            <a:r>
              <a:rPr lang="en-US" sz="2100" dirty="0">
                <a:solidFill>
                  <a:schemeClr val="tx1"/>
                </a:solidFill>
              </a:rPr>
              <a:t> ga ik naar de dokter.» </a:t>
            </a:r>
            <a:r>
              <a:rPr lang="en-US" sz="2100" i="1" dirty="0">
                <a:solidFill>
                  <a:schemeClr val="tx1"/>
                </a:solidFill>
              </a:rPr>
              <a:t>(Cet après-midi…)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strike="sngStrike" dirty="0">
                <a:solidFill>
                  <a:schemeClr val="accent6"/>
                </a:solidFill>
              </a:rPr>
              <a:t>Goedemiddag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’s middags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b="1" dirty="0">
                <a:solidFill>
                  <a:schemeClr val="accent3"/>
                </a:solidFill>
              </a:rPr>
              <a:t>vanmiddag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in de middag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b="1" dirty="0">
                <a:solidFill>
                  <a:schemeClr val="accent3"/>
                </a:solidFill>
              </a:rPr>
              <a:t>Vanavond</a:t>
            </a:r>
            <a:r>
              <a:rPr lang="en-US" sz="2100" dirty="0">
                <a:solidFill>
                  <a:schemeClr val="tx1"/>
                </a:solidFill>
              </a:rPr>
              <a:t> kijk ik een film.» </a:t>
            </a:r>
            <a:r>
              <a:rPr lang="en-US" sz="2100" i="1" dirty="0">
                <a:solidFill>
                  <a:schemeClr val="tx1"/>
                </a:solidFill>
              </a:rPr>
              <a:t>(Ce soir…)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strike="sngStrike" dirty="0">
                <a:solidFill>
                  <a:schemeClr val="accent6"/>
                </a:solidFill>
              </a:rPr>
              <a:t>Goedenavond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’s avonds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b="1" dirty="0">
                <a:solidFill>
                  <a:schemeClr val="accent3"/>
                </a:solidFill>
              </a:rPr>
              <a:t>vanavond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in de avond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«</a:t>
            </a:r>
            <a:r>
              <a:rPr lang="en-US" sz="2100" b="1" dirty="0">
                <a:solidFill>
                  <a:schemeClr val="accent3"/>
                </a:solidFill>
              </a:rPr>
              <a:t>Vandaag</a:t>
            </a:r>
            <a:r>
              <a:rPr lang="en-US" sz="2100" dirty="0">
                <a:solidFill>
                  <a:schemeClr val="tx1"/>
                </a:solidFill>
              </a:rPr>
              <a:t> heb ik een vergadering.» </a:t>
            </a:r>
            <a:r>
              <a:rPr lang="en-US" sz="2100" i="1" dirty="0">
                <a:solidFill>
                  <a:schemeClr val="tx1"/>
                </a:solidFill>
              </a:rPr>
              <a:t>(Aujourd’hui…)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strike="sngStrike" dirty="0">
                <a:solidFill>
                  <a:schemeClr val="accent6"/>
                </a:solidFill>
              </a:rPr>
              <a:t>Dag / Hallo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overdag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b="1" dirty="0">
                <a:solidFill>
                  <a:schemeClr val="accent3"/>
                </a:solidFill>
              </a:rPr>
              <a:t>vandaag</a:t>
            </a:r>
            <a:r>
              <a:rPr lang="en-US" sz="2100" dirty="0">
                <a:solidFill>
                  <a:schemeClr val="accent5"/>
                </a:solidFill>
              </a:rPr>
              <a:t>  ·  </a:t>
            </a:r>
            <a:r>
              <a:rPr lang="en-US" sz="2100" strike="sngStrike" dirty="0">
                <a:solidFill>
                  <a:schemeClr val="accent6"/>
                </a:solidFill>
              </a:rPr>
              <a:t>tijdens de dag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Je </a:t>
            </a:r>
            <a:r>
              <a:rPr lang="en-US" sz="1800" b="1" dirty="0">
                <a:solidFill>
                  <a:schemeClr val="tx1"/>
                </a:solidFill>
              </a:rPr>
              <a:t>salue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Goedemorgen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D’habitude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’s morgens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Aujourd’hui précisément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vanmiddag, vanavond, vandaag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 tête de phrase → </a:t>
            </a:r>
            <a:r>
              <a:rPr lang="en-US" sz="1800" b="1" dirty="0">
                <a:solidFill>
                  <a:schemeClr val="tx1"/>
                </a:solidFill>
              </a:rPr>
              <a:t>inversion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Vanavond </a:t>
            </a:r>
            <a:r>
              <a:rPr lang="en-US" sz="1800" b="1" i="1" dirty="0">
                <a:solidFill>
                  <a:schemeClr val="tx1"/>
                </a:solidFill>
              </a:rPr>
              <a:t>kijk ik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1.1.7 Snel groeten — le chrono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12–13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1  </a:t>
            </a:r>
            <a:r>
              <a:rPr lang="en-US" sz="2000" b="1" dirty="0">
                <a:solidFill>
                  <a:schemeClr val="tx1"/>
                </a:solidFill>
              </a:rPr>
              <a:t>Cachez</a:t>
            </a:r>
            <a:r>
              <a:rPr lang="en-US" sz="2000" dirty="0">
                <a:solidFill>
                  <a:schemeClr val="tx1"/>
                </a:solidFill>
              </a:rPr>
              <a:t> la colonne de droite (néerlandais).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2  </a:t>
            </a:r>
            <a:r>
              <a:rPr lang="en-US" sz="2000" dirty="0">
                <a:solidFill>
                  <a:schemeClr val="tx1"/>
                </a:solidFill>
              </a:rPr>
              <a:t>Votre voisin </a:t>
            </a:r>
            <a:r>
              <a:rPr lang="en-US" sz="2000" b="1" dirty="0">
                <a:solidFill>
                  <a:schemeClr val="tx1"/>
                </a:solidFill>
              </a:rPr>
              <a:t>chronomètre</a:t>
            </a:r>
            <a:r>
              <a:rPr lang="en-US" sz="2000" dirty="0">
                <a:solidFill>
                  <a:schemeClr val="tx1"/>
                </a:solidFill>
              </a:rPr>
              <a:t> : vous répondez à voix haute aux </a:t>
            </a:r>
            <a:r>
              <a:rPr lang="en-US" sz="2000" b="1" dirty="0">
                <a:solidFill>
                  <a:schemeClr val="tx1"/>
                </a:solidFill>
              </a:rPr>
              <a:t>20 amorces</a:t>
            </a:r>
            <a:r>
              <a:rPr lang="en-US" sz="2000" dirty="0">
                <a:solidFill>
                  <a:schemeClr val="tx1"/>
                </a:solidFill>
              </a:rPr>
              <a:t>, sans vous arrêter.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3  </a:t>
            </a:r>
            <a:r>
              <a:rPr lang="en-US" sz="2000" b="1" dirty="0">
                <a:solidFill>
                  <a:schemeClr val="tx1"/>
                </a:solidFill>
              </a:rPr>
              <a:t>Dépliez, corrigez</a:t>
            </a:r>
            <a:r>
              <a:rPr lang="en-US" sz="2000" dirty="0">
                <a:solidFill>
                  <a:schemeClr val="tx1"/>
                </a:solidFill>
              </a:rPr>
              <a:t>, puis faites un </a:t>
            </a:r>
            <a:r>
              <a:rPr lang="en-US" sz="2000" b="1" dirty="0">
                <a:solidFill>
                  <a:schemeClr val="tx1"/>
                </a:solidFill>
              </a:rPr>
              <a:t>second passage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4  </a:t>
            </a:r>
            <a:r>
              <a:rPr lang="en-US" sz="2000" dirty="0">
                <a:solidFill>
                  <a:schemeClr val="tx1"/>
                </a:solidFill>
              </a:rPr>
              <a:t>Notez vos </a:t>
            </a:r>
            <a:r>
              <a:rPr lang="en-US" sz="2000" b="1" dirty="0">
                <a:solidFill>
                  <a:schemeClr val="tx1"/>
                </a:solidFill>
              </a:rPr>
              <a:t>deux temps</a:t>
            </a:r>
            <a:r>
              <a:rPr lang="en-US" sz="2000" dirty="0">
                <a:solidFill>
                  <a:schemeClr val="tx1"/>
                </a:solidFill>
              </a:rPr>
              <a:t> et votre </a:t>
            </a:r>
            <a:r>
              <a:rPr lang="en-US" sz="2000" b="1" dirty="0">
                <a:solidFill>
                  <a:schemeClr val="tx1"/>
                </a:solidFill>
              </a:rPr>
              <a:t>gain</a:t>
            </a:r>
            <a:r>
              <a:rPr lang="en-US" sz="2000" dirty="0">
                <a:solidFill>
                  <a:schemeClr val="tx1"/>
                </a:solidFill>
              </a:rPr>
              <a:t>. Puis on échange les rôles.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554480"/>
            <a:ext cx="1005840" cy="1005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23760" y="2788920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06640" y="2788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1e keer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9509760" y="2788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…… min …… 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223760" y="3931920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3931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2e keer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509760" y="3931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…… min …… 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223760" y="5074920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5074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Winst / gain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9509760" y="5074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…… 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1.1.7 Snel groeten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754880"/>
                <a:gridCol w="560527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est 8 h, tu salues Pieter.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est 14 h, tu salues ta collègue.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est 20 h, tu salues Emma.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Tu vas dormir.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Salut, Pieter ! (informel)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matin, je travaille.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Cet après-midi, je vais chez le médecin.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 soir, je regarde un film.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Aujourd’hui, j’ai une réunion.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matin, c’est calme à la maison.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1.1.7 Snel groeten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754880"/>
                <a:gridCol w="560527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est 8 h, tu salues Pieter.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Goedemorgen, Pieter!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est 14 h, tu salues ta collègue.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Goedemiddag!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est 20 h, tu salues Emma.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Goedenavond, Emma!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Tu vas dormir.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Goedenacht! / Welterusten!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Salut, Pieter ! (informel)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Hoi Pieter! / Dag Pieter!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matin, je travaille.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’s Morgens werk ik.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Cet après-midi, je vais chez le médecin.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Vanmiddag ga ik naar de dokter.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 soir, je regarde un film.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Vanavond kijk ik een film.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Aujourd’hui, j’ai une réunion.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Vandaag heb ik een vergadering.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matin, c’est calme à la maison.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In de morgen is het rustig thuis.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1.1.7 Snel groeten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12–13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754880"/>
                <a:gridCol w="560527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L’après-midi, c’est animé en classe.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soir, je bois un café avec Emma.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matin, je dis « bonjour » à la classe.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Cet après-midi, je vais au cours.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Aujourd’hui, j’ai le temps.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La nuit, je dors à la maison.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soir, je rentre à la maison.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Bonjour à tous 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En journée, c’est animé au travail.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 matin, je suis fatigué(e).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1.1.7 Snel groeten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12–13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754880"/>
                <a:gridCol w="560527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L’après-midi, c’est animé en classe.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In de middag is het druk in de klas.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soir, je bois un café avec Emma.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’s Avonds drink ik koffie met Emma.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matin, je dis « bonjour » à la classe.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’s Morgens zeg ik «Goedemorgen!» tegen de klas.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Cet après-midi, je vais au cours.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Vanmiddag ga ik naar de cursus.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Aujourd’hui, j’ai le temps.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Vandaag heb ik tijd.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La nuit, je dors à la maison.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’s Nachts slaap ik thuis.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soir, je rentre à la maison.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’s Avonds ga ik naar huis.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Bonjour à tous 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Goedemorgen allemaal!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En journée, c’est animé au travail.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Overdag is het druk op het werk.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Ce matin, je suis fatigué(e).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Vanmorgen ben ik moe.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Klankmoment : le g et le ch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230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KLANKMOMENT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LE SON  g = ch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goede · ’s nachts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68956"/>
            <a:ext cx="3148584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souffle </a:t>
            </a:r>
            <a:r>
              <a:rPr lang="en-US" sz="2000" b="1" dirty="0">
                <a:solidFill>
                  <a:schemeClr val="tx1"/>
                </a:solidFill>
              </a:rPr>
              <a:t>raclé</a:t>
            </a:r>
            <a:r>
              <a:rPr lang="en-US" sz="2000" dirty="0">
                <a:solidFill>
                  <a:schemeClr val="tx1"/>
                </a:solidFill>
              </a:rPr>
              <a:t> au fond de la gorge, proche de la </a:t>
            </a:r>
            <a:r>
              <a:rPr lang="en-US" sz="2000" i="1" dirty="0">
                <a:solidFill>
                  <a:schemeClr val="tx1"/>
                </a:solidFill>
              </a:rPr>
              <a:t>jota</a:t>
            </a:r>
            <a:r>
              <a:rPr lang="en-US" sz="2000" dirty="0">
                <a:solidFill>
                  <a:schemeClr val="tx1"/>
                </a:solidFill>
              </a:rPr>
              <a:t> espagnole.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 </a:t>
            </a:r>
            <a:r>
              <a:rPr lang="en-US" sz="2000" b="1" dirty="0">
                <a:solidFill>
                  <a:schemeClr val="tx1"/>
                </a:solidFill>
              </a:rPr>
              <a:t>Flandre</a:t>
            </a:r>
            <a:r>
              <a:rPr lang="en-US" sz="2000" dirty="0">
                <a:solidFill>
                  <a:schemeClr val="tx1"/>
                </a:solidFill>
              </a:rPr>
              <a:t>, ce son est plus </a:t>
            </a:r>
            <a:r>
              <a:rPr lang="en-US" sz="2000" b="1" dirty="0">
                <a:solidFill>
                  <a:schemeClr val="tx1"/>
                </a:solidFill>
              </a:rPr>
              <a:t>doux</a:t>
            </a:r>
            <a:r>
              <a:rPr lang="en-US" sz="2000" dirty="0">
                <a:solidFill>
                  <a:schemeClr val="tx1"/>
                </a:solidFill>
              </a:rPr>
              <a:t> qu’aux Pays-Bas. Les deux sont corrects.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À VOIX HAUTE, DEUX FOIS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goedemorgen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568956"/>
            <a:ext cx="3148584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goedemiddag · goedenavond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goedenacht · gaat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’s nachts · vandaag · tegen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Avec votre voisin.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’s = [s]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’s morgens = « smorgens »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568956"/>
            <a:ext cx="3148584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’s</a:t>
            </a:r>
            <a:r>
              <a:rPr lang="en-US" sz="2000" dirty="0">
                <a:solidFill>
                  <a:schemeClr val="tx1"/>
                </a:solidFill>
              </a:rPr>
              <a:t> se prononce </a:t>
            </a:r>
            <a:r>
              <a:rPr lang="en-US" sz="2000" b="1" dirty="0">
                <a:solidFill>
                  <a:schemeClr val="tx1"/>
                </a:solidFill>
              </a:rPr>
              <a:t>[s]</a:t>
            </a:r>
            <a:r>
              <a:rPr lang="en-US" sz="2000" dirty="0">
                <a:solidFill>
                  <a:schemeClr val="tx1"/>
                </a:solidFill>
              </a:rPr>
              <a:t> et se </a:t>
            </a:r>
            <a:r>
              <a:rPr lang="en-US" sz="2000" b="1" dirty="0">
                <a:solidFill>
                  <a:schemeClr val="tx1"/>
                </a:solidFill>
              </a:rPr>
              <a:t>colle</a:t>
            </a:r>
            <a:r>
              <a:rPr lang="en-US" sz="2000" dirty="0">
                <a:solidFill>
                  <a:schemeClr val="tx1"/>
                </a:solidFill>
              </a:rPr>
              <a:t> au mot suivant.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’s middags · ’s avonds · ’s nachts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Shadowing — </a:t>
            </a:r>
            <a:r>
              <a:rPr lang="en-US" sz="1700" dirty="0">
                <a:solidFill>
                  <a:schemeClr val="tx1"/>
                </a:solidFill>
              </a:rPr>
              <a:t>écoutez l’audio du dialogue et répétez chaque réplique </a:t>
            </a:r>
            <a:r>
              <a:rPr lang="en-US" sz="1700" b="1" dirty="0">
                <a:solidFill>
                  <a:schemeClr val="tx1"/>
                </a:solidFill>
              </a:rPr>
              <a:t>juste après la voix</a:t>
            </a:r>
            <a:r>
              <a:rPr lang="en-US" sz="1700" dirty="0">
                <a:solidFill>
                  <a:schemeClr val="tx1"/>
                </a:solidFill>
              </a:rPr>
              <a:t>, sans regarder le texte.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Jij nu! Begroetingscarrousel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JIJ NU!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421486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7290166" y="1481328"/>
            <a:ext cx="4350146" cy="4809744"/>
          </a:xfrm>
          <a:prstGeom prst="roundRect">
            <a:avLst>
              <a:gd name="adj" fmla="val 1682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046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57094" y="1636776"/>
            <a:ext cx="36186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MISE EN SITUATION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7454758" y="2075688"/>
            <a:ext cx="4020962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Toute la classe · 10 min : </a:t>
            </a:r>
            <a:r>
              <a:rPr lang="en-US" sz="1800" b="1" dirty="0">
                <a:solidFill>
                  <a:schemeClr val="tx1"/>
                </a:solidFill>
              </a:rPr>
              <a:t>deux cercles</a:t>
            </a:r>
            <a:r>
              <a:rPr lang="en-US" sz="1800" dirty="0">
                <a:solidFill>
                  <a:schemeClr val="tx1"/>
                </a:solidFill>
              </a:rPr>
              <a:t> face à face.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professeur annonce une </a:t>
            </a:r>
            <a:r>
              <a:rPr lang="en-US" sz="1800" b="1" dirty="0">
                <a:solidFill>
                  <a:schemeClr val="tx1"/>
                </a:solidFill>
              </a:rPr>
              <a:t>heure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Saluez votre partenaire : </a:t>
            </a:r>
            <a:r>
              <a:rPr lang="en-US" sz="1800" b="1" dirty="0">
                <a:solidFill>
                  <a:schemeClr val="tx1"/>
                </a:solidFill>
              </a:rPr>
              <a:t>formule + prénom</a:t>
            </a:r>
            <a:r>
              <a:rPr lang="en-US" sz="1800" dirty="0">
                <a:solidFill>
                  <a:schemeClr val="tx1"/>
                </a:solidFill>
              </a:rPr>
              <a:t>, puis </a:t>
            </a:r>
            <a:r>
              <a:rPr lang="en-US" sz="1800" b="1" dirty="0">
                <a:solidFill>
                  <a:schemeClr val="tx1"/>
                </a:solidFill>
              </a:rPr>
              <a:t>une phrase vraie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Goedemorgen, Sarah! ’s Morgens drink ik koffie.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cercle extérieur </a:t>
            </a:r>
            <a:r>
              <a:rPr lang="en-US" sz="1800" b="1" dirty="0">
                <a:solidFill>
                  <a:schemeClr val="tx1"/>
                </a:solidFill>
              </a:rPr>
              <a:t>tourne</a:t>
            </a:r>
            <a:r>
              <a:rPr lang="en-US" sz="1800" dirty="0">
                <a:solidFill>
                  <a:schemeClr val="tx1"/>
                </a:solidFill>
              </a:rPr>
              <a:t> : nouveau partenaire.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Notez </a:t>
            </a:r>
            <a:r>
              <a:rPr lang="en-US" sz="1800" b="1" dirty="0">
                <a:solidFill>
                  <a:schemeClr val="tx1"/>
                </a:solidFill>
              </a:rPr>
              <a:t>deux phrases</a:t>
            </a:r>
            <a:r>
              <a:rPr lang="en-US" sz="1800" dirty="0">
                <a:solidFill>
                  <a:schemeClr val="tx1"/>
                </a:solidFill>
              </a:rPr>
              <a:t> entendues.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Woordvolgorde : le verbe en 2e position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verbe conjugué</a:t>
            </a:r>
            <a:r>
              <a:rPr lang="en-US" sz="1800" dirty="0">
                <a:solidFill>
                  <a:schemeClr val="tx1"/>
                </a:solidFill>
              </a:rPr>
              <a:t> est toujours en </a:t>
            </a:r>
            <a:r>
              <a:rPr lang="en-US" sz="1800" b="1" dirty="0">
                <a:solidFill>
                  <a:schemeClr val="tx1"/>
                </a:solidFill>
              </a:rPr>
              <a:t>2e position</a:t>
            </a:r>
            <a:r>
              <a:rPr lang="en-US" sz="1800" dirty="0">
                <a:solidFill>
                  <a:schemeClr val="tx1"/>
                </a:solidFill>
              </a:rPr>
              <a:t>. Ensuite : </a:t>
            </a:r>
            <a:r>
              <a:rPr lang="en-US" sz="1800" b="1" dirty="0">
                <a:solidFill>
                  <a:schemeClr val="tx1"/>
                </a:solidFill>
              </a:rPr>
              <a:t>quand → comment → où</a:t>
            </a:r>
            <a:r>
              <a:rPr lang="en-US" sz="1800" dirty="0">
                <a:solidFill>
                  <a:schemeClr val="tx1"/>
                </a:solidFill>
              </a:rPr>
              <a:t> (Tijd · Manier · Plaats).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Phrase de base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760216" y="194767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60216" y="218541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96792" y="218541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morgen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33112" y="1947672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manier · comment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33112" y="2185416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69688" y="2185416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 de trein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539992" y="1947672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539992" y="2185416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76568" y="2185416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naar Gent.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vais à Gand demain, en train.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0495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Inversion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2811780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 · tijd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049524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049524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Morgen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176016" y="2811780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2 · verbe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176016" y="3049524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12592" y="3049524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reis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037584" y="28117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3 · sujet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037584" y="3049524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074160" y="304952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833112" y="2811780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manier · comment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33112" y="3049524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69688" y="3049524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 de trein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539992" y="2811780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539992" y="3049524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76568" y="3049524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naar Gent.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3406140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Demain, je vais à Gand en train.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3913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Séquence 1.1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2103120" y="3675888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103120" y="3913632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139696" y="3913632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’s Morgens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3598672" y="367588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598672" y="3913632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635248" y="391363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460240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460240" y="391363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496816" y="391363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5255768" y="3675888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255768" y="3913632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292344" y="3913632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 school.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2103120" y="427024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matin, je travaille à l’école.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47777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3e personne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2103120" y="453999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103120" y="477774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139696" y="477774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Vandaag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3281680" y="4539996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281680" y="4777740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318256" y="4777740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werkt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248912" y="453999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248912" y="477774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285488" y="477774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Emma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5110480" y="4539996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manier · comment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5110480" y="4777740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147056" y="4777740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rustig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6183376" y="4539996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6183376" y="4777740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219952" y="4777740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thuis.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2103120" y="513435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Aujourd’hui, Emma travaille tranquillement à la maison.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74" name="Text 70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Règle d’or — </a:t>
            </a:r>
            <a:r>
              <a:rPr lang="en-US" sz="1700" dirty="0">
                <a:solidFill>
                  <a:schemeClr val="tx1"/>
                </a:solidFill>
              </a:rPr>
              <a:t>Le verbe ne quitte jamais la </a:t>
            </a:r>
            <a:r>
              <a:rPr lang="en-US" sz="1700" b="1" dirty="0">
                <a:solidFill>
                  <a:schemeClr val="tx1"/>
                </a:solidFill>
              </a:rPr>
              <a:t>2e place</a:t>
            </a:r>
            <a:r>
              <a:rPr lang="en-US" sz="1700" dirty="0">
                <a:solidFill>
                  <a:schemeClr val="tx1"/>
                </a:solidFill>
              </a:rPr>
              <a:t>. Et le </a:t>
            </a:r>
            <a:r>
              <a:rPr lang="en-US" sz="1700" b="1" dirty="0">
                <a:solidFill>
                  <a:schemeClr val="tx1"/>
                </a:solidFill>
              </a:rPr>
              <a:t>lieu</a:t>
            </a:r>
            <a:r>
              <a:rPr lang="en-US" sz="1700" dirty="0">
                <a:solidFill>
                  <a:schemeClr val="tx1"/>
                </a:solidFill>
              </a:rPr>
              <a:t> ne passe jamais </a:t>
            </a:r>
            <a:r>
              <a:rPr lang="en-US" sz="1700" b="1" dirty="0">
                <a:solidFill>
                  <a:schemeClr val="tx1"/>
                </a:solidFill>
              </a:rPr>
              <a:t>avant le temps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morgen</a:t>
            </a:r>
            <a:r>
              <a:rPr lang="en-US" sz="1700" dirty="0">
                <a:solidFill>
                  <a:schemeClr val="tx1"/>
                </a:solidFill>
              </a:rPr>
              <a:t> … </a:t>
            </a:r>
            <a:r>
              <a:rPr lang="en-US" sz="1700" i="1" dirty="0">
                <a:solidFill>
                  <a:schemeClr val="tx1"/>
                </a:solidFill>
              </a:rPr>
              <a:t>naar Gent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Woordvolgorde en quatre cartes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2567178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① VERBE = 2E BLOC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bloc 1 + verbe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2201418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werk</a:t>
            </a:r>
            <a:r>
              <a:rPr lang="en-US" sz="1700" i="1" dirty="0">
                <a:solidFill>
                  <a:schemeClr val="tx1"/>
                </a:solidFill>
              </a:rPr>
              <a:t> vandaag.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Vandaag </a:t>
            </a:r>
            <a:r>
              <a:rPr lang="en-US" sz="1700" b="1" i="1" dirty="0">
                <a:solidFill>
                  <a:schemeClr val="tx1"/>
                </a:solidFill>
              </a:rPr>
              <a:t>werk</a:t>
            </a:r>
            <a:r>
              <a:rPr lang="en-US" sz="1700" i="1" dirty="0">
                <a:solidFill>
                  <a:schemeClr val="tx1"/>
                </a:solidFill>
              </a:rPr>
              <a:t> ik.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2e </a:t>
            </a:r>
            <a:r>
              <a:rPr lang="en-US" sz="1700" b="1" dirty="0">
                <a:solidFill>
                  <a:schemeClr val="tx1"/>
                </a:solidFill>
              </a:rPr>
              <a:t>bloc</a:t>
            </a:r>
            <a:r>
              <a:rPr lang="en-US" sz="1700" dirty="0">
                <a:solidFill>
                  <a:schemeClr val="tx1"/>
                </a:solidFill>
              </a:rPr>
              <a:t>, pas 2e mot : </a:t>
            </a:r>
            <a:r>
              <a:rPr lang="en-US" sz="1700" i="1" dirty="0">
                <a:solidFill>
                  <a:schemeClr val="tx1"/>
                </a:solidFill>
              </a:rPr>
              <a:t>Om zeven uur</a:t>
            </a:r>
            <a:r>
              <a:rPr lang="en-US" sz="1700" dirty="0">
                <a:solidFill>
                  <a:schemeClr val="tx1"/>
                </a:solidFill>
              </a:rPr>
              <a:t> = 1 bloc.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90138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90138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14" name="Shape 11"/>
          <p:cNvSpPr/>
          <p:nvPr/>
        </p:nvSpPr>
        <p:spPr>
          <a:xfrm>
            <a:off x="3390138" y="1801368"/>
            <a:ext cx="2567178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73018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② L’INVERSION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73018" y="2084832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 + V + 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627376"/>
            <a:ext cx="2201418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 autre mot en tête → le </a:t>
            </a:r>
            <a:r>
              <a:rPr lang="en-US" sz="1700" b="1" dirty="0">
                <a:solidFill>
                  <a:schemeClr val="tx1"/>
                </a:solidFill>
              </a:rPr>
              <a:t>sujet</a:t>
            </a:r>
            <a:r>
              <a:rPr lang="en-US" sz="1700" dirty="0">
                <a:solidFill>
                  <a:schemeClr val="tx1"/>
                </a:solidFill>
              </a:rPr>
              <a:t> passe </a:t>
            </a:r>
            <a:r>
              <a:rPr lang="en-US" sz="1700" b="1" dirty="0">
                <a:solidFill>
                  <a:schemeClr val="tx1"/>
                </a:solidFill>
              </a:rPr>
              <a:t>après</a:t>
            </a:r>
            <a:r>
              <a:rPr lang="en-US" sz="1700" dirty="0">
                <a:solidFill>
                  <a:schemeClr val="tx1"/>
                </a:solidFill>
              </a:rPr>
              <a:t> le verbe.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Morgen reis </a:t>
            </a:r>
            <a:r>
              <a:rPr lang="en-US" sz="1700" b="1" i="1" dirty="0">
                <a:solidFill>
                  <a:schemeClr val="tx1"/>
                </a:solidFill>
              </a:rPr>
              <a:t>ik</a:t>
            </a:r>
            <a:r>
              <a:rPr lang="en-US" sz="1700" i="1" dirty="0">
                <a:solidFill>
                  <a:schemeClr val="tx1"/>
                </a:solidFill>
              </a:rPr>
              <a:t>…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231636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0" name="Shape 17"/>
          <p:cNvSpPr/>
          <p:nvPr/>
        </p:nvSpPr>
        <p:spPr>
          <a:xfrm>
            <a:off x="6231636" y="1801368"/>
            <a:ext cx="256717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③ T · M · P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14516" y="2084832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 → M → P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627376"/>
            <a:ext cx="2201418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quand → comment → où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om 8 uur · snel · naar het werk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 </a:t>
            </a:r>
            <a:r>
              <a:rPr lang="en-US" sz="1700" b="1" dirty="0">
                <a:solidFill>
                  <a:schemeClr val="tx1"/>
                </a:solidFill>
              </a:rPr>
              <a:t>lieu</a:t>
            </a:r>
            <a:r>
              <a:rPr lang="en-US" sz="1700" dirty="0">
                <a:solidFill>
                  <a:schemeClr val="tx1"/>
                </a:solidFill>
              </a:rPr>
              <a:t> en dernier.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9073134" y="1481328"/>
            <a:ext cx="2567178" cy="388315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73134" y="1481328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26" name="Shape 23"/>
          <p:cNvSpPr/>
          <p:nvPr/>
        </p:nvSpPr>
        <p:spPr>
          <a:xfrm>
            <a:off x="9073134" y="1801368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56014" y="1481328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④ JIJ APRÈS LE VERBE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56014" y="2084832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werk jij?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627376"/>
            <a:ext cx="2201418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jij werkt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Vandaag </a:t>
            </a:r>
            <a:r>
              <a:rPr lang="en-US" sz="1700" b="1" i="1" dirty="0">
                <a:solidFill>
                  <a:schemeClr val="tx1"/>
                </a:solidFill>
              </a:rPr>
              <a:t>werk jij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jij / je</a:t>
            </a:r>
            <a:r>
              <a:rPr lang="en-US" sz="1700" dirty="0">
                <a:solidFill>
                  <a:schemeClr val="tx1"/>
                </a:solidFill>
              </a:rPr>
              <a:t> derrière le verbe : le </a:t>
            </a:r>
            <a:r>
              <a:rPr lang="en-US" sz="1700" b="1" dirty="0">
                <a:solidFill>
                  <a:schemeClr val="tx1"/>
                </a:solidFill>
              </a:rPr>
              <a:t>-t</a:t>
            </a:r>
            <a:r>
              <a:rPr lang="en-US" sz="1700" dirty="0">
                <a:solidFill>
                  <a:schemeClr val="tx1"/>
                </a:solidFill>
              </a:rPr>
              <a:t> tombe.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Mais : </a:t>
            </a:r>
            <a:r>
              <a:rPr lang="en-US" sz="1700" i="1" dirty="0">
                <a:solidFill>
                  <a:schemeClr val="tx1"/>
                </a:solidFill>
              </a:rPr>
              <a:t>Vandaag </a:t>
            </a:r>
            <a:r>
              <a:rPr lang="en-US" sz="1700" b="1" i="1" dirty="0">
                <a:solidFill>
                  <a:schemeClr val="tx1"/>
                </a:solidFill>
              </a:rPr>
              <a:t>werkt</a:t>
            </a:r>
            <a:r>
              <a:rPr lang="en-US" sz="1700" i="1" dirty="0">
                <a:solidFill>
                  <a:schemeClr val="tx1"/>
                </a:solidFill>
              </a:rPr>
              <a:t> Emma / hij / u.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garde « sujet + verbe » : </a:t>
            </a:r>
            <a:r>
              <a:rPr lang="en-US" sz="1700" i="1" dirty="0">
                <a:solidFill>
                  <a:schemeClr val="tx1"/>
                </a:solidFill>
              </a:rPr>
              <a:t>Demain, </a:t>
            </a:r>
            <a:r>
              <a:rPr lang="en-US" sz="1700" b="1" i="1" dirty="0">
                <a:solidFill>
                  <a:schemeClr val="tx1"/>
                </a:solidFill>
              </a:rPr>
              <a:t>je vais</a:t>
            </a:r>
            <a:r>
              <a:rPr lang="en-US" sz="1700" i="1" dirty="0">
                <a:solidFill>
                  <a:schemeClr val="tx1"/>
                </a:solidFill>
              </a:rPr>
              <a:t>…</a:t>
            </a:r>
            <a:r>
              <a:rPr lang="en-US" sz="1700" dirty="0">
                <a:solidFill>
                  <a:schemeClr val="tx1"/>
                </a:solidFill>
              </a:rPr>
              <a:t> Le néerlandais inverse : </a:t>
            </a:r>
            <a:r>
              <a:rPr lang="en-US" sz="1700" i="1" dirty="0">
                <a:solidFill>
                  <a:schemeClr val="tx1"/>
                </a:solidFill>
              </a:rPr>
              <a:t>Morgen </a:t>
            </a:r>
            <a:r>
              <a:rPr lang="en-US" sz="1700" b="1" i="1" dirty="0">
                <a:solidFill>
                  <a:schemeClr val="tx1"/>
                </a:solidFill>
              </a:rPr>
              <a:t>ga ik</a:t>
            </a:r>
            <a:r>
              <a:rPr lang="en-US" sz="1700" i="1" dirty="0">
                <a:solidFill>
                  <a:schemeClr val="tx1"/>
                </a:solidFill>
              </a:rPr>
              <a:t>…</a:t>
            </a:r>
            <a:r>
              <a:rPr lang="en-US" sz="1700" dirty="0">
                <a:solidFill>
                  <a:schemeClr val="tx1"/>
                </a:solidFill>
              </a:rPr>
              <a:t> ✗ </a:t>
            </a:r>
            <a:r>
              <a:rPr lang="en-US" sz="1700" i="1" dirty="0">
                <a:solidFill>
                  <a:schemeClr val="tx1"/>
                </a:solidFill>
              </a:rPr>
              <a:t>Morgen ik ga</a:t>
            </a:r>
            <a:r>
              <a:rPr lang="en-US" sz="1700" dirty="0">
                <a:solidFill>
                  <a:schemeClr val="tx1"/>
                </a:solidFill>
              </a:rPr>
              <a:t> — et il dit le temps </a:t>
            </a:r>
            <a:r>
              <a:rPr lang="en-US" sz="1700" b="1" dirty="0">
                <a:solidFill>
                  <a:schemeClr val="tx1"/>
                </a:solidFill>
              </a:rPr>
              <a:t>avant</a:t>
            </a:r>
            <a:r>
              <a:rPr lang="en-US" sz="1700" dirty="0">
                <a:solidFill>
                  <a:schemeClr val="tx1"/>
                </a:solidFill>
              </a:rPr>
              <a:t> le lieu : </a:t>
            </a:r>
            <a:r>
              <a:rPr lang="en-US" sz="1700" i="1" dirty="0">
                <a:solidFill>
                  <a:schemeClr val="tx1"/>
                </a:solidFill>
              </a:rPr>
              <a:t>Ik ga morgen naar Gent.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Erreurs fréquentes : l’ordre des mots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937623"/>
          </a:xfrm>
          <a:prstGeom prst="roundRect">
            <a:avLst>
              <a:gd name="adj" fmla="val 585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40411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508760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’s Morgens ik werk op school.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40411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937760" y="1508760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’s Morgens </a:t>
            </a:r>
            <a:r>
              <a:rPr lang="en-US" sz="2000" b="1" dirty="0">
                <a:solidFill>
                  <a:schemeClr val="tx1"/>
                </a:solidFill>
              </a:rPr>
              <a:t>werk ik</a:t>
            </a:r>
            <a:r>
              <a:rPr lang="en-US" sz="2000" dirty="0">
                <a:solidFill>
                  <a:schemeClr val="tx1"/>
                </a:solidFill>
              </a:rPr>
              <a:t> op school.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8458200" y="1508760"/>
            <a:ext cx="3090672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Moment en tête → inversion.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2556111"/>
            <a:ext cx="11091672" cy="937623"/>
          </a:xfrm>
          <a:prstGeom prst="roundRect">
            <a:avLst>
              <a:gd name="adj" fmla="val 585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8776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556111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Vandaag werk Emma thuis.</a:t>
            </a:r>
            <a:endParaRPr lang="en-US" sz="2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7762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37760" y="2556111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Vandaag </a:t>
            </a:r>
            <a:r>
              <a:rPr lang="en-US" sz="2000" b="1" dirty="0">
                <a:solidFill>
                  <a:schemeClr val="tx1"/>
                </a:solidFill>
              </a:rPr>
              <a:t>werkt</a:t>
            </a:r>
            <a:r>
              <a:rPr lang="en-US" sz="2000" dirty="0">
                <a:solidFill>
                  <a:schemeClr val="tx1"/>
                </a:solidFill>
              </a:rPr>
              <a:t> Emma thuis.</a:t>
            </a:r>
            <a:endParaRPr lang="en-US" sz="2000" dirty="0"/>
          </a:p>
        </p:txBody>
      </p:sp>
      <p:sp>
        <p:nvSpPr>
          <p:cNvPr id="17" name="Text 10"/>
          <p:cNvSpPr txBox="1"/>
          <p:nvPr/>
        </p:nvSpPr>
        <p:spPr>
          <a:xfrm>
            <a:off x="8458200" y="2556111"/>
            <a:ext cx="3090672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Emma = 3e personne : le -t reste.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548640" y="3603462"/>
            <a:ext cx="11091672" cy="937623"/>
          </a:xfrm>
          <a:prstGeom prst="roundRect">
            <a:avLst>
              <a:gd name="adj" fmla="val 585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35113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1560" y="3603462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Werkt jij vandaag?</a:t>
            </a:r>
            <a:endParaRPr lang="en-US" sz="2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935113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4937760" y="3603462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Werk jij</a:t>
            </a:r>
            <a:r>
              <a:rPr lang="en-US" sz="2000" dirty="0">
                <a:solidFill>
                  <a:schemeClr val="tx1"/>
                </a:solidFill>
              </a:rPr>
              <a:t> vandaag?</a:t>
            </a:r>
            <a:endParaRPr lang="en-US" sz="2000" dirty="0"/>
          </a:p>
        </p:txBody>
      </p:sp>
      <p:sp>
        <p:nvSpPr>
          <p:cNvPr id="23" name="Text 14"/>
          <p:cNvSpPr txBox="1"/>
          <p:nvPr/>
        </p:nvSpPr>
        <p:spPr>
          <a:xfrm>
            <a:off x="8458200" y="3603462"/>
            <a:ext cx="3090672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jij</a:t>
            </a:r>
            <a:r>
              <a:rPr lang="en-US" sz="1800" i="1" dirty="0">
                <a:solidFill>
                  <a:schemeClr val="accent5"/>
                </a:solidFill>
              </a:rPr>
              <a:t> après le verbe : pas de -t.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548640" y="4650813"/>
            <a:ext cx="11091672" cy="592909"/>
          </a:xfrm>
          <a:prstGeom prst="roundRect">
            <a:avLst>
              <a:gd name="adj" fmla="val 9253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810107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51560" y="4650813"/>
            <a:ext cx="3291840" cy="592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ga naar Gent morgen.</a:t>
            </a:r>
            <a:endParaRPr lang="en-US" sz="2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810107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937760" y="4650813"/>
            <a:ext cx="3291840" cy="592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ga </a:t>
            </a:r>
            <a:r>
              <a:rPr lang="en-US" sz="2000" b="1" dirty="0">
                <a:solidFill>
                  <a:schemeClr val="tx1"/>
                </a:solidFill>
              </a:rPr>
              <a:t>morgen</a:t>
            </a:r>
            <a:r>
              <a:rPr lang="en-US" sz="2000" dirty="0">
                <a:solidFill>
                  <a:schemeClr val="tx1"/>
                </a:solidFill>
              </a:rPr>
              <a:t> naar Gent.</a:t>
            </a:r>
            <a:endParaRPr lang="en-US" sz="2000" dirty="0"/>
          </a:p>
        </p:txBody>
      </p:sp>
      <p:sp>
        <p:nvSpPr>
          <p:cNvPr id="29" name="Text 18"/>
          <p:cNvSpPr txBox="1"/>
          <p:nvPr/>
        </p:nvSpPr>
        <p:spPr>
          <a:xfrm>
            <a:off x="8458200" y="4650813"/>
            <a:ext cx="3090672" cy="592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Le temps </a:t>
            </a:r>
            <a:r>
              <a:rPr lang="en-US" sz="1800" b="1" i="1" dirty="0">
                <a:solidFill>
                  <a:schemeClr val="accent5"/>
                </a:solidFill>
              </a:rPr>
              <a:t>avant</a:t>
            </a:r>
            <a:r>
              <a:rPr lang="en-US" sz="1800" i="1" dirty="0">
                <a:solidFill>
                  <a:schemeClr val="accent5"/>
                </a:solidFill>
              </a:rPr>
              <a:t> le lieu.</a:t>
            </a:r>
            <a:endParaRPr lang="en-US" sz="1800" dirty="0"/>
          </a:p>
        </p:txBody>
      </p:sp>
      <p:sp>
        <p:nvSpPr>
          <p:cNvPr id="30" name="Shape 19"/>
          <p:cNvSpPr/>
          <p:nvPr/>
        </p:nvSpPr>
        <p:spPr>
          <a:xfrm>
            <a:off x="548640" y="5353449"/>
            <a:ext cx="11091672" cy="937623"/>
          </a:xfrm>
          <a:prstGeom prst="roundRect">
            <a:avLst>
              <a:gd name="adj" fmla="val 585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685101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1051560" y="5353449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Om zeven uur sta ik op elke dag.</a:t>
            </a:r>
            <a:endParaRPr lang="en-US" sz="2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685101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4937760" y="5353449"/>
            <a:ext cx="3291840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Om zeven uur sta ik elke dag </a:t>
            </a:r>
            <a:r>
              <a:rPr lang="en-US" sz="2000" b="1" dirty="0">
                <a:solidFill>
                  <a:schemeClr val="tx1"/>
                </a:solidFill>
              </a:rPr>
              <a:t>op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35" name="Text 22"/>
          <p:cNvSpPr txBox="1"/>
          <p:nvPr/>
        </p:nvSpPr>
        <p:spPr>
          <a:xfrm>
            <a:off x="8458200" y="5353449"/>
            <a:ext cx="3090672" cy="93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Particule séparable à la </a:t>
            </a:r>
            <a:r>
              <a:rPr lang="en-US" sz="1800" b="1" i="1" dirty="0">
                <a:solidFill>
                  <a:schemeClr val="accent5"/>
                </a:solidFill>
              </a:rPr>
              <a:t>fin</a:t>
            </a:r>
            <a:r>
              <a:rPr lang="en-US" sz="1800" i="1" dirty="0">
                <a:solidFill>
                  <a:schemeClr val="accent5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remets dans l’ordre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Remettez les blocs dans l’ordre : </a:t>
            </a:r>
            <a:r>
              <a:rPr lang="en-US" sz="1600" b="1" i="1" dirty="0">
                <a:solidFill>
                  <a:schemeClr val="accent5"/>
                </a:solidFill>
              </a:rPr>
              <a:t>verbe en 2e position</a:t>
            </a:r>
            <a:r>
              <a:rPr lang="en-US" sz="1600" i="1" dirty="0">
                <a:solidFill>
                  <a:schemeClr val="accent5"/>
                </a:solidFill>
              </a:rPr>
              <a:t>, puis </a:t>
            </a:r>
            <a:r>
              <a:rPr lang="en-US" sz="1600" b="1" i="1" dirty="0">
                <a:solidFill>
                  <a:schemeClr val="accent5"/>
                </a:solidFill>
              </a:rPr>
              <a:t>T → M → P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hij fietst  /  naar het werk  /  om 8 uur  /  snel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zij studeert  /  in de bibliotheek  /  ’s avonds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Vandaag  /  wij eten  /  in het restaurant  /  rustig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In de zomer  /  wij gaan  /  naar Spanje  /  met het vliegtuig</a:t>
            </a:r>
            <a:endParaRPr lang="en-US" sz="26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 en 2e position.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Puis </a:t>
            </a:r>
            <a:r>
              <a:rPr lang="en-US" sz="1800" b="1" dirty="0">
                <a:solidFill>
                  <a:schemeClr val="tx1"/>
                </a:solidFill>
              </a:rPr>
              <a:t>quand → comment → où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mot de temps en tête ? → </a:t>
            </a:r>
            <a:r>
              <a:rPr lang="en-US" sz="1800" b="1" dirty="0">
                <a:solidFill>
                  <a:schemeClr val="tx1"/>
                </a:solidFill>
              </a:rPr>
              <a:t>inversion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Seul · 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remets dans l’ordre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Remettez les blocs dans l’ordre : </a:t>
            </a:r>
            <a:r>
              <a:rPr lang="en-US" sz="1600" b="1" i="1" dirty="0">
                <a:solidFill>
                  <a:schemeClr val="accent5"/>
                </a:solidFill>
              </a:rPr>
              <a:t>verbe en 2e position</a:t>
            </a:r>
            <a:r>
              <a:rPr lang="en-US" sz="1600" i="1" dirty="0">
                <a:solidFill>
                  <a:schemeClr val="accent5"/>
                </a:solidFill>
              </a:rPr>
              <a:t>, puis </a:t>
            </a:r>
            <a:r>
              <a:rPr lang="en-US" sz="1600" b="1" i="1" dirty="0">
                <a:solidFill>
                  <a:schemeClr val="accent5"/>
                </a:solidFill>
              </a:rPr>
              <a:t>T → M → P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hij fietst  /  naar het werk  /  om 8 uur  /  snel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Hij fietst om 8 uur snel naar het werk.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zij studeert  /  in de bibliotheek  /  ’s avonds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Zij studeert ’s avonds in de bibliotheek.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Vandaag  /  wij eten  /  in het restaurant  /  rustig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Vandaag eten wij rustig in het restaurant.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In de zomer  /  wij gaan  /  naar Spanje  /  met het vliegtuig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→ </a:t>
            </a:r>
            <a:r>
              <a:rPr lang="en-US" sz="2200" dirty="0">
                <a:solidFill>
                  <a:schemeClr val="accent3"/>
                </a:solidFill>
              </a:rPr>
              <a:t>In de zomer gaan wij met het vliegtuig naar Spanje.</a:t>
            </a:r>
            <a:endParaRPr lang="en-US" sz="22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 → M → P : </a:t>
            </a:r>
            <a:r>
              <a:rPr lang="en-US" sz="1800" i="1" dirty="0">
                <a:solidFill>
                  <a:schemeClr val="tx1"/>
                </a:solidFill>
              </a:rPr>
              <a:t>om 8 uur · snel · naar het werk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Vandaag</a:t>
            </a:r>
            <a:r>
              <a:rPr lang="en-US" sz="1800" dirty="0">
                <a:solidFill>
                  <a:schemeClr val="tx1"/>
                </a:solidFill>
              </a:rPr>
              <a:t> et </a:t>
            </a:r>
            <a:r>
              <a:rPr lang="en-US" sz="1800" i="1" dirty="0">
                <a:solidFill>
                  <a:schemeClr val="tx1"/>
                </a:solidFill>
              </a:rPr>
              <a:t>In de zomer</a:t>
            </a:r>
            <a:r>
              <a:rPr lang="en-US" sz="1800" dirty="0">
                <a:solidFill>
                  <a:schemeClr val="tx1"/>
                </a:solidFill>
              </a:rPr>
              <a:t> en tête → </a:t>
            </a:r>
            <a:r>
              <a:rPr lang="en-US" sz="1800" i="1" dirty="0">
                <a:solidFill>
                  <a:schemeClr val="tx1"/>
                </a:solidFill>
              </a:rPr>
              <a:t>eten </a:t>
            </a:r>
            <a:r>
              <a:rPr lang="en-US" sz="1800" b="1" i="1" dirty="0">
                <a:solidFill>
                  <a:schemeClr val="tx1"/>
                </a:solidFill>
              </a:rPr>
              <a:t>wij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gaan </a:t>
            </a:r>
            <a:r>
              <a:rPr lang="en-US" sz="1800" b="1" i="1" dirty="0">
                <a:solidFill>
                  <a:schemeClr val="tx1"/>
                </a:solidFill>
              </a:rPr>
              <a:t>wij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In de zomer</a:t>
            </a:r>
            <a:r>
              <a:rPr lang="en-US" sz="1800" dirty="0">
                <a:solidFill>
                  <a:schemeClr val="tx1"/>
                </a:solidFill>
              </a:rPr>
              <a:t> = un seul bloc (1re position).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Commencez par le moment 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Réécrivez la phrase en commençant par l’expression en </a:t>
            </a:r>
            <a:r>
              <a:rPr lang="en-US" sz="1600" b="1" i="1" dirty="0">
                <a:solidFill>
                  <a:schemeClr val="accent5"/>
                </a:solidFill>
              </a:rPr>
              <a:t>gras</a:t>
            </a:r>
            <a:r>
              <a:rPr lang="en-US" sz="1600" i="1" dirty="0">
                <a:solidFill>
                  <a:schemeClr val="accent5"/>
                </a:solidFill>
              </a:rPr>
              <a:t>. Attention au </a:t>
            </a:r>
            <a:r>
              <a:rPr lang="en-US" sz="1600" b="1" i="1" dirty="0">
                <a:solidFill>
                  <a:schemeClr val="accent5"/>
                </a:solidFill>
              </a:rPr>
              <a:t>-t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Ik drink </a:t>
            </a:r>
            <a:r>
              <a:rPr lang="en-US" sz="2600" b="1" dirty="0">
                <a:solidFill>
                  <a:schemeClr val="tx1"/>
                </a:solidFill>
              </a:rPr>
              <a:t>vanavond</a:t>
            </a:r>
            <a:r>
              <a:rPr lang="en-US" sz="2600" dirty="0">
                <a:solidFill>
                  <a:schemeClr val="tx1"/>
                </a:solidFill>
              </a:rPr>
              <a:t> koffie met Emma.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Pieter werkt </a:t>
            </a:r>
            <a:r>
              <a:rPr lang="en-US" sz="2600" b="1" dirty="0">
                <a:solidFill>
                  <a:schemeClr val="tx1"/>
                </a:solidFill>
              </a:rPr>
              <a:t>vandaag</a:t>
            </a:r>
            <a:r>
              <a:rPr lang="en-US" sz="2600" dirty="0">
                <a:solidFill>
                  <a:schemeClr val="tx1"/>
                </a:solidFill>
              </a:rPr>
              <a:t> thuis.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Jij werkt </a:t>
            </a:r>
            <a:r>
              <a:rPr lang="en-US" sz="2600" b="1" dirty="0">
                <a:solidFill>
                  <a:schemeClr val="tx1"/>
                </a:solidFill>
              </a:rPr>
              <a:t>’s avonds</a:t>
            </a:r>
            <a:r>
              <a:rPr lang="en-US" sz="2600" dirty="0">
                <a:solidFill>
                  <a:schemeClr val="tx1"/>
                </a:solidFill>
              </a:rPr>
              <a:t> op kantoor.</a:t>
            </a:r>
            <a:endParaRPr lang="en-US" sz="26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Sarah heeft </a:t>
            </a:r>
            <a:r>
              <a:rPr lang="en-US" sz="2600" b="1" dirty="0">
                <a:solidFill>
                  <a:schemeClr val="tx1"/>
                </a:solidFill>
              </a:rPr>
              <a:t>vanmiddag</a:t>
            </a:r>
            <a:r>
              <a:rPr lang="en-US" sz="2600" dirty="0">
                <a:solidFill>
                  <a:schemeClr val="tx1"/>
                </a:solidFill>
              </a:rPr>
              <a:t> een vergadering.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Wij gaan </a:t>
            </a:r>
            <a:r>
              <a:rPr lang="en-US" sz="2600" b="1" dirty="0">
                <a:solidFill>
                  <a:schemeClr val="tx1"/>
                </a:solidFill>
              </a:rPr>
              <a:t>morgen</a:t>
            </a:r>
            <a:r>
              <a:rPr lang="en-US" sz="2600" dirty="0">
                <a:solidFill>
                  <a:schemeClr val="tx1"/>
                </a:solidFill>
              </a:rPr>
              <a:t> met de bus naar Brussel.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Je slaapt </a:t>
            </a:r>
            <a:r>
              <a:rPr lang="en-US" sz="2600" b="1" dirty="0">
                <a:solidFill>
                  <a:schemeClr val="tx1"/>
                </a:solidFill>
              </a:rPr>
              <a:t>’s nachts</a:t>
            </a:r>
            <a:r>
              <a:rPr lang="en-US" sz="2600" dirty="0">
                <a:solidFill>
                  <a:schemeClr val="tx1"/>
                </a:solidFill>
              </a:rPr>
              <a:t> thuis.</a:t>
            </a:r>
            <a:endParaRPr lang="en-US" sz="26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moment </a:t>
            </a:r>
            <a:r>
              <a:rPr lang="en-US" sz="1800" b="1" dirty="0">
                <a:solidFill>
                  <a:schemeClr val="tx1"/>
                </a:solidFill>
              </a:rPr>
              <a:t>en tête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Puis le </a:t>
            </a:r>
            <a:r>
              <a:rPr lang="en-US" sz="1800" b="1" dirty="0">
                <a:solidFill>
                  <a:schemeClr val="tx1"/>
                </a:solidFill>
              </a:rPr>
              <a:t>verbe</a:t>
            </a:r>
            <a:r>
              <a:rPr lang="en-US" sz="1800" dirty="0">
                <a:solidFill>
                  <a:schemeClr val="tx1"/>
                </a:solidFill>
              </a:rPr>
              <a:t>, puis le </a:t>
            </a:r>
            <a:r>
              <a:rPr lang="en-US" sz="1800" b="1" dirty="0">
                <a:solidFill>
                  <a:schemeClr val="tx1"/>
                </a:solidFill>
              </a:rPr>
              <a:t>sujet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Oral, puis écrit · 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Commencez par le moment 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Réécrivez la phrase en commençant par l’expression en </a:t>
            </a:r>
            <a:r>
              <a:rPr lang="en-US" sz="1600" b="1" i="1" dirty="0">
                <a:solidFill>
                  <a:schemeClr val="accent5"/>
                </a:solidFill>
              </a:rPr>
              <a:t>gras</a:t>
            </a:r>
            <a:r>
              <a:rPr lang="en-US" sz="1600" i="1" dirty="0">
                <a:solidFill>
                  <a:schemeClr val="accent5"/>
                </a:solidFill>
              </a:rPr>
              <a:t>. Attention au </a:t>
            </a:r>
            <a:r>
              <a:rPr lang="en-US" sz="1600" b="1" i="1" dirty="0">
                <a:solidFill>
                  <a:schemeClr val="accent5"/>
                </a:solidFill>
              </a:rPr>
              <a:t>-t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Ik drink </a:t>
            </a:r>
            <a:r>
              <a:rPr lang="en-US" sz="2000" b="1" dirty="0">
                <a:solidFill>
                  <a:schemeClr val="tx1"/>
                </a:solidFill>
              </a:rPr>
              <a:t>vanavond</a:t>
            </a:r>
            <a:r>
              <a:rPr lang="en-US" sz="2000" dirty="0">
                <a:solidFill>
                  <a:schemeClr val="tx1"/>
                </a:solidFill>
              </a:rPr>
              <a:t> koffie met Emma.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 </a:t>
            </a:r>
            <a:r>
              <a:rPr lang="en-US" sz="2000" dirty="0">
                <a:solidFill>
                  <a:schemeClr val="accent3"/>
                </a:solidFill>
              </a:rPr>
              <a:t>Vanavond drink ik koffie met Emma.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Pieter werkt </a:t>
            </a:r>
            <a:r>
              <a:rPr lang="en-US" sz="2000" b="1" dirty="0">
                <a:solidFill>
                  <a:schemeClr val="tx1"/>
                </a:solidFill>
              </a:rPr>
              <a:t>vandaag</a:t>
            </a:r>
            <a:r>
              <a:rPr lang="en-US" sz="2000" dirty="0">
                <a:solidFill>
                  <a:schemeClr val="tx1"/>
                </a:solidFill>
              </a:rPr>
              <a:t> thuis.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 </a:t>
            </a:r>
            <a:r>
              <a:rPr lang="en-US" sz="2000" dirty="0">
                <a:solidFill>
                  <a:schemeClr val="accent3"/>
                </a:solidFill>
              </a:rPr>
              <a:t>Vandaag werkt Pieter thuis.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Jij werkt </a:t>
            </a:r>
            <a:r>
              <a:rPr lang="en-US" sz="2000" b="1" dirty="0">
                <a:solidFill>
                  <a:schemeClr val="tx1"/>
                </a:solidFill>
              </a:rPr>
              <a:t>’s avonds</a:t>
            </a:r>
            <a:r>
              <a:rPr lang="en-US" sz="2000" dirty="0">
                <a:solidFill>
                  <a:schemeClr val="tx1"/>
                </a:solidFill>
              </a:rPr>
              <a:t> op kantoor.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 </a:t>
            </a:r>
            <a:r>
              <a:rPr lang="en-US" sz="2000" dirty="0">
                <a:solidFill>
                  <a:schemeClr val="accent3"/>
                </a:solidFill>
              </a:rPr>
              <a:t>’s Avonds werk jij op kantoor.</a:t>
            </a:r>
            <a:endParaRPr lang="en-US" sz="20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Sarah heeft </a:t>
            </a:r>
            <a:r>
              <a:rPr lang="en-US" sz="2000" b="1" dirty="0">
                <a:solidFill>
                  <a:schemeClr val="tx1"/>
                </a:solidFill>
              </a:rPr>
              <a:t>vanmiddag</a:t>
            </a:r>
            <a:r>
              <a:rPr lang="en-US" sz="2000" dirty="0">
                <a:solidFill>
                  <a:schemeClr val="tx1"/>
                </a:solidFill>
              </a:rPr>
              <a:t> een vergadering.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 </a:t>
            </a:r>
            <a:r>
              <a:rPr lang="en-US" sz="2000" dirty="0">
                <a:solidFill>
                  <a:schemeClr val="accent3"/>
                </a:solidFill>
              </a:rPr>
              <a:t>Vanmiddag heeft Sarah een vergadering.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Wij gaan </a:t>
            </a:r>
            <a:r>
              <a:rPr lang="en-US" sz="2000" b="1" dirty="0">
                <a:solidFill>
                  <a:schemeClr val="tx1"/>
                </a:solidFill>
              </a:rPr>
              <a:t>morgen</a:t>
            </a:r>
            <a:r>
              <a:rPr lang="en-US" sz="2000" dirty="0">
                <a:solidFill>
                  <a:schemeClr val="tx1"/>
                </a:solidFill>
              </a:rPr>
              <a:t> met de bus naar Brussel.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 </a:t>
            </a:r>
            <a:r>
              <a:rPr lang="en-US" sz="2000" dirty="0">
                <a:solidFill>
                  <a:schemeClr val="accent3"/>
                </a:solidFill>
              </a:rPr>
              <a:t>Morgen gaan wij met de bus naar Brussel.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Je slaapt </a:t>
            </a:r>
            <a:r>
              <a:rPr lang="en-US" sz="2000" b="1" dirty="0">
                <a:solidFill>
                  <a:schemeClr val="tx1"/>
                </a:solidFill>
              </a:rPr>
              <a:t>’s nachts</a:t>
            </a:r>
            <a:r>
              <a:rPr lang="en-US" sz="2000" dirty="0">
                <a:solidFill>
                  <a:schemeClr val="tx1"/>
                </a:solidFill>
              </a:rPr>
              <a:t> thuis.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 </a:t>
            </a:r>
            <a:r>
              <a:rPr lang="en-US" sz="2000" dirty="0">
                <a:solidFill>
                  <a:schemeClr val="accent3"/>
                </a:solidFill>
              </a:rPr>
              <a:t>’s Nachts slaap je thuis.</a:t>
            </a:r>
            <a:endParaRPr lang="en-US" sz="20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Pieter / Sarah</a:t>
            </a:r>
            <a:r>
              <a:rPr lang="en-US" sz="1800" dirty="0">
                <a:solidFill>
                  <a:schemeClr val="tx1"/>
                </a:solidFill>
              </a:rPr>
              <a:t> après le verbe : le -t reste.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jij / je</a:t>
            </a:r>
            <a:r>
              <a:rPr lang="en-US" sz="1800" dirty="0">
                <a:solidFill>
                  <a:schemeClr val="tx1"/>
                </a:solidFill>
              </a:rPr>
              <a:t> après le verbe : le -t tombe → </a:t>
            </a:r>
            <a:r>
              <a:rPr lang="en-US" sz="1800" i="1" dirty="0">
                <a:solidFill>
                  <a:schemeClr val="tx1"/>
                </a:solidFill>
              </a:rPr>
              <a:t>werk jij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slaap je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3 : les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mots composés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ochtendmens, middagdutje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), les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nombres et l’heure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… et une nouvelle question :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Hoe gaat het?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Refaire </a:t>
            </a:r>
            <a:r>
              <a:rPr lang="en-US" sz="1700" b="1" dirty="0">
                <a:solidFill>
                  <a:schemeClr val="tx1"/>
                </a:solidFill>
              </a:rPr>
              <a:t>1.1.7</a:t>
            </a:r>
            <a:r>
              <a:rPr lang="en-US" sz="1700" dirty="0">
                <a:solidFill>
                  <a:schemeClr val="tx1"/>
                </a:solidFill>
              </a:rPr>
              <a:t> seul(e) avec un chrono : battre votre meilleur temps.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la fiche </a:t>
            </a:r>
            <a:r>
              <a:rPr lang="en-US" sz="1700" b="1" dirty="0">
                <a:solidFill>
                  <a:schemeClr val="tx1"/>
                </a:solidFill>
              </a:rPr>
              <a:t>Woordvolgorde</a:t>
            </a:r>
            <a:r>
              <a:rPr lang="en-US" sz="1700" dirty="0">
                <a:solidFill>
                  <a:schemeClr val="tx1"/>
                </a:solidFill>
              </a:rPr>
              <a:t> (p. 68) : verbe en 2e position, T-M-P.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vraies qui commencent par un moment : </a:t>
            </a:r>
            <a:r>
              <a:rPr lang="en-US" sz="1700" i="1" dirty="0">
                <a:solidFill>
                  <a:schemeClr val="tx1"/>
                </a:solidFill>
              </a:rPr>
              <a:t>Morgen…, ’s Avonds…, Vandaag…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Remettez dans l’ordre, à voix haute : </a:t>
            </a:r>
            <a:r>
              <a:rPr lang="en-US" sz="1600" i="1" dirty="0">
                <a:solidFill>
                  <a:schemeClr val="bg1"/>
                </a:solidFill>
              </a:rPr>
              <a:t>met de bus · vanavond · ik ga · naar de cursus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02 — Snel groeten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2026-10-03T21:06:36Z</dcterms:created>
  <dcterms:modified xsi:type="dcterms:W3CDTF">2026-10-03T21:06:36Z</dcterms:modified>
</cp:coreProperties>
</file>