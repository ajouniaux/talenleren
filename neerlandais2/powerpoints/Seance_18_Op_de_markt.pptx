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01130de-e600-9ffa-a0f4-d28956ded549}">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Clôture" id="{e4724efd-7295-373e-c9f6-ec926b6eca5e}">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18. Objectifs : former les diminutifs (-je, -tje, -pje, -etje) et retenir qu’ils sont tous en het (fiche A1-09, p. 66), apprendre le vocabulaire de la nourriture et des boissons (thème 04, p. 81) et des courses (thème 05, p. 82), puis jouer deux situations hors syllabus : au marché et au café. Image de couverture : Sarah nomme ce qu’elle voit sur de markt (« de kaas · het brood · de markt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Les diminutifs sont partout dans la langue des courses et du café (een kopje koffie, een broodje, een stukje kaas, het mandje, het winkelwagentje) : on commence donc par la fiche p. 66, puis on les retrouve dans le vocabulaire et les jeux de rôle. Les deux jeux de rôle (marché, café) sont ajoutés au syllabus par le plan de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fiche A2-03 (OVT), du thème Gezondheid et de la fiche 10. Interroger un étudiant par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Variantes acceptables : 4 « Ik heb pijn aan mijn hoofd » ; 5 « Ben je geslaagd? » ou « Is het gelukt? » ; 6 « In het begin was ik nerveus » (nerveus existe aussi). Transition : « Gisteren was ik op de markt… » — aujourd’hui, on fait les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A de la fiche A1-09 (images du livret : het huisje, het autootje, het zonnetje, het mandje). Le livret cite -pje sans exemple : boom → boompje, raam → raampje, film → filmpje. « het wagentje » vient de « de wagen » : on le retrouve dans « het winkelwagentje » (le caddie, p. 82). Faire répéter : la terminaison -tje se prononce [tje], -je après t/d se prononce souvent [tje] aussi (het kaartje).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B de la fiche (images : de vis, de jongen, de soep). « het meisje » est historiquement le diminutif de « de meid » : c’est pour cela qu’il est en het. Pour parler d’une fille, on dit souvent « ze » (Het meisje? Ze heet Lisa.), même si le mot est neutre. « de jongen → het jongetje » : forme spéciale à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de la fiche A1-09 (illustrations : le journal, la carte, la main, la boîte, le pont, le gâteau). Faire lire chaque mot à voix haute.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Erreurs attendues : « de krantje » (article non changé), « het brugje ». « het handje » s’entend surtout dans « een handje helpen » (donner un coup de main). « het doosje » : une petite boîte (een doosje bonbons).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Ajout explicatif : le diminutif est extrêmement fréquent en néerlandais, surtout au café, au marché et avec les enfants. « Een momentje, alstublieft » (un instant, s’il vous plaît) s’entend partout au téléphone et au guichet. « Een klein brood » existe (un petit pain entier, une petite miche), mais le petit pain du matin, c’est « een broodje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(images de la fiche de/het du livret). À l’oral, par deux : A montre une image et dit le mot de base, B répond avec le diminutif et l’article. Les quatre terminaisons y sont : -je (visje, bootje, tasje, rokje, boekje), -tje (autootje), -pje (raampje), -etje (pannetje).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en het, même ceux qui viennent d’un mot en de. Pluriels : de visjes, de bootjes, de autootjes… Bonus oral : « een klein bootje » (het + een → pas de -e) / « het kleine bootje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 les étudiants donnent le mot AVEC l’article. Demander ensuite : « Wat eet je ’s morgens? Wat drink je ’s avonds? » (inversion après ’s morgens).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mots en het : brood, ei, water, vlees, fruit, bestek. « de frieten » et « de groenten » sont des pluriels (singulier : de friet, de groente) ; « het fruit » est un singulier collectif (= les fruits). « de frieten » est le mot belge (aux Pays-Bas : de patat). Pluriel irrégulier : het ei → de eieren (fiche p. 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 réemploi du vocabulaire Eten &amp; drinken avec les diminutifs. « een frietje » est typiquement belge (aux Pays-Bas : een patatje). « een broodje kaas » = un sandwich au fromage (petit pain garni).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 réemploi du vocabulaire Eten &amp; drinken avec les diminutifs. « een frietje » est typiquement belge (aux Pays-Bas : een patatje). « een broodje kaas » = un sandwich au fromage (petit pain garni).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 les étudiants donnent le mot AVEC l’article. Faire remarquer deux diminutifs dans la liste : het mandje (de mand) et het winkelwagentje (de winkelwagen) → het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mots en het : mandje, winkelwagentje (diminutifs), geld, kasticket, blik. Mots belges : het kasticket (aux Pays-Bas : de kassabon) ; pour le boucher, on dit très souvent « de beenhouwer » en Belgique (« de slager » aux Pays-Bas et dans le livret). « het blikje » = la canette (een blikje 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 réemploi du vocabulaire Boodschappen et des prépositions (fiche p. 65), avec un rappel du thème Gezondheid (de apotheek). Demander ensuite à chacun : « Waar koop jij brood? » — réponse libre et vraie (Ik koop brood in de supermarkt).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Variantes acceptables : 1 « in de bakkerij » ; 4 « bij de supermarkt » ou « in de winkel » ; 5 « in de apotheek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d’ouverture de la section Vocabulaire du livret (« Sarah nomme ce qu’elle voit sur de markt »). Réponses : drie euro tachtig ; twee euro vijftig (per kilo). Gouda jong = du gouda jeune (jonge kaas) ; desembrood = pain au levain ; tulpen = des tulipes (10 stuks = 10 pièces). Après un nombre, « euro » reste au singulier : drie euro (✗ drie euro’s). Faire aussi lire : 11,50 → elf euro vijftig ; 6,50 → zes euro vijftig.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Dialogue ajouté, construit sur l’image de la diapositive précédente. Lecture par le professeur, puis par deux. Calcul : 5,75 (½ kg de kaas) + 3,80 + 5,00 (2 kg d’appels) = 14,55. « Ik had graag… » est la formule polie typiquement belge (OVT de hebben !) ; aux Pays-Bas on dit plutôt « Ik wil graag… » ou « Mag ik… ». En Belgique, « met de kaart » ou « met Bancontact betalen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3 : le marchand peut demander « Cash of met de kaart? » (cash = en liquide, courant en Belgique) ; le client peut aussi demander « Kan ik met de kaart betalen? ». Étape 4 : le marchand donne le ticket : « Hier is uw kasticket. » Écrire au tableau une ardoise de prix (ex. : appels € 2,50/kg · kaas € 11,50/kg · melk € 1,20 · brood € 3,80 · tomaten € 3,00/kg). Le marchand calcule le total à voix haute. Observateurs (groupes de trois) : cochent les critères.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Dialogue et jeu de rôle ajoutés. Emma et Pieter se tutoient entre eux (Dank je wel), mais vouvoient le serveur (alstublieft). « Ik trakteer! » = c’est moi qui offre. Variante : chaque groupe reçoit une carte de café inventée au tableau (koffie € 3 · thee € 2,80 · broodje kaas € 5 · stukje taart € 4 · glaasje water € 2) et le serveur calcule l’addition.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de ticket de sortie : « Voor mij een kopje koffie en voor hem een glaasje water, alstublieft. Hoeveel kost een broodje kaas?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2 · UE2 · Néerlandais en situation · Séance 18</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2 · UE2 · Néerlandais en situation · Séance 18</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2 · UE2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image" Target="../media/image-10-7.jpg"/><Relationship Id="rId8" Type="http://schemas.openxmlformats.org/officeDocument/2006/relationships/image" Target="../media/image-10-8.jp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image" Target="../media/image-11-8.jp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image" Target="../media/image-12-8.jpg"/><Relationship Id="rId9" Type="http://schemas.openxmlformats.org/officeDocument/2006/relationships/image" Target="../media/image-12-9.jpg"/><Relationship Id="rId10" Type="http://schemas.openxmlformats.org/officeDocument/2006/relationships/image" Target="../media/image-12-10.jpg"/><Relationship Id="rId11" Type="http://schemas.openxmlformats.org/officeDocument/2006/relationships/image" Target="../media/image-12-11.jpg"/><Relationship Id="rId12" Type="http://schemas.openxmlformats.org/officeDocument/2006/relationships/image" Target="../media/image-12-12.jpg"/><Relationship Id="rId13" Type="http://schemas.openxmlformats.org/officeDocument/2006/relationships/image" Target="../media/image-12-13.jpg"/><Relationship Id="rId14" Type="http://schemas.openxmlformats.org/officeDocument/2006/relationships/image" Target="../media/image-12-14.jpg"/><Relationship Id="rId15" Type="http://schemas.openxmlformats.org/officeDocument/2006/relationships/image" Target="../media/image-12-15.jpg"/><Relationship Id="rId16" Type="http://schemas.openxmlformats.org/officeDocument/2006/relationships/slideLayout" Target="../slideLayouts/slideLayout2.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image" Target="../media/image-13-9.jpg"/><Relationship Id="rId10" Type="http://schemas.openxmlformats.org/officeDocument/2006/relationships/image" Target="../media/image-13-10.jpg"/><Relationship Id="rId11" Type="http://schemas.openxmlformats.org/officeDocument/2006/relationships/image" Target="../media/image-13-11.jpg"/><Relationship Id="rId12" Type="http://schemas.openxmlformats.org/officeDocument/2006/relationships/image" Target="../media/image-13-12.jpg"/><Relationship Id="rId13" Type="http://schemas.openxmlformats.org/officeDocument/2006/relationships/image" Target="../media/image-13-13.jpg"/><Relationship Id="rId14" Type="http://schemas.openxmlformats.org/officeDocument/2006/relationships/image" Target="../media/image-13-14.jpg"/><Relationship Id="rId15" Type="http://schemas.openxmlformats.org/officeDocument/2006/relationships/image" Target="../media/image-13-15.jpg"/><Relationship Id="rId16" Type="http://schemas.openxmlformats.org/officeDocument/2006/relationships/slideLayout" Target="../slideLayouts/slideLayout2.xml"/><Relationship Id="rId1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image" Target="../media/image-16-6.jpg"/><Relationship Id="rId7" Type="http://schemas.openxmlformats.org/officeDocument/2006/relationships/image" Target="../media/image-16-7.jpg"/><Relationship Id="rId8" Type="http://schemas.openxmlformats.org/officeDocument/2006/relationships/image" Target="../media/image-16-8.jpg"/><Relationship Id="rId9" Type="http://schemas.openxmlformats.org/officeDocument/2006/relationships/image" Target="../media/image-16-9.jpg"/><Relationship Id="rId10" Type="http://schemas.openxmlformats.org/officeDocument/2006/relationships/image" Target="../media/image-16-10.jpg"/><Relationship Id="rId11" Type="http://schemas.openxmlformats.org/officeDocument/2006/relationships/image" Target="../media/image-16-11.jpg"/><Relationship Id="rId12" Type="http://schemas.openxmlformats.org/officeDocument/2006/relationships/image" Target="../media/image-16-12.jpg"/><Relationship Id="rId13" Type="http://schemas.openxmlformats.org/officeDocument/2006/relationships/image" Target="../media/image-16-13.jpg"/><Relationship Id="rId14" Type="http://schemas.openxmlformats.org/officeDocument/2006/relationships/image" Target="../media/image-16-14.jpg"/><Relationship Id="rId15" Type="http://schemas.openxmlformats.org/officeDocument/2006/relationships/image" Target="../media/image-16-15.jpg"/><Relationship Id="rId16" Type="http://schemas.openxmlformats.org/officeDocument/2006/relationships/slideLayout" Target="../slideLayouts/slideLayout2.xml"/><Relationship Id="rId1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image" Target="../media/image-17-6.jpg"/><Relationship Id="rId7" Type="http://schemas.openxmlformats.org/officeDocument/2006/relationships/image" Target="../media/image-17-7.jpg"/><Relationship Id="rId8" Type="http://schemas.openxmlformats.org/officeDocument/2006/relationships/image" Target="../media/image-17-8.jpg"/><Relationship Id="rId9" Type="http://schemas.openxmlformats.org/officeDocument/2006/relationships/image" Target="../media/image-17-9.jpg"/><Relationship Id="rId10" Type="http://schemas.openxmlformats.org/officeDocument/2006/relationships/image" Target="../media/image-17-10.jpg"/><Relationship Id="rId11" Type="http://schemas.openxmlformats.org/officeDocument/2006/relationships/image" Target="../media/image-17-11.jpg"/><Relationship Id="rId12" Type="http://schemas.openxmlformats.org/officeDocument/2006/relationships/image" Target="../media/image-17-12.jpg"/><Relationship Id="rId13" Type="http://schemas.openxmlformats.org/officeDocument/2006/relationships/image" Target="../media/image-17-13.jpg"/><Relationship Id="rId14" Type="http://schemas.openxmlformats.org/officeDocument/2006/relationships/image" Target="../media/image-17-14.jpg"/><Relationship Id="rId15" Type="http://schemas.openxmlformats.org/officeDocument/2006/relationships/image" Target="../media/image-17-15.jpg"/><Relationship Id="rId16" Type="http://schemas.openxmlformats.org/officeDocument/2006/relationships/slideLayout" Target="../slideLayouts/slideLayout2.xml"/><Relationship Id="rId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18 / 19</a:t>
            </a:r>
            <a:endParaRPr lang="en-US" sz="1400" dirty="0"/>
          </a:p>
        </p:txBody>
      </p:sp>
      <p:sp>
        <p:nvSpPr>
          <p:cNvPr id="3"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Op de markt</a:t>
            </a: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Faire ses courses et commander — les diminutifs, manger et boire</a:t>
            </a:r>
            <a:endParaRPr lang="en-US" sz="1800" dirty="0"/>
          </a:p>
          <a:p>
            <a:pPr algn="l" indent="0" marL="0">
              <a:buNone/>
            </a:pPr>
            <a:r>
              <a:rPr lang="en-US" sz="1800" b="1" dirty="0">
                <a:solidFill>
                  <a:schemeClr val="bg2"/>
                </a:solidFill>
              </a:rPr>
              <a:t>Section 3 · Vocabulaire — vie quotidienne</a:t>
            </a:r>
            <a:endParaRPr lang="en-US" sz="1800" dirty="0"/>
          </a:p>
          <a:p>
            <a:pPr algn="l" indent="0" marL="0">
              <a:buNone/>
            </a:pPr>
            <a:r>
              <a:rPr lang="en-US" sz="1800" dirty="0">
                <a:solidFill>
                  <a:schemeClr val="bg2"/>
                </a:solidFill>
              </a:rPr>
              <a:t>Livret p. 66 · 81 · 82</a:t>
            </a:r>
            <a:endParaRPr lang="en-US" sz="1800" dirty="0"/>
          </a:p>
        </p:txBody>
      </p:sp>
      <p:pic>
        <p:nvPicPr>
          <p:cNvPr id="5" name="illustration" descr="Illustration du syllabus">    </p:cNvPr>
          <p:cNvPicPr>
            <a:picLocks noChangeAspect="1"/>
          </p:cNvPicPr>
          <p:nvPr/>
        </p:nvPicPr>
        <p:blipFill>
          <a:blip r:embed="rId1"/>
          <a:stretch>
            <a:fillRect/>
          </a:stretch>
        </p:blipFill>
        <p:spPr>
          <a:xfrm>
            <a:off x="6583680" y="1973387"/>
            <a:ext cx="5120640" cy="2911227"/>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66 · 81 · 82</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600" dirty="0">
                <a:solidFill>
                  <a:schemeClr val="tx1"/>
                </a:solidFill>
              </a:rPr>
              <a:t>Faire mes </a:t>
            </a:r>
            <a:r>
              <a:rPr lang="en-US" sz="1600" b="1" dirty="0">
                <a:solidFill>
                  <a:schemeClr val="tx1"/>
                </a:solidFill>
              </a:rPr>
              <a:t>courses</a:t>
            </a:r>
            <a:r>
              <a:rPr lang="en-US" sz="1600" dirty="0">
                <a:solidFill>
                  <a:schemeClr val="tx1"/>
                </a:solidFill>
              </a:rPr>
              <a:t> au marché ou au magasin, </a:t>
            </a:r>
            <a:r>
              <a:rPr lang="en-US" sz="1600" b="1" dirty="0">
                <a:solidFill>
                  <a:schemeClr val="tx1"/>
                </a:solidFill>
              </a:rPr>
              <a:t>commander</a:t>
            </a:r>
            <a:r>
              <a:rPr lang="en-US" sz="1600" dirty="0">
                <a:solidFill>
                  <a:schemeClr val="tx1"/>
                </a:solidFill>
              </a:rPr>
              <a:t> au café, demander un </a:t>
            </a:r>
            <a:r>
              <a:rPr lang="en-US" sz="1600" b="1" dirty="0">
                <a:solidFill>
                  <a:schemeClr val="tx1"/>
                </a:solidFill>
              </a:rPr>
              <a:t>prix</a:t>
            </a:r>
            <a:r>
              <a:rPr lang="en-US" sz="1600" dirty="0">
                <a:solidFill>
                  <a:schemeClr val="tx1"/>
                </a:solidFill>
              </a:rPr>
              <a:t> — avec des </a:t>
            </a:r>
            <a:r>
              <a:rPr lang="en-US" sz="1600" b="1" dirty="0">
                <a:solidFill>
                  <a:schemeClr val="tx1"/>
                </a:solidFill>
              </a:rPr>
              <a:t>diminutifs</a:t>
            </a:r>
            <a:r>
              <a:rPr lang="en-US" sz="1600" dirty="0">
                <a:solidFill>
                  <a:schemeClr val="tx1"/>
                </a:solidFill>
              </a:rPr>
              <a:t> : </a:t>
            </a:r>
            <a:r>
              <a:rPr lang="en-US" sz="1600" i="1" dirty="0">
                <a:solidFill>
                  <a:schemeClr val="tx1"/>
                </a:solidFill>
              </a:rPr>
              <a:t>een kopje koffie, een broodje</a:t>
            </a:r>
            <a:r>
              <a:rPr lang="en-US" sz="1600" dirty="0">
                <a:solidFill>
                  <a:schemeClr val="tx1"/>
                </a:solidFill>
              </a:rPr>
              <a:t>.</a:t>
            </a:r>
            <a:endParaRPr lang="en-US" sz="16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i="1" dirty="0">
                <a:solidFill>
                  <a:schemeClr val="tx1"/>
                </a:solidFill>
              </a:rPr>
              <a:t>Wat mag het zijn? · Ik had graag… · Anders nog iets? · Hoeveel kost dat? · het huisje · het visje · het kopje</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700" dirty="0">
                <a:solidFill>
                  <a:schemeClr val="tx1"/>
                </a:solidFill>
              </a:rPr>
              <a:t>Former le diminutif · nommer aliments, boissons et magasins avec de / het · dire un prix · jeux de rôle au marché et au café</a:t>
            </a:r>
            <a:endParaRPr lang="en-US" sz="17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28876"/>
            <a:ext cx="384048" cy="384048"/>
          </a:xfrm>
          <a:prstGeom prst="ellipse">
            <a:avLst/>
          </a:prstGeom>
          <a:solidFill>
            <a:schemeClr val="tx2"/>
          </a:solidFill>
          <a:ln/>
        </p:spPr>
      </p:sp>
      <p:sp>
        <p:nvSpPr>
          <p:cNvPr id="24" name="Text 18"/>
          <p:cNvSpPr txBox="1"/>
          <p:nvPr/>
        </p:nvSpPr>
        <p:spPr>
          <a:xfrm>
            <a:off x="6263640" y="19288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492760"/>
          </a:xfrm>
          <a:prstGeom prst="rect">
            <a:avLst/>
          </a:prstGeom>
          <a:noFill/>
          <a:ln/>
        </p:spPr>
        <p:txBody>
          <a:bodyPr wrap="square" lIns="0" tIns="0" rIns="0" bIns="0" rtlCol="0" anchor="ctr"/>
          <a:lstStyle/>
          <a:p>
            <a:pPr indent="0" marL="0">
              <a:buNone/>
            </a:pPr>
            <a:r>
              <a:rPr lang="en-US" sz="1500" dirty="0">
                <a:solidFill>
                  <a:schemeClr val="tx1"/>
                </a:solidFill>
              </a:rPr>
              <a:t>Échauffement : la séance 17</a:t>
            </a:r>
            <a:endParaRPr lang="en-US" sz="1500" dirty="0"/>
          </a:p>
        </p:txBody>
      </p:sp>
      <p:sp>
        <p:nvSpPr>
          <p:cNvPr id="26" name="Text 20"/>
          <p:cNvSpPr txBox="1"/>
          <p:nvPr/>
        </p:nvSpPr>
        <p:spPr>
          <a:xfrm>
            <a:off x="10972800" y="187452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7" name="Shape 21"/>
          <p:cNvSpPr/>
          <p:nvPr/>
        </p:nvSpPr>
        <p:spPr>
          <a:xfrm>
            <a:off x="6263640" y="2421636"/>
            <a:ext cx="384048" cy="384048"/>
          </a:xfrm>
          <a:prstGeom prst="ellipse">
            <a:avLst/>
          </a:prstGeom>
          <a:solidFill>
            <a:schemeClr val="tx2"/>
          </a:solidFill>
          <a:ln/>
        </p:spPr>
      </p:sp>
      <p:sp>
        <p:nvSpPr>
          <p:cNvPr id="28" name="Text 22"/>
          <p:cNvSpPr txBox="1"/>
          <p:nvPr/>
        </p:nvSpPr>
        <p:spPr>
          <a:xfrm>
            <a:off x="6263640" y="24216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367280"/>
            <a:ext cx="4114800" cy="492760"/>
          </a:xfrm>
          <a:prstGeom prst="rect">
            <a:avLst/>
          </a:prstGeom>
          <a:noFill/>
          <a:ln/>
        </p:spPr>
        <p:txBody>
          <a:bodyPr wrap="square" lIns="0" tIns="0" rIns="0" bIns="0" rtlCol="0" anchor="ctr"/>
          <a:lstStyle/>
          <a:p>
            <a:pPr indent="0" marL="0">
              <a:buNone/>
            </a:pPr>
            <a:r>
              <a:rPr lang="en-US" sz="1500" dirty="0">
                <a:solidFill>
                  <a:schemeClr val="tx1"/>
                </a:solidFill>
              </a:rPr>
              <a:t>Verkleinwoorden (p. 66)</a:t>
            </a:r>
            <a:endParaRPr lang="en-US" sz="1500" dirty="0"/>
          </a:p>
        </p:txBody>
      </p:sp>
      <p:sp>
        <p:nvSpPr>
          <p:cNvPr id="30" name="Text 24"/>
          <p:cNvSpPr txBox="1"/>
          <p:nvPr/>
        </p:nvSpPr>
        <p:spPr>
          <a:xfrm>
            <a:off x="10972800" y="236728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1" name="Shape 25"/>
          <p:cNvSpPr/>
          <p:nvPr/>
        </p:nvSpPr>
        <p:spPr>
          <a:xfrm>
            <a:off x="6263640" y="2914396"/>
            <a:ext cx="384048" cy="384048"/>
          </a:xfrm>
          <a:prstGeom prst="ellipse">
            <a:avLst/>
          </a:prstGeom>
          <a:solidFill>
            <a:schemeClr val="tx2"/>
          </a:solidFill>
          <a:ln/>
        </p:spPr>
      </p:sp>
      <p:sp>
        <p:nvSpPr>
          <p:cNvPr id="32" name="Text 26"/>
          <p:cNvSpPr txBox="1"/>
          <p:nvPr/>
        </p:nvSpPr>
        <p:spPr>
          <a:xfrm>
            <a:off x="6263640" y="29143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860040"/>
            <a:ext cx="4114800" cy="492760"/>
          </a:xfrm>
          <a:prstGeom prst="rect">
            <a:avLst/>
          </a:prstGeom>
          <a:noFill/>
          <a:ln/>
        </p:spPr>
        <p:txBody>
          <a:bodyPr wrap="square" lIns="0" tIns="0" rIns="0" bIns="0" rtlCol="0" anchor="ctr"/>
          <a:lstStyle/>
          <a:p>
            <a:pPr indent="0" marL="0">
              <a:buNone/>
            </a:pPr>
            <a:r>
              <a:rPr lang="en-US" sz="1500" dirty="0">
                <a:solidFill>
                  <a:schemeClr val="tx1"/>
                </a:solidFill>
              </a:rPr>
              <a:t>Maak het klein! (bonus)</a:t>
            </a:r>
            <a:endParaRPr lang="en-US" sz="1500" dirty="0"/>
          </a:p>
        </p:txBody>
      </p:sp>
      <p:sp>
        <p:nvSpPr>
          <p:cNvPr id="34" name="Text 28"/>
          <p:cNvSpPr txBox="1"/>
          <p:nvPr/>
        </p:nvSpPr>
        <p:spPr>
          <a:xfrm>
            <a:off x="10972800" y="286004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35" name="Shape 29"/>
          <p:cNvSpPr/>
          <p:nvPr/>
        </p:nvSpPr>
        <p:spPr>
          <a:xfrm>
            <a:off x="6263640" y="3407156"/>
            <a:ext cx="384048" cy="384048"/>
          </a:xfrm>
          <a:prstGeom prst="ellipse">
            <a:avLst/>
          </a:prstGeom>
          <a:solidFill>
            <a:schemeClr val="tx2"/>
          </a:solidFill>
          <a:ln/>
        </p:spPr>
      </p:sp>
      <p:sp>
        <p:nvSpPr>
          <p:cNvPr id="36" name="Text 30"/>
          <p:cNvSpPr txBox="1"/>
          <p:nvPr/>
        </p:nvSpPr>
        <p:spPr>
          <a:xfrm>
            <a:off x="6263640" y="34071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352800"/>
            <a:ext cx="4114800" cy="492760"/>
          </a:xfrm>
          <a:prstGeom prst="rect">
            <a:avLst/>
          </a:prstGeom>
          <a:noFill/>
          <a:ln/>
        </p:spPr>
        <p:txBody>
          <a:bodyPr wrap="square" lIns="0" tIns="0" rIns="0" bIns="0" rtlCol="0" anchor="ctr"/>
          <a:lstStyle/>
          <a:p>
            <a:pPr indent="0" marL="0">
              <a:buNone/>
            </a:pPr>
            <a:r>
              <a:rPr lang="en-US" sz="1500" dirty="0">
                <a:solidFill>
                  <a:schemeClr val="tx1"/>
                </a:solidFill>
              </a:rPr>
              <a:t>Eten &amp; drinken (p. 81) + bonus</a:t>
            </a:r>
            <a:endParaRPr lang="en-US" sz="1500" dirty="0"/>
          </a:p>
        </p:txBody>
      </p:sp>
      <p:sp>
        <p:nvSpPr>
          <p:cNvPr id="38" name="Text 32"/>
          <p:cNvSpPr txBox="1"/>
          <p:nvPr/>
        </p:nvSpPr>
        <p:spPr>
          <a:xfrm>
            <a:off x="10972800" y="335280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39" name="Shape 33"/>
          <p:cNvSpPr/>
          <p:nvPr/>
        </p:nvSpPr>
        <p:spPr>
          <a:xfrm>
            <a:off x="6263640" y="3899916"/>
            <a:ext cx="384048" cy="384048"/>
          </a:xfrm>
          <a:prstGeom prst="ellipse">
            <a:avLst/>
          </a:prstGeom>
          <a:solidFill>
            <a:schemeClr val="tx2"/>
          </a:solidFill>
          <a:ln/>
        </p:spPr>
      </p:sp>
      <p:sp>
        <p:nvSpPr>
          <p:cNvPr id="40" name="Text 34"/>
          <p:cNvSpPr txBox="1"/>
          <p:nvPr/>
        </p:nvSpPr>
        <p:spPr>
          <a:xfrm>
            <a:off x="6263640" y="38999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3845560"/>
            <a:ext cx="4114800" cy="492760"/>
          </a:xfrm>
          <a:prstGeom prst="rect">
            <a:avLst/>
          </a:prstGeom>
          <a:noFill/>
          <a:ln/>
        </p:spPr>
        <p:txBody>
          <a:bodyPr wrap="square" lIns="0" tIns="0" rIns="0" bIns="0" rtlCol="0" anchor="ctr"/>
          <a:lstStyle/>
          <a:p>
            <a:pPr indent="0" marL="0">
              <a:buNone/>
            </a:pPr>
            <a:r>
              <a:rPr lang="en-US" sz="1500" dirty="0">
                <a:solidFill>
                  <a:schemeClr val="tx1"/>
                </a:solidFill>
              </a:rPr>
              <a:t>Boodschappen (p. 82) + bonus</a:t>
            </a:r>
            <a:endParaRPr lang="en-US" sz="1500" dirty="0"/>
          </a:p>
        </p:txBody>
      </p:sp>
      <p:sp>
        <p:nvSpPr>
          <p:cNvPr id="42" name="Text 36"/>
          <p:cNvSpPr txBox="1"/>
          <p:nvPr/>
        </p:nvSpPr>
        <p:spPr>
          <a:xfrm>
            <a:off x="10972800" y="384556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43" name="Shape 37"/>
          <p:cNvSpPr/>
          <p:nvPr/>
        </p:nvSpPr>
        <p:spPr>
          <a:xfrm>
            <a:off x="6263640" y="4392676"/>
            <a:ext cx="384048" cy="384048"/>
          </a:xfrm>
          <a:prstGeom prst="ellipse">
            <a:avLst/>
          </a:prstGeom>
          <a:solidFill>
            <a:schemeClr val="tx2"/>
          </a:solidFill>
          <a:ln/>
        </p:spPr>
      </p:sp>
      <p:sp>
        <p:nvSpPr>
          <p:cNvPr id="44" name="Text 38"/>
          <p:cNvSpPr txBox="1"/>
          <p:nvPr/>
        </p:nvSpPr>
        <p:spPr>
          <a:xfrm>
            <a:off x="6263640" y="43926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338320"/>
            <a:ext cx="4114800" cy="492760"/>
          </a:xfrm>
          <a:prstGeom prst="rect">
            <a:avLst/>
          </a:prstGeom>
          <a:noFill/>
          <a:ln/>
        </p:spPr>
        <p:txBody>
          <a:bodyPr wrap="square" lIns="0" tIns="0" rIns="0" bIns="0" rtlCol="0" anchor="ctr"/>
          <a:lstStyle/>
          <a:p>
            <a:pPr indent="0" marL="0">
              <a:buNone/>
            </a:pPr>
            <a:r>
              <a:rPr lang="en-US" sz="1500" dirty="0">
                <a:solidFill>
                  <a:schemeClr val="tx1"/>
                </a:solidFill>
              </a:rPr>
              <a:t>Sarah op de markt · dialogue</a:t>
            </a:r>
            <a:endParaRPr lang="en-US" sz="1500" dirty="0"/>
          </a:p>
        </p:txBody>
      </p:sp>
      <p:sp>
        <p:nvSpPr>
          <p:cNvPr id="46" name="Text 40"/>
          <p:cNvSpPr txBox="1"/>
          <p:nvPr/>
        </p:nvSpPr>
        <p:spPr>
          <a:xfrm>
            <a:off x="10972800" y="433832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47" name="Shape 41"/>
          <p:cNvSpPr/>
          <p:nvPr/>
        </p:nvSpPr>
        <p:spPr>
          <a:xfrm>
            <a:off x="6263640" y="4885436"/>
            <a:ext cx="384048" cy="384048"/>
          </a:xfrm>
          <a:prstGeom prst="ellipse">
            <a:avLst/>
          </a:prstGeom>
          <a:solidFill>
            <a:schemeClr val="tx2"/>
          </a:solidFill>
          <a:ln/>
        </p:spPr>
      </p:sp>
      <p:sp>
        <p:nvSpPr>
          <p:cNvPr id="48" name="Text 42"/>
          <p:cNvSpPr txBox="1"/>
          <p:nvPr/>
        </p:nvSpPr>
        <p:spPr>
          <a:xfrm>
            <a:off x="6263640" y="48854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4831080"/>
            <a:ext cx="4114800" cy="492760"/>
          </a:xfrm>
          <a:prstGeom prst="rect">
            <a:avLst/>
          </a:prstGeom>
          <a:noFill/>
          <a:ln/>
        </p:spPr>
        <p:txBody>
          <a:bodyPr wrap="square" lIns="0" tIns="0" rIns="0" bIns="0" rtlCol="0" anchor="ctr"/>
          <a:lstStyle/>
          <a:p>
            <a:pPr indent="0" marL="0">
              <a:buNone/>
            </a:pPr>
            <a:r>
              <a:rPr lang="en-US" sz="1500" dirty="0">
                <a:solidFill>
                  <a:schemeClr val="tx1"/>
                </a:solidFill>
              </a:rPr>
              <a:t>Jeu de rôle : au marché</a:t>
            </a:r>
            <a:endParaRPr lang="en-US" sz="1500" dirty="0"/>
          </a:p>
        </p:txBody>
      </p:sp>
      <p:sp>
        <p:nvSpPr>
          <p:cNvPr id="50" name="Text 44"/>
          <p:cNvSpPr txBox="1"/>
          <p:nvPr/>
        </p:nvSpPr>
        <p:spPr>
          <a:xfrm>
            <a:off x="10972800" y="483108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13'</a:t>
            </a:r>
            <a:endParaRPr lang="en-US" sz="1500" dirty="0"/>
          </a:p>
        </p:txBody>
      </p:sp>
      <p:sp>
        <p:nvSpPr>
          <p:cNvPr id="51" name="Shape 45"/>
          <p:cNvSpPr/>
          <p:nvPr/>
        </p:nvSpPr>
        <p:spPr>
          <a:xfrm>
            <a:off x="6263640" y="5378196"/>
            <a:ext cx="384048" cy="384048"/>
          </a:xfrm>
          <a:prstGeom prst="ellipse">
            <a:avLst/>
          </a:prstGeom>
          <a:solidFill>
            <a:schemeClr val="tx2"/>
          </a:solidFill>
          <a:ln/>
        </p:spPr>
      </p:sp>
      <p:sp>
        <p:nvSpPr>
          <p:cNvPr id="52" name="Text 46"/>
          <p:cNvSpPr txBox="1"/>
          <p:nvPr/>
        </p:nvSpPr>
        <p:spPr>
          <a:xfrm>
            <a:off x="6263640" y="53781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323840"/>
            <a:ext cx="4114800" cy="492760"/>
          </a:xfrm>
          <a:prstGeom prst="rect">
            <a:avLst/>
          </a:prstGeom>
          <a:noFill/>
          <a:ln/>
        </p:spPr>
        <p:txBody>
          <a:bodyPr wrap="square" lIns="0" tIns="0" rIns="0" bIns="0" rtlCol="0" anchor="ctr"/>
          <a:lstStyle/>
          <a:p>
            <a:pPr indent="0" marL="0">
              <a:buNone/>
            </a:pPr>
            <a:r>
              <a:rPr lang="en-US" sz="1500" dirty="0">
                <a:solidFill>
                  <a:schemeClr val="tx1"/>
                </a:solidFill>
              </a:rPr>
              <a:t>Jeu de rôle : au café</a:t>
            </a:r>
            <a:endParaRPr lang="en-US" sz="1500" dirty="0"/>
          </a:p>
        </p:txBody>
      </p:sp>
      <p:sp>
        <p:nvSpPr>
          <p:cNvPr id="54" name="Text 48"/>
          <p:cNvSpPr txBox="1"/>
          <p:nvPr/>
        </p:nvSpPr>
        <p:spPr>
          <a:xfrm>
            <a:off x="10972800" y="532384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55" name="Shape 49"/>
          <p:cNvSpPr/>
          <p:nvPr/>
        </p:nvSpPr>
        <p:spPr>
          <a:xfrm>
            <a:off x="6263640" y="5870956"/>
            <a:ext cx="384048" cy="384048"/>
          </a:xfrm>
          <a:prstGeom prst="ellipse">
            <a:avLst/>
          </a:prstGeom>
          <a:solidFill>
            <a:schemeClr val="tx2"/>
          </a:solidFill>
          <a:ln/>
        </p:spPr>
      </p:sp>
      <p:sp>
        <p:nvSpPr>
          <p:cNvPr id="56" name="Text 50"/>
          <p:cNvSpPr txBox="1"/>
          <p:nvPr/>
        </p:nvSpPr>
        <p:spPr>
          <a:xfrm>
            <a:off x="6263640" y="58709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7" name="Text 51"/>
          <p:cNvSpPr txBox="1"/>
          <p:nvPr/>
        </p:nvSpPr>
        <p:spPr>
          <a:xfrm>
            <a:off x="6784848" y="5816600"/>
            <a:ext cx="4114800" cy="492760"/>
          </a:xfrm>
          <a:prstGeom prst="rect">
            <a:avLst/>
          </a:prstGeom>
          <a:noFill/>
          <a:ln/>
        </p:spPr>
        <p:txBody>
          <a:bodyPr wrap="square" lIns="0" tIns="0" rIns="0" bIns="0" rtlCol="0" anchor="ctr"/>
          <a:lstStyle/>
          <a:p>
            <a:pPr indent="0" marL="0">
              <a:buNone/>
            </a:pPr>
            <a:r>
              <a:rPr lang="en-US" sz="1500" dirty="0">
                <a:solidFill>
                  <a:schemeClr val="tx1"/>
                </a:solidFill>
              </a:rPr>
              <a:t>Bilan</a:t>
            </a:r>
            <a:endParaRPr lang="en-US" sz="1500" dirty="0"/>
          </a:p>
        </p:txBody>
      </p:sp>
      <p:sp>
        <p:nvSpPr>
          <p:cNvPr id="58" name="Text 52"/>
          <p:cNvSpPr txBox="1"/>
          <p:nvPr/>
        </p:nvSpPr>
        <p:spPr>
          <a:xfrm>
            <a:off x="10972800" y="581660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la séance 17 en sept phrases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17</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ou traduisez, puis lisez à voix haute.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300" b="1" dirty="0">
                <a:solidFill>
                  <a:schemeClr val="tx2"/>
                </a:solidFill>
              </a:rPr>
              <a:t>1.  </a:t>
            </a:r>
            <a:r>
              <a:rPr lang="en-US" sz="2300" dirty="0">
                <a:solidFill>
                  <a:schemeClr val="tx1"/>
                </a:solidFill>
              </a:rPr>
              <a:t>werken </a:t>
            </a:r>
            <a:r>
              <a:rPr lang="en-US" sz="2300" i="1" dirty="0">
                <a:solidFill>
                  <a:schemeClr val="tx1"/>
                </a:solidFill>
              </a:rPr>
              <a:t>(ik, OVT)</a:t>
            </a:r>
            <a:r>
              <a:rPr lang="en-US" sz="2300" dirty="0">
                <a:solidFill>
                  <a:schemeClr val="tx1"/>
                </a:solidFill>
              </a:rPr>
              <a:t>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2.  </a:t>
            </a:r>
            <a:r>
              <a:rPr lang="en-US" sz="2300" dirty="0">
                <a:solidFill>
                  <a:schemeClr val="tx1"/>
                </a:solidFill>
              </a:rPr>
              <a:t>spelen </a:t>
            </a:r>
            <a:r>
              <a:rPr lang="en-US" sz="2300" i="1" dirty="0">
                <a:solidFill>
                  <a:schemeClr val="tx1"/>
                </a:solidFill>
              </a:rPr>
              <a:t>(wij, OVT)</a:t>
            </a:r>
            <a:r>
              <a:rPr lang="en-US" sz="2300" dirty="0">
                <a:solidFill>
                  <a:schemeClr val="tx1"/>
                </a:solidFill>
              </a:rPr>
              <a:t>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3.  </a:t>
            </a:r>
            <a:r>
              <a:rPr lang="en-US" sz="2300" dirty="0">
                <a:solidFill>
                  <a:schemeClr val="tx1"/>
                </a:solidFill>
              </a:rPr>
              <a:t>zijn · hebben </a:t>
            </a:r>
            <a:r>
              <a:rPr lang="en-US" sz="2300" i="1" dirty="0">
                <a:solidFill>
                  <a:schemeClr val="tx1"/>
                </a:solidFill>
              </a:rPr>
              <a:t>(hij, OVT)</a:t>
            </a:r>
            <a:r>
              <a:rPr lang="en-US" sz="2300" dirty="0">
                <a:solidFill>
                  <a:schemeClr val="tx1"/>
                </a:solidFill>
              </a:rPr>
              <a:t>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4.  </a:t>
            </a:r>
            <a:r>
              <a:rPr lang="en-US" sz="2300" dirty="0">
                <a:solidFill>
                  <a:schemeClr val="tx1"/>
                </a:solidFill>
              </a:rPr>
              <a:t>J’ai mal à la tête.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5.  </a:t>
            </a:r>
            <a:r>
              <a:rPr lang="en-US" sz="2300" dirty="0">
                <a:solidFill>
                  <a:schemeClr val="tx1"/>
                </a:solidFill>
              </a:rPr>
              <a:t>As-tu réussi l’examen ?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6.  </a:t>
            </a:r>
            <a:r>
              <a:rPr lang="en-US" sz="2300" dirty="0">
                <a:solidFill>
                  <a:schemeClr val="tx1"/>
                </a:solidFill>
              </a:rPr>
              <a:t>Au début, j’étais nerveux.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7.  </a:t>
            </a:r>
            <a:r>
              <a:rPr lang="en-US" sz="2300" dirty="0">
                <a:solidFill>
                  <a:schemeClr val="tx1"/>
                </a:solidFill>
              </a:rPr>
              <a:t>l’œil · la jambe · l’hôpital → </a:t>
            </a:r>
            <a:r>
              <a:rPr lang="en-US" sz="2300" dirty="0">
                <a:solidFill>
                  <a:schemeClr val="accent5"/>
                </a:solidFill>
              </a:rPr>
              <a:t>……………………………………</a:t>
            </a:r>
            <a:endParaRPr lang="en-US" sz="2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la séance 17 en sept phrases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17</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ou traduisez, puis lisez à voix haute.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300" b="1" dirty="0">
                <a:solidFill>
                  <a:schemeClr val="tx2"/>
                </a:solidFill>
              </a:rPr>
              <a:t>1.  </a:t>
            </a:r>
            <a:r>
              <a:rPr lang="en-US" sz="2300" dirty="0">
                <a:solidFill>
                  <a:schemeClr val="tx1"/>
                </a:solidFill>
              </a:rPr>
              <a:t>werken </a:t>
            </a:r>
            <a:r>
              <a:rPr lang="en-US" sz="2300" i="1" dirty="0">
                <a:solidFill>
                  <a:schemeClr val="tx1"/>
                </a:solidFill>
              </a:rPr>
              <a:t>(ik, OVT)</a:t>
            </a:r>
            <a:r>
              <a:rPr lang="en-US" sz="2300" dirty="0">
                <a:solidFill>
                  <a:schemeClr val="tx1"/>
                </a:solidFill>
              </a:rPr>
              <a:t> → </a:t>
            </a:r>
            <a:r>
              <a:rPr lang="en-US" sz="2300" b="1" dirty="0">
                <a:solidFill>
                  <a:schemeClr val="accent3"/>
                </a:solidFill>
              </a:rPr>
              <a:t>ik werkte</a:t>
            </a:r>
            <a:endParaRPr lang="en-US" sz="2300" dirty="0"/>
          </a:p>
          <a:p>
            <a:pPr indent="0" marL="0">
              <a:spcAft>
                <a:spcPts val="1000"/>
              </a:spcAft>
              <a:buNone/>
            </a:pPr>
            <a:r>
              <a:rPr lang="en-US" sz="2300" b="1" dirty="0">
                <a:solidFill>
                  <a:schemeClr val="tx2"/>
                </a:solidFill>
              </a:rPr>
              <a:t>2.  </a:t>
            </a:r>
            <a:r>
              <a:rPr lang="en-US" sz="2300" dirty="0">
                <a:solidFill>
                  <a:schemeClr val="tx1"/>
                </a:solidFill>
              </a:rPr>
              <a:t>spelen </a:t>
            </a:r>
            <a:r>
              <a:rPr lang="en-US" sz="2300" i="1" dirty="0">
                <a:solidFill>
                  <a:schemeClr val="tx1"/>
                </a:solidFill>
              </a:rPr>
              <a:t>(wij, OVT)</a:t>
            </a:r>
            <a:r>
              <a:rPr lang="en-US" sz="2300" dirty="0">
                <a:solidFill>
                  <a:schemeClr val="tx1"/>
                </a:solidFill>
              </a:rPr>
              <a:t> → </a:t>
            </a:r>
            <a:r>
              <a:rPr lang="en-US" sz="2300" b="1" dirty="0">
                <a:solidFill>
                  <a:schemeClr val="accent3"/>
                </a:solidFill>
              </a:rPr>
              <a:t>wij speelden</a:t>
            </a:r>
            <a:endParaRPr lang="en-US" sz="2300" dirty="0"/>
          </a:p>
          <a:p>
            <a:pPr indent="0" marL="0">
              <a:spcAft>
                <a:spcPts val="1000"/>
              </a:spcAft>
              <a:buNone/>
            </a:pPr>
            <a:r>
              <a:rPr lang="en-US" sz="2300" b="1" dirty="0">
                <a:solidFill>
                  <a:schemeClr val="tx2"/>
                </a:solidFill>
              </a:rPr>
              <a:t>3.  </a:t>
            </a:r>
            <a:r>
              <a:rPr lang="en-US" sz="2300" dirty="0">
                <a:solidFill>
                  <a:schemeClr val="tx1"/>
                </a:solidFill>
              </a:rPr>
              <a:t>zijn · hebben </a:t>
            </a:r>
            <a:r>
              <a:rPr lang="en-US" sz="2300" i="1" dirty="0">
                <a:solidFill>
                  <a:schemeClr val="tx1"/>
                </a:solidFill>
              </a:rPr>
              <a:t>(hij, OVT)</a:t>
            </a:r>
            <a:r>
              <a:rPr lang="en-US" sz="2300" dirty="0">
                <a:solidFill>
                  <a:schemeClr val="tx1"/>
                </a:solidFill>
              </a:rPr>
              <a:t> → </a:t>
            </a:r>
            <a:r>
              <a:rPr lang="en-US" sz="2300" b="1" dirty="0">
                <a:solidFill>
                  <a:schemeClr val="accent3"/>
                </a:solidFill>
              </a:rPr>
              <a:t>hij was · hij had</a:t>
            </a:r>
            <a:endParaRPr lang="en-US" sz="2300" dirty="0"/>
          </a:p>
          <a:p>
            <a:pPr indent="0" marL="0">
              <a:spcAft>
                <a:spcPts val="1000"/>
              </a:spcAft>
              <a:buNone/>
            </a:pPr>
            <a:r>
              <a:rPr lang="en-US" sz="2300" b="1" dirty="0">
                <a:solidFill>
                  <a:schemeClr val="tx2"/>
                </a:solidFill>
              </a:rPr>
              <a:t>4.  </a:t>
            </a:r>
            <a:r>
              <a:rPr lang="en-US" sz="2300" dirty="0">
                <a:solidFill>
                  <a:schemeClr val="tx1"/>
                </a:solidFill>
              </a:rPr>
              <a:t>J’ai mal à la tête. → </a:t>
            </a:r>
            <a:r>
              <a:rPr lang="en-US" sz="2300" b="1" dirty="0">
                <a:solidFill>
                  <a:schemeClr val="accent3"/>
                </a:solidFill>
              </a:rPr>
              <a:t>Ik heb hoofdpijn.</a:t>
            </a:r>
            <a:endParaRPr lang="en-US" sz="2300" dirty="0"/>
          </a:p>
          <a:p>
            <a:pPr indent="0" marL="0">
              <a:spcAft>
                <a:spcPts val="1000"/>
              </a:spcAft>
              <a:buNone/>
            </a:pPr>
            <a:r>
              <a:rPr lang="en-US" sz="2300" b="1" dirty="0">
                <a:solidFill>
                  <a:schemeClr val="tx2"/>
                </a:solidFill>
              </a:rPr>
              <a:t>5.  </a:t>
            </a:r>
            <a:r>
              <a:rPr lang="en-US" sz="2300" dirty="0">
                <a:solidFill>
                  <a:schemeClr val="tx1"/>
                </a:solidFill>
              </a:rPr>
              <a:t>As-tu réussi l’examen ? → </a:t>
            </a:r>
            <a:r>
              <a:rPr lang="en-US" sz="2300" b="1" dirty="0">
                <a:solidFill>
                  <a:schemeClr val="accent3"/>
                </a:solidFill>
              </a:rPr>
              <a:t>Heb je het examen gehaald?</a:t>
            </a:r>
            <a:endParaRPr lang="en-US" sz="2300" dirty="0"/>
          </a:p>
          <a:p>
            <a:pPr indent="0" marL="0">
              <a:spcAft>
                <a:spcPts val="1000"/>
              </a:spcAft>
              <a:buNone/>
            </a:pPr>
            <a:r>
              <a:rPr lang="en-US" sz="2300" b="1" dirty="0">
                <a:solidFill>
                  <a:schemeClr val="tx2"/>
                </a:solidFill>
              </a:rPr>
              <a:t>6.  </a:t>
            </a:r>
            <a:r>
              <a:rPr lang="en-US" sz="2300" dirty="0">
                <a:solidFill>
                  <a:schemeClr val="tx1"/>
                </a:solidFill>
              </a:rPr>
              <a:t>Au début, j’étais nerveux. → </a:t>
            </a:r>
            <a:r>
              <a:rPr lang="en-US" sz="2300" b="1" dirty="0">
                <a:solidFill>
                  <a:schemeClr val="accent3"/>
                </a:solidFill>
              </a:rPr>
              <a:t>In het begin was ik zenuwachtig.</a:t>
            </a:r>
            <a:endParaRPr lang="en-US" sz="2300" dirty="0"/>
          </a:p>
          <a:p>
            <a:pPr indent="0" marL="0">
              <a:spcAft>
                <a:spcPts val="1000"/>
              </a:spcAft>
              <a:buNone/>
            </a:pPr>
            <a:r>
              <a:rPr lang="en-US" sz="2300" b="1" dirty="0">
                <a:solidFill>
                  <a:schemeClr val="tx2"/>
                </a:solidFill>
              </a:rPr>
              <a:t>7.  </a:t>
            </a:r>
            <a:r>
              <a:rPr lang="en-US" sz="2300" dirty="0">
                <a:solidFill>
                  <a:schemeClr val="tx1"/>
                </a:solidFill>
              </a:rPr>
              <a:t>l’œil · la jambe · l’hôpital → </a:t>
            </a:r>
            <a:r>
              <a:rPr lang="en-US" sz="2300" b="1" dirty="0">
                <a:solidFill>
                  <a:schemeClr val="accent3"/>
                </a:solidFill>
              </a:rPr>
              <a:t>het oog · het been · het ziekenhuis</a:t>
            </a:r>
            <a:endParaRPr lang="en-US" sz="23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’t kofschip : </a:t>
            </a:r>
            <a:r>
              <a:rPr lang="en-US" sz="1800" i="1" dirty="0">
                <a:solidFill>
                  <a:schemeClr val="tx1"/>
                </a:solidFill>
              </a:rPr>
              <a:t>werk</a:t>
            </a:r>
            <a:r>
              <a:rPr lang="en-US" sz="1800" dirty="0">
                <a:solidFill>
                  <a:schemeClr val="tx1"/>
                </a:solidFill>
              </a:rPr>
              <a:t> (k) → </a:t>
            </a:r>
            <a:r>
              <a:rPr lang="en-US" sz="1800" b="1" dirty="0">
                <a:solidFill>
                  <a:schemeClr val="tx1"/>
                </a:solidFill>
              </a:rPr>
              <a:t>-te</a:t>
            </a:r>
            <a:r>
              <a:rPr lang="en-US" sz="1800" dirty="0">
                <a:solidFill>
                  <a:schemeClr val="tx1"/>
                </a:solidFill>
              </a:rPr>
              <a:t> · </a:t>
            </a:r>
            <a:r>
              <a:rPr lang="en-US" sz="1800" i="1" dirty="0">
                <a:solidFill>
                  <a:schemeClr val="tx1"/>
                </a:solidFill>
              </a:rPr>
              <a:t>speel</a:t>
            </a:r>
            <a:r>
              <a:rPr lang="en-US" sz="1800" dirty="0">
                <a:solidFill>
                  <a:schemeClr val="tx1"/>
                </a:solidFill>
              </a:rPr>
              <a:t> (l) → </a:t>
            </a:r>
            <a:r>
              <a:rPr lang="en-US" sz="1800" b="1" dirty="0">
                <a:solidFill>
                  <a:schemeClr val="tx1"/>
                </a:solidFill>
              </a:rPr>
              <a:t>-de</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Pluriel : + </a:t>
            </a:r>
            <a:r>
              <a:rPr lang="en-US" sz="1800" b="1" dirty="0">
                <a:solidFill>
                  <a:schemeClr val="tx1"/>
                </a:solidFill>
              </a:rPr>
              <a:t>n</a:t>
            </a:r>
            <a:r>
              <a:rPr lang="en-US" sz="1800" dirty="0">
                <a:solidFill>
                  <a:schemeClr val="tx1"/>
                </a:solidFill>
              </a:rPr>
              <a:t> (</a:t>
            </a:r>
            <a:r>
              <a:rPr lang="en-US" sz="1800" i="1" dirty="0">
                <a:solidFill>
                  <a:schemeClr val="tx1"/>
                </a:solidFill>
              </a:rPr>
              <a:t>speelden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Trois mots en </a:t>
            </a:r>
            <a:r>
              <a:rPr lang="en-US" sz="1800" b="1" dirty="0">
                <a:solidFill>
                  <a:schemeClr val="accent4"/>
                </a:solidFill>
              </a:rPr>
              <a:t>het</a:t>
            </a:r>
            <a:r>
              <a:rPr lang="en-US" sz="1800" dirty="0">
                <a:solidFill>
                  <a:schemeClr val="tx1"/>
                </a:solidFill>
              </a:rPr>
              <a:t>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Verkleinwoorden : quatre terminaisons</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66</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On ajoute </a:t>
            </a:r>
            <a:r>
              <a:rPr lang="en-US" sz="1800" b="1" dirty="0">
                <a:solidFill>
                  <a:schemeClr val="tx1"/>
                </a:solidFill>
              </a:rPr>
              <a:t>-je</a:t>
            </a:r>
            <a:r>
              <a:rPr lang="en-US" sz="1800" dirty="0">
                <a:solidFill>
                  <a:schemeClr val="tx1"/>
                </a:solidFill>
              </a:rPr>
              <a:t> au nom (ou </a:t>
            </a:r>
            <a:r>
              <a:rPr lang="en-US" sz="1800" b="1" dirty="0">
                <a:solidFill>
                  <a:schemeClr val="tx1"/>
                </a:solidFill>
              </a:rPr>
              <a:t>-tje, -pje, -etje</a:t>
            </a:r>
            <a:r>
              <a:rPr lang="en-US" sz="1800" dirty="0">
                <a:solidFill>
                  <a:schemeClr val="tx1"/>
                </a:solidFill>
              </a:rPr>
              <a:t>, pour que le mot reste facile à prononcer).</a:t>
            </a:r>
            <a:endParaRPr lang="en-US" sz="1800" dirty="0"/>
          </a:p>
        </p:txBody>
      </p:sp>
      <p:sp>
        <p:nvSpPr>
          <p:cNvPr id="7" name="Shape 4"/>
          <p:cNvSpPr/>
          <p:nvPr/>
        </p:nvSpPr>
        <p:spPr>
          <a:xfrm>
            <a:off x="548640" y="1947672"/>
            <a:ext cx="2567178" cy="345643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8" name="Shape 5"/>
          <p:cNvSpPr/>
          <p:nvPr/>
        </p:nvSpPr>
        <p:spPr>
          <a:xfrm>
            <a:off x="548640" y="1947672"/>
            <a:ext cx="2567178" cy="502920"/>
          </a:xfrm>
          <a:prstGeom prst="roundRect">
            <a:avLst>
              <a:gd name="adj" fmla="val 18182"/>
            </a:avLst>
          </a:prstGeom>
          <a:solidFill>
            <a:schemeClr val="accent2"/>
          </a:solidFill>
          <a:ln/>
        </p:spPr>
      </p:sp>
      <p:sp>
        <p:nvSpPr>
          <p:cNvPr id="9" name="Shape 6"/>
          <p:cNvSpPr/>
          <p:nvPr/>
        </p:nvSpPr>
        <p:spPr>
          <a:xfrm>
            <a:off x="548640" y="2267712"/>
            <a:ext cx="2567178" cy="182880"/>
          </a:xfrm>
          <a:prstGeom prst="rect">
            <a:avLst/>
          </a:prstGeom>
          <a:solidFill>
            <a:schemeClr val="accent2"/>
          </a:solidFill>
          <a:ln w="12700">
            <a:solidFill>
              <a:schemeClr val="accent2"/>
            </a:solidFill>
            <a:prstDash val="solid"/>
          </a:ln>
        </p:spPr>
      </p:sp>
      <p:sp>
        <p:nvSpPr>
          <p:cNvPr id="10" name="Text 7"/>
          <p:cNvSpPr txBox="1"/>
          <p:nvPr/>
        </p:nvSpPr>
        <p:spPr>
          <a:xfrm>
            <a:off x="731520" y="1947672"/>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-JE</a:t>
            </a:r>
            <a:endParaRPr lang="en-US" sz="1500" dirty="0"/>
          </a:p>
        </p:txBody>
      </p:sp>
      <p:sp>
        <p:nvSpPr>
          <p:cNvPr id="11" name="Text 8"/>
          <p:cNvSpPr txBox="1"/>
          <p:nvPr/>
        </p:nvSpPr>
        <p:spPr>
          <a:xfrm>
            <a:off x="731520" y="2551176"/>
            <a:ext cx="2201418" cy="405384"/>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het huis</a:t>
            </a:r>
            <a:r>
              <a:rPr lang="en-US" sz="2400" b="1" dirty="0">
                <a:solidFill>
                  <a:schemeClr val="accent6"/>
                </a:solidFill>
                <a:latin typeface="+mj-lt" pitchFamily="34" charset="0"/>
                <a:ea typeface="+mj-lt" pitchFamily="34" charset="-122"/>
                <a:cs typeface="+mj-lt" pitchFamily="34" charset="-120"/>
              </a:rPr>
              <a:t>je</a:t>
            </a:r>
            <a:endParaRPr lang="en-US" sz="2400" dirty="0"/>
          </a:p>
        </p:txBody>
      </p:sp>
      <p:sp>
        <p:nvSpPr>
          <p:cNvPr id="12" name="Text 9"/>
          <p:cNvSpPr txBox="1"/>
          <p:nvPr/>
        </p:nvSpPr>
        <p:spPr>
          <a:xfrm>
            <a:off x="731520" y="3093720"/>
            <a:ext cx="2201418" cy="2200656"/>
          </a:xfrm>
          <a:prstGeom prst="rect">
            <a:avLst/>
          </a:prstGeom>
          <a:noFill/>
          <a:ln/>
        </p:spPr>
        <p:txBody>
          <a:bodyPr wrap="square" lIns="0" tIns="0" rIns="0" bIns="0" rtlCol="0" anchor="t"/>
          <a:lstStyle/>
          <a:p>
            <a:pPr marL="177800" indent="-177800">
              <a:spcAft>
                <a:spcPts val="600"/>
              </a:spcAft>
              <a:buSzPct val="100000"/>
              <a:buChar char="•"/>
            </a:pPr>
            <a:r>
              <a:rPr lang="en-US" sz="1700" b="1" dirty="0">
                <a:solidFill>
                  <a:schemeClr val="tx1"/>
                </a:solidFill>
              </a:rPr>
              <a:t>Cas général</a:t>
            </a:r>
            <a:r>
              <a:rPr lang="en-US" sz="1700" dirty="0">
                <a:solidFill>
                  <a:schemeClr val="tx1"/>
                </a:solidFill>
              </a:rPr>
              <a:t> : après k, p, s, t, d, f, ch…</a:t>
            </a:r>
            <a:endParaRPr lang="en-US" sz="1700" dirty="0"/>
          </a:p>
          <a:p>
            <a:pPr marL="177800" indent="-177800">
              <a:spcAft>
                <a:spcPts val="600"/>
              </a:spcAft>
              <a:buSzPct val="100000"/>
              <a:buChar char="•"/>
            </a:pPr>
            <a:r>
              <a:rPr lang="en-US" sz="1700" i="1" dirty="0">
                <a:solidFill>
                  <a:schemeClr val="tx1"/>
                </a:solidFill>
              </a:rPr>
              <a:t>het boekje · het tasje</a:t>
            </a:r>
            <a:endParaRPr lang="en-US" sz="1700" dirty="0"/>
          </a:p>
          <a:p>
            <a:pPr marL="177800" indent="-177800">
              <a:spcAft>
                <a:spcPts val="600"/>
              </a:spcAft>
              <a:buSzPct val="100000"/>
              <a:buChar char="•"/>
            </a:pPr>
            <a:r>
              <a:rPr lang="en-US" sz="1700" i="1" dirty="0">
                <a:solidFill>
                  <a:schemeClr val="tx1"/>
                </a:solidFill>
              </a:rPr>
              <a:t>de mand → het mandje</a:t>
            </a:r>
            <a:endParaRPr lang="en-US" sz="1700" dirty="0"/>
          </a:p>
        </p:txBody>
      </p:sp>
      <p:sp>
        <p:nvSpPr>
          <p:cNvPr id="13" name="Shape 10"/>
          <p:cNvSpPr/>
          <p:nvPr/>
        </p:nvSpPr>
        <p:spPr>
          <a:xfrm>
            <a:off x="3390138" y="1947672"/>
            <a:ext cx="2567178" cy="345643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4" name="Shape 11"/>
          <p:cNvSpPr/>
          <p:nvPr/>
        </p:nvSpPr>
        <p:spPr>
          <a:xfrm>
            <a:off x="3390138" y="1947672"/>
            <a:ext cx="2567178" cy="502920"/>
          </a:xfrm>
          <a:prstGeom prst="roundRect">
            <a:avLst>
              <a:gd name="adj" fmla="val 18182"/>
            </a:avLst>
          </a:prstGeom>
          <a:solidFill>
            <a:schemeClr val="accent3"/>
          </a:solidFill>
          <a:ln/>
        </p:spPr>
      </p:sp>
      <p:sp>
        <p:nvSpPr>
          <p:cNvPr id="15" name="Shape 12"/>
          <p:cNvSpPr/>
          <p:nvPr/>
        </p:nvSpPr>
        <p:spPr>
          <a:xfrm>
            <a:off x="3390138" y="2267712"/>
            <a:ext cx="2567178" cy="182880"/>
          </a:xfrm>
          <a:prstGeom prst="rect">
            <a:avLst/>
          </a:prstGeom>
          <a:solidFill>
            <a:schemeClr val="accent3"/>
          </a:solidFill>
          <a:ln w="12700">
            <a:solidFill>
              <a:schemeClr val="accent3"/>
            </a:solidFill>
            <a:prstDash val="solid"/>
          </a:ln>
        </p:spPr>
      </p:sp>
      <p:sp>
        <p:nvSpPr>
          <p:cNvPr id="16" name="Text 13"/>
          <p:cNvSpPr txBox="1"/>
          <p:nvPr/>
        </p:nvSpPr>
        <p:spPr>
          <a:xfrm>
            <a:off x="3573018" y="1947672"/>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-TJE</a:t>
            </a:r>
            <a:endParaRPr lang="en-US" sz="1500" dirty="0"/>
          </a:p>
        </p:txBody>
      </p:sp>
      <p:sp>
        <p:nvSpPr>
          <p:cNvPr id="17" name="Text 14"/>
          <p:cNvSpPr txBox="1"/>
          <p:nvPr/>
        </p:nvSpPr>
        <p:spPr>
          <a:xfrm>
            <a:off x="3573018" y="2551176"/>
            <a:ext cx="2201418" cy="405384"/>
          </a:xfrm>
          <a:prstGeom prst="rect">
            <a:avLst/>
          </a:prstGeom>
          <a:noFill/>
          <a:ln/>
        </p:spPr>
        <p:txBody>
          <a:bodyPr wrap="square" lIns="0" tIns="0" rIns="0" bIns="0" rtlCol="0" anchor="t"/>
          <a:lstStyle/>
          <a:p>
            <a:pPr indent="0" marL="0">
              <a:buNone/>
            </a:pPr>
            <a:r>
              <a:rPr lang="en-US" sz="2400" b="1" dirty="0">
                <a:solidFill>
                  <a:schemeClr val="accent3"/>
                </a:solidFill>
                <a:latin typeface="+mj-lt" pitchFamily="34" charset="0"/>
                <a:ea typeface="+mj-lt" pitchFamily="34" charset="-122"/>
                <a:cs typeface="+mj-lt" pitchFamily="34" charset="-120"/>
              </a:rPr>
              <a:t>het auto</a:t>
            </a:r>
            <a:r>
              <a:rPr lang="en-US" sz="2400" b="1" dirty="0">
                <a:solidFill>
                  <a:schemeClr val="accent6"/>
                </a:solidFill>
                <a:latin typeface="+mj-lt" pitchFamily="34" charset="0"/>
                <a:ea typeface="+mj-lt" pitchFamily="34" charset="-122"/>
                <a:cs typeface="+mj-lt" pitchFamily="34" charset="-120"/>
              </a:rPr>
              <a:t>otje</a:t>
            </a:r>
            <a:endParaRPr lang="en-US" sz="2400" dirty="0"/>
          </a:p>
        </p:txBody>
      </p:sp>
      <p:sp>
        <p:nvSpPr>
          <p:cNvPr id="18" name="Text 15"/>
          <p:cNvSpPr txBox="1"/>
          <p:nvPr/>
        </p:nvSpPr>
        <p:spPr>
          <a:xfrm>
            <a:off x="3573018" y="3093720"/>
            <a:ext cx="2201418" cy="2200656"/>
          </a:xfrm>
          <a:prstGeom prst="rect">
            <a:avLst/>
          </a:prstGeom>
          <a:noFill/>
          <a:ln/>
        </p:spPr>
        <p:txBody>
          <a:bodyPr wrap="square" lIns="0" tIns="0" rIns="0" bIns="0" rtlCol="0" anchor="t"/>
          <a:lstStyle/>
          <a:p>
            <a:pPr marL="177800" indent="-177800">
              <a:spcAft>
                <a:spcPts val="600"/>
              </a:spcAft>
              <a:buSzPct val="100000"/>
              <a:buChar char="•"/>
            </a:pPr>
            <a:r>
              <a:rPr lang="en-US" sz="1700" dirty="0">
                <a:solidFill>
                  <a:schemeClr val="tx1"/>
                </a:solidFill>
              </a:rPr>
              <a:t>Après une </a:t>
            </a:r>
            <a:r>
              <a:rPr lang="en-US" sz="1700" b="1" dirty="0">
                <a:solidFill>
                  <a:schemeClr val="tx1"/>
                </a:solidFill>
              </a:rPr>
              <a:t>voyelle</a:t>
            </a:r>
            <a:r>
              <a:rPr lang="en-US" sz="1700" dirty="0">
                <a:solidFill>
                  <a:schemeClr val="tx1"/>
                </a:solidFill>
              </a:rPr>
              <a:t> (a, o, u doublés) : </a:t>
            </a:r>
            <a:r>
              <a:rPr lang="en-US" sz="1700" i="1" dirty="0">
                <a:solidFill>
                  <a:schemeClr val="tx1"/>
                </a:solidFill>
              </a:rPr>
              <a:t>het autootje · het eitje</a:t>
            </a:r>
            <a:endParaRPr lang="en-US" sz="1700" dirty="0"/>
          </a:p>
          <a:p>
            <a:pPr marL="177800" indent="-177800">
              <a:spcAft>
                <a:spcPts val="600"/>
              </a:spcAft>
              <a:buSzPct val="100000"/>
              <a:buChar char="•"/>
            </a:pPr>
            <a:r>
              <a:rPr lang="en-US" sz="1700" dirty="0">
                <a:solidFill>
                  <a:schemeClr val="tx1"/>
                </a:solidFill>
              </a:rPr>
              <a:t>Voyelle longue + </a:t>
            </a:r>
            <a:r>
              <a:rPr lang="en-US" sz="1700" b="1" dirty="0">
                <a:solidFill>
                  <a:schemeClr val="tx1"/>
                </a:solidFill>
              </a:rPr>
              <a:t>l, n, r</a:t>
            </a:r>
            <a:r>
              <a:rPr lang="en-US" sz="1700" dirty="0">
                <a:solidFill>
                  <a:schemeClr val="tx1"/>
                </a:solidFill>
              </a:rPr>
              <a:t> : </a:t>
            </a:r>
            <a:r>
              <a:rPr lang="en-US" sz="1700" i="1" dirty="0">
                <a:solidFill>
                  <a:schemeClr val="tx1"/>
                </a:solidFill>
              </a:rPr>
              <a:t>het stoeltje</a:t>
            </a:r>
            <a:endParaRPr lang="en-US" sz="1700" dirty="0"/>
          </a:p>
          <a:p>
            <a:pPr marL="177800" indent="-177800">
              <a:spcAft>
                <a:spcPts val="600"/>
              </a:spcAft>
              <a:buSzPct val="100000"/>
              <a:buChar char="•"/>
            </a:pPr>
            <a:r>
              <a:rPr lang="en-US" sz="1700" dirty="0">
                <a:solidFill>
                  <a:schemeClr val="tx1"/>
                </a:solidFill>
              </a:rPr>
              <a:t>Après </a:t>
            </a:r>
            <a:r>
              <a:rPr lang="en-US" sz="1700" b="1" dirty="0">
                <a:solidFill>
                  <a:schemeClr val="tx1"/>
                </a:solidFill>
              </a:rPr>
              <a:t>-el, -en, -er</a:t>
            </a:r>
            <a:r>
              <a:rPr lang="en-US" sz="1700" dirty="0">
                <a:solidFill>
                  <a:schemeClr val="tx1"/>
                </a:solidFill>
              </a:rPr>
              <a:t> : </a:t>
            </a:r>
            <a:r>
              <a:rPr lang="en-US" sz="1700" i="1" dirty="0">
                <a:solidFill>
                  <a:schemeClr val="tx1"/>
                </a:solidFill>
              </a:rPr>
              <a:t>het wagentje</a:t>
            </a:r>
            <a:endParaRPr lang="en-US" sz="1700" dirty="0"/>
          </a:p>
        </p:txBody>
      </p:sp>
      <p:sp>
        <p:nvSpPr>
          <p:cNvPr id="19" name="Shape 16"/>
          <p:cNvSpPr/>
          <p:nvPr/>
        </p:nvSpPr>
        <p:spPr>
          <a:xfrm>
            <a:off x="6231636" y="1947672"/>
            <a:ext cx="2567178" cy="345643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0" name="Shape 17"/>
          <p:cNvSpPr/>
          <p:nvPr/>
        </p:nvSpPr>
        <p:spPr>
          <a:xfrm>
            <a:off x="6231636" y="1947672"/>
            <a:ext cx="2567178" cy="502920"/>
          </a:xfrm>
          <a:prstGeom prst="roundRect">
            <a:avLst>
              <a:gd name="adj" fmla="val 18182"/>
            </a:avLst>
          </a:prstGeom>
          <a:solidFill>
            <a:srgbClr val="6E4A9E"/>
          </a:solidFill>
          <a:ln/>
        </p:spPr>
      </p:sp>
      <p:sp>
        <p:nvSpPr>
          <p:cNvPr id="21" name="Shape 18"/>
          <p:cNvSpPr/>
          <p:nvPr/>
        </p:nvSpPr>
        <p:spPr>
          <a:xfrm>
            <a:off x="6231636" y="2267712"/>
            <a:ext cx="2567178" cy="182880"/>
          </a:xfrm>
          <a:prstGeom prst="rect">
            <a:avLst/>
          </a:prstGeom>
          <a:solidFill>
            <a:srgbClr val="6E4A9E"/>
          </a:solidFill>
          <a:ln w="12700">
            <a:solidFill>
              <a:srgbClr val="6E4A9E"/>
            </a:solidFill>
            <a:prstDash val="solid"/>
          </a:ln>
        </p:spPr>
      </p:sp>
      <p:sp>
        <p:nvSpPr>
          <p:cNvPr id="22" name="Text 19"/>
          <p:cNvSpPr txBox="1"/>
          <p:nvPr/>
        </p:nvSpPr>
        <p:spPr>
          <a:xfrm>
            <a:off x="6414516" y="1947672"/>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-PJE</a:t>
            </a:r>
            <a:endParaRPr lang="en-US" sz="1500" dirty="0"/>
          </a:p>
        </p:txBody>
      </p:sp>
      <p:sp>
        <p:nvSpPr>
          <p:cNvPr id="23" name="Text 20"/>
          <p:cNvSpPr txBox="1"/>
          <p:nvPr/>
        </p:nvSpPr>
        <p:spPr>
          <a:xfrm>
            <a:off x="6414516" y="2551176"/>
            <a:ext cx="2201418" cy="405384"/>
          </a:xfrm>
          <a:prstGeom prst="rect">
            <a:avLst/>
          </a:prstGeom>
          <a:noFill/>
          <a:ln/>
        </p:spPr>
        <p:txBody>
          <a:bodyPr wrap="square" lIns="0" tIns="0" rIns="0" bIns="0" rtlCol="0" anchor="t"/>
          <a:lstStyle/>
          <a:p>
            <a:pPr indent="0" marL="0">
              <a:buNone/>
            </a:pPr>
            <a:r>
              <a:rPr lang="en-US" sz="2400" b="1" dirty="0">
                <a:solidFill>
                  <a:srgbClr val="6E4A9E"/>
                </a:solidFill>
                <a:latin typeface="+mj-lt" pitchFamily="34" charset="0"/>
                <a:ea typeface="+mj-lt" pitchFamily="34" charset="-122"/>
                <a:cs typeface="+mj-lt" pitchFamily="34" charset="-120"/>
              </a:rPr>
              <a:t>het boom</a:t>
            </a:r>
            <a:r>
              <a:rPr lang="en-US" sz="2400" b="1" dirty="0">
                <a:solidFill>
                  <a:schemeClr val="accent6"/>
                </a:solidFill>
                <a:latin typeface="+mj-lt" pitchFamily="34" charset="0"/>
                <a:ea typeface="+mj-lt" pitchFamily="34" charset="-122"/>
                <a:cs typeface="+mj-lt" pitchFamily="34" charset="-120"/>
              </a:rPr>
              <a:t>pje</a:t>
            </a:r>
            <a:endParaRPr lang="en-US" sz="2400" dirty="0"/>
          </a:p>
        </p:txBody>
      </p:sp>
      <p:sp>
        <p:nvSpPr>
          <p:cNvPr id="24" name="Text 21"/>
          <p:cNvSpPr txBox="1"/>
          <p:nvPr/>
        </p:nvSpPr>
        <p:spPr>
          <a:xfrm>
            <a:off x="6414516" y="3093720"/>
            <a:ext cx="2201418" cy="2200656"/>
          </a:xfrm>
          <a:prstGeom prst="rect">
            <a:avLst/>
          </a:prstGeom>
          <a:noFill/>
          <a:ln/>
        </p:spPr>
        <p:txBody>
          <a:bodyPr wrap="square" lIns="0" tIns="0" rIns="0" bIns="0" rtlCol="0" anchor="t"/>
          <a:lstStyle/>
          <a:p>
            <a:pPr marL="177800" indent="-177800">
              <a:spcAft>
                <a:spcPts val="600"/>
              </a:spcAft>
              <a:buSzPct val="100000"/>
              <a:buChar char="•"/>
            </a:pPr>
            <a:r>
              <a:rPr lang="en-US" sz="1700" dirty="0">
                <a:solidFill>
                  <a:schemeClr val="tx1"/>
                </a:solidFill>
              </a:rPr>
              <a:t>Après </a:t>
            </a:r>
            <a:r>
              <a:rPr lang="en-US" sz="1700" b="1" dirty="0">
                <a:solidFill>
                  <a:schemeClr val="tx1"/>
                </a:solidFill>
              </a:rPr>
              <a:t>m</a:t>
            </a:r>
            <a:r>
              <a:rPr lang="en-US" sz="1700" dirty="0">
                <a:solidFill>
                  <a:schemeClr val="tx1"/>
                </a:solidFill>
              </a:rPr>
              <a:t> derrière une voyelle longue : </a:t>
            </a:r>
            <a:r>
              <a:rPr lang="en-US" sz="1700" i="1" dirty="0">
                <a:solidFill>
                  <a:schemeClr val="tx1"/>
                </a:solidFill>
              </a:rPr>
              <a:t>het raampje</a:t>
            </a:r>
            <a:endParaRPr lang="en-US" sz="1700" dirty="0"/>
          </a:p>
          <a:p>
            <a:pPr marL="177800" indent="-177800">
              <a:spcAft>
                <a:spcPts val="600"/>
              </a:spcAft>
              <a:buSzPct val="100000"/>
              <a:buChar char="•"/>
            </a:pPr>
            <a:r>
              <a:rPr lang="en-US" sz="1700" dirty="0">
                <a:solidFill>
                  <a:schemeClr val="tx1"/>
                </a:solidFill>
              </a:rPr>
              <a:t>Après </a:t>
            </a:r>
            <a:r>
              <a:rPr lang="en-US" sz="1700" b="1" dirty="0">
                <a:solidFill>
                  <a:schemeClr val="tx1"/>
                </a:solidFill>
              </a:rPr>
              <a:t>lm, rm</a:t>
            </a:r>
            <a:r>
              <a:rPr lang="en-US" sz="1700" dirty="0">
                <a:solidFill>
                  <a:schemeClr val="tx1"/>
                </a:solidFill>
              </a:rPr>
              <a:t> : </a:t>
            </a:r>
            <a:r>
              <a:rPr lang="en-US" sz="1700" i="1" dirty="0">
                <a:solidFill>
                  <a:schemeClr val="tx1"/>
                </a:solidFill>
              </a:rPr>
              <a:t>het filmpje · het armpje</a:t>
            </a:r>
            <a:endParaRPr lang="en-US" sz="1700" dirty="0"/>
          </a:p>
        </p:txBody>
      </p:sp>
      <p:sp>
        <p:nvSpPr>
          <p:cNvPr id="25" name="Shape 22"/>
          <p:cNvSpPr/>
          <p:nvPr/>
        </p:nvSpPr>
        <p:spPr>
          <a:xfrm>
            <a:off x="9073134" y="1947672"/>
            <a:ext cx="2567178" cy="345643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6" name="Shape 23"/>
          <p:cNvSpPr/>
          <p:nvPr/>
        </p:nvSpPr>
        <p:spPr>
          <a:xfrm>
            <a:off x="9073134" y="1947672"/>
            <a:ext cx="2567178" cy="502920"/>
          </a:xfrm>
          <a:prstGeom prst="roundRect">
            <a:avLst>
              <a:gd name="adj" fmla="val 18182"/>
            </a:avLst>
          </a:prstGeom>
          <a:solidFill>
            <a:schemeClr val="accent1"/>
          </a:solidFill>
          <a:ln/>
        </p:spPr>
      </p:sp>
      <p:sp>
        <p:nvSpPr>
          <p:cNvPr id="27" name="Shape 24"/>
          <p:cNvSpPr/>
          <p:nvPr/>
        </p:nvSpPr>
        <p:spPr>
          <a:xfrm>
            <a:off x="9073134" y="2267712"/>
            <a:ext cx="2567178" cy="182880"/>
          </a:xfrm>
          <a:prstGeom prst="rect">
            <a:avLst/>
          </a:prstGeom>
          <a:solidFill>
            <a:schemeClr val="accent1"/>
          </a:solidFill>
          <a:ln w="12700">
            <a:solidFill>
              <a:schemeClr val="accent1"/>
            </a:solidFill>
            <a:prstDash val="solid"/>
          </a:ln>
        </p:spPr>
      </p:sp>
      <p:sp>
        <p:nvSpPr>
          <p:cNvPr id="28" name="Text 25"/>
          <p:cNvSpPr txBox="1"/>
          <p:nvPr/>
        </p:nvSpPr>
        <p:spPr>
          <a:xfrm>
            <a:off x="9256014" y="1947672"/>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-ETJE</a:t>
            </a:r>
            <a:endParaRPr lang="en-US" sz="1500" dirty="0"/>
          </a:p>
        </p:txBody>
      </p:sp>
      <p:sp>
        <p:nvSpPr>
          <p:cNvPr id="29" name="Text 26"/>
          <p:cNvSpPr txBox="1"/>
          <p:nvPr/>
        </p:nvSpPr>
        <p:spPr>
          <a:xfrm>
            <a:off x="9256014" y="2551176"/>
            <a:ext cx="2201418" cy="405384"/>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het zon</a:t>
            </a:r>
            <a:r>
              <a:rPr lang="en-US" sz="2400" b="1" dirty="0">
                <a:solidFill>
                  <a:schemeClr val="accent6"/>
                </a:solidFill>
                <a:latin typeface="+mj-lt" pitchFamily="34" charset="0"/>
                <a:ea typeface="+mj-lt" pitchFamily="34" charset="-122"/>
                <a:cs typeface="+mj-lt" pitchFamily="34" charset="-120"/>
              </a:rPr>
              <a:t>netje</a:t>
            </a:r>
            <a:endParaRPr lang="en-US" sz="2400" dirty="0"/>
          </a:p>
        </p:txBody>
      </p:sp>
      <p:sp>
        <p:nvSpPr>
          <p:cNvPr id="30" name="Text 27"/>
          <p:cNvSpPr txBox="1"/>
          <p:nvPr/>
        </p:nvSpPr>
        <p:spPr>
          <a:xfrm>
            <a:off x="9256014" y="3093720"/>
            <a:ext cx="2201418" cy="2200656"/>
          </a:xfrm>
          <a:prstGeom prst="rect">
            <a:avLst/>
          </a:prstGeom>
          <a:noFill/>
          <a:ln/>
        </p:spPr>
        <p:txBody>
          <a:bodyPr wrap="square" lIns="0" tIns="0" rIns="0" bIns="0" rtlCol="0" anchor="t"/>
          <a:lstStyle/>
          <a:p>
            <a:pPr marL="177800" indent="-177800">
              <a:spcAft>
                <a:spcPts val="600"/>
              </a:spcAft>
              <a:buSzPct val="100000"/>
              <a:buChar char="•"/>
            </a:pPr>
            <a:r>
              <a:rPr lang="en-US" sz="1700" b="1" dirty="0">
                <a:solidFill>
                  <a:schemeClr val="tx1"/>
                </a:solidFill>
              </a:rPr>
              <a:t>Voyelle courte</a:t>
            </a:r>
            <a:r>
              <a:rPr lang="en-US" sz="1700" dirty="0">
                <a:solidFill>
                  <a:schemeClr val="tx1"/>
                </a:solidFill>
              </a:rPr>
              <a:t> + l, m, n, r, ng : la consonne </a:t>
            </a:r>
            <a:r>
              <a:rPr lang="en-US" sz="1700" b="1" dirty="0">
                <a:solidFill>
                  <a:schemeClr val="tx1"/>
                </a:solidFill>
              </a:rPr>
              <a:t>double</a:t>
            </a:r>
            <a:r>
              <a:rPr lang="en-US" sz="1700" dirty="0">
                <a:solidFill>
                  <a:schemeClr val="tx1"/>
                </a:solidFill>
              </a:rPr>
              <a:t>.</a:t>
            </a:r>
            <a:endParaRPr lang="en-US" sz="1700" dirty="0"/>
          </a:p>
          <a:p>
            <a:pPr marL="177800" indent="-177800">
              <a:spcAft>
                <a:spcPts val="600"/>
              </a:spcAft>
              <a:buSzPct val="100000"/>
              <a:buChar char="•"/>
            </a:pPr>
            <a:r>
              <a:rPr lang="en-US" sz="1700" i="1" dirty="0">
                <a:solidFill>
                  <a:schemeClr val="tx1"/>
                </a:solidFill>
              </a:rPr>
              <a:t>het balletje · het pannetje · het ringetje</a:t>
            </a:r>
            <a:endParaRPr lang="en-US" sz="1700" dirty="0"/>
          </a:p>
          <a:p>
            <a:pPr marL="177800" indent="-177800">
              <a:spcAft>
                <a:spcPts val="600"/>
              </a:spcAft>
              <a:buSzPct val="100000"/>
              <a:buChar char="•"/>
            </a:pPr>
            <a:r>
              <a:rPr lang="en-US" sz="1700" i="1" dirty="0">
                <a:solidFill>
                  <a:schemeClr val="tx1"/>
                </a:solidFill>
              </a:rPr>
              <a:t>de brug → het bruggetje</a:t>
            </a:r>
            <a:endParaRPr lang="en-US" sz="1700" dirty="0"/>
          </a:p>
        </p:txBody>
      </p:sp>
      <p:sp>
        <p:nvSpPr>
          <p:cNvPr id="31" name="Shape 28"/>
          <p:cNvSpPr/>
          <p:nvPr/>
        </p:nvSpPr>
        <p:spPr>
          <a:xfrm>
            <a:off x="548640" y="5605272"/>
            <a:ext cx="11091672" cy="685800"/>
          </a:xfrm>
          <a:prstGeom prst="roundRect">
            <a:avLst>
              <a:gd name="adj" fmla="val 10667"/>
            </a:avLst>
          </a:prstGeom>
          <a:solidFill>
            <a:schemeClr val="accent3">
              <a:alpha val="10000"/>
            </a:schemeClr>
          </a:solidFill>
          <a:ln w="9525">
            <a:solidFill>
              <a:schemeClr val="accent3">
                <a:alpha val="70000"/>
              </a:schemeClr>
            </a:solidFill>
            <a:prstDash val="solid"/>
          </a:ln>
        </p:spPr>
      </p:sp>
      <p:pic>
        <p:nvPicPr>
          <p:cNvPr id="32" name="Image 0" descr="preencoded.png">    </p:cNvPr>
          <p:cNvPicPr>
            <a:picLocks noChangeAspect="1"/>
          </p:cNvPicPr>
          <p:nvPr/>
        </p:nvPicPr>
        <p:blipFill>
          <a:blip r:embed="rId1"/>
          <a:stretch>
            <a:fillRect/>
          </a:stretch>
        </p:blipFill>
        <p:spPr>
          <a:xfrm>
            <a:off x="749808" y="5783580"/>
            <a:ext cx="329184" cy="329184"/>
          </a:xfrm>
          <a:prstGeom prst="rect">
            <a:avLst/>
          </a:prstGeom>
        </p:spPr>
      </p:pic>
      <p:sp>
        <p:nvSpPr>
          <p:cNvPr id="33" name="Text 29"/>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3"/>
                </a:solidFill>
              </a:rPr>
              <a:t>Règle d’or — </a:t>
            </a:r>
            <a:r>
              <a:rPr lang="en-US" sz="1700" dirty="0">
                <a:solidFill>
                  <a:schemeClr val="tx1"/>
                </a:solidFill>
              </a:rPr>
              <a:t>Tous les diminutifs sont en </a:t>
            </a:r>
            <a:r>
              <a:rPr lang="en-US" sz="1700" b="1" dirty="0">
                <a:solidFill>
                  <a:schemeClr val="accent4"/>
                </a:solidFill>
              </a:rPr>
              <a:t>het</a:t>
            </a:r>
            <a:r>
              <a:rPr lang="en-US" sz="1700" dirty="0">
                <a:solidFill>
                  <a:schemeClr val="tx1"/>
                </a:solidFill>
              </a:rPr>
              <a:t> : </a:t>
            </a:r>
            <a:r>
              <a:rPr lang="en-US" sz="1700" b="1" i="1" dirty="0">
                <a:solidFill>
                  <a:schemeClr val="accent2"/>
                </a:solidFill>
              </a:rPr>
              <a:t>de</a:t>
            </a:r>
            <a:r>
              <a:rPr lang="en-US" sz="1700" i="1" dirty="0">
                <a:solidFill>
                  <a:schemeClr val="tx1"/>
                </a:solidFill>
              </a:rPr>
              <a:t> vis → </a:t>
            </a:r>
            <a:r>
              <a:rPr lang="en-US" sz="1700" b="1" i="1" dirty="0">
                <a:solidFill>
                  <a:schemeClr val="accent4"/>
                </a:solidFill>
              </a:rPr>
              <a:t>het</a:t>
            </a:r>
            <a:r>
              <a:rPr lang="en-US" sz="1700" i="1" dirty="0">
                <a:solidFill>
                  <a:schemeClr val="tx1"/>
                </a:solidFill>
              </a:rPr>
              <a:t> visje</a:t>
            </a:r>
            <a:r>
              <a:rPr lang="en-US" sz="1700" dirty="0">
                <a:solidFill>
                  <a:schemeClr val="tx1"/>
                </a:solidFill>
              </a:rPr>
              <a:t>. Au pluriel : </a:t>
            </a:r>
            <a:r>
              <a:rPr lang="en-US" sz="1700" b="1" dirty="0">
                <a:solidFill>
                  <a:schemeClr val="tx1"/>
                </a:solidFill>
              </a:rPr>
              <a:t>de … -s</a:t>
            </a:r>
            <a:r>
              <a:rPr lang="en-US" sz="1700" dirty="0">
                <a:solidFill>
                  <a:schemeClr val="tx1"/>
                </a:solidFill>
              </a:rPr>
              <a:t> : </a:t>
            </a:r>
            <a:r>
              <a:rPr lang="en-US" sz="1700" b="1" i="1" dirty="0">
                <a:solidFill>
                  <a:schemeClr val="accent2"/>
                </a:solidFill>
              </a:rPr>
              <a:t>de</a:t>
            </a:r>
            <a:r>
              <a:rPr lang="en-US" sz="1700" i="1" dirty="0">
                <a:solidFill>
                  <a:schemeClr val="tx1"/>
                </a:solidFill>
              </a:rPr>
              <a:t> visjes · </a:t>
            </a:r>
            <a:r>
              <a:rPr lang="en-US" sz="1700" b="1" i="1" dirty="0">
                <a:solidFill>
                  <a:schemeClr val="accent2"/>
                </a:solidFill>
              </a:rPr>
              <a:t>de</a:t>
            </a:r>
            <a:r>
              <a:rPr lang="en-US" sz="1700" i="1" dirty="0">
                <a:solidFill>
                  <a:schemeClr val="tx1"/>
                </a:solidFill>
              </a:rPr>
              <a:t> meisjes</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De → het : le diminutif change l’article</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377440"/>
                <a:gridCol w="2926080"/>
                <a:gridCol w="2743200"/>
                <a:gridCol w="3044952"/>
              </a:tblGrid>
              <a:tr h="621792">
                <a:tc>
                  <a:txBody>
                    <a:bodyPr/>
                    <a:lstStyle/>
                    <a:p>
                      <a:pPr algn="l" indent="0" marL="0">
                        <a:buNone/>
                      </a:pPr>
                      <a:r>
                        <a:rPr lang="en-US" sz="1800" b="1" dirty="0">
                          <a:solidFill>
                            <a:schemeClr val="bg1"/>
                          </a:solidFill>
                        </a:rPr>
                        <a:t>LE MOT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LE DIMINUTIF</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LE PLURIEL</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22122">
                <a:tc>
                  <a:txBody>
                    <a:bodyPr/>
                    <a:lstStyle/>
                    <a:p>
                      <a:pPr algn="l" indent="0" marL="0">
                        <a:buNone/>
                      </a:pPr>
                      <a:r>
                        <a:rPr lang="en-US" sz="2000" b="1" dirty="0">
                          <a:solidFill>
                            <a:schemeClr val="accent2"/>
                          </a:solidFill>
                        </a:rPr>
                        <a:t>de</a:t>
                      </a:r>
                      <a:r>
                        <a:rPr lang="en-US" sz="2000" dirty="0">
                          <a:solidFill>
                            <a:schemeClr val="tx1"/>
                          </a:solidFill>
                        </a:rPr>
                        <a:t> vis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4"/>
                          </a:solidFill>
                        </a:rPr>
                        <a:t>het</a:t>
                      </a:r>
                      <a:r>
                        <a:rPr lang="en-US" sz="2000" b="1" dirty="0">
                          <a:solidFill>
                            <a:schemeClr val="tx1"/>
                          </a:solidFill>
                        </a:rPr>
                        <a:t> visje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2"/>
                          </a:solidFill>
                        </a:rPr>
                        <a:t>de</a:t>
                      </a:r>
                      <a:r>
                        <a:rPr lang="en-US" sz="2000" dirty="0">
                          <a:solidFill>
                            <a:schemeClr val="tx1"/>
                          </a:solidFill>
                        </a:rPr>
                        <a:t> visjes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le petit poisson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2122">
                <a:tc>
                  <a:txBody>
                    <a:bodyPr/>
                    <a:lstStyle/>
                    <a:p>
                      <a:pPr algn="l" indent="0" marL="0">
                        <a:buNone/>
                      </a:pPr>
                      <a:r>
                        <a:rPr lang="en-US" sz="2000" b="1" dirty="0">
                          <a:solidFill>
                            <a:schemeClr val="accent2"/>
                          </a:solidFill>
                        </a:rPr>
                        <a:t>de</a:t>
                      </a:r>
                      <a:r>
                        <a:rPr lang="en-US" sz="2000" dirty="0">
                          <a:solidFill>
                            <a:schemeClr val="tx1"/>
                          </a:solidFill>
                        </a:rPr>
                        <a:t> jongen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4"/>
                          </a:solidFill>
                        </a:rPr>
                        <a:t>het</a:t>
                      </a:r>
                      <a:r>
                        <a:rPr lang="en-US" sz="2000" b="1" dirty="0">
                          <a:solidFill>
                            <a:schemeClr val="tx1"/>
                          </a:solidFill>
                        </a:rPr>
                        <a:t> jongetje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2"/>
                          </a:solidFill>
                        </a:rPr>
                        <a:t>de</a:t>
                      </a:r>
                      <a:r>
                        <a:rPr lang="en-US" sz="2000" dirty="0">
                          <a:solidFill>
                            <a:schemeClr val="tx1"/>
                          </a:solidFill>
                        </a:rPr>
                        <a:t> jongetjes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le petit garçon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2122">
                <a:tc>
                  <a:txBody>
                    <a:bodyPr/>
                    <a:lstStyle/>
                    <a:p>
                      <a:pPr algn="l" indent="0" marL="0">
                        <a:buNone/>
                      </a:pPr>
                      <a:r>
                        <a:rPr lang="en-US" sz="2000" b="1" dirty="0">
                          <a:solidFill>
                            <a:schemeClr val="accent2"/>
                          </a:solidFill>
                        </a:rPr>
                        <a:t>de</a:t>
                      </a:r>
                      <a:r>
                        <a:rPr lang="en-US" sz="2000" dirty="0">
                          <a:solidFill>
                            <a:schemeClr val="tx1"/>
                          </a:solidFill>
                        </a:rPr>
                        <a:t> soep</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4"/>
                          </a:solidFill>
                        </a:rPr>
                        <a:t>het</a:t>
                      </a:r>
                      <a:r>
                        <a:rPr lang="en-US" sz="2000" b="1" dirty="0">
                          <a:solidFill>
                            <a:schemeClr val="tx1"/>
                          </a:solidFill>
                        </a:rPr>
                        <a:t> soepje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2"/>
                          </a:solidFill>
                        </a:rPr>
                        <a:t>de</a:t>
                      </a:r>
                      <a:r>
                        <a:rPr lang="en-US" sz="2000" dirty="0">
                          <a:solidFill>
                            <a:schemeClr val="tx1"/>
                          </a:solidFill>
                        </a:rPr>
                        <a:t> soepjes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un petit bol de soupe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2122">
                <a:tc>
                  <a:txBody>
                    <a:bodyPr/>
                    <a:lstStyle/>
                    <a:p>
                      <a:pPr algn="l" indent="0" marL="0">
                        <a:buNone/>
                      </a:pPr>
                      <a:r>
                        <a:rPr lang="en-US" sz="2000" b="1" dirty="0">
                          <a:solidFill>
                            <a:schemeClr val="accent2"/>
                          </a:solidFill>
                        </a:rPr>
                        <a:t>de</a:t>
                      </a:r>
                      <a:r>
                        <a:rPr lang="en-US" sz="2000" dirty="0">
                          <a:solidFill>
                            <a:schemeClr val="tx1"/>
                          </a:solidFill>
                        </a:rPr>
                        <a:t> mand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4"/>
                          </a:solidFill>
                        </a:rPr>
                        <a:t>het</a:t>
                      </a:r>
                      <a:r>
                        <a:rPr lang="en-US" sz="2000" b="1" dirty="0">
                          <a:solidFill>
                            <a:schemeClr val="tx1"/>
                          </a:solidFill>
                        </a:rPr>
                        <a:t> mandje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2"/>
                          </a:solidFill>
                        </a:rPr>
                        <a:t>de</a:t>
                      </a:r>
                      <a:r>
                        <a:rPr lang="en-US" sz="2000" dirty="0">
                          <a:solidFill>
                            <a:schemeClr val="tx1"/>
                          </a:solidFill>
                        </a:rPr>
                        <a:t> mandjes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le panier (à provisions)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2122">
                <a:tc>
                  <a:txBody>
                    <a:bodyPr/>
                    <a:lstStyle/>
                    <a:p>
                      <a:pPr algn="l" indent="0" marL="0">
                        <a:buNone/>
                      </a:pPr>
                      <a:r>
                        <a:rPr lang="en-US" sz="2000" b="1" dirty="0">
                          <a:solidFill>
                            <a:schemeClr val="accent4"/>
                          </a:solidFill>
                        </a:rPr>
                        <a:t>het</a:t>
                      </a:r>
                      <a:r>
                        <a:rPr lang="en-US" sz="2000" dirty="0">
                          <a:solidFill>
                            <a:schemeClr val="tx1"/>
                          </a:solidFill>
                        </a:rPr>
                        <a:t> huis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4"/>
                          </a:solidFill>
                        </a:rPr>
                        <a:t>het</a:t>
                      </a:r>
                      <a:r>
                        <a:rPr lang="en-US" sz="2000" b="1" dirty="0">
                          <a:solidFill>
                            <a:schemeClr val="tx1"/>
                          </a:solidFill>
                        </a:rPr>
                        <a:t> huisje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2"/>
                          </a:solidFill>
                        </a:rPr>
                        <a:t>de</a:t>
                      </a:r>
                      <a:r>
                        <a:rPr lang="en-US" sz="2000" dirty="0">
                          <a:solidFill>
                            <a:schemeClr val="tx1"/>
                          </a:solidFill>
                        </a:rPr>
                        <a:t> huisjes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la maisonnette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2122">
                <a:tc>
                  <a:txBody>
                    <a:bodyPr/>
                    <a:lstStyle/>
                    <a:p>
                      <a:pPr algn="l" indent="0" marL="0">
                        <a:buNone/>
                      </a:pPr>
                      <a:r>
                        <a:rPr lang="en-US" sz="2000" b="1" dirty="0">
                          <a:solidFill>
                            <a:schemeClr val="accent2"/>
                          </a:solidFill>
                        </a:rPr>
                        <a:t>de</a:t>
                      </a:r>
                      <a:r>
                        <a:rPr lang="en-US" sz="2000" dirty="0">
                          <a:solidFill>
                            <a:schemeClr val="tx1"/>
                          </a:solidFill>
                        </a:rPr>
                        <a:t> auto</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4"/>
                          </a:solidFill>
                        </a:rPr>
                        <a:t>het</a:t>
                      </a:r>
                      <a:r>
                        <a:rPr lang="en-US" sz="2000" b="1" dirty="0">
                          <a:solidFill>
                            <a:schemeClr val="tx1"/>
                          </a:solidFill>
                        </a:rPr>
                        <a:t> autootje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2"/>
                          </a:solidFill>
                        </a:rPr>
                        <a:t>de</a:t>
                      </a:r>
                      <a:r>
                        <a:rPr lang="en-US" sz="2000" dirty="0">
                          <a:solidFill>
                            <a:schemeClr val="tx1"/>
                          </a:solidFill>
                        </a:rPr>
                        <a:t> autootjes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la petite voiture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2122">
                <a:tc>
                  <a:txBody>
                    <a:bodyPr/>
                    <a:lstStyle/>
                    <a:p>
                      <a:pPr algn="l" indent="0" marL="0">
                        <a:buNone/>
                      </a:pPr>
                      <a:r>
                        <a:rPr lang="en-US" sz="2000" b="1" dirty="0">
                          <a:solidFill>
                            <a:schemeClr val="accent4"/>
                          </a:solidFill>
                        </a:rPr>
                        <a:t>het</a:t>
                      </a:r>
                      <a:r>
                        <a:rPr lang="en-US" sz="2000" dirty="0">
                          <a:solidFill>
                            <a:schemeClr val="tx1"/>
                          </a:solidFill>
                        </a:rPr>
                        <a:t> meisje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(déjà un diminutif)</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2"/>
                          </a:solidFill>
                        </a:rPr>
                        <a:t>de</a:t>
                      </a:r>
                      <a:r>
                        <a:rPr lang="en-US" sz="2000" dirty="0">
                          <a:solidFill>
                            <a:schemeClr val="tx1"/>
                          </a:solidFill>
                        </a:rPr>
                        <a:t> meisjes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la fille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L’adjectif suit la règle du het (fiche p. 61) : </a:t>
            </a:r>
            <a:r>
              <a:rPr lang="en-US" sz="1500" i="1" dirty="0">
                <a:solidFill>
                  <a:schemeClr val="accent5"/>
                </a:solidFill>
              </a:rPr>
              <a:t>een </a:t>
            </a:r>
            <a:r>
              <a:rPr lang="en-US" sz="1500" b="1" i="1" dirty="0">
                <a:solidFill>
                  <a:schemeClr val="accent5"/>
                </a:solidFill>
              </a:rPr>
              <a:t>klein</a:t>
            </a:r>
            <a:r>
              <a:rPr lang="en-US" sz="1500" i="1" dirty="0">
                <a:solidFill>
                  <a:schemeClr val="accent5"/>
                </a:solidFill>
              </a:rPr>
              <a:t> huisje</a:t>
            </a:r>
            <a:r>
              <a:rPr lang="en-US" sz="1500" i="1" dirty="0">
                <a:solidFill>
                  <a:schemeClr val="accent5"/>
                </a:solidFill>
              </a:rPr>
              <a:t> (het + een + singulier) · </a:t>
            </a:r>
            <a:r>
              <a:rPr lang="en-US" sz="1500" i="1" dirty="0">
                <a:solidFill>
                  <a:schemeClr val="accent5"/>
                </a:solidFill>
              </a:rPr>
              <a:t>het </a:t>
            </a:r>
            <a:r>
              <a:rPr lang="en-US" sz="1500" b="1" i="1" dirty="0">
                <a:solidFill>
                  <a:schemeClr val="accent5"/>
                </a:solidFill>
              </a:rPr>
              <a:t>kleine</a:t>
            </a:r>
            <a:r>
              <a:rPr lang="en-US" sz="1500" i="1" dirty="0">
                <a:solidFill>
                  <a:schemeClr val="accent5"/>
                </a:solidFill>
              </a:rPr>
              <a:t> huisje</a:t>
            </a:r>
            <a:r>
              <a:rPr lang="en-US" sz="1500" i="1" dirty="0">
                <a:solidFill>
                  <a:schemeClr val="accent5"/>
                </a:solidFill>
              </a:rPr>
              <a:t> · </a:t>
            </a:r>
            <a:r>
              <a:rPr lang="en-US" sz="1500" i="1" dirty="0">
                <a:solidFill>
                  <a:schemeClr val="accent5"/>
                </a:solidFill>
              </a:rPr>
              <a:t>de </a:t>
            </a:r>
            <a:r>
              <a:rPr lang="en-US" sz="1500" b="1" i="1" dirty="0">
                <a:solidFill>
                  <a:schemeClr val="accent5"/>
                </a:solidFill>
              </a:rPr>
              <a:t>kleine</a:t>
            </a:r>
            <a:r>
              <a:rPr lang="en-US" sz="1500" i="1" dirty="0">
                <a:solidFill>
                  <a:schemeClr val="accent5"/>
                </a:solidFill>
              </a:rPr>
              <a:t> huisjes</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Oefening : schrijf het verkleinwoord</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66</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Écrivez le diminutif </a:t>
            </a:r>
            <a:r>
              <a:rPr lang="en-US" sz="1600" b="1" i="1" dirty="0">
                <a:solidFill>
                  <a:schemeClr val="accent5"/>
                </a:solidFill>
              </a:rPr>
              <a:t>avec son article</a:t>
            </a:r>
            <a:r>
              <a:rPr lang="en-US" sz="1600" i="1" dirty="0">
                <a:solidFill>
                  <a:schemeClr val="accent5"/>
                </a:solidFill>
              </a:rPr>
              <a:t>.</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400" b="1" dirty="0">
                <a:solidFill>
                  <a:schemeClr val="tx2"/>
                </a:solidFill>
              </a:rPr>
              <a:t>1.  </a:t>
            </a:r>
            <a:r>
              <a:rPr lang="en-US" sz="2400" b="1" dirty="0">
                <a:solidFill>
                  <a:schemeClr val="accent2"/>
                </a:solidFill>
              </a:rPr>
              <a:t>de</a:t>
            </a:r>
            <a:r>
              <a:rPr lang="en-US" sz="2400" dirty="0">
                <a:solidFill>
                  <a:schemeClr val="tx1"/>
                </a:solidFill>
              </a:rPr>
              <a:t> krant → </a:t>
            </a:r>
            <a:r>
              <a:rPr lang="en-US" sz="2400" dirty="0">
                <a:solidFill>
                  <a:schemeClr val="accent5"/>
                </a:solidFill>
              </a:rPr>
              <a:t>………………</a:t>
            </a:r>
            <a:endParaRPr lang="en-US" sz="2400" dirty="0"/>
          </a:p>
          <a:p>
            <a:pPr indent="0" marL="0">
              <a:spcAft>
                <a:spcPts val="1400"/>
              </a:spcAft>
              <a:buNone/>
            </a:pPr>
            <a:r>
              <a:rPr lang="en-US" sz="2400" b="1" dirty="0">
                <a:solidFill>
                  <a:schemeClr val="tx2"/>
                </a:solidFill>
              </a:rPr>
              <a:t>2.  </a:t>
            </a:r>
            <a:r>
              <a:rPr lang="en-US" sz="2400" b="1" dirty="0">
                <a:solidFill>
                  <a:schemeClr val="accent2"/>
                </a:solidFill>
              </a:rPr>
              <a:t>de</a:t>
            </a:r>
            <a:r>
              <a:rPr lang="en-US" sz="2400" dirty="0">
                <a:solidFill>
                  <a:schemeClr val="tx1"/>
                </a:solidFill>
              </a:rPr>
              <a:t> kaart → </a:t>
            </a:r>
            <a:r>
              <a:rPr lang="en-US" sz="2400" dirty="0">
                <a:solidFill>
                  <a:schemeClr val="accent5"/>
                </a:solidFill>
              </a:rPr>
              <a:t>………………</a:t>
            </a:r>
            <a:endParaRPr lang="en-US" sz="2400" dirty="0"/>
          </a:p>
          <a:p>
            <a:pPr indent="0" marL="0">
              <a:spcAft>
                <a:spcPts val="1400"/>
              </a:spcAft>
              <a:buNone/>
            </a:pPr>
            <a:r>
              <a:rPr lang="en-US" sz="2400" b="1" dirty="0">
                <a:solidFill>
                  <a:schemeClr val="tx2"/>
                </a:solidFill>
              </a:rPr>
              <a:t>3.  </a:t>
            </a:r>
            <a:r>
              <a:rPr lang="en-US" sz="2400" b="1" dirty="0">
                <a:solidFill>
                  <a:schemeClr val="accent2"/>
                </a:solidFill>
              </a:rPr>
              <a:t>de</a:t>
            </a:r>
            <a:r>
              <a:rPr lang="en-US" sz="2400" dirty="0">
                <a:solidFill>
                  <a:schemeClr val="tx1"/>
                </a:solidFill>
              </a:rPr>
              <a:t> hand → </a:t>
            </a:r>
            <a:r>
              <a:rPr lang="en-US" sz="2400" dirty="0">
                <a:solidFill>
                  <a:schemeClr val="accent5"/>
                </a:solidFill>
              </a:rPr>
              <a:t>………………</a:t>
            </a:r>
            <a:endParaRPr lang="en-US" sz="2400" dirty="0"/>
          </a:p>
          <a:p>
            <a:pPr indent="0" marL="0">
              <a:spcAft>
                <a:spcPts val="1400"/>
              </a:spcAft>
              <a:buNone/>
            </a:pPr>
            <a:r>
              <a:rPr lang="en-US" sz="2400" b="1" dirty="0">
                <a:solidFill>
                  <a:schemeClr val="tx2"/>
                </a:solidFill>
              </a:rPr>
              <a:t>4.  </a:t>
            </a:r>
            <a:r>
              <a:rPr lang="en-US" sz="2400" b="1" dirty="0">
                <a:solidFill>
                  <a:schemeClr val="accent2"/>
                </a:solidFill>
              </a:rPr>
              <a:t>de</a:t>
            </a:r>
            <a:r>
              <a:rPr lang="en-US" sz="2400" dirty="0">
                <a:solidFill>
                  <a:schemeClr val="tx1"/>
                </a:solidFill>
              </a:rPr>
              <a:t> doos → </a:t>
            </a:r>
            <a:r>
              <a:rPr lang="en-US" sz="2400" dirty="0">
                <a:solidFill>
                  <a:schemeClr val="accent5"/>
                </a:solidFill>
              </a:rPr>
              <a:t>………………</a:t>
            </a:r>
            <a:endParaRPr lang="en-US" sz="2400" dirty="0"/>
          </a:p>
          <a:p>
            <a:pPr indent="0" marL="0">
              <a:spcAft>
                <a:spcPts val="1400"/>
              </a:spcAft>
              <a:buNone/>
            </a:pPr>
            <a:r>
              <a:rPr lang="en-US" sz="2400" b="1" dirty="0">
                <a:solidFill>
                  <a:schemeClr val="tx2"/>
                </a:solidFill>
              </a:rPr>
              <a:t>5.  </a:t>
            </a:r>
            <a:r>
              <a:rPr lang="en-US" sz="2400" b="1" dirty="0">
                <a:solidFill>
                  <a:schemeClr val="accent2"/>
                </a:solidFill>
              </a:rPr>
              <a:t>de</a:t>
            </a:r>
            <a:r>
              <a:rPr lang="en-US" sz="2400" dirty="0">
                <a:solidFill>
                  <a:schemeClr val="tx1"/>
                </a:solidFill>
              </a:rPr>
              <a:t> brug → </a:t>
            </a:r>
            <a:r>
              <a:rPr lang="en-US" sz="2400" dirty="0">
                <a:solidFill>
                  <a:schemeClr val="accent5"/>
                </a:solidFill>
              </a:rPr>
              <a:t>…………………</a:t>
            </a:r>
            <a:endParaRPr lang="en-US" sz="2400" dirty="0"/>
          </a:p>
          <a:p>
            <a:pPr indent="0" marL="0">
              <a:spcAft>
                <a:spcPts val="1400"/>
              </a:spcAft>
              <a:buNone/>
            </a:pPr>
            <a:r>
              <a:rPr lang="en-US" sz="2400" b="1" dirty="0">
                <a:solidFill>
                  <a:schemeClr val="tx2"/>
                </a:solidFill>
              </a:rPr>
              <a:t>6.  </a:t>
            </a:r>
            <a:r>
              <a:rPr lang="en-US" sz="2400" b="1" dirty="0">
                <a:solidFill>
                  <a:schemeClr val="accent2"/>
                </a:solidFill>
              </a:rPr>
              <a:t>de</a:t>
            </a:r>
            <a:r>
              <a:rPr lang="en-US" sz="2400" dirty="0">
                <a:solidFill>
                  <a:schemeClr val="tx1"/>
                </a:solidFill>
              </a:rPr>
              <a:t> taart → </a:t>
            </a:r>
            <a:r>
              <a:rPr lang="en-US" sz="2400" dirty="0">
                <a:solidFill>
                  <a:schemeClr val="accent5"/>
                </a:solidFill>
              </a:rPr>
              <a:t>………………</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RAPPEL</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Diminutif = </a:t>
            </a:r>
            <a:r>
              <a:rPr lang="en-US" sz="1800" b="1" dirty="0">
                <a:solidFill>
                  <a:schemeClr val="tx1"/>
                </a:solidFill>
              </a:rPr>
              <a:t>het</a:t>
            </a:r>
            <a:r>
              <a:rPr lang="en-US" sz="1800" dirty="0">
                <a:solidFill>
                  <a:schemeClr val="tx1"/>
                </a:solidFill>
              </a:rPr>
              <a:t>, toujours.</a:t>
            </a:r>
            <a:endParaRPr lang="en-US" sz="1800" dirty="0"/>
          </a:p>
          <a:p>
            <a:pPr marL="177800" indent="-177800">
              <a:spcAft>
                <a:spcPts val="600"/>
              </a:spcAft>
              <a:buSzPct val="100000"/>
              <a:buChar char="•"/>
            </a:pPr>
            <a:r>
              <a:rPr lang="en-US" sz="1800" dirty="0">
                <a:solidFill>
                  <a:schemeClr val="tx1"/>
                </a:solidFill>
              </a:rPr>
              <a:t>Cas général : </a:t>
            </a:r>
            <a:r>
              <a:rPr lang="en-US" sz="1800" b="1" dirty="0">
                <a:solidFill>
                  <a:schemeClr val="tx1"/>
                </a:solidFill>
              </a:rPr>
              <a:t>-je</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Voyelle courte + consonne : </a:t>
            </a:r>
            <a:r>
              <a:rPr lang="en-US" sz="1800" b="1" dirty="0">
                <a:solidFill>
                  <a:schemeClr val="tx1"/>
                </a:solidFill>
              </a:rPr>
              <a:t>-etje</a:t>
            </a:r>
            <a:r>
              <a:rPr lang="en-US" sz="1800" dirty="0">
                <a:solidFill>
                  <a:schemeClr val="tx1"/>
                </a:solidFill>
              </a:rPr>
              <a:t> et consonne doublée.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Oefening : schrijf het verkleinwoord</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ag"/>
          <p:cNvSpPr/>
          <p:nvPr/>
        </p:nvSpPr>
        <p:spPr>
          <a:xfrm>
            <a:off x="21671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66</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Écrivez le diminutif </a:t>
            </a:r>
            <a:r>
              <a:rPr lang="en-US" sz="1600" b="1" i="1" dirty="0">
                <a:solidFill>
                  <a:schemeClr val="accent5"/>
                </a:solidFill>
              </a:rPr>
              <a:t>avec son article</a:t>
            </a:r>
            <a:r>
              <a:rPr lang="en-US" sz="1600" i="1" dirty="0">
                <a:solidFill>
                  <a:schemeClr val="accent5"/>
                </a:solidFill>
              </a:rPr>
              <a:t>.</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400" b="1" dirty="0">
                <a:solidFill>
                  <a:schemeClr val="tx2"/>
                </a:solidFill>
              </a:rPr>
              <a:t>1.  </a:t>
            </a:r>
            <a:r>
              <a:rPr lang="en-US" sz="2400" b="1" dirty="0">
                <a:solidFill>
                  <a:schemeClr val="accent2"/>
                </a:solidFill>
              </a:rPr>
              <a:t>de</a:t>
            </a:r>
            <a:r>
              <a:rPr lang="en-US" sz="2400" dirty="0">
                <a:solidFill>
                  <a:schemeClr val="tx1"/>
                </a:solidFill>
              </a:rPr>
              <a:t> krant → </a:t>
            </a:r>
            <a:r>
              <a:rPr lang="en-US" sz="2400" b="1" dirty="0">
                <a:solidFill>
                  <a:schemeClr val="accent3"/>
                </a:solidFill>
              </a:rPr>
              <a:t>het krantje</a:t>
            </a:r>
            <a:endParaRPr lang="en-US" sz="2400" dirty="0"/>
          </a:p>
          <a:p>
            <a:pPr indent="0" marL="0">
              <a:spcAft>
                <a:spcPts val="1400"/>
              </a:spcAft>
              <a:buNone/>
            </a:pPr>
            <a:r>
              <a:rPr lang="en-US" sz="2400" b="1" dirty="0">
                <a:solidFill>
                  <a:schemeClr val="tx2"/>
                </a:solidFill>
              </a:rPr>
              <a:t>2.  </a:t>
            </a:r>
            <a:r>
              <a:rPr lang="en-US" sz="2400" b="1" dirty="0">
                <a:solidFill>
                  <a:schemeClr val="accent2"/>
                </a:solidFill>
              </a:rPr>
              <a:t>de</a:t>
            </a:r>
            <a:r>
              <a:rPr lang="en-US" sz="2400" dirty="0">
                <a:solidFill>
                  <a:schemeClr val="tx1"/>
                </a:solidFill>
              </a:rPr>
              <a:t> kaart → </a:t>
            </a:r>
            <a:r>
              <a:rPr lang="en-US" sz="2400" b="1" dirty="0">
                <a:solidFill>
                  <a:schemeClr val="accent3"/>
                </a:solidFill>
              </a:rPr>
              <a:t>het kaartje</a:t>
            </a:r>
            <a:endParaRPr lang="en-US" sz="2400" dirty="0"/>
          </a:p>
          <a:p>
            <a:pPr indent="0" marL="0">
              <a:spcAft>
                <a:spcPts val="1400"/>
              </a:spcAft>
              <a:buNone/>
            </a:pPr>
            <a:r>
              <a:rPr lang="en-US" sz="2400" b="1" dirty="0">
                <a:solidFill>
                  <a:schemeClr val="tx2"/>
                </a:solidFill>
              </a:rPr>
              <a:t>3.  </a:t>
            </a:r>
            <a:r>
              <a:rPr lang="en-US" sz="2400" b="1" dirty="0">
                <a:solidFill>
                  <a:schemeClr val="accent2"/>
                </a:solidFill>
              </a:rPr>
              <a:t>de</a:t>
            </a:r>
            <a:r>
              <a:rPr lang="en-US" sz="2400" dirty="0">
                <a:solidFill>
                  <a:schemeClr val="tx1"/>
                </a:solidFill>
              </a:rPr>
              <a:t> hand → </a:t>
            </a:r>
            <a:r>
              <a:rPr lang="en-US" sz="2400" b="1" dirty="0">
                <a:solidFill>
                  <a:schemeClr val="accent3"/>
                </a:solidFill>
              </a:rPr>
              <a:t>het handje</a:t>
            </a:r>
            <a:endParaRPr lang="en-US" sz="2400" dirty="0"/>
          </a:p>
          <a:p>
            <a:pPr indent="0" marL="0">
              <a:spcAft>
                <a:spcPts val="1400"/>
              </a:spcAft>
              <a:buNone/>
            </a:pPr>
            <a:r>
              <a:rPr lang="en-US" sz="2400" b="1" dirty="0">
                <a:solidFill>
                  <a:schemeClr val="tx2"/>
                </a:solidFill>
              </a:rPr>
              <a:t>4.  </a:t>
            </a:r>
            <a:r>
              <a:rPr lang="en-US" sz="2400" b="1" dirty="0">
                <a:solidFill>
                  <a:schemeClr val="accent2"/>
                </a:solidFill>
              </a:rPr>
              <a:t>de</a:t>
            </a:r>
            <a:r>
              <a:rPr lang="en-US" sz="2400" dirty="0">
                <a:solidFill>
                  <a:schemeClr val="tx1"/>
                </a:solidFill>
              </a:rPr>
              <a:t> doos → </a:t>
            </a:r>
            <a:r>
              <a:rPr lang="en-US" sz="2400" b="1" dirty="0">
                <a:solidFill>
                  <a:schemeClr val="accent3"/>
                </a:solidFill>
              </a:rPr>
              <a:t>het doosje</a:t>
            </a:r>
            <a:endParaRPr lang="en-US" sz="2400" dirty="0"/>
          </a:p>
          <a:p>
            <a:pPr indent="0" marL="0">
              <a:spcAft>
                <a:spcPts val="1400"/>
              </a:spcAft>
              <a:buNone/>
            </a:pPr>
            <a:r>
              <a:rPr lang="en-US" sz="2400" b="1" dirty="0">
                <a:solidFill>
                  <a:schemeClr val="tx2"/>
                </a:solidFill>
              </a:rPr>
              <a:t>5.  </a:t>
            </a:r>
            <a:r>
              <a:rPr lang="en-US" sz="2400" b="1" dirty="0">
                <a:solidFill>
                  <a:schemeClr val="accent2"/>
                </a:solidFill>
              </a:rPr>
              <a:t>de</a:t>
            </a:r>
            <a:r>
              <a:rPr lang="en-US" sz="2400" dirty="0">
                <a:solidFill>
                  <a:schemeClr val="tx1"/>
                </a:solidFill>
              </a:rPr>
              <a:t> brug → </a:t>
            </a:r>
            <a:r>
              <a:rPr lang="en-US" sz="2400" b="1" dirty="0">
                <a:solidFill>
                  <a:schemeClr val="accent3"/>
                </a:solidFill>
              </a:rPr>
              <a:t>het bruggetje</a:t>
            </a:r>
            <a:endParaRPr lang="en-US" sz="2400" dirty="0"/>
          </a:p>
          <a:p>
            <a:pPr indent="0" marL="0">
              <a:spcAft>
                <a:spcPts val="1400"/>
              </a:spcAft>
              <a:buNone/>
            </a:pPr>
            <a:r>
              <a:rPr lang="en-US" sz="2400" b="1" dirty="0">
                <a:solidFill>
                  <a:schemeClr val="tx2"/>
                </a:solidFill>
              </a:rPr>
              <a:t>6.  </a:t>
            </a:r>
            <a:r>
              <a:rPr lang="en-US" sz="2400" b="1" dirty="0">
                <a:solidFill>
                  <a:schemeClr val="accent2"/>
                </a:solidFill>
              </a:rPr>
              <a:t>de</a:t>
            </a:r>
            <a:r>
              <a:rPr lang="en-US" sz="2400" dirty="0">
                <a:solidFill>
                  <a:schemeClr val="tx1"/>
                </a:solidFill>
              </a:rPr>
              <a:t> taart → </a:t>
            </a:r>
            <a:r>
              <a:rPr lang="en-US" sz="2400" b="1" dirty="0">
                <a:solidFill>
                  <a:schemeClr val="accent3"/>
                </a:solidFill>
              </a:rPr>
              <a:t>het taartje</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Six fois </a:t>
            </a:r>
            <a:r>
              <a:rPr lang="en-US" sz="1800" b="1" dirty="0">
                <a:solidFill>
                  <a:schemeClr val="tx1"/>
                </a:solidFill>
              </a:rPr>
              <a:t>het</a:t>
            </a:r>
            <a:r>
              <a:rPr lang="en-US" sz="1800" dirty="0">
                <a:solidFill>
                  <a:schemeClr val="tx1"/>
                </a:solidFill>
              </a:rPr>
              <a:t> : le diminutif change l’article.</a:t>
            </a:r>
            <a:endParaRPr lang="en-US" sz="1800" dirty="0"/>
          </a:p>
          <a:p>
            <a:pPr marL="177800" indent="-177800">
              <a:spcAft>
                <a:spcPts val="600"/>
              </a:spcAft>
              <a:buSzPct val="100000"/>
              <a:buChar char="•"/>
            </a:pPr>
            <a:r>
              <a:rPr lang="en-US" sz="1800" i="1" dirty="0">
                <a:solidFill>
                  <a:schemeClr val="tx1"/>
                </a:solidFill>
              </a:rPr>
              <a:t>brug</a:t>
            </a:r>
            <a:r>
              <a:rPr lang="en-US" sz="1800" dirty="0">
                <a:solidFill>
                  <a:schemeClr val="tx1"/>
                </a:solidFill>
              </a:rPr>
              <a:t> : voyelle courte → </a:t>
            </a:r>
            <a:r>
              <a:rPr lang="en-US" sz="1800" b="1" dirty="0">
                <a:solidFill>
                  <a:schemeClr val="tx1"/>
                </a:solidFill>
              </a:rPr>
              <a:t>-etje</a:t>
            </a:r>
            <a:r>
              <a:rPr lang="en-US" sz="1800" dirty="0">
                <a:solidFill>
                  <a:schemeClr val="tx1"/>
                </a:solidFill>
              </a:rPr>
              <a:t>, g doublé : </a:t>
            </a:r>
            <a:r>
              <a:rPr lang="en-US" sz="1800" i="1" dirty="0">
                <a:solidFill>
                  <a:schemeClr val="tx1"/>
                </a:solidFill>
              </a:rPr>
              <a:t>bruggetje</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het kaartje</a:t>
            </a:r>
            <a:r>
              <a:rPr lang="en-US" sz="1800" dirty="0">
                <a:solidFill>
                  <a:schemeClr val="tx1"/>
                </a:solidFill>
              </a:rPr>
              <a:t> = aussi </a:t>
            </a:r>
            <a:r>
              <a:rPr lang="en-US" sz="1800" b="1" dirty="0">
                <a:solidFill>
                  <a:schemeClr val="tx1"/>
                </a:solidFill>
              </a:rPr>
              <a:t>le ticket</a:t>
            </a:r>
            <a:r>
              <a:rPr lang="en-US" sz="1800" dirty="0">
                <a:solidFill>
                  <a:schemeClr val="tx1"/>
                </a:solidFill>
              </a:rPr>
              <a:t> (</a:t>
            </a:r>
            <a:r>
              <a:rPr lang="en-US" sz="1800" i="1" dirty="0">
                <a:solidFill>
                  <a:schemeClr val="tx1"/>
                </a:solidFill>
              </a:rPr>
              <a:t>een treinkaartje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Petit en français, -je en néerlandais</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66</a:t>
            </a:r>
            <a:endParaRPr lang="en-US" sz="1200" dirty="0"/>
          </a:p>
        </p:txBody>
      </p:sp>
      <p:sp>
        <p:nvSpPr>
          <p:cNvPr id="6" name="Shape 3"/>
          <p:cNvSpPr/>
          <p:nvPr/>
        </p:nvSpPr>
        <p:spPr>
          <a:xfrm>
            <a:off x="548640" y="1481328"/>
            <a:ext cx="5225796" cy="3883152"/>
          </a:xfrm>
          <a:prstGeom prst="roundRect">
            <a:avLst>
              <a:gd name="adj" fmla="val 2355"/>
            </a:avLst>
          </a:prstGeom>
          <a:solidFill>
            <a:schemeClr val="accent2">
              <a:alpha val="8000"/>
            </a:schemeClr>
          </a:solidFill>
          <a:ln w="15875">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777240" y="1682496"/>
            <a:ext cx="384048" cy="384048"/>
          </a:xfrm>
          <a:prstGeom prst="rect">
            <a:avLst/>
          </a:prstGeom>
        </p:spPr>
      </p:pic>
      <p:sp>
        <p:nvSpPr>
          <p:cNvPr id="8" name="Text 4"/>
          <p:cNvSpPr txBox="1"/>
          <p:nvPr/>
        </p:nvSpPr>
        <p:spPr>
          <a:xfrm>
            <a:off x="1280160" y="1618488"/>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FRANÇAIS : un adjectif</a:t>
            </a:r>
            <a:endParaRPr lang="en-US" sz="2000" dirty="0"/>
          </a:p>
        </p:txBody>
      </p:sp>
      <p:sp>
        <p:nvSpPr>
          <p:cNvPr id="9" name="Text 5"/>
          <p:cNvSpPr txBox="1"/>
          <p:nvPr/>
        </p:nvSpPr>
        <p:spPr>
          <a:xfrm>
            <a:off x="777240" y="2304288"/>
            <a:ext cx="4768596" cy="2923032"/>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chemeClr val="tx1"/>
                </a:solidFill>
              </a:rPr>
              <a:t>On ajoute </a:t>
            </a:r>
            <a:r>
              <a:rPr lang="en-US" sz="2000" b="1" dirty="0">
                <a:solidFill>
                  <a:schemeClr val="tx1"/>
                </a:solidFill>
              </a:rPr>
              <a:t>petit</a:t>
            </a:r>
            <a:r>
              <a:rPr lang="en-US" sz="2000" dirty="0">
                <a:solidFill>
                  <a:schemeClr val="tx1"/>
                </a:solidFill>
              </a:rPr>
              <a:t> : </a:t>
            </a:r>
            <a:r>
              <a:rPr lang="en-US" sz="2000" i="1" dirty="0">
                <a:solidFill>
                  <a:schemeClr val="tx1"/>
                </a:solidFill>
              </a:rPr>
              <a:t>une petite maison, un petit poisson</a:t>
            </a:r>
            <a:r>
              <a:rPr lang="en-US" sz="2000" dirty="0">
                <a:solidFill>
                  <a:schemeClr val="tx1"/>
                </a:solidFill>
              </a:rPr>
              <a:t>.</a:t>
            </a:r>
            <a:endParaRPr lang="en-US" sz="2000" dirty="0"/>
          </a:p>
          <a:p>
            <a:pPr marL="203200" indent="-203200">
              <a:spcAft>
                <a:spcPts val="800"/>
              </a:spcAft>
              <a:buSzPct val="100000"/>
              <a:buChar char="•"/>
            </a:pPr>
            <a:r>
              <a:rPr lang="en-US" sz="2000" dirty="0">
                <a:solidFill>
                  <a:schemeClr val="tx1"/>
                </a:solidFill>
              </a:rPr>
              <a:t>Ou on change de mot : </a:t>
            </a:r>
            <a:r>
              <a:rPr lang="en-US" sz="2000" i="1" dirty="0">
                <a:solidFill>
                  <a:schemeClr val="tx1"/>
                </a:solidFill>
              </a:rPr>
              <a:t>un petit pain · une tasse de café</a:t>
            </a:r>
            <a:r>
              <a:rPr lang="en-US" sz="2000" dirty="0">
                <a:solidFill>
                  <a:schemeClr val="tx1"/>
                </a:solidFill>
              </a:rPr>
              <a:t>.</a:t>
            </a:r>
            <a:endParaRPr lang="en-US" sz="2000" dirty="0"/>
          </a:p>
          <a:p>
            <a:pPr marL="203200" indent="-203200">
              <a:spcAft>
                <a:spcPts val="800"/>
              </a:spcAft>
              <a:buSzPct val="100000"/>
              <a:buChar char="•"/>
            </a:pPr>
            <a:r>
              <a:rPr lang="en-US" sz="2000" dirty="0">
                <a:solidFill>
                  <a:schemeClr val="tx1"/>
                </a:solidFill>
              </a:rPr>
              <a:t>Le mot garde son </a:t>
            </a:r>
            <a:r>
              <a:rPr lang="en-US" sz="2000" b="1" dirty="0">
                <a:solidFill>
                  <a:schemeClr val="tx1"/>
                </a:solidFill>
              </a:rPr>
              <a:t>genre</a:t>
            </a:r>
            <a:r>
              <a:rPr lang="en-US" sz="2000" dirty="0">
                <a:solidFill>
                  <a:schemeClr val="tx1"/>
                </a:solidFill>
              </a:rPr>
              <a:t> : </a:t>
            </a:r>
            <a:r>
              <a:rPr lang="en-US" sz="2000" i="1" dirty="0">
                <a:solidFill>
                  <a:schemeClr val="tx1"/>
                </a:solidFill>
              </a:rPr>
              <a:t>la maison → la petite maison</a:t>
            </a:r>
            <a:r>
              <a:rPr lang="en-US" sz="2000" dirty="0">
                <a:solidFill>
                  <a:schemeClr val="tx1"/>
                </a:solidFill>
              </a:rPr>
              <a:t>.</a:t>
            </a:r>
            <a:endParaRPr lang="en-US" sz="2000" dirty="0"/>
          </a:p>
        </p:txBody>
      </p:sp>
      <p:sp>
        <p:nvSpPr>
          <p:cNvPr id="10" name="Shape 6"/>
          <p:cNvSpPr/>
          <p:nvPr/>
        </p:nvSpPr>
        <p:spPr>
          <a:xfrm>
            <a:off x="6414516" y="1481328"/>
            <a:ext cx="5225796" cy="3883152"/>
          </a:xfrm>
          <a:prstGeom prst="roundRect">
            <a:avLst>
              <a:gd name="adj" fmla="val 2355"/>
            </a:avLst>
          </a:prstGeom>
          <a:solidFill>
            <a:schemeClr val="accent3">
              <a:alpha val="8000"/>
            </a:schemeClr>
          </a:solidFill>
          <a:ln w="15875">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6643116" y="1682496"/>
            <a:ext cx="384048" cy="384048"/>
          </a:xfrm>
          <a:prstGeom prst="rect">
            <a:avLst/>
          </a:prstGeom>
        </p:spPr>
      </p:pic>
      <p:sp>
        <p:nvSpPr>
          <p:cNvPr id="12" name="Text 7"/>
          <p:cNvSpPr txBox="1"/>
          <p:nvPr/>
        </p:nvSpPr>
        <p:spPr>
          <a:xfrm>
            <a:off x="7146036" y="1618488"/>
            <a:ext cx="4311396" cy="548640"/>
          </a:xfrm>
          <a:prstGeom prst="rect">
            <a:avLst/>
          </a:prstGeom>
          <a:noFill/>
          <a:ln/>
        </p:spPr>
        <p:txBody>
          <a:bodyPr wrap="square" lIns="0" tIns="0" rIns="0" bIns="0" rtlCol="0" anchor="ctr"/>
          <a:lstStyle/>
          <a:p>
            <a:pPr indent="0" marL="0">
              <a:buNone/>
            </a:pPr>
            <a:r>
              <a:rPr lang="en-US" sz="2000" b="1" dirty="0">
                <a:solidFill>
                  <a:schemeClr val="accent3"/>
                </a:solidFill>
                <a:latin typeface="+mj-lt" pitchFamily="34" charset="0"/>
                <a:ea typeface="+mj-lt" pitchFamily="34" charset="-122"/>
                <a:cs typeface="+mj-lt" pitchFamily="34" charset="-120"/>
              </a:rPr>
              <a:t>NEDERLANDS : un suffixe</a:t>
            </a:r>
            <a:endParaRPr lang="en-US" sz="2000" dirty="0"/>
          </a:p>
        </p:txBody>
      </p:sp>
      <p:sp>
        <p:nvSpPr>
          <p:cNvPr id="13" name="Text 8"/>
          <p:cNvSpPr txBox="1"/>
          <p:nvPr/>
        </p:nvSpPr>
        <p:spPr>
          <a:xfrm>
            <a:off x="6643116" y="2304288"/>
            <a:ext cx="4768596" cy="2923032"/>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chemeClr val="tx1"/>
                </a:solidFill>
              </a:rPr>
              <a:t>On ajoute </a:t>
            </a:r>
            <a:r>
              <a:rPr lang="en-US" sz="2000" b="1" dirty="0">
                <a:solidFill>
                  <a:schemeClr val="tx1"/>
                </a:solidFill>
              </a:rPr>
              <a:t>-je</a:t>
            </a:r>
            <a:r>
              <a:rPr lang="en-US" sz="2000" dirty="0">
                <a:solidFill>
                  <a:schemeClr val="tx1"/>
                </a:solidFill>
              </a:rPr>
              <a:t> : </a:t>
            </a:r>
            <a:r>
              <a:rPr lang="en-US" sz="2000" i="1" dirty="0">
                <a:solidFill>
                  <a:schemeClr val="tx1"/>
                </a:solidFill>
              </a:rPr>
              <a:t>een huisje · een visje</a:t>
            </a:r>
            <a:r>
              <a:rPr lang="en-US" sz="2000" dirty="0">
                <a:solidFill>
                  <a:schemeClr val="tx1"/>
                </a:solidFill>
              </a:rPr>
              <a:t>.</a:t>
            </a:r>
            <a:endParaRPr lang="en-US" sz="2000" dirty="0"/>
          </a:p>
          <a:p>
            <a:pPr marL="203200" indent="-203200">
              <a:spcAft>
                <a:spcPts val="800"/>
              </a:spcAft>
              <a:buSzPct val="100000"/>
              <a:buChar char="•"/>
            </a:pPr>
            <a:r>
              <a:rPr lang="en-US" sz="2000" dirty="0">
                <a:solidFill>
                  <a:schemeClr val="tx1"/>
                </a:solidFill>
              </a:rPr>
              <a:t>Pas seulement « petit » : </a:t>
            </a:r>
            <a:r>
              <a:rPr lang="en-US" sz="2000" b="1" dirty="0">
                <a:solidFill>
                  <a:schemeClr val="tx1"/>
                </a:solidFill>
              </a:rPr>
              <a:t>gentil</a:t>
            </a:r>
            <a:r>
              <a:rPr lang="en-US" sz="2000" dirty="0">
                <a:solidFill>
                  <a:schemeClr val="tx1"/>
                </a:solidFill>
              </a:rPr>
              <a:t>, familier, une </a:t>
            </a:r>
            <a:r>
              <a:rPr lang="en-US" sz="2000" b="1" dirty="0">
                <a:solidFill>
                  <a:schemeClr val="tx1"/>
                </a:solidFill>
              </a:rPr>
              <a:t>portion</a:t>
            </a:r>
            <a:r>
              <a:rPr lang="en-US" sz="2000" dirty="0">
                <a:solidFill>
                  <a:schemeClr val="tx1"/>
                </a:solidFill>
              </a:rPr>
              <a:t> : </a:t>
            </a:r>
            <a:r>
              <a:rPr lang="en-US" sz="2000" i="1" dirty="0">
                <a:solidFill>
                  <a:schemeClr val="tx1"/>
                </a:solidFill>
              </a:rPr>
              <a:t>een kopje koffie · een stukje kaas · een momentje</a:t>
            </a:r>
            <a:r>
              <a:rPr lang="en-US" sz="2000" dirty="0">
                <a:solidFill>
                  <a:schemeClr val="tx1"/>
                </a:solidFill>
              </a:rPr>
              <a:t>.</a:t>
            </a:r>
            <a:endParaRPr lang="en-US" sz="2000" dirty="0"/>
          </a:p>
          <a:p>
            <a:pPr marL="203200" indent="-203200">
              <a:spcAft>
                <a:spcPts val="800"/>
              </a:spcAft>
              <a:buSzPct val="100000"/>
              <a:buChar char="•"/>
            </a:pPr>
            <a:r>
              <a:rPr lang="en-US" sz="2000" dirty="0">
                <a:solidFill>
                  <a:schemeClr val="tx1"/>
                </a:solidFill>
              </a:rPr>
              <a:t>Le mot devient </a:t>
            </a:r>
            <a:r>
              <a:rPr lang="en-US" sz="2000" b="1" dirty="0">
                <a:solidFill>
                  <a:schemeClr val="tx1"/>
                </a:solidFill>
              </a:rPr>
              <a:t>het</a:t>
            </a:r>
            <a:r>
              <a:rPr lang="en-US" sz="2000" dirty="0">
                <a:solidFill>
                  <a:schemeClr val="tx1"/>
                </a:solidFill>
              </a:rPr>
              <a:t> : </a:t>
            </a:r>
            <a:r>
              <a:rPr lang="en-US" sz="2000" b="1" i="1" dirty="0">
                <a:solidFill>
                  <a:schemeClr val="accent2"/>
                </a:solidFill>
              </a:rPr>
              <a:t>de</a:t>
            </a:r>
            <a:r>
              <a:rPr lang="en-US" sz="2000" i="1" dirty="0">
                <a:solidFill>
                  <a:schemeClr val="tx1"/>
                </a:solidFill>
              </a:rPr>
              <a:t> vis → </a:t>
            </a:r>
            <a:r>
              <a:rPr lang="en-US" sz="2000" b="1" i="1" dirty="0">
                <a:solidFill>
                  <a:schemeClr val="accent4"/>
                </a:solidFill>
              </a:rPr>
              <a:t>het</a:t>
            </a:r>
            <a:r>
              <a:rPr lang="en-US" sz="2000" i="1" dirty="0">
                <a:solidFill>
                  <a:schemeClr val="tx1"/>
                </a:solidFill>
              </a:rPr>
              <a:t> visje</a:t>
            </a:r>
            <a:r>
              <a:rPr lang="en-US" sz="2000" dirty="0">
                <a:solidFill>
                  <a:schemeClr val="tx1"/>
                </a:solidFill>
              </a:rPr>
              <a:t>.</a:t>
            </a:r>
            <a:endParaRPr lang="en-US" sz="2000" dirty="0"/>
          </a:p>
        </p:txBody>
      </p:sp>
      <p:sp>
        <p:nvSpPr>
          <p:cNvPr id="14" name="Shape 9"/>
          <p:cNvSpPr/>
          <p:nvPr/>
        </p:nvSpPr>
        <p:spPr>
          <a:xfrm>
            <a:off x="5838444" y="3166872"/>
            <a:ext cx="512064" cy="512064"/>
          </a:xfrm>
          <a:prstGeom prst="ellipse">
            <a:avLst/>
          </a:prstGeom>
          <a:solidFill>
            <a:schemeClr val="tx2"/>
          </a:solidFill>
          <a:ln/>
        </p:spPr>
      </p:sp>
      <p:sp>
        <p:nvSpPr>
          <p:cNvPr id="15" name="Text 10"/>
          <p:cNvSpPr txBox="1"/>
          <p:nvPr/>
        </p:nvSpPr>
        <p:spPr>
          <a:xfrm>
            <a:off x="5838444" y="3166872"/>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16" name="Shape 11"/>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17" name="Image 2" descr="preencoded.png">    </p:cNvPr>
          <p:cNvPicPr>
            <a:picLocks noChangeAspect="1"/>
          </p:cNvPicPr>
          <p:nvPr/>
        </p:nvPicPr>
        <p:blipFill>
          <a:blip r:embed="rId3"/>
          <a:stretch>
            <a:fillRect/>
          </a:stretch>
        </p:blipFill>
        <p:spPr>
          <a:xfrm>
            <a:off x="749808" y="5763768"/>
            <a:ext cx="329184" cy="329184"/>
          </a:xfrm>
          <a:prstGeom prst="rect">
            <a:avLst/>
          </a:prstGeom>
        </p:spPr>
      </p:pic>
      <p:sp>
        <p:nvSpPr>
          <p:cNvPr id="18" name="Text 12"/>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Ne traduisez pas mot à mot : </a:t>
            </a:r>
            <a:r>
              <a:rPr lang="en-US" sz="1700" i="1" dirty="0">
                <a:solidFill>
                  <a:schemeClr val="tx1"/>
                </a:solidFill>
              </a:rPr>
              <a:t>un petit pain</a:t>
            </a:r>
            <a:r>
              <a:rPr lang="en-US" sz="1700" dirty="0">
                <a:solidFill>
                  <a:schemeClr val="tx1"/>
                </a:solidFill>
              </a:rPr>
              <a:t> = </a:t>
            </a:r>
            <a:r>
              <a:rPr lang="en-US" sz="1700" i="1" dirty="0">
                <a:solidFill>
                  <a:schemeClr val="tx1"/>
                </a:solidFill>
              </a:rPr>
              <a:t>een </a:t>
            </a:r>
            <a:r>
              <a:rPr lang="en-US" sz="1700" b="1" i="1" dirty="0">
                <a:solidFill>
                  <a:schemeClr val="tx1"/>
                </a:solidFill>
              </a:rPr>
              <a:t>broodje</a:t>
            </a:r>
            <a:r>
              <a:rPr lang="en-US" sz="1700" dirty="0">
                <a:solidFill>
                  <a:schemeClr val="tx1"/>
                </a:solidFill>
              </a:rPr>
              <a:t> (✗ </a:t>
            </a:r>
            <a:r>
              <a:rPr lang="en-US" sz="1700" i="1" dirty="0">
                <a:solidFill>
                  <a:schemeClr val="tx1"/>
                </a:solidFill>
              </a:rPr>
              <a:t>een klein brood</a:t>
            </a:r>
            <a:r>
              <a:rPr lang="en-US" sz="1700" dirty="0">
                <a:solidFill>
                  <a:schemeClr val="tx1"/>
                </a:solidFill>
              </a:rPr>
              <a:t>) · </a:t>
            </a:r>
            <a:r>
              <a:rPr lang="en-US" sz="1700" i="1" dirty="0">
                <a:solidFill>
                  <a:schemeClr val="tx1"/>
                </a:solidFill>
              </a:rPr>
              <a:t>un petit moment</a:t>
            </a:r>
            <a:r>
              <a:rPr lang="en-US" sz="1700" dirty="0">
                <a:solidFill>
                  <a:schemeClr val="tx1"/>
                </a:solidFill>
              </a:rPr>
              <a:t> = </a:t>
            </a:r>
            <a:r>
              <a:rPr lang="en-US" sz="1700" i="1" dirty="0">
                <a:solidFill>
                  <a:schemeClr val="tx1"/>
                </a:solidFill>
              </a:rPr>
              <a:t>een </a:t>
            </a:r>
            <a:r>
              <a:rPr lang="en-US" sz="1700" b="1" i="1" dirty="0">
                <a:solidFill>
                  <a:schemeClr val="tx1"/>
                </a:solidFill>
              </a:rPr>
              <a:t>momentje</a:t>
            </a:r>
            <a:r>
              <a:rPr lang="en-US" sz="1700" dirty="0">
                <a:solidFill>
                  <a:schemeClr val="tx1"/>
                </a:solidFill>
              </a:rPr>
              <a:t> · </a:t>
            </a:r>
            <a:r>
              <a:rPr lang="en-US" sz="1700" i="1" dirty="0">
                <a:solidFill>
                  <a:schemeClr val="tx1"/>
                </a:solidFill>
              </a:rPr>
              <a:t>une petite bière</a:t>
            </a:r>
            <a:r>
              <a:rPr lang="en-US" sz="1700" dirty="0">
                <a:solidFill>
                  <a:schemeClr val="tx1"/>
                </a:solidFill>
              </a:rPr>
              <a:t> = </a:t>
            </a:r>
            <a:r>
              <a:rPr lang="en-US" sz="1700" i="1" dirty="0">
                <a:solidFill>
                  <a:schemeClr val="tx1"/>
                </a:solidFill>
              </a:rPr>
              <a:t>een </a:t>
            </a:r>
            <a:r>
              <a:rPr lang="en-US" sz="1700" b="1" i="1" dirty="0">
                <a:solidFill>
                  <a:schemeClr val="tx1"/>
                </a:solidFill>
              </a:rPr>
              <a:t>biertje</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Maak het klein! Le diminutif en images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63040"/>
            <a:ext cx="11091672" cy="329184"/>
          </a:xfrm>
          <a:prstGeom prst="rect">
            <a:avLst/>
          </a:prstGeom>
          <a:noFill/>
          <a:ln/>
        </p:spPr>
        <p:txBody>
          <a:bodyPr wrap="square" lIns="0" tIns="0" rIns="0" bIns="0" rtlCol="0" anchor="ctr"/>
          <a:lstStyle/>
          <a:p>
            <a:pPr indent="0" marL="0">
              <a:buNone/>
            </a:pPr>
            <a:r>
              <a:rPr lang="en-US" sz="1500" i="1" dirty="0">
                <a:solidFill>
                  <a:schemeClr val="accent5"/>
                </a:solidFill>
              </a:rPr>
              <a:t>Sous l’image : le mot de base. Donnez le </a:t>
            </a:r>
            <a:r>
              <a:rPr lang="en-US" sz="1500" b="1" i="1" dirty="0">
                <a:solidFill>
                  <a:schemeClr val="accent5"/>
                </a:solidFill>
              </a:rPr>
              <a:t>diminutif</a:t>
            </a:r>
            <a:r>
              <a:rPr lang="en-US" sz="1500" i="1" dirty="0">
                <a:solidFill>
                  <a:schemeClr val="accent5"/>
                </a:solidFill>
              </a:rPr>
              <a:t> avec son article.</a:t>
            </a:r>
            <a:endParaRPr lang="en-US" sz="1500" dirty="0"/>
          </a:p>
        </p:txBody>
      </p:sp>
      <p:sp>
        <p:nvSpPr>
          <p:cNvPr id="7" name="Shape 4"/>
          <p:cNvSpPr/>
          <p:nvPr/>
        </p:nvSpPr>
        <p:spPr>
          <a:xfrm>
            <a:off x="548640" y="1874520"/>
            <a:ext cx="2622042" cy="2125980"/>
          </a:xfrm>
          <a:prstGeom prst="roundRect">
            <a:avLst>
              <a:gd name="adj" fmla="val 3441"/>
            </a:avLst>
          </a:prstGeom>
          <a:solidFill>
            <a:schemeClr val="bg1"/>
          </a:solidFill>
          <a:ln w="9525">
            <a:solidFill>
              <a:srgbClr val="D5DCE6"/>
            </a:solidFill>
            <a:prstDash val="solid"/>
          </a:ln>
        </p:spPr>
      </p:sp>
      <p:pic>
        <p:nvPicPr>
          <p:cNvPr id="8" name="illustration" descr="de vis">    </p:cNvPr>
          <p:cNvPicPr>
            <a:picLocks noChangeAspect="1"/>
          </p:cNvPicPr>
          <p:nvPr/>
        </p:nvPicPr>
        <p:blipFill>
          <a:blip r:embed="rId1"/>
          <a:stretch>
            <a:fillRect/>
          </a:stretch>
        </p:blipFill>
        <p:spPr>
          <a:xfrm>
            <a:off x="1053555" y="1947672"/>
            <a:ext cx="1612213" cy="1284732"/>
          </a:xfrm>
          <a:prstGeom prst="rect">
            <a:avLst/>
          </a:prstGeom>
        </p:spPr>
      </p:pic>
      <p:sp>
        <p:nvSpPr>
          <p:cNvPr id="9" name="Shape 5"/>
          <p:cNvSpPr/>
          <p:nvPr/>
        </p:nvSpPr>
        <p:spPr>
          <a:xfrm>
            <a:off x="640080" y="1965960"/>
            <a:ext cx="365760" cy="365760"/>
          </a:xfrm>
          <a:prstGeom prst="ellipse">
            <a:avLst/>
          </a:prstGeom>
          <a:solidFill>
            <a:schemeClr val="tx2"/>
          </a:solidFill>
          <a:ln/>
        </p:spPr>
      </p:sp>
      <p:sp>
        <p:nvSpPr>
          <p:cNvPr id="10" name="Text 6"/>
          <p:cNvSpPr txBox="1"/>
          <p:nvPr/>
        </p:nvSpPr>
        <p:spPr>
          <a:xfrm>
            <a:off x="64008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603504" y="3250692"/>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de vis</a:t>
            </a:r>
            <a:endParaRPr lang="en-US" sz="1500" dirty="0"/>
          </a:p>
        </p:txBody>
      </p:sp>
      <p:sp>
        <p:nvSpPr>
          <p:cNvPr id="12" name="Shape 8"/>
          <p:cNvSpPr/>
          <p:nvPr/>
        </p:nvSpPr>
        <p:spPr>
          <a:xfrm>
            <a:off x="3371850" y="1874520"/>
            <a:ext cx="2622042" cy="2125980"/>
          </a:xfrm>
          <a:prstGeom prst="roundRect">
            <a:avLst>
              <a:gd name="adj" fmla="val 3441"/>
            </a:avLst>
          </a:prstGeom>
          <a:solidFill>
            <a:schemeClr val="bg1"/>
          </a:solidFill>
          <a:ln w="9525">
            <a:solidFill>
              <a:srgbClr val="D5DCE6"/>
            </a:solidFill>
            <a:prstDash val="solid"/>
          </a:ln>
        </p:spPr>
      </p:sp>
      <p:pic>
        <p:nvPicPr>
          <p:cNvPr id="13" name="illustration" descr="de boot">    </p:cNvPr>
          <p:cNvPicPr>
            <a:picLocks noChangeAspect="1"/>
          </p:cNvPicPr>
          <p:nvPr/>
        </p:nvPicPr>
        <p:blipFill>
          <a:blip r:embed="rId2"/>
          <a:stretch>
            <a:fillRect/>
          </a:stretch>
        </p:blipFill>
        <p:spPr>
          <a:xfrm>
            <a:off x="3857872" y="1947672"/>
            <a:ext cx="1649999" cy="1284732"/>
          </a:xfrm>
          <a:prstGeom prst="rect">
            <a:avLst/>
          </a:prstGeom>
        </p:spPr>
      </p:pic>
      <p:sp>
        <p:nvSpPr>
          <p:cNvPr id="14" name="Shape 9"/>
          <p:cNvSpPr/>
          <p:nvPr/>
        </p:nvSpPr>
        <p:spPr>
          <a:xfrm>
            <a:off x="3463290" y="1965960"/>
            <a:ext cx="365760" cy="365760"/>
          </a:xfrm>
          <a:prstGeom prst="ellipse">
            <a:avLst/>
          </a:prstGeom>
          <a:solidFill>
            <a:schemeClr val="tx2"/>
          </a:solidFill>
          <a:ln/>
        </p:spPr>
      </p:sp>
      <p:sp>
        <p:nvSpPr>
          <p:cNvPr id="15" name="Text 10"/>
          <p:cNvSpPr txBox="1"/>
          <p:nvPr/>
        </p:nvSpPr>
        <p:spPr>
          <a:xfrm>
            <a:off x="346329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1"/>
          <p:cNvSpPr txBox="1"/>
          <p:nvPr/>
        </p:nvSpPr>
        <p:spPr>
          <a:xfrm>
            <a:off x="3426714" y="3250692"/>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de boot</a:t>
            </a:r>
            <a:endParaRPr lang="en-US" sz="1500" dirty="0"/>
          </a:p>
        </p:txBody>
      </p:sp>
      <p:sp>
        <p:nvSpPr>
          <p:cNvPr id="17" name="Shape 12"/>
          <p:cNvSpPr/>
          <p:nvPr/>
        </p:nvSpPr>
        <p:spPr>
          <a:xfrm>
            <a:off x="6195060" y="1874520"/>
            <a:ext cx="2622042" cy="2125980"/>
          </a:xfrm>
          <a:prstGeom prst="roundRect">
            <a:avLst>
              <a:gd name="adj" fmla="val 3441"/>
            </a:avLst>
          </a:prstGeom>
          <a:solidFill>
            <a:schemeClr val="bg1"/>
          </a:solidFill>
          <a:ln w="9525">
            <a:solidFill>
              <a:srgbClr val="D5DCE6"/>
            </a:solidFill>
            <a:prstDash val="solid"/>
          </a:ln>
        </p:spPr>
      </p:sp>
      <p:pic>
        <p:nvPicPr>
          <p:cNvPr id="18" name="illustration" descr="de tas">    </p:cNvPr>
          <p:cNvPicPr>
            <a:picLocks noChangeAspect="1"/>
          </p:cNvPicPr>
          <p:nvPr/>
        </p:nvPicPr>
        <p:blipFill>
          <a:blip r:embed="rId3"/>
          <a:stretch>
            <a:fillRect/>
          </a:stretch>
        </p:blipFill>
        <p:spPr>
          <a:xfrm>
            <a:off x="6699975" y="1947672"/>
            <a:ext cx="1612213" cy="1284732"/>
          </a:xfrm>
          <a:prstGeom prst="rect">
            <a:avLst/>
          </a:prstGeom>
        </p:spPr>
      </p:pic>
      <p:sp>
        <p:nvSpPr>
          <p:cNvPr id="19" name="Shape 13"/>
          <p:cNvSpPr/>
          <p:nvPr/>
        </p:nvSpPr>
        <p:spPr>
          <a:xfrm>
            <a:off x="6286500" y="1965960"/>
            <a:ext cx="365760" cy="365760"/>
          </a:xfrm>
          <a:prstGeom prst="ellipse">
            <a:avLst/>
          </a:prstGeom>
          <a:solidFill>
            <a:schemeClr val="tx2"/>
          </a:solidFill>
          <a:ln/>
        </p:spPr>
      </p:sp>
      <p:sp>
        <p:nvSpPr>
          <p:cNvPr id="20" name="Text 14"/>
          <p:cNvSpPr txBox="1"/>
          <p:nvPr/>
        </p:nvSpPr>
        <p:spPr>
          <a:xfrm>
            <a:off x="628650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5"/>
          <p:cNvSpPr txBox="1"/>
          <p:nvPr/>
        </p:nvSpPr>
        <p:spPr>
          <a:xfrm>
            <a:off x="6249924" y="3250692"/>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de tas</a:t>
            </a:r>
            <a:endParaRPr lang="en-US" sz="1500" dirty="0"/>
          </a:p>
        </p:txBody>
      </p:sp>
      <p:sp>
        <p:nvSpPr>
          <p:cNvPr id="22" name="Shape 16"/>
          <p:cNvSpPr/>
          <p:nvPr/>
        </p:nvSpPr>
        <p:spPr>
          <a:xfrm>
            <a:off x="9018270" y="1874520"/>
            <a:ext cx="2622042" cy="2125980"/>
          </a:xfrm>
          <a:prstGeom prst="roundRect">
            <a:avLst>
              <a:gd name="adj" fmla="val 3441"/>
            </a:avLst>
          </a:prstGeom>
          <a:solidFill>
            <a:schemeClr val="bg1"/>
          </a:solidFill>
          <a:ln w="9525">
            <a:solidFill>
              <a:srgbClr val="D5DCE6"/>
            </a:solidFill>
            <a:prstDash val="solid"/>
          </a:ln>
        </p:spPr>
      </p:sp>
      <p:pic>
        <p:nvPicPr>
          <p:cNvPr id="23" name="illustration" descr="de rok">    </p:cNvPr>
          <p:cNvPicPr>
            <a:picLocks noChangeAspect="1"/>
          </p:cNvPicPr>
          <p:nvPr/>
        </p:nvPicPr>
        <p:blipFill>
          <a:blip r:embed="rId4"/>
          <a:stretch>
            <a:fillRect/>
          </a:stretch>
        </p:blipFill>
        <p:spPr>
          <a:xfrm>
            <a:off x="9560853" y="1947672"/>
            <a:ext cx="1536876" cy="1284732"/>
          </a:xfrm>
          <a:prstGeom prst="rect">
            <a:avLst/>
          </a:prstGeom>
        </p:spPr>
      </p:pic>
      <p:sp>
        <p:nvSpPr>
          <p:cNvPr id="24" name="Shape 17"/>
          <p:cNvSpPr/>
          <p:nvPr/>
        </p:nvSpPr>
        <p:spPr>
          <a:xfrm>
            <a:off x="9109710" y="1965960"/>
            <a:ext cx="365760" cy="365760"/>
          </a:xfrm>
          <a:prstGeom prst="ellipse">
            <a:avLst/>
          </a:prstGeom>
          <a:solidFill>
            <a:schemeClr val="tx2"/>
          </a:solidFill>
          <a:ln/>
        </p:spPr>
      </p:sp>
      <p:sp>
        <p:nvSpPr>
          <p:cNvPr id="25" name="Text 18"/>
          <p:cNvSpPr txBox="1"/>
          <p:nvPr/>
        </p:nvSpPr>
        <p:spPr>
          <a:xfrm>
            <a:off x="910971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Text 19"/>
          <p:cNvSpPr txBox="1"/>
          <p:nvPr/>
        </p:nvSpPr>
        <p:spPr>
          <a:xfrm>
            <a:off x="9073134" y="3250692"/>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de rok</a:t>
            </a:r>
            <a:endParaRPr lang="en-US" sz="1500" dirty="0"/>
          </a:p>
        </p:txBody>
      </p:sp>
      <p:sp>
        <p:nvSpPr>
          <p:cNvPr id="27" name="Shape 20"/>
          <p:cNvSpPr/>
          <p:nvPr/>
        </p:nvSpPr>
        <p:spPr>
          <a:xfrm>
            <a:off x="548640" y="4165092"/>
            <a:ext cx="2622042" cy="2125980"/>
          </a:xfrm>
          <a:prstGeom prst="roundRect">
            <a:avLst>
              <a:gd name="adj" fmla="val 3441"/>
            </a:avLst>
          </a:prstGeom>
          <a:solidFill>
            <a:schemeClr val="bg1"/>
          </a:solidFill>
          <a:ln w="9525">
            <a:solidFill>
              <a:srgbClr val="D5DCE6"/>
            </a:solidFill>
            <a:prstDash val="solid"/>
          </a:ln>
        </p:spPr>
      </p:sp>
      <p:pic>
        <p:nvPicPr>
          <p:cNvPr id="28" name="illustration" descr="de auto">    </p:cNvPr>
          <p:cNvPicPr>
            <a:picLocks noChangeAspect="1"/>
          </p:cNvPicPr>
          <p:nvPr/>
        </p:nvPicPr>
        <p:blipFill>
          <a:blip r:embed="rId5"/>
          <a:stretch>
            <a:fillRect/>
          </a:stretch>
        </p:blipFill>
        <p:spPr>
          <a:xfrm>
            <a:off x="1083974" y="4238244"/>
            <a:ext cx="1551374" cy="1284732"/>
          </a:xfrm>
          <a:prstGeom prst="rect">
            <a:avLst/>
          </a:prstGeom>
        </p:spPr>
      </p:pic>
      <p:sp>
        <p:nvSpPr>
          <p:cNvPr id="29" name="Shape 21"/>
          <p:cNvSpPr/>
          <p:nvPr/>
        </p:nvSpPr>
        <p:spPr>
          <a:xfrm>
            <a:off x="640080" y="4256532"/>
            <a:ext cx="365760" cy="365760"/>
          </a:xfrm>
          <a:prstGeom prst="ellipse">
            <a:avLst/>
          </a:prstGeom>
          <a:solidFill>
            <a:schemeClr val="tx2"/>
          </a:solidFill>
          <a:ln/>
        </p:spPr>
      </p:sp>
      <p:sp>
        <p:nvSpPr>
          <p:cNvPr id="30" name="Text 22"/>
          <p:cNvSpPr txBox="1"/>
          <p:nvPr/>
        </p:nvSpPr>
        <p:spPr>
          <a:xfrm>
            <a:off x="64008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23"/>
          <p:cNvSpPr txBox="1"/>
          <p:nvPr/>
        </p:nvSpPr>
        <p:spPr>
          <a:xfrm>
            <a:off x="603504" y="5541264"/>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de auto</a:t>
            </a:r>
            <a:endParaRPr lang="en-US" sz="1500" dirty="0"/>
          </a:p>
        </p:txBody>
      </p:sp>
      <p:sp>
        <p:nvSpPr>
          <p:cNvPr id="32" name="Shape 24"/>
          <p:cNvSpPr/>
          <p:nvPr/>
        </p:nvSpPr>
        <p:spPr>
          <a:xfrm>
            <a:off x="3371850" y="4165092"/>
            <a:ext cx="2622042" cy="2125980"/>
          </a:xfrm>
          <a:prstGeom prst="roundRect">
            <a:avLst>
              <a:gd name="adj" fmla="val 3441"/>
            </a:avLst>
          </a:prstGeom>
          <a:solidFill>
            <a:schemeClr val="bg1"/>
          </a:solidFill>
          <a:ln w="9525">
            <a:solidFill>
              <a:srgbClr val="D5DCE6"/>
            </a:solidFill>
            <a:prstDash val="solid"/>
          </a:ln>
        </p:spPr>
      </p:sp>
      <p:pic>
        <p:nvPicPr>
          <p:cNvPr id="33" name="illustration" descr="de pan">    </p:cNvPr>
          <p:cNvPicPr>
            <a:picLocks noChangeAspect="1"/>
          </p:cNvPicPr>
          <p:nvPr/>
        </p:nvPicPr>
        <p:blipFill>
          <a:blip r:embed="rId6"/>
          <a:stretch>
            <a:fillRect/>
          </a:stretch>
        </p:blipFill>
        <p:spPr>
          <a:xfrm>
            <a:off x="3907184" y="4238244"/>
            <a:ext cx="1551374" cy="1284732"/>
          </a:xfrm>
          <a:prstGeom prst="rect">
            <a:avLst/>
          </a:prstGeom>
        </p:spPr>
      </p:pic>
      <p:sp>
        <p:nvSpPr>
          <p:cNvPr id="34" name="Shape 25"/>
          <p:cNvSpPr/>
          <p:nvPr/>
        </p:nvSpPr>
        <p:spPr>
          <a:xfrm>
            <a:off x="3463290" y="4256532"/>
            <a:ext cx="365760" cy="365760"/>
          </a:xfrm>
          <a:prstGeom prst="ellipse">
            <a:avLst/>
          </a:prstGeom>
          <a:solidFill>
            <a:schemeClr val="tx2"/>
          </a:solidFill>
          <a:ln/>
        </p:spPr>
      </p:sp>
      <p:sp>
        <p:nvSpPr>
          <p:cNvPr id="35" name="Text 26"/>
          <p:cNvSpPr txBox="1"/>
          <p:nvPr/>
        </p:nvSpPr>
        <p:spPr>
          <a:xfrm>
            <a:off x="346329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6" name="Text 27"/>
          <p:cNvSpPr txBox="1"/>
          <p:nvPr/>
        </p:nvSpPr>
        <p:spPr>
          <a:xfrm>
            <a:off x="3426714" y="5541264"/>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de pan</a:t>
            </a:r>
            <a:endParaRPr lang="en-US" sz="1500" dirty="0"/>
          </a:p>
        </p:txBody>
      </p:sp>
      <p:sp>
        <p:nvSpPr>
          <p:cNvPr id="37" name="Shape 28"/>
          <p:cNvSpPr/>
          <p:nvPr/>
        </p:nvSpPr>
        <p:spPr>
          <a:xfrm>
            <a:off x="6195060" y="4165092"/>
            <a:ext cx="2622042" cy="2125980"/>
          </a:xfrm>
          <a:prstGeom prst="roundRect">
            <a:avLst>
              <a:gd name="adj" fmla="val 3441"/>
            </a:avLst>
          </a:prstGeom>
          <a:solidFill>
            <a:schemeClr val="bg1"/>
          </a:solidFill>
          <a:ln w="9525">
            <a:solidFill>
              <a:srgbClr val="D5DCE6"/>
            </a:solidFill>
            <a:prstDash val="solid"/>
          </a:ln>
        </p:spPr>
      </p:sp>
      <p:pic>
        <p:nvPicPr>
          <p:cNvPr id="38" name="illustration" descr="het boek">    </p:cNvPr>
          <p:cNvPicPr>
            <a:picLocks noChangeAspect="1"/>
          </p:cNvPicPr>
          <p:nvPr/>
        </p:nvPicPr>
        <p:blipFill>
          <a:blip r:embed="rId7"/>
          <a:stretch>
            <a:fillRect/>
          </a:stretch>
        </p:blipFill>
        <p:spPr>
          <a:xfrm>
            <a:off x="6703907" y="4238244"/>
            <a:ext cx="1604348" cy="1284732"/>
          </a:xfrm>
          <a:prstGeom prst="rect">
            <a:avLst/>
          </a:prstGeom>
        </p:spPr>
      </p:pic>
      <p:sp>
        <p:nvSpPr>
          <p:cNvPr id="39" name="Shape 29"/>
          <p:cNvSpPr/>
          <p:nvPr/>
        </p:nvSpPr>
        <p:spPr>
          <a:xfrm>
            <a:off x="6286500" y="4256532"/>
            <a:ext cx="365760" cy="365760"/>
          </a:xfrm>
          <a:prstGeom prst="ellipse">
            <a:avLst/>
          </a:prstGeom>
          <a:solidFill>
            <a:schemeClr val="tx2"/>
          </a:solidFill>
          <a:ln/>
        </p:spPr>
      </p:sp>
      <p:sp>
        <p:nvSpPr>
          <p:cNvPr id="40" name="Text 30"/>
          <p:cNvSpPr txBox="1"/>
          <p:nvPr/>
        </p:nvSpPr>
        <p:spPr>
          <a:xfrm>
            <a:off x="628650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1" name="Text 31"/>
          <p:cNvSpPr txBox="1"/>
          <p:nvPr/>
        </p:nvSpPr>
        <p:spPr>
          <a:xfrm>
            <a:off x="6249924" y="5541264"/>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het boek</a:t>
            </a:r>
            <a:endParaRPr lang="en-US" sz="1500" dirty="0"/>
          </a:p>
        </p:txBody>
      </p:sp>
      <p:sp>
        <p:nvSpPr>
          <p:cNvPr id="42" name="Shape 32"/>
          <p:cNvSpPr/>
          <p:nvPr/>
        </p:nvSpPr>
        <p:spPr>
          <a:xfrm>
            <a:off x="9018270" y="4165092"/>
            <a:ext cx="2622042" cy="2125980"/>
          </a:xfrm>
          <a:prstGeom prst="roundRect">
            <a:avLst>
              <a:gd name="adj" fmla="val 3441"/>
            </a:avLst>
          </a:prstGeom>
          <a:solidFill>
            <a:schemeClr val="bg1"/>
          </a:solidFill>
          <a:ln w="9525">
            <a:solidFill>
              <a:srgbClr val="D5DCE6"/>
            </a:solidFill>
            <a:prstDash val="solid"/>
          </a:ln>
        </p:spPr>
      </p:sp>
      <p:pic>
        <p:nvPicPr>
          <p:cNvPr id="43" name="illustration" descr="het raam">    </p:cNvPr>
          <p:cNvPicPr>
            <a:picLocks noChangeAspect="1"/>
          </p:cNvPicPr>
          <p:nvPr/>
        </p:nvPicPr>
        <p:blipFill>
          <a:blip r:embed="rId8"/>
          <a:stretch>
            <a:fillRect/>
          </a:stretch>
        </p:blipFill>
        <p:spPr>
          <a:xfrm>
            <a:off x="9508316" y="4238244"/>
            <a:ext cx="1641950" cy="1284732"/>
          </a:xfrm>
          <a:prstGeom prst="rect">
            <a:avLst/>
          </a:prstGeom>
        </p:spPr>
      </p:pic>
      <p:sp>
        <p:nvSpPr>
          <p:cNvPr id="44" name="Shape 33"/>
          <p:cNvSpPr/>
          <p:nvPr/>
        </p:nvSpPr>
        <p:spPr>
          <a:xfrm>
            <a:off x="9109710" y="4256532"/>
            <a:ext cx="365760" cy="365760"/>
          </a:xfrm>
          <a:prstGeom prst="ellipse">
            <a:avLst/>
          </a:prstGeom>
          <a:solidFill>
            <a:schemeClr val="tx2"/>
          </a:solidFill>
          <a:ln/>
        </p:spPr>
      </p:sp>
      <p:sp>
        <p:nvSpPr>
          <p:cNvPr id="45" name="Text 34"/>
          <p:cNvSpPr txBox="1"/>
          <p:nvPr/>
        </p:nvSpPr>
        <p:spPr>
          <a:xfrm>
            <a:off x="910971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6" name="Text 35"/>
          <p:cNvSpPr txBox="1"/>
          <p:nvPr/>
        </p:nvSpPr>
        <p:spPr>
          <a:xfrm>
            <a:off x="9073134" y="5541264"/>
            <a:ext cx="2512314" cy="713232"/>
          </a:xfrm>
          <a:prstGeom prst="rect">
            <a:avLst/>
          </a:prstGeom>
          <a:noFill/>
          <a:ln/>
        </p:spPr>
        <p:txBody>
          <a:bodyPr wrap="square" lIns="0" tIns="0" rIns="0" bIns="0" rtlCol="0" anchor="ctr"/>
          <a:lstStyle/>
          <a:p>
            <a:pPr algn="ctr" indent="0" marL="0">
              <a:buNone/>
            </a:pPr>
            <a:r>
              <a:rPr lang="en-US" sz="1500" i="1" dirty="0">
                <a:solidFill>
                  <a:schemeClr val="accent5"/>
                </a:solidFill>
              </a:rPr>
              <a:t>het raam</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Maak het klein! Le diminutif en images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63040"/>
            <a:ext cx="11091672" cy="329184"/>
          </a:xfrm>
          <a:prstGeom prst="rect">
            <a:avLst/>
          </a:prstGeom>
          <a:noFill/>
          <a:ln/>
        </p:spPr>
        <p:txBody>
          <a:bodyPr wrap="square" lIns="0" tIns="0" rIns="0" bIns="0" rtlCol="0" anchor="ctr"/>
          <a:lstStyle/>
          <a:p>
            <a:pPr indent="0" marL="0">
              <a:buNone/>
            </a:pPr>
            <a:r>
              <a:rPr lang="en-US" sz="1500" i="1" dirty="0">
                <a:solidFill>
                  <a:schemeClr val="accent5"/>
                </a:solidFill>
              </a:rPr>
              <a:t>Sous l’image : le mot de base. Donnez le </a:t>
            </a:r>
            <a:r>
              <a:rPr lang="en-US" sz="1500" b="1" i="1" dirty="0">
                <a:solidFill>
                  <a:schemeClr val="accent5"/>
                </a:solidFill>
              </a:rPr>
              <a:t>diminutif</a:t>
            </a:r>
            <a:r>
              <a:rPr lang="en-US" sz="1500" i="1" dirty="0">
                <a:solidFill>
                  <a:schemeClr val="accent5"/>
                </a:solidFill>
              </a:rPr>
              <a:t> avec son article.</a:t>
            </a:r>
            <a:endParaRPr lang="en-US" sz="1500" dirty="0"/>
          </a:p>
        </p:txBody>
      </p:sp>
      <p:sp>
        <p:nvSpPr>
          <p:cNvPr id="8" name="Shape 5"/>
          <p:cNvSpPr/>
          <p:nvPr/>
        </p:nvSpPr>
        <p:spPr>
          <a:xfrm>
            <a:off x="548640" y="1874520"/>
            <a:ext cx="2622042" cy="2125980"/>
          </a:xfrm>
          <a:prstGeom prst="roundRect">
            <a:avLst>
              <a:gd name="adj" fmla="val 3441"/>
            </a:avLst>
          </a:prstGeom>
          <a:solidFill>
            <a:schemeClr val="bg1"/>
          </a:solidFill>
          <a:ln w="19050">
            <a:solidFill>
              <a:srgbClr val="B4236A"/>
            </a:solidFill>
            <a:prstDash val="solid"/>
          </a:ln>
        </p:spPr>
      </p:sp>
      <p:pic>
        <p:nvPicPr>
          <p:cNvPr id="9" name="illustration" descr="de vis">    </p:cNvPr>
          <p:cNvPicPr>
            <a:picLocks noChangeAspect="1"/>
          </p:cNvPicPr>
          <p:nvPr/>
        </p:nvPicPr>
        <p:blipFill>
          <a:blip r:embed="rId1"/>
          <a:stretch>
            <a:fillRect/>
          </a:stretch>
        </p:blipFill>
        <p:spPr>
          <a:xfrm>
            <a:off x="1053555" y="1947672"/>
            <a:ext cx="1612213" cy="1284732"/>
          </a:xfrm>
          <a:prstGeom prst="rect">
            <a:avLst/>
          </a:prstGeom>
        </p:spPr>
      </p:pic>
      <p:sp>
        <p:nvSpPr>
          <p:cNvPr id="10" name="Shape 6"/>
          <p:cNvSpPr/>
          <p:nvPr/>
        </p:nvSpPr>
        <p:spPr>
          <a:xfrm>
            <a:off x="640080" y="1965960"/>
            <a:ext cx="365760" cy="365760"/>
          </a:xfrm>
          <a:prstGeom prst="ellipse">
            <a:avLst/>
          </a:prstGeom>
          <a:solidFill>
            <a:schemeClr val="tx2"/>
          </a:solidFill>
          <a:ln/>
        </p:spPr>
      </p:sp>
      <p:sp>
        <p:nvSpPr>
          <p:cNvPr id="11" name="Text 7"/>
          <p:cNvSpPr txBox="1"/>
          <p:nvPr/>
        </p:nvSpPr>
        <p:spPr>
          <a:xfrm>
            <a:off x="64008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2" name="Text 8"/>
          <p:cNvSpPr txBox="1"/>
          <p:nvPr/>
        </p:nvSpPr>
        <p:spPr>
          <a:xfrm>
            <a:off x="603504" y="3250692"/>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visje</a:t>
            </a:r>
            <a:endParaRPr lang="en-US" sz="2000" dirty="0"/>
          </a:p>
          <a:p>
            <a:pPr algn="ctr" indent="0" marL="0">
              <a:buNone/>
            </a:pPr>
            <a:r>
              <a:rPr lang="en-US" sz="1300" i="1" dirty="0">
                <a:solidFill>
                  <a:schemeClr val="accent5"/>
                </a:solidFill>
              </a:rPr>
              <a:t>de vis</a:t>
            </a:r>
            <a:endParaRPr lang="en-US" sz="2000" dirty="0"/>
          </a:p>
        </p:txBody>
      </p:sp>
      <p:sp>
        <p:nvSpPr>
          <p:cNvPr id="13" name="Shape 9"/>
          <p:cNvSpPr/>
          <p:nvPr/>
        </p:nvSpPr>
        <p:spPr>
          <a:xfrm>
            <a:off x="3371850" y="1874520"/>
            <a:ext cx="2622042" cy="2125980"/>
          </a:xfrm>
          <a:prstGeom prst="roundRect">
            <a:avLst>
              <a:gd name="adj" fmla="val 3441"/>
            </a:avLst>
          </a:prstGeom>
          <a:solidFill>
            <a:schemeClr val="bg1"/>
          </a:solidFill>
          <a:ln w="19050">
            <a:solidFill>
              <a:srgbClr val="B4236A"/>
            </a:solidFill>
            <a:prstDash val="solid"/>
          </a:ln>
        </p:spPr>
      </p:sp>
      <p:pic>
        <p:nvPicPr>
          <p:cNvPr id="14" name="illustration" descr="de boot">    </p:cNvPr>
          <p:cNvPicPr>
            <a:picLocks noChangeAspect="1"/>
          </p:cNvPicPr>
          <p:nvPr/>
        </p:nvPicPr>
        <p:blipFill>
          <a:blip r:embed="rId2"/>
          <a:stretch>
            <a:fillRect/>
          </a:stretch>
        </p:blipFill>
        <p:spPr>
          <a:xfrm>
            <a:off x="3857872" y="1947672"/>
            <a:ext cx="1649999" cy="1284732"/>
          </a:xfrm>
          <a:prstGeom prst="rect">
            <a:avLst/>
          </a:prstGeom>
        </p:spPr>
      </p:pic>
      <p:sp>
        <p:nvSpPr>
          <p:cNvPr id="15" name="Shape 10"/>
          <p:cNvSpPr/>
          <p:nvPr/>
        </p:nvSpPr>
        <p:spPr>
          <a:xfrm>
            <a:off x="3463290" y="1965960"/>
            <a:ext cx="365760" cy="365760"/>
          </a:xfrm>
          <a:prstGeom prst="ellipse">
            <a:avLst/>
          </a:prstGeom>
          <a:solidFill>
            <a:schemeClr val="tx2"/>
          </a:solidFill>
          <a:ln/>
        </p:spPr>
      </p:sp>
      <p:sp>
        <p:nvSpPr>
          <p:cNvPr id="16" name="Text 11"/>
          <p:cNvSpPr txBox="1"/>
          <p:nvPr/>
        </p:nvSpPr>
        <p:spPr>
          <a:xfrm>
            <a:off x="346329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7" name="Text 12"/>
          <p:cNvSpPr txBox="1"/>
          <p:nvPr/>
        </p:nvSpPr>
        <p:spPr>
          <a:xfrm>
            <a:off x="3426714" y="3250692"/>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bootje</a:t>
            </a:r>
            <a:endParaRPr lang="en-US" sz="2000" dirty="0"/>
          </a:p>
          <a:p>
            <a:pPr algn="ctr" indent="0" marL="0">
              <a:buNone/>
            </a:pPr>
            <a:r>
              <a:rPr lang="en-US" sz="1300" i="1" dirty="0">
                <a:solidFill>
                  <a:schemeClr val="accent5"/>
                </a:solidFill>
              </a:rPr>
              <a:t>de boot</a:t>
            </a:r>
            <a:endParaRPr lang="en-US" sz="2000" dirty="0"/>
          </a:p>
        </p:txBody>
      </p:sp>
      <p:sp>
        <p:nvSpPr>
          <p:cNvPr id="18" name="Shape 13"/>
          <p:cNvSpPr/>
          <p:nvPr/>
        </p:nvSpPr>
        <p:spPr>
          <a:xfrm>
            <a:off x="6195060" y="1874520"/>
            <a:ext cx="2622042" cy="2125980"/>
          </a:xfrm>
          <a:prstGeom prst="roundRect">
            <a:avLst>
              <a:gd name="adj" fmla="val 3441"/>
            </a:avLst>
          </a:prstGeom>
          <a:solidFill>
            <a:schemeClr val="bg1"/>
          </a:solidFill>
          <a:ln w="19050">
            <a:solidFill>
              <a:srgbClr val="B4236A"/>
            </a:solidFill>
            <a:prstDash val="solid"/>
          </a:ln>
        </p:spPr>
      </p:sp>
      <p:pic>
        <p:nvPicPr>
          <p:cNvPr id="19" name="illustration" descr="de tas">    </p:cNvPr>
          <p:cNvPicPr>
            <a:picLocks noChangeAspect="1"/>
          </p:cNvPicPr>
          <p:nvPr/>
        </p:nvPicPr>
        <p:blipFill>
          <a:blip r:embed="rId3"/>
          <a:stretch>
            <a:fillRect/>
          </a:stretch>
        </p:blipFill>
        <p:spPr>
          <a:xfrm>
            <a:off x="6699975" y="1947672"/>
            <a:ext cx="1612213" cy="1284732"/>
          </a:xfrm>
          <a:prstGeom prst="rect">
            <a:avLst/>
          </a:prstGeom>
        </p:spPr>
      </p:pic>
      <p:sp>
        <p:nvSpPr>
          <p:cNvPr id="20" name="Shape 14"/>
          <p:cNvSpPr/>
          <p:nvPr/>
        </p:nvSpPr>
        <p:spPr>
          <a:xfrm>
            <a:off x="6286500" y="1965960"/>
            <a:ext cx="365760" cy="365760"/>
          </a:xfrm>
          <a:prstGeom prst="ellipse">
            <a:avLst/>
          </a:prstGeom>
          <a:solidFill>
            <a:schemeClr val="tx2"/>
          </a:solidFill>
          <a:ln/>
        </p:spPr>
      </p:sp>
      <p:sp>
        <p:nvSpPr>
          <p:cNvPr id="21" name="Text 15"/>
          <p:cNvSpPr txBox="1"/>
          <p:nvPr/>
        </p:nvSpPr>
        <p:spPr>
          <a:xfrm>
            <a:off x="628650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2" name="Text 16"/>
          <p:cNvSpPr txBox="1"/>
          <p:nvPr/>
        </p:nvSpPr>
        <p:spPr>
          <a:xfrm>
            <a:off x="6249924" y="3250692"/>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tasje</a:t>
            </a:r>
            <a:endParaRPr lang="en-US" sz="2000" dirty="0"/>
          </a:p>
          <a:p>
            <a:pPr algn="ctr" indent="0" marL="0">
              <a:buNone/>
            </a:pPr>
            <a:r>
              <a:rPr lang="en-US" sz="1300" i="1" dirty="0">
                <a:solidFill>
                  <a:schemeClr val="accent5"/>
                </a:solidFill>
              </a:rPr>
              <a:t>de tas</a:t>
            </a:r>
            <a:endParaRPr lang="en-US" sz="2000" dirty="0"/>
          </a:p>
        </p:txBody>
      </p:sp>
      <p:sp>
        <p:nvSpPr>
          <p:cNvPr id="23" name="Shape 17"/>
          <p:cNvSpPr/>
          <p:nvPr/>
        </p:nvSpPr>
        <p:spPr>
          <a:xfrm>
            <a:off x="9018270" y="1874520"/>
            <a:ext cx="2622042" cy="2125980"/>
          </a:xfrm>
          <a:prstGeom prst="roundRect">
            <a:avLst>
              <a:gd name="adj" fmla="val 3441"/>
            </a:avLst>
          </a:prstGeom>
          <a:solidFill>
            <a:schemeClr val="bg1"/>
          </a:solidFill>
          <a:ln w="19050">
            <a:solidFill>
              <a:srgbClr val="B4236A"/>
            </a:solidFill>
            <a:prstDash val="solid"/>
          </a:ln>
        </p:spPr>
      </p:sp>
      <p:pic>
        <p:nvPicPr>
          <p:cNvPr id="24" name="illustration" descr="de rok">    </p:cNvPr>
          <p:cNvPicPr>
            <a:picLocks noChangeAspect="1"/>
          </p:cNvPicPr>
          <p:nvPr/>
        </p:nvPicPr>
        <p:blipFill>
          <a:blip r:embed="rId4"/>
          <a:stretch>
            <a:fillRect/>
          </a:stretch>
        </p:blipFill>
        <p:spPr>
          <a:xfrm>
            <a:off x="9560853" y="1947672"/>
            <a:ext cx="1536876" cy="1284732"/>
          </a:xfrm>
          <a:prstGeom prst="rect">
            <a:avLst/>
          </a:prstGeom>
        </p:spPr>
      </p:pic>
      <p:sp>
        <p:nvSpPr>
          <p:cNvPr id="25" name="Shape 18"/>
          <p:cNvSpPr/>
          <p:nvPr/>
        </p:nvSpPr>
        <p:spPr>
          <a:xfrm>
            <a:off x="9109710" y="1965960"/>
            <a:ext cx="365760" cy="365760"/>
          </a:xfrm>
          <a:prstGeom prst="ellipse">
            <a:avLst/>
          </a:prstGeom>
          <a:solidFill>
            <a:schemeClr val="tx2"/>
          </a:solidFill>
          <a:ln/>
        </p:spPr>
      </p:sp>
      <p:sp>
        <p:nvSpPr>
          <p:cNvPr id="26" name="Text 19"/>
          <p:cNvSpPr txBox="1"/>
          <p:nvPr/>
        </p:nvSpPr>
        <p:spPr>
          <a:xfrm>
            <a:off x="9109710"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Text 20"/>
          <p:cNvSpPr txBox="1"/>
          <p:nvPr/>
        </p:nvSpPr>
        <p:spPr>
          <a:xfrm>
            <a:off x="9073134" y="3250692"/>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rokje</a:t>
            </a:r>
            <a:endParaRPr lang="en-US" sz="2000" dirty="0"/>
          </a:p>
          <a:p>
            <a:pPr algn="ctr" indent="0" marL="0">
              <a:buNone/>
            </a:pPr>
            <a:r>
              <a:rPr lang="en-US" sz="1300" i="1" dirty="0">
                <a:solidFill>
                  <a:schemeClr val="accent5"/>
                </a:solidFill>
              </a:rPr>
              <a:t>de rok</a:t>
            </a:r>
            <a:endParaRPr lang="en-US" sz="2000" dirty="0"/>
          </a:p>
        </p:txBody>
      </p:sp>
      <p:sp>
        <p:nvSpPr>
          <p:cNvPr id="28" name="Shape 21"/>
          <p:cNvSpPr/>
          <p:nvPr/>
        </p:nvSpPr>
        <p:spPr>
          <a:xfrm>
            <a:off x="548640" y="4165092"/>
            <a:ext cx="2622042" cy="2125980"/>
          </a:xfrm>
          <a:prstGeom prst="roundRect">
            <a:avLst>
              <a:gd name="adj" fmla="val 3441"/>
            </a:avLst>
          </a:prstGeom>
          <a:solidFill>
            <a:schemeClr val="bg1"/>
          </a:solidFill>
          <a:ln w="19050">
            <a:solidFill>
              <a:srgbClr val="B4236A"/>
            </a:solidFill>
            <a:prstDash val="solid"/>
          </a:ln>
        </p:spPr>
      </p:sp>
      <p:pic>
        <p:nvPicPr>
          <p:cNvPr id="29" name="illustration" descr="de auto">    </p:cNvPr>
          <p:cNvPicPr>
            <a:picLocks noChangeAspect="1"/>
          </p:cNvPicPr>
          <p:nvPr/>
        </p:nvPicPr>
        <p:blipFill>
          <a:blip r:embed="rId5"/>
          <a:stretch>
            <a:fillRect/>
          </a:stretch>
        </p:blipFill>
        <p:spPr>
          <a:xfrm>
            <a:off x="1083974" y="4238244"/>
            <a:ext cx="1551374" cy="1284732"/>
          </a:xfrm>
          <a:prstGeom prst="rect">
            <a:avLst/>
          </a:prstGeom>
        </p:spPr>
      </p:pic>
      <p:sp>
        <p:nvSpPr>
          <p:cNvPr id="30" name="Shape 22"/>
          <p:cNvSpPr/>
          <p:nvPr/>
        </p:nvSpPr>
        <p:spPr>
          <a:xfrm>
            <a:off x="640080" y="4256532"/>
            <a:ext cx="365760" cy="365760"/>
          </a:xfrm>
          <a:prstGeom prst="ellipse">
            <a:avLst/>
          </a:prstGeom>
          <a:solidFill>
            <a:schemeClr val="tx2"/>
          </a:solidFill>
          <a:ln/>
        </p:spPr>
      </p:sp>
      <p:sp>
        <p:nvSpPr>
          <p:cNvPr id="31" name="Text 23"/>
          <p:cNvSpPr txBox="1"/>
          <p:nvPr/>
        </p:nvSpPr>
        <p:spPr>
          <a:xfrm>
            <a:off x="64008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2" name="Text 24"/>
          <p:cNvSpPr txBox="1"/>
          <p:nvPr/>
        </p:nvSpPr>
        <p:spPr>
          <a:xfrm>
            <a:off x="603504" y="5541264"/>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autootje</a:t>
            </a:r>
            <a:endParaRPr lang="en-US" sz="2000" dirty="0"/>
          </a:p>
          <a:p>
            <a:pPr algn="ctr" indent="0" marL="0">
              <a:buNone/>
            </a:pPr>
            <a:r>
              <a:rPr lang="en-US" sz="1300" i="1" dirty="0">
                <a:solidFill>
                  <a:schemeClr val="accent5"/>
                </a:solidFill>
              </a:rPr>
              <a:t>de auto</a:t>
            </a:r>
            <a:endParaRPr lang="en-US" sz="2000" dirty="0"/>
          </a:p>
        </p:txBody>
      </p:sp>
      <p:sp>
        <p:nvSpPr>
          <p:cNvPr id="33" name="Shape 25"/>
          <p:cNvSpPr/>
          <p:nvPr/>
        </p:nvSpPr>
        <p:spPr>
          <a:xfrm>
            <a:off x="3371850" y="4165092"/>
            <a:ext cx="2622042" cy="2125980"/>
          </a:xfrm>
          <a:prstGeom prst="roundRect">
            <a:avLst>
              <a:gd name="adj" fmla="val 3441"/>
            </a:avLst>
          </a:prstGeom>
          <a:solidFill>
            <a:schemeClr val="bg1"/>
          </a:solidFill>
          <a:ln w="19050">
            <a:solidFill>
              <a:srgbClr val="B4236A"/>
            </a:solidFill>
            <a:prstDash val="solid"/>
          </a:ln>
        </p:spPr>
      </p:sp>
      <p:pic>
        <p:nvPicPr>
          <p:cNvPr id="34" name="illustration" descr="de pan">    </p:cNvPr>
          <p:cNvPicPr>
            <a:picLocks noChangeAspect="1"/>
          </p:cNvPicPr>
          <p:nvPr/>
        </p:nvPicPr>
        <p:blipFill>
          <a:blip r:embed="rId6"/>
          <a:stretch>
            <a:fillRect/>
          </a:stretch>
        </p:blipFill>
        <p:spPr>
          <a:xfrm>
            <a:off x="3907184" y="4238244"/>
            <a:ext cx="1551374" cy="1284732"/>
          </a:xfrm>
          <a:prstGeom prst="rect">
            <a:avLst/>
          </a:prstGeom>
        </p:spPr>
      </p:pic>
      <p:sp>
        <p:nvSpPr>
          <p:cNvPr id="35" name="Shape 26"/>
          <p:cNvSpPr/>
          <p:nvPr/>
        </p:nvSpPr>
        <p:spPr>
          <a:xfrm>
            <a:off x="3463290" y="4256532"/>
            <a:ext cx="365760" cy="365760"/>
          </a:xfrm>
          <a:prstGeom prst="ellipse">
            <a:avLst/>
          </a:prstGeom>
          <a:solidFill>
            <a:schemeClr val="tx2"/>
          </a:solidFill>
          <a:ln/>
        </p:spPr>
      </p:sp>
      <p:sp>
        <p:nvSpPr>
          <p:cNvPr id="36" name="Text 27"/>
          <p:cNvSpPr txBox="1"/>
          <p:nvPr/>
        </p:nvSpPr>
        <p:spPr>
          <a:xfrm>
            <a:off x="346329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7" name="Text 28"/>
          <p:cNvSpPr txBox="1"/>
          <p:nvPr/>
        </p:nvSpPr>
        <p:spPr>
          <a:xfrm>
            <a:off x="3426714" y="5541264"/>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pannetje</a:t>
            </a:r>
            <a:endParaRPr lang="en-US" sz="2000" dirty="0"/>
          </a:p>
          <a:p>
            <a:pPr algn="ctr" indent="0" marL="0">
              <a:buNone/>
            </a:pPr>
            <a:r>
              <a:rPr lang="en-US" sz="1300" i="1" dirty="0">
                <a:solidFill>
                  <a:schemeClr val="accent5"/>
                </a:solidFill>
              </a:rPr>
              <a:t>de pan</a:t>
            </a:r>
            <a:endParaRPr lang="en-US" sz="2000" dirty="0"/>
          </a:p>
        </p:txBody>
      </p:sp>
      <p:sp>
        <p:nvSpPr>
          <p:cNvPr id="38" name="Shape 29"/>
          <p:cNvSpPr/>
          <p:nvPr/>
        </p:nvSpPr>
        <p:spPr>
          <a:xfrm>
            <a:off x="6195060" y="4165092"/>
            <a:ext cx="2622042" cy="2125980"/>
          </a:xfrm>
          <a:prstGeom prst="roundRect">
            <a:avLst>
              <a:gd name="adj" fmla="val 3441"/>
            </a:avLst>
          </a:prstGeom>
          <a:solidFill>
            <a:schemeClr val="bg1"/>
          </a:solidFill>
          <a:ln w="19050">
            <a:solidFill>
              <a:srgbClr val="B4236A"/>
            </a:solidFill>
            <a:prstDash val="solid"/>
          </a:ln>
        </p:spPr>
      </p:sp>
      <p:pic>
        <p:nvPicPr>
          <p:cNvPr id="39" name="illustration" descr="het boek">    </p:cNvPr>
          <p:cNvPicPr>
            <a:picLocks noChangeAspect="1"/>
          </p:cNvPicPr>
          <p:nvPr/>
        </p:nvPicPr>
        <p:blipFill>
          <a:blip r:embed="rId7"/>
          <a:stretch>
            <a:fillRect/>
          </a:stretch>
        </p:blipFill>
        <p:spPr>
          <a:xfrm>
            <a:off x="6703907" y="4238244"/>
            <a:ext cx="1604348" cy="1284732"/>
          </a:xfrm>
          <a:prstGeom prst="rect">
            <a:avLst/>
          </a:prstGeom>
        </p:spPr>
      </p:pic>
      <p:sp>
        <p:nvSpPr>
          <p:cNvPr id="40" name="Shape 30"/>
          <p:cNvSpPr/>
          <p:nvPr/>
        </p:nvSpPr>
        <p:spPr>
          <a:xfrm>
            <a:off x="6286500" y="4256532"/>
            <a:ext cx="365760" cy="365760"/>
          </a:xfrm>
          <a:prstGeom prst="ellipse">
            <a:avLst/>
          </a:prstGeom>
          <a:solidFill>
            <a:schemeClr val="tx2"/>
          </a:solidFill>
          <a:ln/>
        </p:spPr>
      </p:sp>
      <p:sp>
        <p:nvSpPr>
          <p:cNvPr id="41" name="Text 31"/>
          <p:cNvSpPr txBox="1"/>
          <p:nvPr/>
        </p:nvSpPr>
        <p:spPr>
          <a:xfrm>
            <a:off x="628650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2" name="Text 32"/>
          <p:cNvSpPr txBox="1"/>
          <p:nvPr/>
        </p:nvSpPr>
        <p:spPr>
          <a:xfrm>
            <a:off x="6249924" y="5541264"/>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boekje</a:t>
            </a:r>
            <a:endParaRPr lang="en-US" sz="2000" dirty="0"/>
          </a:p>
          <a:p>
            <a:pPr algn="ctr" indent="0" marL="0">
              <a:buNone/>
            </a:pPr>
            <a:r>
              <a:rPr lang="en-US" sz="1300" i="1" dirty="0">
                <a:solidFill>
                  <a:schemeClr val="accent5"/>
                </a:solidFill>
              </a:rPr>
              <a:t>het boek</a:t>
            </a:r>
            <a:endParaRPr lang="en-US" sz="2000" dirty="0"/>
          </a:p>
        </p:txBody>
      </p:sp>
      <p:sp>
        <p:nvSpPr>
          <p:cNvPr id="43" name="Shape 33"/>
          <p:cNvSpPr/>
          <p:nvPr/>
        </p:nvSpPr>
        <p:spPr>
          <a:xfrm>
            <a:off x="9018270" y="4165092"/>
            <a:ext cx="2622042" cy="2125980"/>
          </a:xfrm>
          <a:prstGeom prst="roundRect">
            <a:avLst>
              <a:gd name="adj" fmla="val 3441"/>
            </a:avLst>
          </a:prstGeom>
          <a:solidFill>
            <a:schemeClr val="bg1"/>
          </a:solidFill>
          <a:ln w="19050">
            <a:solidFill>
              <a:srgbClr val="B4236A"/>
            </a:solidFill>
            <a:prstDash val="solid"/>
          </a:ln>
        </p:spPr>
      </p:sp>
      <p:pic>
        <p:nvPicPr>
          <p:cNvPr id="44" name="illustration" descr="het raam">    </p:cNvPr>
          <p:cNvPicPr>
            <a:picLocks noChangeAspect="1"/>
          </p:cNvPicPr>
          <p:nvPr/>
        </p:nvPicPr>
        <p:blipFill>
          <a:blip r:embed="rId8"/>
          <a:stretch>
            <a:fillRect/>
          </a:stretch>
        </p:blipFill>
        <p:spPr>
          <a:xfrm>
            <a:off x="9508316" y="4238244"/>
            <a:ext cx="1641950" cy="1284732"/>
          </a:xfrm>
          <a:prstGeom prst="rect">
            <a:avLst/>
          </a:prstGeom>
        </p:spPr>
      </p:pic>
      <p:sp>
        <p:nvSpPr>
          <p:cNvPr id="45" name="Shape 34"/>
          <p:cNvSpPr/>
          <p:nvPr/>
        </p:nvSpPr>
        <p:spPr>
          <a:xfrm>
            <a:off x="9109710" y="4256532"/>
            <a:ext cx="365760" cy="365760"/>
          </a:xfrm>
          <a:prstGeom prst="ellipse">
            <a:avLst/>
          </a:prstGeom>
          <a:solidFill>
            <a:schemeClr val="tx2"/>
          </a:solidFill>
          <a:ln/>
        </p:spPr>
      </p:sp>
      <p:sp>
        <p:nvSpPr>
          <p:cNvPr id="46" name="Text 35"/>
          <p:cNvSpPr txBox="1"/>
          <p:nvPr/>
        </p:nvSpPr>
        <p:spPr>
          <a:xfrm>
            <a:off x="9109710" y="42565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7" name="Text 36"/>
          <p:cNvSpPr txBox="1"/>
          <p:nvPr/>
        </p:nvSpPr>
        <p:spPr>
          <a:xfrm>
            <a:off x="9073134" y="5541264"/>
            <a:ext cx="2512314" cy="713232"/>
          </a:xfrm>
          <a:prstGeom prst="rect">
            <a:avLst/>
          </a:prstGeom>
          <a:noFill/>
          <a:ln/>
        </p:spPr>
        <p:txBody>
          <a:bodyPr wrap="square" lIns="0" tIns="0" rIns="0" bIns="0" rtlCol="0" anchor="ctr"/>
          <a:lstStyle/>
          <a:p>
            <a:pPr algn="ctr" indent="0" marL="0">
              <a:buNone/>
            </a:pPr>
            <a:r>
              <a:rPr lang="en-US" sz="2000" b="1" dirty="0">
                <a:solidFill>
                  <a:schemeClr val="accent4"/>
                </a:solidFill>
              </a:rPr>
              <a:t>het </a:t>
            </a:r>
            <a:r>
              <a:rPr lang="en-US" sz="2000" b="1" dirty="0">
                <a:solidFill>
                  <a:schemeClr val="tx1"/>
                </a:solidFill>
              </a:rPr>
              <a:t>raampje</a:t>
            </a:r>
            <a:endParaRPr lang="en-US" sz="2000" dirty="0"/>
          </a:p>
          <a:p>
            <a:pPr algn="ctr" indent="0" marL="0">
              <a:buNone/>
            </a:pPr>
            <a:r>
              <a:rPr lang="en-US" sz="1300" i="1" dirty="0">
                <a:solidFill>
                  <a:schemeClr val="accent5"/>
                </a:solidFill>
              </a:rPr>
              <a:t>het raam</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Eten &amp; drinken — manger et boire</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81</a:t>
            </a:r>
            <a:endParaRPr lang="en-US" sz="1200" dirty="0"/>
          </a:p>
        </p:txBody>
      </p:sp>
      <p:sp>
        <p:nvSpPr>
          <p:cNvPr id="6" name="Shape 3"/>
          <p:cNvSpPr/>
          <p:nvPr/>
        </p:nvSpPr>
        <p:spPr>
          <a:xfrm>
            <a:off x="548640" y="1508760"/>
            <a:ext cx="2057400" cy="1484376"/>
          </a:xfrm>
          <a:prstGeom prst="roundRect">
            <a:avLst>
              <a:gd name="adj" fmla="val 4928"/>
            </a:avLst>
          </a:prstGeom>
          <a:solidFill>
            <a:schemeClr val="bg1"/>
          </a:solidFill>
          <a:ln w="9525">
            <a:solidFill>
              <a:srgbClr val="D5DCE6"/>
            </a:solidFill>
            <a:prstDash val="solid"/>
          </a:ln>
        </p:spPr>
      </p:sp>
      <p:pic>
        <p:nvPicPr>
          <p:cNvPr id="7" name="illustration" descr="le pain">    </p:cNvPr>
          <p:cNvPicPr>
            <a:picLocks noChangeAspect="1"/>
          </p:cNvPicPr>
          <p:nvPr/>
        </p:nvPicPr>
        <p:blipFill>
          <a:blip r:embed="rId1"/>
          <a:stretch>
            <a:fillRect/>
          </a:stretch>
        </p:blipFill>
        <p:spPr>
          <a:xfrm>
            <a:off x="1082515" y="1581912"/>
            <a:ext cx="989650" cy="789432"/>
          </a:xfrm>
          <a:prstGeom prst="rect">
            <a:avLst/>
          </a:prstGeom>
        </p:spPr>
      </p:pic>
      <p:sp>
        <p:nvSpPr>
          <p:cNvPr id="8" name="Shape 4"/>
          <p:cNvSpPr/>
          <p:nvPr/>
        </p:nvSpPr>
        <p:spPr>
          <a:xfrm>
            <a:off x="640080" y="1600200"/>
            <a:ext cx="365760" cy="365760"/>
          </a:xfrm>
          <a:prstGeom prst="ellipse">
            <a:avLst/>
          </a:prstGeom>
          <a:solidFill>
            <a:schemeClr val="tx2"/>
          </a:solidFill>
          <a:ln/>
        </p:spPr>
      </p:sp>
      <p:sp>
        <p:nvSpPr>
          <p:cNvPr id="9" name="Text 5"/>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6"/>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1" name="Shape 7"/>
          <p:cNvSpPr/>
          <p:nvPr/>
        </p:nvSpPr>
        <p:spPr>
          <a:xfrm>
            <a:off x="2807208" y="1508760"/>
            <a:ext cx="2057400" cy="1484376"/>
          </a:xfrm>
          <a:prstGeom prst="roundRect">
            <a:avLst>
              <a:gd name="adj" fmla="val 4928"/>
            </a:avLst>
          </a:prstGeom>
          <a:solidFill>
            <a:schemeClr val="bg1"/>
          </a:solidFill>
          <a:ln w="9525">
            <a:solidFill>
              <a:srgbClr val="D5DCE6"/>
            </a:solidFill>
            <a:prstDash val="solid"/>
          </a:ln>
        </p:spPr>
      </p:sp>
      <p:pic>
        <p:nvPicPr>
          <p:cNvPr id="12" name="illustration" descr="le fromage">    </p:cNvPr>
          <p:cNvPicPr>
            <a:picLocks noChangeAspect="1"/>
          </p:cNvPicPr>
          <p:nvPr/>
        </p:nvPicPr>
        <p:blipFill>
          <a:blip r:embed="rId2"/>
          <a:stretch>
            <a:fillRect/>
          </a:stretch>
        </p:blipFill>
        <p:spPr>
          <a:xfrm>
            <a:off x="3328212" y="1581912"/>
            <a:ext cx="1015393" cy="789432"/>
          </a:xfrm>
          <a:prstGeom prst="rect">
            <a:avLst/>
          </a:prstGeom>
        </p:spPr>
      </p:pic>
      <p:sp>
        <p:nvSpPr>
          <p:cNvPr id="13" name="Shape 8"/>
          <p:cNvSpPr/>
          <p:nvPr/>
        </p:nvSpPr>
        <p:spPr>
          <a:xfrm>
            <a:off x="2898648" y="1600200"/>
            <a:ext cx="365760" cy="365760"/>
          </a:xfrm>
          <a:prstGeom prst="ellipse">
            <a:avLst/>
          </a:prstGeom>
          <a:solidFill>
            <a:schemeClr val="tx2"/>
          </a:solidFill>
          <a:ln/>
        </p:spPr>
      </p:sp>
      <p:sp>
        <p:nvSpPr>
          <p:cNvPr id="14" name="Text 9"/>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0"/>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6" name="Shape 11"/>
          <p:cNvSpPr/>
          <p:nvPr/>
        </p:nvSpPr>
        <p:spPr>
          <a:xfrm>
            <a:off x="5065776" y="1508760"/>
            <a:ext cx="2057400" cy="1484376"/>
          </a:xfrm>
          <a:prstGeom prst="roundRect">
            <a:avLst>
              <a:gd name="adj" fmla="val 4928"/>
            </a:avLst>
          </a:prstGeom>
          <a:solidFill>
            <a:schemeClr val="bg1"/>
          </a:solidFill>
          <a:ln w="9525">
            <a:solidFill>
              <a:srgbClr val="D5DCE6"/>
            </a:solidFill>
            <a:prstDash val="solid"/>
          </a:ln>
        </p:spPr>
      </p:sp>
      <p:pic>
        <p:nvPicPr>
          <p:cNvPr id="17" name="illustration" descr="le beurre">    </p:cNvPr>
          <p:cNvPicPr>
            <a:picLocks noChangeAspect="1"/>
          </p:cNvPicPr>
          <p:nvPr/>
        </p:nvPicPr>
        <p:blipFill>
          <a:blip r:embed="rId3"/>
          <a:stretch>
            <a:fillRect/>
          </a:stretch>
        </p:blipFill>
        <p:spPr>
          <a:xfrm>
            <a:off x="5596791" y="1581912"/>
            <a:ext cx="995371" cy="789432"/>
          </a:xfrm>
          <a:prstGeom prst="rect">
            <a:avLst/>
          </a:prstGeom>
        </p:spPr>
      </p:pic>
      <p:sp>
        <p:nvSpPr>
          <p:cNvPr id="18" name="Shape 12"/>
          <p:cNvSpPr/>
          <p:nvPr/>
        </p:nvSpPr>
        <p:spPr>
          <a:xfrm>
            <a:off x="5157216" y="1600200"/>
            <a:ext cx="365760" cy="365760"/>
          </a:xfrm>
          <a:prstGeom prst="ellipse">
            <a:avLst/>
          </a:prstGeom>
          <a:solidFill>
            <a:schemeClr val="tx2"/>
          </a:solidFill>
          <a:ln/>
        </p:spPr>
      </p:sp>
      <p:sp>
        <p:nvSpPr>
          <p:cNvPr id="19" name="Text 13"/>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4"/>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1" name="Shape 15"/>
          <p:cNvSpPr/>
          <p:nvPr/>
        </p:nvSpPr>
        <p:spPr>
          <a:xfrm>
            <a:off x="7324344" y="1508760"/>
            <a:ext cx="2057400" cy="1484376"/>
          </a:xfrm>
          <a:prstGeom prst="roundRect">
            <a:avLst>
              <a:gd name="adj" fmla="val 4928"/>
            </a:avLst>
          </a:prstGeom>
          <a:solidFill>
            <a:schemeClr val="bg1"/>
          </a:solidFill>
          <a:ln w="9525">
            <a:solidFill>
              <a:srgbClr val="D5DCE6"/>
            </a:solidFill>
            <a:prstDash val="solid"/>
          </a:ln>
        </p:spPr>
      </p:sp>
      <p:pic>
        <p:nvPicPr>
          <p:cNvPr id="22" name="illustration" descr="l’œuf">    </p:cNvPr>
          <p:cNvPicPr>
            <a:picLocks noChangeAspect="1"/>
          </p:cNvPicPr>
          <p:nvPr/>
        </p:nvPicPr>
        <p:blipFill>
          <a:blip r:embed="rId4"/>
          <a:stretch>
            <a:fillRect/>
          </a:stretch>
        </p:blipFill>
        <p:spPr>
          <a:xfrm>
            <a:off x="7880477" y="1581912"/>
            <a:ext cx="945133" cy="789432"/>
          </a:xfrm>
          <a:prstGeom prst="rect">
            <a:avLst/>
          </a:prstGeom>
        </p:spPr>
      </p:pic>
      <p:sp>
        <p:nvSpPr>
          <p:cNvPr id="23" name="Shape 16"/>
          <p:cNvSpPr/>
          <p:nvPr/>
        </p:nvSpPr>
        <p:spPr>
          <a:xfrm>
            <a:off x="7415784" y="1600200"/>
            <a:ext cx="365760" cy="365760"/>
          </a:xfrm>
          <a:prstGeom prst="ellipse">
            <a:avLst/>
          </a:prstGeom>
          <a:solidFill>
            <a:schemeClr val="tx2"/>
          </a:solidFill>
          <a:ln/>
        </p:spPr>
      </p:sp>
      <p:sp>
        <p:nvSpPr>
          <p:cNvPr id="24" name="Text 17"/>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18"/>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6" name="Shape 19"/>
          <p:cNvSpPr/>
          <p:nvPr/>
        </p:nvSpPr>
        <p:spPr>
          <a:xfrm>
            <a:off x="9582912" y="1508760"/>
            <a:ext cx="2057400" cy="1484376"/>
          </a:xfrm>
          <a:prstGeom prst="roundRect">
            <a:avLst>
              <a:gd name="adj" fmla="val 4928"/>
            </a:avLst>
          </a:prstGeom>
          <a:solidFill>
            <a:schemeClr val="bg1"/>
          </a:solidFill>
          <a:ln w="9525">
            <a:solidFill>
              <a:srgbClr val="D5DCE6"/>
            </a:solidFill>
            <a:prstDash val="solid"/>
          </a:ln>
        </p:spPr>
      </p:sp>
      <p:pic>
        <p:nvPicPr>
          <p:cNvPr id="27" name="illustration" descr="le lait">    </p:cNvPr>
          <p:cNvPicPr>
            <a:picLocks noChangeAspect="1"/>
          </p:cNvPicPr>
          <p:nvPr/>
        </p:nvPicPr>
        <p:blipFill>
          <a:blip r:embed="rId5"/>
          <a:stretch>
            <a:fillRect/>
          </a:stretch>
        </p:blipFill>
        <p:spPr>
          <a:xfrm>
            <a:off x="10126753" y="1581912"/>
            <a:ext cx="969718" cy="789432"/>
          </a:xfrm>
          <a:prstGeom prst="rect">
            <a:avLst/>
          </a:prstGeom>
        </p:spPr>
      </p:pic>
      <p:sp>
        <p:nvSpPr>
          <p:cNvPr id="28" name="Shape 20"/>
          <p:cNvSpPr/>
          <p:nvPr/>
        </p:nvSpPr>
        <p:spPr>
          <a:xfrm>
            <a:off x="9674352" y="1600200"/>
            <a:ext cx="365760" cy="365760"/>
          </a:xfrm>
          <a:prstGeom prst="ellipse">
            <a:avLst/>
          </a:prstGeom>
          <a:solidFill>
            <a:schemeClr val="tx2"/>
          </a:solidFill>
          <a:ln/>
        </p:spPr>
      </p:sp>
      <p:sp>
        <p:nvSpPr>
          <p:cNvPr id="29" name="Text 21"/>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2"/>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1" name="Shape 23"/>
          <p:cNvSpPr/>
          <p:nvPr/>
        </p:nvSpPr>
        <p:spPr>
          <a:xfrm>
            <a:off x="548640" y="3157728"/>
            <a:ext cx="2057400" cy="1484376"/>
          </a:xfrm>
          <a:prstGeom prst="roundRect">
            <a:avLst>
              <a:gd name="adj" fmla="val 4928"/>
            </a:avLst>
          </a:prstGeom>
          <a:solidFill>
            <a:schemeClr val="bg1"/>
          </a:solidFill>
          <a:ln w="9525">
            <a:solidFill>
              <a:srgbClr val="D5DCE6"/>
            </a:solidFill>
            <a:prstDash val="solid"/>
          </a:ln>
        </p:spPr>
      </p:sp>
      <p:pic>
        <p:nvPicPr>
          <p:cNvPr id="32" name="illustration" descr="le café">    </p:cNvPr>
          <p:cNvPicPr>
            <a:picLocks noChangeAspect="1"/>
          </p:cNvPicPr>
          <p:nvPr/>
        </p:nvPicPr>
        <p:blipFill>
          <a:blip r:embed="rId6"/>
          <a:stretch>
            <a:fillRect/>
          </a:stretch>
        </p:blipFill>
        <p:spPr>
          <a:xfrm>
            <a:off x="1102042" y="3230880"/>
            <a:ext cx="950596" cy="789432"/>
          </a:xfrm>
          <a:prstGeom prst="rect">
            <a:avLst/>
          </a:prstGeom>
        </p:spPr>
      </p:pic>
      <p:sp>
        <p:nvSpPr>
          <p:cNvPr id="33" name="Shape 24"/>
          <p:cNvSpPr/>
          <p:nvPr/>
        </p:nvSpPr>
        <p:spPr>
          <a:xfrm>
            <a:off x="640080" y="3249168"/>
            <a:ext cx="365760" cy="365760"/>
          </a:xfrm>
          <a:prstGeom prst="ellipse">
            <a:avLst/>
          </a:prstGeom>
          <a:solidFill>
            <a:schemeClr val="tx2"/>
          </a:solidFill>
          <a:ln/>
        </p:spPr>
      </p:sp>
      <p:sp>
        <p:nvSpPr>
          <p:cNvPr id="34" name="Text 25"/>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5" name="Text 26"/>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6" name="Shape 27"/>
          <p:cNvSpPr/>
          <p:nvPr/>
        </p:nvSpPr>
        <p:spPr>
          <a:xfrm>
            <a:off x="2807208" y="3157728"/>
            <a:ext cx="2057400" cy="1484376"/>
          </a:xfrm>
          <a:prstGeom prst="roundRect">
            <a:avLst>
              <a:gd name="adj" fmla="val 4928"/>
            </a:avLst>
          </a:prstGeom>
          <a:solidFill>
            <a:schemeClr val="bg1"/>
          </a:solidFill>
          <a:ln w="9525">
            <a:solidFill>
              <a:srgbClr val="D5DCE6"/>
            </a:solidFill>
            <a:prstDash val="solid"/>
          </a:ln>
        </p:spPr>
      </p:sp>
      <p:pic>
        <p:nvPicPr>
          <p:cNvPr id="37" name="illustration" descr="le thé">    </p:cNvPr>
          <p:cNvPicPr>
            <a:picLocks noChangeAspect="1"/>
          </p:cNvPicPr>
          <p:nvPr/>
        </p:nvPicPr>
        <p:blipFill>
          <a:blip r:embed="rId7"/>
          <a:stretch>
            <a:fillRect/>
          </a:stretch>
        </p:blipFill>
        <p:spPr>
          <a:xfrm>
            <a:off x="3360048" y="3230880"/>
            <a:ext cx="951719" cy="789432"/>
          </a:xfrm>
          <a:prstGeom prst="rect">
            <a:avLst/>
          </a:prstGeom>
        </p:spPr>
      </p:pic>
      <p:sp>
        <p:nvSpPr>
          <p:cNvPr id="38" name="Shape 28"/>
          <p:cNvSpPr/>
          <p:nvPr/>
        </p:nvSpPr>
        <p:spPr>
          <a:xfrm>
            <a:off x="2898648" y="3249168"/>
            <a:ext cx="365760" cy="365760"/>
          </a:xfrm>
          <a:prstGeom prst="ellipse">
            <a:avLst/>
          </a:prstGeom>
          <a:solidFill>
            <a:schemeClr val="tx2"/>
          </a:solidFill>
          <a:ln/>
        </p:spPr>
      </p:sp>
      <p:sp>
        <p:nvSpPr>
          <p:cNvPr id="39" name="Text 29"/>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0" name="Text 30"/>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1" name="Shape 31"/>
          <p:cNvSpPr/>
          <p:nvPr/>
        </p:nvSpPr>
        <p:spPr>
          <a:xfrm>
            <a:off x="5065776" y="3157728"/>
            <a:ext cx="2057400" cy="1484376"/>
          </a:xfrm>
          <a:prstGeom prst="roundRect">
            <a:avLst>
              <a:gd name="adj" fmla="val 4928"/>
            </a:avLst>
          </a:prstGeom>
          <a:solidFill>
            <a:schemeClr val="bg1"/>
          </a:solidFill>
          <a:ln w="9525">
            <a:solidFill>
              <a:srgbClr val="D5DCE6"/>
            </a:solidFill>
            <a:prstDash val="solid"/>
          </a:ln>
        </p:spPr>
      </p:sp>
      <p:pic>
        <p:nvPicPr>
          <p:cNvPr id="42" name="illustration" descr="l’eau">    </p:cNvPr>
          <p:cNvPicPr>
            <a:picLocks noChangeAspect="1"/>
          </p:cNvPicPr>
          <p:nvPr/>
        </p:nvPicPr>
        <p:blipFill>
          <a:blip r:embed="rId8"/>
          <a:stretch>
            <a:fillRect/>
          </a:stretch>
        </p:blipFill>
        <p:spPr>
          <a:xfrm>
            <a:off x="5606238" y="3230880"/>
            <a:ext cx="976475" cy="789432"/>
          </a:xfrm>
          <a:prstGeom prst="rect">
            <a:avLst/>
          </a:prstGeom>
        </p:spPr>
      </p:pic>
      <p:sp>
        <p:nvSpPr>
          <p:cNvPr id="43" name="Shape 32"/>
          <p:cNvSpPr/>
          <p:nvPr/>
        </p:nvSpPr>
        <p:spPr>
          <a:xfrm>
            <a:off x="5157216" y="3249168"/>
            <a:ext cx="365760" cy="365760"/>
          </a:xfrm>
          <a:prstGeom prst="ellipse">
            <a:avLst/>
          </a:prstGeom>
          <a:solidFill>
            <a:schemeClr val="tx2"/>
          </a:solidFill>
          <a:ln/>
        </p:spPr>
      </p:sp>
      <p:sp>
        <p:nvSpPr>
          <p:cNvPr id="44" name="Text 33"/>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5" name="Text 34"/>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6" name="Shape 35"/>
          <p:cNvSpPr/>
          <p:nvPr/>
        </p:nvSpPr>
        <p:spPr>
          <a:xfrm>
            <a:off x="7324344" y="3157728"/>
            <a:ext cx="2057400" cy="1484376"/>
          </a:xfrm>
          <a:prstGeom prst="roundRect">
            <a:avLst>
              <a:gd name="adj" fmla="val 4928"/>
            </a:avLst>
          </a:prstGeom>
          <a:solidFill>
            <a:schemeClr val="bg1"/>
          </a:solidFill>
          <a:ln w="9525">
            <a:solidFill>
              <a:srgbClr val="D5DCE6"/>
            </a:solidFill>
            <a:prstDash val="solid"/>
          </a:ln>
        </p:spPr>
      </p:sp>
      <p:pic>
        <p:nvPicPr>
          <p:cNvPr id="47" name="illustration" descr="la soupe">    </p:cNvPr>
          <p:cNvPicPr>
            <a:picLocks noChangeAspect="1"/>
          </p:cNvPicPr>
          <p:nvPr/>
        </p:nvPicPr>
        <p:blipFill>
          <a:blip r:embed="rId9"/>
          <a:stretch>
            <a:fillRect/>
          </a:stretch>
        </p:blipFill>
        <p:spPr>
          <a:xfrm>
            <a:off x="7874434" y="3230880"/>
            <a:ext cx="957221" cy="789432"/>
          </a:xfrm>
          <a:prstGeom prst="rect">
            <a:avLst/>
          </a:prstGeom>
        </p:spPr>
      </p:pic>
      <p:sp>
        <p:nvSpPr>
          <p:cNvPr id="48" name="Shape 36"/>
          <p:cNvSpPr/>
          <p:nvPr/>
        </p:nvSpPr>
        <p:spPr>
          <a:xfrm>
            <a:off x="7415784" y="3249168"/>
            <a:ext cx="365760" cy="365760"/>
          </a:xfrm>
          <a:prstGeom prst="ellipse">
            <a:avLst/>
          </a:prstGeom>
          <a:solidFill>
            <a:schemeClr val="tx2"/>
          </a:solidFill>
          <a:ln/>
        </p:spPr>
      </p:sp>
      <p:sp>
        <p:nvSpPr>
          <p:cNvPr id="49" name="Text 37"/>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0" name="Text 38"/>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1" name="Shape 39"/>
          <p:cNvSpPr/>
          <p:nvPr/>
        </p:nvSpPr>
        <p:spPr>
          <a:xfrm>
            <a:off x="9582912" y="3157728"/>
            <a:ext cx="2057400" cy="1484376"/>
          </a:xfrm>
          <a:prstGeom prst="roundRect">
            <a:avLst>
              <a:gd name="adj" fmla="val 4928"/>
            </a:avLst>
          </a:prstGeom>
          <a:solidFill>
            <a:schemeClr val="bg1"/>
          </a:solidFill>
          <a:ln w="9525">
            <a:solidFill>
              <a:srgbClr val="D5DCE6"/>
            </a:solidFill>
            <a:prstDash val="solid"/>
          </a:ln>
        </p:spPr>
      </p:sp>
      <p:pic>
        <p:nvPicPr>
          <p:cNvPr id="52" name="illustration" descr="les frites">    </p:cNvPr>
          <p:cNvPicPr>
            <a:picLocks noChangeAspect="1"/>
          </p:cNvPicPr>
          <p:nvPr/>
        </p:nvPicPr>
        <p:blipFill>
          <a:blip r:embed="rId10"/>
          <a:stretch>
            <a:fillRect/>
          </a:stretch>
        </p:blipFill>
        <p:spPr>
          <a:xfrm>
            <a:off x="10139045" y="3230880"/>
            <a:ext cx="945133" cy="789432"/>
          </a:xfrm>
          <a:prstGeom prst="rect">
            <a:avLst/>
          </a:prstGeom>
        </p:spPr>
      </p:pic>
      <p:sp>
        <p:nvSpPr>
          <p:cNvPr id="53" name="Shape 40"/>
          <p:cNvSpPr/>
          <p:nvPr/>
        </p:nvSpPr>
        <p:spPr>
          <a:xfrm>
            <a:off x="9674352" y="3249168"/>
            <a:ext cx="365760" cy="365760"/>
          </a:xfrm>
          <a:prstGeom prst="ellipse">
            <a:avLst/>
          </a:prstGeom>
          <a:solidFill>
            <a:schemeClr val="tx2"/>
          </a:solidFill>
          <a:ln/>
        </p:spPr>
      </p:sp>
      <p:sp>
        <p:nvSpPr>
          <p:cNvPr id="54" name="Text 41"/>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5" name="Text 42"/>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6" name="Shape 43"/>
          <p:cNvSpPr/>
          <p:nvPr/>
        </p:nvSpPr>
        <p:spPr>
          <a:xfrm>
            <a:off x="548640" y="4806696"/>
            <a:ext cx="2057400" cy="1484376"/>
          </a:xfrm>
          <a:prstGeom prst="roundRect">
            <a:avLst>
              <a:gd name="adj" fmla="val 4928"/>
            </a:avLst>
          </a:prstGeom>
          <a:solidFill>
            <a:schemeClr val="bg1"/>
          </a:solidFill>
          <a:ln w="9525">
            <a:solidFill>
              <a:srgbClr val="D5DCE6"/>
            </a:solidFill>
            <a:prstDash val="solid"/>
          </a:ln>
        </p:spPr>
      </p:sp>
      <p:pic>
        <p:nvPicPr>
          <p:cNvPr id="57" name="illustration" descr="la viande">    </p:cNvPr>
          <p:cNvPicPr>
            <a:picLocks noChangeAspect="1"/>
          </p:cNvPicPr>
          <p:nvPr/>
        </p:nvPicPr>
        <p:blipFill>
          <a:blip r:embed="rId11"/>
          <a:stretch>
            <a:fillRect/>
          </a:stretch>
        </p:blipFill>
        <p:spPr>
          <a:xfrm>
            <a:off x="1092481" y="4879848"/>
            <a:ext cx="969718" cy="789432"/>
          </a:xfrm>
          <a:prstGeom prst="rect">
            <a:avLst/>
          </a:prstGeom>
        </p:spPr>
      </p:pic>
      <p:sp>
        <p:nvSpPr>
          <p:cNvPr id="58" name="Shape 44"/>
          <p:cNvSpPr/>
          <p:nvPr/>
        </p:nvSpPr>
        <p:spPr>
          <a:xfrm>
            <a:off x="640080" y="4898136"/>
            <a:ext cx="365760" cy="365760"/>
          </a:xfrm>
          <a:prstGeom prst="ellipse">
            <a:avLst/>
          </a:prstGeom>
          <a:solidFill>
            <a:schemeClr val="tx2"/>
          </a:solidFill>
          <a:ln/>
        </p:spPr>
      </p:sp>
      <p:sp>
        <p:nvSpPr>
          <p:cNvPr id="59" name="Text 45"/>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0" name="Text 46"/>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1" name="Shape 47"/>
          <p:cNvSpPr/>
          <p:nvPr/>
        </p:nvSpPr>
        <p:spPr>
          <a:xfrm>
            <a:off x="2807208" y="4806696"/>
            <a:ext cx="2057400" cy="1484376"/>
          </a:xfrm>
          <a:prstGeom prst="roundRect">
            <a:avLst>
              <a:gd name="adj" fmla="val 4928"/>
            </a:avLst>
          </a:prstGeom>
          <a:solidFill>
            <a:schemeClr val="bg1"/>
          </a:solidFill>
          <a:ln w="9525">
            <a:solidFill>
              <a:srgbClr val="D5DCE6"/>
            </a:solidFill>
            <a:prstDash val="solid"/>
          </a:ln>
        </p:spPr>
      </p:sp>
      <p:pic>
        <p:nvPicPr>
          <p:cNvPr id="62" name="illustration" descr="le poisson">    </p:cNvPr>
          <p:cNvPicPr>
            <a:picLocks noChangeAspect="1"/>
          </p:cNvPicPr>
          <p:nvPr/>
        </p:nvPicPr>
        <p:blipFill>
          <a:blip r:embed="rId12"/>
          <a:stretch>
            <a:fillRect/>
          </a:stretch>
        </p:blipFill>
        <p:spPr>
          <a:xfrm>
            <a:off x="3360610" y="4879848"/>
            <a:ext cx="950596" cy="789432"/>
          </a:xfrm>
          <a:prstGeom prst="rect">
            <a:avLst/>
          </a:prstGeom>
        </p:spPr>
      </p:pic>
      <p:sp>
        <p:nvSpPr>
          <p:cNvPr id="63" name="Shape 48"/>
          <p:cNvSpPr/>
          <p:nvPr/>
        </p:nvSpPr>
        <p:spPr>
          <a:xfrm>
            <a:off x="2898648" y="4898136"/>
            <a:ext cx="365760" cy="365760"/>
          </a:xfrm>
          <a:prstGeom prst="ellipse">
            <a:avLst/>
          </a:prstGeom>
          <a:solidFill>
            <a:schemeClr val="tx2"/>
          </a:solidFill>
          <a:ln/>
        </p:spPr>
      </p:sp>
      <p:sp>
        <p:nvSpPr>
          <p:cNvPr id="64" name="Text 49"/>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5" name="Text 50"/>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6" name="Shape 51"/>
          <p:cNvSpPr/>
          <p:nvPr/>
        </p:nvSpPr>
        <p:spPr>
          <a:xfrm>
            <a:off x="5065776" y="4806696"/>
            <a:ext cx="2057400" cy="1484376"/>
          </a:xfrm>
          <a:prstGeom prst="roundRect">
            <a:avLst>
              <a:gd name="adj" fmla="val 4928"/>
            </a:avLst>
          </a:prstGeom>
          <a:solidFill>
            <a:schemeClr val="bg1"/>
          </a:solidFill>
          <a:ln w="9525">
            <a:solidFill>
              <a:srgbClr val="D5DCE6"/>
            </a:solidFill>
            <a:prstDash val="solid"/>
          </a:ln>
        </p:spPr>
      </p:sp>
      <p:pic>
        <p:nvPicPr>
          <p:cNvPr id="67" name="illustration" descr="les légumes">    </p:cNvPr>
          <p:cNvPicPr>
            <a:picLocks noChangeAspect="1"/>
          </p:cNvPicPr>
          <p:nvPr/>
        </p:nvPicPr>
        <p:blipFill>
          <a:blip r:embed="rId13"/>
          <a:stretch>
            <a:fillRect/>
          </a:stretch>
        </p:blipFill>
        <p:spPr>
          <a:xfrm>
            <a:off x="5565128" y="4879848"/>
            <a:ext cx="1058696" cy="789432"/>
          </a:xfrm>
          <a:prstGeom prst="rect">
            <a:avLst/>
          </a:prstGeom>
        </p:spPr>
      </p:pic>
      <p:sp>
        <p:nvSpPr>
          <p:cNvPr id="68" name="Shape 52"/>
          <p:cNvSpPr/>
          <p:nvPr/>
        </p:nvSpPr>
        <p:spPr>
          <a:xfrm>
            <a:off x="5157216" y="4898136"/>
            <a:ext cx="365760" cy="365760"/>
          </a:xfrm>
          <a:prstGeom prst="ellipse">
            <a:avLst/>
          </a:prstGeom>
          <a:solidFill>
            <a:schemeClr val="tx2"/>
          </a:solidFill>
          <a:ln/>
        </p:spPr>
      </p:sp>
      <p:sp>
        <p:nvSpPr>
          <p:cNvPr id="69" name="Text 53"/>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0" name="Text 54"/>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1" name="Shape 55"/>
          <p:cNvSpPr/>
          <p:nvPr/>
        </p:nvSpPr>
        <p:spPr>
          <a:xfrm>
            <a:off x="7324344" y="4806696"/>
            <a:ext cx="2057400" cy="1484376"/>
          </a:xfrm>
          <a:prstGeom prst="roundRect">
            <a:avLst>
              <a:gd name="adj" fmla="val 4928"/>
            </a:avLst>
          </a:prstGeom>
          <a:solidFill>
            <a:schemeClr val="bg1"/>
          </a:solidFill>
          <a:ln w="9525">
            <a:solidFill>
              <a:srgbClr val="D5DCE6"/>
            </a:solidFill>
            <a:prstDash val="solid"/>
          </a:ln>
        </p:spPr>
      </p:sp>
      <p:pic>
        <p:nvPicPr>
          <p:cNvPr id="72" name="illustration" descr="les fruits">    </p:cNvPr>
          <p:cNvPicPr>
            <a:picLocks noChangeAspect="1"/>
          </p:cNvPicPr>
          <p:nvPr/>
        </p:nvPicPr>
        <p:blipFill>
          <a:blip r:embed="rId14"/>
          <a:stretch>
            <a:fillRect/>
          </a:stretch>
        </p:blipFill>
        <p:spPr>
          <a:xfrm>
            <a:off x="7809927" y="4879848"/>
            <a:ext cx="1086234" cy="789432"/>
          </a:xfrm>
          <a:prstGeom prst="rect">
            <a:avLst/>
          </a:prstGeom>
        </p:spPr>
      </p:pic>
      <p:sp>
        <p:nvSpPr>
          <p:cNvPr id="73" name="Shape 56"/>
          <p:cNvSpPr/>
          <p:nvPr/>
        </p:nvSpPr>
        <p:spPr>
          <a:xfrm>
            <a:off x="7415784" y="4898136"/>
            <a:ext cx="365760" cy="365760"/>
          </a:xfrm>
          <a:prstGeom prst="ellipse">
            <a:avLst/>
          </a:prstGeom>
          <a:solidFill>
            <a:schemeClr val="tx2"/>
          </a:solidFill>
          <a:ln/>
        </p:spPr>
      </p:sp>
      <p:sp>
        <p:nvSpPr>
          <p:cNvPr id="74" name="Text 57"/>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5" name="Text 58"/>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6" name="Shape 59"/>
          <p:cNvSpPr/>
          <p:nvPr/>
        </p:nvSpPr>
        <p:spPr>
          <a:xfrm>
            <a:off x="9582912" y="4806696"/>
            <a:ext cx="2057400" cy="1484376"/>
          </a:xfrm>
          <a:prstGeom prst="roundRect">
            <a:avLst>
              <a:gd name="adj" fmla="val 4928"/>
            </a:avLst>
          </a:prstGeom>
          <a:solidFill>
            <a:schemeClr val="bg1"/>
          </a:solidFill>
          <a:ln w="9525">
            <a:solidFill>
              <a:srgbClr val="D5DCE6"/>
            </a:solidFill>
            <a:prstDash val="solid"/>
          </a:ln>
        </p:spPr>
      </p:sp>
      <p:pic>
        <p:nvPicPr>
          <p:cNvPr id="77" name="illustration" descr="les couverts">    </p:cNvPr>
          <p:cNvPicPr>
            <a:picLocks noChangeAspect="1"/>
          </p:cNvPicPr>
          <p:nvPr/>
        </p:nvPicPr>
        <p:blipFill>
          <a:blip r:embed="rId15"/>
          <a:stretch>
            <a:fillRect/>
          </a:stretch>
        </p:blipFill>
        <p:spPr>
          <a:xfrm>
            <a:off x="10079204" y="4879848"/>
            <a:ext cx="1064815" cy="789432"/>
          </a:xfrm>
          <a:prstGeom prst="rect">
            <a:avLst/>
          </a:prstGeom>
        </p:spPr>
      </p:pic>
      <p:sp>
        <p:nvSpPr>
          <p:cNvPr id="78" name="Shape 60"/>
          <p:cNvSpPr/>
          <p:nvPr/>
        </p:nvSpPr>
        <p:spPr>
          <a:xfrm>
            <a:off x="9674352" y="4898136"/>
            <a:ext cx="365760" cy="365760"/>
          </a:xfrm>
          <a:prstGeom prst="ellipse">
            <a:avLst/>
          </a:prstGeom>
          <a:solidFill>
            <a:schemeClr val="tx2"/>
          </a:solidFill>
          <a:ln/>
        </p:spPr>
      </p:sp>
      <p:sp>
        <p:nvSpPr>
          <p:cNvPr id="79" name="Text 61"/>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0" name="Text 62"/>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Eten &amp; drinken — manger et boire</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ag"/>
          <p:cNvSpPr/>
          <p:nvPr/>
        </p:nvSpPr>
        <p:spPr>
          <a:xfrm>
            <a:off x="23957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81</a:t>
            </a:r>
            <a:endParaRPr lang="en-US" sz="1200" dirty="0"/>
          </a:p>
        </p:txBody>
      </p:sp>
      <p:sp>
        <p:nvSpPr>
          <p:cNvPr id="7" name="Shape 4"/>
          <p:cNvSpPr/>
          <p:nvPr/>
        </p:nvSpPr>
        <p:spPr>
          <a:xfrm>
            <a:off x="548640" y="1508760"/>
            <a:ext cx="2057400" cy="1484376"/>
          </a:xfrm>
          <a:prstGeom prst="roundRect">
            <a:avLst>
              <a:gd name="adj" fmla="val 4928"/>
            </a:avLst>
          </a:prstGeom>
          <a:solidFill>
            <a:schemeClr val="bg1"/>
          </a:solidFill>
          <a:ln w="19050">
            <a:solidFill>
              <a:srgbClr val="B4236A"/>
            </a:solidFill>
            <a:prstDash val="solid"/>
          </a:ln>
        </p:spPr>
      </p:sp>
      <p:pic>
        <p:nvPicPr>
          <p:cNvPr id="8" name="illustration" descr="le pain">    </p:cNvPr>
          <p:cNvPicPr>
            <a:picLocks noChangeAspect="1"/>
          </p:cNvPicPr>
          <p:nvPr/>
        </p:nvPicPr>
        <p:blipFill>
          <a:blip r:embed="rId1"/>
          <a:stretch>
            <a:fillRect/>
          </a:stretch>
        </p:blipFill>
        <p:spPr>
          <a:xfrm>
            <a:off x="1082515" y="1581912"/>
            <a:ext cx="989650" cy="789432"/>
          </a:xfrm>
          <a:prstGeom prst="rect">
            <a:avLst/>
          </a:prstGeom>
        </p:spPr>
      </p:pic>
      <p:sp>
        <p:nvSpPr>
          <p:cNvPr id="9" name="Shape 5"/>
          <p:cNvSpPr/>
          <p:nvPr/>
        </p:nvSpPr>
        <p:spPr>
          <a:xfrm>
            <a:off x="640080" y="1600200"/>
            <a:ext cx="365760" cy="365760"/>
          </a:xfrm>
          <a:prstGeom prst="ellipse">
            <a:avLst/>
          </a:prstGeom>
          <a:solidFill>
            <a:schemeClr val="tx2"/>
          </a:solidFill>
          <a:ln/>
        </p:spPr>
      </p:sp>
      <p:sp>
        <p:nvSpPr>
          <p:cNvPr id="10" name="Text 6"/>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brood</a:t>
            </a:r>
            <a:endParaRPr lang="en-US" sz="1600" dirty="0"/>
          </a:p>
          <a:p>
            <a:pPr algn="ctr" indent="0" marL="0">
              <a:buNone/>
            </a:pPr>
            <a:r>
              <a:rPr lang="en-US" sz="1100" i="1" dirty="0">
                <a:solidFill>
                  <a:schemeClr val="accent5"/>
                </a:solidFill>
              </a:rPr>
              <a:t>le pain</a:t>
            </a:r>
            <a:endParaRPr lang="en-US" sz="1600" dirty="0"/>
          </a:p>
        </p:txBody>
      </p:sp>
      <p:sp>
        <p:nvSpPr>
          <p:cNvPr id="12" name="Shape 8"/>
          <p:cNvSpPr/>
          <p:nvPr/>
        </p:nvSpPr>
        <p:spPr>
          <a:xfrm>
            <a:off x="2807208" y="1508760"/>
            <a:ext cx="2057400" cy="1484376"/>
          </a:xfrm>
          <a:prstGeom prst="roundRect">
            <a:avLst>
              <a:gd name="adj" fmla="val 4928"/>
            </a:avLst>
          </a:prstGeom>
          <a:solidFill>
            <a:schemeClr val="bg1"/>
          </a:solidFill>
          <a:ln w="19050">
            <a:solidFill>
              <a:srgbClr val="2A6FB0"/>
            </a:solidFill>
            <a:prstDash val="solid"/>
          </a:ln>
        </p:spPr>
      </p:sp>
      <p:pic>
        <p:nvPicPr>
          <p:cNvPr id="13" name="illustration" descr="le fromage">    </p:cNvPr>
          <p:cNvPicPr>
            <a:picLocks noChangeAspect="1"/>
          </p:cNvPicPr>
          <p:nvPr/>
        </p:nvPicPr>
        <p:blipFill>
          <a:blip r:embed="rId2"/>
          <a:stretch>
            <a:fillRect/>
          </a:stretch>
        </p:blipFill>
        <p:spPr>
          <a:xfrm>
            <a:off x="3328212" y="1581912"/>
            <a:ext cx="1015393" cy="789432"/>
          </a:xfrm>
          <a:prstGeom prst="rect">
            <a:avLst/>
          </a:prstGeom>
        </p:spPr>
      </p:pic>
      <p:sp>
        <p:nvSpPr>
          <p:cNvPr id="14" name="Shape 9"/>
          <p:cNvSpPr/>
          <p:nvPr/>
        </p:nvSpPr>
        <p:spPr>
          <a:xfrm>
            <a:off x="2898648" y="1600200"/>
            <a:ext cx="365760" cy="365760"/>
          </a:xfrm>
          <a:prstGeom prst="ellipse">
            <a:avLst/>
          </a:prstGeom>
          <a:solidFill>
            <a:schemeClr val="tx2"/>
          </a:solidFill>
          <a:ln/>
        </p:spPr>
      </p:sp>
      <p:sp>
        <p:nvSpPr>
          <p:cNvPr id="15" name="Text 10"/>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1"/>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kaas</a:t>
            </a:r>
            <a:endParaRPr lang="en-US" sz="1600" dirty="0"/>
          </a:p>
          <a:p>
            <a:pPr algn="ctr" indent="0" marL="0">
              <a:buNone/>
            </a:pPr>
            <a:r>
              <a:rPr lang="en-US" sz="1100" i="1" dirty="0">
                <a:solidFill>
                  <a:schemeClr val="accent5"/>
                </a:solidFill>
              </a:rPr>
              <a:t>le fromage</a:t>
            </a:r>
            <a:endParaRPr lang="en-US" sz="1600" dirty="0"/>
          </a:p>
        </p:txBody>
      </p:sp>
      <p:sp>
        <p:nvSpPr>
          <p:cNvPr id="17" name="Shape 12"/>
          <p:cNvSpPr/>
          <p:nvPr/>
        </p:nvSpPr>
        <p:spPr>
          <a:xfrm>
            <a:off x="5065776" y="1508760"/>
            <a:ext cx="2057400" cy="1484376"/>
          </a:xfrm>
          <a:prstGeom prst="roundRect">
            <a:avLst>
              <a:gd name="adj" fmla="val 4928"/>
            </a:avLst>
          </a:prstGeom>
          <a:solidFill>
            <a:schemeClr val="bg1"/>
          </a:solidFill>
          <a:ln w="19050">
            <a:solidFill>
              <a:srgbClr val="2A6FB0"/>
            </a:solidFill>
            <a:prstDash val="solid"/>
          </a:ln>
        </p:spPr>
      </p:sp>
      <p:pic>
        <p:nvPicPr>
          <p:cNvPr id="18" name="illustration" descr="le beurre">    </p:cNvPr>
          <p:cNvPicPr>
            <a:picLocks noChangeAspect="1"/>
          </p:cNvPicPr>
          <p:nvPr/>
        </p:nvPicPr>
        <p:blipFill>
          <a:blip r:embed="rId3"/>
          <a:stretch>
            <a:fillRect/>
          </a:stretch>
        </p:blipFill>
        <p:spPr>
          <a:xfrm>
            <a:off x="5596791" y="1581912"/>
            <a:ext cx="995371" cy="789432"/>
          </a:xfrm>
          <a:prstGeom prst="rect">
            <a:avLst/>
          </a:prstGeom>
        </p:spPr>
      </p:pic>
      <p:sp>
        <p:nvSpPr>
          <p:cNvPr id="19" name="Shape 13"/>
          <p:cNvSpPr/>
          <p:nvPr/>
        </p:nvSpPr>
        <p:spPr>
          <a:xfrm>
            <a:off x="5157216" y="1600200"/>
            <a:ext cx="365760" cy="365760"/>
          </a:xfrm>
          <a:prstGeom prst="ellipse">
            <a:avLst/>
          </a:prstGeom>
          <a:solidFill>
            <a:schemeClr val="tx2"/>
          </a:solidFill>
          <a:ln/>
        </p:spPr>
      </p:sp>
      <p:sp>
        <p:nvSpPr>
          <p:cNvPr id="20" name="Text 14"/>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5"/>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boter</a:t>
            </a:r>
            <a:endParaRPr lang="en-US" sz="1600" dirty="0"/>
          </a:p>
          <a:p>
            <a:pPr algn="ctr" indent="0" marL="0">
              <a:buNone/>
            </a:pPr>
            <a:r>
              <a:rPr lang="en-US" sz="1100" i="1" dirty="0">
                <a:solidFill>
                  <a:schemeClr val="accent5"/>
                </a:solidFill>
              </a:rPr>
              <a:t>le beurre</a:t>
            </a:r>
            <a:endParaRPr lang="en-US" sz="1600" dirty="0"/>
          </a:p>
        </p:txBody>
      </p:sp>
      <p:sp>
        <p:nvSpPr>
          <p:cNvPr id="22" name="Shape 16"/>
          <p:cNvSpPr/>
          <p:nvPr/>
        </p:nvSpPr>
        <p:spPr>
          <a:xfrm>
            <a:off x="7324344" y="1508760"/>
            <a:ext cx="2057400" cy="1484376"/>
          </a:xfrm>
          <a:prstGeom prst="roundRect">
            <a:avLst>
              <a:gd name="adj" fmla="val 4928"/>
            </a:avLst>
          </a:prstGeom>
          <a:solidFill>
            <a:schemeClr val="bg1"/>
          </a:solidFill>
          <a:ln w="19050">
            <a:solidFill>
              <a:srgbClr val="B4236A"/>
            </a:solidFill>
            <a:prstDash val="solid"/>
          </a:ln>
        </p:spPr>
      </p:sp>
      <p:pic>
        <p:nvPicPr>
          <p:cNvPr id="23" name="illustration" descr="l’œuf">    </p:cNvPr>
          <p:cNvPicPr>
            <a:picLocks noChangeAspect="1"/>
          </p:cNvPicPr>
          <p:nvPr/>
        </p:nvPicPr>
        <p:blipFill>
          <a:blip r:embed="rId4"/>
          <a:stretch>
            <a:fillRect/>
          </a:stretch>
        </p:blipFill>
        <p:spPr>
          <a:xfrm>
            <a:off x="7880477" y="1581912"/>
            <a:ext cx="945133" cy="789432"/>
          </a:xfrm>
          <a:prstGeom prst="rect">
            <a:avLst/>
          </a:prstGeom>
        </p:spPr>
      </p:pic>
      <p:sp>
        <p:nvSpPr>
          <p:cNvPr id="24" name="Shape 17"/>
          <p:cNvSpPr/>
          <p:nvPr/>
        </p:nvSpPr>
        <p:spPr>
          <a:xfrm>
            <a:off x="7415784" y="1600200"/>
            <a:ext cx="365760" cy="365760"/>
          </a:xfrm>
          <a:prstGeom prst="ellipse">
            <a:avLst/>
          </a:prstGeom>
          <a:solidFill>
            <a:schemeClr val="tx2"/>
          </a:solidFill>
          <a:ln/>
        </p:spPr>
      </p:sp>
      <p:sp>
        <p:nvSpPr>
          <p:cNvPr id="25" name="Text 18"/>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Text 19"/>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ei</a:t>
            </a:r>
            <a:endParaRPr lang="en-US" sz="1600" dirty="0"/>
          </a:p>
          <a:p>
            <a:pPr algn="ctr" indent="0" marL="0">
              <a:buNone/>
            </a:pPr>
            <a:r>
              <a:rPr lang="en-US" sz="1100" i="1" dirty="0">
                <a:solidFill>
                  <a:schemeClr val="accent5"/>
                </a:solidFill>
              </a:rPr>
              <a:t>l’œuf</a:t>
            </a:r>
            <a:endParaRPr lang="en-US" sz="1600" dirty="0"/>
          </a:p>
        </p:txBody>
      </p:sp>
      <p:sp>
        <p:nvSpPr>
          <p:cNvPr id="27" name="Shape 20"/>
          <p:cNvSpPr/>
          <p:nvPr/>
        </p:nvSpPr>
        <p:spPr>
          <a:xfrm>
            <a:off x="9582912" y="1508760"/>
            <a:ext cx="2057400" cy="1484376"/>
          </a:xfrm>
          <a:prstGeom prst="roundRect">
            <a:avLst>
              <a:gd name="adj" fmla="val 4928"/>
            </a:avLst>
          </a:prstGeom>
          <a:solidFill>
            <a:schemeClr val="bg1"/>
          </a:solidFill>
          <a:ln w="19050">
            <a:solidFill>
              <a:srgbClr val="2A6FB0"/>
            </a:solidFill>
            <a:prstDash val="solid"/>
          </a:ln>
        </p:spPr>
      </p:sp>
      <p:pic>
        <p:nvPicPr>
          <p:cNvPr id="28" name="illustration" descr="le lait">    </p:cNvPr>
          <p:cNvPicPr>
            <a:picLocks noChangeAspect="1"/>
          </p:cNvPicPr>
          <p:nvPr/>
        </p:nvPicPr>
        <p:blipFill>
          <a:blip r:embed="rId5"/>
          <a:stretch>
            <a:fillRect/>
          </a:stretch>
        </p:blipFill>
        <p:spPr>
          <a:xfrm>
            <a:off x="10126753" y="1581912"/>
            <a:ext cx="969718" cy="789432"/>
          </a:xfrm>
          <a:prstGeom prst="rect">
            <a:avLst/>
          </a:prstGeom>
        </p:spPr>
      </p:pic>
      <p:sp>
        <p:nvSpPr>
          <p:cNvPr id="29" name="Shape 21"/>
          <p:cNvSpPr/>
          <p:nvPr/>
        </p:nvSpPr>
        <p:spPr>
          <a:xfrm>
            <a:off x="9674352" y="1600200"/>
            <a:ext cx="365760" cy="365760"/>
          </a:xfrm>
          <a:prstGeom prst="ellipse">
            <a:avLst/>
          </a:prstGeom>
          <a:solidFill>
            <a:schemeClr val="tx2"/>
          </a:solidFill>
          <a:ln/>
        </p:spPr>
      </p:sp>
      <p:sp>
        <p:nvSpPr>
          <p:cNvPr id="30" name="Text 22"/>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23"/>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melk</a:t>
            </a:r>
            <a:endParaRPr lang="en-US" sz="1600" dirty="0"/>
          </a:p>
          <a:p>
            <a:pPr algn="ctr" indent="0" marL="0">
              <a:buNone/>
            </a:pPr>
            <a:r>
              <a:rPr lang="en-US" sz="1100" i="1" dirty="0">
                <a:solidFill>
                  <a:schemeClr val="accent5"/>
                </a:solidFill>
              </a:rPr>
              <a:t>le lait</a:t>
            </a:r>
            <a:endParaRPr lang="en-US" sz="1600" dirty="0"/>
          </a:p>
        </p:txBody>
      </p:sp>
      <p:sp>
        <p:nvSpPr>
          <p:cNvPr id="32" name="Shape 24"/>
          <p:cNvSpPr/>
          <p:nvPr/>
        </p:nvSpPr>
        <p:spPr>
          <a:xfrm>
            <a:off x="548640" y="3157728"/>
            <a:ext cx="2057400" cy="1484376"/>
          </a:xfrm>
          <a:prstGeom prst="roundRect">
            <a:avLst>
              <a:gd name="adj" fmla="val 4928"/>
            </a:avLst>
          </a:prstGeom>
          <a:solidFill>
            <a:schemeClr val="bg1"/>
          </a:solidFill>
          <a:ln w="19050">
            <a:solidFill>
              <a:srgbClr val="2A6FB0"/>
            </a:solidFill>
            <a:prstDash val="solid"/>
          </a:ln>
        </p:spPr>
      </p:sp>
      <p:pic>
        <p:nvPicPr>
          <p:cNvPr id="33" name="illustration" descr="le café">    </p:cNvPr>
          <p:cNvPicPr>
            <a:picLocks noChangeAspect="1"/>
          </p:cNvPicPr>
          <p:nvPr/>
        </p:nvPicPr>
        <p:blipFill>
          <a:blip r:embed="rId6"/>
          <a:stretch>
            <a:fillRect/>
          </a:stretch>
        </p:blipFill>
        <p:spPr>
          <a:xfrm>
            <a:off x="1102042" y="3230880"/>
            <a:ext cx="950596" cy="789432"/>
          </a:xfrm>
          <a:prstGeom prst="rect">
            <a:avLst/>
          </a:prstGeom>
        </p:spPr>
      </p:pic>
      <p:sp>
        <p:nvSpPr>
          <p:cNvPr id="34" name="Shape 25"/>
          <p:cNvSpPr/>
          <p:nvPr/>
        </p:nvSpPr>
        <p:spPr>
          <a:xfrm>
            <a:off x="640080" y="3249168"/>
            <a:ext cx="365760" cy="365760"/>
          </a:xfrm>
          <a:prstGeom prst="ellipse">
            <a:avLst/>
          </a:prstGeom>
          <a:solidFill>
            <a:schemeClr val="tx2"/>
          </a:solidFill>
          <a:ln/>
        </p:spPr>
      </p:sp>
      <p:sp>
        <p:nvSpPr>
          <p:cNvPr id="35" name="Text 26"/>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6" name="Text 27"/>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koffie</a:t>
            </a:r>
            <a:endParaRPr lang="en-US" sz="1600" dirty="0"/>
          </a:p>
          <a:p>
            <a:pPr algn="ctr" indent="0" marL="0">
              <a:buNone/>
            </a:pPr>
            <a:r>
              <a:rPr lang="en-US" sz="1100" i="1" dirty="0">
                <a:solidFill>
                  <a:schemeClr val="accent5"/>
                </a:solidFill>
              </a:rPr>
              <a:t>le café</a:t>
            </a:r>
            <a:endParaRPr lang="en-US" sz="1600" dirty="0"/>
          </a:p>
        </p:txBody>
      </p:sp>
      <p:sp>
        <p:nvSpPr>
          <p:cNvPr id="37" name="Shape 28"/>
          <p:cNvSpPr/>
          <p:nvPr/>
        </p:nvSpPr>
        <p:spPr>
          <a:xfrm>
            <a:off x="2807208" y="3157728"/>
            <a:ext cx="2057400" cy="1484376"/>
          </a:xfrm>
          <a:prstGeom prst="roundRect">
            <a:avLst>
              <a:gd name="adj" fmla="val 4928"/>
            </a:avLst>
          </a:prstGeom>
          <a:solidFill>
            <a:schemeClr val="bg1"/>
          </a:solidFill>
          <a:ln w="19050">
            <a:solidFill>
              <a:srgbClr val="2A6FB0"/>
            </a:solidFill>
            <a:prstDash val="solid"/>
          </a:ln>
        </p:spPr>
      </p:sp>
      <p:pic>
        <p:nvPicPr>
          <p:cNvPr id="38" name="illustration" descr="le thé">    </p:cNvPr>
          <p:cNvPicPr>
            <a:picLocks noChangeAspect="1"/>
          </p:cNvPicPr>
          <p:nvPr/>
        </p:nvPicPr>
        <p:blipFill>
          <a:blip r:embed="rId7"/>
          <a:stretch>
            <a:fillRect/>
          </a:stretch>
        </p:blipFill>
        <p:spPr>
          <a:xfrm>
            <a:off x="3360048" y="3230880"/>
            <a:ext cx="951719" cy="789432"/>
          </a:xfrm>
          <a:prstGeom prst="rect">
            <a:avLst/>
          </a:prstGeom>
        </p:spPr>
      </p:pic>
      <p:sp>
        <p:nvSpPr>
          <p:cNvPr id="39" name="Shape 29"/>
          <p:cNvSpPr/>
          <p:nvPr/>
        </p:nvSpPr>
        <p:spPr>
          <a:xfrm>
            <a:off x="2898648" y="3249168"/>
            <a:ext cx="365760" cy="365760"/>
          </a:xfrm>
          <a:prstGeom prst="ellipse">
            <a:avLst/>
          </a:prstGeom>
          <a:solidFill>
            <a:schemeClr val="tx2"/>
          </a:solidFill>
          <a:ln/>
        </p:spPr>
      </p:sp>
      <p:sp>
        <p:nvSpPr>
          <p:cNvPr id="40" name="Text 30"/>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1" name="Text 31"/>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thee</a:t>
            </a:r>
            <a:endParaRPr lang="en-US" sz="1600" dirty="0"/>
          </a:p>
          <a:p>
            <a:pPr algn="ctr" indent="0" marL="0">
              <a:buNone/>
            </a:pPr>
            <a:r>
              <a:rPr lang="en-US" sz="1100" i="1" dirty="0">
                <a:solidFill>
                  <a:schemeClr val="accent5"/>
                </a:solidFill>
              </a:rPr>
              <a:t>le thé</a:t>
            </a:r>
            <a:endParaRPr lang="en-US" sz="1600" dirty="0"/>
          </a:p>
        </p:txBody>
      </p:sp>
      <p:sp>
        <p:nvSpPr>
          <p:cNvPr id="42" name="Shape 32"/>
          <p:cNvSpPr/>
          <p:nvPr/>
        </p:nvSpPr>
        <p:spPr>
          <a:xfrm>
            <a:off x="5065776" y="3157728"/>
            <a:ext cx="2057400" cy="1484376"/>
          </a:xfrm>
          <a:prstGeom prst="roundRect">
            <a:avLst>
              <a:gd name="adj" fmla="val 4928"/>
            </a:avLst>
          </a:prstGeom>
          <a:solidFill>
            <a:schemeClr val="bg1"/>
          </a:solidFill>
          <a:ln w="19050">
            <a:solidFill>
              <a:srgbClr val="B4236A"/>
            </a:solidFill>
            <a:prstDash val="solid"/>
          </a:ln>
        </p:spPr>
      </p:sp>
      <p:pic>
        <p:nvPicPr>
          <p:cNvPr id="43" name="illustration" descr="l’eau">    </p:cNvPr>
          <p:cNvPicPr>
            <a:picLocks noChangeAspect="1"/>
          </p:cNvPicPr>
          <p:nvPr/>
        </p:nvPicPr>
        <p:blipFill>
          <a:blip r:embed="rId8"/>
          <a:stretch>
            <a:fillRect/>
          </a:stretch>
        </p:blipFill>
        <p:spPr>
          <a:xfrm>
            <a:off x="5606238" y="3230880"/>
            <a:ext cx="976475" cy="789432"/>
          </a:xfrm>
          <a:prstGeom prst="rect">
            <a:avLst/>
          </a:prstGeom>
        </p:spPr>
      </p:pic>
      <p:sp>
        <p:nvSpPr>
          <p:cNvPr id="44" name="Shape 33"/>
          <p:cNvSpPr/>
          <p:nvPr/>
        </p:nvSpPr>
        <p:spPr>
          <a:xfrm>
            <a:off x="5157216" y="3249168"/>
            <a:ext cx="365760" cy="365760"/>
          </a:xfrm>
          <a:prstGeom prst="ellipse">
            <a:avLst/>
          </a:prstGeom>
          <a:solidFill>
            <a:schemeClr val="tx2"/>
          </a:solidFill>
          <a:ln/>
        </p:spPr>
      </p:sp>
      <p:sp>
        <p:nvSpPr>
          <p:cNvPr id="45" name="Text 34"/>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6" name="Text 35"/>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water</a:t>
            </a:r>
            <a:endParaRPr lang="en-US" sz="1600" dirty="0"/>
          </a:p>
          <a:p>
            <a:pPr algn="ctr" indent="0" marL="0">
              <a:buNone/>
            </a:pPr>
            <a:r>
              <a:rPr lang="en-US" sz="1100" i="1" dirty="0">
                <a:solidFill>
                  <a:schemeClr val="accent5"/>
                </a:solidFill>
              </a:rPr>
              <a:t>l’eau</a:t>
            </a:r>
            <a:endParaRPr lang="en-US" sz="1600" dirty="0"/>
          </a:p>
        </p:txBody>
      </p:sp>
      <p:sp>
        <p:nvSpPr>
          <p:cNvPr id="47" name="Shape 36"/>
          <p:cNvSpPr/>
          <p:nvPr/>
        </p:nvSpPr>
        <p:spPr>
          <a:xfrm>
            <a:off x="7324344" y="3157728"/>
            <a:ext cx="2057400" cy="1484376"/>
          </a:xfrm>
          <a:prstGeom prst="roundRect">
            <a:avLst>
              <a:gd name="adj" fmla="val 4928"/>
            </a:avLst>
          </a:prstGeom>
          <a:solidFill>
            <a:schemeClr val="bg1"/>
          </a:solidFill>
          <a:ln w="19050">
            <a:solidFill>
              <a:srgbClr val="2A6FB0"/>
            </a:solidFill>
            <a:prstDash val="solid"/>
          </a:ln>
        </p:spPr>
      </p:sp>
      <p:pic>
        <p:nvPicPr>
          <p:cNvPr id="48" name="illustration" descr="la soupe">    </p:cNvPr>
          <p:cNvPicPr>
            <a:picLocks noChangeAspect="1"/>
          </p:cNvPicPr>
          <p:nvPr/>
        </p:nvPicPr>
        <p:blipFill>
          <a:blip r:embed="rId9"/>
          <a:stretch>
            <a:fillRect/>
          </a:stretch>
        </p:blipFill>
        <p:spPr>
          <a:xfrm>
            <a:off x="7874434" y="3230880"/>
            <a:ext cx="957221" cy="789432"/>
          </a:xfrm>
          <a:prstGeom prst="rect">
            <a:avLst/>
          </a:prstGeom>
        </p:spPr>
      </p:pic>
      <p:sp>
        <p:nvSpPr>
          <p:cNvPr id="49" name="Shape 37"/>
          <p:cNvSpPr/>
          <p:nvPr/>
        </p:nvSpPr>
        <p:spPr>
          <a:xfrm>
            <a:off x="7415784" y="3249168"/>
            <a:ext cx="365760" cy="365760"/>
          </a:xfrm>
          <a:prstGeom prst="ellipse">
            <a:avLst/>
          </a:prstGeom>
          <a:solidFill>
            <a:schemeClr val="tx2"/>
          </a:solidFill>
          <a:ln/>
        </p:spPr>
      </p:sp>
      <p:sp>
        <p:nvSpPr>
          <p:cNvPr id="50" name="Text 38"/>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1" name="Text 39"/>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soep</a:t>
            </a:r>
            <a:endParaRPr lang="en-US" sz="1600" dirty="0"/>
          </a:p>
          <a:p>
            <a:pPr algn="ctr" indent="0" marL="0">
              <a:buNone/>
            </a:pPr>
            <a:r>
              <a:rPr lang="en-US" sz="1100" i="1" dirty="0">
                <a:solidFill>
                  <a:schemeClr val="accent5"/>
                </a:solidFill>
              </a:rPr>
              <a:t>la soupe</a:t>
            </a:r>
            <a:endParaRPr lang="en-US" sz="1600" dirty="0"/>
          </a:p>
        </p:txBody>
      </p:sp>
      <p:sp>
        <p:nvSpPr>
          <p:cNvPr id="52" name="Shape 40"/>
          <p:cNvSpPr/>
          <p:nvPr/>
        </p:nvSpPr>
        <p:spPr>
          <a:xfrm>
            <a:off x="9582912" y="3157728"/>
            <a:ext cx="2057400" cy="1484376"/>
          </a:xfrm>
          <a:prstGeom prst="roundRect">
            <a:avLst>
              <a:gd name="adj" fmla="val 4928"/>
            </a:avLst>
          </a:prstGeom>
          <a:solidFill>
            <a:schemeClr val="bg1"/>
          </a:solidFill>
          <a:ln w="19050">
            <a:solidFill>
              <a:srgbClr val="2A6FB0"/>
            </a:solidFill>
            <a:prstDash val="solid"/>
          </a:ln>
        </p:spPr>
      </p:sp>
      <p:pic>
        <p:nvPicPr>
          <p:cNvPr id="53" name="illustration" descr="les frites">    </p:cNvPr>
          <p:cNvPicPr>
            <a:picLocks noChangeAspect="1"/>
          </p:cNvPicPr>
          <p:nvPr/>
        </p:nvPicPr>
        <p:blipFill>
          <a:blip r:embed="rId10"/>
          <a:stretch>
            <a:fillRect/>
          </a:stretch>
        </p:blipFill>
        <p:spPr>
          <a:xfrm>
            <a:off x="10139045" y="3230880"/>
            <a:ext cx="945133" cy="789432"/>
          </a:xfrm>
          <a:prstGeom prst="rect">
            <a:avLst/>
          </a:prstGeom>
        </p:spPr>
      </p:pic>
      <p:sp>
        <p:nvSpPr>
          <p:cNvPr id="54" name="Shape 41"/>
          <p:cNvSpPr/>
          <p:nvPr/>
        </p:nvSpPr>
        <p:spPr>
          <a:xfrm>
            <a:off x="9674352" y="3249168"/>
            <a:ext cx="365760" cy="365760"/>
          </a:xfrm>
          <a:prstGeom prst="ellipse">
            <a:avLst/>
          </a:prstGeom>
          <a:solidFill>
            <a:schemeClr val="tx2"/>
          </a:solidFill>
          <a:ln/>
        </p:spPr>
      </p:sp>
      <p:sp>
        <p:nvSpPr>
          <p:cNvPr id="55" name="Text 42"/>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6" name="Text 43"/>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frieten</a:t>
            </a:r>
            <a:endParaRPr lang="en-US" sz="1600" dirty="0"/>
          </a:p>
          <a:p>
            <a:pPr algn="ctr" indent="0" marL="0">
              <a:buNone/>
            </a:pPr>
            <a:r>
              <a:rPr lang="en-US" sz="1100" i="1" dirty="0">
                <a:solidFill>
                  <a:schemeClr val="accent5"/>
                </a:solidFill>
              </a:rPr>
              <a:t>les frites</a:t>
            </a:r>
            <a:endParaRPr lang="en-US" sz="1600" dirty="0"/>
          </a:p>
        </p:txBody>
      </p:sp>
      <p:sp>
        <p:nvSpPr>
          <p:cNvPr id="57" name="Shape 44"/>
          <p:cNvSpPr/>
          <p:nvPr/>
        </p:nvSpPr>
        <p:spPr>
          <a:xfrm>
            <a:off x="548640" y="4806696"/>
            <a:ext cx="2057400" cy="1484376"/>
          </a:xfrm>
          <a:prstGeom prst="roundRect">
            <a:avLst>
              <a:gd name="adj" fmla="val 4928"/>
            </a:avLst>
          </a:prstGeom>
          <a:solidFill>
            <a:schemeClr val="bg1"/>
          </a:solidFill>
          <a:ln w="19050">
            <a:solidFill>
              <a:srgbClr val="B4236A"/>
            </a:solidFill>
            <a:prstDash val="solid"/>
          </a:ln>
        </p:spPr>
      </p:sp>
      <p:pic>
        <p:nvPicPr>
          <p:cNvPr id="58" name="illustration" descr="la viande">    </p:cNvPr>
          <p:cNvPicPr>
            <a:picLocks noChangeAspect="1"/>
          </p:cNvPicPr>
          <p:nvPr/>
        </p:nvPicPr>
        <p:blipFill>
          <a:blip r:embed="rId11"/>
          <a:stretch>
            <a:fillRect/>
          </a:stretch>
        </p:blipFill>
        <p:spPr>
          <a:xfrm>
            <a:off x="1092481" y="4879848"/>
            <a:ext cx="969718" cy="789432"/>
          </a:xfrm>
          <a:prstGeom prst="rect">
            <a:avLst/>
          </a:prstGeom>
        </p:spPr>
      </p:pic>
      <p:sp>
        <p:nvSpPr>
          <p:cNvPr id="59" name="Shape 45"/>
          <p:cNvSpPr/>
          <p:nvPr/>
        </p:nvSpPr>
        <p:spPr>
          <a:xfrm>
            <a:off x="640080" y="4898136"/>
            <a:ext cx="365760" cy="365760"/>
          </a:xfrm>
          <a:prstGeom prst="ellipse">
            <a:avLst/>
          </a:prstGeom>
          <a:solidFill>
            <a:schemeClr val="tx2"/>
          </a:solidFill>
          <a:ln/>
        </p:spPr>
      </p:sp>
      <p:sp>
        <p:nvSpPr>
          <p:cNvPr id="60" name="Text 46"/>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1" name="Text 47"/>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vlees</a:t>
            </a:r>
            <a:endParaRPr lang="en-US" sz="1600" dirty="0"/>
          </a:p>
          <a:p>
            <a:pPr algn="ctr" indent="0" marL="0">
              <a:buNone/>
            </a:pPr>
            <a:r>
              <a:rPr lang="en-US" sz="1100" i="1" dirty="0">
                <a:solidFill>
                  <a:schemeClr val="accent5"/>
                </a:solidFill>
              </a:rPr>
              <a:t>la viande</a:t>
            </a:r>
            <a:endParaRPr lang="en-US" sz="1600" dirty="0"/>
          </a:p>
        </p:txBody>
      </p:sp>
      <p:sp>
        <p:nvSpPr>
          <p:cNvPr id="62" name="Shape 48"/>
          <p:cNvSpPr/>
          <p:nvPr/>
        </p:nvSpPr>
        <p:spPr>
          <a:xfrm>
            <a:off x="2807208" y="4806696"/>
            <a:ext cx="2057400" cy="1484376"/>
          </a:xfrm>
          <a:prstGeom prst="roundRect">
            <a:avLst>
              <a:gd name="adj" fmla="val 4928"/>
            </a:avLst>
          </a:prstGeom>
          <a:solidFill>
            <a:schemeClr val="bg1"/>
          </a:solidFill>
          <a:ln w="19050">
            <a:solidFill>
              <a:srgbClr val="2A6FB0"/>
            </a:solidFill>
            <a:prstDash val="solid"/>
          </a:ln>
        </p:spPr>
      </p:sp>
      <p:pic>
        <p:nvPicPr>
          <p:cNvPr id="63" name="illustration" descr="le poisson">    </p:cNvPr>
          <p:cNvPicPr>
            <a:picLocks noChangeAspect="1"/>
          </p:cNvPicPr>
          <p:nvPr/>
        </p:nvPicPr>
        <p:blipFill>
          <a:blip r:embed="rId12"/>
          <a:stretch>
            <a:fillRect/>
          </a:stretch>
        </p:blipFill>
        <p:spPr>
          <a:xfrm>
            <a:off x="3360610" y="4879848"/>
            <a:ext cx="950596" cy="789432"/>
          </a:xfrm>
          <a:prstGeom prst="rect">
            <a:avLst/>
          </a:prstGeom>
        </p:spPr>
      </p:pic>
      <p:sp>
        <p:nvSpPr>
          <p:cNvPr id="64" name="Shape 49"/>
          <p:cNvSpPr/>
          <p:nvPr/>
        </p:nvSpPr>
        <p:spPr>
          <a:xfrm>
            <a:off x="2898648" y="4898136"/>
            <a:ext cx="365760" cy="365760"/>
          </a:xfrm>
          <a:prstGeom prst="ellipse">
            <a:avLst/>
          </a:prstGeom>
          <a:solidFill>
            <a:schemeClr val="tx2"/>
          </a:solidFill>
          <a:ln/>
        </p:spPr>
      </p:sp>
      <p:sp>
        <p:nvSpPr>
          <p:cNvPr id="65" name="Text 50"/>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6" name="Text 51"/>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vis</a:t>
            </a:r>
            <a:endParaRPr lang="en-US" sz="1600" dirty="0"/>
          </a:p>
          <a:p>
            <a:pPr algn="ctr" indent="0" marL="0">
              <a:buNone/>
            </a:pPr>
            <a:r>
              <a:rPr lang="en-US" sz="1100" i="1" dirty="0">
                <a:solidFill>
                  <a:schemeClr val="accent5"/>
                </a:solidFill>
              </a:rPr>
              <a:t>le poisson</a:t>
            </a:r>
            <a:endParaRPr lang="en-US" sz="1600" dirty="0"/>
          </a:p>
        </p:txBody>
      </p:sp>
      <p:sp>
        <p:nvSpPr>
          <p:cNvPr id="67" name="Shape 52"/>
          <p:cNvSpPr/>
          <p:nvPr/>
        </p:nvSpPr>
        <p:spPr>
          <a:xfrm>
            <a:off x="5065776" y="4806696"/>
            <a:ext cx="2057400" cy="1484376"/>
          </a:xfrm>
          <a:prstGeom prst="roundRect">
            <a:avLst>
              <a:gd name="adj" fmla="val 4928"/>
            </a:avLst>
          </a:prstGeom>
          <a:solidFill>
            <a:schemeClr val="bg1"/>
          </a:solidFill>
          <a:ln w="19050">
            <a:solidFill>
              <a:srgbClr val="2A6FB0"/>
            </a:solidFill>
            <a:prstDash val="solid"/>
          </a:ln>
        </p:spPr>
      </p:sp>
      <p:pic>
        <p:nvPicPr>
          <p:cNvPr id="68" name="illustration" descr="les légumes">    </p:cNvPr>
          <p:cNvPicPr>
            <a:picLocks noChangeAspect="1"/>
          </p:cNvPicPr>
          <p:nvPr/>
        </p:nvPicPr>
        <p:blipFill>
          <a:blip r:embed="rId13"/>
          <a:stretch>
            <a:fillRect/>
          </a:stretch>
        </p:blipFill>
        <p:spPr>
          <a:xfrm>
            <a:off x="5565128" y="4879848"/>
            <a:ext cx="1058696" cy="789432"/>
          </a:xfrm>
          <a:prstGeom prst="rect">
            <a:avLst/>
          </a:prstGeom>
        </p:spPr>
      </p:pic>
      <p:sp>
        <p:nvSpPr>
          <p:cNvPr id="69" name="Shape 53"/>
          <p:cNvSpPr/>
          <p:nvPr/>
        </p:nvSpPr>
        <p:spPr>
          <a:xfrm>
            <a:off x="5157216" y="4898136"/>
            <a:ext cx="365760" cy="365760"/>
          </a:xfrm>
          <a:prstGeom prst="ellipse">
            <a:avLst/>
          </a:prstGeom>
          <a:solidFill>
            <a:schemeClr val="tx2"/>
          </a:solidFill>
          <a:ln/>
        </p:spPr>
      </p:sp>
      <p:sp>
        <p:nvSpPr>
          <p:cNvPr id="70" name="Text 54"/>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1" name="Text 55"/>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groenten</a:t>
            </a:r>
            <a:endParaRPr lang="en-US" sz="1600" dirty="0"/>
          </a:p>
          <a:p>
            <a:pPr algn="ctr" indent="0" marL="0">
              <a:buNone/>
            </a:pPr>
            <a:r>
              <a:rPr lang="en-US" sz="1100" i="1" dirty="0">
                <a:solidFill>
                  <a:schemeClr val="accent5"/>
                </a:solidFill>
              </a:rPr>
              <a:t>les légumes</a:t>
            </a:r>
            <a:endParaRPr lang="en-US" sz="1600" dirty="0"/>
          </a:p>
        </p:txBody>
      </p:sp>
      <p:sp>
        <p:nvSpPr>
          <p:cNvPr id="72" name="Shape 56"/>
          <p:cNvSpPr/>
          <p:nvPr/>
        </p:nvSpPr>
        <p:spPr>
          <a:xfrm>
            <a:off x="7324344" y="4806696"/>
            <a:ext cx="2057400" cy="1484376"/>
          </a:xfrm>
          <a:prstGeom prst="roundRect">
            <a:avLst>
              <a:gd name="adj" fmla="val 4928"/>
            </a:avLst>
          </a:prstGeom>
          <a:solidFill>
            <a:schemeClr val="bg1"/>
          </a:solidFill>
          <a:ln w="19050">
            <a:solidFill>
              <a:srgbClr val="B4236A"/>
            </a:solidFill>
            <a:prstDash val="solid"/>
          </a:ln>
        </p:spPr>
      </p:sp>
      <p:pic>
        <p:nvPicPr>
          <p:cNvPr id="73" name="illustration" descr="les fruits">    </p:cNvPr>
          <p:cNvPicPr>
            <a:picLocks noChangeAspect="1"/>
          </p:cNvPicPr>
          <p:nvPr/>
        </p:nvPicPr>
        <p:blipFill>
          <a:blip r:embed="rId14"/>
          <a:stretch>
            <a:fillRect/>
          </a:stretch>
        </p:blipFill>
        <p:spPr>
          <a:xfrm>
            <a:off x="7809927" y="4879848"/>
            <a:ext cx="1086234" cy="789432"/>
          </a:xfrm>
          <a:prstGeom prst="rect">
            <a:avLst/>
          </a:prstGeom>
        </p:spPr>
      </p:pic>
      <p:sp>
        <p:nvSpPr>
          <p:cNvPr id="74" name="Shape 57"/>
          <p:cNvSpPr/>
          <p:nvPr/>
        </p:nvSpPr>
        <p:spPr>
          <a:xfrm>
            <a:off x="7415784" y="4898136"/>
            <a:ext cx="365760" cy="365760"/>
          </a:xfrm>
          <a:prstGeom prst="ellipse">
            <a:avLst/>
          </a:prstGeom>
          <a:solidFill>
            <a:schemeClr val="tx2"/>
          </a:solidFill>
          <a:ln/>
        </p:spPr>
      </p:sp>
      <p:sp>
        <p:nvSpPr>
          <p:cNvPr id="75" name="Text 58"/>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6" name="Text 59"/>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fruit</a:t>
            </a:r>
            <a:endParaRPr lang="en-US" sz="1600" dirty="0"/>
          </a:p>
          <a:p>
            <a:pPr algn="ctr" indent="0" marL="0">
              <a:buNone/>
            </a:pPr>
            <a:r>
              <a:rPr lang="en-US" sz="1100" i="1" dirty="0">
                <a:solidFill>
                  <a:schemeClr val="accent5"/>
                </a:solidFill>
              </a:rPr>
              <a:t>les fruits</a:t>
            </a:r>
            <a:endParaRPr lang="en-US" sz="1600" dirty="0"/>
          </a:p>
        </p:txBody>
      </p:sp>
      <p:sp>
        <p:nvSpPr>
          <p:cNvPr id="77" name="Shape 60"/>
          <p:cNvSpPr/>
          <p:nvPr/>
        </p:nvSpPr>
        <p:spPr>
          <a:xfrm>
            <a:off x="9582912" y="4806696"/>
            <a:ext cx="2057400" cy="1484376"/>
          </a:xfrm>
          <a:prstGeom prst="roundRect">
            <a:avLst>
              <a:gd name="adj" fmla="val 4928"/>
            </a:avLst>
          </a:prstGeom>
          <a:solidFill>
            <a:schemeClr val="bg1"/>
          </a:solidFill>
          <a:ln w="19050">
            <a:solidFill>
              <a:srgbClr val="B4236A"/>
            </a:solidFill>
            <a:prstDash val="solid"/>
          </a:ln>
        </p:spPr>
      </p:sp>
      <p:pic>
        <p:nvPicPr>
          <p:cNvPr id="78" name="illustration" descr="les couverts">    </p:cNvPr>
          <p:cNvPicPr>
            <a:picLocks noChangeAspect="1"/>
          </p:cNvPicPr>
          <p:nvPr/>
        </p:nvPicPr>
        <p:blipFill>
          <a:blip r:embed="rId15"/>
          <a:stretch>
            <a:fillRect/>
          </a:stretch>
        </p:blipFill>
        <p:spPr>
          <a:xfrm>
            <a:off x="10079204" y="4879848"/>
            <a:ext cx="1064815" cy="789432"/>
          </a:xfrm>
          <a:prstGeom prst="rect">
            <a:avLst/>
          </a:prstGeom>
        </p:spPr>
      </p:pic>
      <p:sp>
        <p:nvSpPr>
          <p:cNvPr id="79" name="Shape 61"/>
          <p:cNvSpPr/>
          <p:nvPr/>
        </p:nvSpPr>
        <p:spPr>
          <a:xfrm>
            <a:off x="9674352" y="4898136"/>
            <a:ext cx="365760" cy="365760"/>
          </a:xfrm>
          <a:prstGeom prst="ellipse">
            <a:avLst/>
          </a:prstGeom>
          <a:solidFill>
            <a:schemeClr val="tx2"/>
          </a:solidFill>
          <a:ln/>
        </p:spPr>
      </p:sp>
      <p:sp>
        <p:nvSpPr>
          <p:cNvPr id="80" name="Text 62"/>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1" name="Text 63"/>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bestek</a:t>
            </a:r>
            <a:endParaRPr lang="en-US" sz="1600" dirty="0"/>
          </a:p>
          <a:p>
            <a:pPr algn="ctr" indent="0" marL="0">
              <a:buNone/>
            </a:pPr>
            <a:r>
              <a:rPr lang="en-US" sz="1100" i="1" dirty="0">
                <a:solidFill>
                  <a:schemeClr val="accent5"/>
                </a:solidFill>
              </a:rPr>
              <a:t>les couverts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Bestellen met een verkleinwoord</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Par deux · 5 min — Complétez avec le </a:t>
            </a:r>
            <a:r>
              <a:rPr lang="en-US" sz="1600" b="1" i="1" dirty="0">
                <a:solidFill>
                  <a:schemeClr val="accent5"/>
                </a:solidFill>
              </a:rPr>
              <a:t>diminutif</a:t>
            </a:r>
            <a:r>
              <a:rPr lang="en-US" sz="1600" i="1" dirty="0">
                <a:solidFill>
                  <a:schemeClr val="accent5"/>
                </a:solidFill>
              </a:rPr>
              <a:t> du mot entre parenthèses, puis commandez à voix haute.</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Mag ik een </a:t>
            </a:r>
            <a:r>
              <a:rPr lang="en-US" sz="2400" dirty="0">
                <a:solidFill>
                  <a:schemeClr val="accent5"/>
                </a:solidFill>
              </a:rPr>
              <a:t>……………</a:t>
            </a:r>
            <a:r>
              <a:rPr lang="en-US" sz="2400" dirty="0">
                <a:solidFill>
                  <a:schemeClr val="tx1"/>
                </a:solidFill>
              </a:rPr>
              <a:t> koffie, alstublieft? </a:t>
            </a:r>
            <a:r>
              <a:rPr lang="en-US" sz="2400" i="1" dirty="0">
                <a:solidFill>
                  <a:schemeClr val="tx1"/>
                </a:solidFill>
              </a:rPr>
              <a:t>(de kop)</a:t>
            </a:r>
            <a:endParaRPr lang="en-US" sz="2400" dirty="0"/>
          </a:p>
          <a:p>
            <a:pPr indent="0" marL="0">
              <a:spcAft>
                <a:spcPts val="1200"/>
              </a:spcAft>
              <a:buNone/>
            </a:pPr>
            <a:r>
              <a:rPr lang="en-US" sz="2400" b="1" dirty="0">
                <a:solidFill>
                  <a:schemeClr val="tx2"/>
                </a:solidFill>
              </a:rPr>
              <a:t>2.  </a:t>
            </a:r>
            <a:r>
              <a:rPr lang="en-US" sz="2400" dirty="0">
                <a:solidFill>
                  <a:schemeClr val="tx1"/>
                </a:solidFill>
              </a:rPr>
              <a:t>Een </a:t>
            </a:r>
            <a:r>
              <a:rPr lang="en-US" sz="2400" dirty="0">
                <a:solidFill>
                  <a:schemeClr val="accent5"/>
                </a:solidFill>
              </a:rPr>
              <a:t>……………</a:t>
            </a:r>
            <a:r>
              <a:rPr lang="en-US" sz="2400" dirty="0">
                <a:solidFill>
                  <a:schemeClr val="tx1"/>
                </a:solidFill>
              </a:rPr>
              <a:t> kaas, graag. </a:t>
            </a:r>
            <a:r>
              <a:rPr lang="en-US" sz="2400" i="1" dirty="0">
                <a:solidFill>
                  <a:schemeClr val="tx1"/>
                </a:solidFill>
              </a:rPr>
              <a:t>(het brood)</a:t>
            </a:r>
            <a:endParaRPr lang="en-US" sz="2400" dirty="0"/>
          </a:p>
          <a:p>
            <a:pPr indent="0" marL="0">
              <a:spcAft>
                <a:spcPts val="1200"/>
              </a:spcAft>
              <a:buNone/>
            </a:pPr>
            <a:r>
              <a:rPr lang="en-US" sz="2400" b="1" dirty="0">
                <a:solidFill>
                  <a:schemeClr val="tx2"/>
                </a:solidFill>
              </a:rPr>
              <a:t>3.  </a:t>
            </a:r>
            <a:r>
              <a:rPr lang="en-US" sz="2400" dirty="0">
                <a:solidFill>
                  <a:schemeClr val="tx1"/>
                </a:solidFill>
              </a:rPr>
              <a:t>Voor mij een </a:t>
            </a:r>
            <a:r>
              <a:rPr lang="en-US" sz="2400" dirty="0">
                <a:solidFill>
                  <a:schemeClr val="accent5"/>
                </a:solidFill>
              </a:rPr>
              <a:t>……………</a:t>
            </a:r>
            <a:r>
              <a:rPr lang="en-US" sz="2400" dirty="0">
                <a:solidFill>
                  <a:schemeClr val="tx1"/>
                </a:solidFill>
              </a:rPr>
              <a:t> water. </a:t>
            </a:r>
            <a:r>
              <a:rPr lang="en-US" sz="2400" i="1" dirty="0">
                <a:solidFill>
                  <a:schemeClr val="tx1"/>
                </a:solidFill>
              </a:rPr>
              <a:t>(het glas)</a:t>
            </a:r>
            <a:endParaRPr lang="en-US" sz="2400" dirty="0"/>
          </a:p>
          <a:p>
            <a:pPr indent="0" marL="0">
              <a:spcAft>
                <a:spcPts val="1200"/>
              </a:spcAft>
              <a:buNone/>
            </a:pPr>
            <a:r>
              <a:rPr lang="en-US" sz="2400" b="1" dirty="0">
                <a:solidFill>
                  <a:schemeClr val="tx2"/>
                </a:solidFill>
              </a:rPr>
              <a:t>4.  </a:t>
            </a:r>
            <a:r>
              <a:rPr lang="en-US" sz="2400" dirty="0">
                <a:solidFill>
                  <a:schemeClr val="tx1"/>
                </a:solidFill>
              </a:rPr>
              <a:t>Wil je een </a:t>
            </a:r>
            <a:r>
              <a:rPr lang="en-US" sz="2400" dirty="0">
                <a:solidFill>
                  <a:schemeClr val="accent5"/>
                </a:solidFill>
              </a:rPr>
              <a:t>……………</a:t>
            </a:r>
            <a:r>
              <a:rPr lang="en-US" sz="2400" dirty="0">
                <a:solidFill>
                  <a:schemeClr val="tx1"/>
                </a:solidFill>
              </a:rPr>
              <a:t> vis? </a:t>
            </a:r>
            <a:r>
              <a:rPr lang="en-US" sz="2400" i="1" dirty="0">
                <a:solidFill>
                  <a:schemeClr val="tx1"/>
                </a:solidFill>
              </a:rPr>
              <a:t>(het stuk)</a:t>
            </a:r>
            <a:endParaRPr lang="en-US" sz="2400" dirty="0"/>
          </a:p>
          <a:p>
            <a:pPr indent="0" marL="0">
              <a:spcAft>
                <a:spcPts val="1200"/>
              </a:spcAft>
              <a:buNone/>
            </a:pPr>
            <a:r>
              <a:rPr lang="en-US" sz="2400" b="1" dirty="0">
                <a:solidFill>
                  <a:schemeClr val="tx2"/>
                </a:solidFill>
              </a:rPr>
              <a:t>5.  </a:t>
            </a:r>
            <a:r>
              <a:rPr lang="en-US" sz="2400" dirty="0">
                <a:solidFill>
                  <a:schemeClr val="tx1"/>
                </a:solidFill>
              </a:rPr>
              <a:t>Ik eet ’s morgens een </a:t>
            </a:r>
            <a:r>
              <a:rPr lang="en-US" sz="2400" dirty="0">
                <a:solidFill>
                  <a:schemeClr val="accent5"/>
                </a:solidFill>
              </a:rPr>
              <a:t>……………</a:t>
            </a:r>
            <a:r>
              <a:rPr lang="en-US" sz="2400" dirty="0">
                <a:solidFill>
                  <a:schemeClr val="tx1"/>
                </a:solidFill>
              </a:rPr>
              <a:t>. </a:t>
            </a:r>
            <a:r>
              <a:rPr lang="en-US" sz="2400" i="1" dirty="0">
                <a:solidFill>
                  <a:schemeClr val="tx1"/>
                </a:solidFill>
              </a:rPr>
              <a:t>(het ei)</a:t>
            </a:r>
            <a:endParaRPr lang="en-US" sz="2400" dirty="0"/>
          </a:p>
          <a:p>
            <a:pPr indent="0" marL="0">
              <a:spcAft>
                <a:spcPts val="1200"/>
              </a:spcAft>
              <a:buNone/>
            </a:pPr>
            <a:r>
              <a:rPr lang="en-US" sz="2400" b="1" dirty="0">
                <a:solidFill>
                  <a:schemeClr val="tx2"/>
                </a:solidFill>
              </a:rPr>
              <a:t>6.  </a:t>
            </a:r>
            <a:r>
              <a:rPr lang="en-US" sz="2400" dirty="0">
                <a:solidFill>
                  <a:schemeClr val="tx1"/>
                </a:solidFill>
              </a:rPr>
              <a:t>Een </a:t>
            </a:r>
            <a:r>
              <a:rPr lang="en-US" sz="2400" dirty="0">
                <a:solidFill>
                  <a:schemeClr val="accent5"/>
                </a:solidFill>
              </a:rPr>
              <a:t>……………</a:t>
            </a:r>
            <a:r>
              <a:rPr lang="en-US" sz="2400" dirty="0">
                <a:solidFill>
                  <a:schemeClr val="tx1"/>
                </a:solidFill>
              </a:rPr>
              <a:t> met mayonaise, alstublieft! </a:t>
            </a:r>
            <a:r>
              <a:rPr lang="en-US" sz="2400" i="1" dirty="0">
                <a:solidFill>
                  <a:schemeClr val="tx1"/>
                </a:solidFill>
              </a:rPr>
              <a:t>(de friet)</a:t>
            </a:r>
            <a:endParaRPr lang="en-US" sz="2400" dirty="0"/>
          </a:p>
          <a:p>
            <a:pPr indent="0" marL="0">
              <a:spcAft>
                <a:spcPts val="1200"/>
              </a:spcAft>
              <a:buNone/>
            </a:pPr>
            <a:r>
              <a:rPr lang="en-US" sz="2400" b="1" dirty="0">
                <a:solidFill>
                  <a:schemeClr val="tx2"/>
                </a:solidFill>
              </a:rPr>
              <a:t>7.  </a:t>
            </a:r>
            <a:r>
              <a:rPr lang="en-US" sz="2400" dirty="0">
                <a:solidFill>
                  <a:schemeClr val="tx1"/>
                </a:solidFill>
              </a:rPr>
              <a:t>Twee </a:t>
            </a:r>
            <a:r>
              <a:rPr lang="en-US" sz="2400" dirty="0">
                <a:solidFill>
                  <a:schemeClr val="accent5"/>
                </a:solidFill>
              </a:rPr>
              <a:t>……………</a:t>
            </a:r>
            <a:r>
              <a:rPr lang="en-US" sz="2400" dirty="0">
                <a:solidFill>
                  <a:schemeClr val="tx1"/>
                </a:solidFill>
              </a:rPr>
              <a:t>, graag! </a:t>
            </a:r>
            <a:r>
              <a:rPr lang="en-US" sz="2400" i="1" dirty="0">
                <a:solidFill>
                  <a:schemeClr val="tx1"/>
                </a:solidFill>
              </a:rPr>
              <a:t>(het bier, pluriel)</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Bestellen met een verkleinwoord</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Par deux · 5 min — Complétez avec le </a:t>
            </a:r>
            <a:r>
              <a:rPr lang="en-US" sz="1600" b="1" i="1" dirty="0">
                <a:solidFill>
                  <a:schemeClr val="accent5"/>
                </a:solidFill>
              </a:rPr>
              <a:t>diminutif</a:t>
            </a:r>
            <a:r>
              <a:rPr lang="en-US" sz="1600" i="1" dirty="0">
                <a:solidFill>
                  <a:schemeClr val="accent5"/>
                </a:solidFill>
              </a:rPr>
              <a:t> du mot entre parenthèses, puis commandez à voix haute.</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Mag ik een </a:t>
            </a:r>
            <a:r>
              <a:rPr lang="en-US" sz="2400" b="1" dirty="0">
                <a:solidFill>
                  <a:schemeClr val="accent3"/>
                </a:solidFill>
              </a:rPr>
              <a:t>kopje</a:t>
            </a:r>
            <a:r>
              <a:rPr lang="en-US" sz="2400" dirty="0">
                <a:solidFill>
                  <a:schemeClr val="tx1"/>
                </a:solidFill>
              </a:rPr>
              <a:t> koffie, alstublieft? </a:t>
            </a:r>
            <a:r>
              <a:rPr lang="en-US" sz="2400" i="1" dirty="0">
                <a:solidFill>
                  <a:schemeClr val="tx1"/>
                </a:solidFill>
              </a:rPr>
              <a:t>(de kop)</a:t>
            </a:r>
            <a:endParaRPr lang="en-US" sz="2400" dirty="0"/>
          </a:p>
          <a:p>
            <a:pPr indent="0" marL="0">
              <a:spcAft>
                <a:spcPts val="1200"/>
              </a:spcAft>
              <a:buNone/>
            </a:pPr>
            <a:r>
              <a:rPr lang="en-US" sz="2400" b="1" dirty="0">
                <a:solidFill>
                  <a:schemeClr val="tx2"/>
                </a:solidFill>
              </a:rPr>
              <a:t>2.  </a:t>
            </a:r>
            <a:r>
              <a:rPr lang="en-US" sz="2400" dirty="0">
                <a:solidFill>
                  <a:schemeClr val="tx1"/>
                </a:solidFill>
              </a:rPr>
              <a:t>Een </a:t>
            </a:r>
            <a:r>
              <a:rPr lang="en-US" sz="2400" b="1" dirty="0">
                <a:solidFill>
                  <a:schemeClr val="accent3"/>
                </a:solidFill>
              </a:rPr>
              <a:t>broodje</a:t>
            </a:r>
            <a:r>
              <a:rPr lang="en-US" sz="2400" dirty="0">
                <a:solidFill>
                  <a:schemeClr val="tx1"/>
                </a:solidFill>
              </a:rPr>
              <a:t> kaas, graag. </a:t>
            </a:r>
            <a:r>
              <a:rPr lang="en-US" sz="2400" i="1" dirty="0">
                <a:solidFill>
                  <a:schemeClr val="tx1"/>
                </a:solidFill>
              </a:rPr>
              <a:t>(het brood)</a:t>
            </a:r>
            <a:endParaRPr lang="en-US" sz="2400" dirty="0"/>
          </a:p>
          <a:p>
            <a:pPr indent="0" marL="0">
              <a:spcAft>
                <a:spcPts val="1200"/>
              </a:spcAft>
              <a:buNone/>
            </a:pPr>
            <a:r>
              <a:rPr lang="en-US" sz="2400" b="1" dirty="0">
                <a:solidFill>
                  <a:schemeClr val="tx2"/>
                </a:solidFill>
              </a:rPr>
              <a:t>3.  </a:t>
            </a:r>
            <a:r>
              <a:rPr lang="en-US" sz="2400" dirty="0">
                <a:solidFill>
                  <a:schemeClr val="tx1"/>
                </a:solidFill>
              </a:rPr>
              <a:t>Voor mij een </a:t>
            </a:r>
            <a:r>
              <a:rPr lang="en-US" sz="2400" b="1" dirty="0">
                <a:solidFill>
                  <a:schemeClr val="accent3"/>
                </a:solidFill>
              </a:rPr>
              <a:t>glaasje</a:t>
            </a:r>
            <a:r>
              <a:rPr lang="en-US" sz="2400" dirty="0">
                <a:solidFill>
                  <a:schemeClr val="tx1"/>
                </a:solidFill>
              </a:rPr>
              <a:t> water. </a:t>
            </a:r>
            <a:r>
              <a:rPr lang="en-US" sz="2400" i="1" dirty="0">
                <a:solidFill>
                  <a:schemeClr val="tx1"/>
                </a:solidFill>
              </a:rPr>
              <a:t>(het glas)</a:t>
            </a:r>
            <a:endParaRPr lang="en-US" sz="2400" dirty="0"/>
          </a:p>
          <a:p>
            <a:pPr indent="0" marL="0">
              <a:spcAft>
                <a:spcPts val="1200"/>
              </a:spcAft>
              <a:buNone/>
            </a:pPr>
            <a:r>
              <a:rPr lang="en-US" sz="2400" b="1" dirty="0">
                <a:solidFill>
                  <a:schemeClr val="tx2"/>
                </a:solidFill>
              </a:rPr>
              <a:t>4.  </a:t>
            </a:r>
            <a:r>
              <a:rPr lang="en-US" sz="2400" dirty="0">
                <a:solidFill>
                  <a:schemeClr val="tx1"/>
                </a:solidFill>
              </a:rPr>
              <a:t>Wil je een </a:t>
            </a:r>
            <a:r>
              <a:rPr lang="en-US" sz="2400" b="1" dirty="0">
                <a:solidFill>
                  <a:schemeClr val="accent3"/>
                </a:solidFill>
              </a:rPr>
              <a:t>stukje</a:t>
            </a:r>
            <a:r>
              <a:rPr lang="en-US" sz="2400" dirty="0">
                <a:solidFill>
                  <a:schemeClr val="tx1"/>
                </a:solidFill>
              </a:rPr>
              <a:t> vis? </a:t>
            </a:r>
            <a:r>
              <a:rPr lang="en-US" sz="2400" i="1" dirty="0">
                <a:solidFill>
                  <a:schemeClr val="tx1"/>
                </a:solidFill>
              </a:rPr>
              <a:t>(het stuk)</a:t>
            </a:r>
            <a:endParaRPr lang="en-US" sz="2400" dirty="0"/>
          </a:p>
          <a:p>
            <a:pPr indent="0" marL="0">
              <a:spcAft>
                <a:spcPts val="1200"/>
              </a:spcAft>
              <a:buNone/>
            </a:pPr>
            <a:r>
              <a:rPr lang="en-US" sz="2400" b="1" dirty="0">
                <a:solidFill>
                  <a:schemeClr val="tx2"/>
                </a:solidFill>
              </a:rPr>
              <a:t>5.  </a:t>
            </a:r>
            <a:r>
              <a:rPr lang="en-US" sz="2400" dirty="0">
                <a:solidFill>
                  <a:schemeClr val="tx1"/>
                </a:solidFill>
              </a:rPr>
              <a:t>Ik eet ’s morgens een </a:t>
            </a:r>
            <a:r>
              <a:rPr lang="en-US" sz="2400" b="1" dirty="0">
                <a:solidFill>
                  <a:schemeClr val="accent3"/>
                </a:solidFill>
              </a:rPr>
              <a:t>eitje</a:t>
            </a:r>
            <a:r>
              <a:rPr lang="en-US" sz="2400" dirty="0">
                <a:solidFill>
                  <a:schemeClr val="tx1"/>
                </a:solidFill>
              </a:rPr>
              <a:t>. </a:t>
            </a:r>
            <a:r>
              <a:rPr lang="en-US" sz="2400" i="1" dirty="0">
                <a:solidFill>
                  <a:schemeClr val="tx1"/>
                </a:solidFill>
              </a:rPr>
              <a:t>(het ei)</a:t>
            </a:r>
            <a:endParaRPr lang="en-US" sz="2400" dirty="0"/>
          </a:p>
          <a:p>
            <a:pPr indent="0" marL="0">
              <a:spcAft>
                <a:spcPts val="1200"/>
              </a:spcAft>
              <a:buNone/>
            </a:pPr>
            <a:r>
              <a:rPr lang="en-US" sz="2400" b="1" dirty="0">
                <a:solidFill>
                  <a:schemeClr val="tx2"/>
                </a:solidFill>
              </a:rPr>
              <a:t>6.  </a:t>
            </a:r>
            <a:r>
              <a:rPr lang="en-US" sz="2400" dirty="0">
                <a:solidFill>
                  <a:schemeClr val="tx1"/>
                </a:solidFill>
              </a:rPr>
              <a:t>Een </a:t>
            </a:r>
            <a:r>
              <a:rPr lang="en-US" sz="2400" b="1" dirty="0">
                <a:solidFill>
                  <a:schemeClr val="accent3"/>
                </a:solidFill>
              </a:rPr>
              <a:t>frietje</a:t>
            </a:r>
            <a:r>
              <a:rPr lang="en-US" sz="2400" dirty="0">
                <a:solidFill>
                  <a:schemeClr val="tx1"/>
                </a:solidFill>
              </a:rPr>
              <a:t> met mayonaise, alstublieft! </a:t>
            </a:r>
            <a:r>
              <a:rPr lang="en-US" sz="2400" i="1" dirty="0">
                <a:solidFill>
                  <a:schemeClr val="tx1"/>
                </a:solidFill>
              </a:rPr>
              <a:t>(de friet)</a:t>
            </a:r>
            <a:endParaRPr lang="en-US" sz="2400" dirty="0"/>
          </a:p>
          <a:p>
            <a:pPr indent="0" marL="0">
              <a:spcAft>
                <a:spcPts val="1200"/>
              </a:spcAft>
              <a:buNone/>
            </a:pPr>
            <a:r>
              <a:rPr lang="en-US" sz="2400" b="1" dirty="0">
                <a:solidFill>
                  <a:schemeClr val="tx2"/>
                </a:solidFill>
              </a:rPr>
              <a:t>7.  </a:t>
            </a:r>
            <a:r>
              <a:rPr lang="en-US" sz="2400" dirty="0">
                <a:solidFill>
                  <a:schemeClr val="tx1"/>
                </a:solidFill>
              </a:rPr>
              <a:t>Twee </a:t>
            </a:r>
            <a:r>
              <a:rPr lang="en-US" sz="2400" b="1" dirty="0">
                <a:solidFill>
                  <a:schemeClr val="accent3"/>
                </a:solidFill>
              </a:rPr>
              <a:t>biertjes</a:t>
            </a:r>
            <a:r>
              <a:rPr lang="en-US" sz="2400" dirty="0">
                <a:solidFill>
                  <a:schemeClr val="tx1"/>
                </a:solidFill>
              </a:rPr>
              <a:t>, graag! </a:t>
            </a:r>
            <a:r>
              <a:rPr lang="en-US" sz="2400" i="1" dirty="0">
                <a:solidFill>
                  <a:schemeClr val="tx1"/>
                </a:solidFill>
              </a:rPr>
              <a:t>(het bier, pluriel)</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i="1" dirty="0">
                <a:solidFill>
                  <a:schemeClr val="tx1"/>
                </a:solidFill>
              </a:rPr>
              <a:t>glas → glaasje</a:t>
            </a:r>
            <a:r>
              <a:rPr lang="en-US" sz="1800" dirty="0">
                <a:solidFill>
                  <a:schemeClr val="tx1"/>
                </a:solidFill>
              </a:rPr>
              <a:t> : la voyelle s’allonge (</a:t>
            </a:r>
            <a:r>
              <a:rPr lang="en-US" sz="1800" b="1" dirty="0">
                <a:solidFill>
                  <a:schemeClr val="tx1"/>
                </a:solidFill>
              </a:rPr>
              <a:t>aa</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ei → eitje · bier → biertje</a:t>
            </a:r>
            <a:r>
              <a:rPr lang="en-US" sz="1800" dirty="0">
                <a:solidFill>
                  <a:schemeClr val="tx1"/>
                </a:solidFill>
              </a:rPr>
              <a:t> : </a:t>
            </a:r>
            <a:r>
              <a:rPr lang="en-US" sz="1800" b="1" dirty="0">
                <a:solidFill>
                  <a:schemeClr val="tx1"/>
                </a:solidFill>
              </a:rPr>
              <a:t>-tje</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Pluriel : </a:t>
            </a:r>
            <a:r>
              <a:rPr lang="en-US" sz="1800" b="1" dirty="0">
                <a:solidFill>
                  <a:schemeClr val="tx1"/>
                </a:solidFill>
              </a:rPr>
              <a:t>-s</a:t>
            </a:r>
            <a:r>
              <a:rPr lang="en-US" sz="1800" dirty="0">
                <a:solidFill>
                  <a:schemeClr val="tx1"/>
                </a:solidFill>
              </a:rPr>
              <a:t> → </a:t>
            </a:r>
            <a:r>
              <a:rPr lang="en-US" sz="1800" i="1" dirty="0">
                <a:solidFill>
                  <a:schemeClr val="tx1"/>
                </a:solidFill>
              </a:rPr>
              <a:t>twee biertjes</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een broodje</a:t>
            </a:r>
            <a:r>
              <a:rPr lang="en-US" sz="1800" dirty="0">
                <a:solidFill>
                  <a:schemeClr val="tx1"/>
                </a:solidFill>
              </a:rPr>
              <a:t> = </a:t>
            </a:r>
            <a:r>
              <a:rPr lang="en-US" sz="1800" b="1" dirty="0">
                <a:solidFill>
                  <a:schemeClr val="tx1"/>
                </a:solidFill>
              </a:rPr>
              <a:t>un petit pain</a:t>
            </a:r>
            <a:r>
              <a:rPr lang="en-US" sz="1800" dirty="0">
                <a:solidFill>
                  <a:schemeClr val="tx1"/>
                </a:solidFill>
              </a:rPr>
              <a:t> (sandwich).</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Boodschappen — faire les courses</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82</a:t>
            </a:r>
            <a:endParaRPr lang="en-US" sz="1200" dirty="0"/>
          </a:p>
        </p:txBody>
      </p:sp>
      <p:sp>
        <p:nvSpPr>
          <p:cNvPr id="6" name="Shape 3"/>
          <p:cNvSpPr/>
          <p:nvPr/>
        </p:nvSpPr>
        <p:spPr>
          <a:xfrm>
            <a:off x="548640" y="1508760"/>
            <a:ext cx="2057400" cy="1484376"/>
          </a:xfrm>
          <a:prstGeom prst="roundRect">
            <a:avLst>
              <a:gd name="adj" fmla="val 4928"/>
            </a:avLst>
          </a:prstGeom>
          <a:solidFill>
            <a:schemeClr val="bg1"/>
          </a:solidFill>
          <a:ln w="9525">
            <a:solidFill>
              <a:srgbClr val="D5DCE6"/>
            </a:solidFill>
            <a:prstDash val="solid"/>
          </a:ln>
        </p:spPr>
      </p:sp>
      <p:pic>
        <p:nvPicPr>
          <p:cNvPr id="7" name="illustration" descr="le magasin">    </p:cNvPr>
          <p:cNvPicPr>
            <a:picLocks noChangeAspect="1"/>
          </p:cNvPicPr>
          <p:nvPr/>
        </p:nvPicPr>
        <p:blipFill>
          <a:blip r:embed="rId1"/>
          <a:stretch>
            <a:fillRect/>
          </a:stretch>
        </p:blipFill>
        <p:spPr>
          <a:xfrm>
            <a:off x="1047992" y="1581912"/>
            <a:ext cx="1058696" cy="789432"/>
          </a:xfrm>
          <a:prstGeom prst="rect">
            <a:avLst/>
          </a:prstGeom>
        </p:spPr>
      </p:pic>
      <p:sp>
        <p:nvSpPr>
          <p:cNvPr id="8" name="Shape 4"/>
          <p:cNvSpPr/>
          <p:nvPr/>
        </p:nvSpPr>
        <p:spPr>
          <a:xfrm>
            <a:off x="640080" y="1600200"/>
            <a:ext cx="365760" cy="365760"/>
          </a:xfrm>
          <a:prstGeom prst="ellipse">
            <a:avLst/>
          </a:prstGeom>
          <a:solidFill>
            <a:schemeClr val="tx2"/>
          </a:solidFill>
          <a:ln/>
        </p:spPr>
      </p:sp>
      <p:sp>
        <p:nvSpPr>
          <p:cNvPr id="9" name="Text 5"/>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6"/>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1" name="Shape 7"/>
          <p:cNvSpPr/>
          <p:nvPr/>
        </p:nvSpPr>
        <p:spPr>
          <a:xfrm>
            <a:off x="2807208" y="1508760"/>
            <a:ext cx="2057400" cy="1484376"/>
          </a:xfrm>
          <a:prstGeom prst="roundRect">
            <a:avLst>
              <a:gd name="adj" fmla="val 4928"/>
            </a:avLst>
          </a:prstGeom>
          <a:solidFill>
            <a:schemeClr val="bg1"/>
          </a:solidFill>
          <a:ln w="9525">
            <a:solidFill>
              <a:srgbClr val="D5DCE6"/>
            </a:solidFill>
            <a:prstDash val="solid"/>
          </a:ln>
        </p:spPr>
      </p:sp>
      <p:pic>
        <p:nvPicPr>
          <p:cNvPr id="12" name="illustration" descr="le supermarché">    </p:cNvPr>
          <p:cNvPicPr>
            <a:picLocks noChangeAspect="1"/>
          </p:cNvPicPr>
          <p:nvPr/>
        </p:nvPicPr>
        <p:blipFill>
          <a:blip r:embed="rId2"/>
          <a:stretch>
            <a:fillRect/>
          </a:stretch>
        </p:blipFill>
        <p:spPr>
          <a:xfrm>
            <a:off x="3292791" y="1581912"/>
            <a:ext cx="1086234" cy="789432"/>
          </a:xfrm>
          <a:prstGeom prst="rect">
            <a:avLst/>
          </a:prstGeom>
        </p:spPr>
      </p:pic>
      <p:sp>
        <p:nvSpPr>
          <p:cNvPr id="13" name="Shape 8"/>
          <p:cNvSpPr/>
          <p:nvPr/>
        </p:nvSpPr>
        <p:spPr>
          <a:xfrm>
            <a:off x="2898648" y="1600200"/>
            <a:ext cx="365760" cy="365760"/>
          </a:xfrm>
          <a:prstGeom prst="ellipse">
            <a:avLst/>
          </a:prstGeom>
          <a:solidFill>
            <a:schemeClr val="tx2"/>
          </a:solidFill>
          <a:ln/>
        </p:spPr>
      </p:sp>
      <p:sp>
        <p:nvSpPr>
          <p:cNvPr id="14" name="Text 9"/>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0"/>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6" name="Shape 11"/>
          <p:cNvSpPr/>
          <p:nvPr/>
        </p:nvSpPr>
        <p:spPr>
          <a:xfrm>
            <a:off x="5065776" y="1508760"/>
            <a:ext cx="2057400" cy="1484376"/>
          </a:xfrm>
          <a:prstGeom prst="roundRect">
            <a:avLst>
              <a:gd name="adj" fmla="val 4928"/>
            </a:avLst>
          </a:prstGeom>
          <a:solidFill>
            <a:schemeClr val="bg1"/>
          </a:solidFill>
          <a:ln w="9525">
            <a:solidFill>
              <a:srgbClr val="D5DCE6"/>
            </a:solidFill>
            <a:prstDash val="solid"/>
          </a:ln>
        </p:spPr>
      </p:sp>
      <p:pic>
        <p:nvPicPr>
          <p:cNvPr id="17" name="illustration" descr="le boulanger">    </p:cNvPr>
          <p:cNvPicPr>
            <a:picLocks noChangeAspect="1"/>
          </p:cNvPicPr>
          <p:nvPr/>
        </p:nvPicPr>
        <p:blipFill>
          <a:blip r:embed="rId3"/>
          <a:stretch>
            <a:fillRect/>
          </a:stretch>
        </p:blipFill>
        <p:spPr>
          <a:xfrm>
            <a:off x="5563598" y="1581912"/>
            <a:ext cx="1061755" cy="789432"/>
          </a:xfrm>
          <a:prstGeom prst="rect">
            <a:avLst/>
          </a:prstGeom>
        </p:spPr>
      </p:pic>
      <p:sp>
        <p:nvSpPr>
          <p:cNvPr id="18" name="Shape 12"/>
          <p:cNvSpPr/>
          <p:nvPr/>
        </p:nvSpPr>
        <p:spPr>
          <a:xfrm>
            <a:off x="5157216" y="1600200"/>
            <a:ext cx="365760" cy="365760"/>
          </a:xfrm>
          <a:prstGeom prst="ellipse">
            <a:avLst/>
          </a:prstGeom>
          <a:solidFill>
            <a:schemeClr val="tx2"/>
          </a:solidFill>
          <a:ln/>
        </p:spPr>
      </p:sp>
      <p:sp>
        <p:nvSpPr>
          <p:cNvPr id="19" name="Text 13"/>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4"/>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1" name="Shape 15"/>
          <p:cNvSpPr/>
          <p:nvPr/>
        </p:nvSpPr>
        <p:spPr>
          <a:xfrm>
            <a:off x="7324344" y="1508760"/>
            <a:ext cx="2057400" cy="1484376"/>
          </a:xfrm>
          <a:prstGeom prst="roundRect">
            <a:avLst>
              <a:gd name="adj" fmla="val 4928"/>
            </a:avLst>
          </a:prstGeom>
          <a:solidFill>
            <a:schemeClr val="bg1"/>
          </a:solidFill>
          <a:ln w="9525">
            <a:solidFill>
              <a:srgbClr val="D5DCE6"/>
            </a:solidFill>
            <a:prstDash val="solid"/>
          </a:ln>
        </p:spPr>
      </p:sp>
      <p:pic>
        <p:nvPicPr>
          <p:cNvPr id="22" name="illustration" descr="le boucher">    </p:cNvPr>
          <p:cNvPicPr>
            <a:picLocks noChangeAspect="1"/>
          </p:cNvPicPr>
          <p:nvPr/>
        </p:nvPicPr>
        <p:blipFill>
          <a:blip r:embed="rId4"/>
          <a:stretch>
            <a:fillRect/>
          </a:stretch>
        </p:blipFill>
        <p:spPr>
          <a:xfrm>
            <a:off x="7880477" y="1581912"/>
            <a:ext cx="945133" cy="789432"/>
          </a:xfrm>
          <a:prstGeom prst="rect">
            <a:avLst/>
          </a:prstGeom>
        </p:spPr>
      </p:pic>
      <p:sp>
        <p:nvSpPr>
          <p:cNvPr id="23" name="Shape 16"/>
          <p:cNvSpPr/>
          <p:nvPr/>
        </p:nvSpPr>
        <p:spPr>
          <a:xfrm>
            <a:off x="7415784" y="1600200"/>
            <a:ext cx="365760" cy="365760"/>
          </a:xfrm>
          <a:prstGeom prst="ellipse">
            <a:avLst/>
          </a:prstGeom>
          <a:solidFill>
            <a:schemeClr val="tx2"/>
          </a:solidFill>
          <a:ln/>
        </p:spPr>
      </p:sp>
      <p:sp>
        <p:nvSpPr>
          <p:cNvPr id="24" name="Text 17"/>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18"/>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6" name="Shape 19"/>
          <p:cNvSpPr/>
          <p:nvPr/>
        </p:nvSpPr>
        <p:spPr>
          <a:xfrm>
            <a:off x="9582912" y="1508760"/>
            <a:ext cx="2057400" cy="1484376"/>
          </a:xfrm>
          <a:prstGeom prst="roundRect">
            <a:avLst>
              <a:gd name="adj" fmla="val 4928"/>
            </a:avLst>
          </a:prstGeom>
          <a:solidFill>
            <a:schemeClr val="bg1"/>
          </a:solidFill>
          <a:ln w="9525">
            <a:solidFill>
              <a:srgbClr val="D5DCE6"/>
            </a:solidFill>
            <a:prstDash val="solid"/>
          </a:ln>
        </p:spPr>
      </p:sp>
      <p:pic>
        <p:nvPicPr>
          <p:cNvPr id="27" name="illustration" descr="le marché">    </p:cNvPr>
          <p:cNvPicPr>
            <a:picLocks noChangeAspect="1"/>
          </p:cNvPicPr>
          <p:nvPr/>
        </p:nvPicPr>
        <p:blipFill>
          <a:blip r:embed="rId5"/>
          <a:stretch>
            <a:fillRect/>
          </a:stretch>
        </p:blipFill>
        <p:spPr>
          <a:xfrm>
            <a:off x="10126753" y="1581912"/>
            <a:ext cx="969718" cy="789432"/>
          </a:xfrm>
          <a:prstGeom prst="rect">
            <a:avLst/>
          </a:prstGeom>
        </p:spPr>
      </p:pic>
      <p:sp>
        <p:nvSpPr>
          <p:cNvPr id="28" name="Shape 20"/>
          <p:cNvSpPr/>
          <p:nvPr/>
        </p:nvSpPr>
        <p:spPr>
          <a:xfrm>
            <a:off x="9674352" y="1600200"/>
            <a:ext cx="365760" cy="365760"/>
          </a:xfrm>
          <a:prstGeom prst="ellipse">
            <a:avLst/>
          </a:prstGeom>
          <a:solidFill>
            <a:schemeClr val="tx2"/>
          </a:solidFill>
          <a:ln/>
        </p:spPr>
      </p:sp>
      <p:sp>
        <p:nvSpPr>
          <p:cNvPr id="29" name="Text 21"/>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2"/>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1" name="Shape 23"/>
          <p:cNvSpPr/>
          <p:nvPr/>
        </p:nvSpPr>
        <p:spPr>
          <a:xfrm>
            <a:off x="548640" y="3157728"/>
            <a:ext cx="2057400" cy="1484376"/>
          </a:xfrm>
          <a:prstGeom prst="roundRect">
            <a:avLst>
              <a:gd name="adj" fmla="val 4928"/>
            </a:avLst>
          </a:prstGeom>
          <a:solidFill>
            <a:schemeClr val="bg1"/>
          </a:solidFill>
          <a:ln w="9525">
            <a:solidFill>
              <a:srgbClr val="D5DCE6"/>
            </a:solidFill>
            <a:prstDash val="solid"/>
          </a:ln>
        </p:spPr>
      </p:sp>
      <p:pic>
        <p:nvPicPr>
          <p:cNvPr id="32" name="illustration" descr="le panier">    </p:cNvPr>
          <p:cNvPicPr>
            <a:picLocks noChangeAspect="1"/>
          </p:cNvPicPr>
          <p:nvPr/>
        </p:nvPicPr>
        <p:blipFill>
          <a:blip r:embed="rId6"/>
          <a:stretch>
            <a:fillRect/>
          </a:stretch>
        </p:blipFill>
        <p:spPr>
          <a:xfrm>
            <a:off x="1103408" y="3230880"/>
            <a:ext cx="947865" cy="789432"/>
          </a:xfrm>
          <a:prstGeom prst="rect">
            <a:avLst/>
          </a:prstGeom>
        </p:spPr>
      </p:pic>
      <p:sp>
        <p:nvSpPr>
          <p:cNvPr id="33" name="Shape 24"/>
          <p:cNvSpPr/>
          <p:nvPr/>
        </p:nvSpPr>
        <p:spPr>
          <a:xfrm>
            <a:off x="640080" y="3249168"/>
            <a:ext cx="365760" cy="365760"/>
          </a:xfrm>
          <a:prstGeom prst="ellipse">
            <a:avLst/>
          </a:prstGeom>
          <a:solidFill>
            <a:schemeClr val="tx2"/>
          </a:solidFill>
          <a:ln/>
        </p:spPr>
      </p:sp>
      <p:sp>
        <p:nvSpPr>
          <p:cNvPr id="34" name="Text 25"/>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5" name="Text 26"/>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6" name="Shape 27"/>
          <p:cNvSpPr/>
          <p:nvPr/>
        </p:nvSpPr>
        <p:spPr>
          <a:xfrm>
            <a:off x="2807208" y="3157728"/>
            <a:ext cx="2057400" cy="1484376"/>
          </a:xfrm>
          <a:prstGeom prst="roundRect">
            <a:avLst>
              <a:gd name="adj" fmla="val 4928"/>
            </a:avLst>
          </a:prstGeom>
          <a:solidFill>
            <a:schemeClr val="bg1"/>
          </a:solidFill>
          <a:ln w="9525">
            <a:solidFill>
              <a:srgbClr val="D5DCE6"/>
            </a:solidFill>
            <a:prstDash val="solid"/>
          </a:ln>
        </p:spPr>
      </p:sp>
      <p:pic>
        <p:nvPicPr>
          <p:cNvPr id="37" name="illustration" descr="le caddie">    </p:cNvPr>
          <p:cNvPicPr>
            <a:picLocks noChangeAspect="1"/>
          </p:cNvPicPr>
          <p:nvPr/>
        </p:nvPicPr>
        <p:blipFill>
          <a:blip r:embed="rId7"/>
          <a:stretch>
            <a:fillRect/>
          </a:stretch>
        </p:blipFill>
        <p:spPr>
          <a:xfrm>
            <a:off x="3363341" y="3230880"/>
            <a:ext cx="945133" cy="789432"/>
          </a:xfrm>
          <a:prstGeom prst="rect">
            <a:avLst/>
          </a:prstGeom>
        </p:spPr>
      </p:pic>
      <p:sp>
        <p:nvSpPr>
          <p:cNvPr id="38" name="Shape 28"/>
          <p:cNvSpPr/>
          <p:nvPr/>
        </p:nvSpPr>
        <p:spPr>
          <a:xfrm>
            <a:off x="2898648" y="3249168"/>
            <a:ext cx="365760" cy="365760"/>
          </a:xfrm>
          <a:prstGeom prst="ellipse">
            <a:avLst/>
          </a:prstGeom>
          <a:solidFill>
            <a:schemeClr val="tx2"/>
          </a:solidFill>
          <a:ln/>
        </p:spPr>
      </p:sp>
      <p:sp>
        <p:nvSpPr>
          <p:cNvPr id="39" name="Text 29"/>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0" name="Text 30"/>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1" name="Shape 31"/>
          <p:cNvSpPr/>
          <p:nvPr/>
        </p:nvSpPr>
        <p:spPr>
          <a:xfrm>
            <a:off x="5065776" y="3157728"/>
            <a:ext cx="2057400" cy="1484376"/>
          </a:xfrm>
          <a:prstGeom prst="roundRect">
            <a:avLst>
              <a:gd name="adj" fmla="val 4928"/>
            </a:avLst>
          </a:prstGeom>
          <a:solidFill>
            <a:schemeClr val="bg1"/>
          </a:solidFill>
          <a:ln w="9525">
            <a:solidFill>
              <a:srgbClr val="D5DCE6"/>
            </a:solidFill>
            <a:prstDash val="solid"/>
          </a:ln>
        </p:spPr>
      </p:sp>
      <p:pic>
        <p:nvPicPr>
          <p:cNvPr id="42" name="illustration" descr="la caisse">    </p:cNvPr>
          <p:cNvPicPr>
            <a:picLocks noChangeAspect="1"/>
          </p:cNvPicPr>
          <p:nvPr/>
        </p:nvPicPr>
        <p:blipFill>
          <a:blip r:embed="rId8"/>
          <a:stretch>
            <a:fillRect/>
          </a:stretch>
        </p:blipFill>
        <p:spPr>
          <a:xfrm>
            <a:off x="5609617" y="3230880"/>
            <a:ext cx="969718" cy="789432"/>
          </a:xfrm>
          <a:prstGeom prst="rect">
            <a:avLst/>
          </a:prstGeom>
        </p:spPr>
      </p:pic>
      <p:sp>
        <p:nvSpPr>
          <p:cNvPr id="43" name="Shape 32"/>
          <p:cNvSpPr/>
          <p:nvPr/>
        </p:nvSpPr>
        <p:spPr>
          <a:xfrm>
            <a:off x="5157216" y="3249168"/>
            <a:ext cx="365760" cy="365760"/>
          </a:xfrm>
          <a:prstGeom prst="ellipse">
            <a:avLst/>
          </a:prstGeom>
          <a:solidFill>
            <a:schemeClr val="tx2"/>
          </a:solidFill>
          <a:ln/>
        </p:spPr>
      </p:sp>
      <p:sp>
        <p:nvSpPr>
          <p:cNvPr id="44" name="Text 33"/>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5" name="Text 34"/>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6" name="Shape 35"/>
          <p:cNvSpPr/>
          <p:nvPr/>
        </p:nvSpPr>
        <p:spPr>
          <a:xfrm>
            <a:off x="7324344" y="3157728"/>
            <a:ext cx="2057400" cy="1484376"/>
          </a:xfrm>
          <a:prstGeom prst="roundRect">
            <a:avLst>
              <a:gd name="adj" fmla="val 4928"/>
            </a:avLst>
          </a:prstGeom>
          <a:solidFill>
            <a:schemeClr val="bg1"/>
          </a:solidFill>
          <a:ln w="9525">
            <a:solidFill>
              <a:srgbClr val="D5DCE6"/>
            </a:solidFill>
            <a:prstDash val="solid"/>
          </a:ln>
        </p:spPr>
      </p:sp>
      <p:pic>
        <p:nvPicPr>
          <p:cNvPr id="47" name="illustration" descr="l’argent">    </p:cNvPr>
          <p:cNvPicPr>
            <a:picLocks noChangeAspect="1"/>
          </p:cNvPicPr>
          <p:nvPr/>
        </p:nvPicPr>
        <p:blipFill>
          <a:blip r:embed="rId9"/>
          <a:stretch>
            <a:fillRect/>
          </a:stretch>
        </p:blipFill>
        <p:spPr>
          <a:xfrm>
            <a:off x="7879112" y="3230880"/>
            <a:ext cx="947865" cy="789432"/>
          </a:xfrm>
          <a:prstGeom prst="rect">
            <a:avLst/>
          </a:prstGeom>
        </p:spPr>
      </p:pic>
      <p:sp>
        <p:nvSpPr>
          <p:cNvPr id="48" name="Shape 36"/>
          <p:cNvSpPr/>
          <p:nvPr/>
        </p:nvSpPr>
        <p:spPr>
          <a:xfrm>
            <a:off x="7415784" y="3249168"/>
            <a:ext cx="365760" cy="365760"/>
          </a:xfrm>
          <a:prstGeom prst="ellipse">
            <a:avLst/>
          </a:prstGeom>
          <a:solidFill>
            <a:schemeClr val="tx2"/>
          </a:solidFill>
          <a:ln/>
        </p:spPr>
      </p:sp>
      <p:sp>
        <p:nvSpPr>
          <p:cNvPr id="49" name="Text 37"/>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0" name="Text 38"/>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1" name="Shape 39"/>
          <p:cNvSpPr/>
          <p:nvPr/>
        </p:nvSpPr>
        <p:spPr>
          <a:xfrm>
            <a:off x="9582912" y="3157728"/>
            <a:ext cx="2057400" cy="1484376"/>
          </a:xfrm>
          <a:prstGeom prst="roundRect">
            <a:avLst>
              <a:gd name="adj" fmla="val 4928"/>
            </a:avLst>
          </a:prstGeom>
          <a:solidFill>
            <a:schemeClr val="bg1"/>
          </a:solidFill>
          <a:ln w="9525">
            <a:solidFill>
              <a:srgbClr val="D5DCE6"/>
            </a:solidFill>
            <a:prstDash val="solid"/>
          </a:ln>
        </p:spPr>
      </p:sp>
      <p:pic>
        <p:nvPicPr>
          <p:cNvPr id="52" name="illustration" descr="le prix">    </p:cNvPr>
          <p:cNvPicPr>
            <a:picLocks noChangeAspect="1"/>
          </p:cNvPicPr>
          <p:nvPr/>
        </p:nvPicPr>
        <p:blipFill>
          <a:blip r:embed="rId10"/>
          <a:stretch>
            <a:fillRect/>
          </a:stretch>
        </p:blipFill>
        <p:spPr>
          <a:xfrm>
            <a:off x="10139045" y="3230880"/>
            <a:ext cx="945133" cy="789432"/>
          </a:xfrm>
          <a:prstGeom prst="rect">
            <a:avLst/>
          </a:prstGeom>
        </p:spPr>
      </p:pic>
      <p:sp>
        <p:nvSpPr>
          <p:cNvPr id="53" name="Shape 40"/>
          <p:cNvSpPr/>
          <p:nvPr/>
        </p:nvSpPr>
        <p:spPr>
          <a:xfrm>
            <a:off x="9674352" y="3249168"/>
            <a:ext cx="365760" cy="365760"/>
          </a:xfrm>
          <a:prstGeom prst="ellipse">
            <a:avLst/>
          </a:prstGeom>
          <a:solidFill>
            <a:schemeClr val="tx2"/>
          </a:solidFill>
          <a:ln/>
        </p:spPr>
      </p:sp>
      <p:sp>
        <p:nvSpPr>
          <p:cNvPr id="54" name="Text 41"/>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5" name="Text 42"/>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6" name="Shape 43"/>
          <p:cNvSpPr/>
          <p:nvPr/>
        </p:nvSpPr>
        <p:spPr>
          <a:xfrm>
            <a:off x="548640" y="4806696"/>
            <a:ext cx="2057400" cy="1484376"/>
          </a:xfrm>
          <a:prstGeom prst="roundRect">
            <a:avLst>
              <a:gd name="adj" fmla="val 4928"/>
            </a:avLst>
          </a:prstGeom>
          <a:solidFill>
            <a:schemeClr val="bg1"/>
          </a:solidFill>
          <a:ln w="9525">
            <a:solidFill>
              <a:srgbClr val="D5DCE6"/>
            </a:solidFill>
            <a:prstDash val="solid"/>
          </a:ln>
        </p:spPr>
      </p:sp>
      <p:pic>
        <p:nvPicPr>
          <p:cNvPr id="57" name="illustration" descr="le ticket de caisse">    </p:cNvPr>
          <p:cNvPicPr>
            <a:picLocks noChangeAspect="1"/>
          </p:cNvPicPr>
          <p:nvPr/>
        </p:nvPicPr>
        <p:blipFill>
          <a:blip r:embed="rId11"/>
          <a:stretch>
            <a:fillRect/>
          </a:stretch>
        </p:blipFill>
        <p:spPr>
          <a:xfrm>
            <a:off x="1092481" y="4879848"/>
            <a:ext cx="969718" cy="789432"/>
          </a:xfrm>
          <a:prstGeom prst="rect">
            <a:avLst/>
          </a:prstGeom>
        </p:spPr>
      </p:pic>
      <p:sp>
        <p:nvSpPr>
          <p:cNvPr id="58" name="Shape 44"/>
          <p:cNvSpPr/>
          <p:nvPr/>
        </p:nvSpPr>
        <p:spPr>
          <a:xfrm>
            <a:off x="640080" y="4898136"/>
            <a:ext cx="365760" cy="365760"/>
          </a:xfrm>
          <a:prstGeom prst="ellipse">
            <a:avLst/>
          </a:prstGeom>
          <a:solidFill>
            <a:schemeClr val="tx2"/>
          </a:solidFill>
          <a:ln/>
        </p:spPr>
      </p:sp>
      <p:sp>
        <p:nvSpPr>
          <p:cNvPr id="59" name="Text 45"/>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0" name="Text 46"/>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1" name="Shape 47"/>
          <p:cNvSpPr/>
          <p:nvPr/>
        </p:nvSpPr>
        <p:spPr>
          <a:xfrm>
            <a:off x="2807208" y="4806696"/>
            <a:ext cx="2057400" cy="1484376"/>
          </a:xfrm>
          <a:prstGeom prst="roundRect">
            <a:avLst>
              <a:gd name="adj" fmla="val 4928"/>
            </a:avLst>
          </a:prstGeom>
          <a:solidFill>
            <a:schemeClr val="bg1"/>
          </a:solidFill>
          <a:ln w="9525">
            <a:solidFill>
              <a:srgbClr val="D5DCE6"/>
            </a:solidFill>
            <a:prstDash val="solid"/>
          </a:ln>
        </p:spPr>
      </p:sp>
      <p:pic>
        <p:nvPicPr>
          <p:cNvPr id="62" name="illustration" descr="le sac">    </p:cNvPr>
          <p:cNvPicPr>
            <a:picLocks noChangeAspect="1"/>
          </p:cNvPicPr>
          <p:nvPr/>
        </p:nvPicPr>
        <p:blipFill>
          <a:blip r:embed="rId12"/>
          <a:stretch>
            <a:fillRect/>
          </a:stretch>
        </p:blipFill>
        <p:spPr>
          <a:xfrm>
            <a:off x="3361976" y="4879848"/>
            <a:ext cx="947865" cy="789432"/>
          </a:xfrm>
          <a:prstGeom prst="rect">
            <a:avLst/>
          </a:prstGeom>
        </p:spPr>
      </p:pic>
      <p:sp>
        <p:nvSpPr>
          <p:cNvPr id="63" name="Shape 48"/>
          <p:cNvSpPr/>
          <p:nvPr/>
        </p:nvSpPr>
        <p:spPr>
          <a:xfrm>
            <a:off x="2898648" y="4898136"/>
            <a:ext cx="365760" cy="365760"/>
          </a:xfrm>
          <a:prstGeom prst="ellipse">
            <a:avLst/>
          </a:prstGeom>
          <a:solidFill>
            <a:schemeClr val="tx2"/>
          </a:solidFill>
          <a:ln/>
        </p:spPr>
      </p:sp>
      <p:sp>
        <p:nvSpPr>
          <p:cNvPr id="64" name="Text 49"/>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5" name="Text 50"/>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6" name="Shape 51"/>
          <p:cNvSpPr/>
          <p:nvPr/>
        </p:nvSpPr>
        <p:spPr>
          <a:xfrm>
            <a:off x="5065776" y="4806696"/>
            <a:ext cx="2057400" cy="1484376"/>
          </a:xfrm>
          <a:prstGeom prst="roundRect">
            <a:avLst>
              <a:gd name="adj" fmla="val 4928"/>
            </a:avLst>
          </a:prstGeom>
          <a:solidFill>
            <a:schemeClr val="bg1"/>
          </a:solidFill>
          <a:ln w="9525">
            <a:solidFill>
              <a:srgbClr val="D5DCE6"/>
            </a:solidFill>
            <a:prstDash val="solid"/>
          </a:ln>
        </p:spPr>
      </p:sp>
      <p:pic>
        <p:nvPicPr>
          <p:cNvPr id="67" name="illustration" descr="la bouteille">    </p:cNvPr>
          <p:cNvPicPr>
            <a:picLocks noChangeAspect="1"/>
          </p:cNvPicPr>
          <p:nvPr/>
        </p:nvPicPr>
        <p:blipFill>
          <a:blip r:embed="rId13"/>
          <a:stretch>
            <a:fillRect/>
          </a:stretch>
        </p:blipFill>
        <p:spPr>
          <a:xfrm>
            <a:off x="5597852" y="4879848"/>
            <a:ext cx="993249" cy="789432"/>
          </a:xfrm>
          <a:prstGeom prst="rect">
            <a:avLst/>
          </a:prstGeom>
        </p:spPr>
      </p:pic>
      <p:sp>
        <p:nvSpPr>
          <p:cNvPr id="68" name="Shape 52"/>
          <p:cNvSpPr/>
          <p:nvPr/>
        </p:nvSpPr>
        <p:spPr>
          <a:xfrm>
            <a:off x="5157216" y="4898136"/>
            <a:ext cx="365760" cy="365760"/>
          </a:xfrm>
          <a:prstGeom prst="ellipse">
            <a:avLst/>
          </a:prstGeom>
          <a:solidFill>
            <a:schemeClr val="tx2"/>
          </a:solidFill>
          <a:ln/>
        </p:spPr>
      </p:sp>
      <p:sp>
        <p:nvSpPr>
          <p:cNvPr id="69" name="Text 53"/>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0" name="Text 54"/>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1" name="Shape 55"/>
          <p:cNvSpPr/>
          <p:nvPr/>
        </p:nvSpPr>
        <p:spPr>
          <a:xfrm>
            <a:off x="7324344" y="4806696"/>
            <a:ext cx="2057400" cy="1484376"/>
          </a:xfrm>
          <a:prstGeom prst="roundRect">
            <a:avLst>
              <a:gd name="adj" fmla="val 4928"/>
            </a:avLst>
          </a:prstGeom>
          <a:solidFill>
            <a:schemeClr val="bg1"/>
          </a:solidFill>
          <a:ln w="9525">
            <a:solidFill>
              <a:srgbClr val="D5DCE6"/>
            </a:solidFill>
            <a:prstDash val="solid"/>
          </a:ln>
        </p:spPr>
      </p:sp>
      <p:pic>
        <p:nvPicPr>
          <p:cNvPr id="72" name="illustration" descr="la boîte de conserve">    </p:cNvPr>
          <p:cNvPicPr>
            <a:picLocks noChangeAspect="1"/>
          </p:cNvPicPr>
          <p:nvPr/>
        </p:nvPicPr>
        <p:blipFill>
          <a:blip r:embed="rId14"/>
          <a:stretch>
            <a:fillRect/>
          </a:stretch>
        </p:blipFill>
        <p:spPr>
          <a:xfrm>
            <a:off x="7843502" y="4879848"/>
            <a:ext cx="1019085" cy="789432"/>
          </a:xfrm>
          <a:prstGeom prst="rect">
            <a:avLst/>
          </a:prstGeom>
        </p:spPr>
      </p:pic>
      <p:sp>
        <p:nvSpPr>
          <p:cNvPr id="73" name="Shape 56"/>
          <p:cNvSpPr/>
          <p:nvPr/>
        </p:nvSpPr>
        <p:spPr>
          <a:xfrm>
            <a:off x="7415784" y="4898136"/>
            <a:ext cx="365760" cy="365760"/>
          </a:xfrm>
          <a:prstGeom prst="ellipse">
            <a:avLst/>
          </a:prstGeom>
          <a:solidFill>
            <a:schemeClr val="tx2"/>
          </a:solidFill>
          <a:ln/>
        </p:spPr>
      </p:sp>
      <p:sp>
        <p:nvSpPr>
          <p:cNvPr id="74" name="Text 57"/>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5" name="Text 58"/>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6" name="Shape 59"/>
          <p:cNvSpPr/>
          <p:nvPr/>
        </p:nvSpPr>
        <p:spPr>
          <a:xfrm>
            <a:off x="9582912" y="4806696"/>
            <a:ext cx="2057400" cy="1484376"/>
          </a:xfrm>
          <a:prstGeom prst="roundRect">
            <a:avLst>
              <a:gd name="adj" fmla="val 4928"/>
            </a:avLst>
          </a:prstGeom>
          <a:solidFill>
            <a:schemeClr val="bg1"/>
          </a:solidFill>
          <a:ln w="9525">
            <a:solidFill>
              <a:srgbClr val="D5DCE6"/>
            </a:solidFill>
            <a:prstDash val="solid"/>
          </a:ln>
        </p:spPr>
      </p:sp>
      <p:pic>
        <p:nvPicPr>
          <p:cNvPr id="77" name="illustration" descr="la balance">    </p:cNvPr>
          <p:cNvPicPr>
            <a:picLocks noChangeAspect="1"/>
          </p:cNvPicPr>
          <p:nvPr/>
        </p:nvPicPr>
        <p:blipFill>
          <a:blip r:embed="rId15"/>
          <a:stretch>
            <a:fillRect/>
          </a:stretch>
        </p:blipFill>
        <p:spPr>
          <a:xfrm>
            <a:off x="10113552" y="4879848"/>
            <a:ext cx="996120" cy="789432"/>
          </a:xfrm>
          <a:prstGeom prst="rect">
            <a:avLst/>
          </a:prstGeom>
        </p:spPr>
      </p:pic>
      <p:sp>
        <p:nvSpPr>
          <p:cNvPr id="78" name="Shape 60"/>
          <p:cNvSpPr/>
          <p:nvPr/>
        </p:nvSpPr>
        <p:spPr>
          <a:xfrm>
            <a:off x="9674352" y="4898136"/>
            <a:ext cx="365760" cy="365760"/>
          </a:xfrm>
          <a:prstGeom prst="ellipse">
            <a:avLst/>
          </a:prstGeom>
          <a:solidFill>
            <a:schemeClr val="tx2"/>
          </a:solidFill>
          <a:ln/>
        </p:spPr>
      </p:sp>
      <p:sp>
        <p:nvSpPr>
          <p:cNvPr id="79" name="Text 61"/>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0" name="Text 62"/>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Boodschappen — faire les courses</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ag"/>
          <p:cNvSpPr/>
          <p:nvPr/>
        </p:nvSpPr>
        <p:spPr>
          <a:xfrm>
            <a:off x="23957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82</a:t>
            </a:r>
            <a:endParaRPr lang="en-US" sz="1200" dirty="0"/>
          </a:p>
        </p:txBody>
      </p:sp>
      <p:sp>
        <p:nvSpPr>
          <p:cNvPr id="7" name="Shape 4"/>
          <p:cNvSpPr/>
          <p:nvPr/>
        </p:nvSpPr>
        <p:spPr>
          <a:xfrm>
            <a:off x="548640" y="1508760"/>
            <a:ext cx="2057400" cy="1484376"/>
          </a:xfrm>
          <a:prstGeom prst="roundRect">
            <a:avLst>
              <a:gd name="adj" fmla="val 4928"/>
            </a:avLst>
          </a:prstGeom>
          <a:solidFill>
            <a:schemeClr val="bg1"/>
          </a:solidFill>
          <a:ln w="19050">
            <a:solidFill>
              <a:srgbClr val="2A6FB0"/>
            </a:solidFill>
            <a:prstDash val="solid"/>
          </a:ln>
        </p:spPr>
      </p:sp>
      <p:pic>
        <p:nvPicPr>
          <p:cNvPr id="8" name="illustration" descr="le magasin">    </p:cNvPr>
          <p:cNvPicPr>
            <a:picLocks noChangeAspect="1"/>
          </p:cNvPicPr>
          <p:nvPr/>
        </p:nvPicPr>
        <p:blipFill>
          <a:blip r:embed="rId1"/>
          <a:stretch>
            <a:fillRect/>
          </a:stretch>
        </p:blipFill>
        <p:spPr>
          <a:xfrm>
            <a:off x="1047992" y="1581912"/>
            <a:ext cx="1058696" cy="789432"/>
          </a:xfrm>
          <a:prstGeom prst="rect">
            <a:avLst/>
          </a:prstGeom>
        </p:spPr>
      </p:pic>
      <p:sp>
        <p:nvSpPr>
          <p:cNvPr id="9" name="Shape 5"/>
          <p:cNvSpPr/>
          <p:nvPr/>
        </p:nvSpPr>
        <p:spPr>
          <a:xfrm>
            <a:off x="640080" y="1600200"/>
            <a:ext cx="365760" cy="365760"/>
          </a:xfrm>
          <a:prstGeom prst="ellipse">
            <a:avLst/>
          </a:prstGeom>
          <a:solidFill>
            <a:schemeClr val="tx2"/>
          </a:solidFill>
          <a:ln/>
        </p:spPr>
      </p:sp>
      <p:sp>
        <p:nvSpPr>
          <p:cNvPr id="10" name="Text 6"/>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winkel</a:t>
            </a:r>
            <a:endParaRPr lang="en-US" sz="1600" dirty="0"/>
          </a:p>
          <a:p>
            <a:pPr algn="ctr" indent="0" marL="0">
              <a:buNone/>
            </a:pPr>
            <a:r>
              <a:rPr lang="en-US" sz="1100" i="1" dirty="0">
                <a:solidFill>
                  <a:schemeClr val="accent5"/>
                </a:solidFill>
              </a:rPr>
              <a:t>le magasin</a:t>
            </a:r>
            <a:endParaRPr lang="en-US" sz="1600" dirty="0"/>
          </a:p>
        </p:txBody>
      </p:sp>
      <p:sp>
        <p:nvSpPr>
          <p:cNvPr id="12" name="Shape 8"/>
          <p:cNvSpPr/>
          <p:nvPr/>
        </p:nvSpPr>
        <p:spPr>
          <a:xfrm>
            <a:off x="2807208" y="1508760"/>
            <a:ext cx="2057400" cy="1484376"/>
          </a:xfrm>
          <a:prstGeom prst="roundRect">
            <a:avLst>
              <a:gd name="adj" fmla="val 4928"/>
            </a:avLst>
          </a:prstGeom>
          <a:solidFill>
            <a:schemeClr val="bg1"/>
          </a:solidFill>
          <a:ln w="19050">
            <a:solidFill>
              <a:srgbClr val="2A6FB0"/>
            </a:solidFill>
            <a:prstDash val="solid"/>
          </a:ln>
        </p:spPr>
      </p:sp>
      <p:pic>
        <p:nvPicPr>
          <p:cNvPr id="13" name="illustration" descr="le supermarché">    </p:cNvPr>
          <p:cNvPicPr>
            <a:picLocks noChangeAspect="1"/>
          </p:cNvPicPr>
          <p:nvPr/>
        </p:nvPicPr>
        <p:blipFill>
          <a:blip r:embed="rId2"/>
          <a:stretch>
            <a:fillRect/>
          </a:stretch>
        </p:blipFill>
        <p:spPr>
          <a:xfrm>
            <a:off x="3292791" y="1581912"/>
            <a:ext cx="1086234" cy="789432"/>
          </a:xfrm>
          <a:prstGeom prst="rect">
            <a:avLst/>
          </a:prstGeom>
        </p:spPr>
      </p:pic>
      <p:sp>
        <p:nvSpPr>
          <p:cNvPr id="14" name="Shape 9"/>
          <p:cNvSpPr/>
          <p:nvPr/>
        </p:nvSpPr>
        <p:spPr>
          <a:xfrm>
            <a:off x="2898648" y="1600200"/>
            <a:ext cx="365760" cy="365760"/>
          </a:xfrm>
          <a:prstGeom prst="ellipse">
            <a:avLst/>
          </a:prstGeom>
          <a:solidFill>
            <a:schemeClr val="tx2"/>
          </a:solidFill>
          <a:ln/>
        </p:spPr>
      </p:sp>
      <p:sp>
        <p:nvSpPr>
          <p:cNvPr id="15" name="Text 10"/>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1"/>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supermarkt</a:t>
            </a:r>
            <a:endParaRPr lang="en-US" sz="1600" dirty="0"/>
          </a:p>
          <a:p>
            <a:pPr algn="ctr" indent="0" marL="0">
              <a:buNone/>
            </a:pPr>
            <a:r>
              <a:rPr lang="en-US" sz="1100" i="1" dirty="0">
                <a:solidFill>
                  <a:schemeClr val="accent5"/>
                </a:solidFill>
              </a:rPr>
              <a:t>le supermarché</a:t>
            </a:r>
            <a:endParaRPr lang="en-US" sz="1600" dirty="0"/>
          </a:p>
        </p:txBody>
      </p:sp>
      <p:sp>
        <p:nvSpPr>
          <p:cNvPr id="17" name="Shape 12"/>
          <p:cNvSpPr/>
          <p:nvPr/>
        </p:nvSpPr>
        <p:spPr>
          <a:xfrm>
            <a:off x="5065776" y="1508760"/>
            <a:ext cx="2057400" cy="1484376"/>
          </a:xfrm>
          <a:prstGeom prst="roundRect">
            <a:avLst>
              <a:gd name="adj" fmla="val 4928"/>
            </a:avLst>
          </a:prstGeom>
          <a:solidFill>
            <a:schemeClr val="bg1"/>
          </a:solidFill>
          <a:ln w="19050">
            <a:solidFill>
              <a:srgbClr val="2A6FB0"/>
            </a:solidFill>
            <a:prstDash val="solid"/>
          </a:ln>
        </p:spPr>
      </p:sp>
      <p:pic>
        <p:nvPicPr>
          <p:cNvPr id="18" name="illustration" descr="le boulanger">    </p:cNvPr>
          <p:cNvPicPr>
            <a:picLocks noChangeAspect="1"/>
          </p:cNvPicPr>
          <p:nvPr/>
        </p:nvPicPr>
        <p:blipFill>
          <a:blip r:embed="rId3"/>
          <a:stretch>
            <a:fillRect/>
          </a:stretch>
        </p:blipFill>
        <p:spPr>
          <a:xfrm>
            <a:off x="5563598" y="1581912"/>
            <a:ext cx="1061755" cy="789432"/>
          </a:xfrm>
          <a:prstGeom prst="rect">
            <a:avLst/>
          </a:prstGeom>
        </p:spPr>
      </p:pic>
      <p:sp>
        <p:nvSpPr>
          <p:cNvPr id="19" name="Shape 13"/>
          <p:cNvSpPr/>
          <p:nvPr/>
        </p:nvSpPr>
        <p:spPr>
          <a:xfrm>
            <a:off x="5157216" y="1600200"/>
            <a:ext cx="365760" cy="365760"/>
          </a:xfrm>
          <a:prstGeom prst="ellipse">
            <a:avLst/>
          </a:prstGeom>
          <a:solidFill>
            <a:schemeClr val="tx2"/>
          </a:solidFill>
          <a:ln/>
        </p:spPr>
      </p:sp>
      <p:sp>
        <p:nvSpPr>
          <p:cNvPr id="20" name="Text 14"/>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5"/>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bakker</a:t>
            </a:r>
            <a:endParaRPr lang="en-US" sz="1600" dirty="0"/>
          </a:p>
          <a:p>
            <a:pPr algn="ctr" indent="0" marL="0">
              <a:buNone/>
            </a:pPr>
            <a:r>
              <a:rPr lang="en-US" sz="1100" i="1" dirty="0">
                <a:solidFill>
                  <a:schemeClr val="accent5"/>
                </a:solidFill>
              </a:rPr>
              <a:t>le boulanger</a:t>
            </a:r>
            <a:endParaRPr lang="en-US" sz="1600" dirty="0"/>
          </a:p>
        </p:txBody>
      </p:sp>
      <p:sp>
        <p:nvSpPr>
          <p:cNvPr id="22" name="Shape 16"/>
          <p:cNvSpPr/>
          <p:nvPr/>
        </p:nvSpPr>
        <p:spPr>
          <a:xfrm>
            <a:off x="7324344" y="1508760"/>
            <a:ext cx="2057400" cy="1484376"/>
          </a:xfrm>
          <a:prstGeom prst="roundRect">
            <a:avLst>
              <a:gd name="adj" fmla="val 4928"/>
            </a:avLst>
          </a:prstGeom>
          <a:solidFill>
            <a:schemeClr val="bg1"/>
          </a:solidFill>
          <a:ln w="19050">
            <a:solidFill>
              <a:srgbClr val="2A6FB0"/>
            </a:solidFill>
            <a:prstDash val="solid"/>
          </a:ln>
        </p:spPr>
      </p:sp>
      <p:pic>
        <p:nvPicPr>
          <p:cNvPr id="23" name="illustration" descr="le boucher">    </p:cNvPr>
          <p:cNvPicPr>
            <a:picLocks noChangeAspect="1"/>
          </p:cNvPicPr>
          <p:nvPr/>
        </p:nvPicPr>
        <p:blipFill>
          <a:blip r:embed="rId4"/>
          <a:stretch>
            <a:fillRect/>
          </a:stretch>
        </p:blipFill>
        <p:spPr>
          <a:xfrm>
            <a:off x="7880477" y="1581912"/>
            <a:ext cx="945133" cy="789432"/>
          </a:xfrm>
          <a:prstGeom prst="rect">
            <a:avLst/>
          </a:prstGeom>
        </p:spPr>
      </p:pic>
      <p:sp>
        <p:nvSpPr>
          <p:cNvPr id="24" name="Shape 17"/>
          <p:cNvSpPr/>
          <p:nvPr/>
        </p:nvSpPr>
        <p:spPr>
          <a:xfrm>
            <a:off x="7415784" y="1600200"/>
            <a:ext cx="365760" cy="365760"/>
          </a:xfrm>
          <a:prstGeom prst="ellipse">
            <a:avLst/>
          </a:prstGeom>
          <a:solidFill>
            <a:schemeClr val="tx2"/>
          </a:solidFill>
          <a:ln/>
        </p:spPr>
      </p:sp>
      <p:sp>
        <p:nvSpPr>
          <p:cNvPr id="25" name="Text 18"/>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Text 19"/>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slager</a:t>
            </a:r>
            <a:endParaRPr lang="en-US" sz="1600" dirty="0"/>
          </a:p>
          <a:p>
            <a:pPr algn="ctr" indent="0" marL="0">
              <a:buNone/>
            </a:pPr>
            <a:r>
              <a:rPr lang="en-US" sz="1100" i="1" dirty="0">
                <a:solidFill>
                  <a:schemeClr val="accent5"/>
                </a:solidFill>
              </a:rPr>
              <a:t>le boucher</a:t>
            </a:r>
            <a:endParaRPr lang="en-US" sz="1600" dirty="0"/>
          </a:p>
        </p:txBody>
      </p:sp>
      <p:sp>
        <p:nvSpPr>
          <p:cNvPr id="27" name="Shape 20"/>
          <p:cNvSpPr/>
          <p:nvPr/>
        </p:nvSpPr>
        <p:spPr>
          <a:xfrm>
            <a:off x="9582912" y="1508760"/>
            <a:ext cx="2057400" cy="1484376"/>
          </a:xfrm>
          <a:prstGeom prst="roundRect">
            <a:avLst>
              <a:gd name="adj" fmla="val 4928"/>
            </a:avLst>
          </a:prstGeom>
          <a:solidFill>
            <a:schemeClr val="bg1"/>
          </a:solidFill>
          <a:ln w="19050">
            <a:solidFill>
              <a:srgbClr val="2A6FB0"/>
            </a:solidFill>
            <a:prstDash val="solid"/>
          </a:ln>
        </p:spPr>
      </p:sp>
      <p:pic>
        <p:nvPicPr>
          <p:cNvPr id="28" name="illustration" descr="le marché">    </p:cNvPr>
          <p:cNvPicPr>
            <a:picLocks noChangeAspect="1"/>
          </p:cNvPicPr>
          <p:nvPr/>
        </p:nvPicPr>
        <p:blipFill>
          <a:blip r:embed="rId5"/>
          <a:stretch>
            <a:fillRect/>
          </a:stretch>
        </p:blipFill>
        <p:spPr>
          <a:xfrm>
            <a:off x="10126753" y="1581912"/>
            <a:ext cx="969718" cy="789432"/>
          </a:xfrm>
          <a:prstGeom prst="rect">
            <a:avLst/>
          </a:prstGeom>
        </p:spPr>
      </p:pic>
      <p:sp>
        <p:nvSpPr>
          <p:cNvPr id="29" name="Shape 21"/>
          <p:cNvSpPr/>
          <p:nvPr/>
        </p:nvSpPr>
        <p:spPr>
          <a:xfrm>
            <a:off x="9674352" y="1600200"/>
            <a:ext cx="365760" cy="365760"/>
          </a:xfrm>
          <a:prstGeom prst="ellipse">
            <a:avLst/>
          </a:prstGeom>
          <a:solidFill>
            <a:schemeClr val="tx2"/>
          </a:solidFill>
          <a:ln/>
        </p:spPr>
      </p:sp>
      <p:sp>
        <p:nvSpPr>
          <p:cNvPr id="30" name="Text 22"/>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23"/>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markt</a:t>
            </a:r>
            <a:endParaRPr lang="en-US" sz="1600" dirty="0"/>
          </a:p>
          <a:p>
            <a:pPr algn="ctr" indent="0" marL="0">
              <a:buNone/>
            </a:pPr>
            <a:r>
              <a:rPr lang="en-US" sz="1100" i="1" dirty="0">
                <a:solidFill>
                  <a:schemeClr val="accent5"/>
                </a:solidFill>
              </a:rPr>
              <a:t>le marché</a:t>
            </a:r>
            <a:endParaRPr lang="en-US" sz="1600" dirty="0"/>
          </a:p>
        </p:txBody>
      </p:sp>
      <p:sp>
        <p:nvSpPr>
          <p:cNvPr id="32" name="Shape 24"/>
          <p:cNvSpPr/>
          <p:nvPr/>
        </p:nvSpPr>
        <p:spPr>
          <a:xfrm>
            <a:off x="548640" y="3157728"/>
            <a:ext cx="2057400" cy="1484376"/>
          </a:xfrm>
          <a:prstGeom prst="roundRect">
            <a:avLst>
              <a:gd name="adj" fmla="val 4928"/>
            </a:avLst>
          </a:prstGeom>
          <a:solidFill>
            <a:schemeClr val="bg1"/>
          </a:solidFill>
          <a:ln w="19050">
            <a:solidFill>
              <a:srgbClr val="B4236A"/>
            </a:solidFill>
            <a:prstDash val="solid"/>
          </a:ln>
        </p:spPr>
      </p:sp>
      <p:pic>
        <p:nvPicPr>
          <p:cNvPr id="33" name="illustration" descr="le panier">    </p:cNvPr>
          <p:cNvPicPr>
            <a:picLocks noChangeAspect="1"/>
          </p:cNvPicPr>
          <p:nvPr/>
        </p:nvPicPr>
        <p:blipFill>
          <a:blip r:embed="rId6"/>
          <a:stretch>
            <a:fillRect/>
          </a:stretch>
        </p:blipFill>
        <p:spPr>
          <a:xfrm>
            <a:off x="1103408" y="3230880"/>
            <a:ext cx="947865" cy="789432"/>
          </a:xfrm>
          <a:prstGeom prst="rect">
            <a:avLst/>
          </a:prstGeom>
        </p:spPr>
      </p:pic>
      <p:sp>
        <p:nvSpPr>
          <p:cNvPr id="34" name="Shape 25"/>
          <p:cNvSpPr/>
          <p:nvPr/>
        </p:nvSpPr>
        <p:spPr>
          <a:xfrm>
            <a:off x="640080" y="3249168"/>
            <a:ext cx="365760" cy="365760"/>
          </a:xfrm>
          <a:prstGeom prst="ellipse">
            <a:avLst/>
          </a:prstGeom>
          <a:solidFill>
            <a:schemeClr val="tx2"/>
          </a:solidFill>
          <a:ln/>
        </p:spPr>
      </p:sp>
      <p:sp>
        <p:nvSpPr>
          <p:cNvPr id="35" name="Text 26"/>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6" name="Text 27"/>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mandje</a:t>
            </a:r>
            <a:endParaRPr lang="en-US" sz="1600" dirty="0"/>
          </a:p>
          <a:p>
            <a:pPr algn="ctr" indent="0" marL="0">
              <a:buNone/>
            </a:pPr>
            <a:r>
              <a:rPr lang="en-US" sz="1100" i="1" dirty="0">
                <a:solidFill>
                  <a:schemeClr val="accent5"/>
                </a:solidFill>
              </a:rPr>
              <a:t>le panier</a:t>
            </a:r>
            <a:endParaRPr lang="en-US" sz="1600" dirty="0"/>
          </a:p>
        </p:txBody>
      </p:sp>
      <p:sp>
        <p:nvSpPr>
          <p:cNvPr id="37" name="Shape 28"/>
          <p:cNvSpPr/>
          <p:nvPr/>
        </p:nvSpPr>
        <p:spPr>
          <a:xfrm>
            <a:off x="2807208" y="3157728"/>
            <a:ext cx="2057400" cy="1484376"/>
          </a:xfrm>
          <a:prstGeom prst="roundRect">
            <a:avLst>
              <a:gd name="adj" fmla="val 4928"/>
            </a:avLst>
          </a:prstGeom>
          <a:solidFill>
            <a:schemeClr val="bg1"/>
          </a:solidFill>
          <a:ln w="19050">
            <a:solidFill>
              <a:srgbClr val="B4236A"/>
            </a:solidFill>
            <a:prstDash val="solid"/>
          </a:ln>
        </p:spPr>
      </p:sp>
      <p:pic>
        <p:nvPicPr>
          <p:cNvPr id="38" name="illustration" descr="le caddie">    </p:cNvPr>
          <p:cNvPicPr>
            <a:picLocks noChangeAspect="1"/>
          </p:cNvPicPr>
          <p:nvPr/>
        </p:nvPicPr>
        <p:blipFill>
          <a:blip r:embed="rId7"/>
          <a:stretch>
            <a:fillRect/>
          </a:stretch>
        </p:blipFill>
        <p:spPr>
          <a:xfrm>
            <a:off x="3363341" y="3230880"/>
            <a:ext cx="945133" cy="789432"/>
          </a:xfrm>
          <a:prstGeom prst="rect">
            <a:avLst/>
          </a:prstGeom>
        </p:spPr>
      </p:pic>
      <p:sp>
        <p:nvSpPr>
          <p:cNvPr id="39" name="Shape 29"/>
          <p:cNvSpPr/>
          <p:nvPr/>
        </p:nvSpPr>
        <p:spPr>
          <a:xfrm>
            <a:off x="2898648" y="3249168"/>
            <a:ext cx="365760" cy="365760"/>
          </a:xfrm>
          <a:prstGeom prst="ellipse">
            <a:avLst/>
          </a:prstGeom>
          <a:solidFill>
            <a:schemeClr val="tx2"/>
          </a:solidFill>
          <a:ln/>
        </p:spPr>
      </p:sp>
      <p:sp>
        <p:nvSpPr>
          <p:cNvPr id="40" name="Text 30"/>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1" name="Text 31"/>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winkelwagentje</a:t>
            </a:r>
            <a:endParaRPr lang="en-US" sz="1600" dirty="0"/>
          </a:p>
          <a:p>
            <a:pPr algn="ctr" indent="0" marL="0">
              <a:buNone/>
            </a:pPr>
            <a:r>
              <a:rPr lang="en-US" sz="1100" i="1" dirty="0">
                <a:solidFill>
                  <a:schemeClr val="accent5"/>
                </a:solidFill>
              </a:rPr>
              <a:t>le caddie</a:t>
            </a:r>
            <a:endParaRPr lang="en-US" sz="1600" dirty="0"/>
          </a:p>
        </p:txBody>
      </p:sp>
      <p:sp>
        <p:nvSpPr>
          <p:cNvPr id="42" name="Shape 32"/>
          <p:cNvSpPr/>
          <p:nvPr/>
        </p:nvSpPr>
        <p:spPr>
          <a:xfrm>
            <a:off x="5065776" y="3157728"/>
            <a:ext cx="2057400" cy="1484376"/>
          </a:xfrm>
          <a:prstGeom prst="roundRect">
            <a:avLst>
              <a:gd name="adj" fmla="val 4928"/>
            </a:avLst>
          </a:prstGeom>
          <a:solidFill>
            <a:schemeClr val="bg1"/>
          </a:solidFill>
          <a:ln w="19050">
            <a:solidFill>
              <a:srgbClr val="2A6FB0"/>
            </a:solidFill>
            <a:prstDash val="solid"/>
          </a:ln>
        </p:spPr>
      </p:sp>
      <p:pic>
        <p:nvPicPr>
          <p:cNvPr id="43" name="illustration" descr="la caisse">    </p:cNvPr>
          <p:cNvPicPr>
            <a:picLocks noChangeAspect="1"/>
          </p:cNvPicPr>
          <p:nvPr/>
        </p:nvPicPr>
        <p:blipFill>
          <a:blip r:embed="rId8"/>
          <a:stretch>
            <a:fillRect/>
          </a:stretch>
        </p:blipFill>
        <p:spPr>
          <a:xfrm>
            <a:off x="5609617" y="3230880"/>
            <a:ext cx="969718" cy="789432"/>
          </a:xfrm>
          <a:prstGeom prst="rect">
            <a:avLst/>
          </a:prstGeom>
        </p:spPr>
      </p:pic>
      <p:sp>
        <p:nvSpPr>
          <p:cNvPr id="44" name="Shape 33"/>
          <p:cNvSpPr/>
          <p:nvPr/>
        </p:nvSpPr>
        <p:spPr>
          <a:xfrm>
            <a:off x="5157216" y="3249168"/>
            <a:ext cx="365760" cy="365760"/>
          </a:xfrm>
          <a:prstGeom prst="ellipse">
            <a:avLst/>
          </a:prstGeom>
          <a:solidFill>
            <a:schemeClr val="tx2"/>
          </a:solidFill>
          <a:ln/>
        </p:spPr>
      </p:sp>
      <p:sp>
        <p:nvSpPr>
          <p:cNvPr id="45" name="Text 34"/>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6" name="Text 35"/>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kassa</a:t>
            </a:r>
            <a:endParaRPr lang="en-US" sz="1600" dirty="0"/>
          </a:p>
          <a:p>
            <a:pPr algn="ctr" indent="0" marL="0">
              <a:buNone/>
            </a:pPr>
            <a:r>
              <a:rPr lang="en-US" sz="1100" i="1" dirty="0">
                <a:solidFill>
                  <a:schemeClr val="accent5"/>
                </a:solidFill>
              </a:rPr>
              <a:t>la caisse</a:t>
            </a:r>
            <a:endParaRPr lang="en-US" sz="1600" dirty="0"/>
          </a:p>
        </p:txBody>
      </p:sp>
      <p:sp>
        <p:nvSpPr>
          <p:cNvPr id="47" name="Shape 36"/>
          <p:cNvSpPr/>
          <p:nvPr/>
        </p:nvSpPr>
        <p:spPr>
          <a:xfrm>
            <a:off x="7324344" y="3157728"/>
            <a:ext cx="2057400" cy="1484376"/>
          </a:xfrm>
          <a:prstGeom prst="roundRect">
            <a:avLst>
              <a:gd name="adj" fmla="val 4928"/>
            </a:avLst>
          </a:prstGeom>
          <a:solidFill>
            <a:schemeClr val="bg1"/>
          </a:solidFill>
          <a:ln w="19050">
            <a:solidFill>
              <a:srgbClr val="B4236A"/>
            </a:solidFill>
            <a:prstDash val="solid"/>
          </a:ln>
        </p:spPr>
      </p:sp>
      <p:pic>
        <p:nvPicPr>
          <p:cNvPr id="48" name="illustration" descr="l’argent">    </p:cNvPr>
          <p:cNvPicPr>
            <a:picLocks noChangeAspect="1"/>
          </p:cNvPicPr>
          <p:nvPr/>
        </p:nvPicPr>
        <p:blipFill>
          <a:blip r:embed="rId9"/>
          <a:stretch>
            <a:fillRect/>
          </a:stretch>
        </p:blipFill>
        <p:spPr>
          <a:xfrm>
            <a:off x="7879112" y="3230880"/>
            <a:ext cx="947865" cy="789432"/>
          </a:xfrm>
          <a:prstGeom prst="rect">
            <a:avLst/>
          </a:prstGeom>
        </p:spPr>
      </p:pic>
      <p:sp>
        <p:nvSpPr>
          <p:cNvPr id="49" name="Shape 37"/>
          <p:cNvSpPr/>
          <p:nvPr/>
        </p:nvSpPr>
        <p:spPr>
          <a:xfrm>
            <a:off x="7415784" y="3249168"/>
            <a:ext cx="365760" cy="365760"/>
          </a:xfrm>
          <a:prstGeom prst="ellipse">
            <a:avLst/>
          </a:prstGeom>
          <a:solidFill>
            <a:schemeClr val="tx2"/>
          </a:solidFill>
          <a:ln/>
        </p:spPr>
      </p:sp>
      <p:sp>
        <p:nvSpPr>
          <p:cNvPr id="50" name="Text 38"/>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1" name="Text 39"/>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geld</a:t>
            </a:r>
            <a:endParaRPr lang="en-US" sz="1600" dirty="0"/>
          </a:p>
          <a:p>
            <a:pPr algn="ctr" indent="0" marL="0">
              <a:buNone/>
            </a:pPr>
            <a:r>
              <a:rPr lang="en-US" sz="1100" i="1" dirty="0">
                <a:solidFill>
                  <a:schemeClr val="accent5"/>
                </a:solidFill>
              </a:rPr>
              <a:t>l’argent</a:t>
            </a:r>
            <a:endParaRPr lang="en-US" sz="1600" dirty="0"/>
          </a:p>
        </p:txBody>
      </p:sp>
      <p:sp>
        <p:nvSpPr>
          <p:cNvPr id="52" name="Shape 40"/>
          <p:cNvSpPr/>
          <p:nvPr/>
        </p:nvSpPr>
        <p:spPr>
          <a:xfrm>
            <a:off x="9582912" y="3157728"/>
            <a:ext cx="2057400" cy="1484376"/>
          </a:xfrm>
          <a:prstGeom prst="roundRect">
            <a:avLst>
              <a:gd name="adj" fmla="val 4928"/>
            </a:avLst>
          </a:prstGeom>
          <a:solidFill>
            <a:schemeClr val="bg1"/>
          </a:solidFill>
          <a:ln w="19050">
            <a:solidFill>
              <a:srgbClr val="2A6FB0"/>
            </a:solidFill>
            <a:prstDash val="solid"/>
          </a:ln>
        </p:spPr>
      </p:sp>
      <p:pic>
        <p:nvPicPr>
          <p:cNvPr id="53" name="illustration" descr="le prix">    </p:cNvPr>
          <p:cNvPicPr>
            <a:picLocks noChangeAspect="1"/>
          </p:cNvPicPr>
          <p:nvPr/>
        </p:nvPicPr>
        <p:blipFill>
          <a:blip r:embed="rId10"/>
          <a:stretch>
            <a:fillRect/>
          </a:stretch>
        </p:blipFill>
        <p:spPr>
          <a:xfrm>
            <a:off x="10139045" y="3230880"/>
            <a:ext cx="945133" cy="789432"/>
          </a:xfrm>
          <a:prstGeom prst="rect">
            <a:avLst/>
          </a:prstGeom>
        </p:spPr>
      </p:pic>
      <p:sp>
        <p:nvSpPr>
          <p:cNvPr id="54" name="Shape 41"/>
          <p:cNvSpPr/>
          <p:nvPr/>
        </p:nvSpPr>
        <p:spPr>
          <a:xfrm>
            <a:off x="9674352" y="3249168"/>
            <a:ext cx="365760" cy="365760"/>
          </a:xfrm>
          <a:prstGeom prst="ellipse">
            <a:avLst/>
          </a:prstGeom>
          <a:solidFill>
            <a:schemeClr val="tx2"/>
          </a:solidFill>
          <a:ln/>
        </p:spPr>
      </p:sp>
      <p:sp>
        <p:nvSpPr>
          <p:cNvPr id="55" name="Text 42"/>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6" name="Text 43"/>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prijs</a:t>
            </a:r>
            <a:endParaRPr lang="en-US" sz="1600" dirty="0"/>
          </a:p>
          <a:p>
            <a:pPr algn="ctr" indent="0" marL="0">
              <a:buNone/>
            </a:pPr>
            <a:r>
              <a:rPr lang="en-US" sz="1100" i="1" dirty="0">
                <a:solidFill>
                  <a:schemeClr val="accent5"/>
                </a:solidFill>
              </a:rPr>
              <a:t>le prix</a:t>
            </a:r>
            <a:endParaRPr lang="en-US" sz="1600" dirty="0"/>
          </a:p>
        </p:txBody>
      </p:sp>
      <p:sp>
        <p:nvSpPr>
          <p:cNvPr id="57" name="Shape 44"/>
          <p:cNvSpPr/>
          <p:nvPr/>
        </p:nvSpPr>
        <p:spPr>
          <a:xfrm>
            <a:off x="548640" y="4806696"/>
            <a:ext cx="2057400" cy="1484376"/>
          </a:xfrm>
          <a:prstGeom prst="roundRect">
            <a:avLst>
              <a:gd name="adj" fmla="val 4928"/>
            </a:avLst>
          </a:prstGeom>
          <a:solidFill>
            <a:schemeClr val="bg1"/>
          </a:solidFill>
          <a:ln w="19050">
            <a:solidFill>
              <a:srgbClr val="B4236A"/>
            </a:solidFill>
            <a:prstDash val="solid"/>
          </a:ln>
        </p:spPr>
      </p:sp>
      <p:pic>
        <p:nvPicPr>
          <p:cNvPr id="58" name="illustration" descr="le ticket de caisse">    </p:cNvPr>
          <p:cNvPicPr>
            <a:picLocks noChangeAspect="1"/>
          </p:cNvPicPr>
          <p:nvPr/>
        </p:nvPicPr>
        <p:blipFill>
          <a:blip r:embed="rId11"/>
          <a:stretch>
            <a:fillRect/>
          </a:stretch>
        </p:blipFill>
        <p:spPr>
          <a:xfrm>
            <a:off x="1092481" y="4879848"/>
            <a:ext cx="969718" cy="789432"/>
          </a:xfrm>
          <a:prstGeom prst="rect">
            <a:avLst/>
          </a:prstGeom>
        </p:spPr>
      </p:pic>
      <p:sp>
        <p:nvSpPr>
          <p:cNvPr id="59" name="Shape 45"/>
          <p:cNvSpPr/>
          <p:nvPr/>
        </p:nvSpPr>
        <p:spPr>
          <a:xfrm>
            <a:off x="640080" y="4898136"/>
            <a:ext cx="365760" cy="365760"/>
          </a:xfrm>
          <a:prstGeom prst="ellipse">
            <a:avLst/>
          </a:prstGeom>
          <a:solidFill>
            <a:schemeClr val="tx2"/>
          </a:solidFill>
          <a:ln/>
        </p:spPr>
      </p:sp>
      <p:sp>
        <p:nvSpPr>
          <p:cNvPr id="60" name="Text 46"/>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1" name="Text 47"/>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kasticket</a:t>
            </a:r>
            <a:endParaRPr lang="en-US" sz="1600" dirty="0"/>
          </a:p>
          <a:p>
            <a:pPr algn="ctr" indent="0" marL="0">
              <a:buNone/>
            </a:pPr>
            <a:r>
              <a:rPr lang="en-US" sz="1100" i="1" dirty="0">
                <a:solidFill>
                  <a:schemeClr val="accent5"/>
                </a:solidFill>
              </a:rPr>
              <a:t>le ticket de caisse</a:t>
            </a:r>
            <a:endParaRPr lang="en-US" sz="1600" dirty="0"/>
          </a:p>
        </p:txBody>
      </p:sp>
      <p:sp>
        <p:nvSpPr>
          <p:cNvPr id="62" name="Shape 48"/>
          <p:cNvSpPr/>
          <p:nvPr/>
        </p:nvSpPr>
        <p:spPr>
          <a:xfrm>
            <a:off x="2807208" y="4806696"/>
            <a:ext cx="2057400" cy="1484376"/>
          </a:xfrm>
          <a:prstGeom prst="roundRect">
            <a:avLst>
              <a:gd name="adj" fmla="val 4928"/>
            </a:avLst>
          </a:prstGeom>
          <a:solidFill>
            <a:schemeClr val="bg1"/>
          </a:solidFill>
          <a:ln w="19050">
            <a:solidFill>
              <a:srgbClr val="2A6FB0"/>
            </a:solidFill>
            <a:prstDash val="solid"/>
          </a:ln>
        </p:spPr>
      </p:sp>
      <p:pic>
        <p:nvPicPr>
          <p:cNvPr id="63" name="illustration" descr="le sac">    </p:cNvPr>
          <p:cNvPicPr>
            <a:picLocks noChangeAspect="1"/>
          </p:cNvPicPr>
          <p:nvPr/>
        </p:nvPicPr>
        <p:blipFill>
          <a:blip r:embed="rId12"/>
          <a:stretch>
            <a:fillRect/>
          </a:stretch>
        </p:blipFill>
        <p:spPr>
          <a:xfrm>
            <a:off x="3361976" y="4879848"/>
            <a:ext cx="947865" cy="789432"/>
          </a:xfrm>
          <a:prstGeom prst="rect">
            <a:avLst/>
          </a:prstGeom>
        </p:spPr>
      </p:pic>
      <p:sp>
        <p:nvSpPr>
          <p:cNvPr id="64" name="Shape 49"/>
          <p:cNvSpPr/>
          <p:nvPr/>
        </p:nvSpPr>
        <p:spPr>
          <a:xfrm>
            <a:off x="2898648" y="4898136"/>
            <a:ext cx="365760" cy="365760"/>
          </a:xfrm>
          <a:prstGeom prst="ellipse">
            <a:avLst/>
          </a:prstGeom>
          <a:solidFill>
            <a:schemeClr val="tx2"/>
          </a:solidFill>
          <a:ln/>
        </p:spPr>
      </p:sp>
      <p:sp>
        <p:nvSpPr>
          <p:cNvPr id="65" name="Text 50"/>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6" name="Text 51"/>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tas</a:t>
            </a:r>
            <a:endParaRPr lang="en-US" sz="1600" dirty="0"/>
          </a:p>
          <a:p>
            <a:pPr algn="ctr" indent="0" marL="0">
              <a:buNone/>
            </a:pPr>
            <a:r>
              <a:rPr lang="en-US" sz="1100" i="1" dirty="0">
                <a:solidFill>
                  <a:schemeClr val="accent5"/>
                </a:solidFill>
              </a:rPr>
              <a:t>le sac</a:t>
            </a:r>
            <a:endParaRPr lang="en-US" sz="1600" dirty="0"/>
          </a:p>
        </p:txBody>
      </p:sp>
      <p:sp>
        <p:nvSpPr>
          <p:cNvPr id="67" name="Shape 52"/>
          <p:cNvSpPr/>
          <p:nvPr/>
        </p:nvSpPr>
        <p:spPr>
          <a:xfrm>
            <a:off x="5065776" y="4806696"/>
            <a:ext cx="2057400" cy="1484376"/>
          </a:xfrm>
          <a:prstGeom prst="roundRect">
            <a:avLst>
              <a:gd name="adj" fmla="val 4928"/>
            </a:avLst>
          </a:prstGeom>
          <a:solidFill>
            <a:schemeClr val="bg1"/>
          </a:solidFill>
          <a:ln w="19050">
            <a:solidFill>
              <a:srgbClr val="2A6FB0"/>
            </a:solidFill>
            <a:prstDash val="solid"/>
          </a:ln>
        </p:spPr>
      </p:sp>
      <p:pic>
        <p:nvPicPr>
          <p:cNvPr id="68" name="illustration" descr="la bouteille">    </p:cNvPr>
          <p:cNvPicPr>
            <a:picLocks noChangeAspect="1"/>
          </p:cNvPicPr>
          <p:nvPr/>
        </p:nvPicPr>
        <p:blipFill>
          <a:blip r:embed="rId13"/>
          <a:stretch>
            <a:fillRect/>
          </a:stretch>
        </p:blipFill>
        <p:spPr>
          <a:xfrm>
            <a:off x="5597852" y="4879848"/>
            <a:ext cx="993249" cy="789432"/>
          </a:xfrm>
          <a:prstGeom prst="rect">
            <a:avLst/>
          </a:prstGeom>
        </p:spPr>
      </p:pic>
      <p:sp>
        <p:nvSpPr>
          <p:cNvPr id="69" name="Shape 53"/>
          <p:cNvSpPr/>
          <p:nvPr/>
        </p:nvSpPr>
        <p:spPr>
          <a:xfrm>
            <a:off x="5157216" y="4898136"/>
            <a:ext cx="365760" cy="365760"/>
          </a:xfrm>
          <a:prstGeom prst="ellipse">
            <a:avLst/>
          </a:prstGeom>
          <a:solidFill>
            <a:schemeClr val="tx2"/>
          </a:solidFill>
          <a:ln/>
        </p:spPr>
      </p:sp>
      <p:sp>
        <p:nvSpPr>
          <p:cNvPr id="70" name="Text 54"/>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1" name="Text 55"/>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fles</a:t>
            </a:r>
            <a:endParaRPr lang="en-US" sz="1600" dirty="0"/>
          </a:p>
          <a:p>
            <a:pPr algn="ctr" indent="0" marL="0">
              <a:buNone/>
            </a:pPr>
            <a:r>
              <a:rPr lang="en-US" sz="1100" i="1" dirty="0">
                <a:solidFill>
                  <a:schemeClr val="accent5"/>
                </a:solidFill>
              </a:rPr>
              <a:t>la bouteille</a:t>
            </a:r>
            <a:endParaRPr lang="en-US" sz="1600" dirty="0"/>
          </a:p>
        </p:txBody>
      </p:sp>
      <p:sp>
        <p:nvSpPr>
          <p:cNvPr id="72" name="Shape 56"/>
          <p:cNvSpPr/>
          <p:nvPr/>
        </p:nvSpPr>
        <p:spPr>
          <a:xfrm>
            <a:off x="7324344" y="4806696"/>
            <a:ext cx="2057400" cy="1484376"/>
          </a:xfrm>
          <a:prstGeom prst="roundRect">
            <a:avLst>
              <a:gd name="adj" fmla="val 4928"/>
            </a:avLst>
          </a:prstGeom>
          <a:solidFill>
            <a:schemeClr val="bg1"/>
          </a:solidFill>
          <a:ln w="19050">
            <a:solidFill>
              <a:srgbClr val="B4236A"/>
            </a:solidFill>
            <a:prstDash val="solid"/>
          </a:ln>
        </p:spPr>
      </p:sp>
      <p:pic>
        <p:nvPicPr>
          <p:cNvPr id="73" name="illustration" descr="la boîte de conserve">    </p:cNvPr>
          <p:cNvPicPr>
            <a:picLocks noChangeAspect="1"/>
          </p:cNvPicPr>
          <p:nvPr/>
        </p:nvPicPr>
        <p:blipFill>
          <a:blip r:embed="rId14"/>
          <a:stretch>
            <a:fillRect/>
          </a:stretch>
        </p:blipFill>
        <p:spPr>
          <a:xfrm>
            <a:off x="7843502" y="4879848"/>
            <a:ext cx="1019085" cy="789432"/>
          </a:xfrm>
          <a:prstGeom prst="rect">
            <a:avLst/>
          </a:prstGeom>
        </p:spPr>
      </p:pic>
      <p:sp>
        <p:nvSpPr>
          <p:cNvPr id="74" name="Shape 57"/>
          <p:cNvSpPr/>
          <p:nvPr/>
        </p:nvSpPr>
        <p:spPr>
          <a:xfrm>
            <a:off x="7415784" y="4898136"/>
            <a:ext cx="365760" cy="365760"/>
          </a:xfrm>
          <a:prstGeom prst="ellipse">
            <a:avLst/>
          </a:prstGeom>
          <a:solidFill>
            <a:schemeClr val="tx2"/>
          </a:solidFill>
          <a:ln/>
        </p:spPr>
      </p:sp>
      <p:sp>
        <p:nvSpPr>
          <p:cNvPr id="75" name="Text 58"/>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6" name="Text 59"/>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blik</a:t>
            </a:r>
            <a:endParaRPr lang="en-US" sz="1600" dirty="0"/>
          </a:p>
          <a:p>
            <a:pPr algn="ctr" indent="0" marL="0">
              <a:buNone/>
            </a:pPr>
            <a:r>
              <a:rPr lang="en-US" sz="1100" i="1" dirty="0">
                <a:solidFill>
                  <a:schemeClr val="accent5"/>
                </a:solidFill>
              </a:rPr>
              <a:t>la boîte de conserve</a:t>
            </a:r>
            <a:endParaRPr lang="en-US" sz="1600" dirty="0"/>
          </a:p>
        </p:txBody>
      </p:sp>
      <p:sp>
        <p:nvSpPr>
          <p:cNvPr id="77" name="Shape 60"/>
          <p:cNvSpPr/>
          <p:nvPr/>
        </p:nvSpPr>
        <p:spPr>
          <a:xfrm>
            <a:off x="9582912" y="4806696"/>
            <a:ext cx="2057400" cy="1484376"/>
          </a:xfrm>
          <a:prstGeom prst="roundRect">
            <a:avLst>
              <a:gd name="adj" fmla="val 4928"/>
            </a:avLst>
          </a:prstGeom>
          <a:solidFill>
            <a:schemeClr val="bg1"/>
          </a:solidFill>
          <a:ln w="19050">
            <a:solidFill>
              <a:srgbClr val="2A6FB0"/>
            </a:solidFill>
            <a:prstDash val="solid"/>
          </a:ln>
        </p:spPr>
      </p:sp>
      <p:pic>
        <p:nvPicPr>
          <p:cNvPr id="78" name="illustration" descr="la balance">    </p:cNvPr>
          <p:cNvPicPr>
            <a:picLocks noChangeAspect="1"/>
          </p:cNvPicPr>
          <p:nvPr/>
        </p:nvPicPr>
        <p:blipFill>
          <a:blip r:embed="rId15"/>
          <a:stretch>
            <a:fillRect/>
          </a:stretch>
        </p:blipFill>
        <p:spPr>
          <a:xfrm>
            <a:off x="10113552" y="4879848"/>
            <a:ext cx="996120" cy="789432"/>
          </a:xfrm>
          <a:prstGeom prst="rect">
            <a:avLst/>
          </a:prstGeom>
        </p:spPr>
      </p:pic>
      <p:sp>
        <p:nvSpPr>
          <p:cNvPr id="79" name="Shape 61"/>
          <p:cNvSpPr/>
          <p:nvPr/>
        </p:nvSpPr>
        <p:spPr>
          <a:xfrm>
            <a:off x="9674352" y="4898136"/>
            <a:ext cx="365760" cy="365760"/>
          </a:xfrm>
          <a:prstGeom prst="ellipse">
            <a:avLst/>
          </a:prstGeom>
          <a:solidFill>
            <a:schemeClr val="tx2"/>
          </a:solidFill>
          <a:ln/>
        </p:spPr>
      </p:sp>
      <p:sp>
        <p:nvSpPr>
          <p:cNvPr id="80" name="Text 62"/>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1" name="Text 63"/>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weegschaal</a:t>
            </a:r>
            <a:endParaRPr lang="en-US" sz="1600" dirty="0"/>
          </a:p>
          <a:p>
            <a:pPr algn="ctr" indent="0" marL="0">
              <a:buNone/>
            </a:pPr>
            <a:r>
              <a:rPr lang="en-US" sz="1100" i="1" dirty="0">
                <a:solidFill>
                  <a:schemeClr val="accent5"/>
                </a:solidFill>
              </a:rPr>
              <a:t>la balance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Waar koop je het? Au bon magasin</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 puis à deux · 5 min — Complétez avec </a:t>
            </a:r>
            <a:r>
              <a:rPr lang="en-US" sz="1600" b="1" i="1" dirty="0">
                <a:solidFill>
                  <a:schemeClr val="accent5"/>
                </a:solidFill>
              </a:rPr>
              <a:t>bij, op</a:t>
            </a:r>
            <a:r>
              <a:rPr lang="en-US" sz="1600" i="1" dirty="0">
                <a:solidFill>
                  <a:schemeClr val="accent5"/>
                </a:solidFill>
              </a:rPr>
              <a:t> ou </a:t>
            </a:r>
            <a:r>
              <a:rPr lang="en-US" sz="1600" b="1" i="1" dirty="0">
                <a:solidFill>
                  <a:schemeClr val="accent5"/>
                </a:solidFill>
              </a:rPr>
              <a:t>in</a:t>
            </a:r>
            <a:r>
              <a:rPr lang="en-US" sz="1600" i="1" dirty="0">
                <a:solidFill>
                  <a:schemeClr val="accent5"/>
                </a:solidFill>
              </a:rPr>
              <a:t> + le magasin. Le produit est en tête : </a:t>
            </a:r>
            <a:r>
              <a:rPr lang="en-US" sz="1600" b="1" i="1" dirty="0">
                <a:solidFill>
                  <a:schemeClr val="accent5"/>
                </a:solidFill>
              </a:rPr>
              <a:t>inversion</a:t>
            </a:r>
            <a:r>
              <a:rPr lang="en-US" sz="1600" i="1" dirty="0">
                <a:solidFill>
                  <a:schemeClr val="accent5"/>
                </a:solidFill>
              </a:rPr>
              <a:t> !</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400"/>
              </a:spcAft>
              <a:buNone/>
            </a:pPr>
            <a:r>
              <a:rPr lang="en-US" sz="2400" b="1" dirty="0">
                <a:solidFill>
                  <a:schemeClr val="tx2"/>
                </a:solidFill>
              </a:rPr>
              <a:t>1.  </a:t>
            </a:r>
            <a:r>
              <a:rPr lang="en-US" sz="2400" dirty="0">
                <a:solidFill>
                  <a:schemeClr val="tx1"/>
                </a:solidFill>
              </a:rPr>
              <a:t>Brood koop ik </a:t>
            </a:r>
            <a:r>
              <a:rPr lang="en-US" sz="2400" dirty="0">
                <a:solidFill>
                  <a:schemeClr val="accent5"/>
                </a:solidFill>
              </a:rPr>
              <a:t>…………………</a:t>
            </a:r>
            <a:r>
              <a:rPr lang="en-US" sz="2400" dirty="0">
                <a:solidFill>
                  <a:schemeClr val="tx1"/>
                </a:solidFill>
              </a:rPr>
              <a:t>.</a:t>
            </a:r>
            <a:endParaRPr lang="en-US" sz="2400" dirty="0"/>
          </a:p>
          <a:p>
            <a:pPr indent="0" marL="0">
              <a:spcAft>
                <a:spcPts val="1400"/>
              </a:spcAft>
              <a:buNone/>
            </a:pPr>
            <a:r>
              <a:rPr lang="en-US" sz="2400" b="1" dirty="0">
                <a:solidFill>
                  <a:schemeClr val="tx2"/>
                </a:solidFill>
              </a:rPr>
              <a:t>2.  </a:t>
            </a:r>
            <a:r>
              <a:rPr lang="en-US" sz="2400" dirty="0">
                <a:solidFill>
                  <a:schemeClr val="tx1"/>
                </a:solidFill>
              </a:rPr>
              <a:t>Vlees koop ik </a:t>
            </a:r>
            <a:r>
              <a:rPr lang="en-US" sz="2400" dirty="0">
                <a:solidFill>
                  <a:schemeClr val="accent5"/>
                </a:solidFill>
              </a:rPr>
              <a:t>……………………………………</a:t>
            </a:r>
            <a:r>
              <a:rPr lang="en-US" sz="2400" dirty="0">
                <a:solidFill>
                  <a:schemeClr val="tx1"/>
                </a:solidFill>
              </a:rPr>
              <a:t>.</a:t>
            </a:r>
            <a:endParaRPr lang="en-US" sz="2400" dirty="0"/>
          </a:p>
          <a:p>
            <a:pPr indent="0" marL="0">
              <a:spcAft>
                <a:spcPts val="1400"/>
              </a:spcAft>
              <a:buNone/>
            </a:pPr>
            <a:r>
              <a:rPr lang="en-US" sz="2400" b="1" dirty="0">
                <a:solidFill>
                  <a:schemeClr val="tx2"/>
                </a:solidFill>
              </a:rPr>
              <a:t>3.  </a:t>
            </a:r>
            <a:r>
              <a:rPr lang="en-US" sz="2400" dirty="0">
                <a:solidFill>
                  <a:schemeClr val="tx1"/>
                </a:solidFill>
              </a:rPr>
              <a:t>Groenten en fruit koop ik </a:t>
            </a:r>
            <a:r>
              <a:rPr lang="en-US" sz="2400" dirty="0">
                <a:solidFill>
                  <a:schemeClr val="accent5"/>
                </a:solidFill>
              </a:rPr>
              <a:t>………………</a:t>
            </a:r>
            <a:r>
              <a:rPr lang="en-US" sz="2400" dirty="0">
                <a:solidFill>
                  <a:schemeClr val="tx1"/>
                </a:solidFill>
              </a:rPr>
              <a:t>.</a:t>
            </a:r>
            <a:endParaRPr lang="en-US" sz="2400" dirty="0"/>
          </a:p>
          <a:p>
            <a:pPr indent="0" marL="0">
              <a:spcAft>
                <a:spcPts val="1400"/>
              </a:spcAft>
              <a:buNone/>
            </a:pPr>
            <a:r>
              <a:rPr lang="en-US" sz="2400" b="1" dirty="0">
                <a:solidFill>
                  <a:schemeClr val="tx2"/>
                </a:solidFill>
              </a:rPr>
              <a:t>4.  </a:t>
            </a:r>
            <a:r>
              <a:rPr lang="en-US" sz="2400" dirty="0">
                <a:solidFill>
                  <a:schemeClr val="tx1"/>
                </a:solidFill>
              </a:rPr>
              <a:t>Melk en kaas koop ik </a:t>
            </a:r>
            <a:r>
              <a:rPr lang="en-US" sz="2400" dirty="0">
                <a:solidFill>
                  <a:schemeClr val="accent5"/>
                </a:solidFill>
              </a:rPr>
              <a:t>………………………</a:t>
            </a:r>
            <a:r>
              <a:rPr lang="en-US" sz="2400" dirty="0">
                <a:solidFill>
                  <a:schemeClr val="tx1"/>
                </a:solidFill>
              </a:rPr>
              <a:t>.</a:t>
            </a:r>
            <a:endParaRPr lang="en-US" sz="2400" dirty="0"/>
          </a:p>
          <a:p>
            <a:pPr indent="0" marL="0">
              <a:spcAft>
                <a:spcPts val="1400"/>
              </a:spcAft>
              <a:buNone/>
            </a:pPr>
            <a:r>
              <a:rPr lang="en-US" sz="2400" b="1" dirty="0">
                <a:solidFill>
                  <a:schemeClr val="tx2"/>
                </a:solidFill>
              </a:rPr>
              <a:t>5.  </a:t>
            </a:r>
            <a:r>
              <a:rPr lang="en-US" sz="2400" dirty="0">
                <a:solidFill>
                  <a:schemeClr val="tx1"/>
                </a:solidFill>
              </a:rPr>
              <a:t>Medicijnen koop ik </a:t>
            </a:r>
            <a:r>
              <a:rPr lang="en-US" sz="2400" dirty="0">
                <a:solidFill>
                  <a:schemeClr val="accent5"/>
                </a:solidFill>
              </a:rPr>
              <a:t>……………………</a:t>
            </a:r>
            <a:r>
              <a:rPr lang="en-US" sz="2400" dirty="0">
                <a:solidFill>
                  <a:schemeClr val="tx1"/>
                </a:solidFill>
              </a:rPr>
              <a:t>.</a:t>
            </a:r>
            <a:endParaRPr lang="en-US" sz="2400" dirty="0"/>
          </a:p>
          <a:p>
            <a:pPr indent="0" marL="0">
              <a:spcAft>
                <a:spcPts val="1400"/>
              </a:spcAft>
              <a:buNone/>
            </a:pPr>
            <a:r>
              <a:rPr lang="en-US" sz="2400" b="1" dirty="0">
                <a:solidFill>
                  <a:schemeClr val="tx2"/>
                </a:solidFill>
              </a:rPr>
              <a:t>6.  </a:t>
            </a:r>
            <a:r>
              <a:rPr lang="en-US" sz="2400" dirty="0">
                <a:solidFill>
                  <a:schemeClr val="tx1"/>
                </a:solidFill>
              </a:rPr>
              <a:t>Aan de kassa krijg ik </a:t>
            </a:r>
            <a:r>
              <a:rPr lang="en-US" sz="2400" dirty="0">
                <a:solidFill>
                  <a:schemeClr val="accent5"/>
                </a:solidFill>
              </a:rPr>
              <a:t>…………………</a:t>
            </a:r>
            <a:r>
              <a:rPr lang="en-US" sz="2400" dirty="0">
                <a:solidFill>
                  <a:schemeClr val="tx1"/>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Waar koop je het? Au bon magasin</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 puis à deux · 5 min — Complétez avec </a:t>
            </a:r>
            <a:r>
              <a:rPr lang="en-US" sz="1600" b="1" i="1" dirty="0">
                <a:solidFill>
                  <a:schemeClr val="accent5"/>
                </a:solidFill>
              </a:rPr>
              <a:t>bij, op</a:t>
            </a:r>
            <a:r>
              <a:rPr lang="en-US" sz="1600" i="1" dirty="0">
                <a:solidFill>
                  <a:schemeClr val="accent5"/>
                </a:solidFill>
              </a:rPr>
              <a:t> ou </a:t>
            </a:r>
            <a:r>
              <a:rPr lang="en-US" sz="1600" b="1" i="1" dirty="0">
                <a:solidFill>
                  <a:schemeClr val="accent5"/>
                </a:solidFill>
              </a:rPr>
              <a:t>in</a:t>
            </a:r>
            <a:r>
              <a:rPr lang="en-US" sz="1600" i="1" dirty="0">
                <a:solidFill>
                  <a:schemeClr val="accent5"/>
                </a:solidFill>
              </a:rPr>
              <a:t> + le magasin. Le produit est en tête : </a:t>
            </a:r>
            <a:r>
              <a:rPr lang="en-US" sz="1600" b="1" i="1" dirty="0">
                <a:solidFill>
                  <a:schemeClr val="accent5"/>
                </a:solidFill>
              </a:rPr>
              <a:t>inversion</a:t>
            </a:r>
            <a:r>
              <a:rPr lang="en-US" sz="1600" i="1" dirty="0">
                <a:solidFill>
                  <a:schemeClr val="accent5"/>
                </a:solidFill>
              </a:rPr>
              <a:t> !</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400"/>
              </a:spcAft>
              <a:buNone/>
            </a:pPr>
            <a:r>
              <a:rPr lang="en-US" sz="2400" b="1" dirty="0">
                <a:solidFill>
                  <a:schemeClr val="tx2"/>
                </a:solidFill>
              </a:rPr>
              <a:t>1.  </a:t>
            </a:r>
            <a:r>
              <a:rPr lang="en-US" sz="2400" dirty="0">
                <a:solidFill>
                  <a:schemeClr val="tx1"/>
                </a:solidFill>
              </a:rPr>
              <a:t>Brood koop ik </a:t>
            </a:r>
            <a:r>
              <a:rPr lang="en-US" sz="2400" b="1" dirty="0">
                <a:solidFill>
                  <a:schemeClr val="accent3"/>
                </a:solidFill>
              </a:rPr>
              <a:t>bij de bakker</a:t>
            </a:r>
            <a:r>
              <a:rPr lang="en-US" sz="2400" dirty="0">
                <a:solidFill>
                  <a:schemeClr val="tx1"/>
                </a:solidFill>
              </a:rPr>
              <a:t>.</a:t>
            </a:r>
            <a:endParaRPr lang="en-US" sz="2400" dirty="0"/>
          </a:p>
          <a:p>
            <a:pPr indent="0" marL="0">
              <a:spcAft>
                <a:spcPts val="1400"/>
              </a:spcAft>
              <a:buNone/>
            </a:pPr>
            <a:r>
              <a:rPr lang="en-US" sz="2400" b="1" dirty="0">
                <a:solidFill>
                  <a:schemeClr val="tx2"/>
                </a:solidFill>
              </a:rPr>
              <a:t>2.  </a:t>
            </a:r>
            <a:r>
              <a:rPr lang="en-US" sz="2400" dirty="0">
                <a:solidFill>
                  <a:schemeClr val="tx1"/>
                </a:solidFill>
              </a:rPr>
              <a:t>Vlees koop ik </a:t>
            </a:r>
            <a:r>
              <a:rPr lang="en-US" sz="2400" b="1" dirty="0">
                <a:solidFill>
                  <a:schemeClr val="accent3"/>
                </a:solidFill>
              </a:rPr>
              <a:t>bij de slager (de beenhouwer)</a:t>
            </a:r>
            <a:r>
              <a:rPr lang="en-US" sz="2400" dirty="0">
                <a:solidFill>
                  <a:schemeClr val="tx1"/>
                </a:solidFill>
              </a:rPr>
              <a:t>.</a:t>
            </a:r>
            <a:endParaRPr lang="en-US" sz="2400" dirty="0"/>
          </a:p>
          <a:p>
            <a:pPr indent="0" marL="0">
              <a:spcAft>
                <a:spcPts val="1400"/>
              </a:spcAft>
              <a:buNone/>
            </a:pPr>
            <a:r>
              <a:rPr lang="en-US" sz="2400" b="1" dirty="0">
                <a:solidFill>
                  <a:schemeClr val="tx2"/>
                </a:solidFill>
              </a:rPr>
              <a:t>3.  </a:t>
            </a:r>
            <a:r>
              <a:rPr lang="en-US" sz="2400" dirty="0">
                <a:solidFill>
                  <a:schemeClr val="tx1"/>
                </a:solidFill>
              </a:rPr>
              <a:t>Groenten en fruit koop ik </a:t>
            </a:r>
            <a:r>
              <a:rPr lang="en-US" sz="2400" b="1" dirty="0">
                <a:solidFill>
                  <a:schemeClr val="accent3"/>
                </a:solidFill>
              </a:rPr>
              <a:t>op de markt</a:t>
            </a:r>
            <a:r>
              <a:rPr lang="en-US" sz="2400" dirty="0">
                <a:solidFill>
                  <a:schemeClr val="tx1"/>
                </a:solidFill>
              </a:rPr>
              <a:t>.</a:t>
            </a:r>
            <a:endParaRPr lang="en-US" sz="2400" dirty="0"/>
          </a:p>
          <a:p>
            <a:pPr indent="0" marL="0">
              <a:spcAft>
                <a:spcPts val="1400"/>
              </a:spcAft>
              <a:buNone/>
            </a:pPr>
            <a:r>
              <a:rPr lang="en-US" sz="2400" b="1" dirty="0">
                <a:solidFill>
                  <a:schemeClr val="tx2"/>
                </a:solidFill>
              </a:rPr>
              <a:t>4.  </a:t>
            </a:r>
            <a:r>
              <a:rPr lang="en-US" sz="2400" dirty="0">
                <a:solidFill>
                  <a:schemeClr val="tx1"/>
                </a:solidFill>
              </a:rPr>
              <a:t>Melk en kaas koop ik </a:t>
            </a:r>
            <a:r>
              <a:rPr lang="en-US" sz="2400" b="1" dirty="0">
                <a:solidFill>
                  <a:schemeClr val="accent3"/>
                </a:solidFill>
              </a:rPr>
              <a:t>in de supermarkt</a:t>
            </a:r>
            <a:r>
              <a:rPr lang="en-US" sz="2400" dirty="0">
                <a:solidFill>
                  <a:schemeClr val="tx1"/>
                </a:solidFill>
              </a:rPr>
              <a:t>.</a:t>
            </a:r>
            <a:endParaRPr lang="en-US" sz="2400" dirty="0"/>
          </a:p>
          <a:p>
            <a:pPr indent="0" marL="0">
              <a:spcAft>
                <a:spcPts val="1400"/>
              </a:spcAft>
              <a:buNone/>
            </a:pPr>
            <a:r>
              <a:rPr lang="en-US" sz="2400" b="1" dirty="0">
                <a:solidFill>
                  <a:schemeClr val="tx2"/>
                </a:solidFill>
              </a:rPr>
              <a:t>5.  </a:t>
            </a:r>
            <a:r>
              <a:rPr lang="en-US" sz="2400" dirty="0">
                <a:solidFill>
                  <a:schemeClr val="tx1"/>
                </a:solidFill>
              </a:rPr>
              <a:t>Medicijnen koop ik </a:t>
            </a:r>
            <a:r>
              <a:rPr lang="en-US" sz="2400" b="1" dirty="0">
                <a:solidFill>
                  <a:schemeClr val="accent3"/>
                </a:solidFill>
              </a:rPr>
              <a:t>bij de apotheek</a:t>
            </a:r>
            <a:r>
              <a:rPr lang="en-US" sz="2400" dirty="0">
                <a:solidFill>
                  <a:schemeClr val="tx1"/>
                </a:solidFill>
              </a:rPr>
              <a:t>.</a:t>
            </a:r>
            <a:endParaRPr lang="en-US" sz="2400" dirty="0"/>
          </a:p>
          <a:p>
            <a:pPr indent="0" marL="0">
              <a:spcAft>
                <a:spcPts val="1400"/>
              </a:spcAft>
              <a:buNone/>
            </a:pPr>
            <a:r>
              <a:rPr lang="en-US" sz="2400" b="1" dirty="0">
                <a:solidFill>
                  <a:schemeClr val="tx2"/>
                </a:solidFill>
              </a:rPr>
              <a:t>6.  </a:t>
            </a:r>
            <a:r>
              <a:rPr lang="en-US" sz="2400" dirty="0">
                <a:solidFill>
                  <a:schemeClr val="tx1"/>
                </a:solidFill>
              </a:rPr>
              <a:t>Aan de kassa krijg ik </a:t>
            </a:r>
            <a:r>
              <a:rPr lang="en-US" sz="2400" b="1" dirty="0">
                <a:solidFill>
                  <a:schemeClr val="accent3"/>
                </a:solidFill>
              </a:rPr>
              <a:t>het kasticket</a:t>
            </a:r>
            <a:r>
              <a:rPr lang="en-US" sz="2400" dirty="0">
                <a:solidFill>
                  <a:schemeClr val="tx1"/>
                </a:solidFill>
              </a:rPr>
              <a:t>.</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bij</a:t>
            </a:r>
            <a:r>
              <a:rPr lang="en-US" sz="1800" dirty="0">
                <a:solidFill>
                  <a:schemeClr val="tx1"/>
                </a:solidFill>
              </a:rPr>
              <a:t> + le commerçant : </a:t>
            </a:r>
            <a:r>
              <a:rPr lang="en-US" sz="1800" i="1" dirty="0">
                <a:solidFill>
                  <a:schemeClr val="tx1"/>
                </a:solidFill>
              </a:rPr>
              <a:t>bij de bakker</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op</a:t>
            </a:r>
            <a:r>
              <a:rPr lang="en-US" sz="1800" dirty="0">
                <a:solidFill>
                  <a:schemeClr val="tx1"/>
                </a:solidFill>
              </a:rPr>
              <a:t> de markt (en plein air) · </a:t>
            </a:r>
            <a:r>
              <a:rPr lang="en-US" sz="1800" b="1" dirty="0">
                <a:solidFill>
                  <a:schemeClr val="tx1"/>
                </a:solidFill>
              </a:rPr>
              <a:t>in</a:t>
            </a:r>
            <a:r>
              <a:rPr lang="en-US" sz="1800" dirty="0">
                <a:solidFill>
                  <a:schemeClr val="tx1"/>
                </a:solidFill>
              </a:rPr>
              <a:t> de supermarkt.</a:t>
            </a:r>
            <a:endParaRPr lang="en-US" sz="1800" dirty="0"/>
          </a:p>
          <a:p>
            <a:pPr marL="177800" indent="-177800">
              <a:spcAft>
                <a:spcPts val="600"/>
              </a:spcAft>
              <a:buSzPct val="100000"/>
              <a:buChar char="•"/>
            </a:pPr>
            <a:r>
              <a:rPr lang="en-US" sz="1800" dirty="0">
                <a:solidFill>
                  <a:schemeClr val="tx1"/>
                </a:solidFill>
              </a:rPr>
              <a:t>Produit en tête → </a:t>
            </a:r>
            <a:r>
              <a:rPr lang="en-US" sz="1800" i="1" dirty="0">
                <a:solidFill>
                  <a:schemeClr val="tx1"/>
                </a:solidFill>
              </a:rPr>
              <a:t>Brood </a:t>
            </a:r>
            <a:r>
              <a:rPr lang="en-US" sz="1800" b="1" i="1" dirty="0">
                <a:solidFill>
                  <a:schemeClr val="tx1"/>
                </a:solidFill>
              </a:rPr>
              <a:t>koop ik</a:t>
            </a:r>
            <a:r>
              <a:rPr lang="en-US" sz="1800" i="1" dirty="0">
                <a:solidFill>
                  <a:schemeClr val="tx1"/>
                </a:solidFill>
              </a:rPr>
              <a:t>…</a:t>
            </a:r>
            <a:r>
              <a:rPr lang="en-US" sz="1800" dirty="0">
                <a:solidFill>
                  <a:schemeClr val="tx1"/>
                </a:solidFill>
              </a:rPr>
              <a:t> (verbe en 2e position).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Sarah op de markt</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78 (illustration)</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3431089"/>
          </a:xfrm>
          <a:prstGeom prst="rect">
            <a:avLst/>
          </a:prstGeom>
          <a:effectLst>
            <a:outerShdw sx="100000" sy="100000" kx="0" ky="0" algn="bl" rotWithShape="0" blurRad="101600" dist="25400" dir="3600000">
              <a:srgbClr val="000000">
                <a:alpha val="18000"/>
              </a:srgbClr>
            </a:outerShdw>
          </a:effectLst>
        </p:spPr>
      </p:pic>
      <p:sp>
        <p:nvSpPr>
          <p:cNvPr id="7" name="Text 3"/>
          <p:cNvSpPr txBox="1"/>
          <p:nvPr/>
        </p:nvSpPr>
        <p:spPr>
          <a:xfrm>
            <a:off x="6995160" y="1508760"/>
            <a:ext cx="4645152" cy="3432048"/>
          </a:xfrm>
          <a:prstGeom prst="rect">
            <a:avLst/>
          </a:prstGeom>
          <a:noFill/>
          <a:ln/>
        </p:spPr>
        <p:txBody>
          <a:bodyPr wrap="square" lIns="0" tIns="0" rIns="0" bIns="0" rtlCol="0" anchor="t"/>
          <a:lstStyle/>
          <a:p>
            <a:pPr indent="0" marL="0">
              <a:spcAft>
                <a:spcPts val="1000"/>
              </a:spcAft>
              <a:buNone/>
            </a:pPr>
            <a:r>
              <a:rPr lang="en-US" sz="2000" dirty="0">
                <a:solidFill>
                  <a:schemeClr val="tx1"/>
                </a:solidFill>
              </a:rPr>
              <a:t>Sarah fait son marché. Les </a:t>
            </a:r>
            <a:r>
              <a:rPr lang="en-US" sz="2000" b="1" dirty="0">
                <a:solidFill>
                  <a:schemeClr val="tx1"/>
                </a:solidFill>
              </a:rPr>
              <a:t>bulles</a:t>
            </a:r>
            <a:r>
              <a:rPr lang="en-US" sz="2000" dirty="0">
                <a:solidFill>
                  <a:schemeClr val="tx1"/>
                </a:solidFill>
              </a:rPr>
              <a:t> : </a:t>
            </a:r>
            <a:r>
              <a:rPr lang="en-US" sz="2000" b="1" i="1" dirty="0">
                <a:solidFill>
                  <a:schemeClr val="accent2"/>
                </a:solidFill>
              </a:rPr>
              <a:t>de</a:t>
            </a:r>
            <a:r>
              <a:rPr lang="en-US" sz="2000" i="1" dirty="0">
                <a:solidFill>
                  <a:schemeClr val="tx1"/>
                </a:solidFill>
              </a:rPr>
              <a:t> kaas · </a:t>
            </a:r>
            <a:r>
              <a:rPr lang="en-US" sz="2000" b="1" i="1" dirty="0">
                <a:solidFill>
                  <a:schemeClr val="accent4"/>
                </a:solidFill>
              </a:rPr>
              <a:t>het</a:t>
            </a:r>
            <a:r>
              <a:rPr lang="en-US" sz="2000" i="1" dirty="0">
                <a:solidFill>
                  <a:schemeClr val="tx1"/>
                </a:solidFill>
              </a:rPr>
              <a:t> brood · </a:t>
            </a:r>
            <a:r>
              <a:rPr lang="en-US" sz="2000" b="1" i="1" dirty="0">
                <a:solidFill>
                  <a:schemeClr val="accent2"/>
                </a:solidFill>
              </a:rPr>
              <a:t>de</a:t>
            </a:r>
            <a:r>
              <a:rPr lang="en-US" sz="2000" i="1" dirty="0">
                <a:solidFill>
                  <a:schemeClr val="tx1"/>
                </a:solidFill>
              </a:rPr>
              <a:t> markt</a:t>
            </a:r>
            <a:r>
              <a:rPr lang="en-US" sz="2000" dirty="0">
                <a:solidFill>
                  <a:schemeClr val="tx1"/>
                </a:solidFill>
              </a:rPr>
              <a:t>.</a:t>
            </a:r>
            <a:endParaRPr lang="en-US" sz="2000" dirty="0"/>
          </a:p>
          <a:p>
            <a:pPr indent="0" marL="0">
              <a:spcAft>
                <a:spcPts val="1000"/>
              </a:spcAft>
              <a:buNone/>
            </a:pPr>
            <a:r>
              <a:rPr lang="en-US" sz="2000" dirty="0">
                <a:solidFill>
                  <a:schemeClr val="tx1"/>
                </a:solidFill>
              </a:rPr>
              <a:t>Les </a:t>
            </a:r>
            <a:r>
              <a:rPr lang="en-US" sz="2000" b="1" dirty="0">
                <a:solidFill>
                  <a:schemeClr val="tx1"/>
                </a:solidFill>
              </a:rPr>
              <a:t>ardoises</a:t>
            </a:r>
            <a:r>
              <a:rPr lang="en-US" sz="2000" dirty="0">
                <a:solidFill>
                  <a:schemeClr val="tx1"/>
                </a:solidFill>
              </a:rPr>
              <a:t> : </a:t>
            </a:r>
            <a:r>
              <a:rPr lang="en-US" sz="2000" i="1" dirty="0">
                <a:solidFill>
                  <a:schemeClr val="tx1"/>
                </a:solidFill>
              </a:rPr>
              <a:t>Gouda jong € 11,50/kg · Desembrood € 3,80 · Tulpen € 6,50 · Hollandse appels € 2,50/kg</a:t>
            </a:r>
            <a:r>
              <a:rPr lang="en-US" sz="2000" dirty="0">
                <a:solidFill>
                  <a:schemeClr val="tx1"/>
                </a:solidFill>
              </a:rPr>
              <a:t>.</a:t>
            </a:r>
            <a:endParaRPr lang="en-US" sz="2000" dirty="0"/>
          </a:p>
          <a:p>
            <a:pPr indent="0" marL="0">
              <a:spcAft>
                <a:spcPts val="1000"/>
              </a:spcAft>
              <a:buNone/>
            </a:pPr>
            <a:r>
              <a:rPr lang="en-US" sz="2000" dirty="0">
                <a:solidFill>
                  <a:schemeClr val="tx1"/>
                </a:solidFill>
              </a:rPr>
              <a:t>Un prix : </a:t>
            </a:r>
            <a:r>
              <a:rPr lang="en-US" sz="2000" i="1" dirty="0">
                <a:solidFill>
                  <a:schemeClr val="tx1"/>
                </a:solidFill>
              </a:rPr>
              <a:t>€ 11,50</a:t>
            </a:r>
            <a:r>
              <a:rPr lang="en-US" sz="2000" dirty="0">
                <a:solidFill>
                  <a:schemeClr val="tx1"/>
                </a:solidFill>
              </a:rPr>
              <a:t> = </a:t>
            </a:r>
            <a:r>
              <a:rPr lang="en-US" sz="2000" i="1" dirty="0">
                <a:solidFill>
                  <a:schemeClr val="tx1"/>
                </a:solidFill>
              </a:rPr>
              <a:t>elf euro vijftig</a:t>
            </a:r>
            <a:r>
              <a:rPr lang="en-US" sz="2000" dirty="0">
                <a:solidFill>
                  <a:schemeClr val="tx1"/>
                </a:solidFill>
              </a:rPr>
              <a:t>.</a:t>
            </a:r>
            <a:endParaRPr lang="en-US" sz="2000" dirty="0"/>
          </a:p>
        </p:txBody>
      </p:sp>
      <p:sp>
        <p:nvSpPr>
          <p:cNvPr id="8" name="Shape 4"/>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9" name="Text 5"/>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0" name="Text 6"/>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Hoeveel kost het desembrood? En een kilo appels? Lisez les prix à voix haute.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Op de markt : le dialogue modèle</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7315200"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2000" b="1" dirty="0">
                <a:solidFill>
                  <a:srgbClr val="B4236A"/>
                </a:solidFill>
              </a:rPr>
              <a:t>Verkoopster :  </a:t>
            </a:r>
            <a:r>
              <a:rPr lang="en-US" sz="2000" dirty="0">
                <a:solidFill>
                  <a:schemeClr val="tx1"/>
                </a:solidFill>
              </a:rPr>
              <a:t>«Goedemorgen, mevrouw! Wat mag het zijn?»</a:t>
            </a:r>
            <a:endParaRPr lang="en-US" sz="2000" dirty="0"/>
          </a:p>
          <a:p>
            <a:pPr indent="0" marL="0">
              <a:spcAft>
                <a:spcPts val="800"/>
              </a:spcAft>
              <a:buNone/>
            </a:pPr>
            <a:r>
              <a:rPr lang="en-US" sz="1200" dirty="0">
                <a:solidFill>
                  <a:schemeClr val="accent5"/>
                </a:solidFill>
              </a:rPr>
              <a:t>2  </a:t>
            </a:r>
            <a:r>
              <a:rPr lang="en-US" sz="2000" b="1" dirty="0">
                <a:solidFill>
                  <a:schemeClr val="accent3"/>
                </a:solidFill>
              </a:rPr>
              <a:t>Sarah :  </a:t>
            </a:r>
            <a:r>
              <a:rPr lang="en-US" sz="2000" dirty="0">
                <a:solidFill>
                  <a:schemeClr val="tx1"/>
                </a:solidFill>
              </a:rPr>
              <a:t>«Goedemorgen! Ik had graag een halve kilo kaas.»</a:t>
            </a:r>
            <a:endParaRPr lang="en-US" sz="2000" dirty="0"/>
          </a:p>
          <a:p>
            <a:pPr indent="0" marL="0">
              <a:spcAft>
                <a:spcPts val="800"/>
              </a:spcAft>
              <a:buNone/>
            </a:pPr>
            <a:r>
              <a:rPr lang="en-US" sz="1200" dirty="0">
                <a:solidFill>
                  <a:schemeClr val="accent5"/>
                </a:solidFill>
              </a:rPr>
              <a:t>3  </a:t>
            </a:r>
            <a:r>
              <a:rPr lang="en-US" sz="2000" b="1" dirty="0">
                <a:solidFill>
                  <a:srgbClr val="B4236A"/>
                </a:solidFill>
              </a:rPr>
              <a:t>Verkoopster :  </a:t>
            </a:r>
            <a:r>
              <a:rPr lang="en-US" sz="2000" dirty="0">
                <a:solidFill>
                  <a:schemeClr val="tx1"/>
                </a:solidFill>
              </a:rPr>
              <a:t>«Jonge of oude kaas?»</a:t>
            </a:r>
            <a:endParaRPr lang="en-US" sz="2000" dirty="0"/>
          </a:p>
          <a:p>
            <a:pPr indent="0" marL="0">
              <a:spcAft>
                <a:spcPts val="800"/>
              </a:spcAft>
              <a:buNone/>
            </a:pPr>
            <a:r>
              <a:rPr lang="en-US" sz="1200" dirty="0">
                <a:solidFill>
                  <a:schemeClr val="accent5"/>
                </a:solidFill>
              </a:rPr>
              <a:t>4  </a:t>
            </a:r>
            <a:r>
              <a:rPr lang="en-US" sz="2000" b="1" dirty="0">
                <a:solidFill>
                  <a:schemeClr val="accent3"/>
                </a:solidFill>
              </a:rPr>
              <a:t>Sarah :  </a:t>
            </a:r>
            <a:r>
              <a:rPr lang="en-US" sz="2000" dirty="0">
                <a:solidFill>
                  <a:schemeClr val="tx1"/>
                </a:solidFill>
              </a:rPr>
              <a:t>«Jonge kaas, graag. Mag ik een stukje proeven?»</a:t>
            </a:r>
            <a:endParaRPr lang="en-US" sz="2000" dirty="0"/>
          </a:p>
          <a:p>
            <a:pPr indent="0" marL="0">
              <a:spcAft>
                <a:spcPts val="800"/>
              </a:spcAft>
              <a:buNone/>
            </a:pPr>
            <a:r>
              <a:rPr lang="en-US" sz="1200" dirty="0">
                <a:solidFill>
                  <a:schemeClr val="accent5"/>
                </a:solidFill>
              </a:rPr>
              <a:t>5  </a:t>
            </a:r>
            <a:r>
              <a:rPr lang="en-US" sz="2000" b="1" dirty="0">
                <a:solidFill>
                  <a:srgbClr val="B4236A"/>
                </a:solidFill>
              </a:rPr>
              <a:t>Verkoopster :  </a:t>
            </a:r>
            <a:r>
              <a:rPr lang="en-US" sz="2000" dirty="0">
                <a:solidFill>
                  <a:schemeClr val="tx1"/>
                </a:solidFill>
              </a:rPr>
              <a:t>«Natuurlijk! Alstublieft. Anders nog iets?»</a:t>
            </a:r>
            <a:endParaRPr lang="en-US" sz="2000" dirty="0"/>
          </a:p>
          <a:p>
            <a:pPr indent="0" marL="0">
              <a:spcAft>
                <a:spcPts val="800"/>
              </a:spcAft>
              <a:buNone/>
            </a:pPr>
            <a:r>
              <a:rPr lang="en-US" sz="1200" dirty="0">
                <a:solidFill>
                  <a:schemeClr val="accent5"/>
                </a:solidFill>
              </a:rPr>
              <a:t>6  </a:t>
            </a:r>
            <a:r>
              <a:rPr lang="en-US" sz="2000" b="1" dirty="0">
                <a:solidFill>
                  <a:schemeClr val="accent3"/>
                </a:solidFill>
              </a:rPr>
              <a:t>Sarah :  </a:t>
            </a:r>
            <a:r>
              <a:rPr lang="en-US" sz="2000" dirty="0">
                <a:solidFill>
                  <a:schemeClr val="tx1"/>
                </a:solidFill>
              </a:rPr>
              <a:t>«Ja, een desembrood en twee kilo appels. Hoeveel is dat samen?»</a:t>
            </a:r>
            <a:endParaRPr lang="en-US" sz="2000" dirty="0"/>
          </a:p>
          <a:p>
            <a:pPr indent="0" marL="0">
              <a:spcAft>
                <a:spcPts val="800"/>
              </a:spcAft>
              <a:buNone/>
            </a:pPr>
            <a:r>
              <a:rPr lang="en-US" sz="1200" dirty="0">
                <a:solidFill>
                  <a:schemeClr val="accent5"/>
                </a:solidFill>
              </a:rPr>
              <a:t>7  </a:t>
            </a:r>
            <a:r>
              <a:rPr lang="en-US" sz="2000" b="1" dirty="0">
                <a:solidFill>
                  <a:srgbClr val="B4236A"/>
                </a:solidFill>
              </a:rPr>
              <a:t>Verkoopster :  </a:t>
            </a:r>
            <a:r>
              <a:rPr lang="en-US" sz="2000" dirty="0">
                <a:solidFill>
                  <a:schemeClr val="tx1"/>
                </a:solidFill>
              </a:rPr>
              <a:t>«Dat is samen veertien euro vijfenvijftig.»</a:t>
            </a:r>
            <a:endParaRPr lang="en-US" sz="2000" dirty="0"/>
          </a:p>
          <a:p>
            <a:pPr indent="0" marL="0">
              <a:spcAft>
                <a:spcPts val="800"/>
              </a:spcAft>
              <a:buNone/>
            </a:pPr>
            <a:r>
              <a:rPr lang="en-US" sz="1200" dirty="0">
                <a:solidFill>
                  <a:schemeClr val="accent5"/>
                </a:solidFill>
              </a:rPr>
              <a:t>8  </a:t>
            </a:r>
            <a:r>
              <a:rPr lang="en-US" sz="2000" b="1" dirty="0">
                <a:solidFill>
                  <a:schemeClr val="accent3"/>
                </a:solidFill>
              </a:rPr>
              <a:t>Sarah :  </a:t>
            </a:r>
            <a:r>
              <a:rPr lang="en-US" sz="2000" dirty="0">
                <a:solidFill>
                  <a:schemeClr val="tx1"/>
                </a:solidFill>
              </a:rPr>
              <a:t>«Kan ik met de kaart betalen?»</a:t>
            </a:r>
            <a:endParaRPr lang="en-US" sz="2000" dirty="0"/>
          </a:p>
          <a:p>
            <a:pPr indent="0" marL="0">
              <a:spcAft>
                <a:spcPts val="800"/>
              </a:spcAft>
              <a:buNone/>
            </a:pPr>
            <a:r>
              <a:rPr lang="en-US" sz="1200" dirty="0">
                <a:solidFill>
                  <a:schemeClr val="accent5"/>
                </a:solidFill>
              </a:rPr>
              <a:t>9  </a:t>
            </a:r>
            <a:r>
              <a:rPr lang="en-US" sz="2000" b="1" dirty="0">
                <a:solidFill>
                  <a:srgbClr val="B4236A"/>
                </a:solidFill>
              </a:rPr>
              <a:t>Verkoopster :  </a:t>
            </a:r>
            <a:r>
              <a:rPr lang="en-US" sz="2000" dirty="0">
                <a:solidFill>
                  <a:schemeClr val="tx1"/>
                </a:solidFill>
              </a:rPr>
              <a:t>«Ja hoor. Wilt u een tasje?»</a:t>
            </a:r>
            <a:endParaRPr lang="en-US" sz="2000" dirty="0"/>
          </a:p>
          <a:p>
            <a:pPr indent="0" marL="0">
              <a:spcAft>
                <a:spcPts val="800"/>
              </a:spcAft>
              <a:buNone/>
            </a:pPr>
            <a:r>
              <a:rPr lang="en-US" sz="1200" dirty="0">
                <a:solidFill>
                  <a:schemeClr val="accent5"/>
                </a:solidFill>
              </a:rPr>
              <a:t>10  </a:t>
            </a:r>
            <a:r>
              <a:rPr lang="en-US" sz="2000" b="1" dirty="0">
                <a:solidFill>
                  <a:schemeClr val="accent3"/>
                </a:solidFill>
              </a:rPr>
              <a:t>Sarah :  </a:t>
            </a:r>
            <a:r>
              <a:rPr lang="en-US" sz="2000" dirty="0">
                <a:solidFill>
                  <a:schemeClr val="tx1"/>
                </a:solidFill>
              </a:rPr>
              <a:t>«Nee, dank u, ik heb een tas bij me. Tot volgende week!»</a:t>
            </a:r>
            <a:endParaRPr lang="en-US" sz="2000" dirty="0"/>
          </a:p>
        </p:txBody>
      </p:sp>
      <p:sp>
        <p:nvSpPr>
          <p:cNvPr id="7" name="aside"/>
          <p:cNvSpPr/>
          <p:nvPr/>
        </p:nvSpPr>
        <p:spPr>
          <a:xfrm>
            <a:off x="8183880" y="1508760"/>
            <a:ext cx="3456432" cy="4782312"/>
          </a:xfrm>
          <a:prstGeom prst="roundRect">
            <a:avLst>
              <a:gd name="adj" fmla="val 2116"/>
            </a:avLst>
          </a:prstGeom>
          <a:solidFill>
            <a:schemeClr val="accent3">
              <a:alpha val="10000"/>
            </a:schemeClr>
          </a:solidFill>
          <a:ln w="12700">
            <a:solidFill>
              <a:schemeClr val="accent3">
                <a:alpha val="60000"/>
              </a:schemeClr>
            </a:solidFill>
            <a:prstDash val="solid"/>
          </a:ln>
        </p:spPr>
      </p:sp>
      <p:pic>
        <p:nvPicPr>
          <p:cNvPr id="8" name="Image 0" descr="preencoded.png">    </p:cNvPr>
          <p:cNvPicPr>
            <a:picLocks noChangeAspect="1"/>
          </p:cNvPicPr>
          <p:nvPr/>
        </p:nvPicPr>
        <p:blipFill>
          <a:blip r:embed="rId1"/>
          <a:stretch>
            <a:fillRect/>
          </a:stretch>
        </p:blipFill>
        <p:spPr>
          <a:xfrm>
            <a:off x="8366760" y="1691640"/>
            <a:ext cx="292608" cy="292608"/>
          </a:xfrm>
          <a:prstGeom prst="rect">
            <a:avLst/>
          </a:prstGeom>
        </p:spPr>
      </p:pic>
      <p:sp>
        <p:nvSpPr>
          <p:cNvPr id="9" name="Text 5"/>
          <p:cNvSpPr txBox="1"/>
          <p:nvPr/>
        </p:nvSpPr>
        <p:spPr>
          <a:xfrm>
            <a:off x="8750808" y="1664208"/>
            <a:ext cx="272491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À REPÉRER</a:t>
            </a:r>
            <a:endParaRPr lang="en-US" sz="1400" dirty="0"/>
          </a:p>
        </p:txBody>
      </p:sp>
      <p:sp>
        <p:nvSpPr>
          <p:cNvPr id="10" name="Text 6"/>
          <p:cNvSpPr txBox="1"/>
          <p:nvPr/>
        </p:nvSpPr>
        <p:spPr>
          <a:xfrm>
            <a:off x="8348472" y="2103120"/>
            <a:ext cx="3127248" cy="4050792"/>
          </a:xfrm>
          <a:prstGeom prst="rect">
            <a:avLst/>
          </a:prstGeom>
          <a:noFill/>
          <a:ln/>
        </p:spPr>
        <p:txBody>
          <a:bodyPr wrap="square" lIns="0" tIns="0" rIns="0" bIns="0" rtlCol="0" anchor="t"/>
          <a:lstStyle/>
          <a:p>
            <a:pPr marL="177800" indent="-177800">
              <a:spcAft>
                <a:spcPts val="600"/>
              </a:spcAft>
              <a:buSzPct val="100000"/>
              <a:buChar char="•"/>
            </a:pPr>
            <a:r>
              <a:rPr lang="en-US" sz="1800" i="1" dirty="0">
                <a:solidFill>
                  <a:schemeClr val="tx1"/>
                </a:solidFill>
              </a:rPr>
              <a:t>Wat mag het zijn?</a:t>
            </a:r>
            <a:r>
              <a:rPr lang="en-US" sz="1800" dirty="0">
                <a:solidFill>
                  <a:schemeClr val="tx1"/>
                </a:solidFill>
              </a:rPr>
              <a:t> = vous désirez ?</a:t>
            </a:r>
            <a:endParaRPr lang="en-US" sz="1800" dirty="0"/>
          </a:p>
          <a:p>
            <a:pPr marL="177800" indent="-177800">
              <a:spcAft>
                <a:spcPts val="600"/>
              </a:spcAft>
              <a:buSzPct val="100000"/>
              <a:buChar char="•"/>
            </a:pPr>
            <a:r>
              <a:rPr lang="en-US" sz="1800" i="1" dirty="0">
                <a:solidFill>
                  <a:schemeClr val="tx1"/>
                </a:solidFill>
              </a:rPr>
              <a:t>Ik had graag…</a:t>
            </a:r>
            <a:r>
              <a:rPr lang="en-US" sz="1800" dirty="0">
                <a:solidFill>
                  <a:schemeClr val="tx1"/>
                </a:solidFill>
              </a:rPr>
              <a:t> = je voudrais (BE)</a:t>
            </a:r>
            <a:endParaRPr lang="en-US" sz="1800" dirty="0"/>
          </a:p>
          <a:p>
            <a:pPr marL="177800" indent="-177800">
              <a:spcAft>
                <a:spcPts val="600"/>
              </a:spcAft>
              <a:buSzPct val="100000"/>
              <a:buChar char="•"/>
            </a:pPr>
            <a:r>
              <a:rPr lang="en-US" sz="1800" i="1" dirty="0">
                <a:solidFill>
                  <a:schemeClr val="tx1"/>
                </a:solidFill>
              </a:rPr>
              <a:t>Anders nog iets?</a:t>
            </a:r>
            <a:r>
              <a:rPr lang="en-US" sz="1800" dirty="0">
                <a:solidFill>
                  <a:schemeClr val="tx1"/>
                </a:solidFill>
              </a:rPr>
              <a:t> = autre chose ?</a:t>
            </a:r>
            <a:endParaRPr lang="en-US" sz="1800" dirty="0"/>
          </a:p>
          <a:p>
            <a:pPr marL="177800" indent="-177800">
              <a:spcAft>
                <a:spcPts val="600"/>
              </a:spcAft>
              <a:buSzPct val="100000"/>
              <a:buChar char="•"/>
            </a:pPr>
            <a:r>
              <a:rPr lang="en-US" sz="1800" i="1" dirty="0">
                <a:solidFill>
                  <a:schemeClr val="tx1"/>
                </a:solidFill>
              </a:rPr>
              <a:t>Hoeveel is dat samen?</a:t>
            </a:r>
            <a:endParaRPr lang="en-US" sz="1800" dirty="0"/>
          </a:p>
          <a:p>
            <a:pPr marL="177800" indent="-177800">
              <a:spcAft>
                <a:spcPts val="600"/>
              </a:spcAft>
              <a:buSzPct val="100000"/>
              <a:buChar char="•"/>
            </a:pPr>
            <a:r>
              <a:rPr lang="en-US" sz="1800" dirty="0">
                <a:solidFill>
                  <a:schemeClr val="tx1"/>
                </a:solidFill>
              </a:rPr>
              <a:t>Diminutifs : </a:t>
            </a:r>
            <a:r>
              <a:rPr lang="en-US" sz="1800" i="1" dirty="0">
                <a:solidFill>
                  <a:schemeClr val="tx1"/>
                </a:solidFill>
              </a:rPr>
              <a:t>stukje · tasje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Jeu de rôle : au marché</a:t>
            </a:r>
            <a:endParaRPr lang="en-US" sz="3200" dirty="0"/>
          </a:p>
        </p:txBody>
      </p:sp>
      <p:sp>
        <p:nvSpPr>
          <p:cNvPr id="3" name="tag"/>
          <p:cNvSpPr/>
          <p:nvPr/>
        </p:nvSpPr>
        <p:spPr>
          <a:xfrm>
            <a:off x="548640" y="237744"/>
            <a:ext cx="2308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MISE EN SITUATION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Par deux · 10 min — A = le client (liste de 4 produits), B = le marchand (prix au tableau). On </a:t>
            </a:r>
            <a:r>
              <a:rPr lang="en-US" sz="1800" b="1" dirty="0">
                <a:solidFill>
                  <a:schemeClr val="tx1"/>
                </a:solidFill>
              </a:rPr>
              <a:t>vouvoie</a:t>
            </a:r>
            <a:r>
              <a:rPr lang="en-US" sz="1800" dirty="0">
                <a:solidFill>
                  <a:schemeClr val="tx1"/>
                </a:solidFill>
              </a:rPr>
              <a:t> (u). Puis on inverse.</a:t>
            </a:r>
            <a:endParaRPr lang="en-US" sz="1800" dirty="0"/>
          </a:p>
        </p:txBody>
      </p:sp>
      <p:sp>
        <p:nvSpPr>
          <p:cNvPr id="7" name="Shape 4"/>
          <p:cNvSpPr/>
          <p:nvPr/>
        </p:nvSpPr>
        <p:spPr>
          <a:xfrm>
            <a:off x="548640" y="2267712"/>
            <a:ext cx="2553462" cy="3069336"/>
          </a:xfrm>
          <a:prstGeom prst="roundRect">
            <a:avLst>
              <a:gd name="adj" fmla="val 3581"/>
            </a:avLst>
          </a:prstGeom>
          <a:solidFill>
            <a:schemeClr val="bg2"/>
          </a:solidFill>
          <a:ln w="9525">
            <a:solidFill>
              <a:srgbClr val="D5DCE6"/>
            </a:solidFill>
            <a:prstDash val="solid"/>
          </a:ln>
        </p:spPr>
      </p:sp>
      <p:sp>
        <p:nvSpPr>
          <p:cNvPr id="8" name="Shape 5"/>
          <p:cNvSpPr/>
          <p:nvPr/>
        </p:nvSpPr>
        <p:spPr>
          <a:xfrm>
            <a:off x="1496187" y="2450592"/>
            <a:ext cx="658368" cy="658368"/>
          </a:xfrm>
          <a:prstGeom prst="ellipse">
            <a:avLst/>
          </a:prstGeom>
          <a:solidFill>
            <a:schemeClr val="accent2"/>
          </a:solidFill>
          <a:ln/>
        </p:spPr>
      </p:sp>
      <p:sp>
        <p:nvSpPr>
          <p:cNvPr id="9" name="Text 6"/>
          <p:cNvSpPr txBox="1"/>
          <p:nvPr/>
        </p:nvSpPr>
        <p:spPr>
          <a:xfrm>
            <a:off x="149618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3182112"/>
            <a:ext cx="2334006" cy="685800"/>
          </a:xfrm>
          <a:prstGeom prst="rect">
            <a:avLst/>
          </a:prstGeom>
          <a:noFill/>
          <a:ln/>
        </p:spPr>
        <p:txBody>
          <a:bodyPr wrap="square" lIns="0" tIns="0" rIns="0" bIns="0" rtlCol="0" anchor="ctr"/>
          <a:lstStyle/>
          <a:p>
            <a:pPr algn="ctr" indent="0" marL="0">
              <a:buNone/>
            </a:pPr>
            <a:r>
              <a:rPr lang="en-US" sz="1700" b="1" dirty="0">
                <a:solidFill>
                  <a:schemeClr val="accent2"/>
                </a:solidFill>
              </a:rPr>
              <a:t>Groeten</a:t>
            </a:r>
            <a:endParaRPr lang="en-US" sz="1700" dirty="0"/>
          </a:p>
        </p:txBody>
      </p:sp>
      <p:sp>
        <p:nvSpPr>
          <p:cNvPr id="11" name="Text 8"/>
          <p:cNvSpPr txBox="1"/>
          <p:nvPr/>
        </p:nvSpPr>
        <p:spPr>
          <a:xfrm>
            <a:off x="685800" y="3959352"/>
            <a:ext cx="2279142" cy="128625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B : </a:t>
            </a:r>
            <a:r>
              <a:rPr lang="en-US" sz="1700" i="1" dirty="0">
                <a:solidFill>
                  <a:schemeClr val="tx1"/>
                </a:solidFill>
              </a:rPr>
              <a:t>Goedemorgen!</a:t>
            </a:r>
            <a:endParaRPr lang="en-US" sz="1700" dirty="0"/>
          </a:p>
          <a:p>
            <a:pPr algn="ctr" indent="0" marL="0">
              <a:spcAft>
                <a:spcPts val="600"/>
              </a:spcAft>
              <a:buNone/>
            </a:pPr>
            <a:r>
              <a:rPr lang="en-US" sz="1700" dirty="0">
                <a:solidFill>
                  <a:schemeClr val="tx1"/>
                </a:solidFill>
              </a:rPr>
              <a:t>B : </a:t>
            </a:r>
            <a:r>
              <a:rPr lang="en-US" sz="1700" i="1" dirty="0">
                <a:solidFill>
                  <a:schemeClr val="tx1"/>
                </a:solidFill>
              </a:rPr>
              <a:t>Wat mag het zijn?</a:t>
            </a:r>
            <a:endParaRPr lang="en-US" sz="1700" dirty="0"/>
          </a:p>
          <a:p>
            <a:pPr algn="ctr" indent="0" marL="0">
              <a:spcAft>
                <a:spcPts val="600"/>
              </a:spcAft>
              <a:buNone/>
            </a:pPr>
            <a:r>
              <a:rPr lang="en-US" sz="1700" dirty="0">
                <a:solidFill>
                  <a:schemeClr val="tx1"/>
                </a:solidFill>
              </a:rPr>
              <a:t>A : </a:t>
            </a:r>
            <a:r>
              <a:rPr lang="en-US" sz="1700" i="1" dirty="0">
                <a:solidFill>
                  <a:schemeClr val="tx1"/>
                </a:solidFill>
              </a:rPr>
              <a:t>Ik had graag…</a:t>
            </a:r>
            <a:endParaRPr lang="en-US" sz="1700" dirty="0"/>
          </a:p>
        </p:txBody>
      </p:sp>
      <p:pic>
        <p:nvPicPr>
          <p:cNvPr id="12" name="Image 0" descr="preencoded.png">    </p:cNvPr>
          <p:cNvPicPr>
            <a:picLocks noChangeAspect="1"/>
          </p:cNvPicPr>
          <p:nvPr/>
        </p:nvPicPr>
        <p:blipFill>
          <a:blip r:embed="rId1"/>
          <a:stretch>
            <a:fillRect/>
          </a:stretch>
        </p:blipFill>
        <p:spPr>
          <a:xfrm>
            <a:off x="3138678" y="2670048"/>
            <a:ext cx="219456" cy="219456"/>
          </a:xfrm>
          <a:prstGeom prst="rect">
            <a:avLst/>
          </a:prstGeom>
        </p:spPr>
      </p:pic>
      <p:sp>
        <p:nvSpPr>
          <p:cNvPr id="13" name="Shape 9"/>
          <p:cNvSpPr/>
          <p:nvPr/>
        </p:nvSpPr>
        <p:spPr>
          <a:xfrm>
            <a:off x="3394710" y="2267712"/>
            <a:ext cx="2553462" cy="3069336"/>
          </a:xfrm>
          <a:prstGeom prst="roundRect">
            <a:avLst>
              <a:gd name="adj" fmla="val 3581"/>
            </a:avLst>
          </a:prstGeom>
          <a:solidFill>
            <a:schemeClr val="bg2"/>
          </a:solidFill>
          <a:ln w="9525">
            <a:solidFill>
              <a:srgbClr val="D5DCE6"/>
            </a:solidFill>
            <a:prstDash val="solid"/>
          </a:ln>
        </p:spPr>
      </p:sp>
      <p:sp>
        <p:nvSpPr>
          <p:cNvPr id="14" name="Shape 10"/>
          <p:cNvSpPr/>
          <p:nvPr/>
        </p:nvSpPr>
        <p:spPr>
          <a:xfrm>
            <a:off x="4342257" y="2450592"/>
            <a:ext cx="658368" cy="658368"/>
          </a:xfrm>
          <a:prstGeom prst="ellipse">
            <a:avLst/>
          </a:prstGeom>
          <a:solidFill>
            <a:schemeClr val="accent1"/>
          </a:solidFill>
          <a:ln/>
        </p:spPr>
      </p:sp>
      <p:sp>
        <p:nvSpPr>
          <p:cNvPr id="15" name="Text 11"/>
          <p:cNvSpPr txBox="1"/>
          <p:nvPr/>
        </p:nvSpPr>
        <p:spPr>
          <a:xfrm>
            <a:off x="434225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3504438" y="3182112"/>
            <a:ext cx="2334006" cy="685800"/>
          </a:xfrm>
          <a:prstGeom prst="rect">
            <a:avLst/>
          </a:prstGeom>
          <a:noFill/>
          <a:ln/>
        </p:spPr>
        <p:txBody>
          <a:bodyPr wrap="square" lIns="0" tIns="0" rIns="0" bIns="0" rtlCol="0" anchor="ctr"/>
          <a:lstStyle/>
          <a:p>
            <a:pPr algn="ctr" indent="0" marL="0">
              <a:buNone/>
            </a:pPr>
            <a:r>
              <a:rPr lang="en-US" sz="1700" b="1" dirty="0">
                <a:solidFill>
                  <a:schemeClr val="accent1"/>
                </a:solidFill>
              </a:rPr>
              <a:t>Bestellen</a:t>
            </a:r>
            <a:endParaRPr lang="en-US" sz="1700" dirty="0"/>
          </a:p>
        </p:txBody>
      </p:sp>
      <p:sp>
        <p:nvSpPr>
          <p:cNvPr id="17" name="Text 13"/>
          <p:cNvSpPr txBox="1"/>
          <p:nvPr/>
        </p:nvSpPr>
        <p:spPr>
          <a:xfrm>
            <a:off x="3531870" y="3959352"/>
            <a:ext cx="2279142" cy="128625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A : </a:t>
            </a:r>
            <a:r>
              <a:rPr lang="en-US" sz="1700" i="1" dirty="0">
                <a:solidFill>
                  <a:schemeClr val="tx1"/>
                </a:solidFill>
              </a:rPr>
              <a:t>een kilo appels</a:t>
            </a:r>
            <a:endParaRPr lang="en-US" sz="1700" dirty="0"/>
          </a:p>
          <a:p>
            <a:pPr algn="ctr" indent="0" marL="0">
              <a:spcAft>
                <a:spcPts val="600"/>
              </a:spcAft>
              <a:buNone/>
            </a:pPr>
            <a:r>
              <a:rPr lang="en-US" sz="1700" dirty="0">
                <a:solidFill>
                  <a:schemeClr val="tx1"/>
                </a:solidFill>
              </a:rPr>
              <a:t>A : </a:t>
            </a:r>
            <a:r>
              <a:rPr lang="en-US" sz="1700" i="1" dirty="0">
                <a:solidFill>
                  <a:schemeClr val="tx1"/>
                </a:solidFill>
              </a:rPr>
              <a:t>een stukje kaas</a:t>
            </a:r>
            <a:endParaRPr lang="en-US" sz="1700" dirty="0"/>
          </a:p>
          <a:p>
            <a:pPr algn="ctr" indent="0" marL="0">
              <a:spcAft>
                <a:spcPts val="600"/>
              </a:spcAft>
              <a:buNone/>
            </a:pPr>
            <a:r>
              <a:rPr lang="en-US" sz="1700" dirty="0">
                <a:solidFill>
                  <a:schemeClr val="tx1"/>
                </a:solidFill>
              </a:rPr>
              <a:t>B : </a:t>
            </a:r>
            <a:r>
              <a:rPr lang="en-US" sz="1700" i="1" dirty="0">
                <a:solidFill>
                  <a:schemeClr val="tx1"/>
                </a:solidFill>
              </a:rPr>
              <a:t>Anders nog iets?</a:t>
            </a:r>
            <a:endParaRPr lang="en-US" sz="1700" dirty="0"/>
          </a:p>
        </p:txBody>
      </p:sp>
      <p:pic>
        <p:nvPicPr>
          <p:cNvPr id="18" name="Image 1" descr="preencoded.png">    </p:cNvPr>
          <p:cNvPicPr>
            <a:picLocks noChangeAspect="1"/>
          </p:cNvPicPr>
          <p:nvPr/>
        </p:nvPicPr>
        <p:blipFill>
          <a:blip r:embed="rId2"/>
          <a:stretch>
            <a:fillRect/>
          </a:stretch>
        </p:blipFill>
        <p:spPr>
          <a:xfrm>
            <a:off x="5984748" y="2670048"/>
            <a:ext cx="219456" cy="219456"/>
          </a:xfrm>
          <a:prstGeom prst="rect">
            <a:avLst/>
          </a:prstGeom>
        </p:spPr>
      </p:pic>
      <p:sp>
        <p:nvSpPr>
          <p:cNvPr id="19" name="Shape 14"/>
          <p:cNvSpPr/>
          <p:nvPr/>
        </p:nvSpPr>
        <p:spPr>
          <a:xfrm>
            <a:off x="6240780" y="2267712"/>
            <a:ext cx="2553462" cy="3069336"/>
          </a:xfrm>
          <a:prstGeom prst="roundRect">
            <a:avLst>
              <a:gd name="adj" fmla="val 3581"/>
            </a:avLst>
          </a:prstGeom>
          <a:solidFill>
            <a:schemeClr val="bg2"/>
          </a:solidFill>
          <a:ln w="9525">
            <a:solidFill>
              <a:srgbClr val="D5DCE6"/>
            </a:solidFill>
            <a:prstDash val="solid"/>
          </a:ln>
        </p:spPr>
      </p:sp>
      <p:sp>
        <p:nvSpPr>
          <p:cNvPr id="20" name="Shape 15"/>
          <p:cNvSpPr/>
          <p:nvPr/>
        </p:nvSpPr>
        <p:spPr>
          <a:xfrm>
            <a:off x="7188327" y="2450592"/>
            <a:ext cx="658368" cy="658368"/>
          </a:xfrm>
          <a:prstGeom prst="ellipse">
            <a:avLst/>
          </a:prstGeom>
          <a:solidFill>
            <a:schemeClr val="accent3"/>
          </a:solidFill>
          <a:ln/>
        </p:spPr>
      </p:sp>
      <p:sp>
        <p:nvSpPr>
          <p:cNvPr id="21" name="Text 16"/>
          <p:cNvSpPr txBox="1"/>
          <p:nvPr/>
        </p:nvSpPr>
        <p:spPr>
          <a:xfrm>
            <a:off x="718832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6350508" y="3182112"/>
            <a:ext cx="2334006" cy="685800"/>
          </a:xfrm>
          <a:prstGeom prst="rect">
            <a:avLst/>
          </a:prstGeom>
          <a:noFill/>
          <a:ln/>
        </p:spPr>
        <p:txBody>
          <a:bodyPr wrap="square" lIns="0" tIns="0" rIns="0" bIns="0" rtlCol="0" anchor="ctr"/>
          <a:lstStyle/>
          <a:p>
            <a:pPr algn="ctr" indent="0" marL="0">
              <a:buNone/>
            </a:pPr>
            <a:r>
              <a:rPr lang="en-US" sz="1700" b="1" dirty="0">
                <a:solidFill>
                  <a:schemeClr val="accent3"/>
                </a:solidFill>
              </a:rPr>
              <a:t>Betalen</a:t>
            </a:r>
            <a:endParaRPr lang="en-US" sz="1700" dirty="0"/>
          </a:p>
        </p:txBody>
      </p:sp>
      <p:sp>
        <p:nvSpPr>
          <p:cNvPr id="23" name="Text 18"/>
          <p:cNvSpPr txBox="1"/>
          <p:nvPr/>
        </p:nvSpPr>
        <p:spPr>
          <a:xfrm>
            <a:off x="6377940" y="3959352"/>
            <a:ext cx="2279142" cy="128625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A : </a:t>
            </a:r>
            <a:r>
              <a:rPr lang="en-US" sz="1700" i="1" dirty="0">
                <a:solidFill>
                  <a:schemeClr val="tx1"/>
                </a:solidFill>
              </a:rPr>
              <a:t>Hoeveel is dat?</a:t>
            </a:r>
            <a:endParaRPr lang="en-US" sz="1700" dirty="0"/>
          </a:p>
          <a:p>
            <a:pPr algn="ctr" indent="0" marL="0">
              <a:spcAft>
                <a:spcPts val="600"/>
              </a:spcAft>
              <a:buNone/>
            </a:pPr>
            <a:r>
              <a:rPr lang="en-US" sz="1700" dirty="0">
                <a:solidFill>
                  <a:schemeClr val="tx1"/>
                </a:solidFill>
              </a:rPr>
              <a:t>B : </a:t>
            </a:r>
            <a:r>
              <a:rPr lang="en-US" sz="1700" i="1" dirty="0">
                <a:solidFill>
                  <a:schemeClr val="tx1"/>
                </a:solidFill>
              </a:rPr>
              <a:t>Dat is … euro.</a:t>
            </a:r>
            <a:endParaRPr lang="en-US" sz="1700" dirty="0"/>
          </a:p>
          <a:p>
            <a:pPr algn="ctr" indent="0" marL="0">
              <a:spcAft>
                <a:spcPts val="600"/>
              </a:spcAft>
              <a:buNone/>
            </a:pPr>
            <a:r>
              <a:rPr lang="en-US" sz="1700" dirty="0">
                <a:solidFill>
                  <a:schemeClr val="tx1"/>
                </a:solidFill>
              </a:rPr>
              <a:t>A : </a:t>
            </a:r>
            <a:r>
              <a:rPr lang="en-US" sz="1700" i="1" dirty="0">
                <a:solidFill>
                  <a:schemeClr val="tx1"/>
                </a:solidFill>
              </a:rPr>
              <a:t>Met de kaart.</a:t>
            </a:r>
            <a:endParaRPr lang="en-US" sz="1700" dirty="0"/>
          </a:p>
        </p:txBody>
      </p:sp>
      <p:pic>
        <p:nvPicPr>
          <p:cNvPr id="24" name="Image 2" descr="preencoded.png">    </p:cNvPr>
          <p:cNvPicPr>
            <a:picLocks noChangeAspect="1"/>
          </p:cNvPicPr>
          <p:nvPr/>
        </p:nvPicPr>
        <p:blipFill>
          <a:blip r:embed="rId3"/>
          <a:stretch>
            <a:fillRect/>
          </a:stretch>
        </p:blipFill>
        <p:spPr>
          <a:xfrm>
            <a:off x="8830818" y="2670048"/>
            <a:ext cx="219456" cy="219456"/>
          </a:xfrm>
          <a:prstGeom prst="rect">
            <a:avLst/>
          </a:prstGeom>
        </p:spPr>
      </p:pic>
      <p:sp>
        <p:nvSpPr>
          <p:cNvPr id="25" name="Shape 19"/>
          <p:cNvSpPr/>
          <p:nvPr/>
        </p:nvSpPr>
        <p:spPr>
          <a:xfrm>
            <a:off x="9086850" y="2267712"/>
            <a:ext cx="2553462" cy="3069336"/>
          </a:xfrm>
          <a:prstGeom prst="roundRect">
            <a:avLst>
              <a:gd name="adj" fmla="val 3581"/>
            </a:avLst>
          </a:prstGeom>
          <a:solidFill>
            <a:schemeClr val="bg2"/>
          </a:solidFill>
          <a:ln w="9525">
            <a:solidFill>
              <a:srgbClr val="D5DCE6"/>
            </a:solidFill>
            <a:prstDash val="solid"/>
          </a:ln>
        </p:spPr>
      </p:sp>
      <p:sp>
        <p:nvSpPr>
          <p:cNvPr id="26" name="Shape 20"/>
          <p:cNvSpPr/>
          <p:nvPr/>
        </p:nvSpPr>
        <p:spPr>
          <a:xfrm>
            <a:off x="10034397" y="2450592"/>
            <a:ext cx="658368" cy="658368"/>
          </a:xfrm>
          <a:prstGeom prst="ellipse">
            <a:avLst/>
          </a:prstGeom>
          <a:solidFill>
            <a:srgbClr val="6E4A9E"/>
          </a:solidFill>
          <a:ln/>
        </p:spPr>
      </p:sp>
      <p:sp>
        <p:nvSpPr>
          <p:cNvPr id="27" name="Text 21"/>
          <p:cNvSpPr txBox="1"/>
          <p:nvPr/>
        </p:nvSpPr>
        <p:spPr>
          <a:xfrm>
            <a:off x="1003439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8" name="Text 22"/>
          <p:cNvSpPr txBox="1"/>
          <p:nvPr/>
        </p:nvSpPr>
        <p:spPr>
          <a:xfrm>
            <a:off x="9196578" y="3182112"/>
            <a:ext cx="2334006" cy="685800"/>
          </a:xfrm>
          <a:prstGeom prst="rect">
            <a:avLst/>
          </a:prstGeom>
          <a:noFill/>
          <a:ln/>
        </p:spPr>
        <p:txBody>
          <a:bodyPr wrap="square" lIns="0" tIns="0" rIns="0" bIns="0" rtlCol="0" anchor="ctr"/>
          <a:lstStyle/>
          <a:p>
            <a:pPr algn="ctr" indent="0" marL="0">
              <a:buNone/>
            </a:pPr>
            <a:r>
              <a:rPr lang="en-US" sz="1700" b="1" dirty="0">
                <a:solidFill>
                  <a:srgbClr val="6E4A9E"/>
                </a:solidFill>
              </a:rPr>
              <a:t>Afscheid</a:t>
            </a:r>
            <a:endParaRPr lang="en-US" sz="1700" dirty="0"/>
          </a:p>
        </p:txBody>
      </p:sp>
      <p:sp>
        <p:nvSpPr>
          <p:cNvPr id="29" name="Text 23"/>
          <p:cNvSpPr txBox="1"/>
          <p:nvPr/>
        </p:nvSpPr>
        <p:spPr>
          <a:xfrm>
            <a:off x="9224010" y="3959352"/>
            <a:ext cx="2279142" cy="128625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B : </a:t>
            </a:r>
            <a:r>
              <a:rPr lang="en-US" sz="1700" i="1" dirty="0">
                <a:solidFill>
                  <a:schemeClr val="tx1"/>
                </a:solidFill>
              </a:rPr>
              <a:t>Wilt u een tasje?</a:t>
            </a:r>
            <a:endParaRPr lang="en-US" sz="1700" dirty="0"/>
          </a:p>
          <a:p>
            <a:pPr algn="ctr" indent="0" marL="0">
              <a:spcAft>
                <a:spcPts val="600"/>
              </a:spcAft>
              <a:buNone/>
            </a:pPr>
            <a:r>
              <a:rPr lang="en-US" sz="1700" dirty="0">
                <a:solidFill>
                  <a:schemeClr val="tx1"/>
                </a:solidFill>
              </a:rPr>
              <a:t>A : </a:t>
            </a:r>
            <a:r>
              <a:rPr lang="en-US" sz="1700" i="1" dirty="0">
                <a:solidFill>
                  <a:schemeClr val="tx1"/>
                </a:solidFill>
              </a:rPr>
              <a:t>Nee, dank u.</a:t>
            </a:r>
            <a:endParaRPr lang="en-US" sz="1700" dirty="0"/>
          </a:p>
          <a:p>
            <a:pPr algn="ctr" indent="0" marL="0">
              <a:spcAft>
                <a:spcPts val="600"/>
              </a:spcAft>
              <a:buNone/>
            </a:pPr>
            <a:r>
              <a:rPr lang="en-US" sz="1700" dirty="0">
                <a:solidFill>
                  <a:schemeClr val="tx1"/>
                </a:solidFill>
              </a:rPr>
              <a:t>A : </a:t>
            </a:r>
            <a:r>
              <a:rPr lang="en-US" sz="1700" i="1" dirty="0">
                <a:solidFill>
                  <a:schemeClr val="tx1"/>
                </a:solidFill>
              </a:rPr>
              <a:t>Tot volgende week!</a:t>
            </a:r>
            <a:endParaRPr lang="en-US" sz="1700" dirty="0"/>
          </a:p>
        </p:txBody>
      </p:sp>
      <p:sp>
        <p:nvSpPr>
          <p:cNvPr id="30" name="Shape 24"/>
          <p:cNvSpPr/>
          <p:nvPr/>
        </p:nvSpPr>
        <p:spPr>
          <a:xfrm>
            <a:off x="548640" y="5565648"/>
            <a:ext cx="11091672" cy="725424"/>
          </a:xfrm>
          <a:prstGeom prst="roundRect">
            <a:avLst>
              <a:gd name="adj" fmla="val 10084"/>
            </a:avLst>
          </a:prstGeom>
          <a:solidFill>
            <a:schemeClr val="accent3">
              <a:alpha val="10000"/>
            </a:schemeClr>
          </a:solidFill>
          <a:ln w="9525">
            <a:solidFill>
              <a:schemeClr val="accent3">
                <a:alpha val="70000"/>
              </a:schemeClr>
            </a:solidFill>
            <a:prstDash val="solid"/>
          </a:ln>
        </p:spPr>
      </p:sp>
      <p:pic>
        <p:nvPicPr>
          <p:cNvPr id="31" name="Image 3" descr="preencoded.png">    </p:cNvPr>
          <p:cNvPicPr>
            <a:picLocks noChangeAspect="1"/>
          </p:cNvPicPr>
          <p:nvPr/>
        </p:nvPicPr>
        <p:blipFill>
          <a:blip r:embed="rId4"/>
          <a:stretch>
            <a:fillRect/>
          </a:stretch>
        </p:blipFill>
        <p:spPr>
          <a:xfrm>
            <a:off x="749808" y="5763768"/>
            <a:ext cx="329184" cy="329184"/>
          </a:xfrm>
          <a:prstGeom prst="rect">
            <a:avLst/>
          </a:prstGeom>
        </p:spPr>
      </p:pic>
      <p:sp>
        <p:nvSpPr>
          <p:cNvPr id="32" name="Text 25"/>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3"/>
                </a:solidFill>
              </a:rPr>
              <a:t>Critères — </a:t>
            </a:r>
            <a:r>
              <a:rPr lang="en-US" sz="1700" b="1" dirty="0">
                <a:solidFill>
                  <a:schemeClr val="tx1"/>
                </a:solidFill>
              </a:rPr>
              <a:t>3</a:t>
            </a:r>
            <a:r>
              <a:rPr lang="en-US" sz="1700" dirty="0">
                <a:solidFill>
                  <a:schemeClr val="tx1"/>
                </a:solidFill>
              </a:rPr>
              <a:t> produits avec une quantité (</a:t>
            </a:r>
            <a:r>
              <a:rPr lang="en-US" sz="1700" i="1" dirty="0">
                <a:solidFill>
                  <a:schemeClr val="tx1"/>
                </a:solidFill>
              </a:rPr>
              <a:t>een kilo, een fles, een stukje</a:t>
            </a:r>
            <a:r>
              <a:rPr lang="en-US" sz="1700" dirty="0">
                <a:solidFill>
                  <a:schemeClr val="tx1"/>
                </a:solidFill>
              </a:rPr>
              <a:t>) · </a:t>
            </a:r>
            <a:r>
              <a:rPr lang="en-US" sz="1700" b="1" dirty="0">
                <a:solidFill>
                  <a:schemeClr val="tx1"/>
                </a:solidFill>
              </a:rPr>
              <a:t>1</a:t>
            </a:r>
            <a:r>
              <a:rPr lang="en-US" sz="1700" dirty="0">
                <a:solidFill>
                  <a:schemeClr val="tx1"/>
                </a:solidFill>
              </a:rPr>
              <a:t> diminutif · </a:t>
            </a:r>
            <a:r>
              <a:rPr lang="en-US" sz="1700" b="1" dirty="0">
                <a:solidFill>
                  <a:schemeClr val="tx1"/>
                </a:solidFill>
              </a:rPr>
              <a:t>1</a:t>
            </a:r>
            <a:r>
              <a:rPr lang="en-US" sz="1700" dirty="0">
                <a:solidFill>
                  <a:schemeClr val="tx1"/>
                </a:solidFill>
              </a:rPr>
              <a:t> prix en lettres · </a:t>
            </a:r>
            <a:r>
              <a:rPr lang="en-US" sz="1700" i="1" dirty="0">
                <a:solidFill>
                  <a:schemeClr val="tx1"/>
                </a:solidFill>
              </a:rPr>
              <a:t>u</a:t>
            </a:r>
            <a:r>
              <a:rPr lang="en-US" sz="1700" dirty="0">
                <a:solidFill>
                  <a:schemeClr val="tx1"/>
                </a:solidFill>
              </a:rPr>
              <a:t> du début à la fin.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Jeu de rôle : in het café</a:t>
            </a:r>
            <a:endParaRPr lang="en-US" sz="3200" dirty="0"/>
          </a:p>
        </p:txBody>
      </p:sp>
      <p:sp>
        <p:nvSpPr>
          <p:cNvPr id="3" name="tag"/>
          <p:cNvSpPr/>
          <p:nvPr/>
        </p:nvSpPr>
        <p:spPr>
          <a:xfrm>
            <a:off x="548640" y="237744"/>
            <a:ext cx="2308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MISE EN SITUATION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7315200"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2200" b="1" dirty="0">
                <a:solidFill>
                  <a:srgbClr val="6E4A9E"/>
                </a:solidFill>
              </a:rPr>
              <a:t>Ober :  </a:t>
            </a:r>
            <a:r>
              <a:rPr lang="en-US" sz="2200" dirty="0">
                <a:solidFill>
                  <a:schemeClr val="tx1"/>
                </a:solidFill>
              </a:rPr>
              <a:t>«Goedemiddag! Wat mag het zijn?»</a:t>
            </a:r>
            <a:endParaRPr lang="en-US" sz="2200" dirty="0"/>
          </a:p>
          <a:p>
            <a:pPr indent="0" marL="0">
              <a:spcAft>
                <a:spcPts val="800"/>
              </a:spcAft>
              <a:buNone/>
            </a:pPr>
            <a:r>
              <a:rPr lang="en-US" sz="1200" dirty="0">
                <a:solidFill>
                  <a:schemeClr val="accent5"/>
                </a:solidFill>
              </a:rPr>
              <a:t>2  </a:t>
            </a:r>
            <a:r>
              <a:rPr lang="en-US" sz="2200" b="1" dirty="0">
                <a:solidFill>
                  <a:srgbClr val="D9700F"/>
                </a:solidFill>
              </a:rPr>
              <a:t>Emma :  </a:t>
            </a:r>
            <a:r>
              <a:rPr lang="en-US" sz="2200" dirty="0">
                <a:solidFill>
                  <a:schemeClr val="tx1"/>
                </a:solidFill>
              </a:rPr>
              <a:t>«Voor mij een thee, alstublieft.»</a:t>
            </a:r>
            <a:endParaRPr lang="en-US" sz="2200" dirty="0"/>
          </a:p>
          <a:p>
            <a:pPr indent="0" marL="0">
              <a:spcAft>
                <a:spcPts val="800"/>
              </a:spcAft>
              <a:buNone/>
            </a:pPr>
            <a:r>
              <a:rPr lang="en-US" sz="1200" dirty="0">
                <a:solidFill>
                  <a:schemeClr val="accent5"/>
                </a:solidFill>
              </a:rPr>
              <a:t>3  </a:t>
            </a:r>
            <a:r>
              <a:rPr lang="en-US" sz="2200" b="1" dirty="0">
                <a:solidFill>
                  <a:schemeClr val="accent2"/>
                </a:solidFill>
              </a:rPr>
              <a:t>Pieter :  </a:t>
            </a:r>
            <a:r>
              <a:rPr lang="en-US" sz="2200" dirty="0">
                <a:solidFill>
                  <a:schemeClr val="tx1"/>
                </a:solidFill>
              </a:rPr>
              <a:t>«En voor mij een kopje koffie met melk.»</a:t>
            </a:r>
            <a:endParaRPr lang="en-US" sz="2200" dirty="0"/>
          </a:p>
          <a:p>
            <a:pPr indent="0" marL="0">
              <a:spcAft>
                <a:spcPts val="800"/>
              </a:spcAft>
              <a:buNone/>
            </a:pPr>
            <a:r>
              <a:rPr lang="en-US" sz="1200" dirty="0">
                <a:solidFill>
                  <a:schemeClr val="accent5"/>
                </a:solidFill>
              </a:rPr>
              <a:t>4  </a:t>
            </a:r>
            <a:r>
              <a:rPr lang="en-US" sz="2200" b="1" dirty="0">
                <a:solidFill>
                  <a:srgbClr val="6E4A9E"/>
                </a:solidFill>
              </a:rPr>
              <a:t>Ober :  </a:t>
            </a:r>
            <a:r>
              <a:rPr lang="en-US" sz="2200" dirty="0">
                <a:solidFill>
                  <a:schemeClr val="tx1"/>
                </a:solidFill>
              </a:rPr>
              <a:t>«Iets te eten erbij?»</a:t>
            </a:r>
            <a:endParaRPr lang="en-US" sz="2200" dirty="0"/>
          </a:p>
          <a:p>
            <a:pPr indent="0" marL="0">
              <a:spcAft>
                <a:spcPts val="800"/>
              </a:spcAft>
              <a:buNone/>
            </a:pPr>
            <a:r>
              <a:rPr lang="en-US" sz="1200" dirty="0">
                <a:solidFill>
                  <a:schemeClr val="accent5"/>
                </a:solidFill>
              </a:rPr>
              <a:t>5  </a:t>
            </a:r>
            <a:r>
              <a:rPr lang="en-US" sz="2200" b="1" dirty="0">
                <a:solidFill>
                  <a:srgbClr val="D9700F"/>
                </a:solidFill>
              </a:rPr>
              <a:t>Emma :  </a:t>
            </a:r>
            <a:r>
              <a:rPr lang="en-US" sz="2200" dirty="0">
                <a:solidFill>
                  <a:schemeClr val="tx1"/>
                </a:solidFill>
              </a:rPr>
              <a:t>«Ja, graag. Een broodje kaas.»</a:t>
            </a:r>
            <a:endParaRPr lang="en-US" sz="2200" dirty="0"/>
          </a:p>
          <a:p>
            <a:pPr indent="0" marL="0">
              <a:spcAft>
                <a:spcPts val="800"/>
              </a:spcAft>
              <a:buNone/>
            </a:pPr>
            <a:r>
              <a:rPr lang="en-US" sz="1200" dirty="0">
                <a:solidFill>
                  <a:schemeClr val="accent5"/>
                </a:solidFill>
              </a:rPr>
              <a:t>6  </a:t>
            </a:r>
            <a:r>
              <a:rPr lang="en-US" sz="2200" b="1" dirty="0">
                <a:solidFill>
                  <a:schemeClr val="accent2"/>
                </a:solidFill>
              </a:rPr>
              <a:t>Pieter :  </a:t>
            </a:r>
            <a:r>
              <a:rPr lang="en-US" sz="2200" dirty="0">
                <a:solidFill>
                  <a:schemeClr val="tx1"/>
                </a:solidFill>
              </a:rPr>
              <a:t>«En een stukje appeltaart. Hoeveel kost dat?»</a:t>
            </a:r>
            <a:endParaRPr lang="en-US" sz="2200" dirty="0"/>
          </a:p>
          <a:p>
            <a:pPr indent="0" marL="0">
              <a:spcAft>
                <a:spcPts val="800"/>
              </a:spcAft>
              <a:buNone/>
            </a:pPr>
            <a:r>
              <a:rPr lang="en-US" sz="1200" dirty="0">
                <a:solidFill>
                  <a:schemeClr val="accent5"/>
                </a:solidFill>
              </a:rPr>
              <a:t>7  </a:t>
            </a:r>
            <a:r>
              <a:rPr lang="en-US" sz="2200" b="1" dirty="0">
                <a:solidFill>
                  <a:srgbClr val="6E4A9E"/>
                </a:solidFill>
              </a:rPr>
              <a:t>Ober :  </a:t>
            </a:r>
            <a:r>
              <a:rPr lang="en-US" sz="2200" dirty="0">
                <a:solidFill>
                  <a:schemeClr val="tx1"/>
                </a:solidFill>
              </a:rPr>
              <a:t>«Een stukje taart kost vier euro.»</a:t>
            </a:r>
            <a:endParaRPr lang="en-US" sz="2200" dirty="0"/>
          </a:p>
          <a:p>
            <a:pPr indent="0" marL="0">
              <a:spcAft>
                <a:spcPts val="800"/>
              </a:spcAft>
              <a:buNone/>
            </a:pPr>
            <a:r>
              <a:rPr lang="en-US" sz="1200" dirty="0">
                <a:solidFill>
                  <a:schemeClr val="accent5"/>
                </a:solidFill>
              </a:rPr>
              <a:t>8  </a:t>
            </a:r>
            <a:r>
              <a:rPr lang="en-US" sz="2200" b="1" dirty="0">
                <a:solidFill>
                  <a:schemeClr val="accent2"/>
                </a:solidFill>
              </a:rPr>
              <a:t>Pieter :  </a:t>
            </a:r>
            <a:r>
              <a:rPr lang="en-US" sz="2200" dirty="0">
                <a:solidFill>
                  <a:schemeClr val="tx1"/>
                </a:solidFill>
              </a:rPr>
              <a:t>«Prima. Mag ik de rekening? Ik trakteer!»</a:t>
            </a:r>
            <a:endParaRPr lang="en-US" sz="2200" dirty="0"/>
          </a:p>
          <a:p>
            <a:pPr indent="0" marL="0">
              <a:spcAft>
                <a:spcPts val="800"/>
              </a:spcAft>
              <a:buNone/>
            </a:pPr>
            <a:r>
              <a:rPr lang="en-US" sz="1200" dirty="0">
                <a:solidFill>
                  <a:schemeClr val="accent5"/>
                </a:solidFill>
              </a:rPr>
              <a:t>9  </a:t>
            </a:r>
            <a:r>
              <a:rPr lang="en-US" sz="2200" b="1" dirty="0">
                <a:solidFill>
                  <a:srgbClr val="6E4A9E"/>
                </a:solidFill>
              </a:rPr>
              <a:t>Ober :  </a:t>
            </a:r>
            <a:r>
              <a:rPr lang="en-US" sz="2200" dirty="0">
                <a:solidFill>
                  <a:schemeClr val="tx1"/>
                </a:solidFill>
              </a:rPr>
              <a:t>«Natuurlijk. Dat is dan samen veertien euro.»</a:t>
            </a:r>
            <a:endParaRPr lang="en-US" sz="2200" dirty="0"/>
          </a:p>
          <a:p>
            <a:pPr indent="0" marL="0">
              <a:spcAft>
                <a:spcPts val="800"/>
              </a:spcAft>
              <a:buNone/>
            </a:pPr>
            <a:r>
              <a:rPr lang="en-US" sz="1200" dirty="0">
                <a:solidFill>
                  <a:schemeClr val="accent5"/>
                </a:solidFill>
              </a:rPr>
              <a:t>10  </a:t>
            </a:r>
            <a:r>
              <a:rPr lang="en-US" sz="2200" b="1" dirty="0">
                <a:solidFill>
                  <a:srgbClr val="D9700F"/>
                </a:solidFill>
              </a:rPr>
              <a:t>Emma :  </a:t>
            </a:r>
            <a:r>
              <a:rPr lang="en-US" sz="2200" dirty="0">
                <a:solidFill>
                  <a:schemeClr val="tx1"/>
                </a:solidFill>
              </a:rPr>
              <a:t>«Dank je wel, Pieter!»</a:t>
            </a:r>
            <a:endParaRPr lang="en-US" sz="2200" dirty="0"/>
          </a:p>
        </p:txBody>
      </p:sp>
      <p:pic>
        <p:nvPicPr>
          <p:cNvPr id="7" name="illustration" descr="Illustration du syllabus">    </p:cNvPr>
          <p:cNvPicPr>
            <a:picLocks noChangeAspect="1"/>
          </p:cNvPicPr>
          <p:nvPr/>
        </p:nvPicPr>
        <p:blipFill>
          <a:blip r:embed="rId1"/>
          <a:stretch>
            <a:fillRect/>
          </a:stretch>
        </p:blipFill>
        <p:spPr>
          <a:xfrm>
            <a:off x="8183880" y="1508760"/>
            <a:ext cx="3456432" cy="2304288"/>
          </a:xfrm>
          <a:prstGeom prst="rect">
            <a:avLst/>
          </a:prstGeom>
          <a:effectLst>
            <a:outerShdw sx="100000" sy="100000" kx="0" ky="0" algn="bl" rotWithShape="0" blurRad="101600" dist="25400" dir="3600000">
              <a:srgbClr val="000000">
                <a:alpha val="18000"/>
              </a:srgbClr>
            </a:outerShdw>
          </a:effectLst>
        </p:spPr>
      </p:pic>
      <p:sp>
        <p:nvSpPr>
          <p:cNvPr id="8" name="aside"/>
          <p:cNvSpPr/>
          <p:nvPr/>
        </p:nvSpPr>
        <p:spPr>
          <a:xfrm>
            <a:off x="8183880" y="4160520"/>
            <a:ext cx="3456432" cy="2130552"/>
          </a:xfrm>
          <a:prstGeom prst="roundRect">
            <a:avLst>
              <a:gd name="adj" fmla="val 3433"/>
            </a:avLst>
          </a:prstGeom>
          <a:solidFill>
            <a:schemeClr val="accent1">
              <a:alpha val="10000"/>
            </a:schemeClr>
          </a:solidFill>
          <a:ln w="12700">
            <a:solidFill>
              <a:schemeClr val="accent1">
                <a:alpha val="60000"/>
              </a:schemeClr>
            </a:solidFill>
            <a:prstDash val="solid"/>
          </a:ln>
        </p:spPr>
      </p:sp>
      <p:pic>
        <p:nvPicPr>
          <p:cNvPr id="9" name="Image 1" descr="preencoded.png">    </p:cNvPr>
          <p:cNvPicPr>
            <a:picLocks noChangeAspect="1"/>
          </p:cNvPicPr>
          <p:nvPr/>
        </p:nvPicPr>
        <p:blipFill>
          <a:blip r:embed="rId2"/>
          <a:stretch>
            <a:fillRect/>
          </a:stretch>
        </p:blipFill>
        <p:spPr>
          <a:xfrm>
            <a:off x="8366760" y="4343400"/>
            <a:ext cx="292608" cy="292608"/>
          </a:xfrm>
          <a:prstGeom prst="rect">
            <a:avLst/>
          </a:prstGeom>
        </p:spPr>
      </p:pic>
      <p:sp>
        <p:nvSpPr>
          <p:cNvPr id="10" name="Text 5"/>
          <p:cNvSpPr txBox="1"/>
          <p:nvPr/>
        </p:nvSpPr>
        <p:spPr>
          <a:xfrm>
            <a:off x="8750808" y="4315968"/>
            <a:ext cx="2724912" cy="347472"/>
          </a:xfrm>
          <a:prstGeom prst="rect">
            <a:avLst/>
          </a:prstGeom>
          <a:noFill/>
          <a:ln/>
        </p:spPr>
        <p:txBody>
          <a:bodyPr wrap="square" lIns="0" tIns="0" rIns="0" bIns="0" rtlCol="0" anchor="ctr"/>
          <a:lstStyle/>
          <a:p>
            <a:pPr indent="0" marL="0">
              <a:buNone/>
            </a:pPr>
            <a:r>
              <a:rPr lang="en-US" sz="1400" b="1" spc="100" kern="0" dirty="0">
                <a:solidFill>
                  <a:schemeClr val="accent1"/>
                </a:solidFill>
              </a:rPr>
              <a:t>PAR TROIS · 15 MIN</a:t>
            </a:r>
            <a:endParaRPr lang="en-US" sz="1400" dirty="0"/>
          </a:p>
        </p:txBody>
      </p:sp>
      <p:sp>
        <p:nvSpPr>
          <p:cNvPr id="11" name="Text 6"/>
          <p:cNvSpPr txBox="1"/>
          <p:nvPr/>
        </p:nvSpPr>
        <p:spPr>
          <a:xfrm>
            <a:off x="8348472" y="4754880"/>
            <a:ext cx="3127248" cy="1399032"/>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Lisez, puis </a:t>
            </a:r>
            <a:r>
              <a:rPr lang="en-US" sz="1800" b="1" dirty="0">
                <a:solidFill>
                  <a:schemeClr val="tx1"/>
                </a:solidFill>
              </a:rPr>
              <a:t>changez</a:t>
            </a:r>
            <a:r>
              <a:rPr lang="en-US" sz="1800" dirty="0">
                <a:solidFill>
                  <a:schemeClr val="tx1"/>
                </a:solidFill>
              </a:rPr>
              <a:t> les commandes.</a:t>
            </a:r>
            <a:endParaRPr lang="en-US" sz="1800" dirty="0"/>
          </a:p>
          <a:p>
            <a:pPr marL="177800" indent="-177800">
              <a:spcAft>
                <a:spcPts val="600"/>
              </a:spcAft>
              <a:buSzPct val="100000"/>
              <a:buChar char="•"/>
            </a:pPr>
            <a:r>
              <a:rPr lang="en-US" sz="1800" b="1" dirty="0">
                <a:solidFill>
                  <a:schemeClr val="tx1"/>
                </a:solidFill>
              </a:rPr>
              <a:t>Un diminutif</a:t>
            </a:r>
            <a:r>
              <a:rPr lang="en-US" sz="1800" dirty="0">
                <a:solidFill>
                  <a:schemeClr val="tx1"/>
                </a:solidFill>
              </a:rPr>
              <a:t> par personne !</a:t>
            </a:r>
            <a:endParaRPr lang="en-US" sz="1800" dirty="0"/>
          </a:p>
          <a:p>
            <a:pPr marL="177800" indent="-177800">
              <a:spcAft>
                <a:spcPts val="600"/>
              </a:spcAft>
              <a:buSzPct val="100000"/>
              <a:buChar char="•"/>
            </a:pPr>
            <a:r>
              <a:rPr lang="en-US" sz="1800" dirty="0">
                <a:solidFill>
                  <a:schemeClr val="tx1"/>
                </a:solidFill>
              </a:rPr>
              <a:t>Puis </a:t>
            </a:r>
            <a:r>
              <a:rPr lang="en-US" sz="1800" b="1" dirty="0">
                <a:solidFill>
                  <a:schemeClr val="tx1"/>
                </a:solidFill>
              </a:rPr>
              <a:t>changez de rôle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19 : </a:t>
            </a:r>
            <a:r>
              <a:rPr lang="en-US" sz="2400" b="1" i="1" dirty="0">
                <a:solidFill>
                  <a:schemeClr val="bg1"/>
                </a:solidFill>
                <a:latin typeface="+mj-lt" pitchFamily="34" charset="0"/>
                <a:ea typeface="+mj-lt" pitchFamily="34" charset="-122"/>
                <a:cs typeface="+mj-lt" pitchFamily="34" charset="-120"/>
              </a:rPr>
              <a:t>la grande synthèse</a:t>
            </a:r>
            <a:r>
              <a:rPr lang="en-US" sz="2400" i="1" dirty="0">
                <a:solidFill>
                  <a:schemeClr val="bg1"/>
                </a:solidFill>
                <a:latin typeface="+mj-lt" pitchFamily="34" charset="0"/>
                <a:ea typeface="+mj-lt" pitchFamily="34" charset="-122"/>
                <a:cs typeface="+mj-lt" pitchFamily="34" charset="-120"/>
              </a:rPr>
              <a:t>. Les 20 fiches de grammaire en un coup d’œil, un grand quiz, un jeu de rôle qui combine tout — et des conseils pour l’</a:t>
            </a:r>
            <a:r>
              <a:rPr lang="en-US" sz="2400" b="1" i="1" dirty="0">
                <a:solidFill>
                  <a:schemeClr val="bg1"/>
                </a:solidFill>
                <a:latin typeface="+mj-lt" pitchFamily="34" charset="0"/>
                <a:ea typeface="+mj-lt" pitchFamily="34" charset="-122"/>
                <a:cs typeface="+mj-lt" pitchFamily="34" charset="-120"/>
              </a:rPr>
              <a:t>oral</a:t>
            </a:r>
            <a:r>
              <a:rPr lang="en-US" sz="2400" i="1" dirty="0">
                <a:solidFill>
                  <a:schemeClr val="bg1"/>
                </a:solidFill>
                <a:latin typeface="+mj-lt" pitchFamily="34" charset="0"/>
                <a:ea typeface="+mj-lt" pitchFamily="34" charset="-122"/>
                <a:cs typeface="+mj-lt" pitchFamily="34" charset="-120"/>
              </a:rPr>
              <a:t>.</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Apprendre la </a:t>
            </a:r>
            <a:r>
              <a:rPr lang="en-US" sz="1700" b="1" dirty="0">
                <a:solidFill>
                  <a:schemeClr val="tx1"/>
                </a:solidFill>
              </a:rPr>
              <a:t>règle d’or</a:t>
            </a:r>
            <a:r>
              <a:rPr lang="en-US" sz="1700" dirty="0">
                <a:solidFill>
                  <a:schemeClr val="tx1"/>
                </a:solidFill>
              </a:rPr>
              <a:t> et les 4 terminaisons des diminutifs (p. 66).</a:t>
            </a:r>
            <a:endParaRPr lang="en-US" sz="1700" dirty="0"/>
          </a:p>
          <a:p>
            <a:pPr marL="190500" indent="-190500">
              <a:spcAft>
                <a:spcPts val="800"/>
              </a:spcAft>
              <a:buSzPct val="100000"/>
              <a:buChar char="•"/>
            </a:pPr>
            <a:r>
              <a:rPr lang="en-US" sz="1700" dirty="0">
                <a:solidFill>
                  <a:schemeClr val="tx1"/>
                </a:solidFill>
              </a:rPr>
              <a:t>Revoir les </a:t>
            </a:r>
            <a:r>
              <a:rPr lang="en-US" sz="1700" b="1" dirty="0">
                <a:solidFill>
                  <a:schemeClr val="tx1"/>
                </a:solidFill>
              </a:rPr>
              <a:t>30 mots</a:t>
            </a:r>
            <a:r>
              <a:rPr lang="en-US" sz="1700" dirty="0">
                <a:solidFill>
                  <a:schemeClr val="tx1"/>
                </a:solidFill>
              </a:rPr>
              <a:t> Eten &amp; drinken et Boodschappen (p. 81–82) avec de / het.</a:t>
            </a:r>
            <a:endParaRPr lang="en-US" sz="1700" dirty="0"/>
          </a:p>
          <a:p>
            <a:pPr marL="190500" indent="-190500">
              <a:spcAft>
                <a:spcPts val="800"/>
              </a:spcAft>
              <a:buSzPct val="100000"/>
              <a:buChar char="•"/>
            </a:pPr>
            <a:r>
              <a:rPr lang="en-US" sz="1700" dirty="0">
                <a:solidFill>
                  <a:schemeClr val="tx1"/>
                </a:solidFill>
              </a:rPr>
              <a:t>Écrire votre </a:t>
            </a:r>
            <a:r>
              <a:rPr lang="en-US" sz="1700" b="1" dirty="0">
                <a:solidFill>
                  <a:schemeClr val="tx1"/>
                </a:solidFill>
              </a:rPr>
              <a:t>liste de courses</a:t>
            </a:r>
            <a:r>
              <a:rPr lang="en-US" sz="1700" dirty="0">
                <a:solidFill>
                  <a:schemeClr val="tx1"/>
                </a:solidFill>
              </a:rPr>
              <a:t> (6 produits avec quantité) et un mini-dialogue au marché.</a:t>
            </a:r>
            <a:endParaRPr lang="en-US" sz="1700" dirty="0"/>
          </a:p>
          <a:p>
            <a:pPr marL="190500" indent="-190500">
              <a:spcAft>
                <a:spcPts val="800"/>
              </a:spcAft>
              <a:buSzPct val="100000"/>
              <a:buChar char="•"/>
            </a:pPr>
            <a:r>
              <a:rPr lang="en-US" sz="1700" dirty="0">
                <a:solidFill>
                  <a:schemeClr val="tx1"/>
                </a:solidFill>
              </a:rPr>
              <a:t>Relire les </a:t>
            </a:r>
            <a:r>
              <a:rPr lang="en-US" sz="1700" b="1" dirty="0">
                <a:solidFill>
                  <a:schemeClr val="tx1"/>
                </a:solidFill>
              </a:rPr>
              <a:t>10 fiches</a:t>
            </a:r>
            <a:r>
              <a:rPr lang="en-US" sz="1700" dirty="0">
                <a:solidFill>
                  <a:schemeClr val="tx1"/>
                </a:solidFill>
              </a:rPr>
              <a:t> de mise en situation (p. 92–100b).</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Commandez au café pour vous et votre voisin, avec </a:t>
            </a:r>
            <a:r>
              <a:rPr lang="en-US" sz="1600" b="1" dirty="0">
                <a:solidFill>
                  <a:schemeClr val="bg1"/>
                </a:solidFill>
              </a:rPr>
              <a:t>deux diminutifs</a:t>
            </a:r>
            <a:r>
              <a:rPr lang="en-US" sz="1600" dirty="0">
                <a:solidFill>
                  <a:schemeClr val="bg1"/>
                </a:solidFill>
              </a:rPr>
              <a:t> et une question sur le </a:t>
            </a:r>
            <a:r>
              <a:rPr lang="en-US" sz="1600" b="1" dirty="0">
                <a:solidFill>
                  <a:schemeClr val="bg1"/>
                </a:solidFill>
              </a:rPr>
              <a:t>prix</a:t>
            </a:r>
            <a:r>
              <a:rPr lang="en-US" sz="1600" dirty="0">
                <a:solidFill>
                  <a:schemeClr val="bg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Nederlands in situatie">
  <a:themeElements>
    <a:clrScheme name="Nederlands in situatie">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in situat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IRAM — Néerlandais 2 (UE2)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18 — Op de markt</dc:title>
  <dc:subject>Néerlandais en situation appliqué à l’enseignement supérieur</dc:subject>
  <dc:creator>A. Jouniaux</dc:creator>
  <cp:lastModifiedBy>A. Jouniaux</cp:lastModifiedBy>
  <cp:revision>1</cp:revision>
  <dcterms:created xsi:type="dcterms:W3CDTF">2026-10-03T21:06:39Z</dcterms:created>
  <dcterms:modified xsi:type="dcterms:W3CDTF">2026-10-03T21:06:39Z</dcterms:modified>
</cp:coreProperties>
</file>