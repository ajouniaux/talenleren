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23db6cc-6a8d-3d78-8fac-fffb5705b11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ôture" id="{36010710-3238-6f2c-ab3a-9e512f29302a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17. Objectifs : former l’imparfait néerlandais (OVT) des verbes réguliers avec ’t kofschip et apprendre les verbes irréguliers indispensables (fiche A2-03, p. 70), apprendre le vocabulaire du corps et de la santé (thème 06, p. 83), puis raconter un examen en combinant perfectum et OVT (fiche 10, p. 100b). Image de couverture : Emma et Pieter révisent (« Ik leer grammatica! » / « Nederlands is leuk.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fiche de grammaire (OVT) prépare directement la fiche 10 : on raconte un examen avec le perfectum (ce que j’ai fait : Ik heb gestudeerd) et l’OVT (comment c’était : Het was moeilijk, ik was zenuwachtig). Le vocabulaire de la santé se relie au récit (Ik had hoofdpijn voor het examen…). Si le temps manque, le bonus « Ik heb pijn » se fait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fiche A2-05 (iemand · niets), de la fiche 7 (se présenter dans l’entreprise) et du vocabulaire Werk &amp; bedrijf. Interroger un étudiant par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5 « In welke afdeling werk je? » ; 6 « …want we zijn een team » ou « want we werken samen ». Transition : « Hier, qu’avez-vous fait ? Comment c’était ? » → pour raconter, il faut le passé : perfectum (séance 14) et aujourd’hui l’imparfait, la OVT.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A de la fiche A2-03. Faire épeler « ’t kofschip » : toutes les consonnes « sourdes ». Le radical s’écrit comme à la 1re personne du présent : spelen → ik speel → ik speelde. Coquille du livret : « speelen → ik speelde » → l’infinitif est « spelen » (un seul e). Double consonne possible : praten → ik praatte, antwoorden → ik antwoordde (on entend une seule consonne). Le titre de la fiche est « De OVT » (onvoltooid verleden tijd) ; le sommaire de la section 2 (avant la p. 58) l’appelle « L’imparfait — imperfectum » et la numérote 02 : c’est la fiche A2-03.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B de la fiche (illustrations du livret : Emma, le gsm, la gare, les frites, le café, le journal). Faire lire en chœur : was – waren, had – hadden… Le livret dit « verbes forts » ; zijn et hebben sont plutôt « irréguliers », mais l’essentiel est de les apprendre par cœur. Autres verbes très utiles : doen → deed / deden, zien → zag / zagen, krijgen → kreeg / kregen, kunnen → kon / konden, moeten → moest / moesten.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simple pour le niveau A2 : on pose les questions et on annonce les faits au perfectum ; on décrit le décor, les sentiments et on enchaîne une histoire à l’OVT. Les deux sont souvent possibles ; la fiche 10 mélange les deux (J’ai bien préparé… parce que j’étais nerveux).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A2-03. Remarque : 5 (kopen) et 6 (komen) sont irréguliers alors que la règle du livret porte sur les verbes réguliers ; ils ne figurent pas dans la liste B : on les a ajoutés au tableau des irréguliers (diapositive précédente).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Corriger en faisant dire la méthode à voix haute : « koken → kook → k est dans ’t kofschip → kookte ». Erreurs attendues : « reisten » (on regarde le z de l’infinitif), « koopte », « komden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un petit récit qui prépare la fiche 10. Après correction, faire relire le texte à voix haute comme une histoire. Remarquer la dernière phrase : la citation directe « Het is gelukt! » reste au présent / perfectum.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un petit récit qui prépare la fiche 10. Après correction, faire relire le texte à voix haute comme une histoire. Remarquer la dernière phrase : la citation directe « Het is gelukt! » reste au présent / perfectum.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: les étudiants donnent le mot AVEC l’article. Montrer sur soi (hoofd, oog, neus…) et faire répéter. Jeu rapide possible : « Wijs naar je neus! Wijs naar je oor! » (impératif, séance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mots en het : hoofd, oog, oor, been, ziekenhuis (het huis). Pluriels utiles : ogen, oren, benen, handen, voeten, armen. « de medicijnen » est un pluriel (singulier : het medicijn). En Belgique, on entend aussi « de huisarts » (le médecin généraliste) et « de geneesheer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du vocabulaire de la santé avec l’OVT (phrase 6). Le français dit « j’ai mal à LA tête », le néerlandais « aan MIJN hoofd ». Variantes acceptables : 1 « Ik heb pijn aan mijn hoofd » ; 3 « Ze heeft pijn aan de voet » est entendu, mais le possessif est la norme ; 5 « in de apotheek ». Mots composés utiles : hoofdpijn, buikpijn, keelpijn (la gorge), oorpijn, tandpijn.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du vocabulaire de la santé avec l’OVT (phrase 6). Le français dit « j’ai mal à LA tête », le néerlandais « aan MIJN hoofd ». Variantes acceptables : 1 « Ik heb pijn aan mijn hoofd » ; 3 « Ze heeft pijn aan de voet » est entendu, mais le possessif est la norme ; 5 « in de apotheek ». Mots composés utiles : hoofdpijn, buikpijn, keelpijn (la gorge), oorpijn, tandpijn.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: Emma et Pieter révisent les articles (« Ik leer grammatica! » / « Nederlands is leuk. »), illustration de la section Grammaire du livret. Faire produire des hypothèses : « Emma was zenuwachtig. Ze heeft veel gestudeerd. » Coquille du livret : le sommaire de la section 4 (avant la p. 92) annonce comme fiche 10 « Au guichet administratif — aan het loket » ; la vraie fiche 10 (p. 100b) est « Raconter son examen ». Le bandeau de photos de la fiche (pharmacie, marché, bus…) est un bandeau général de la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Vocabulaire du livret : Jalon 1 = studeren, komen, halen, moeilijk, makkelijk, gelukt, het examen, het resultaat ; Jalon 2 = voorbereiden, oefenen, zenuwachtig, tevreden, trots, in het begin. Ajouts utiles : de test, de opleiding (= la formation : faux-ami de « de formatie », séance 14), slagen (ik ben geslaagd). En Belgique, on dit aussi « fier op » pour trots op. « Een examen halen » = réussir un examen ; « Het is (me) gelukt » = j’ai réussi (ça a marché).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du livret (phrase 4) : type « N » pour une phrase interrogative sans négation. On traduit la phrase telle qu’elle est écrite ; pour travailler la négation, faire aussi produire « Het examen was niet makkelijk » ou « Was het examen niet makkelijk?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Heb je veel voor het examen gestudeerd? » (en Belgique aussi « veel geleerd ») ; 2 « …naar de les / naar de cursus gekomen? » ; 3 « Is het gelukt? » ou « Ben je geslaagd? » — « hem » remplace « de test » (séance 13) ; 4 « Was het examen gemakkelijk? » ; 5 « Ben ik geslaagd? » ou « Is het me gelukt? ». Phrase 2 : T avant P (gisteren → naar de opleiding).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5 : « nu » (maintenant que) est ici une conjonction comme omdat : le verbe va à la fin (gelukt is), puis inversion dans la principale (ben ik).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Ik heb gisteravond mijn examen goed voorbereid » ; 2 « Ik heb veel geoefend met mijn collega’s, want ik was zenuwachtig » ; 3 « In het begin had ik helemaal geen zelfvertrouwen » ; 4 « tevreden met het resultaat » ; 5 « Nu alles gelukt is, ben ik fier op ons » (belge). Refuser « voorgebereid », « omdat ik was zenuwachtig », « ik ben trots van ons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produire d’autres phrases sur le même modèle : « Omdat ik zenuwachtig was, heb ik veel geoefend. » · « Nu het examen voorbij is, ga ik op vakantie. » Rappeler que la subordonnée en tête occupe la position 1 (séance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Modèles plus longs à encourager : « Het was moeilijk, maar ik ben tevreden. » · « Ja, ik heb elke avond geoefend. » · « In het begin wel, omdat ik weinig tijd had. » · « Proficiat! Goed gedaan! ». Variante : A n’a pas réussi (Het is niet gelukt… Ik had hoofdpijn…) et B le console : « Jammer! Volgende keer lukt het wel. » Réutiliser le vocabulaire de la santé. Les observateurs (groupes de trois) cochent les critères.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de ticket de sortie : « Ik heb veel gestudeerd. In het begin was ik zenuwachtig. Ik ben tevreden, omdat ik het examen gehaald heb.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image" Target="../media/image-12-10.jpg"/><Relationship Id="rId11" Type="http://schemas.openxmlformats.org/officeDocument/2006/relationships/image" Target="../media/image-12-11.jpg"/><Relationship Id="rId12" Type="http://schemas.openxmlformats.org/officeDocument/2006/relationships/image" Target="../media/image-12-12.jpg"/><Relationship Id="rId13" Type="http://schemas.openxmlformats.org/officeDocument/2006/relationships/image" Target="../media/image-12-13.jpg"/><Relationship Id="rId14" Type="http://schemas.openxmlformats.org/officeDocument/2006/relationships/image" Target="../media/image-12-14.jpg"/><Relationship Id="rId15" Type="http://schemas.openxmlformats.org/officeDocument/2006/relationships/image" Target="../media/image-12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image" Target="../media/image-13-8.jpg"/><Relationship Id="rId9" Type="http://schemas.openxmlformats.org/officeDocument/2006/relationships/image" Target="../media/image-13-9.jpg"/><Relationship Id="rId10" Type="http://schemas.openxmlformats.org/officeDocument/2006/relationships/image" Target="../media/image-13-10.jpg"/><Relationship Id="rId11" Type="http://schemas.openxmlformats.org/officeDocument/2006/relationships/image" Target="../media/image-13-11.jpg"/><Relationship Id="rId12" Type="http://schemas.openxmlformats.org/officeDocument/2006/relationships/image" Target="../media/image-13-12.jpg"/><Relationship Id="rId13" Type="http://schemas.openxmlformats.org/officeDocument/2006/relationships/image" Target="../media/image-13-13.jpg"/><Relationship Id="rId14" Type="http://schemas.openxmlformats.org/officeDocument/2006/relationships/image" Target="../media/image-13-14.jpg"/><Relationship Id="rId15" Type="http://schemas.openxmlformats.org/officeDocument/2006/relationships/image" Target="../media/image-13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17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Mijn examen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Raconter son examen — l’imparfait (OVT), la santé et le corps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 — Fiche 10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70 · 83 · 100b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73387"/>
            <a:ext cx="5120640" cy="291122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70 · 83 · 100b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Raconter un </a:t>
            </a:r>
            <a:r>
              <a:rPr lang="en-US" sz="1700" b="1" dirty="0">
                <a:solidFill>
                  <a:schemeClr val="tx1"/>
                </a:solidFill>
              </a:rPr>
              <a:t>examen</a:t>
            </a:r>
            <a:r>
              <a:rPr lang="en-US" sz="1700" dirty="0">
                <a:solidFill>
                  <a:schemeClr val="tx1"/>
                </a:solidFill>
              </a:rPr>
              <a:t> (ou un événement passé) : ce que j’ai fait, comment c’était, ce que j’ai ressenti — et dire où j’ai </a:t>
            </a:r>
            <a:r>
              <a:rPr lang="en-US" sz="1700" b="1" dirty="0">
                <a:solidFill>
                  <a:schemeClr val="tx1"/>
                </a:solidFill>
              </a:rPr>
              <a:t>mal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werkte · ik speelde · ik was · ik had · ik ging — Heb je het examen gehaald? · In het begin was ik zenuwachtig. · Ik heb hoofdpijn.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Former l’OVT avec ’t kofschip · choisir perfectum ou OVT · nommer le corps et la santé · raconter avec omdat et nu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288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28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Échauffement : la séance 16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4216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421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672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OVT : règle et verbes irréguliers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672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9143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914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8600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Perfectum ou OVT ?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8600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4071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40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3528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Oefening + bonus OVT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3528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8999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899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84556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Gezondheid (p. 83) + bonus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84556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3926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39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3383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Fiche 10 : vocabulaire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3383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8854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885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8310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Jalon 1 · Jalon 2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8310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3781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37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3238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Phrase-clé · jeu de rôle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3238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8709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870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8166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Bilan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8166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16 en sept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ou traduisez, puis lisez à voix haute.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Is er iemand thuis? — Nee, er is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thuis.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Ik zoek mijn sleutel, maar ik vind hem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rien de spécial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Es-tu nouveau ici ?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Dans quel service travailles-tu ?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Je ne travaille pas seul, car nous formons une équipe.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l’ordinateur · la réunion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16 en sept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ou traduisez, puis lisez à voix haute.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Is er iemand thuis? — Nee, er is </a:t>
            </a:r>
            <a:r>
              <a:rPr lang="en-US" sz="2100" b="1" dirty="0">
                <a:solidFill>
                  <a:schemeClr val="accent3"/>
                </a:solidFill>
              </a:rPr>
              <a:t>niemand</a:t>
            </a:r>
            <a:r>
              <a:rPr lang="en-US" sz="2100" dirty="0">
                <a:solidFill>
                  <a:schemeClr val="tx1"/>
                </a:solidFill>
              </a:rPr>
              <a:t> thuis.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Ik zoek mijn sleutel, maar ik vind hem </a:t>
            </a:r>
            <a:r>
              <a:rPr lang="en-US" sz="2100" b="1" dirty="0">
                <a:solidFill>
                  <a:schemeClr val="accent3"/>
                </a:solidFill>
              </a:rPr>
              <a:t>nergens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rien de spécial → </a:t>
            </a:r>
            <a:r>
              <a:rPr lang="en-US" sz="2100" b="1" dirty="0">
                <a:solidFill>
                  <a:schemeClr val="accent3"/>
                </a:solidFill>
              </a:rPr>
              <a:t>niets bijzonders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Es-tu nouveau ici ? → </a:t>
            </a:r>
            <a:r>
              <a:rPr lang="en-US" sz="2100" b="1" dirty="0">
                <a:solidFill>
                  <a:schemeClr val="accent3"/>
                </a:solidFill>
              </a:rPr>
              <a:t>Ben je nieuw hier?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Dans quel service travailles-tu ? → </a:t>
            </a:r>
            <a:r>
              <a:rPr lang="en-US" sz="2100" b="1" dirty="0">
                <a:solidFill>
                  <a:schemeClr val="accent3"/>
                </a:solidFill>
              </a:rPr>
              <a:t>Op welke afdeling werk je?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Je ne travaille pas seul, car nous formons une équipe. → </a:t>
            </a:r>
            <a:r>
              <a:rPr lang="en-US" sz="2100" b="1" dirty="0">
                <a:solidFill>
                  <a:schemeClr val="accent3"/>
                </a:solidFill>
              </a:rPr>
              <a:t>Ik werk niet alleen, want we vormen een team.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l’ordinateur · la réunion → </a:t>
            </a:r>
            <a:r>
              <a:rPr lang="en-US" sz="2100" b="1" dirty="0">
                <a:solidFill>
                  <a:schemeClr val="accent3"/>
                </a:solidFill>
              </a:rPr>
              <a:t>de computer · de vergadering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 de double négation : </a:t>
            </a:r>
            <a:r>
              <a:rPr lang="en-US" sz="1800" i="1" dirty="0">
                <a:solidFill>
                  <a:schemeClr val="tx1"/>
                </a:solidFill>
              </a:rPr>
              <a:t>Ik zie </a:t>
            </a:r>
            <a:r>
              <a:rPr lang="en-US" sz="1800" b="1" i="1" dirty="0">
                <a:solidFill>
                  <a:schemeClr val="tx1"/>
                </a:solidFill>
              </a:rPr>
              <a:t>niemand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niet niemand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iets / niets</a:t>
            </a:r>
            <a:r>
              <a:rPr lang="en-US" sz="1800" dirty="0">
                <a:solidFill>
                  <a:schemeClr val="tx1"/>
                </a:solidFill>
              </a:rPr>
              <a:t> + adjectif + </a:t>
            </a:r>
            <a:r>
              <a:rPr lang="en-US" sz="1800" b="1" dirty="0">
                <a:solidFill>
                  <a:schemeClr val="tx1"/>
                </a:solidFill>
              </a:rPr>
              <a:t>-s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: ordre normal (</a:t>
            </a:r>
            <a:r>
              <a:rPr lang="en-US" sz="1800" i="1" dirty="0">
                <a:solidFill>
                  <a:schemeClr val="tx1"/>
                </a:solidFill>
              </a:rPr>
              <a:t>want we vormen…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OVT : l’imparfait des verbes réguliers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Prenez le </a:t>
            </a:r>
            <a:r>
              <a:rPr lang="en-US" sz="1800" b="1" dirty="0">
                <a:solidFill>
                  <a:schemeClr val="tx1"/>
                </a:solidFill>
              </a:rPr>
              <a:t>radical</a:t>
            </a:r>
            <a:r>
              <a:rPr lang="en-US" sz="1800" dirty="0">
                <a:solidFill>
                  <a:schemeClr val="tx1"/>
                </a:solidFill>
              </a:rPr>
              <a:t> (infinitif − </a:t>
            </a:r>
            <a:r>
              <a:rPr lang="en-US" sz="1800" i="1" dirty="0">
                <a:solidFill>
                  <a:schemeClr val="tx1"/>
                </a:solidFill>
              </a:rPr>
              <a:t>en</a:t>
            </a:r>
            <a:r>
              <a:rPr lang="en-US" sz="1800" dirty="0">
                <a:solidFill>
                  <a:schemeClr val="tx1"/>
                </a:solidFill>
              </a:rPr>
              <a:t>) et regardez sa </a:t>
            </a:r>
            <a:r>
              <a:rPr lang="en-US" sz="1800" b="1" dirty="0">
                <a:solidFill>
                  <a:schemeClr val="tx1"/>
                </a:solidFill>
              </a:rPr>
              <a:t>dernière lettre</a:t>
            </a:r>
            <a:r>
              <a:rPr lang="en-US" sz="1800" dirty="0">
                <a:solidFill>
                  <a:schemeClr val="tx1"/>
                </a:solidFill>
              </a:rPr>
              <a:t> : est-elle dans </a:t>
            </a:r>
            <a:r>
              <a:rPr lang="en-US" sz="1800" b="1" dirty="0">
                <a:solidFill>
                  <a:schemeClr val="tx1"/>
                </a:solidFill>
              </a:rPr>
              <a:t>’t kofschip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’T KOFSCHIP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 · k · f · s · ch · p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35300"/>
            <a:ext cx="3148584" cy="221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 radical finit par </a:t>
            </a:r>
            <a:r>
              <a:rPr lang="en-US" sz="2000" b="1" dirty="0">
                <a:solidFill>
                  <a:schemeClr val="tx1"/>
                </a:solidFill>
              </a:rPr>
              <a:t>t, k, f, s, ch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b="1" dirty="0">
                <a:solidFill>
                  <a:schemeClr val="tx1"/>
                </a:solidFill>
              </a:rPr>
              <a:t>p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Oui → </a:t>
            </a:r>
            <a:r>
              <a:rPr lang="en-US" sz="2000" b="1" dirty="0">
                <a:solidFill>
                  <a:schemeClr val="tx1"/>
                </a:solidFill>
              </a:rPr>
              <a:t>-te</a:t>
            </a:r>
            <a:r>
              <a:rPr lang="en-US" sz="2000" dirty="0">
                <a:solidFill>
                  <a:schemeClr val="tx1"/>
                </a:solidFill>
              </a:rPr>
              <a:t> · pluriel </a:t>
            </a:r>
            <a:r>
              <a:rPr lang="en-US" sz="2000" b="1" dirty="0">
                <a:solidFill>
                  <a:schemeClr val="tx1"/>
                </a:solidFill>
              </a:rPr>
              <a:t>-ten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Non → </a:t>
            </a:r>
            <a:r>
              <a:rPr lang="en-US" sz="2000" b="1" dirty="0">
                <a:solidFill>
                  <a:schemeClr val="tx1"/>
                </a:solidFill>
              </a:rPr>
              <a:t>-de</a:t>
            </a:r>
            <a:r>
              <a:rPr lang="en-US" sz="2000" dirty="0">
                <a:solidFill>
                  <a:schemeClr val="tx1"/>
                </a:solidFill>
              </a:rPr>
              <a:t> · pluriel </a:t>
            </a:r>
            <a:r>
              <a:rPr lang="en-US" sz="2000" b="1" dirty="0">
                <a:solidFill>
                  <a:schemeClr val="tx1"/>
                </a:solidFill>
              </a:rPr>
              <a:t>-den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37304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5" name="Shape 12"/>
          <p:cNvSpPr/>
          <p:nvPr/>
        </p:nvSpPr>
        <p:spPr>
          <a:xfrm>
            <a:off x="4337304" y="2267712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0184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-TE / -TEN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551176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werk</a:t>
            </a: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</a:t>
            </a: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· wij werk</a:t>
            </a: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ten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520184" y="3035300"/>
            <a:ext cx="3148584" cy="221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werken → </a:t>
            </a:r>
            <a:r>
              <a:rPr lang="en-US" sz="2000" b="1" dirty="0">
                <a:solidFill>
                  <a:schemeClr val="tx1"/>
                </a:solidFill>
              </a:rPr>
              <a:t>werk</a:t>
            </a:r>
            <a:r>
              <a:rPr lang="en-US" sz="2000" dirty="0">
                <a:solidFill>
                  <a:schemeClr val="tx1"/>
                </a:solidFill>
              </a:rPr>
              <a:t> : k ∈ ’t kofschip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koken → ik kookte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maken → hij maakte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lachen → zij lachte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125968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25968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5968" y="2267712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8848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-DE / -DEN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551176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speel</a:t>
            </a: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</a:t>
            </a: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· wij speel</a:t>
            </a: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den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8308848" y="3035300"/>
            <a:ext cx="3148584" cy="221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spelen → </a:t>
            </a:r>
            <a:r>
              <a:rPr lang="en-US" sz="2000" b="1" dirty="0">
                <a:solidFill>
                  <a:schemeClr val="tx1"/>
                </a:solidFill>
              </a:rPr>
              <a:t>speel</a:t>
            </a:r>
            <a:r>
              <a:rPr lang="en-US" sz="2000" dirty="0">
                <a:solidFill>
                  <a:schemeClr val="tx1"/>
                </a:solidFill>
              </a:rPr>
              <a:t> : l ∉ ’t kofschip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wonen → ik woonde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leren → hij leerde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oefenen → wij oefenden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— </a:t>
            </a:r>
            <a:r>
              <a:rPr lang="en-US" sz="1700" dirty="0">
                <a:solidFill>
                  <a:schemeClr val="tx1"/>
                </a:solidFill>
              </a:rPr>
              <a:t>Infinitif en </a:t>
            </a:r>
            <a:r>
              <a:rPr lang="en-US" sz="1700" b="1" dirty="0">
                <a:solidFill>
                  <a:schemeClr val="tx1"/>
                </a:solidFill>
              </a:rPr>
              <a:t>-zen</a:t>
            </a:r>
            <a:r>
              <a:rPr lang="en-US" sz="1700" dirty="0">
                <a:solidFill>
                  <a:schemeClr val="tx1"/>
                </a:solidFill>
              </a:rPr>
              <a:t> ou </a:t>
            </a:r>
            <a:r>
              <a:rPr lang="en-US" sz="1700" b="1" dirty="0">
                <a:solidFill>
                  <a:schemeClr val="tx1"/>
                </a:solidFill>
              </a:rPr>
              <a:t>-ven</a:t>
            </a:r>
            <a:r>
              <a:rPr lang="en-US" sz="1700" dirty="0">
                <a:solidFill>
                  <a:schemeClr val="tx1"/>
                </a:solidFill>
              </a:rPr>
              <a:t> : on regarde le </a:t>
            </a:r>
            <a:r>
              <a:rPr lang="en-US" sz="1700" b="1" dirty="0">
                <a:solidFill>
                  <a:schemeClr val="tx1"/>
                </a:solidFill>
              </a:rPr>
              <a:t>z</a:t>
            </a:r>
            <a:r>
              <a:rPr lang="en-US" sz="1700" dirty="0">
                <a:solidFill>
                  <a:schemeClr val="tx1"/>
                </a:solidFill>
              </a:rPr>
              <a:t> ou le </a:t>
            </a:r>
            <a:r>
              <a:rPr lang="en-US" sz="1700" b="1" dirty="0">
                <a:solidFill>
                  <a:schemeClr val="tx1"/>
                </a:solidFill>
              </a:rPr>
              <a:t>v</a:t>
            </a:r>
            <a:r>
              <a:rPr lang="en-US" sz="1700" dirty="0">
                <a:solidFill>
                  <a:schemeClr val="tx1"/>
                </a:solidFill>
              </a:rPr>
              <a:t> de l’infinitif → </a:t>
            </a:r>
            <a:r>
              <a:rPr lang="en-US" sz="1700" b="1" dirty="0">
                <a:solidFill>
                  <a:schemeClr val="tx1"/>
                </a:solidFill>
              </a:rPr>
              <a:t>-de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reizen → wij </a:t>
            </a:r>
            <a:r>
              <a:rPr lang="en-US" sz="1700" b="1" i="1" dirty="0">
                <a:solidFill>
                  <a:schemeClr val="tx1"/>
                </a:solidFill>
              </a:rPr>
              <a:t>reisden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reisten</a:t>
            </a:r>
            <a:r>
              <a:rPr lang="en-US" sz="1700" dirty="0">
                <a:solidFill>
                  <a:schemeClr val="tx1"/>
                </a:solidFill>
              </a:rPr>
              <a:t>) · </a:t>
            </a:r>
            <a:r>
              <a:rPr lang="en-US" sz="1700" i="1" dirty="0">
                <a:solidFill>
                  <a:schemeClr val="tx1"/>
                </a:solidFill>
              </a:rPr>
              <a:t>leven → ik </a:t>
            </a:r>
            <a:r>
              <a:rPr lang="en-US" sz="1700" b="1" i="1" dirty="0">
                <a:solidFill>
                  <a:schemeClr val="tx1"/>
                </a:solidFill>
              </a:rPr>
              <a:t>leefde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 verbes irréguliers indispensables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La </a:t>
            </a:r>
            <a:r>
              <a:rPr lang="en-US" sz="1600" b="1" i="1" dirty="0">
                <a:solidFill>
                  <a:schemeClr val="accent5"/>
                </a:solidFill>
              </a:rPr>
              <a:t>voyelle change</a:t>
            </a:r>
            <a:r>
              <a:rPr lang="en-US" sz="1600" i="1" dirty="0">
                <a:solidFill>
                  <a:schemeClr val="accent5"/>
                </a:solidFill>
              </a:rPr>
              <a:t>. Une forme pour </a:t>
            </a:r>
            <a:r>
              <a:rPr lang="en-US" sz="1600" b="1" i="1" dirty="0">
                <a:solidFill>
                  <a:schemeClr val="accent5"/>
                </a:solidFill>
              </a:rPr>
              <a:t>ik, jij, u, hij, zij</a:t>
            </a:r>
            <a:r>
              <a:rPr lang="en-US" sz="1600" i="1" dirty="0">
                <a:solidFill>
                  <a:schemeClr val="accent5"/>
                </a:solidFill>
              </a:rPr>
              <a:t> (singulier), une forme pour </a:t>
            </a:r>
            <a:r>
              <a:rPr lang="en-US" sz="1600" b="1" i="1" dirty="0">
                <a:solidFill>
                  <a:schemeClr val="accent5"/>
                </a:solidFill>
              </a:rPr>
              <a:t>wij, jullie, zij</a:t>
            </a:r>
            <a:r>
              <a:rPr lang="en-US" sz="1600" i="1" dirty="0">
                <a:solidFill>
                  <a:schemeClr val="accent5"/>
                </a:solidFill>
              </a:rPr>
              <a:t> (pluriel).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103120"/>
                <a:gridCol w="5148072"/>
              </a:tblGrid>
              <a:tr h="4864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INFINITIF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SINGULIER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PLURIEL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VOORBEELD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zijn · être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waren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Gisteren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ik moe.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hebben · avoir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had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hadden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Vorige week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had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ik een examen.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gaan · aller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gingen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gingen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samen naar Gent.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eten · manger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aten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frieten.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drinken · boire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dronk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dronken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Pieter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dronk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een koffie.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lezen · lire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las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lazen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Emma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de krant.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komen · venir (+)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kwam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kwamen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Jullie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kwamen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te laat.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kopen · acheter (+)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kocht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kochten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Mijn vader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kocht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brood.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(+) = ajouté au tableau du livret : ces deux verbes sont dans l’exercice. Le singulier ne prend </a:t>
            </a:r>
            <a:r>
              <a:rPr lang="en-US" sz="1500" b="1" i="1" dirty="0">
                <a:solidFill>
                  <a:schemeClr val="accent5"/>
                </a:solidFill>
              </a:rPr>
              <a:t>jamais</a:t>
            </a:r>
            <a:r>
              <a:rPr lang="en-US" sz="1500" i="1" dirty="0">
                <a:solidFill>
                  <a:schemeClr val="accent5"/>
                </a:solidFill>
              </a:rPr>
              <a:t> de -t : </a:t>
            </a:r>
            <a:r>
              <a:rPr lang="en-US" sz="1500" i="1" dirty="0">
                <a:solidFill>
                  <a:schemeClr val="accent5"/>
                </a:solidFill>
              </a:rPr>
              <a:t>jij was · jij werkte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Perfectum ou OVT ? Raconter au passé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69–70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8249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PERFECTUM (séance 14)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fait </a:t>
            </a:r>
            <a:r>
              <a:rPr lang="en-US" sz="2000" b="1" dirty="0">
                <a:solidFill>
                  <a:schemeClr val="tx1"/>
                </a:solidFill>
              </a:rPr>
              <a:t>terminé</a:t>
            </a:r>
            <a:r>
              <a:rPr lang="en-US" sz="2000" dirty="0">
                <a:solidFill>
                  <a:schemeClr val="tx1"/>
                </a:solidFill>
              </a:rPr>
              <a:t>, dans une </a:t>
            </a:r>
            <a:r>
              <a:rPr lang="en-US" sz="2000" b="1" dirty="0">
                <a:solidFill>
                  <a:schemeClr val="tx1"/>
                </a:solidFill>
              </a:rPr>
              <a:t>conversation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Ik heb mijn examen gehaald.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Pour </a:t>
            </a:r>
            <a:r>
              <a:rPr lang="en-US" sz="2000" b="1" dirty="0">
                <a:solidFill>
                  <a:schemeClr val="tx1"/>
                </a:solidFill>
              </a:rPr>
              <a:t>demander</a:t>
            </a:r>
            <a:r>
              <a:rPr lang="en-US" sz="2000" dirty="0">
                <a:solidFill>
                  <a:schemeClr val="tx1"/>
                </a:solidFill>
              </a:rPr>
              <a:t> ce qui s’est passé : </a:t>
            </a:r>
            <a:r>
              <a:rPr lang="en-US" sz="2000" i="1" dirty="0">
                <a:solidFill>
                  <a:schemeClr val="tx1"/>
                </a:solidFill>
              </a:rPr>
              <a:t>Heb je veel gestudeerd?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Souvent = </a:t>
            </a:r>
            <a:r>
              <a:rPr lang="en-US" sz="2000" b="1" dirty="0">
                <a:solidFill>
                  <a:schemeClr val="tx1"/>
                </a:solidFill>
              </a:rPr>
              <a:t>passé composé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j’ai préparé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i="1" dirty="0">
                <a:solidFill>
                  <a:schemeClr val="tx1"/>
                </a:solidFill>
              </a:rPr>
              <a:t>ik heb voorbereid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14516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6824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46036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OVT (p. 70)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643116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Une </a:t>
            </a:r>
            <a:r>
              <a:rPr lang="en-US" sz="2000" b="1" dirty="0">
                <a:solidFill>
                  <a:schemeClr val="tx1"/>
                </a:solidFill>
              </a:rPr>
              <a:t>situation</a:t>
            </a:r>
            <a:r>
              <a:rPr lang="en-US" sz="2000" dirty="0">
                <a:solidFill>
                  <a:schemeClr val="tx1"/>
                </a:solidFill>
              </a:rPr>
              <a:t>, un état, une émotion : </a:t>
            </a:r>
            <a:r>
              <a:rPr lang="en-US" sz="2000" i="1" dirty="0">
                <a:solidFill>
                  <a:schemeClr val="tx1"/>
                </a:solidFill>
              </a:rPr>
              <a:t>Ik was zenuwachtig.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Une </a:t>
            </a:r>
            <a:r>
              <a:rPr lang="en-US" sz="2000" b="1" dirty="0">
                <a:solidFill>
                  <a:schemeClr val="tx1"/>
                </a:solidFill>
              </a:rPr>
              <a:t>histoire</a:t>
            </a:r>
            <a:r>
              <a:rPr lang="en-US" sz="2000" dirty="0">
                <a:solidFill>
                  <a:schemeClr val="tx1"/>
                </a:solidFill>
              </a:rPr>
              <a:t>, une suite d’actions : </a:t>
            </a:r>
            <a:r>
              <a:rPr lang="en-US" sz="2000" i="1" dirty="0">
                <a:solidFill>
                  <a:schemeClr val="tx1"/>
                </a:solidFill>
              </a:rPr>
              <a:t>We gingen naar het café en we dronken koffie.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Souvent = </a:t>
            </a:r>
            <a:r>
              <a:rPr lang="en-US" sz="2000" b="1" dirty="0">
                <a:solidFill>
                  <a:schemeClr val="tx1"/>
                </a:solidFill>
              </a:rPr>
              <a:t>imparfait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c’était difficile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i="1" dirty="0">
                <a:solidFill>
                  <a:schemeClr val="tx1"/>
                </a:solidFill>
              </a:rPr>
              <a:t>het was moeilijk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838444" y="316687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838444" y="3166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Avec </a:t>
            </a:r>
            <a:r>
              <a:rPr lang="en-US" sz="1700" b="1" dirty="0">
                <a:solidFill>
                  <a:schemeClr val="tx1"/>
                </a:solidFill>
              </a:rPr>
              <a:t>zijn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b="1" dirty="0">
                <a:solidFill>
                  <a:schemeClr val="tx1"/>
                </a:solidFill>
              </a:rPr>
              <a:t>hebben</a:t>
            </a:r>
            <a:r>
              <a:rPr lang="en-US" sz="1700" dirty="0">
                <a:solidFill>
                  <a:schemeClr val="tx1"/>
                </a:solidFill>
              </a:rPr>
              <a:t>, le néerlandais préfère l’OVT même quand le français dit « j’ai été / j’ai eu » : </a:t>
            </a:r>
            <a:r>
              <a:rPr lang="en-US" sz="1700" i="1" dirty="0">
                <a:solidFill>
                  <a:schemeClr val="tx1"/>
                </a:solidFill>
              </a:rPr>
              <a:t>Hier, j’ai été malade.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Gisteren </a:t>
            </a:r>
            <a:r>
              <a:rPr lang="en-US" sz="1700" b="1" i="1" dirty="0">
                <a:solidFill>
                  <a:schemeClr val="tx1"/>
                </a:solidFill>
              </a:rPr>
              <a:t>was</a:t>
            </a:r>
            <a:r>
              <a:rPr lang="en-US" sz="1700" i="1" dirty="0">
                <a:solidFill>
                  <a:schemeClr val="tx1"/>
                </a:solidFill>
              </a:rPr>
              <a:t> ik ziek.</a:t>
            </a:r>
            <a:r>
              <a:rPr lang="en-US" sz="1700" dirty="0">
                <a:solidFill>
                  <a:schemeClr val="tx1"/>
                </a:solidFill>
              </a:rPr>
              <a:t> (plus naturel que </a:t>
            </a:r>
            <a:r>
              <a:rPr lang="en-US" sz="1700" i="1" dirty="0">
                <a:solidFill>
                  <a:schemeClr val="tx1"/>
                </a:solidFill>
              </a:rPr>
              <a:t>ben ik ziek geweest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schrijf de OVT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Écrivez la forme de l’imparfait (OVT).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koken </a:t>
            </a:r>
            <a:r>
              <a:rPr lang="en-US" sz="2400" i="1" dirty="0">
                <a:solidFill>
                  <a:schemeClr val="tx1"/>
                </a:solidFill>
              </a:rPr>
              <a:t>(ik)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reizen </a:t>
            </a:r>
            <a:r>
              <a:rPr lang="en-US" sz="2400" i="1" dirty="0">
                <a:solidFill>
                  <a:schemeClr val="tx1"/>
                </a:solidFill>
              </a:rPr>
              <a:t>(wij)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maken </a:t>
            </a:r>
            <a:r>
              <a:rPr lang="en-US" sz="2400" i="1" dirty="0">
                <a:solidFill>
                  <a:schemeClr val="tx1"/>
                </a:solidFill>
              </a:rPr>
              <a:t>(hij)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wonen </a:t>
            </a:r>
            <a:r>
              <a:rPr lang="en-US" sz="2400" i="1" dirty="0">
                <a:solidFill>
                  <a:schemeClr val="tx1"/>
                </a:solidFill>
              </a:rPr>
              <a:t>(zij, plur.)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kopen </a:t>
            </a:r>
            <a:r>
              <a:rPr lang="en-US" sz="2400" i="1" dirty="0">
                <a:solidFill>
                  <a:schemeClr val="tx1"/>
                </a:solidFill>
              </a:rPr>
              <a:t>(mijn vader)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komen </a:t>
            </a:r>
            <a:r>
              <a:rPr lang="en-US" sz="2400" i="1" dirty="0">
                <a:solidFill>
                  <a:schemeClr val="tx1"/>
                </a:solidFill>
              </a:rPr>
              <a:t>(jullie)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MÉTHODE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1. Radical : </a:t>
            </a:r>
            <a:r>
              <a:rPr lang="en-US" sz="1800" i="1" dirty="0">
                <a:solidFill>
                  <a:schemeClr val="tx1"/>
                </a:solidFill>
              </a:rPr>
              <a:t>kook, reiz, maak…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2. ’t kofschip ? → </a:t>
            </a:r>
            <a:r>
              <a:rPr lang="en-US" sz="1800" b="1" dirty="0">
                <a:solidFill>
                  <a:schemeClr val="tx1"/>
                </a:solidFill>
              </a:rPr>
              <a:t>-te</a:t>
            </a:r>
            <a:r>
              <a:rPr lang="en-US" sz="1800" dirty="0">
                <a:solidFill>
                  <a:schemeClr val="tx1"/>
                </a:solidFill>
              </a:rPr>
              <a:t> / sinon </a:t>
            </a:r>
            <a:r>
              <a:rPr lang="en-US" sz="1800" b="1" dirty="0">
                <a:solidFill>
                  <a:schemeClr val="tx1"/>
                </a:solidFill>
              </a:rPr>
              <a:t>-de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3. Pluriel : + </a:t>
            </a:r>
            <a:r>
              <a:rPr lang="en-US" sz="1800" b="1" dirty="0">
                <a:solidFill>
                  <a:schemeClr val="tx1"/>
                </a:solidFill>
              </a:rPr>
              <a:t>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4. Irrégulier ? → tableau 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schrijf de OVT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Écrivez la forme de l’imparfait (OVT).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koken </a:t>
            </a:r>
            <a:r>
              <a:rPr lang="en-US" sz="2400" i="1" dirty="0">
                <a:solidFill>
                  <a:schemeClr val="tx1"/>
                </a:solidFill>
              </a:rPr>
              <a:t>(ik)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ik kookte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reizen </a:t>
            </a:r>
            <a:r>
              <a:rPr lang="en-US" sz="2400" i="1" dirty="0">
                <a:solidFill>
                  <a:schemeClr val="tx1"/>
                </a:solidFill>
              </a:rPr>
              <a:t>(wij)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wij reisden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maken </a:t>
            </a:r>
            <a:r>
              <a:rPr lang="en-US" sz="2400" i="1" dirty="0">
                <a:solidFill>
                  <a:schemeClr val="tx1"/>
                </a:solidFill>
              </a:rPr>
              <a:t>(hij)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hij maakte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wonen </a:t>
            </a:r>
            <a:r>
              <a:rPr lang="en-US" sz="2400" i="1" dirty="0">
                <a:solidFill>
                  <a:schemeClr val="tx1"/>
                </a:solidFill>
              </a:rPr>
              <a:t>(zij, plur.)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zij woonden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kopen </a:t>
            </a:r>
            <a:r>
              <a:rPr lang="en-US" sz="2400" i="1" dirty="0">
                <a:solidFill>
                  <a:schemeClr val="tx1"/>
                </a:solidFill>
              </a:rPr>
              <a:t>(mijn vader)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mijn vader kocht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komen </a:t>
            </a:r>
            <a:r>
              <a:rPr lang="en-US" sz="2400" i="1" dirty="0">
                <a:solidFill>
                  <a:schemeClr val="tx1"/>
                </a:solidFill>
              </a:rPr>
              <a:t>(jullie)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jullie kwamen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 : </a:t>
            </a:r>
            <a:r>
              <a:rPr lang="en-US" sz="1800" i="1" dirty="0">
                <a:solidFill>
                  <a:schemeClr val="tx1"/>
                </a:solidFill>
              </a:rPr>
              <a:t>reizen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z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reisden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reisten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 et 6 : verbes </a:t>
            </a:r>
            <a:r>
              <a:rPr lang="en-US" sz="1800" b="1" dirty="0">
                <a:solidFill>
                  <a:schemeClr val="tx1"/>
                </a:solidFill>
              </a:rPr>
              <a:t>irréguliers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kocht · kwamen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koopte · komden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Mijn vader = </a:t>
            </a:r>
            <a:r>
              <a:rPr lang="en-US" sz="1800" b="1" dirty="0">
                <a:solidFill>
                  <a:schemeClr val="tx1"/>
                </a:solidFill>
              </a:rPr>
              <a:t>hij</a:t>
            </a:r>
            <a:r>
              <a:rPr lang="en-US" sz="1800" dirty="0">
                <a:solidFill>
                  <a:schemeClr val="tx1"/>
                </a:solidFill>
              </a:rPr>
              <a:t> → singulier.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Emma raconte son examen à l’OVT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par deux · 5 min — Mettez le verbe entre parenthèses à l’</a:t>
            </a:r>
            <a:r>
              <a:rPr lang="en-US" sz="1600" b="1" i="1" dirty="0">
                <a:solidFill>
                  <a:schemeClr val="accent5"/>
                </a:solidFill>
              </a:rPr>
              <a:t>OVT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Vorige week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Emma een examen Nederlands. </a:t>
            </a:r>
            <a:r>
              <a:rPr lang="en-US" sz="2300" i="1" dirty="0">
                <a:solidFill>
                  <a:schemeClr val="tx1"/>
                </a:solidFill>
              </a:rPr>
              <a:t>(hebben)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Ze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een beetje zenuwachtig. </a:t>
            </a:r>
            <a:r>
              <a:rPr lang="en-US" sz="2300" i="1" dirty="0">
                <a:solidFill>
                  <a:schemeClr val="tx1"/>
                </a:solidFill>
              </a:rPr>
              <a:t>(zijn)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Elke avond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ze nieuwe woorden. </a:t>
            </a:r>
            <a:r>
              <a:rPr lang="en-US" sz="2300" i="1" dirty="0">
                <a:solidFill>
                  <a:schemeClr val="tx1"/>
                </a:solidFill>
              </a:rPr>
              <a:t>(leren)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Ze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ook met Pieter. </a:t>
            </a:r>
            <a:r>
              <a:rPr lang="en-US" sz="2300" i="1" dirty="0">
                <a:solidFill>
                  <a:schemeClr val="tx1"/>
                </a:solidFill>
              </a:rPr>
              <a:t>(oefenen)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Het examen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twee uur. </a:t>
            </a:r>
            <a:r>
              <a:rPr lang="en-US" sz="2300" i="1" dirty="0">
                <a:solidFill>
                  <a:schemeClr val="tx1"/>
                </a:solidFill>
              </a:rPr>
              <a:t>(duren)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Daarna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Emma en Pieter naar het café. </a:t>
            </a:r>
            <a:r>
              <a:rPr lang="en-US" sz="2300" i="1" dirty="0">
                <a:solidFill>
                  <a:schemeClr val="tx1"/>
                </a:solidFill>
              </a:rPr>
              <a:t>(gaan)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Ze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koffie en Emma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: «Het is gelukt!» </a:t>
            </a:r>
            <a:r>
              <a:rPr lang="en-US" sz="2300" i="1" dirty="0">
                <a:solidFill>
                  <a:schemeClr val="tx1"/>
                </a:solidFill>
              </a:rPr>
              <a:t>(drinken, lachen)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Emma raconte son examen à l’OVT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par deux · 5 min — Mettez le verbe entre parenthèses à l’</a:t>
            </a:r>
            <a:r>
              <a:rPr lang="en-US" sz="1600" b="1" i="1" dirty="0">
                <a:solidFill>
                  <a:schemeClr val="accent5"/>
                </a:solidFill>
              </a:rPr>
              <a:t>OVT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Vorige week </a:t>
            </a:r>
            <a:r>
              <a:rPr lang="en-US" sz="2300" b="1" dirty="0">
                <a:solidFill>
                  <a:schemeClr val="accent3"/>
                </a:solidFill>
              </a:rPr>
              <a:t>had</a:t>
            </a:r>
            <a:r>
              <a:rPr lang="en-US" sz="2300" dirty="0">
                <a:solidFill>
                  <a:schemeClr val="tx1"/>
                </a:solidFill>
              </a:rPr>
              <a:t> Emma een examen Nederlands. </a:t>
            </a:r>
            <a:r>
              <a:rPr lang="en-US" sz="2300" i="1" dirty="0">
                <a:solidFill>
                  <a:schemeClr val="tx1"/>
                </a:solidFill>
              </a:rPr>
              <a:t>(hebben)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Ze </a:t>
            </a:r>
            <a:r>
              <a:rPr lang="en-US" sz="2300" b="1" dirty="0">
                <a:solidFill>
                  <a:schemeClr val="accent3"/>
                </a:solidFill>
              </a:rPr>
              <a:t>was</a:t>
            </a:r>
            <a:r>
              <a:rPr lang="en-US" sz="2300" dirty="0">
                <a:solidFill>
                  <a:schemeClr val="tx1"/>
                </a:solidFill>
              </a:rPr>
              <a:t> een beetje zenuwachtig. </a:t>
            </a:r>
            <a:r>
              <a:rPr lang="en-US" sz="2300" i="1" dirty="0">
                <a:solidFill>
                  <a:schemeClr val="tx1"/>
                </a:solidFill>
              </a:rPr>
              <a:t>(zijn)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Elke avond </a:t>
            </a:r>
            <a:r>
              <a:rPr lang="en-US" sz="2300" b="1" dirty="0">
                <a:solidFill>
                  <a:schemeClr val="accent3"/>
                </a:solidFill>
              </a:rPr>
              <a:t>leerde</a:t>
            </a:r>
            <a:r>
              <a:rPr lang="en-US" sz="2300" dirty="0">
                <a:solidFill>
                  <a:schemeClr val="tx1"/>
                </a:solidFill>
              </a:rPr>
              <a:t> ze nieuwe woorden. </a:t>
            </a:r>
            <a:r>
              <a:rPr lang="en-US" sz="2300" i="1" dirty="0">
                <a:solidFill>
                  <a:schemeClr val="tx1"/>
                </a:solidFill>
              </a:rPr>
              <a:t>(leren)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Ze </a:t>
            </a:r>
            <a:r>
              <a:rPr lang="en-US" sz="2300" b="1" dirty="0">
                <a:solidFill>
                  <a:schemeClr val="accent3"/>
                </a:solidFill>
              </a:rPr>
              <a:t>oefende</a:t>
            </a:r>
            <a:r>
              <a:rPr lang="en-US" sz="2300" dirty="0">
                <a:solidFill>
                  <a:schemeClr val="tx1"/>
                </a:solidFill>
              </a:rPr>
              <a:t> ook met Pieter. </a:t>
            </a:r>
            <a:r>
              <a:rPr lang="en-US" sz="2300" i="1" dirty="0">
                <a:solidFill>
                  <a:schemeClr val="tx1"/>
                </a:solidFill>
              </a:rPr>
              <a:t>(oefenen)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Het examen </a:t>
            </a:r>
            <a:r>
              <a:rPr lang="en-US" sz="2300" b="1" dirty="0">
                <a:solidFill>
                  <a:schemeClr val="accent3"/>
                </a:solidFill>
              </a:rPr>
              <a:t>duurde</a:t>
            </a:r>
            <a:r>
              <a:rPr lang="en-US" sz="2300" dirty="0">
                <a:solidFill>
                  <a:schemeClr val="tx1"/>
                </a:solidFill>
              </a:rPr>
              <a:t> twee uur. </a:t>
            </a:r>
            <a:r>
              <a:rPr lang="en-US" sz="2300" i="1" dirty="0">
                <a:solidFill>
                  <a:schemeClr val="tx1"/>
                </a:solidFill>
              </a:rPr>
              <a:t>(duren)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Daarna </a:t>
            </a:r>
            <a:r>
              <a:rPr lang="en-US" sz="2300" b="1" dirty="0">
                <a:solidFill>
                  <a:schemeClr val="accent3"/>
                </a:solidFill>
              </a:rPr>
              <a:t>gingen</a:t>
            </a:r>
            <a:r>
              <a:rPr lang="en-US" sz="2300" dirty="0">
                <a:solidFill>
                  <a:schemeClr val="tx1"/>
                </a:solidFill>
              </a:rPr>
              <a:t> Emma en Pieter naar het café. </a:t>
            </a:r>
            <a:r>
              <a:rPr lang="en-US" sz="2300" i="1" dirty="0">
                <a:solidFill>
                  <a:schemeClr val="tx1"/>
                </a:solidFill>
              </a:rPr>
              <a:t>(gaan)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Ze </a:t>
            </a:r>
            <a:r>
              <a:rPr lang="en-US" sz="2300" b="1" dirty="0">
                <a:solidFill>
                  <a:schemeClr val="accent3"/>
                </a:solidFill>
              </a:rPr>
              <a:t>dronken</a:t>
            </a:r>
            <a:r>
              <a:rPr lang="en-US" sz="2300" dirty="0">
                <a:solidFill>
                  <a:schemeClr val="tx1"/>
                </a:solidFill>
              </a:rPr>
              <a:t> koffie en Emma </a:t>
            </a:r>
            <a:r>
              <a:rPr lang="en-US" sz="2300" b="1" dirty="0">
                <a:solidFill>
                  <a:schemeClr val="accent3"/>
                </a:solidFill>
              </a:rPr>
              <a:t>lachte</a:t>
            </a:r>
            <a:r>
              <a:rPr lang="en-US" sz="2300" dirty="0">
                <a:solidFill>
                  <a:schemeClr val="tx1"/>
                </a:solidFill>
              </a:rPr>
              <a:t>: «Het is gelukt!» </a:t>
            </a:r>
            <a:r>
              <a:rPr lang="en-US" sz="2300" i="1" dirty="0">
                <a:solidFill>
                  <a:schemeClr val="tx1"/>
                </a:solidFill>
              </a:rPr>
              <a:t>(drinken, lachen)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leren, oefenen, duren</a:t>
            </a:r>
            <a:r>
              <a:rPr lang="en-US" sz="1800" dirty="0">
                <a:solidFill>
                  <a:schemeClr val="tx1"/>
                </a:solidFill>
              </a:rPr>
              <a:t> : r, n → </a:t>
            </a:r>
            <a:r>
              <a:rPr lang="en-US" sz="1800" b="1" dirty="0">
                <a:solidFill>
                  <a:schemeClr val="tx1"/>
                </a:solidFill>
              </a:rPr>
              <a:t>-de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lachen</a:t>
            </a:r>
            <a:r>
              <a:rPr lang="en-US" sz="1800" dirty="0">
                <a:solidFill>
                  <a:schemeClr val="tx1"/>
                </a:solidFill>
              </a:rPr>
              <a:t> : ch ∈ ’t kofschip → </a:t>
            </a:r>
            <a:r>
              <a:rPr lang="en-US" sz="1800" b="1" dirty="0">
                <a:solidFill>
                  <a:schemeClr val="tx1"/>
                </a:solidFill>
              </a:rPr>
              <a:t>-te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Sujet pluriel (</a:t>
            </a:r>
            <a:r>
              <a:rPr lang="en-US" sz="1800" i="1" dirty="0">
                <a:solidFill>
                  <a:schemeClr val="tx1"/>
                </a:solidFill>
              </a:rPr>
              <a:t>Emma en Pieter, ze</a:t>
            </a:r>
            <a:r>
              <a:rPr lang="en-US" sz="1800" dirty="0">
                <a:solidFill>
                  <a:schemeClr val="tx1"/>
                </a:solidFill>
              </a:rPr>
              <a:t>) → </a:t>
            </a:r>
            <a:r>
              <a:rPr lang="en-US" sz="1800" b="1" dirty="0">
                <a:solidFill>
                  <a:schemeClr val="tx1"/>
                </a:solidFill>
              </a:rPr>
              <a:t>-en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gingen, dronken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Gezondheid — la santé et le corps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la tê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l’œ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36" y="1581912"/>
            <a:ext cx="1013344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le ne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16" y="1581912"/>
            <a:ext cx="996120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la bouch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37" y="1581912"/>
            <a:ext cx="948415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l’oreil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811" y="1581912"/>
            <a:ext cx="967602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la ma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762" y="3230880"/>
            <a:ext cx="951156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le bra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la jamb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675" y="3230880"/>
            <a:ext cx="967602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le pie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466" y="3230880"/>
            <a:ext cx="951156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le vent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le médeci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539" y="4879848"/>
            <a:ext cx="967602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l’hôpita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330" y="4879848"/>
            <a:ext cx="951156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la pharmaci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3068" y="4879848"/>
            <a:ext cx="1062815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les médicament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885" y="4879848"/>
            <a:ext cx="1084317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la fièvr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8669" y="4879848"/>
            <a:ext cx="1065887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Gezondheid — la santé et le corps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8" name="illustration" descr="la tê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hoofd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tête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13" name="illustration" descr="l’œ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36" y="1581912"/>
            <a:ext cx="1013344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oog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l’œil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8" name="illustration" descr="le ne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16" y="1581912"/>
            <a:ext cx="996120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neus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nez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3" name="illustration" descr="la bouch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37" y="1581912"/>
            <a:ext cx="948415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mond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bouche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28" name="illustration" descr="l’oreil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811" y="1581912"/>
            <a:ext cx="967602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oor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l’oreille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3" name="illustration" descr="la ma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762" y="3230880"/>
            <a:ext cx="951156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hand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main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8" name="illustration" descr="le bra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arm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bras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43" name="illustration" descr="la jamb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675" y="3230880"/>
            <a:ext cx="967602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been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jambe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8" name="illustration" descr="le pie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7466" y="3230880"/>
            <a:ext cx="951156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voet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pied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3" name="illustration" descr="le vent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buik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ventre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8" name="illustration" descr="le médeci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539" y="4879848"/>
            <a:ext cx="967602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dokter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médecin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63" name="illustration" descr="l’hôpita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330" y="4879848"/>
            <a:ext cx="951156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ziekenhuis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l’hôpital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8" name="illustration" descr="la pharmaci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3068" y="4879848"/>
            <a:ext cx="1062815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apotheek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pharmacie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3" name="illustration" descr="les médicament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885" y="4879848"/>
            <a:ext cx="1084317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medicijnen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les médicaments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8" name="illustration" descr="la fièvr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8669" y="4879848"/>
            <a:ext cx="1065887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koorts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fièvre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Ik heb pijn aan mijn … — chez le médecin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Traduisez, puis jouez : A dit où il a mal, B conseille (</a:t>
            </a:r>
            <a:r>
              <a:rPr lang="en-US" sz="1600" i="1" dirty="0">
                <a:solidFill>
                  <a:schemeClr val="accent5"/>
                </a:solidFill>
              </a:rPr>
              <a:t>Ga naar de dokter!</a:t>
            </a:r>
            <a:r>
              <a:rPr lang="en-US" sz="1600" i="1" dirty="0">
                <a:solidFill>
                  <a:schemeClr val="accent5"/>
                </a:solidFill>
              </a:rPr>
              <a:t>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J’ai mal à la tête.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J’ai mal au ventre.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Elle a mal au pied.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dirty="0">
                <a:solidFill>
                  <a:schemeClr val="tx1"/>
                </a:solidFill>
              </a:rPr>
              <a:t>J’ai de la fièvre : je vais chez le médecin.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5.  </a:t>
            </a:r>
            <a:r>
              <a:rPr lang="en-US" sz="1900" dirty="0">
                <a:solidFill>
                  <a:schemeClr val="tx1"/>
                </a:solidFill>
              </a:rPr>
              <a:t>J’achète des médicaments à la pharmacie.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6.  </a:t>
            </a:r>
            <a:r>
              <a:rPr lang="en-US" sz="1900" dirty="0">
                <a:solidFill>
                  <a:schemeClr val="tx1"/>
                </a:solidFill>
              </a:rPr>
              <a:t>Hier, j’avais mal aux yeux.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7.  </a:t>
            </a:r>
            <a:r>
              <a:rPr lang="en-US" sz="1900" dirty="0">
                <a:solidFill>
                  <a:schemeClr val="tx1"/>
                </a:solidFill>
              </a:rPr>
              <a:t>Il est à l’hôpital. →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……………………………………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Ik heb pijn aan mijn … — chez le médecin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Traduisez, puis jouez : A dit où il a mal, B conseille (</a:t>
            </a:r>
            <a:r>
              <a:rPr lang="en-US" sz="1600" i="1" dirty="0">
                <a:solidFill>
                  <a:schemeClr val="accent5"/>
                </a:solidFill>
              </a:rPr>
              <a:t>Ga naar de dokter!</a:t>
            </a:r>
            <a:r>
              <a:rPr lang="en-US" sz="1600" i="1" dirty="0">
                <a:solidFill>
                  <a:schemeClr val="accent5"/>
                </a:solidFill>
              </a:rPr>
              <a:t>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J’ai mal à la tête. → </a:t>
            </a:r>
            <a:r>
              <a:rPr lang="en-US" sz="1900" b="1" dirty="0">
                <a:solidFill>
                  <a:schemeClr val="accent3"/>
                </a:solidFill>
              </a:rPr>
              <a:t>Ik heb hoofdpijn.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J’ai mal au ventre. → </a:t>
            </a:r>
            <a:r>
              <a:rPr lang="en-US" sz="1900" b="1" dirty="0">
                <a:solidFill>
                  <a:schemeClr val="accent3"/>
                </a:solidFill>
              </a:rPr>
              <a:t>Ik heb buikpijn.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Elle a mal au pied. → </a:t>
            </a:r>
            <a:r>
              <a:rPr lang="en-US" sz="1900" b="1" dirty="0">
                <a:solidFill>
                  <a:schemeClr val="accent3"/>
                </a:solidFill>
              </a:rPr>
              <a:t>Ze heeft pijn aan haar voet.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dirty="0">
                <a:solidFill>
                  <a:schemeClr val="tx1"/>
                </a:solidFill>
              </a:rPr>
              <a:t>J’ai de la fièvre : je vais chez le médecin. → </a:t>
            </a:r>
            <a:r>
              <a:rPr lang="en-US" sz="1900" b="1" dirty="0">
                <a:solidFill>
                  <a:schemeClr val="accent3"/>
                </a:solidFill>
              </a:rPr>
              <a:t>Ik heb koorts: ik ga naar de dokter.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5.  </a:t>
            </a:r>
            <a:r>
              <a:rPr lang="en-US" sz="1900" dirty="0">
                <a:solidFill>
                  <a:schemeClr val="tx1"/>
                </a:solidFill>
              </a:rPr>
              <a:t>J’achète des médicaments à la pharmacie. → </a:t>
            </a:r>
            <a:r>
              <a:rPr lang="en-US" sz="1900" b="1" dirty="0">
                <a:solidFill>
                  <a:schemeClr val="accent3"/>
                </a:solidFill>
              </a:rPr>
              <a:t>Ik koop medicijnen bij de apotheek.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6.  </a:t>
            </a:r>
            <a:r>
              <a:rPr lang="en-US" sz="1900" dirty="0">
                <a:solidFill>
                  <a:schemeClr val="tx1"/>
                </a:solidFill>
              </a:rPr>
              <a:t>Hier, j’avais mal aux yeux. → </a:t>
            </a:r>
            <a:r>
              <a:rPr lang="en-US" sz="1900" b="1" dirty="0">
                <a:solidFill>
                  <a:schemeClr val="accent3"/>
                </a:solidFill>
              </a:rPr>
              <a:t>Gisteren had ik pijn aan mijn ogen.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7.  </a:t>
            </a:r>
            <a:r>
              <a:rPr lang="en-US" sz="1900" dirty="0">
                <a:solidFill>
                  <a:schemeClr val="tx1"/>
                </a:solidFill>
              </a:rPr>
              <a:t>Il est à l’hôpital. → </a:t>
            </a:r>
            <a:r>
              <a:rPr lang="en-US" sz="1900" b="1" dirty="0">
                <a:solidFill>
                  <a:schemeClr val="accent3"/>
                </a:solidFill>
              </a:rPr>
              <a:t>Hij is in het ziekenhuis.</a:t>
            </a:r>
            <a:endParaRPr lang="en-US" sz="19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néerlandais met le </a:t>
            </a:r>
            <a:r>
              <a:rPr lang="en-US" sz="1800" b="1" dirty="0">
                <a:solidFill>
                  <a:schemeClr val="tx1"/>
                </a:solidFill>
              </a:rPr>
              <a:t>possessif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pijn aan </a:t>
            </a:r>
            <a:r>
              <a:rPr lang="en-US" sz="1800" b="1" i="1" dirty="0">
                <a:solidFill>
                  <a:schemeClr val="tx1"/>
                </a:solidFill>
              </a:rPr>
              <a:t>mijn</a:t>
            </a:r>
            <a:r>
              <a:rPr lang="en-US" sz="1800" i="1" dirty="0">
                <a:solidFill>
                  <a:schemeClr val="tx1"/>
                </a:solidFill>
              </a:rPr>
              <a:t> hoofd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aan het hoofd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hoofd + pijn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dirty="0">
                <a:solidFill>
                  <a:schemeClr val="tx1"/>
                </a:solidFill>
              </a:rPr>
              <a:t>hoofdpijn</a:t>
            </a:r>
            <a:r>
              <a:rPr lang="en-US" sz="1800" dirty="0">
                <a:solidFill>
                  <a:schemeClr val="tx1"/>
                </a:solidFill>
              </a:rPr>
              <a:t> (= </a:t>
            </a:r>
            <a:r>
              <a:rPr lang="en-US" sz="1800" i="1" dirty="0">
                <a:solidFill>
                  <a:schemeClr val="tx1"/>
                </a:solidFill>
              </a:rPr>
              <a:t>pijn aan mijn hoofd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naar</a:t>
            </a:r>
            <a:r>
              <a:rPr lang="en-US" sz="1800" dirty="0">
                <a:solidFill>
                  <a:schemeClr val="tx1"/>
                </a:solidFill>
              </a:rPr>
              <a:t> de dokter (mouvement) · </a:t>
            </a:r>
            <a:r>
              <a:rPr lang="en-US" sz="1800" i="1" dirty="0">
                <a:solidFill>
                  <a:schemeClr val="tx1"/>
                </a:solidFill>
              </a:rPr>
              <a:t>in</a:t>
            </a:r>
            <a:r>
              <a:rPr lang="en-US" sz="1800" dirty="0">
                <a:solidFill>
                  <a:schemeClr val="tx1"/>
                </a:solidFill>
              </a:rPr>
              <a:t> het ziekenhuis.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Pour souhaiter un prompt rétablissement : </a:t>
            </a:r>
            <a:r>
              <a:rPr lang="en-US" sz="1800" b="1" i="1" dirty="0">
                <a:solidFill>
                  <a:schemeClr val="tx1"/>
                </a:solidFill>
              </a:rPr>
              <a:t>Beterschap!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10 : Raconter son examen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3431089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FICHE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Situation</a:t>
            </a:r>
            <a:r>
              <a:rPr lang="en-US" sz="1900" dirty="0">
                <a:solidFill>
                  <a:schemeClr val="tx1"/>
                </a:solidFill>
              </a:rPr>
              <a:t> : vous avez passé un examen. Un ami vous pose des questions.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Jalon 1 (A1)</a:t>
            </a:r>
            <a:r>
              <a:rPr lang="en-US" sz="1900" dirty="0">
                <a:solidFill>
                  <a:schemeClr val="tx1"/>
                </a:solidFill>
              </a:rPr>
              <a:t> : questionner.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Jalon 2 (A2)</a:t>
            </a:r>
            <a:r>
              <a:rPr lang="en-US" sz="1900" dirty="0">
                <a:solidFill>
                  <a:schemeClr val="tx1"/>
                </a:solidFill>
              </a:rPr>
              <a:t> : raconter.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Perfectum</a:t>
            </a:r>
            <a:r>
              <a:rPr lang="en-US" sz="1900" dirty="0">
                <a:solidFill>
                  <a:schemeClr val="tx1"/>
                </a:solidFill>
              </a:rPr>
              <a:t> : ce que j’ai fait. </a:t>
            </a:r>
            <a:r>
              <a:rPr lang="en-US" sz="1900" b="1" dirty="0">
                <a:solidFill>
                  <a:schemeClr val="tx1"/>
                </a:solidFill>
              </a:rPr>
              <a:t>OVT</a:t>
            </a:r>
            <a:r>
              <a:rPr lang="en-US" sz="1900" dirty="0">
                <a:solidFill>
                  <a:schemeClr val="tx1"/>
                </a:solidFill>
              </a:rPr>
              <a:t> : comment c’était.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Emma et Pieter révisent. Après l’examen, que demandez-vous à Emma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10 : Raconter son examen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(questions)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(réponses), avec le </a:t>
            </a:r>
            <a:r>
              <a:rPr lang="en-US" sz="1600" b="1" i="1" dirty="0">
                <a:solidFill>
                  <a:schemeClr val="accent5"/>
                </a:solidFill>
              </a:rPr>
              <a:t>participe passé</a:t>
            </a:r>
            <a:r>
              <a:rPr lang="en-US" sz="1600" i="1" dirty="0">
                <a:solidFill>
                  <a:schemeClr val="accent5"/>
                </a:solidFill>
              </a:rPr>
              <a:t> des verbes.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2514600"/>
                <a:gridCol w="2971800"/>
                <a:gridCol w="2542032"/>
              </a:tblGrid>
              <a:tr h="4864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studeren → gestudeerd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étudier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voorbereiden → voorbereid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préparer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komen → (ik ben) gekomen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venir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oefenen → geoefend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s’exercer, pratiquer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halen → gehaald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réussir (un examen)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zenuwachtig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nerveux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moeilijk ≠ makkelijk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difficile ≠ facile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tevreden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(over)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satisfait (de)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Het is gelukt!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Ça a marché ! C’est réussi !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trots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(op)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fier (de)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examen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l’examen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 het begin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 début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resultaat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résultat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opleiding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(+)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formation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test (+)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test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slagen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(voor) (+)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réussir (à)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(+) = ajouté. </a:t>
            </a:r>
            <a:r>
              <a:rPr lang="en-US" sz="1500" i="1" dirty="0">
                <a:solidFill>
                  <a:schemeClr val="accent5"/>
                </a:solidFill>
              </a:rPr>
              <a:t>voorbereiden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5"/>
                </a:solidFill>
              </a:rPr>
              <a:t>pas de ge-</a:t>
            </a:r>
            <a:r>
              <a:rPr lang="en-US" sz="1500" i="1" dirty="0">
                <a:solidFill>
                  <a:schemeClr val="accent5"/>
                </a:solidFill>
              </a:rPr>
              <a:t> (be- !) → </a:t>
            </a:r>
            <a:r>
              <a:rPr lang="en-US" sz="1500" i="1" dirty="0">
                <a:solidFill>
                  <a:schemeClr val="accent5"/>
                </a:solidFill>
              </a:rPr>
              <a:t>Ik heb het </a:t>
            </a:r>
            <a:r>
              <a:rPr lang="en-US" sz="1500" b="1" i="1" dirty="0">
                <a:solidFill>
                  <a:schemeClr val="accent5"/>
                </a:solidFill>
              </a:rPr>
              <a:t>voorbereid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lukken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het </a:t>
            </a:r>
            <a:r>
              <a:rPr lang="en-US" sz="1500" b="1" i="1" dirty="0">
                <a:solidFill>
                  <a:schemeClr val="accent5"/>
                </a:solidFill>
              </a:rPr>
              <a:t>is</a:t>
            </a:r>
            <a:r>
              <a:rPr lang="en-US" sz="1500" i="1" dirty="0">
                <a:solidFill>
                  <a:schemeClr val="accent5"/>
                </a:solidFill>
              </a:rPr>
              <a:t> gelukt</a:t>
            </a:r>
            <a:r>
              <a:rPr lang="en-US" sz="1500" i="1" dirty="0">
                <a:solidFill>
                  <a:schemeClr val="accent5"/>
                </a:solidFill>
              </a:rPr>
              <a:t> (auxiliaire zijn).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10 · Jalon 1 (A1) : questionner sur l’examen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On </a:t>
            </a:r>
            <a:r>
              <a:rPr lang="en-US" sz="1600" b="1" i="1" dirty="0">
                <a:solidFill>
                  <a:schemeClr val="accent5"/>
                </a:solidFill>
              </a:rPr>
              <a:t>tutoie</a:t>
            </a:r>
            <a:r>
              <a:rPr lang="en-US" sz="1600" i="1" dirty="0">
                <a:solidFill>
                  <a:schemeClr val="accent5"/>
                </a:solidFill>
              </a:rPr>
              <a:t> (</a:t>
            </a:r>
            <a:r>
              <a:rPr lang="en-US" sz="1600" i="1" dirty="0">
                <a:solidFill>
                  <a:schemeClr val="accent5"/>
                </a:solidFill>
              </a:rPr>
              <a:t>je</a:t>
            </a:r>
            <a:r>
              <a:rPr lang="en-US" sz="1600" i="1" dirty="0">
                <a:solidFill>
                  <a:schemeClr val="accent5"/>
                </a:solidFill>
              </a:rPr>
              <a:t>) : c’est un ami ou un collègue.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480560"/>
                <a:gridCol w="5239512"/>
              </a:tblGrid>
              <a:tr h="5815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As-tu beaucoup étudié pour l’examen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Es-tu venu à la formation hier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27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test était-il difficile ? Tu l’as réussi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 *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Est-ce que l’examen était facile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27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Ai-je réussi, et quel est le résultat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* Le livret indique </a:t>
            </a:r>
            <a:r>
              <a:rPr lang="en-US" sz="1500" b="1" i="1" dirty="0">
                <a:solidFill>
                  <a:schemeClr val="accent5"/>
                </a:solidFill>
              </a:rPr>
              <a:t>N</a:t>
            </a:r>
            <a:r>
              <a:rPr lang="en-US" sz="1500" i="1" dirty="0">
                <a:solidFill>
                  <a:schemeClr val="accent5"/>
                </a:solidFill>
              </a:rPr>
              <a:t>, mais la phrase n’est pas négative. Version négative : </a:t>
            </a:r>
            <a:r>
              <a:rPr lang="en-US" sz="1500" i="1" dirty="0">
                <a:solidFill>
                  <a:schemeClr val="accent5"/>
                </a:solidFill>
              </a:rPr>
              <a:t>Was het examen niet makkelijk?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komen</a:t>
            </a:r>
            <a:r>
              <a:rPr lang="en-US" sz="1500" i="1" dirty="0">
                <a:solidFill>
                  <a:schemeClr val="accent5"/>
                </a:solidFill>
              </a:rPr>
              <a:t> → auxiliaire </a:t>
            </a:r>
            <a:r>
              <a:rPr lang="en-US" sz="1500" b="1" i="1" dirty="0">
                <a:solidFill>
                  <a:schemeClr val="accent5"/>
                </a:solidFill>
              </a:rPr>
              <a:t>zijn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Ben je … gekomen?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10 · Jalon 1 (A1) : questionner sur l’examen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On </a:t>
            </a:r>
            <a:r>
              <a:rPr lang="en-US" sz="1600" b="1" i="1" dirty="0">
                <a:solidFill>
                  <a:schemeClr val="accent5"/>
                </a:solidFill>
              </a:rPr>
              <a:t>tutoie</a:t>
            </a:r>
            <a:r>
              <a:rPr lang="en-US" sz="1600" i="1" dirty="0">
                <a:solidFill>
                  <a:schemeClr val="accent5"/>
                </a:solidFill>
              </a:rPr>
              <a:t> (</a:t>
            </a:r>
            <a:r>
              <a:rPr lang="en-US" sz="1600" i="1" dirty="0">
                <a:solidFill>
                  <a:schemeClr val="accent5"/>
                </a:solidFill>
              </a:rPr>
              <a:t>je</a:t>
            </a:r>
            <a:r>
              <a:rPr lang="en-US" sz="1600" i="1" dirty="0">
                <a:solidFill>
                  <a:schemeClr val="accent5"/>
                </a:solidFill>
              </a:rPr>
              <a:t>) : c’est un ami ou un collègue.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480560"/>
                <a:gridCol w="5239512"/>
              </a:tblGrid>
              <a:tr h="5815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As-tu beaucoup étudié pour l’examen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Heb je veel gestudeerd voor het examen?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Es-tu venu à la formation hier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Ben je gisteren naar de opleiding gekomen?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27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test était-il difficile ? Tu l’as réussi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Was de test moeilijk? Heb je hem gehaald?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28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 *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Est-ce que l’examen était facile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Was het examen makkelijk?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27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Ai-je réussi, et quel est le résultat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Heb ik het gehaald? En wat is het resultaat?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* Le livret indique </a:t>
            </a:r>
            <a:r>
              <a:rPr lang="en-US" sz="1500" b="1" i="1" dirty="0">
                <a:solidFill>
                  <a:schemeClr val="accent5"/>
                </a:solidFill>
              </a:rPr>
              <a:t>N</a:t>
            </a:r>
            <a:r>
              <a:rPr lang="en-US" sz="1500" i="1" dirty="0">
                <a:solidFill>
                  <a:schemeClr val="accent5"/>
                </a:solidFill>
              </a:rPr>
              <a:t>, mais la phrase n’est pas négative. Version négative : </a:t>
            </a:r>
            <a:r>
              <a:rPr lang="en-US" sz="1500" i="1" dirty="0">
                <a:solidFill>
                  <a:schemeClr val="accent5"/>
                </a:solidFill>
              </a:rPr>
              <a:t>Was het examen niet makkelijk?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komen</a:t>
            </a:r>
            <a:r>
              <a:rPr lang="en-US" sz="1500" i="1" dirty="0">
                <a:solidFill>
                  <a:schemeClr val="accent5"/>
                </a:solidFill>
              </a:rPr>
              <a:t> → auxiliaire </a:t>
            </a:r>
            <a:r>
              <a:rPr lang="en-US" sz="1500" b="1" i="1" dirty="0">
                <a:solidFill>
                  <a:schemeClr val="accent5"/>
                </a:solidFill>
              </a:rPr>
              <a:t>zijn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Ben je … gekomen?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10 · Jalon 2 (A2) : raconter son examen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Perfectum</a:t>
            </a:r>
            <a:r>
              <a:rPr lang="en-US" sz="1600" i="1" dirty="0">
                <a:solidFill>
                  <a:schemeClr val="accent5"/>
                </a:solidFill>
              </a:rPr>
              <a:t> pour les faits, </a:t>
            </a:r>
            <a:r>
              <a:rPr lang="en-US" sz="1600" b="1" i="1" dirty="0">
                <a:solidFill>
                  <a:schemeClr val="accent5"/>
                </a:solidFill>
              </a:rPr>
              <a:t>OVT</a:t>
            </a:r>
            <a:r>
              <a:rPr lang="en-US" sz="1600" i="1" dirty="0">
                <a:solidFill>
                  <a:schemeClr val="accent5"/>
                </a:solidFill>
              </a:rPr>
              <a:t> pour les états (</a:t>
            </a:r>
            <a:r>
              <a:rPr lang="en-US" sz="1600" i="1" dirty="0">
                <a:solidFill>
                  <a:schemeClr val="accent5"/>
                </a:solidFill>
              </a:rPr>
              <a:t>was</a:t>
            </a:r>
            <a:r>
              <a:rPr lang="en-US" sz="1600" i="1" dirty="0">
                <a:solidFill>
                  <a:schemeClr val="accent5"/>
                </a:solidFill>
              </a:rPr>
              <a:t>),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nu</a:t>
            </a:r>
            <a:r>
              <a:rPr lang="en-US" sz="1600" i="1" dirty="0">
                <a:solidFill>
                  <a:schemeClr val="accent5"/>
                </a:solidFill>
              </a:rPr>
              <a:t> : verbe à la fin.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206240"/>
                <a:gridCol w="551383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Hier soir, j’ai bien préparé mon examen.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 beaucoup pratiqué avec mes collègues, parce que j’étais nerveux.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Au début, je n’étais pas du tout sûr de moi.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C’était difficile, mais je suis content du résultat.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Maintenant que tout est réussi, je suis fier de nous.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pas du tout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helemaal niet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fier </a:t>
            </a:r>
            <a:r>
              <a:rPr lang="en-US" sz="1500" b="1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trots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content </a:t>
            </a:r>
            <a:r>
              <a:rPr lang="en-US" sz="1500" b="1" i="1" dirty="0">
                <a:solidFill>
                  <a:schemeClr val="accent5"/>
                </a:solidFill>
              </a:rPr>
              <a:t>du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tevreden </a:t>
            </a:r>
            <a:r>
              <a:rPr lang="en-US" sz="1500" b="1" i="1" dirty="0">
                <a:solidFill>
                  <a:schemeClr val="accent5"/>
                </a:solidFill>
              </a:rPr>
              <a:t>over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10 · Jalon 2 (A2) : raconter son examen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Perfectum</a:t>
            </a:r>
            <a:r>
              <a:rPr lang="en-US" sz="1600" i="1" dirty="0">
                <a:solidFill>
                  <a:schemeClr val="accent5"/>
                </a:solidFill>
              </a:rPr>
              <a:t> pour les faits, </a:t>
            </a:r>
            <a:r>
              <a:rPr lang="en-US" sz="1600" b="1" i="1" dirty="0">
                <a:solidFill>
                  <a:schemeClr val="accent5"/>
                </a:solidFill>
              </a:rPr>
              <a:t>OVT</a:t>
            </a:r>
            <a:r>
              <a:rPr lang="en-US" sz="1600" i="1" dirty="0">
                <a:solidFill>
                  <a:schemeClr val="accent5"/>
                </a:solidFill>
              </a:rPr>
              <a:t> pour les états (</a:t>
            </a:r>
            <a:r>
              <a:rPr lang="en-US" sz="1600" i="1" dirty="0">
                <a:solidFill>
                  <a:schemeClr val="accent5"/>
                </a:solidFill>
              </a:rPr>
              <a:t>was</a:t>
            </a:r>
            <a:r>
              <a:rPr lang="en-US" sz="1600" i="1" dirty="0">
                <a:solidFill>
                  <a:schemeClr val="accent5"/>
                </a:solidFill>
              </a:rPr>
              <a:t>),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nu</a:t>
            </a:r>
            <a:r>
              <a:rPr lang="en-US" sz="1600" i="1" dirty="0">
                <a:solidFill>
                  <a:schemeClr val="accent5"/>
                </a:solidFill>
              </a:rPr>
              <a:t> : verbe à la fin.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206240"/>
                <a:gridCol w="5513832"/>
              </a:tblGrid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Hier soir, j’ai bien préparé mon examen.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Gisteravond heb ik mijn examen goed voorbereid.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 beaucoup pratiqué avec mes collègues, parce que j’étais nerveux.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heb veel met mijn collega’s geoefend, omdat ik zenuwachtig was.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Au début, je n’étais pas du tout sûr de moi.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In het begin was ik helemaal niet zeker van mezelf.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C’était difficile, mais je suis content du résultat.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Het was moeilijk, maar ik ben tevreden over het resultaat.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Maintenant que tout est réussi, je suis fier de nous.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Nu alles gelukt is, ben ik trots op ons.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pas du tout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helemaal niet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fier </a:t>
            </a:r>
            <a:r>
              <a:rPr lang="en-US" sz="1500" b="1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trots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content </a:t>
            </a:r>
            <a:r>
              <a:rPr lang="en-US" sz="1500" b="1" i="1" dirty="0">
                <a:solidFill>
                  <a:schemeClr val="accent5"/>
                </a:solidFill>
              </a:rPr>
              <a:t>du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tevreden </a:t>
            </a:r>
            <a:r>
              <a:rPr lang="en-US" sz="1500" b="1" i="1" dirty="0">
                <a:solidFill>
                  <a:schemeClr val="accent5"/>
                </a:solidFill>
              </a:rPr>
              <a:t>over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raconter avec perfectum, OVT et nu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verbe conjugué</a:t>
            </a:r>
            <a:r>
              <a:rPr lang="en-US" sz="1800" dirty="0">
                <a:solidFill>
                  <a:schemeClr val="tx1"/>
                </a:solidFill>
              </a:rPr>
              <a:t> reste en 2e position ; le </a:t>
            </a:r>
            <a:r>
              <a:rPr lang="en-US" sz="1800" b="1" dirty="0">
                <a:solidFill>
                  <a:schemeClr val="tx1"/>
                </a:solidFill>
              </a:rPr>
              <a:t>participe</a:t>
            </a:r>
            <a:r>
              <a:rPr lang="en-US" sz="1800" dirty="0">
                <a:solidFill>
                  <a:schemeClr val="tx1"/>
                </a:solidFill>
              </a:rPr>
              <a:t> va à la fin ; après </a:t>
            </a:r>
            <a:r>
              <a:rPr lang="en-US" sz="1800" b="1" dirty="0">
                <a:solidFill>
                  <a:schemeClr val="tx1"/>
                </a:solidFill>
              </a:rPr>
              <a:t>omdat</a:t>
            </a:r>
            <a:r>
              <a:rPr lang="en-US" sz="1800" dirty="0">
                <a:solidFill>
                  <a:schemeClr val="tx1"/>
                </a:solidFill>
              </a:rPr>
              <a:t> et </a:t>
            </a:r>
            <a:r>
              <a:rPr lang="en-US" sz="1800" b="1" dirty="0">
                <a:solidFill>
                  <a:schemeClr val="tx1"/>
                </a:solidFill>
              </a:rPr>
              <a:t>nu</a:t>
            </a:r>
            <a:r>
              <a:rPr lang="en-US" sz="1800" dirty="0">
                <a:solidFill>
                  <a:schemeClr val="tx1"/>
                </a:solidFill>
              </a:rPr>
              <a:t>, le verbe va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perfectum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Gisteravond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04336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04336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0912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499864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99864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36440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95392" y="1947672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95392" y="2185416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31968" y="2185416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mijn examen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96608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manier · comment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96608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33184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goed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758176" y="1947672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58176" y="2185416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94752" y="2185416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voorbereid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Hier soir, j’ai bien préparé mon examen.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question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103120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103120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39696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2898648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898648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35224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3694176" y="2801874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694176" y="3039618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730752" y="3039618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gisteren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978400" y="2801874"/>
            <a:ext cx="212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978400" y="3039618"/>
            <a:ext cx="2125472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14976" y="3039618"/>
            <a:ext cx="205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naar de opleiding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213600" y="2801874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13600" y="3039618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250176" y="3039618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gekomen?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Es-tu venu à la formation hier ?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 + OVT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2103120" y="3656076"/>
            <a:ext cx="254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principale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103120" y="3893820"/>
            <a:ext cx="254812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139696" y="3893820"/>
            <a:ext cx="2474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heb veel geoefend,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760976" y="3656076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760976" y="3893820"/>
            <a:ext cx="857504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797552" y="3893820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omdat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572820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72820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76478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6523736" y="3656076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523736" y="3893820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560312" y="3893820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zenuwachtig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8124952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 à la fin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124952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161528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was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J’ai beaucoup pratiqué parce que j’étais nerveux.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nu …, inversion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2103120" y="4510278"/>
            <a:ext cx="233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position 1 = subordonnée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103120" y="4748022"/>
            <a:ext cx="2336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139696" y="4748022"/>
            <a:ext cx="2263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 alles gelukt is,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454964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54964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58622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5345176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345176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381752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6140704" y="4510278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140704" y="4748022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177280" y="4748022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trots op ons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Maintenant que tout est réussi, je suis fier de nous.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J’étais nerveux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was</a:t>
            </a:r>
            <a:r>
              <a:rPr lang="en-US" sz="1700" i="1" dirty="0">
                <a:solidFill>
                  <a:schemeClr val="tx1"/>
                </a:solidFill>
              </a:rPr>
              <a:t> zenuwachtig</a:t>
            </a:r>
            <a:r>
              <a:rPr lang="en-US" sz="1700" dirty="0">
                <a:solidFill>
                  <a:schemeClr val="tx1"/>
                </a:solidFill>
              </a:rPr>
              <a:t> (OVT), mais </a:t>
            </a:r>
            <a:r>
              <a:rPr lang="en-US" sz="1700" i="1" dirty="0">
                <a:solidFill>
                  <a:schemeClr val="tx1"/>
                </a:solidFill>
              </a:rPr>
              <a:t>j’ai préparé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heb</a:t>
            </a:r>
            <a:r>
              <a:rPr lang="en-US" sz="1700" i="1" dirty="0">
                <a:solidFill>
                  <a:schemeClr val="tx1"/>
                </a:solidFill>
              </a:rPr>
              <a:t> voorbereid</a:t>
            </a:r>
            <a:r>
              <a:rPr lang="en-US" sz="1700" dirty="0">
                <a:solidFill>
                  <a:schemeClr val="tx1"/>
                </a:solidFill>
              </a:rPr>
              <a:t> (perfectum). Et </a:t>
            </a:r>
            <a:r>
              <a:rPr lang="en-US" sz="1700" i="1" dirty="0">
                <a:solidFill>
                  <a:schemeClr val="tx1"/>
                </a:solidFill>
              </a:rPr>
              <a:t>voorbereiden</a:t>
            </a:r>
            <a:r>
              <a:rPr lang="en-US" sz="1700" dirty="0">
                <a:solidFill>
                  <a:schemeClr val="tx1"/>
                </a:solidFill>
              </a:rPr>
              <a:t> n’a </a:t>
            </a:r>
            <a:r>
              <a:rPr lang="en-US" sz="1700" b="1" dirty="0">
                <a:solidFill>
                  <a:schemeClr val="tx1"/>
                </a:solidFill>
              </a:rPr>
              <a:t>pas de ge-</a:t>
            </a:r>
            <a:r>
              <a:rPr lang="en-US" sz="1700" dirty="0">
                <a:solidFill>
                  <a:schemeClr val="tx1"/>
                </a:solidFill>
              </a:rPr>
              <a:t> : ✗ </a:t>
            </a:r>
            <a:r>
              <a:rPr lang="en-US" sz="1700" i="1" dirty="0">
                <a:solidFill>
                  <a:schemeClr val="tx1"/>
                </a:solidFill>
              </a:rPr>
              <a:t>voorgebereid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na het examen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100b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10 min — A a passé un examen, B (un collègue, un ami) pose les questions. On </a:t>
            </a:r>
            <a:r>
              <a:rPr lang="en-US" sz="1800" b="1" dirty="0">
                <a:solidFill>
                  <a:schemeClr val="tx1"/>
                </a:solidFill>
              </a:rPr>
              <a:t>tutoie</a:t>
            </a:r>
            <a:r>
              <a:rPr lang="en-US" sz="1800" dirty="0">
                <a:solidFill>
                  <a:schemeClr val="tx1"/>
                </a:solidFill>
              </a:rPr>
              <a:t>. Puis on inverse.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2553462" cy="306933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6187" y="2450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618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Hoe was het?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59352"/>
            <a:ext cx="227914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Hoe was je examen?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Het was moeilijk.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678" y="267004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4710" y="2267712"/>
            <a:ext cx="2553462" cy="306933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2257" y="24505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4225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0443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Voorbereiding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31870" y="3959352"/>
            <a:ext cx="227914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Heb je veel gestudeerd?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Ja, elke avond.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67004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0780" y="2267712"/>
            <a:ext cx="2553462" cy="306933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88327" y="245059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18832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050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Gevoelens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77940" y="3959352"/>
            <a:ext cx="227914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Was je zenuwachtig?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Ja, omdat ik weinig tijd had.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18" y="267004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86850" y="2267712"/>
            <a:ext cx="2553462" cy="306933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34397" y="2450592"/>
            <a:ext cx="658368" cy="658368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034397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96578" y="318211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Het resultaat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4010" y="3959352"/>
            <a:ext cx="227914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Ik heb het gehaald!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Proficiat!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Critères — </a:t>
            </a: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verbes au perfectum (</a:t>
            </a:r>
            <a:r>
              <a:rPr lang="en-US" sz="1700" i="1" dirty="0">
                <a:solidFill>
                  <a:schemeClr val="tx1"/>
                </a:solidFill>
              </a:rPr>
              <a:t>heb … gestudeerd</a:t>
            </a:r>
            <a:r>
              <a:rPr lang="en-US" sz="1700" dirty="0">
                <a:solidFill>
                  <a:schemeClr val="tx1"/>
                </a:solidFill>
              </a:rPr>
              <a:t>) · </a:t>
            </a: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à l’OVT (</a:t>
            </a:r>
            <a:r>
              <a:rPr lang="en-US" sz="1700" i="1" dirty="0">
                <a:solidFill>
                  <a:schemeClr val="tx1"/>
                </a:solidFill>
              </a:rPr>
              <a:t>was, had</a:t>
            </a:r>
            <a:r>
              <a:rPr lang="en-US" sz="1700" dirty="0">
                <a:solidFill>
                  <a:schemeClr val="tx1"/>
                </a:solidFill>
              </a:rPr>
              <a:t>) · </a:t>
            </a: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omdat</a:t>
            </a:r>
            <a:r>
              <a:rPr lang="en-US" sz="1700" dirty="0">
                <a:solidFill>
                  <a:schemeClr val="tx1"/>
                </a:solidFill>
              </a:rPr>
              <a:t> (verbe à la fin) · une réaction : </a:t>
            </a:r>
            <a:r>
              <a:rPr lang="en-US" sz="1700" i="1" dirty="0">
                <a:solidFill>
                  <a:schemeClr val="tx1"/>
                </a:solidFill>
              </a:rPr>
              <a:t>Proficiat!</a:t>
            </a:r>
            <a:r>
              <a:rPr lang="en-US" sz="1700" dirty="0">
                <a:solidFill>
                  <a:schemeClr val="tx1"/>
                </a:solidFill>
              </a:rPr>
              <a:t> (BE) · </a:t>
            </a:r>
            <a:r>
              <a:rPr lang="en-US" sz="1700" i="1" dirty="0">
                <a:solidFill>
                  <a:schemeClr val="tx1"/>
                </a:solidFill>
              </a:rPr>
              <a:t>Gefeliciteerd!</a:t>
            </a:r>
            <a:r>
              <a:rPr lang="en-US" sz="1700" dirty="0">
                <a:solidFill>
                  <a:schemeClr val="tx1"/>
                </a:solidFill>
              </a:rPr>
              <a:t> (NL)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18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 de markt!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Faire ses courses, commander au café et tout rendre plus petit et plus gentil :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kopje koffie, een broodje kaas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’t kofschip et les </a:t>
            </a:r>
            <a:r>
              <a:rPr lang="en-US" sz="1700" b="1" dirty="0">
                <a:solidFill>
                  <a:schemeClr val="tx1"/>
                </a:solidFill>
              </a:rPr>
              <a:t>8 verbes irréguliers</a:t>
            </a:r>
            <a:r>
              <a:rPr lang="en-US" sz="1700" dirty="0">
                <a:solidFill>
                  <a:schemeClr val="tx1"/>
                </a:solidFill>
              </a:rPr>
              <a:t> (p. 70).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Revoir les </a:t>
            </a:r>
            <a:r>
              <a:rPr lang="en-US" sz="1700" b="1" dirty="0">
                <a:solidFill>
                  <a:schemeClr val="tx1"/>
                </a:solidFill>
              </a:rPr>
              <a:t>15 mots</a:t>
            </a:r>
            <a:r>
              <a:rPr lang="en-US" sz="1700" dirty="0">
                <a:solidFill>
                  <a:schemeClr val="tx1"/>
                </a:solidFill>
              </a:rPr>
              <a:t> Gezondheid (p. 83) avec de / het.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Recopier les </a:t>
            </a:r>
            <a:r>
              <a:rPr lang="en-US" sz="1700" b="1" dirty="0">
                <a:solidFill>
                  <a:schemeClr val="tx1"/>
                </a:solidFill>
              </a:rPr>
              <a:t>Jalons 1 et 2</a:t>
            </a:r>
            <a:r>
              <a:rPr lang="en-US" sz="1700" dirty="0">
                <a:solidFill>
                  <a:schemeClr val="tx1"/>
                </a:solidFill>
              </a:rPr>
              <a:t> de la fiche 10, corrigés (p. 100b).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sur votre dernier examen : perfectum + OVT + omdat.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En 3 phrases, racontez votre dernier examen : une au </a:t>
            </a:r>
            <a:r>
              <a:rPr lang="en-US" sz="1600" b="1" dirty="0">
                <a:solidFill>
                  <a:schemeClr val="bg1"/>
                </a:solidFill>
              </a:rPr>
              <a:t>perfectum</a:t>
            </a:r>
            <a:r>
              <a:rPr lang="en-US" sz="1600" dirty="0">
                <a:solidFill>
                  <a:schemeClr val="bg1"/>
                </a:solidFill>
              </a:rPr>
              <a:t>, une à l’</a:t>
            </a:r>
            <a:r>
              <a:rPr lang="en-US" sz="1600" b="1" dirty="0">
                <a:solidFill>
                  <a:schemeClr val="bg1"/>
                </a:solidFill>
              </a:rPr>
              <a:t>OVT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i="1" dirty="0">
                <a:solidFill>
                  <a:schemeClr val="bg1"/>
                </a:solidFill>
              </a:rPr>
              <a:t>was / had</a:t>
            </a:r>
            <a:r>
              <a:rPr lang="en-US" sz="1600" dirty="0">
                <a:solidFill>
                  <a:schemeClr val="bg1"/>
                </a:solidFill>
              </a:rPr>
              <a:t>), une avec </a:t>
            </a:r>
            <a:r>
              <a:rPr lang="en-US" sz="1600" b="1" dirty="0">
                <a:solidFill>
                  <a:schemeClr val="bg1"/>
                </a:solidFill>
              </a:rPr>
              <a:t>omdat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17 — Mijn examen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2026-10-03T21:06:39Z</dcterms:created>
  <dcterms:modified xsi:type="dcterms:W3CDTF">2026-10-03T21:06:39Z</dcterms:modified>
</cp:coreProperties>
</file>