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319551e-b386-a1de-72a7-b9c784061d9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Clôture" id="{bb2ba078-24a6-b799-183d-c93818532f9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de lancement. Objectifs : présenter la méthode du syllabus (trois couches, zinnenbouwer), faire connaître Emma, Pieter, Sarah et Meneer Janssens, lire le dialogue d’ouverture, puis entrer dans la séquence 1.1 (saluer selon le moment de la journée) jusqu’à l’exercice 1.1.4.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Durées indicatives sur 90 minutes. La séance couvre les pages ii à 9 du livret ; 1.1.5 à 1.1.7 seront traités à la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la logique des trois couches : on ne produit jamais avant d’avoir beaucoup entendu. Montrer les bandeaux de couleur dans le livret : vert = couche 1, bleu = couche 2, jaune = couche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feuilleter le livret et retrouver chaque type d’encadré. Le tag « + BONUS » signale les exercices de ces diapositives qui ne figurent pas dans le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mot « palier » (= niveau) vient du livret. Montrer que chaque séquence correspond à un extrait du dialogue d’ouverture.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cartes à voix haute ; faire répéter les noms de villes (Bergen = Mons, Gent = Gand). Le livret écrit « zij helpt hem in het Frans » : plus idiomatique, « zij helpt hem met zijn Frans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Bulles de l’image : « Ben je klaar voor de cursus? » / « Zeker weten! » / « Ik heb mijn boek al bij me. » Faire des hypothèses en français, puis passer au 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lecture par le professeur, deuxième lecture en binôme (Emma / Pieter), puis on inverse. Coquille du livret : « Dag Pieter!! » (double point d’exclamation). Les lignes ne sont pas numérotées dans le livret ; la numérotation ci-contre sert au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pour vérifier la compréhension globale avant d’entrer dans la séquence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pour vérifier la compréhension globale avant d’entrer dans la séquence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attendue : « Goedemiddag, Pieter! ». Annoncer que la salutation dépend de l’heure, comme « bonsoir » en français, mais avec quatre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Coquilles du zinnenbouwer 1.1 à signaler aux étudiants : famille B « werk Emma » → werkt Emma ; « Overmorgen » (après-demain) est sans doute « Overdag » (pendant la journée). Famille C : avec les verbes séparables, la particule va à la fin : « Om zeven uur sta ik elke dag op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de l’inversion, traitée en détail à la séance 2 avec la fiche de grammaire A2-01. Ici, il suffit de faire remarquer la 2e position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 tableau ligne par ligne, faire répéter en chœur. Attirer l’attention sur ’s (prononcé [s] et collé au mot : « smorgens »), traité au Klankmoment de la séance 2. « Vannacht » peut désigner la nuit passée ou la nuit qui vient.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produire une phrase par carte avec « avond » : Goedenavond! / ’s Avonds kijk ik tv. / Vanavond ga ik naar de cursus. / In de avond is het rustig.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1 n’est pas reproduit dans le livret : lire le texte du dossier du professeur. La solution (phrases absentes et ordre) dépend de ce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Grille projetée pour la mise en commun. Coquille du livret : « Morgens werk ik op school » → « ’s Morgens werk ik op school » (ou « ’s Ochtends »). Le livret annonce 10 phrases à numéroter pour 12 phrases proposées : les 2 phrases restantes sont les intrus.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projetée du bingo : sur la diapositive de correction, la phrase néerlandaise de chaque case. Pour « l’après-midi, c’est calme », accepter aussi « In de middag is het rustig op het werk » (période générale).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Corriger en faisant relire chaque phrase ; souligner l’inversion (’s Morgens werk ik) et « tegen » (dire à quelqu’un = zeggen tegen iemand).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libre : pas de correction unique. Passer dans les rangs et vérifier la 2e position du verbe. Le livret dit d’interroger le voisin avec la « famille E » ; dans le zinnenbouwer 1.1, la famille E est celle des jours de la semaine : utiliser simplement la question inversée (Werk jij 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Préparer cinq cartes par groupe (ou les écrire au tableau). Veiller à ce que le prénom soit toujours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Accepter les réponses courtes ; à l’oral, exiger la phrase complète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oral et rapide : interroger un étudiant par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oral et rapide : interroger un étudiant par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de sortie à l’oral : « Goedenavond, … ! Vanavond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LAS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2 · UE2 · Néerlandais en situation · Séance 01</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LAS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2 · UE2 · Néerlandais en situation · Séance 01</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LAS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7315200" cy="320040"/>
          </a:xfrm>
          <a:prstGeom prst="rect">
            <a:avLst/>
          </a:prstGeom>
          <a:noFill/>
          <a:ln/>
        </p:spPr>
        <p:txBody>
          <a:bodyPr wrap="square" lIns="0" tIns="0" rIns="0" bIns="0" rtlCol="0" anchor="ctr"/>
          <a:lstStyle/>
          <a:p>
            <a:pPr indent="0" marL="0">
              <a:buNone/>
            </a:pPr>
            <a:r>
              <a:rPr lang="en-US" sz="1200" dirty="0">
                <a:solidFill>
                  <a:schemeClr val="bg2"/>
                </a:solidFill>
              </a:rPr>
              <a:t>Néerlandais 2 · UE2 · A. Jouniaux · IRAM — Enseignement pour adultes</a:t>
            </a:r>
            <a:endParaRPr lang="en-US" sz="1200" dirty="0"/>
          </a:p>
        </p:txBody>
      </p:sp>
      <p:sp>
        <p:nvSpPr>
          <p:cNvPr id="3" name="Text 1"/>
          <p:cNvSpPr/>
          <p:nvPr>
            <p:ph idx="101" type="title" hasCustomPrompt="1"/>
          </p:nvPr>
        </p:nvSpPr>
        <p:spPr>
          <a:xfrm>
            <a:off x="548640" y="1874520"/>
            <a:ext cx="576072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1"/>
          <p:cNvSpPr/>
          <p:nvPr>
            <p:ph idx="102" type="body" hasCustomPrompt="1"/>
          </p:nvPr>
        </p:nvSpPr>
        <p:spPr>
          <a:xfrm>
            <a:off x="548640" y="3794760"/>
            <a:ext cx="5760720" cy="13716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369820"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chemeClr val="bg1"/>
                </a:solidFill>
              </a:rPr>
              <a:t>SÉANCE 01 / 19</a:t>
            </a:r>
            <a:endParaRPr lang="en-US" sz="1400" dirty="0"/>
          </a:p>
        </p:txBody>
      </p:sp>
      <p:sp>
        <p:nvSpPr>
          <p:cNvPr id="3" name="Text 1"/>
          <p:cNvSpPr txBox="1"/>
          <p:nvPr/>
        </p:nvSpPr>
        <p:spPr>
          <a:xfrm>
            <a:off x="548640" y="1188720"/>
            <a:ext cx="2377440" cy="777240"/>
          </a:xfrm>
          <a:prstGeom prst="rect">
            <a:avLst/>
          </a:prstGeom>
          <a:noFill/>
          <a:ln/>
        </p:spPr>
        <p:txBody>
          <a:bodyPr wrap="square" lIns="0" tIns="0" rIns="0" bIns="0" rtlCol="0" anchor="t"/>
          <a:lstStyle/>
          <a:p>
            <a:pPr indent="0" marL="0">
              <a:buNone/>
            </a:pPr>
            <a:r>
              <a:rPr lang="en-US" sz="1300" b="1" spc="200" kern="0" dirty="0">
                <a:solidFill>
                  <a:schemeClr val="bg2"/>
                </a:solidFill>
              </a:rPr>
              <a:t>SÉQUENCE</a:t>
            </a:r>
            <a:endParaRPr lang="en-US" sz="1300" dirty="0"/>
          </a:p>
          <a:p>
            <a:pPr indent="0" marL="0">
              <a:buNone/>
            </a:pPr>
            <a:r>
              <a:rPr lang="en-US" sz="3000" b="1" dirty="0">
                <a:solidFill>
                  <a:schemeClr val="bg1"/>
                </a:solidFill>
                <a:latin typeface="+mj-lt" pitchFamily="34" charset="0"/>
                <a:ea typeface="+mj-lt" pitchFamily="34" charset="-122"/>
                <a:cs typeface="+mj-lt" pitchFamily="34" charset="-120"/>
              </a:rPr>
              <a:t>1.1</a:t>
            </a:r>
            <a:endParaRPr lang="en-US" sz="1300" dirty="0"/>
          </a:p>
        </p:txBody>
      </p:sp>
      <p:sp>
        <p:nvSpPr>
          <p:cNvPr id="4" name="Text 1"/>
          <p:cNvSpPr/>
          <p:nvPr>
            <p:ph idx="101" type="title" hasCustomPrompt="1"/>
          </p:nvPr>
        </p:nvSpPr>
        <p:spPr>
          <a:xfrm>
            <a:off x="548640" y="1874520"/>
            <a:ext cx="5760720" cy="1737360"/>
          </a:xfrm>
          <a:prstGeom prst="rect">
            <a:avLst/>
          </a:prstGeom>
          <a:noFill/>
          <a:ln/>
        </p:spPr>
        <p:txBody>
          <a:bodyPr wrap="square" lIns="0" tIns="0" rIns="0" bIns="0" rtlCol="0" anchor="b"/>
          <a:lstStyle/>
          <a:p>
            <a:pPr algn="l" indent="0" marL="0">
              <a:buNone/>
            </a:pPr>
            <a:r>
              <a:rPr lang="en-US" sz="4000" b="1" dirty="0">
                <a:solidFill>
                  <a:schemeClr val="bg1"/>
                </a:solidFill>
              </a:rPr>
              <a:t>Goedemorgen!</a:t>
            </a:r>
            <a:endParaRPr lang="en-US" sz="4000" dirty="0"/>
          </a:p>
        </p:txBody>
      </p:sp>
      <p:sp>
        <p:nvSpPr>
          <p:cNvPr id="5" name="Text 1"/>
          <p:cNvSpPr/>
          <p:nvPr>
            <p:ph idx="102" type="body" hasCustomPrompt="1"/>
          </p:nvPr>
        </p:nvSpPr>
        <p:spPr>
          <a:xfrm>
            <a:off x="548640" y="3794760"/>
            <a:ext cx="5760720" cy="1371600"/>
          </a:xfrm>
          <a:prstGeom prst="rect">
            <a:avLst/>
          </a:prstGeom>
          <a:noFill/>
          <a:ln/>
        </p:spPr>
        <p:txBody>
          <a:bodyPr wrap="square" lIns="0" tIns="0" rIns="0" bIns="0" rtlCol="0" anchor="t"/>
          <a:lstStyle/>
          <a:p>
            <a:pPr algn="l" indent="0" marL="0">
              <a:spcAft>
                <a:spcPts val="1000"/>
              </a:spcAft>
              <a:buNone/>
            </a:pPr>
            <a:r>
              <a:rPr lang="en-US" sz="1800" i="1" dirty="0">
                <a:solidFill>
                  <a:schemeClr val="bg2"/>
                </a:solidFill>
              </a:rPr>
              <a:t>Kennismaking — le cours, les personnages et les salutations</a:t>
            </a:r>
            <a:endParaRPr lang="en-US" sz="1800" dirty="0"/>
          </a:p>
          <a:p>
            <a:pPr algn="l" indent="0" marL="0">
              <a:buNone/>
            </a:pPr>
            <a:r>
              <a:rPr lang="en-US" sz="1800" b="1" dirty="0">
                <a:solidFill>
                  <a:schemeClr val="bg2"/>
                </a:solidFill>
              </a:rPr>
              <a:t>Section 1 · Premiers pas en néerlandais</a:t>
            </a:r>
            <a:endParaRPr lang="en-US" sz="1800" dirty="0"/>
          </a:p>
          <a:p>
            <a:pPr algn="l" indent="0" marL="0">
              <a:buNone/>
            </a:pPr>
            <a:r>
              <a:rPr lang="en-US" sz="1800" dirty="0">
                <a:solidFill>
                  <a:schemeClr val="bg2"/>
                </a:solidFill>
              </a:rPr>
              <a:t>Livret p. ii–9</a:t>
            </a:r>
            <a:endParaRPr lang="en-US" sz="1800" dirty="0"/>
          </a:p>
        </p:txBody>
      </p:sp>
      <p:pic>
        <p:nvPicPr>
          <p:cNvPr id="6" name="illustration" descr="Illustration du syllabus">    </p:cNvPr>
          <p:cNvPicPr>
            <a:picLocks noChangeAspect="1"/>
          </p:cNvPicPr>
          <p:nvPr/>
        </p:nvPicPr>
        <p:blipFill>
          <a:blip r:embed="rId1"/>
          <a:stretch>
            <a:fillRect/>
          </a:stretch>
        </p:blipFill>
        <p:spPr>
          <a:xfrm>
            <a:off x="6583680" y="1720869"/>
            <a:ext cx="5120640" cy="3416263"/>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Mission du jour</a:t>
            </a:r>
            <a:endParaRPr lang="en-US" sz="3200" dirty="0"/>
          </a:p>
        </p:txBody>
      </p:sp>
      <p:sp>
        <p:nvSpPr>
          <p:cNvPr id="3" name="tag"/>
          <p:cNvSpPr/>
          <p:nvPr/>
        </p:nvSpPr>
        <p:spPr>
          <a:xfrm>
            <a:off x="548640" y="237744"/>
            <a:ext cx="82296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PLAN</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ii–9</a:t>
            </a:r>
            <a:endParaRPr lang="en-US" sz="1200" dirty="0"/>
          </a:p>
        </p:txBody>
      </p:sp>
      <p:sp>
        <p:nvSpPr>
          <p:cNvPr id="6" name="Shape 3"/>
          <p:cNvSpPr/>
          <p:nvPr/>
        </p:nvSpPr>
        <p:spPr>
          <a:xfrm>
            <a:off x="548640" y="1508760"/>
            <a:ext cx="5257800" cy="1463040"/>
          </a:xfrm>
          <a:prstGeom prst="roundRect">
            <a:avLst>
              <a:gd name="adj" fmla="val 5000"/>
            </a:avLst>
          </a:prstGeom>
          <a:solidFill>
            <a:schemeClr val="bg2"/>
          </a:solidFill>
          <a:ln w="9525">
            <a:solidFill>
              <a:srgbClr val="D5DCE6"/>
            </a:solidFill>
            <a:prstDash val="solid"/>
          </a:ln>
        </p:spPr>
      </p:sp>
      <p:sp>
        <p:nvSpPr>
          <p:cNvPr id="7" name="Shape 4"/>
          <p:cNvSpPr/>
          <p:nvPr/>
        </p:nvSpPr>
        <p:spPr>
          <a:xfrm>
            <a:off x="749808" y="1709928"/>
            <a:ext cx="566928" cy="566928"/>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886968" y="1847088"/>
            <a:ext cx="292608" cy="292608"/>
          </a:xfrm>
          <a:prstGeom prst="rect">
            <a:avLst/>
          </a:prstGeom>
        </p:spPr>
      </p:pic>
      <p:sp>
        <p:nvSpPr>
          <p:cNvPr id="9" name="Text 5"/>
          <p:cNvSpPr txBox="1"/>
          <p:nvPr/>
        </p:nvSpPr>
        <p:spPr>
          <a:xfrm>
            <a:off x="1481328" y="1655064"/>
            <a:ext cx="4160520"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EN FIN DE SÉANCE, JE SAIS…</a:t>
            </a:r>
            <a:endParaRPr lang="en-US" sz="1200" dirty="0"/>
          </a:p>
        </p:txBody>
      </p:sp>
      <p:sp>
        <p:nvSpPr>
          <p:cNvPr id="10" name="Text 6"/>
          <p:cNvSpPr txBox="1"/>
          <p:nvPr/>
        </p:nvSpPr>
        <p:spPr>
          <a:xfrm>
            <a:off x="1481328" y="1947672"/>
            <a:ext cx="4160520" cy="932688"/>
          </a:xfrm>
          <a:prstGeom prst="rect">
            <a:avLst/>
          </a:prstGeom>
          <a:noFill/>
          <a:ln/>
        </p:spPr>
        <p:txBody>
          <a:bodyPr wrap="square" lIns="0" tIns="0" rIns="0" bIns="0" rtlCol="0" anchor="t"/>
          <a:lstStyle/>
          <a:p>
            <a:pPr indent="0" marL="0">
              <a:buNone/>
            </a:pPr>
            <a:r>
              <a:rPr lang="en-US" sz="1800" dirty="0">
                <a:solidFill>
                  <a:schemeClr val="tx1"/>
                </a:solidFill>
              </a:rPr>
              <a:t>Saluer quelqu’un </a:t>
            </a:r>
            <a:r>
              <a:rPr lang="en-US" sz="1800" b="1" dirty="0">
                <a:solidFill>
                  <a:schemeClr val="tx1"/>
                </a:solidFill>
              </a:rPr>
              <a:t>selon le moment de la journée</a:t>
            </a:r>
            <a:r>
              <a:rPr lang="en-US" sz="1800" dirty="0">
                <a:solidFill>
                  <a:schemeClr val="tx1"/>
                </a:solidFill>
              </a:rPr>
              <a:t> et dire </a:t>
            </a:r>
            <a:r>
              <a:rPr lang="en-US" sz="1800" b="1" dirty="0">
                <a:solidFill>
                  <a:schemeClr val="tx1"/>
                </a:solidFill>
              </a:rPr>
              <a:t>quand</a:t>
            </a:r>
            <a:r>
              <a:rPr lang="en-US" sz="1800" dirty="0">
                <a:solidFill>
                  <a:schemeClr val="tx1"/>
                </a:solidFill>
              </a:rPr>
              <a:t> je fais quelque chose (’s morgens, vanavond…).</a:t>
            </a:r>
            <a:endParaRPr lang="en-US" sz="1800" dirty="0"/>
          </a:p>
        </p:txBody>
      </p:sp>
      <p:sp>
        <p:nvSpPr>
          <p:cNvPr id="11" name="Shape 7"/>
          <p:cNvSpPr/>
          <p:nvPr/>
        </p:nvSpPr>
        <p:spPr>
          <a:xfrm>
            <a:off x="548640" y="3136392"/>
            <a:ext cx="5257800" cy="1463040"/>
          </a:xfrm>
          <a:prstGeom prst="roundRect">
            <a:avLst>
              <a:gd name="adj" fmla="val 5000"/>
            </a:avLst>
          </a:prstGeom>
          <a:solidFill>
            <a:schemeClr val="bg2"/>
          </a:solidFill>
          <a:ln w="9525">
            <a:solidFill>
              <a:srgbClr val="D5DCE6"/>
            </a:solidFill>
            <a:prstDash val="solid"/>
          </a:ln>
        </p:spPr>
      </p:sp>
      <p:sp>
        <p:nvSpPr>
          <p:cNvPr id="12" name="Shape 8"/>
          <p:cNvSpPr/>
          <p:nvPr/>
        </p:nvSpPr>
        <p:spPr>
          <a:xfrm>
            <a:off x="749808" y="3337560"/>
            <a:ext cx="566928" cy="566928"/>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886968" y="3474720"/>
            <a:ext cx="292608" cy="292608"/>
          </a:xfrm>
          <a:prstGeom prst="rect">
            <a:avLst/>
          </a:prstGeom>
        </p:spPr>
      </p:pic>
      <p:sp>
        <p:nvSpPr>
          <p:cNvPr id="14" name="Text 9"/>
          <p:cNvSpPr txBox="1"/>
          <p:nvPr/>
        </p:nvSpPr>
        <p:spPr>
          <a:xfrm>
            <a:off x="1481328" y="3282696"/>
            <a:ext cx="4160520" cy="292608"/>
          </a:xfrm>
          <a:prstGeom prst="rect">
            <a:avLst/>
          </a:prstGeom>
          <a:noFill/>
          <a:ln/>
        </p:spPr>
        <p:txBody>
          <a:bodyPr wrap="square" lIns="0" tIns="0" rIns="0" bIns="0" rtlCol="0" anchor="ctr"/>
          <a:lstStyle/>
          <a:p>
            <a:pPr indent="0" marL="0">
              <a:buNone/>
            </a:pPr>
            <a:r>
              <a:rPr lang="en-US" sz="1200" b="1" spc="100" kern="0" dirty="0">
                <a:solidFill>
                  <a:schemeClr val="accent2"/>
                </a:solidFill>
              </a:rPr>
              <a:t>LANGUE CIBLE</a:t>
            </a:r>
            <a:endParaRPr lang="en-US" sz="1200" dirty="0"/>
          </a:p>
        </p:txBody>
      </p:sp>
      <p:sp>
        <p:nvSpPr>
          <p:cNvPr id="15" name="Text 10"/>
          <p:cNvSpPr txBox="1"/>
          <p:nvPr/>
        </p:nvSpPr>
        <p:spPr>
          <a:xfrm>
            <a:off x="1481328" y="3575304"/>
            <a:ext cx="4160520" cy="932688"/>
          </a:xfrm>
          <a:prstGeom prst="rect">
            <a:avLst/>
          </a:prstGeom>
          <a:noFill/>
          <a:ln/>
        </p:spPr>
        <p:txBody>
          <a:bodyPr wrap="square" lIns="0" tIns="0" rIns="0" bIns="0" rtlCol="0" anchor="t"/>
          <a:lstStyle/>
          <a:p>
            <a:pPr indent="0" marL="0">
              <a:buNone/>
            </a:pPr>
            <a:r>
              <a:rPr lang="en-US" sz="1700" i="1" dirty="0">
                <a:solidFill>
                  <a:schemeClr val="tx1"/>
                </a:solidFill>
              </a:rPr>
              <a:t>Goedemorgen · Goedemiddag · Goedenavond · Goedenacht · Welterusten · Hallo · Dag · Hoi</a:t>
            </a:r>
            <a:r>
              <a:rPr lang="en-US" sz="1700" dirty="0">
                <a:solidFill>
                  <a:schemeClr val="tx1"/>
                </a:solidFill>
              </a:rPr>
              <a:t> — ’s morgens / vanmorgen / in de morgen</a:t>
            </a:r>
            <a:endParaRPr lang="en-US" sz="1700" dirty="0"/>
          </a:p>
        </p:txBody>
      </p:sp>
      <p:sp>
        <p:nvSpPr>
          <p:cNvPr id="16" name="Shape 11"/>
          <p:cNvSpPr/>
          <p:nvPr/>
        </p:nvSpPr>
        <p:spPr>
          <a:xfrm>
            <a:off x="548640" y="4764024"/>
            <a:ext cx="5257800" cy="1463040"/>
          </a:xfrm>
          <a:prstGeom prst="roundRect">
            <a:avLst>
              <a:gd name="adj" fmla="val 5000"/>
            </a:avLst>
          </a:prstGeom>
          <a:solidFill>
            <a:schemeClr val="bg2"/>
          </a:solidFill>
          <a:ln w="9525">
            <a:solidFill>
              <a:srgbClr val="D5DCE6"/>
            </a:solidFill>
            <a:prstDash val="solid"/>
          </a:ln>
        </p:spPr>
      </p:sp>
      <p:sp>
        <p:nvSpPr>
          <p:cNvPr id="17" name="Shape 12"/>
          <p:cNvSpPr/>
          <p:nvPr/>
        </p:nvSpPr>
        <p:spPr>
          <a:xfrm>
            <a:off x="749808" y="4965192"/>
            <a:ext cx="566928" cy="566928"/>
          </a:xfrm>
          <a:prstGeom prst="ellipse">
            <a:avLst/>
          </a:prstGeom>
          <a:solidFill>
            <a:schemeClr val="accent3"/>
          </a:solidFill>
          <a:ln/>
        </p:spPr>
      </p:sp>
      <p:pic>
        <p:nvPicPr>
          <p:cNvPr id="18" name="Image 2" descr="preencoded.png">    </p:cNvPr>
          <p:cNvPicPr>
            <a:picLocks noChangeAspect="1"/>
          </p:cNvPicPr>
          <p:nvPr/>
        </p:nvPicPr>
        <p:blipFill>
          <a:blip r:embed="rId3"/>
          <a:stretch>
            <a:fillRect/>
          </a:stretch>
        </p:blipFill>
        <p:spPr>
          <a:xfrm>
            <a:off x="886968" y="5102352"/>
            <a:ext cx="292608" cy="292608"/>
          </a:xfrm>
          <a:prstGeom prst="rect">
            <a:avLst/>
          </a:prstGeom>
        </p:spPr>
      </p:pic>
      <p:sp>
        <p:nvSpPr>
          <p:cNvPr id="19" name="Text 13"/>
          <p:cNvSpPr txBox="1"/>
          <p:nvPr/>
        </p:nvSpPr>
        <p:spPr>
          <a:xfrm>
            <a:off x="1481328" y="4910328"/>
            <a:ext cx="4160520" cy="292608"/>
          </a:xfrm>
          <a:prstGeom prst="rect">
            <a:avLst/>
          </a:prstGeom>
          <a:noFill/>
          <a:ln/>
        </p:spPr>
        <p:txBody>
          <a:bodyPr wrap="square" lIns="0" tIns="0" rIns="0" bIns="0" rtlCol="0" anchor="ctr"/>
          <a:lstStyle/>
          <a:p>
            <a:pPr indent="0" marL="0">
              <a:buNone/>
            </a:pPr>
            <a:r>
              <a:rPr lang="en-US" sz="1200" b="1" spc="100" kern="0" dirty="0">
                <a:solidFill>
                  <a:schemeClr val="accent3"/>
                </a:solidFill>
              </a:rPr>
              <a:t>COMPÉTENCES</a:t>
            </a:r>
            <a:endParaRPr lang="en-US" sz="1200" dirty="0"/>
          </a:p>
        </p:txBody>
      </p:sp>
      <p:sp>
        <p:nvSpPr>
          <p:cNvPr id="20" name="Text 14"/>
          <p:cNvSpPr txBox="1"/>
          <p:nvPr/>
        </p:nvSpPr>
        <p:spPr>
          <a:xfrm>
            <a:off x="1481328" y="5202936"/>
            <a:ext cx="4160520" cy="932688"/>
          </a:xfrm>
          <a:prstGeom prst="rect">
            <a:avLst/>
          </a:prstGeom>
          <a:noFill/>
          <a:ln/>
        </p:spPr>
        <p:txBody>
          <a:bodyPr wrap="square" lIns="0" tIns="0" rIns="0" bIns="0" rtlCol="0" anchor="t"/>
          <a:lstStyle/>
          <a:p>
            <a:pPr indent="0" marL="0">
              <a:buNone/>
            </a:pPr>
            <a:r>
              <a:rPr lang="en-US" sz="1700" dirty="0">
                <a:solidFill>
                  <a:schemeClr val="tx1"/>
                </a:solidFill>
              </a:rPr>
              <a:t>Comprendre un dialogue court · repérer des expressions de temps à l’oral · construire des phrases avec le zinnenbouwer</a:t>
            </a:r>
            <a:endParaRPr lang="en-US" sz="1700" dirty="0"/>
          </a:p>
        </p:txBody>
      </p:sp>
      <p:sp>
        <p:nvSpPr>
          <p:cNvPr id="21" name="Text 15"/>
          <p:cNvSpPr txBox="1"/>
          <p:nvPr/>
        </p:nvSpPr>
        <p:spPr>
          <a:xfrm>
            <a:off x="6263640" y="1463040"/>
            <a:ext cx="3657600" cy="320040"/>
          </a:xfrm>
          <a:prstGeom prst="rect">
            <a:avLst/>
          </a:prstGeom>
          <a:noFill/>
          <a:ln/>
        </p:spPr>
        <p:txBody>
          <a:bodyPr wrap="square" lIns="0" tIns="0" rIns="0" bIns="0" rtlCol="0" anchor="ctr"/>
          <a:lstStyle/>
          <a:p>
            <a:pPr indent="0" marL="0">
              <a:buNone/>
            </a:pPr>
            <a:r>
              <a:rPr lang="en-US" sz="1300" b="1" spc="200" kern="0" dirty="0">
                <a:solidFill>
                  <a:schemeClr val="accent5"/>
                </a:solidFill>
              </a:rPr>
              <a:t>DÉROULÉ</a:t>
            </a:r>
            <a:endParaRPr lang="en-US" sz="1300" dirty="0"/>
          </a:p>
        </p:txBody>
      </p:sp>
      <p:sp>
        <p:nvSpPr>
          <p:cNvPr id="22" name="Text 16"/>
          <p:cNvSpPr txBox="1"/>
          <p:nvPr/>
        </p:nvSpPr>
        <p:spPr>
          <a:xfrm>
            <a:off x="8897112" y="1463040"/>
            <a:ext cx="2743200" cy="320040"/>
          </a:xfrm>
          <a:prstGeom prst="rect">
            <a:avLst/>
          </a:prstGeom>
          <a:noFill/>
          <a:ln/>
        </p:spPr>
        <p:txBody>
          <a:bodyPr wrap="square" lIns="0" tIns="0" rIns="0" bIns="0" rtlCol="0" anchor="ctr"/>
          <a:lstStyle/>
          <a:p>
            <a:pPr algn="r" indent="0" marL="0">
              <a:buNone/>
            </a:pPr>
            <a:r>
              <a:rPr lang="en-US" sz="1200" i="1" dirty="0">
                <a:solidFill>
                  <a:schemeClr val="accent5"/>
                </a:solidFill>
              </a:rPr>
              <a:t>≈ 90 min (indicatif)</a:t>
            </a:r>
            <a:endParaRPr lang="en-US" sz="1200" dirty="0"/>
          </a:p>
        </p:txBody>
      </p:sp>
      <p:sp>
        <p:nvSpPr>
          <p:cNvPr id="23" name="Shape 17"/>
          <p:cNvSpPr/>
          <p:nvPr/>
        </p:nvSpPr>
        <p:spPr>
          <a:xfrm>
            <a:off x="6263640" y="1959674"/>
            <a:ext cx="384048" cy="384048"/>
          </a:xfrm>
          <a:prstGeom prst="ellipse">
            <a:avLst/>
          </a:prstGeom>
          <a:solidFill>
            <a:schemeClr val="tx2"/>
          </a:solidFill>
          <a:ln/>
        </p:spPr>
      </p:sp>
      <p:sp>
        <p:nvSpPr>
          <p:cNvPr id="24" name="Text 18"/>
          <p:cNvSpPr txBox="1"/>
          <p:nvPr/>
        </p:nvSpPr>
        <p:spPr>
          <a:xfrm>
            <a:off x="6263640" y="195967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5" name="Text 19"/>
          <p:cNvSpPr txBox="1"/>
          <p:nvPr/>
        </p:nvSpPr>
        <p:spPr>
          <a:xfrm>
            <a:off x="6784848" y="1874520"/>
            <a:ext cx="4114800" cy="554355"/>
          </a:xfrm>
          <a:prstGeom prst="rect">
            <a:avLst/>
          </a:prstGeom>
          <a:noFill/>
          <a:ln/>
        </p:spPr>
        <p:txBody>
          <a:bodyPr wrap="square" lIns="0" tIns="0" rIns="0" bIns="0" rtlCol="0" anchor="ctr"/>
          <a:lstStyle/>
          <a:p>
            <a:pPr indent="0" marL="0">
              <a:buNone/>
            </a:pPr>
            <a:r>
              <a:rPr lang="en-US" sz="1600" dirty="0">
                <a:solidFill>
                  <a:schemeClr val="tx1"/>
                </a:solidFill>
              </a:rPr>
              <a:t>Le syllabus : trois couches</a:t>
            </a:r>
            <a:endParaRPr lang="en-US" sz="1600" dirty="0"/>
          </a:p>
        </p:txBody>
      </p:sp>
      <p:sp>
        <p:nvSpPr>
          <p:cNvPr id="26" name="Text 20"/>
          <p:cNvSpPr txBox="1"/>
          <p:nvPr/>
        </p:nvSpPr>
        <p:spPr>
          <a:xfrm>
            <a:off x="10972800" y="187452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27" name="Shape 21"/>
          <p:cNvSpPr/>
          <p:nvPr/>
        </p:nvSpPr>
        <p:spPr>
          <a:xfrm>
            <a:off x="6263640" y="2514029"/>
            <a:ext cx="384048" cy="384048"/>
          </a:xfrm>
          <a:prstGeom prst="ellipse">
            <a:avLst/>
          </a:prstGeom>
          <a:solidFill>
            <a:schemeClr val="tx2"/>
          </a:solidFill>
          <a:ln/>
        </p:spPr>
      </p:sp>
      <p:sp>
        <p:nvSpPr>
          <p:cNvPr id="28" name="Text 22"/>
          <p:cNvSpPr txBox="1"/>
          <p:nvPr/>
        </p:nvSpPr>
        <p:spPr>
          <a:xfrm>
            <a:off x="6263640" y="2514029"/>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6784848" y="2428875"/>
            <a:ext cx="4114800" cy="554355"/>
          </a:xfrm>
          <a:prstGeom prst="rect">
            <a:avLst/>
          </a:prstGeom>
          <a:noFill/>
          <a:ln/>
        </p:spPr>
        <p:txBody>
          <a:bodyPr wrap="square" lIns="0" tIns="0" rIns="0" bIns="0" rtlCol="0" anchor="ctr"/>
          <a:lstStyle/>
          <a:p>
            <a:pPr indent="0" marL="0">
              <a:buNone/>
            </a:pPr>
            <a:r>
              <a:rPr lang="en-US" sz="1600" dirty="0">
                <a:solidFill>
                  <a:schemeClr val="tx1"/>
                </a:solidFill>
              </a:rPr>
              <a:t>Emma, Pieter &amp; co · le dialogue</a:t>
            </a:r>
            <a:endParaRPr lang="en-US" sz="1600" dirty="0"/>
          </a:p>
        </p:txBody>
      </p:sp>
      <p:sp>
        <p:nvSpPr>
          <p:cNvPr id="30" name="Text 24"/>
          <p:cNvSpPr txBox="1"/>
          <p:nvPr/>
        </p:nvSpPr>
        <p:spPr>
          <a:xfrm>
            <a:off x="10972800" y="242887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31" name="Shape 25"/>
          <p:cNvSpPr/>
          <p:nvPr/>
        </p:nvSpPr>
        <p:spPr>
          <a:xfrm>
            <a:off x="6263640" y="3068384"/>
            <a:ext cx="384048" cy="384048"/>
          </a:xfrm>
          <a:prstGeom prst="ellipse">
            <a:avLst/>
          </a:prstGeom>
          <a:solidFill>
            <a:schemeClr val="tx2"/>
          </a:solidFill>
          <a:ln/>
        </p:spPr>
      </p:sp>
      <p:sp>
        <p:nvSpPr>
          <p:cNvPr id="32" name="Text 26"/>
          <p:cNvSpPr txBox="1"/>
          <p:nvPr/>
        </p:nvSpPr>
        <p:spPr>
          <a:xfrm>
            <a:off x="6263640" y="30683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3" name="Text 27"/>
          <p:cNvSpPr txBox="1"/>
          <p:nvPr/>
        </p:nvSpPr>
        <p:spPr>
          <a:xfrm>
            <a:off x="6784848" y="2983230"/>
            <a:ext cx="4114800" cy="554355"/>
          </a:xfrm>
          <a:prstGeom prst="rect">
            <a:avLst/>
          </a:prstGeom>
          <a:noFill/>
          <a:ln/>
        </p:spPr>
        <p:txBody>
          <a:bodyPr wrap="square" lIns="0" tIns="0" rIns="0" bIns="0" rtlCol="0" anchor="ctr"/>
          <a:lstStyle/>
          <a:p>
            <a:pPr indent="0" marL="0">
              <a:buNone/>
            </a:pPr>
            <a:r>
              <a:rPr lang="en-US" sz="1600" dirty="0">
                <a:solidFill>
                  <a:schemeClr val="tx1"/>
                </a:solidFill>
              </a:rPr>
              <a:t>Séquence 1.1 · zinnenbouwer 1.1</a:t>
            </a:r>
            <a:endParaRPr lang="en-US" sz="1600" dirty="0"/>
          </a:p>
        </p:txBody>
      </p:sp>
      <p:sp>
        <p:nvSpPr>
          <p:cNvPr id="34" name="Text 28"/>
          <p:cNvSpPr txBox="1"/>
          <p:nvPr/>
        </p:nvSpPr>
        <p:spPr>
          <a:xfrm>
            <a:off x="10972800" y="298323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35" name="Shape 29"/>
          <p:cNvSpPr/>
          <p:nvPr/>
        </p:nvSpPr>
        <p:spPr>
          <a:xfrm>
            <a:off x="6263640" y="3622738"/>
            <a:ext cx="384048" cy="384048"/>
          </a:xfrm>
          <a:prstGeom prst="ellipse">
            <a:avLst/>
          </a:prstGeom>
          <a:solidFill>
            <a:schemeClr val="tx2"/>
          </a:solidFill>
          <a:ln/>
        </p:spPr>
      </p:sp>
      <p:sp>
        <p:nvSpPr>
          <p:cNvPr id="36" name="Text 30"/>
          <p:cNvSpPr txBox="1"/>
          <p:nvPr/>
        </p:nvSpPr>
        <p:spPr>
          <a:xfrm>
            <a:off x="6263640" y="362273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7" name="Text 31"/>
          <p:cNvSpPr txBox="1"/>
          <p:nvPr/>
        </p:nvSpPr>
        <p:spPr>
          <a:xfrm>
            <a:off x="6784848" y="3537585"/>
            <a:ext cx="4114800" cy="554355"/>
          </a:xfrm>
          <a:prstGeom prst="rect">
            <a:avLst/>
          </a:prstGeom>
          <a:noFill/>
          <a:ln/>
        </p:spPr>
        <p:txBody>
          <a:bodyPr wrap="square" lIns="0" tIns="0" rIns="0" bIns="0" rtlCol="0" anchor="ctr"/>
          <a:lstStyle/>
          <a:p>
            <a:pPr indent="0" marL="0">
              <a:buNone/>
            </a:pPr>
            <a:r>
              <a:rPr lang="en-US" sz="1600" dirty="0">
                <a:solidFill>
                  <a:schemeClr val="tx1"/>
                </a:solidFill>
              </a:rPr>
              <a:t>Les nuances du temps (p. 6)</a:t>
            </a:r>
            <a:endParaRPr lang="en-US" sz="1600" dirty="0"/>
          </a:p>
        </p:txBody>
      </p:sp>
      <p:sp>
        <p:nvSpPr>
          <p:cNvPr id="38" name="Text 32"/>
          <p:cNvSpPr txBox="1"/>
          <p:nvPr/>
        </p:nvSpPr>
        <p:spPr>
          <a:xfrm>
            <a:off x="10972800" y="353758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39" name="Shape 33"/>
          <p:cNvSpPr/>
          <p:nvPr/>
        </p:nvSpPr>
        <p:spPr>
          <a:xfrm>
            <a:off x="6263640" y="4177093"/>
            <a:ext cx="384048" cy="384048"/>
          </a:xfrm>
          <a:prstGeom prst="ellipse">
            <a:avLst/>
          </a:prstGeom>
          <a:solidFill>
            <a:schemeClr val="tx2"/>
          </a:solidFill>
          <a:ln/>
        </p:spPr>
      </p:sp>
      <p:sp>
        <p:nvSpPr>
          <p:cNvPr id="40" name="Text 34"/>
          <p:cNvSpPr txBox="1"/>
          <p:nvPr/>
        </p:nvSpPr>
        <p:spPr>
          <a:xfrm>
            <a:off x="6263640" y="4177093"/>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1" name="Text 35"/>
          <p:cNvSpPr txBox="1"/>
          <p:nvPr/>
        </p:nvSpPr>
        <p:spPr>
          <a:xfrm>
            <a:off x="6784848" y="4091940"/>
            <a:ext cx="4114800" cy="554355"/>
          </a:xfrm>
          <a:prstGeom prst="rect">
            <a:avLst/>
          </a:prstGeom>
          <a:noFill/>
          <a:ln/>
        </p:spPr>
        <p:txBody>
          <a:bodyPr wrap="square" lIns="0" tIns="0" rIns="0" bIns="0" rtlCol="0" anchor="ctr"/>
          <a:lstStyle/>
          <a:p>
            <a:pPr indent="0" marL="0">
              <a:buNone/>
            </a:pPr>
            <a:r>
              <a:rPr lang="en-US" sz="1600" dirty="0">
                <a:solidFill>
                  <a:schemeClr val="tx1"/>
                </a:solidFill>
              </a:rPr>
              <a:t>1.1.1 · 1.1.2 (réception)</a:t>
            </a:r>
            <a:endParaRPr lang="en-US" sz="1600" dirty="0"/>
          </a:p>
        </p:txBody>
      </p:sp>
      <p:sp>
        <p:nvSpPr>
          <p:cNvPr id="42" name="Text 36"/>
          <p:cNvSpPr txBox="1"/>
          <p:nvPr/>
        </p:nvSpPr>
        <p:spPr>
          <a:xfrm>
            <a:off x="10972800" y="409194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43" name="Shape 37"/>
          <p:cNvSpPr/>
          <p:nvPr/>
        </p:nvSpPr>
        <p:spPr>
          <a:xfrm>
            <a:off x="6263640" y="4731449"/>
            <a:ext cx="384048" cy="384048"/>
          </a:xfrm>
          <a:prstGeom prst="ellipse">
            <a:avLst/>
          </a:prstGeom>
          <a:solidFill>
            <a:schemeClr val="tx2"/>
          </a:solidFill>
          <a:ln/>
        </p:spPr>
      </p:sp>
      <p:sp>
        <p:nvSpPr>
          <p:cNvPr id="44" name="Text 38"/>
          <p:cNvSpPr txBox="1"/>
          <p:nvPr/>
        </p:nvSpPr>
        <p:spPr>
          <a:xfrm>
            <a:off x="6263640" y="4731449"/>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Text 39"/>
          <p:cNvSpPr txBox="1"/>
          <p:nvPr/>
        </p:nvSpPr>
        <p:spPr>
          <a:xfrm>
            <a:off x="6784848" y="4646295"/>
            <a:ext cx="4114800" cy="554355"/>
          </a:xfrm>
          <a:prstGeom prst="rect">
            <a:avLst/>
          </a:prstGeom>
          <a:noFill/>
          <a:ln/>
        </p:spPr>
        <p:txBody>
          <a:bodyPr wrap="square" lIns="0" tIns="0" rIns="0" bIns="0" rtlCol="0" anchor="ctr"/>
          <a:lstStyle/>
          <a:p>
            <a:pPr indent="0" marL="0">
              <a:buNone/>
            </a:pPr>
            <a:r>
              <a:rPr lang="en-US" sz="1600" dirty="0">
                <a:solidFill>
                  <a:schemeClr val="tx1"/>
                </a:solidFill>
              </a:rPr>
              <a:t>1.1.3 Mijn dag</a:t>
            </a:r>
            <a:endParaRPr lang="en-US" sz="1600" dirty="0"/>
          </a:p>
        </p:txBody>
      </p:sp>
      <p:sp>
        <p:nvSpPr>
          <p:cNvPr id="46" name="Text 40"/>
          <p:cNvSpPr txBox="1"/>
          <p:nvPr/>
        </p:nvSpPr>
        <p:spPr>
          <a:xfrm>
            <a:off x="10972800" y="464629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47" name="Shape 41"/>
          <p:cNvSpPr/>
          <p:nvPr/>
        </p:nvSpPr>
        <p:spPr>
          <a:xfrm>
            <a:off x="6263640" y="5285804"/>
            <a:ext cx="384048" cy="384048"/>
          </a:xfrm>
          <a:prstGeom prst="ellipse">
            <a:avLst/>
          </a:prstGeom>
          <a:solidFill>
            <a:schemeClr val="tx2"/>
          </a:solidFill>
          <a:ln/>
        </p:spPr>
      </p:sp>
      <p:sp>
        <p:nvSpPr>
          <p:cNvPr id="48" name="Text 42"/>
          <p:cNvSpPr txBox="1"/>
          <p:nvPr/>
        </p:nvSpPr>
        <p:spPr>
          <a:xfrm>
            <a:off x="6263640" y="52858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9" name="Text 43"/>
          <p:cNvSpPr txBox="1"/>
          <p:nvPr/>
        </p:nvSpPr>
        <p:spPr>
          <a:xfrm>
            <a:off x="6784848" y="5200650"/>
            <a:ext cx="4114800" cy="554355"/>
          </a:xfrm>
          <a:prstGeom prst="rect">
            <a:avLst/>
          </a:prstGeom>
          <a:noFill/>
          <a:ln/>
        </p:spPr>
        <p:txBody>
          <a:bodyPr wrap="square" lIns="0" tIns="0" rIns="0" bIns="0" rtlCol="0" anchor="ctr"/>
          <a:lstStyle/>
          <a:p>
            <a:pPr indent="0" marL="0">
              <a:buNone/>
            </a:pPr>
            <a:r>
              <a:rPr lang="en-US" sz="1600" dirty="0">
                <a:solidFill>
                  <a:schemeClr val="tx1"/>
                </a:solidFill>
              </a:rPr>
              <a:t>1.1.4 Welk moment?</a:t>
            </a:r>
            <a:endParaRPr lang="en-US" sz="1600" dirty="0"/>
          </a:p>
        </p:txBody>
      </p:sp>
      <p:sp>
        <p:nvSpPr>
          <p:cNvPr id="50" name="Text 44"/>
          <p:cNvSpPr txBox="1"/>
          <p:nvPr/>
        </p:nvSpPr>
        <p:spPr>
          <a:xfrm>
            <a:off x="10972800" y="520065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51" name="Shape 45"/>
          <p:cNvSpPr/>
          <p:nvPr/>
        </p:nvSpPr>
        <p:spPr>
          <a:xfrm>
            <a:off x="6263640" y="5840158"/>
            <a:ext cx="384048" cy="384048"/>
          </a:xfrm>
          <a:prstGeom prst="ellipse">
            <a:avLst/>
          </a:prstGeom>
          <a:solidFill>
            <a:schemeClr val="tx2"/>
          </a:solidFill>
          <a:ln/>
        </p:spPr>
      </p:sp>
      <p:sp>
        <p:nvSpPr>
          <p:cNvPr id="52" name="Text 46"/>
          <p:cNvSpPr txBox="1"/>
          <p:nvPr/>
        </p:nvSpPr>
        <p:spPr>
          <a:xfrm>
            <a:off x="6263640" y="584015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3" name="Text 47"/>
          <p:cNvSpPr txBox="1"/>
          <p:nvPr/>
        </p:nvSpPr>
        <p:spPr>
          <a:xfrm>
            <a:off x="6784848" y="5755005"/>
            <a:ext cx="4114800" cy="554355"/>
          </a:xfrm>
          <a:prstGeom prst="rect">
            <a:avLst/>
          </a:prstGeom>
          <a:noFill/>
          <a:ln/>
        </p:spPr>
        <p:txBody>
          <a:bodyPr wrap="square" lIns="0" tIns="0" rIns="0" bIns="0" rtlCol="0" anchor="ctr"/>
          <a:lstStyle/>
          <a:p>
            <a:pPr indent="0" marL="0">
              <a:buNone/>
            </a:pPr>
            <a:r>
              <a:rPr lang="en-US" sz="1600" dirty="0">
                <a:solidFill>
                  <a:schemeClr val="tx1"/>
                </a:solidFill>
              </a:rPr>
              <a:t>Bilan</a:t>
            </a:r>
            <a:endParaRPr lang="en-US" sz="1600" dirty="0"/>
          </a:p>
        </p:txBody>
      </p:sp>
      <p:sp>
        <p:nvSpPr>
          <p:cNvPr id="54" name="Text 48"/>
          <p:cNvSpPr txBox="1"/>
          <p:nvPr/>
        </p:nvSpPr>
        <p:spPr>
          <a:xfrm>
            <a:off x="10972800" y="575500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5'</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Comment fonctionne ce cours</a:t>
            </a:r>
            <a:endParaRPr lang="en-US" sz="3200" dirty="0"/>
          </a:p>
        </p:txBody>
      </p:sp>
      <p:sp>
        <p:nvSpPr>
          <p:cNvPr id="3" name="tag"/>
          <p:cNvSpPr/>
          <p:nvPr/>
        </p:nvSpPr>
        <p:spPr>
          <a:xfrm>
            <a:off x="548640" y="237744"/>
            <a:ext cx="130302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MÉTHODE</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ii</a:t>
            </a:r>
            <a:endParaRPr lang="en-US" sz="1200" dirty="0"/>
          </a:p>
        </p:txBody>
      </p:sp>
      <p:sp>
        <p:nvSpPr>
          <p:cNvPr id="6" name="Text 3"/>
          <p:cNvSpPr txBox="1"/>
          <p:nvPr/>
        </p:nvSpPr>
        <p:spPr>
          <a:xfrm>
            <a:off x="548640" y="1481328"/>
            <a:ext cx="11091672" cy="329184"/>
          </a:xfrm>
          <a:prstGeom prst="rect">
            <a:avLst/>
          </a:prstGeom>
          <a:noFill/>
          <a:ln/>
        </p:spPr>
        <p:txBody>
          <a:bodyPr wrap="square" lIns="0" tIns="0" rIns="0" bIns="0" rtlCol="0" anchor="t"/>
          <a:lstStyle/>
          <a:p>
            <a:pPr indent="0" marL="0">
              <a:buNone/>
            </a:pPr>
            <a:r>
              <a:rPr lang="en-US" sz="1800" dirty="0">
                <a:solidFill>
                  <a:schemeClr val="tx1"/>
                </a:solidFill>
              </a:rPr>
              <a:t>Chaque séquence suit </a:t>
            </a:r>
            <a:r>
              <a:rPr lang="en-US" sz="1800" b="1" dirty="0">
                <a:solidFill>
                  <a:schemeClr val="tx1"/>
                </a:solidFill>
              </a:rPr>
              <a:t>trois couches</a:t>
            </a:r>
            <a:r>
              <a:rPr lang="en-US" sz="1800" dirty="0">
                <a:solidFill>
                  <a:schemeClr val="tx1"/>
                </a:solidFill>
              </a:rPr>
              <a:t>. Le </a:t>
            </a:r>
            <a:r>
              <a:rPr lang="en-US" sz="1800" b="1" dirty="0">
                <a:solidFill>
                  <a:schemeClr val="tx1"/>
                </a:solidFill>
              </a:rPr>
              <a:t>zinnenbouwer</a:t>
            </a:r>
            <a:r>
              <a:rPr lang="en-US" sz="1800" dirty="0">
                <a:solidFill>
                  <a:schemeClr val="tx1"/>
                </a:solidFill>
              </a:rPr>
              <a:t> (bâtisseur de phrases) vous accompagne.</a:t>
            </a:r>
            <a:endParaRPr lang="en-US" sz="1800" dirty="0"/>
          </a:p>
        </p:txBody>
      </p:sp>
      <p:sp>
        <p:nvSpPr>
          <p:cNvPr id="7" name="Shape 4"/>
          <p:cNvSpPr/>
          <p:nvPr/>
        </p:nvSpPr>
        <p:spPr>
          <a:xfrm>
            <a:off x="548640" y="1993392"/>
            <a:ext cx="3502152" cy="3343656"/>
          </a:xfrm>
          <a:prstGeom prst="roundRect">
            <a:avLst>
              <a:gd name="adj" fmla="val 2735"/>
            </a:avLst>
          </a:prstGeom>
          <a:solidFill>
            <a:schemeClr val="bg2"/>
          </a:solidFill>
          <a:ln w="9525">
            <a:solidFill>
              <a:srgbClr val="D5DCE6"/>
            </a:solidFill>
            <a:prstDash val="solid"/>
          </a:ln>
        </p:spPr>
      </p:sp>
      <p:sp>
        <p:nvSpPr>
          <p:cNvPr id="8" name="Shape 5"/>
          <p:cNvSpPr/>
          <p:nvPr/>
        </p:nvSpPr>
        <p:spPr>
          <a:xfrm>
            <a:off x="1970532" y="2176272"/>
            <a:ext cx="658368" cy="658368"/>
          </a:xfrm>
          <a:prstGeom prst="ellipse">
            <a:avLst/>
          </a:prstGeom>
          <a:solidFill>
            <a:schemeClr val="accent3"/>
          </a:solidFill>
          <a:ln/>
        </p:spPr>
      </p:sp>
      <p:sp>
        <p:nvSpPr>
          <p:cNvPr id="9" name="Text 6"/>
          <p:cNvSpPr txBox="1"/>
          <p:nvPr/>
        </p:nvSpPr>
        <p:spPr>
          <a:xfrm>
            <a:off x="1970532" y="217627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 name="Text 7"/>
          <p:cNvSpPr txBox="1"/>
          <p:nvPr/>
        </p:nvSpPr>
        <p:spPr>
          <a:xfrm>
            <a:off x="658368" y="2907792"/>
            <a:ext cx="3282696" cy="685800"/>
          </a:xfrm>
          <a:prstGeom prst="rect">
            <a:avLst/>
          </a:prstGeom>
          <a:noFill/>
          <a:ln/>
        </p:spPr>
        <p:txBody>
          <a:bodyPr wrap="square" lIns="0" tIns="0" rIns="0" bIns="0" rtlCol="0" anchor="ctr"/>
          <a:lstStyle/>
          <a:p>
            <a:pPr algn="ctr" indent="0" marL="0">
              <a:buNone/>
            </a:pPr>
            <a:r>
              <a:rPr lang="en-US" sz="1700" b="1" dirty="0">
                <a:solidFill>
                  <a:schemeClr val="accent3"/>
                </a:solidFill>
              </a:rPr>
              <a:t>Réception intensive</a:t>
            </a:r>
            <a:endParaRPr lang="en-US" sz="1700" dirty="0"/>
          </a:p>
        </p:txBody>
      </p:sp>
      <p:sp>
        <p:nvSpPr>
          <p:cNvPr id="11" name="Text 8"/>
          <p:cNvSpPr txBox="1"/>
          <p:nvPr/>
        </p:nvSpPr>
        <p:spPr>
          <a:xfrm>
            <a:off x="685800" y="3685032"/>
            <a:ext cx="3227832" cy="1560576"/>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Vous </a:t>
            </a:r>
            <a:r>
              <a:rPr lang="en-US" sz="1700" b="1" dirty="0">
                <a:solidFill>
                  <a:schemeClr val="tx1"/>
                </a:solidFill>
              </a:rPr>
              <a:t>écoutez</a:t>
            </a:r>
            <a:r>
              <a:rPr lang="en-US" sz="1700" dirty="0">
                <a:solidFill>
                  <a:schemeClr val="tx1"/>
                </a:solidFill>
              </a:rPr>
              <a:t> et </a:t>
            </a:r>
            <a:r>
              <a:rPr lang="en-US" sz="1700" b="1" dirty="0">
                <a:solidFill>
                  <a:schemeClr val="tx1"/>
                </a:solidFill>
              </a:rPr>
              <a:t>lisez</a:t>
            </a:r>
            <a:r>
              <a:rPr lang="en-US" sz="1700" dirty="0">
                <a:solidFill>
                  <a:schemeClr val="tx1"/>
                </a:solidFill>
              </a:rPr>
              <a:t> avant de produire.</a:t>
            </a:r>
            <a:endParaRPr lang="en-US" sz="1700" dirty="0"/>
          </a:p>
          <a:p>
            <a:pPr algn="ctr" indent="0" marL="0">
              <a:spcAft>
                <a:spcPts val="600"/>
              </a:spcAft>
              <a:buNone/>
            </a:pPr>
            <a:r>
              <a:rPr lang="en-US" sz="1700" dirty="0">
                <a:solidFill>
                  <a:schemeClr val="tx1"/>
                </a:solidFill>
              </a:rPr>
              <a:t>Le cerveau s’habitue à la mélodie et à la structure.</a:t>
            </a:r>
            <a:endParaRPr lang="en-US" sz="1700" dirty="0"/>
          </a:p>
        </p:txBody>
      </p:sp>
      <p:pic>
        <p:nvPicPr>
          <p:cNvPr id="12" name="Image 0" descr="preencoded.png">    </p:cNvPr>
          <p:cNvPicPr>
            <a:picLocks noChangeAspect="1"/>
          </p:cNvPicPr>
          <p:nvPr/>
        </p:nvPicPr>
        <p:blipFill>
          <a:blip r:embed="rId1"/>
          <a:stretch>
            <a:fillRect/>
          </a:stretch>
        </p:blipFill>
        <p:spPr>
          <a:xfrm>
            <a:off x="4087368" y="2395728"/>
            <a:ext cx="219456" cy="219456"/>
          </a:xfrm>
          <a:prstGeom prst="rect">
            <a:avLst/>
          </a:prstGeom>
        </p:spPr>
      </p:pic>
      <p:sp>
        <p:nvSpPr>
          <p:cNvPr id="13" name="Shape 9"/>
          <p:cNvSpPr/>
          <p:nvPr/>
        </p:nvSpPr>
        <p:spPr>
          <a:xfrm>
            <a:off x="4343400" y="1993392"/>
            <a:ext cx="3502152" cy="3343656"/>
          </a:xfrm>
          <a:prstGeom prst="roundRect">
            <a:avLst>
              <a:gd name="adj" fmla="val 2735"/>
            </a:avLst>
          </a:prstGeom>
          <a:solidFill>
            <a:schemeClr val="bg2"/>
          </a:solidFill>
          <a:ln w="9525">
            <a:solidFill>
              <a:srgbClr val="D5DCE6"/>
            </a:solidFill>
            <a:prstDash val="solid"/>
          </a:ln>
        </p:spPr>
      </p:sp>
      <p:sp>
        <p:nvSpPr>
          <p:cNvPr id="14" name="Shape 10"/>
          <p:cNvSpPr/>
          <p:nvPr/>
        </p:nvSpPr>
        <p:spPr>
          <a:xfrm>
            <a:off x="5765292" y="2176272"/>
            <a:ext cx="658368" cy="658368"/>
          </a:xfrm>
          <a:prstGeom prst="ellipse">
            <a:avLst/>
          </a:prstGeom>
          <a:solidFill>
            <a:schemeClr val="accent2"/>
          </a:solidFill>
          <a:ln/>
        </p:spPr>
      </p:sp>
      <p:sp>
        <p:nvSpPr>
          <p:cNvPr id="15" name="Text 11"/>
          <p:cNvSpPr txBox="1"/>
          <p:nvPr/>
        </p:nvSpPr>
        <p:spPr>
          <a:xfrm>
            <a:off x="5765292" y="217627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2"/>
          <p:cNvSpPr txBox="1"/>
          <p:nvPr/>
        </p:nvSpPr>
        <p:spPr>
          <a:xfrm>
            <a:off x="4453128" y="2907792"/>
            <a:ext cx="3282696" cy="685800"/>
          </a:xfrm>
          <a:prstGeom prst="rect">
            <a:avLst/>
          </a:prstGeom>
          <a:noFill/>
          <a:ln/>
        </p:spPr>
        <p:txBody>
          <a:bodyPr wrap="square" lIns="0" tIns="0" rIns="0" bIns="0" rtlCol="0" anchor="ctr"/>
          <a:lstStyle/>
          <a:p>
            <a:pPr algn="ctr" indent="0" marL="0">
              <a:buNone/>
            </a:pPr>
            <a:r>
              <a:rPr lang="en-US" sz="1700" b="1" dirty="0">
                <a:solidFill>
                  <a:schemeClr val="accent2"/>
                </a:solidFill>
              </a:rPr>
              <a:t>Production structurée</a:t>
            </a:r>
            <a:endParaRPr lang="en-US" sz="1700" dirty="0"/>
          </a:p>
        </p:txBody>
      </p:sp>
      <p:sp>
        <p:nvSpPr>
          <p:cNvPr id="17" name="Text 13"/>
          <p:cNvSpPr txBox="1"/>
          <p:nvPr/>
        </p:nvSpPr>
        <p:spPr>
          <a:xfrm>
            <a:off x="4480560" y="3685032"/>
            <a:ext cx="3227832" cy="1560576"/>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Zinnenbouwer </a:t>
            </a:r>
            <a:r>
              <a:rPr lang="en-US" sz="1700" b="1" dirty="0">
                <a:solidFill>
                  <a:schemeClr val="tx1"/>
                </a:solidFill>
              </a:rPr>
              <a:t>ouvert</a:t>
            </a:r>
            <a:r>
              <a:rPr lang="en-US" sz="1700" dirty="0">
                <a:solidFill>
                  <a:schemeClr val="tx1"/>
                </a:solidFill>
              </a:rPr>
              <a:t> : vous construisez vos propres phrases…</a:t>
            </a:r>
            <a:endParaRPr lang="en-US" sz="1700" dirty="0"/>
          </a:p>
          <a:p>
            <a:pPr algn="ctr" indent="0" marL="0">
              <a:spcAft>
                <a:spcPts val="600"/>
              </a:spcAft>
              <a:buNone/>
            </a:pPr>
            <a:r>
              <a:rPr lang="en-US" sz="1700" dirty="0">
                <a:solidFill>
                  <a:schemeClr val="tx1"/>
                </a:solidFill>
              </a:rPr>
              <a:t>… </a:t>
            </a:r>
            <a:r>
              <a:rPr lang="en-US" sz="1700" b="1" dirty="0">
                <a:solidFill>
                  <a:schemeClr val="tx1"/>
                </a:solidFill>
              </a:rPr>
              <a:t>vraies pour vous</a:t>
            </a:r>
            <a:r>
              <a:rPr lang="en-US" sz="1700" dirty="0">
                <a:solidFill>
                  <a:schemeClr val="tx1"/>
                </a:solidFill>
              </a:rPr>
              <a:t>.</a:t>
            </a:r>
            <a:endParaRPr lang="en-US" sz="1700" dirty="0"/>
          </a:p>
        </p:txBody>
      </p:sp>
      <p:pic>
        <p:nvPicPr>
          <p:cNvPr id="18" name="Image 1" descr="preencoded.png">    </p:cNvPr>
          <p:cNvPicPr>
            <a:picLocks noChangeAspect="1"/>
          </p:cNvPicPr>
          <p:nvPr/>
        </p:nvPicPr>
        <p:blipFill>
          <a:blip r:embed="rId2"/>
          <a:stretch>
            <a:fillRect/>
          </a:stretch>
        </p:blipFill>
        <p:spPr>
          <a:xfrm>
            <a:off x="7882128" y="2395728"/>
            <a:ext cx="219456" cy="219456"/>
          </a:xfrm>
          <a:prstGeom prst="rect">
            <a:avLst/>
          </a:prstGeom>
        </p:spPr>
      </p:pic>
      <p:sp>
        <p:nvSpPr>
          <p:cNvPr id="19" name="Shape 14"/>
          <p:cNvSpPr/>
          <p:nvPr/>
        </p:nvSpPr>
        <p:spPr>
          <a:xfrm>
            <a:off x="8138160" y="1993392"/>
            <a:ext cx="3502152" cy="3343656"/>
          </a:xfrm>
          <a:prstGeom prst="roundRect">
            <a:avLst>
              <a:gd name="adj" fmla="val 2735"/>
            </a:avLst>
          </a:prstGeom>
          <a:solidFill>
            <a:schemeClr val="bg2"/>
          </a:solidFill>
          <a:ln w="9525">
            <a:solidFill>
              <a:srgbClr val="D5DCE6"/>
            </a:solidFill>
            <a:prstDash val="solid"/>
          </a:ln>
        </p:spPr>
      </p:sp>
      <p:sp>
        <p:nvSpPr>
          <p:cNvPr id="20" name="Shape 15"/>
          <p:cNvSpPr/>
          <p:nvPr/>
        </p:nvSpPr>
        <p:spPr>
          <a:xfrm>
            <a:off x="9560052" y="2176272"/>
            <a:ext cx="658368" cy="658368"/>
          </a:xfrm>
          <a:prstGeom prst="ellipse">
            <a:avLst/>
          </a:prstGeom>
          <a:solidFill>
            <a:schemeClr val="accent1"/>
          </a:solidFill>
          <a:ln/>
        </p:spPr>
      </p:sp>
      <p:sp>
        <p:nvSpPr>
          <p:cNvPr id="21" name="Text 16"/>
          <p:cNvSpPr txBox="1"/>
          <p:nvPr/>
        </p:nvSpPr>
        <p:spPr>
          <a:xfrm>
            <a:off x="9560052" y="217627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7"/>
          <p:cNvSpPr txBox="1"/>
          <p:nvPr/>
        </p:nvSpPr>
        <p:spPr>
          <a:xfrm>
            <a:off x="8247888" y="2907792"/>
            <a:ext cx="3282696" cy="685800"/>
          </a:xfrm>
          <a:prstGeom prst="rect">
            <a:avLst/>
          </a:prstGeom>
          <a:noFill/>
          <a:ln/>
        </p:spPr>
        <p:txBody>
          <a:bodyPr wrap="square" lIns="0" tIns="0" rIns="0" bIns="0" rtlCol="0" anchor="ctr"/>
          <a:lstStyle/>
          <a:p>
            <a:pPr algn="ctr" indent="0" marL="0">
              <a:buNone/>
            </a:pPr>
            <a:r>
              <a:rPr lang="en-US" sz="1700" b="1" dirty="0">
                <a:solidFill>
                  <a:schemeClr val="accent1"/>
                </a:solidFill>
              </a:rPr>
              <a:t>Fluidité</a:t>
            </a:r>
            <a:endParaRPr lang="en-US" sz="1700" dirty="0"/>
          </a:p>
        </p:txBody>
      </p:sp>
      <p:sp>
        <p:nvSpPr>
          <p:cNvPr id="23" name="Text 18"/>
          <p:cNvSpPr txBox="1"/>
          <p:nvPr/>
        </p:nvSpPr>
        <p:spPr>
          <a:xfrm>
            <a:off x="8275320" y="3685032"/>
            <a:ext cx="3227832" cy="1560576"/>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Zinnenbouwer </a:t>
            </a:r>
            <a:r>
              <a:rPr lang="en-US" sz="1700" b="1" dirty="0">
                <a:solidFill>
                  <a:schemeClr val="tx1"/>
                </a:solidFill>
              </a:rPr>
              <a:t>fermé</a:t>
            </a:r>
            <a:r>
              <a:rPr lang="en-US" sz="1700" dirty="0">
                <a:solidFill>
                  <a:schemeClr val="tx1"/>
                </a:solidFill>
              </a:rPr>
              <a:t>.</a:t>
            </a:r>
            <a:endParaRPr lang="en-US" sz="1700" dirty="0"/>
          </a:p>
          <a:p>
            <a:pPr algn="ctr" indent="0" marL="0">
              <a:spcAft>
                <a:spcPts val="600"/>
              </a:spcAft>
              <a:buNone/>
            </a:pPr>
            <a:r>
              <a:rPr lang="en-US" sz="1700" dirty="0">
                <a:solidFill>
                  <a:schemeClr val="tx1"/>
                </a:solidFill>
              </a:rPr>
              <a:t>Rien de nouveau, </a:t>
            </a:r>
            <a:r>
              <a:rPr lang="en-US" sz="1700" b="1" dirty="0">
                <a:solidFill>
                  <a:schemeClr val="tx1"/>
                </a:solidFill>
              </a:rPr>
              <a:t>seulement plus vite</a:t>
            </a:r>
            <a:r>
              <a:rPr lang="en-US" sz="1700" dirty="0">
                <a:solidFill>
                  <a:schemeClr val="tx1"/>
                </a:solidFill>
              </a:rPr>
              <a:t> : les mots viennent tout seuls.</a:t>
            </a:r>
            <a:endParaRPr lang="en-US" sz="1700" dirty="0"/>
          </a:p>
        </p:txBody>
      </p:sp>
      <p:sp>
        <p:nvSpPr>
          <p:cNvPr id="24" name="Shape 19"/>
          <p:cNvSpPr/>
          <p:nvPr/>
        </p:nvSpPr>
        <p:spPr>
          <a:xfrm>
            <a:off x="548640" y="5565648"/>
            <a:ext cx="11091672" cy="725424"/>
          </a:xfrm>
          <a:prstGeom prst="roundRect">
            <a:avLst>
              <a:gd name="adj" fmla="val 10084"/>
            </a:avLst>
          </a:prstGeom>
          <a:solidFill>
            <a:schemeClr val="accent3">
              <a:alpha val="10000"/>
            </a:schemeClr>
          </a:solidFill>
          <a:ln w="9525">
            <a:solidFill>
              <a:schemeClr val="accent3">
                <a:alpha val="70000"/>
              </a:schemeClr>
            </a:solidFill>
            <a:prstDash val="solid"/>
          </a:ln>
        </p:spPr>
      </p:sp>
      <p:pic>
        <p:nvPicPr>
          <p:cNvPr id="25" name="Image 2" descr="preencoded.png">    </p:cNvPr>
          <p:cNvPicPr>
            <a:picLocks noChangeAspect="1"/>
          </p:cNvPicPr>
          <p:nvPr/>
        </p:nvPicPr>
        <p:blipFill>
          <a:blip r:embed="rId3"/>
          <a:stretch>
            <a:fillRect/>
          </a:stretch>
        </p:blipFill>
        <p:spPr>
          <a:xfrm>
            <a:off x="749808" y="5763768"/>
            <a:ext cx="329184" cy="329184"/>
          </a:xfrm>
          <a:prstGeom prst="rect">
            <a:avLst/>
          </a:prstGeom>
        </p:spPr>
      </p:pic>
      <p:sp>
        <p:nvSpPr>
          <p:cNvPr id="26" name="Text 20"/>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3"/>
                </a:solidFill>
              </a:rPr>
              <a:t>Objectif A2 — </a:t>
            </a:r>
            <a:r>
              <a:rPr lang="en-US" sz="1700" dirty="0">
                <a:solidFill>
                  <a:schemeClr val="tx1"/>
                </a:solidFill>
              </a:rPr>
              <a:t>Tenir une conversation simple sur des sujets familiers, comprendre l’essentiel d’un échange courant, parler de sa vie quotidienne et professionnelle.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Lire son syllabus</a:t>
            </a:r>
            <a:endParaRPr lang="en-US" sz="3200" dirty="0"/>
          </a:p>
        </p:txBody>
      </p:sp>
      <p:sp>
        <p:nvSpPr>
          <p:cNvPr id="3" name="tag"/>
          <p:cNvSpPr/>
          <p:nvPr/>
        </p:nvSpPr>
        <p:spPr>
          <a:xfrm>
            <a:off x="548640" y="237744"/>
            <a:ext cx="130302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MÉTHODE</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Tout le livret</a:t>
            </a:r>
            <a:endParaRPr lang="en-US" sz="1200" dirty="0"/>
          </a:p>
        </p:txBody>
      </p:sp>
      <p:sp>
        <p:nvSpPr>
          <p:cNvPr id="6" name="Shape 3"/>
          <p:cNvSpPr/>
          <p:nvPr/>
        </p:nvSpPr>
        <p:spPr>
          <a:xfrm>
            <a:off x="548640" y="1554480"/>
            <a:ext cx="5385816" cy="1104138"/>
          </a:xfrm>
          <a:prstGeom prst="roundRect">
            <a:avLst>
              <a:gd name="adj" fmla="val 4969"/>
            </a:avLst>
          </a:prstGeom>
          <a:solidFill>
            <a:schemeClr val="bg2"/>
          </a:solidFill>
          <a:ln w="6350">
            <a:solidFill>
              <a:srgbClr val="D5DCE6"/>
            </a:solidFill>
            <a:prstDash val="solid"/>
          </a:ln>
        </p:spPr>
      </p:sp>
      <p:sp>
        <p:nvSpPr>
          <p:cNvPr id="7" name="Text 4"/>
          <p:cNvSpPr/>
          <p:nvPr/>
        </p:nvSpPr>
        <p:spPr>
          <a:xfrm>
            <a:off x="685800" y="1932813"/>
            <a:ext cx="1874520" cy="347472"/>
          </a:xfrm>
          <a:prstGeom prst="roundRect">
            <a:avLst>
              <a:gd name="adj" fmla="val 13158"/>
            </a:avLst>
          </a:prstGeom>
          <a:solidFill>
            <a:schemeClr val="accent3"/>
          </a:solidFill>
          <a:ln/>
        </p:spPr>
        <p:txBody>
          <a:bodyPr wrap="square" lIns="0" tIns="0" rIns="0" bIns="0" rtlCol="0" anchor="ctr"/>
          <a:lstStyle/>
          <a:p>
            <a:pPr algn="ctr" indent="0" marL="0">
              <a:buNone/>
            </a:pPr>
            <a:r>
              <a:rPr lang="en-US" sz="1100" b="1" spc="100" kern="0" dirty="0">
                <a:solidFill>
                  <a:schemeClr val="bg1"/>
                </a:solidFill>
              </a:rPr>
              <a:t>COUCHE 1</a:t>
            </a:r>
            <a:endParaRPr lang="en-US" sz="1100" dirty="0"/>
          </a:p>
        </p:txBody>
      </p:sp>
      <p:sp>
        <p:nvSpPr>
          <p:cNvPr id="8" name="Text 5"/>
          <p:cNvSpPr txBox="1"/>
          <p:nvPr/>
        </p:nvSpPr>
        <p:spPr>
          <a:xfrm>
            <a:off x="2724912" y="1572768"/>
            <a:ext cx="3099816" cy="1067562"/>
          </a:xfrm>
          <a:prstGeom prst="rect">
            <a:avLst/>
          </a:prstGeom>
          <a:noFill/>
          <a:ln/>
        </p:spPr>
        <p:txBody>
          <a:bodyPr wrap="square" lIns="0" tIns="0" rIns="0" bIns="0" rtlCol="0" anchor="ctr"/>
          <a:lstStyle/>
          <a:p>
            <a:pPr indent="0" marL="0">
              <a:buNone/>
            </a:pPr>
            <a:r>
              <a:rPr lang="en-US" sz="1800" dirty="0">
                <a:solidFill>
                  <a:schemeClr val="tx1"/>
                </a:solidFill>
              </a:rPr>
              <a:t>Bandeau </a:t>
            </a:r>
            <a:r>
              <a:rPr lang="en-US" sz="1800" b="1" dirty="0">
                <a:solidFill>
                  <a:schemeClr val="tx1"/>
                </a:solidFill>
              </a:rPr>
              <a:t>vert</a:t>
            </a:r>
            <a:r>
              <a:rPr lang="en-US" sz="1800" dirty="0">
                <a:solidFill>
                  <a:schemeClr val="tx1"/>
                </a:solidFill>
              </a:rPr>
              <a:t> : réception intensive. On écoute, on lit, on repère.</a:t>
            </a:r>
            <a:endParaRPr lang="en-US" sz="1800" dirty="0"/>
          </a:p>
        </p:txBody>
      </p:sp>
      <p:sp>
        <p:nvSpPr>
          <p:cNvPr id="9" name="Shape 6"/>
          <p:cNvSpPr/>
          <p:nvPr/>
        </p:nvSpPr>
        <p:spPr>
          <a:xfrm>
            <a:off x="548640" y="2750058"/>
            <a:ext cx="5385816" cy="1104138"/>
          </a:xfrm>
          <a:prstGeom prst="roundRect">
            <a:avLst>
              <a:gd name="adj" fmla="val 4969"/>
            </a:avLst>
          </a:prstGeom>
          <a:solidFill>
            <a:schemeClr val="bg1"/>
          </a:solidFill>
          <a:ln w="6350">
            <a:solidFill>
              <a:srgbClr val="D5DCE6"/>
            </a:solidFill>
            <a:prstDash val="solid"/>
          </a:ln>
        </p:spPr>
      </p:sp>
      <p:sp>
        <p:nvSpPr>
          <p:cNvPr id="10" name="Text 7"/>
          <p:cNvSpPr/>
          <p:nvPr/>
        </p:nvSpPr>
        <p:spPr>
          <a:xfrm>
            <a:off x="685800" y="3128391"/>
            <a:ext cx="1874520" cy="347472"/>
          </a:xfrm>
          <a:prstGeom prst="roundRect">
            <a:avLst>
              <a:gd name="adj" fmla="val 13158"/>
            </a:avLst>
          </a:prstGeom>
          <a:solidFill>
            <a:schemeClr val="accent2"/>
          </a:solidFill>
          <a:ln/>
        </p:spPr>
        <p:txBody>
          <a:bodyPr wrap="square" lIns="0" tIns="0" rIns="0" bIns="0" rtlCol="0" anchor="ctr"/>
          <a:lstStyle/>
          <a:p>
            <a:pPr algn="ctr" indent="0" marL="0">
              <a:buNone/>
            </a:pPr>
            <a:r>
              <a:rPr lang="en-US" sz="1100" b="1" spc="100" kern="0" dirty="0">
                <a:solidFill>
                  <a:schemeClr val="bg1"/>
                </a:solidFill>
              </a:rPr>
              <a:t>COUCHE 2</a:t>
            </a:r>
            <a:endParaRPr lang="en-US" sz="1100" dirty="0"/>
          </a:p>
        </p:txBody>
      </p:sp>
      <p:sp>
        <p:nvSpPr>
          <p:cNvPr id="11" name="Text 8"/>
          <p:cNvSpPr txBox="1"/>
          <p:nvPr/>
        </p:nvSpPr>
        <p:spPr>
          <a:xfrm>
            <a:off x="2724912" y="2768346"/>
            <a:ext cx="3099816" cy="1067562"/>
          </a:xfrm>
          <a:prstGeom prst="rect">
            <a:avLst/>
          </a:prstGeom>
          <a:noFill/>
          <a:ln/>
        </p:spPr>
        <p:txBody>
          <a:bodyPr wrap="square" lIns="0" tIns="0" rIns="0" bIns="0" rtlCol="0" anchor="ctr"/>
          <a:lstStyle/>
          <a:p>
            <a:pPr indent="0" marL="0">
              <a:buNone/>
            </a:pPr>
            <a:r>
              <a:rPr lang="en-US" sz="1800" dirty="0">
                <a:solidFill>
                  <a:schemeClr val="tx1"/>
                </a:solidFill>
              </a:rPr>
              <a:t>Bandeau </a:t>
            </a:r>
            <a:r>
              <a:rPr lang="en-US" sz="1800" b="1" dirty="0">
                <a:solidFill>
                  <a:schemeClr val="tx1"/>
                </a:solidFill>
              </a:rPr>
              <a:t>bleu</a:t>
            </a:r>
            <a:r>
              <a:rPr lang="en-US" sz="1800" dirty="0">
                <a:solidFill>
                  <a:schemeClr val="tx1"/>
                </a:solidFill>
              </a:rPr>
              <a:t> : production structurée, avec le zinnenbouwer </a:t>
            </a:r>
            <a:r>
              <a:rPr lang="en-US" sz="1800" b="1" dirty="0">
                <a:solidFill>
                  <a:schemeClr val="tx1"/>
                </a:solidFill>
              </a:rPr>
              <a:t>ouvert</a:t>
            </a:r>
            <a:r>
              <a:rPr lang="en-US" sz="1800" dirty="0">
                <a:solidFill>
                  <a:schemeClr val="tx1"/>
                </a:solidFill>
              </a:rPr>
              <a:t>.</a:t>
            </a:r>
            <a:endParaRPr lang="en-US" sz="1800" dirty="0"/>
          </a:p>
        </p:txBody>
      </p:sp>
      <p:sp>
        <p:nvSpPr>
          <p:cNvPr id="12" name="Shape 9"/>
          <p:cNvSpPr/>
          <p:nvPr/>
        </p:nvSpPr>
        <p:spPr>
          <a:xfrm>
            <a:off x="548640" y="3945636"/>
            <a:ext cx="5385816" cy="1104138"/>
          </a:xfrm>
          <a:prstGeom prst="roundRect">
            <a:avLst>
              <a:gd name="adj" fmla="val 4969"/>
            </a:avLst>
          </a:prstGeom>
          <a:solidFill>
            <a:schemeClr val="bg2"/>
          </a:solidFill>
          <a:ln w="6350">
            <a:solidFill>
              <a:srgbClr val="D5DCE6"/>
            </a:solidFill>
            <a:prstDash val="solid"/>
          </a:ln>
        </p:spPr>
      </p:sp>
      <p:sp>
        <p:nvSpPr>
          <p:cNvPr id="13" name="Text 10"/>
          <p:cNvSpPr/>
          <p:nvPr/>
        </p:nvSpPr>
        <p:spPr>
          <a:xfrm>
            <a:off x="685800" y="4323969"/>
            <a:ext cx="187452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100" b="1" spc="100" kern="0" dirty="0">
                <a:solidFill>
                  <a:schemeClr val="bg1"/>
                </a:solidFill>
              </a:rPr>
              <a:t>COUCHE 3</a:t>
            </a:r>
            <a:endParaRPr lang="en-US" sz="1100" dirty="0"/>
          </a:p>
        </p:txBody>
      </p:sp>
      <p:sp>
        <p:nvSpPr>
          <p:cNvPr id="14" name="Text 11"/>
          <p:cNvSpPr txBox="1"/>
          <p:nvPr/>
        </p:nvSpPr>
        <p:spPr>
          <a:xfrm>
            <a:off x="2724912" y="3963924"/>
            <a:ext cx="3099816" cy="1067562"/>
          </a:xfrm>
          <a:prstGeom prst="rect">
            <a:avLst/>
          </a:prstGeom>
          <a:noFill/>
          <a:ln/>
        </p:spPr>
        <p:txBody>
          <a:bodyPr wrap="square" lIns="0" tIns="0" rIns="0" bIns="0" rtlCol="0" anchor="ctr"/>
          <a:lstStyle/>
          <a:p>
            <a:pPr indent="0" marL="0">
              <a:buNone/>
            </a:pPr>
            <a:r>
              <a:rPr lang="en-US" sz="1800" dirty="0">
                <a:solidFill>
                  <a:schemeClr val="tx1"/>
                </a:solidFill>
              </a:rPr>
              <a:t>Bandeau </a:t>
            </a:r>
            <a:r>
              <a:rPr lang="en-US" sz="1800" b="1" dirty="0">
                <a:solidFill>
                  <a:schemeClr val="tx1"/>
                </a:solidFill>
              </a:rPr>
              <a:t>jaune</a:t>
            </a:r>
            <a:r>
              <a:rPr lang="en-US" sz="1800" dirty="0">
                <a:solidFill>
                  <a:schemeClr val="tx1"/>
                </a:solidFill>
              </a:rPr>
              <a:t> : fluidité, zinnenbouwer </a:t>
            </a:r>
            <a:r>
              <a:rPr lang="en-US" sz="1800" b="1" dirty="0">
                <a:solidFill>
                  <a:schemeClr val="tx1"/>
                </a:solidFill>
              </a:rPr>
              <a:t>fermé</a:t>
            </a:r>
            <a:r>
              <a:rPr lang="en-US" sz="1800" dirty="0">
                <a:solidFill>
                  <a:schemeClr val="tx1"/>
                </a:solidFill>
              </a:rPr>
              <a:t>, chronomètre.</a:t>
            </a:r>
            <a:endParaRPr lang="en-US" sz="1800" dirty="0"/>
          </a:p>
        </p:txBody>
      </p:sp>
      <p:sp>
        <p:nvSpPr>
          <p:cNvPr id="15" name="Shape 12"/>
          <p:cNvSpPr/>
          <p:nvPr/>
        </p:nvSpPr>
        <p:spPr>
          <a:xfrm>
            <a:off x="548640" y="5141214"/>
            <a:ext cx="5385816" cy="1104138"/>
          </a:xfrm>
          <a:prstGeom prst="roundRect">
            <a:avLst>
              <a:gd name="adj" fmla="val 4969"/>
            </a:avLst>
          </a:prstGeom>
          <a:solidFill>
            <a:schemeClr val="bg1"/>
          </a:solidFill>
          <a:ln w="6350">
            <a:solidFill>
              <a:srgbClr val="D5DCE6"/>
            </a:solidFill>
            <a:prstDash val="solid"/>
          </a:ln>
        </p:spPr>
      </p:sp>
      <p:sp>
        <p:nvSpPr>
          <p:cNvPr id="16" name="Text 13"/>
          <p:cNvSpPr/>
          <p:nvPr/>
        </p:nvSpPr>
        <p:spPr>
          <a:xfrm>
            <a:off x="685800" y="5519547"/>
            <a:ext cx="1874520"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100" b="1" spc="100" kern="0" dirty="0">
                <a:solidFill>
                  <a:schemeClr val="bg1"/>
                </a:solidFill>
              </a:rPr>
              <a:t>ZINNENBOUWER</a:t>
            </a:r>
            <a:endParaRPr lang="en-US" sz="1100" dirty="0"/>
          </a:p>
        </p:txBody>
      </p:sp>
      <p:sp>
        <p:nvSpPr>
          <p:cNvPr id="17" name="Text 14"/>
          <p:cNvSpPr txBox="1"/>
          <p:nvPr/>
        </p:nvSpPr>
        <p:spPr>
          <a:xfrm>
            <a:off x="2724912" y="5159502"/>
            <a:ext cx="3099816" cy="1067562"/>
          </a:xfrm>
          <a:prstGeom prst="rect">
            <a:avLst/>
          </a:prstGeom>
          <a:noFill/>
          <a:ln/>
        </p:spPr>
        <p:txBody>
          <a:bodyPr wrap="square" lIns="0" tIns="0" rIns="0" bIns="0" rtlCol="0" anchor="ctr"/>
          <a:lstStyle/>
          <a:p>
            <a:pPr indent="0" marL="0">
              <a:buNone/>
            </a:pPr>
            <a:r>
              <a:rPr lang="en-US" sz="1800" dirty="0">
                <a:solidFill>
                  <a:schemeClr val="tx1"/>
                </a:solidFill>
              </a:rPr>
              <a:t>Tableau de </a:t>
            </a:r>
            <a:r>
              <a:rPr lang="en-US" sz="1800" b="1" dirty="0">
                <a:solidFill>
                  <a:schemeClr val="tx1"/>
                </a:solidFill>
              </a:rPr>
              <a:t>familles de phrases</a:t>
            </a:r>
            <a:r>
              <a:rPr lang="en-US" sz="1800" dirty="0">
                <a:solidFill>
                  <a:schemeClr val="tx1"/>
                </a:solidFill>
              </a:rPr>
              <a:t> : on prend un bloc par colonne.</a:t>
            </a:r>
            <a:endParaRPr lang="en-US" sz="1800" dirty="0"/>
          </a:p>
        </p:txBody>
      </p:sp>
      <p:sp>
        <p:nvSpPr>
          <p:cNvPr id="18" name="Shape 15"/>
          <p:cNvSpPr/>
          <p:nvPr/>
        </p:nvSpPr>
        <p:spPr>
          <a:xfrm>
            <a:off x="6254496" y="1554480"/>
            <a:ext cx="5385816" cy="1104138"/>
          </a:xfrm>
          <a:prstGeom prst="roundRect">
            <a:avLst>
              <a:gd name="adj" fmla="val 4969"/>
            </a:avLst>
          </a:prstGeom>
          <a:solidFill>
            <a:schemeClr val="bg2"/>
          </a:solidFill>
          <a:ln w="6350">
            <a:solidFill>
              <a:srgbClr val="D5DCE6"/>
            </a:solidFill>
            <a:prstDash val="solid"/>
          </a:ln>
        </p:spPr>
      </p:sp>
      <p:sp>
        <p:nvSpPr>
          <p:cNvPr id="19" name="Text 16"/>
          <p:cNvSpPr/>
          <p:nvPr/>
        </p:nvSpPr>
        <p:spPr>
          <a:xfrm>
            <a:off x="6391656" y="1932813"/>
            <a:ext cx="1874520" cy="347472"/>
          </a:xfrm>
          <a:prstGeom prst="roundRect">
            <a:avLst>
              <a:gd name="adj" fmla="val 13158"/>
            </a:avLst>
          </a:prstGeom>
          <a:solidFill>
            <a:schemeClr val="accent6"/>
          </a:solidFill>
          <a:ln/>
        </p:spPr>
        <p:txBody>
          <a:bodyPr wrap="square" lIns="0" tIns="0" rIns="0" bIns="0" rtlCol="0" anchor="ctr"/>
          <a:lstStyle/>
          <a:p>
            <a:pPr algn="ctr" indent="0" marL="0">
              <a:buNone/>
            </a:pPr>
            <a:r>
              <a:rPr lang="en-US" sz="1100" b="1" spc="100" kern="0" dirty="0">
                <a:solidFill>
                  <a:schemeClr val="bg1"/>
                </a:solidFill>
              </a:rPr>
              <a:t>EXTRA</a:t>
            </a:r>
            <a:endParaRPr lang="en-US" sz="1100" dirty="0"/>
          </a:p>
        </p:txBody>
      </p:sp>
      <p:sp>
        <p:nvSpPr>
          <p:cNvPr id="20" name="Text 17"/>
          <p:cNvSpPr txBox="1"/>
          <p:nvPr/>
        </p:nvSpPr>
        <p:spPr>
          <a:xfrm>
            <a:off x="8430768" y="1572768"/>
            <a:ext cx="3099816" cy="1067562"/>
          </a:xfrm>
          <a:prstGeom prst="rect">
            <a:avLst/>
          </a:prstGeom>
          <a:noFill/>
          <a:ln/>
        </p:spPr>
        <p:txBody>
          <a:bodyPr wrap="square" lIns="0" tIns="0" rIns="0" bIns="0" rtlCol="0" anchor="ctr"/>
          <a:lstStyle/>
          <a:p>
            <a:pPr indent="0" marL="0">
              <a:buNone/>
            </a:pPr>
            <a:r>
              <a:rPr lang="en-US" sz="1800" dirty="0">
                <a:solidFill>
                  <a:schemeClr val="tx1"/>
                </a:solidFill>
              </a:rPr>
              <a:t>Exercice </a:t>
            </a:r>
            <a:r>
              <a:rPr lang="en-US" sz="1800" b="1" dirty="0">
                <a:solidFill>
                  <a:schemeClr val="tx1"/>
                </a:solidFill>
              </a:rPr>
              <a:t>supplémentaire</a:t>
            </a:r>
            <a:r>
              <a:rPr lang="en-US" sz="1800" dirty="0">
                <a:solidFill>
                  <a:schemeClr val="tx1"/>
                </a:solidFill>
              </a:rPr>
              <a:t> (mots composés, pronoms…).</a:t>
            </a:r>
            <a:endParaRPr lang="en-US" sz="1800" dirty="0"/>
          </a:p>
        </p:txBody>
      </p:sp>
      <p:sp>
        <p:nvSpPr>
          <p:cNvPr id="21" name="Shape 18"/>
          <p:cNvSpPr/>
          <p:nvPr/>
        </p:nvSpPr>
        <p:spPr>
          <a:xfrm>
            <a:off x="6254496" y="2750058"/>
            <a:ext cx="5385816" cy="1104138"/>
          </a:xfrm>
          <a:prstGeom prst="roundRect">
            <a:avLst>
              <a:gd name="adj" fmla="val 4969"/>
            </a:avLst>
          </a:prstGeom>
          <a:solidFill>
            <a:schemeClr val="bg1"/>
          </a:solidFill>
          <a:ln w="6350">
            <a:solidFill>
              <a:srgbClr val="D5DCE6"/>
            </a:solidFill>
            <a:prstDash val="solid"/>
          </a:ln>
        </p:spPr>
      </p:sp>
      <p:sp>
        <p:nvSpPr>
          <p:cNvPr id="22" name="Text 19"/>
          <p:cNvSpPr/>
          <p:nvPr/>
        </p:nvSpPr>
        <p:spPr>
          <a:xfrm>
            <a:off x="6391656" y="3128391"/>
            <a:ext cx="187452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100" b="1" spc="100" kern="0" dirty="0">
                <a:solidFill>
                  <a:schemeClr val="bg1"/>
                </a:solidFill>
              </a:rPr>
              <a:t>JIJ NU!</a:t>
            </a:r>
            <a:endParaRPr lang="en-US" sz="1100" dirty="0"/>
          </a:p>
        </p:txBody>
      </p:sp>
      <p:sp>
        <p:nvSpPr>
          <p:cNvPr id="23" name="Text 20"/>
          <p:cNvSpPr txBox="1"/>
          <p:nvPr/>
        </p:nvSpPr>
        <p:spPr>
          <a:xfrm>
            <a:off x="8430768" y="2768346"/>
            <a:ext cx="3099816" cy="1067562"/>
          </a:xfrm>
          <a:prstGeom prst="rect">
            <a:avLst/>
          </a:prstGeom>
          <a:noFill/>
          <a:ln/>
        </p:spPr>
        <p:txBody>
          <a:bodyPr wrap="square" lIns="0" tIns="0" rIns="0" bIns="0" rtlCol="0" anchor="ctr"/>
          <a:lstStyle/>
          <a:p>
            <a:pPr indent="0" marL="0">
              <a:buNone/>
            </a:pPr>
            <a:r>
              <a:rPr lang="en-US" sz="1800" dirty="0">
                <a:solidFill>
                  <a:schemeClr val="tx1"/>
                </a:solidFill>
              </a:rPr>
              <a:t>« </a:t>
            </a:r>
            <a:r>
              <a:rPr lang="en-US" sz="1800" b="1" dirty="0">
                <a:solidFill>
                  <a:schemeClr val="tx1"/>
                </a:solidFill>
              </a:rPr>
              <a:t>À toi !</a:t>
            </a:r>
            <a:r>
              <a:rPr lang="en-US" sz="1800" dirty="0">
                <a:solidFill>
                  <a:schemeClr val="tx1"/>
                </a:solidFill>
              </a:rPr>
              <a:t> » : mise en situation orale en fin de séquence.</a:t>
            </a:r>
            <a:endParaRPr lang="en-US" sz="1800" dirty="0"/>
          </a:p>
        </p:txBody>
      </p:sp>
      <p:sp>
        <p:nvSpPr>
          <p:cNvPr id="24" name="Shape 21"/>
          <p:cNvSpPr/>
          <p:nvPr/>
        </p:nvSpPr>
        <p:spPr>
          <a:xfrm>
            <a:off x="6254496" y="3945636"/>
            <a:ext cx="5385816" cy="1104138"/>
          </a:xfrm>
          <a:prstGeom prst="roundRect">
            <a:avLst>
              <a:gd name="adj" fmla="val 4969"/>
            </a:avLst>
          </a:prstGeom>
          <a:solidFill>
            <a:schemeClr val="bg2"/>
          </a:solidFill>
          <a:ln w="6350">
            <a:solidFill>
              <a:srgbClr val="D5DCE6"/>
            </a:solidFill>
            <a:prstDash val="solid"/>
          </a:ln>
        </p:spPr>
      </p:sp>
      <p:sp>
        <p:nvSpPr>
          <p:cNvPr id="25" name="Text 22"/>
          <p:cNvSpPr/>
          <p:nvPr/>
        </p:nvSpPr>
        <p:spPr>
          <a:xfrm>
            <a:off x="6391656" y="4323969"/>
            <a:ext cx="1874520" cy="347472"/>
          </a:xfrm>
          <a:prstGeom prst="roundRect">
            <a:avLst>
              <a:gd name="adj" fmla="val 13158"/>
            </a:avLst>
          </a:prstGeom>
          <a:solidFill>
            <a:schemeClr val="accent4"/>
          </a:solidFill>
          <a:ln/>
        </p:spPr>
        <p:txBody>
          <a:bodyPr wrap="square" lIns="0" tIns="0" rIns="0" bIns="0" rtlCol="0" anchor="ctr"/>
          <a:lstStyle/>
          <a:p>
            <a:pPr algn="ctr" indent="0" marL="0">
              <a:buNone/>
            </a:pPr>
            <a:r>
              <a:rPr lang="en-US" sz="1100" b="1" spc="100" kern="0" dirty="0">
                <a:solidFill>
                  <a:schemeClr val="bg1"/>
                </a:solidFill>
              </a:rPr>
              <a:t>KLANKMOMENT</a:t>
            </a:r>
            <a:endParaRPr lang="en-US" sz="1100" dirty="0"/>
          </a:p>
        </p:txBody>
      </p:sp>
      <p:sp>
        <p:nvSpPr>
          <p:cNvPr id="26" name="Text 23"/>
          <p:cNvSpPr txBox="1"/>
          <p:nvPr/>
        </p:nvSpPr>
        <p:spPr>
          <a:xfrm>
            <a:off x="8430768" y="3963924"/>
            <a:ext cx="3099816" cy="1067562"/>
          </a:xfrm>
          <a:prstGeom prst="rect">
            <a:avLst/>
          </a:prstGeom>
          <a:noFill/>
          <a:ln/>
        </p:spPr>
        <p:txBody>
          <a:bodyPr wrap="square" lIns="0" tIns="0" rIns="0" bIns="0" rtlCol="0" anchor="ctr"/>
          <a:lstStyle/>
          <a:p>
            <a:pPr indent="0" marL="0">
              <a:buNone/>
            </a:pPr>
            <a:r>
              <a:rPr lang="en-US" sz="1800" dirty="0">
                <a:solidFill>
                  <a:schemeClr val="tx1"/>
                </a:solidFill>
              </a:rPr>
              <a:t>Moment de </a:t>
            </a:r>
            <a:r>
              <a:rPr lang="en-US" sz="1800" b="1" dirty="0">
                <a:solidFill>
                  <a:schemeClr val="tx1"/>
                </a:solidFill>
              </a:rPr>
              <a:t>prononciation</a:t>
            </a:r>
            <a:r>
              <a:rPr lang="en-US" sz="1800" dirty="0">
                <a:solidFill>
                  <a:schemeClr val="tx1"/>
                </a:solidFill>
              </a:rPr>
              <a:t> (g, ch, ’s…).</a:t>
            </a:r>
            <a:endParaRPr lang="en-US" sz="1800" dirty="0"/>
          </a:p>
        </p:txBody>
      </p:sp>
      <p:sp>
        <p:nvSpPr>
          <p:cNvPr id="27" name="Shape 24"/>
          <p:cNvSpPr/>
          <p:nvPr/>
        </p:nvSpPr>
        <p:spPr>
          <a:xfrm>
            <a:off x="6254496" y="5141214"/>
            <a:ext cx="5385816" cy="1104138"/>
          </a:xfrm>
          <a:prstGeom prst="roundRect">
            <a:avLst>
              <a:gd name="adj" fmla="val 4969"/>
            </a:avLst>
          </a:prstGeom>
          <a:solidFill>
            <a:schemeClr val="bg1"/>
          </a:solidFill>
          <a:ln w="6350">
            <a:solidFill>
              <a:srgbClr val="D5DCE6"/>
            </a:solidFill>
            <a:prstDash val="solid"/>
          </a:ln>
        </p:spPr>
      </p:sp>
      <p:sp>
        <p:nvSpPr>
          <p:cNvPr id="28" name="Text 25"/>
          <p:cNvSpPr/>
          <p:nvPr/>
        </p:nvSpPr>
        <p:spPr>
          <a:xfrm>
            <a:off x="6391656" y="5519547"/>
            <a:ext cx="1874520"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100" b="1" spc="100" kern="0" dirty="0">
                <a:solidFill>
                  <a:schemeClr val="bg1"/>
                </a:solidFill>
              </a:rPr>
              <a:t>+ BONUS</a:t>
            </a:r>
            <a:endParaRPr lang="en-US" sz="1100" dirty="0"/>
          </a:p>
        </p:txBody>
      </p:sp>
      <p:sp>
        <p:nvSpPr>
          <p:cNvPr id="29" name="Text 26"/>
          <p:cNvSpPr txBox="1"/>
          <p:nvPr/>
        </p:nvSpPr>
        <p:spPr>
          <a:xfrm>
            <a:off x="8430768" y="5159502"/>
            <a:ext cx="3099816" cy="1067562"/>
          </a:xfrm>
          <a:prstGeom prst="rect">
            <a:avLst/>
          </a:prstGeom>
          <a:noFill/>
          <a:ln/>
        </p:spPr>
        <p:txBody>
          <a:bodyPr wrap="square" lIns="0" tIns="0" rIns="0" bIns="0" rtlCol="0" anchor="ctr"/>
          <a:lstStyle/>
          <a:p>
            <a:pPr indent="0" marL="0">
              <a:buNone/>
            </a:pPr>
            <a:r>
              <a:rPr lang="en-US" sz="1800" dirty="0">
                <a:solidFill>
                  <a:schemeClr val="tx1"/>
                </a:solidFill>
              </a:rPr>
              <a:t>Exercice </a:t>
            </a:r>
            <a:r>
              <a:rPr lang="en-US" sz="1800" b="1" dirty="0">
                <a:solidFill>
                  <a:schemeClr val="tx1"/>
                </a:solidFill>
              </a:rPr>
              <a:t>ajouté</a:t>
            </a:r>
            <a:r>
              <a:rPr lang="en-US" sz="1800" dirty="0">
                <a:solidFill>
                  <a:schemeClr val="tx1"/>
                </a:solidFill>
              </a:rPr>
              <a:t> au tableau, hors syllabus.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Section 1 : quatre séquences et une synthèse</a:t>
            </a:r>
            <a:endParaRPr lang="en-US" sz="3200" dirty="0"/>
          </a:p>
        </p:txBody>
      </p:sp>
      <p:sp>
        <p:nvSpPr>
          <p:cNvPr id="3" name="tag"/>
          <p:cNvSpPr/>
          <p:nvPr/>
        </p:nvSpPr>
        <p:spPr>
          <a:xfrm>
            <a:off x="548640" y="237744"/>
            <a:ext cx="82296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PLAN</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ii</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731520"/>
                <a:gridCol w="2377440"/>
                <a:gridCol w="2286000"/>
                <a:gridCol w="4416552"/>
                <a:gridCol w="1280160"/>
              </a:tblGrid>
              <a:tr h="588874">
                <a:tc>
                  <a:txBody>
                    <a:bodyPr/>
                    <a:lstStyle/>
                    <a:p>
                      <a:pPr algn="l" indent="0" marL="0">
                        <a:buNone/>
                      </a:pP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SÉQUENCE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NEDERLANDS</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OBJECTIF</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SÉANCES</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800100">
                <a:tc>
                  <a:txBody>
                    <a:bodyPr/>
                    <a:lstStyle/>
                    <a:p>
                      <a:pPr algn="ctr" indent="0" marL="0">
                        <a:buNone/>
                      </a:pPr>
                      <a:r>
                        <a:rPr lang="en-US" sz="2000" dirty="0">
                          <a:solidFill>
                            <a:schemeClr val="tx1"/>
                          </a:solidFill>
                        </a:rPr>
                        <a:t>1.1</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Les salutations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2"/>
                          </a:solidFill>
                        </a:rPr>
                        <a:t>de</a:t>
                      </a:r>
                      <a:r>
                        <a:rPr lang="en-US" sz="2000" dirty="0">
                          <a:solidFill>
                            <a:schemeClr val="tx1"/>
                          </a:solidFill>
                        </a:rPr>
                        <a:t> begroetingen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Dire bonjour selon le moment de la journée.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1 – 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00100">
                <a:tc>
                  <a:txBody>
                    <a:bodyPr/>
                    <a:lstStyle/>
                    <a:p>
                      <a:pPr algn="ctr" indent="0" marL="0">
                        <a:buNone/>
                      </a:pPr>
                      <a:r>
                        <a:rPr lang="en-US" sz="2000" dirty="0">
                          <a:solidFill>
                            <a:schemeClr val="tx1"/>
                          </a:solidFill>
                        </a:rPr>
                        <a:t>1.2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Prendre des nouvelles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hoe gaat het?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Demander et répondre à « comment ça va ? ».</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3 – 5</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490118">
                <a:tc>
                  <a:txBody>
                    <a:bodyPr/>
                    <a:lstStyle/>
                    <a:p>
                      <a:pPr algn="ctr" indent="0" marL="0">
                        <a:buNone/>
                      </a:pPr>
                      <a:r>
                        <a:rPr lang="en-US" sz="2000" dirty="0">
                          <a:solidFill>
                            <a:schemeClr val="tx1"/>
                          </a:solidFill>
                        </a:rPr>
                        <a:t>1.3</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Être et avoir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zijn &amp; hebben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Dire qui l’on est, ce que l’on a.</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6 – 7</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00100">
                <a:tc>
                  <a:txBody>
                    <a:bodyPr/>
                    <a:lstStyle/>
                    <a:p>
                      <a:pPr algn="ctr" indent="0" marL="0">
                        <a:buNone/>
                      </a:pPr>
                      <a:r>
                        <a:rPr lang="en-US" sz="2000" dirty="0">
                          <a:solidFill>
                            <a:schemeClr val="tx1"/>
                          </a:solidFill>
                        </a:rPr>
                        <a:t>1.4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Prendre congé</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afscheid nemen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Se quitter poliment selon le contexte.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8</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0010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Synthèse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stel jezelf voor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Se présenter en mobilisant tout le palier.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8</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7" name="Text 3"/>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Puis : grammaire (20 fiches), vocabulaire (12 thèmes) et 10 mises en situation (séances 9 à 19).</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Wie is wie? Les personnages</a:t>
            </a:r>
            <a:endParaRPr lang="en-US" sz="3200" dirty="0"/>
          </a:p>
        </p:txBody>
      </p:sp>
      <p:sp>
        <p:nvSpPr>
          <p:cNvPr id="3" name="tag"/>
          <p:cNvSpPr/>
          <p:nvPr/>
        </p:nvSpPr>
        <p:spPr>
          <a:xfrm>
            <a:off x="548640" y="237744"/>
            <a:ext cx="5943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BD</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2</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481328"/>
            <a:ext cx="4809744" cy="4809744"/>
          </a:xfrm>
          <a:prstGeom prst="rect">
            <a:avLst/>
          </a:prstGeom>
          <a:effectLst>
            <a:outerShdw sx="100000" sy="100000" kx="0" ky="0" algn="bl" rotWithShape="0" blurRad="101600" dist="25400" dir="3600000">
              <a:srgbClr val="000000">
                <a:alpha val="18000"/>
              </a:srgbClr>
            </a:outerShdw>
          </a:effectLst>
        </p:spPr>
      </p:pic>
      <p:sp>
        <p:nvSpPr>
          <p:cNvPr id="7" name="aside"/>
          <p:cNvSpPr/>
          <p:nvPr/>
        </p:nvSpPr>
        <p:spPr>
          <a:xfrm>
            <a:off x="5678424" y="1481328"/>
            <a:ext cx="5961888" cy="4809744"/>
          </a:xfrm>
          <a:prstGeom prst="roundRect">
            <a:avLst>
              <a:gd name="adj" fmla="val 1521"/>
            </a:avLst>
          </a:prstGeom>
          <a:solidFill>
            <a:schemeClr val="accent1">
              <a:alpha val="10000"/>
            </a:schemeClr>
          </a:solidFill>
          <a:ln w="12700">
            <a:solidFill>
              <a:schemeClr val="accent1">
                <a:alpha val="60000"/>
              </a:schemeClr>
            </a:solidFill>
            <a:prstDash val="solid"/>
          </a:ln>
        </p:spPr>
      </p:sp>
      <p:pic>
        <p:nvPicPr>
          <p:cNvPr id="8" name="Image 1" descr="preencoded.png">    </p:cNvPr>
          <p:cNvPicPr>
            <a:picLocks noChangeAspect="1"/>
          </p:cNvPicPr>
          <p:nvPr/>
        </p:nvPicPr>
        <p:blipFill>
          <a:blip r:embed="rId2"/>
          <a:stretch>
            <a:fillRect/>
          </a:stretch>
        </p:blipFill>
        <p:spPr>
          <a:xfrm>
            <a:off x="5861304" y="1664208"/>
            <a:ext cx="292608" cy="292608"/>
          </a:xfrm>
          <a:prstGeom prst="rect">
            <a:avLst/>
          </a:prstGeom>
        </p:spPr>
      </p:pic>
      <p:sp>
        <p:nvSpPr>
          <p:cNvPr id="9" name="Text 4"/>
          <p:cNvSpPr txBox="1"/>
          <p:nvPr/>
        </p:nvSpPr>
        <p:spPr>
          <a:xfrm>
            <a:off x="6245352" y="1636776"/>
            <a:ext cx="5230368" cy="347472"/>
          </a:xfrm>
          <a:prstGeom prst="rect">
            <a:avLst/>
          </a:prstGeom>
          <a:noFill/>
          <a:ln/>
        </p:spPr>
        <p:txBody>
          <a:bodyPr wrap="square" lIns="0" tIns="0" rIns="0" bIns="0" rtlCol="0" anchor="ctr"/>
          <a:lstStyle/>
          <a:p>
            <a:pPr indent="0" marL="0">
              <a:buNone/>
            </a:pPr>
            <a:r>
              <a:rPr lang="en-US" sz="1400" b="1" spc="100" kern="0" dirty="0">
                <a:solidFill>
                  <a:schemeClr val="accent1"/>
                </a:solidFill>
              </a:rPr>
              <a:t>EMMA &amp; PIETER : UN TANDEM</a:t>
            </a:r>
            <a:endParaRPr lang="en-US" sz="1400" dirty="0"/>
          </a:p>
        </p:txBody>
      </p:sp>
      <p:sp>
        <p:nvSpPr>
          <p:cNvPr id="10" name="Text 5"/>
          <p:cNvSpPr txBox="1"/>
          <p:nvPr/>
        </p:nvSpPr>
        <p:spPr>
          <a:xfrm>
            <a:off x="5843016" y="2075688"/>
            <a:ext cx="5632704"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Emma</a:t>
            </a:r>
            <a:r>
              <a:rPr lang="en-US" sz="1800" dirty="0">
                <a:solidFill>
                  <a:schemeClr val="tx1"/>
                </a:solidFill>
              </a:rPr>
              <a:t> : Bergen, studente, ze leert Nederlands, ze heeft een broer.</a:t>
            </a:r>
            <a:endParaRPr lang="en-US" sz="1800" dirty="0"/>
          </a:p>
          <a:p>
            <a:pPr marL="177800" indent="-177800">
              <a:spcAft>
                <a:spcPts val="600"/>
              </a:spcAft>
              <a:buSzPct val="100000"/>
              <a:buChar char="•"/>
            </a:pPr>
            <a:r>
              <a:rPr lang="en-US" sz="1800" b="1" dirty="0">
                <a:solidFill>
                  <a:schemeClr val="tx1"/>
                </a:solidFill>
              </a:rPr>
              <a:t>Pieter</a:t>
            </a:r>
            <a:r>
              <a:rPr lang="en-US" sz="1800" dirty="0">
                <a:solidFill>
                  <a:schemeClr val="tx1"/>
                </a:solidFill>
              </a:rPr>
              <a:t> : Nederland, stagiair op een school in België, hij heeft een zus.</a:t>
            </a:r>
            <a:endParaRPr lang="en-US" sz="1800" dirty="0"/>
          </a:p>
          <a:p>
            <a:pPr marL="177800" indent="-177800">
              <a:spcAft>
                <a:spcPts val="600"/>
              </a:spcAft>
              <a:buSzPct val="100000"/>
              <a:buChar char="•"/>
            </a:pPr>
            <a:r>
              <a:rPr lang="en-US" sz="1800" b="1" dirty="0">
                <a:solidFill>
                  <a:schemeClr val="tx1"/>
                </a:solidFill>
              </a:rPr>
              <a:t>Sarah</a:t>
            </a:r>
            <a:r>
              <a:rPr lang="en-US" sz="1800" dirty="0">
                <a:solidFill>
                  <a:schemeClr val="tx1"/>
                </a:solidFill>
              </a:rPr>
              <a:t> : Gent, collega van Pieter, ze heeft kinderen.</a:t>
            </a:r>
            <a:endParaRPr lang="en-US" sz="1800" dirty="0"/>
          </a:p>
          <a:p>
            <a:pPr marL="177800" indent="-177800">
              <a:spcAft>
                <a:spcPts val="600"/>
              </a:spcAft>
              <a:buSzPct val="100000"/>
              <a:buChar char="•"/>
            </a:pPr>
            <a:r>
              <a:rPr lang="en-US" sz="1800" b="1" dirty="0">
                <a:solidFill>
                  <a:schemeClr val="tx1"/>
                </a:solidFill>
              </a:rPr>
              <a:t>Meneer Janssens</a:t>
            </a:r>
            <a:r>
              <a:rPr lang="en-US" sz="1800" dirty="0">
                <a:solidFill>
                  <a:schemeClr val="tx1"/>
                </a:solidFill>
              </a:rPr>
              <a:t> : stagebegeleider van Pieter — Pieter zegt </a:t>
            </a:r>
            <a:r>
              <a:rPr lang="en-US" sz="1800" b="1" dirty="0">
                <a:solidFill>
                  <a:schemeClr val="tx1"/>
                </a:solidFill>
              </a:rPr>
              <a:t>u</a:t>
            </a:r>
            <a:r>
              <a:rPr lang="en-US" sz="1800" dirty="0">
                <a:solidFill>
                  <a:schemeClr val="tx1"/>
                </a:solidFill>
              </a:rPr>
              <a:t> tegen hem.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Premiers pas : Emma &amp; Pieter</a:t>
            </a:r>
            <a:endParaRPr lang="en-US" sz="3200" dirty="0"/>
          </a:p>
        </p:txBody>
      </p:sp>
      <p:sp>
        <p:nvSpPr>
          <p:cNvPr id="3" name="tag"/>
          <p:cNvSpPr/>
          <p:nvPr/>
        </p:nvSpPr>
        <p:spPr>
          <a:xfrm>
            <a:off x="548640" y="237744"/>
            <a:ext cx="5943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BD</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508760"/>
            <a:ext cx="6035040" cy="4029521"/>
          </a:xfrm>
          <a:prstGeom prst="rect">
            <a:avLst/>
          </a:prstGeom>
          <a:effectLst>
            <a:outerShdw sx="100000" sy="100000" kx="0" ky="0" algn="bl" rotWithShape="0" blurRad="101600" dist="25400" dir="3600000">
              <a:srgbClr val="000000">
                <a:alpha val="18000"/>
              </a:srgbClr>
            </a:outerShdw>
          </a:effectLst>
        </p:spPr>
      </p:pic>
      <p:sp>
        <p:nvSpPr>
          <p:cNvPr id="7" name="Text 3"/>
          <p:cNvSpPr txBox="1"/>
          <p:nvPr/>
        </p:nvSpPr>
        <p:spPr>
          <a:xfrm>
            <a:off x="6995160" y="1508760"/>
            <a:ext cx="4645152" cy="3432048"/>
          </a:xfrm>
          <a:prstGeom prst="rect">
            <a:avLst/>
          </a:prstGeom>
          <a:noFill/>
          <a:ln/>
        </p:spPr>
        <p:txBody>
          <a:bodyPr wrap="square" lIns="0" tIns="0" rIns="0" bIns="0" rtlCol="0" anchor="t"/>
          <a:lstStyle/>
          <a:p>
            <a:pPr indent="0" marL="0">
              <a:spcAft>
                <a:spcPts val="1000"/>
              </a:spcAft>
              <a:buNone/>
            </a:pPr>
            <a:r>
              <a:rPr lang="en-US" sz="2000" dirty="0">
                <a:solidFill>
                  <a:schemeClr val="tx1"/>
                </a:solidFill>
              </a:rPr>
              <a:t>Ce dialogue est votre porte d’entrée : il contient les </a:t>
            </a:r>
            <a:r>
              <a:rPr lang="en-US" sz="2000" b="1" dirty="0">
                <a:solidFill>
                  <a:schemeClr val="tx1"/>
                </a:solidFill>
              </a:rPr>
              <a:t>quatre piliers</a:t>
            </a:r>
            <a:r>
              <a:rPr lang="en-US" sz="2000" dirty="0">
                <a:solidFill>
                  <a:schemeClr val="tx1"/>
                </a:solidFill>
              </a:rPr>
              <a:t> de toute interaction sociale.</a:t>
            </a:r>
            <a:endParaRPr lang="en-US" sz="2000" dirty="0"/>
          </a:p>
          <a:p>
            <a:pPr indent="0" marL="0">
              <a:spcAft>
                <a:spcPts val="1000"/>
              </a:spcAft>
              <a:buNone/>
            </a:pPr>
            <a:r>
              <a:rPr lang="en-US" sz="2000" b="1" dirty="0">
                <a:solidFill>
                  <a:schemeClr val="tx1"/>
                </a:solidFill>
              </a:rPr>
              <a:t>1</a:t>
            </a:r>
            <a:r>
              <a:rPr lang="en-US" sz="2000" dirty="0">
                <a:solidFill>
                  <a:schemeClr val="tx1"/>
                </a:solidFill>
              </a:rPr>
              <a:t> Saluer · </a:t>
            </a:r>
            <a:r>
              <a:rPr lang="en-US" sz="2000" b="1" dirty="0">
                <a:solidFill>
                  <a:schemeClr val="tx1"/>
                </a:solidFill>
              </a:rPr>
              <a:t>2</a:t>
            </a:r>
            <a:r>
              <a:rPr lang="en-US" sz="2000" dirty="0">
                <a:solidFill>
                  <a:schemeClr val="tx1"/>
                </a:solidFill>
              </a:rPr>
              <a:t> Prendre des nouvelles · </a:t>
            </a:r>
            <a:r>
              <a:rPr lang="en-US" sz="2000" b="1" dirty="0">
                <a:solidFill>
                  <a:schemeClr val="tx1"/>
                </a:solidFill>
              </a:rPr>
              <a:t>3</a:t>
            </a:r>
            <a:r>
              <a:rPr lang="en-US" sz="2000" dirty="0">
                <a:solidFill>
                  <a:schemeClr val="tx1"/>
                </a:solidFill>
              </a:rPr>
              <a:t> Être et avoir (</a:t>
            </a:r>
            <a:r>
              <a:rPr lang="en-US" sz="2000" b="1" dirty="0">
                <a:solidFill>
                  <a:schemeClr val="tx1"/>
                </a:solidFill>
              </a:rPr>
              <a:t>zijn</a:t>
            </a:r>
            <a:r>
              <a:rPr lang="en-US" sz="2000" dirty="0">
                <a:solidFill>
                  <a:schemeClr val="tx1"/>
                </a:solidFill>
              </a:rPr>
              <a:t> &amp; </a:t>
            </a:r>
            <a:r>
              <a:rPr lang="en-US" sz="2000" b="1" dirty="0">
                <a:solidFill>
                  <a:schemeClr val="tx1"/>
                </a:solidFill>
              </a:rPr>
              <a:t>hebben</a:t>
            </a:r>
            <a:r>
              <a:rPr lang="en-US" sz="2000" dirty="0">
                <a:solidFill>
                  <a:schemeClr val="tx1"/>
                </a:solidFill>
              </a:rPr>
              <a:t>) · </a:t>
            </a:r>
            <a:r>
              <a:rPr lang="en-US" sz="2000" b="1" dirty="0">
                <a:solidFill>
                  <a:schemeClr val="tx1"/>
                </a:solidFill>
              </a:rPr>
              <a:t>4</a:t>
            </a:r>
            <a:r>
              <a:rPr lang="en-US" sz="2000" dirty="0">
                <a:solidFill>
                  <a:schemeClr val="tx1"/>
                </a:solidFill>
              </a:rPr>
              <a:t> Prendre congé.</a:t>
            </a:r>
            <a:endParaRPr lang="en-US" sz="2000" dirty="0"/>
          </a:p>
          <a:p>
            <a:pPr indent="0" marL="0">
              <a:spcAft>
                <a:spcPts val="1000"/>
              </a:spcAft>
              <a:buNone/>
            </a:pPr>
            <a:r>
              <a:rPr lang="en-US" sz="2000" dirty="0">
                <a:solidFill>
                  <a:schemeClr val="tx1"/>
                </a:solidFill>
              </a:rPr>
              <a:t>Le dialogue est découpé en </a:t>
            </a:r>
            <a:r>
              <a:rPr lang="en-US" sz="2000" b="1" dirty="0">
                <a:solidFill>
                  <a:schemeClr val="tx1"/>
                </a:solidFill>
              </a:rPr>
              <a:t>quatre séquences</a:t>
            </a:r>
            <a:r>
              <a:rPr lang="en-US" sz="2000" dirty="0">
                <a:solidFill>
                  <a:schemeClr val="tx1"/>
                </a:solidFill>
              </a:rPr>
              <a:t> : un extrait, une règle, un exercice.</a:t>
            </a:r>
            <a:endParaRPr lang="en-US" sz="2000" dirty="0"/>
          </a:p>
        </p:txBody>
      </p:sp>
      <p:sp>
        <p:nvSpPr>
          <p:cNvPr id="8" name="Shape 4"/>
          <p:cNvSpPr/>
          <p:nvPr/>
        </p:nvSpPr>
        <p:spPr>
          <a:xfrm>
            <a:off x="6995160" y="5123688"/>
            <a:ext cx="4645152" cy="1167384"/>
          </a:xfrm>
          <a:prstGeom prst="roundRect">
            <a:avLst>
              <a:gd name="adj" fmla="val 6266"/>
            </a:avLst>
          </a:prstGeom>
          <a:solidFill>
            <a:schemeClr val="accent1">
              <a:alpha val="12000"/>
            </a:schemeClr>
          </a:solidFill>
          <a:ln w="12700">
            <a:solidFill>
              <a:srgbClr val="D9700F"/>
            </a:solidFill>
            <a:prstDash val="solid"/>
          </a:ln>
        </p:spPr>
      </p:sp>
      <p:sp>
        <p:nvSpPr>
          <p:cNvPr id="9" name="Text 5"/>
          <p:cNvSpPr txBox="1"/>
          <p:nvPr/>
        </p:nvSpPr>
        <p:spPr>
          <a:xfrm>
            <a:off x="7178040" y="5215128"/>
            <a:ext cx="4279392"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QUESTION À LA CLASSE</a:t>
            </a:r>
            <a:endParaRPr lang="en-US" sz="1200" dirty="0"/>
          </a:p>
        </p:txBody>
      </p:sp>
      <p:sp>
        <p:nvSpPr>
          <p:cNvPr id="10" name="Text 6"/>
          <p:cNvSpPr txBox="1"/>
          <p:nvPr/>
        </p:nvSpPr>
        <p:spPr>
          <a:xfrm>
            <a:off x="7178040" y="5507736"/>
            <a:ext cx="4279392" cy="710184"/>
          </a:xfrm>
          <a:prstGeom prst="rect">
            <a:avLst/>
          </a:prstGeom>
          <a:noFill/>
          <a:ln/>
        </p:spPr>
        <p:txBody>
          <a:bodyPr wrap="square" lIns="0" tIns="0" rIns="0" bIns="0" rtlCol="0" anchor="t"/>
          <a:lstStyle/>
          <a:p>
            <a:pPr indent="0" marL="0">
              <a:buNone/>
            </a:pPr>
            <a:r>
              <a:rPr lang="en-US" sz="1700" dirty="0">
                <a:solidFill>
                  <a:schemeClr val="tx1"/>
                </a:solidFill>
              </a:rPr>
              <a:t>Regardez l’image : qui sont-ils, où sont-ils, que se disent-ils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Eerste dialoog</a:t>
            </a:r>
            <a:endParaRPr lang="en-US" sz="3200" dirty="0"/>
          </a:p>
        </p:txBody>
      </p:sp>
      <p:sp>
        <p:nvSpPr>
          <p:cNvPr id="3" name="tag"/>
          <p:cNvSpPr/>
          <p:nvPr/>
        </p:nvSpPr>
        <p:spPr>
          <a:xfrm>
            <a:off x="548640" y="237744"/>
            <a:ext cx="11658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DIALOOG</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3</a:t>
            </a:r>
            <a:endParaRPr lang="en-US" sz="1200" dirty="0"/>
          </a:p>
        </p:txBody>
      </p:sp>
      <p:sp>
        <p:nvSpPr>
          <p:cNvPr id="6" name="Text 3"/>
          <p:cNvSpPr txBox="1"/>
          <p:nvPr/>
        </p:nvSpPr>
        <p:spPr>
          <a:xfrm>
            <a:off x="548640" y="1508760"/>
            <a:ext cx="7315200" cy="4754880"/>
          </a:xfrm>
          <a:prstGeom prst="rect">
            <a:avLst/>
          </a:prstGeom>
          <a:noFill/>
          <a:ln/>
        </p:spPr>
        <p:txBody>
          <a:bodyPr wrap="square" lIns="0" tIns="0" rIns="0" bIns="0" rtlCol="0" anchor="t"/>
          <a:lstStyle/>
          <a:p>
            <a:pPr indent="0" marL="0">
              <a:spcAft>
                <a:spcPts val="800"/>
              </a:spcAft>
              <a:buNone/>
            </a:pPr>
            <a:r>
              <a:rPr lang="en-US" sz="1200" dirty="0">
                <a:solidFill>
                  <a:schemeClr val="accent5"/>
                </a:solidFill>
              </a:rPr>
              <a:t>1  </a:t>
            </a:r>
            <a:r>
              <a:rPr lang="en-US" sz="2000" b="1" dirty="0">
                <a:solidFill>
                  <a:srgbClr val="D9700F"/>
                </a:solidFill>
              </a:rPr>
              <a:t>Emma :  </a:t>
            </a:r>
            <a:r>
              <a:rPr lang="en-US" sz="2000" dirty="0">
                <a:solidFill>
                  <a:schemeClr val="tx1"/>
                </a:solidFill>
              </a:rPr>
              <a:t>«Goedemorgen, Pieter!»</a:t>
            </a:r>
            <a:endParaRPr lang="en-US" sz="2000" dirty="0"/>
          </a:p>
          <a:p>
            <a:pPr indent="0" marL="0">
              <a:spcAft>
                <a:spcPts val="800"/>
              </a:spcAft>
              <a:buNone/>
            </a:pPr>
            <a:r>
              <a:rPr lang="en-US" sz="1200" dirty="0">
                <a:solidFill>
                  <a:schemeClr val="accent5"/>
                </a:solidFill>
              </a:rPr>
              <a:t>2  </a:t>
            </a:r>
            <a:r>
              <a:rPr lang="en-US" sz="2000" b="1" dirty="0">
                <a:solidFill>
                  <a:schemeClr val="accent2"/>
                </a:solidFill>
              </a:rPr>
              <a:t>Pieter :  </a:t>
            </a:r>
            <a:r>
              <a:rPr lang="en-US" sz="2000" dirty="0">
                <a:solidFill>
                  <a:schemeClr val="tx1"/>
                </a:solidFill>
              </a:rPr>
              <a:t>«Goedemorgen, Emma! Hoe gaat het?»</a:t>
            </a:r>
            <a:endParaRPr lang="en-US" sz="2000" dirty="0"/>
          </a:p>
          <a:p>
            <a:pPr indent="0" marL="0">
              <a:spcAft>
                <a:spcPts val="800"/>
              </a:spcAft>
              <a:buNone/>
            </a:pPr>
            <a:r>
              <a:rPr lang="en-US" sz="1200" dirty="0">
                <a:solidFill>
                  <a:schemeClr val="accent5"/>
                </a:solidFill>
              </a:rPr>
              <a:t>3  </a:t>
            </a:r>
            <a:r>
              <a:rPr lang="en-US" sz="2000" b="1" dirty="0">
                <a:solidFill>
                  <a:srgbClr val="D9700F"/>
                </a:solidFill>
              </a:rPr>
              <a:t>Emma :  </a:t>
            </a:r>
            <a:r>
              <a:rPr lang="en-US" sz="2000" dirty="0">
                <a:solidFill>
                  <a:schemeClr val="tx1"/>
                </a:solidFill>
              </a:rPr>
              <a:t>«Het gaat goed, dank je. Ik ben moe, want ik heb veel werk. En met jou?»</a:t>
            </a:r>
            <a:endParaRPr lang="en-US" sz="2000" dirty="0"/>
          </a:p>
          <a:p>
            <a:pPr indent="0" marL="0">
              <a:spcAft>
                <a:spcPts val="800"/>
              </a:spcAft>
              <a:buNone/>
            </a:pPr>
            <a:r>
              <a:rPr lang="en-US" sz="1200" dirty="0">
                <a:solidFill>
                  <a:schemeClr val="accent5"/>
                </a:solidFill>
              </a:rPr>
              <a:t>4  </a:t>
            </a:r>
            <a:r>
              <a:rPr lang="en-US" sz="2000" b="1" dirty="0">
                <a:solidFill>
                  <a:schemeClr val="accent2"/>
                </a:solidFill>
              </a:rPr>
              <a:t>Pieter :  </a:t>
            </a:r>
            <a:r>
              <a:rPr lang="en-US" sz="2000" dirty="0">
                <a:solidFill>
                  <a:schemeClr val="tx1"/>
                </a:solidFill>
              </a:rPr>
              <a:t>«Ook goed, bedankt! Ik ben blij, want vandaag heb ik tijd.»</a:t>
            </a:r>
            <a:endParaRPr lang="en-US" sz="2000" dirty="0"/>
          </a:p>
          <a:p>
            <a:pPr indent="0" marL="0">
              <a:spcAft>
                <a:spcPts val="800"/>
              </a:spcAft>
              <a:buNone/>
            </a:pPr>
            <a:r>
              <a:rPr lang="en-US" sz="1200" dirty="0">
                <a:solidFill>
                  <a:schemeClr val="accent5"/>
                </a:solidFill>
              </a:rPr>
              <a:t>5  </a:t>
            </a:r>
            <a:r>
              <a:rPr lang="en-US" sz="2000" b="1" dirty="0">
                <a:solidFill>
                  <a:srgbClr val="D9700F"/>
                </a:solidFill>
              </a:rPr>
              <a:t>Emma :  </a:t>
            </a:r>
            <a:r>
              <a:rPr lang="en-US" sz="2000" dirty="0">
                <a:solidFill>
                  <a:schemeClr val="tx1"/>
                </a:solidFill>
              </a:rPr>
              <a:t>«Ben je klaar voor de cursus?»</a:t>
            </a:r>
            <a:endParaRPr lang="en-US" sz="2000" dirty="0"/>
          </a:p>
          <a:p>
            <a:pPr indent="0" marL="0">
              <a:spcAft>
                <a:spcPts val="800"/>
              </a:spcAft>
              <a:buNone/>
            </a:pPr>
            <a:r>
              <a:rPr lang="en-US" sz="1200" dirty="0">
                <a:solidFill>
                  <a:schemeClr val="accent5"/>
                </a:solidFill>
              </a:rPr>
              <a:t>6  </a:t>
            </a:r>
            <a:r>
              <a:rPr lang="en-US" sz="2000" b="1" dirty="0">
                <a:solidFill>
                  <a:schemeClr val="accent2"/>
                </a:solidFill>
              </a:rPr>
              <a:t>Pieter :  </a:t>
            </a:r>
            <a:r>
              <a:rPr lang="en-US" sz="2000" dirty="0">
                <a:solidFill>
                  <a:schemeClr val="tx1"/>
                </a:solidFill>
              </a:rPr>
              <a:t>«Ja, ik heb mijn boek en ik ben er klaar voor! Heb jij ook tijd voor een koffie?»</a:t>
            </a:r>
            <a:endParaRPr lang="en-US" sz="2000" dirty="0"/>
          </a:p>
          <a:p>
            <a:pPr indent="0" marL="0">
              <a:spcAft>
                <a:spcPts val="800"/>
              </a:spcAft>
              <a:buNone/>
            </a:pPr>
            <a:r>
              <a:rPr lang="en-US" sz="1200" dirty="0">
                <a:solidFill>
                  <a:schemeClr val="accent5"/>
                </a:solidFill>
              </a:rPr>
              <a:t>7  </a:t>
            </a:r>
            <a:r>
              <a:rPr lang="en-US" sz="2000" b="1" dirty="0">
                <a:solidFill>
                  <a:srgbClr val="D9700F"/>
                </a:solidFill>
              </a:rPr>
              <a:t>Emma :  </a:t>
            </a:r>
            <a:r>
              <a:rPr lang="en-US" sz="2000" dirty="0">
                <a:solidFill>
                  <a:schemeClr val="tx1"/>
                </a:solidFill>
              </a:rPr>
              <a:t>«Nee, sorry, ik heb geen tijd. Mijn les begint zo.»</a:t>
            </a:r>
            <a:endParaRPr lang="en-US" sz="2000" dirty="0"/>
          </a:p>
          <a:p>
            <a:pPr indent="0" marL="0">
              <a:spcAft>
                <a:spcPts val="800"/>
              </a:spcAft>
              <a:buNone/>
            </a:pPr>
            <a:r>
              <a:rPr lang="en-US" sz="1200" dirty="0">
                <a:solidFill>
                  <a:schemeClr val="accent5"/>
                </a:solidFill>
              </a:rPr>
              <a:t>8  </a:t>
            </a:r>
            <a:r>
              <a:rPr lang="en-US" sz="2000" b="1" dirty="0">
                <a:solidFill>
                  <a:schemeClr val="accent2"/>
                </a:solidFill>
              </a:rPr>
              <a:t>Pieter :  </a:t>
            </a:r>
            <a:r>
              <a:rPr lang="en-US" sz="2000" dirty="0">
                <a:solidFill>
                  <a:schemeClr val="tx1"/>
                </a:solidFill>
              </a:rPr>
              <a:t>«Geen probleem. Nou, tot straks dan!»</a:t>
            </a:r>
            <a:endParaRPr lang="en-US" sz="2000" dirty="0"/>
          </a:p>
          <a:p>
            <a:pPr indent="0" marL="0">
              <a:spcAft>
                <a:spcPts val="800"/>
              </a:spcAft>
              <a:buNone/>
            </a:pPr>
            <a:r>
              <a:rPr lang="en-US" sz="1200" dirty="0">
                <a:solidFill>
                  <a:schemeClr val="accent5"/>
                </a:solidFill>
              </a:rPr>
              <a:t>9  </a:t>
            </a:r>
            <a:r>
              <a:rPr lang="en-US" sz="2000" b="1" dirty="0">
                <a:solidFill>
                  <a:srgbClr val="D9700F"/>
                </a:solidFill>
              </a:rPr>
              <a:t>Emma :  </a:t>
            </a:r>
            <a:r>
              <a:rPr lang="en-US" sz="2000" dirty="0">
                <a:solidFill>
                  <a:schemeClr val="tx1"/>
                </a:solidFill>
              </a:rPr>
              <a:t>«Ja, tot straks! Dag Pieter!»</a:t>
            </a:r>
            <a:endParaRPr lang="en-US" sz="2000" dirty="0"/>
          </a:p>
        </p:txBody>
      </p:sp>
      <p:sp>
        <p:nvSpPr>
          <p:cNvPr id="7" name="aside"/>
          <p:cNvSpPr/>
          <p:nvPr/>
        </p:nvSpPr>
        <p:spPr>
          <a:xfrm>
            <a:off x="8183880" y="1508760"/>
            <a:ext cx="3456432" cy="4782312"/>
          </a:xfrm>
          <a:prstGeom prst="roundRect">
            <a:avLst>
              <a:gd name="adj" fmla="val 2116"/>
            </a:avLst>
          </a:prstGeom>
          <a:solidFill>
            <a:schemeClr val="accent5">
              <a:alpha val="10000"/>
            </a:schemeClr>
          </a:solidFill>
          <a:ln w="12700">
            <a:solidFill>
              <a:schemeClr val="accent5">
                <a:alpha val="60000"/>
              </a:schemeClr>
            </a:solidFill>
            <a:prstDash val="solid"/>
          </a:ln>
        </p:spPr>
      </p:sp>
      <p:pic>
        <p:nvPicPr>
          <p:cNvPr id="8" name="Image 0" descr="preencoded.png">    </p:cNvPr>
          <p:cNvPicPr>
            <a:picLocks noChangeAspect="1"/>
          </p:cNvPicPr>
          <p:nvPr/>
        </p:nvPicPr>
        <p:blipFill>
          <a:blip r:embed="rId1"/>
          <a:stretch>
            <a:fillRect/>
          </a:stretch>
        </p:blipFill>
        <p:spPr>
          <a:xfrm>
            <a:off x="8366760" y="1691640"/>
            <a:ext cx="292608" cy="292608"/>
          </a:xfrm>
          <a:prstGeom prst="rect">
            <a:avLst/>
          </a:prstGeom>
        </p:spPr>
      </p:pic>
      <p:sp>
        <p:nvSpPr>
          <p:cNvPr id="9" name="Text 5"/>
          <p:cNvSpPr txBox="1"/>
          <p:nvPr/>
        </p:nvSpPr>
        <p:spPr>
          <a:xfrm>
            <a:off x="8750808" y="1664208"/>
            <a:ext cx="2724912" cy="347472"/>
          </a:xfrm>
          <a:prstGeom prst="rect">
            <a:avLst/>
          </a:prstGeom>
          <a:noFill/>
          <a:ln/>
        </p:spPr>
        <p:txBody>
          <a:bodyPr wrap="square" lIns="0" tIns="0" rIns="0" bIns="0" rtlCol="0" anchor="ctr"/>
          <a:lstStyle/>
          <a:p>
            <a:pPr indent="0" marL="0">
              <a:buNone/>
            </a:pPr>
            <a:r>
              <a:rPr lang="en-US" sz="1400" b="1" spc="100" kern="0" dirty="0">
                <a:solidFill>
                  <a:schemeClr val="accent5"/>
                </a:solidFill>
              </a:rPr>
              <a:t>LES 4 PILIERS</a:t>
            </a:r>
            <a:endParaRPr lang="en-US" sz="1400" dirty="0"/>
          </a:p>
        </p:txBody>
      </p:sp>
      <p:sp>
        <p:nvSpPr>
          <p:cNvPr id="10" name="Text 6"/>
          <p:cNvSpPr txBox="1"/>
          <p:nvPr/>
        </p:nvSpPr>
        <p:spPr>
          <a:xfrm>
            <a:off x="8348472" y="2103120"/>
            <a:ext cx="3127248" cy="4050792"/>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Saluer</a:t>
            </a:r>
            <a:r>
              <a:rPr lang="en-US" sz="1800" dirty="0">
                <a:solidFill>
                  <a:schemeClr val="tx1"/>
                </a:solidFill>
              </a:rPr>
              <a:t> : lignes 1–2</a:t>
            </a:r>
            <a:endParaRPr lang="en-US" sz="1800" dirty="0"/>
          </a:p>
          <a:p>
            <a:pPr marL="177800" indent="-177800">
              <a:spcAft>
                <a:spcPts val="600"/>
              </a:spcAft>
              <a:buSzPct val="100000"/>
              <a:buChar char="•"/>
            </a:pPr>
            <a:r>
              <a:rPr lang="en-US" sz="1800" b="1" dirty="0">
                <a:solidFill>
                  <a:schemeClr val="tx1"/>
                </a:solidFill>
              </a:rPr>
              <a:t>Nouvelles</a:t>
            </a:r>
            <a:r>
              <a:rPr lang="en-US" sz="1800" dirty="0">
                <a:solidFill>
                  <a:schemeClr val="tx1"/>
                </a:solidFill>
              </a:rPr>
              <a:t> : lignes 2–4</a:t>
            </a:r>
            <a:endParaRPr lang="en-US" sz="1800" dirty="0"/>
          </a:p>
          <a:p>
            <a:pPr marL="177800" indent="-177800">
              <a:spcAft>
                <a:spcPts val="600"/>
              </a:spcAft>
              <a:buSzPct val="100000"/>
              <a:buChar char="•"/>
            </a:pPr>
            <a:r>
              <a:rPr lang="en-US" sz="1800" b="1" dirty="0">
                <a:solidFill>
                  <a:schemeClr val="tx1"/>
                </a:solidFill>
              </a:rPr>
              <a:t>Zijn / hebben</a:t>
            </a:r>
            <a:r>
              <a:rPr lang="en-US" sz="1800" dirty="0">
                <a:solidFill>
                  <a:schemeClr val="tx1"/>
                </a:solidFill>
              </a:rPr>
              <a:t> : lignes 3–7</a:t>
            </a:r>
            <a:endParaRPr lang="en-US" sz="1800" dirty="0"/>
          </a:p>
          <a:p>
            <a:pPr marL="177800" indent="-177800">
              <a:spcAft>
                <a:spcPts val="600"/>
              </a:spcAft>
              <a:buSzPct val="100000"/>
              <a:buChar char="•"/>
            </a:pPr>
            <a:r>
              <a:rPr lang="en-US" sz="1800" b="1" dirty="0">
                <a:solidFill>
                  <a:schemeClr val="tx1"/>
                </a:solidFill>
              </a:rPr>
              <a:t>Congé</a:t>
            </a:r>
            <a:r>
              <a:rPr lang="en-US" sz="1800" dirty="0">
                <a:solidFill>
                  <a:schemeClr val="tx1"/>
                </a:solidFill>
              </a:rPr>
              <a:t> : lignes 8–9</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Avez-vous compris le dialogue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6" name="Text 3"/>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Waar of niet waar? Corrigez les phrases fausses en néerlandais.</a:t>
            </a:r>
            <a:endParaRPr lang="en-US" sz="1600" dirty="0"/>
          </a:p>
        </p:txBody>
      </p:sp>
      <p:sp>
        <p:nvSpPr>
          <p:cNvPr id="7" name="exercise"/>
          <p:cNvSpPr txBox="1"/>
          <p:nvPr/>
        </p:nvSpPr>
        <p:spPr>
          <a:xfrm>
            <a:off x="548640" y="1926336"/>
            <a:ext cx="7178040" cy="4364736"/>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dirty="0">
                <a:solidFill>
                  <a:schemeClr val="tx1"/>
                </a:solidFill>
              </a:rPr>
              <a:t>Emma is moe, want ze heeft veel werk.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dirty="0">
                <a:solidFill>
                  <a:schemeClr val="tx1"/>
                </a:solidFill>
              </a:rPr>
              <a:t>Pieter heeft vandaag geen tijd.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dirty="0">
                <a:solidFill>
                  <a:schemeClr val="tx1"/>
                </a:solidFill>
              </a:rPr>
              <a:t>Pieter heeft zijn boek.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dirty="0">
                <a:solidFill>
                  <a:schemeClr val="tx1"/>
                </a:solidFill>
              </a:rPr>
              <a:t>Emma drinkt een koffie met Pieter.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dirty="0">
                <a:solidFill>
                  <a:schemeClr val="tx1"/>
                </a:solidFill>
              </a:rPr>
              <a:t>Emma’s les begint zo.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dirty="0">
                <a:solidFill>
                  <a:schemeClr val="tx1"/>
                </a:solidFill>
              </a:rPr>
              <a:t>Ze zeggen «Tot morgen!». → </a:t>
            </a:r>
            <a:r>
              <a:rPr lang="en-US" sz="2400" dirty="0">
                <a:solidFill>
                  <a:schemeClr val="accent5"/>
                </a:solidFill>
              </a:rPr>
              <a: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Avez-vous compris le dialogue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ag"/>
          <p:cNvSpPr/>
          <p:nvPr/>
        </p:nvSpPr>
        <p:spPr>
          <a:xfrm>
            <a:off x="18242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7" name="Text 4"/>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Waar of niet waar? Corrigez les phrases fausses en néerlandais.</a:t>
            </a:r>
            <a:endParaRPr lang="en-US" sz="1600" dirty="0"/>
          </a:p>
        </p:txBody>
      </p:sp>
      <p:sp>
        <p:nvSpPr>
          <p:cNvPr id="8" name="exercise"/>
          <p:cNvSpPr txBox="1"/>
          <p:nvPr/>
        </p:nvSpPr>
        <p:spPr>
          <a:xfrm>
            <a:off x="548640" y="1926336"/>
            <a:ext cx="7178040" cy="4364736"/>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dirty="0">
                <a:solidFill>
                  <a:schemeClr val="tx1"/>
                </a:solidFill>
              </a:rPr>
              <a:t>Emma is moe, want ze heeft veel werk. → </a:t>
            </a:r>
            <a:r>
              <a:rPr lang="en-US" sz="2400" b="1" dirty="0">
                <a:solidFill>
                  <a:schemeClr val="accent3"/>
                </a:solidFill>
              </a:rPr>
              <a:t>waar</a:t>
            </a:r>
            <a:endParaRPr lang="en-US" sz="2400" dirty="0"/>
          </a:p>
          <a:p>
            <a:pPr indent="0" marL="0">
              <a:spcAft>
                <a:spcPts val="1000"/>
              </a:spcAft>
              <a:buNone/>
            </a:pPr>
            <a:r>
              <a:rPr lang="en-US" sz="2400" b="1" dirty="0">
                <a:solidFill>
                  <a:schemeClr val="tx2"/>
                </a:solidFill>
              </a:rPr>
              <a:t>2.  </a:t>
            </a:r>
            <a:r>
              <a:rPr lang="en-US" sz="2400" dirty="0">
                <a:solidFill>
                  <a:schemeClr val="tx1"/>
                </a:solidFill>
              </a:rPr>
              <a:t>Pieter heeft vandaag geen tijd. → </a:t>
            </a:r>
            <a:r>
              <a:rPr lang="en-US" sz="2400" b="1" dirty="0">
                <a:solidFill>
                  <a:schemeClr val="accent3"/>
                </a:solidFill>
              </a:rPr>
              <a:t>niet waar: Pieter heeft vandaag tijd.</a:t>
            </a:r>
            <a:endParaRPr lang="en-US" sz="2400" dirty="0"/>
          </a:p>
          <a:p>
            <a:pPr indent="0" marL="0">
              <a:spcAft>
                <a:spcPts val="1000"/>
              </a:spcAft>
              <a:buNone/>
            </a:pPr>
            <a:r>
              <a:rPr lang="en-US" sz="2400" b="1" dirty="0">
                <a:solidFill>
                  <a:schemeClr val="tx2"/>
                </a:solidFill>
              </a:rPr>
              <a:t>3.  </a:t>
            </a:r>
            <a:r>
              <a:rPr lang="en-US" sz="2400" dirty="0">
                <a:solidFill>
                  <a:schemeClr val="tx1"/>
                </a:solidFill>
              </a:rPr>
              <a:t>Pieter heeft zijn boek. → </a:t>
            </a:r>
            <a:r>
              <a:rPr lang="en-US" sz="2400" b="1" dirty="0">
                <a:solidFill>
                  <a:schemeClr val="accent3"/>
                </a:solidFill>
              </a:rPr>
              <a:t>waar</a:t>
            </a:r>
            <a:endParaRPr lang="en-US" sz="2400" dirty="0"/>
          </a:p>
          <a:p>
            <a:pPr indent="0" marL="0">
              <a:spcAft>
                <a:spcPts val="1000"/>
              </a:spcAft>
              <a:buNone/>
            </a:pPr>
            <a:r>
              <a:rPr lang="en-US" sz="2400" b="1" dirty="0">
                <a:solidFill>
                  <a:schemeClr val="tx2"/>
                </a:solidFill>
              </a:rPr>
              <a:t>4.  </a:t>
            </a:r>
            <a:r>
              <a:rPr lang="en-US" sz="2400" dirty="0">
                <a:solidFill>
                  <a:schemeClr val="tx1"/>
                </a:solidFill>
              </a:rPr>
              <a:t>Emma drinkt een koffie met Pieter. → </a:t>
            </a:r>
            <a:r>
              <a:rPr lang="en-US" sz="2400" b="1" dirty="0">
                <a:solidFill>
                  <a:schemeClr val="accent3"/>
                </a:solidFill>
              </a:rPr>
              <a:t>niet waar: Emma heeft geen tijd.</a:t>
            </a:r>
            <a:endParaRPr lang="en-US" sz="2400" dirty="0"/>
          </a:p>
          <a:p>
            <a:pPr indent="0" marL="0">
              <a:spcAft>
                <a:spcPts val="1000"/>
              </a:spcAft>
              <a:buNone/>
            </a:pPr>
            <a:r>
              <a:rPr lang="en-US" sz="2400" b="1" dirty="0">
                <a:solidFill>
                  <a:schemeClr val="tx2"/>
                </a:solidFill>
              </a:rPr>
              <a:t>5.  </a:t>
            </a:r>
            <a:r>
              <a:rPr lang="en-US" sz="2400" dirty="0">
                <a:solidFill>
                  <a:schemeClr val="tx1"/>
                </a:solidFill>
              </a:rPr>
              <a:t>Emma’s les begint zo. → </a:t>
            </a:r>
            <a:r>
              <a:rPr lang="en-US" sz="2400" b="1" dirty="0">
                <a:solidFill>
                  <a:schemeClr val="accent3"/>
                </a:solidFill>
              </a:rPr>
              <a:t>waar</a:t>
            </a:r>
            <a:endParaRPr lang="en-US" sz="2400" dirty="0"/>
          </a:p>
          <a:p>
            <a:pPr indent="0" marL="0">
              <a:spcAft>
                <a:spcPts val="1000"/>
              </a:spcAft>
              <a:buNone/>
            </a:pPr>
            <a:r>
              <a:rPr lang="en-US" sz="2400" b="1" dirty="0">
                <a:solidFill>
                  <a:schemeClr val="tx2"/>
                </a:solidFill>
              </a:rPr>
              <a:t>6.  </a:t>
            </a:r>
            <a:r>
              <a:rPr lang="en-US" sz="2400" dirty="0">
                <a:solidFill>
                  <a:schemeClr val="tx1"/>
                </a:solidFill>
              </a:rPr>
              <a:t>Ze zeggen «Tot morgen!». → </a:t>
            </a:r>
            <a:r>
              <a:rPr lang="en-US" sz="2400" b="1" dirty="0">
                <a:solidFill>
                  <a:schemeClr val="accent3"/>
                </a:solidFill>
              </a:rPr>
              <a:t>niet waar: ze zeggen «Tot straks!».</a:t>
            </a:r>
            <a:endParaRPr lang="en-US" sz="2400" dirty="0"/>
          </a:p>
        </p:txBody>
      </p:sp>
      <p:sp>
        <p:nvSpPr>
          <p:cNvPr id="9" name="aside"/>
          <p:cNvSpPr/>
          <p:nvPr/>
        </p:nvSpPr>
        <p:spPr>
          <a:xfrm>
            <a:off x="8046720" y="1481328"/>
            <a:ext cx="3593592" cy="4809744"/>
          </a:xfrm>
          <a:prstGeom prst="roundRect">
            <a:avLst>
              <a:gd name="adj" fmla="val 2036"/>
            </a:avLst>
          </a:prstGeom>
          <a:solidFill>
            <a:schemeClr val="accent6">
              <a:alpha val="10000"/>
            </a:schemeClr>
          </a:solidFill>
          <a:ln w="12700">
            <a:solidFill>
              <a:schemeClr val="accent6">
                <a:alpha val="60000"/>
              </a:schemeClr>
            </a:solidFill>
            <a:prstDash val="solid"/>
          </a:ln>
        </p:spPr>
      </p:sp>
      <p:pic>
        <p:nvPicPr>
          <p:cNvPr id="10" name="Image 0" descr="preencoded.png">    </p:cNvPr>
          <p:cNvPicPr>
            <a:picLocks noChangeAspect="1"/>
          </p:cNvPicPr>
          <p:nvPr/>
        </p:nvPicPr>
        <p:blipFill>
          <a:blip r:embed="rId1"/>
          <a:stretch>
            <a:fillRect/>
          </a:stretch>
        </p:blipFill>
        <p:spPr>
          <a:xfrm>
            <a:off x="8229600" y="1664208"/>
            <a:ext cx="292608" cy="292608"/>
          </a:xfrm>
          <a:prstGeom prst="rect">
            <a:avLst/>
          </a:prstGeom>
        </p:spPr>
      </p:pic>
      <p:sp>
        <p:nvSpPr>
          <p:cNvPr id="11" name="Text 7"/>
          <p:cNvSpPr txBox="1"/>
          <p:nvPr/>
        </p:nvSpPr>
        <p:spPr>
          <a:xfrm>
            <a:off x="8613648" y="1636776"/>
            <a:ext cx="2862072"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2" name="Text 8"/>
          <p:cNvSpPr txBox="1"/>
          <p:nvPr/>
        </p:nvSpPr>
        <p:spPr>
          <a:xfrm>
            <a:off x="8211312" y="2075688"/>
            <a:ext cx="3264408"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heeft</a:t>
            </a:r>
            <a:r>
              <a:rPr lang="en-US" sz="1800" dirty="0">
                <a:solidFill>
                  <a:schemeClr val="tx1"/>
                </a:solidFill>
              </a:rPr>
              <a:t> à la 3e personne (hij / zij) : ✗ </a:t>
            </a:r>
            <a:r>
              <a:rPr lang="en-US" sz="1800" i="1" dirty="0">
                <a:solidFill>
                  <a:schemeClr val="tx1"/>
                </a:solidFill>
              </a:rPr>
              <a:t>Pieter heb</a:t>
            </a:r>
            <a:endParaRPr lang="en-US" sz="1800" dirty="0"/>
          </a:p>
          <a:p>
            <a:pPr marL="177800" indent="-177800">
              <a:spcAft>
                <a:spcPts val="600"/>
              </a:spcAft>
              <a:buSzPct val="100000"/>
              <a:buChar char="•"/>
            </a:pPr>
            <a:r>
              <a:rPr lang="en-US" sz="1800" b="1" dirty="0">
                <a:solidFill>
                  <a:schemeClr val="tx1"/>
                </a:solidFill>
              </a:rPr>
              <a:t>geen</a:t>
            </a:r>
            <a:r>
              <a:rPr lang="en-US" sz="1800" dirty="0">
                <a:solidFill>
                  <a:schemeClr val="tx1"/>
                </a:solidFill>
              </a:rPr>
              <a:t> + nom : </a:t>
            </a:r>
            <a:r>
              <a:rPr lang="en-US" sz="1800" i="1" dirty="0">
                <a:solidFill>
                  <a:schemeClr val="tx1"/>
                </a:solidFill>
              </a:rPr>
              <a:t>geen tijd</a:t>
            </a:r>
            <a:r>
              <a:rPr lang="en-US" sz="1800" dirty="0">
                <a:solidFill>
                  <a:schemeClr val="tx1"/>
                </a:solidFill>
              </a:rPr>
              <a:t> (✗ </a:t>
            </a:r>
            <a:r>
              <a:rPr lang="en-US" sz="1800" i="1" dirty="0">
                <a:solidFill>
                  <a:schemeClr val="tx1"/>
                </a:solidFill>
              </a:rPr>
              <a:t>niet tijd</a:t>
            </a:r>
            <a:r>
              <a:rPr lang="en-US" sz="1800" dirty="0">
                <a:solidFill>
                  <a:schemeClr val="tx1"/>
                </a:solidFill>
              </a:rPr>
              <a:t>) — voir séance 6.</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Séquence 1.1 : les salutations</a:t>
            </a:r>
            <a:endParaRPr lang="en-US" sz="3200" dirty="0"/>
          </a:p>
        </p:txBody>
      </p:sp>
      <p:sp>
        <p:nvSpPr>
          <p:cNvPr id="3" name="tag"/>
          <p:cNvSpPr/>
          <p:nvPr/>
        </p:nvSpPr>
        <p:spPr>
          <a:xfrm>
            <a:off x="548640" y="237744"/>
            <a:ext cx="9372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FOCUS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4</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508760"/>
            <a:ext cx="6035040" cy="402631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508760"/>
            <a:ext cx="1600200" cy="868680"/>
          </a:xfrm>
          <a:prstGeom prst="roundRect">
            <a:avLst>
              <a:gd name="adj" fmla="val 8421"/>
            </a:avLst>
          </a:prstGeom>
          <a:solidFill>
            <a:schemeClr val="tx2"/>
          </a:solidFill>
          <a:ln/>
        </p:spPr>
      </p:sp>
      <p:sp>
        <p:nvSpPr>
          <p:cNvPr id="8" name="Text 4"/>
          <p:cNvSpPr txBox="1"/>
          <p:nvPr/>
        </p:nvSpPr>
        <p:spPr>
          <a:xfrm>
            <a:off x="6995160" y="155448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SÉQUENCE</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1.1</a:t>
            </a:r>
            <a:endParaRPr lang="en-US" sz="1100" dirty="0"/>
          </a:p>
        </p:txBody>
      </p:sp>
      <p:sp>
        <p:nvSpPr>
          <p:cNvPr id="9" name="Text 5"/>
          <p:cNvSpPr txBox="1"/>
          <p:nvPr/>
        </p:nvSpPr>
        <p:spPr>
          <a:xfrm>
            <a:off x="6995160" y="2560320"/>
            <a:ext cx="4645152" cy="2639568"/>
          </a:xfrm>
          <a:prstGeom prst="rect">
            <a:avLst/>
          </a:prstGeom>
          <a:noFill/>
          <a:ln/>
        </p:spPr>
        <p:txBody>
          <a:bodyPr wrap="square" lIns="0" tIns="0" rIns="0" bIns="0" rtlCol="0" anchor="t"/>
          <a:lstStyle/>
          <a:p>
            <a:pPr indent="0" marL="0">
              <a:spcAft>
                <a:spcPts val="1000"/>
              </a:spcAft>
              <a:buNone/>
            </a:pPr>
            <a:r>
              <a:rPr lang="en-US" sz="1700" dirty="0">
                <a:solidFill>
                  <a:schemeClr val="tx1"/>
                </a:solidFill>
              </a:rPr>
              <a:t>Les salutations sont votre </a:t>
            </a:r>
            <a:r>
              <a:rPr lang="en-US" sz="1700" b="1" dirty="0">
                <a:solidFill>
                  <a:schemeClr val="tx1"/>
                </a:solidFill>
              </a:rPr>
              <a:t>première interaction</a:t>
            </a:r>
            <a:r>
              <a:rPr lang="en-US" sz="1700" dirty="0">
                <a:solidFill>
                  <a:schemeClr val="tx1"/>
                </a:solidFill>
              </a:rPr>
              <a:t> en néerlandais : base de la communication, de la politesse et de la mise en confiance.</a:t>
            </a:r>
            <a:endParaRPr lang="en-US" sz="1700" dirty="0"/>
          </a:p>
          <a:p>
            <a:pPr indent="0" marL="0">
              <a:spcAft>
                <a:spcPts val="1000"/>
              </a:spcAft>
              <a:buNone/>
            </a:pPr>
            <a:r>
              <a:rPr lang="en-US" sz="1700" b="1" dirty="0">
                <a:solidFill>
                  <a:schemeClr val="tx1"/>
                </a:solidFill>
              </a:rPr>
              <a:t>Focus : lignes 1–2 du dialogue</a:t>
            </a:r>
            <a:endParaRPr lang="en-US" sz="1700" dirty="0"/>
          </a:p>
          <a:p>
            <a:pPr indent="0" marL="0">
              <a:spcAft>
                <a:spcPts val="1000"/>
              </a:spcAft>
              <a:buNone/>
            </a:pPr>
            <a:r>
              <a:rPr lang="en-US" sz="1700" dirty="0">
                <a:solidFill>
                  <a:schemeClr val="tx1"/>
                </a:solidFill>
              </a:rPr>
              <a:t>Emma : «</a:t>
            </a:r>
            <a:r>
              <a:rPr lang="en-US" sz="1700" b="1" dirty="0">
                <a:solidFill>
                  <a:schemeClr val="tx1"/>
                </a:solidFill>
              </a:rPr>
              <a:t>Goedemorgen</a:t>
            </a:r>
            <a:r>
              <a:rPr lang="en-US" sz="1700" dirty="0">
                <a:solidFill>
                  <a:schemeClr val="tx1"/>
                </a:solidFill>
              </a:rPr>
              <a:t>, Pieter!» — </a:t>
            </a:r>
            <a:r>
              <a:rPr lang="en-US" sz="1700" i="1" dirty="0">
                <a:solidFill>
                  <a:schemeClr val="tx1"/>
                </a:solidFill>
              </a:rPr>
              <a:t>Bonjour, Pieter !</a:t>
            </a:r>
            <a:endParaRPr lang="en-US" sz="1700" dirty="0"/>
          </a:p>
          <a:p>
            <a:pPr indent="0" marL="0">
              <a:spcAft>
                <a:spcPts val="1000"/>
              </a:spcAft>
              <a:buNone/>
            </a:pPr>
            <a:r>
              <a:rPr lang="en-US" sz="1700" dirty="0">
                <a:solidFill>
                  <a:schemeClr val="tx1"/>
                </a:solidFill>
              </a:rPr>
              <a:t>Pieter : «</a:t>
            </a:r>
            <a:r>
              <a:rPr lang="en-US" sz="1700" b="1" dirty="0">
                <a:solidFill>
                  <a:schemeClr val="tx1"/>
                </a:solidFill>
              </a:rPr>
              <a:t>Goedemorgen</a:t>
            </a:r>
            <a:r>
              <a:rPr lang="en-US" sz="1700" dirty="0">
                <a:solidFill>
                  <a:schemeClr val="tx1"/>
                </a:solidFill>
              </a:rPr>
              <a:t>, Emma!» — </a:t>
            </a:r>
            <a:r>
              <a:rPr lang="en-US" sz="1700" i="1" dirty="0">
                <a:solidFill>
                  <a:schemeClr val="tx1"/>
                </a:solidFill>
              </a:rPr>
              <a:t>Bonjour, Emma !</a:t>
            </a:r>
            <a:endParaRPr lang="en-US" sz="1700" dirty="0"/>
          </a:p>
        </p:txBody>
      </p:sp>
      <p:sp>
        <p:nvSpPr>
          <p:cNvPr id="10" name="Shape 6"/>
          <p:cNvSpPr/>
          <p:nvPr/>
        </p:nvSpPr>
        <p:spPr>
          <a:xfrm>
            <a:off x="6995160" y="5382768"/>
            <a:ext cx="4645152" cy="908304"/>
          </a:xfrm>
          <a:prstGeom prst="roundRect">
            <a:avLst>
              <a:gd name="adj" fmla="val 8054"/>
            </a:avLst>
          </a:prstGeom>
          <a:solidFill>
            <a:schemeClr val="accent1">
              <a:alpha val="12000"/>
            </a:schemeClr>
          </a:solidFill>
          <a:ln w="12700">
            <a:solidFill>
              <a:srgbClr val="D9700F"/>
            </a:solidFill>
            <a:prstDash val="solid"/>
          </a:ln>
        </p:spPr>
      </p:sp>
      <p:sp>
        <p:nvSpPr>
          <p:cNvPr id="11" name="Text 7"/>
          <p:cNvSpPr txBox="1"/>
          <p:nvPr/>
        </p:nvSpPr>
        <p:spPr>
          <a:xfrm>
            <a:off x="7178040" y="5474208"/>
            <a:ext cx="4279392"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QUESTION À LA CLASSE</a:t>
            </a:r>
            <a:endParaRPr lang="en-US" sz="1200" dirty="0"/>
          </a:p>
        </p:txBody>
      </p:sp>
      <p:sp>
        <p:nvSpPr>
          <p:cNvPr id="12" name="Text 8"/>
          <p:cNvSpPr txBox="1"/>
          <p:nvPr/>
        </p:nvSpPr>
        <p:spPr>
          <a:xfrm>
            <a:off x="7178040" y="5766816"/>
            <a:ext cx="4279392" cy="451104"/>
          </a:xfrm>
          <a:prstGeom prst="rect">
            <a:avLst/>
          </a:prstGeom>
          <a:noFill/>
          <a:ln/>
        </p:spPr>
        <p:txBody>
          <a:bodyPr wrap="square" lIns="0" tIns="0" rIns="0" bIns="0" rtlCol="0" anchor="t"/>
          <a:lstStyle/>
          <a:p>
            <a:pPr indent="0" marL="0">
              <a:buNone/>
            </a:pPr>
            <a:r>
              <a:rPr lang="en-US" sz="1700" dirty="0">
                <a:solidFill>
                  <a:schemeClr val="tx1"/>
                </a:solidFill>
              </a:rPr>
              <a:t>Il est 15 h. Que dit Emma en arrivant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Zinnenbouwer 1.1 — Groeten en de dag</a:t>
            </a:r>
            <a:endParaRPr lang="en-US" sz="3200" dirty="0"/>
          </a:p>
        </p:txBody>
      </p:sp>
      <p:sp>
        <p:nvSpPr>
          <p:cNvPr id="3" name="tag"/>
          <p:cNvSpPr/>
          <p:nvPr/>
        </p:nvSpPr>
        <p:spPr>
          <a:xfrm>
            <a:off x="548640" y="237744"/>
            <a:ext cx="17373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ZINNENBOUWER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5</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481328"/>
            <a:ext cx="3630495" cy="4809744"/>
          </a:xfrm>
          <a:prstGeom prst="rect">
            <a:avLst/>
          </a:prstGeom>
          <a:effectLst>
            <a:outerShdw sx="100000" sy="100000" kx="0" ky="0" algn="bl" rotWithShape="0" blurRad="101600" dist="25400" dir="3600000">
              <a:srgbClr val="000000">
                <a:alpha val="18000"/>
              </a:srgbClr>
            </a:outerShdw>
          </a:effectLst>
        </p:spPr>
      </p:pic>
      <p:sp>
        <p:nvSpPr>
          <p:cNvPr id="7" name="aside"/>
          <p:cNvSpPr/>
          <p:nvPr/>
        </p:nvSpPr>
        <p:spPr>
          <a:xfrm>
            <a:off x="4499175" y="1481328"/>
            <a:ext cx="7141137" cy="4809744"/>
          </a:xfrm>
          <a:prstGeom prst="roundRect">
            <a:avLst>
              <a:gd name="adj" fmla="val 1521"/>
            </a:avLst>
          </a:prstGeom>
          <a:solidFill>
            <a:schemeClr val="tx2">
              <a:alpha val="10000"/>
            </a:schemeClr>
          </a:solidFill>
          <a:ln w="12700">
            <a:solidFill>
              <a:schemeClr val="tx2">
                <a:alpha val="60000"/>
              </a:schemeClr>
            </a:solidFill>
            <a:prstDash val="solid"/>
          </a:ln>
        </p:spPr>
      </p:sp>
      <p:pic>
        <p:nvPicPr>
          <p:cNvPr id="8" name="Image 1" descr="preencoded.png">    </p:cNvPr>
          <p:cNvPicPr>
            <a:picLocks noChangeAspect="1"/>
          </p:cNvPicPr>
          <p:nvPr/>
        </p:nvPicPr>
        <p:blipFill>
          <a:blip r:embed="rId2"/>
          <a:stretch>
            <a:fillRect/>
          </a:stretch>
        </p:blipFill>
        <p:spPr>
          <a:xfrm>
            <a:off x="4682055" y="1664208"/>
            <a:ext cx="292608" cy="292608"/>
          </a:xfrm>
          <a:prstGeom prst="rect">
            <a:avLst/>
          </a:prstGeom>
        </p:spPr>
      </p:pic>
      <p:sp>
        <p:nvSpPr>
          <p:cNvPr id="9" name="Text 4"/>
          <p:cNvSpPr txBox="1"/>
          <p:nvPr/>
        </p:nvSpPr>
        <p:spPr>
          <a:xfrm>
            <a:off x="5066103" y="1636776"/>
            <a:ext cx="6409617" cy="347472"/>
          </a:xfrm>
          <a:prstGeom prst="rect">
            <a:avLst/>
          </a:prstGeom>
          <a:noFill/>
          <a:ln/>
        </p:spPr>
        <p:txBody>
          <a:bodyPr wrap="square" lIns="0" tIns="0" rIns="0" bIns="0" rtlCol="0" anchor="ctr"/>
          <a:lstStyle/>
          <a:p>
            <a:pPr indent="0" marL="0">
              <a:buNone/>
            </a:pPr>
            <a:r>
              <a:rPr lang="en-US" sz="1400" b="1" spc="100" kern="0" dirty="0">
                <a:solidFill>
                  <a:schemeClr val="tx2"/>
                </a:solidFill>
              </a:rPr>
              <a:t>MODE D’EMPLOI</a:t>
            </a:r>
            <a:endParaRPr lang="en-US" sz="1400" dirty="0"/>
          </a:p>
        </p:txBody>
      </p:sp>
      <p:sp>
        <p:nvSpPr>
          <p:cNvPr id="10" name="Text 5"/>
          <p:cNvSpPr txBox="1"/>
          <p:nvPr/>
        </p:nvSpPr>
        <p:spPr>
          <a:xfrm>
            <a:off x="4663767" y="2075688"/>
            <a:ext cx="6811953"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Cinq familles : </a:t>
            </a:r>
            <a:r>
              <a:rPr lang="en-US" sz="1800" b="1" dirty="0">
                <a:solidFill>
                  <a:schemeClr val="tx1"/>
                </a:solidFill>
              </a:rPr>
              <a:t>A</a:t>
            </a:r>
            <a:r>
              <a:rPr lang="en-US" sz="1800" dirty="0">
                <a:solidFill>
                  <a:schemeClr val="tx1"/>
                </a:solidFill>
              </a:rPr>
              <a:t> groeten · </a:t>
            </a:r>
            <a:r>
              <a:rPr lang="en-US" sz="1800" b="1" dirty="0">
                <a:solidFill>
                  <a:schemeClr val="tx1"/>
                </a:solidFill>
              </a:rPr>
              <a:t>B</a:t>
            </a:r>
            <a:r>
              <a:rPr lang="en-US" sz="1800" dirty="0">
                <a:solidFill>
                  <a:schemeClr val="tx1"/>
                </a:solidFill>
              </a:rPr>
              <a:t> mijn dag · </a:t>
            </a:r>
            <a:r>
              <a:rPr lang="en-US" sz="1800" b="1" dirty="0">
                <a:solidFill>
                  <a:schemeClr val="tx1"/>
                </a:solidFill>
              </a:rPr>
              <a:t>C</a:t>
            </a:r>
            <a:r>
              <a:rPr lang="en-US" sz="1800" dirty="0">
                <a:solidFill>
                  <a:schemeClr val="tx1"/>
                </a:solidFill>
              </a:rPr>
              <a:t> hoe laat? · </a:t>
            </a:r>
            <a:r>
              <a:rPr lang="en-US" sz="1800" b="1" dirty="0">
                <a:solidFill>
                  <a:schemeClr val="tx1"/>
                </a:solidFill>
              </a:rPr>
              <a:t>D</a:t>
            </a:r>
            <a:r>
              <a:rPr lang="en-US" sz="1800" dirty="0">
                <a:solidFill>
                  <a:schemeClr val="tx1"/>
                </a:solidFill>
              </a:rPr>
              <a:t> afscheid · </a:t>
            </a:r>
            <a:r>
              <a:rPr lang="en-US" sz="1800" b="1" dirty="0">
                <a:solidFill>
                  <a:schemeClr val="tx1"/>
                </a:solidFill>
              </a:rPr>
              <a:t>E</a:t>
            </a:r>
            <a:r>
              <a:rPr lang="en-US" sz="1800" dirty="0">
                <a:solidFill>
                  <a:schemeClr val="tx1"/>
                </a:solidFill>
              </a:rPr>
              <a:t> dagen van de week.</a:t>
            </a:r>
            <a:endParaRPr lang="en-US" sz="1800" dirty="0"/>
          </a:p>
          <a:p>
            <a:pPr marL="177800" indent="-177800">
              <a:spcAft>
                <a:spcPts val="600"/>
              </a:spcAft>
              <a:buSzPct val="100000"/>
              <a:buChar char="•"/>
            </a:pPr>
            <a:r>
              <a:rPr lang="en-US" sz="1800" dirty="0">
                <a:solidFill>
                  <a:schemeClr val="tx1"/>
                </a:solidFill>
              </a:rPr>
              <a:t>Prenez </a:t>
            </a:r>
            <a:r>
              <a:rPr lang="en-US" sz="1800" b="1" dirty="0">
                <a:solidFill>
                  <a:schemeClr val="tx1"/>
                </a:solidFill>
              </a:rPr>
              <a:t>un bloc par colonne</a:t>
            </a:r>
            <a:r>
              <a:rPr lang="en-US" sz="1800" dirty="0">
                <a:solidFill>
                  <a:schemeClr val="tx1"/>
                </a:solidFill>
              </a:rPr>
              <a:t> : quand ? → verbe + sujet → complément.</a:t>
            </a:r>
            <a:endParaRPr lang="en-US" sz="1800" dirty="0"/>
          </a:p>
          <a:p>
            <a:pPr marL="177800" indent="-177800">
              <a:spcAft>
                <a:spcPts val="600"/>
              </a:spcAft>
              <a:buSzPct val="100000"/>
              <a:buChar char="•"/>
            </a:pPr>
            <a:r>
              <a:rPr lang="en-US" sz="1800" i="1" dirty="0">
                <a:solidFill>
                  <a:schemeClr val="tx1"/>
                </a:solidFill>
              </a:rPr>
              <a:t>’s Morgens</a:t>
            </a:r>
            <a:r>
              <a:rPr lang="en-US" sz="1800" dirty="0">
                <a:solidFill>
                  <a:schemeClr val="tx1"/>
                </a:solidFill>
              </a:rPr>
              <a:t> + </a:t>
            </a:r>
            <a:r>
              <a:rPr lang="en-US" sz="1800" i="1" dirty="0">
                <a:solidFill>
                  <a:schemeClr val="tx1"/>
                </a:solidFill>
              </a:rPr>
              <a:t>zeg ik</a:t>
            </a:r>
            <a:r>
              <a:rPr lang="en-US" sz="1800" dirty="0">
                <a:solidFill>
                  <a:schemeClr val="tx1"/>
                </a:solidFill>
              </a:rPr>
              <a:t> + </a:t>
            </a:r>
            <a:r>
              <a:rPr lang="en-US" sz="1800" i="1" dirty="0">
                <a:solidFill>
                  <a:schemeClr val="tx1"/>
                </a:solidFill>
              </a:rPr>
              <a:t>«Goedemorgen!»</a:t>
            </a:r>
            <a:endParaRPr lang="en-US" sz="1800" dirty="0"/>
          </a:p>
          <a:p>
            <a:pPr marL="177800" indent="-177800">
              <a:spcAft>
                <a:spcPts val="600"/>
              </a:spcAft>
              <a:buSzPct val="100000"/>
              <a:buChar char="•"/>
            </a:pPr>
            <a:r>
              <a:rPr lang="en-US" sz="1800" dirty="0">
                <a:solidFill>
                  <a:schemeClr val="tx1"/>
                </a:solidFill>
              </a:rPr>
              <a:t>Phrase </a:t>
            </a:r>
            <a:r>
              <a:rPr lang="en-US" sz="1800" b="1" dirty="0">
                <a:solidFill>
                  <a:schemeClr val="tx1"/>
                </a:solidFill>
              </a:rPr>
              <a:t>vraie pour vous</a:t>
            </a:r>
            <a:r>
              <a:rPr lang="en-US" sz="1800" dirty="0">
                <a:solidFill>
                  <a:schemeClr val="tx1"/>
                </a:solidFill>
              </a:rPr>
              <a:t> = phrase réussie.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Comment le zinnenbouwer construit la phrase</a:t>
            </a:r>
            <a:endParaRPr lang="en-US" sz="3200" dirty="0"/>
          </a:p>
        </p:txBody>
      </p:sp>
      <p:sp>
        <p:nvSpPr>
          <p:cNvPr id="3" name="tag"/>
          <p:cNvSpPr/>
          <p:nvPr/>
        </p:nvSpPr>
        <p:spPr>
          <a:xfrm>
            <a:off x="548640" y="237744"/>
            <a:ext cx="17373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ZINNENBOUWER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5</a:t>
            </a:r>
            <a:endParaRPr lang="en-US" sz="1200" dirty="0"/>
          </a:p>
        </p:txBody>
      </p:sp>
      <p:sp>
        <p:nvSpPr>
          <p:cNvPr id="6" name="Text 3"/>
          <p:cNvSpPr txBox="1"/>
          <p:nvPr/>
        </p:nvSpPr>
        <p:spPr>
          <a:xfrm>
            <a:off x="548640" y="1481328"/>
            <a:ext cx="11091672" cy="329184"/>
          </a:xfrm>
          <a:prstGeom prst="rect">
            <a:avLst/>
          </a:prstGeom>
          <a:noFill/>
          <a:ln/>
        </p:spPr>
        <p:txBody>
          <a:bodyPr wrap="square" lIns="0" tIns="0" rIns="0" bIns="0" rtlCol="0" anchor="t"/>
          <a:lstStyle/>
          <a:p>
            <a:pPr indent="0" marL="0">
              <a:buNone/>
            </a:pPr>
            <a:r>
              <a:rPr lang="en-US" sz="1800" dirty="0">
                <a:solidFill>
                  <a:schemeClr val="tx1"/>
                </a:solidFill>
              </a:rPr>
              <a:t>Le </a:t>
            </a:r>
            <a:r>
              <a:rPr lang="en-US" sz="1800" b="1" dirty="0">
                <a:solidFill>
                  <a:schemeClr val="tx1"/>
                </a:solidFill>
              </a:rPr>
              <a:t>moment</a:t>
            </a:r>
            <a:r>
              <a:rPr lang="en-US" sz="1800" dirty="0">
                <a:solidFill>
                  <a:schemeClr val="tx1"/>
                </a:solidFill>
              </a:rPr>
              <a:t> ouvre la phrase. Le </a:t>
            </a:r>
            <a:r>
              <a:rPr lang="en-US" sz="1800" b="1" dirty="0">
                <a:solidFill>
                  <a:schemeClr val="tx1"/>
                </a:solidFill>
              </a:rPr>
              <a:t>verbe</a:t>
            </a:r>
            <a:r>
              <a:rPr lang="en-US" sz="1800" dirty="0">
                <a:solidFill>
                  <a:schemeClr val="tx1"/>
                </a:solidFill>
              </a:rPr>
              <a:t> reste en </a:t>
            </a:r>
            <a:r>
              <a:rPr lang="en-US" sz="1800" b="1" dirty="0">
                <a:solidFill>
                  <a:schemeClr val="tx1"/>
                </a:solidFill>
              </a:rPr>
              <a:t>2e position</a:t>
            </a:r>
            <a:r>
              <a:rPr lang="en-US" sz="1800" dirty="0">
                <a:solidFill>
                  <a:schemeClr val="tx1"/>
                </a:solidFill>
              </a:rPr>
              <a:t> ; le </a:t>
            </a:r>
            <a:r>
              <a:rPr lang="en-US" sz="1800" b="1" dirty="0">
                <a:solidFill>
                  <a:schemeClr val="tx1"/>
                </a:solidFill>
              </a:rPr>
              <a:t>sujet</a:t>
            </a:r>
            <a:r>
              <a:rPr lang="en-US" sz="1800" dirty="0">
                <a:solidFill>
                  <a:schemeClr val="tx1"/>
                </a:solidFill>
              </a:rPr>
              <a:t> passe donc </a:t>
            </a:r>
            <a:r>
              <a:rPr lang="en-US" sz="1800" b="1" dirty="0">
                <a:solidFill>
                  <a:schemeClr val="tx1"/>
                </a:solidFill>
              </a:rPr>
              <a:t>après</a:t>
            </a:r>
            <a:r>
              <a:rPr lang="en-US" sz="1800" dirty="0">
                <a:solidFill>
                  <a:schemeClr val="tx1"/>
                </a:solidFill>
              </a:rPr>
              <a:t> le verbe.</a:t>
            </a:r>
            <a:endParaRPr lang="en-US" sz="1800" dirty="0"/>
          </a:p>
        </p:txBody>
      </p:sp>
      <p:sp>
        <p:nvSpPr>
          <p:cNvPr id="7" name="Text 4"/>
          <p:cNvSpPr txBox="1"/>
          <p:nvPr/>
        </p:nvSpPr>
        <p:spPr>
          <a:xfrm>
            <a:off x="548640" y="2185416"/>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A</a:t>
            </a:r>
            <a:endParaRPr lang="en-US" sz="1400" dirty="0"/>
          </a:p>
        </p:txBody>
      </p:sp>
      <p:sp>
        <p:nvSpPr>
          <p:cNvPr id="8" name="Text 5"/>
          <p:cNvSpPr txBox="1"/>
          <p:nvPr/>
        </p:nvSpPr>
        <p:spPr>
          <a:xfrm>
            <a:off x="2103120" y="1947672"/>
            <a:ext cx="1385824"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9" name="Shape 6"/>
          <p:cNvSpPr/>
          <p:nvPr/>
        </p:nvSpPr>
        <p:spPr>
          <a:xfrm>
            <a:off x="2103120" y="2185416"/>
            <a:ext cx="1385824" cy="329184"/>
          </a:xfrm>
          <a:prstGeom prst="roundRect">
            <a:avLst>
              <a:gd name="adj" fmla="val 16667"/>
            </a:avLst>
          </a:prstGeom>
          <a:solidFill>
            <a:schemeClr val="accent2">
              <a:alpha val="88000"/>
            </a:schemeClr>
          </a:solidFill>
          <a:ln w="12700">
            <a:solidFill>
              <a:srgbClr val="2A6FB0"/>
            </a:solidFill>
            <a:prstDash val="solid"/>
          </a:ln>
        </p:spPr>
      </p:sp>
      <p:sp>
        <p:nvSpPr>
          <p:cNvPr id="10" name="Text 7"/>
          <p:cNvSpPr txBox="1"/>
          <p:nvPr/>
        </p:nvSpPr>
        <p:spPr>
          <a:xfrm>
            <a:off x="2139696" y="2185416"/>
            <a:ext cx="1312672" cy="329184"/>
          </a:xfrm>
          <a:prstGeom prst="rect">
            <a:avLst/>
          </a:prstGeom>
          <a:noFill/>
          <a:ln/>
        </p:spPr>
        <p:txBody>
          <a:bodyPr wrap="square" lIns="0" tIns="0" rIns="0" bIns="0" rtlCol="0" anchor="ctr"/>
          <a:lstStyle/>
          <a:p>
            <a:pPr algn="ctr" indent="0" marL="0">
              <a:buNone/>
            </a:pPr>
            <a:r>
              <a:rPr lang="en-US" sz="1600" b="1" dirty="0">
                <a:solidFill>
                  <a:schemeClr val="bg1"/>
                </a:solidFill>
              </a:rPr>
              <a:t>’s Morgens</a:t>
            </a:r>
            <a:endParaRPr lang="en-US" sz="1600" dirty="0"/>
          </a:p>
        </p:txBody>
      </p:sp>
      <p:sp>
        <p:nvSpPr>
          <p:cNvPr id="11" name="Text 8"/>
          <p:cNvSpPr txBox="1"/>
          <p:nvPr/>
        </p:nvSpPr>
        <p:spPr>
          <a:xfrm>
            <a:off x="3598672" y="1947672"/>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12" name="Shape 9"/>
          <p:cNvSpPr/>
          <p:nvPr/>
        </p:nvSpPr>
        <p:spPr>
          <a:xfrm>
            <a:off x="3598672" y="2185416"/>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13" name="Text 10"/>
          <p:cNvSpPr txBox="1"/>
          <p:nvPr/>
        </p:nvSpPr>
        <p:spPr>
          <a:xfrm>
            <a:off x="3635248" y="2185416"/>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zeg</a:t>
            </a:r>
            <a:endParaRPr lang="en-US" sz="1600" dirty="0"/>
          </a:p>
        </p:txBody>
      </p:sp>
      <p:sp>
        <p:nvSpPr>
          <p:cNvPr id="14" name="Text 11"/>
          <p:cNvSpPr txBox="1"/>
          <p:nvPr/>
        </p:nvSpPr>
        <p:spPr>
          <a:xfrm>
            <a:off x="4394200" y="1947672"/>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15" name="Shape 12"/>
          <p:cNvSpPr/>
          <p:nvPr/>
        </p:nvSpPr>
        <p:spPr>
          <a:xfrm>
            <a:off x="4394200" y="2185416"/>
            <a:ext cx="685800" cy="329184"/>
          </a:xfrm>
          <a:prstGeom prst="roundRect">
            <a:avLst>
              <a:gd name="adj" fmla="val 16667"/>
            </a:avLst>
          </a:prstGeom>
          <a:solidFill>
            <a:schemeClr val="tx2">
              <a:alpha val="88000"/>
            </a:schemeClr>
          </a:solidFill>
          <a:ln w="12700">
            <a:solidFill>
              <a:srgbClr val="17375E"/>
            </a:solidFill>
            <a:prstDash val="solid"/>
          </a:ln>
        </p:spPr>
      </p:sp>
      <p:sp>
        <p:nvSpPr>
          <p:cNvPr id="16" name="Text 13"/>
          <p:cNvSpPr txBox="1"/>
          <p:nvPr/>
        </p:nvSpPr>
        <p:spPr>
          <a:xfrm>
            <a:off x="4430776" y="2185416"/>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17" name="Text 14"/>
          <p:cNvSpPr txBox="1"/>
          <p:nvPr/>
        </p:nvSpPr>
        <p:spPr>
          <a:xfrm>
            <a:off x="5189728" y="1947672"/>
            <a:ext cx="1808480" cy="219456"/>
          </a:xfrm>
          <a:prstGeom prst="rect">
            <a:avLst/>
          </a:prstGeom>
          <a:noFill/>
          <a:ln/>
        </p:spPr>
        <p:txBody>
          <a:bodyPr wrap="square" lIns="0" tIns="0" rIns="0" bIns="0" rtlCol="0" anchor="b"/>
          <a:lstStyle/>
          <a:p>
            <a:pPr algn="ctr" indent="0" marL="0">
              <a:buNone/>
            </a:pPr>
            <a:r>
              <a:rPr lang="en-US" sz="1000" b="1" dirty="0">
                <a:solidFill>
                  <a:schemeClr val="accent5"/>
                </a:solidFill>
              </a:rPr>
              <a:t>complément</a:t>
            </a:r>
            <a:endParaRPr lang="en-US" sz="1000" dirty="0"/>
          </a:p>
        </p:txBody>
      </p:sp>
      <p:sp>
        <p:nvSpPr>
          <p:cNvPr id="18" name="Shape 15"/>
          <p:cNvSpPr/>
          <p:nvPr/>
        </p:nvSpPr>
        <p:spPr>
          <a:xfrm>
            <a:off x="5189728" y="2185416"/>
            <a:ext cx="1808480" cy="329184"/>
          </a:xfrm>
          <a:prstGeom prst="roundRect">
            <a:avLst>
              <a:gd name="adj" fmla="val 16667"/>
            </a:avLst>
          </a:prstGeom>
          <a:solidFill>
            <a:schemeClr val="accent5">
              <a:alpha val="25000"/>
            </a:schemeClr>
          </a:solidFill>
          <a:ln w="12700">
            <a:solidFill>
              <a:srgbClr val="4A5A70"/>
            </a:solidFill>
            <a:prstDash val="solid"/>
          </a:ln>
        </p:spPr>
      </p:sp>
      <p:sp>
        <p:nvSpPr>
          <p:cNvPr id="19" name="Text 16"/>
          <p:cNvSpPr txBox="1"/>
          <p:nvPr/>
        </p:nvSpPr>
        <p:spPr>
          <a:xfrm>
            <a:off x="5226304" y="2185416"/>
            <a:ext cx="1735328" cy="329184"/>
          </a:xfrm>
          <a:prstGeom prst="rect">
            <a:avLst/>
          </a:prstGeom>
          <a:noFill/>
          <a:ln/>
        </p:spPr>
        <p:txBody>
          <a:bodyPr wrap="square" lIns="0" tIns="0" rIns="0" bIns="0" rtlCol="0" anchor="ctr"/>
          <a:lstStyle/>
          <a:p>
            <a:pPr algn="ctr" indent="0" marL="0">
              <a:buNone/>
            </a:pPr>
            <a:r>
              <a:rPr lang="en-US" sz="1600" b="1" dirty="0">
                <a:solidFill>
                  <a:schemeClr val="tx1"/>
                </a:solidFill>
              </a:rPr>
              <a:t>«Goedemorgen!»</a:t>
            </a:r>
            <a:endParaRPr lang="en-US" sz="1600" dirty="0"/>
          </a:p>
        </p:txBody>
      </p:sp>
      <p:sp>
        <p:nvSpPr>
          <p:cNvPr id="20" name="Text 17"/>
          <p:cNvSpPr txBox="1"/>
          <p:nvPr/>
        </p:nvSpPr>
        <p:spPr>
          <a:xfrm>
            <a:off x="2103120" y="2542032"/>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Le matin, je dis « bonjour ».</a:t>
            </a:r>
            <a:endParaRPr lang="en-US" sz="1400" dirty="0"/>
          </a:p>
        </p:txBody>
      </p:sp>
      <p:sp>
        <p:nvSpPr>
          <p:cNvPr id="21" name="Text 18"/>
          <p:cNvSpPr txBox="1"/>
          <p:nvPr/>
        </p:nvSpPr>
        <p:spPr>
          <a:xfrm>
            <a:off x="548640" y="3039618"/>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B</a:t>
            </a:r>
            <a:endParaRPr lang="en-US" sz="1400" dirty="0"/>
          </a:p>
        </p:txBody>
      </p:sp>
      <p:sp>
        <p:nvSpPr>
          <p:cNvPr id="22" name="Text 19"/>
          <p:cNvSpPr txBox="1"/>
          <p:nvPr/>
        </p:nvSpPr>
        <p:spPr>
          <a:xfrm>
            <a:off x="2103120" y="2801874"/>
            <a:ext cx="1174496"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23" name="Shape 20"/>
          <p:cNvSpPr/>
          <p:nvPr/>
        </p:nvSpPr>
        <p:spPr>
          <a:xfrm>
            <a:off x="2103120" y="3039618"/>
            <a:ext cx="1174496" cy="329184"/>
          </a:xfrm>
          <a:prstGeom prst="roundRect">
            <a:avLst>
              <a:gd name="adj" fmla="val 16667"/>
            </a:avLst>
          </a:prstGeom>
          <a:solidFill>
            <a:schemeClr val="accent2">
              <a:alpha val="88000"/>
            </a:schemeClr>
          </a:solidFill>
          <a:ln w="12700">
            <a:solidFill>
              <a:srgbClr val="2A6FB0"/>
            </a:solidFill>
            <a:prstDash val="solid"/>
          </a:ln>
        </p:spPr>
      </p:sp>
      <p:sp>
        <p:nvSpPr>
          <p:cNvPr id="24" name="Text 21"/>
          <p:cNvSpPr txBox="1"/>
          <p:nvPr/>
        </p:nvSpPr>
        <p:spPr>
          <a:xfrm>
            <a:off x="2139696" y="3039618"/>
            <a:ext cx="1101344" cy="329184"/>
          </a:xfrm>
          <a:prstGeom prst="rect">
            <a:avLst/>
          </a:prstGeom>
          <a:noFill/>
          <a:ln/>
        </p:spPr>
        <p:txBody>
          <a:bodyPr wrap="square" lIns="0" tIns="0" rIns="0" bIns="0" rtlCol="0" anchor="ctr"/>
          <a:lstStyle/>
          <a:p>
            <a:pPr algn="ctr" indent="0" marL="0">
              <a:buNone/>
            </a:pPr>
            <a:r>
              <a:rPr lang="en-US" sz="1600" b="1" dirty="0">
                <a:solidFill>
                  <a:schemeClr val="bg1"/>
                </a:solidFill>
              </a:rPr>
              <a:t>Vanavond</a:t>
            </a:r>
            <a:endParaRPr lang="en-US" sz="1600" dirty="0"/>
          </a:p>
        </p:txBody>
      </p:sp>
      <p:sp>
        <p:nvSpPr>
          <p:cNvPr id="25" name="Text 22"/>
          <p:cNvSpPr txBox="1"/>
          <p:nvPr/>
        </p:nvSpPr>
        <p:spPr>
          <a:xfrm>
            <a:off x="3387344" y="2801874"/>
            <a:ext cx="75184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26" name="Shape 23"/>
          <p:cNvSpPr/>
          <p:nvPr/>
        </p:nvSpPr>
        <p:spPr>
          <a:xfrm>
            <a:off x="3387344" y="3039618"/>
            <a:ext cx="751840" cy="329184"/>
          </a:xfrm>
          <a:prstGeom prst="roundRect">
            <a:avLst>
              <a:gd name="adj" fmla="val 16667"/>
            </a:avLst>
          </a:prstGeom>
          <a:solidFill>
            <a:schemeClr val="accent6">
              <a:alpha val="88000"/>
            </a:schemeClr>
          </a:solidFill>
          <a:ln w="12700">
            <a:solidFill>
              <a:srgbClr val="B83227"/>
            </a:solidFill>
            <a:prstDash val="solid"/>
          </a:ln>
        </p:spPr>
      </p:sp>
      <p:sp>
        <p:nvSpPr>
          <p:cNvPr id="27" name="Text 24"/>
          <p:cNvSpPr txBox="1"/>
          <p:nvPr/>
        </p:nvSpPr>
        <p:spPr>
          <a:xfrm>
            <a:off x="3423920" y="3039618"/>
            <a:ext cx="678688" cy="329184"/>
          </a:xfrm>
          <a:prstGeom prst="rect">
            <a:avLst/>
          </a:prstGeom>
          <a:noFill/>
          <a:ln/>
        </p:spPr>
        <p:txBody>
          <a:bodyPr wrap="square" lIns="0" tIns="0" rIns="0" bIns="0" rtlCol="0" anchor="ctr"/>
          <a:lstStyle/>
          <a:p>
            <a:pPr algn="ctr" indent="0" marL="0">
              <a:buNone/>
            </a:pPr>
            <a:r>
              <a:rPr lang="en-US" sz="1600" b="1" dirty="0">
                <a:solidFill>
                  <a:schemeClr val="bg1"/>
                </a:solidFill>
              </a:rPr>
              <a:t>werk</a:t>
            </a:r>
            <a:endParaRPr lang="en-US" sz="1600" dirty="0"/>
          </a:p>
        </p:txBody>
      </p:sp>
      <p:sp>
        <p:nvSpPr>
          <p:cNvPr id="28" name="Text 25"/>
          <p:cNvSpPr txBox="1"/>
          <p:nvPr/>
        </p:nvSpPr>
        <p:spPr>
          <a:xfrm>
            <a:off x="4248912" y="2801874"/>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29" name="Shape 26"/>
          <p:cNvSpPr/>
          <p:nvPr/>
        </p:nvSpPr>
        <p:spPr>
          <a:xfrm>
            <a:off x="4248912" y="3039618"/>
            <a:ext cx="685800" cy="329184"/>
          </a:xfrm>
          <a:prstGeom prst="roundRect">
            <a:avLst>
              <a:gd name="adj" fmla="val 16667"/>
            </a:avLst>
          </a:prstGeom>
          <a:solidFill>
            <a:schemeClr val="tx2">
              <a:alpha val="88000"/>
            </a:schemeClr>
          </a:solidFill>
          <a:ln w="12700">
            <a:solidFill>
              <a:srgbClr val="17375E"/>
            </a:solidFill>
            <a:prstDash val="solid"/>
          </a:ln>
        </p:spPr>
      </p:sp>
      <p:sp>
        <p:nvSpPr>
          <p:cNvPr id="30" name="Text 27"/>
          <p:cNvSpPr txBox="1"/>
          <p:nvPr/>
        </p:nvSpPr>
        <p:spPr>
          <a:xfrm>
            <a:off x="4285488" y="3039618"/>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31" name="Text 28"/>
          <p:cNvSpPr txBox="1"/>
          <p:nvPr/>
        </p:nvSpPr>
        <p:spPr>
          <a:xfrm>
            <a:off x="5044440" y="2801874"/>
            <a:ext cx="857504" cy="219456"/>
          </a:xfrm>
          <a:prstGeom prst="rect">
            <a:avLst/>
          </a:prstGeom>
          <a:noFill/>
          <a:ln/>
        </p:spPr>
        <p:txBody>
          <a:bodyPr wrap="square" lIns="0" tIns="0" rIns="0" bIns="0" rtlCol="0" anchor="b"/>
          <a:lstStyle/>
          <a:p>
            <a:pPr algn="ctr" indent="0" marL="0">
              <a:buNone/>
            </a:pPr>
            <a:r>
              <a:rPr lang="en-US" sz="1000" b="1" dirty="0">
                <a:solidFill>
                  <a:schemeClr val="accent4"/>
                </a:solidFill>
              </a:rPr>
              <a:t>plaats · où</a:t>
            </a:r>
            <a:endParaRPr lang="en-US" sz="1000" dirty="0"/>
          </a:p>
        </p:txBody>
      </p:sp>
      <p:sp>
        <p:nvSpPr>
          <p:cNvPr id="32" name="Shape 29"/>
          <p:cNvSpPr/>
          <p:nvPr/>
        </p:nvSpPr>
        <p:spPr>
          <a:xfrm>
            <a:off x="5044440" y="3039618"/>
            <a:ext cx="857504" cy="329184"/>
          </a:xfrm>
          <a:prstGeom prst="roundRect">
            <a:avLst>
              <a:gd name="adj" fmla="val 16667"/>
            </a:avLst>
          </a:prstGeom>
          <a:solidFill>
            <a:schemeClr val="accent4">
              <a:alpha val="88000"/>
            </a:schemeClr>
          </a:solidFill>
          <a:ln w="12700">
            <a:solidFill>
              <a:srgbClr val="B4236A"/>
            </a:solidFill>
            <a:prstDash val="solid"/>
          </a:ln>
        </p:spPr>
      </p:sp>
      <p:sp>
        <p:nvSpPr>
          <p:cNvPr id="33" name="Text 30"/>
          <p:cNvSpPr txBox="1"/>
          <p:nvPr/>
        </p:nvSpPr>
        <p:spPr>
          <a:xfrm>
            <a:off x="5081016" y="3039618"/>
            <a:ext cx="784352" cy="329184"/>
          </a:xfrm>
          <a:prstGeom prst="rect">
            <a:avLst/>
          </a:prstGeom>
          <a:noFill/>
          <a:ln/>
        </p:spPr>
        <p:txBody>
          <a:bodyPr wrap="square" lIns="0" tIns="0" rIns="0" bIns="0" rtlCol="0" anchor="ctr"/>
          <a:lstStyle/>
          <a:p>
            <a:pPr algn="ctr" indent="0" marL="0">
              <a:buNone/>
            </a:pPr>
            <a:r>
              <a:rPr lang="en-US" sz="1600" b="1" dirty="0">
                <a:solidFill>
                  <a:schemeClr val="bg1"/>
                </a:solidFill>
              </a:rPr>
              <a:t>thuis</a:t>
            </a:r>
            <a:endParaRPr lang="en-US" sz="1600" dirty="0"/>
          </a:p>
        </p:txBody>
      </p:sp>
      <p:sp>
        <p:nvSpPr>
          <p:cNvPr id="34" name="Text 31"/>
          <p:cNvSpPr txBox="1"/>
          <p:nvPr/>
        </p:nvSpPr>
        <p:spPr>
          <a:xfrm>
            <a:off x="2103120" y="3396234"/>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Ce soir, je travaille à la maison.</a:t>
            </a:r>
            <a:endParaRPr lang="en-US" sz="1400" dirty="0"/>
          </a:p>
        </p:txBody>
      </p:sp>
      <p:sp>
        <p:nvSpPr>
          <p:cNvPr id="35" name="Text 32"/>
          <p:cNvSpPr txBox="1"/>
          <p:nvPr/>
        </p:nvSpPr>
        <p:spPr>
          <a:xfrm>
            <a:off x="548640" y="3893820"/>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C</a:t>
            </a:r>
            <a:endParaRPr lang="en-US" sz="1400" dirty="0"/>
          </a:p>
        </p:txBody>
      </p:sp>
      <p:sp>
        <p:nvSpPr>
          <p:cNvPr id="36" name="Text 33"/>
          <p:cNvSpPr txBox="1"/>
          <p:nvPr/>
        </p:nvSpPr>
        <p:spPr>
          <a:xfrm>
            <a:off x="2103120" y="3656076"/>
            <a:ext cx="1597152"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37" name="Shape 34"/>
          <p:cNvSpPr/>
          <p:nvPr/>
        </p:nvSpPr>
        <p:spPr>
          <a:xfrm>
            <a:off x="2103120" y="3893820"/>
            <a:ext cx="1597152" cy="329184"/>
          </a:xfrm>
          <a:prstGeom prst="roundRect">
            <a:avLst>
              <a:gd name="adj" fmla="val 16667"/>
            </a:avLst>
          </a:prstGeom>
          <a:solidFill>
            <a:schemeClr val="accent2">
              <a:alpha val="88000"/>
            </a:schemeClr>
          </a:solidFill>
          <a:ln w="12700">
            <a:solidFill>
              <a:srgbClr val="2A6FB0"/>
            </a:solidFill>
            <a:prstDash val="solid"/>
          </a:ln>
        </p:spPr>
      </p:sp>
      <p:sp>
        <p:nvSpPr>
          <p:cNvPr id="38" name="Text 35"/>
          <p:cNvSpPr txBox="1"/>
          <p:nvPr/>
        </p:nvSpPr>
        <p:spPr>
          <a:xfrm>
            <a:off x="2139696" y="3893820"/>
            <a:ext cx="1524000" cy="329184"/>
          </a:xfrm>
          <a:prstGeom prst="rect">
            <a:avLst/>
          </a:prstGeom>
          <a:noFill/>
          <a:ln/>
        </p:spPr>
        <p:txBody>
          <a:bodyPr wrap="square" lIns="0" tIns="0" rIns="0" bIns="0" rtlCol="0" anchor="ctr"/>
          <a:lstStyle/>
          <a:p>
            <a:pPr algn="ctr" indent="0" marL="0">
              <a:buNone/>
            </a:pPr>
            <a:r>
              <a:rPr lang="en-US" sz="1600" b="1" dirty="0">
                <a:solidFill>
                  <a:schemeClr val="bg1"/>
                </a:solidFill>
              </a:rPr>
              <a:t>Om zeven uur</a:t>
            </a:r>
            <a:endParaRPr lang="en-US" sz="1600" dirty="0"/>
          </a:p>
        </p:txBody>
      </p:sp>
      <p:sp>
        <p:nvSpPr>
          <p:cNvPr id="39" name="Text 36"/>
          <p:cNvSpPr txBox="1"/>
          <p:nvPr/>
        </p:nvSpPr>
        <p:spPr>
          <a:xfrm>
            <a:off x="3810000" y="3656076"/>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40" name="Shape 37"/>
          <p:cNvSpPr/>
          <p:nvPr/>
        </p:nvSpPr>
        <p:spPr>
          <a:xfrm>
            <a:off x="3810000" y="3893820"/>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41" name="Text 38"/>
          <p:cNvSpPr txBox="1"/>
          <p:nvPr/>
        </p:nvSpPr>
        <p:spPr>
          <a:xfrm>
            <a:off x="3846576"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sta</a:t>
            </a:r>
            <a:endParaRPr lang="en-US" sz="1600" dirty="0"/>
          </a:p>
        </p:txBody>
      </p:sp>
      <p:sp>
        <p:nvSpPr>
          <p:cNvPr id="42" name="Text 39"/>
          <p:cNvSpPr txBox="1"/>
          <p:nvPr/>
        </p:nvSpPr>
        <p:spPr>
          <a:xfrm>
            <a:off x="4605528" y="3656076"/>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43" name="Shape 40"/>
          <p:cNvSpPr/>
          <p:nvPr/>
        </p:nvSpPr>
        <p:spPr>
          <a:xfrm>
            <a:off x="4605528" y="3893820"/>
            <a:ext cx="685800" cy="329184"/>
          </a:xfrm>
          <a:prstGeom prst="roundRect">
            <a:avLst>
              <a:gd name="adj" fmla="val 16667"/>
            </a:avLst>
          </a:prstGeom>
          <a:solidFill>
            <a:schemeClr val="tx2">
              <a:alpha val="88000"/>
            </a:schemeClr>
          </a:solidFill>
          <a:ln w="12700">
            <a:solidFill>
              <a:srgbClr val="17375E"/>
            </a:solidFill>
            <a:prstDash val="solid"/>
          </a:ln>
        </p:spPr>
      </p:sp>
      <p:sp>
        <p:nvSpPr>
          <p:cNvPr id="44" name="Text 41"/>
          <p:cNvSpPr txBox="1"/>
          <p:nvPr/>
        </p:nvSpPr>
        <p:spPr>
          <a:xfrm>
            <a:off x="4642104"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45" name="Text 42"/>
          <p:cNvSpPr txBox="1"/>
          <p:nvPr/>
        </p:nvSpPr>
        <p:spPr>
          <a:xfrm>
            <a:off x="5401056" y="3656076"/>
            <a:ext cx="1174496"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46" name="Shape 43"/>
          <p:cNvSpPr/>
          <p:nvPr/>
        </p:nvSpPr>
        <p:spPr>
          <a:xfrm>
            <a:off x="5401056" y="3893820"/>
            <a:ext cx="1174496" cy="329184"/>
          </a:xfrm>
          <a:prstGeom prst="roundRect">
            <a:avLst>
              <a:gd name="adj" fmla="val 16667"/>
            </a:avLst>
          </a:prstGeom>
          <a:solidFill>
            <a:schemeClr val="accent2">
              <a:alpha val="88000"/>
            </a:schemeClr>
          </a:solidFill>
          <a:ln w="12700">
            <a:solidFill>
              <a:srgbClr val="2A6FB0"/>
            </a:solidFill>
            <a:prstDash val="solid"/>
          </a:ln>
        </p:spPr>
      </p:sp>
      <p:sp>
        <p:nvSpPr>
          <p:cNvPr id="47" name="Text 44"/>
          <p:cNvSpPr txBox="1"/>
          <p:nvPr/>
        </p:nvSpPr>
        <p:spPr>
          <a:xfrm>
            <a:off x="5437632" y="3893820"/>
            <a:ext cx="1101344" cy="329184"/>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8" name="Text 45"/>
          <p:cNvSpPr txBox="1"/>
          <p:nvPr/>
        </p:nvSpPr>
        <p:spPr>
          <a:xfrm>
            <a:off x="6685280" y="3656076"/>
            <a:ext cx="685800" cy="219456"/>
          </a:xfrm>
          <a:prstGeom prst="rect">
            <a:avLst/>
          </a:prstGeom>
          <a:noFill/>
          <a:ln/>
        </p:spPr>
        <p:txBody>
          <a:bodyPr wrap="square" lIns="0" tIns="0" rIns="0" bIns="0" rtlCol="0" anchor="b"/>
          <a:lstStyle/>
          <a:p>
            <a:pPr algn="ctr" indent="0" marL="0">
              <a:buNone/>
            </a:pPr>
            <a:r>
              <a:rPr lang="en-US" sz="1000" b="1" dirty="0">
                <a:solidFill>
                  <a:schemeClr val="accent1"/>
                </a:solidFill>
              </a:rPr>
              <a:t>particule</a:t>
            </a:r>
            <a:endParaRPr lang="en-US" sz="1000" dirty="0"/>
          </a:p>
        </p:txBody>
      </p:sp>
      <p:sp>
        <p:nvSpPr>
          <p:cNvPr id="49" name="Shape 46"/>
          <p:cNvSpPr/>
          <p:nvPr/>
        </p:nvSpPr>
        <p:spPr>
          <a:xfrm>
            <a:off x="6685280" y="3893820"/>
            <a:ext cx="685800" cy="329184"/>
          </a:xfrm>
          <a:prstGeom prst="roundRect">
            <a:avLst>
              <a:gd name="adj" fmla="val 16667"/>
            </a:avLst>
          </a:prstGeom>
          <a:solidFill>
            <a:schemeClr val="accent1">
              <a:alpha val="88000"/>
            </a:schemeClr>
          </a:solidFill>
          <a:ln w="12700">
            <a:solidFill>
              <a:srgbClr val="D9700F"/>
            </a:solidFill>
            <a:prstDash val="solid"/>
          </a:ln>
        </p:spPr>
      </p:sp>
      <p:sp>
        <p:nvSpPr>
          <p:cNvPr id="50" name="Text 47"/>
          <p:cNvSpPr txBox="1"/>
          <p:nvPr/>
        </p:nvSpPr>
        <p:spPr>
          <a:xfrm>
            <a:off x="6721856"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op</a:t>
            </a:r>
            <a:endParaRPr lang="en-US" sz="1600" dirty="0"/>
          </a:p>
        </p:txBody>
      </p:sp>
      <p:sp>
        <p:nvSpPr>
          <p:cNvPr id="51" name="Text 48"/>
          <p:cNvSpPr txBox="1"/>
          <p:nvPr/>
        </p:nvSpPr>
        <p:spPr>
          <a:xfrm>
            <a:off x="2103120" y="4250436"/>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À sept heures, je me lève tous les jours.</a:t>
            </a:r>
            <a:endParaRPr lang="en-US" sz="1400" dirty="0"/>
          </a:p>
        </p:txBody>
      </p:sp>
      <p:sp>
        <p:nvSpPr>
          <p:cNvPr id="52" name="Text 49"/>
          <p:cNvSpPr txBox="1"/>
          <p:nvPr/>
        </p:nvSpPr>
        <p:spPr>
          <a:xfrm>
            <a:off x="548640" y="4748022"/>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E</a:t>
            </a:r>
            <a:endParaRPr lang="en-US" sz="1400" dirty="0"/>
          </a:p>
        </p:txBody>
      </p:sp>
      <p:sp>
        <p:nvSpPr>
          <p:cNvPr id="53" name="Text 50"/>
          <p:cNvSpPr txBox="1"/>
          <p:nvPr/>
        </p:nvSpPr>
        <p:spPr>
          <a:xfrm>
            <a:off x="2103120" y="4510278"/>
            <a:ext cx="963168"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54" name="Shape 51"/>
          <p:cNvSpPr/>
          <p:nvPr/>
        </p:nvSpPr>
        <p:spPr>
          <a:xfrm>
            <a:off x="2103120" y="4748022"/>
            <a:ext cx="963168" cy="329184"/>
          </a:xfrm>
          <a:prstGeom prst="roundRect">
            <a:avLst>
              <a:gd name="adj" fmla="val 16667"/>
            </a:avLst>
          </a:prstGeom>
          <a:solidFill>
            <a:schemeClr val="accent2">
              <a:alpha val="88000"/>
            </a:schemeClr>
          </a:solidFill>
          <a:ln w="12700">
            <a:solidFill>
              <a:srgbClr val="2A6FB0"/>
            </a:solidFill>
            <a:prstDash val="solid"/>
          </a:ln>
        </p:spPr>
      </p:sp>
      <p:sp>
        <p:nvSpPr>
          <p:cNvPr id="55" name="Text 52"/>
          <p:cNvSpPr txBox="1"/>
          <p:nvPr/>
        </p:nvSpPr>
        <p:spPr>
          <a:xfrm>
            <a:off x="2139696" y="4748022"/>
            <a:ext cx="890016" cy="329184"/>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56" name="Text 53"/>
          <p:cNvSpPr txBox="1"/>
          <p:nvPr/>
        </p:nvSpPr>
        <p:spPr>
          <a:xfrm>
            <a:off x="3176016" y="4510278"/>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57" name="Shape 54"/>
          <p:cNvSpPr/>
          <p:nvPr/>
        </p:nvSpPr>
        <p:spPr>
          <a:xfrm>
            <a:off x="3176016" y="4748022"/>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58" name="Text 55"/>
          <p:cNvSpPr txBox="1"/>
          <p:nvPr/>
        </p:nvSpPr>
        <p:spPr>
          <a:xfrm>
            <a:off x="3212592"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is</a:t>
            </a:r>
            <a:endParaRPr lang="en-US" sz="1600" dirty="0"/>
          </a:p>
        </p:txBody>
      </p:sp>
      <p:sp>
        <p:nvSpPr>
          <p:cNvPr id="59" name="Text 56"/>
          <p:cNvSpPr txBox="1"/>
          <p:nvPr/>
        </p:nvSpPr>
        <p:spPr>
          <a:xfrm>
            <a:off x="3971544" y="4510278"/>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60" name="Shape 57"/>
          <p:cNvSpPr/>
          <p:nvPr/>
        </p:nvSpPr>
        <p:spPr>
          <a:xfrm>
            <a:off x="3971544" y="4748022"/>
            <a:ext cx="685800" cy="329184"/>
          </a:xfrm>
          <a:prstGeom prst="roundRect">
            <a:avLst>
              <a:gd name="adj" fmla="val 16667"/>
            </a:avLst>
          </a:prstGeom>
          <a:solidFill>
            <a:schemeClr val="tx2">
              <a:alpha val="88000"/>
            </a:schemeClr>
          </a:solidFill>
          <a:ln w="12700">
            <a:solidFill>
              <a:srgbClr val="17375E"/>
            </a:solidFill>
            <a:prstDash val="solid"/>
          </a:ln>
        </p:spPr>
      </p:sp>
      <p:sp>
        <p:nvSpPr>
          <p:cNvPr id="61" name="Text 58"/>
          <p:cNvSpPr txBox="1"/>
          <p:nvPr/>
        </p:nvSpPr>
        <p:spPr>
          <a:xfrm>
            <a:off x="4008120"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het</a:t>
            </a:r>
            <a:endParaRPr lang="en-US" sz="1600" dirty="0"/>
          </a:p>
        </p:txBody>
      </p:sp>
      <p:sp>
        <p:nvSpPr>
          <p:cNvPr id="62" name="Text 59"/>
          <p:cNvSpPr txBox="1"/>
          <p:nvPr/>
        </p:nvSpPr>
        <p:spPr>
          <a:xfrm>
            <a:off x="4767072" y="4510278"/>
            <a:ext cx="1174496" cy="219456"/>
          </a:xfrm>
          <a:prstGeom prst="rect">
            <a:avLst/>
          </a:prstGeom>
          <a:noFill/>
          <a:ln/>
        </p:spPr>
        <p:txBody>
          <a:bodyPr wrap="square" lIns="0" tIns="0" rIns="0" bIns="0" rtlCol="0" anchor="b"/>
          <a:lstStyle/>
          <a:p>
            <a:pPr algn="ctr" indent="0" marL="0">
              <a:buNone/>
            </a:pPr>
            <a:r>
              <a:rPr lang="en-US" sz="1000" b="1" dirty="0">
                <a:solidFill>
                  <a:schemeClr val="accent5"/>
                </a:solidFill>
              </a:rPr>
              <a:t>complément</a:t>
            </a:r>
            <a:endParaRPr lang="en-US" sz="1000" dirty="0"/>
          </a:p>
        </p:txBody>
      </p:sp>
      <p:sp>
        <p:nvSpPr>
          <p:cNvPr id="63" name="Shape 60"/>
          <p:cNvSpPr/>
          <p:nvPr/>
        </p:nvSpPr>
        <p:spPr>
          <a:xfrm>
            <a:off x="4767072" y="4748022"/>
            <a:ext cx="1174496" cy="329184"/>
          </a:xfrm>
          <a:prstGeom prst="roundRect">
            <a:avLst>
              <a:gd name="adj" fmla="val 16667"/>
            </a:avLst>
          </a:prstGeom>
          <a:solidFill>
            <a:schemeClr val="accent5">
              <a:alpha val="25000"/>
            </a:schemeClr>
          </a:solidFill>
          <a:ln w="12700">
            <a:solidFill>
              <a:srgbClr val="4A5A70"/>
            </a:solidFill>
            <a:prstDash val="solid"/>
          </a:ln>
        </p:spPr>
      </p:sp>
      <p:sp>
        <p:nvSpPr>
          <p:cNvPr id="64" name="Text 61"/>
          <p:cNvSpPr txBox="1"/>
          <p:nvPr/>
        </p:nvSpPr>
        <p:spPr>
          <a:xfrm>
            <a:off x="4803648" y="4748022"/>
            <a:ext cx="1101344" cy="329184"/>
          </a:xfrm>
          <a:prstGeom prst="rect">
            <a:avLst/>
          </a:prstGeom>
          <a:noFill/>
          <a:ln/>
        </p:spPr>
        <p:txBody>
          <a:bodyPr wrap="square" lIns="0" tIns="0" rIns="0" bIns="0" rtlCol="0" anchor="ctr"/>
          <a:lstStyle/>
          <a:p>
            <a:pPr algn="ctr" indent="0" marL="0">
              <a:buNone/>
            </a:pPr>
            <a:r>
              <a:rPr lang="en-US" sz="1600" b="1" dirty="0">
                <a:solidFill>
                  <a:schemeClr val="tx1"/>
                </a:solidFill>
              </a:rPr>
              <a:t>zaterdag</a:t>
            </a:r>
            <a:endParaRPr lang="en-US" sz="1600" dirty="0"/>
          </a:p>
        </p:txBody>
      </p:sp>
      <p:sp>
        <p:nvSpPr>
          <p:cNvPr id="65" name="Text 62"/>
          <p:cNvSpPr txBox="1"/>
          <p:nvPr/>
        </p:nvSpPr>
        <p:spPr>
          <a:xfrm>
            <a:off x="2103120" y="5104638"/>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Demain, c’est samedi.</a:t>
            </a:r>
            <a:endParaRPr lang="en-US" sz="1400" dirty="0"/>
          </a:p>
        </p:txBody>
      </p:sp>
      <p:sp>
        <p:nvSpPr>
          <p:cNvPr id="66" name="Shape 63"/>
          <p:cNvSpPr/>
          <p:nvPr/>
        </p:nvSpPr>
        <p:spPr>
          <a:xfrm>
            <a:off x="548640" y="5565648"/>
            <a:ext cx="11091672" cy="725424"/>
          </a:xfrm>
          <a:prstGeom prst="roundRect">
            <a:avLst>
              <a:gd name="adj" fmla="val 10084"/>
            </a:avLst>
          </a:prstGeom>
          <a:solidFill>
            <a:schemeClr val="accent6">
              <a:alpha val="10000"/>
            </a:schemeClr>
          </a:solidFill>
          <a:ln w="9525">
            <a:solidFill>
              <a:schemeClr val="accent6">
                <a:alpha val="70000"/>
              </a:schemeClr>
            </a:solidFill>
            <a:prstDash val="solid"/>
          </a:ln>
        </p:spPr>
      </p:sp>
      <p:pic>
        <p:nvPicPr>
          <p:cNvPr id="67" name="Image 0" descr="preencoded.png">    </p:cNvPr>
          <p:cNvPicPr>
            <a:picLocks noChangeAspect="1"/>
          </p:cNvPicPr>
          <p:nvPr/>
        </p:nvPicPr>
        <p:blipFill>
          <a:blip r:embed="rId1"/>
          <a:stretch>
            <a:fillRect/>
          </a:stretch>
        </p:blipFill>
        <p:spPr>
          <a:xfrm>
            <a:off x="749808" y="5763768"/>
            <a:ext cx="329184" cy="329184"/>
          </a:xfrm>
          <a:prstGeom prst="rect">
            <a:avLst/>
          </a:prstGeom>
        </p:spPr>
      </p:pic>
      <p:sp>
        <p:nvSpPr>
          <p:cNvPr id="68" name="Text 64"/>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6"/>
                </a:solidFill>
              </a:rPr>
              <a:t>Piège pour francophones — </a:t>
            </a:r>
            <a:r>
              <a:rPr lang="en-US" sz="1700" dirty="0">
                <a:solidFill>
                  <a:schemeClr val="tx1"/>
                </a:solidFill>
              </a:rPr>
              <a:t>En français : </a:t>
            </a:r>
            <a:r>
              <a:rPr lang="en-US" sz="1700" i="1" dirty="0">
                <a:solidFill>
                  <a:schemeClr val="tx1"/>
                </a:solidFill>
              </a:rPr>
              <a:t>Le matin, </a:t>
            </a:r>
            <a:r>
              <a:rPr lang="en-US" sz="1700" b="1" i="1" dirty="0">
                <a:solidFill>
                  <a:schemeClr val="tx1"/>
                </a:solidFill>
              </a:rPr>
              <a:t>je dis</a:t>
            </a:r>
            <a:r>
              <a:rPr lang="en-US" sz="1700" i="1" dirty="0">
                <a:solidFill>
                  <a:schemeClr val="tx1"/>
                </a:solidFill>
              </a:rPr>
              <a:t>…</a:t>
            </a:r>
            <a:r>
              <a:rPr lang="en-US" sz="1700" dirty="0">
                <a:solidFill>
                  <a:schemeClr val="tx1"/>
                </a:solidFill>
              </a:rPr>
              <a:t> En néerlandais : </a:t>
            </a:r>
            <a:r>
              <a:rPr lang="en-US" sz="1700" i="1" dirty="0">
                <a:solidFill>
                  <a:schemeClr val="tx1"/>
                </a:solidFill>
              </a:rPr>
              <a:t>’s Morgens </a:t>
            </a:r>
            <a:r>
              <a:rPr lang="en-US" sz="1700" b="1" i="1" dirty="0">
                <a:solidFill>
                  <a:schemeClr val="tx1"/>
                </a:solidFill>
              </a:rPr>
              <a:t>zeg ik</a:t>
            </a:r>
            <a:r>
              <a:rPr lang="en-US" sz="1700" i="1" dirty="0">
                <a:solidFill>
                  <a:schemeClr val="tx1"/>
                </a:solidFill>
              </a:rPr>
              <a:t>…</a:t>
            </a:r>
            <a:r>
              <a:rPr lang="en-US" sz="1700" dirty="0">
                <a:solidFill>
                  <a:schemeClr val="tx1"/>
                </a:solidFill>
              </a:rPr>
              <a:t> ✗ </a:t>
            </a:r>
            <a:r>
              <a:rPr lang="en-US" sz="1700" i="1" dirty="0">
                <a:solidFill>
                  <a:schemeClr val="tx1"/>
                </a:solidFill>
              </a:rPr>
              <a:t>’s Morgens ik zeg</a:t>
            </a:r>
            <a:r>
              <a:rPr lang="en-US" sz="1700" dirty="0">
                <a:solidFill>
                  <a:schemeClr val="tx1"/>
                </a:solidFill>
              </a:rPr>
              <a:t> — l’inversion est obligatoire (fiche Woordvolgorde, séance 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Comprendre les nuances du temps</a:t>
            </a:r>
            <a:endParaRPr lang="en-US" sz="3200" dirty="0"/>
          </a:p>
        </p:txBody>
      </p:sp>
      <p:sp>
        <p:nvSpPr>
          <p:cNvPr id="3" name="tag"/>
          <p:cNvSpPr/>
          <p:nvPr/>
        </p:nvSpPr>
        <p:spPr>
          <a:xfrm>
            <a:off x="548640" y="237744"/>
            <a:ext cx="153162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À RETENIR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6</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417320"/>
                <a:gridCol w="1463040"/>
                <a:gridCol w="2286000"/>
                <a:gridCol w="1737360"/>
                <a:gridCol w="2148840"/>
                <a:gridCol w="2039112"/>
              </a:tblGrid>
              <a:tr h="537667">
                <a:tc>
                  <a:txBody>
                    <a:bodyPr/>
                    <a:lstStyle/>
                    <a:p>
                      <a:pPr algn="l" indent="0" marL="0">
                        <a:buNone/>
                      </a:pPr>
                      <a:r>
                        <a:rPr lang="en-US" sz="1800" b="1" dirty="0">
                          <a:solidFill>
                            <a:schemeClr val="bg1"/>
                          </a:solidFill>
                        </a:rPr>
                        <a:t>MOMENT</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HEURES</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JE SALUE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D’HABITUDE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AUJOURD’HUI</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EN GÉNÉRAL</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47979">
                <a:tc>
                  <a:txBody>
                    <a:bodyPr/>
                    <a:lstStyle/>
                    <a:p>
                      <a:pPr algn="l" indent="0" marL="0">
                        <a:buNone/>
                      </a:pPr>
                      <a:r>
                        <a:rPr lang="en-US" sz="2000" dirty="0">
                          <a:solidFill>
                            <a:schemeClr val="tx1"/>
                          </a:solidFill>
                        </a:rPr>
                        <a:t>matin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5 h – 12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Goedemorgen!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morgens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vanmorgen · deze 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in de 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47979">
                <a:tc>
                  <a:txBody>
                    <a:bodyPr/>
                    <a:lstStyle/>
                    <a:p>
                      <a:pPr algn="l" indent="0" marL="0">
                        <a:buNone/>
                      </a:pPr>
                      <a:r>
                        <a:rPr lang="en-US" sz="2000" dirty="0">
                          <a:solidFill>
                            <a:schemeClr val="tx1"/>
                          </a:solidFill>
                        </a:rPr>
                        <a:t>après-midi</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12 h – 18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Goedemiddag!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middags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vanmiddag · deze 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in de 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47979">
                <a:tc>
                  <a:txBody>
                    <a:bodyPr/>
                    <a:lstStyle/>
                    <a:p>
                      <a:pPr algn="l" indent="0" marL="0">
                        <a:buNone/>
                      </a:pPr>
                      <a:r>
                        <a:rPr lang="en-US" sz="2000" dirty="0">
                          <a:solidFill>
                            <a:schemeClr val="tx1"/>
                          </a:solidFill>
                        </a:rPr>
                        <a:t>soir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18 h – 23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Goedenavond!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avonds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vanavond · deze 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in de 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47979">
                <a:tc>
                  <a:txBody>
                    <a:bodyPr/>
                    <a:lstStyle/>
                    <a:p>
                      <a:pPr algn="l" indent="0" marL="0">
                        <a:buNone/>
                      </a:pPr>
                      <a:r>
                        <a:rPr lang="en-US" sz="2000" dirty="0">
                          <a:solidFill>
                            <a:schemeClr val="tx1"/>
                          </a:solidFill>
                        </a:rPr>
                        <a:t>nuit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23 h – 5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Goedenacht! · Welterusten!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nachts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vannacht · deze nacht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in de nacht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47979">
                <a:tc>
                  <a:txBody>
                    <a:bodyPr/>
                    <a:lstStyle/>
                    <a:p>
                      <a:pPr algn="l" indent="0" marL="0">
                        <a:buNone/>
                      </a:pPr>
                      <a:r>
                        <a:rPr lang="en-US" sz="2000" dirty="0">
                          <a:solidFill>
                            <a:schemeClr val="tx1"/>
                          </a:solidFill>
                        </a:rPr>
                        <a:t>toute la journée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toute heure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Hallo! · Dag! · Hoi!</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overdag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vandaag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tijdens de 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7" name="Text 3"/>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Welterusten!</a:t>
            </a:r>
            <a:r>
              <a:rPr lang="en-US" sz="1500" i="1" dirty="0">
                <a:solidFill>
                  <a:schemeClr val="accent5"/>
                </a:solidFill>
              </a:rPr>
              <a:t> = « dors bien » : seulement quand quelqu’un va </a:t>
            </a:r>
            <a:r>
              <a:rPr lang="en-US" sz="1500" b="1" i="1" dirty="0">
                <a:solidFill>
                  <a:schemeClr val="accent5"/>
                </a:solidFill>
              </a:rPr>
              <a:t>dormir</a:t>
            </a:r>
            <a:r>
              <a:rPr lang="en-US" sz="1500" i="1" dirty="0">
                <a:solidFill>
                  <a:schemeClr val="accent5"/>
                </a:solidFill>
              </a:rPr>
              <a:t>. </a:t>
            </a:r>
            <a:r>
              <a:rPr lang="en-US" sz="1500" i="1" dirty="0">
                <a:solidFill>
                  <a:schemeClr val="accent5"/>
                </a:solidFill>
              </a:rPr>
              <a:t>Hoi!</a:t>
            </a:r>
            <a:r>
              <a:rPr lang="en-US" sz="1500" i="1" dirty="0">
                <a:solidFill>
                  <a:schemeClr val="accent5"/>
                </a:solidFill>
              </a:rPr>
              <a:t> est familier.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Quatre façons de parler du moment</a:t>
            </a:r>
            <a:endParaRPr lang="en-US" sz="3200" dirty="0"/>
          </a:p>
        </p:txBody>
      </p:sp>
      <p:sp>
        <p:nvSpPr>
          <p:cNvPr id="3" name="tag"/>
          <p:cNvSpPr/>
          <p:nvPr/>
        </p:nvSpPr>
        <p:spPr>
          <a:xfrm>
            <a:off x="548640" y="237744"/>
            <a:ext cx="153162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À RETENIR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6</a:t>
            </a:r>
            <a:endParaRPr lang="en-US" sz="1200" dirty="0"/>
          </a:p>
        </p:txBody>
      </p:sp>
      <p:sp>
        <p:nvSpPr>
          <p:cNvPr id="6" name="Shape 3"/>
          <p:cNvSpPr/>
          <p:nvPr/>
        </p:nvSpPr>
        <p:spPr>
          <a:xfrm>
            <a:off x="548640"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7" name="Shape 4"/>
          <p:cNvSpPr/>
          <p:nvPr/>
        </p:nvSpPr>
        <p:spPr>
          <a:xfrm>
            <a:off x="548640" y="1481328"/>
            <a:ext cx="2567178" cy="502920"/>
          </a:xfrm>
          <a:prstGeom prst="roundRect">
            <a:avLst>
              <a:gd name="adj" fmla="val 18182"/>
            </a:avLst>
          </a:prstGeom>
          <a:solidFill>
            <a:schemeClr val="accent1"/>
          </a:solidFill>
          <a:ln/>
        </p:spPr>
      </p:sp>
      <p:sp>
        <p:nvSpPr>
          <p:cNvPr id="8" name="Shape 5"/>
          <p:cNvSpPr/>
          <p:nvPr/>
        </p:nvSpPr>
        <p:spPr>
          <a:xfrm>
            <a:off x="548640" y="1801368"/>
            <a:ext cx="2567178" cy="182880"/>
          </a:xfrm>
          <a:prstGeom prst="rect">
            <a:avLst/>
          </a:prstGeom>
          <a:solidFill>
            <a:schemeClr val="accent1"/>
          </a:solidFill>
          <a:ln w="12700">
            <a:solidFill>
              <a:schemeClr val="accent1"/>
            </a:solidFill>
            <a:prstDash val="solid"/>
          </a:ln>
        </p:spPr>
      </p:sp>
      <p:sp>
        <p:nvSpPr>
          <p:cNvPr id="9" name="Text 6"/>
          <p:cNvSpPr txBox="1"/>
          <p:nvPr/>
        </p:nvSpPr>
        <p:spPr>
          <a:xfrm>
            <a:off x="731520"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① SALUER</a:t>
            </a:r>
            <a:endParaRPr lang="en-US" sz="1500" dirty="0"/>
          </a:p>
        </p:txBody>
      </p:sp>
      <p:sp>
        <p:nvSpPr>
          <p:cNvPr id="10" name="Text 7"/>
          <p:cNvSpPr txBox="1"/>
          <p:nvPr/>
        </p:nvSpPr>
        <p:spPr>
          <a:xfrm>
            <a:off x="731520" y="2084832"/>
            <a:ext cx="2201418" cy="405384"/>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Goedemiddag!</a:t>
            </a:r>
            <a:endParaRPr lang="en-US" sz="2400" dirty="0"/>
          </a:p>
        </p:txBody>
      </p:sp>
      <p:sp>
        <p:nvSpPr>
          <p:cNvPr id="11" name="Text 8"/>
          <p:cNvSpPr txBox="1"/>
          <p:nvPr/>
        </p:nvSpPr>
        <p:spPr>
          <a:xfrm>
            <a:off x="731520"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Goedemiddag, hoe gaat het?</a:t>
            </a:r>
            <a:endParaRPr lang="en-US" sz="2000" dirty="0"/>
          </a:p>
          <a:p>
            <a:pPr marL="177800" indent="-177800">
              <a:spcAft>
                <a:spcPts val="600"/>
              </a:spcAft>
              <a:buSzPct val="100000"/>
              <a:buChar char="•"/>
            </a:pPr>
            <a:r>
              <a:rPr lang="en-US" sz="2000" dirty="0">
                <a:solidFill>
                  <a:schemeClr val="tx1"/>
                </a:solidFill>
              </a:rPr>
              <a:t>Je </a:t>
            </a:r>
            <a:r>
              <a:rPr lang="en-US" sz="2000" b="1" dirty="0">
                <a:solidFill>
                  <a:schemeClr val="tx1"/>
                </a:solidFill>
              </a:rPr>
              <a:t>salue</a:t>
            </a:r>
            <a:r>
              <a:rPr lang="en-US" sz="2000" dirty="0">
                <a:solidFill>
                  <a:schemeClr val="tx1"/>
                </a:solidFill>
              </a:rPr>
              <a:t> quelqu’un.</a:t>
            </a:r>
            <a:endParaRPr lang="en-US" sz="2000" dirty="0"/>
          </a:p>
        </p:txBody>
      </p:sp>
      <p:sp>
        <p:nvSpPr>
          <p:cNvPr id="12" name="Shape 9"/>
          <p:cNvSpPr/>
          <p:nvPr/>
        </p:nvSpPr>
        <p:spPr>
          <a:xfrm>
            <a:off x="3390138"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3" name="Shape 10"/>
          <p:cNvSpPr/>
          <p:nvPr/>
        </p:nvSpPr>
        <p:spPr>
          <a:xfrm>
            <a:off x="3390138" y="1481328"/>
            <a:ext cx="2567178" cy="502920"/>
          </a:xfrm>
          <a:prstGeom prst="roundRect">
            <a:avLst>
              <a:gd name="adj" fmla="val 18182"/>
            </a:avLst>
          </a:prstGeom>
          <a:solidFill>
            <a:schemeClr val="accent2"/>
          </a:solidFill>
          <a:ln/>
        </p:spPr>
      </p:sp>
      <p:sp>
        <p:nvSpPr>
          <p:cNvPr id="14" name="Shape 11"/>
          <p:cNvSpPr/>
          <p:nvPr/>
        </p:nvSpPr>
        <p:spPr>
          <a:xfrm>
            <a:off x="3390138" y="1801368"/>
            <a:ext cx="2567178" cy="182880"/>
          </a:xfrm>
          <a:prstGeom prst="rect">
            <a:avLst/>
          </a:prstGeom>
          <a:solidFill>
            <a:schemeClr val="accent2"/>
          </a:solidFill>
          <a:ln w="12700">
            <a:solidFill>
              <a:schemeClr val="accent2"/>
            </a:solidFill>
            <a:prstDash val="solid"/>
          </a:ln>
        </p:spPr>
      </p:sp>
      <p:sp>
        <p:nvSpPr>
          <p:cNvPr id="15" name="Text 12"/>
          <p:cNvSpPr txBox="1"/>
          <p:nvPr/>
        </p:nvSpPr>
        <p:spPr>
          <a:xfrm>
            <a:off x="3573018"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② HABITUDE</a:t>
            </a:r>
            <a:endParaRPr lang="en-US" sz="1500" dirty="0"/>
          </a:p>
        </p:txBody>
      </p:sp>
      <p:sp>
        <p:nvSpPr>
          <p:cNvPr id="16" name="Text 13"/>
          <p:cNvSpPr txBox="1"/>
          <p:nvPr/>
        </p:nvSpPr>
        <p:spPr>
          <a:xfrm>
            <a:off x="3573018" y="2084832"/>
            <a:ext cx="2201418" cy="405384"/>
          </a:xfrm>
          <a:prstGeom prst="rect">
            <a:avLst/>
          </a:prstGeom>
          <a:noFill/>
          <a:ln/>
        </p:spPr>
        <p:txBody>
          <a:bodyPr wrap="square" lIns="0" tIns="0" rIns="0" bIns="0" rtlCol="0" anchor="t"/>
          <a:lstStyle/>
          <a:p>
            <a:pPr indent="0" marL="0">
              <a:buNone/>
            </a:pPr>
            <a:r>
              <a:rPr lang="en-US" sz="2400" b="1" dirty="0">
                <a:solidFill>
                  <a:schemeClr val="accent2"/>
                </a:solidFill>
                <a:latin typeface="+mj-lt" pitchFamily="34" charset="0"/>
                <a:ea typeface="+mj-lt" pitchFamily="34" charset="-122"/>
                <a:cs typeface="+mj-lt" pitchFamily="34" charset="-120"/>
              </a:rPr>
              <a:t>’s middags</a:t>
            </a:r>
            <a:endParaRPr lang="en-US" sz="2400" dirty="0"/>
          </a:p>
        </p:txBody>
      </p:sp>
      <p:sp>
        <p:nvSpPr>
          <p:cNvPr id="17" name="Text 14"/>
          <p:cNvSpPr txBox="1"/>
          <p:nvPr/>
        </p:nvSpPr>
        <p:spPr>
          <a:xfrm>
            <a:off x="3573018"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Ik werk ’s middags.</a:t>
            </a:r>
            <a:endParaRPr lang="en-US" sz="2000" dirty="0"/>
          </a:p>
          <a:p>
            <a:pPr marL="177800" indent="-177800">
              <a:spcAft>
                <a:spcPts val="600"/>
              </a:spcAft>
              <a:buSzPct val="100000"/>
              <a:buChar char="•"/>
            </a:pPr>
            <a:r>
              <a:rPr lang="en-US" sz="2000" dirty="0">
                <a:solidFill>
                  <a:schemeClr val="tx1"/>
                </a:solidFill>
              </a:rPr>
              <a:t>Tous les jours, </a:t>
            </a:r>
            <a:r>
              <a:rPr lang="en-US" sz="2000" b="1" dirty="0">
                <a:solidFill>
                  <a:schemeClr val="tx1"/>
                </a:solidFill>
              </a:rPr>
              <a:t>régulièrement</a:t>
            </a:r>
            <a:r>
              <a:rPr lang="en-US" sz="2000" dirty="0">
                <a:solidFill>
                  <a:schemeClr val="tx1"/>
                </a:solidFill>
              </a:rPr>
              <a:t>.</a:t>
            </a:r>
            <a:endParaRPr lang="en-US" sz="2000" dirty="0"/>
          </a:p>
        </p:txBody>
      </p:sp>
      <p:sp>
        <p:nvSpPr>
          <p:cNvPr id="18" name="Shape 15"/>
          <p:cNvSpPr/>
          <p:nvPr/>
        </p:nvSpPr>
        <p:spPr>
          <a:xfrm>
            <a:off x="6231636"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9" name="Shape 16"/>
          <p:cNvSpPr/>
          <p:nvPr/>
        </p:nvSpPr>
        <p:spPr>
          <a:xfrm>
            <a:off x="6231636" y="1481328"/>
            <a:ext cx="2567178" cy="502920"/>
          </a:xfrm>
          <a:prstGeom prst="roundRect">
            <a:avLst>
              <a:gd name="adj" fmla="val 18182"/>
            </a:avLst>
          </a:prstGeom>
          <a:solidFill>
            <a:schemeClr val="accent3"/>
          </a:solidFill>
          <a:ln/>
        </p:spPr>
      </p:sp>
      <p:sp>
        <p:nvSpPr>
          <p:cNvPr id="20" name="Shape 17"/>
          <p:cNvSpPr/>
          <p:nvPr/>
        </p:nvSpPr>
        <p:spPr>
          <a:xfrm>
            <a:off x="6231636" y="1801368"/>
            <a:ext cx="2567178" cy="182880"/>
          </a:xfrm>
          <a:prstGeom prst="rect">
            <a:avLst/>
          </a:prstGeom>
          <a:solidFill>
            <a:schemeClr val="accent3"/>
          </a:solidFill>
          <a:ln w="12700">
            <a:solidFill>
              <a:schemeClr val="accent3"/>
            </a:solidFill>
            <a:prstDash val="solid"/>
          </a:ln>
        </p:spPr>
      </p:sp>
      <p:sp>
        <p:nvSpPr>
          <p:cNvPr id="21" name="Text 18"/>
          <p:cNvSpPr txBox="1"/>
          <p:nvPr/>
        </p:nvSpPr>
        <p:spPr>
          <a:xfrm>
            <a:off x="6414516"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③ AUJOURD’HUI</a:t>
            </a:r>
            <a:endParaRPr lang="en-US" sz="1500" dirty="0"/>
          </a:p>
        </p:txBody>
      </p:sp>
      <p:sp>
        <p:nvSpPr>
          <p:cNvPr id="22" name="Text 19"/>
          <p:cNvSpPr txBox="1"/>
          <p:nvPr/>
        </p:nvSpPr>
        <p:spPr>
          <a:xfrm>
            <a:off x="6414516" y="2084832"/>
            <a:ext cx="2201418" cy="405384"/>
          </a:xfrm>
          <a:prstGeom prst="rect">
            <a:avLst/>
          </a:prstGeom>
          <a:noFill/>
          <a:ln/>
        </p:spPr>
        <p:txBody>
          <a:bodyPr wrap="square" lIns="0" tIns="0" rIns="0" bIns="0" rtlCol="0" anchor="t"/>
          <a:lstStyle/>
          <a:p>
            <a:pPr indent="0" marL="0">
              <a:buNone/>
            </a:pPr>
            <a:r>
              <a:rPr lang="en-US" sz="2400" b="1" dirty="0">
                <a:solidFill>
                  <a:schemeClr val="accent3"/>
                </a:solidFill>
                <a:latin typeface="+mj-lt" pitchFamily="34" charset="0"/>
                <a:ea typeface="+mj-lt" pitchFamily="34" charset="-122"/>
                <a:cs typeface="+mj-lt" pitchFamily="34" charset="-120"/>
              </a:rPr>
              <a:t>vanmiddag</a:t>
            </a:r>
            <a:endParaRPr lang="en-US" sz="2400" dirty="0"/>
          </a:p>
        </p:txBody>
      </p:sp>
      <p:sp>
        <p:nvSpPr>
          <p:cNvPr id="23" name="Text 20"/>
          <p:cNvSpPr txBox="1"/>
          <p:nvPr/>
        </p:nvSpPr>
        <p:spPr>
          <a:xfrm>
            <a:off x="6414516"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Vanmiddag ga ik naar de dokter.</a:t>
            </a:r>
            <a:endParaRPr lang="en-US" sz="2000" dirty="0"/>
          </a:p>
          <a:p>
            <a:pPr marL="177800" indent="-177800">
              <a:spcAft>
                <a:spcPts val="600"/>
              </a:spcAft>
              <a:buSzPct val="100000"/>
              <a:buChar char="•"/>
            </a:pPr>
            <a:r>
              <a:rPr lang="en-US" sz="2000" b="1" dirty="0">
                <a:solidFill>
                  <a:schemeClr val="tx1"/>
                </a:solidFill>
              </a:rPr>
              <a:t>Aujourd’hui précisément</a:t>
            </a:r>
            <a:r>
              <a:rPr lang="en-US" sz="2000" dirty="0">
                <a:solidFill>
                  <a:schemeClr val="tx1"/>
                </a:solidFill>
              </a:rPr>
              <a:t>.</a:t>
            </a:r>
            <a:endParaRPr lang="en-US" sz="2000" dirty="0"/>
          </a:p>
        </p:txBody>
      </p:sp>
      <p:sp>
        <p:nvSpPr>
          <p:cNvPr id="24" name="Shape 21"/>
          <p:cNvSpPr/>
          <p:nvPr/>
        </p:nvSpPr>
        <p:spPr>
          <a:xfrm>
            <a:off x="9073134"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25" name="Shape 22"/>
          <p:cNvSpPr/>
          <p:nvPr/>
        </p:nvSpPr>
        <p:spPr>
          <a:xfrm>
            <a:off x="9073134" y="1481328"/>
            <a:ext cx="2567178" cy="502920"/>
          </a:xfrm>
          <a:prstGeom prst="roundRect">
            <a:avLst>
              <a:gd name="adj" fmla="val 18182"/>
            </a:avLst>
          </a:prstGeom>
          <a:solidFill>
            <a:srgbClr val="6E4A9E"/>
          </a:solidFill>
          <a:ln/>
        </p:spPr>
      </p:sp>
      <p:sp>
        <p:nvSpPr>
          <p:cNvPr id="26" name="Shape 23"/>
          <p:cNvSpPr/>
          <p:nvPr/>
        </p:nvSpPr>
        <p:spPr>
          <a:xfrm>
            <a:off x="9073134" y="1801368"/>
            <a:ext cx="2567178" cy="182880"/>
          </a:xfrm>
          <a:prstGeom prst="rect">
            <a:avLst/>
          </a:prstGeom>
          <a:solidFill>
            <a:srgbClr val="6E4A9E"/>
          </a:solidFill>
          <a:ln w="12700">
            <a:solidFill>
              <a:srgbClr val="6E4A9E"/>
            </a:solidFill>
            <a:prstDash val="solid"/>
          </a:ln>
        </p:spPr>
      </p:sp>
      <p:sp>
        <p:nvSpPr>
          <p:cNvPr id="27" name="Text 24"/>
          <p:cNvSpPr txBox="1"/>
          <p:nvPr/>
        </p:nvSpPr>
        <p:spPr>
          <a:xfrm>
            <a:off x="9256014"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④ EN GÉNÉRAL</a:t>
            </a:r>
            <a:endParaRPr lang="en-US" sz="1500" dirty="0"/>
          </a:p>
        </p:txBody>
      </p:sp>
      <p:sp>
        <p:nvSpPr>
          <p:cNvPr id="28" name="Text 25"/>
          <p:cNvSpPr txBox="1"/>
          <p:nvPr/>
        </p:nvSpPr>
        <p:spPr>
          <a:xfrm>
            <a:off x="9256014" y="2084832"/>
            <a:ext cx="2201418" cy="405384"/>
          </a:xfrm>
          <a:prstGeom prst="rect">
            <a:avLst/>
          </a:prstGeom>
          <a:noFill/>
          <a:ln/>
        </p:spPr>
        <p:txBody>
          <a:bodyPr wrap="square" lIns="0" tIns="0" rIns="0" bIns="0" rtlCol="0" anchor="t"/>
          <a:lstStyle/>
          <a:p>
            <a:pPr indent="0" marL="0">
              <a:buNone/>
            </a:pPr>
            <a:r>
              <a:rPr lang="en-US" sz="2400" b="1" dirty="0">
                <a:solidFill>
                  <a:srgbClr val="6E4A9E"/>
                </a:solidFill>
                <a:latin typeface="+mj-lt" pitchFamily="34" charset="0"/>
                <a:ea typeface="+mj-lt" pitchFamily="34" charset="-122"/>
                <a:cs typeface="+mj-lt" pitchFamily="34" charset="-120"/>
              </a:rPr>
              <a:t>in de middag</a:t>
            </a:r>
            <a:endParaRPr lang="en-US" sz="2400" dirty="0"/>
          </a:p>
        </p:txBody>
      </p:sp>
      <p:sp>
        <p:nvSpPr>
          <p:cNvPr id="29" name="Text 26"/>
          <p:cNvSpPr txBox="1"/>
          <p:nvPr/>
        </p:nvSpPr>
        <p:spPr>
          <a:xfrm>
            <a:off x="9256014"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In de morgen is het rustig.</a:t>
            </a:r>
            <a:endParaRPr lang="en-US" sz="2000" dirty="0"/>
          </a:p>
          <a:p>
            <a:pPr marL="177800" indent="-177800">
              <a:spcAft>
                <a:spcPts val="600"/>
              </a:spcAft>
              <a:buSzPct val="100000"/>
              <a:buChar char="•"/>
            </a:pPr>
            <a:r>
              <a:rPr lang="en-US" sz="2000" dirty="0">
                <a:solidFill>
                  <a:schemeClr val="tx1"/>
                </a:solidFill>
              </a:rPr>
              <a:t>Une </a:t>
            </a:r>
            <a:r>
              <a:rPr lang="en-US" sz="2000" b="1" dirty="0">
                <a:solidFill>
                  <a:schemeClr val="tx1"/>
                </a:solidFill>
              </a:rPr>
              <a:t>période</a:t>
            </a:r>
            <a:r>
              <a:rPr lang="en-US" sz="2000" dirty="0">
                <a:solidFill>
                  <a:schemeClr val="tx1"/>
                </a:solidFill>
              </a:rPr>
              <a:t> en général.</a:t>
            </a:r>
            <a:endParaRPr lang="en-US" sz="2000" dirty="0"/>
          </a:p>
        </p:txBody>
      </p:sp>
      <p:sp>
        <p:nvSpPr>
          <p:cNvPr id="30" name="Shape 27"/>
          <p:cNvSpPr/>
          <p:nvPr/>
        </p:nvSpPr>
        <p:spPr>
          <a:xfrm>
            <a:off x="548640" y="5565648"/>
            <a:ext cx="11091672" cy="725424"/>
          </a:xfrm>
          <a:prstGeom prst="roundRect">
            <a:avLst>
              <a:gd name="adj" fmla="val 10084"/>
            </a:avLst>
          </a:prstGeom>
          <a:solidFill>
            <a:schemeClr val="accent6">
              <a:alpha val="10000"/>
            </a:schemeClr>
          </a:solidFill>
          <a:ln w="9525">
            <a:solidFill>
              <a:schemeClr val="accent6">
                <a:alpha val="70000"/>
              </a:schemeClr>
            </a:solidFill>
            <a:prstDash val="solid"/>
          </a:ln>
        </p:spPr>
      </p:sp>
      <p:pic>
        <p:nvPicPr>
          <p:cNvPr id="31" name="Image 0" descr="preencoded.png">    </p:cNvPr>
          <p:cNvPicPr>
            <a:picLocks noChangeAspect="1"/>
          </p:cNvPicPr>
          <p:nvPr/>
        </p:nvPicPr>
        <p:blipFill>
          <a:blip r:embed="rId1"/>
          <a:stretch>
            <a:fillRect/>
          </a:stretch>
        </p:blipFill>
        <p:spPr>
          <a:xfrm>
            <a:off x="749808" y="5763768"/>
            <a:ext cx="329184" cy="329184"/>
          </a:xfrm>
          <a:prstGeom prst="rect">
            <a:avLst/>
          </a:prstGeom>
        </p:spPr>
      </p:pic>
      <p:sp>
        <p:nvSpPr>
          <p:cNvPr id="32" name="Text 28"/>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6"/>
                </a:solidFill>
              </a:rPr>
              <a:t>Piège pour francophones — </a:t>
            </a:r>
            <a:r>
              <a:rPr lang="en-US" sz="1700" i="1" dirty="0">
                <a:solidFill>
                  <a:schemeClr val="tx1"/>
                </a:solidFill>
              </a:rPr>
              <a:t>l’après-midi</a:t>
            </a:r>
            <a:r>
              <a:rPr lang="en-US" sz="1700" dirty="0">
                <a:solidFill>
                  <a:schemeClr val="tx1"/>
                </a:solidFill>
              </a:rPr>
              <a:t> a trois traductions : </a:t>
            </a:r>
            <a:r>
              <a:rPr lang="en-US" sz="1700" i="1" dirty="0">
                <a:solidFill>
                  <a:schemeClr val="tx1"/>
                </a:solidFill>
              </a:rPr>
              <a:t>Goedemiddag!</a:t>
            </a:r>
            <a:r>
              <a:rPr lang="en-US" sz="1700" dirty="0">
                <a:solidFill>
                  <a:schemeClr val="tx1"/>
                </a:solidFill>
              </a:rPr>
              <a:t> (je salue), </a:t>
            </a:r>
            <a:r>
              <a:rPr lang="en-US" sz="1700" i="1" dirty="0">
                <a:solidFill>
                  <a:schemeClr val="tx1"/>
                </a:solidFill>
              </a:rPr>
              <a:t>’s middags</a:t>
            </a:r>
            <a:r>
              <a:rPr lang="en-US" sz="1700" dirty="0">
                <a:solidFill>
                  <a:schemeClr val="tx1"/>
                </a:solidFill>
              </a:rPr>
              <a:t> (d’habitude), </a:t>
            </a:r>
            <a:r>
              <a:rPr lang="en-US" sz="1700" i="1" dirty="0">
                <a:solidFill>
                  <a:schemeClr val="tx1"/>
                </a:solidFill>
              </a:rPr>
              <a:t>vanmiddag</a:t>
            </a:r>
            <a:r>
              <a:rPr lang="en-US" sz="1700" dirty="0">
                <a:solidFill>
                  <a:schemeClr val="tx1"/>
                </a:solidFill>
              </a:rPr>
              <a:t> (cet après-midi). Le français dit la même chose dans les trois cas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1.1.1 Tijdsuitdrukkingen herkennen</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a:t>
            </a:r>
            <a:endParaRPr lang="en-US" sz="1200" dirty="0"/>
          </a:p>
        </p:txBody>
      </p:sp>
      <p:sp>
        <p:nvSpPr>
          <p:cNvPr id="6" name="Shape 3"/>
          <p:cNvSpPr/>
          <p:nvPr/>
        </p:nvSpPr>
        <p:spPr>
          <a:xfrm>
            <a:off x="548640" y="1554480"/>
            <a:ext cx="11091672" cy="1371600"/>
          </a:xfrm>
          <a:prstGeom prst="roundRect">
            <a:avLst>
              <a:gd name="adj" fmla="val 6667"/>
            </a:avLst>
          </a:prstGeom>
          <a:solidFill>
            <a:schemeClr val="accent2">
              <a:alpha val="10000"/>
            </a:schemeClr>
          </a:solidFill>
          <a:ln w="15875">
            <a:solidFill>
              <a:srgbClr val="2A6FB0"/>
            </a:solidFill>
            <a:prstDash val="solid"/>
          </a:ln>
        </p:spPr>
      </p:sp>
      <p:sp>
        <p:nvSpPr>
          <p:cNvPr id="7" name="Shape 4"/>
          <p:cNvSpPr/>
          <p:nvPr/>
        </p:nvSpPr>
        <p:spPr>
          <a:xfrm>
            <a:off x="822960" y="1783080"/>
            <a:ext cx="914400" cy="914400"/>
          </a:xfrm>
          <a:prstGeom prst="ellipse">
            <a:avLst/>
          </a:prstGeom>
          <a:solidFill>
            <a:schemeClr val="accent2"/>
          </a:solidFill>
          <a:ln/>
        </p:spPr>
      </p:sp>
      <p:pic>
        <p:nvPicPr>
          <p:cNvPr id="8" name="Image 0" descr="preencoded.png">    </p:cNvPr>
          <p:cNvPicPr>
            <a:picLocks noChangeAspect="1"/>
          </p:cNvPicPr>
          <p:nvPr/>
        </p:nvPicPr>
        <p:blipFill>
          <a:blip r:embed="rId1"/>
          <a:stretch>
            <a:fillRect/>
          </a:stretch>
        </p:blipFill>
        <p:spPr>
          <a:xfrm>
            <a:off x="1051560" y="2011680"/>
            <a:ext cx="457200" cy="457200"/>
          </a:xfrm>
          <a:prstGeom prst="rect">
            <a:avLst/>
          </a:prstGeom>
        </p:spPr>
      </p:pic>
      <p:sp>
        <p:nvSpPr>
          <p:cNvPr id="9" name="Text 5"/>
          <p:cNvSpPr txBox="1"/>
          <p:nvPr/>
        </p:nvSpPr>
        <p:spPr>
          <a:xfrm>
            <a:off x="2011680" y="1645920"/>
            <a:ext cx="9418320" cy="118872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Texte 1 — lu deux fois par le professeur</a:t>
            </a:r>
            <a:endParaRPr lang="en-US" sz="2600" dirty="0"/>
          </a:p>
          <a:p>
            <a:pPr indent="0" marL="0">
              <a:buNone/>
            </a:pPr>
            <a:r>
              <a:rPr lang="en-US" sz="1800" dirty="0">
                <a:solidFill>
                  <a:schemeClr val="tx1"/>
                </a:solidFill>
              </a:rPr>
              <a:t>Couche 1 · Réception intensive · seul · 10 min — deux phrases de la liste ne sont pas dans le texte.</a:t>
            </a:r>
            <a:endParaRPr lang="en-US" sz="2600" dirty="0"/>
          </a:p>
        </p:txBody>
      </p:sp>
      <p:sp>
        <p:nvSpPr>
          <p:cNvPr id="10" name="Shape 6"/>
          <p:cNvSpPr/>
          <p:nvPr/>
        </p:nvSpPr>
        <p:spPr>
          <a:xfrm>
            <a:off x="548640" y="3246120"/>
            <a:ext cx="3514344" cy="3017520"/>
          </a:xfrm>
          <a:prstGeom prst="roundRect">
            <a:avLst>
              <a:gd name="adj" fmla="val 3030"/>
            </a:avLst>
          </a:prstGeom>
          <a:solidFill>
            <a:schemeClr val="bg2"/>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474720"/>
            <a:ext cx="457200" cy="457200"/>
          </a:xfrm>
          <a:prstGeom prst="rect">
            <a:avLst/>
          </a:prstGeom>
        </p:spPr>
      </p:pic>
      <p:sp>
        <p:nvSpPr>
          <p:cNvPr id="12" name="Text 7"/>
          <p:cNvSpPr txBox="1"/>
          <p:nvPr/>
        </p:nvSpPr>
        <p:spPr>
          <a:xfrm>
            <a:off x="1417320" y="3429000"/>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1re écoute</a:t>
            </a:r>
            <a:endParaRPr lang="en-US" sz="1900" dirty="0"/>
          </a:p>
        </p:txBody>
      </p:sp>
      <p:sp>
        <p:nvSpPr>
          <p:cNvPr id="13" name="Text 8"/>
          <p:cNvSpPr txBox="1"/>
          <p:nvPr/>
        </p:nvSpPr>
        <p:spPr>
          <a:xfrm>
            <a:off x="822960" y="4114800"/>
            <a:ext cx="2965704" cy="2011680"/>
          </a:xfrm>
          <a:prstGeom prst="rect">
            <a:avLst/>
          </a:prstGeom>
          <a:noFill/>
          <a:ln/>
        </p:spPr>
        <p:txBody>
          <a:bodyPr wrap="square" lIns="0" tIns="0" rIns="0" bIns="0" rtlCol="0" anchor="t"/>
          <a:lstStyle/>
          <a:p>
            <a:pPr indent="0" marL="0">
              <a:buNone/>
            </a:pPr>
            <a:r>
              <a:rPr lang="en-US" sz="1800" b="1" dirty="0">
                <a:solidFill>
                  <a:schemeClr val="tx1"/>
                </a:solidFill>
              </a:rPr>
              <a:t>Cochez</a:t>
            </a:r>
            <a:r>
              <a:rPr lang="en-US" sz="1800" dirty="0">
                <a:solidFill>
                  <a:schemeClr val="tx1"/>
                </a:solidFill>
              </a:rPr>
              <a:t> les phrases que vous entendez.</a:t>
            </a:r>
            <a:endParaRPr lang="en-US" sz="1800" dirty="0"/>
          </a:p>
        </p:txBody>
      </p:sp>
      <p:sp>
        <p:nvSpPr>
          <p:cNvPr id="14" name="Shape 9"/>
          <p:cNvSpPr/>
          <p:nvPr/>
        </p:nvSpPr>
        <p:spPr>
          <a:xfrm>
            <a:off x="4337304" y="3246120"/>
            <a:ext cx="3514344" cy="3017520"/>
          </a:xfrm>
          <a:prstGeom prst="roundRect">
            <a:avLst>
              <a:gd name="adj" fmla="val 3030"/>
            </a:avLst>
          </a:prstGeom>
          <a:solidFill>
            <a:schemeClr val="bg2"/>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474720"/>
            <a:ext cx="457200" cy="457200"/>
          </a:xfrm>
          <a:prstGeom prst="rect">
            <a:avLst/>
          </a:prstGeom>
        </p:spPr>
      </p:pic>
      <p:sp>
        <p:nvSpPr>
          <p:cNvPr id="16" name="Text 10"/>
          <p:cNvSpPr txBox="1"/>
          <p:nvPr/>
        </p:nvSpPr>
        <p:spPr>
          <a:xfrm>
            <a:off x="5205984" y="3429000"/>
            <a:ext cx="2508504" cy="548640"/>
          </a:xfrm>
          <a:prstGeom prst="rect">
            <a:avLst/>
          </a:prstGeom>
          <a:noFill/>
          <a:ln/>
        </p:spPr>
        <p:txBody>
          <a:bodyPr wrap="square" lIns="0" tIns="0" rIns="0" bIns="0" rtlCol="0" anchor="ctr"/>
          <a:lstStyle/>
          <a:p>
            <a:pPr indent="0" marL="0">
              <a:buNone/>
            </a:pPr>
            <a:r>
              <a:rPr lang="en-US" sz="1900" b="1" dirty="0">
                <a:solidFill>
                  <a:schemeClr val="accent1"/>
                </a:solidFill>
              </a:rPr>
              <a:t>2e écoute</a:t>
            </a:r>
            <a:endParaRPr lang="en-US" sz="1900" dirty="0"/>
          </a:p>
        </p:txBody>
      </p:sp>
      <p:sp>
        <p:nvSpPr>
          <p:cNvPr id="17" name="Text 11"/>
          <p:cNvSpPr txBox="1"/>
          <p:nvPr/>
        </p:nvSpPr>
        <p:spPr>
          <a:xfrm>
            <a:off x="4611624" y="4114800"/>
            <a:ext cx="2965704" cy="2011680"/>
          </a:xfrm>
          <a:prstGeom prst="rect">
            <a:avLst/>
          </a:prstGeom>
          <a:noFill/>
          <a:ln/>
        </p:spPr>
        <p:txBody>
          <a:bodyPr wrap="square" lIns="0" tIns="0" rIns="0" bIns="0" rtlCol="0" anchor="t"/>
          <a:lstStyle/>
          <a:p>
            <a:pPr indent="0" marL="0">
              <a:buNone/>
            </a:pPr>
            <a:r>
              <a:rPr lang="en-US" sz="1800" b="1" dirty="0">
                <a:solidFill>
                  <a:schemeClr val="tx1"/>
                </a:solidFill>
              </a:rPr>
              <a:t>Numérotez</a:t>
            </a:r>
            <a:r>
              <a:rPr lang="en-US" sz="1800" dirty="0">
                <a:solidFill>
                  <a:schemeClr val="tx1"/>
                </a:solidFill>
              </a:rPr>
              <a:t>-les dans l’ordre du texte (1 à 10).</a:t>
            </a:r>
            <a:endParaRPr lang="en-US" sz="1800" dirty="0"/>
          </a:p>
        </p:txBody>
      </p:sp>
      <p:sp>
        <p:nvSpPr>
          <p:cNvPr id="18" name="Shape 12"/>
          <p:cNvSpPr/>
          <p:nvPr/>
        </p:nvSpPr>
        <p:spPr>
          <a:xfrm>
            <a:off x="8125968" y="3246120"/>
            <a:ext cx="3514344" cy="3017520"/>
          </a:xfrm>
          <a:prstGeom prst="roundRect">
            <a:avLst>
              <a:gd name="adj" fmla="val 3030"/>
            </a:avLst>
          </a:prstGeom>
          <a:solidFill>
            <a:schemeClr val="bg2"/>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474720"/>
            <a:ext cx="457200" cy="457200"/>
          </a:xfrm>
          <a:prstGeom prst="rect">
            <a:avLst/>
          </a:prstGeom>
        </p:spPr>
      </p:pic>
      <p:sp>
        <p:nvSpPr>
          <p:cNvPr id="20" name="Text 13"/>
          <p:cNvSpPr txBox="1"/>
          <p:nvPr/>
        </p:nvSpPr>
        <p:spPr>
          <a:xfrm>
            <a:off x="8994648" y="3429000"/>
            <a:ext cx="2508504" cy="548640"/>
          </a:xfrm>
          <a:prstGeom prst="rect">
            <a:avLst/>
          </a:prstGeom>
          <a:noFill/>
          <a:ln/>
        </p:spPr>
        <p:txBody>
          <a:bodyPr wrap="square" lIns="0" tIns="0" rIns="0" bIns="0" rtlCol="0" anchor="ctr"/>
          <a:lstStyle/>
          <a:p>
            <a:pPr indent="0" marL="0">
              <a:buNone/>
            </a:pPr>
            <a:r>
              <a:rPr lang="en-US" sz="1900" b="1" dirty="0">
                <a:solidFill>
                  <a:schemeClr val="accent3"/>
                </a:solidFill>
              </a:rPr>
              <a:t>Ensuite</a:t>
            </a:r>
            <a:endParaRPr lang="en-US" sz="1900" dirty="0"/>
          </a:p>
        </p:txBody>
      </p:sp>
      <p:sp>
        <p:nvSpPr>
          <p:cNvPr id="21" name="Text 14"/>
          <p:cNvSpPr txBox="1"/>
          <p:nvPr/>
        </p:nvSpPr>
        <p:spPr>
          <a:xfrm>
            <a:off x="8400288" y="4114800"/>
            <a:ext cx="2965704" cy="2011680"/>
          </a:xfrm>
          <a:prstGeom prst="rect">
            <a:avLst/>
          </a:prstGeom>
          <a:noFill/>
          <a:ln/>
        </p:spPr>
        <p:txBody>
          <a:bodyPr wrap="square" lIns="0" tIns="0" rIns="0" bIns="0" rtlCol="0" anchor="t"/>
          <a:lstStyle/>
          <a:p>
            <a:pPr indent="0" marL="0">
              <a:buNone/>
            </a:pPr>
            <a:r>
              <a:rPr lang="en-US" sz="1800" dirty="0">
                <a:solidFill>
                  <a:schemeClr val="tx1"/>
                </a:solidFill>
              </a:rPr>
              <a:t>Comparez avec votre voisin, puis </a:t>
            </a:r>
            <a:r>
              <a:rPr lang="en-US" sz="1800" b="1" dirty="0">
                <a:solidFill>
                  <a:schemeClr val="tx1"/>
                </a:solidFill>
              </a:rPr>
              <a:t>lisez</a:t>
            </a:r>
            <a:r>
              <a:rPr lang="en-US" sz="1800" dirty="0">
                <a:solidFill>
                  <a:schemeClr val="tx1"/>
                </a:solidFill>
              </a:rPr>
              <a:t> les phrases à voix haute.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1.1.1 Tijdsuitdrukkingen herkennen — la grille</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4480560"/>
                <a:gridCol w="548640"/>
                <a:gridCol w="502920"/>
                <a:gridCol w="4507992"/>
                <a:gridCol w="548640"/>
              </a:tblGrid>
              <a:tr h="628193">
                <a:tc>
                  <a:txBody>
                    <a:bodyPr/>
                    <a:lstStyle/>
                    <a:p>
                      <a:pPr algn="l" indent="0" marL="0">
                        <a:buNone/>
                      </a:pPr>
                      <a:r>
                        <a:rPr lang="en-US" sz="1800" b="1" dirty="0">
                          <a:solidFill>
                            <a:schemeClr val="bg1"/>
                          </a:solidFill>
                        </a:rPr>
                        <a:t>✓</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ZIN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ZIN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041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Vanmiddag ga ik naar de cursus.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Ik zeg «Goedenacht!» tegen iedereen.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54041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Morgens werk ik op school.</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Vanavond kijk ik een film.</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041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Avonds drink ik koffie met Pieter.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In de morgen is het rustig thuis.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50392">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Morgens zeg ik «Goedemorgen!» tegen Pieter.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Morgens werk ik thuis.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50392">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Vandaag heb ik een cursus.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Avonds zeg ik «Goedenavond!» tegen Pieter.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50392">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In de middag is het druk in de klas.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Vanmiddag zeg ik «Goedemiddag!» tegen de leraar.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1.1.2 Bingo van de dag</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Text 3"/>
          <p:cNvSpPr txBox="1"/>
          <p:nvPr/>
        </p:nvSpPr>
        <p:spPr>
          <a:xfrm>
            <a:off x="548640" y="1481328"/>
            <a:ext cx="11091672" cy="344424"/>
          </a:xfrm>
          <a:prstGeom prst="rect">
            <a:avLst/>
          </a:prstGeom>
          <a:noFill/>
          <a:ln/>
        </p:spPr>
        <p:txBody>
          <a:bodyPr wrap="square" lIns="0" tIns="0" rIns="0" bIns="0" rtlCol="0" anchor="t"/>
          <a:lstStyle/>
          <a:p>
            <a:pPr indent="0" marL="0">
              <a:buNone/>
            </a:pPr>
            <a:r>
              <a:rPr lang="en-US" sz="1600" i="1" dirty="0">
                <a:solidFill>
                  <a:schemeClr val="accent5"/>
                </a:solidFill>
              </a:rPr>
              <a:t>Le professeur lit le texte 2, puis le texte 3. Retrouvez chaque case en néerlandais. Grille complète : « </a:t>
            </a:r>
            <a:r>
              <a:rPr lang="en-US" sz="1600" b="1" i="1" dirty="0">
                <a:solidFill>
                  <a:schemeClr val="accent5"/>
                </a:solidFill>
              </a:rPr>
              <a:t>Bingo!</a:t>
            </a:r>
            <a:r>
              <a:rPr lang="en-US" sz="1600" i="1" dirty="0">
                <a:solidFill>
                  <a:schemeClr val="accent5"/>
                </a:solidFill>
              </a:rPr>
              <a:t> »</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17192"/>
          <a:ext cx="11091672" cy="914400"/>
        </p:xfrm>
        <a:graphic>
          <a:graphicData uri="http://schemas.openxmlformats.org/drawingml/2006/table">
            <a:tbl>
              <a:tblPr/>
              <a:tblGrid>
                <a:gridCol w="3694176"/>
                <a:gridCol w="3694176"/>
                <a:gridCol w="3703320"/>
              </a:tblGrid>
              <a:tr h="1457554">
                <a:tc>
                  <a:txBody>
                    <a:bodyPr/>
                    <a:lstStyle/>
                    <a:p>
                      <a:pPr algn="l" indent="0" marL="0">
                        <a:buNone/>
                      </a:pPr>
                      <a:r>
                        <a:rPr lang="en-US" sz="1900" dirty="0">
                          <a:solidFill>
                            <a:schemeClr val="tx1"/>
                          </a:solidFill>
                        </a:rPr>
                        <a:t>Le matin, je travaille à l’école.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Cet après-midi, je vais chez le médecin.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Ce soir, je regarde un film avec Emma.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1457554">
                <a:tc>
                  <a:txBody>
                    <a:bodyPr/>
                    <a:lstStyle/>
                    <a:p>
                      <a:pPr algn="l" indent="0" marL="0">
                        <a:buNone/>
                      </a:pPr>
                      <a:r>
                        <a:rPr lang="en-US" sz="1900" dirty="0">
                          <a:solidFill>
                            <a:schemeClr val="tx1"/>
                          </a:solidFill>
                        </a:rPr>
                        <a:t>Aujourd’hui, j’ai une réunion au travail.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dirty="0">
                          <a:solidFill>
                            <a:schemeClr val="tx1"/>
                          </a:solidFill>
                        </a:rPr>
                        <a:t>Bonne nuit !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dirty="0">
                          <a:solidFill>
                            <a:schemeClr val="tx1"/>
                          </a:solidFill>
                        </a:rPr>
                        <a:t>Le soir, je rentre à la maison.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1457554">
                <a:tc>
                  <a:txBody>
                    <a:bodyPr/>
                    <a:lstStyle/>
                    <a:p>
                      <a:pPr algn="l" indent="0" marL="0">
                        <a:buNone/>
                      </a:pPr>
                      <a:r>
                        <a:rPr lang="en-US" sz="1900" dirty="0">
                          <a:solidFill>
                            <a:schemeClr val="tx1"/>
                          </a:solidFill>
                        </a:rPr>
                        <a:t>Aujourd’hui, je suis fatiguée.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Le matin, je dis « bonjour » aux enfants.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L’après-midi, c’est calme au travail.
</a:t>
                      </a:r>
                      <a:r>
                        <a:rPr lang="en-US" sz="1900" dirty="0">
                          <a:solidFill>
                            <a:schemeClr val="accent5"/>
                          </a:solidFill>
                        </a:rPr>
                        <a:t>……………………………………</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1.1.2 Bingo van de dag</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7" name="Text 4"/>
          <p:cNvSpPr txBox="1"/>
          <p:nvPr/>
        </p:nvSpPr>
        <p:spPr>
          <a:xfrm>
            <a:off x="548640" y="1481328"/>
            <a:ext cx="11091672" cy="344424"/>
          </a:xfrm>
          <a:prstGeom prst="rect">
            <a:avLst/>
          </a:prstGeom>
          <a:noFill/>
          <a:ln/>
        </p:spPr>
        <p:txBody>
          <a:bodyPr wrap="square" lIns="0" tIns="0" rIns="0" bIns="0" rtlCol="0" anchor="t"/>
          <a:lstStyle/>
          <a:p>
            <a:pPr indent="0" marL="0">
              <a:buNone/>
            </a:pPr>
            <a:r>
              <a:rPr lang="en-US" sz="1600" i="1" dirty="0">
                <a:solidFill>
                  <a:schemeClr val="accent5"/>
                </a:solidFill>
              </a:rPr>
              <a:t>Le professeur lit le texte 2, puis le texte 3. Retrouvez chaque case en néerlandais. Grille complète : « </a:t>
            </a:r>
            <a:r>
              <a:rPr lang="en-US" sz="1600" b="1" i="1" dirty="0">
                <a:solidFill>
                  <a:schemeClr val="accent5"/>
                </a:solidFill>
              </a:rPr>
              <a:t>Bingo!</a:t>
            </a:r>
            <a:r>
              <a:rPr lang="en-US" sz="1600" i="1" dirty="0">
                <a:solidFill>
                  <a:schemeClr val="accent5"/>
                </a:solidFill>
              </a:rPr>
              <a:t> »</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917192"/>
          <a:ext cx="11091672" cy="914400"/>
        </p:xfrm>
        <a:graphic>
          <a:graphicData uri="http://schemas.openxmlformats.org/drawingml/2006/table">
            <a:tbl>
              <a:tblPr/>
              <a:tblGrid>
                <a:gridCol w="3694176"/>
                <a:gridCol w="3694176"/>
                <a:gridCol w="3703320"/>
              </a:tblGrid>
              <a:tr h="1457554">
                <a:tc>
                  <a:txBody>
                    <a:bodyPr/>
                    <a:lstStyle/>
                    <a:p>
                      <a:pPr algn="l" indent="0" marL="0">
                        <a:buNone/>
                      </a:pPr>
                      <a:r>
                        <a:rPr lang="en-US" sz="1900" dirty="0">
                          <a:solidFill>
                            <a:schemeClr val="tx1"/>
                          </a:solidFill>
                        </a:rPr>
                        <a:t>Le matin, je travaille à l’école.
</a:t>
                      </a:r>
                      <a:r>
                        <a:rPr lang="en-US" sz="1900" b="1" dirty="0">
                          <a:solidFill>
                            <a:schemeClr val="accent3"/>
                          </a:solidFill>
                        </a:rPr>
                        <a:t>’s Morgens werk ik op school.</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Cet après-midi, je vais chez le médecin.
</a:t>
                      </a:r>
                      <a:r>
                        <a:rPr lang="en-US" sz="1900" b="1" dirty="0">
                          <a:solidFill>
                            <a:schemeClr val="accent3"/>
                          </a:solidFill>
                        </a:rPr>
                        <a:t>Vanmiddag ga ik naar de dokter.</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Ce soir, je regarde un film avec Emma.
</a:t>
                      </a:r>
                      <a:r>
                        <a:rPr lang="en-US" sz="1900" b="1" dirty="0">
                          <a:solidFill>
                            <a:schemeClr val="accent3"/>
                          </a:solidFill>
                        </a:rPr>
                        <a:t>Vanavond kijk ik een film met Emma.</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1457554">
                <a:tc>
                  <a:txBody>
                    <a:bodyPr/>
                    <a:lstStyle/>
                    <a:p>
                      <a:pPr algn="l" indent="0" marL="0">
                        <a:buNone/>
                      </a:pPr>
                      <a:r>
                        <a:rPr lang="en-US" sz="1900" dirty="0">
                          <a:solidFill>
                            <a:schemeClr val="tx1"/>
                          </a:solidFill>
                        </a:rPr>
                        <a:t>Aujourd’hui, j’ai une réunion au travail.
</a:t>
                      </a:r>
                      <a:r>
                        <a:rPr lang="en-US" sz="1900" b="1" dirty="0">
                          <a:solidFill>
                            <a:schemeClr val="accent3"/>
                          </a:solidFill>
                        </a:rPr>
                        <a:t>Vandaag heb ik een vergadering op het werk.</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dirty="0">
                          <a:solidFill>
                            <a:schemeClr val="tx1"/>
                          </a:solidFill>
                        </a:rPr>
                        <a:t>Bonne nuit !
</a:t>
                      </a:r>
                      <a:r>
                        <a:rPr lang="en-US" sz="1900" b="1" dirty="0">
                          <a:solidFill>
                            <a:schemeClr val="accent3"/>
                          </a:solidFill>
                        </a:rPr>
                        <a:t>Goedenacht! · Welterusten!</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dirty="0">
                          <a:solidFill>
                            <a:schemeClr val="tx1"/>
                          </a:solidFill>
                        </a:rPr>
                        <a:t>Le soir, je rentre à la maison.
</a:t>
                      </a:r>
                      <a:r>
                        <a:rPr lang="en-US" sz="1900" b="1" dirty="0">
                          <a:solidFill>
                            <a:schemeClr val="accent3"/>
                          </a:solidFill>
                        </a:rPr>
                        <a:t>’s Avonds ga ik naar huis.</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1457554">
                <a:tc>
                  <a:txBody>
                    <a:bodyPr/>
                    <a:lstStyle/>
                    <a:p>
                      <a:pPr algn="l" indent="0" marL="0">
                        <a:buNone/>
                      </a:pPr>
                      <a:r>
                        <a:rPr lang="en-US" sz="1900" dirty="0">
                          <a:solidFill>
                            <a:schemeClr val="tx1"/>
                          </a:solidFill>
                        </a:rPr>
                        <a:t>Aujourd’hui, je suis fatiguée.
</a:t>
                      </a:r>
                      <a:r>
                        <a:rPr lang="en-US" sz="1900" b="1" dirty="0">
                          <a:solidFill>
                            <a:schemeClr val="accent3"/>
                          </a:solidFill>
                        </a:rPr>
                        <a:t>Vandaag ben ik moe.</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Le matin, je dis « bonjour » aux enfants.
</a:t>
                      </a:r>
                      <a:r>
                        <a:rPr lang="en-US" sz="1900" b="1" dirty="0">
                          <a:solidFill>
                            <a:schemeClr val="accent3"/>
                          </a:solidFill>
                        </a:rPr>
                        <a:t>’s Morgens zeg ik «goedemorgen» tegen de kinderen.</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900" dirty="0">
                          <a:solidFill>
                            <a:schemeClr val="tx1"/>
                          </a:solidFill>
                        </a:rPr>
                        <a:t>L’après-midi, c’est calme au travail.
</a:t>
                      </a:r>
                      <a:r>
                        <a:rPr lang="en-US" sz="1900" b="1" dirty="0">
                          <a:solidFill>
                            <a:schemeClr val="accent3"/>
                          </a:solidFill>
                        </a:rPr>
                        <a:t>’s Middags is het rustig op het werk.</a:t>
                      </a:r>
                      <a:endParaRPr lang="en-US" sz="19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1.1.3 Mijn dag</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481328"/>
            <a:ext cx="7479792" cy="615696"/>
          </a:xfrm>
          <a:prstGeom prst="rect">
            <a:avLst/>
          </a:prstGeom>
          <a:noFill/>
          <a:ln/>
        </p:spPr>
        <p:txBody>
          <a:bodyPr wrap="square" lIns="0" tIns="0" rIns="0" bIns="0" rtlCol="0" anchor="t"/>
          <a:lstStyle/>
          <a:p>
            <a:pPr indent="0" marL="0">
              <a:buNone/>
            </a:pPr>
            <a:r>
              <a:rPr lang="en-US" sz="1600" i="1" dirty="0">
                <a:solidFill>
                  <a:schemeClr val="accent5"/>
                </a:solidFill>
              </a:rPr>
              <a:t>Écrivez </a:t>
            </a:r>
            <a:r>
              <a:rPr lang="en-US" sz="1600" b="1" i="1" dirty="0">
                <a:solidFill>
                  <a:schemeClr val="accent5"/>
                </a:solidFill>
              </a:rPr>
              <a:t>dix phrases vraies</a:t>
            </a:r>
            <a:r>
              <a:rPr lang="en-US" sz="1600" i="1" dirty="0">
                <a:solidFill>
                  <a:schemeClr val="accent5"/>
                </a:solidFill>
              </a:rPr>
              <a:t> sur votre journée, au moins une par famille A à D du zinnenbouwer. Puis interrogez votre voisin et cochez ce qui est vrai pour lui aussi.</a:t>
            </a:r>
            <a:endParaRPr lang="en-US" sz="1600" dirty="0"/>
          </a:p>
        </p:txBody>
      </p:sp>
      <p:sp>
        <p:nvSpPr>
          <p:cNvPr id="7" name="exercise"/>
          <p:cNvSpPr txBox="1"/>
          <p:nvPr/>
        </p:nvSpPr>
        <p:spPr>
          <a:xfrm>
            <a:off x="548640" y="2170176"/>
            <a:ext cx="7479792" cy="4120896"/>
          </a:xfrm>
          <a:prstGeom prst="rect">
            <a:avLst/>
          </a:prstGeom>
          <a:noFill/>
          <a:ln/>
        </p:spPr>
        <p:txBody>
          <a:bodyPr wrap="square" lIns="0" tIns="0" rIns="0" bIns="0" rtlCol="0" anchor="t"/>
          <a:lstStyle/>
          <a:p>
            <a:pPr indent="0" marL="0">
              <a:spcAft>
                <a:spcPts val="600"/>
              </a:spcAft>
              <a:buNone/>
            </a:pPr>
            <a:r>
              <a:rPr lang="en-US" sz="2300" b="1" dirty="0">
                <a:solidFill>
                  <a:schemeClr val="tx2"/>
                </a:solidFill>
              </a:rPr>
              <a:t>Exemples (à adapter : ils doivent être vrais pour vous !)</a:t>
            </a:r>
            <a:endParaRPr lang="en-US" sz="2300" dirty="0"/>
          </a:p>
          <a:p>
            <a:pPr indent="0" marL="0">
              <a:spcAft>
                <a:spcPts val="800"/>
              </a:spcAft>
              <a:buNone/>
            </a:pPr>
            <a:r>
              <a:rPr lang="en-US" sz="2300" b="1" dirty="0">
                <a:solidFill>
                  <a:schemeClr val="tx1"/>
                </a:solidFill>
              </a:rPr>
              <a:t>A</a:t>
            </a:r>
            <a:r>
              <a:rPr lang="en-US" sz="2300" dirty="0">
                <a:solidFill>
                  <a:schemeClr val="tx1"/>
                </a:solidFill>
              </a:rPr>
              <a:t> · Vanmorgen zeg ik «Goedemorgen!» tegen mijn collega’s.</a:t>
            </a:r>
            <a:endParaRPr lang="en-US" sz="2300" dirty="0"/>
          </a:p>
          <a:p>
            <a:pPr indent="0" marL="0">
              <a:spcAft>
                <a:spcPts val="800"/>
              </a:spcAft>
              <a:buNone/>
            </a:pPr>
            <a:r>
              <a:rPr lang="en-US" sz="2300" b="1" dirty="0">
                <a:solidFill>
                  <a:schemeClr val="tx1"/>
                </a:solidFill>
              </a:rPr>
              <a:t>B</a:t>
            </a:r>
            <a:r>
              <a:rPr lang="en-US" sz="2300" dirty="0">
                <a:solidFill>
                  <a:schemeClr val="tx1"/>
                </a:solidFill>
              </a:rPr>
              <a:t> · ’s Avonds werk ik thuis. · Vandaag ben ik in de stad.</a:t>
            </a:r>
            <a:endParaRPr lang="en-US" sz="2300" dirty="0"/>
          </a:p>
          <a:p>
            <a:pPr indent="0" marL="0">
              <a:spcAft>
                <a:spcPts val="800"/>
              </a:spcAft>
              <a:buNone/>
            </a:pPr>
            <a:r>
              <a:rPr lang="en-US" sz="2300" b="1" dirty="0">
                <a:solidFill>
                  <a:schemeClr val="tx1"/>
                </a:solidFill>
              </a:rPr>
              <a:t>C</a:t>
            </a:r>
            <a:r>
              <a:rPr lang="en-US" sz="2300" dirty="0">
                <a:solidFill>
                  <a:schemeClr val="tx1"/>
                </a:solidFill>
              </a:rPr>
              <a:t> · Om zeven uur sta ik op. · Om één uur lunch ik.</a:t>
            </a:r>
            <a:endParaRPr lang="en-US" sz="2300" dirty="0"/>
          </a:p>
          <a:p>
            <a:pPr indent="0" marL="0">
              <a:spcAft>
                <a:spcPts val="800"/>
              </a:spcAft>
              <a:buNone/>
            </a:pPr>
            <a:r>
              <a:rPr lang="en-US" sz="2300" b="1" dirty="0">
                <a:solidFill>
                  <a:schemeClr val="tx1"/>
                </a:solidFill>
              </a:rPr>
              <a:t>D</a:t>
            </a:r>
            <a:r>
              <a:rPr lang="en-US" sz="2300" dirty="0">
                <a:solidFill>
                  <a:schemeClr val="tx1"/>
                </a:solidFill>
              </a:rPr>
              <a:t> · Na de les zeg ik «Tot morgen!».</a:t>
            </a:r>
            <a:endParaRPr lang="en-US" sz="2300" dirty="0"/>
          </a:p>
          <a:p>
            <a:pPr indent="0" marL="0">
              <a:spcBef>
                <a:spcPts val="800"/>
              </a:spcBef>
              <a:spcAft>
                <a:spcPts val="600"/>
              </a:spcAft>
              <a:buNone/>
            </a:pPr>
            <a:r>
              <a:rPr lang="en-US" sz="2300" b="1" dirty="0">
                <a:solidFill>
                  <a:schemeClr val="tx2"/>
                </a:solidFill>
              </a:rPr>
              <a:t>Interroger le voisin</a:t>
            </a:r>
            <a:endParaRPr lang="en-US" sz="2300" dirty="0"/>
          </a:p>
          <a:p>
            <a:pPr indent="0" marL="0">
              <a:spcAft>
                <a:spcPts val="800"/>
              </a:spcAft>
              <a:buNone/>
            </a:pPr>
            <a:r>
              <a:rPr lang="en-US" sz="2300" i="1" dirty="0">
                <a:solidFill>
                  <a:schemeClr val="tx1"/>
                </a:solidFill>
              </a:rPr>
              <a:t>Werk jij ook ’s avonds?</a:t>
            </a:r>
            <a:r>
              <a:rPr lang="en-US" sz="2300" dirty="0">
                <a:solidFill>
                  <a:schemeClr val="tx1"/>
                </a:solidFill>
              </a:rPr>
              <a:t> — </a:t>
            </a:r>
            <a:r>
              <a:rPr lang="en-US" sz="2300" i="1" dirty="0">
                <a:solidFill>
                  <a:schemeClr val="tx1"/>
                </a:solidFill>
              </a:rPr>
              <a:t>Ja! / Nee.</a:t>
            </a:r>
            <a:r>
              <a:rPr lang="en-US" sz="2300" dirty="0">
                <a:solidFill>
                  <a:schemeClr val="tx1"/>
                </a:solidFill>
              </a:rPr>
              <a:t> → ☐ ook waar voor mijn buur</a:t>
            </a:r>
            <a:endParaRPr lang="en-US" sz="2300" dirty="0"/>
          </a:p>
        </p:txBody>
      </p:sp>
      <p:sp>
        <p:nvSpPr>
          <p:cNvPr id="8" name="aside"/>
          <p:cNvSpPr/>
          <p:nvPr/>
        </p:nvSpPr>
        <p:spPr>
          <a:xfrm>
            <a:off x="8348472" y="1481328"/>
            <a:ext cx="3291840" cy="4809744"/>
          </a:xfrm>
          <a:prstGeom prst="roundRect">
            <a:avLst>
              <a:gd name="adj" fmla="val 2222"/>
            </a:avLst>
          </a:prstGeom>
          <a:solidFill>
            <a:schemeClr val="accent5">
              <a:alpha val="10000"/>
            </a:schemeClr>
          </a:solidFill>
          <a:ln w="12700">
            <a:solidFill>
              <a:schemeClr val="accent5">
                <a:alpha val="60000"/>
              </a:schemeClr>
            </a:solidFill>
            <a:prstDash val="solid"/>
          </a:ln>
        </p:spPr>
      </p:sp>
      <p:pic>
        <p:nvPicPr>
          <p:cNvPr id="9" name="Image 0" descr="preencoded.png">    </p:cNvPr>
          <p:cNvPicPr>
            <a:picLocks noChangeAspect="1"/>
          </p:cNvPicPr>
          <p:nvPr/>
        </p:nvPicPr>
        <p:blipFill>
          <a:blip r:embed="rId1"/>
          <a:stretch>
            <a:fillRect/>
          </a:stretch>
        </p:blipFill>
        <p:spPr>
          <a:xfrm>
            <a:off x="8531352" y="1664208"/>
            <a:ext cx="292608" cy="292608"/>
          </a:xfrm>
          <a:prstGeom prst="rect">
            <a:avLst/>
          </a:prstGeom>
        </p:spPr>
      </p:pic>
      <p:sp>
        <p:nvSpPr>
          <p:cNvPr id="10" name="Text 6"/>
          <p:cNvSpPr txBox="1"/>
          <p:nvPr/>
        </p:nvSpPr>
        <p:spPr>
          <a:xfrm>
            <a:off x="8915400" y="1636776"/>
            <a:ext cx="2560320" cy="347472"/>
          </a:xfrm>
          <a:prstGeom prst="rect">
            <a:avLst/>
          </a:prstGeom>
          <a:noFill/>
          <a:ln/>
        </p:spPr>
        <p:txBody>
          <a:bodyPr wrap="square" lIns="0" tIns="0" rIns="0" bIns="0" rtlCol="0" anchor="ctr"/>
          <a:lstStyle/>
          <a:p>
            <a:pPr indent="0" marL="0">
              <a:buNone/>
            </a:pPr>
            <a:r>
              <a:rPr lang="en-US" sz="1400" b="1" spc="100" kern="0" dirty="0">
                <a:solidFill>
                  <a:schemeClr val="accent5"/>
                </a:solidFill>
              </a:rPr>
              <a:t>ATTENDU</a:t>
            </a:r>
            <a:endParaRPr lang="en-US" sz="1400" dirty="0"/>
          </a:p>
        </p:txBody>
      </p:sp>
      <p:sp>
        <p:nvSpPr>
          <p:cNvPr id="11" name="Text 7"/>
          <p:cNvSpPr txBox="1"/>
          <p:nvPr/>
        </p:nvSpPr>
        <p:spPr>
          <a:xfrm>
            <a:off x="8513064" y="2075688"/>
            <a:ext cx="2962656"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10 phrases</a:t>
            </a:r>
            <a:r>
              <a:rPr lang="en-US" sz="1800" dirty="0">
                <a:solidFill>
                  <a:schemeClr val="tx1"/>
                </a:solidFill>
              </a:rPr>
              <a:t>, au moins 1 par famille (A, B, C, D) + 1 libre.</a:t>
            </a:r>
            <a:endParaRPr lang="en-US" sz="1800" dirty="0"/>
          </a:p>
          <a:p>
            <a:pPr marL="177800" indent="-177800">
              <a:spcAft>
                <a:spcPts val="600"/>
              </a:spcAft>
              <a:buSzPct val="100000"/>
              <a:buChar char="•"/>
            </a:pPr>
            <a:r>
              <a:rPr lang="en-US" sz="1800" dirty="0">
                <a:solidFill>
                  <a:schemeClr val="tx1"/>
                </a:solidFill>
              </a:rPr>
              <a:t>Chaque bloc existe dans le </a:t>
            </a:r>
            <a:r>
              <a:rPr lang="en-US" sz="1800" b="1" dirty="0">
                <a:solidFill>
                  <a:schemeClr val="tx1"/>
                </a:solidFill>
              </a:rPr>
              <a:t>zinnenbouwer</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Le </a:t>
            </a:r>
            <a:r>
              <a:rPr lang="en-US" sz="1800" b="1" dirty="0">
                <a:solidFill>
                  <a:schemeClr val="tx1"/>
                </a:solidFill>
              </a:rPr>
              <a:t>verbe</a:t>
            </a:r>
            <a:r>
              <a:rPr lang="en-US" sz="1800" dirty="0">
                <a:solidFill>
                  <a:schemeClr val="tx1"/>
                </a:solidFill>
              </a:rPr>
              <a:t> en 2e position.</a:t>
            </a:r>
            <a:endParaRPr lang="en-US" sz="1800" dirty="0"/>
          </a:p>
          <a:p>
            <a:pPr marL="177800" indent="-177800">
              <a:spcAft>
                <a:spcPts val="600"/>
              </a:spcAft>
              <a:buSzPct val="100000"/>
              <a:buChar char="•"/>
            </a:pPr>
            <a:r>
              <a:rPr lang="en-US" sz="1800" dirty="0">
                <a:solidFill>
                  <a:schemeClr val="tx1"/>
                </a:solidFill>
              </a:rPr>
              <a:t>Couche 2 · seul, puis par deux · 20 min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1.1.4 Welk moment? — le jeu des cartes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txBox="1"/>
          <p:nvPr/>
        </p:nvSpPr>
        <p:spPr>
          <a:xfrm>
            <a:off x="548640" y="1481328"/>
            <a:ext cx="11091672" cy="603504"/>
          </a:xfrm>
          <a:prstGeom prst="rect">
            <a:avLst/>
          </a:prstGeom>
          <a:noFill/>
          <a:ln/>
        </p:spPr>
        <p:txBody>
          <a:bodyPr wrap="square" lIns="0" tIns="0" rIns="0" bIns="0" rtlCol="0" anchor="t"/>
          <a:lstStyle/>
          <a:p>
            <a:pPr indent="0" marL="0">
              <a:buNone/>
            </a:pPr>
            <a:r>
              <a:rPr lang="en-US" sz="1800" dirty="0">
                <a:solidFill>
                  <a:schemeClr val="tx1"/>
                </a:solidFill>
              </a:rPr>
              <a:t>Groupe de 4 ou 5 · 15 min. Cartes-moments : </a:t>
            </a:r>
            <a:r>
              <a:rPr lang="en-US" sz="1800" b="1" dirty="0">
                <a:solidFill>
                  <a:schemeClr val="tx1"/>
                </a:solidFill>
              </a:rPr>
              <a:t>morgen 07.00 · middag 14.00 · avond 19.00 · nacht 23.00 · de hele dag</a:t>
            </a:r>
            <a:r>
              <a:rPr lang="en-US" sz="1800" dirty="0">
                <a:solidFill>
                  <a:schemeClr val="tx1"/>
                </a:solidFill>
              </a:rPr>
              <a:t>.</a:t>
            </a:r>
            <a:endParaRPr lang="en-US" sz="1800" dirty="0"/>
          </a:p>
        </p:txBody>
      </p:sp>
      <p:sp>
        <p:nvSpPr>
          <p:cNvPr id="7" name="Shape 4"/>
          <p:cNvSpPr/>
          <p:nvPr/>
        </p:nvSpPr>
        <p:spPr>
          <a:xfrm>
            <a:off x="548640" y="2267712"/>
            <a:ext cx="2553462" cy="4023360"/>
          </a:xfrm>
          <a:prstGeom prst="roundRect">
            <a:avLst>
              <a:gd name="adj" fmla="val 3581"/>
            </a:avLst>
          </a:prstGeom>
          <a:solidFill>
            <a:schemeClr val="bg2"/>
          </a:solidFill>
          <a:ln w="9525">
            <a:solidFill>
              <a:srgbClr val="D5DCE6"/>
            </a:solidFill>
            <a:prstDash val="solid"/>
          </a:ln>
        </p:spPr>
      </p:sp>
      <p:sp>
        <p:nvSpPr>
          <p:cNvPr id="8" name="Shape 5"/>
          <p:cNvSpPr/>
          <p:nvPr/>
        </p:nvSpPr>
        <p:spPr>
          <a:xfrm>
            <a:off x="1496187" y="2450592"/>
            <a:ext cx="658368" cy="658368"/>
          </a:xfrm>
          <a:prstGeom prst="ellipse">
            <a:avLst/>
          </a:prstGeom>
          <a:solidFill>
            <a:schemeClr val="accent2"/>
          </a:solidFill>
          <a:ln/>
        </p:spPr>
      </p:sp>
      <p:sp>
        <p:nvSpPr>
          <p:cNvPr id="9" name="Text 6"/>
          <p:cNvSpPr txBox="1"/>
          <p:nvPr/>
        </p:nvSpPr>
        <p:spPr>
          <a:xfrm>
            <a:off x="149618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 name="Text 7"/>
          <p:cNvSpPr txBox="1"/>
          <p:nvPr/>
        </p:nvSpPr>
        <p:spPr>
          <a:xfrm>
            <a:off x="658368" y="3182112"/>
            <a:ext cx="2334006" cy="685800"/>
          </a:xfrm>
          <a:prstGeom prst="rect">
            <a:avLst/>
          </a:prstGeom>
          <a:noFill/>
          <a:ln/>
        </p:spPr>
        <p:txBody>
          <a:bodyPr wrap="square" lIns="0" tIns="0" rIns="0" bIns="0" rtlCol="0" anchor="ctr"/>
          <a:lstStyle/>
          <a:p>
            <a:pPr algn="ctr" indent="0" marL="0">
              <a:buNone/>
            </a:pPr>
            <a:r>
              <a:rPr lang="en-US" sz="1700" b="1" dirty="0">
                <a:solidFill>
                  <a:schemeClr val="accent2"/>
                </a:solidFill>
              </a:rPr>
              <a:t>A montre</a:t>
            </a:r>
            <a:endParaRPr lang="en-US" sz="1700" dirty="0"/>
          </a:p>
        </p:txBody>
      </p:sp>
      <p:sp>
        <p:nvSpPr>
          <p:cNvPr id="11" name="Text 8"/>
          <p:cNvSpPr txBox="1"/>
          <p:nvPr/>
        </p:nvSpPr>
        <p:spPr>
          <a:xfrm>
            <a:off x="68580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A montre une carte-moment à B.</a:t>
            </a:r>
            <a:endParaRPr lang="en-US" sz="1700" dirty="0"/>
          </a:p>
        </p:txBody>
      </p:sp>
      <p:pic>
        <p:nvPicPr>
          <p:cNvPr id="12" name="Image 0" descr="preencoded.png">    </p:cNvPr>
          <p:cNvPicPr>
            <a:picLocks noChangeAspect="1"/>
          </p:cNvPicPr>
          <p:nvPr/>
        </p:nvPicPr>
        <p:blipFill>
          <a:blip r:embed="rId1"/>
          <a:stretch>
            <a:fillRect/>
          </a:stretch>
        </p:blipFill>
        <p:spPr>
          <a:xfrm>
            <a:off x="3138678" y="2670048"/>
            <a:ext cx="219456" cy="219456"/>
          </a:xfrm>
          <a:prstGeom prst="rect">
            <a:avLst/>
          </a:prstGeom>
        </p:spPr>
      </p:pic>
      <p:sp>
        <p:nvSpPr>
          <p:cNvPr id="13" name="Shape 9"/>
          <p:cNvSpPr/>
          <p:nvPr/>
        </p:nvSpPr>
        <p:spPr>
          <a:xfrm>
            <a:off x="3394710" y="2267712"/>
            <a:ext cx="2553462" cy="4023360"/>
          </a:xfrm>
          <a:prstGeom prst="roundRect">
            <a:avLst>
              <a:gd name="adj" fmla="val 3581"/>
            </a:avLst>
          </a:prstGeom>
          <a:solidFill>
            <a:schemeClr val="bg2"/>
          </a:solidFill>
          <a:ln w="9525">
            <a:solidFill>
              <a:srgbClr val="D5DCE6"/>
            </a:solidFill>
            <a:prstDash val="solid"/>
          </a:ln>
        </p:spPr>
      </p:sp>
      <p:sp>
        <p:nvSpPr>
          <p:cNvPr id="14" name="Shape 10"/>
          <p:cNvSpPr/>
          <p:nvPr/>
        </p:nvSpPr>
        <p:spPr>
          <a:xfrm>
            <a:off x="4342257" y="2450592"/>
            <a:ext cx="658368" cy="658368"/>
          </a:xfrm>
          <a:prstGeom prst="ellipse">
            <a:avLst/>
          </a:prstGeom>
          <a:solidFill>
            <a:schemeClr val="accent1"/>
          </a:solidFill>
          <a:ln/>
        </p:spPr>
      </p:sp>
      <p:sp>
        <p:nvSpPr>
          <p:cNvPr id="15" name="Text 11"/>
          <p:cNvSpPr txBox="1"/>
          <p:nvPr/>
        </p:nvSpPr>
        <p:spPr>
          <a:xfrm>
            <a:off x="434225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2"/>
          <p:cNvSpPr txBox="1"/>
          <p:nvPr/>
        </p:nvSpPr>
        <p:spPr>
          <a:xfrm>
            <a:off x="3504438" y="3182112"/>
            <a:ext cx="2334006" cy="685800"/>
          </a:xfrm>
          <a:prstGeom prst="rect">
            <a:avLst/>
          </a:prstGeom>
          <a:noFill/>
          <a:ln/>
        </p:spPr>
        <p:txBody>
          <a:bodyPr wrap="square" lIns="0" tIns="0" rIns="0" bIns="0" rtlCol="0" anchor="ctr"/>
          <a:lstStyle/>
          <a:p>
            <a:pPr algn="ctr" indent="0" marL="0">
              <a:buNone/>
            </a:pPr>
            <a:r>
              <a:rPr lang="en-US" sz="1700" b="1" dirty="0">
                <a:solidFill>
                  <a:schemeClr val="accent1"/>
                </a:solidFill>
              </a:rPr>
              <a:t>B salue</a:t>
            </a:r>
            <a:endParaRPr lang="en-US" sz="1700" dirty="0"/>
          </a:p>
        </p:txBody>
      </p:sp>
      <p:sp>
        <p:nvSpPr>
          <p:cNvPr id="17" name="Text 13"/>
          <p:cNvSpPr txBox="1"/>
          <p:nvPr/>
        </p:nvSpPr>
        <p:spPr>
          <a:xfrm>
            <a:off x="353187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B salue A avec la bonne formule + le prénom : </a:t>
            </a:r>
            <a:r>
              <a:rPr lang="en-US" sz="1700" i="1" dirty="0">
                <a:solidFill>
                  <a:schemeClr val="tx1"/>
                </a:solidFill>
              </a:rPr>
              <a:t>Goedemiddag, Lucas!</a:t>
            </a:r>
            <a:endParaRPr lang="en-US" sz="1700" dirty="0"/>
          </a:p>
        </p:txBody>
      </p:sp>
      <p:pic>
        <p:nvPicPr>
          <p:cNvPr id="18" name="Image 1" descr="preencoded.png">    </p:cNvPr>
          <p:cNvPicPr>
            <a:picLocks noChangeAspect="1"/>
          </p:cNvPicPr>
          <p:nvPr/>
        </p:nvPicPr>
        <p:blipFill>
          <a:blip r:embed="rId2"/>
          <a:stretch>
            <a:fillRect/>
          </a:stretch>
        </p:blipFill>
        <p:spPr>
          <a:xfrm>
            <a:off x="5984748" y="2670048"/>
            <a:ext cx="219456" cy="219456"/>
          </a:xfrm>
          <a:prstGeom prst="rect">
            <a:avLst/>
          </a:prstGeom>
        </p:spPr>
      </p:pic>
      <p:sp>
        <p:nvSpPr>
          <p:cNvPr id="19" name="Shape 14"/>
          <p:cNvSpPr/>
          <p:nvPr/>
        </p:nvSpPr>
        <p:spPr>
          <a:xfrm>
            <a:off x="6240780" y="2267712"/>
            <a:ext cx="2553462" cy="4023360"/>
          </a:xfrm>
          <a:prstGeom prst="roundRect">
            <a:avLst>
              <a:gd name="adj" fmla="val 3581"/>
            </a:avLst>
          </a:prstGeom>
          <a:solidFill>
            <a:schemeClr val="bg2"/>
          </a:solidFill>
          <a:ln w="9525">
            <a:solidFill>
              <a:srgbClr val="D5DCE6"/>
            </a:solidFill>
            <a:prstDash val="solid"/>
          </a:ln>
        </p:spPr>
      </p:sp>
      <p:sp>
        <p:nvSpPr>
          <p:cNvPr id="20" name="Shape 15"/>
          <p:cNvSpPr/>
          <p:nvPr/>
        </p:nvSpPr>
        <p:spPr>
          <a:xfrm>
            <a:off x="7188327" y="2450592"/>
            <a:ext cx="658368" cy="658368"/>
          </a:xfrm>
          <a:prstGeom prst="ellipse">
            <a:avLst/>
          </a:prstGeom>
          <a:solidFill>
            <a:schemeClr val="accent3"/>
          </a:solidFill>
          <a:ln/>
        </p:spPr>
      </p:sp>
      <p:sp>
        <p:nvSpPr>
          <p:cNvPr id="21" name="Text 16"/>
          <p:cNvSpPr txBox="1"/>
          <p:nvPr/>
        </p:nvSpPr>
        <p:spPr>
          <a:xfrm>
            <a:off x="718832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7"/>
          <p:cNvSpPr txBox="1"/>
          <p:nvPr/>
        </p:nvSpPr>
        <p:spPr>
          <a:xfrm>
            <a:off x="6350508" y="3182112"/>
            <a:ext cx="2334006" cy="685800"/>
          </a:xfrm>
          <a:prstGeom prst="rect">
            <a:avLst/>
          </a:prstGeom>
          <a:noFill/>
          <a:ln/>
        </p:spPr>
        <p:txBody>
          <a:bodyPr wrap="square" lIns="0" tIns="0" rIns="0" bIns="0" rtlCol="0" anchor="ctr"/>
          <a:lstStyle/>
          <a:p>
            <a:pPr algn="ctr" indent="0" marL="0">
              <a:buNone/>
            </a:pPr>
            <a:r>
              <a:rPr lang="en-US" sz="1700" b="1" dirty="0">
                <a:solidFill>
                  <a:schemeClr val="accent3"/>
                </a:solidFill>
              </a:rPr>
              <a:t>On tourne</a:t>
            </a:r>
            <a:endParaRPr lang="en-US" sz="1700" dirty="0"/>
          </a:p>
        </p:txBody>
      </p:sp>
      <p:sp>
        <p:nvSpPr>
          <p:cNvPr id="23" name="Text 18"/>
          <p:cNvSpPr txBox="1"/>
          <p:nvPr/>
        </p:nvSpPr>
        <p:spPr>
          <a:xfrm>
            <a:off x="637794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B montre une carte à C, et ainsi de suite.</a:t>
            </a:r>
            <a:endParaRPr lang="en-US" sz="1700" dirty="0"/>
          </a:p>
        </p:txBody>
      </p:sp>
      <p:pic>
        <p:nvPicPr>
          <p:cNvPr id="24" name="Image 2" descr="preencoded.png">    </p:cNvPr>
          <p:cNvPicPr>
            <a:picLocks noChangeAspect="1"/>
          </p:cNvPicPr>
          <p:nvPr/>
        </p:nvPicPr>
        <p:blipFill>
          <a:blip r:embed="rId3"/>
          <a:stretch>
            <a:fillRect/>
          </a:stretch>
        </p:blipFill>
        <p:spPr>
          <a:xfrm>
            <a:off x="8830818" y="2670048"/>
            <a:ext cx="219456" cy="219456"/>
          </a:xfrm>
          <a:prstGeom prst="rect">
            <a:avLst/>
          </a:prstGeom>
        </p:spPr>
      </p:pic>
      <p:sp>
        <p:nvSpPr>
          <p:cNvPr id="25" name="Shape 19"/>
          <p:cNvSpPr/>
          <p:nvPr/>
        </p:nvSpPr>
        <p:spPr>
          <a:xfrm>
            <a:off x="9086850" y="2267712"/>
            <a:ext cx="2553462" cy="4023360"/>
          </a:xfrm>
          <a:prstGeom prst="roundRect">
            <a:avLst>
              <a:gd name="adj" fmla="val 3581"/>
            </a:avLst>
          </a:prstGeom>
          <a:solidFill>
            <a:schemeClr val="bg2"/>
          </a:solidFill>
          <a:ln w="9525">
            <a:solidFill>
              <a:srgbClr val="D5DCE6"/>
            </a:solidFill>
            <a:prstDash val="solid"/>
          </a:ln>
        </p:spPr>
      </p:sp>
      <p:sp>
        <p:nvSpPr>
          <p:cNvPr id="26" name="Shape 20"/>
          <p:cNvSpPr/>
          <p:nvPr/>
        </p:nvSpPr>
        <p:spPr>
          <a:xfrm>
            <a:off x="10034397" y="2450592"/>
            <a:ext cx="658368" cy="658368"/>
          </a:xfrm>
          <a:prstGeom prst="ellipse">
            <a:avLst/>
          </a:prstGeom>
          <a:solidFill>
            <a:schemeClr val="tx2"/>
          </a:solidFill>
          <a:ln/>
        </p:spPr>
      </p:sp>
      <p:sp>
        <p:nvSpPr>
          <p:cNvPr id="27" name="Text 21"/>
          <p:cNvSpPr txBox="1"/>
          <p:nvPr/>
        </p:nvSpPr>
        <p:spPr>
          <a:xfrm>
            <a:off x="1003439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8" name="Text 22"/>
          <p:cNvSpPr txBox="1"/>
          <p:nvPr/>
        </p:nvSpPr>
        <p:spPr>
          <a:xfrm>
            <a:off x="9196578" y="3182112"/>
            <a:ext cx="2334006" cy="685800"/>
          </a:xfrm>
          <a:prstGeom prst="rect">
            <a:avLst/>
          </a:prstGeom>
          <a:noFill/>
          <a:ln/>
        </p:spPr>
        <p:txBody>
          <a:bodyPr wrap="square" lIns="0" tIns="0" rIns="0" bIns="0" rtlCol="0" anchor="ctr"/>
          <a:lstStyle/>
          <a:p>
            <a:pPr algn="ctr" indent="0" marL="0">
              <a:buNone/>
            </a:pPr>
            <a:r>
              <a:rPr lang="en-US" sz="1700" b="1" dirty="0">
                <a:solidFill>
                  <a:schemeClr val="tx2"/>
                </a:solidFill>
              </a:rPr>
              <a:t>Seul</a:t>
            </a:r>
            <a:endParaRPr lang="en-US" sz="1700" dirty="0"/>
          </a:p>
        </p:txBody>
      </p:sp>
      <p:sp>
        <p:nvSpPr>
          <p:cNvPr id="29" name="Text 23"/>
          <p:cNvSpPr txBox="1"/>
          <p:nvPr/>
        </p:nvSpPr>
        <p:spPr>
          <a:xfrm>
            <a:off x="922401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Complétez le tableau (diapositive suivante).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1.1.4 Welk moment? — le tableau</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731520"/>
                <a:gridCol w="4206240"/>
                <a:gridCol w="6153912"/>
              </a:tblGrid>
              <a:tr h="628193">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VRAAG</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ANTWOORD</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96773">
                <a:tc>
                  <a:txBody>
                    <a:bodyPr/>
                    <a:lstStyle/>
                    <a:p>
                      <a:pPr algn="ctr" indent="0" marL="0">
                        <a:buNone/>
                      </a:pPr>
                      <a:r>
                        <a:rPr lang="en-US" sz="2000" dirty="0">
                          <a:solidFill>
                            <a:schemeClr val="tx1"/>
                          </a:solidFill>
                        </a:rPr>
                        <a:t>1</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morgens?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middags?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3</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avonds?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nachts?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5</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de hele 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Réponse complète : </a:t>
            </a:r>
            <a:r>
              <a:rPr lang="en-US" sz="1500" i="1" dirty="0">
                <a:solidFill>
                  <a:schemeClr val="accent5"/>
                </a:solidFill>
              </a:rPr>
              <a:t>’s Morgens zeg ik «Goedemorgen!».</a:t>
            </a:r>
            <a:r>
              <a:rPr lang="en-US" sz="1500" i="1" dirty="0">
                <a:solidFill>
                  <a:schemeClr val="accent5"/>
                </a:solidFill>
              </a:rPr>
              <a:t> — l’inversion encore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1.1.4 Welk moment? — le tableau</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731520"/>
                <a:gridCol w="4206240"/>
                <a:gridCol w="6153912"/>
              </a:tblGrid>
              <a:tr h="628193">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VRAAG</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ANTWOORD</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96773">
                <a:tc>
                  <a:txBody>
                    <a:bodyPr/>
                    <a:lstStyle/>
                    <a:p>
                      <a:pPr algn="ctr" indent="0" marL="0">
                        <a:buNone/>
                      </a:pPr>
                      <a:r>
                        <a:rPr lang="en-US" sz="2000" dirty="0">
                          <a:solidFill>
                            <a:schemeClr val="tx1"/>
                          </a:solidFill>
                        </a:rPr>
                        <a:t>1</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morgens?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«Goedemorgen!»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middags?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«Goedemiddag!»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3</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avonds?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«Goedenavond!»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nachts?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«Goedenacht!» · «Welterusten!» (avant de dormir)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5</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de hele 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«Hallo!» · «Dag!» · «Hoi!» (familier)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8" name="Text 4"/>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Réponse complète : </a:t>
            </a:r>
            <a:r>
              <a:rPr lang="en-US" sz="1500" i="1" dirty="0">
                <a:solidFill>
                  <a:schemeClr val="accent5"/>
                </a:solidFill>
              </a:rPr>
              <a:t>’s Morgens zeg ik «Goedemorgen!».</a:t>
            </a:r>
            <a:r>
              <a:rPr lang="en-US" sz="1500" i="1" dirty="0">
                <a:solidFill>
                  <a:schemeClr val="accent5"/>
                </a:solidFill>
              </a:rPr>
              <a:t> — l’inversion encore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Quelle heure, quelle salutation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6" name="Text 3"/>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Saluez la personne avec la bonne formule et son nom.</a:t>
            </a:r>
            <a:endParaRPr lang="en-US" sz="1600" dirty="0"/>
          </a:p>
        </p:txBody>
      </p:sp>
      <p:sp>
        <p:nvSpPr>
          <p:cNvPr id="7" name="exercise"/>
          <p:cNvSpPr txBox="1"/>
          <p:nvPr/>
        </p:nvSpPr>
        <p:spPr>
          <a:xfrm>
            <a:off x="5486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1.  </a:t>
            </a:r>
            <a:r>
              <a:rPr lang="en-US" sz="2400" dirty="0">
                <a:solidFill>
                  <a:schemeClr val="tx1"/>
                </a:solidFill>
              </a:rPr>
              <a:t>08.15 · Pieter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2.  </a:t>
            </a:r>
            <a:r>
              <a:rPr lang="en-US" sz="2400" dirty="0">
                <a:solidFill>
                  <a:schemeClr val="tx1"/>
                </a:solidFill>
              </a:rPr>
              <a:t>13.30 · Meneer Janssens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3.  </a:t>
            </a:r>
            <a:r>
              <a:rPr lang="en-US" sz="2400" dirty="0">
                <a:solidFill>
                  <a:schemeClr val="tx1"/>
                </a:solidFill>
              </a:rPr>
              <a:t>20.45 · Sarah → </a:t>
            </a:r>
            <a:r>
              <a:rPr lang="en-US" sz="2400" dirty="0">
                <a:solidFill>
                  <a:schemeClr val="accent5"/>
                </a:solidFill>
              </a:rPr>
              <a:t>…………………………</a:t>
            </a:r>
            <a:endParaRPr lang="en-US" sz="2400" dirty="0"/>
          </a:p>
        </p:txBody>
      </p:sp>
      <p:sp>
        <p:nvSpPr>
          <p:cNvPr id="8" name="exercise"/>
          <p:cNvSpPr txBox="1"/>
          <p:nvPr/>
        </p:nvSpPr>
        <p:spPr>
          <a:xfrm>
            <a:off x="43205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4.  </a:t>
            </a:r>
            <a:r>
              <a:rPr lang="en-US" sz="2400" dirty="0">
                <a:solidFill>
                  <a:schemeClr val="tx1"/>
                </a:solidFill>
              </a:rPr>
              <a:t>23.30 · votre enfant va dormir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5.  </a:t>
            </a:r>
            <a:r>
              <a:rPr lang="en-US" sz="2400" dirty="0">
                <a:solidFill>
                  <a:schemeClr val="tx1"/>
                </a:solidFill>
              </a:rPr>
              <a:t>10.00 · un ami, en passant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6.  </a:t>
            </a:r>
            <a:r>
              <a:rPr lang="en-US" sz="2400" dirty="0">
                <a:solidFill>
                  <a:schemeClr val="tx1"/>
                </a:solidFill>
              </a:rPr>
              <a:t>17.55 · la classe → </a:t>
            </a:r>
            <a:r>
              <a:rPr lang="en-US" sz="2400" dirty="0">
                <a:solidFill>
                  <a:schemeClr val="accent5"/>
                </a:solidFill>
              </a:rPr>
              <a: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Quelle heure, quelle salutation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ag"/>
          <p:cNvSpPr/>
          <p:nvPr/>
        </p:nvSpPr>
        <p:spPr>
          <a:xfrm>
            <a:off x="18242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7" name="Text 4"/>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Saluez la personne avec la bonne formule et son nom.</a:t>
            </a:r>
            <a:endParaRPr lang="en-US" sz="1600" dirty="0"/>
          </a:p>
        </p:txBody>
      </p:sp>
      <p:sp>
        <p:nvSpPr>
          <p:cNvPr id="8" name="exercise"/>
          <p:cNvSpPr txBox="1"/>
          <p:nvPr/>
        </p:nvSpPr>
        <p:spPr>
          <a:xfrm>
            <a:off x="5486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1.  </a:t>
            </a:r>
            <a:r>
              <a:rPr lang="en-US" sz="2400" dirty="0">
                <a:solidFill>
                  <a:schemeClr val="tx1"/>
                </a:solidFill>
              </a:rPr>
              <a:t>08.15 · Pieter → </a:t>
            </a:r>
            <a:r>
              <a:rPr lang="en-US" sz="2400" b="1" dirty="0">
                <a:solidFill>
                  <a:schemeClr val="accent3"/>
                </a:solidFill>
              </a:rPr>
              <a:t>Goedemorgen, Pieter!</a:t>
            </a:r>
            <a:endParaRPr lang="en-US" sz="2400" dirty="0"/>
          </a:p>
          <a:p>
            <a:pPr indent="0" marL="0">
              <a:spcAft>
                <a:spcPts val="1200"/>
              </a:spcAft>
              <a:buNone/>
            </a:pPr>
            <a:r>
              <a:rPr lang="en-US" sz="2400" b="1" dirty="0">
                <a:solidFill>
                  <a:schemeClr val="tx2"/>
                </a:solidFill>
              </a:rPr>
              <a:t>2.  </a:t>
            </a:r>
            <a:r>
              <a:rPr lang="en-US" sz="2400" dirty="0">
                <a:solidFill>
                  <a:schemeClr val="tx1"/>
                </a:solidFill>
              </a:rPr>
              <a:t>13.30 · Meneer Janssens → </a:t>
            </a:r>
            <a:r>
              <a:rPr lang="en-US" sz="2400" b="1" dirty="0">
                <a:solidFill>
                  <a:schemeClr val="accent3"/>
                </a:solidFill>
              </a:rPr>
              <a:t>Goedemiddag, meneer Janssens!</a:t>
            </a:r>
            <a:endParaRPr lang="en-US" sz="2400" dirty="0"/>
          </a:p>
          <a:p>
            <a:pPr indent="0" marL="0">
              <a:spcAft>
                <a:spcPts val="1200"/>
              </a:spcAft>
              <a:buNone/>
            </a:pPr>
            <a:r>
              <a:rPr lang="en-US" sz="2400" b="1" dirty="0">
                <a:solidFill>
                  <a:schemeClr val="tx2"/>
                </a:solidFill>
              </a:rPr>
              <a:t>3.  </a:t>
            </a:r>
            <a:r>
              <a:rPr lang="en-US" sz="2400" dirty="0">
                <a:solidFill>
                  <a:schemeClr val="tx1"/>
                </a:solidFill>
              </a:rPr>
              <a:t>20.45 · Sarah → </a:t>
            </a:r>
            <a:r>
              <a:rPr lang="en-US" sz="2400" b="1" dirty="0">
                <a:solidFill>
                  <a:schemeClr val="accent3"/>
                </a:solidFill>
              </a:rPr>
              <a:t>Goedenavond, Sarah!</a:t>
            </a:r>
            <a:endParaRPr lang="en-US" sz="2400" dirty="0"/>
          </a:p>
        </p:txBody>
      </p:sp>
      <p:sp>
        <p:nvSpPr>
          <p:cNvPr id="9" name="exercise"/>
          <p:cNvSpPr txBox="1"/>
          <p:nvPr/>
        </p:nvSpPr>
        <p:spPr>
          <a:xfrm>
            <a:off x="43205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4.  </a:t>
            </a:r>
            <a:r>
              <a:rPr lang="en-US" sz="2400" dirty="0">
                <a:solidFill>
                  <a:schemeClr val="tx1"/>
                </a:solidFill>
              </a:rPr>
              <a:t>23.30 · votre enfant va dormir → </a:t>
            </a:r>
            <a:r>
              <a:rPr lang="en-US" sz="2400" b="1" dirty="0">
                <a:solidFill>
                  <a:schemeClr val="accent3"/>
                </a:solidFill>
              </a:rPr>
              <a:t>Welterusten!</a:t>
            </a:r>
            <a:endParaRPr lang="en-US" sz="2400" dirty="0"/>
          </a:p>
          <a:p>
            <a:pPr indent="0" marL="0">
              <a:spcAft>
                <a:spcPts val="1200"/>
              </a:spcAft>
              <a:buNone/>
            </a:pPr>
            <a:r>
              <a:rPr lang="en-US" sz="2400" b="1" dirty="0">
                <a:solidFill>
                  <a:schemeClr val="tx2"/>
                </a:solidFill>
              </a:rPr>
              <a:t>5.  </a:t>
            </a:r>
            <a:r>
              <a:rPr lang="en-US" sz="2400" dirty="0">
                <a:solidFill>
                  <a:schemeClr val="tx1"/>
                </a:solidFill>
              </a:rPr>
              <a:t>10.00 · un ami, en passant → </a:t>
            </a:r>
            <a:r>
              <a:rPr lang="en-US" sz="2400" b="1" dirty="0">
                <a:solidFill>
                  <a:schemeClr val="accent3"/>
                </a:solidFill>
              </a:rPr>
              <a:t>Hoi! / Dag!</a:t>
            </a:r>
            <a:endParaRPr lang="en-US" sz="2400" dirty="0"/>
          </a:p>
          <a:p>
            <a:pPr indent="0" marL="0">
              <a:spcAft>
                <a:spcPts val="1200"/>
              </a:spcAft>
              <a:buNone/>
            </a:pPr>
            <a:r>
              <a:rPr lang="en-US" sz="2400" b="1" dirty="0">
                <a:solidFill>
                  <a:schemeClr val="tx2"/>
                </a:solidFill>
              </a:rPr>
              <a:t>6.  </a:t>
            </a:r>
            <a:r>
              <a:rPr lang="en-US" sz="2400" dirty="0">
                <a:solidFill>
                  <a:schemeClr val="tx1"/>
                </a:solidFill>
              </a:rPr>
              <a:t>17.55 · la classe → </a:t>
            </a:r>
            <a:r>
              <a:rPr lang="en-US" sz="2400" b="1" dirty="0">
                <a:solidFill>
                  <a:schemeClr val="accent3"/>
                </a:solidFill>
              </a:rPr>
              <a:t>Goedemiddag allemaal!</a:t>
            </a:r>
            <a:endParaRPr lang="en-US" sz="2400" dirty="0"/>
          </a:p>
        </p:txBody>
      </p:sp>
      <p:sp>
        <p:nvSpPr>
          <p:cNvPr id="10" name="aside"/>
          <p:cNvSpPr/>
          <p:nvPr/>
        </p:nvSpPr>
        <p:spPr>
          <a:xfrm>
            <a:off x="8046720" y="1481328"/>
            <a:ext cx="3593592" cy="4809744"/>
          </a:xfrm>
          <a:prstGeom prst="roundRect">
            <a:avLst>
              <a:gd name="adj" fmla="val 2036"/>
            </a:avLst>
          </a:prstGeom>
          <a:solidFill>
            <a:schemeClr val="accent6">
              <a:alpha val="10000"/>
            </a:schemeClr>
          </a:solidFill>
          <a:ln w="12700">
            <a:solidFill>
              <a:schemeClr val="accent6">
                <a:alpha val="60000"/>
              </a:schemeClr>
            </a:solidFill>
            <a:prstDash val="solid"/>
          </a:ln>
        </p:spPr>
      </p:sp>
      <p:pic>
        <p:nvPicPr>
          <p:cNvPr id="11" name="Image 0" descr="preencoded.png">    </p:cNvPr>
          <p:cNvPicPr>
            <a:picLocks noChangeAspect="1"/>
          </p:cNvPicPr>
          <p:nvPr/>
        </p:nvPicPr>
        <p:blipFill>
          <a:blip r:embed="rId1"/>
          <a:stretch>
            <a:fillRect/>
          </a:stretch>
        </p:blipFill>
        <p:spPr>
          <a:xfrm>
            <a:off x="8229600" y="1664208"/>
            <a:ext cx="292608" cy="292608"/>
          </a:xfrm>
          <a:prstGeom prst="rect">
            <a:avLst/>
          </a:prstGeom>
        </p:spPr>
      </p:pic>
      <p:sp>
        <p:nvSpPr>
          <p:cNvPr id="12" name="Text 8"/>
          <p:cNvSpPr txBox="1"/>
          <p:nvPr/>
        </p:nvSpPr>
        <p:spPr>
          <a:xfrm>
            <a:off x="8613648" y="1636776"/>
            <a:ext cx="2862072"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3" name="Text 9"/>
          <p:cNvSpPr txBox="1"/>
          <p:nvPr/>
        </p:nvSpPr>
        <p:spPr>
          <a:xfrm>
            <a:off x="8211312" y="2075688"/>
            <a:ext cx="3264408"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Midi pile : on passe à </a:t>
            </a:r>
            <a:r>
              <a:rPr lang="en-US" sz="1800" b="1" dirty="0">
                <a:solidFill>
                  <a:schemeClr val="tx1"/>
                </a:solidFill>
              </a:rPr>
              <a:t>Goedemiddag</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17.55 : encore </a:t>
            </a:r>
            <a:r>
              <a:rPr lang="en-US" sz="1800" b="1" dirty="0">
                <a:solidFill>
                  <a:schemeClr val="tx1"/>
                </a:solidFill>
              </a:rPr>
              <a:t>Goedemiddag</a:t>
            </a:r>
            <a:r>
              <a:rPr lang="en-US" sz="1800" dirty="0">
                <a:solidFill>
                  <a:schemeClr val="tx1"/>
                </a:solidFill>
              </a:rPr>
              <a:t> (18 h = Goedenavond).</a:t>
            </a:r>
            <a:endParaRPr lang="en-US" sz="1800" dirty="0"/>
          </a:p>
          <a:p>
            <a:pPr marL="177800" indent="-177800">
              <a:spcAft>
                <a:spcPts val="600"/>
              </a:spcAft>
              <a:buSzPct val="100000"/>
              <a:buChar char="•"/>
            </a:pPr>
            <a:r>
              <a:rPr lang="en-US" sz="1800" i="1" dirty="0">
                <a:solidFill>
                  <a:schemeClr val="tx1"/>
                </a:solidFill>
              </a:rPr>
              <a:t>Hoi</a:t>
            </a:r>
            <a:r>
              <a:rPr lang="en-US" sz="1800" dirty="0">
                <a:solidFill>
                  <a:schemeClr val="tx1"/>
                </a:solidFill>
              </a:rPr>
              <a:t> : seulement entre amis.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bg1"/>
                </a:solidFill>
              </a:rPr>
              <a:t>Tot de volgende keer!</a:t>
            </a:r>
            <a:endParaRPr lang="en-US" sz="3200" dirty="0"/>
          </a:p>
        </p:txBody>
      </p:sp>
      <p:sp>
        <p:nvSpPr>
          <p:cNvPr id="3" name="tag"/>
          <p:cNvSpPr/>
          <p:nvPr/>
        </p:nvSpPr>
        <p:spPr>
          <a:xfrm>
            <a:off x="548640" y="237744"/>
            <a:ext cx="1988820"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FIN DE SÉANCE</a:t>
            </a:r>
            <a:endParaRPr lang="en-US" sz="1200" dirty="0"/>
          </a:p>
        </p:txBody>
      </p:sp>
      <p:sp>
        <p:nvSpPr>
          <p:cNvPr id="4" name="Shape 2"/>
          <p:cNvSpPr/>
          <p:nvPr/>
        </p:nvSpPr>
        <p:spPr>
          <a:xfrm>
            <a:off x="548640" y="1554480"/>
            <a:ext cx="6035040" cy="3108960"/>
          </a:xfrm>
          <a:prstGeom prst="roundRect">
            <a:avLst>
              <a:gd name="adj" fmla="val 2941"/>
            </a:avLst>
          </a:prstGeom>
          <a:solidFill>
            <a:schemeClr val="bg1">
              <a:alpha val="10000"/>
            </a:schemeClr>
          </a:solidFill>
          <a:ln w="12700">
            <a:solidFill>
              <a:srgbClr val="EEF3F8"/>
            </a:solidFill>
            <a:prstDash val="solid"/>
          </a:ln>
        </p:spPr>
      </p:sp>
      <p:sp>
        <p:nvSpPr>
          <p:cNvPr id="5" name="Text 3"/>
          <p:cNvSpPr txBox="1"/>
          <p:nvPr/>
        </p:nvSpPr>
        <p:spPr>
          <a:xfrm>
            <a:off x="822960" y="173736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LA PROCHAINE FOIS</a:t>
            </a:r>
            <a:endParaRPr lang="en-US" sz="1300" dirty="0"/>
          </a:p>
        </p:txBody>
      </p:sp>
      <p:sp>
        <p:nvSpPr>
          <p:cNvPr id="6" name="Text 4"/>
          <p:cNvSpPr txBox="1"/>
          <p:nvPr/>
        </p:nvSpPr>
        <p:spPr>
          <a:xfrm>
            <a:off x="822960" y="2148840"/>
            <a:ext cx="5486400" cy="2377440"/>
          </a:xfrm>
          <a:prstGeom prst="rect">
            <a:avLst/>
          </a:prstGeom>
          <a:noFill/>
          <a:ln/>
        </p:spPr>
        <p:txBody>
          <a:bodyPr wrap="square" lIns="0" tIns="0" rIns="0" bIns="0" rtlCol="0" anchor="t"/>
          <a:lstStyle/>
          <a:p>
            <a:pPr indent="0" marL="0">
              <a:buNone/>
            </a:pPr>
            <a:r>
              <a:rPr lang="en-US" sz="2400" i="1" dirty="0">
                <a:solidFill>
                  <a:schemeClr val="bg1"/>
                </a:solidFill>
                <a:latin typeface="+mj-lt" pitchFamily="34" charset="0"/>
                <a:ea typeface="+mj-lt" pitchFamily="34" charset="-122"/>
                <a:cs typeface="+mj-lt" pitchFamily="34" charset="-120"/>
              </a:rPr>
              <a:t>Séance 2 : saluer </a:t>
            </a:r>
            <a:r>
              <a:rPr lang="en-US" sz="2400" b="1" i="1" dirty="0">
                <a:solidFill>
                  <a:schemeClr val="bg1"/>
                </a:solidFill>
                <a:latin typeface="+mj-lt" pitchFamily="34" charset="0"/>
                <a:ea typeface="+mj-lt" pitchFamily="34" charset="-122"/>
                <a:cs typeface="+mj-lt" pitchFamily="34" charset="-120"/>
              </a:rPr>
              <a:t>plus vite</a:t>
            </a:r>
            <a:r>
              <a:rPr lang="en-US" sz="2400" i="1" dirty="0">
                <a:solidFill>
                  <a:schemeClr val="bg1"/>
                </a:solidFill>
                <a:latin typeface="+mj-lt" pitchFamily="34" charset="0"/>
                <a:ea typeface="+mj-lt" pitchFamily="34" charset="-122"/>
                <a:cs typeface="+mj-lt" pitchFamily="34" charset="-120"/>
              </a:rPr>
              <a:t>, prononcer le </a:t>
            </a:r>
            <a:r>
              <a:rPr lang="en-US" sz="2400" b="1" i="1" dirty="0">
                <a:solidFill>
                  <a:schemeClr val="bg1"/>
                </a:solidFill>
                <a:latin typeface="+mj-lt" pitchFamily="34" charset="0"/>
                <a:ea typeface="+mj-lt" pitchFamily="34" charset="-122"/>
                <a:cs typeface="+mj-lt" pitchFamily="34" charset="-120"/>
              </a:rPr>
              <a:t>g</a:t>
            </a:r>
            <a:r>
              <a:rPr lang="en-US" sz="2400" i="1" dirty="0">
                <a:solidFill>
                  <a:schemeClr val="bg1"/>
                </a:solidFill>
                <a:latin typeface="+mj-lt" pitchFamily="34" charset="0"/>
                <a:ea typeface="+mj-lt" pitchFamily="34" charset="-122"/>
                <a:cs typeface="+mj-lt" pitchFamily="34" charset="-120"/>
              </a:rPr>
              <a:t> et le </a:t>
            </a:r>
            <a:r>
              <a:rPr lang="en-US" sz="2400" b="1" i="1" dirty="0">
                <a:solidFill>
                  <a:schemeClr val="bg1"/>
                </a:solidFill>
                <a:latin typeface="+mj-lt" pitchFamily="34" charset="0"/>
                <a:ea typeface="+mj-lt" pitchFamily="34" charset="-122"/>
                <a:cs typeface="+mj-lt" pitchFamily="34" charset="-120"/>
              </a:rPr>
              <a:t>ch</a:t>
            </a:r>
            <a:r>
              <a:rPr lang="en-US" sz="2400" i="1" dirty="0">
                <a:solidFill>
                  <a:schemeClr val="bg1"/>
                </a:solidFill>
                <a:latin typeface="+mj-lt" pitchFamily="34" charset="0"/>
                <a:ea typeface="+mj-lt" pitchFamily="34" charset="-122"/>
                <a:cs typeface="+mj-lt" pitchFamily="34" charset="-120"/>
              </a:rPr>
              <a:t>, et comprendre pourquoi on dit </a:t>
            </a:r>
            <a:r>
              <a:rPr lang="en-US" sz="2400" i="1" dirty="0">
                <a:solidFill>
                  <a:schemeClr val="bg1"/>
                </a:solidFill>
                <a:latin typeface="+mj-lt" pitchFamily="34" charset="0"/>
                <a:ea typeface="+mj-lt" pitchFamily="34" charset="-122"/>
                <a:cs typeface="+mj-lt" pitchFamily="34" charset="-120"/>
              </a:rPr>
              <a:t>’s Morgens </a:t>
            </a:r>
            <a:r>
              <a:rPr lang="en-US" sz="2400" b="1" i="1" dirty="0">
                <a:solidFill>
                  <a:schemeClr val="bg1"/>
                </a:solidFill>
                <a:latin typeface="+mj-lt" pitchFamily="34" charset="0"/>
                <a:ea typeface="+mj-lt" pitchFamily="34" charset="-122"/>
                <a:cs typeface="+mj-lt" pitchFamily="34" charset="-120"/>
              </a:rPr>
              <a:t>werk ik</a:t>
            </a:r>
            <a:r>
              <a:rPr lang="en-US" sz="2400" i="1" dirty="0">
                <a:solidFill>
                  <a:schemeClr val="bg1"/>
                </a:solidFill>
                <a:latin typeface="+mj-lt" pitchFamily="34" charset="0"/>
                <a:ea typeface="+mj-lt" pitchFamily="34" charset="-122"/>
                <a:cs typeface="+mj-lt" pitchFamily="34" charset="-120"/>
              </a:rPr>
              <a:t>.</a:t>
            </a:r>
            <a:endParaRPr lang="en-US" sz="2400" dirty="0"/>
          </a:p>
        </p:txBody>
      </p:sp>
      <p:sp>
        <p:nvSpPr>
          <p:cNvPr id="7" name="Shape 5"/>
          <p:cNvSpPr/>
          <p:nvPr/>
        </p:nvSpPr>
        <p:spPr>
          <a:xfrm>
            <a:off x="6903720" y="1554480"/>
            <a:ext cx="4736592" cy="4709160"/>
          </a:xfrm>
          <a:prstGeom prst="roundRect">
            <a:avLst>
              <a:gd name="adj" fmla="val 1942"/>
            </a:avLst>
          </a:prstGeom>
          <a:solidFill>
            <a:schemeClr val="bg1"/>
          </a:solidFill>
          <a:ln/>
        </p:spPr>
      </p:sp>
      <p:pic>
        <p:nvPicPr>
          <p:cNvPr id="8" name="Image 0" descr="preencoded.png">    </p:cNvPr>
          <p:cNvPicPr>
            <a:picLocks noChangeAspect="1"/>
          </p:cNvPicPr>
          <p:nvPr/>
        </p:nvPicPr>
        <p:blipFill>
          <a:blip r:embed="rId1"/>
          <a:stretch>
            <a:fillRect/>
          </a:stretch>
        </p:blipFill>
        <p:spPr>
          <a:xfrm>
            <a:off x="7132320" y="1755648"/>
            <a:ext cx="365760" cy="365760"/>
          </a:xfrm>
          <a:prstGeom prst="rect">
            <a:avLst/>
          </a:prstGeom>
        </p:spPr>
      </p:pic>
      <p:sp>
        <p:nvSpPr>
          <p:cNvPr id="9" name="Text 6"/>
          <p:cNvSpPr txBox="1"/>
          <p:nvPr/>
        </p:nvSpPr>
        <p:spPr>
          <a:xfrm>
            <a:off x="7635240" y="1737360"/>
            <a:ext cx="3840480" cy="384048"/>
          </a:xfrm>
          <a:prstGeom prst="rect">
            <a:avLst/>
          </a:prstGeom>
          <a:noFill/>
          <a:ln/>
        </p:spPr>
        <p:txBody>
          <a:bodyPr wrap="square" lIns="0" tIns="0" rIns="0" bIns="0" rtlCol="0" anchor="ctr"/>
          <a:lstStyle/>
          <a:p>
            <a:pPr indent="0" marL="0">
              <a:buNone/>
            </a:pPr>
            <a:r>
              <a:rPr lang="en-US" sz="1400" b="1" spc="100" kern="0" dirty="0">
                <a:solidFill>
                  <a:schemeClr val="tx2"/>
                </a:solidFill>
              </a:rPr>
              <a:t>POUR LA PROCHAINE SÉANCE</a:t>
            </a:r>
            <a:endParaRPr lang="en-US" sz="1400" dirty="0"/>
          </a:p>
        </p:txBody>
      </p:sp>
      <p:sp>
        <p:nvSpPr>
          <p:cNvPr id="10" name="Text 7"/>
          <p:cNvSpPr txBox="1"/>
          <p:nvPr/>
        </p:nvSpPr>
        <p:spPr>
          <a:xfrm>
            <a:off x="7132320" y="2286000"/>
            <a:ext cx="4297680" cy="3840480"/>
          </a:xfrm>
          <a:prstGeom prst="rect">
            <a:avLst/>
          </a:prstGeom>
          <a:noFill/>
          <a:ln/>
        </p:spPr>
        <p:txBody>
          <a:bodyPr wrap="square" lIns="0" tIns="0" rIns="0" bIns="0" rtlCol="0" anchor="t"/>
          <a:lstStyle/>
          <a:p>
            <a:pPr marL="190500" indent="-190500">
              <a:spcAft>
                <a:spcPts val="800"/>
              </a:spcAft>
              <a:buSzPct val="100000"/>
              <a:buChar char="•"/>
            </a:pPr>
            <a:r>
              <a:rPr lang="en-US" sz="1700" dirty="0">
                <a:solidFill>
                  <a:schemeClr val="tx1"/>
                </a:solidFill>
              </a:rPr>
              <a:t>Relire le </a:t>
            </a:r>
            <a:r>
              <a:rPr lang="en-US" sz="1700" b="1" dirty="0">
                <a:solidFill>
                  <a:schemeClr val="tx1"/>
                </a:solidFill>
              </a:rPr>
              <a:t>dialogue</a:t>
            </a:r>
            <a:r>
              <a:rPr lang="en-US" sz="1700" dirty="0">
                <a:solidFill>
                  <a:schemeClr val="tx1"/>
                </a:solidFill>
              </a:rPr>
              <a:t> (p. 3) à voix haute, deux fois.</a:t>
            </a:r>
            <a:endParaRPr lang="en-US" sz="1700" dirty="0"/>
          </a:p>
          <a:p>
            <a:pPr marL="190500" indent="-190500">
              <a:spcAft>
                <a:spcPts val="800"/>
              </a:spcAft>
              <a:buSzPct val="100000"/>
              <a:buChar char="•"/>
            </a:pPr>
            <a:r>
              <a:rPr lang="en-US" sz="1700" dirty="0">
                <a:solidFill>
                  <a:schemeClr val="tx1"/>
                </a:solidFill>
              </a:rPr>
              <a:t>Apprendre le tableau des </a:t>
            </a:r>
            <a:r>
              <a:rPr lang="en-US" sz="1700" b="1" dirty="0">
                <a:solidFill>
                  <a:schemeClr val="tx1"/>
                </a:solidFill>
              </a:rPr>
              <a:t>nuances du temps</a:t>
            </a:r>
            <a:r>
              <a:rPr lang="en-US" sz="1700" dirty="0">
                <a:solidFill>
                  <a:schemeClr val="tx1"/>
                </a:solidFill>
              </a:rPr>
              <a:t> (p. 6).</a:t>
            </a:r>
            <a:endParaRPr lang="en-US" sz="1700" dirty="0"/>
          </a:p>
          <a:p>
            <a:pPr marL="190500" indent="-190500">
              <a:spcAft>
                <a:spcPts val="800"/>
              </a:spcAft>
              <a:buSzPct val="100000"/>
              <a:buChar char="•"/>
            </a:pPr>
            <a:r>
              <a:rPr lang="en-US" sz="1700" dirty="0">
                <a:solidFill>
                  <a:schemeClr val="tx1"/>
                </a:solidFill>
              </a:rPr>
              <a:t>Écrire </a:t>
            </a:r>
            <a:r>
              <a:rPr lang="en-US" sz="1700" b="1" dirty="0">
                <a:solidFill>
                  <a:schemeClr val="tx1"/>
                </a:solidFill>
              </a:rPr>
              <a:t>5 phrases</a:t>
            </a:r>
            <a:r>
              <a:rPr lang="en-US" sz="1700" dirty="0">
                <a:solidFill>
                  <a:schemeClr val="tx1"/>
                </a:solidFill>
              </a:rPr>
              <a:t> vraies avec le zinnenbouwer 1.1 (familles A à D).</a:t>
            </a:r>
            <a:endParaRPr lang="en-US" sz="1700" dirty="0"/>
          </a:p>
        </p:txBody>
      </p:sp>
      <p:sp>
        <p:nvSpPr>
          <p:cNvPr id="11" name="Shape 8"/>
          <p:cNvSpPr/>
          <p:nvPr/>
        </p:nvSpPr>
        <p:spPr>
          <a:xfrm>
            <a:off x="548640" y="4892040"/>
            <a:ext cx="6035040" cy="1371600"/>
          </a:xfrm>
          <a:prstGeom prst="roundRect">
            <a:avLst>
              <a:gd name="adj" fmla="val 6667"/>
            </a:avLst>
          </a:prstGeom>
          <a:solidFill>
            <a:schemeClr val="accent1"/>
          </a:solidFill>
          <a:ln/>
        </p:spPr>
      </p:sp>
      <p:sp>
        <p:nvSpPr>
          <p:cNvPr id="12" name="Text 9"/>
          <p:cNvSpPr txBox="1"/>
          <p:nvPr/>
        </p:nvSpPr>
        <p:spPr>
          <a:xfrm>
            <a:off x="777240" y="4983480"/>
            <a:ext cx="5623560" cy="1188720"/>
          </a:xfrm>
          <a:prstGeom prst="rect">
            <a:avLst/>
          </a:prstGeom>
          <a:noFill/>
          <a:ln/>
        </p:spPr>
        <p:txBody>
          <a:bodyPr wrap="square" lIns="0" tIns="0" rIns="0" bIns="0" rtlCol="0" anchor="ctr"/>
          <a:lstStyle/>
          <a:p>
            <a:pPr indent="0" marL="0">
              <a:buNone/>
            </a:pPr>
            <a:r>
              <a:rPr lang="en-US" sz="1300" b="1" spc="100" kern="0" dirty="0">
                <a:solidFill>
                  <a:schemeClr val="bg1"/>
                </a:solidFill>
              </a:rPr>
              <a:t>TICKET DE SORTIE  </a:t>
            </a:r>
            <a:endParaRPr lang="en-US" sz="1300" dirty="0"/>
          </a:p>
          <a:p>
            <a:pPr indent="0" marL="0">
              <a:buNone/>
            </a:pPr>
            <a:r>
              <a:rPr lang="en-US" sz="1600" dirty="0">
                <a:solidFill>
                  <a:schemeClr val="bg1"/>
                </a:solidFill>
              </a:rPr>
              <a:t>Il est 19 h : saluez votre voisin, puis dites ce que vous faites </a:t>
            </a:r>
            <a:r>
              <a:rPr lang="en-US" sz="1600" b="1" dirty="0">
                <a:solidFill>
                  <a:schemeClr val="bg1"/>
                </a:solidFill>
              </a:rPr>
              <a:t>ce soir</a:t>
            </a:r>
            <a:r>
              <a:rPr lang="en-US" sz="1600" dirty="0">
                <a:solidFill>
                  <a:schemeClr val="bg1"/>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in situatie">
  <a:themeElements>
    <a:clrScheme name="Nederlands in situatie">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in situat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2 (UE2)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01 — Goedemorgen!</dc:title>
  <dc:subject>Néerlandais en situation appliqué à l’enseignement supérieur</dc:subject>
  <dc:creator>A. Jouniaux</dc:creator>
  <cp:lastModifiedBy>A. Jouniaux</cp:lastModifiedBy>
  <cp:revision>1</cp:revision>
  <dcterms:created xsi:type="dcterms:W3CDTF">2026-10-03T20:04:09Z</dcterms:created>
  <dcterms:modified xsi:type="dcterms:W3CDTF">2026-10-03T20:04:09Z</dcterms:modified>
</cp:coreProperties>
</file>