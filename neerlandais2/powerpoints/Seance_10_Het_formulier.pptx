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488b66b-3467-078c-4563-cde0b09eee1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lôture" id="{568d49a1-553b-c02a-1bfd-93a1e4fc45c1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mise en situation : la fiche 5 « Remplir le formulaire » (p. 96). Pour la préparer : la fiche de grammaire A1-03 (deze · dit · die · dat et les possessifs, p. 60) et le vocabulaire Administratie (p. 86). Fil rouge de la séance : « Van wie is deze kaart? » — à qui est cette carte ? On termine par un jeu de rôle au secrétariat, avec l’épellation de son nom.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Ordre du livret : grammaire (p. 60), vocabulaire (p. 86), puis la fiche 5 (p. 96). Le bonus « alphabet » prépare le jeu de rôle (épeler son nom au guichet). Si le temps manque, le bonus Administratie se fait à la maison.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9 (voorzetsels, familie, fiche 9). Interroger un étudiant par phrase, rythme rapide.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de contrôle : naar = mouvement, bij = chez ; inversion après Vanavond (ben ik) ; half zeven = 6 h 30 (la demi-heure AVANT sept heures) ; in + pays ; question indirecte : le verbe « is » à la fin. Accepter « om achttien uur dertig » (style horaire officiel) et « Pardon, mag ik u iets vragen?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A1-03, partie A. Moyen mnémotechnique : les mots en -t (dit, dat) vont avec het (qui finit aussi par -t). Montrer des objets de la classe : deze pen (ici), die deur (là), dit boek, dat raam. « Dit is / Dat is » + nom (même pluriel) = c’est / ce sont : Dit zijn mijn kinderen.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Fiche A1-03, partie B. « jouw » = forme accentuée, « je » = forme courte (comme jij / je, séance 7) : Is dit je tas? — Nee, dat is niet mijn tas, het is jouw tas! « uw » pour u, au singulier comme au pluriel. Attention : « zijn » est aussi le verbe être (hij is, zij zijn) — le contexte décide.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Erreur très fréquente chez les francophones (et à l’oral, « haar » et « zijn » se confondent vite). Faire produire des paires à partir des personnages : Sarah en haar kinderen ; Pieter en zijn stagebegeleider ; Emma en haar boek.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de la fiche 03. On garde la numérotation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: Dit · Die · Deze · mijn · Ons · uw. Coquille du livret : la numérotation saute le n° 4 (1, 2, 3, 5, 6, 7). Typographie du livret : « Is dat ___ auto ? » (espace avant le point d’interrogation, à la française — en néerlandais, pas d’espace).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possessifs + réemploi du vocabulaire Familie (séance 9). Ensuite, à l’oral, montrer une photo (vraie ou imaginaire) : « Dit is mijn zus. Dat is haar man.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: haar · zijn · uw · ons · onze · jullie · hun · jouw (ou je). Phrase 3 : vouvoiement → uw. Phrase 8 : « zijn dat… » = est-ce que ce sont… (dat + zijn au pluriel).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« Wat is dit? » : montrer un numéro, la classe répond avec l’article — puis avec un démonstratif (dit formulier, deze brief). Vocabulaire 09, p. 86.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het-woorden : het formulier, het paspoort, het gemeentehuis (het huis décide), het loket, het dossier, het kopieerapparaat (het apparaat). « stempel » : les deux genres existent (de stempel / het stempel) ; le livret donne de stempel. « het gemeentehuis » = la maison communale (Belgique). « de wachtrij » : de wacht + de rij (la file). La vignette 14 porte l’inscription anglaise « BILL » : en néerlandais, de factuur (au restaurant : de rekening). Faux-ami à signaler : de brief = la lettre (pas « bref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: réemploi du vocabulaire Administratie avec la fiche 03. Faire lire ensuite le texte comme un mini-dialogue (cursist / bediende).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Hebt u… » et « Heeft u… » sont corrects ; « hebt u » est plus courant en Belgique. « Vul dit formulier in » : impératif d’un verbe séparable (invullen) — la particule va à la fin. « post hem » : hem = la lettre (de brief, mot masculin) — pronoms objets, séance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vocabulaire en chœur. Le sommaire de la Section 4 (page d’ouverture) place « Remplir le formulaire » en 04 ; dans le livret, c’est la fiche 5. « invullen » est séparable : ik vul het formulier in · ik heb het formulier ingevuld. « de Nederlandse les » est compréhensible, mais on dit plus naturellement « de les Nederlands » ou « de cursus Nederlands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Jalon 1 : des questions simples, mais trois pièges (quel = wat, ce cours-ci = deze cursus, niet à la fin).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: 1 « Wat is je naam en je voornaam? » (courant à l’oral) ; 2 « Is dat je telefoonnummer? » ; 3 ✗ « Welk is je adres? » → « Quel est… ? » + nom = Wat is…? ; 4 inversion sans -t (volg je), deze car de cursus, niet à la fin de la phrase ; 5 « Van wie is die kaart? » (là). « Van wie… » = à qui… ; réponse : « Van mij.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Jalon 2 : réponses développées. Rappeler omdat (séance 5) et le vocabulaire de la fiche (dat klopt, van mij, invullen).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Variantes : 1 « Ja, dat klopt, dat is mijn nummer… » ; 2 « …de les Nederlands… » (le livret propose « de Nederlandse les ») — verbe à la fin après omdat, « à Bruxelles » = in Brussel ; 3 « nog niet » = pas encore (mijn kaart = nom défini → niet) ; « geen » devant un nom sans article ; 4 « van mij » = à moi ; « de andere » = l’autre ; 5 perfectum (séance 14) : heb … ingevuld (invullen séparable : in-ge-vuld) ; « het hele formulier » = tout le formulaire ; accepter « Ik heb alles goed ingevuld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Omdat : vu à la séance 5 (verbe à la fin). Négation du Jalon 1 : « Volg je deze cursus niet? » — niet après l’objet défini (deze cursus), en fin de phrase. Le perfectum est un aperçu : hebben + participe à la fin, comme une parenthèse (fiche A2-02, séance 14). Faire transformer : « Ik werk in Brussel. Ik volg de cursus. » → « Ik volg de cursus omdat ik in Brussel werk.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 du jeu de rôle (formulaire inventé sur le modèle d’une inscription en promotion sociale). Faire d’abord remplir le formulaire pour soi, en silence (3 min). Mots nouveaux : de geboortedatum (la date de naissance), de nationaliteit, het e-mailadres, het huisnummer, de postcode, de gemeente (la commune). En Belgique : « Ik ben geboren op 12 maart 1990.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Ajout hors syllabus, indispensable pour un formulaire. Faire épeler son nom et le nom de sa rue au voisin, qui écrit sans regarder. Lettres pièges : E (é), G (son guttural), H (ha, aspiré), J (yé), W (wé), Z (zèt), et le digramme IJ (« lange ij ») ≠ Y (« Griekse ij » ou i-grec). Les noms flamands en IJ (Van Dijk) : D-I-J-K se dit « dé – lange ij – ka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de la fiche (Jalon 1) : entre cursisten, au tutoiement (Wat is je adres? Volg je deze cursus niet?). Version secrétariat : vouvoiement. Les observateurs (groupes de trois) cochent les critères. « Waarom volgt u… » : avec u, le -t reste (volgt u), contrairement à « volg je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oral : vérifier l’épellation (E = é, J = yé, W = wé) et « van mij / van hem / van haar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2 · UE2 · Néerlandais en situation · Séance 10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2 · UE2 · Néerlandais en situation · Séance 10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2 · UE2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image" Target="../media/image-12-9.jpg"/><Relationship Id="rId10" Type="http://schemas.openxmlformats.org/officeDocument/2006/relationships/image" Target="../media/image-12-10.jpg"/><Relationship Id="rId11" Type="http://schemas.openxmlformats.org/officeDocument/2006/relationships/image" Target="../media/image-12-11.jpg"/><Relationship Id="rId12" Type="http://schemas.openxmlformats.org/officeDocument/2006/relationships/image" Target="../media/image-12-12.jpg"/><Relationship Id="rId13" Type="http://schemas.openxmlformats.org/officeDocument/2006/relationships/image" Target="../media/image-12-13.jpg"/><Relationship Id="rId14" Type="http://schemas.openxmlformats.org/officeDocument/2006/relationships/image" Target="../media/image-12-14.jpg"/><Relationship Id="rId15" Type="http://schemas.openxmlformats.org/officeDocument/2006/relationships/image" Target="../media/image-12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image" Target="../media/image-13-8.jpg"/><Relationship Id="rId9" Type="http://schemas.openxmlformats.org/officeDocument/2006/relationships/image" Target="../media/image-13-9.jpg"/><Relationship Id="rId10" Type="http://schemas.openxmlformats.org/officeDocument/2006/relationships/image" Target="../media/image-13-10.jpg"/><Relationship Id="rId11" Type="http://schemas.openxmlformats.org/officeDocument/2006/relationships/image" Target="../media/image-13-11.jpg"/><Relationship Id="rId12" Type="http://schemas.openxmlformats.org/officeDocument/2006/relationships/image" Target="../media/image-13-12.jpg"/><Relationship Id="rId13" Type="http://schemas.openxmlformats.org/officeDocument/2006/relationships/image" Target="../media/image-13-13.jpg"/><Relationship Id="rId14" Type="http://schemas.openxmlformats.org/officeDocument/2006/relationships/image" Target="../media/image-13-14.jpg"/><Relationship Id="rId15" Type="http://schemas.openxmlformats.org/officeDocument/2006/relationships/image" Target="../media/image-13-15.jp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10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FICHE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Het formulier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Remplir un formulaire — démonstratifs, possessifs et administration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Section 4 · Mises en situation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60 · 86 · 96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73387"/>
            <a:ext cx="5120640" cy="2911227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60 · 86 · 96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Remplir un </a:t>
            </a:r>
            <a:r>
              <a:rPr lang="en-US" sz="1600" b="1" dirty="0">
                <a:solidFill>
                  <a:schemeClr val="tx1"/>
                </a:solidFill>
              </a:rPr>
              <a:t>formulaire</a:t>
            </a:r>
            <a:r>
              <a:rPr lang="en-US" sz="1600" dirty="0">
                <a:solidFill>
                  <a:schemeClr val="tx1"/>
                </a:solidFill>
              </a:rPr>
              <a:t> et répondre aux questions d’un guichet : nom, adresse, numéro, cours — avec </a:t>
            </a:r>
            <a:r>
              <a:rPr lang="en-US" sz="1600" i="1" dirty="0">
                <a:solidFill>
                  <a:schemeClr val="tx1"/>
                </a:solidFill>
              </a:rPr>
              <a:t>deze · dit · mijn · uw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1"/>
                </a:solidFill>
              </a:rPr>
              <a:t>deze kaart · dit formulier · die · dat</a:t>
            </a:r>
            <a:r>
              <a:rPr lang="en-US" sz="1700" dirty="0">
                <a:solidFill>
                  <a:schemeClr val="tx1"/>
                </a:solidFill>
              </a:rPr>
              <a:t> — </a:t>
            </a:r>
            <a:r>
              <a:rPr lang="en-US" sz="1700" i="1" dirty="0">
                <a:solidFill>
                  <a:schemeClr val="tx1"/>
                </a:solidFill>
              </a:rPr>
              <a:t>mijn · jouw · uw · zijn · haar · ons / onze · jullie · hun</a:t>
            </a:r>
            <a:r>
              <a:rPr lang="en-US" sz="1700" dirty="0">
                <a:solidFill>
                  <a:schemeClr val="tx1"/>
                </a:solidFill>
              </a:rPr>
              <a:t> — </a:t>
            </a:r>
            <a:r>
              <a:rPr lang="en-US" sz="1700" i="1" dirty="0">
                <a:solidFill>
                  <a:schemeClr val="tx1"/>
                </a:solidFill>
              </a:rPr>
              <a:t>Van wie is…? · omdat…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Choisir le démonstratif · accorder le possessif au possesseur · épeler son nom · traduire les jalons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042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042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Échauffement : waar is…?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34772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3477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318004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Deze · dit · die · dat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318004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279120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27912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761488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possessifs · le piège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761488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23469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23469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204972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Oefening + bonus familie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204972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36781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36781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3648456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Administratie (vocabulaire + bonus)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3648456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1216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1216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091940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Fiche 5 : vocabulaire · Jalon 1</a:t>
            </a:r>
            <a:endParaRPr lang="en-US" sz="15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091940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4565142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45651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4535424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Jalon 2 · phrase-clé</a:t>
            </a:r>
            <a:endParaRPr lang="en-US" sz="15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4535424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008626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0086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4978908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formulaire · l’alphabet</a:t>
            </a:r>
            <a:endParaRPr lang="en-US" sz="15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4978908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55" name="Shape 49"/>
          <p:cNvSpPr/>
          <p:nvPr/>
        </p:nvSpPr>
        <p:spPr>
          <a:xfrm>
            <a:off x="6263640" y="5452110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263640" y="545211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57" name="Text 51"/>
          <p:cNvSpPr txBox="1"/>
          <p:nvPr/>
        </p:nvSpPr>
        <p:spPr>
          <a:xfrm>
            <a:off x="6784848" y="5422392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Jeu de rôle au secrétariat</a:t>
            </a:r>
            <a:endParaRPr lang="en-US" sz="1500" dirty="0"/>
          </a:p>
        </p:txBody>
      </p:sp>
      <p:sp>
        <p:nvSpPr>
          <p:cNvPr id="58" name="Text 52"/>
          <p:cNvSpPr txBox="1"/>
          <p:nvPr/>
        </p:nvSpPr>
        <p:spPr>
          <a:xfrm>
            <a:off x="10972800" y="5422392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8'</a:t>
            </a:r>
            <a:endParaRPr lang="en-US" sz="1500" dirty="0"/>
          </a:p>
        </p:txBody>
      </p:sp>
      <p:sp>
        <p:nvSpPr>
          <p:cNvPr id="59" name="Shape 53"/>
          <p:cNvSpPr/>
          <p:nvPr/>
        </p:nvSpPr>
        <p:spPr>
          <a:xfrm>
            <a:off x="6263640" y="589559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54"/>
          <p:cNvSpPr txBox="1"/>
          <p:nvPr/>
        </p:nvSpPr>
        <p:spPr>
          <a:xfrm>
            <a:off x="6263640" y="589559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61" name="Text 55"/>
          <p:cNvSpPr txBox="1"/>
          <p:nvPr/>
        </p:nvSpPr>
        <p:spPr>
          <a:xfrm>
            <a:off x="6784848" y="5865876"/>
            <a:ext cx="41148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Bilan</a:t>
            </a:r>
            <a:endParaRPr lang="en-US" sz="1500" dirty="0"/>
          </a:p>
        </p:txBody>
      </p:sp>
      <p:sp>
        <p:nvSpPr>
          <p:cNvPr id="62" name="Text 56"/>
          <p:cNvSpPr txBox="1"/>
          <p:nvPr/>
        </p:nvSpPr>
        <p:spPr>
          <a:xfrm>
            <a:off x="10972800" y="5865876"/>
            <a:ext cx="667512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waar is…? wanneer?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Oral, toute la classe · 6 min — Traduisez vite : prépositions, famille, chemin.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Je vais à la gare.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Ce soir, je suis chez mes parents.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Le cours commence à 18 h 30.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</p:txBody>
      </p:sp>
      <p:sp>
        <p:nvSpPr>
          <p:cNvPr id="8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Mon grand-père habite en Belgique.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Excusez-moi, puis-je vous poser une question ?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Pouvez-vous me dire où est la bibliothèque ? → </a:t>
            </a:r>
            <a:r>
              <a:rPr lang="en-US" sz="2400" dirty="0">
                <a:solidFill>
                  <a:schemeClr val="accent5"/>
                </a:solidFill>
              </a:rPr>
              <a:t>……………………………………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Échauffement : waar is…? wanneer?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9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Oral, toute la classe · 6 min — Traduisez vite : prépositions, famille, chemin.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Je vais à la gare. → </a:t>
            </a:r>
            <a:r>
              <a:rPr lang="en-US" sz="2400" b="1" dirty="0">
                <a:solidFill>
                  <a:schemeClr val="accent3"/>
                </a:solidFill>
              </a:rPr>
              <a:t>Ik ga naar het station.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Ce soir, je suis chez mes parents. → </a:t>
            </a:r>
            <a:r>
              <a:rPr lang="en-US" sz="2400" b="1" dirty="0">
                <a:solidFill>
                  <a:schemeClr val="accent3"/>
                </a:solidFill>
              </a:rPr>
              <a:t>Vanavond ben ik bij mijn ouders.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Le cours commence à 18 h 30. → </a:t>
            </a:r>
            <a:r>
              <a:rPr lang="en-US" sz="2400" b="1" dirty="0">
                <a:solidFill>
                  <a:schemeClr val="accent3"/>
                </a:solidFill>
              </a:rPr>
              <a:t>De les begint om half zeven.</a:t>
            </a:r>
            <a:endParaRPr lang="en-US" sz="2400" dirty="0"/>
          </a:p>
        </p:txBody>
      </p:sp>
      <p:sp>
        <p:nvSpPr>
          <p:cNvPr id="9" name="exercise"/>
          <p:cNvSpPr txBox="1"/>
          <p:nvPr/>
        </p:nvSpPr>
        <p:spPr>
          <a:xfrm>
            <a:off x="6277356" y="1926336"/>
            <a:ext cx="5362956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Mon grand-père habite en Belgique. → </a:t>
            </a:r>
            <a:r>
              <a:rPr lang="en-US" sz="2400" b="1" dirty="0">
                <a:solidFill>
                  <a:schemeClr val="accent3"/>
                </a:solidFill>
              </a:rPr>
              <a:t>Mijn opa woont in België.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Excusez-moi, puis-je vous poser une question ? → </a:t>
            </a:r>
            <a:r>
              <a:rPr lang="en-US" sz="2400" b="1" dirty="0">
                <a:solidFill>
                  <a:schemeClr val="accent3"/>
                </a:solidFill>
              </a:rPr>
              <a:t>Excuseer, mag ik u iets vragen?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6.  </a:t>
            </a:r>
            <a:r>
              <a:rPr lang="en-US" sz="2400" dirty="0">
                <a:solidFill>
                  <a:schemeClr val="tx1"/>
                </a:solidFill>
              </a:rPr>
              <a:t>Pouvez-vous me dire où est la bibliothèque ? → </a:t>
            </a:r>
            <a:r>
              <a:rPr lang="en-US" sz="2400" b="1" dirty="0">
                <a:solidFill>
                  <a:schemeClr val="accent3"/>
                </a:solidFill>
              </a:rPr>
              <a:t>Kunt u me zeggen waar de bibliotheek is?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Deze · dit · die · dat : ici ou là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démonstratif dépend de </a:t>
            </a:r>
            <a:r>
              <a:rPr lang="en-US" sz="1800" b="1" dirty="0">
                <a:solidFill>
                  <a:schemeClr val="tx1"/>
                </a:solidFill>
              </a:rPr>
              <a:t>deux choses</a:t>
            </a:r>
            <a:r>
              <a:rPr lang="en-US" sz="1800" dirty="0">
                <a:solidFill>
                  <a:schemeClr val="tx1"/>
                </a:solidFill>
              </a:rPr>
              <a:t> : l’</a:t>
            </a:r>
            <a:r>
              <a:rPr lang="en-US" sz="1800" b="1" dirty="0">
                <a:solidFill>
                  <a:schemeClr val="tx1"/>
                </a:solidFill>
              </a:rPr>
              <a:t>article</a:t>
            </a:r>
            <a:r>
              <a:rPr lang="en-US" sz="1800" dirty="0">
                <a:solidFill>
                  <a:schemeClr val="tx1"/>
                </a:solidFill>
              </a:rPr>
              <a:t> du mot (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ou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) et la </a:t>
            </a:r>
            <a:r>
              <a:rPr lang="en-US" sz="1800" b="1" dirty="0">
                <a:solidFill>
                  <a:schemeClr val="tx1"/>
                </a:solidFill>
              </a:rPr>
              <a:t>distance</a:t>
            </a:r>
            <a:r>
              <a:rPr lang="en-US" sz="1800" dirty="0">
                <a:solidFill>
                  <a:schemeClr val="tx1"/>
                </a:solidFill>
              </a:rPr>
              <a:t> (ici ou là).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2567178" cy="3416808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267712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DE · ICI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51176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deze trein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093720"/>
            <a:ext cx="2201418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ce train-ci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pluriel : </a:t>
            </a:r>
            <a:r>
              <a:rPr lang="en-US" sz="2000" i="1" dirty="0">
                <a:solidFill>
                  <a:schemeClr val="tx1"/>
                </a:solidFill>
              </a:rPr>
              <a:t>deze treinen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390138" y="1947672"/>
            <a:ext cx="2567178" cy="3416808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90138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15" name="Shape 12"/>
          <p:cNvSpPr/>
          <p:nvPr/>
        </p:nvSpPr>
        <p:spPr>
          <a:xfrm>
            <a:off x="3390138" y="2267712"/>
            <a:ext cx="2567178" cy="182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73018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DE · LÀ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573018" y="2551176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die auto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3573018" y="3093720"/>
            <a:ext cx="2201418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cette voiture-là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pluriel : </a:t>
            </a:r>
            <a:r>
              <a:rPr lang="en-US" sz="2000" i="1" dirty="0">
                <a:solidFill>
                  <a:schemeClr val="tx1"/>
                </a:solidFill>
              </a:rPr>
              <a:t>die auto’s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231636" y="1947672"/>
            <a:ext cx="2567178" cy="3416808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31636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1" name="Shape 18"/>
          <p:cNvSpPr/>
          <p:nvPr/>
        </p:nvSpPr>
        <p:spPr>
          <a:xfrm>
            <a:off x="6231636" y="2267712"/>
            <a:ext cx="2567178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14516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HET · ICI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14516" y="2551176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dit huis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6414516" y="3093720"/>
            <a:ext cx="2201418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cette maison-ci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pluriel : </a:t>
            </a:r>
            <a:r>
              <a:rPr lang="en-US" sz="2000" i="1" dirty="0">
                <a:solidFill>
                  <a:schemeClr val="tx1"/>
                </a:solidFill>
              </a:rPr>
              <a:t>deze huizen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9073134" y="1947672"/>
            <a:ext cx="2567178" cy="3416808"/>
          </a:xfrm>
          <a:prstGeom prst="roundRect">
            <a:avLst>
              <a:gd name="adj" fmla="val 3562"/>
            </a:avLst>
          </a:prstGeom>
          <a:solidFill>
            <a:schemeClr val="bg1"/>
          </a:solidFill>
          <a:ln w="12700">
            <a:solidFill>
              <a:srgbClr val="D5DCE6"/>
            </a:solidFill>
            <a:prstDash val="solid"/>
          </a:ln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73134" y="1947672"/>
            <a:ext cx="2567178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</p:sp>
      <p:sp>
        <p:nvSpPr>
          <p:cNvPr id="27" name="Shape 24"/>
          <p:cNvSpPr/>
          <p:nvPr/>
        </p:nvSpPr>
        <p:spPr>
          <a:xfrm>
            <a:off x="9073134" y="2267712"/>
            <a:ext cx="2567178" cy="182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256014" y="1947672"/>
            <a:ext cx="22014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chemeClr val="bg1"/>
                </a:solidFill>
              </a:rPr>
              <a:t>HET · LÀ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9256014" y="2551176"/>
            <a:ext cx="2201418" cy="40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 museum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9256014" y="3093720"/>
            <a:ext cx="2201418" cy="2161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ce musée-là</a:t>
            </a:r>
            <a:endParaRPr lang="en-US" sz="2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pluriel : </a:t>
            </a:r>
            <a:r>
              <a:rPr lang="en-US" sz="2000" i="1" dirty="0">
                <a:solidFill>
                  <a:schemeClr val="tx1"/>
                </a:solidFill>
              </a:rPr>
              <a:t>die musea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600" dirty="0">
                <a:solidFill>
                  <a:schemeClr val="tx1"/>
                </a:solidFill>
              </a:rPr>
              <a:t>Le français choisit </a:t>
            </a:r>
            <a:r>
              <a:rPr lang="en-US" sz="1600" i="1" dirty="0">
                <a:solidFill>
                  <a:schemeClr val="tx1"/>
                </a:solidFill>
              </a:rPr>
              <a:t>ce / cette</a:t>
            </a:r>
            <a:r>
              <a:rPr lang="en-US" sz="1600" dirty="0">
                <a:solidFill>
                  <a:schemeClr val="tx1"/>
                </a:solidFill>
              </a:rPr>
              <a:t> selon le genre ; le néerlandais regarde </a:t>
            </a:r>
            <a:r>
              <a:rPr lang="en-US" sz="1600" b="1" dirty="0">
                <a:solidFill>
                  <a:schemeClr val="tx1"/>
                </a:solidFill>
              </a:rPr>
              <a:t>de / het</a:t>
            </a:r>
            <a:r>
              <a:rPr lang="en-US" sz="1600" dirty="0">
                <a:solidFill>
                  <a:schemeClr val="tx1"/>
                </a:solidFill>
              </a:rPr>
              <a:t> : </a:t>
            </a:r>
            <a:r>
              <a:rPr lang="en-US" sz="1600" i="1" dirty="0">
                <a:solidFill>
                  <a:schemeClr val="tx1"/>
                </a:solidFill>
              </a:rPr>
              <a:t>cette maison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b="1" dirty="0">
                <a:solidFill>
                  <a:schemeClr val="tx1"/>
                </a:solidFill>
              </a:rPr>
              <a:t>dit</a:t>
            </a:r>
            <a:r>
              <a:rPr lang="en-US" sz="1600" dirty="0">
                <a:solidFill>
                  <a:schemeClr val="tx1"/>
                </a:solidFill>
              </a:rPr>
              <a:t> huis, </a:t>
            </a:r>
            <a:r>
              <a:rPr lang="en-US" sz="1600" i="1" dirty="0">
                <a:solidFill>
                  <a:schemeClr val="tx1"/>
                </a:solidFill>
              </a:rPr>
              <a:t>ce train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b="1" dirty="0">
                <a:solidFill>
                  <a:schemeClr val="tx1"/>
                </a:solidFill>
              </a:rPr>
              <a:t>deze</a:t>
            </a:r>
            <a:r>
              <a:rPr lang="en-US" sz="1600" dirty="0">
                <a:solidFill>
                  <a:schemeClr val="tx1"/>
                </a:solidFill>
              </a:rPr>
              <a:t> trein. Au pluriel : </a:t>
            </a:r>
            <a:r>
              <a:rPr lang="en-US" sz="1600" b="1" dirty="0">
                <a:solidFill>
                  <a:schemeClr val="tx1"/>
                </a:solidFill>
              </a:rPr>
              <a:t>toujours deze / die</a:t>
            </a:r>
            <a:r>
              <a:rPr lang="en-US" sz="1600" dirty="0">
                <a:solidFill>
                  <a:schemeClr val="tx1"/>
                </a:solidFill>
              </a:rPr>
              <a:t>. Et </a:t>
            </a:r>
            <a:r>
              <a:rPr lang="en-US" sz="1600" i="1" dirty="0">
                <a:solidFill>
                  <a:schemeClr val="tx1"/>
                </a:solidFill>
              </a:rPr>
              <a:t>c’est ma mère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b="1" dirty="0">
                <a:solidFill>
                  <a:schemeClr val="tx1"/>
                </a:solidFill>
              </a:rPr>
              <a:t>Dat</a:t>
            </a:r>
            <a:r>
              <a:rPr lang="en-US" sz="1600" dirty="0">
                <a:solidFill>
                  <a:schemeClr val="tx1"/>
                </a:solidFill>
              </a:rPr>
              <a:t> is mijn moeder.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Les possessifs : mijn, jouw, zijn, haar…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60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00400"/>
                <a:gridCol w="3136392"/>
              </a:tblGrid>
              <a:tr h="5632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PERSONNE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POSSESSIF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EXEMPLE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ik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mijn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mijn fiets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mon vélo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jij · je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jouw · je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jouw tas · je tas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ton sac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u (formel)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uw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uw adres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votre adresse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hij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zijn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zijn zus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sa sœur (à lui)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zij · ze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haar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haar broer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son frère (à elle)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wij · we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ons (</a:t>
                      </a:r>
                      <a:r>
                        <a:rPr lang="en-US" sz="19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) · onze (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ons huis · onze school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notre maison · notre école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jullie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jullie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jullie klas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votre classe (à vous tous)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645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zij · ze (plur.)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chemeClr val="tx1"/>
                          </a:solidFill>
                        </a:rPr>
                        <a:t>hun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hun kinderen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leurs enfants</a:t>
                      </a:r>
                      <a:endParaRPr lang="en-US" sz="19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accent5"/>
                </a:solidFill>
              </a:rPr>
              <a:t>ons</a:t>
            </a:r>
            <a:r>
              <a:rPr lang="en-US" sz="1500" i="1" dirty="0">
                <a:solidFill>
                  <a:schemeClr val="accent5"/>
                </a:solidFill>
              </a:rPr>
              <a:t> seulement devant un mot en </a:t>
            </a:r>
            <a:r>
              <a:rPr lang="en-US" sz="1500" b="1" i="1" dirty="0">
                <a:solidFill>
                  <a:schemeClr val="accent4"/>
                </a:solidFill>
              </a:rPr>
              <a:t>het</a:t>
            </a:r>
            <a:r>
              <a:rPr lang="en-US" sz="1500" i="1" dirty="0">
                <a:solidFill>
                  <a:schemeClr val="accent5"/>
                </a:solidFill>
              </a:rPr>
              <a:t> au singulier (</a:t>
            </a:r>
            <a:r>
              <a:rPr lang="en-US" sz="1500" i="1" dirty="0">
                <a:solidFill>
                  <a:schemeClr val="accent5"/>
                </a:solidFill>
              </a:rPr>
              <a:t>ons huis</a:t>
            </a:r>
            <a:r>
              <a:rPr lang="en-US" sz="1500" i="1" dirty="0">
                <a:solidFill>
                  <a:schemeClr val="accent5"/>
                </a:solidFill>
              </a:rPr>
              <a:t>) ; partout ailleurs </a:t>
            </a:r>
            <a:r>
              <a:rPr lang="en-US" sz="1500" b="1" i="1" dirty="0">
                <a:solidFill>
                  <a:schemeClr val="accent5"/>
                </a:solidFill>
              </a:rPr>
              <a:t>onze</a:t>
            </a:r>
            <a:r>
              <a:rPr lang="en-US" sz="1500" i="1" dirty="0">
                <a:solidFill>
                  <a:schemeClr val="accent5"/>
                </a:solidFill>
              </a:rPr>
              <a:t> (</a:t>
            </a:r>
            <a:r>
              <a:rPr lang="en-US" sz="1500" i="1" dirty="0">
                <a:solidFill>
                  <a:schemeClr val="accent5"/>
                </a:solidFill>
              </a:rPr>
              <a:t>onze school, onze kinderen</a:t>
            </a:r>
            <a:r>
              <a:rPr lang="en-US" sz="1500" i="1" dirty="0">
                <a:solidFill>
                  <a:schemeClr val="accent5"/>
                </a:solidFill>
              </a:rPr>
              <a:t>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Piège : son, sa, ses = zijn ou haar ?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074420" cy="310896"/>
          </a:xfrm>
          <a:prstGeom prst="roundRect">
            <a:avLst>
              <a:gd name="adj" fmla="val 14706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PIÈGE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 français, le possessif s’accorde avec l’</a:t>
            </a:r>
            <a:r>
              <a:rPr lang="en-US" sz="1800" b="1" dirty="0">
                <a:solidFill>
                  <a:schemeClr val="tx1"/>
                </a:solidFill>
              </a:rPr>
              <a:t>objet</a:t>
            </a:r>
            <a:r>
              <a:rPr lang="en-US" sz="1800" dirty="0">
                <a:solidFill>
                  <a:schemeClr val="tx1"/>
                </a:solidFill>
              </a:rPr>
              <a:t>. En néerlandais, il dépend du </a:t>
            </a:r>
            <a:r>
              <a:rPr lang="en-US" sz="1800" b="1" dirty="0">
                <a:solidFill>
                  <a:schemeClr val="tx1"/>
                </a:solidFill>
              </a:rPr>
              <a:t>possesseur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47672"/>
            <a:ext cx="5225796" cy="3456432"/>
          </a:xfrm>
          <a:prstGeom prst="roundRect">
            <a:avLst>
              <a:gd name="adj" fmla="val 2646"/>
            </a:avLst>
          </a:prstGeom>
          <a:solidFill>
            <a:schemeClr val="accent6">
              <a:alpha val="8000"/>
            </a:schemeClr>
          </a:solidFill>
          <a:ln w="15875">
            <a:solidFill>
              <a:schemeClr val="accent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Français : l’objet décide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770632"/>
            <a:ext cx="4768596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b="1" i="1" dirty="0">
                <a:solidFill>
                  <a:schemeClr val="tx1"/>
                </a:solidFill>
              </a:rPr>
              <a:t>son</a:t>
            </a:r>
            <a:r>
              <a:rPr lang="en-US" sz="2000" i="1" dirty="0">
                <a:solidFill>
                  <a:schemeClr val="tx1"/>
                </a:solidFill>
              </a:rPr>
              <a:t> frère</a:t>
            </a:r>
            <a:r>
              <a:rPr lang="en-US" sz="2000" dirty="0">
                <a:solidFill>
                  <a:schemeClr val="tx1"/>
                </a:solidFill>
              </a:rPr>
              <a:t> · </a:t>
            </a:r>
            <a:r>
              <a:rPr lang="en-US" sz="2000" b="1" i="1" dirty="0">
                <a:solidFill>
                  <a:schemeClr val="tx1"/>
                </a:solidFill>
              </a:rPr>
              <a:t>sa</a:t>
            </a:r>
            <a:r>
              <a:rPr lang="en-US" sz="2000" i="1" dirty="0">
                <a:solidFill>
                  <a:schemeClr val="tx1"/>
                </a:solidFill>
              </a:rPr>
              <a:t> sœur</a:t>
            </a:r>
            <a:r>
              <a:rPr lang="en-US" sz="2000" dirty="0">
                <a:solidFill>
                  <a:schemeClr val="tx1"/>
                </a:solidFill>
              </a:rPr>
              <a:t> — mais à qui ? à lui ou à elle ?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Emma et </a:t>
            </a:r>
            <a:r>
              <a:rPr lang="en-US" sz="2000" b="1" i="1" dirty="0">
                <a:solidFill>
                  <a:schemeClr val="tx1"/>
                </a:solidFill>
              </a:rPr>
              <a:t>son</a:t>
            </a:r>
            <a:r>
              <a:rPr lang="en-US" sz="2000" i="1" dirty="0">
                <a:solidFill>
                  <a:schemeClr val="tx1"/>
                </a:solidFill>
              </a:rPr>
              <a:t> frère</a:t>
            </a:r>
            <a:r>
              <a:rPr lang="en-US" sz="2000" dirty="0">
                <a:solidFill>
                  <a:schemeClr val="tx1"/>
                </a:solidFill>
              </a:rPr>
              <a:t> (le frère d’Emma)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Pieter et </a:t>
            </a:r>
            <a:r>
              <a:rPr lang="en-US" sz="2000" b="1" i="1" dirty="0">
                <a:solidFill>
                  <a:schemeClr val="tx1"/>
                </a:solidFill>
              </a:rPr>
              <a:t>sa</a:t>
            </a:r>
            <a:r>
              <a:rPr lang="en-US" sz="2000" i="1" dirty="0">
                <a:solidFill>
                  <a:schemeClr val="tx1"/>
                </a:solidFill>
              </a:rPr>
              <a:t> sœur</a:t>
            </a:r>
            <a:r>
              <a:rPr lang="en-US" sz="2000" dirty="0">
                <a:solidFill>
                  <a:schemeClr val="tx1"/>
                </a:solidFill>
              </a:rPr>
              <a:t> (la sœur de Pieter)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14516" y="1947672"/>
            <a:ext cx="5225796" cy="3456432"/>
          </a:xfrm>
          <a:prstGeom prst="roundRect">
            <a:avLst>
              <a:gd name="adj" fmla="val 2646"/>
            </a:avLst>
          </a:prstGeom>
          <a:solidFill>
            <a:schemeClr val="accent3">
              <a:alpha val="8000"/>
            </a:schemeClr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1488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08483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Nederlands : le possesseur décide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2770632"/>
            <a:ext cx="4768596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à lui → </a:t>
            </a:r>
            <a:r>
              <a:rPr lang="en-US" sz="2000" b="1" dirty="0">
                <a:solidFill>
                  <a:schemeClr val="tx1"/>
                </a:solidFill>
              </a:rPr>
              <a:t>zijn</a:t>
            </a:r>
            <a:r>
              <a:rPr lang="en-US" sz="2000" dirty="0">
                <a:solidFill>
                  <a:schemeClr val="tx1"/>
                </a:solidFill>
              </a:rPr>
              <a:t> · à elle → </a:t>
            </a:r>
            <a:r>
              <a:rPr lang="en-US" sz="2000" b="1" dirty="0">
                <a:solidFill>
                  <a:schemeClr val="tx1"/>
                </a:solidFill>
              </a:rPr>
              <a:t>haar</a:t>
            </a:r>
            <a:r>
              <a:rPr lang="en-US" sz="2000" dirty="0">
                <a:solidFill>
                  <a:schemeClr val="tx1"/>
                </a:solidFill>
              </a:rPr>
              <a:t> · à eux → </a:t>
            </a:r>
            <a:r>
              <a:rPr lang="en-US" sz="2000" b="1" dirty="0">
                <a:solidFill>
                  <a:schemeClr val="tx1"/>
                </a:solidFill>
              </a:rPr>
              <a:t>hun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Emma en </a:t>
            </a:r>
            <a:r>
              <a:rPr lang="en-US" sz="2000" b="1" i="1" dirty="0">
                <a:solidFill>
                  <a:schemeClr val="tx1"/>
                </a:solidFill>
              </a:rPr>
              <a:t>haar</a:t>
            </a:r>
            <a:r>
              <a:rPr lang="en-US" sz="2000" i="1" dirty="0">
                <a:solidFill>
                  <a:schemeClr val="tx1"/>
                </a:solidFill>
              </a:rPr>
              <a:t> broer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Pieter en </a:t>
            </a:r>
            <a:r>
              <a:rPr lang="en-US" sz="2000" b="1" i="1" dirty="0">
                <a:solidFill>
                  <a:schemeClr val="tx1"/>
                </a:solidFill>
              </a:rPr>
              <a:t>zijn</a:t>
            </a:r>
            <a:r>
              <a:rPr lang="en-US" sz="2000" i="1" dirty="0">
                <a:solidFill>
                  <a:schemeClr val="tx1"/>
                </a:solidFill>
              </a:rPr>
              <a:t> zus</a:t>
            </a:r>
            <a:endParaRPr lang="en-US" sz="20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000" i="1" dirty="0">
                <a:solidFill>
                  <a:schemeClr val="tx1"/>
                </a:solidFill>
              </a:rPr>
              <a:t>de ouders en </a:t>
            </a:r>
            <a:r>
              <a:rPr lang="en-US" sz="2000" b="1" i="1" dirty="0">
                <a:solidFill>
                  <a:schemeClr val="tx1"/>
                </a:solidFill>
              </a:rPr>
              <a:t>hun</a:t>
            </a:r>
            <a:r>
              <a:rPr lang="en-US" sz="2000" i="1" dirty="0">
                <a:solidFill>
                  <a:schemeClr val="tx1"/>
                </a:solidFill>
              </a:rPr>
              <a:t> kinderen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5838444" y="3419856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34198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≠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Emma zoekt </a:t>
            </a:r>
            <a:r>
              <a:rPr lang="en-US" sz="1700" b="1" i="1" dirty="0">
                <a:solidFill>
                  <a:schemeClr val="tx1"/>
                </a:solidFill>
              </a:rPr>
              <a:t>zijn</a:t>
            </a:r>
            <a:r>
              <a:rPr lang="en-US" sz="1700" i="1" dirty="0">
                <a:solidFill>
                  <a:schemeClr val="tx1"/>
                </a:solidFill>
              </a:rPr>
              <a:t> tas</a:t>
            </a:r>
            <a:r>
              <a:rPr lang="en-US" sz="1700" dirty="0">
                <a:solidFill>
                  <a:schemeClr val="tx1"/>
                </a:solidFill>
              </a:rPr>
              <a:t> = Emma cherche le sac </a:t>
            </a:r>
            <a:r>
              <a:rPr lang="en-US" sz="1700" b="1" dirty="0">
                <a:solidFill>
                  <a:schemeClr val="tx1"/>
                </a:solidFill>
              </a:rPr>
              <a:t>de Pieter</a:t>
            </a:r>
            <a:r>
              <a:rPr lang="en-US" sz="1700" dirty="0">
                <a:solidFill>
                  <a:schemeClr val="tx1"/>
                </a:solidFill>
              </a:rPr>
              <a:t> ! Son propre sac : </a:t>
            </a:r>
            <a:r>
              <a:rPr lang="en-US" sz="1700" i="1" dirty="0">
                <a:solidFill>
                  <a:schemeClr val="tx1"/>
                </a:solidFill>
              </a:rPr>
              <a:t>Emma zoekt </a:t>
            </a:r>
            <a:r>
              <a:rPr lang="en-US" sz="1700" b="1" i="1" dirty="0">
                <a:solidFill>
                  <a:schemeClr val="tx1"/>
                </a:solidFill>
              </a:rPr>
              <a:t>haar</a:t>
            </a:r>
            <a:r>
              <a:rPr lang="en-US" sz="1700" i="1" dirty="0">
                <a:solidFill>
                  <a:schemeClr val="tx1"/>
                </a:solidFill>
              </a:rPr>
              <a:t> tas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complétez (fiche 03)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Démonstratif (ici / là) ou possessif (personne entre parenthèses).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1.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boek (ici) is interessant.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2.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man (là) is mijn buurman.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3.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stoelen (ici) zijn vrij.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5.</a:t>
            </a:r>
            <a:r>
              <a:rPr lang="en-US" sz="2400" dirty="0">
                <a:solidFill>
                  <a:schemeClr val="tx1"/>
                </a:solidFill>
              </a:rPr>
              <a:t>  Dat is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moeder. (ik)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6.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kind is ziek. (wij)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7.</a:t>
            </a:r>
            <a:r>
              <a:rPr lang="en-US" sz="2400" dirty="0">
                <a:solidFill>
                  <a:schemeClr val="tx1"/>
                </a:solidFill>
              </a:rPr>
              <a:t>  Is dat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auto? (u)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RAPPEL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boek ·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man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stoelen (pluriel)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kind ·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auto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ici : </a:t>
            </a:r>
            <a:r>
              <a:rPr lang="en-US" sz="1800" b="1" dirty="0">
                <a:solidFill>
                  <a:schemeClr val="tx1"/>
                </a:solidFill>
              </a:rPr>
              <a:t>deze / dit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là : </a:t>
            </a:r>
            <a:r>
              <a:rPr lang="en-US" sz="1800" b="1" dirty="0">
                <a:solidFill>
                  <a:schemeClr val="tx1"/>
                </a:solidFill>
              </a:rPr>
              <a:t>die / dat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Oefening : complétez (fiche 03)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1671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60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Seul · 5 min — Démonstratif (ici / là) ou possessif (personne entre parenthèses).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1.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>
                <a:solidFill>
                  <a:schemeClr val="accent3"/>
                </a:solidFill>
              </a:rPr>
              <a:t>Dit</a:t>
            </a:r>
            <a:r>
              <a:rPr lang="en-US" sz="2400" dirty="0">
                <a:solidFill>
                  <a:schemeClr val="tx1"/>
                </a:solidFill>
              </a:rPr>
              <a:t> boek (ici) is interessant.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2.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>
                <a:solidFill>
                  <a:schemeClr val="accent3"/>
                </a:solidFill>
              </a:rPr>
              <a:t>Die</a:t>
            </a:r>
            <a:r>
              <a:rPr lang="en-US" sz="2400" dirty="0">
                <a:solidFill>
                  <a:schemeClr val="tx1"/>
                </a:solidFill>
              </a:rPr>
              <a:t> man (là) is mijn buurman.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3.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>
                <a:solidFill>
                  <a:schemeClr val="accent3"/>
                </a:solidFill>
              </a:rPr>
              <a:t>Deze</a:t>
            </a:r>
            <a:r>
              <a:rPr lang="en-US" sz="2400" dirty="0">
                <a:solidFill>
                  <a:schemeClr val="tx1"/>
                </a:solidFill>
              </a:rPr>
              <a:t> stoelen (ici) zijn vrij.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5.</a:t>
            </a:r>
            <a:r>
              <a:rPr lang="en-US" sz="2400" dirty="0">
                <a:solidFill>
                  <a:schemeClr val="tx1"/>
                </a:solidFill>
              </a:rPr>
              <a:t>  Dat is </a:t>
            </a:r>
            <a:r>
              <a:rPr lang="en-US" sz="2400" b="1" dirty="0">
                <a:solidFill>
                  <a:schemeClr val="accent3"/>
                </a:solidFill>
              </a:rPr>
              <a:t>mijn</a:t>
            </a:r>
            <a:r>
              <a:rPr lang="en-US" sz="2400" dirty="0">
                <a:solidFill>
                  <a:schemeClr val="tx1"/>
                </a:solidFill>
              </a:rPr>
              <a:t> moeder. (ik)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6.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b="1" dirty="0">
                <a:solidFill>
                  <a:schemeClr val="accent3"/>
                </a:solidFill>
              </a:rPr>
              <a:t>Ons</a:t>
            </a:r>
            <a:r>
              <a:rPr lang="en-US" sz="2400" dirty="0">
                <a:solidFill>
                  <a:schemeClr val="tx1"/>
                </a:solidFill>
              </a:rPr>
              <a:t> kind is ziek. (wij)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7.</a:t>
            </a:r>
            <a:r>
              <a:rPr lang="en-US" sz="2400" dirty="0">
                <a:solidFill>
                  <a:schemeClr val="tx1"/>
                </a:solidFill>
              </a:rPr>
              <a:t>  Is dat </a:t>
            </a:r>
            <a:r>
              <a:rPr lang="en-US" sz="2400" b="1" dirty="0">
                <a:solidFill>
                  <a:schemeClr val="accent3"/>
                </a:solidFill>
              </a:rPr>
              <a:t>uw</a:t>
            </a:r>
            <a:r>
              <a:rPr lang="en-US" sz="2400" dirty="0">
                <a:solidFill>
                  <a:schemeClr val="tx1"/>
                </a:solidFill>
              </a:rPr>
              <a:t> auto? (u)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 : pluriel → </a:t>
            </a:r>
            <a:r>
              <a:rPr lang="en-US" sz="1800" b="1" dirty="0">
                <a:solidFill>
                  <a:schemeClr val="tx1"/>
                </a:solidFill>
              </a:rPr>
              <a:t>deze</a:t>
            </a:r>
            <a:r>
              <a:rPr lang="en-US" sz="1800" dirty="0">
                <a:solidFill>
                  <a:schemeClr val="tx1"/>
                </a:solidFill>
              </a:rPr>
              <a:t> (jamais </a:t>
            </a:r>
            <a:r>
              <a:rPr lang="en-US" sz="1800" i="1" dirty="0">
                <a:solidFill>
                  <a:schemeClr val="tx1"/>
                </a:solidFill>
              </a:rPr>
              <a:t>dit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6 :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kind → </a:t>
            </a:r>
            <a:r>
              <a:rPr lang="en-US" sz="1800" b="1" dirty="0">
                <a:solidFill>
                  <a:schemeClr val="tx1"/>
                </a:solidFill>
              </a:rPr>
              <a:t>ons</a:t>
            </a:r>
            <a:r>
              <a:rPr lang="en-US" sz="1800" dirty="0">
                <a:solidFill>
                  <a:schemeClr val="tx1"/>
                </a:solidFill>
              </a:rPr>
              <a:t> (pas </a:t>
            </a:r>
            <a:r>
              <a:rPr lang="en-US" sz="1800" i="1" dirty="0">
                <a:solidFill>
                  <a:schemeClr val="tx1"/>
                </a:solidFill>
              </a:rPr>
              <a:t>onze</a:t>
            </a:r>
            <a:r>
              <a:rPr lang="en-US" sz="1800" dirty="0">
                <a:solidFill>
                  <a:schemeClr val="tx1"/>
                </a:solidFill>
              </a:rPr>
              <a:t>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7 : u → </a:t>
            </a:r>
            <a:r>
              <a:rPr lang="en-US" sz="1800" b="1" dirty="0">
                <a:solidFill>
                  <a:schemeClr val="tx1"/>
                </a:solidFill>
              </a:rPr>
              <a:t>uw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Pas de n° 4 dans le livret.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familie van Emma en Pieter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</a:t>
            </a:r>
            <a:r>
              <a:rPr lang="en-US" sz="1600" b="1" i="1" dirty="0">
                <a:solidFill>
                  <a:schemeClr val="accent5"/>
                </a:solidFill>
              </a:rPr>
              <a:t>mijn · jouw · uw · zijn · haar · ons · onze · jullie · hun</a:t>
            </a:r>
            <a:r>
              <a:rPr lang="en-US" sz="1600" i="1" dirty="0">
                <a:solidFill>
                  <a:schemeClr val="accent5"/>
                </a:solidFill>
              </a:rPr>
              <a:t> (vocabulaire Familie, p. 79).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Emma heeft een broer: dat is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broer.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Pieter heeft een zus: dat is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zus.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Meneer Janssens, is dit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dochter?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Wij hebben een huis: dat is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huis.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Wij hebben een baby: dat is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baby.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Jullie hebben een opa: is dat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opa?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Mijn ouders hebben een auto: dat is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auto.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8.  </a:t>
            </a:r>
            <a:r>
              <a:rPr lang="en-US" sz="2300" dirty="0">
                <a:solidFill>
                  <a:schemeClr val="tx1"/>
                </a:solidFill>
              </a:rPr>
              <a:t>Sarah, zijn dat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kinderen?</a:t>
            </a:r>
            <a:endParaRPr lang="en-US" sz="23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Qui </a:t>
            </a:r>
            <a:r>
              <a:rPr lang="en-US" sz="1800" b="1" dirty="0">
                <a:solidFill>
                  <a:schemeClr val="tx1"/>
                </a:solidFill>
              </a:rPr>
              <a:t>possède</a:t>
            </a:r>
            <a:r>
              <a:rPr lang="en-US" sz="1800" dirty="0">
                <a:solidFill>
                  <a:schemeClr val="tx1"/>
                </a:solidFill>
              </a:rPr>
              <a:t> 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-woord singulier → </a:t>
            </a:r>
            <a:r>
              <a:rPr lang="en-US" sz="1800" b="1" dirty="0">
                <a:solidFill>
                  <a:schemeClr val="tx1"/>
                </a:solidFill>
              </a:rPr>
              <a:t>ons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Seul · 4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familie van Emma en Pieter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</a:t>
            </a:r>
            <a:r>
              <a:rPr lang="en-US" sz="1600" b="1" i="1" dirty="0">
                <a:solidFill>
                  <a:schemeClr val="accent5"/>
                </a:solidFill>
              </a:rPr>
              <a:t>mijn · jouw · uw · zijn · haar · ons · onze · jullie · hun</a:t>
            </a:r>
            <a:r>
              <a:rPr lang="en-US" sz="1600" i="1" dirty="0">
                <a:solidFill>
                  <a:schemeClr val="accent5"/>
                </a:solidFill>
              </a:rPr>
              <a:t> (vocabulaire Familie, p. 79).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Emma heeft een broer: dat is </a:t>
            </a:r>
            <a:r>
              <a:rPr lang="en-US" sz="2300" b="1" dirty="0">
                <a:solidFill>
                  <a:schemeClr val="accent3"/>
                </a:solidFill>
              </a:rPr>
              <a:t>haar</a:t>
            </a:r>
            <a:r>
              <a:rPr lang="en-US" sz="2300" dirty="0">
                <a:solidFill>
                  <a:schemeClr val="tx1"/>
                </a:solidFill>
              </a:rPr>
              <a:t> broer.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Pieter heeft een zus: dat is </a:t>
            </a:r>
            <a:r>
              <a:rPr lang="en-US" sz="2300" b="1" dirty="0">
                <a:solidFill>
                  <a:schemeClr val="accent3"/>
                </a:solidFill>
              </a:rPr>
              <a:t>zijn</a:t>
            </a:r>
            <a:r>
              <a:rPr lang="en-US" sz="2300" dirty="0">
                <a:solidFill>
                  <a:schemeClr val="tx1"/>
                </a:solidFill>
              </a:rPr>
              <a:t> zus.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Meneer Janssens, is dit </a:t>
            </a:r>
            <a:r>
              <a:rPr lang="en-US" sz="2300" b="1" dirty="0">
                <a:solidFill>
                  <a:schemeClr val="accent3"/>
                </a:solidFill>
              </a:rPr>
              <a:t>uw</a:t>
            </a:r>
            <a:r>
              <a:rPr lang="en-US" sz="2300" dirty="0">
                <a:solidFill>
                  <a:schemeClr val="tx1"/>
                </a:solidFill>
              </a:rPr>
              <a:t> dochter?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Wij hebben een huis: dat is </a:t>
            </a:r>
            <a:r>
              <a:rPr lang="en-US" sz="2300" b="1" dirty="0">
                <a:solidFill>
                  <a:schemeClr val="accent3"/>
                </a:solidFill>
              </a:rPr>
              <a:t>ons</a:t>
            </a:r>
            <a:r>
              <a:rPr lang="en-US" sz="2300" dirty="0">
                <a:solidFill>
                  <a:schemeClr val="tx1"/>
                </a:solidFill>
              </a:rPr>
              <a:t> huis.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Wij hebben een baby: dat is </a:t>
            </a:r>
            <a:r>
              <a:rPr lang="en-US" sz="2300" b="1" dirty="0">
                <a:solidFill>
                  <a:schemeClr val="accent3"/>
                </a:solidFill>
              </a:rPr>
              <a:t>onze</a:t>
            </a:r>
            <a:r>
              <a:rPr lang="en-US" sz="2300" dirty="0">
                <a:solidFill>
                  <a:schemeClr val="tx1"/>
                </a:solidFill>
              </a:rPr>
              <a:t> baby.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Jullie hebben een opa: is dat </a:t>
            </a:r>
            <a:r>
              <a:rPr lang="en-US" sz="2300" b="1" dirty="0">
                <a:solidFill>
                  <a:schemeClr val="accent3"/>
                </a:solidFill>
              </a:rPr>
              <a:t>jullie</a:t>
            </a:r>
            <a:r>
              <a:rPr lang="en-US" sz="2300" dirty="0">
                <a:solidFill>
                  <a:schemeClr val="tx1"/>
                </a:solidFill>
              </a:rPr>
              <a:t> opa?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Mijn ouders hebben een auto: dat is </a:t>
            </a:r>
            <a:r>
              <a:rPr lang="en-US" sz="2300" b="1" dirty="0">
                <a:solidFill>
                  <a:schemeClr val="accent3"/>
                </a:solidFill>
              </a:rPr>
              <a:t>hun</a:t>
            </a:r>
            <a:r>
              <a:rPr lang="en-US" sz="2300" dirty="0">
                <a:solidFill>
                  <a:schemeClr val="tx1"/>
                </a:solidFill>
              </a:rPr>
              <a:t> auto.</a:t>
            </a:r>
            <a:endParaRPr lang="en-US" sz="2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8.  </a:t>
            </a:r>
            <a:r>
              <a:rPr lang="en-US" sz="2300" dirty="0">
                <a:solidFill>
                  <a:schemeClr val="tx1"/>
                </a:solidFill>
              </a:rPr>
              <a:t>Sarah, zijn dat </a:t>
            </a:r>
            <a:r>
              <a:rPr lang="en-US" sz="2300" b="1" dirty="0">
                <a:solidFill>
                  <a:schemeClr val="accent3"/>
                </a:solidFill>
              </a:rPr>
              <a:t>jouw</a:t>
            </a:r>
            <a:r>
              <a:rPr lang="en-US" sz="2300" dirty="0">
                <a:solidFill>
                  <a:schemeClr val="tx1"/>
                </a:solidFill>
              </a:rPr>
              <a:t> kinderen?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1–2 : le </a:t>
            </a:r>
            <a:r>
              <a:rPr lang="en-US" sz="1800" b="1" dirty="0">
                <a:solidFill>
                  <a:schemeClr val="tx1"/>
                </a:solidFill>
              </a:rPr>
              <a:t>possesseur</a:t>
            </a:r>
            <a:r>
              <a:rPr lang="en-US" sz="1800" dirty="0">
                <a:solidFill>
                  <a:schemeClr val="tx1"/>
                </a:solidFill>
              </a:rPr>
              <a:t> décide (Emma → haar).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4–5 : </a:t>
            </a: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huis → ons ·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baby → onze.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7 : ils → </a:t>
            </a:r>
            <a:r>
              <a:rPr lang="en-US" sz="1800" b="1" dirty="0">
                <a:solidFill>
                  <a:schemeClr val="tx1"/>
                </a:solidFill>
              </a:rPr>
              <a:t>hun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8 : accepter </a:t>
            </a:r>
            <a:r>
              <a:rPr lang="en-US" sz="1800" b="1" dirty="0">
                <a:solidFill>
                  <a:schemeClr val="tx1"/>
                </a:solidFill>
              </a:rPr>
              <a:t>je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Administratie — l’administration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86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" name="illustration" descr="le formu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932" y="1581912"/>
            <a:ext cx="1062815" cy="7894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2" name="illustration" descr="la sign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749" y="1581912"/>
            <a:ext cx="1084317" cy="789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17" name="illustration" descr="le passe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533" y="1581912"/>
            <a:ext cx="1065887" cy="7894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2" name="illustration" descr="la maison commun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07" y="1581912"/>
            <a:ext cx="941874" cy="7894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27" name="illustration" descr="le guich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147" y="1581912"/>
            <a:ext cx="960929" cy="7894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2" name="illustration" descr="la file d’atten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042" y="3230880"/>
            <a:ext cx="944596" cy="789432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36" name="Shape 27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37" name="illustration" descr="le cach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0048" y="3230880"/>
            <a:ext cx="951719" cy="78943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1" name="Shape 31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2" name="illustration" descr="la lettr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8989" y="3230880"/>
            <a:ext cx="970974" cy="78943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3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34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47" name="illustration" descr="l’envelopp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5809" y="3230880"/>
            <a:ext cx="954470" cy="789432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9" name="Text 37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1" name="Shape 39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2" name="illustration" descr="le timb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405" y="3230880"/>
            <a:ext cx="948415" cy="789432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4" name="Text 41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5" name="Text 42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56" name="Shape 43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57" name="illustration" descr="la boîte aux lettre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539" y="4879848"/>
            <a:ext cx="967602" cy="789432"/>
          </a:xfrm>
          <a:prstGeom prst="rect">
            <a:avLst/>
          </a:prstGeom>
        </p:spPr>
      </p:pic>
      <p:sp>
        <p:nvSpPr>
          <p:cNvPr id="58" name="Shape 44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0" name="Text 46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1" name="Shape 47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2" name="illustration" descr="le rendez-vou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330" y="4879848"/>
            <a:ext cx="951156" cy="789432"/>
          </a:xfrm>
          <a:prstGeom prst="rect">
            <a:avLst/>
          </a:prstGeom>
        </p:spPr>
      </p:pic>
      <p:sp>
        <p:nvSpPr>
          <p:cNvPr id="63" name="Shape 48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4" name="Text 49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5" name="Text 50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66" name="Shape 51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67" name="illustration" descr="le dossi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3068" y="4879848"/>
            <a:ext cx="1062815" cy="789432"/>
          </a:xfrm>
          <a:prstGeom prst="rect">
            <a:avLst/>
          </a:prstGeom>
        </p:spPr>
      </p:pic>
      <p:sp>
        <p:nvSpPr>
          <p:cNvPr id="68" name="Shape 52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9" name="Text 53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0" name="Text 54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1" name="Shape 55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2" name="illustration" descr="la factur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885" y="4879848"/>
            <a:ext cx="1084317" cy="789432"/>
          </a:xfrm>
          <a:prstGeom prst="rect">
            <a:avLst/>
          </a:prstGeom>
        </p:spPr>
      </p:pic>
      <p:sp>
        <p:nvSpPr>
          <p:cNvPr id="73" name="Shape 56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4" name="Text 57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5" name="Text 58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76" name="Shape 59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9525">
            <a:solidFill>
              <a:srgbClr val="D5DCE6"/>
            </a:solidFill>
            <a:prstDash val="solid"/>
          </a:ln>
        </p:spPr>
      </p:sp>
      <p:pic>
        <p:nvPicPr>
          <p:cNvPr id="77" name="illustration" descr="la photocopieus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8669" y="4879848"/>
            <a:ext cx="1065887" cy="789432"/>
          </a:xfrm>
          <a:prstGeom prst="rect">
            <a:avLst/>
          </a:prstGeom>
        </p:spPr>
      </p:pic>
      <p:sp>
        <p:nvSpPr>
          <p:cNvPr id="78" name="Shape 60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0" name="Text 62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…………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Administratie — l’administration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3957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86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8" name="illustration" descr="le formula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932" y="1581912"/>
            <a:ext cx="1062815" cy="7894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03504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formulier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formulaire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807208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13" name="illustration" descr="la signa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749" y="1581912"/>
            <a:ext cx="1084317" cy="78943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898648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2898648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862072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handtekening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signature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065776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18" name="illustration" descr="le passe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533" y="1581912"/>
            <a:ext cx="1065887" cy="7894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57216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157216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5120640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paspoort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passeport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7324344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23" name="illustration" descr="la maison commun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07" y="1581912"/>
            <a:ext cx="941874" cy="7894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415784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7415784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379208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gemeentehuis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maison communale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9582912" y="1508760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28" name="illustration" descr="le guich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147" y="1581912"/>
            <a:ext cx="960929" cy="78943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674352" y="1600200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967435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637776" y="2389632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loket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guichet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48640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3" name="illustration" descr="la file d’atten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5042" y="3230880"/>
            <a:ext cx="944596" cy="789432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5" name="Text 26"/>
          <p:cNvSpPr txBox="1"/>
          <p:nvPr/>
        </p:nvSpPr>
        <p:spPr>
          <a:xfrm>
            <a:off x="640080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603504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wachtrij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file d’attente</a:t>
            </a:r>
            <a:endParaRPr lang="en-US" sz="1600" dirty="0"/>
          </a:p>
        </p:txBody>
      </p:sp>
      <p:sp>
        <p:nvSpPr>
          <p:cNvPr id="37" name="Shape 28"/>
          <p:cNvSpPr/>
          <p:nvPr/>
        </p:nvSpPr>
        <p:spPr>
          <a:xfrm>
            <a:off x="2807208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38" name="illustration" descr="le cach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0048" y="3230880"/>
            <a:ext cx="951719" cy="78943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2898648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0"/>
          <p:cNvSpPr txBox="1"/>
          <p:nvPr/>
        </p:nvSpPr>
        <p:spPr>
          <a:xfrm>
            <a:off x="2898648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41" name="Text 31"/>
          <p:cNvSpPr txBox="1"/>
          <p:nvPr/>
        </p:nvSpPr>
        <p:spPr>
          <a:xfrm>
            <a:off x="2862072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stempel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cachet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065776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3" name="illustration" descr="la lettr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8989" y="3230880"/>
            <a:ext cx="970974" cy="789432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157216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5157216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5120640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brief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lettre</a:t>
            </a:r>
            <a:endParaRPr lang="en-US" sz="1600" dirty="0"/>
          </a:p>
        </p:txBody>
      </p:sp>
      <p:sp>
        <p:nvSpPr>
          <p:cNvPr id="47" name="Shape 36"/>
          <p:cNvSpPr/>
          <p:nvPr/>
        </p:nvSpPr>
        <p:spPr>
          <a:xfrm>
            <a:off x="7324344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48" name="illustration" descr="l’envelopp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5809" y="3230880"/>
            <a:ext cx="954470" cy="7894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7415784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0" name="Text 38"/>
          <p:cNvSpPr txBox="1"/>
          <p:nvPr/>
        </p:nvSpPr>
        <p:spPr>
          <a:xfrm>
            <a:off x="7415784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51" name="Text 39"/>
          <p:cNvSpPr txBox="1"/>
          <p:nvPr/>
        </p:nvSpPr>
        <p:spPr>
          <a:xfrm>
            <a:off x="7379208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envelop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l’enveloppe</a:t>
            </a:r>
            <a:endParaRPr lang="en-US" sz="1600" dirty="0"/>
          </a:p>
        </p:txBody>
      </p:sp>
      <p:sp>
        <p:nvSpPr>
          <p:cNvPr id="52" name="Shape 40"/>
          <p:cNvSpPr/>
          <p:nvPr/>
        </p:nvSpPr>
        <p:spPr>
          <a:xfrm>
            <a:off x="9582912" y="3157728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3" name="illustration" descr="le timb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37405" y="3230880"/>
            <a:ext cx="948415" cy="78943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9674352" y="3249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9674352" y="3249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9637776" y="4038600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postzegel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timbre</a:t>
            </a:r>
            <a:endParaRPr lang="en-US" sz="1600" dirty="0"/>
          </a:p>
        </p:txBody>
      </p:sp>
      <p:sp>
        <p:nvSpPr>
          <p:cNvPr id="57" name="Shape 44"/>
          <p:cNvSpPr/>
          <p:nvPr/>
        </p:nvSpPr>
        <p:spPr>
          <a:xfrm>
            <a:off x="548640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58" name="illustration" descr="la boîte aux lettre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539" y="4879848"/>
            <a:ext cx="967602" cy="789432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640080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0" name="Text 46"/>
          <p:cNvSpPr txBox="1"/>
          <p:nvPr/>
        </p:nvSpPr>
        <p:spPr>
          <a:xfrm>
            <a:off x="640080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11</a:t>
            </a:r>
            <a:endParaRPr lang="en-US" sz="1200" dirty="0"/>
          </a:p>
        </p:txBody>
      </p:sp>
      <p:sp>
        <p:nvSpPr>
          <p:cNvPr id="61" name="Text 47"/>
          <p:cNvSpPr txBox="1"/>
          <p:nvPr/>
        </p:nvSpPr>
        <p:spPr>
          <a:xfrm>
            <a:off x="603504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brievenbus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boîte aux lettres</a:t>
            </a:r>
            <a:endParaRPr lang="en-US" sz="1600" dirty="0"/>
          </a:p>
        </p:txBody>
      </p:sp>
      <p:sp>
        <p:nvSpPr>
          <p:cNvPr id="62" name="Shape 48"/>
          <p:cNvSpPr/>
          <p:nvPr/>
        </p:nvSpPr>
        <p:spPr>
          <a:xfrm>
            <a:off x="2807208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63" name="illustration" descr="le rendez-vou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0330" y="4879848"/>
            <a:ext cx="951156" cy="789432"/>
          </a:xfrm>
          <a:prstGeom prst="rect">
            <a:avLst/>
          </a:prstGeom>
        </p:spPr>
      </p:pic>
      <p:sp>
        <p:nvSpPr>
          <p:cNvPr id="64" name="Shape 49"/>
          <p:cNvSpPr/>
          <p:nvPr/>
        </p:nvSpPr>
        <p:spPr>
          <a:xfrm>
            <a:off x="2898648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2898648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51"/>
          <p:cNvSpPr txBox="1"/>
          <p:nvPr/>
        </p:nvSpPr>
        <p:spPr>
          <a:xfrm>
            <a:off x="2862072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afspraak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rendez-vous</a:t>
            </a:r>
            <a:endParaRPr lang="en-US" sz="1600" dirty="0"/>
          </a:p>
        </p:txBody>
      </p:sp>
      <p:sp>
        <p:nvSpPr>
          <p:cNvPr id="67" name="Shape 52"/>
          <p:cNvSpPr/>
          <p:nvPr/>
        </p:nvSpPr>
        <p:spPr>
          <a:xfrm>
            <a:off x="5065776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68" name="illustration" descr="le dossier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3068" y="4879848"/>
            <a:ext cx="1062815" cy="789432"/>
          </a:xfrm>
          <a:prstGeom prst="rect">
            <a:avLst/>
          </a:prstGeom>
        </p:spPr>
      </p:pic>
      <p:sp>
        <p:nvSpPr>
          <p:cNvPr id="69" name="Shape 53"/>
          <p:cNvSpPr/>
          <p:nvPr/>
        </p:nvSpPr>
        <p:spPr>
          <a:xfrm>
            <a:off x="5157216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0" name="Text 54"/>
          <p:cNvSpPr txBox="1"/>
          <p:nvPr/>
        </p:nvSpPr>
        <p:spPr>
          <a:xfrm>
            <a:off x="5157216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13</a:t>
            </a:r>
            <a:endParaRPr lang="en-US" sz="1200" dirty="0"/>
          </a:p>
        </p:txBody>
      </p:sp>
      <p:sp>
        <p:nvSpPr>
          <p:cNvPr id="71" name="Text 55"/>
          <p:cNvSpPr txBox="1"/>
          <p:nvPr/>
        </p:nvSpPr>
        <p:spPr>
          <a:xfrm>
            <a:off x="5120640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dossier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le dossier</a:t>
            </a:r>
            <a:endParaRPr lang="en-US" sz="1600" dirty="0"/>
          </a:p>
        </p:txBody>
      </p:sp>
      <p:sp>
        <p:nvSpPr>
          <p:cNvPr id="72" name="Shape 56"/>
          <p:cNvSpPr/>
          <p:nvPr/>
        </p:nvSpPr>
        <p:spPr>
          <a:xfrm>
            <a:off x="7324344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2A6FB0"/>
            </a:solidFill>
            <a:prstDash val="solid"/>
          </a:ln>
        </p:spPr>
      </p:sp>
      <p:pic>
        <p:nvPicPr>
          <p:cNvPr id="73" name="illustration" descr="la factur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885" y="4879848"/>
            <a:ext cx="1084317" cy="789432"/>
          </a:xfrm>
          <a:prstGeom prst="rect">
            <a:avLst/>
          </a:prstGeom>
        </p:spPr>
      </p:pic>
      <p:sp>
        <p:nvSpPr>
          <p:cNvPr id="74" name="Shape 57"/>
          <p:cNvSpPr/>
          <p:nvPr/>
        </p:nvSpPr>
        <p:spPr>
          <a:xfrm>
            <a:off x="7415784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5" name="Text 58"/>
          <p:cNvSpPr txBox="1"/>
          <p:nvPr/>
        </p:nvSpPr>
        <p:spPr>
          <a:xfrm>
            <a:off x="7415784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14</a:t>
            </a:r>
            <a:endParaRPr lang="en-US" sz="1200" dirty="0"/>
          </a:p>
        </p:txBody>
      </p:sp>
      <p:sp>
        <p:nvSpPr>
          <p:cNvPr id="76" name="Text 59"/>
          <p:cNvSpPr txBox="1"/>
          <p:nvPr/>
        </p:nvSpPr>
        <p:spPr>
          <a:xfrm>
            <a:off x="7379208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 </a:t>
            </a:r>
            <a:r>
              <a:rPr lang="en-US" sz="1600" b="1" dirty="0">
                <a:solidFill>
                  <a:schemeClr val="tx1"/>
                </a:solidFill>
              </a:rPr>
              <a:t>factuur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facture</a:t>
            </a:r>
            <a:endParaRPr lang="en-US" sz="1600" dirty="0"/>
          </a:p>
        </p:txBody>
      </p:sp>
      <p:sp>
        <p:nvSpPr>
          <p:cNvPr id="77" name="Shape 60"/>
          <p:cNvSpPr/>
          <p:nvPr/>
        </p:nvSpPr>
        <p:spPr>
          <a:xfrm>
            <a:off x="9582912" y="4806696"/>
            <a:ext cx="2057400" cy="1484376"/>
          </a:xfrm>
          <a:prstGeom prst="roundRect">
            <a:avLst>
              <a:gd name="adj" fmla="val 4928"/>
            </a:avLst>
          </a:prstGeom>
          <a:solidFill>
            <a:schemeClr val="bg1"/>
          </a:solidFill>
          <a:ln w="19050">
            <a:solidFill>
              <a:srgbClr val="B4236A"/>
            </a:solidFill>
            <a:prstDash val="solid"/>
          </a:ln>
        </p:spPr>
      </p:sp>
      <p:pic>
        <p:nvPicPr>
          <p:cNvPr id="78" name="illustration" descr="la photocopieuse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8669" y="4879848"/>
            <a:ext cx="1065887" cy="789432"/>
          </a:xfrm>
          <a:prstGeom prst="rect">
            <a:avLst/>
          </a:prstGeom>
        </p:spPr>
      </p:pic>
      <p:sp>
        <p:nvSpPr>
          <p:cNvPr id="79" name="Shape 61"/>
          <p:cNvSpPr/>
          <p:nvPr/>
        </p:nvSpPr>
        <p:spPr>
          <a:xfrm>
            <a:off x="9674352" y="4898136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0" name="Text 62"/>
          <p:cNvSpPr txBox="1"/>
          <p:nvPr/>
        </p:nvSpPr>
        <p:spPr>
          <a:xfrm>
            <a:off x="9674352" y="4898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15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9637776" y="5687568"/>
            <a:ext cx="1947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het </a:t>
            </a:r>
            <a:r>
              <a:rPr lang="en-US" sz="1600" b="1" dirty="0">
                <a:solidFill>
                  <a:schemeClr val="tx1"/>
                </a:solidFill>
              </a:rPr>
              <a:t>kopieerapparaat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la photocopieuse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Aan het loket van het gemeentehuis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un mot de l’imagier, un </a:t>
            </a:r>
            <a:r>
              <a:rPr lang="en-US" sz="1600" b="1" i="1" dirty="0">
                <a:solidFill>
                  <a:schemeClr val="accent5"/>
                </a:solidFill>
              </a:rPr>
              <a:t>démonstratif</a:t>
            </a:r>
            <a:r>
              <a:rPr lang="en-US" sz="1600" i="1" dirty="0">
                <a:solidFill>
                  <a:schemeClr val="accent5"/>
                </a:solidFill>
              </a:rPr>
              <a:t> ou un </a:t>
            </a:r>
            <a:r>
              <a:rPr lang="en-US" sz="1600" b="1" i="1" dirty="0">
                <a:solidFill>
                  <a:schemeClr val="accent5"/>
                </a:solidFill>
              </a:rPr>
              <a:t>possessif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Ik heb om tien uur een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op het gemeentehuis.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Eerst sta ik tien minuten in de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Aan het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: «Hebt u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paspoort bij u?»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«Vul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formulier in, alstublieft.» (ici)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«Zet hier uw </a:t>
            </a:r>
            <a:r>
              <a:rPr lang="en-US" sz="2300" dirty="0">
                <a:solidFill>
                  <a:schemeClr val="accent5"/>
                </a:solidFill>
              </a:rPr>
              <a:t>…………………</a:t>
            </a:r>
            <a:r>
              <a:rPr lang="en-US" sz="2300" dirty="0">
                <a:solidFill>
                  <a:schemeClr val="tx1"/>
                </a:solidFill>
              </a:rPr>
              <a:t>.»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«Is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 envelop (ici) voor mij?»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Ik doe de brief in de envelop, met een </a:t>
            </a:r>
            <a:r>
              <a:rPr lang="en-US" sz="2300" dirty="0">
                <a:solidFill>
                  <a:schemeClr val="accent5"/>
                </a:solidFill>
              </a:rPr>
              <a:t>……………</a:t>
            </a:r>
            <a:r>
              <a:rPr lang="en-US" sz="2300" dirty="0">
                <a:solidFill>
                  <a:schemeClr val="tx1"/>
                </a:solidFill>
              </a:rPr>
              <a:t>, en ik post hem in de </a:t>
            </a:r>
            <a:r>
              <a:rPr lang="en-US" sz="2300" dirty="0">
                <a:solidFill>
                  <a:schemeClr val="accent5"/>
                </a:solidFill>
              </a:rPr>
              <a:t>………………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mot de l’imagier </a:t>
            </a:r>
            <a:r>
              <a:rPr lang="en-US" sz="1800" b="1" dirty="0">
                <a:solidFill>
                  <a:schemeClr val="tx1"/>
                </a:solidFill>
              </a:rPr>
              <a:t>ou</a:t>
            </a:r>
            <a:r>
              <a:rPr lang="en-US" sz="1800" dirty="0">
                <a:solidFill>
                  <a:schemeClr val="tx1"/>
                </a:solidFill>
              </a:rPr>
              <a:t> deze / dit / uw.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Seul · 5 min, puis lecture à deux voix.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Aan het loket van het gemeentehuis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Complétez avec un mot de l’imagier, un </a:t>
            </a:r>
            <a:r>
              <a:rPr lang="en-US" sz="1600" b="1" i="1" dirty="0">
                <a:solidFill>
                  <a:schemeClr val="accent5"/>
                </a:solidFill>
              </a:rPr>
              <a:t>démonstratif</a:t>
            </a:r>
            <a:r>
              <a:rPr lang="en-US" sz="1600" i="1" dirty="0">
                <a:solidFill>
                  <a:schemeClr val="accent5"/>
                </a:solidFill>
              </a:rPr>
              <a:t> ou un </a:t>
            </a:r>
            <a:r>
              <a:rPr lang="en-US" sz="1600" b="1" i="1" dirty="0">
                <a:solidFill>
                  <a:schemeClr val="accent5"/>
                </a:solidFill>
              </a:rPr>
              <a:t>possessif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Ik heb om tien uur een </a:t>
            </a:r>
            <a:r>
              <a:rPr lang="en-US" sz="2300" b="1" dirty="0">
                <a:solidFill>
                  <a:schemeClr val="accent3"/>
                </a:solidFill>
              </a:rPr>
              <a:t>afspraak</a:t>
            </a:r>
            <a:r>
              <a:rPr lang="en-US" sz="2300" dirty="0">
                <a:solidFill>
                  <a:schemeClr val="tx1"/>
                </a:solidFill>
              </a:rPr>
              <a:t> op het gemeentehuis.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Eerst sta ik tien minuten in de </a:t>
            </a:r>
            <a:r>
              <a:rPr lang="en-US" sz="2300" b="1" dirty="0">
                <a:solidFill>
                  <a:schemeClr val="accent3"/>
                </a:solidFill>
              </a:rPr>
              <a:t>wachtrij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Aan het </a:t>
            </a:r>
            <a:r>
              <a:rPr lang="en-US" sz="2300" b="1" dirty="0">
                <a:solidFill>
                  <a:schemeClr val="accent3"/>
                </a:solidFill>
              </a:rPr>
              <a:t>loket</a:t>
            </a:r>
            <a:r>
              <a:rPr lang="en-US" sz="2300" dirty="0">
                <a:solidFill>
                  <a:schemeClr val="tx1"/>
                </a:solidFill>
              </a:rPr>
              <a:t>: «Hebt u </a:t>
            </a:r>
            <a:r>
              <a:rPr lang="en-US" sz="2300" b="1" dirty="0">
                <a:solidFill>
                  <a:schemeClr val="accent3"/>
                </a:solidFill>
              </a:rPr>
              <a:t>uw</a:t>
            </a:r>
            <a:r>
              <a:rPr lang="en-US" sz="2300" dirty="0">
                <a:solidFill>
                  <a:schemeClr val="tx1"/>
                </a:solidFill>
              </a:rPr>
              <a:t> paspoort bij u?»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«Vul </a:t>
            </a:r>
            <a:r>
              <a:rPr lang="en-US" sz="2300" b="1" dirty="0">
                <a:solidFill>
                  <a:schemeClr val="accent3"/>
                </a:solidFill>
              </a:rPr>
              <a:t>dit</a:t>
            </a:r>
            <a:r>
              <a:rPr lang="en-US" sz="2300" dirty="0">
                <a:solidFill>
                  <a:schemeClr val="tx1"/>
                </a:solidFill>
              </a:rPr>
              <a:t> formulier in, alstublieft.» (ici)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5.  </a:t>
            </a:r>
            <a:r>
              <a:rPr lang="en-US" sz="2300" dirty="0">
                <a:solidFill>
                  <a:schemeClr val="tx1"/>
                </a:solidFill>
              </a:rPr>
              <a:t>«Zet hier uw </a:t>
            </a:r>
            <a:r>
              <a:rPr lang="en-US" sz="2300" b="1" dirty="0">
                <a:solidFill>
                  <a:schemeClr val="accent3"/>
                </a:solidFill>
              </a:rPr>
              <a:t>handtekening</a:t>
            </a:r>
            <a:r>
              <a:rPr lang="en-US" sz="2300" dirty="0">
                <a:solidFill>
                  <a:schemeClr val="tx1"/>
                </a:solidFill>
              </a:rPr>
              <a:t>.»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6.  </a:t>
            </a:r>
            <a:r>
              <a:rPr lang="en-US" sz="2300" dirty="0">
                <a:solidFill>
                  <a:schemeClr val="tx1"/>
                </a:solidFill>
              </a:rPr>
              <a:t>«Is </a:t>
            </a:r>
            <a:r>
              <a:rPr lang="en-US" sz="2300" b="1" dirty="0">
                <a:solidFill>
                  <a:schemeClr val="accent3"/>
                </a:solidFill>
              </a:rPr>
              <a:t>deze</a:t>
            </a:r>
            <a:r>
              <a:rPr lang="en-US" sz="2300" dirty="0">
                <a:solidFill>
                  <a:schemeClr val="tx1"/>
                </a:solidFill>
              </a:rPr>
              <a:t> envelop (ici) voor mij?»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7.  </a:t>
            </a:r>
            <a:r>
              <a:rPr lang="en-US" sz="2300" dirty="0">
                <a:solidFill>
                  <a:schemeClr val="tx1"/>
                </a:solidFill>
              </a:rPr>
              <a:t>Ik doe de brief in de envelop, met een </a:t>
            </a:r>
            <a:r>
              <a:rPr lang="en-US" sz="2300" b="1" dirty="0">
                <a:solidFill>
                  <a:schemeClr val="accent3"/>
                </a:solidFill>
              </a:rPr>
              <a:t>postzegel</a:t>
            </a:r>
            <a:r>
              <a:rPr lang="en-US" sz="2300" dirty="0">
                <a:solidFill>
                  <a:schemeClr val="tx1"/>
                </a:solidFill>
              </a:rPr>
              <a:t>, en ik post hem in de </a:t>
            </a:r>
            <a:r>
              <a:rPr lang="en-US" sz="2300" b="1" dirty="0">
                <a:solidFill>
                  <a:schemeClr val="accent3"/>
                </a:solidFill>
              </a:rPr>
              <a:t>brievenbus</a:t>
            </a:r>
            <a:r>
              <a:rPr lang="en-US" sz="2300" dirty="0">
                <a:solidFill>
                  <a:schemeClr val="tx1"/>
                </a:solidFill>
              </a:rPr>
              <a:t>.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4"/>
                </a:solidFill>
              </a:rPr>
              <a:t>het</a:t>
            </a:r>
            <a:r>
              <a:rPr lang="en-US" sz="1800" dirty="0">
                <a:solidFill>
                  <a:schemeClr val="tx1"/>
                </a:solidFill>
              </a:rPr>
              <a:t> formulier → </a:t>
            </a:r>
            <a:r>
              <a:rPr lang="en-US" sz="1800" b="1" dirty="0">
                <a:solidFill>
                  <a:schemeClr val="tx1"/>
                </a:solidFill>
              </a:rPr>
              <a:t>dit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b="1" dirty="0">
                <a:solidFill>
                  <a:schemeClr val="accent2"/>
                </a:solidFill>
              </a:rPr>
              <a:t>de</a:t>
            </a:r>
            <a:r>
              <a:rPr lang="en-US" sz="1800" dirty="0">
                <a:solidFill>
                  <a:schemeClr val="tx1"/>
                </a:solidFill>
              </a:rPr>
              <a:t> envelop → </a:t>
            </a:r>
            <a:r>
              <a:rPr lang="en-US" sz="1800" b="1" dirty="0">
                <a:solidFill>
                  <a:schemeClr val="tx1"/>
                </a:solidFill>
              </a:rPr>
              <a:t>deze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 → </a:t>
            </a:r>
            <a:r>
              <a:rPr lang="en-US" sz="1800" b="1" dirty="0">
                <a:solidFill>
                  <a:schemeClr val="tx1"/>
                </a:solidFill>
              </a:rPr>
              <a:t>uw</a:t>
            </a:r>
            <a:r>
              <a:rPr lang="en-US" sz="1800" dirty="0">
                <a:solidFill>
                  <a:schemeClr val="tx1"/>
                </a:solidFill>
              </a:rPr>
              <a:t> paspoort.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invullen</a:t>
            </a:r>
            <a:r>
              <a:rPr lang="en-US" sz="1800" dirty="0">
                <a:solidFill>
                  <a:schemeClr val="tx1"/>
                </a:solidFill>
              </a:rPr>
              <a:t> : séparable → </a:t>
            </a:r>
            <a:r>
              <a:rPr lang="en-US" sz="1800" i="1" dirty="0">
                <a:solidFill>
                  <a:schemeClr val="tx1"/>
                </a:solidFill>
              </a:rPr>
              <a:t>Vul … in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5 : Remplir le formulaire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Nouveau vocabulaire du </a:t>
            </a:r>
            <a:r>
              <a:rPr lang="en-US" sz="1600" b="1" i="1" dirty="0">
                <a:solidFill>
                  <a:schemeClr val="accent5"/>
                </a:solidFill>
              </a:rPr>
              <a:t>Jalon 1</a:t>
            </a:r>
            <a:r>
              <a:rPr lang="en-US" sz="1600" i="1" dirty="0">
                <a:solidFill>
                  <a:schemeClr val="accent5"/>
                </a:solidFill>
              </a:rPr>
              <a:t> (les questions du formulaire) et du </a:t>
            </a:r>
            <a:r>
              <a:rPr lang="en-US" sz="1600" b="1" i="1" dirty="0">
                <a:solidFill>
                  <a:schemeClr val="accent5"/>
                </a:solidFill>
              </a:rPr>
              <a:t>Jalon 2</a:t>
            </a:r>
            <a:r>
              <a:rPr lang="en-US" sz="1600" i="1" dirty="0">
                <a:solidFill>
                  <a:schemeClr val="accent5"/>
                </a:solidFill>
              </a:rPr>
              <a:t> (répondre au formulaire).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560320"/>
                <a:gridCol w="2834640"/>
                <a:gridCol w="3044952"/>
              </a:tblGrid>
              <a:tr h="5733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JALON 1 · NL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JALON 2 · NL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voornaam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 prénom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Dat klopt.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C’est exact.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achternaam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 nom de famille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omdat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parce que (verbe à la fin)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telefoonnummer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 numéro de téléphone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schoolmateriaal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 matériel scolaire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adres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l’adresse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Brussel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Bruxelles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cursus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 cours, la formation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invullen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remplir (</a:t>
                      </a:r>
                      <a:r>
                        <a:rPr lang="en-US" sz="1800" i="1" dirty="0">
                          <a:solidFill>
                            <a:schemeClr val="tx1"/>
                          </a:solidFill>
                        </a:rPr>
                        <a:t>ik vul … in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volgen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suivre (un cours)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van mij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à moi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kaart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la carte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formulier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 formulaire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Nederlandse les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 cours de néerlandais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5 · Jalon 1 : les questions du formulaire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Niveau A1 · seul 5 min, puis par deux — on se </a:t>
            </a:r>
            <a:r>
              <a:rPr lang="en-US" sz="1600" b="1" i="1" dirty="0">
                <a:solidFill>
                  <a:schemeClr val="accent5"/>
                </a:solidFill>
              </a:rPr>
              <a:t>tutoie</a:t>
            </a:r>
            <a:r>
              <a:rPr lang="en-US" sz="1600" i="1" dirty="0">
                <a:solidFill>
                  <a:schemeClr val="accent5"/>
                </a:solidFill>
              </a:rPr>
              <a:t> (je / jouw) : deux cursisten remplissent le formulaire ensemble.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4206240"/>
                <a:gridCol w="542239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 est ton nom et ton prénom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Est-ce ton numéro de téléphone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Quelle est ton adresse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Tu ne suis pas ce cours-ci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À qui est cette carte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5 · Jalon 1 : les questions du formulaire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1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Niveau A1 · seul 5 min, puis par deux — on se </a:t>
            </a:r>
            <a:r>
              <a:rPr lang="en-US" sz="1600" b="1" i="1" dirty="0">
                <a:solidFill>
                  <a:schemeClr val="accent5"/>
                </a:solidFill>
              </a:rPr>
              <a:t>tutoie</a:t>
            </a:r>
            <a:r>
              <a:rPr lang="en-US" sz="1600" i="1" dirty="0">
                <a:solidFill>
                  <a:schemeClr val="accent5"/>
                </a:solidFill>
              </a:rPr>
              <a:t> (je / jouw) : deux cursisten remplissent le formulaire ensemble.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4206240"/>
                <a:gridCol w="5422392"/>
              </a:tblGrid>
              <a:tr h="6281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 est ton nom et ton prénom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Wat is je achternaam en wat is je voornaam?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Est-ce ton numéro de téléphone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Is dit jouw telefoonnummer?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Quelle est ton adresse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Wat is je adres?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Tu ne suis pas ce cours-ci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Volg je deze cursus niet?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1231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À qui est cette carte 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Van wie is deze kaart?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5 · Jalon 2 : répondre au formulaire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Niveau A2 · seul 8 min, puis par deux — attention à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(verbe à la fin) et à </a:t>
            </a:r>
            <a:r>
              <a:rPr lang="en-US" sz="1600" b="1" i="1" dirty="0">
                <a:solidFill>
                  <a:schemeClr val="accent5"/>
                </a:solidFill>
              </a:rPr>
              <a:t>niet / geen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4206240"/>
                <a:gridCol w="5422392"/>
              </a:tblGrid>
              <a:tr h="5532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Oui, c’est mon numéro, et voici mon adresse.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Je suis le cours de néerlandais parce que je travaille à Bruxelles.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Je n’ai pas encore ma carte et je n’ai aucun matériel.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Cette carte-ci est à moi, l’autre est à un collègue.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J’ai bien rempli tout le formulaire.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accent5"/>
                          </a:solidFill>
                        </a:rPr>
                        <a:t>……………………………………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Fiche 5 · Jalon 2 : répondre au formulaire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JALON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Niveau A2 · seul 8 min, puis par deux — attention à </a:t>
            </a:r>
            <a:r>
              <a:rPr lang="en-US" sz="1600" b="1" i="1" dirty="0">
                <a:solidFill>
                  <a:schemeClr val="accent5"/>
                </a:solidFill>
              </a:rPr>
              <a:t>omdat</a:t>
            </a:r>
            <a:r>
              <a:rPr lang="en-US" sz="1600" i="1" dirty="0">
                <a:solidFill>
                  <a:schemeClr val="accent5"/>
                </a:solidFill>
              </a:rPr>
              <a:t> (verbe à la fin) et à </a:t>
            </a:r>
            <a:r>
              <a:rPr lang="en-US" sz="1600" b="1" i="1" dirty="0">
                <a:solidFill>
                  <a:schemeClr val="accent5"/>
                </a:solidFill>
              </a:rPr>
              <a:t>niet / geen</a:t>
            </a:r>
            <a:r>
              <a:rPr lang="en-US" sz="1600" i="1" dirty="0">
                <a:solidFill>
                  <a:schemeClr val="accent5"/>
                </a:solidFill>
              </a:rPr>
              <a:t>.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4206240"/>
                <a:gridCol w="5422392"/>
              </a:tblGrid>
              <a:tr h="5532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N°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NEDERLANDS</a:t>
                      </a:r>
                      <a:endParaRPr lang="en-US" sz="18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Oui, c’est mon numéro, et voici mon adresse.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Ja, dat is mijn nummer, en hier is mijn adres.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Je suis le cours de néerlandais parce que je travaille à Bruxelles.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volg de cursus Nederlands omdat ik in Brussel werk.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Je n’ai pas encore ma carte et je n’ai aucun matériel.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heb mijn kaart nog niet en ik heb geen schoolmateriaal.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Cette carte-ci est à moi, l’autre est à un collègue.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Deze kaart is van mij, de andere is van een collega.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J’ai bien rempli tout le formulaire.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3"/>
                          </a:solidFill>
                        </a:rPr>
                        <a:t>Ik heb het hele formulier goed ingevuld.</a:t>
                      </a:r>
                      <a:endParaRPr lang="en-US" sz="20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Phrase-clé : omdat, van wie, ingevuld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Trois structures des jalons : regardez </a:t>
            </a:r>
            <a:r>
              <a:rPr lang="en-US" sz="1800" b="1" dirty="0">
                <a:solidFill>
                  <a:schemeClr val="tx1"/>
                </a:solidFill>
              </a:rPr>
              <a:t>où va le verbe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185416"/>
            <a:ext cx="146304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omdat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947672"/>
            <a:ext cx="24622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phrase 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185416"/>
            <a:ext cx="2462276" cy="590296"/>
          </a:xfrm>
          <a:prstGeom prst="roundRect">
            <a:avLst>
              <a:gd name="adj" fmla="val 9294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185416"/>
            <a:ext cx="2389124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Ik volg de cursus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675124" y="1947672"/>
            <a:ext cx="95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75124" y="2185416"/>
            <a:ext cx="956564" cy="590296"/>
          </a:xfrm>
          <a:prstGeom prst="roundRect">
            <a:avLst>
              <a:gd name="adj" fmla="val 9294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11700" y="2185416"/>
            <a:ext cx="88341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omdat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741416" y="19476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41416" y="2185416"/>
            <a:ext cx="685800" cy="590296"/>
          </a:xfrm>
          <a:prstGeom prst="roundRect">
            <a:avLst>
              <a:gd name="adj" fmla="val 9294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77992" y="2185416"/>
            <a:ext cx="61264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536944" y="1947672"/>
            <a:ext cx="1583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36944" y="2185416"/>
            <a:ext cx="1583944" cy="590296"/>
          </a:xfrm>
          <a:prstGeom prst="roundRect">
            <a:avLst>
              <a:gd name="adj" fmla="val 9294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73520" y="2185416"/>
            <a:ext cx="151079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in Brussel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230616" y="1947672"/>
            <a:ext cx="9565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 à la fin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30616" y="2185416"/>
            <a:ext cx="956564" cy="590296"/>
          </a:xfrm>
          <a:prstGeom prst="roundRect">
            <a:avLst>
              <a:gd name="adj" fmla="val 9294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67192" y="2185416"/>
            <a:ext cx="88341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werk.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2103120" y="280314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…parce que je travaille à Bruxelles.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324352"/>
            <a:ext cx="146304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van wie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2103120" y="3086608"/>
            <a:ext cx="12075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103120" y="3324352"/>
            <a:ext cx="1207516" cy="590296"/>
          </a:xfrm>
          <a:prstGeom prst="roundRect">
            <a:avLst>
              <a:gd name="adj" fmla="val 9294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3324352"/>
            <a:ext cx="1134364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Van wie</a:t>
            </a:r>
            <a:endParaRPr lang="en-US" sz="1900" dirty="0"/>
          </a:p>
        </p:txBody>
      </p:sp>
      <p:sp>
        <p:nvSpPr>
          <p:cNvPr id="28" name="Text 25"/>
          <p:cNvSpPr txBox="1"/>
          <p:nvPr/>
        </p:nvSpPr>
        <p:spPr>
          <a:xfrm>
            <a:off x="3420364" y="30866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20364" y="3324352"/>
            <a:ext cx="685800" cy="590296"/>
          </a:xfrm>
          <a:prstGeom prst="roundRect">
            <a:avLst>
              <a:gd name="adj" fmla="val 9294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56940" y="3324352"/>
            <a:ext cx="61264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is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4215892" y="3086608"/>
            <a:ext cx="1709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15892" y="3324352"/>
            <a:ext cx="1709420" cy="590296"/>
          </a:xfrm>
          <a:prstGeom prst="roundRect">
            <a:avLst>
              <a:gd name="adj" fmla="val 9294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252468" y="3324352"/>
            <a:ext cx="163626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deze kaart?</a:t>
            </a:r>
            <a:endParaRPr lang="en-US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6035040" y="3086608"/>
            <a:ext cx="1583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réponse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35040" y="3324352"/>
            <a:ext cx="1583944" cy="590296"/>
          </a:xfrm>
          <a:prstGeom prst="roundRect">
            <a:avLst>
              <a:gd name="adj" fmla="val 9294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071616" y="3324352"/>
            <a:ext cx="1510792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— Van mij!</a:t>
            </a:r>
            <a:endParaRPr lang="en-US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2103120" y="3942080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À qui est cette carte ? — À moi !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4463288"/>
            <a:ext cx="146304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perfectum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103120" y="42255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2103120" y="4463288"/>
            <a:ext cx="685800" cy="590296"/>
          </a:xfrm>
          <a:prstGeom prst="roundRect">
            <a:avLst>
              <a:gd name="adj" fmla="val 9294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139696" y="4463288"/>
            <a:ext cx="612648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Ik</a:t>
            </a:r>
            <a:endParaRPr lang="en-US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2898648" y="4225544"/>
            <a:ext cx="705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898648" y="4463288"/>
            <a:ext cx="705612" cy="590296"/>
          </a:xfrm>
          <a:prstGeom prst="roundRect">
            <a:avLst>
              <a:gd name="adj" fmla="val 9294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935224" y="4463288"/>
            <a:ext cx="63246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heb</a:t>
            </a:r>
            <a:endParaRPr lang="en-US" sz="1900" dirty="0"/>
          </a:p>
        </p:txBody>
      </p:sp>
      <p:sp>
        <p:nvSpPr>
          <p:cNvPr id="45" name="Text 42"/>
          <p:cNvSpPr txBox="1"/>
          <p:nvPr/>
        </p:nvSpPr>
        <p:spPr>
          <a:xfrm>
            <a:off x="3713988" y="4225544"/>
            <a:ext cx="2587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713988" y="4463288"/>
            <a:ext cx="2587752" cy="590296"/>
          </a:xfrm>
          <a:prstGeom prst="roundRect">
            <a:avLst>
              <a:gd name="adj" fmla="val 9294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750564" y="4463288"/>
            <a:ext cx="251460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het hele formulier</a:t>
            </a:r>
            <a:endParaRPr lang="en-US" sz="1900" dirty="0"/>
          </a:p>
        </p:txBody>
      </p:sp>
      <p:sp>
        <p:nvSpPr>
          <p:cNvPr id="48" name="Text 45"/>
          <p:cNvSpPr txBox="1"/>
          <p:nvPr/>
        </p:nvSpPr>
        <p:spPr>
          <a:xfrm>
            <a:off x="6411468" y="4225544"/>
            <a:ext cx="831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manier · comment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411468" y="4463288"/>
            <a:ext cx="831088" cy="590296"/>
          </a:xfrm>
          <a:prstGeom prst="roundRect">
            <a:avLst>
              <a:gd name="adj" fmla="val 9294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6448044" y="4463288"/>
            <a:ext cx="757936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goed</a:t>
            </a:r>
            <a:endParaRPr lang="en-US" sz="1900" dirty="0"/>
          </a:p>
        </p:txBody>
      </p:sp>
      <p:sp>
        <p:nvSpPr>
          <p:cNvPr id="51" name="Text 48"/>
          <p:cNvSpPr txBox="1"/>
          <p:nvPr/>
        </p:nvSpPr>
        <p:spPr>
          <a:xfrm>
            <a:off x="7352284" y="4225544"/>
            <a:ext cx="14584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participe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352284" y="4463288"/>
            <a:ext cx="1458468" cy="590296"/>
          </a:xfrm>
          <a:prstGeom prst="roundRect">
            <a:avLst>
              <a:gd name="adj" fmla="val 9294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388860" y="4463288"/>
            <a:ext cx="1385316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ingevuld.</a:t>
            </a:r>
            <a:endParaRPr lang="en-US" sz="1900" dirty="0"/>
          </a:p>
        </p:txBody>
      </p:sp>
      <p:sp>
        <p:nvSpPr>
          <p:cNvPr id="54" name="Text 51"/>
          <p:cNvSpPr txBox="1"/>
          <p:nvPr/>
        </p:nvSpPr>
        <p:spPr>
          <a:xfrm>
            <a:off x="2103120" y="508101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J’ai bien rempli tout le formulaire. (in-ge-vuld)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57" name="Text 53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i="1" dirty="0">
                <a:solidFill>
                  <a:schemeClr val="tx1"/>
                </a:solidFill>
              </a:rPr>
              <a:t>parce que je </a:t>
            </a:r>
            <a:r>
              <a:rPr lang="en-US" sz="1700" b="1" i="1" dirty="0">
                <a:solidFill>
                  <a:schemeClr val="tx1"/>
                </a:solidFill>
              </a:rPr>
              <a:t>travaille</a:t>
            </a:r>
            <a:r>
              <a:rPr lang="en-US" sz="1700" i="1" dirty="0">
                <a:solidFill>
                  <a:schemeClr val="tx1"/>
                </a:solidFill>
              </a:rPr>
              <a:t> à Bruxelles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i="1" dirty="0">
                <a:solidFill>
                  <a:schemeClr val="tx1"/>
                </a:solidFill>
              </a:rPr>
              <a:t>omdat ik in Brussel </a:t>
            </a:r>
            <a:r>
              <a:rPr lang="en-US" sz="1700" b="1" i="1" dirty="0">
                <a:solidFill>
                  <a:schemeClr val="tx1"/>
                </a:solidFill>
              </a:rPr>
              <a:t>werk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omdat ik werk in Brussel</a:t>
            </a:r>
            <a:r>
              <a:rPr lang="en-US" sz="1700" dirty="0">
                <a:solidFill>
                  <a:schemeClr val="tx1"/>
                </a:solidFill>
              </a:rPr>
              <a:t>). Et </a:t>
            </a:r>
            <a:r>
              <a:rPr lang="en-US" sz="1700" i="1" dirty="0">
                <a:solidFill>
                  <a:schemeClr val="tx1"/>
                </a:solidFill>
              </a:rPr>
              <a:t>à Bruxelles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b="1" dirty="0">
                <a:solidFill>
                  <a:schemeClr val="tx1"/>
                </a:solidFill>
              </a:rPr>
              <a:t>in</a:t>
            </a:r>
            <a:r>
              <a:rPr lang="en-US" sz="1700" dirty="0">
                <a:solidFill>
                  <a:schemeClr val="tx1"/>
                </a:solidFill>
              </a:rPr>
              <a:t> Brussel.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formulaire d’inscription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96 · support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481328"/>
            <a:ext cx="7406640" cy="4809744"/>
          </a:xfrm>
          <a:prstGeom prst="rect">
            <a:avLst/>
          </a:prstGeom>
          <a:solidFill>
            <a:schemeClr val="bg1"/>
          </a:solidFill>
          <a:ln w="12700">
            <a:solidFill>
              <a:srgbClr val="4A5A70"/>
            </a:solidFill>
            <a:prstDash val="dash"/>
          </a:ln>
        </p:spPr>
      </p:sp>
      <p:sp>
        <p:nvSpPr>
          <p:cNvPr id="7" name="tag"/>
          <p:cNvSpPr/>
          <p:nvPr/>
        </p:nvSpPr>
        <p:spPr>
          <a:xfrm>
            <a:off x="777240" y="1645920"/>
            <a:ext cx="13944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FORMULIER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400300" y="1609344"/>
            <a:ext cx="5463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Inschrijvingsformulier — cursus Nederlands 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148840"/>
            <a:ext cx="6949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Achternaam 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Voornaam 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Adres   </a:t>
            </a:r>
            <a:r>
              <a:rPr lang="en-US" sz="2100" dirty="0">
                <a:solidFill>
                  <a:schemeClr val="tx1"/>
                </a:solidFill>
              </a:rPr>
              <a:t>straat + huisnummer · postcode + gemeente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Telefoonnummer 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E-mailadres 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Geboortedatum 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r>
              <a:rPr lang="en-US" sz="2100" dirty="0">
                <a:solidFill>
                  <a:schemeClr val="tx1"/>
                </a:solidFill>
              </a:rPr>
              <a:t> /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Nationaliteit 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Cursus   </a:t>
            </a:r>
            <a:r>
              <a:rPr lang="en-US" sz="2100" dirty="0">
                <a:solidFill>
                  <a:schemeClr val="tx1"/>
                </a:solidFill>
              </a:rPr>
              <a:t>Nederlands 2 · niveau A2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Datum en handtekening   </a:t>
            </a:r>
            <a:r>
              <a:rPr lang="en-US" sz="2100" dirty="0">
                <a:solidFill>
                  <a:schemeClr val="accent5"/>
                </a:solidFill>
              </a:rPr>
              <a:t>……………</a:t>
            </a:r>
            <a:endParaRPr lang="en-US" sz="2100" dirty="0"/>
          </a:p>
        </p:txBody>
      </p:sp>
      <p:sp>
        <p:nvSpPr>
          <p:cNvPr id="10" name="aside"/>
          <p:cNvSpPr/>
          <p:nvPr/>
        </p:nvSpPr>
        <p:spPr>
          <a:xfrm>
            <a:off x="8275320" y="1481328"/>
            <a:ext cx="3364992" cy="4809744"/>
          </a:xfrm>
          <a:prstGeom prst="roundRect">
            <a:avLst>
              <a:gd name="adj" fmla="val 2174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66420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842248" y="163677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LES QUESTIONS (u)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439912" y="2075688"/>
            <a:ext cx="30358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Wat is uw achternaam?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Hoe schrijft u dat?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Wat is uw adres?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Wanneer bent u geboren?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Wat is uw nationaliteit?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Teken hier, alstublieft.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Hoe schrijf je dat? L’alphabet néerlandais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Pour </a:t>
            </a:r>
            <a:r>
              <a:rPr lang="en-US" sz="1600" b="1" i="1" dirty="0">
                <a:solidFill>
                  <a:schemeClr val="accent5"/>
                </a:solidFill>
              </a:rPr>
              <a:t>épeler</a:t>
            </a:r>
            <a:r>
              <a:rPr lang="en-US" sz="1600" i="1" dirty="0">
                <a:solidFill>
                  <a:schemeClr val="accent5"/>
                </a:solidFill>
              </a:rPr>
              <a:t> son nom au guichet. En rouge : les lettres qui </a:t>
            </a:r>
            <a:r>
              <a:rPr lang="en-US" sz="1600" b="1" i="1" dirty="0">
                <a:solidFill>
                  <a:schemeClr val="accent5"/>
                </a:solidFill>
              </a:rPr>
              <a:t>trompent</a:t>
            </a:r>
            <a:r>
              <a:rPr lang="en-US" sz="1600" i="1" dirty="0">
                <a:solidFill>
                  <a:schemeClr val="accent5"/>
                </a:solidFill>
              </a:rPr>
              <a:t> les francophones.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871216"/>
                <a:gridCol w="822960"/>
                <a:gridCol w="2871216"/>
                <a:gridCol w="822960"/>
                <a:gridCol w="2880360"/>
              </a:tblGrid>
              <a:tr h="4718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 DIT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 DIT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 DIT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(long)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yé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ès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èl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 (comme en français)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èm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é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(pas « e »)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èn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W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wé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èf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 (long)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iks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G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gé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(g guttural, comme ch)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pé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i-grec · ypsilon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H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ha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ku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Z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zèt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èr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IJ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6"/>
                          </a:solidFill>
                        </a:rPr>
                        <a:t>lange ij</a:t>
                      </a: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 (« èi »)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Hoe schrijf je dat?</a:t>
            </a:r>
            <a:r>
              <a:rPr lang="en-US" sz="1500" i="1" dirty="0">
                <a:solidFill>
                  <a:schemeClr val="accent5"/>
                </a:solidFill>
              </a:rPr>
              <a:t> — </a:t>
            </a:r>
            <a:r>
              <a:rPr lang="en-US" sz="1500" i="1" dirty="0">
                <a:solidFill>
                  <a:schemeClr val="accent5"/>
                </a:solidFill>
              </a:rPr>
              <a:t>D-U-P-O-N-T.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met een hoofdletter</a:t>
            </a:r>
            <a:r>
              <a:rPr lang="en-US" sz="1500" i="1" dirty="0">
                <a:solidFill>
                  <a:schemeClr val="accent5"/>
                </a:solidFill>
              </a:rPr>
              <a:t> (majuscule) · </a:t>
            </a:r>
            <a:r>
              <a:rPr lang="en-US" sz="1500" i="1" dirty="0">
                <a:solidFill>
                  <a:schemeClr val="accent5"/>
                </a:solidFill>
              </a:rPr>
              <a:t>met een dubbele l</a:t>
            </a:r>
            <a:r>
              <a:rPr lang="en-US" sz="1500" i="1" dirty="0">
                <a:solidFill>
                  <a:schemeClr val="accent5"/>
                </a:solidFill>
              </a:rPr>
              <a:t> · </a:t>
            </a:r>
            <a:r>
              <a:rPr lang="en-US" sz="1500" i="1" dirty="0">
                <a:solidFill>
                  <a:schemeClr val="accent5"/>
                </a:solidFill>
              </a:rPr>
              <a:t>met een streepje</a:t>
            </a:r>
            <a:r>
              <a:rPr lang="en-US" sz="1500" i="1" dirty="0">
                <a:solidFill>
                  <a:schemeClr val="accent5"/>
                </a:solidFill>
              </a:rPr>
              <a:t> (trait d’union)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Jeu de rôle : au secrétariat de l’école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23088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MISE EN SITUATION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96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Par deux · 10 min — A (secrétariat, </a:t>
            </a:r>
            <a:r>
              <a:rPr lang="en-US" sz="1800" b="1" dirty="0">
                <a:solidFill>
                  <a:schemeClr val="tx1"/>
                </a:solidFill>
              </a:rPr>
              <a:t>u</a:t>
            </a:r>
            <a:r>
              <a:rPr lang="en-US" sz="1800" dirty="0">
                <a:solidFill>
                  <a:schemeClr val="tx1"/>
                </a:solidFill>
              </a:rPr>
              <a:t>) remplit le formulaire de B. B </a:t>
            </a:r>
            <a:r>
              <a:rPr lang="en-US" sz="1800" b="1" dirty="0">
                <a:solidFill>
                  <a:schemeClr val="tx1"/>
                </a:solidFill>
              </a:rPr>
              <a:t>épelle</a:t>
            </a:r>
            <a:r>
              <a:rPr lang="en-US" sz="1800" dirty="0">
                <a:solidFill>
                  <a:schemeClr val="tx1"/>
                </a:solidFill>
              </a:rPr>
              <a:t> son nom. Puis on inverse.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11580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11580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Accueil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Goedenavond! Wat is uw achternaam?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Dupont. D-U-P-O-N-T.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9464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25496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88436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488436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935224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Coordonnées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2962656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Wat is uw adres? Is dit uw telefoonnummer?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Ja, dat klopt.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102352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65292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76529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Le cours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239512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Waarom volgt u deze cursus?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Omdat ik in Brussel werk.</a:t>
            </a:r>
            <a:endParaRPr lang="en-US" sz="17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2395728"/>
            <a:ext cx="219456" cy="21945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79208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042148" y="2176272"/>
            <a:ext cx="658368" cy="6583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042148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7488936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La carte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7516368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Van wie is deze kaart?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Die kaart is van mij.</a:t>
            </a:r>
            <a:endParaRPr lang="en-US" sz="17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2395728"/>
            <a:ext cx="219456" cy="21945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656064" y="1993392"/>
            <a:ext cx="1984248" cy="3383280"/>
          </a:xfrm>
          <a:prstGeom prst="roundRect">
            <a:avLst>
              <a:gd name="adj" fmla="val 4608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319004" y="2176272"/>
            <a:ext cx="658368" cy="65836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10319004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Text 27"/>
          <p:cNvSpPr txBox="1"/>
          <p:nvPr/>
        </p:nvSpPr>
        <p:spPr>
          <a:xfrm>
            <a:off x="9765792" y="2907792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Signature</a:t>
            </a:r>
            <a:endParaRPr lang="en-US" sz="1700" dirty="0"/>
          </a:p>
        </p:txBody>
      </p:sp>
      <p:sp>
        <p:nvSpPr>
          <p:cNvPr id="35" name="Text 28"/>
          <p:cNvSpPr txBox="1"/>
          <p:nvPr/>
        </p:nvSpPr>
        <p:spPr>
          <a:xfrm>
            <a:off x="9793224" y="3685032"/>
            <a:ext cx="17099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: </a:t>
            </a:r>
            <a:r>
              <a:rPr lang="en-US" sz="1700" i="1" dirty="0">
                <a:solidFill>
                  <a:schemeClr val="tx1"/>
                </a:solidFill>
              </a:rPr>
              <a:t>Teken hier, alstublieft.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: </a:t>
            </a:r>
            <a:r>
              <a:rPr lang="en-US" sz="1700" i="1" dirty="0">
                <a:solidFill>
                  <a:schemeClr val="tx1"/>
                </a:solidFill>
              </a:rPr>
              <a:t>Dank u wel. Tot ziens!</a:t>
            </a:r>
            <a:endParaRPr lang="en-US" sz="1700" dirty="0"/>
          </a:p>
        </p:txBody>
      </p:sp>
      <p:sp>
        <p:nvSpPr>
          <p:cNvPr id="36" name="Shape 29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3">
              <a:alpha val="10000"/>
            </a:schemeClr>
          </a:solidFill>
          <a:ln w="9525">
            <a:solidFill>
              <a:schemeClr val="accent3">
                <a:alpha val="70000"/>
              </a:schemeClr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Critères — </a:t>
            </a:r>
            <a:r>
              <a:rPr lang="en-US" sz="1700" dirty="0">
                <a:solidFill>
                  <a:schemeClr val="tx1"/>
                </a:solidFill>
              </a:rPr>
              <a:t>B épelle </a:t>
            </a:r>
            <a:r>
              <a:rPr lang="en-US" sz="1700" b="1" dirty="0">
                <a:solidFill>
                  <a:schemeClr val="tx1"/>
                </a:solidFill>
              </a:rPr>
              <a:t>sans erreur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omdat</a:t>
            </a:r>
            <a:r>
              <a:rPr lang="en-US" sz="1700" dirty="0">
                <a:solidFill>
                  <a:schemeClr val="tx1"/>
                </a:solidFill>
              </a:rPr>
              <a:t> + verbe </a:t>
            </a:r>
            <a:r>
              <a:rPr lang="en-US" sz="1700" b="1" dirty="0">
                <a:solidFill>
                  <a:schemeClr val="tx1"/>
                </a:solidFill>
              </a:rPr>
              <a:t>à la fin</a:t>
            </a:r>
            <a:r>
              <a:rPr lang="en-US" sz="1700" dirty="0">
                <a:solidFill>
                  <a:schemeClr val="tx1"/>
                </a:solidFill>
              </a:rPr>
              <a:t> · </a:t>
            </a:r>
            <a:r>
              <a:rPr lang="en-US" sz="1700" i="1" dirty="0">
                <a:solidFill>
                  <a:schemeClr val="tx1"/>
                </a:solidFill>
              </a:rPr>
              <a:t>deze / die / dit / dat</a:t>
            </a:r>
            <a:r>
              <a:rPr lang="en-US" sz="1700" dirty="0">
                <a:solidFill>
                  <a:schemeClr val="tx1"/>
                </a:solidFill>
              </a:rPr>
              <a:t> corrects · </a:t>
            </a:r>
            <a:r>
              <a:rPr lang="en-US" sz="1700" b="1" dirty="0">
                <a:solidFill>
                  <a:schemeClr val="tx1"/>
                </a:solidFill>
              </a:rPr>
              <a:t>u / uw</a:t>
            </a:r>
            <a:r>
              <a:rPr lang="en-US" sz="1700" dirty="0">
                <a:solidFill>
                  <a:schemeClr val="tx1"/>
                </a:solidFill>
              </a:rPr>
              <a:t> du début à la fin.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11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s’informer sur le cours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le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pluriel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l’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adjectif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een goede cursus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) et de nouveaux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faux-amis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</a:t>
            </a:r>
            <a:r>
              <a:rPr lang="en-US" sz="1700" b="1" dirty="0">
                <a:solidFill>
                  <a:schemeClr val="tx1"/>
                </a:solidFill>
              </a:rPr>
              <a:t>deze / dit / die / dat</a:t>
            </a:r>
            <a:r>
              <a:rPr lang="en-US" sz="1700" dirty="0">
                <a:solidFill>
                  <a:schemeClr val="tx1"/>
                </a:solidFill>
              </a:rPr>
              <a:t> et les </a:t>
            </a:r>
            <a:r>
              <a:rPr lang="en-US" sz="1700" b="1" dirty="0">
                <a:solidFill>
                  <a:schemeClr val="tx1"/>
                </a:solidFill>
              </a:rPr>
              <a:t>possessifs</a:t>
            </a:r>
            <a:r>
              <a:rPr lang="en-US" sz="1700" dirty="0">
                <a:solidFill>
                  <a:schemeClr val="tx1"/>
                </a:solidFill>
              </a:rPr>
              <a:t> (p. 60).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15 mots </a:t>
            </a:r>
            <a:r>
              <a:rPr lang="en-US" sz="1700" b="1" dirty="0">
                <a:solidFill>
                  <a:schemeClr val="tx1"/>
                </a:solidFill>
              </a:rPr>
              <a:t>Administratie</a:t>
            </a:r>
            <a:r>
              <a:rPr lang="en-US" sz="1700" dirty="0">
                <a:solidFill>
                  <a:schemeClr val="tx1"/>
                </a:solidFill>
              </a:rPr>
              <a:t> (p. 86) </a:t>
            </a:r>
            <a:r>
              <a:rPr lang="en-US" sz="1700" b="1" dirty="0">
                <a:solidFill>
                  <a:schemeClr val="tx1"/>
                </a:solidFill>
              </a:rPr>
              <a:t>avec l’article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Remplir le </a:t>
            </a:r>
            <a:r>
              <a:rPr lang="en-US" sz="1700" b="1" dirty="0">
                <a:solidFill>
                  <a:schemeClr val="tx1"/>
                </a:solidFill>
              </a:rPr>
              <a:t>formulaire</a:t>
            </a:r>
            <a:r>
              <a:rPr lang="en-US" sz="1700" dirty="0">
                <a:solidFill>
                  <a:schemeClr val="tx1"/>
                </a:solidFill>
              </a:rPr>
              <a:t> pour vous-même, en néerlandais.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Savoir </a:t>
            </a:r>
            <a:r>
              <a:rPr lang="en-US" sz="1700" b="1" dirty="0">
                <a:solidFill>
                  <a:schemeClr val="tx1"/>
                </a:solidFill>
              </a:rPr>
              <a:t>épeler</a:t>
            </a:r>
            <a:r>
              <a:rPr lang="en-US" sz="1700" dirty="0">
                <a:solidFill>
                  <a:schemeClr val="tx1"/>
                </a:solidFill>
              </a:rPr>
              <a:t> votre nom et votre adresse.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Épelez votre nom, puis répondez à </a:t>
            </a:r>
            <a:r>
              <a:rPr lang="en-US" sz="1600" i="1" dirty="0">
                <a:solidFill>
                  <a:schemeClr val="bg1"/>
                </a:solidFill>
              </a:rPr>
              <a:t>Van wie is deze pen?</a:t>
            </a:r>
            <a:r>
              <a:rPr lang="en-US" sz="1600" dirty="0">
                <a:solidFill>
                  <a:schemeClr val="bg1"/>
                </a:solidFill>
              </a:rPr>
              <a:t> — </a:t>
            </a:r>
            <a:r>
              <a:rPr lang="en-US" sz="1600" i="1" dirty="0">
                <a:solidFill>
                  <a:schemeClr val="bg1"/>
                </a:solidFill>
              </a:rPr>
              <a:t>Deze pen is van 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in situatie">
  <a:themeElements>
    <a:clrScheme name="Nederlands in situatie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in situat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IRAM — Néerlandais 2 (UE2)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10 — Het formulier</dc:title>
  <dc:subject>Néerlandais en situation appliqué à l’enseignement supérieur</dc:subject>
  <dc:creator>A. Jouniaux</dc:creator>
  <cp:lastModifiedBy>A. Jouniaux</cp:lastModifiedBy>
  <cp:revision>1</cp:revision>
  <dcterms:created xsi:type="dcterms:W3CDTF">2026-10-03T21:06:38Z</dcterms:created>
  <dcterms:modified xsi:type="dcterms:W3CDTF">2026-10-03T21:06:38Z</dcterms:modified>
</cp:coreProperties>
</file>