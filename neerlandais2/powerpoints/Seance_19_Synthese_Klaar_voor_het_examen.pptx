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c22bd83c-71d8-c2cb-cd7f-b1142f932ed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04ae6605-9d7c-793a-99dd-52f280909b76}">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séance. Objectifs : revoir les 20 fiches de grammaire en un coup d’œil, vérifier ses acquis par un grand quiz mixte (images, de/het, niet/geen, faux-amis, perfectum/OVT, ordre des mots), enchaîner trois situations dans un grand jeu de rôle (s’inscrire au cours → entretien d’embauche → raconter son examen), s’auto-évaluer et recevoir des conseils pour l’oral. Image de couverture : la BD de la page 1 (« Ben je klaar voor de cursus? ») — la boucle est bouclée : aujourd’hui, « Ben je klaar voor het examen?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Séance de synthèse : on ne découvre rien de nouveau, on réactive. Le quiz peut se jouer en équipes (un point par bonne réponse, un point bonus pour la prononciation). Le grand jeu de rôle sert de répétition générale de l’examen oral : prévoir des groupes de trois (deux joueurs, un observateur).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fiche A1-09 (diminutifs), des thèmes Eten &amp; drinken et Boodschappen et du dialogue au marché. Interroger un étudiant par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acceptables : 4 « Ik wil graag een kilo appels » ou « Mag ik een kilo appels? » ; 5 « Hoeveel kost dat samen? » ; 6 « Het brood koop ik bij de bakker » ou « Ik koop brood bij de bakker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la première phrase du cours (dialogue p. 3) et la dernière phrase de la fiche 10 (séance 17). Demander aux étudiants ce qui leur semblait impossible au début et qui est devenu facile.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une ligne par étudiant ; pour chaque fiche, demander un autre exemple. Séances où chaque fiche a été travaillée : 01 (S8), 02 (S11), 03 (S10), 04 (S11), 05 (S7), 06 (S6), 07 (S3), 08 (S9), 09 (S18), 10 (S8). Coquille du livret : le sommaire de la section 2 (avant la p. 58) ne correspond pas aux fiches réelles (pour A1 : « 05 Interrogation » = Vraagwoorden, « 07 Nombres, heure &amp; date » = Getallen &amp; klok… et, pour A2, des titres comme « Le présent », « Le futur » ou « Pronoms réciproques » qui ne sont pas les fiches du livret) : se fier aux pages de garde des cahiers A1 et A2 (numéros 01 à 10 ci-dessus).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Séances où chaque fiche a été travaillée : 01 (S2), 02 (S14), 03 (S17), 04 (S13), 05 (S16), 06 (S4), 07 (S12), 08 (S5), 09 (S15), 10 (S12). Demander aux étudiants de cocher les trois fiches qu’ils trouvent les plus difficiles : elles guideront la révision (voir l’auto-évaluation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Traductions : Je travaille à la maison aujourd’hui. · Aujourd’hui, je travaille à la maison. · Travailles-tu à la maison aujourd’hui ? · Hier, j’ai travaillé à la maison. · Demain, je vais travailler à la maison. · Je reste à la maison parce que je suis malade. Synthèse des fiches A1-05 (questions), A2-01 (ordre des mots, T-M-P), A2-02 (perfectum), A2-10 (gaan + infinitif) et A2-06 (omdat). Le même contenu (vandaag / thuis werken) montre comment seul l’ordre change. Faire produire chaque schéma avec un autre verbe : « Vandaag studeer ik in de bibliotheek.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Manche 1 : un mot de chaque thème de vocabulaire (p. 78–88). Équipes : un point pour le mot, un point pour l’article. Attention aux faux-amis vus en séance : het gezin ≠ de familie au sens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mots en het : verkeerslicht, bestek, ei, ziekenhuis, oog, toetsenbord, onweer, gezin. Les mots composés prennent l’article du dernier mot : het licht → het verkeerslicht, het huis → het ziekenhuis, het bord → het toetsenbord, de boog → de regenboog, de machine → de nietmachine.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Manche 2 : fiches A1-01 (lidwoorden) et A1-06 (niet of geen). Mots tirés des thèmes Werk &amp; bedrijf, Boodschappen, Administratie et Gezondheid.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 2 : « niet » se place devant l’adjectif (niet moeilijk) et devant la préposition (niet in Gent), et à la fin quand il nie le verbe (Ik begrijp de vraag niet). Pour aller plus loin : « Ik heb geen tijd » ← « Ik heb tijd » (sans article) ; « Hij heeft geen auto » ← « Hij heeft een auto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Manche 3 : les faux-amis des pages 89 à 91 (séances 11, 14 et 15). Faire justifier chaque réponse en français.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Rappels : duur = cher (≠ hard = dur) ; de opleiding = la formation (de formatie = un groupe formé) ; zacht = doux (≠ moe = fatigué, et non « mou ») ; oraal = par voie orale (médicament) ; het journaal = le JT (de krant = le journal papier).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Manche 4 : fiches A2-02 (perfectum, séance 14) et A2-03 (OVT, séance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de contrôle : 3 et 7 auxiliaire zijn (gaan = déplacement, blijven = toujours zijn) ; 4 wonen → woon (n) → -de ; 8 verbes irréguliers. Accepter en 1 « Ik heb gisteren hard gewerkt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Manche 5 : fiches A2-01 (woordvolgorde), A2-06 (omdat), A2-02, A2-10, A2-07, A1-05 et A2-04. Pour un jeu en équipes : écrire les blocs sur des cartes et faire ranger les étudiants debout, une carte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acceptables : 2 « Omdat ik ziek ben, blijf ik thuis » (si on ne commence pas par « ik ») ; 6 « Werk je vandaag thuis? ». Refuser « Morgen ik ga… », « omdat ik ben ziek », « Werkt jij…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erreurs les plus fréquentes du cours. Faire lire la colonne de gauche, la classe corrige à voix haute avant de dévoiler (cacher la colonne de droite si possible). Demander à chacun de noter SON erreur la plus fréquente.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 jeu de rôle prévu par le plan de cours : il combine la fiche 4 (s’informer sur le cours), la fiche 5 (formulaire), la fiche 2 (CV), la fiche 6 (entretien), la fiche 8 (émotions) et la fiche 10 (examen). Environ 3 minutes par scène, puis 2 minutes de retour de l’observateur avec la grille. Les rôles détaillés sont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Modèles utiles. Scène 1 : « Wanneer begint de cursus? — De cursus begint maandag en duurt tien weken. » · « Hoeveel kost hij? — Hij kost 120 euro, boek inbegrepen. » Scène 2 : « Ik heb twee jaar ervaring in de administratie. » · « Omdat ik ervaring heb, kan ik meteen beginnen. » Scène 3 : « In het begin was ik zenuwachtig, maar ik heb het gehaald! » · « Proficiat!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Auto-évaluation individuelle, 5 minutes, sur le modèle des descripteurs A2 du Cadre européen (« Je peux… »). Faire lever la main ligne par ligne pour repérer les points à revoir collectivement. Les séances correspondantes : fiches 4 et 5 (S10–S11), fiche 3 (S12), fiches 2 et 6 (S14–S15), fiche 7 (S16), fiche 8 (S5), fiche 10 (S17).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les phrases de secours (carte 3) : elles montrent qu’on sait gérer une conversation, ce qui est une compétence A2. « Herhalen! » = réviser / répéter ; « Rustig! » = calme ! Proposer un dernier tour : chaque étudiant dit une phrase vraie au passé avec omdat.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ticket de sortie : « Ik kan me goed voorstellen. Ik ga de OVT nog herhalen. » Clin d’œil à la BD de la page 1 : « Ben je klaar voor de cursus? — Zeker weten! » devient « Ben je klaar voor het examen? — Ja, ik ben er klaar voor! ». Remercier le groupe et rappeler les modalités pratiques de l’évaluation.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2 · UE2 · Néerlandais en situation · Séance 19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2 · UE2 · Néerlandais en situation · Séance 19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2 · UE2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9" Type="http://schemas.openxmlformats.org/officeDocument/2006/relationships/image" Target="../media/image-9-9.jpg"/><Relationship Id="rId10" Type="http://schemas.openxmlformats.org/officeDocument/2006/relationships/image" Target="../media/image-9-10.jpg"/><Relationship Id="rId11" Type="http://schemas.openxmlformats.org/officeDocument/2006/relationships/image" Target="../media/image-9-11.jpg"/><Relationship Id="rId12" Type="http://schemas.openxmlformats.org/officeDocument/2006/relationships/image" Target="../media/image-9-12.jpg"/><Relationship Id="rId13" Type="http://schemas.openxmlformats.org/officeDocument/2006/relationships/image" Target="../media/image-9-13.jpg"/><Relationship Id="rId14" Type="http://schemas.openxmlformats.org/officeDocument/2006/relationships/image" Target="../media/image-9-14.jpg"/><Relationship Id="rId15" Type="http://schemas.openxmlformats.org/officeDocument/2006/relationships/image" Target="../media/image-9-15.jpg"/><Relationship Id="rId16" Type="http://schemas.openxmlformats.org/officeDocument/2006/relationships/slideLayout" Target="../slideLayouts/slideLayout2.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image" Target="../media/image-10-7.jpg"/><Relationship Id="rId8" Type="http://schemas.openxmlformats.org/officeDocument/2006/relationships/image" Target="../media/image-10-8.jpg"/><Relationship Id="rId9" Type="http://schemas.openxmlformats.org/officeDocument/2006/relationships/image" Target="../media/image-10-9.jpg"/><Relationship Id="rId10" Type="http://schemas.openxmlformats.org/officeDocument/2006/relationships/image" Target="../media/image-10-10.jpg"/><Relationship Id="rId11" Type="http://schemas.openxmlformats.org/officeDocument/2006/relationships/image" Target="../media/image-10-11.jpg"/><Relationship Id="rId12" Type="http://schemas.openxmlformats.org/officeDocument/2006/relationships/image" Target="../media/image-10-12.jpg"/><Relationship Id="rId13" Type="http://schemas.openxmlformats.org/officeDocument/2006/relationships/image" Target="../media/image-10-13.jpg"/><Relationship Id="rId14" Type="http://schemas.openxmlformats.org/officeDocument/2006/relationships/image" Target="../media/image-10-14.jpg"/><Relationship Id="rId15" Type="http://schemas.openxmlformats.org/officeDocument/2006/relationships/image" Target="../media/image-10-15.jpg"/><Relationship Id="rId16" Type="http://schemas.openxmlformats.org/officeDocument/2006/relationships/slideLayout" Target="../slideLayouts/slideLayout2.xml"/><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19 / 19</a:t>
            </a:r>
            <a:endParaRPr lang="en-US" sz="1400" dirty="0"/>
          </a:p>
        </p:txBody>
      </p:sp>
      <p:sp>
        <p:nvSpPr>
          <p:cNvPr id="3"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Klaar voor het examen?</a:t>
            </a: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Synthèse — les 20 fiches, le grand quiz et le jeu de rôle final</a:t>
            </a:r>
            <a:endParaRPr lang="en-US" sz="1800" dirty="0"/>
          </a:p>
          <a:p>
            <a:pPr algn="l" indent="0" marL="0">
              <a:buNone/>
            </a:pPr>
            <a:r>
              <a:rPr lang="en-US" sz="1800" b="1" dirty="0">
                <a:solidFill>
                  <a:schemeClr val="bg2"/>
                </a:solidFill>
              </a:rPr>
              <a:t>Synthèse du cours · préparation de l’évaluation</a:t>
            </a:r>
            <a:endParaRPr lang="en-US" sz="1800" dirty="0"/>
          </a:p>
          <a:p>
            <a:pPr algn="l" indent="0" marL="0">
              <a:buNone/>
            </a:pPr>
            <a:r>
              <a:rPr lang="en-US" sz="1800" dirty="0">
                <a:solidFill>
                  <a:schemeClr val="bg2"/>
                </a:solidFill>
              </a:rPr>
              <a:t>Livret p. 58–100b</a:t>
            </a:r>
            <a:endParaRPr lang="en-US" sz="1800" dirty="0"/>
          </a:p>
        </p:txBody>
      </p:sp>
      <p:pic>
        <p:nvPicPr>
          <p:cNvPr id="5" name="illustration" descr="Illustration du syllabus">    </p:cNvPr>
          <p:cNvPicPr>
            <a:picLocks noChangeAspect="1"/>
          </p:cNvPicPr>
          <p:nvPr/>
        </p:nvPicPr>
        <p:blipFill>
          <a:blip r:embed="rId1"/>
          <a:stretch>
            <a:fillRect/>
          </a:stretch>
        </p:blipFill>
        <p:spPr>
          <a:xfrm>
            <a:off x="6583680" y="1719506"/>
            <a:ext cx="5120640" cy="3418988"/>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58–100b</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600" dirty="0">
                <a:solidFill>
                  <a:schemeClr val="tx1"/>
                </a:solidFill>
              </a:rPr>
              <a:t>Faire le </a:t>
            </a:r>
            <a:r>
              <a:rPr lang="en-US" sz="1600" b="1" dirty="0">
                <a:solidFill>
                  <a:schemeClr val="tx1"/>
                </a:solidFill>
              </a:rPr>
              <a:t>bilan</a:t>
            </a:r>
            <a:r>
              <a:rPr lang="en-US" sz="1600" dirty="0">
                <a:solidFill>
                  <a:schemeClr val="tx1"/>
                </a:solidFill>
              </a:rPr>
              <a:t> du cours : revoir les </a:t>
            </a:r>
            <a:r>
              <a:rPr lang="en-US" sz="1600" b="1" dirty="0">
                <a:solidFill>
                  <a:schemeClr val="tx1"/>
                </a:solidFill>
              </a:rPr>
              <a:t>20 fiches</a:t>
            </a:r>
            <a:r>
              <a:rPr lang="en-US" sz="1600" dirty="0">
                <a:solidFill>
                  <a:schemeClr val="tx1"/>
                </a:solidFill>
              </a:rPr>
              <a:t>, tester mes connaissances et </a:t>
            </a:r>
            <a:r>
              <a:rPr lang="en-US" sz="1600" b="1" dirty="0">
                <a:solidFill>
                  <a:schemeClr val="tx1"/>
                </a:solidFill>
              </a:rPr>
              <a:t>jouer</a:t>
            </a:r>
            <a:r>
              <a:rPr lang="en-US" sz="1600" dirty="0">
                <a:solidFill>
                  <a:schemeClr val="tx1"/>
                </a:solidFill>
              </a:rPr>
              <a:t> une conversation complète, comme à l’examen oral.</a:t>
            </a:r>
            <a:endParaRPr lang="en-US" sz="16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dirty="0">
                <a:solidFill>
                  <a:schemeClr val="tx1"/>
                </a:solidFill>
              </a:rPr>
              <a:t>Tout le cours : </a:t>
            </a:r>
            <a:r>
              <a:rPr lang="en-US" sz="1800" i="1" dirty="0">
                <a:solidFill>
                  <a:schemeClr val="tx1"/>
                </a:solidFill>
              </a:rPr>
              <a:t>de / het · niet / geen · Ik heb gewerkt · Ik was moe · omdat ik ziek ben · Ik ga koken · het huisje</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600" dirty="0">
                <a:solidFill>
                  <a:schemeClr val="tx1"/>
                </a:solidFill>
              </a:rPr>
              <a:t>Repérer mes points forts et mes points faibles · corriger mes erreurs typiques · enchaîner trois situations à l’oral · gérer le stress</a:t>
            </a:r>
            <a:endParaRPr lang="en-US" sz="16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65960"/>
            <a:ext cx="384048" cy="384048"/>
          </a:xfrm>
          <a:prstGeom prst="ellipse">
            <a:avLst/>
          </a:prstGeom>
          <a:solidFill>
            <a:schemeClr val="tx2"/>
          </a:solidFill>
          <a:ln/>
        </p:spPr>
      </p:sp>
      <p:sp>
        <p:nvSpPr>
          <p:cNvPr id="24" name="Text 18"/>
          <p:cNvSpPr txBox="1"/>
          <p:nvPr/>
        </p:nvSpPr>
        <p:spPr>
          <a:xfrm>
            <a:off x="6263640" y="19659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66928"/>
          </a:xfrm>
          <a:prstGeom prst="rect">
            <a:avLst/>
          </a:prstGeom>
          <a:noFill/>
          <a:ln/>
        </p:spPr>
        <p:txBody>
          <a:bodyPr wrap="square" lIns="0" tIns="0" rIns="0" bIns="0" rtlCol="0" anchor="ctr"/>
          <a:lstStyle/>
          <a:p>
            <a:pPr indent="0" marL="0">
              <a:buNone/>
            </a:pPr>
            <a:r>
              <a:rPr lang="en-US" sz="1600" dirty="0">
                <a:solidFill>
                  <a:schemeClr val="tx1"/>
                </a:solidFill>
              </a:rPr>
              <a:t>Échauffement : la séance 18</a:t>
            </a:r>
            <a:endParaRPr lang="en-US" sz="1600" dirty="0"/>
          </a:p>
        </p:txBody>
      </p:sp>
      <p:sp>
        <p:nvSpPr>
          <p:cNvPr id="26" name="Text 20"/>
          <p:cNvSpPr txBox="1"/>
          <p:nvPr/>
        </p:nvSpPr>
        <p:spPr>
          <a:xfrm>
            <a:off x="10972800" y="187452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7" name="Shape 21"/>
          <p:cNvSpPr/>
          <p:nvPr/>
        </p:nvSpPr>
        <p:spPr>
          <a:xfrm>
            <a:off x="6263640" y="2532888"/>
            <a:ext cx="384048" cy="384048"/>
          </a:xfrm>
          <a:prstGeom prst="ellipse">
            <a:avLst/>
          </a:prstGeom>
          <a:solidFill>
            <a:schemeClr val="tx2"/>
          </a:solidFill>
          <a:ln/>
        </p:spPr>
      </p:sp>
      <p:sp>
        <p:nvSpPr>
          <p:cNvPr id="28" name="Text 22"/>
          <p:cNvSpPr txBox="1"/>
          <p:nvPr/>
        </p:nvSpPr>
        <p:spPr>
          <a:xfrm>
            <a:off x="6263640" y="2532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41448"/>
            <a:ext cx="4114800" cy="566928"/>
          </a:xfrm>
          <a:prstGeom prst="rect">
            <a:avLst/>
          </a:prstGeom>
          <a:noFill/>
          <a:ln/>
        </p:spPr>
        <p:txBody>
          <a:bodyPr wrap="square" lIns="0" tIns="0" rIns="0" bIns="0" rtlCol="0" anchor="ctr"/>
          <a:lstStyle/>
          <a:p>
            <a:pPr indent="0" marL="0">
              <a:buNone/>
            </a:pPr>
            <a:r>
              <a:rPr lang="en-US" sz="1600" dirty="0">
                <a:solidFill>
                  <a:schemeClr val="tx1"/>
                </a:solidFill>
              </a:rPr>
              <a:t>Les 20 fiches en un coup d’œil</a:t>
            </a:r>
            <a:endParaRPr lang="en-US" sz="1600" dirty="0"/>
          </a:p>
        </p:txBody>
      </p:sp>
      <p:sp>
        <p:nvSpPr>
          <p:cNvPr id="30" name="Text 24"/>
          <p:cNvSpPr txBox="1"/>
          <p:nvPr/>
        </p:nvSpPr>
        <p:spPr>
          <a:xfrm>
            <a:off x="10972800" y="244144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1" name="Shape 25"/>
          <p:cNvSpPr/>
          <p:nvPr/>
        </p:nvSpPr>
        <p:spPr>
          <a:xfrm>
            <a:off x="6263640" y="3099816"/>
            <a:ext cx="384048" cy="384048"/>
          </a:xfrm>
          <a:prstGeom prst="ellipse">
            <a:avLst/>
          </a:prstGeom>
          <a:solidFill>
            <a:schemeClr val="tx2"/>
          </a:solidFill>
          <a:ln/>
        </p:spPr>
      </p:sp>
      <p:sp>
        <p:nvSpPr>
          <p:cNvPr id="32" name="Text 26"/>
          <p:cNvSpPr txBox="1"/>
          <p:nvPr/>
        </p:nvSpPr>
        <p:spPr>
          <a:xfrm>
            <a:off x="6263640" y="30998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3008376"/>
            <a:ext cx="4114800" cy="566928"/>
          </a:xfrm>
          <a:prstGeom prst="rect">
            <a:avLst/>
          </a:prstGeom>
          <a:noFill/>
          <a:ln/>
        </p:spPr>
        <p:txBody>
          <a:bodyPr wrap="square" lIns="0" tIns="0" rIns="0" bIns="0" rtlCol="0" anchor="ctr"/>
          <a:lstStyle/>
          <a:p>
            <a:pPr indent="0" marL="0">
              <a:buNone/>
            </a:pPr>
            <a:r>
              <a:rPr lang="en-US" sz="1600" dirty="0">
                <a:solidFill>
                  <a:schemeClr val="tx1"/>
                </a:solidFill>
              </a:rPr>
              <a:t>La phrase en six schémas</a:t>
            </a:r>
            <a:endParaRPr lang="en-US" sz="1600" dirty="0"/>
          </a:p>
        </p:txBody>
      </p:sp>
      <p:sp>
        <p:nvSpPr>
          <p:cNvPr id="34" name="Text 28"/>
          <p:cNvSpPr txBox="1"/>
          <p:nvPr/>
        </p:nvSpPr>
        <p:spPr>
          <a:xfrm>
            <a:off x="10972800" y="3008376"/>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35" name="Shape 29"/>
          <p:cNvSpPr/>
          <p:nvPr/>
        </p:nvSpPr>
        <p:spPr>
          <a:xfrm>
            <a:off x="6263640" y="3666744"/>
            <a:ext cx="384048" cy="384048"/>
          </a:xfrm>
          <a:prstGeom prst="ellipse">
            <a:avLst/>
          </a:prstGeom>
          <a:solidFill>
            <a:schemeClr val="tx2"/>
          </a:solidFill>
          <a:ln/>
        </p:spPr>
      </p:sp>
      <p:sp>
        <p:nvSpPr>
          <p:cNvPr id="36" name="Text 30"/>
          <p:cNvSpPr txBox="1"/>
          <p:nvPr/>
        </p:nvSpPr>
        <p:spPr>
          <a:xfrm>
            <a:off x="6263640" y="36667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75304"/>
            <a:ext cx="4114800" cy="566928"/>
          </a:xfrm>
          <a:prstGeom prst="rect">
            <a:avLst/>
          </a:prstGeom>
          <a:noFill/>
          <a:ln/>
        </p:spPr>
        <p:txBody>
          <a:bodyPr wrap="square" lIns="0" tIns="0" rIns="0" bIns="0" rtlCol="0" anchor="ctr"/>
          <a:lstStyle/>
          <a:p>
            <a:pPr indent="0" marL="0">
              <a:buNone/>
            </a:pPr>
            <a:r>
              <a:rPr lang="en-US" sz="1600" dirty="0">
                <a:solidFill>
                  <a:schemeClr val="tx1"/>
                </a:solidFill>
              </a:rPr>
              <a:t>Grand quiz : cinq manches</a:t>
            </a:r>
            <a:endParaRPr lang="en-US" sz="1600" dirty="0"/>
          </a:p>
        </p:txBody>
      </p:sp>
      <p:sp>
        <p:nvSpPr>
          <p:cNvPr id="38" name="Text 32"/>
          <p:cNvSpPr txBox="1"/>
          <p:nvPr/>
        </p:nvSpPr>
        <p:spPr>
          <a:xfrm>
            <a:off x="10972800" y="3575304"/>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25'</a:t>
            </a:r>
            <a:endParaRPr lang="en-US" sz="1500" dirty="0"/>
          </a:p>
        </p:txBody>
      </p:sp>
      <p:sp>
        <p:nvSpPr>
          <p:cNvPr id="39" name="Shape 33"/>
          <p:cNvSpPr/>
          <p:nvPr/>
        </p:nvSpPr>
        <p:spPr>
          <a:xfrm>
            <a:off x="6263640" y="4233672"/>
            <a:ext cx="384048" cy="384048"/>
          </a:xfrm>
          <a:prstGeom prst="ellipse">
            <a:avLst/>
          </a:prstGeom>
          <a:solidFill>
            <a:schemeClr val="tx2"/>
          </a:solidFill>
          <a:ln/>
        </p:spPr>
      </p:sp>
      <p:sp>
        <p:nvSpPr>
          <p:cNvPr id="40" name="Text 34"/>
          <p:cNvSpPr txBox="1"/>
          <p:nvPr/>
        </p:nvSpPr>
        <p:spPr>
          <a:xfrm>
            <a:off x="6263640" y="42336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142232"/>
            <a:ext cx="4114800" cy="566928"/>
          </a:xfrm>
          <a:prstGeom prst="rect">
            <a:avLst/>
          </a:prstGeom>
          <a:noFill/>
          <a:ln/>
        </p:spPr>
        <p:txBody>
          <a:bodyPr wrap="square" lIns="0" tIns="0" rIns="0" bIns="0" rtlCol="0" anchor="ctr"/>
          <a:lstStyle/>
          <a:p>
            <a:pPr indent="0" marL="0">
              <a:buNone/>
            </a:pPr>
            <a:r>
              <a:rPr lang="en-US" sz="1600" dirty="0">
                <a:solidFill>
                  <a:schemeClr val="tx1"/>
                </a:solidFill>
              </a:rPr>
              <a:t>Grand jeu de rôle : trois scènes</a:t>
            </a:r>
            <a:endParaRPr lang="en-US" sz="1600" dirty="0"/>
          </a:p>
        </p:txBody>
      </p:sp>
      <p:sp>
        <p:nvSpPr>
          <p:cNvPr id="42" name="Text 36"/>
          <p:cNvSpPr txBox="1"/>
          <p:nvPr/>
        </p:nvSpPr>
        <p:spPr>
          <a:xfrm>
            <a:off x="10972800" y="4142232"/>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25'</a:t>
            </a:r>
            <a:endParaRPr lang="en-US" sz="1500" dirty="0"/>
          </a:p>
        </p:txBody>
      </p:sp>
      <p:sp>
        <p:nvSpPr>
          <p:cNvPr id="43" name="Shape 37"/>
          <p:cNvSpPr/>
          <p:nvPr/>
        </p:nvSpPr>
        <p:spPr>
          <a:xfrm>
            <a:off x="6263640" y="4800600"/>
            <a:ext cx="384048" cy="384048"/>
          </a:xfrm>
          <a:prstGeom prst="ellipse">
            <a:avLst/>
          </a:prstGeom>
          <a:solidFill>
            <a:schemeClr val="tx2"/>
          </a:solidFill>
          <a:ln/>
        </p:spPr>
      </p:sp>
      <p:sp>
        <p:nvSpPr>
          <p:cNvPr id="44" name="Text 38"/>
          <p:cNvSpPr txBox="1"/>
          <p:nvPr/>
        </p:nvSpPr>
        <p:spPr>
          <a:xfrm>
            <a:off x="6263640" y="4800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709160"/>
            <a:ext cx="4114800" cy="566928"/>
          </a:xfrm>
          <a:prstGeom prst="rect">
            <a:avLst/>
          </a:prstGeom>
          <a:noFill/>
          <a:ln/>
        </p:spPr>
        <p:txBody>
          <a:bodyPr wrap="square" lIns="0" tIns="0" rIns="0" bIns="0" rtlCol="0" anchor="ctr"/>
          <a:lstStyle/>
          <a:p>
            <a:pPr indent="0" marL="0">
              <a:buNone/>
            </a:pPr>
            <a:r>
              <a:rPr lang="en-US" sz="1600" dirty="0">
                <a:solidFill>
                  <a:schemeClr val="tx1"/>
                </a:solidFill>
              </a:rPr>
              <a:t>Auto-évaluation A2</a:t>
            </a:r>
            <a:endParaRPr lang="en-US" sz="1600" dirty="0"/>
          </a:p>
        </p:txBody>
      </p:sp>
      <p:sp>
        <p:nvSpPr>
          <p:cNvPr id="46" name="Text 40"/>
          <p:cNvSpPr txBox="1"/>
          <p:nvPr/>
        </p:nvSpPr>
        <p:spPr>
          <a:xfrm>
            <a:off x="10972800" y="470916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47" name="Shape 41"/>
          <p:cNvSpPr/>
          <p:nvPr/>
        </p:nvSpPr>
        <p:spPr>
          <a:xfrm>
            <a:off x="6263640" y="5367528"/>
            <a:ext cx="384048" cy="384048"/>
          </a:xfrm>
          <a:prstGeom prst="ellipse">
            <a:avLst/>
          </a:prstGeom>
          <a:solidFill>
            <a:schemeClr val="tx2"/>
          </a:solidFill>
          <a:ln/>
        </p:spPr>
      </p:sp>
      <p:sp>
        <p:nvSpPr>
          <p:cNvPr id="48" name="Text 42"/>
          <p:cNvSpPr txBox="1"/>
          <p:nvPr/>
        </p:nvSpPr>
        <p:spPr>
          <a:xfrm>
            <a:off x="6263640" y="5367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76088"/>
            <a:ext cx="4114800" cy="566928"/>
          </a:xfrm>
          <a:prstGeom prst="rect">
            <a:avLst/>
          </a:prstGeom>
          <a:noFill/>
          <a:ln/>
        </p:spPr>
        <p:txBody>
          <a:bodyPr wrap="square" lIns="0" tIns="0" rIns="0" bIns="0" rtlCol="0" anchor="ctr"/>
          <a:lstStyle/>
          <a:p>
            <a:pPr indent="0" marL="0">
              <a:buNone/>
            </a:pPr>
            <a:r>
              <a:rPr lang="en-US" sz="1600" dirty="0">
                <a:solidFill>
                  <a:schemeClr val="tx1"/>
                </a:solidFill>
              </a:rPr>
              <a:t>Conseils pour l’oral · bilan</a:t>
            </a:r>
            <a:endParaRPr lang="en-US" sz="1600" dirty="0"/>
          </a:p>
        </p:txBody>
      </p:sp>
      <p:sp>
        <p:nvSpPr>
          <p:cNvPr id="50" name="Text 44"/>
          <p:cNvSpPr txBox="1"/>
          <p:nvPr/>
        </p:nvSpPr>
        <p:spPr>
          <a:xfrm>
            <a:off x="10972800" y="527608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la séance 18 en six phrases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18</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ou traduisez, puis lisez à voix haute.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de krant → diminutif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2.  </a:t>
            </a:r>
            <a:r>
              <a:rPr lang="en-US" sz="2400" dirty="0">
                <a:solidFill>
                  <a:schemeClr val="tx1"/>
                </a:solidFill>
              </a:rPr>
              <a:t>het huisje → pluriel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3.  </a:t>
            </a:r>
            <a:r>
              <a:rPr lang="en-US" sz="2400" dirty="0">
                <a:solidFill>
                  <a:schemeClr val="tx1"/>
                </a:solidFill>
              </a:rPr>
              <a:t>un petit pain au fromage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4.  </a:t>
            </a:r>
            <a:r>
              <a:rPr lang="en-US" sz="2400" dirty="0">
                <a:solidFill>
                  <a:schemeClr val="tx1"/>
                </a:solidFill>
              </a:rPr>
              <a:t>Je voudrais un kilo de pommes. </a:t>
            </a:r>
            <a:r>
              <a:rPr lang="en-US" sz="2400" i="1" dirty="0">
                <a:solidFill>
                  <a:schemeClr val="tx1"/>
                </a:solidFill>
              </a:rPr>
              <a:t>(BE)</a:t>
            </a:r>
            <a:r>
              <a:rPr lang="en-US" sz="2400" dirty="0">
                <a:solidFill>
                  <a:schemeClr val="tx1"/>
                </a:solidFill>
              </a:rPr>
              <a:t>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5.  </a:t>
            </a:r>
            <a:r>
              <a:rPr lang="en-US" sz="2400" dirty="0">
                <a:solidFill>
                  <a:schemeClr val="tx1"/>
                </a:solidFill>
              </a:rPr>
              <a:t>Combien est-ce, au total ?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6.  </a:t>
            </a:r>
            <a:r>
              <a:rPr lang="en-US" sz="2400" dirty="0">
                <a:solidFill>
                  <a:schemeClr val="tx1"/>
                </a:solidFill>
              </a:rPr>
              <a:t>Le pain, je l’achète chez le boulanger.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la séance 18 en six phrases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18</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ou traduisez, puis lisez à voix haute.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de krant → diminutif : </a:t>
            </a:r>
            <a:r>
              <a:rPr lang="en-US" sz="2400" b="1" dirty="0">
                <a:solidFill>
                  <a:schemeClr val="accent3"/>
                </a:solidFill>
              </a:rPr>
              <a:t>het krantje</a:t>
            </a:r>
            <a:endParaRPr lang="en-US" sz="2400" dirty="0"/>
          </a:p>
          <a:p>
            <a:pPr indent="0" marL="0">
              <a:spcAft>
                <a:spcPts val="1200"/>
              </a:spcAft>
              <a:buNone/>
            </a:pPr>
            <a:r>
              <a:rPr lang="en-US" sz="2400" b="1" dirty="0">
                <a:solidFill>
                  <a:schemeClr val="tx2"/>
                </a:solidFill>
              </a:rPr>
              <a:t>2.  </a:t>
            </a:r>
            <a:r>
              <a:rPr lang="en-US" sz="2400" dirty="0">
                <a:solidFill>
                  <a:schemeClr val="tx1"/>
                </a:solidFill>
              </a:rPr>
              <a:t>het huisje → pluriel : </a:t>
            </a:r>
            <a:r>
              <a:rPr lang="en-US" sz="2400" b="1" dirty="0">
                <a:solidFill>
                  <a:schemeClr val="accent3"/>
                </a:solidFill>
              </a:rPr>
              <a:t>de huisjes</a:t>
            </a:r>
            <a:endParaRPr lang="en-US" sz="2400" dirty="0"/>
          </a:p>
          <a:p>
            <a:pPr indent="0" marL="0">
              <a:spcAft>
                <a:spcPts val="1200"/>
              </a:spcAft>
              <a:buNone/>
            </a:pPr>
            <a:r>
              <a:rPr lang="en-US" sz="2400" b="1" dirty="0">
                <a:solidFill>
                  <a:schemeClr val="tx2"/>
                </a:solidFill>
              </a:rPr>
              <a:t>3.  </a:t>
            </a:r>
            <a:r>
              <a:rPr lang="en-US" sz="2400" dirty="0">
                <a:solidFill>
                  <a:schemeClr val="tx1"/>
                </a:solidFill>
              </a:rPr>
              <a:t>un petit pain au fromage → </a:t>
            </a:r>
            <a:r>
              <a:rPr lang="en-US" sz="2400" b="1" dirty="0">
                <a:solidFill>
                  <a:schemeClr val="accent3"/>
                </a:solidFill>
              </a:rPr>
              <a:t>een broodje kaas</a:t>
            </a:r>
            <a:endParaRPr lang="en-US" sz="2400" dirty="0"/>
          </a:p>
          <a:p>
            <a:pPr indent="0" marL="0">
              <a:spcAft>
                <a:spcPts val="1200"/>
              </a:spcAft>
              <a:buNone/>
            </a:pPr>
            <a:r>
              <a:rPr lang="en-US" sz="2400" b="1" dirty="0">
                <a:solidFill>
                  <a:schemeClr val="tx2"/>
                </a:solidFill>
              </a:rPr>
              <a:t>4.  </a:t>
            </a:r>
            <a:r>
              <a:rPr lang="en-US" sz="2400" dirty="0">
                <a:solidFill>
                  <a:schemeClr val="tx1"/>
                </a:solidFill>
              </a:rPr>
              <a:t>Je voudrais un kilo de pommes. </a:t>
            </a:r>
            <a:r>
              <a:rPr lang="en-US" sz="2400" i="1" dirty="0">
                <a:solidFill>
                  <a:schemeClr val="tx1"/>
                </a:solidFill>
              </a:rPr>
              <a:t>(BE)</a:t>
            </a:r>
            <a:r>
              <a:rPr lang="en-US" sz="2400" dirty="0">
                <a:solidFill>
                  <a:schemeClr val="tx1"/>
                </a:solidFill>
              </a:rPr>
              <a:t> → </a:t>
            </a:r>
            <a:r>
              <a:rPr lang="en-US" sz="2400" b="1" dirty="0">
                <a:solidFill>
                  <a:schemeClr val="accent3"/>
                </a:solidFill>
              </a:rPr>
              <a:t>Ik had graag een kilo appels.</a:t>
            </a:r>
            <a:endParaRPr lang="en-US" sz="2400" dirty="0"/>
          </a:p>
          <a:p>
            <a:pPr indent="0" marL="0">
              <a:spcAft>
                <a:spcPts val="1200"/>
              </a:spcAft>
              <a:buNone/>
            </a:pPr>
            <a:r>
              <a:rPr lang="en-US" sz="2400" b="1" dirty="0">
                <a:solidFill>
                  <a:schemeClr val="tx2"/>
                </a:solidFill>
              </a:rPr>
              <a:t>5.  </a:t>
            </a:r>
            <a:r>
              <a:rPr lang="en-US" sz="2400" dirty="0">
                <a:solidFill>
                  <a:schemeClr val="tx1"/>
                </a:solidFill>
              </a:rPr>
              <a:t>Combien est-ce, au total ? → </a:t>
            </a:r>
            <a:r>
              <a:rPr lang="en-US" sz="2400" b="1" dirty="0">
                <a:solidFill>
                  <a:schemeClr val="accent3"/>
                </a:solidFill>
              </a:rPr>
              <a:t>Hoeveel is dat samen?</a:t>
            </a:r>
            <a:endParaRPr lang="en-US" sz="2400" dirty="0"/>
          </a:p>
          <a:p>
            <a:pPr indent="0" marL="0">
              <a:spcAft>
                <a:spcPts val="1200"/>
              </a:spcAft>
              <a:buNone/>
            </a:pPr>
            <a:r>
              <a:rPr lang="en-US" sz="2400" b="1" dirty="0">
                <a:solidFill>
                  <a:schemeClr val="tx2"/>
                </a:solidFill>
              </a:rPr>
              <a:t>6.  </a:t>
            </a:r>
            <a:r>
              <a:rPr lang="en-US" sz="2400" dirty="0">
                <a:solidFill>
                  <a:schemeClr val="tx1"/>
                </a:solidFill>
              </a:rPr>
              <a:t>Le pain, je l’achète chez le boulanger. → </a:t>
            </a:r>
            <a:r>
              <a:rPr lang="en-US" sz="2400" b="1" dirty="0">
                <a:solidFill>
                  <a:schemeClr val="accent3"/>
                </a:solidFill>
              </a:rPr>
              <a:t>Brood koop ik bij de bakker.</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Diminutif = </a:t>
            </a:r>
            <a:r>
              <a:rPr lang="en-US" sz="1800" b="1" dirty="0">
                <a:solidFill>
                  <a:schemeClr val="tx1"/>
                </a:solidFill>
              </a:rPr>
              <a:t>het</a:t>
            </a:r>
            <a:r>
              <a:rPr lang="en-US" sz="1800" dirty="0">
                <a:solidFill>
                  <a:schemeClr val="tx1"/>
                </a:solidFill>
              </a:rPr>
              <a:t> · pluriel = </a:t>
            </a:r>
            <a:r>
              <a:rPr lang="en-US" sz="1800" b="1" dirty="0">
                <a:solidFill>
                  <a:schemeClr val="tx1"/>
                </a:solidFill>
              </a:rPr>
              <a:t>de … -s</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un petit pain</a:t>
            </a:r>
            <a:r>
              <a:rPr lang="en-US" sz="1800" dirty="0">
                <a:solidFill>
                  <a:schemeClr val="tx1"/>
                </a:solidFill>
              </a:rPr>
              <a:t> = </a:t>
            </a:r>
            <a:r>
              <a:rPr lang="en-US" sz="1800" i="1" dirty="0">
                <a:solidFill>
                  <a:schemeClr val="tx1"/>
                </a:solidFill>
              </a:rPr>
              <a:t>een </a:t>
            </a:r>
            <a:r>
              <a:rPr lang="en-US" sz="1800" b="1" i="1" dirty="0">
                <a:solidFill>
                  <a:schemeClr val="tx1"/>
                </a:solidFill>
              </a:rPr>
              <a:t>broodje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Produit en tête → </a:t>
            </a:r>
            <a:r>
              <a:rPr lang="en-US" sz="1800" b="1" dirty="0">
                <a:solidFill>
                  <a:schemeClr val="tx1"/>
                </a:solidFill>
              </a:rPr>
              <a:t>inversion</a:t>
            </a:r>
            <a:r>
              <a:rPr lang="en-US" sz="1800" dirty="0">
                <a:solidFill>
                  <a:schemeClr val="tx1"/>
                </a:solidFill>
              </a:rPr>
              <a:t> : </a:t>
            </a:r>
            <a:r>
              <a:rPr lang="en-US" sz="1800" i="1" dirty="0">
                <a:solidFill>
                  <a:schemeClr val="tx1"/>
                </a:solidFill>
              </a:rPr>
              <a:t>Brood koop ik…</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Le chemin parcouru</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bg2"/>
                </a:solidFill>
              </a:rPr>
              <a:t>Livret p. 1–100b</a:t>
            </a:r>
            <a:endParaRPr lang="en-US" sz="1200" dirty="0"/>
          </a:p>
        </p:txBody>
      </p:sp>
      <p:pic>
        <p:nvPicPr>
          <p:cNvPr id="5" name="Image 0" descr="preencoded.png">    </p:cNvPr>
          <p:cNvPicPr>
            <a:picLocks noChangeAspect="1"/>
          </p:cNvPicPr>
          <p:nvPr/>
        </p:nvPicPr>
        <p:blipFill>
          <a:blip r:embed="rId1"/>
          <a:stretch>
            <a:fillRect/>
          </a:stretch>
        </p:blipFill>
        <p:spPr>
          <a:xfrm>
            <a:off x="548640" y="1828800"/>
            <a:ext cx="685800" cy="685800"/>
          </a:xfrm>
          <a:prstGeom prst="rect">
            <a:avLst/>
          </a:prstGeom>
        </p:spPr>
      </p:pic>
      <p:sp>
        <p:nvSpPr>
          <p:cNvPr id="6" name="Text 3"/>
          <p:cNvSpPr txBox="1"/>
          <p:nvPr/>
        </p:nvSpPr>
        <p:spPr>
          <a:xfrm>
            <a:off x="1600200" y="1691640"/>
            <a:ext cx="10040112" cy="1243584"/>
          </a:xfrm>
          <a:prstGeom prst="rect">
            <a:avLst/>
          </a:prstGeom>
          <a:noFill/>
          <a:ln/>
        </p:spPr>
        <p:txBody>
          <a:bodyPr wrap="square" lIns="0" tIns="0" rIns="0" bIns="0" rtlCol="0" anchor="t"/>
          <a:lstStyle/>
          <a:p>
            <a:pPr indent="0" marL="0">
              <a:buNone/>
            </a:pPr>
            <a:r>
              <a:rPr lang="en-US" sz="3600" b="1" dirty="0">
                <a:solidFill>
                  <a:schemeClr val="bg1"/>
                </a:solidFill>
                <a:latin typeface="+mj-lt" pitchFamily="34" charset="0"/>
                <a:ea typeface="+mj-lt" pitchFamily="34" charset="-122"/>
                <a:cs typeface="+mj-lt" pitchFamily="34" charset="-120"/>
              </a:rPr>
              <a:t>Van «Goedemorgen, Pieter!» tot «Nu alles gelukt is, ben ik trots op ons.»</a:t>
            </a:r>
            <a:endParaRPr lang="en-US" sz="3600" dirty="0"/>
          </a:p>
        </p:txBody>
      </p:sp>
      <p:sp>
        <p:nvSpPr>
          <p:cNvPr id="7" name="Text 4"/>
          <p:cNvSpPr txBox="1"/>
          <p:nvPr/>
        </p:nvSpPr>
        <p:spPr>
          <a:xfrm>
            <a:off x="1600200" y="3346704"/>
            <a:ext cx="10040112" cy="2825496"/>
          </a:xfrm>
          <a:prstGeom prst="rect">
            <a:avLst/>
          </a:prstGeom>
          <a:noFill/>
          <a:ln/>
        </p:spPr>
        <p:txBody>
          <a:bodyPr wrap="square" lIns="0" tIns="0" rIns="0" bIns="0" rtlCol="0" anchor="t"/>
          <a:lstStyle/>
          <a:p>
            <a:pPr indent="0" marL="0">
              <a:spcAft>
                <a:spcPts val="800"/>
              </a:spcAft>
              <a:buNone/>
            </a:pPr>
            <a:r>
              <a:rPr lang="en-US" sz="2000" b="1" dirty="0">
                <a:solidFill>
                  <a:schemeClr val="bg2"/>
                </a:solidFill>
              </a:rPr>
              <a:t>Section 1</a:t>
            </a:r>
            <a:r>
              <a:rPr lang="en-US" sz="2000" dirty="0">
                <a:solidFill>
                  <a:schemeClr val="bg2"/>
                </a:solidFill>
              </a:rPr>
              <a:t> : saluer · prendre des nouvelles · zijn &amp; hebben · prendre congé · se présenter.</a:t>
            </a:r>
            <a:endParaRPr lang="en-US" sz="2000" dirty="0"/>
          </a:p>
          <a:p>
            <a:pPr indent="0" marL="0">
              <a:spcAft>
                <a:spcPts val="800"/>
              </a:spcAft>
              <a:buNone/>
            </a:pPr>
            <a:r>
              <a:rPr lang="en-US" sz="2000" b="1" dirty="0">
                <a:solidFill>
                  <a:schemeClr val="bg2"/>
                </a:solidFill>
              </a:rPr>
              <a:t>Section 2</a:t>
            </a:r>
            <a:r>
              <a:rPr lang="en-US" sz="2000" dirty="0">
                <a:solidFill>
                  <a:schemeClr val="bg2"/>
                </a:solidFill>
              </a:rPr>
              <a:t> : 20 fiches de grammaire · </a:t>
            </a:r>
            <a:r>
              <a:rPr lang="en-US" sz="2000" b="1" dirty="0">
                <a:solidFill>
                  <a:schemeClr val="bg2"/>
                </a:solidFill>
              </a:rPr>
              <a:t>Section 3</a:t>
            </a:r>
            <a:r>
              <a:rPr lang="en-US" sz="2000" dirty="0">
                <a:solidFill>
                  <a:schemeClr val="bg2"/>
                </a:solidFill>
              </a:rPr>
              <a:t> : 12 thèmes de vocabulaire · </a:t>
            </a:r>
            <a:r>
              <a:rPr lang="en-US" sz="2000" b="1" dirty="0">
                <a:solidFill>
                  <a:schemeClr val="bg2"/>
                </a:solidFill>
              </a:rPr>
              <a:t>Section 4</a:t>
            </a:r>
            <a:r>
              <a:rPr lang="en-US" sz="2000" dirty="0">
                <a:solidFill>
                  <a:schemeClr val="bg2"/>
                </a:solidFill>
              </a:rPr>
              <a:t> : 10 mises en situation.</a:t>
            </a:r>
            <a:endParaRPr lang="en-US" sz="2000" dirty="0"/>
          </a:p>
          <a:p>
            <a:pPr indent="0" marL="0">
              <a:spcAft>
                <a:spcPts val="800"/>
              </a:spcAft>
              <a:buNone/>
            </a:pPr>
            <a:r>
              <a:rPr lang="en-US" sz="2000" dirty="0">
                <a:solidFill>
                  <a:schemeClr val="bg2"/>
                </a:solidFill>
              </a:rPr>
              <a:t>Aujourd’hui : on </a:t>
            </a:r>
            <a:r>
              <a:rPr lang="en-US" sz="2000" b="1" dirty="0">
                <a:solidFill>
                  <a:schemeClr val="bg2"/>
                </a:solidFill>
              </a:rPr>
              <a:t>révise</a:t>
            </a:r>
            <a:r>
              <a:rPr lang="en-US" sz="2000" dirty="0">
                <a:solidFill>
                  <a:schemeClr val="bg2"/>
                </a:solidFill>
              </a:rPr>
              <a:t>, on </a:t>
            </a:r>
            <a:r>
              <a:rPr lang="en-US" sz="2000" b="1" dirty="0">
                <a:solidFill>
                  <a:schemeClr val="bg2"/>
                </a:solidFill>
              </a:rPr>
              <a:t>joue</a:t>
            </a:r>
            <a:r>
              <a:rPr lang="en-US" sz="2000" dirty="0">
                <a:solidFill>
                  <a:schemeClr val="bg2"/>
                </a:solidFill>
              </a:rPr>
              <a:t>, on </a:t>
            </a:r>
            <a:r>
              <a:rPr lang="en-US" sz="2000" b="1" dirty="0">
                <a:solidFill>
                  <a:schemeClr val="bg2"/>
                </a:solidFill>
              </a:rPr>
              <a:t>s’évalue</a:t>
            </a:r>
            <a:r>
              <a:rPr lang="en-US" sz="2000" dirty="0">
                <a:solidFill>
                  <a:schemeClr val="bg2"/>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10 fiches A1 en un coup d’œil</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58–67</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
                <a:gridCol w="2148840"/>
                <a:gridCol w="4343400"/>
                <a:gridCol w="4050792"/>
              </a:tblGrid>
              <a:tr h="503834">
                <a:tc>
                  <a:txBody>
                    <a:bodyPr/>
                    <a:lstStyle/>
                    <a:p>
                      <a:pPr algn="l" indent="0" marL="0">
                        <a:buNone/>
                      </a:pPr>
                      <a:r>
                        <a:rPr lang="en-US" sz="1400" b="1" dirty="0">
                          <a:solidFill>
                            <a:schemeClr val="bg1"/>
                          </a:solidFill>
                        </a:rPr>
                        <a:t>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FICHE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LA RÈGLE EN BREF</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EXEMPLE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05994">
                <a:tc>
                  <a:txBody>
                    <a:bodyPr/>
                    <a:lstStyle/>
                    <a:p>
                      <a:pPr algn="ctr" indent="0" marL="0">
                        <a:buNone/>
                      </a:pPr>
                      <a:r>
                        <a:rPr lang="en-US" sz="1600" dirty="0">
                          <a:solidFill>
                            <a:schemeClr val="tx1"/>
                          </a:solidFill>
                        </a:rPr>
                        <a:t>01</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Lidwoorden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 3 mots sur 4) ou </a:t>
                      </a:r>
                      <a:r>
                        <a:rPr lang="en-US" sz="1600" b="1" dirty="0">
                          <a:solidFill>
                            <a:schemeClr val="accent4"/>
                          </a:solidFill>
                        </a:rPr>
                        <a:t>het</a:t>
                      </a:r>
                      <a:r>
                        <a:rPr lang="en-US" sz="1600" dirty="0">
                          <a:solidFill>
                            <a:schemeClr val="tx1"/>
                          </a:solidFill>
                        </a:rPr>
                        <a:t> · pluriel : de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man · </a:t>
                      </a:r>
                      <a:r>
                        <a:rPr lang="en-US" sz="1600" b="1" dirty="0">
                          <a:solidFill>
                            <a:schemeClr val="accent4"/>
                          </a:solidFill>
                        </a:rPr>
                        <a:t>het</a:t>
                      </a:r>
                      <a:r>
                        <a:rPr lang="en-US" sz="1600" dirty="0">
                          <a:solidFill>
                            <a:schemeClr val="tx1"/>
                          </a:solidFill>
                        </a:rPr>
                        <a:t> huis · de huizen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ctr" indent="0" marL="0">
                        <a:buNone/>
                      </a:pPr>
                      <a:r>
                        <a:rPr lang="en-US" sz="1600" dirty="0">
                          <a:solidFill>
                            <a:schemeClr val="tx1"/>
                          </a:solidFill>
                        </a:rPr>
                        <a:t>02</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Het meervoud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-en · -s (après -el, -er, -en, -je) · -’s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treinen · jongens · auto’s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ctr" indent="0" marL="0">
                        <a:buNone/>
                      </a:pPr>
                      <a:r>
                        <a:rPr lang="en-US" sz="1600" dirty="0">
                          <a:solidFill>
                            <a:schemeClr val="tx1"/>
                          </a:solidFill>
                        </a:rPr>
                        <a:t>03</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Deze · dit · mijn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deze / die + de · dit / dat + het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deze trein · dit huis · ons huis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ctr" indent="0" marL="0">
                        <a:buNone/>
                      </a:pPr>
                      <a:r>
                        <a:rPr lang="en-US" sz="1600" dirty="0">
                          <a:solidFill>
                            <a:schemeClr val="tx1"/>
                          </a:solidFill>
                        </a:rPr>
                        <a:t>04</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Het adjectief</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-e devant le nom, sauf het + een + singulier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de rode auto · een groot huis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ctr" indent="0" marL="0">
                        <a:buNone/>
                      </a:pPr>
                      <a:r>
                        <a:rPr lang="en-US" sz="1600" dirty="0">
                          <a:solidFill>
                            <a:schemeClr val="tx1"/>
                          </a:solidFill>
                        </a:rPr>
                        <a:t>05</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Vraagwoorden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mot W + verbe + sujet · oui / non : verbe 1er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Waar woon je? · Woon je in Gent?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ctr" indent="0" marL="0">
                        <a:buNone/>
                      </a:pPr>
                      <a:r>
                        <a:rPr lang="en-US" sz="1600" dirty="0">
                          <a:solidFill>
                            <a:schemeClr val="tx1"/>
                          </a:solidFill>
                        </a:rPr>
                        <a:t>06</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Niet of geen?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geen = pas de + nom · niet = le reste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Ik heb geen auto. · Ik werk niet.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ctr" indent="0" marL="0">
                        <a:buNone/>
                      </a:pPr>
                      <a:r>
                        <a:rPr lang="en-US" sz="1600" dirty="0">
                          <a:solidFill>
                            <a:schemeClr val="tx1"/>
                          </a:solidFill>
                        </a:rPr>
                        <a:t>07</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Getallen &amp; klok</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21 = eenentwintig · half drie = 2 h 30</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om 8 uur · op maandag · in mei</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53796">
                <a:tc>
                  <a:txBody>
                    <a:bodyPr/>
                    <a:lstStyle/>
                    <a:p>
                      <a:pPr algn="ctr" indent="0" marL="0">
                        <a:buNone/>
                      </a:pPr>
                      <a:r>
                        <a:rPr lang="en-US" sz="1600" dirty="0">
                          <a:solidFill>
                            <a:schemeClr val="tx1"/>
                          </a:solidFill>
                        </a:rPr>
                        <a:t>08</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Voorzetsels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in · op · naar · bij (où) · om · op · in (quand)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naar het station · bij de dokter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ctr" indent="0" marL="0">
                        <a:buNone/>
                      </a:pPr>
                      <a:r>
                        <a:rPr lang="en-US" sz="1600" dirty="0">
                          <a:solidFill>
                            <a:schemeClr val="tx1"/>
                          </a:solidFill>
                        </a:rPr>
                        <a:t>09</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Verkleinwoorden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-je, -tje, -pje, -etje → toujours het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het huisje · de huisjes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ctr" indent="0" marL="0">
                        <a:buNone/>
                      </a:pPr>
                      <a:r>
                        <a:rPr lang="en-US" sz="1600" dirty="0">
                          <a:solidFill>
                            <a:schemeClr val="tx1"/>
                          </a:solidFill>
                        </a:rPr>
                        <a:t>10</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Gebiedende wijs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radical seul + even, eens, maar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Wacht even! · Kom maar binnen!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10 fiches A2 en un coup d’œil</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68–77</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
                <a:gridCol w="2148840"/>
                <a:gridCol w="4206240"/>
                <a:gridCol w="4187952"/>
              </a:tblGrid>
              <a:tr h="526694">
                <a:tc>
                  <a:txBody>
                    <a:bodyPr/>
                    <a:lstStyle/>
                    <a:p>
                      <a:pPr algn="l" indent="0" marL="0">
                        <a:buNone/>
                      </a:pPr>
                      <a:r>
                        <a:rPr lang="en-US" sz="1500" b="1" dirty="0">
                          <a:solidFill>
                            <a:schemeClr val="bg1"/>
                          </a:solidFill>
                        </a:rPr>
                        <a:t>N°</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FICHE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LA RÈGLE EN BREF</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EXEMPLE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27939">
                <a:tc>
                  <a:txBody>
                    <a:bodyPr/>
                    <a:lstStyle/>
                    <a:p>
                      <a:pPr algn="ctr" indent="0" marL="0">
                        <a:buNone/>
                      </a:pPr>
                      <a:r>
                        <a:rPr lang="en-US" sz="1700" dirty="0">
                          <a:solidFill>
                            <a:schemeClr val="tx1"/>
                          </a:solidFill>
                        </a:rPr>
                        <a:t>01</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Woordvolgorde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verbe en 2e position · T-M-P</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Morgen reis ik met de trein naar Gent.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7939">
                <a:tc>
                  <a:txBody>
                    <a:bodyPr/>
                    <a:lstStyle/>
                    <a:p>
                      <a:pPr algn="ctr" indent="0" marL="0">
                        <a:buNone/>
                      </a:pPr>
                      <a:r>
                        <a:rPr lang="en-US" sz="1700" dirty="0">
                          <a:solidFill>
                            <a:schemeClr val="tx1"/>
                          </a:solidFill>
                        </a:rPr>
                        <a:t>02</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Het perfectum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hebben / zijn + participe à la fin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heb gewerkt. · Ik ben gegaan.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27939">
                <a:tc>
                  <a:txBody>
                    <a:bodyPr/>
                    <a:lstStyle/>
                    <a:p>
                      <a:pPr algn="ctr" indent="0" marL="0">
                        <a:buNone/>
                      </a:pPr>
                      <a:r>
                        <a:rPr lang="en-US" sz="1700" dirty="0">
                          <a:solidFill>
                            <a:schemeClr val="tx1"/>
                          </a:solidFill>
                        </a:rPr>
                        <a:t>03</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De OVT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’t kofschip → -te(n) · sinon -de(n)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ik werkte · ik speelde · ik was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7939">
                <a:tc>
                  <a:txBody>
                    <a:bodyPr/>
                    <a:lstStyle/>
                    <a:p>
                      <a:pPr algn="ctr" indent="0" marL="0">
                        <a:buNone/>
                      </a:pPr>
                      <a:r>
                        <a:rPr lang="en-US" sz="1700" dirty="0">
                          <a:solidFill>
                            <a:schemeClr val="tx1"/>
                          </a:solidFill>
                        </a:rPr>
                        <a:t>04</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Hem · haar · hun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après le verbe · personne avant chose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geef hem het boek.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27939">
                <a:tc>
                  <a:txBody>
                    <a:bodyPr/>
                    <a:lstStyle/>
                    <a:p>
                      <a:pPr algn="ctr" indent="0" marL="0">
                        <a:buNone/>
                      </a:pPr>
                      <a:r>
                        <a:rPr lang="en-US" sz="1700" dirty="0">
                          <a:solidFill>
                            <a:schemeClr val="tx1"/>
                          </a:solidFill>
                        </a:rPr>
                        <a:t>05</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Iemand · niets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iemand ↔ niemand · iets + adjectif + -s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Ik zie niemand. · iets lekkers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7939">
                <a:tc>
                  <a:txBody>
                    <a:bodyPr/>
                    <a:lstStyle/>
                    <a:p>
                      <a:pPr algn="ctr" indent="0" marL="0">
                        <a:buNone/>
                      </a:pPr>
                      <a:r>
                        <a:rPr lang="en-US" sz="1700" dirty="0">
                          <a:solidFill>
                            <a:schemeClr val="tx1"/>
                          </a:solidFill>
                        </a:rPr>
                        <a:t>06</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En · maar · want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ordre normal · omdat : verbe à la fin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want ik ben ziek · omdat ik ziek ben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27939">
                <a:tc>
                  <a:txBody>
                    <a:bodyPr/>
                    <a:lstStyle/>
                    <a:p>
                      <a:pPr algn="ctr" indent="0" marL="0">
                        <a:buNone/>
                      </a:pPr>
                      <a:r>
                        <a:rPr lang="en-US" sz="1700" dirty="0">
                          <a:solidFill>
                            <a:schemeClr val="tx1"/>
                          </a:solidFill>
                        </a:rPr>
                        <a:t>07</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Altijd · nooit · al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adverbe juste après le verbe conjugué</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Ik drink altijd koffie.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7939">
                <a:tc>
                  <a:txBody>
                    <a:bodyPr/>
                    <a:lstStyle/>
                    <a:p>
                      <a:pPr algn="ctr" indent="0" marL="0">
                        <a:buNone/>
                      </a:pPr>
                      <a:r>
                        <a:rPr lang="en-US" sz="1700" dirty="0">
                          <a:solidFill>
                            <a:schemeClr val="tx1"/>
                          </a:solidFill>
                        </a:rPr>
                        <a:t>08</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Zich wassen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me · je · zich · ons, après le verbe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voel me goed.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27939">
                <a:tc>
                  <a:txBody>
                    <a:bodyPr/>
                    <a:lstStyle/>
                    <a:p>
                      <a:pPr algn="ctr" indent="0" marL="0">
                        <a:buNone/>
                      </a:pPr>
                      <a:r>
                        <a:rPr lang="en-US" sz="1700" dirty="0">
                          <a:solidFill>
                            <a:schemeClr val="tx1"/>
                          </a:solidFill>
                        </a:rPr>
                        <a:t>09</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Groter dan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-er dan (≠) · even … als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sneller dan · even groot als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7939">
                <a:tc>
                  <a:txBody>
                    <a:bodyPr/>
                    <a:lstStyle/>
                    <a:p>
                      <a:pPr algn="ctr" indent="0" marL="0">
                        <a:buNone/>
                      </a:pPr>
                      <a:r>
                        <a:rPr lang="en-US" sz="1700" dirty="0">
                          <a:solidFill>
                            <a:schemeClr val="tx1"/>
                          </a:solidFill>
                        </a:rPr>
                        <a:t>10</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Ik ga … doen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gaan en 2e position + infinitif à la fin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ga vanavond koken.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La phrase néerlandaise en six schémas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62 · 68–77</a:t>
            </a:r>
            <a:endParaRPr lang="en-US" sz="1200" dirty="0"/>
          </a:p>
        </p:txBody>
      </p:sp>
      <p:sp>
        <p:nvSpPr>
          <p:cNvPr id="6" name="Text 3"/>
          <p:cNvSpPr txBox="1"/>
          <p:nvPr/>
        </p:nvSpPr>
        <p:spPr>
          <a:xfrm>
            <a:off x="548640" y="1719072"/>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phrase simple</a:t>
            </a:r>
            <a:endParaRPr lang="en-US" sz="1400" dirty="0"/>
          </a:p>
        </p:txBody>
      </p:sp>
      <p:sp>
        <p:nvSpPr>
          <p:cNvPr id="7" name="Text 4"/>
          <p:cNvSpPr txBox="1"/>
          <p:nvPr/>
        </p:nvSpPr>
        <p:spPr>
          <a:xfrm>
            <a:off x="2103120" y="148132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8" name="Shape 5"/>
          <p:cNvSpPr/>
          <p:nvPr/>
        </p:nvSpPr>
        <p:spPr>
          <a:xfrm>
            <a:off x="2103120" y="1719072"/>
            <a:ext cx="685800" cy="372872"/>
          </a:xfrm>
          <a:prstGeom prst="roundRect">
            <a:avLst>
              <a:gd name="adj" fmla="val 14714"/>
            </a:avLst>
          </a:prstGeom>
          <a:solidFill>
            <a:schemeClr val="tx2">
              <a:alpha val="88000"/>
            </a:schemeClr>
          </a:solidFill>
          <a:ln w="12700">
            <a:solidFill>
              <a:srgbClr val="17375E"/>
            </a:solidFill>
            <a:prstDash val="solid"/>
          </a:ln>
        </p:spPr>
      </p:sp>
      <p:sp>
        <p:nvSpPr>
          <p:cNvPr id="9" name="Text 6"/>
          <p:cNvSpPr txBox="1"/>
          <p:nvPr/>
        </p:nvSpPr>
        <p:spPr>
          <a:xfrm>
            <a:off x="2139696" y="1719072"/>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10" name="Text 7"/>
          <p:cNvSpPr txBox="1"/>
          <p:nvPr/>
        </p:nvSpPr>
        <p:spPr>
          <a:xfrm>
            <a:off x="2898648" y="1481328"/>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1" name="Shape 8"/>
          <p:cNvSpPr/>
          <p:nvPr/>
        </p:nvSpPr>
        <p:spPr>
          <a:xfrm>
            <a:off x="2898648" y="1719072"/>
            <a:ext cx="751840" cy="372872"/>
          </a:xfrm>
          <a:prstGeom prst="roundRect">
            <a:avLst>
              <a:gd name="adj" fmla="val 14714"/>
            </a:avLst>
          </a:prstGeom>
          <a:solidFill>
            <a:schemeClr val="accent6">
              <a:alpha val="88000"/>
            </a:schemeClr>
          </a:solidFill>
          <a:ln w="12700">
            <a:solidFill>
              <a:srgbClr val="B83227"/>
            </a:solidFill>
            <a:prstDash val="solid"/>
          </a:ln>
        </p:spPr>
      </p:sp>
      <p:sp>
        <p:nvSpPr>
          <p:cNvPr id="12" name="Text 9"/>
          <p:cNvSpPr txBox="1"/>
          <p:nvPr/>
        </p:nvSpPr>
        <p:spPr>
          <a:xfrm>
            <a:off x="2935224" y="1719072"/>
            <a:ext cx="678688" cy="372872"/>
          </a:xfrm>
          <a:prstGeom prst="rect">
            <a:avLst/>
          </a:prstGeom>
          <a:noFill/>
          <a:ln/>
        </p:spPr>
        <p:txBody>
          <a:bodyPr wrap="square" lIns="0" tIns="0" rIns="0" bIns="0" rtlCol="0" anchor="ctr"/>
          <a:lstStyle/>
          <a:p>
            <a:pPr algn="ctr" indent="0" marL="0">
              <a:buNone/>
            </a:pPr>
            <a:r>
              <a:rPr lang="en-US" sz="1600" b="1" dirty="0">
                <a:solidFill>
                  <a:schemeClr val="bg1"/>
                </a:solidFill>
              </a:rPr>
              <a:t>werk</a:t>
            </a:r>
            <a:endParaRPr lang="en-US" sz="1600" dirty="0"/>
          </a:p>
        </p:txBody>
      </p:sp>
      <p:sp>
        <p:nvSpPr>
          <p:cNvPr id="13" name="Text 10"/>
          <p:cNvSpPr txBox="1"/>
          <p:nvPr/>
        </p:nvSpPr>
        <p:spPr>
          <a:xfrm>
            <a:off x="3760216" y="1481328"/>
            <a:ext cx="106883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14" name="Shape 11"/>
          <p:cNvSpPr/>
          <p:nvPr/>
        </p:nvSpPr>
        <p:spPr>
          <a:xfrm>
            <a:off x="3760216" y="1719072"/>
            <a:ext cx="1068832" cy="372872"/>
          </a:xfrm>
          <a:prstGeom prst="roundRect">
            <a:avLst>
              <a:gd name="adj" fmla="val 14714"/>
            </a:avLst>
          </a:prstGeom>
          <a:solidFill>
            <a:schemeClr val="accent2">
              <a:alpha val="88000"/>
            </a:schemeClr>
          </a:solidFill>
          <a:ln w="12700">
            <a:solidFill>
              <a:srgbClr val="2A6FB0"/>
            </a:solidFill>
            <a:prstDash val="solid"/>
          </a:ln>
        </p:spPr>
      </p:sp>
      <p:sp>
        <p:nvSpPr>
          <p:cNvPr id="15" name="Text 12"/>
          <p:cNvSpPr txBox="1"/>
          <p:nvPr/>
        </p:nvSpPr>
        <p:spPr>
          <a:xfrm>
            <a:off x="3796792" y="1719072"/>
            <a:ext cx="995680" cy="372872"/>
          </a:xfrm>
          <a:prstGeom prst="rect">
            <a:avLst/>
          </a:prstGeom>
          <a:noFill/>
          <a:ln/>
        </p:spPr>
        <p:txBody>
          <a:bodyPr wrap="square" lIns="0" tIns="0" rIns="0" bIns="0" rtlCol="0" anchor="ctr"/>
          <a:lstStyle/>
          <a:p>
            <a:pPr algn="ctr" indent="0" marL="0">
              <a:buNone/>
            </a:pPr>
            <a:r>
              <a:rPr lang="en-US" sz="1600" b="1" dirty="0">
                <a:solidFill>
                  <a:schemeClr val="bg1"/>
                </a:solidFill>
              </a:rPr>
              <a:t>vandaag</a:t>
            </a:r>
            <a:endParaRPr lang="en-US" sz="1600" dirty="0"/>
          </a:p>
        </p:txBody>
      </p:sp>
      <p:sp>
        <p:nvSpPr>
          <p:cNvPr id="16" name="Text 13"/>
          <p:cNvSpPr txBox="1"/>
          <p:nvPr/>
        </p:nvSpPr>
        <p:spPr>
          <a:xfrm>
            <a:off x="4938776" y="1481328"/>
            <a:ext cx="963168"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17" name="Shape 14"/>
          <p:cNvSpPr/>
          <p:nvPr/>
        </p:nvSpPr>
        <p:spPr>
          <a:xfrm>
            <a:off x="4938776" y="1719072"/>
            <a:ext cx="963168" cy="372872"/>
          </a:xfrm>
          <a:prstGeom prst="roundRect">
            <a:avLst>
              <a:gd name="adj" fmla="val 14714"/>
            </a:avLst>
          </a:prstGeom>
          <a:solidFill>
            <a:schemeClr val="accent4">
              <a:alpha val="88000"/>
            </a:schemeClr>
          </a:solidFill>
          <a:ln w="12700">
            <a:solidFill>
              <a:srgbClr val="B4236A"/>
            </a:solidFill>
            <a:prstDash val="solid"/>
          </a:ln>
        </p:spPr>
      </p:sp>
      <p:sp>
        <p:nvSpPr>
          <p:cNvPr id="18" name="Text 15"/>
          <p:cNvSpPr txBox="1"/>
          <p:nvPr/>
        </p:nvSpPr>
        <p:spPr>
          <a:xfrm>
            <a:off x="4975352" y="1719072"/>
            <a:ext cx="890016" cy="372872"/>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19" name="Text 16"/>
          <p:cNvSpPr txBox="1"/>
          <p:nvPr/>
        </p:nvSpPr>
        <p:spPr>
          <a:xfrm>
            <a:off x="548640" y="2366264"/>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inversion</a:t>
            </a:r>
            <a:endParaRPr lang="en-US" sz="1400" dirty="0"/>
          </a:p>
        </p:txBody>
      </p:sp>
      <p:sp>
        <p:nvSpPr>
          <p:cNvPr id="20" name="Text 17"/>
          <p:cNvSpPr txBox="1"/>
          <p:nvPr/>
        </p:nvSpPr>
        <p:spPr>
          <a:xfrm>
            <a:off x="2103120" y="2128520"/>
            <a:ext cx="106883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21" name="Shape 18"/>
          <p:cNvSpPr/>
          <p:nvPr/>
        </p:nvSpPr>
        <p:spPr>
          <a:xfrm>
            <a:off x="2103120" y="2366264"/>
            <a:ext cx="1068832" cy="372872"/>
          </a:xfrm>
          <a:prstGeom prst="roundRect">
            <a:avLst>
              <a:gd name="adj" fmla="val 14714"/>
            </a:avLst>
          </a:prstGeom>
          <a:solidFill>
            <a:schemeClr val="accent2">
              <a:alpha val="88000"/>
            </a:schemeClr>
          </a:solidFill>
          <a:ln w="12700">
            <a:solidFill>
              <a:srgbClr val="2A6FB0"/>
            </a:solidFill>
            <a:prstDash val="solid"/>
          </a:ln>
        </p:spPr>
      </p:sp>
      <p:sp>
        <p:nvSpPr>
          <p:cNvPr id="22" name="Text 19"/>
          <p:cNvSpPr txBox="1"/>
          <p:nvPr/>
        </p:nvSpPr>
        <p:spPr>
          <a:xfrm>
            <a:off x="2139696" y="2366264"/>
            <a:ext cx="995680" cy="372872"/>
          </a:xfrm>
          <a:prstGeom prst="rect">
            <a:avLst/>
          </a:prstGeom>
          <a:noFill/>
          <a:ln/>
        </p:spPr>
        <p:txBody>
          <a:bodyPr wrap="square" lIns="0" tIns="0" rIns="0" bIns="0" rtlCol="0" anchor="ctr"/>
          <a:lstStyle/>
          <a:p>
            <a:pPr algn="ctr" indent="0" marL="0">
              <a:buNone/>
            </a:pPr>
            <a:r>
              <a:rPr lang="en-US" sz="1600" b="1" dirty="0">
                <a:solidFill>
                  <a:schemeClr val="bg1"/>
                </a:solidFill>
              </a:rPr>
              <a:t>Vandaag</a:t>
            </a:r>
            <a:endParaRPr lang="en-US" sz="1600" dirty="0"/>
          </a:p>
        </p:txBody>
      </p:sp>
      <p:sp>
        <p:nvSpPr>
          <p:cNvPr id="23" name="Text 20"/>
          <p:cNvSpPr txBox="1"/>
          <p:nvPr/>
        </p:nvSpPr>
        <p:spPr>
          <a:xfrm>
            <a:off x="3281680" y="2128520"/>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4" name="Shape 21"/>
          <p:cNvSpPr/>
          <p:nvPr/>
        </p:nvSpPr>
        <p:spPr>
          <a:xfrm>
            <a:off x="3281680" y="2366264"/>
            <a:ext cx="751840" cy="372872"/>
          </a:xfrm>
          <a:prstGeom prst="roundRect">
            <a:avLst>
              <a:gd name="adj" fmla="val 14714"/>
            </a:avLst>
          </a:prstGeom>
          <a:solidFill>
            <a:schemeClr val="accent6">
              <a:alpha val="88000"/>
            </a:schemeClr>
          </a:solidFill>
          <a:ln w="12700">
            <a:solidFill>
              <a:srgbClr val="B83227"/>
            </a:solidFill>
            <a:prstDash val="solid"/>
          </a:ln>
        </p:spPr>
      </p:sp>
      <p:sp>
        <p:nvSpPr>
          <p:cNvPr id="25" name="Text 22"/>
          <p:cNvSpPr txBox="1"/>
          <p:nvPr/>
        </p:nvSpPr>
        <p:spPr>
          <a:xfrm>
            <a:off x="3318256" y="2366264"/>
            <a:ext cx="678688" cy="372872"/>
          </a:xfrm>
          <a:prstGeom prst="rect">
            <a:avLst/>
          </a:prstGeom>
          <a:noFill/>
          <a:ln/>
        </p:spPr>
        <p:txBody>
          <a:bodyPr wrap="square" lIns="0" tIns="0" rIns="0" bIns="0" rtlCol="0" anchor="ctr"/>
          <a:lstStyle/>
          <a:p>
            <a:pPr algn="ctr" indent="0" marL="0">
              <a:buNone/>
            </a:pPr>
            <a:r>
              <a:rPr lang="en-US" sz="1600" b="1" dirty="0">
                <a:solidFill>
                  <a:schemeClr val="bg1"/>
                </a:solidFill>
              </a:rPr>
              <a:t>werk</a:t>
            </a:r>
            <a:endParaRPr lang="en-US" sz="1600" dirty="0"/>
          </a:p>
        </p:txBody>
      </p:sp>
      <p:sp>
        <p:nvSpPr>
          <p:cNvPr id="26" name="Text 23"/>
          <p:cNvSpPr txBox="1"/>
          <p:nvPr/>
        </p:nvSpPr>
        <p:spPr>
          <a:xfrm>
            <a:off x="4143248" y="2128520"/>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7" name="Shape 24"/>
          <p:cNvSpPr/>
          <p:nvPr/>
        </p:nvSpPr>
        <p:spPr>
          <a:xfrm>
            <a:off x="4143248" y="2366264"/>
            <a:ext cx="685800" cy="372872"/>
          </a:xfrm>
          <a:prstGeom prst="roundRect">
            <a:avLst>
              <a:gd name="adj" fmla="val 14714"/>
            </a:avLst>
          </a:prstGeom>
          <a:solidFill>
            <a:schemeClr val="tx2">
              <a:alpha val="88000"/>
            </a:schemeClr>
          </a:solidFill>
          <a:ln w="12700">
            <a:solidFill>
              <a:srgbClr val="17375E"/>
            </a:solidFill>
            <a:prstDash val="solid"/>
          </a:ln>
        </p:spPr>
      </p:sp>
      <p:sp>
        <p:nvSpPr>
          <p:cNvPr id="28" name="Text 25"/>
          <p:cNvSpPr txBox="1"/>
          <p:nvPr/>
        </p:nvSpPr>
        <p:spPr>
          <a:xfrm>
            <a:off x="4179824" y="2366264"/>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29" name="Text 26"/>
          <p:cNvSpPr txBox="1"/>
          <p:nvPr/>
        </p:nvSpPr>
        <p:spPr>
          <a:xfrm>
            <a:off x="4938776" y="2128520"/>
            <a:ext cx="963168"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30" name="Shape 27"/>
          <p:cNvSpPr/>
          <p:nvPr/>
        </p:nvSpPr>
        <p:spPr>
          <a:xfrm>
            <a:off x="4938776" y="2366264"/>
            <a:ext cx="963168" cy="372872"/>
          </a:xfrm>
          <a:prstGeom prst="roundRect">
            <a:avLst>
              <a:gd name="adj" fmla="val 14714"/>
            </a:avLst>
          </a:prstGeom>
          <a:solidFill>
            <a:schemeClr val="accent4">
              <a:alpha val="88000"/>
            </a:schemeClr>
          </a:solidFill>
          <a:ln w="12700">
            <a:solidFill>
              <a:srgbClr val="B4236A"/>
            </a:solidFill>
            <a:prstDash val="solid"/>
          </a:ln>
        </p:spPr>
      </p:sp>
      <p:sp>
        <p:nvSpPr>
          <p:cNvPr id="31" name="Text 28"/>
          <p:cNvSpPr txBox="1"/>
          <p:nvPr/>
        </p:nvSpPr>
        <p:spPr>
          <a:xfrm>
            <a:off x="4975352" y="2366264"/>
            <a:ext cx="890016" cy="372872"/>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32" name="Text 29"/>
          <p:cNvSpPr txBox="1"/>
          <p:nvPr/>
        </p:nvSpPr>
        <p:spPr>
          <a:xfrm>
            <a:off x="548640" y="3013456"/>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question</a:t>
            </a:r>
            <a:endParaRPr lang="en-US" sz="1400" dirty="0"/>
          </a:p>
        </p:txBody>
      </p:sp>
      <p:sp>
        <p:nvSpPr>
          <p:cNvPr id="33" name="Text 30"/>
          <p:cNvSpPr txBox="1"/>
          <p:nvPr/>
        </p:nvSpPr>
        <p:spPr>
          <a:xfrm>
            <a:off x="2103120" y="2775712"/>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4" name="Shape 31"/>
          <p:cNvSpPr/>
          <p:nvPr/>
        </p:nvSpPr>
        <p:spPr>
          <a:xfrm>
            <a:off x="2103120" y="3013456"/>
            <a:ext cx="751840" cy="372872"/>
          </a:xfrm>
          <a:prstGeom prst="roundRect">
            <a:avLst>
              <a:gd name="adj" fmla="val 14714"/>
            </a:avLst>
          </a:prstGeom>
          <a:solidFill>
            <a:schemeClr val="accent6">
              <a:alpha val="88000"/>
            </a:schemeClr>
          </a:solidFill>
          <a:ln w="12700">
            <a:solidFill>
              <a:srgbClr val="B83227"/>
            </a:solidFill>
            <a:prstDash val="solid"/>
          </a:ln>
        </p:spPr>
      </p:sp>
      <p:sp>
        <p:nvSpPr>
          <p:cNvPr id="35" name="Text 32"/>
          <p:cNvSpPr txBox="1"/>
          <p:nvPr/>
        </p:nvSpPr>
        <p:spPr>
          <a:xfrm>
            <a:off x="2139696" y="3013456"/>
            <a:ext cx="678688" cy="372872"/>
          </a:xfrm>
          <a:prstGeom prst="rect">
            <a:avLst/>
          </a:prstGeom>
          <a:noFill/>
          <a:ln/>
        </p:spPr>
        <p:txBody>
          <a:bodyPr wrap="square" lIns="0" tIns="0" rIns="0" bIns="0" rtlCol="0" anchor="ctr"/>
          <a:lstStyle/>
          <a:p>
            <a:pPr algn="ctr" indent="0" marL="0">
              <a:buNone/>
            </a:pPr>
            <a:r>
              <a:rPr lang="en-US" sz="1600" b="1" dirty="0">
                <a:solidFill>
                  <a:schemeClr val="bg1"/>
                </a:solidFill>
              </a:rPr>
              <a:t>Werk</a:t>
            </a:r>
            <a:endParaRPr lang="en-US" sz="1600" dirty="0"/>
          </a:p>
        </p:txBody>
      </p:sp>
      <p:sp>
        <p:nvSpPr>
          <p:cNvPr id="36" name="Text 33"/>
          <p:cNvSpPr txBox="1"/>
          <p:nvPr/>
        </p:nvSpPr>
        <p:spPr>
          <a:xfrm>
            <a:off x="2964688" y="277571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7" name="Shape 34"/>
          <p:cNvSpPr/>
          <p:nvPr/>
        </p:nvSpPr>
        <p:spPr>
          <a:xfrm>
            <a:off x="2964688" y="3013456"/>
            <a:ext cx="685800" cy="372872"/>
          </a:xfrm>
          <a:prstGeom prst="roundRect">
            <a:avLst>
              <a:gd name="adj" fmla="val 14714"/>
            </a:avLst>
          </a:prstGeom>
          <a:solidFill>
            <a:schemeClr val="tx2">
              <a:alpha val="88000"/>
            </a:schemeClr>
          </a:solidFill>
          <a:ln w="12700">
            <a:solidFill>
              <a:srgbClr val="17375E"/>
            </a:solidFill>
            <a:prstDash val="solid"/>
          </a:ln>
        </p:spPr>
      </p:sp>
      <p:sp>
        <p:nvSpPr>
          <p:cNvPr id="38" name="Text 35"/>
          <p:cNvSpPr txBox="1"/>
          <p:nvPr/>
        </p:nvSpPr>
        <p:spPr>
          <a:xfrm>
            <a:off x="3001264" y="3013456"/>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je</a:t>
            </a:r>
            <a:endParaRPr lang="en-US" sz="1600" dirty="0"/>
          </a:p>
        </p:txBody>
      </p:sp>
      <p:sp>
        <p:nvSpPr>
          <p:cNvPr id="39" name="Text 36"/>
          <p:cNvSpPr txBox="1"/>
          <p:nvPr/>
        </p:nvSpPr>
        <p:spPr>
          <a:xfrm>
            <a:off x="3760216" y="2775712"/>
            <a:ext cx="106883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40" name="Shape 37"/>
          <p:cNvSpPr/>
          <p:nvPr/>
        </p:nvSpPr>
        <p:spPr>
          <a:xfrm>
            <a:off x="3760216" y="3013456"/>
            <a:ext cx="1068832" cy="372872"/>
          </a:xfrm>
          <a:prstGeom prst="roundRect">
            <a:avLst>
              <a:gd name="adj" fmla="val 14714"/>
            </a:avLst>
          </a:prstGeom>
          <a:solidFill>
            <a:schemeClr val="accent2">
              <a:alpha val="88000"/>
            </a:schemeClr>
          </a:solidFill>
          <a:ln w="12700">
            <a:solidFill>
              <a:srgbClr val="2A6FB0"/>
            </a:solidFill>
            <a:prstDash val="solid"/>
          </a:ln>
        </p:spPr>
      </p:sp>
      <p:sp>
        <p:nvSpPr>
          <p:cNvPr id="41" name="Text 38"/>
          <p:cNvSpPr txBox="1"/>
          <p:nvPr/>
        </p:nvSpPr>
        <p:spPr>
          <a:xfrm>
            <a:off x="3796792" y="3013456"/>
            <a:ext cx="995680" cy="372872"/>
          </a:xfrm>
          <a:prstGeom prst="rect">
            <a:avLst/>
          </a:prstGeom>
          <a:noFill/>
          <a:ln/>
        </p:spPr>
        <p:txBody>
          <a:bodyPr wrap="square" lIns="0" tIns="0" rIns="0" bIns="0" rtlCol="0" anchor="ctr"/>
          <a:lstStyle/>
          <a:p>
            <a:pPr algn="ctr" indent="0" marL="0">
              <a:buNone/>
            </a:pPr>
            <a:r>
              <a:rPr lang="en-US" sz="1600" b="1" dirty="0">
                <a:solidFill>
                  <a:schemeClr val="bg1"/>
                </a:solidFill>
              </a:rPr>
              <a:t>vandaag</a:t>
            </a:r>
            <a:endParaRPr lang="en-US" sz="1600" dirty="0"/>
          </a:p>
        </p:txBody>
      </p:sp>
      <p:sp>
        <p:nvSpPr>
          <p:cNvPr id="42" name="Text 39"/>
          <p:cNvSpPr txBox="1"/>
          <p:nvPr/>
        </p:nvSpPr>
        <p:spPr>
          <a:xfrm>
            <a:off x="4938776" y="2775712"/>
            <a:ext cx="963168"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43" name="Shape 40"/>
          <p:cNvSpPr/>
          <p:nvPr/>
        </p:nvSpPr>
        <p:spPr>
          <a:xfrm>
            <a:off x="4938776" y="3013456"/>
            <a:ext cx="963168" cy="372872"/>
          </a:xfrm>
          <a:prstGeom prst="roundRect">
            <a:avLst>
              <a:gd name="adj" fmla="val 14714"/>
            </a:avLst>
          </a:prstGeom>
          <a:solidFill>
            <a:schemeClr val="accent4">
              <a:alpha val="88000"/>
            </a:schemeClr>
          </a:solidFill>
          <a:ln w="12700">
            <a:solidFill>
              <a:srgbClr val="B4236A"/>
            </a:solidFill>
            <a:prstDash val="solid"/>
          </a:ln>
        </p:spPr>
      </p:sp>
      <p:sp>
        <p:nvSpPr>
          <p:cNvPr id="44" name="Text 41"/>
          <p:cNvSpPr txBox="1"/>
          <p:nvPr/>
        </p:nvSpPr>
        <p:spPr>
          <a:xfrm>
            <a:off x="4975352" y="3013456"/>
            <a:ext cx="890016" cy="372872"/>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45" name="Text 42"/>
          <p:cNvSpPr txBox="1"/>
          <p:nvPr/>
        </p:nvSpPr>
        <p:spPr>
          <a:xfrm>
            <a:off x="548640" y="3660648"/>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perfectum</a:t>
            </a:r>
            <a:endParaRPr lang="en-US" sz="1400" dirty="0"/>
          </a:p>
        </p:txBody>
      </p:sp>
      <p:sp>
        <p:nvSpPr>
          <p:cNvPr id="46" name="Text 43"/>
          <p:cNvSpPr txBox="1"/>
          <p:nvPr/>
        </p:nvSpPr>
        <p:spPr>
          <a:xfrm>
            <a:off x="2103120" y="342290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7" name="Shape 44"/>
          <p:cNvSpPr/>
          <p:nvPr/>
        </p:nvSpPr>
        <p:spPr>
          <a:xfrm>
            <a:off x="2103120" y="3660648"/>
            <a:ext cx="685800" cy="372872"/>
          </a:xfrm>
          <a:prstGeom prst="roundRect">
            <a:avLst>
              <a:gd name="adj" fmla="val 14714"/>
            </a:avLst>
          </a:prstGeom>
          <a:solidFill>
            <a:schemeClr val="tx2">
              <a:alpha val="88000"/>
            </a:schemeClr>
          </a:solidFill>
          <a:ln w="12700">
            <a:solidFill>
              <a:srgbClr val="17375E"/>
            </a:solidFill>
            <a:prstDash val="solid"/>
          </a:ln>
        </p:spPr>
      </p:sp>
      <p:sp>
        <p:nvSpPr>
          <p:cNvPr id="48" name="Text 45"/>
          <p:cNvSpPr txBox="1"/>
          <p:nvPr/>
        </p:nvSpPr>
        <p:spPr>
          <a:xfrm>
            <a:off x="2139696" y="3660648"/>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49" name="Text 46"/>
          <p:cNvSpPr txBox="1"/>
          <p:nvPr/>
        </p:nvSpPr>
        <p:spPr>
          <a:xfrm>
            <a:off x="2898648" y="3422904"/>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hebben / zijn</a:t>
            </a:r>
            <a:endParaRPr lang="en-US" sz="1000" dirty="0"/>
          </a:p>
        </p:txBody>
      </p:sp>
      <p:sp>
        <p:nvSpPr>
          <p:cNvPr id="50" name="Shape 47"/>
          <p:cNvSpPr/>
          <p:nvPr/>
        </p:nvSpPr>
        <p:spPr>
          <a:xfrm>
            <a:off x="2898648" y="3660648"/>
            <a:ext cx="685800" cy="372872"/>
          </a:xfrm>
          <a:prstGeom prst="roundRect">
            <a:avLst>
              <a:gd name="adj" fmla="val 14714"/>
            </a:avLst>
          </a:prstGeom>
          <a:solidFill>
            <a:schemeClr val="accent6">
              <a:alpha val="88000"/>
            </a:schemeClr>
          </a:solidFill>
          <a:ln w="12700">
            <a:solidFill>
              <a:srgbClr val="B83227"/>
            </a:solidFill>
            <a:prstDash val="solid"/>
          </a:ln>
        </p:spPr>
      </p:sp>
      <p:sp>
        <p:nvSpPr>
          <p:cNvPr id="51" name="Text 48"/>
          <p:cNvSpPr txBox="1"/>
          <p:nvPr/>
        </p:nvSpPr>
        <p:spPr>
          <a:xfrm>
            <a:off x="2935224" y="3660648"/>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heb</a:t>
            </a:r>
            <a:endParaRPr lang="en-US" sz="1600" dirty="0"/>
          </a:p>
        </p:txBody>
      </p:sp>
      <p:sp>
        <p:nvSpPr>
          <p:cNvPr id="52" name="Text 49"/>
          <p:cNvSpPr txBox="1"/>
          <p:nvPr/>
        </p:nvSpPr>
        <p:spPr>
          <a:xfrm>
            <a:off x="3694176" y="3422904"/>
            <a:ext cx="1174496"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53" name="Shape 50"/>
          <p:cNvSpPr/>
          <p:nvPr/>
        </p:nvSpPr>
        <p:spPr>
          <a:xfrm>
            <a:off x="3694176" y="3660648"/>
            <a:ext cx="1174496" cy="372872"/>
          </a:xfrm>
          <a:prstGeom prst="roundRect">
            <a:avLst>
              <a:gd name="adj" fmla="val 14714"/>
            </a:avLst>
          </a:prstGeom>
          <a:solidFill>
            <a:schemeClr val="accent2">
              <a:alpha val="88000"/>
            </a:schemeClr>
          </a:solidFill>
          <a:ln w="12700">
            <a:solidFill>
              <a:srgbClr val="2A6FB0"/>
            </a:solidFill>
            <a:prstDash val="solid"/>
          </a:ln>
        </p:spPr>
      </p:sp>
      <p:sp>
        <p:nvSpPr>
          <p:cNvPr id="54" name="Text 51"/>
          <p:cNvSpPr txBox="1"/>
          <p:nvPr/>
        </p:nvSpPr>
        <p:spPr>
          <a:xfrm>
            <a:off x="3730752" y="3660648"/>
            <a:ext cx="1101344" cy="372872"/>
          </a:xfrm>
          <a:prstGeom prst="rect">
            <a:avLst/>
          </a:prstGeom>
          <a:noFill/>
          <a:ln/>
        </p:spPr>
        <p:txBody>
          <a:bodyPr wrap="square" lIns="0" tIns="0" rIns="0" bIns="0" rtlCol="0" anchor="ctr"/>
          <a:lstStyle/>
          <a:p>
            <a:pPr algn="ctr" indent="0" marL="0">
              <a:buNone/>
            </a:pPr>
            <a:r>
              <a:rPr lang="en-US" sz="1600" b="1" dirty="0">
                <a:solidFill>
                  <a:schemeClr val="bg1"/>
                </a:solidFill>
              </a:rPr>
              <a:t>gisteren</a:t>
            </a:r>
            <a:endParaRPr lang="en-US" sz="1600" dirty="0"/>
          </a:p>
        </p:txBody>
      </p:sp>
      <p:sp>
        <p:nvSpPr>
          <p:cNvPr id="55" name="Text 52"/>
          <p:cNvSpPr txBox="1"/>
          <p:nvPr/>
        </p:nvSpPr>
        <p:spPr>
          <a:xfrm>
            <a:off x="4978400" y="3422904"/>
            <a:ext cx="857504"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56" name="Shape 53"/>
          <p:cNvSpPr/>
          <p:nvPr/>
        </p:nvSpPr>
        <p:spPr>
          <a:xfrm>
            <a:off x="4978400" y="3660648"/>
            <a:ext cx="857504" cy="372872"/>
          </a:xfrm>
          <a:prstGeom prst="roundRect">
            <a:avLst>
              <a:gd name="adj" fmla="val 14714"/>
            </a:avLst>
          </a:prstGeom>
          <a:solidFill>
            <a:schemeClr val="accent4">
              <a:alpha val="88000"/>
            </a:schemeClr>
          </a:solidFill>
          <a:ln w="12700">
            <a:solidFill>
              <a:srgbClr val="B4236A"/>
            </a:solidFill>
            <a:prstDash val="solid"/>
          </a:ln>
        </p:spPr>
      </p:sp>
      <p:sp>
        <p:nvSpPr>
          <p:cNvPr id="57" name="Text 54"/>
          <p:cNvSpPr txBox="1"/>
          <p:nvPr/>
        </p:nvSpPr>
        <p:spPr>
          <a:xfrm>
            <a:off x="5014976" y="3660648"/>
            <a:ext cx="784352" cy="372872"/>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58" name="Text 55"/>
          <p:cNvSpPr txBox="1"/>
          <p:nvPr/>
        </p:nvSpPr>
        <p:spPr>
          <a:xfrm>
            <a:off x="5945632" y="3422904"/>
            <a:ext cx="1174496"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59" name="Shape 56"/>
          <p:cNvSpPr/>
          <p:nvPr/>
        </p:nvSpPr>
        <p:spPr>
          <a:xfrm>
            <a:off x="5945632" y="3660648"/>
            <a:ext cx="1174496" cy="372872"/>
          </a:xfrm>
          <a:prstGeom prst="roundRect">
            <a:avLst>
              <a:gd name="adj" fmla="val 14714"/>
            </a:avLst>
          </a:prstGeom>
          <a:solidFill>
            <a:schemeClr val="accent1">
              <a:alpha val="88000"/>
            </a:schemeClr>
          </a:solidFill>
          <a:ln w="12700">
            <a:solidFill>
              <a:srgbClr val="D9700F"/>
            </a:solidFill>
            <a:prstDash val="solid"/>
          </a:ln>
        </p:spPr>
      </p:sp>
      <p:sp>
        <p:nvSpPr>
          <p:cNvPr id="60" name="Text 57"/>
          <p:cNvSpPr txBox="1"/>
          <p:nvPr/>
        </p:nvSpPr>
        <p:spPr>
          <a:xfrm>
            <a:off x="5982208" y="3660648"/>
            <a:ext cx="1101344" cy="372872"/>
          </a:xfrm>
          <a:prstGeom prst="rect">
            <a:avLst/>
          </a:prstGeom>
          <a:noFill/>
          <a:ln/>
        </p:spPr>
        <p:txBody>
          <a:bodyPr wrap="square" lIns="0" tIns="0" rIns="0" bIns="0" rtlCol="0" anchor="ctr"/>
          <a:lstStyle/>
          <a:p>
            <a:pPr algn="ctr" indent="0" marL="0">
              <a:buNone/>
            </a:pPr>
            <a:r>
              <a:rPr lang="en-US" sz="1600" b="1" dirty="0">
                <a:solidFill>
                  <a:schemeClr val="bg1"/>
                </a:solidFill>
              </a:rPr>
              <a:t>gewerkt.</a:t>
            </a:r>
            <a:endParaRPr lang="en-US" sz="1600" dirty="0"/>
          </a:p>
        </p:txBody>
      </p:sp>
      <p:sp>
        <p:nvSpPr>
          <p:cNvPr id="61" name="Text 58"/>
          <p:cNvSpPr txBox="1"/>
          <p:nvPr/>
        </p:nvSpPr>
        <p:spPr>
          <a:xfrm>
            <a:off x="548640" y="4307840"/>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gaan + infinitif</a:t>
            </a:r>
            <a:endParaRPr lang="en-US" sz="1400" dirty="0"/>
          </a:p>
        </p:txBody>
      </p:sp>
      <p:sp>
        <p:nvSpPr>
          <p:cNvPr id="62" name="Text 59"/>
          <p:cNvSpPr txBox="1"/>
          <p:nvPr/>
        </p:nvSpPr>
        <p:spPr>
          <a:xfrm>
            <a:off x="2103120" y="4070096"/>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3" name="Shape 60"/>
          <p:cNvSpPr/>
          <p:nvPr/>
        </p:nvSpPr>
        <p:spPr>
          <a:xfrm>
            <a:off x="2103120" y="4307840"/>
            <a:ext cx="685800" cy="372872"/>
          </a:xfrm>
          <a:prstGeom prst="roundRect">
            <a:avLst>
              <a:gd name="adj" fmla="val 14714"/>
            </a:avLst>
          </a:prstGeom>
          <a:solidFill>
            <a:schemeClr val="tx2">
              <a:alpha val="88000"/>
            </a:schemeClr>
          </a:solidFill>
          <a:ln w="12700">
            <a:solidFill>
              <a:srgbClr val="17375E"/>
            </a:solidFill>
            <a:prstDash val="solid"/>
          </a:ln>
        </p:spPr>
      </p:sp>
      <p:sp>
        <p:nvSpPr>
          <p:cNvPr id="64" name="Text 61"/>
          <p:cNvSpPr txBox="1"/>
          <p:nvPr/>
        </p:nvSpPr>
        <p:spPr>
          <a:xfrm>
            <a:off x="2139696" y="4307840"/>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65" name="Text 62"/>
          <p:cNvSpPr txBox="1"/>
          <p:nvPr/>
        </p:nvSpPr>
        <p:spPr>
          <a:xfrm>
            <a:off x="2898648" y="4070096"/>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gaan</a:t>
            </a:r>
            <a:endParaRPr lang="en-US" sz="1000" dirty="0"/>
          </a:p>
        </p:txBody>
      </p:sp>
      <p:sp>
        <p:nvSpPr>
          <p:cNvPr id="66" name="Shape 63"/>
          <p:cNvSpPr/>
          <p:nvPr/>
        </p:nvSpPr>
        <p:spPr>
          <a:xfrm>
            <a:off x="2898648" y="4307840"/>
            <a:ext cx="685800" cy="372872"/>
          </a:xfrm>
          <a:prstGeom prst="roundRect">
            <a:avLst>
              <a:gd name="adj" fmla="val 14714"/>
            </a:avLst>
          </a:prstGeom>
          <a:solidFill>
            <a:schemeClr val="accent6">
              <a:alpha val="88000"/>
            </a:schemeClr>
          </a:solidFill>
          <a:ln w="12700">
            <a:solidFill>
              <a:srgbClr val="B83227"/>
            </a:solidFill>
            <a:prstDash val="solid"/>
          </a:ln>
        </p:spPr>
      </p:sp>
      <p:sp>
        <p:nvSpPr>
          <p:cNvPr id="67" name="Text 64"/>
          <p:cNvSpPr txBox="1"/>
          <p:nvPr/>
        </p:nvSpPr>
        <p:spPr>
          <a:xfrm>
            <a:off x="2935224" y="4307840"/>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ga</a:t>
            </a:r>
            <a:endParaRPr lang="en-US" sz="1600" dirty="0"/>
          </a:p>
        </p:txBody>
      </p:sp>
      <p:sp>
        <p:nvSpPr>
          <p:cNvPr id="68" name="Text 65"/>
          <p:cNvSpPr txBox="1"/>
          <p:nvPr/>
        </p:nvSpPr>
        <p:spPr>
          <a:xfrm>
            <a:off x="3694176" y="4070096"/>
            <a:ext cx="963168"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69" name="Shape 66"/>
          <p:cNvSpPr/>
          <p:nvPr/>
        </p:nvSpPr>
        <p:spPr>
          <a:xfrm>
            <a:off x="3694176" y="4307840"/>
            <a:ext cx="963168" cy="372872"/>
          </a:xfrm>
          <a:prstGeom prst="roundRect">
            <a:avLst>
              <a:gd name="adj" fmla="val 14714"/>
            </a:avLst>
          </a:prstGeom>
          <a:solidFill>
            <a:schemeClr val="accent2">
              <a:alpha val="88000"/>
            </a:schemeClr>
          </a:solidFill>
          <a:ln w="12700">
            <a:solidFill>
              <a:srgbClr val="2A6FB0"/>
            </a:solidFill>
            <a:prstDash val="solid"/>
          </a:ln>
        </p:spPr>
      </p:sp>
      <p:sp>
        <p:nvSpPr>
          <p:cNvPr id="70" name="Text 67"/>
          <p:cNvSpPr txBox="1"/>
          <p:nvPr/>
        </p:nvSpPr>
        <p:spPr>
          <a:xfrm>
            <a:off x="3730752" y="4307840"/>
            <a:ext cx="890016" cy="372872"/>
          </a:xfrm>
          <a:prstGeom prst="rect">
            <a:avLst/>
          </a:prstGeom>
          <a:noFill/>
          <a:ln/>
        </p:spPr>
        <p:txBody>
          <a:bodyPr wrap="square" lIns="0" tIns="0" rIns="0" bIns="0" rtlCol="0" anchor="ctr"/>
          <a:lstStyle/>
          <a:p>
            <a:pPr algn="ctr" indent="0" marL="0">
              <a:buNone/>
            </a:pPr>
            <a:r>
              <a:rPr lang="en-US" sz="1600" b="1" dirty="0">
                <a:solidFill>
                  <a:schemeClr val="bg1"/>
                </a:solidFill>
              </a:rPr>
              <a:t>morgen</a:t>
            </a:r>
            <a:endParaRPr lang="en-US" sz="1600" dirty="0"/>
          </a:p>
        </p:txBody>
      </p:sp>
      <p:sp>
        <p:nvSpPr>
          <p:cNvPr id="71" name="Text 68"/>
          <p:cNvSpPr txBox="1"/>
          <p:nvPr/>
        </p:nvSpPr>
        <p:spPr>
          <a:xfrm>
            <a:off x="4767072" y="4070096"/>
            <a:ext cx="857504"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72" name="Shape 69"/>
          <p:cNvSpPr/>
          <p:nvPr/>
        </p:nvSpPr>
        <p:spPr>
          <a:xfrm>
            <a:off x="4767072" y="4307840"/>
            <a:ext cx="857504" cy="372872"/>
          </a:xfrm>
          <a:prstGeom prst="roundRect">
            <a:avLst>
              <a:gd name="adj" fmla="val 14714"/>
            </a:avLst>
          </a:prstGeom>
          <a:solidFill>
            <a:schemeClr val="accent4">
              <a:alpha val="88000"/>
            </a:schemeClr>
          </a:solidFill>
          <a:ln w="12700">
            <a:solidFill>
              <a:srgbClr val="B4236A"/>
            </a:solidFill>
            <a:prstDash val="solid"/>
          </a:ln>
        </p:spPr>
      </p:sp>
      <p:sp>
        <p:nvSpPr>
          <p:cNvPr id="73" name="Text 70"/>
          <p:cNvSpPr txBox="1"/>
          <p:nvPr/>
        </p:nvSpPr>
        <p:spPr>
          <a:xfrm>
            <a:off x="4803648" y="4307840"/>
            <a:ext cx="784352" cy="372872"/>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74" name="Text 71"/>
          <p:cNvSpPr txBox="1"/>
          <p:nvPr/>
        </p:nvSpPr>
        <p:spPr>
          <a:xfrm>
            <a:off x="5734304" y="4070096"/>
            <a:ext cx="1068832" cy="219456"/>
          </a:xfrm>
          <a:prstGeom prst="rect">
            <a:avLst/>
          </a:prstGeom>
          <a:noFill/>
          <a:ln/>
        </p:spPr>
        <p:txBody>
          <a:bodyPr wrap="square" lIns="0" tIns="0" rIns="0" bIns="0" rtlCol="0" anchor="b"/>
          <a:lstStyle/>
          <a:p>
            <a:pPr algn="ctr" indent="0" marL="0">
              <a:buNone/>
            </a:pPr>
            <a:r>
              <a:rPr lang="en-US" sz="1000" b="1" dirty="0">
                <a:solidFill>
                  <a:schemeClr val="accent1"/>
                </a:solidFill>
              </a:rPr>
              <a:t>infinitif</a:t>
            </a:r>
            <a:endParaRPr lang="en-US" sz="1000" dirty="0"/>
          </a:p>
        </p:txBody>
      </p:sp>
      <p:sp>
        <p:nvSpPr>
          <p:cNvPr id="75" name="Shape 72"/>
          <p:cNvSpPr/>
          <p:nvPr/>
        </p:nvSpPr>
        <p:spPr>
          <a:xfrm>
            <a:off x="5734304" y="4307840"/>
            <a:ext cx="1068832" cy="372872"/>
          </a:xfrm>
          <a:prstGeom prst="roundRect">
            <a:avLst>
              <a:gd name="adj" fmla="val 14714"/>
            </a:avLst>
          </a:prstGeom>
          <a:solidFill>
            <a:schemeClr val="accent1">
              <a:alpha val="88000"/>
            </a:schemeClr>
          </a:solidFill>
          <a:ln w="12700">
            <a:solidFill>
              <a:srgbClr val="D9700F"/>
            </a:solidFill>
            <a:prstDash val="solid"/>
          </a:ln>
        </p:spPr>
      </p:sp>
      <p:sp>
        <p:nvSpPr>
          <p:cNvPr id="76" name="Text 73"/>
          <p:cNvSpPr txBox="1"/>
          <p:nvPr/>
        </p:nvSpPr>
        <p:spPr>
          <a:xfrm>
            <a:off x="5770880" y="4307840"/>
            <a:ext cx="995680" cy="372872"/>
          </a:xfrm>
          <a:prstGeom prst="rect">
            <a:avLst/>
          </a:prstGeom>
          <a:noFill/>
          <a:ln/>
        </p:spPr>
        <p:txBody>
          <a:bodyPr wrap="square" lIns="0" tIns="0" rIns="0" bIns="0" rtlCol="0" anchor="ctr"/>
          <a:lstStyle/>
          <a:p>
            <a:pPr algn="ctr" indent="0" marL="0">
              <a:buNone/>
            </a:pPr>
            <a:r>
              <a:rPr lang="en-US" sz="1600" b="1" dirty="0">
                <a:solidFill>
                  <a:schemeClr val="bg1"/>
                </a:solidFill>
              </a:rPr>
              <a:t>werken.</a:t>
            </a:r>
            <a:endParaRPr lang="en-US" sz="1600" dirty="0"/>
          </a:p>
        </p:txBody>
      </p:sp>
      <p:sp>
        <p:nvSpPr>
          <p:cNvPr id="77" name="Text 74"/>
          <p:cNvSpPr txBox="1"/>
          <p:nvPr/>
        </p:nvSpPr>
        <p:spPr>
          <a:xfrm>
            <a:off x="548640" y="4955032"/>
            <a:ext cx="1463040" cy="372872"/>
          </a:xfrm>
          <a:prstGeom prst="rect">
            <a:avLst/>
          </a:prstGeom>
          <a:noFill/>
          <a:ln/>
        </p:spPr>
        <p:txBody>
          <a:bodyPr wrap="square" lIns="0" tIns="0" rIns="0" bIns="0" rtlCol="0" anchor="ctr"/>
          <a:lstStyle/>
          <a:p>
            <a:pPr indent="0" marL="0">
              <a:buNone/>
            </a:pPr>
            <a:r>
              <a:rPr lang="en-US" sz="1400" b="1" dirty="0">
                <a:solidFill>
                  <a:schemeClr val="accent5"/>
                </a:solidFill>
              </a:rPr>
              <a:t>omdat</a:t>
            </a:r>
            <a:endParaRPr lang="en-US" sz="1400" dirty="0"/>
          </a:p>
        </p:txBody>
      </p:sp>
      <p:sp>
        <p:nvSpPr>
          <p:cNvPr id="78" name="Text 75"/>
          <p:cNvSpPr txBox="1"/>
          <p:nvPr/>
        </p:nvSpPr>
        <p:spPr>
          <a:xfrm>
            <a:off x="2103120" y="4717288"/>
            <a:ext cx="1914144" cy="219456"/>
          </a:xfrm>
          <a:prstGeom prst="rect">
            <a:avLst/>
          </a:prstGeom>
          <a:noFill/>
          <a:ln/>
        </p:spPr>
        <p:txBody>
          <a:bodyPr wrap="square" lIns="0" tIns="0" rIns="0" bIns="0" rtlCol="0" anchor="b"/>
          <a:lstStyle/>
          <a:p>
            <a:pPr algn="ctr" indent="0" marL="0">
              <a:buNone/>
            </a:pPr>
            <a:r>
              <a:rPr lang="en-US" sz="1000" b="1" dirty="0">
                <a:solidFill>
                  <a:schemeClr val="accent5"/>
                </a:solidFill>
              </a:rPr>
              <a:t>principale</a:t>
            </a:r>
            <a:endParaRPr lang="en-US" sz="1000" dirty="0"/>
          </a:p>
        </p:txBody>
      </p:sp>
      <p:sp>
        <p:nvSpPr>
          <p:cNvPr id="79" name="Shape 76"/>
          <p:cNvSpPr/>
          <p:nvPr/>
        </p:nvSpPr>
        <p:spPr>
          <a:xfrm>
            <a:off x="2103120" y="4955032"/>
            <a:ext cx="1914144" cy="372872"/>
          </a:xfrm>
          <a:prstGeom prst="roundRect">
            <a:avLst>
              <a:gd name="adj" fmla="val 14714"/>
            </a:avLst>
          </a:prstGeom>
          <a:solidFill>
            <a:schemeClr val="accent5">
              <a:alpha val="25000"/>
            </a:schemeClr>
          </a:solidFill>
          <a:ln w="12700">
            <a:solidFill>
              <a:srgbClr val="4A5A70"/>
            </a:solidFill>
            <a:prstDash val="solid"/>
          </a:ln>
        </p:spPr>
      </p:sp>
      <p:sp>
        <p:nvSpPr>
          <p:cNvPr id="80" name="Text 77"/>
          <p:cNvSpPr txBox="1"/>
          <p:nvPr/>
        </p:nvSpPr>
        <p:spPr>
          <a:xfrm>
            <a:off x="2139696" y="4955032"/>
            <a:ext cx="1840992" cy="372872"/>
          </a:xfrm>
          <a:prstGeom prst="rect">
            <a:avLst/>
          </a:prstGeom>
          <a:noFill/>
          <a:ln/>
        </p:spPr>
        <p:txBody>
          <a:bodyPr wrap="square" lIns="0" tIns="0" rIns="0" bIns="0" rtlCol="0" anchor="ctr"/>
          <a:lstStyle/>
          <a:p>
            <a:pPr algn="ctr" indent="0" marL="0">
              <a:buNone/>
            </a:pPr>
            <a:r>
              <a:rPr lang="en-US" sz="1600" b="1" dirty="0">
                <a:solidFill>
                  <a:schemeClr val="tx1"/>
                </a:solidFill>
              </a:rPr>
              <a:t>Ik blijf thuis,</a:t>
            </a:r>
            <a:endParaRPr lang="en-US" sz="1600" dirty="0"/>
          </a:p>
        </p:txBody>
      </p:sp>
      <p:sp>
        <p:nvSpPr>
          <p:cNvPr id="81" name="Text 78"/>
          <p:cNvSpPr txBox="1"/>
          <p:nvPr/>
        </p:nvSpPr>
        <p:spPr>
          <a:xfrm>
            <a:off x="4126992" y="4717288"/>
            <a:ext cx="857504"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82" name="Shape 79"/>
          <p:cNvSpPr/>
          <p:nvPr/>
        </p:nvSpPr>
        <p:spPr>
          <a:xfrm>
            <a:off x="4126992" y="4955032"/>
            <a:ext cx="857504" cy="372872"/>
          </a:xfrm>
          <a:prstGeom prst="roundRect">
            <a:avLst>
              <a:gd name="adj" fmla="val 14714"/>
            </a:avLst>
          </a:prstGeom>
          <a:solidFill>
            <a:srgbClr val="6E4A9E">
              <a:alpha val="88000"/>
            </a:srgbClr>
          </a:solidFill>
          <a:ln w="12700">
            <a:solidFill>
              <a:srgbClr val="6E4A9E"/>
            </a:solidFill>
            <a:prstDash val="solid"/>
          </a:ln>
        </p:spPr>
      </p:sp>
      <p:sp>
        <p:nvSpPr>
          <p:cNvPr id="83" name="Text 80"/>
          <p:cNvSpPr txBox="1"/>
          <p:nvPr/>
        </p:nvSpPr>
        <p:spPr>
          <a:xfrm>
            <a:off x="4163568" y="4955032"/>
            <a:ext cx="784352" cy="372872"/>
          </a:xfrm>
          <a:prstGeom prst="rect">
            <a:avLst/>
          </a:prstGeom>
          <a:noFill/>
          <a:ln/>
        </p:spPr>
        <p:txBody>
          <a:bodyPr wrap="square" lIns="0" tIns="0" rIns="0" bIns="0" rtlCol="0" anchor="ctr"/>
          <a:lstStyle/>
          <a:p>
            <a:pPr algn="ctr" indent="0" marL="0">
              <a:buNone/>
            </a:pPr>
            <a:r>
              <a:rPr lang="en-US" sz="1600" b="1" dirty="0">
                <a:solidFill>
                  <a:schemeClr val="bg1"/>
                </a:solidFill>
              </a:rPr>
              <a:t>omdat</a:t>
            </a:r>
            <a:endParaRPr lang="en-US" sz="1600" dirty="0"/>
          </a:p>
        </p:txBody>
      </p:sp>
      <p:sp>
        <p:nvSpPr>
          <p:cNvPr id="84" name="Text 81"/>
          <p:cNvSpPr txBox="1"/>
          <p:nvPr/>
        </p:nvSpPr>
        <p:spPr>
          <a:xfrm>
            <a:off x="5094224" y="471728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85" name="Shape 82"/>
          <p:cNvSpPr/>
          <p:nvPr/>
        </p:nvSpPr>
        <p:spPr>
          <a:xfrm>
            <a:off x="5094224" y="4955032"/>
            <a:ext cx="685800" cy="372872"/>
          </a:xfrm>
          <a:prstGeom prst="roundRect">
            <a:avLst>
              <a:gd name="adj" fmla="val 14714"/>
            </a:avLst>
          </a:prstGeom>
          <a:solidFill>
            <a:schemeClr val="tx2">
              <a:alpha val="88000"/>
            </a:schemeClr>
          </a:solidFill>
          <a:ln w="12700">
            <a:solidFill>
              <a:srgbClr val="17375E"/>
            </a:solidFill>
            <a:prstDash val="solid"/>
          </a:ln>
        </p:spPr>
      </p:sp>
      <p:sp>
        <p:nvSpPr>
          <p:cNvPr id="86" name="Text 83"/>
          <p:cNvSpPr txBox="1"/>
          <p:nvPr/>
        </p:nvSpPr>
        <p:spPr>
          <a:xfrm>
            <a:off x="5130800" y="4955032"/>
            <a:ext cx="612648" cy="372872"/>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87" name="Text 84"/>
          <p:cNvSpPr txBox="1"/>
          <p:nvPr/>
        </p:nvSpPr>
        <p:spPr>
          <a:xfrm>
            <a:off x="5889752" y="4717288"/>
            <a:ext cx="751840" cy="219456"/>
          </a:xfrm>
          <a:prstGeom prst="rect">
            <a:avLst/>
          </a:prstGeom>
          <a:noFill/>
          <a:ln/>
        </p:spPr>
        <p:txBody>
          <a:bodyPr wrap="square" lIns="0" tIns="0" rIns="0" bIns="0" rtlCol="0" anchor="b"/>
          <a:lstStyle/>
          <a:p>
            <a:pPr algn="ctr" indent="0" marL="0">
              <a:buNone/>
            </a:pPr>
            <a:endParaRPr lang="en-US" sz="1000" dirty="0"/>
          </a:p>
        </p:txBody>
      </p:sp>
      <p:sp>
        <p:nvSpPr>
          <p:cNvPr id="88" name="Shape 85"/>
          <p:cNvSpPr/>
          <p:nvPr/>
        </p:nvSpPr>
        <p:spPr>
          <a:xfrm>
            <a:off x="5889752" y="4955032"/>
            <a:ext cx="751840" cy="372872"/>
          </a:xfrm>
          <a:prstGeom prst="roundRect">
            <a:avLst>
              <a:gd name="adj" fmla="val 14714"/>
            </a:avLst>
          </a:prstGeom>
          <a:solidFill>
            <a:schemeClr val="accent5">
              <a:alpha val="25000"/>
            </a:schemeClr>
          </a:solidFill>
          <a:ln w="12700">
            <a:solidFill>
              <a:srgbClr val="4A5A70"/>
            </a:solidFill>
            <a:prstDash val="solid"/>
          </a:ln>
        </p:spPr>
      </p:sp>
      <p:sp>
        <p:nvSpPr>
          <p:cNvPr id="89" name="Text 86"/>
          <p:cNvSpPr txBox="1"/>
          <p:nvPr/>
        </p:nvSpPr>
        <p:spPr>
          <a:xfrm>
            <a:off x="5926328" y="4955032"/>
            <a:ext cx="678688" cy="372872"/>
          </a:xfrm>
          <a:prstGeom prst="rect">
            <a:avLst/>
          </a:prstGeom>
          <a:noFill/>
          <a:ln/>
        </p:spPr>
        <p:txBody>
          <a:bodyPr wrap="square" lIns="0" tIns="0" rIns="0" bIns="0" rtlCol="0" anchor="ctr"/>
          <a:lstStyle/>
          <a:p>
            <a:pPr algn="ctr" indent="0" marL="0">
              <a:buNone/>
            </a:pPr>
            <a:r>
              <a:rPr lang="en-US" sz="1600" b="1" dirty="0">
                <a:solidFill>
                  <a:schemeClr val="tx1"/>
                </a:solidFill>
              </a:rPr>
              <a:t>ziek</a:t>
            </a:r>
            <a:endParaRPr lang="en-US" sz="1600" dirty="0"/>
          </a:p>
        </p:txBody>
      </p:sp>
      <p:sp>
        <p:nvSpPr>
          <p:cNvPr id="90" name="Text 87"/>
          <p:cNvSpPr txBox="1"/>
          <p:nvPr/>
        </p:nvSpPr>
        <p:spPr>
          <a:xfrm>
            <a:off x="6751320" y="4717288"/>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à la fin</a:t>
            </a:r>
            <a:endParaRPr lang="en-US" sz="1000" dirty="0"/>
          </a:p>
        </p:txBody>
      </p:sp>
      <p:sp>
        <p:nvSpPr>
          <p:cNvPr id="91" name="Shape 88"/>
          <p:cNvSpPr/>
          <p:nvPr/>
        </p:nvSpPr>
        <p:spPr>
          <a:xfrm>
            <a:off x="6751320" y="4955032"/>
            <a:ext cx="751840" cy="372872"/>
          </a:xfrm>
          <a:prstGeom prst="roundRect">
            <a:avLst>
              <a:gd name="adj" fmla="val 14714"/>
            </a:avLst>
          </a:prstGeom>
          <a:solidFill>
            <a:schemeClr val="accent6">
              <a:alpha val="88000"/>
            </a:schemeClr>
          </a:solidFill>
          <a:ln w="12700">
            <a:solidFill>
              <a:srgbClr val="B83227"/>
            </a:solidFill>
            <a:prstDash val="solid"/>
          </a:ln>
        </p:spPr>
      </p:sp>
      <p:sp>
        <p:nvSpPr>
          <p:cNvPr id="92" name="Text 89"/>
          <p:cNvSpPr txBox="1"/>
          <p:nvPr/>
        </p:nvSpPr>
        <p:spPr>
          <a:xfrm>
            <a:off x="6787896" y="4955032"/>
            <a:ext cx="678688" cy="372872"/>
          </a:xfrm>
          <a:prstGeom prst="rect">
            <a:avLst/>
          </a:prstGeom>
          <a:noFill/>
          <a:ln/>
        </p:spPr>
        <p:txBody>
          <a:bodyPr wrap="square" lIns="0" tIns="0" rIns="0" bIns="0" rtlCol="0" anchor="ctr"/>
          <a:lstStyle/>
          <a:p>
            <a:pPr algn="ctr" indent="0" marL="0">
              <a:buNone/>
            </a:pPr>
            <a:r>
              <a:rPr lang="en-US" sz="1600" b="1" dirty="0">
                <a:solidFill>
                  <a:schemeClr val="bg1"/>
                </a:solidFill>
              </a:rPr>
              <a:t>ben.</a:t>
            </a:r>
            <a:endParaRPr lang="en-US" sz="1600" dirty="0"/>
          </a:p>
        </p:txBody>
      </p:sp>
      <p:sp>
        <p:nvSpPr>
          <p:cNvPr id="93" name="Shape 90"/>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94"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95" name="Text 91"/>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garde « sujet + verbe » ; le néerlandais déplace le verbe : </a:t>
            </a:r>
            <a:r>
              <a:rPr lang="en-US" sz="1700" i="1" dirty="0">
                <a:solidFill>
                  <a:schemeClr val="tx1"/>
                </a:solidFill>
              </a:rPr>
              <a:t>Vandaag </a:t>
            </a:r>
            <a:r>
              <a:rPr lang="en-US" sz="1700" b="1" i="1" dirty="0">
                <a:solidFill>
                  <a:schemeClr val="tx1"/>
                </a:solidFill>
              </a:rPr>
              <a:t>werk ik</a:t>
            </a:r>
            <a:r>
              <a:rPr lang="en-US" sz="1700" dirty="0">
                <a:solidFill>
                  <a:schemeClr val="tx1"/>
                </a:solidFill>
              </a:rPr>
              <a:t> · </a:t>
            </a:r>
            <a:r>
              <a:rPr lang="en-US" sz="1700" i="1" dirty="0">
                <a:solidFill>
                  <a:schemeClr val="tx1"/>
                </a:solidFill>
              </a:rPr>
              <a:t>Ik heb … </a:t>
            </a:r>
            <a:r>
              <a:rPr lang="en-US" sz="1700" b="1" i="1" dirty="0">
                <a:solidFill>
                  <a:schemeClr val="tx1"/>
                </a:solidFill>
              </a:rPr>
              <a:t>gewerkt</a:t>
            </a:r>
            <a:r>
              <a:rPr lang="en-US" sz="1700" dirty="0">
                <a:solidFill>
                  <a:schemeClr val="tx1"/>
                </a:solidFill>
              </a:rPr>
              <a:t> · </a:t>
            </a:r>
            <a:r>
              <a:rPr lang="en-US" sz="1700" i="1" dirty="0">
                <a:solidFill>
                  <a:schemeClr val="tx1"/>
                </a:solidFill>
              </a:rPr>
              <a:t>omdat ik ziek </a:t>
            </a:r>
            <a:r>
              <a:rPr lang="en-US" sz="1700" b="1" i="1" dirty="0">
                <a:solidFill>
                  <a:schemeClr val="tx1"/>
                </a:solidFill>
              </a:rPr>
              <a:t>ben</a:t>
            </a:r>
            <a:r>
              <a:rPr lang="en-US" sz="1700" dirty="0">
                <a:solidFill>
                  <a:schemeClr val="tx1"/>
                </a:solidFill>
              </a:rPr>
              <a:t>. Vérifiez la place du </a:t>
            </a:r>
            <a:r>
              <a:rPr lang="en-US" sz="1700" b="1" dirty="0">
                <a:solidFill>
                  <a:schemeClr val="tx1"/>
                </a:solidFill>
              </a:rPr>
              <a:t>verbe</a:t>
            </a:r>
            <a:r>
              <a:rPr lang="en-US" sz="1700" dirty="0">
                <a:solidFill>
                  <a:schemeClr val="tx1"/>
                </a:solidFill>
              </a:rPr>
              <a:t> dans chaque phrase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① : wat is dit? Met lidwoord!</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78–88</a:t>
            </a:r>
            <a:endParaRPr lang="en-US" sz="1200" dirty="0"/>
          </a:p>
        </p:txBody>
      </p:sp>
      <p:sp>
        <p:nvSpPr>
          <p:cNvPr id="6" name="Shape 3"/>
          <p:cNvSpPr/>
          <p:nvPr/>
        </p:nvSpPr>
        <p:spPr>
          <a:xfrm>
            <a:off x="548640" y="1508760"/>
            <a:ext cx="2057400" cy="1484376"/>
          </a:xfrm>
          <a:prstGeom prst="roundRect">
            <a:avLst>
              <a:gd name="adj" fmla="val 4928"/>
            </a:avLst>
          </a:prstGeom>
          <a:solidFill>
            <a:schemeClr val="bg1"/>
          </a:solidFill>
          <a:ln w="9525">
            <a:solidFill>
              <a:srgbClr val="D5DCE6"/>
            </a:solidFill>
            <a:prstDash val="solid"/>
          </a:ln>
        </p:spPr>
      </p:sp>
      <p:pic>
        <p:nvPicPr>
          <p:cNvPr id="7" name="illustration" descr="le feu (de signalisation)">    </p:cNvPr>
          <p:cNvPicPr>
            <a:picLocks noChangeAspect="1"/>
          </p:cNvPicPr>
          <p:nvPr/>
        </p:nvPicPr>
        <p:blipFill>
          <a:blip r:embed="rId1"/>
          <a:stretch>
            <a:fillRect/>
          </a:stretch>
        </p:blipFill>
        <p:spPr>
          <a:xfrm>
            <a:off x="1092481" y="1581912"/>
            <a:ext cx="969718" cy="789432"/>
          </a:xfrm>
          <a:prstGeom prst="rect">
            <a:avLst/>
          </a:prstGeom>
        </p:spPr>
      </p:pic>
      <p:sp>
        <p:nvSpPr>
          <p:cNvPr id="8" name="Shape 4"/>
          <p:cNvSpPr/>
          <p:nvPr/>
        </p:nvSpPr>
        <p:spPr>
          <a:xfrm>
            <a:off x="640080" y="1600200"/>
            <a:ext cx="365760" cy="365760"/>
          </a:xfrm>
          <a:prstGeom prst="ellipse">
            <a:avLst/>
          </a:prstGeom>
          <a:solidFill>
            <a:schemeClr val="tx2"/>
          </a:solidFill>
          <a:ln/>
        </p:spPr>
      </p:sp>
      <p:sp>
        <p:nvSpPr>
          <p:cNvPr id="9"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1" name="Shape 7"/>
          <p:cNvSpPr/>
          <p:nvPr/>
        </p:nvSpPr>
        <p:spPr>
          <a:xfrm>
            <a:off x="2807208" y="1508760"/>
            <a:ext cx="2057400" cy="1484376"/>
          </a:xfrm>
          <a:prstGeom prst="roundRect">
            <a:avLst>
              <a:gd name="adj" fmla="val 4928"/>
            </a:avLst>
          </a:prstGeom>
          <a:solidFill>
            <a:schemeClr val="bg1"/>
          </a:solidFill>
          <a:ln w="9525">
            <a:solidFill>
              <a:srgbClr val="D5DCE6"/>
            </a:solidFill>
            <a:prstDash val="solid"/>
          </a:ln>
        </p:spPr>
      </p:sp>
      <p:pic>
        <p:nvPicPr>
          <p:cNvPr id="12" name="illustration" descr="le pont">    </p:cNvPr>
          <p:cNvPicPr>
            <a:picLocks noChangeAspect="1"/>
          </p:cNvPicPr>
          <p:nvPr/>
        </p:nvPicPr>
        <p:blipFill>
          <a:blip r:embed="rId2"/>
          <a:stretch>
            <a:fillRect/>
          </a:stretch>
        </p:blipFill>
        <p:spPr>
          <a:xfrm>
            <a:off x="3359244" y="1581912"/>
            <a:ext cx="953328" cy="789432"/>
          </a:xfrm>
          <a:prstGeom prst="rect">
            <a:avLst/>
          </a:prstGeom>
        </p:spPr>
      </p:pic>
      <p:sp>
        <p:nvSpPr>
          <p:cNvPr id="13" name="Shape 8"/>
          <p:cNvSpPr/>
          <p:nvPr/>
        </p:nvSpPr>
        <p:spPr>
          <a:xfrm>
            <a:off x="2898648" y="1600200"/>
            <a:ext cx="365760" cy="365760"/>
          </a:xfrm>
          <a:prstGeom prst="ellipse">
            <a:avLst/>
          </a:prstGeom>
          <a:solidFill>
            <a:schemeClr val="tx2"/>
          </a:solidFill>
          <a:ln/>
        </p:spPr>
      </p:sp>
      <p:sp>
        <p:nvSpPr>
          <p:cNvPr id="14" name="Text 9"/>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0"/>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6" name="Shape 11"/>
          <p:cNvSpPr/>
          <p:nvPr/>
        </p:nvSpPr>
        <p:spPr>
          <a:xfrm>
            <a:off x="5065776" y="1508760"/>
            <a:ext cx="2057400" cy="1484376"/>
          </a:xfrm>
          <a:prstGeom prst="roundRect">
            <a:avLst>
              <a:gd name="adj" fmla="val 4928"/>
            </a:avLst>
          </a:prstGeom>
          <a:solidFill>
            <a:schemeClr val="bg1"/>
          </a:solidFill>
          <a:ln w="9525">
            <a:solidFill>
              <a:srgbClr val="D5DCE6"/>
            </a:solidFill>
            <a:prstDash val="solid"/>
          </a:ln>
        </p:spPr>
      </p:sp>
      <p:pic>
        <p:nvPicPr>
          <p:cNvPr id="17" name="illustration" descr="les couverts">    </p:cNvPr>
          <p:cNvPicPr>
            <a:picLocks noChangeAspect="1"/>
          </p:cNvPicPr>
          <p:nvPr/>
        </p:nvPicPr>
        <p:blipFill>
          <a:blip r:embed="rId3"/>
          <a:stretch>
            <a:fillRect/>
          </a:stretch>
        </p:blipFill>
        <p:spPr>
          <a:xfrm>
            <a:off x="5562068" y="1581912"/>
            <a:ext cx="1064815" cy="789432"/>
          </a:xfrm>
          <a:prstGeom prst="rect">
            <a:avLst/>
          </a:prstGeom>
        </p:spPr>
      </p:pic>
      <p:sp>
        <p:nvSpPr>
          <p:cNvPr id="18" name="Shape 12"/>
          <p:cNvSpPr/>
          <p:nvPr/>
        </p:nvSpPr>
        <p:spPr>
          <a:xfrm>
            <a:off x="5157216" y="1600200"/>
            <a:ext cx="365760" cy="365760"/>
          </a:xfrm>
          <a:prstGeom prst="ellipse">
            <a:avLst/>
          </a:prstGeom>
          <a:solidFill>
            <a:schemeClr val="tx2"/>
          </a:solidFill>
          <a:ln/>
        </p:spPr>
      </p:sp>
      <p:sp>
        <p:nvSpPr>
          <p:cNvPr id="19" name="Text 13"/>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4"/>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Shape 15"/>
          <p:cNvSpPr/>
          <p:nvPr/>
        </p:nvSpPr>
        <p:spPr>
          <a:xfrm>
            <a:off x="7324344" y="1508760"/>
            <a:ext cx="2057400" cy="1484376"/>
          </a:xfrm>
          <a:prstGeom prst="roundRect">
            <a:avLst>
              <a:gd name="adj" fmla="val 4928"/>
            </a:avLst>
          </a:prstGeom>
          <a:solidFill>
            <a:schemeClr val="bg1"/>
          </a:solidFill>
          <a:ln w="9525">
            <a:solidFill>
              <a:srgbClr val="D5DCE6"/>
            </a:solidFill>
            <a:prstDash val="solid"/>
          </a:ln>
        </p:spPr>
      </p:sp>
      <p:pic>
        <p:nvPicPr>
          <p:cNvPr id="22" name="illustration" descr="l’œuf">    </p:cNvPr>
          <p:cNvPicPr>
            <a:picLocks noChangeAspect="1"/>
          </p:cNvPicPr>
          <p:nvPr/>
        </p:nvPicPr>
        <p:blipFill>
          <a:blip r:embed="rId4"/>
          <a:stretch>
            <a:fillRect/>
          </a:stretch>
        </p:blipFill>
        <p:spPr>
          <a:xfrm>
            <a:off x="7880477" y="1581912"/>
            <a:ext cx="945133" cy="789432"/>
          </a:xfrm>
          <a:prstGeom prst="rect">
            <a:avLst/>
          </a:prstGeom>
        </p:spPr>
      </p:pic>
      <p:sp>
        <p:nvSpPr>
          <p:cNvPr id="23" name="Shape 16"/>
          <p:cNvSpPr/>
          <p:nvPr/>
        </p:nvSpPr>
        <p:spPr>
          <a:xfrm>
            <a:off x="7415784" y="1600200"/>
            <a:ext cx="365760" cy="365760"/>
          </a:xfrm>
          <a:prstGeom prst="ellipse">
            <a:avLst/>
          </a:prstGeom>
          <a:solidFill>
            <a:schemeClr val="tx2"/>
          </a:solidFill>
          <a:ln/>
        </p:spPr>
      </p:sp>
      <p:sp>
        <p:nvSpPr>
          <p:cNvPr id="24" name="Text 17"/>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18"/>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6" name="Shape 19"/>
          <p:cNvSpPr/>
          <p:nvPr/>
        </p:nvSpPr>
        <p:spPr>
          <a:xfrm>
            <a:off x="9582912" y="1508760"/>
            <a:ext cx="2057400" cy="1484376"/>
          </a:xfrm>
          <a:prstGeom prst="roundRect">
            <a:avLst>
              <a:gd name="adj" fmla="val 4928"/>
            </a:avLst>
          </a:prstGeom>
          <a:solidFill>
            <a:schemeClr val="bg1"/>
          </a:solidFill>
          <a:ln w="9525">
            <a:solidFill>
              <a:srgbClr val="D5DCE6"/>
            </a:solidFill>
            <a:prstDash val="solid"/>
          </a:ln>
        </p:spPr>
      </p:sp>
      <p:pic>
        <p:nvPicPr>
          <p:cNvPr id="27" name="illustration" descr="la caisse">    </p:cNvPr>
          <p:cNvPicPr>
            <a:picLocks noChangeAspect="1"/>
          </p:cNvPicPr>
          <p:nvPr/>
        </p:nvPicPr>
        <p:blipFill>
          <a:blip r:embed="rId5"/>
          <a:stretch>
            <a:fillRect/>
          </a:stretch>
        </p:blipFill>
        <p:spPr>
          <a:xfrm>
            <a:off x="10126753" y="1581912"/>
            <a:ext cx="969718" cy="789432"/>
          </a:xfrm>
          <a:prstGeom prst="rect">
            <a:avLst/>
          </a:prstGeom>
        </p:spPr>
      </p:pic>
      <p:sp>
        <p:nvSpPr>
          <p:cNvPr id="28" name="Shape 20"/>
          <p:cNvSpPr/>
          <p:nvPr/>
        </p:nvSpPr>
        <p:spPr>
          <a:xfrm>
            <a:off x="9674352" y="1600200"/>
            <a:ext cx="365760" cy="365760"/>
          </a:xfrm>
          <a:prstGeom prst="ellipse">
            <a:avLst/>
          </a:prstGeom>
          <a:solidFill>
            <a:schemeClr val="tx2"/>
          </a:solidFill>
          <a:ln/>
        </p:spPr>
      </p:sp>
      <p:sp>
        <p:nvSpPr>
          <p:cNvPr id="29" name="Text 21"/>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2"/>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1" name="Shape 23"/>
          <p:cNvSpPr/>
          <p:nvPr/>
        </p:nvSpPr>
        <p:spPr>
          <a:xfrm>
            <a:off x="548640" y="3157728"/>
            <a:ext cx="2057400" cy="1484376"/>
          </a:xfrm>
          <a:prstGeom prst="roundRect">
            <a:avLst>
              <a:gd name="adj" fmla="val 4928"/>
            </a:avLst>
          </a:prstGeom>
          <a:solidFill>
            <a:schemeClr val="bg1"/>
          </a:solidFill>
          <a:ln w="9525">
            <a:solidFill>
              <a:srgbClr val="D5DCE6"/>
            </a:solidFill>
            <a:prstDash val="solid"/>
          </a:ln>
        </p:spPr>
      </p:sp>
      <p:pic>
        <p:nvPicPr>
          <p:cNvPr id="32" name="illustration" descr="la balance">    </p:cNvPr>
          <p:cNvPicPr>
            <a:picLocks noChangeAspect="1"/>
          </p:cNvPicPr>
          <p:nvPr/>
        </p:nvPicPr>
        <p:blipFill>
          <a:blip r:embed="rId6"/>
          <a:stretch>
            <a:fillRect/>
          </a:stretch>
        </p:blipFill>
        <p:spPr>
          <a:xfrm>
            <a:off x="1079280" y="3230880"/>
            <a:ext cx="996120" cy="789432"/>
          </a:xfrm>
          <a:prstGeom prst="rect">
            <a:avLst/>
          </a:prstGeom>
        </p:spPr>
      </p:pic>
      <p:sp>
        <p:nvSpPr>
          <p:cNvPr id="33" name="Shape 24"/>
          <p:cNvSpPr/>
          <p:nvPr/>
        </p:nvSpPr>
        <p:spPr>
          <a:xfrm>
            <a:off x="640080" y="3249168"/>
            <a:ext cx="365760" cy="365760"/>
          </a:xfrm>
          <a:prstGeom prst="ellipse">
            <a:avLst/>
          </a:prstGeom>
          <a:solidFill>
            <a:schemeClr val="tx2"/>
          </a:solidFill>
          <a:ln/>
        </p:spPr>
      </p:sp>
      <p:sp>
        <p:nvSpPr>
          <p:cNvPr id="34" name="Text 25"/>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26"/>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6" name="Shape 27"/>
          <p:cNvSpPr/>
          <p:nvPr/>
        </p:nvSpPr>
        <p:spPr>
          <a:xfrm>
            <a:off x="2807208" y="3157728"/>
            <a:ext cx="2057400" cy="1484376"/>
          </a:xfrm>
          <a:prstGeom prst="roundRect">
            <a:avLst>
              <a:gd name="adj" fmla="val 4928"/>
            </a:avLst>
          </a:prstGeom>
          <a:solidFill>
            <a:schemeClr val="bg1"/>
          </a:solidFill>
          <a:ln w="9525">
            <a:solidFill>
              <a:srgbClr val="D5DCE6"/>
            </a:solidFill>
            <a:prstDash val="solid"/>
          </a:ln>
        </p:spPr>
      </p:sp>
      <p:pic>
        <p:nvPicPr>
          <p:cNvPr id="37" name="illustration" descr="l’hôpital">    </p:cNvPr>
          <p:cNvPicPr>
            <a:picLocks noChangeAspect="1"/>
          </p:cNvPicPr>
          <p:nvPr/>
        </p:nvPicPr>
        <p:blipFill>
          <a:blip r:embed="rId7"/>
          <a:stretch>
            <a:fillRect/>
          </a:stretch>
        </p:blipFill>
        <p:spPr>
          <a:xfrm>
            <a:off x="3360330" y="3230880"/>
            <a:ext cx="951156" cy="789432"/>
          </a:xfrm>
          <a:prstGeom prst="rect">
            <a:avLst/>
          </a:prstGeom>
        </p:spPr>
      </p:pic>
      <p:sp>
        <p:nvSpPr>
          <p:cNvPr id="38" name="Shape 28"/>
          <p:cNvSpPr/>
          <p:nvPr/>
        </p:nvSpPr>
        <p:spPr>
          <a:xfrm>
            <a:off x="2898648" y="3249168"/>
            <a:ext cx="365760" cy="365760"/>
          </a:xfrm>
          <a:prstGeom prst="ellipse">
            <a:avLst/>
          </a:prstGeom>
          <a:solidFill>
            <a:schemeClr val="tx2"/>
          </a:solidFill>
          <a:ln/>
        </p:spPr>
      </p:sp>
      <p:sp>
        <p:nvSpPr>
          <p:cNvPr id="39" name="Text 29"/>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0" name="Text 30"/>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1" name="Shape 31"/>
          <p:cNvSpPr/>
          <p:nvPr/>
        </p:nvSpPr>
        <p:spPr>
          <a:xfrm>
            <a:off x="5065776" y="3157728"/>
            <a:ext cx="2057400" cy="1484376"/>
          </a:xfrm>
          <a:prstGeom prst="roundRect">
            <a:avLst>
              <a:gd name="adj" fmla="val 4928"/>
            </a:avLst>
          </a:prstGeom>
          <a:solidFill>
            <a:schemeClr val="bg1"/>
          </a:solidFill>
          <a:ln w="9525">
            <a:solidFill>
              <a:srgbClr val="D5DCE6"/>
            </a:solidFill>
            <a:prstDash val="solid"/>
          </a:ln>
        </p:spPr>
      </p:sp>
      <p:pic>
        <p:nvPicPr>
          <p:cNvPr id="42" name="illustration" descr="l’œil">    </p:cNvPr>
          <p:cNvPicPr>
            <a:picLocks noChangeAspect="1"/>
          </p:cNvPicPr>
          <p:nvPr/>
        </p:nvPicPr>
        <p:blipFill>
          <a:blip r:embed="rId8"/>
          <a:stretch>
            <a:fillRect/>
          </a:stretch>
        </p:blipFill>
        <p:spPr>
          <a:xfrm>
            <a:off x="5587804" y="3230880"/>
            <a:ext cx="1013344" cy="789432"/>
          </a:xfrm>
          <a:prstGeom prst="rect">
            <a:avLst/>
          </a:prstGeom>
        </p:spPr>
      </p:pic>
      <p:sp>
        <p:nvSpPr>
          <p:cNvPr id="43" name="Shape 32"/>
          <p:cNvSpPr/>
          <p:nvPr/>
        </p:nvSpPr>
        <p:spPr>
          <a:xfrm>
            <a:off x="5157216" y="3249168"/>
            <a:ext cx="365760" cy="365760"/>
          </a:xfrm>
          <a:prstGeom prst="ellipse">
            <a:avLst/>
          </a:prstGeom>
          <a:solidFill>
            <a:schemeClr val="tx2"/>
          </a:solidFill>
          <a:ln/>
        </p:spPr>
      </p:sp>
      <p:sp>
        <p:nvSpPr>
          <p:cNvPr id="44" name="Text 33"/>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Text 34"/>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6" name="Shape 35"/>
          <p:cNvSpPr/>
          <p:nvPr/>
        </p:nvSpPr>
        <p:spPr>
          <a:xfrm>
            <a:off x="7324344" y="3157728"/>
            <a:ext cx="2057400" cy="1484376"/>
          </a:xfrm>
          <a:prstGeom prst="roundRect">
            <a:avLst>
              <a:gd name="adj" fmla="val 4928"/>
            </a:avLst>
          </a:prstGeom>
          <a:solidFill>
            <a:schemeClr val="bg1"/>
          </a:solidFill>
          <a:ln w="9525">
            <a:solidFill>
              <a:srgbClr val="D5DCE6"/>
            </a:solidFill>
            <a:prstDash val="solid"/>
          </a:ln>
        </p:spPr>
      </p:sp>
      <p:pic>
        <p:nvPicPr>
          <p:cNvPr id="47" name="illustration" descr="l’agrafeuse">    </p:cNvPr>
          <p:cNvPicPr>
            <a:picLocks noChangeAspect="1"/>
          </p:cNvPicPr>
          <p:nvPr/>
        </p:nvPicPr>
        <p:blipFill>
          <a:blip r:embed="rId9"/>
          <a:stretch>
            <a:fillRect/>
          </a:stretch>
        </p:blipFill>
        <p:spPr>
          <a:xfrm>
            <a:off x="7820101" y="3230880"/>
            <a:ext cx="1065887" cy="789432"/>
          </a:xfrm>
          <a:prstGeom prst="rect">
            <a:avLst/>
          </a:prstGeom>
        </p:spPr>
      </p:pic>
      <p:sp>
        <p:nvSpPr>
          <p:cNvPr id="48" name="Shape 36"/>
          <p:cNvSpPr/>
          <p:nvPr/>
        </p:nvSpPr>
        <p:spPr>
          <a:xfrm>
            <a:off x="7415784" y="3249168"/>
            <a:ext cx="365760" cy="365760"/>
          </a:xfrm>
          <a:prstGeom prst="ellipse">
            <a:avLst/>
          </a:prstGeom>
          <a:solidFill>
            <a:schemeClr val="tx2"/>
          </a:solidFill>
          <a:ln/>
        </p:spPr>
      </p:sp>
      <p:sp>
        <p:nvSpPr>
          <p:cNvPr id="49" name="Text 37"/>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0" name="Text 38"/>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1" name="Shape 39"/>
          <p:cNvSpPr/>
          <p:nvPr/>
        </p:nvSpPr>
        <p:spPr>
          <a:xfrm>
            <a:off x="9582912" y="3157728"/>
            <a:ext cx="2057400" cy="1484376"/>
          </a:xfrm>
          <a:prstGeom prst="roundRect">
            <a:avLst>
              <a:gd name="adj" fmla="val 4928"/>
            </a:avLst>
          </a:prstGeom>
          <a:solidFill>
            <a:schemeClr val="bg1"/>
          </a:solidFill>
          <a:ln w="9525">
            <a:solidFill>
              <a:srgbClr val="D5DCE6"/>
            </a:solidFill>
            <a:prstDash val="solid"/>
          </a:ln>
        </p:spPr>
      </p:sp>
      <p:pic>
        <p:nvPicPr>
          <p:cNvPr id="52" name="illustration" descr="le clavier">    </p:cNvPr>
          <p:cNvPicPr>
            <a:picLocks noChangeAspect="1"/>
          </p:cNvPicPr>
          <p:nvPr/>
        </p:nvPicPr>
        <p:blipFill>
          <a:blip r:embed="rId10"/>
          <a:stretch>
            <a:fillRect/>
          </a:stretch>
        </p:blipFill>
        <p:spPr>
          <a:xfrm>
            <a:off x="10134664" y="3230880"/>
            <a:ext cx="953897" cy="789432"/>
          </a:xfrm>
          <a:prstGeom prst="rect">
            <a:avLst/>
          </a:prstGeom>
        </p:spPr>
      </p:pic>
      <p:sp>
        <p:nvSpPr>
          <p:cNvPr id="53" name="Shape 40"/>
          <p:cNvSpPr/>
          <p:nvPr/>
        </p:nvSpPr>
        <p:spPr>
          <a:xfrm>
            <a:off x="9674352" y="3249168"/>
            <a:ext cx="365760" cy="365760"/>
          </a:xfrm>
          <a:prstGeom prst="ellipse">
            <a:avLst/>
          </a:prstGeom>
          <a:solidFill>
            <a:schemeClr val="tx2"/>
          </a:solidFill>
          <a:ln/>
        </p:spPr>
      </p:sp>
      <p:sp>
        <p:nvSpPr>
          <p:cNvPr id="54" name="Text 41"/>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5" name="Text 42"/>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6" name="Shape 43"/>
          <p:cNvSpPr/>
          <p:nvPr/>
        </p:nvSpPr>
        <p:spPr>
          <a:xfrm>
            <a:off x="548640" y="4806696"/>
            <a:ext cx="2057400" cy="1484376"/>
          </a:xfrm>
          <a:prstGeom prst="roundRect">
            <a:avLst>
              <a:gd name="adj" fmla="val 4928"/>
            </a:avLst>
          </a:prstGeom>
          <a:solidFill>
            <a:schemeClr val="bg1"/>
          </a:solidFill>
          <a:ln w="9525">
            <a:solidFill>
              <a:srgbClr val="D5DCE6"/>
            </a:solidFill>
            <a:prstDash val="solid"/>
          </a:ln>
        </p:spPr>
      </p:sp>
      <p:pic>
        <p:nvPicPr>
          <p:cNvPr id="57" name="illustration" descr="l’enveloppe">    </p:cNvPr>
          <p:cNvPicPr>
            <a:picLocks noChangeAspect="1"/>
          </p:cNvPicPr>
          <p:nvPr/>
        </p:nvPicPr>
        <p:blipFill>
          <a:blip r:embed="rId11"/>
          <a:stretch>
            <a:fillRect/>
          </a:stretch>
        </p:blipFill>
        <p:spPr>
          <a:xfrm>
            <a:off x="1100105" y="4879848"/>
            <a:ext cx="954470" cy="789432"/>
          </a:xfrm>
          <a:prstGeom prst="rect">
            <a:avLst/>
          </a:prstGeom>
        </p:spPr>
      </p:pic>
      <p:sp>
        <p:nvSpPr>
          <p:cNvPr id="58" name="Shape 44"/>
          <p:cNvSpPr/>
          <p:nvPr/>
        </p:nvSpPr>
        <p:spPr>
          <a:xfrm>
            <a:off x="640080" y="4898136"/>
            <a:ext cx="365760" cy="365760"/>
          </a:xfrm>
          <a:prstGeom prst="ellipse">
            <a:avLst/>
          </a:prstGeom>
          <a:solidFill>
            <a:schemeClr val="tx2"/>
          </a:solidFill>
          <a:ln/>
        </p:spPr>
      </p:sp>
      <p:sp>
        <p:nvSpPr>
          <p:cNvPr id="59" name="Text 45"/>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0" name="Text 46"/>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1" name="Shape 47"/>
          <p:cNvSpPr/>
          <p:nvPr/>
        </p:nvSpPr>
        <p:spPr>
          <a:xfrm>
            <a:off x="2807208" y="4806696"/>
            <a:ext cx="2057400" cy="1484376"/>
          </a:xfrm>
          <a:prstGeom prst="roundRect">
            <a:avLst>
              <a:gd name="adj" fmla="val 4928"/>
            </a:avLst>
          </a:prstGeom>
          <a:solidFill>
            <a:schemeClr val="bg1"/>
          </a:solidFill>
          <a:ln w="9525">
            <a:solidFill>
              <a:srgbClr val="D5DCE6"/>
            </a:solidFill>
            <a:prstDash val="solid"/>
          </a:ln>
        </p:spPr>
      </p:sp>
      <p:pic>
        <p:nvPicPr>
          <p:cNvPr id="62" name="illustration" descr="l’arc-en-ciel">    </p:cNvPr>
          <p:cNvPicPr>
            <a:picLocks noChangeAspect="1"/>
          </p:cNvPicPr>
          <p:nvPr/>
        </p:nvPicPr>
        <p:blipFill>
          <a:blip r:embed="rId12"/>
          <a:stretch>
            <a:fillRect/>
          </a:stretch>
        </p:blipFill>
        <p:spPr>
          <a:xfrm>
            <a:off x="3358960" y="4879848"/>
            <a:ext cx="953897" cy="789432"/>
          </a:xfrm>
          <a:prstGeom prst="rect">
            <a:avLst/>
          </a:prstGeom>
        </p:spPr>
      </p:pic>
      <p:sp>
        <p:nvSpPr>
          <p:cNvPr id="63" name="Shape 48"/>
          <p:cNvSpPr/>
          <p:nvPr/>
        </p:nvSpPr>
        <p:spPr>
          <a:xfrm>
            <a:off x="2898648" y="4898136"/>
            <a:ext cx="365760" cy="365760"/>
          </a:xfrm>
          <a:prstGeom prst="ellipse">
            <a:avLst/>
          </a:prstGeom>
          <a:solidFill>
            <a:schemeClr val="tx2"/>
          </a:solidFill>
          <a:ln/>
        </p:spPr>
      </p:sp>
      <p:sp>
        <p:nvSpPr>
          <p:cNvPr id="64" name="Text 49"/>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5" name="Text 50"/>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6" name="Shape 51"/>
          <p:cNvSpPr/>
          <p:nvPr/>
        </p:nvSpPr>
        <p:spPr>
          <a:xfrm>
            <a:off x="5065776" y="4806696"/>
            <a:ext cx="2057400" cy="1484376"/>
          </a:xfrm>
          <a:prstGeom prst="roundRect">
            <a:avLst>
              <a:gd name="adj" fmla="val 4928"/>
            </a:avLst>
          </a:prstGeom>
          <a:solidFill>
            <a:schemeClr val="bg1"/>
          </a:solidFill>
          <a:ln w="9525">
            <a:solidFill>
              <a:srgbClr val="D5DCE6"/>
            </a:solidFill>
            <a:prstDash val="solid"/>
          </a:ln>
        </p:spPr>
      </p:sp>
      <p:pic>
        <p:nvPicPr>
          <p:cNvPr id="67" name="illustration" descr="l’orage">    </p:cNvPr>
          <p:cNvPicPr>
            <a:picLocks noChangeAspect="1"/>
          </p:cNvPicPr>
          <p:nvPr/>
        </p:nvPicPr>
        <p:blipFill>
          <a:blip r:embed="rId13"/>
          <a:stretch>
            <a:fillRect/>
          </a:stretch>
        </p:blipFill>
        <p:spPr>
          <a:xfrm>
            <a:off x="5619456" y="4879848"/>
            <a:ext cx="950041" cy="789432"/>
          </a:xfrm>
          <a:prstGeom prst="rect">
            <a:avLst/>
          </a:prstGeom>
        </p:spPr>
      </p:pic>
      <p:sp>
        <p:nvSpPr>
          <p:cNvPr id="68" name="Shape 52"/>
          <p:cNvSpPr/>
          <p:nvPr/>
        </p:nvSpPr>
        <p:spPr>
          <a:xfrm>
            <a:off x="5157216" y="4898136"/>
            <a:ext cx="365760" cy="365760"/>
          </a:xfrm>
          <a:prstGeom prst="ellipse">
            <a:avLst/>
          </a:prstGeom>
          <a:solidFill>
            <a:schemeClr val="tx2"/>
          </a:solidFill>
          <a:ln/>
        </p:spPr>
      </p:sp>
      <p:sp>
        <p:nvSpPr>
          <p:cNvPr id="69" name="Text 53"/>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0" name="Text 54"/>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1" name="Shape 55"/>
          <p:cNvSpPr/>
          <p:nvPr/>
        </p:nvSpPr>
        <p:spPr>
          <a:xfrm>
            <a:off x="7324344" y="4806696"/>
            <a:ext cx="2057400" cy="1484376"/>
          </a:xfrm>
          <a:prstGeom prst="roundRect">
            <a:avLst>
              <a:gd name="adj" fmla="val 4928"/>
            </a:avLst>
          </a:prstGeom>
          <a:solidFill>
            <a:schemeClr val="bg1"/>
          </a:solidFill>
          <a:ln w="9525">
            <a:solidFill>
              <a:srgbClr val="D5DCE6"/>
            </a:solidFill>
            <a:prstDash val="solid"/>
          </a:ln>
        </p:spPr>
      </p:sp>
      <p:pic>
        <p:nvPicPr>
          <p:cNvPr id="72" name="illustration" descr="la famille (le ménage)">    </p:cNvPr>
          <p:cNvPicPr>
            <a:picLocks noChangeAspect="1"/>
          </p:cNvPicPr>
          <p:nvPr/>
        </p:nvPicPr>
        <p:blipFill>
          <a:blip r:embed="rId14"/>
          <a:stretch>
            <a:fillRect/>
          </a:stretch>
        </p:blipFill>
        <p:spPr>
          <a:xfrm>
            <a:off x="7870917" y="4879848"/>
            <a:ext cx="964254" cy="789432"/>
          </a:xfrm>
          <a:prstGeom prst="rect">
            <a:avLst/>
          </a:prstGeom>
        </p:spPr>
      </p:pic>
      <p:sp>
        <p:nvSpPr>
          <p:cNvPr id="73" name="Shape 56"/>
          <p:cNvSpPr/>
          <p:nvPr/>
        </p:nvSpPr>
        <p:spPr>
          <a:xfrm>
            <a:off x="7415784" y="4898136"/>
            <a:ext cx="365760" cy="365760"/>
          </a:xfrm>
          <a:prstGeom prst="ellipse">
            <a:avLst/>
          </a:prstGeom>
          <a:solidFill>
            <a:schemeClr val="tx2"/>
          </a:solidFill>
          <a:ln/>
        </p:spPr>
      </p:sp>
      <p:sp>
        <p:nvSpPr>
          <p:cNvPr id="74" name="Text 57"/>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5" name="Text 58"/>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6" name="Shape 59"/>
          <p:cNvSpPr/>
          <p:nvPr/>
        </p:nvSpPr>
        <p:spPr>
          <a:xfrm>
            <a:off x="9582912" y="4806696"/>
            <a:ext cx="2057400" cy="1484376"/>
          </a:xfrm>
          <a:prstGeom prst="roundRect">
            <a:avLst>
              <a:gd name="adj" fmla="val 4928"/>
            </a:avLst>
          </a:prstGeom>
          <a:solidFill>
            <a:schemeClr val="bg1"/>
          </a:solidFill>
          <a:ln w="9525">
            <a:solidFill>
              <a:srgbClr val="D5DCE6"/>
            </a:solidFill>
            <a:prstDash val="solid"/>
          </a:ln>
        </p:spPr>
      </p:sp>
      <p:pic>
        <p:nvPicPr>
          <p:cNvPr id="77" name="illustration" descr="les jumeaux">    </p:cNvPr>
          <p:cNvPicPr>
            <a:picLocks noChangeAspect="1"/>
          </p:cNvPicPr>
          <p:nvPr/>
        </p:nvPicPr>
        <p:blipFill>
          <a:blip r:embed="rId15"/>
          <a:stretch>
            <a:fillRect/>
          </a:stretch>
        </p:blipFill>
        <p:spPr>
          <a:xfrm>
            <a:off x="10078669" y="4879848"/>
            <a:ext cx="1065887" cy="789432"/>
          </a:xfrm>
          <a:prstGeom prst="rect">
            <a:avLst/>
          </a:prstGeom>
        </p:spPr>
      </p:pic>
      <p:sp>
        <p:nvSpPr>
          <p:cNvPr id="78" name="Shape 60"/>
          <p:cNvSpPr/>
          <p:nvPr/>
        </p:nvSpPr>
        <p:spPr>
          <a:xfrm>
            <a:off x="9674352" y="4898136"/>
            <a:ext cx="365760" cy="365760"/>
          </a:xfrm>
          <a:prstGeom prst="ellipse">
            <a:avLst/>
          </a:prstGeom>
          <a:solidFill>
            <a:schemeClr val="tx2"/>
          </a:solidFill>
          <a:ln/>
        </p:spPr>
      </p:sp>
      <p:sp>
        <p:nvSpPr>
          <p:cNvPr id="79" name="Text 61"/>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0" name="Text 62"/>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① : wat is dit? Met lidwoord!</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78–88</a:t>
            </a:r>
            <a:endParaRPr lang="en-US" sz="1200" dirty="0"/>
          </a:p>
        </p:txBody>
      </p:sp>
      <p:sp>
        <p:nvSpPr>
          <p:cNvPr id="7" name="Shape 4"/>
          <p:cNvSpPr/>
          <p:nvPr/>
        </p:nvSpPr>
        <p:spPr>
          <a:xfrm>
            <a:off x="548640" y="1508760"/>
            <a:ext cx="2057400" cy="1484376"/>
          </a:xfrm>
          <a:prstGeom prst="roundRect">
            <a:avLst>
              <a:gd name="adj" fmla="val 4928"/>
            </a:avLst>
          </a:prstGeom>
          <a:solidFill>
            <a:schemeClr val="bg1"/>
          </a:solidFill>
          <a:ln w="19050">
            <a:solidFill>
              <a:srgbClr val="B4236A"/>
            </a:solidFill>
            <a:prstDash val="solid"/>
          </a:ln>
        </p:spPr>
      </p:sp>
      <p:pic>
        <p:nvPicPr>
          <p:cNvPr id="8" name="illustration" descr="le feu (de signalisation)">    </p:cNvPr>
          <p:cNvPicPr>
            <a:picLocks noChangeAspect="1"/>
          </p:cNvPicPr>
          <p:nvPr/>
        </p:nvPicPr>
        <p:blipFill>
          <a:blip r:embed="rId1"/>
          <a:stretch>
            <a:fillRect/>
          </a:stretch>
        </p:blipFill>
        <p:spPr>
          <a:xfrm>
            <a:off x="1092481" y="1581912"/>
            <a:ext cx="969718" cy="789432"/>
          </a:xfrm>
          <a:prstGeom prst="rect">
            <a:avLst/>
          </a:prstGeom>
        </p:spPr>
      </p:pic>
      <p:sp>
        <p:nvSpPr>
          <p:cNvPr id="9" name="Shape 5"/>
          <p:cNvSpPr/>
          <p:nvPr/>
        </p:nvSpPr>
        <p:spPr>
          <a:xfrm>
            <a:off x="640080" y="1600200"/>
            <a:ext cx="365760" cy="365760"/>
          </a:xfrm>
          <a:prstGeom prst="ellipse">
            <a:avLst/>
          </a:prstGeom>
          <a:solidFill>
            <a:schemeClr val="tx2"/>
          </a:solidFill>
          <a:ln/>
        </p:spPr>
      </p:sp>
      <p:sp>
        <p:nvSpPr>
          <p:cNvPr id="10" name="Text 6"/>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verkeerslicht</a:t>
            </a:r>
            <a:endParaRPr lang="en-US" sz="1600" dirty="0"/>
          </a:p>
          <a:p>
            <a:pPr algn="ctr" indent="0" marL="0">
              <a:buNone/>
            </a:pPr>
            <a:r>
              <a:rPr lang="en-US" sz="1100" i="1" dirty="0">
                <a:solidFill>
                  <a:schemeClr val="accent5"/>
                </a:solidFill>
              </a:rPr>
              <a:t>le feu (de signalisation)</a:t>
            </a:r>
            <a:endParaRPr lang="en-US" sz="1600" dirty="0"/>
          </a:p>
        </p:txBody>
      </p:sp>
      <p:sp>
        <p:nvSpPr>
          <p:cNvPr id="12" name="Shape 8"/>
          <p:cNvSpPr/>
          <p:nvPr/>
        </p:nvSpPr>
        <p:spPr>
          <a:xfrm>
            <a:off x="2807208" y="1508760"/>
            <a:ext cx="2057400" cy="1484376"/>
          </a:xfrm>
          <a:prstGeom prst="roundRect">
            <a:avLst>
              <a:gd name="adj" fmla="val 4928"/>
            </a:avLst>
          </a:prstGeom>
          <a:solidFill>
            <a:schemeClr val="bg1"/>
          </a:solidFill>
          <a:ln w="19050">
            <a:solidFill>
              <a:srgbClr val="2A6FB0"/>
            </a:solidFill>
            <a:prstDash val="solid"/>
          </a:ln>
        </p:spPr>
      </p:sp>
      <p:pic>
        <p:nvPicPr>
          <p:cNvPr id="13" name="illustration" descr="le pont">    </p:cNvPr>
          <p:cNvPicPr>
            <a:picLocks noChangeAspect="1"/>
          </p:cNvPicPr>
          <p:nvPr/>
        </p:nvPicPr>
        <p:blipFill>
          <a:blip r:embed="rId2"/>
          <a:stretch>
            <a:fillRect/>
          </a:stretch>
        </p:blipFill>
        <p:spPr>
          <a:xfrm>
            <a:off x="3359244" y="1581912"/>
            <a:ext cx="953328" cy="789432"/>
          </a:xfrm>
          <a:prstGeom prst="rect">
            <a:avLst/>
          </a:prstGeom>
        </p:spPr>
      </p:pic>
      <p:sp>
        <p:nvSpPr>
          <p:cNvPr id="14" name="Shape 9"/>
          <p:cNvSpPr/>
          <p:nvPr/>
        </p:nvSpPr>
        <p:spPr>
          <a:xfrm>
            <a:off x="2898648" y="1600200"/>
            <a:ext cx="365760" cy="365760"/>
          </a:xfrm>
          <a:prstGeom prst="ellipse">
            <a:avLst/>
          </a:prstGeom>
          <a:solidFill>
            <a:schemeClr val="tx2"/>
          </a:solidFill>
          <a:ln/>
        </p:spPr>
      </p:sp>
      <p:sp>
        <p:nvSpPr>
          <p:cNvPr id="15" name="Text 10"/>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brug</a:t>
            </a:r>
            <a:endParaRPr lang="en-US" sz="1600" dirty="0"/>
          </a:p>
          <a:p>
            <a:pPr algn="ctr" indent="0" marL="0">
              <a:buNone/>
            </a:pPr>
            <a:r>
              <a:rPr lang="en-US" sz="1100" i="1" dirty="0">
                <a:solidFill>
                  <a:schemeClr val="accent5"/>
                </a:solidFill>
              </a:rPr>
              <a:t>le pont</a:t>
            </a:r>
            <a:endParaRPr lang="en-US" sz="1600" dirty="0"/>
          </a:p>
        </p:txBody>
      </p:sp>
      <p:sp>
        <p:nvSpPr>
          <p:cNvPr id="17" name="Shape 12"/>
          <p:cNvSpPr/>
          <p:nvPr/>
        </p:nvSpPr>
        <p:spPr>
          <a:xfrm>
            <a:off x="5065776" y="1508760"/>
            <a:ext cx="2057400" cy="1484376"/>
          </a:xfrm>
          <a:prstGeom prst="roundRect">
            <a:avLst>
              <a:gd name="adj" fmla="val 4928"/>
            </a:avLst>
          </a:prstGeom>
          <a:solidFill>
            <a:schemeClr val="bg1"/>
          </a:solidFill>
          <a:ln w="19050">
            <a:solidFill>
              <a:srgbClr val="B4236A"/>
            </a:solidFill>
            <a:prstDash val="solid"/>
          </a:ln>
        </p:spPr>
      </p:sp>
      <p:pic>
        <p:nvPicPr>
          <p:cNvPr id="18" name="illustration" descr="les couverts">    </p:cNvPr>
          <p:cNvPicPr>
            <a:picLocks noChangeAspect="1"/>
          </p:cNvPicPr>
          <p:nvPr/>
        </p:nvPicPr>
        <p:blipFill>
          <a:blip r:embed="rId3"/>
          <a:stretch>
            <a:fillRect/>
          </a:stretch>
        </p:blipFill>
        <p:spPr>
          <a:xfrm>
            <a:off x="5562068" y="1581912"/>
            <a:ext cx="1064815" cy="789432"/>
          </a:xfrm>
          <a:prstGeom prst="rect">
            <a:avLst/>
          </a:prstGeom>
        </p:spPr>
      </p:pic>
      <p:sp>
        <p:nvSpPr>
          <p:cNvPr id="19" name="Shape 13"/>
          <p:cNvSpPr/>
          <p:nvPr/>
        </p:nvSpPr>
        <p:spPr>
          <a:xfrm>
            <a:off x="5157216" y="1600200"/>
            <a:ext cx="365760" cy="365760"/>
          </a:xfrm>
          <a:prstGeom prst="ellipse">
            <a:avLst/>
          </a:prstGeom>
          <a:solidFill>
            <a:schemeClr val="tx2"/>
          </a:solidFill>
          <a:ln/>
        </p:spPr>
      </p:sp>
      <p:sp>
        <p:nvSpPr>
          <p:cNvPr id="20" name="Text 14"/>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bestek</a:t>
            </a:r>
            <a:endParaRPr lang="en-US" sz="1600" dirty="0"/>
          </a:p>
          <a:p>
            <a:pPr algn="ctr" indent="0" marL="0">
              <a:buNone/>
            </a:pPr>
            <a:r>
              <a:rPr lang="en-US" sz="1100" i="1" dirty="0">
                <a:solidFill>
                  <a:schemeClr val="accent5"/>
                </a:solidFill>
              </a:rPr>
              <a:t>les couverts</a:t>
            </a:r>
            <a:endParaRPr lang="en-US" sz="1600" dirty="0"/>
          </a:p>
        </p:txBody>
      </p:sp>
      <p:sp>
        <p:nvSpPr>
          <p:cNvPr id="22" name="Shape 16"/>
          <p:cNvSpPr/>
          <p:nvPr/>
        </p:nvSpPr>
        <p:spPr>
          <a:xfrm>
            <a:off x="7324344" y="1508760"/>
            <a:ext cx="2057400" cy="1484376"/>
          </a:xfrm>
          <a:prstGeom prst="roundRect">
            <a:avLst>
              <a:gd name="adj" fmla="val 4928"/>
            </a:avLst>
          </a:prstGeom>
          <a:solidFill>
            <a:schemeClr val="bg1"/>
          </a:solidFill>
          <a:ln w="19050">
            <a:solidFill>
              <a:srgbClr val="B4236A"/>
            </a:solidFill>
            <a:prstDash val="solid"/>
          </a:ln>
        </p:spPr>
      </p:sp>
      <p:pic>
        <p:nvPicPr>
          <p:cNvPr id="23" name="illustration" descr="l’œuf">    </p:cNvPr>
          <p:cNvPicPr>
            <a:picLocks noChangeAspect="1"/>
          </p:cNvPicPr>
          <p:nvPr/>
        </p:nvPicPr>
        <p:blipFill>
          <a:blip r:embed="rId4"/>
          <a:stretch>
            <a:fillRect/>
          </a:stretch>
        </p:blipFill>
        <p:spPr>
          <a:xfrm>
            <a:off x="7880477" y="1581912"/>
            <a:ext cx="945133" cy="789432"/>
          </a:xfrm>
          <a:prstGeom prst="rect">
            <a:avLst/>
          </a:prstGeom>
        </p:spPr>
      </p:pic>
      <p:sp>
        <p:nvSpPr>
          <p:cNvPr id="24" name="Shape 17"/>
          <p:cNvSpPr/>
          <p:nvPr/>
        </p:nvSpPr>
        <p:spPr>
          <a:xfrm>
            <a:off x="7415784" y="1600200"/>
            <a:ext cx="365760" cy="365760"/>
          </a:xfrm>
          <a:prstGeom prst="ellipse">
            <a:avLst/>
          </a:prstGeom>
          <a:solidFill>
            <a:schemeClr val="tx2"/>
          </a:solidFill>
          <a:ln/>
        </p:spPr>
      </p:sp>
      <p:sp>
        <p:nvSpPr>
          <p:cNvPr id="25" name="Text 18"/>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ei</a:t>
            </a:r>
            <a:endParaRPr lang="en-US" sz="1600" dirty="0"/>
          </a:p>
          <a:p>
            <a:pPr algn="ctr" indent="0" marL="0">
              <a:buNone/>
            </a:pPr>
            <a:r>
              <a:rPr lang="en-US" sz="1100" i="1" dirty="0">
                <a:solidFill>
                  <a:schemeClr val="accent5"/>
                </a:solidFill>
              </a:rPr>
              <a:t>l’œuf</a:t>
            </a:r>
            <a:endParaRPr lang="en-US" sz="1600" dirty="0"/>
          </a:p>
        </p:txBody>
      </p:sp>
      <p:sp>
        <p:nvSpPr>
          <p:cNvPr id="27" name="Shape 20"/>
          <p:cNvSpPr/>
          <p:nvPr/>
        </p:nvSpPr>
        <p:spPr>
          <a:xfrm>
            <a:off x="9582912" y="1508760"/>
            <a:ext cx="2057400" cy="1484376"/>
          </a:xfrm>
          <a:prstGeom prst="roundRect">
            <a:avLst>
              <a:gd name="adj" fmla="val 4928"/>
            </a:avLst>
          </a:prstGeom>
          <a:solidFill>
            <a:schemeClr val="bg1"/>
          </a:solidFill>
          <a:ln w="19050">
            <a:solidFill>
              <a:srgbClr val="2A6FB0"/>
            </a:solidFill>
            <a:prstDash val="solid"/>
          </a:ln>
        </p:spPr>
      </p:sp>
      <p:pic>
        <p:nvPicPr>
          <p:cNvPr id="28" name="illustration" descr="la caisse">    </p:cNvPr>
          <p:cNvPicPr>
            <a:picLocks noChangeAspect="1"/>
          </p:cNvPicPr>
          <p:nvPr/>
        </p:nvPicPr>
        <p:blipFill>
          <a:blip r:embed="rId5"/>
          <a:stretch>
            <a:fillRect/>
          </a:stretch>
        </p:blipFill>
        <p:spPr>
          <a:xfrm>
            <a:off x="10126753" y="1581912"/>
            <a:ext cx="969718" cy="789432"/>
          </a:xfrm>
          <a:prstGeom prst="rect">
            <a:avLst/>
          </a:prstGeom>
        </p:spPr>
      </p:pic>
      <p:sp>
        <p:nvSpPr>
          <p:cNvPr id="29" name="Shape 21"/>
          <p:cNvSpPr/>
          <p:nvPr/>
        </p:nvSpPr>
        <p:spPr>
          <a:xfrm>
            <a:off x="9674352" y="1600200"/>
            <a:ext cx="365760" cy="365760"/>
          </a:xfrm>
          <a:prstGeom prst="ellipse">
            <a:avLst/>
          </a:prstGeom>
          <a:solidFill>
            <a:schemeClr val="tx2"/>
          </a:solidFill>
          <a:ln/>
        </p:spPr>
      </p:sp>
      <p:sp>
        <p:nvSpPr>
          <p:cNvPr id="30" name="Text 22"/>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kassa</a:t>
            </a:r>
            <a:endParaRPr lang="en-US" sz="1600" dirty="0"/>
          </a:p>
          <a:p>
            <a:pPr algn="ctr" indent="0" marL="0">
              <a:buNone/>
            </a:pPr>
            <a:r>
              <a:rPr lang="en-US" sz="1100" i="1" dirty="0">
                <a:solidFill>
                  <a:schemeClr val="accent5"/>
                </a:solidFill>
              </a:rPr>
              <a:t>la caisse</a:t>
            </a:r>
            <a:endParaRPr lang="en-US" sz="1600" dirty="0"/>
          </a:p>
        </p:txBody>
      </p:sp>
      <p:sp>
        <p:nvSpPr>
          <p:cNvPr id="32" name="Shape 24"/>
          <p:cNvSpPr/>
          <p:nvPr/>
        </p:nvSpPr>
        <p:spPr>
          <a:xfrm>
            <a:off x="548640" y="3157728"/>
            <a:ext cx="2057400" cy="1484376"/>
          </a:xfrm>
          <a:prstGeom prst="roundRect">
            <a:avLst>
              <a:gd name="adj" fmla="val 4928"/>
            </a:avLst>
          </a:prstGeom>
          <a:solidFill>
            <a:schemeClr val="bg1"/>
          </a:solidFill>
          <a:ln w="19050">
            <a:solidFill>
              <a:srgbClr val="2A6FB0"/>
            </a:solidFill>
            <a:prstDash val="solid"/>
          </a:ln>
        </p:spPr>
      </p:sp>
      <p:pic>
        <p:nvPicPr>
          <p:cNvPr id="33" name="illustration" descr="la balance">    </p:cNvPr>
          <p:cNvPicPr>
            <a:picLocks noChangeAspect="1"/>
          </p:cNvPicPr>
          <p:nvPr/>
        </p:nvPicPr>
        <p:blipFill>
          <a:blip r:embed="rId6"/>
          <a:stretch>
            <a:fillRect/>
          </a:stretch>
        </p:blipFill>
        <p:spPr>
          <a:xfrm>
            <a:off x="1079280" y="3230880"/>
            <a:ext cx="996120" cy="789432"/>
          </a:xfrm>
          <a:prstGeom prst="rect">
            <a:avLst/>
          </a:prstGeom>
        </p:spPr>
      </p:pic>
      <p:sp>
        <p:nvSpPr>
          <p:cNvPr id="34" name="Shape 25"/>
          <p:cNvSpPr/>
          <p:nvPr/>
        </p:nvSpPr>
        <p:spPr>
          <a:xfrm>
            <a:off x="640080" y="3249168"/>
            <a:ext cx="365760" cy="365760"/>
          </a:xfrm>
          <a:prstGeom prst="ellipse">
            <a:avLst/>
          </a:prstGeom>
          <a:solidFill>
            <a:schemeClr val="tx2"/>
          </a:solidFill>
          <a:ln/>
        </p:spPr>
      </p:sp>
      <p:sp>
        <p:nvSpPr>
          <p:cNvPr id="35" name="Text 26"/>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weegschaal</a:t>
            </a:r>
            <a:endParaRPr lang="en-US" sz="1600" dirty="0"/>
          </a:p>
          <a:p>
            <a:pPr algn="ctr" indent="0" marL="0">
              <a:buNone/>
            </a:pPr>
            <a:r>
              <a:rPr lang="en-US" sz="1100" i="1" dirty="0">
                <a:solidFill>
                  <a:schemeClr val="accent5"/>
                </a:solidFill>
              </a:rPr>
              <a:t>la balance</a:t>
            </a:r>
            <a:endParaRPr lang="en-US" sz="1600" dirty="0"/>
          </a:p>
        </p:txBody>
      </p:sp>
      <p:sp>
        <p:nvSpPr>
          <p:cNvPr id="37" name="Shape 28"/>
          <p:cNvSpPr/>
          <p:nvPr/>
        </p:nvSpPr>
        <p:spPr>
          <a:xfrm>
            <a:off x="2807208" y="3157728"/>
            <a:ext cx="2057400" cy="1484376"/>
          </a:xfrm>
          <a:prstGeom prst="roundRect">
            <a:avLst>
              <a:gd name="adj" fmla="val 4928"/>
            </a:avLst>
          </a:prstGeom>
          <a:solidFill>
            <a:schemeClr val="bg1"/>
          </a:solidFill>
          <a:ln w="19050">
            <a:solidFill>
              <a:srgbClr val="B4236A"/>
            </a:solidFill>
            <a:prstDash val="solid"/>
          </a:ln>
        </p:spPr>
      </p:sp>
      <p:pic>
        <p:nvPicPr>
          <p:cNvPr id="38" name="illustration" descr="l’hôpital">    </p:cNvPr>
          <p:cNvPicPr>
            <a:picLocks noChangeAspect="1"/>
          </p:cNvPicPr>
          <p:nvPr/>
        </p:nvPicPr>
        <p:blipFill>
          <a:blip r:embed="rId7"/>
          <a:stretch>
            <a:fillRect/>
          </a:stretch>
        </p:blipFill>
        <p:spPr>
          <a:xfrm>
            <a:off x="3360330" y="3230880"/>
            <a:ext cx="951156" cy="789432"/>
          </a:xfrm>
          <a:prstGeom prst="rect">
            <a:avLst/>
          </a:prstGeom>
        </p:spPr>
      </p:pic>
      <p:sp>
        <p:nvSpPr>
          <p:cNvPr id="39" name="Shape 29"/>
          <p:cNvSpPr/>
          <p:nvPr/>
        </p:nvSpPr>
        <p:spPr>
          <a:xfrm>
            <a:off x="2898648" y="3249168"/>
            <a:ext cx="365760" cy="365760"/>
          </a:xfrm>
          <a:prstGeom prst="ellipse">
            <a:avLst/>
          </a:prstGeom>
          <a:solidFill>
            <a:schemeClr val="tx2"/>
          </a:solidFill>
          <a:ln/>
        </p:spPr>
      </p:sp>
      <p:sp>
        <p:nvSpPr>
          <p:cNvPr id="40" name="Text 30"/>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ziekenhuis</a:t>
            </a:r>
            <a:endParaRPr lang="en-US" sz="1600" dirty="0"/>
          </a:p>
          <a:p>
            <a:pPr algn="ctr" indent="0" marL="0">
              <a:buNone/>
            </a:pPr>
            <a:r>
              <a:rPr lang="en-US" sz="1100" i="1" dirty="0">
                <a:solidFill>
                  <a:schemeClr val="accent5"/>
                </a:solidFill>
              </a:rPr>
              <a:t>l’hôpital</a:t>
            </a:r>
            <a:endParaRPr lang="en-US" sz="1600" dirty="0"/>
          </a:p>
        </p:txBody>
      </p:sp>
      <p:sp>
        <p:nvSpPr>
          <p:cNvPr id="42" name="Shape 32"/>
          <p:cNvSpPr/>
          <p:nvPr/>
        </p:nvSpPr>
        <p:spPr>
          <a:xfrm>
            <a:off x="5065776" y="3157728"/>
            <a:ext cx="2057400" cy="1484376"/>
          </a:xfrm>
          <a:prstGeom prst="roundRect">
            <a:avLst>
              <a:gd name="adj" fmla="val 4928"/>
            </a:avLst>
          </a:prstGeom>
          <a:solidFill>
            <a:schemeClr val="bg1"/>
          </a:solidFill>
          <a:ln w="19050">
            <a:solidFill>
              <a:srgbClr val="B4236A"/>
            </a:solidFill>
            <a:prstDash val="solid"/>
          </a:ln>
        </p:spPr>
      </p:sp>
      <p:pic>
        <p:nvPicPr>
          <p:cNvPr id="43" name="illustration" descr="l’œil">    </p:cNvPr>
          <p:cNvPicPr>
            <a:picLocks noChangeAspect="1"/>
          </p:cNvPicPr>
          <p:nvPr/>
        </p:nvPicPr>
        <p:blipFill>
          <a:blip r:embed="rId8"/>
          <a:stretch>
            <a:fillRect/>
          </a:stretch>
        </p:blipFill>
        <p:spPr>
          <a:xfrm>
            <a:off x="5587804" y="3230880"/>
            <a:ext cx="1013344" cy="789432"/>
          </a:xfrm>
          <a:prstGeom prst="rect">
            <a:avLst/>
          </a:prstGeom>
        </p:spPr>
      </p:pic>
      <p:sp>
        <p:nvSpPr>
          <p:cNvPr id="44" name="Shape 33"/>
          <p:cNvSpPr/>
          <p:nvPr/>
        </p:nvSpPr>
        <p:spPr>
          <a:xfrm>
            <a:off x="5157216" y="3249168"/>
            <a:ext cx="365760" cy="365760"/>
          </a:xfrm>
          <a:prstGeom prst="ellipse">
            <a:avLst/>
          </a:prstGeom>
          <a:solidFill>
            <a:schemeClr val="tx2"/>
          </a:solidFill>
          <a:ln/>
        </p:spPr>
      </p:sp>
      <p:sp>
        <p:nvSpPr>
          <p:cNvPr id="45" name="Text 34"/>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oog</a:t>
            </a:r>
            <a:endParaRPr lang="en-US" sz="1600" dirty="0"/>
          </a:p>
          <a:p>
            <a:pPr algn="ctr" indent="0" marL="0">
              <a:buNone/>
            </a:pPr>
            <a:r>
              <a:rPr lang="en-US" sz="1100" i="1" dirty="0">
                <a:solidFill>
                  <a:schemeClr val="accent5"/>
                </a:solidFill>
              </a:rPr>
              <a:t>l’œil</a:t>
            </a:r>
            <a:endParaRPr lang="en-US" sz="1600" dirty="0"/>
          </a:p>
        </p:txBody>
      </p:sp>
      <p:sp>
        <p:nvSpPr>
          <p:cNvPr id="47" name="Shape 36"/>
          <p:cNvSpPr/>
          <p:nvPr/>
        </p:nvSpPr>
        <p:spPr>
          <a:xfrm>
            <a:off x="7324344" y="3157728"/>
            <a:ext cx="2057400" cy="1484376"/>
          </a:xfrm>
          <a:prstGeom prst="roundRect">
            <a:avLst>
              <a:gd name="adj" fmla="val 4928"/>
            </a:avLst>
          </a:prstGeom>
          <a:solidFill>
            <a:schemeClr val="bg1"/>
          </a:solidFill>
          <a:ln w="19050">
            <a:solidFill>
              <a:srgbClr val="2A6FB0"/>
            </a:solidFill>
            <a:prstDash val="solid"/>
          </a:ln>
        </p:spPr>
      </p:sp>
      <p:pic>
        <p:nvPicPr>
          <p:cNvPr id="48" name="illustration" descr="l’agrafeuse">    </p:cNvPr>
          <p:cNvPicPr>
            <a:picLocks noChangeAspect="1"/>
          </p:cNvPicPr>
          <p:nvPr/>
        </p:nvPicPr>
        <p:blipFill>
          <a:blip r:embed="rId9"/>
          <a:stretch>
            <a:fillRect/>
          </a:stretch>
        </p:blipFill>
        <p:spPr>
          <a:xfrm>
            <a:off x="7820101" y="3230880"/>
            <a:ext cx="1065887" cy="789432"/>
          </a:xfrm>
          <a:prstGeom prst="rect">
            <a:avLst/>
          </a:prstGeom>
        </p:spPr>
      </p:pic>
      <p:sp>
        <p:nvSpPr>
          <p:cNvPr id="49" name="Shape 37"/>
          <p:cNvSpPr/>
          <p:nvPr/>
        </p:nvSpPr>
        <p:spPr>
          <a:xfrm>
            <a:off x="7415784" y="3249168"/>
            <a:ext cx="365760" cy="365760"/>
          </a:xfrm>
          <a:prstGeom prst="ellipse">
            <a:avLst/>
          </a:prstGeom>
          <a:solidFill>
            <a:schemeClr val="tx2"/>
          </a:solidFill>
          <a:ln/>
        </p:spPr>
      </p:sp>
      <p:sp>
        <p:nvSpPr>
          <p:cNvPr id="50" name="Text 38"/>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1" name="Text 39"/>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nietmachine</a:t>
            </a:r>
            <a:endParaRPr lang="en-US" sz="1600" dirty="0"/>
          </a:p>
          <a:p>
            <a:pPr algn="ctr" indent="0" marL="0">
              <a:buNone/>
            </a:pPr>
            <a:r>
              <a:rPr lang="en-US" sz="1100" i="1" dirty="0">
                <a:solidFill>
                  <a:schemeClr val="accent5"/>
                </a:solidFill>
              </a:rPr>
              <a:t>l’agrafeuse</a:t>
            </a:r>
            <a:endParaRPr lang="en-US" sz="1600" dirty="0"/>
          </a:p>
        </p:txBody>
      </p:sp>
      <p:sp>
        <p:nvSpPr>
          <p:cNvPr id="52" name="Shape 40"/>
          <p:cNvSpPr/>
          <p:nvPr/>
        </p:nvSpPr>
        <p:spPr>
          <a:xfrm>
            <a:off x="9582912" y="3157728"/>
            <a:ext cx="2057400" cy="1484376"/>
          </a:xfrm>
          <a:prstGeom prst="roundRect">
            <a:avLst>
              <a:gd name="adj" fmla="val 4928"/>
            </a:avLst>
          </a:prstGeom>
          <a:solidFill>
            <a:schemeClr val="bg1"/>
          </a:solidFill>
          <a:ln w="19050">
            <a:solidFill>
              <a:srgbClr val="B4236A"/>
            </a:solidFill>
            <a:prstDash val="solid"/>
          </a:ln>
        </p:spPr>
      </p:sp>
      <p:pic>
        <p:nvPicPr>
          <p:cNvPr id="53" name="illustration" descr="le clavier">    </p:cNvPr>
          <p:cNvPicPr>
            <a:picLocks noChangeAspect="1"/>
          </p:cNvPicPr>
          <p:nvPr/>
        </p:nvPicPr>
        <p:blipFill>
          <a:blip r:embed="rId10"/>
          <a:stretch>
            <a:fillRect/>
          </a:stretch>
        </p:blipFill>
        <p:spPr>
          <a:xfrm>
            <a:off x="10134664" y="3230880"/>
            <a:ext cx="953897" cy="789432"/>
          </a:xfrm>
          <a:prstGeom prst="rect">
            <a:avLst/>
          </a:prstGeom>
        </p:spPr>
      </p:pic>
      <p:sp>
        <p:nvSpPr>
          <p:cNvPr id="54" name="Shape 41"/>
          <p:cNvSpPr/>
          <p:nvPr/>
        </p:nvSpPr>
        <p:spPr>
          <a:xfrm>
            <a:off x="9674352" y="3249168"/>
            <a:ext cx="365760" cy="365760"/>
          </a:xfrm>
          <a:prstGeom prst="ellipse">
            <a:avLst/>
          </a:prstGeom>
          <a:solidFill>
            <a:schemeClr val="tx2"/>
          </a:solidFill>
          <a:ln/>
        </p:spPr>
      </p:sp>
      <p:sp>
        <p:nvSpPr>
          <p:cNvPr id="55" name="Text 42"/>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6" name="Text 43"/>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toetsenbord</a:t>
            </a:r>
            <a:endParaRPr lang="en-US" sz="1600" dirty="0"/>
          </a:p>
          <a:p>
            <a:pPr algn="ctr" indent="0" marL="0">
              <a:buNone/>
            </a:pPr>
            <a:r>
              <a:rPr lang="en-US" sz="1100" i="1" dirty="0">
                <a:solidFill>
                  <a:schemeClr val="accent5"/>
                </a:solidFill>
              </a:rPr>
              <a:t>le clavier</a:t>
            </a:r>
            <a:endParaRPr lang="en-US" sz="1600" dirty="0"/>
          </a:p>
        </p:txBody>
      </p:sp>
      <p:sp>
        <p:nvSpPr>
          <p:cNvPr id="57" name="Shape 44"/>
          <p:cNvSpPr/>
          <p:nvPr/>
        </p:nvSpPr>
        <p:spPr>
          <a:xfrm>
            <a:off x="548640" y="4806696"/>
            <a:ext cx="2057400" cy="1484376"/>
          </a:xfrm>
          <a:prstGeom prst="roundRect">
            <a:avLst>
              <a:gd name="adj" fmla="val 4928"/>
            </a:avLst>
          </a:prstGeom>
          <a:solidFill>
            <a:schemeClr val="bg1"/>
          </a:solidFill>
          <a:ln w="19050">
            <a:solidFill>
              <a:srgbClr val="2A6FB0"/>
            </a:solidFill>
            <a:prstDash val="solid"/>
          </a:ln>
        </p:spPr>
      </p:sp>
      <p:pic>
        <p:nvPicPr>
          <p:cNvPr id="58" name="illustration" descr="l’enveloppe">    </p:cNvPr>
          <p:cNvPicPr>
            <a:picLocks noChangeAspect="1"/>
          </p:cNvPicPr>
          <p:nvPr/>
        </p:nvPicPr>
        <p:blipFill>
          <a:blip r:embed="rId11"/>
          <a:stretch>
            <a:fillRect/>
          </a:stretch>
        </p:blipFill>
        <p:spPr>
          <a:xfrm>
            <a:off x="1100105" y="4879848"/>
            <a:ext cx="954470" cy="789432"/>
          </a:xfrm>
          <a:prstGeom prst="rect">
            <a:avLst/>
          </a:prstGeom>
        </p:spPr>
      </p:pic>
      <p:sp>
        <p:nvSpPr>
          <p:cNvPr id="59" name="Shape 45"/>
          <p:cNvSpPr/>
          <p:nvPr/>
        </p:nvSpPr>
        <p:spPr>
          <a:xfrm>
            <a:off x="640080" y="4898136"/>
            <a:ext cx="365760" cy="365760"/>
          </a:xfrm>
          <a:prstGeom prst="ellipse">
            <a:avLst/>
          </a:prstGeom>
          <a:solidFill>
            <a:schemeClr val="tx2"/>
          </a:solidFill>
          <a:ln/>
        </p:spPr>
      </p:sp>
      <p:sp>
        <p:nvSpPr>
          <p:cNvPr id="60" name="Text 46"/>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1" name="Text 47"/>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envelop</a:t>
            </a:r>
            <a:endParaRPr lang="en-US" sz="1600" dirty="0"/>
          </a:p>
          <a:p>
            <a:pPr algn="ctr" indent="0" marL="0">
              <a:buNone/>
            </a:pPr>
            <a:r>
              <a:rPr lang="en-US" sz="1100" i="1" dirty="0">
                <a:solidFill>
                  <a:schemeClr val="accent5"/>
                </a:solidFill>
              </a:rPr>
              <a:t>l’enveloppe</a:t>
            </a:r>
            <a:endParaRPr lang="en-US" sz="1600" dirty="0"/>
          </a:p>
        </p:txBody>
      </p:sp>
      <p:sp>
        <p:nvSpPr>
          <p:cNvPr id="62" name="Shape 48"/>
          <p:cNvSpPr/>
          <p:nvPr/>
        </p:nvSpPr>
        <p:spPr>
          <a:xfrm>
            <a:off x="2807208" y="4806696"/>
            <a:ext cx="2057400" cy="1484376"/>
          </a:xfrm>
          <a:prstGeom prst="roundRect">
            <a:avLst>
              <a:gd name="adj" fmla="val 4928"/>
            </a:avLst>
          </a:prstGeom>
          <a:solidFill>
            <a:schemeClr val="bg1"/>
          </a:solidFill>
          <a:ln w="19050">
            <a:solidFill>
              <a:srgbClr val="2A6FB0"/>
            </a:solidFill>
            <a:prstDash val="solid"/>
          </a:ln>
        </p:spPr>
      </p:sp>
      <p:pic>
        <p:nvPicPr>
          <p:cNvPr id="63" name="illustration" descr="l’arc-en-ciel">    </p:cNvPr>
          <p:cNvPicPr>
            <a:picLocks noChangeAspect="1"/>
          </p:cNvPicPr>
          <p:nvPr/>
        </p:nvPicPr>
        <p:blipFill>
          <a:blip r:embed="rId12"/>
          <a:stretch>
            <a:fillRect/>
          </a:stretch>
        </p:blipFill>
        <p:spPr>
          <a:xfrm>
            <a:off x="3358960" y="4879848"/>
            <a:ext cx="953897" cy="789432"/>
          </a:xfrm>
          <a:prstGeom prst="rect">
            <a:avLst/>
          </a:prstGeom>
        </p:spPr>
      </p:pic>
      <p:sp>
        <p:nvSpPr>
          <p:cNvPr id="64" name="Shape 49"/>
          <p:cNvSpPr/>
          <p:nvPr/>
        </p:nvSpPr>
        <p:spPr>
          <a:xfrm>
            <a:off x="2898648" y="4898136"/>
            <a:ext cx="365760" cy="365760"/>
          </a:xfrm>
          <a:prstGeom prst="ellipse">
            <a:avLst/>
          </a:prstGeom>
          <a:solidFill>
            <a:schemeClr val="tx2"/>
          </a:solidFill>
          <a:ln/>
        </p:spPr>
      </p:sp>
      <p:sp>
        <p:nvSpPr>
          <p:cNvPr id="65" name="Text 50"/>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6" name="Text 51"/>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regenboog</a:t>
            </a:r>
            <a:endParaRPr lang="en-US" sz="1600" dirty="0"/>
          </a:p>
          <a:p>
            <a:pPr algn="ctr" indent="0" marL="0">
              <a:buNone/>
            </a:pPr>
            <a:r>
              <a:rPr lang="en-US" sz="1100" i="1" dirty="0">
                <a:solidFill>
                  <a:schemeClr val="accent5"/>
                </a:solidFill>
              </a:rPr>
              <a:t>l’arc-en-ciel</a:t>
            </a:r>
            <a:endParaRPr lang="en-US" sz="1600" dirty="0"/>
          </a:p>
        </p:txBody>
      </p:sp>
      <p:sp>
        <p:nvSpPr>
          <p:cNvPr id="67" name="Shape 52"/>
          <p:cNvSpPr/>
          <p:nvPr/>
        </p:nvSpPr>
        <p:spPr>
          <a:xfrm>
            <a:off x="5065776" y="4806696"/>
            <a:ext cx="2057400" cy="1484376"/>
          </a:xfrm>
          <a:prstGeom prst="roundRect">
            <a:avLst>
              <a:gd name="adj" fmla="val 4928"/>
            </a:avLst>
          </a:prstGeom>
          <a:solidFill>
            <a:schemeClr val="bg1"/>
          </a:solidFill>
          <a:ln w="19050">
            <a:solidFill>
              <a:srgbClr val="B4236A"/>
            </a:solidFill>
            <a:prstDash val="solid"/>
          </a:ln>
        </p:spPr>
      </p:sp>
      <p:pic>
        <p:nvPicPr>
          <p:cNvPr id="68" name="illustration" descr="l’orage">    </p:cNvPr>
          <p:cNvPicPr>
            <a:picLocks noChangeAspect="1"/>
          </p:cNvPicPr>
          <p:nvPr/>
        </p:nvPicPr>
        <p:blipFill>
          <a:blip r:embed="rId13"/>
          <a:stretch>
            <a:fillRect/>
          </a:stretch>
        </p:blipFill>
        <p:spPr>
          <a:xfrm>
            <a:off x="5619456" y="4879848"/>
            <a:ext cx="950041" cy="789432"/>
          </a:xfrm>
          <a:prstGeom prst="rect">
            <a:avLst/>
          </a:prstGeom>
        </p:spPr>
      </p:pic>
      <p:sp>
        <p:nvSpPr>
          <p:cNvPr id="69" name="Shape 53"/>
          <p:cNvSpPr/>
          <p:nvPr/>
        </p:nvSpPr>
        <p:spPr>
          <a:xfrm>
            <a:off x="5157216" y="4898136"/>
            <a:ext cx="365760" cy="365760"/>
          </a:xfrm>
          <a:prstGeom prst="ellipse">
            <a:avLst/>
          </a:prstGeom>
          <a:solidFill>
            <a:schemeClr val="tx2"/>
          </a:solidFill>
          <a:ln/>
        </p:spPr>
      </p:sp>
      <p:sp>
        <p:nvSpPr>
          <p:cNvPr id="70" name="Text 54"/>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1" name="Text 55"/>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onweer</a:t>
            </a:r>
            <a:endParaRPr lang="en-US" sz="1600" dirty="0"/>
          </a:p>
          <a:p>
            <a:pPr algn="ctr" indent="0" marL="0">
              <a:buNone/>
            </a:pPr>
            <a:r>
              <a:rPr lang="en-US" sz="1100" i="1" dirty="0">
                <a:solidFill>
                  <a:schemeClr val="accent5"/>
                </a:solidFill>
              </a:rPr>
              <a:t>l’orage</a:t>
            </a:r>
            <a:endParaRPr lang="en-US" sz="1600" dirty="0"/>
          </a:p>
        </p:txBody>
      </p:sp>
      <p:sp>
        <p:nvSpPr>
          <p:cNvPr id="72" name="Shape 56"/>
          <p:cNvSpPr/>
          <p:nvPr/>
        </p:nvSpPr>
        <p:spPr>
          <a:xfrm>
            <a:off x="7324344" y="4806696"/>
            <a:ext cx="2057400" cy="1484376"/>
          </a:xfrm>
          <a:prstGeom prst="roundRect">
            <a:avLst>
              <a:gd name="adj" fmla="val 4928"/>
            </a:avLst>
          </a:prstGeom>
          <a:solidFill>
            <a:schemeClr val="bg1"/>
          </a:solidFill>
          <a:ln w="19050">
            <a:solidFill>
              <a:srgbClr val="B4236A"/>
            </a:solidFill>
            <a:prstDash val="solid"/>
          </a:ln>
        </p:spPr>
      </p:sp>
      <p:pic>
        <p:nvPicPr>
          <p:cNvPr id="73" name="illustration" descr="la famille (le ménage)">    </p:cNvPr>
          <p:cNvPicPr>
            <a:picLocks noChangeAspect="1"/>
          </p:cNvPicPr>
          <p:nvPr/>
        </p:nvPicPr>
        <p:blipFill>
          <a:blip r:embed="rId14"/>
          <a:stretch>
            <a:fillRect/>
          </a:stretch>
        </p:blipFill>
        <p:spPr>
          <a:xfrm>
            <a:off x="7870917" y="4879848"/>
            <a:ext cx="964254" cy="789432"/>
          </a:xfrm>
          <a:prstGeom prst="rect">
            <a:avLst/>
          </a:prstGeom>
        </p:spPr>
      </p:pic>
      <p:sp>
        <p:nvSpPr>
          <p:cNvPr id="74" name="Shape 57"/>
          <p:cNvSpPr/>
          <p:nvPr/>
        </p:nvSpPr>
        <p:spPr>
          <a:xfrm>
            <a:off x="7415784" y="4898136"/>
            <a:ext cx="365760" cy="365760"/>
          </a:xfrm>
          <a:prstGeom prst="ellipse">
            <a:avLst/>
          </a:prstGeom>
          <a:solidFill>
            <a:schemeClr val="tx2"/>
          </a:solidFill>
          <a:ln/>
        </p:spPr>
      </p:sp>
      <p:sp>
        <p:nvSpPr>
          <p:cNvPr id="75" name="Text 58"/>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6" name="Text 59"/>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gezin</a:t>
            </a:r>
            <a:endParaRPr lang="en-US" sz="1600" dirty="0"/>
          </a:p>
          <a:p>
            <a:pPr algn="ctr" indent="0" marL="0">
              <a:buNone/>
            </a:pPr>
            <a:r>
              <a:rPr lang="en-US" sz="1100" i="1" dirty="0">
                <a:solidFill>
                  <a:schemeClr val="accent5"/>
                </a:solidFill>
              </a:rPr>
              <a:t>la famille (le ménage)</a:t>
            </a:r>
            <a:endParaRPr lang="en-US" sz="1600" dirty="0"/>
          </a:p>
        </p:txBody>
      </p:sp>
      <p:sp>
        <p:nvSpPr>
          <p:cNvPr id="77" name="Shape 60"/>
          <p:cNvSpPr/>
          <p:nvPr/>
        </p:nvSpPr>
        <p:spPr>
          <a:xfrm>
            <a:off x="9582912" y="4806696"/>
            <a:ext cx="2057400" cy="1484376"/>
          </a:xfrm>
          <a:prstGeom prst="roundRect">
            <a:avLst>
              <a:gd name="adj" fmla="val 4928"/>
            </a:avLst>
          </a:prstGeom>
          <a:solidFill>
            <a:schemeClr val="bg1"/>
          </a:solidFill>
          <a:ln w="19050">
            <a:solidFill>
              <a:srgbClr val="2A6FB0"/>
            </a:solidFill>
            <a:prstDash val="solid"/>
          </a:ln>
        </p:spPr>
      </p:sp>
      <p:pic>
        <p:nvPicPr>
          <p:cNvPr id="78" name="illustration" descr="les jumeaux">    </p:cNvPr>
          <p:cNvPicPr>
            <a:picLocks noChangeAspect="1"/>
          </p:cNvPicPr>
          <p:nvPr/>
        </p:nvPicPr>
        <p:blipFill>
          <a:blip r:embed="rId15"/>
          <a:stretch>
            <a:fillRect/>
          </a:stretch>
        </p:blipFill>
        <p:spPr>
          <a:xfrm>
            <a:off x="10078669" y="4879848"/>
            <a:ext cx="1065887" cy="789432"/>
          </a:xfrm>
          <a:prstGeom prst="rect">
            <a:avLst/>
          </a:prstGeom>
        </p:spPr>
      </p:pic>
      <p:sp>
        <p:nvSpPr>
          <p:cNvPr id="79" name="Shape 61"/>
          <p:cNvSpPr/>
          <p:nvPr/>
        </p:nvSpPr>
        <p:spPr>
          <a:xfrm>
            <a:off x="9674352" y="4898136"/>
            <a:ext cx="365760" cy="365760"/>
          </a:xfrm>
          <a:prstGeom prst="ellipse">
            <a:avLst/>
          </a:prstGeom>
          <a:solidFill>
            <a:schemeClr val="tx2"/>
          </a:solidFill>
          <a:ln/>
        </p:spPr>
      </p:sp>
      <p:sp>
        <p:nvSpPr>
          <p:cNvPr id="80" name="Text 62"/>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1" name="Text 63"/>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tweeling</a:t>
            </a:r>
            <a:endParaRPr lang="en-US" sz="1600" dirty="0"/>
          </a:p>
          <a:p>
            <a:pPr algn="ctr" indent="0" marL="0">
              <a:buNone/>
            </a:pPr>
            <a:r>
              <a:rPr lang="en-US" sz="1100" i="1" dirty="0">
                <a:solidFill>
                  <a:schemeClr val="accent5"/>
                </a:solidFill>
              </a:rPr>
              <a:t>les jumeaux</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② : de of het? niet of geen?</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58 · 63</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 · 4 min — Colonne 1 : choisissez l’article. Colonne 2 : complétez avec </a:t>
            </a:r>
            <a:r>
              <a:rPr lang="en-US" sz="1600" b="1" i="1" dirty="0">
                <a:solidFill>
                  <a:schemeClr val="accent5"/>
                </a:solidFill>
              </a:rPr>
              <a:t>niet</a:t>
            </a:r>
            <a:r>
              <a:rPr lang="en-US" sz="1600" i="1" dirty="0">
                <a:solidFill>
                  <a:schemeClr val="accent5"/>
                </a:solidFill>
              </a:rPr>
              <a:t> ou </a:t>
            </a:r>
            <a:r>
              <a:rPr lang="en-US" sz="1600" b="1" i="1" dirty="0">
                <a:solidFill>
                  <a:schemeClr val="accent5"/>
                </a:solidFill>
              </a:rPr>
              <a:t>geen</a:t>
            </a:r>
            <a:r>
              <a:rPr lang="en-US" sz="1600" i="1" dirty="0">
                <a:solidFill>
                  <a:schemeClr val="accent5"/>
                </a:solidFill>
              </a:rPr>
              <a:t>.</a:t>
            </a:r>
            <a:endParaRPr lang="en-US" sz="1600" dirty="0"/>
          </a:p>
        </p:txBody>
      </p:sp>
      <p:sp>
        <p:nvSpPr>
          <p:cNvPr id="7" name="exercise"/>
          <p:cNvSpPr txBox="1"/>
          <p:nvPr/>
        </p:nvSpPr>
        <p:spPr>
          <a:xfrm>
            <a:off x="548640" y="2170176"/>
            <a:ext cx="3406140" cy="4120896"/>
          </a:xfrm>
          <a:prstGeom prst="rect">
            <a:avLst/>
          </a:prstGeom>
          <a:noFill/>
          <a:ln/>
        </p:spPr>
        <p:txBody>
          <a:bodyPr wrap="square" lIns="0" tIns="0" rIns="0" bIns="0" rtlCol="0" anchor="t"/>
          <a:lstStyle/>
          <a:p>
            <a:pPr indent="0" marL="0">
              <a:spcAft>
                <a:spcPts val="600"/>
              </a:spcAft>
              <a:buNone/>
            </a:pPr>
            <a:r>
              <a:rPr lang="en-US" sz="2100" b="1" dirty="0">
                <a:solidFill>
                  <a:schemeClr val="tx2"/>
                </a:solidFill>
              </a:rPr>
              <a:t>De of het?</a:t>
            </a:r>
            <a:endParaRPr lang="en-US" sz="2100" dirty="0"/>
          </a:p>
          <a:p>
            <a:pPr indent="0" marL="0">
              <a:spcAft>
                <a:spcPts val="1200"/>
              </a:spcAft>
              <a:buNone/>
            </a:pPr>
            <a:r>
              <a:rPr lang="en-US" sz="2100" b="1" dirty="0">
                <a:solidFill>
                  <a:schemeClr val="tx2"/>
                </a:solidFill>
              </a:rPr>
              <a:t>1.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vergadering</a:t>
            </a:r>
            <a:endParaRPr lang="en-US" sz="2100" dirty="0"/>
          </a:p>
          <a:p>
            <a:pPr indent="0" marL="0">
              <a:spcAft>
                <a:spcPts val="1200"/>
              </a:spcAft>
              <a:buNone/>
            </a:pPr>
            <a:r>
              <a:rPr lang="en-US" sz="2100" b="1" dirty="0">
                <a:solidFill>
                  <a:schemeClr val="tx2"/>
                </a:solidFill>
              </a:rPr>
              <a:t>2.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kasticket</a:t>
            </a:r>
            <a:endParaRPr lang="en-US" sz="2100" dirty="0"/>
          </a:p>
          <a:p>
            <a:pPr indent="0" marL="0">
              <a:spcAft>
                <a:spcPts val="1200"/>
              </a:spcAft>
              <a:buNone/>
            </a:pPr>
            <a:r>
              <a:rPr lang="en-US" sz="2100" b="1" dirty="0">
                <a:solidFill>
                  <a:schemeClr val="tx2"/>
                </a:solidFill>
              </a:rPr>
              <a:t>3.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afspraak</a:t>
            </a:r>
            <a:endParaRPr lang="en-US" sz="2100" dirty="0"/>
          </a:p>
          <a:p>
            <a:pPr indent="0" marL="0">
              <a:spcAft>
                <a:spcPts val="1200"/>
              </a:spcAft>
              <a:buNone/>
            </a:pPr>
            <a:r>
              <a:rPr lang="en-US" sz="2100" b="1" dirty="0">
                <a:solidFill>
                  <a:schemeClr val="tx2"/>
                </a:solidFill>
              </a:rPr>
              <a:t>4.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meisje</a:t>
            </a:r>
            <a:endParaRPr lang="en-US" sz="2100" dirty="0"/>
          </a:p>
          <a:p>
            <a:pPr indent="0" marL="0">
              <a:spcAft>
                <a:spcPts val="1200"/>
              </a:spcAft>
              <a:buNone/>
            </a:pPr>
            <a:r>
              <a:rPr lang="en-US" sz="2100" b="1" dirty="0">
                <a:solidFill>
                  <a:schemeClr val="tx2"/>
                </a:solidFill>
              </a:rPr>
              <a:t>5.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apotheek</a:t>
            </a:r>
            <a:endParaRPr lang="en-US" sz="2100" dirty="0"/>
          </a:p>
          <a:p>
            <a:pPr indent="0" marL="0">
              <a:spcAft>
                <a:spcPts val="1200"/>
              </a:spcAft>
              <a:buNone/>
            </a:pPr>
            <a:r>
              <a:rPr lang="en-US" sz="2100" b="1" dirty="0">
                <a:solidFill>
                  <a:schemeClr val="tx2"/>
                </a:solidFill>
              </a:rPr>
              <a:t>6.  </a:t>
            </a:r>
            <a:r>
              <a:rPr lang="en-US" sz="2100" dirty="0">
                <a:solidFill>
                  <a:schemeClr val="tx1"/>
                </a:solidFill>
              </a:rPr>
              <a:t>de</a:t>
            </a:r>
            <a:r>
              <a:rPr lang="en-US" sz="2100" dirty="0">
                <a:solidFill>
                  <a:schemeClr val="tx1"/>
                </a:solidFill>
              </a:rPr>
              <a:t> / </a:t>
            </a:r>
            <a:r>
              <a:rPr lang="en-US" sz="2100" dirty="0">
                <a:solidFill>
                  <a:schemeClr val="tx1"/>
                </a:solidFill>
              </a:rPr>
              <a:t>het</a:t>
            </a:r>
            <a:r>
              <a:rPr lang="en-US" sz="2100" dirty="0">
                <a:solidFill>
                  <a:schemeClr val="tx1"/>
                </a:solidFill>
              </a:rPr>
              <a:t> loon</a:t>
            </a:r>
            <a:endParaRPr lang="en-US" sz="2100" dirty="0"/>
          </a:p>
        </p:txBody>
      </p:sp>
      <p:sp>
        <p:nvSpPr>
          <p:cNvPr id="8" name="exercise"/>
          <p:cNvSpPr txBox="1"/>
          <p:nvPr/>
        </p:nvSpPr>
        <p:spPr>
          <a:xfrm>
            <a:off x="4320540" y="2170176"/>
            <a:ext cx="3406140" cy="4120896"/>
          </a:xfrm>
          <a:prstGeom prst="rect">
            <a:avLst/>
          </a:prstGeom>
          <a:noFill/>
          <a:ln/>
        </p:spPr>
        <p:txBody>
          <a:bodyPr wrap="square" lIns="0" tIns="0" rIns="0" bIns="0" rtlCol="0" anchor="t"/>
          <a:lstStyle/>
          <a:p>
            <a:pPr indent="0" marL="0">
              <a:spcAft>
                <a:spcPts val="600"/>
              </a:spcAft>
              <a:buNone/>
            </a:pPr>
            <a:r>
              <a:rPr lang="en-US" sz="2100" b="1" dirty="0">
                <a:solidFill>
                  <a:schemeClr val="tx2"/>
                </a:solidFill>
              </a:rPr>
              <a:t>Niet of geen?</a:t>
            </a:r>
            <a:endParaRPr lang="en-US" sz="2100" dirty="0"/>
          </a:p>
          <a:p>
            <a:pPr indent="0" marL="0">
              <a:spcAft>
                <a:spcPts val="1200"/>
              </a:spcAft>
              <a:buNone/>
            </a:pPr>
            <a:r>
              <a:rPr lang="en-US" sz="2100" b="1" dirty="0">
                <a:solidFill>
                  <a:schemeClr val="tx2"/>
                </a:solidFill>
              </a:rPr>
              <a:t>1.  </a:t>
            </a:r>
            <a:r>
              <a:rPr lang="en-US" sz="2100" dirty="0">
                <a:solidFill>
                  <a:schemeClr val="tx1"/>
                </a:solidFill>
              </a:rPr>
              <a:t>Ik heb </a:t>
            </a:r>
            <a:r>
              <a:rPr lang="en-US" sz="2100" dirty="0">
                <a:solidFill>
                  <a:schemeClr val="accent5"/>
                </a:solidFill>
              </a:rPr>
              <a:t>……………</a:t>
            </a:r>
            <a:r>
              <a:rPr lang="en-US" sz="2100" dirty="0">
                <a:solidFill>
                  <a:schemeClr val="tx1"/>
                </a:solidFill>
              </a:rPr>
              <a:t> tijd.</a:t>
            </a:r>
            <a:endParaRPr lang="en-US" sz="2100" dirty="0"/>
          </a:p>
          <a:p>
            <a:pPr indent="0" marL="0">
              <a:spcAft>
                <a:spcPts val="1200"/>
              </a:spcAft>
              <a:buNone/>
            </a:pPr>
            <a:r>
              <a:rPr lang="en-US" sz="2100" b="1" dirty="0">
                <a:solidFill>
                  <a:schemeClr val="tx2"/>
                </a:solidFill>
              </a:rPr>
              <a:t>2.  </a:t>
            </a:r>
            <a:r>
              <a:rPr lang="en-US" sz="2100" dirty="0">
                <a:solidFill>
                  <a:schemeClr val="tx1"/>
                </a:solidFill>
              </a:rPr>
              <a:t>Het examen was </a:t>
            </a:r>
            <a:r>
              <a:rPr lang="en-US" sz="2100" dirty="0">
                <a:solidFill>
                  <a:schemeClr val="accent5"/>
                </a:solidFill>
              </a:rPr>
              <a:t>……………</a:t>
            </a:r>
            <a:r>
              <a:rPr lang="en-US" sz="2100" dirty="0">
                <a:solidFill>
                  <a:schemeClr val="tx1"/>
                </a:solidFill>
              </a:rPr>
              <a:t> moeilijk.</a:t>
            </a:r>
            <a:endParaRPr lang="en-US" sz="2100" dirty="0"/>
          </a:p>
          <a:p>
            <a:pPr indent="0" marL="0">
              <a:spcAft>
                <a:spcPts val="1200"/>
              </a:spcAft>
              <a:buNone/>
            </a:pPr>
            <a:r>
              <a:rPr lang="en-US" sz="2100" b="1" dirty="0">
                <a:solidFill>
                  <a:schemeClr val="tx2"/>
                </a:solidFill>
              </a:rPr>
              <a:t>3.  </a:t>
            </a:r>
            <a:r>
              <a:rPr lang="en-US" sz="2100" dirty="0">
                <a:solidFill>
                  <a:schemeClr val="tx1"/>
                </a:solidFill>
              </a:rPr>
              <a:t>Wij eten </a:t>
            </a:r>
            <a:r>
              <a:rPr lang="en-US" sz="2100" dirty="0">
                <a:solidFill>
                  <a:schemeClr val="accent5"/>
                </a:solidFill>
              </a:rPr>
              <a:t>……………</a:t>
            </a:r>
            <a:r>
              <a:rPr lang="en-US" sz="2100" dirty="0">
                <a:solidFill>
                  <a:schemeClr val="tx1"/>
                </a:solidFill>
              </a:rPr>
              <a:t> vlees.</a:t>
            </a:r>
            <a:endParaRPr lang="en-US" sz="2100" dirty="0"/>
          </a:p>
          <a:p>
            <a:pPr indent="0" marL="0">
              <a:spcAft>
                <a:spcPts val="1200"/>
              </a:spcAft>
              <a:buNone/>
            </a:pPr>
            <a:r>
              <a:rPr lang="en-US" sz="2100" b="1" dirty="0">
                <a:solidFill>
                  <a:schemeClr val="tx2"/>
                </a:solidFill>
              </a:rPr>
              <a:t>4.  </a:t>
            </a:r>
            <a:r>
              <a:rPr lang="en-US" sz="2100" dirty="0">
                <a:solidFill>
                  <a:schemeClr val="tx1"/>
                </a:solidFill>
              </a:rPr>
              <a:t>Ik woon </a:t>
            </a:r>
            <a:r>
              <a:rPr lang="en-US" sz="2100" dirty="0">
                <a:solidFill>
                  <a:schemeClr val="accent5"/>
                </a:solidFill>
              </a:rPr>
              <a:t>……………</a:t>
            </a:r>
            <a:r>
              <a:rPr lang="en-US" sz="2100" dirty="0">
                <a:solidFill>
                  <a:schemeClr val="tx1"/>
                </a:solidFill>
              </a:rPr>
              <a:t> in Gent.</a:t>
            </a:r>
            <a:endParaRPr lang="en-US" sz="2100" dirty="0"/>
          </a:p>
          <a:p>
            <a:pPr indent="0" marL="0">
              <a:spcAft>
                <a:spcPts val="1200"/>
              </a:spcAft>
              <a:buNone/>
            </a:pPr>
            <a:r>
              <a:rPr lang="en-US" sz="2100" b="1" dirty="0">
                <a:solidFill>
                  <a:schemeClr val="tx2"/>
                </a:solidFill>
              </a:rPr>
              <a:t>5.  </a:t>
            </a:r>
            <a:r>
              <a:rPr lang="en-US" sz="2100" dirty="0">
                <a:solidFill>
                  <a:schemeClr val="tx1"/>
                </a:solidFill>
              </a:rPr>
              <a:t>Hij heeft </a:t>
            </a:r>
            <a:r>
              <a:rPr lang="en-US" sz="2100" dirty="0">
                <a:solidFill>
                  <a:schemeClr val="accent5"/>
                </a:solidFill>
              </a:rPr>
              <a:t>……………</a:t>
            </a:r>
            <a:r>
              <a:rPr lang="en-US" sz="2100" dirty="0">
                <a:solidFill>
                  <a:schemeClr val="tx1"/>
                </a:solidFill>
              </a:rPr>
              <a:t> auto.</a:t>
            </a:r>
            <a:endParaRPr lang="en-US" sz="2100" dirty="0"/>
          </a:p>
          <a:p>
            <a:pPr indent="0" marL="0">
              <a:spcAft>
                <a:spcPts val="1200"/>
              </a:spcAft>
              <a:buNone/>
            </a:pPr>
            <a:r>
              <a:rPr lang="en-US" sz="2100" b="1" dirty="0">
                <a:solidFill>
                  <a:schemeClr val="tx2"/>
                </a:solidFill>
              </a:rPr>
              <a:t>6.  </a:t>
            </a:r>
            <a:r>
              <a:rPr lang="en-US" sz="2100" dirty="0">
                <a:solidFill>
                  <a:schemeClr val="tx1"/>
                </a:solidFill>
              </a:rPr>
              <a:t>Ik begrijp de vraag </a:t>
            </a:r>
            <a:r>
              <a:rPr lang="en-US" sz="2100" dirty="0">
                <a:solidFill>
                  <a:schemeClr val="accent5"/>
                </a:solidFill>
              </a:rPr>
              <a:t>……………</a:t>
            </a:r>
            <a:r>
              <a:rPr lang="en-US" sz="2100" dirty="0">
                <a:solidFill>
                  <a:schemeClr val="tx1"/>
                </a:solidFill>
              </a:rPr>
              <a:t>.</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② : de of het? niet of geen?</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58 · 63</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 · 4 min — Colonne 1 : choisissez l’article. Colonne 2 : complétez avec </a:t>
            </a:r>
            <a:r>
              <a:rPr lang="en-US" sz="1600" b="1" i="1" dirty="0">
                <a:solidFill>
                  <a:schemeClr val="accent5"/>
                </a:solidFill>
              </a:rPr>
              <a:t>niet</a:t>
            </a:r>
            <a:r>
              <a:rPr lang="en-US" sz="1600" i="1" dirty="0">
                <a:solidFill>
                  <a:schemeClr val="accent5"/>
                </a:solidFill>
              </a:rPr>
              <a:t> ou </a:t>
            </a:r>
            <a:r>
              <a:rPr lang="en-US" sz="1600" b="1" i="1" dirty="0">
                <a:solidFill>
                  <a:schemeClr val="accent5"/>
                </a:solidFill>
              </a:rPr>
              <a:t>geen</a:t>
            </a:r>
            <a:r>
              <a:rPr lang="en-US" sz="1600" i="1" dirty="0">
                <a:solidFill>
                  <a:schemeClr val="accent5"/>
                </a:solidFill>
              </a:rPr>
              <a:t>.</a:t>
            </a:r>
            <a:endParaRPr lang="en-US" sz="1600" dirty="0"/>
          </a:p>
        </p:txBody>
      </p:sp>
      <p:sp>
        <p:nvSpPr>
          <p:cNvPr id="8" name="exercise"/>
          <p:cNvSpPr txBox="1"/>
          <p:nvPr/>
        </p:nvSpPr>
        <p:spPr>
          <a:xfrm>
            <a:off x="548640" y="2170176"/>
            <a:ext cx="3406140" cy="4120896"/>
          </a:xfrm>
          <a:prstGeom prst="rect">
            <a:avLst/>
          </a:prstGeom>
          <a:noFill/>
          <a:ln/>
        </p:spPr>
        <p:txBody>
          <a:bodyPr wrap="square" lIns="0" tIns="0" rIns="0" bIns="0" rtlCol="0" anchor="t"/>
          <a:lstStyle/>
          <a:p>
            <a:pPr indent="0" marL="0">
              <a:spcAft>
                <a:spcPts val="600"/>
              </a:spcAft>
              <a:buNone/>
            </a:pPr>
            <a:r>
              <a:rPr lang="en-US" sz="2100" b="1" dirty="0">
                <a:solidFill>
                  <a:schemeClr val="tx2"/>
                </a:solidFill>
              </a:rPr>
              <a:t>De of het?</a:t>
            </a:r>
            <a:endParaRPr lang="en-US" sz="2100" dirty="0"/>
          </a:p>
          <a:p>
            <a:pPr indent="0" marL="0">
              <a:spcAft>
                <a:spcPts val="1200"/>
              </a:spcAft>
              <a:buNone/>
            </a:pPr>
            <a:r>
              <a:rPr lang="en-US" sz="2100" b="1" dirty="0">
                <a:solidFill>
                  <a:schemeClr val="tx2"/>
                </a:solidFill>
              </a:rPr>
              <a:t>1.  </a:t>
            </a:r>
            <a:r>
              <a:rPr lang="en-US" sz="2100" b="1" dirty="0">
                <a:solidFill>
                  <a:schemeClr val="accent3"/>
                </a:solidFill>
              </a:rPr>
              <a:t>de</a:t>
            </a:r>
            <a:r>
              <a:rPr lang="en-US" sz="2100" dirty="0">
                <a:solidFill>
                  <a:schemeClr val="tx1"/>
                </a:solidFill>
              </a:rPr>
              <a:t> / </a:t>
            </a:r>
            <a:r>
              <a:rPr lang="en-US" sz="2100" strike="sngStrike" dirty="0">
                <a:solidFill>
                  <a:schemeClr val="accent6"/>
                </a:solidFill>
              </a:rPr>
              <a:t>het</a:t>
            </a:r>
            <a:r>
              <a:rPr lang="en-US" sz="2100" dirty="0">
                <a:solidFill>
                  <a:schemeClr val="tx1"/>
                </a:solidFill>
              </a:rPr>
              <a:t> vergadering</a:t>
            </a:r>
            <a:endParaRPr lang="en-US" sz="2100" dirty="0"/>
          </a:p>
          <a:p>
            <a:pPr indent="0" marL="0">
              <a:spcAft>
                <a:spcPts val="1200"/>
              </a:spcAft>
              <a:buNone/>
            </a:pPr>
            <a:r>
              <a:rPr lang="en-US" sz="2100" b="1" dirty="0">
                <a:solidFill>
                  <a:schemeClr val="tx2"/>
                </a:solidFill>
              </a:rPr>
              <a:t>2.  </a:t>
            </a:r>
            <a:r>
              <a:rPr lang="en-US" sz="2100" strike="sngStrike" dirty="0">
                <a:solidFill>
                  <a:schemeClr val="accent6"/>
                </a:solidFill>
              </a:rPr>
              <a:t>de</a:t>
            </a:r>
            <a:r>
              <a:rPr lang="en-US" sz="2100" dirty="0">
                <a:solidFill>
                  <a:schemeClr val="tx1"/>
                </a:solidFill>
              </a:rPr>
              <a:t> / </a:t>
            </a:r>
            <a:r>
              <a:rPr lang="en-US" sz="2100" b="1" dirty="0">
                <a:solidFill>
                  <a:schemeClr val="accent3"/>
                </a:solidFill>
              </a:rPr>
              <a:t>het</a:t>
            </a:r>
            <a:r>
              <a:rPr lang="en-US" sz="2100" dirty="0">
                <a:solidFill>
                  <a:schemeClr val="tx1"/>
                </a:solidFill>
              </a:rPr>
              <a:t> kasticket</a:t>
            </a:r>
            <a:endParaRPr lang="en-US" sz="2100" dirty="0"/>
          </a:p>
          <a:p>
            <a:pPr indent="0" marL="0">
              <a:spcAft>
                <a:spcPts val="1200"/>
              </a:spcAft>
              <a:buNone/>
            </a:pPr>
            <a:r>
              <a:rPr lang="en-US" sz="2100" b="1" dirty="0">
                <a:solidFill>
                  <a:schemeClr val="tx2"/>
                </a:solidFill>
              </a:rPr>
              <a:t>3.  </a:t>
            </a:r>
            <a:r>
              <a:rPr lang="en-US" sz="2100" b="1" dirty="0">
                <a:solidFill>
                  <a:schemeClr val="accent3"/>
                </a:solidFill>
              </a:rPr>
              <a:t>de</a:t>
            </a:r>
            <a:r>
              <a:rPr lang="en-US" sz="2100" dirty="0">
                <a:solidFill>
                  <a:schemeClr val="tx1"/>
                </a:solidFill>
              </a:rPr>
              <a:t> / </a:t>
            </a:r>
            <a:r>
              <a:rPr lang="en-US" sz="2100" strike="sngStrike" dirty="0">
                <a:solidFill>
                  <a:schemeClr val="accent6"/>
                </a:solidFill>
              </a:rPr>
              <a:t>het</a:t>
            </a:r>
            <a:r>
              <a:rPr lang="en-US" sz="2100" dirty="0">
                <a:solidFill>
                  <a:schemeClr val="tx1"/>
                </a:solidFill>
              </a:rPr>
              <a:t> afspraak</a:t>
            </a:r>
            <a:endParaRPr lang="en-US" sz="2100" dirty="0"/>
          </a:p>
          <a:p>
            <a:pPr indent="0" marL="0">
              <a:spcAft>
                <a:spcPts val="1200"/>
              </a:spcAft>
              <a:buNone/>
            </a:pPr>
            <a:r>
              <a:rPr lang="en-US" sz="2100" b="1" dirty="0">
                <a:solidFill>
                  <a:schemeClr val="tx2"/>
                </a:solidFill>
              </a:rPr>
              <a:t>4.  </a:t>
            </a:r>
            <a:r>
              <a:rPr lang="en-US" sz="2100" strike="sngStrike" dirty="0">
                <a:solidFill>
                  <a:schemeClr val="accent6"/>
                </a:solidFill>
              </a:rPr>
              <a:t>de</a:t>
            </a:r>
            <a:r>
              <a:rPr lang="en-US" sz="2100" dirty="0">
                <a:solidFill>
                  <a:schemeClr val="tx1"/>
                </a:solidFill>
              </a:rPr>
              <a:t> / </a:t>
            </a:r>
            <a:r>
              <a:rPr lang="en-US" sz="2100" b="1" dirty="0">
                <a:solidFill>
                  <a:schemeClr val="accent3"/>
                </a:solidFill>
              </a:rPr>
              <a:t>het</a:t>
            </a:r>
            <a:r>
              <a:rPr lang="en-US" sz="2100" dirty="0">
                <a:solidFill>
                  <a:schemeClr val="tx1"/>
                </a:solidFill>
              </a:rPr>
              <a:t> meisje</a:t>
            </a:r>
            <a:endParaRPr lang="en-US" sz="2100" dirty="0"/>
          </a:p>
          <a:p>
            <a:pPr indent="0" marL="0">
              <a:spcAft>
                <a:spcPts val="1200"/>
              </a:spcAft>
              <a:buNone/>
            </a:pPr>
            <a:r>
              <a:rPr lang="en-US" sz="2100" b="1" dirty="0">
                <a:solidFill>
                  <a:schemeClr val="tx2"/>
                </a:solidFill>
              </a:rPr>
              <a:t>5.  </a:t>
            </a:r>
            <a:r>
              <a:rPr lang="en-US" sz="2100" b="1" dirty="0">
                <a:solidFill>
                  <a:schemeClr val="accent3"/>
                </a:solidFill>
              </a:rPr>
              <a:t>de</a:t>
            </a:r>
            <a:r>
              <a:rPr lang="en-US" sz="2100" dirty="0">
                <a:solidFill>
                  <a:schemeClr val="tx1"/>
                </a:solidFill>
              </a:rPr>
              <a:t> / </a:t>
            </a:r>
            <a:r>
              <a:rPr lang="en-US" sz="2100" strike="sngStrike" dirty="0">
                <a:solidFill>
                  <a:schemeClr val="accent6"/>
                </a:solidFill>
              </a:rPr>
              <a:t>het</a:t>
            </a:r>
            <a:r>
              <a:rPr lang="en-US" sz="2100" dirty="0">
                <a:solidFill>
                  <a:schemeClr val="tx1"/>
                </a:solidFill>
              </a:rPr>
              <a:t> apotheek</a:t>
            </a:r>
            <a:endParaRPr lang="en-US" sz="2100" dirty="0"/>
          </a:p>
          <a:p>
            <a:pPr indent="0" marL="0">
              <a:spcAft>
                <a:spcPts val="1200"/>
              </a:spcAft>
              <a:buNone/>
            </a:pPr>
            <a:r>
              <a:rPr lang="en-US" sz="2100" b="1" dirty="0">
                <a:solidFill>
                  <a:schemeClr val="tx2"/>
                </a:solidFill>
              </a:rPr>
              <a:t>6.  </a:t>
            </a:r>
            <a:r>
              <a:rPr lang="en-US" sz="2100" strike="sngStrike" dirty="0">
                <a:solidFill>
                  <a:schemeClr val="accent6"/>
                </a:solidFill>
              </a:rPr>
              <a:t>de</a:t>
            </a:r>
            <a:r>
              <a:rPr lang="en-US" sz="2100" dirty="0">
                <a:solidFill>
                  <a:schemeClr val="tx1"/>
                </a:solidFill>
              </a:rPr>
              <a:t> / </a:t>
            </a:r>
            <a:r>
              <a:rPr lang="en-US" sz="2100" b="1" dirty="0">
                <a:solidFill>
                  <a:schemeClr val="accent3"/>
                </a:solidFill>
              </a:rPr>
              <a:t>het</a:t>
            </a:r>
            <a:r>
              <a:rPr lang="en-US" sz="2100" dirty="0">
                <a:solidFill>
                  <a:schemeClr val="tx1"/>
                </a:solidFill>
              </a:rPr>
              <a:t> loon</a:t>
            </a:r>
            <a:endParaRPr lang="en-US" sz="2100" dirty="0"/>
          </a:p>
        </p:txBody>
      </p:sp>
      <p:sp>
        <p:nvSpPr>
          <p:cNvPr id="9" name="exercise"/>
          <p:cNvSpPr txBox="1"/>
          <p:nvPr/>
        </p:nvSpPr>
        <p:spPr>
          <a:xfrm>
            <a:off x="4320540" y="2170176"/>
            <a:ext cx="3406140" cy="4120896"/>
          </a:xfrm>
          <a:prstGeom prst="rect">
            <a:avLst/>
          </a:prstGeom>
          <a:noFill/>
          <a:ln/>
        </p:spPr>
        <p:txBody>
          <a:bodyPr wrap="square" lIns="0" tIns="0" rIns="0" bIns="0" rtlCol="0" anchor="t"/>
          <a:lstStyle/>
          <a:p>
            <a:pPr indent="0" marL="0">
              <a:spcAft>
                <a:spcPts val="600"/>
              </a:spcAft>
              <a:buNone/>
            </a:pPr>
            <a:r>
              <a:rPr lang="en-US" sz="2100" b="1" dirty="0">
                <a:solidFill>
                  <a:schemeClr val="tx2"/>
                </a:solidFill>
              </a:rPr>
              <a:t>Niet of geen?</a:t>
            </a:r>
            <a:endParaRPr lang="en-US" sz="2100" dirty="0"/>
          </a:p>
          <a:p>
            <a:pPr indent="0" marL="0">
              <a:spcAft>
                <a:spcPts val="1200"/>
              </a:spcAft>
              <a:buNone/>
            </a:pPr>
            <a:r>
              <a:rPr lang="en-US" sz="2100" b="1" dirty="0">
                <a:solidFill>
                  <a:schemeClr val="tx2"/>
                </a:solidFill>
              </a:rPr>
              <a:t>1.  </a:t>
            </a:r>
            <a:r>
              <a:rPr lang="en-US" sz="2100" dirty="0">
                <a:solidFill>
                  <a:schemeClr val="tx1"/>
                </a:solidFill>
              </a:rPr>
              <a:t>Ik heb </a:t>
            </a:r>
            <a:r>
              <a:rPr lang="en-US" sz="2100" b="1" dirty="0">
                <a:solidFill>
                  <a:schemeClr val="accent3"/>
                </a:solidFill>
              </a:rPr>
              <a:t>geen</a:t>
            </a:r>
            <a:r>
              <a:rPr lang="en-US" sz="2100" dirty="0">
                <a:solidFill>
                  <a:schemeClr val="tx1"/>
                </a:solidFill>
              </a:rPr>
              <a:t> tijd.</a:t>
            </a:r>
            <a:endParaRPr lang="en-US" sz="2100" dirty="0"/>
          </a:p>
          <a:p>
            <a:pPr indent="0" marL="0">
              <a:spcAft>
                <a:spcPts val="1200"/>
              </a:spcAft>
              <a:buNone/>
            </a:pPr>
            <a:r>
              <a:rPr lang="en-US" sz="2100" b="1" dirty="0">
                <a:solidFill>
                  <a:schemeClr val="tx2"/>
                </a:solidFill>
              </a:rPr>
              <a:t>2.  </a:t>
            </a:r>
            <a:r>
              <a:rPr lang="en-US" sz="2100" dirty="0">
                <a:solidFill>
                  <a:schemeClr val="tx1"/>
                </a:solidFill>
              </a:rPr>
              <a:t>Het examen was </a:t>
            </a:r>
            <a:r>
              <a:rPr lang="en-US" sz="2100" b="1" dirty="0">
                <a:solidFill>
                  <a:schemeClr val="accent3"/>
                </a:solidFill>
              </a:rPr>
              <a:t>niet</a:t>
            </a:r>
            <a:r>
              <a:rPr lang="en-US" sz="2100" dirty="0">
                <a:solidFill>
                  <a:schemeClr val="tx1"/>
                </a:solidFill>
              </a:rPr>
              <a:t> moeilijk.</a:t>
            </a:r>
            <a:endParaRPr lang="en-US" sz="2100" dirty="0"/>
          </a:p>
          <a:p>
            <a:pPr indent="0" marL="0">
              <a:spcAft>
                <a:spcPts val="1200"/>
              </a:spcAft>
              <a:buNone/>
            </a:pPr>
            <a:r>
              <a:rPr lang="en-US" sz="2100" b="1" dirty="0">
                <a:solidFill>
                  <a:schemeClr val="tx2"/>
                </a:solidFill>
              </a:rPr>
              <a:t>3.  </a:t>
            </a:r>
            <a:r>
              <a:rPr lang="en-US" sz="2100" dirty="0">
                <a:solidFill>
                  <a:schemeClr val="tx1"/>
                </a:solidFill>
              </a:rPr>
              <a:t>Wij eten </a:t>
            </a:r>
            <a:r>
              <a:rPr lang="en-US" sz="2100" b="1" dirty="0">
                <a:solidFill>
                  <a:schemeClr val="accent3"/>
                </a:solidFill>
              </a:rPr>
              <a:t>geen</a:t>
            </a:r>
            <a:r>
              <a:rPr lang="en-US" sz="2100" dirty="0">
                <a:solidFill>
                  <a:schemeClr val="tx1"/>
                </a:solidFill>
              </a:rPr>
              <a:t> vlees.</a:t>
            </a:r>
            <a:endParaRPr lang="en-US" sz="2100" dirty="0"/>
          </a:p>
          <a:p>
            <a:pPr indent="0" marL="0">
              <a:spcAft>
                <a:spcPts val="1200"/>
              </a:spcAft>
              <a:buNone/>
            </a:pPr>
            <a:r>
              <a:rPr lang="en-US" sz="2100" b="1" dirty="0">
                <a:solidFill>
                  <a:schemeClr val="tx2"/>
                </a:solidFill>
              </a:rPr>
              <a:t>4.  </a:t>
            </a:r>
            <a:r>
              <a:rPr lang="en-US" sz="2100" dirty="0">
                <a:solidFill>
                  <a:schemeClr val="tx1"/>
                </a:solidFill>
              </a:rPr>
              <a:t>Ik woon </a:t>
            </a:r>
            <a:r>
              <a:rPr lang="en-US" sz="2100" b="1" dirty="0">
                <a:solidFill>
                  <a:schemeClr val="accent3"/>
                </a:solidFill>
              </a:rPr>
              <a:t>niet</a:t>
            </a:r>
            <a:r>
              <a:rPr lang="en-US" sz="2100" dirty="0">
                <a:solidFill>
                  <a:schemeClr val="tx1"/>
                </a:solidFill>
              </a:rPr>
              <a:t> in Gent.</a:t>
            </a:r>
            <a:endParaRPr lang="en-US" sz="2100" dirty="0"/>
          </a:p>
          <a:p>
            <a:pPr indent="0" marL="0">
              <a:spcAft>
                <a:spcPts val="1200"/>
              </a:spcAft>
              <a:buNone/>
            </a:pPr>
            <a:r>
              <a:rPr lang="en-US" sz="2100" b="1" dirty="0">
                <a:solidFill>
                  <a:schemeClr val="tx2"/>
                </a:solidFill>
              </a:rPr>
              <a:t>5.  </a:t>
            </a:r>
            <a:r>
              <a:rPr lang="en-US" sz="2100" dirty="0">
                <a:solidFill>
                  <a:schemeClr val="tx1"/>
                </a:solidFill>
              </a:rPr>
              <a:t>Hij heeft </a:t>
            </a:r>
            <a:r>
              <a:rPr lang="en-US" sz="2100" b="1" dirty="0">
                <a:solidFill>
                  <a:schemeClr val="accent3"/>
                </a:solidFill>
              </a:rPr>
              <a:t>geen</a:t>
            </a:r>
            <a:r>
              <a:rPr lang="en-US" sz="2100" dirty="0">
                <a:solidFill>
                  <a:schemeClr val="tx1"/>
                </a:solidFill>
              </a:rPr>
              <a:t> auto.</a:t>
            </a:r>
            <a:endParaRPr lang="en-US" sz="2100" dirty="0"/>
          </a:p>
          <a:p>
            <a:pPr indent="0" marL="0">
              <a:spcAft>
                <a:spcPts val="1200"/>
              </a:spcAft>
              <a:buNone/>
            </a:pPr>
            <a:r>
              <a:rPr lang="en-US" sz="2100" b="1" dirty="0">
                <a:solidFill>
                  <a:schemeClr val="tx2"/>
                </a:solidFill>
              </a:rPr>
              <a:t>6.  </a:t>
            </a:r>
            <a:r>
              <a:rPr lang="en-US" sz="2100" dirty="0">
                <a:solidFill>
                  <a:schemeClr val="tx1"/>
                </a:solidFill>
              </a:rPr>
              <a:t>Ik begrijp de vraag </a:t>
            </a:r>
            <a:r>
              <a:rPr lang="en-US" sz="2100" b="1" dirty="0">
                <a:solidFill>
                  <a:schemeClr val="accent3"/>
                </a:solidFill>
              </a:rPr>
              <a:t>niet</a:t>
            </a:r>
            <a:r>
              <a:rPr lang="en-US" sz="2100" dirty="0">
                <a:solidFill>
                  <a:schemeClr val="tx1"/>
                </a:solidFill>
              </a:rPr>
              <a:t>.</a:t>
            </a:r>
            <a:endParaRPr lang="en-US" sz="2100" dirty="0"/>
          </a:p>
        </p:txBody>
      </p:sp>
      <p:sp>
        <p:nvSpPr>
          <p:cNvPr id="10"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2" name="Text 8"/>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3" name="Text 9"/>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meisje</a:t>
            </a:r>
            <a:r>
              <a:rPr lang="en-US" sz="1800" dirty="0">
                <a:solidFill>
                  <a:schemeClr val="tx1"/>
                </a:solidFill>
              </a:rPr>
              <a:t> : diminutif → </a:t>
            </a:r>
            <a:r>
              <a:rPr lang="en-US" sz="1800" b="1" dirty="0">
                <a:solidFill>
                  <a:schemeClr val="tx1"/>
                </a:solidFill>
              </a:rPr>
              <a:t>het</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geen</a:t>
            </a:r>
            <a:r>
              <a:rPr lang="en-US" sz="1800" dirty="0">
                <a:solidFill>
                  <a:schemeClr val="tx1"/>
                </a:solidFill>
              </a:rPr>
              <a:t> = pas de + nom (avec </a:t>
            </a:r>
            <a:r>
              <a:rPr lang="en-US" sz="1800" i="1" dirty="0">
                <a:solidFill>
                  <a:schemeClr val="tx1"/>
                </a:solidFill>
              </a:rPr>
              <a:t>een</a:t>
            </a:r>
            <a:r>
              <a:rPr lang="en-US" sz="1800" dirty="0">
                <a:solidFill>
                  <a:schemeClr val="tx1"/>
                </a:solidFill>
              </a:rPr>
              <a:t> ou sans article).</a:t>
            </a:r>
            <a:endParaRPr lang="en-US" sz="1800" dirty="0"/>
          </a:p>
          <a:p>
            <a:pPr marL="177800" indent="-177800">
              <a:spcAft>
                <a:spcPts val="600"/>
              </a:spcAft>
              <a:buSzPct val="100000"/>
              <a:buChar char="•"/>
            </a:pPr>
            <a:r>
              <a:rPr lang="en-US" sz="1800" b="1" dirty="0">
                <a:solidFill>
                  <a:schemeClr val="tx1"/>
                </a:solidFill>
              </a:rPr>
              <a:t>niet</a:t>
            </a:r>
            <a:r>
              <a:rPr lang="en-US" sz="1800" dirty="0">
                <a:solidFill>
                  <a:schemeClr val="tx1"/>
                </a:solidFill>
              </a:rPr>
              <a:t> : verbe, adjectif, préposition, nom défini (</a:t>
            </a:r>
            <a:r>
              <a:rPr lang="en-US" sz="1800" i="1" dirty="0">
                <a:solidFill>
                  <a:schemeClr val="tx1"/>
                </a:solidFill>
              </a:rPr>
              <a:t>de vraag</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③ : attention aux faux-amis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89–91</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 Choisissez le </a:t>
            </a:r>
            <a:r>
              <a:rPr lang="en-US" sz="1600" b="1" i="1" dirty="0">
                <a:solidFill>
                  <a:schemeClr val="accent5"/>
                </a:solidFill>
              </a:rPr>
              <a:t>bon mot</a:t>
            </a:r>
            <a:r>
              <a:rPr lang="en-US" sz="1600" i="1" dirty="0">
                <a:solidFill>
                  <a:schemeClr val="accent5"/>
                </a:solidFill>
              </a:rPr>
              <a:t>.</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200"/>
              </a:spcAft>
              <a:buNone/>
            </a:pPr>
            <a:r>
              <a:rPr lang="en-US" sz="2100" b="1" dirty="0">
                <a:solidFill>
                  <a:schemeClr val="tx2"/>
                </a:solidFill>
              </a:rPr>
              <a:t>1.  </a:t>
            </a:r>
            <a:r>
              <a:rPr lang="en-US" sz="2100" dirty="0">
                <a:solidFill>
                  <a:schemeClr val="tx1"/>
                </a:solidFill>
              </a:rPr>
              <a:t>Ik werk in een groot </a:t>
            </a:r>
            <a:r>
              <a:rPr lang="en-US" sz="2100" dirty="0">
                <a:solidFill>
                  <a:schemeClr val="tx1"/>
                </a:solidFill>
              </a:rPr>
              <a:t>bureau</a:t>
            </a:r>
            <a:r>
              <a:rPr lang="en-US" sz="2100" dirty="0">
                <a:solidFill>
                  <a:schemeClr val="tx1"/>
                </a:solidFill>
              </a:rPr>
              <a:t> / </a:t>
            </a:r>
            <a:r>
              <a:rPr lang="en-US" sz="2100" dirty="0">
                <a:solidFill>
                  <a:schemeClr val="tx1"/>
                </a:solidFill>
              </a:rPr>
              <a:t>kantoor</a:t>
            </a:r>
            <a:r>
              <a:rPr lang="en-US" sz="2100" dirty="0">
                <a:solidFill>
                  <a:schemeClr val="tx1"/>
                </a:solidFill>
              </a:rPr>
              <a:t> in Brussel.</a:t>
            </a:r>
            <a:endParaRPr lang="en-US" sz="2100" dirty="0"/>
          </a:p>
          <a:p>
            <a:pPr indent="0" marL="0">
              <a:spcAft>
                <a:spcPts val="1200"/>
              </a:spcAft>
              <a:buNone/>
            </a:pPr>
            <a:r>
              <a:rPr lang="en-US" sz="2100" b="1" dirty="0">
                <a:solidFill>
                  <a:schemeClr val="tx2"/>
                </a:solidFill>
              </a:rPr>
              <a:t>2.  </a:t>
            </a:r>
            <a:r>
              <a:rPr lang="en-US" sz="2100" dirty="0">
                <a:solidFill>
                  <a:schemeClr val="tx1"/>
                </a:solidFill>
              </a:rPr>
              <a:t>Dit hotel is erg </a:t>
            </a:r>
            <a:r>
              <a:rPr lang="en-US" sz="2100" dirty="0">
                <a:solidFill>
                  <a:schemeClr val="tx1"/>
                </a:solidFill>
              </a:rPr>
              <a:t>duur</a:t>
            </a:r>
            <a:r>
              <a:rPr lang="en-US" sz="2100" dirty="0">
                <a:solidFill>
                  <a:schemeClr val="tx1"/>
                </a:solidFill>
              </a:rPr>
              <a:t> / </a:t>
            </a:r>
            <a:r>
              <a:rPr lang="en-US" sz="2100" dirty="0">
                <a:solidFill>
                  <a:schemeClr val="tx1"/>
                </a:solidFill>
              </a:rPr>
              <a:t>hard</a:t>
            </a:r>
            <a:r>
              <a:rPr lang="en-US" sz="2100" dirty="0">
                <a:solidFill>
                  <a:schemeClr val="tx1"/>
                </a:solidFill>
              </a:rPr>
              <a:t>: 300 euro per nacht!</a:t>
            </a:r>
            <a:endParaRPr lang="en-US" sz="2100" dirty="0"/>
          </a:p>
          <a:p>
            <a:pPr indent="0" marL="0">
              <a:spcAft>
                <a:spcPts val="1200"/>
              </a:spcAft>
              <a:buNone/>
            </a:pPr>
            <a:r>
              <a:rPr lang="en-US" sz="2100" b="1" dirty="0">
                <a:solidFill>
                  <a:schemeClr val="tx2"/>
                </a:solidFill>
              </a:rPr>
              <a:t>3.  </a:t>
            </a:r>
            <a:r>
              <a:rPr lang="en-US" sz="2100" dirty="0">
                <a:solidFill>
                  <a:schemeClr val="tx1"/>
                </a:solidFill>
              </a:rPr>
              <a:t>Ik volg een </a:t>
            </a:r>
            <a:r>
              <a:rPr lang="en-US" sz="2100" dirty="0">
                <a:solidFill>
                  <a:schemeClr val="tx1"/>
                </a:solidFill>
              </a:rPr>
              <a:t>formatie</a:t>
            </a:r>
            <a:r>
              <a:rPr lang="en-US" sz="2100" dirty="0">
                <a:solidFill>
                  <a:schemeClr val="tx1"/>
                </a:solidFill>
              </a:rPr>
              <a:t> / </a:t>
            </a:r>
            <a:r>
              <a:rPr lang="en-US" sz="2100" dirty="0">
                <a:solidFill>
                  <a:schemeClr val="tx1"/>
                </a:solidFill>
              </a:rPr>
              <a:t>opleiding</a:t>
            </a:r>
            <a:r>
              <a:rPr lang="en-US" sz="2100" dirty="0">
                <a:solidFill>
                  <a:schemeClr val="tx1"/>
                </a:solidFill>
              </a:rPr>
              <a:t> tot boekhouder.</a:t>
            </a:r>
            <a:endParaRPr lang="en-US" sz="2100" dirty="0"/>
          </a:p>
          <a:p>
            <a:pPr indent="0" marL="0">
              <a:spcAft>
                <a:spcPts val="1200"/>
              </a:spcAft>
              <a:buNone/>
            </a:pPr>
            <a:r>
              <a:rPr lang="en-US" sz="2100" b="1" dirty="0">
                <a:solidFill>
                  <a:schemeClr val="tx2"/>
                </a:solidFill>
              </a:rPr>
              <a:t>4.  </a:t>
            </a:r>
            <a:r>
              <a:rPr lang="en-US" sz="2100" dirty="0">
                <a:solidFill>
                  <a:schemeClr val="tx1"/>
                </a:solidFill>
              </a:rPr>
              <a:t>Aan de kassa staat een lange </a:t>
            </a:r>
            <a:r>
              <a:rPr lang="en-US" sz="2100" dirty="0">
                <a:solidFill>
                  <a:schemeClr val="tx1"/>
                </a:solidFill>
              </a:rPr>
              <a:t>rij</a:t>
            </a:r>
            <a:r>
              <a:rPr lang="en-US" sz="2100" dirty="0">
                <a:solidFill>
                  <a:schemeClr val="tx1"/>
                </a:solidFill>
              </a:rPr>
              <a:t> / </a:t>
            </a:r>
            <a:r>
              <a:rPr lang="en-US" sz="2100" dirty="0">
                <a:solidFill>
                  <a:schemeClr val="tx1"/>
                </a:solidFill>
              </a:rPr>
              <a:t>file</a:t>
            </a:r>
            <a:r>
              <a:rPr lang="en-US" sz="2100" dirty="0">
                <a:solidFill>
                  <a:schemeClr val="tx1"/>
                </a:solidFill>
              </a:rPr>
              <a:t>.</a:t>
            </a:r>
            <a:endParaRPr lang="en-US" sz="2100" dirty="0"/>
          </a:p>
          <a:p>
            <a:pPr indent="0" marL="0">
              <a:spcAft>
                <a:spcPts val="1200"/>
              </a:spcAft>
              <a:buNone/>
            </a:pPr>
            <a:r>
              <a:rPr lang="en-US" sz="2100" b="1" dirty="0">
                <a:solidFill>
                  <a:schemeClr val="tx2"/>
                </a:solidFill>
              </a:rPr>
              <a:t>5.  </a:t>
            </a:r>
            <a:r>
              <a:rPr lang="en-US" sz="2100" dirty="0">
                <a:solidFill>
                  <a:schemeClr val="tx1"/>
                </a:solidFill>
              </a:rPr>
              <a:t>Na het werk ben ik </a:t>
            </a:r>
            <a:r>
              <a:rPr lang="en-US" sz="2100" dirty="0">
                <a:solidFill>
                  <a:schemeClr val="tx1"/>
                </a:solidFill>
              </a:rPr>
              <a:t>zacht</a:t>
            </a:r>
            <a:r>
              <a:rPr lang="en-US" sz="2100" dirty="0">
                <a:solidFill>
                  <a:schemeClr val="tx1"/>
                </a:solidFill>
              </a:rPr>
              <a:t> / </a:t>
            </a:r>
            <a:r>
              <a:rPr lang="en-US" sz="2100" dirty="0">
                <a:solidFill>
                  <a:schemeClr val="tx1"/>
                </a:solidFill>
              </a:rPr>
              <a:t>moe</a:t>
            </a:r>
            <a:r>
              <a:rPr lang="en-US" sz="2100" dirty="0">
                <a:solidFill>
                  <a:schemeClr val="tx1"/>
                </a:solidFill>
              </a:rPr>
              <a:t>: ik ga slapen.</a:t>
            </a:r>
            <a:endParaRPr lang="en-US" sz="2100" dirty="0"/>
          </a:p>
          <a:p>
            <a:pPr indent="0" marL="0">
              <a:spcAft>
                <a:spcPts val="1200"/>
              </a:spcAft>
              <a:buNone/>
            </a:pPr>
            <a:r>
              <a:rPr lang="en-US" sz="2100" b="1" dirty="0">
                <a:solidFill>
                  <a:schemeClr val="tx2"/>
                </a:solidFill>
              </a:rPr>
              <a:t>6.  </a:t>
            </a:r>
            <a:r>
              <a:rPr lang="en-US" sz="2100" dirty="0">
                <a:solidFill>
                  <a:schemeClr val="tx1"/>
                </a:solidFill>
              </a:rPr>
              <a:t>Mijn kinderen zijn heel </a:t>
            </a:r>
            <a:r>
              <a:rPr lang="en-US" sz="2100" dirty="0">
                <a:solidFill>
                  <a:schemeClr val="tx1"/>
                </a:solidFill>
              </a:rPr>
              <a:t>braaf</a:t>
            </a:r>
            <a:r>
              <a:rPr lang="en-US" sz="2100" dirty="0">
                <a:solidFill>
                  <a:schemeClr val="tx1"/>
                </a:solidFill>
              </a:rPr>
              <a:t> / </a:t>
            </a:r>
            <a:r>
              <a:rPr lang="en-US" sz="2100" dirty="0">
                <a:solidFill>
                  <a:schemeClr val="tx1"/>
                </a:solidFill>
              </a:rPr>
              <a:t>moedig</a:t>
            </a:r>
            <a:r>
              <a:rPr lang="en-US" sz="2100" dirty="0">
                <a:solidFill>
                  <a:schemeClr val="tx1"/>
                </a:solidFill>
              </a:rPr>
              <a:t>: ze luisteren goed.</a:t>
            </a:r>
            <a:endParaRPr lang="en-US" sz="2100" dirty="0"/>
          </a:p>
          <a:p>
            <a:pPr indent="0" marL="0">
              <a:spcAft>
                <a:spcPts val="1200"/>
              </a:spcAft>
              <a:buNone/>
            </a:pPr>
            <a:r>
              <a:rPr lang="en-US" sz="2100" b="1" dirty="0">
                <a:solidFill>
                  <a:schemeClr val="tx2"/>
                </a:solidFill>
              </a:rPr>
              <a:t>7.  </a:t>
            </a:r>
            <a:r>
              <a:rPr lang="en-US" sz="2100" dirty="0">
                <a:solidFill>
                  <a:schemeClr val="tx1"/>
                </a:solidFill>
              </a:rPr>
              <a:t>Morgen heb ik een </a:t>
            </a:r>
            <a:r>
              <a:rPr lang="en-US" sz="2100" dirty="0">
                <a:solidFill>
                  <a:schemeClr val="tx1"/>
                </a:solidFill>
              </a:rPr>
              <a:t>oraal</a:t>
            </a:r>
            <a:r>
              <a:rPr lang="en-US" sz="2100" dirty="0">
                <a:solidFill>
                  <a:schemeClr val="tx1"/>
                </a:solidFill>
              </a:rPr>
              <a:t> / </a:t>
            </a:r>
            <a:r>
              <a:rPr lang="en-US" sz="2100" dirty="0">
                <a:solidFill>
                  <a:schemeClr val="tx1"/>
                </a:solidFill>
              </a:rPr>
              <a:t>mondeling</a:t>
            </a:r>
            <a:r>
              <a:rPr lang="en-US" sz="2100" dirty="0">
                <a:solidFill>
                  <a:schemeClr val="tx1"/>
                </a:solidFill>
              </a:rPr>
              <a:t> examen.</a:t>
            </a:r>
            <a:endParaRPr lang="en-US" sz="2100" dirty="0"/>
          </a:p>
          <a:p>
            <a:pPr indent="0" marL="0">
              <a:spcAft>
                <a:spcPts val="1200"/>
              </a:spcAft>
              <a:buNone/>
            </a:pPr>
            <a:r>
              <a:rPr lang="en-US" sz="2100" b="1" dirty="0">
                <a:solidFill>
                  <a:schemeClr val="tx2"/>
                </a:solidFill>
              </a:rPr>
              <a:t>8.  </a:t>
            </a:r>
            <a:r>
              <a:rPr lang="en-US" sz="2100" dirty="0">
                <a:solidFill>
                  <a:schemeClr val="tx1"/>
                </a:solidFill>
              </a:rPr>
              <a:t>’s Avonds kijk ik naar </a:t>
            </a:r>
            <a:r>
              <a:rPr lang="en-US" sz="2100" dirty="0">
                <a:solidFill>
                  <a:schemeClr val="tx1"/>
                </a:solidFill>
              </a:rPr>
              <a:t>het journaal</a:t>
            </a:r>
            <a:r>
              <a:rPr lang="en-US" sz="2100" dirty="0">
                <a:solidFill>
                  <a:schemeClr val="tx1"/>
                </a:solidFill>
              </a:rPr>
              <a:t> / </a:t>
            </a:r>
            <a:r>
              <a:rPr lang="en-US" sz="2100" dirty="0">
                <a:solidFill>
                  <a:schemeClr val="tx1"/>
                </a:solidFill>
              </a:rPr>
              <a:t>de krant</a:t>
            </a:r>
            <a:r>
              <a:rPr lang="en-US" sz="2100" dirty="0">
                <a:solidFill>
                  <a:schemeClr val="tx1"/>
                </a:solidFill>
              </a:rPr>
              <a:t> op tv.</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③ : attention aux faux-amis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89–91</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 Choisissez le </a:t>
            </a:r>
            <a:r>
              <a:rPr lang="en-US" sz="1600" b="1" i="1" dirty="0">
                <a:solidFill>
                  <a:schemeClr val="accent5"/>
                </a:solidFill>
              </a:rPr>
              <a:t>bon mot</a:t>
            </a:r>
            <a:r>
              <a:rPr lang="en-US" sz="1600" i="1" dirty="0">
                <a:solidFill>
                  <a:schemeClr val="accent5"/>
                </a:solidFill>
              </a:rPr>
              <a:t>.</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200"/>
              </a:spcAft>
              <a:buNone/>
            </a:pPr>
            <a:r>
              <a:rPr lang="en-US" sz="2100" b="1" dirty="0">
                <a:solidFill>
                  <a:schemeClr val="tx2"/>
                </a:solidFill>
              </a:rPr>
              <a:t>1.  </a:t>
            </a:r>
            <a:r>
              <a:rPr lang="en-US" sz="2100" dirty="0">
                <a:solidFill>
                  <a:schemeClr val="tx1"/>
                </a:solidFill>
              </a:rPr>
              <a:t>Ik werk in een groot </a:t>
            </a:r>
            <a:r>
              <a:rPr lang="en-US" sz="2100" strike="sngStrike" dirty="0">
                <a:solidFill>
                  <a:schemeClr val="accent6"/>
                </a:solidFill>
              </a:rPr>
              <a:t>bureau</a:t>
            </a:r>
            <a:r>
              <a:rPr lang="en-US" sz="2100" dirty="0">
                <a:solidFill>
                  <a:schemeClr val="tx1"/>
                </a:solidFill>
              </a:rPr>
              <a:t> / </a:t>
            </a:r>
            <a:r>
              <a:rPr lang="en-US" sz="2100" b="1" dirty="0">
                <a:solidFill>
                  <a:schemeClr val="accent3"/>
                </a:solidFill>
              </a:rPr>
              <a:t>kantoor</a:t>
            </a:r>
            <a:r>
              <a:rPr lang="en-US" sz="2100" dirty="0">
                <a:solidFill>
                  <a:schemeClr val="tx1"/>
                </a:solidFill>
              </a:rPr>
              <a:t> in Brussel.</a:t>
            </a:r>
            <a:endParaRPr lang="en-US" sz="2100" dirty="0"/>
          </a:p>
          <a:p>
            <a:pPr indent="0" marL="0">
              <a:spcAft>
                <a:spcPts val="1200"/>
              </a:spcAft>
              <a:buNone/>
            </a:pPr>
            <a:r>
              <a:rPr lang="en-US" sz="2100" b="1" dirty="0">
                <a:solidFill>
                  <a:schemeClr val="tx2"/>
                </a:solidFill>
              </a:rPr>
              <a:t>2.  </a:t>
            </a:r>
            <a:r>
              <a:rPr lang="en-US" sz="2100" dirty="0">
                <a:solidFill>
                  <a:schemeClr val="tx1"/>
                </a:solidFill>
              </a:rPr>
              <a:t>Dit hotel is erg </a:t>
            </a:r>
            <a:r>
              <a:rPr lang="en-US" sz="2100" b="1" dirty="0">
                <a:solidFill>
                  <a:schemeClr val="accent3"/>
                </a:solidFill>
              </a:rPr>
              <a:t>duur</a:t>
            </a:r>
            <a:r>
              <a:rPr lang="en-US" sz="2100" dirty="0">
                <a:solidFill>
                  <a:schemeClr val="tx1"/>
                </a:solidFill>
              </a:rPr>
              <a:t> / </a:t>
            </a:r>
            <a:r>
              <a:rPr lang="en-US" sz="2100" strike="sngStrike" dirty="0">
                <a:solidFill>
                  <a:schemeClr val="accent6"/>
                </a:solidFill>
              </a:rPr>
              <a:t>hard</a:t>
            </a:r>
            <a:r>
              <a:rPr lang="en-US" sz="2100" dirty="0">
                <a:solidFill>
                  <a:schemeClr val="tx1"/>
                </a:solidFill>
              </a:rPr>
              <a:t>: 300 euro per nacht!</a:t>
            </a:r>
            <a:endParaRPr lang="en-US" sz="2100" dirty="0"/>
          </a:p>
          <a:p>
            <a:pPr indent="0" marL="0">
              <a:spcAft>
                <a:spcPts val="1200"/>
              </a:spcAft>
              <a:buNone/>
            </a:pPr>
            <a:r>
              <a:rPr lang="en-US" sz="2100" b="1" dirty="0">
                <a:solidFill>
                  <a:schemeClr val="tx2"/>
                </a:solidFill>
              </a:rPr>
              <a:t>3.  </a:t>
            </a:r>
            <a:r>
              <a:rPr lang="en-US" sz="2100" dirty="0">
                <a:solidFill>
                  <a:schemeClr val="tx1"/>
                </a:solidFill>
              </a:rPr>
              <a:t>Ik volg een </a:t>
            </a:r>
            <a:r>
              <a:rPr lang="en-US" sz="2100" strike="sngStrike" dirty="0">
                <a:solidFill>
                  <a:schemeClr val="accent6"/>
                </a:solidFill>
              </a:rPr>
              <a:t>formatie</a:t>
            </a:r>
            <a:r>
              <a:rPr lang="en-US" sz="2100" dirty="0">
                <a:solidFill>
                  <a:schemeClr val="tx1"/>
                </a:solidFill>
              </a:rPr>
              <a:t> / </a:t>
            </a:r>
            <a:r>
              <a:rPr lang="en-US" sz="2100" b="1" dirty="0">
                <a:solidFill>
                  <a:schemeClr val="accent3"/>
                </a:solidFill>
              </a:rPr>
              <a:t>opleiding</a:t>
            </a:r>
            <a:r>
              <a:rPr lang="en-US" sz="2100" dirty="0">
                <a:solidFill>
                  <a:schemeClr val="tx1"/>
                </a:solidFill>
              </a:rPr>
              <a:t> tot boekhouder.</a:t>
            </a:r>
            <a:endParaRPr lang="en-US" sz="2100" dirty="0"/>
          </a:p>
          <a:p>
            <a:pPr indent="0" marL="0">
              <a:spcAft>
                <a:spcPts val="1200"/>
              </a:spcAft>
              <a:buNone/>
            </a:pPr>
            <a:r>
              <a:rPr lang="en-US" sz="2100" b="1" dirty="0">
                <a:solidFill>
                  <a:schemeClr val="tx2"/>
                </a:solidFill>
              </a:rPr>
              <a:t>4.  </a:t>
            </a:r>
            <a:r>
              <a:rPr lang="en-US" sz="2100" dirty="0">
                <a:solidFill>
                  <a:schemeClr val="tx1"/>
                </a:solidFill>
              </a:rPr>
              <a:t>Aan de kassa staat een lange </a:t>
            </a:r>
            <a:r>
              <a:rPr lang="en-US" sz="2100" b="1" dirty="0">
                <a:solidFill>
                  <a:schemeClr val="accent3"/>
                </a:solidFill>
              </a:rPr>
              <a:t>rij</a:t>
            </a:r>
            <a:r>
              <a:rPr lang="en-US" sz="2100" dirty="0">
                <a:solidFill>
                  <a:schemeClr val="tx1"/>
                </a:solidFill>
              </a:rPr>
              <a:t> / </a:t>
            </a:r>
            <a:r>
              <a:rPr lang="en-US" sz="2100" strike="sngStrike" dirty="0">
                <a:solidFill>
                  <a:schemeClr val="accent6"/>
                </a:solidFill>
              </a:rPr>
              <a:t>file</a:t>
            </a:r>
            <a:r>
              <a:rPr lang="en-US" sz="2100" dirty="0">
                <a:solidFill>
                  <a:schemeClr val="tx1"/>
                </a:solidFill>
              </a:rPr>
              <a:t>.</a:t>
            </a:r>
            <a:endParaRPr lang="en-US" sz="2100" dirty="0"/>
          </a:p>
          <a:p>
            <a:pPr indent="0" marL="0">
              <a:spcAft>
                <a:spcPts val="1200"/>
              </a:spcAft>
              <a:buNone/>
            </a:pPr>
            <a:r>
              <a:rPr lang="en-US" sz="2100" b="1" dirty="0">
                <a:solidFill>
                  <a:schemeClr val="tx2"/>
                </a:solidFill>
              </a:rPr>
              <a:t>5.  </a:t>
            </a:r>
            <a:r>
              <a:rPr lang="en-US" sz="2100" dirty="0">
                <a:solidFill>
                  <a:schemeClr val="tx1"/>
                </a:solidFill>
              </a:rPr>
              <a:t>Na het werk ben ik </a:t>
            </a:r>
            <a:r>
              <a:rPr lang="en-US" sz="2100" strike="sngStrike" dirty="0">
                <a:solidFill>
                  <a:schemeClr val="accent6"/>
                </a:solidFill>
              </a:rPr>
              <a:t>zacht</a:t>
            </a:r>
            <a:r>
              <a:rPr lang="en-US" sz="2100" dirty="0">
                <a:solidFill>
                  <a:schemeClr val="tx1"/>
                </a:solidFill>
              </a:rPr>
              <a:t> / </a:t>
            </a:r>
            <a:r>
              <a:rPr lang="en-US" sz="2100" b="1" dirty="0">
                <a:solidFill>
                  <a:schemeClr val="accent3"/>
                </a:solidFill>
              </a:rPr>
              <a:t>moe</a:t>
            </a:r>
            <a:r>
              <a:rPr lang="en-US" sz="2100" dirty="0">
                <a:solidFill>
                  <a:schemeClr val="tx1"/>
                </a:solidFill>
              </a:rPr>
              <a:t>: ik ga slapen.</a:t>
            </a:r>
            <a:endParaRPr lang="en-US" sz="2100" dirty="0"/>
          </a:p>
          <a:p>
            <a:pPr indent="0" marL="0">
              <a:spcAft>
                <a:spcPts val="1200"/>
              </a:spcAft>
              <a:buNone/>
            </a:pPr>
            <a:r>
              <a:rPr lang="en-US" sz="2100" b="1" dirty="0">
                <a:solidFill>
                  <a:schemeClr val="tx2"/>
                </a:solidFill>
              </a:rPr>
              <a:t>6.  </a:t>
            </a:r>
            <a:r>
              <a:rPr lang="en-US" sz="2100" dirty="0">
                <a:solidFill>
                  <a:schemeClr val="tx1"/>
                </a:solidFill>
              </a:rPr>
              <a:t>Mijn kinderen zijn heel </a:t>
            </a:r>
            <a:r>
              <a:rPr lang="en-US" sz="2100" b="1" dirty="0">
                <a:solidFill>
                  <a:schemeClr val="accent3"/>
                </a:solidFill>
              </a:rPr>
              <a:t>braaf</a:t>
            </a:r>
            <a:r>
              <a:rPr lang="en-US" sz="2100" dirty="0">
                <a:solidFill>
                  <a:schemeClr val="tx1"/>
                </a:solidFill>
              </a:rPr>
              <a:t> / </a:t>
            </a:r>
            <a:r>
              <a:rPr lang="en-US" sz="2100" strike="sngStrike" dirty="0">
                <a:solidFill>
                  <a:schemeClr val="accent6"/>
                </a:solidFill>
              </a:rPr>
              <a:t>moedig</a:t>
            </a:r>
            <a:r>
              <a:rPr lang="en-US" sz="2100" dirty="0">
                <a:solidFill>
                  <a:schemeClr val="tx1"/>
                </a:solidFill>
              </a:rPr>
              <a:t>: ze luisteren goed.</a:t>
            </a:r>
            <a:endParaRPr lang="en-US" sz="2100" dirty="0"/>
          </a:p>
          <a:p>
            <a:pPr indent="0" marL="0">
              <a:spcAft>
                <a:spcPts val="1200"/>
              </a:spcAft>
              <a:buNone/>
            </a:pPr>
            <a:r>
              <a:rPr lang="en-US" sz="2100" b="1" dirty="0">
                <a:solidFill>
                  <a:schemeClr val="tx2"/>
                </a:solidFill>
              </a:rPr>
              <a:t>7.  </a:t>
            </a:r>
            <a:r>
              <a:rPr lang="en-US" sz="2100" dirty="0">
                <a:solidFill>
                  <a:schemeClr val="tx1"/>
                </a:solidFill>
              </a:rPr>
              <a:t>Morgen heb ik een </a:t>
            </a:r>
            <a:r>
              <a:rPr lang="en-US" sz="2100" strike="sngStrike" dirty="0">
                <a:solidFill>
                  <a:schemeClr val="accent6"/>
                </a:solidFill>
              </a:rPr>
              <a:t>oraal</a:t>
            </a:r>
            <a:r>
              <a:rPr lang="en-US" sz="2100" dirty="0">
                <a:solidFill>
                  <a:schemeClr val="tx1"/>
                </a:solidFill>
              </a:rPr>
              <a:t> / </a:t>
            </a:r>
            <a:r>
              <a:rPr lang="en-US" sz="2100" b="1" dirty="0">
                <a:solidFill>
                  <a:schemeClr val="accent3"/>
                </a:solidFill>
              </a:rPr>
              <a:t>mondeling</a:t>
            </a:r>
            <a:r>
              <a:rPr lang="en-US" sz="2100" dirty="0">
                <a:solidFill>
                  <a:schemeClr val="tx1"/>
                </a:solidFill>
              </a:rPr>
              <a:t> examen.</a:t>
            </a:r>
            <a:endParaRPr lang="en-US" sz="2100" dirty="0"/>
          </a:p>
          <a:p>
            <a:pPr indent="0" marL="0">
              <a:spcAft>
                <a:spcPts val="1200"/>
              </a:spcAft>
              <a:buNone/>
            </a:pPr>
            <a:r>
              <a:rPr lang="en-US" sz="2100" b="1" dirty="0">
                <a:solidFill>
                  <a:schemeClr val="tx2"/>
                </a:solidFill>
              </a:rPr>
              <a:t>8.  </a:t>
            </a:r>
            <a:r>
              <a:rPr lang="en-US" sz="2100" dirty="0">
                <a:solidFill>
                  <a:schemeClr val="tx1"/>
                </a:solidFill>
              </a:rPr>
              <a:t>’s Avonds kijk ik naar </a:t>
            </a:r>
            <a:r>
              <a:rPr lang="en-US" sz="2100" b="1" dirty="0">
                <a:solidFill>
                  <a:schemeClr val="accent3"/>
                </a:solidFill>
              </a:rPr>
              <a:t>het journaal</a:t>
            </a:r>
            <a:r>
              <a:rPr lang="en-US" sz="2100" dirty="0">
                <a:solidFill>
                  <a:schemeClr val="tx1"/>
                </a:solidFill>
              </a:rPr>
              <a:t> / </a:t>
            </a:r>
            <a:r>
              <a:rPr lang="en-US" sz="2100" strike="sngStrike" dirty="0">
                <a:solidFill>
                  <a:schemeClr val="accent6"/>
                </a:solidFill>
              </a:rPr>
              <a:t>de krant</a:t>
            </a:r>
            <a:r>
              <a:rPr lang="en-US" sz="2100" dirty="0">
                <a:solidFill>
                  <a:schemeClr val="tx1"/>
                </a:solidFill>
              </a:rPr>
              <a:t> op tv.</a:t>
            </a:r>
            <a:endParaRPr lang="en-US" sz="21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het bureau</a:t>
            </a:r>
            <a:r>
              <a:rPr lang="en-US" sz="1800" dirty="0">
                <a:solidFill>
                  <a:schemeClr val="tx1"/>
                </a:solidFill>
              </a:rPr>
              <a:t> = le meuble · </a:t>
            </a:r>
            <a:r>
              <a:rPr lang="en-US" sz="1800" i="1" dirty="0">
                <a:solidFill>
                  <a:schemeClr val="tx1"/>
                </a:solidFill>
              </a:rPr>
              <a:t>het kantoor</a:t>
            </a:r>
            <a:r>
              <a:rPr lang="en-US" sz="1800" dirty="0">
                <a:solidFill>
                  <a:schemeClr val="tx1"/>
                </a:solidFill>
              </a:rPr>
              <a:t> = le lieu.</a:t>
            </a:r>
            <a:endParaRPr lang="en-US" sz="1800" dirty="0"/>
          </a:p>
          <a:p>
            <a:pPr marL="177800" indent="-177800">
              <a:spcAft>
                <a:spcPts val="600"/>
              </a:spcAft>
              <a:buSzPct val="100000"/>
              <a:buChar char="•"/>
            </a:pPr>
            <a:r>
              <a:rPr lang="en-US" sz="1800" i="1" dirty="0">
                <a:solidFill>
                  <a:schemeClr val="tx1"/>
                </a:solidFill>
              </a:rPr>
              <a:t>de file</a:t>
            </a:r>
            <a:r>
              <a:rPr lang="en-US" sz="1800" dirty="0">
                <a:solidFill>
                  <a:schemeClr val="tx1"/>
                </a:solidFill>
              </a:rPr>
              <a:t> = l’embouteillage · </a:t>
            </a:r>
            <a:r>
              <a:rPr lang="en-US" sz="1800" i="1" dirty="0">
                <a:solidFill>
                  <a:schemeClr val="tx1"/>
                </a:solidFill>
              </a:rPr>
              <a:t>de rij</a:t>
            </a:r>
            <a:r>
              <a:rPr lang="en-US" sz="1800" dirty="0">
                <a:solidFill>
                  <a:schemeClr val="tx1"/>
                </a:solidFill>
              </a:rPr>
              <a:t> = la file d’attente.</a:t>
            </a:r>
            <a:endParaRPr lang="en-US" sz="1800" dirty="0"/>
          </a:p>
          <a:p>
            <a:pPr marL="177800" indent="-177800">
              <a:spcAft>
                <a:spcPts val="600"/>
              </a:spcAft>
              <a:buSzPct val="100000"/>
              <a:buChar char="•"/>
            </a:pPr>
            <a:r>
              <a:rPr lang="en-US" sz="1800" i="1" dirty="0">
                <a:solidFill>
                  <a:schemeClr val="tx1"/>
                </a:solidFill>
              </a:rPr>
              <a:t>braaf</a:t>
            </a:r>
            <a:r>
              <a:rPr lang="en-US" sz="1800" dirty="0">
                <a:solidFill>
                  <a:schemeClr val="tx1"/>
                </a:solidFill>
              </a:rPr>
              <a:t> = sage · </a:t>
            </a:r>
            <a:r>
              <a:rPr lang="en-US" sz="1800" i="1" dirty="0">
                <a:solidFill>
                  <a:schemeClr val="tx1"/>
                </a:solidFill>
              </a:rPr>
              <a:t>moedig</a:t>
            </a:r>
            <a:r>
              <a:rPr lang="en-US" sz="1800" dirty="0">
                <a:solidFill>
                  <a:schemeClr val="tx1"/>
                </a:solidFill>
              </a:rPr>
              <a:t> = courageux.</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④ : perfectum of OVT?</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69–70</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avec le </a:t>
            </a:r>
            <a:r>
              <a:rPr lang="en-US" sz="1600" b="1" i="1" dirty="0">
                <a:solidFill>
                  <a:schemeClr val="accent5"/>
                </a:solidFill>
              </a:rPr>
              <a:t>perfectum</a:t>
            </a:r>
            <a:r>
              <a:rPr lang="en-US" sz="1600" i="1" dirty="0">
                <a:solidFill>
                  <a:schemeClr val="accent5"/>
                </a:solidFill>
              </a:rPr>
              <a:t> (P) ou l’</a:t>
            </a:r>
            <a:r>
              <a:rPr lang="en-US" sz="1600" b="1" i="1" dirty="0">
                <a:solidFill>
                  <a:schemeClr val="accent5"/>
                </a:solidFill>
              </a:rPr>
              <a:t>OVT</a:t>
            </a:r>
            <a:r>
              <a:rPr lang="en-US" sz="1600" i="1" dirty="0">
                <a:solidFill>
                  <a:schemeClr val="accent5"/>
                </a:solidFill>
              </a:rPr>
              <a:t>, comme indiqué.</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Gisteren </a:t>
            </a:r>
            <a:r>
              <a:rPr lang="en-US" sz="2200" dirty="0">
                <a:solidFill>
                  <a:schemeClr val="accent5"/>
                </a:solidFill>
              </a:rPr>
              <a:t>……………</a:t>
            </a:r>
            <a:r>
              <a:rPr lang="en-US" sz="2200" dirty="0">
                <a:solidFill>
                  <a:schemeClr val="tx1"/>
                </a:solidFill>
              </a:rPr>
              <a:t> ik hard </a:t>
            </a:r>
            <a:r>
              <a:rPr lang="en-US" sz="2200" dirty="0">
                <a:solidFill>
                  <a:schemeClr val="accent5"/>
                </a:solidFill>
              </a:rPr>
              <a:t>……………</a:t>
            </a:r>
            <a:r>
              <a:rPr lang="en-US" sz="2200" dirty="0">
                <a:solidFill>
                  <a:schemeClr val="tx1"/>
                </a:solidFill>
              </a:rPr>
              <a:t>. </a:t>
            </a:r>
            <a:r>
              <a:rPr lang="en-US" sz="2200" i="1" dirty="0">
                <a:solidFill>
                  <a:schemeClr val="tx1"/>
                </a:solidFill>
              </a:rPr>
              <a:t>(werken · P)</a:t>
            </a:r>
            <a:endParaRPr lang="en-US" sz="2200" dirty="0"/>
          </a:p>
          <a:p>
            <a:pPr indent="0" marL="0">
              <a:spcAft>
                <a:spcPts val="1000"/>
              </a:spcAft>
              <a:buNone/>
            </a:pPr>
            <a:r>
              <a:rPr lang="en-US" sz="2200" b="1" dirty="0">
                <a:solidFill>
                  <a:schemeClr val="tx2"/>
                </a:solidFill>
              </a:rPr>
              <a:t>2.  </a:t>
            </a:r>
            <a:r>
              <a:rPr lang="en-US" sz="2200" dirty="0">
                <a:solidFill>
                  <a:schemeClr val="tx1"/>
                </a:solidFill>
              </a:rPr>
              <a:t>Vorige week </a:t>
            </a:r>
            <a:r>
              <a:rPr lang="en-US" sz="2200" dirty="0">
                <a:solidFill>
                  <a:schemeClr val="accent5"/>
                </a:solidFill>
              </a:rPr>
              <a:t>……………</a:t>
            </a:r>
            <a:r>
              <a:rPr lang="en-US" sz="2200" dirty="0">
                <a:solidFill>
                  <a:schemeClr val="tx1"/>
                </a:solidFill>
              </a:rPr>
              <a:t> ik ziek. </a:t>
            </a:r>
            <a:r>
              <a:rPr lang="en-US" sz="2200" i="1" dirty="0">
                <a:solidFill>
                  <a:schemeClr val="tx1"/>
                </a:solidFill>
              </a:rPr>
              <a:t>(zijn · OVT)</a:t>
            </a:r>
            <a:endParaRPr lang="en-US" sz="2200" dirty="0"/>
          </a:p>
          <a:p>
            <a:pPr indent="0" marL="0">
              <a:spcAft>
                <a:spcPts val="1000"/>
              </a:spcAft>
              <a:buNone/>
            </a:pPr>
            <a:r>
              <a:rPr lang="en-US" sz="2200" b="1" dirty="0">
                <a:solidFill>
                  <a:schemeClr val="tx2"/>
                </a:solidFill>
              </a:rPr>
              <a:t>3.  </a:t>
            </a:r>
            <a:r>
              <a:rPr lang="en-US" sz="2200" dirty="0">
                <a:solidFill>
                  <a:schemeClr val="tx1"/>
                </a:solidFill>
              </a:rPr>
              <a:t>Wij </a:t>
            </a:r>
            <a:r>
              <a:rPr lang="en-US" sz="2200" dirty="0">
                <a:solidFill>
                  <a:schemeClr val="accent5"/>
                </a:solidFill>
              </a:rPr>
              <a:t>……………</a:t>
            </a:r>
            <a:r>
              <a:rPr lang="en-US" sz="2200" dirty="0">
                <a:solidFill>
                  <a:schemeClr val="tx1"/>
                </a:solidFill>
              </a:rPr>
              <a:t> met de trein naar Gent </a:t>
            </a:r>
            <a:r>
              <a:rPr lang="en-US" sz="2200" dirty="0">
                <a:solidFill>
                  <a:schemeClr val="accent5"/>
                </a:solidFill>
              </a:rPr>
              <a:t>……………</a:t>
            </a:r>
            <a:r>
              <a:rPr lang="en-US" sz="2200" dirty="0">
                <a:solidFill>
                  <a:schemeClr val="tx1"/>
                </a:solidFill>
              </a:rPr>
              <a:t>. </a:t>
            </a:r>
            <a:r>
              <a:rPr lang="en-US" sz="2200" i="1" dirty="0">
                <a:solidFill>
                  <a:schemeClr val="tx1"/>
                </a:solidFill>
              </a:rPr>
              <a:t>(gaan · P)</a:t>
            </a:r>
            <a:endParaRPr lang="en-US" sz="2200" dirty="0"/>
          </a:p>
          <a:p>
            <a:pPr indent="0" marL="0">
              <a:spcAft>
                <a:spcPts val="1000"/>
              </a:spcAft>
              <a:buNone/>
            </a:pPr>
            <a:r>
              <a:rPr lang="en-US" sz="2200" b="1" dirty="0">
                <a:solidFill>
                  <a:schemeClr val="tx2"/>
                </a:solidFill>
              </a:rPr>
              <a:t>4.  </a:t>
            </a:r>
            <a:r>
              <a:rPr lang="en-US" sz="2200" dirty="0">
                <a:solidFill>
                  <a:schemeClr val="tx1"/>
                </a:solidFill>
              </a:rPr>
              <a:t>Vroeger </a:t>
            </a:r>
            <a:r>
              <a:rPr lang="en-US" sz="2200" dirty="0">
                <a:solidFill>
                  <a:schemeClr val="accent5"/>
                </a:solidFill>
              </a:rPr>
              <a:t>……………</a:t>
            </a:r>
            <a:r>
              <a:rPr lang="en-US" sz="2200" dirty="0">
                <a:solidFill>
                  <a:schemeClr val="tx1"/>
                </a:solidFill>
              </a:rPr>
              <a:t> ik in Bergen. </a:t>
            </a:r>
            <a:r>
              <a:rPr lang="en-US" sz="2200" i="1" dirty="0">
                <a:solidFill>
                  <a:schemeClr val="tx1"/>
                </a:solidFill>
              </a:rPr>
              <a:t>(wonen · OVT)</a:t>
            </a:r>
            <a:endParaRPr lang="en-US" sz="2200" dirty="0"/>
          </a:p>
          <a:p>
            <a:pPr indent="0" marL="0">
              <a:spcAft>
                <a:spcPts val="1000"/>
              </a:spcAft>
              <a:buNone/>
            </a:pPr>
            <a:r>
              <a:rPr lang="en-US" sz="2200" b="1" dirty="0">
                <a:solidFill>
                  <a:schemeClr val="tx2"/>
                </a:solidFill>
              </a:rPr>
              <a:t>5.  </a:t>
            </a:r>
            <a:r>
              <a:rPr lang="en-US" sz="2200" dirty="0">
                <a:solidFill>
                  <a:schemeClr val="tx1"/>
                </a:solidFill>
              </a:rPr>
              <a:t>Ik </a:t>
            </a:r>
            <a:r>
              <a:rPr lang="en-US" sz="2200" dirty="0">
                <a:solidFill>
                  <a:schemeClr val="accent5"/>
                </a:solidFill>
              </a:rPr>
              <a:t>……………</a:t>
            </a:r>
            <a:r>
              <a:rPr lang="en-US" sz="2200" dirty="0">
                <a:solidFill>
                  <a:schemeClr val="tx1"/>
                </a:solidFill>
              </a:rPr>
              <a:t> mijn examen </a:t>
            </a:r>
            <a:r>
              <a:rPr lang="en-US" sz="2200" dirty="0">
                <a:solidFill>
                  <a:schemeClr val="accent5"/>
                </a:solidFill>
              </a:rPr>
              <a:t>……………</a:t>
            </a:r>
            <a:r>
              <a:rPr lang="en-US" sz="2200" dirty="0">
                <a:solidFill>
                  <a:schemeClr val="tx1"/>
                </a:solidFill>
              </a:rPr>
              <a:t>! </a:t>
            </a:r>
            <a:r>
              <a:rPr lang="en-US" sz="2200" i="1" dirty="0">
                <a:solidFill>
                  <a:schemeClr val="tx1"/>
                </a:solidFill>
              </a:rPr>
              <a:t>(halen · P)</a:t>
            </a:r>
            <a:endParaRPr lang="en-US" sz="2200" dirty="0"/>
          </a:p>
          <a:p>
            <a:pPr indent="0" marL="0">
              <a:spcAft>
                <a:spcPts val="1000"/>
              </a:spcAft>
              <a:buNone/>
            </a:pPr>
            <a:r>
              <a:rPr lang="en-US" sz="2200" b="1" dirty="0">
                <a:solidFill>
                  <a:schemeClr val="tx2"/>
                </a:solidFill>
              </a:rPr>
              <a:t>6.  </a:t>
            </a:r>
            <a:r>
              <a:rPr lang="en-US" sz="2200" dirty="0">
                <a:solidFill>
                  <a:schemeClr val="tx1"/>
                </a:solidFill>
              </a:rPr>
              <a:t>In het begin </a:t>
            </a:r>
            <a:r>
              <a:rPr lang="en-US" sz="2200" dirty="0">
                <a:solidFill>
                  <a:schemeClr val="accent5"/>
                </a:solidFill>
              </a:rPr>
              <a:t>……………</a:t>
            </a:r>
            <a:r>
              <a:rPr lang="en-US" sz="2200" dirty="0">
                <a:solidFill>
                  <a:schemeClr val="tx1"/>
                </a:solidFill>
              </a:rPr>
              <a:t> ik weinig tijd. </a:t>
            </a:r>
            <a:r>
              <a:rPr lang="en-US" sz="2200" i="1" dirty="0">
                <a:solidFill>
                  <a:schemeClr val="tx1"/>
                </a:solidFill>
              </a:rPr>
              <a:t>(hebben · OVT)</a:t>
            </a:r>
            <a:endParaRPr lang="en-US" sz="2200" dirty="0"/>
          </a:p>
          <a:p>
            <a:pPr indent="0" marL="0">
              <a:spcAft>
                <a:spcPts val="1000"/>
              </a:spcAft>
              <a:buNone/>
            </a:pPr>
            <a:r>
              <a:rPr lang="en-US" sz="2200" b="1" dirty="0">
                <a:solidFill>
                  <a:schemeClr val="tx2"/>
                </a:solidFill>
              </a:rPr>
              <a:t>7.  </a:t>
            </a:r>
            <a:r>
              <a:rPr lang="en-US" sz="2200" dirty="0">
                <a:solidFill>
                  <a:schemeClr val="tx1"/>
                </a:solidFill>
              </a:rPr>
              <a:t>Zij </a:t>
            </a:r>
            <a:r>
              <a:rPr lang="en-US" sz="2200" dirty="0">
                <a:solidFill>
                  <a:schemeClr val="accent5"/>
                </a:solidFill>
              </a:rPr>
              <a:t>……………</a:t>
            </a:r>
            <a:r>
              <a:rPr lang="en-US" sz="2200" dirty="0">
                <a:solidFill>
                  <a:schemeClr val="tx1"/>
                </a:solidFill>
              </a:rPr>
              <a:t> thuis </a:t>
            </a:r>
            <a:r>
              <a:rPr lang="en-US" sz="2200" dirty="0">
                <a:solidFill>
                  <a:schemeClr val="accent5"/>
                </a:solidFill>
              </a:rPr>
              <a:t>……………</a:t>
            </a:r>
            <a:r>
              <a:rPr lang="en-US" sz="2200" dirty="0">
                <a:solidFill>
                  <a:schemeClr val="tx1"/>
                </a:solidFill>
              </a:rPr>
              <a:t>. </a:t>
            </a:r>
            <a:r>
              <a:rPr lang="en-US" sz="2200" i="1" dirty="0">
                <a:solidFill>
                  <a:schemeClr val="tx1"/>
                </a:solidFill>
              </a:rPr>
              <a:t>(blijven · P)</a:t>
            </a:r>
            <a:endParaRPr lang="en-US" sz="2200" dirty="0"/>
          </a:p>
          <a:p>
            <a:pPr indent="0" marL="0">
              <a:spcAft>
                <a:spcPts val="1000"/>
              </a:spcAft>
              <a:buNone/>
            </a:pPr>
            <a:r>
              <a:rPr lang="en-US" sz="2200" b="1" dirty="0">
                <a:solidFill>
                  <a:schemeClr val="tx2"/>
                </a:solidFill>
              </a:rPr>
              <a:t>8.  </a:t>
            </a:r>
            <a:r>
              <a:rPr lang="en-US" sz="2200" dirty="0">
                <a:solidFill>
                  <a:schemeClr val="tx1"/>
                </a:solidFill>
              </a:rPr>
              <a:t>Pieter </a:t>
            </a:r>
            <a:r>
              <a:rPr lang="en-US" sz="2200" dirty="0">
                <a:solidFill>
                  <a:schemeClr val="accent5"/>
                </a:solidFill>
              </a:rPr>
              <a:t>……………</a:t>
            </a:r>
            <a:r>
              <a:rPr lang="en-US" sz="2200" dirty="0">
                <a:solidFill>
                  <a:schemeClr val="tx1"/>
                </a:solidFill>
              </a:rPr>
              <a:t> koffie en hij </a:t>
            </a:r>
            <a:r>
              <a:rPr lang="en-US" sz="2200" dirty="0">
                <a:solidFill>
                  <a:schemeClr val="accent5"/>
                </a:solidFill>
              </a:rPr>
              <a:t>……………</a:t>
            </a:r>
            <a:r>
              <a:rPr lang="en-US" sz="2200" dirty="0">
                <a:solidFill>
                  <a:schemeClr val="tx1"/>
                </a:solidFill>
              </a:rPr>
              <a:t> de krant. </a:t>
            </a:r>
            <a:r>
              <a:rPr lang="en-US" sz="2200" i="1" dirty="0">
                <a:solidFill>
                  <a:schemeClr val="tx1"/>
                </a:solidFill>
              </a:rPr>
              <a:t>(drinken, lezen · OVT)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④ : perfectum of OVT?</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69–70</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avec le </a:t>
            </a:r>
            <a:r>
              <a:rPr lang="en-US" sz="1600" b="1" i="1" dirty="0">
                <a:solidFill>
                  <a:schemeClr val="accent5"/>
                </a:solidFill>
              </a:rPr>
              <a:t>perfectum</a:t>
            </a:r>
            <a:r>
              <a:rPr lang="en-US" sz="1600" i="1" dirty="0">
                <a:solidFill>
                  <a:schemeClr val="accent5"/>
                </a:solidFill>
              </a:rPr>
              <a:t> (P) ou l’</a:t>
            </a:r>
            <a:r>
              <a:rPr lang="en-US" sz="1600" b="1" i="1" dirty="0">
                <a:solidFill>
                  <a:schemeClr val="accent5"/>
                </a:solidFill>
              </a:rPr>
              <a:t>OVT</a:t>
            </a:r>
            <a:r>
              <a:rPr lang="en-US" sz="1600" i="1" dirty="0">
                <a:solidFill>
                  <a:schemeClr val="accent5"/>
                </a:solidFill>
              </a:rPr>
              <a:t>, comme indiqué.</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Gisteren </a:t>
            </a:r>
            <a:r>
              <a:rPr lang="en-US" sz="2200" b="1" dirty="0">
                <a:solidFill>
                  <a:schemeClr val="accent3"/>
                </a:solidFill>
              </a:rPr>
              <a:t>heb</a:t>
            </a:r>
            <a:r>
              <a:rPr lang="en-US" sz="2200" dirty="0">
                <a:solidFill>
                  <a:schemeClr val="tx1"/>
                </a:solidFill>
              </a:rPr>
              <a:t> ik hard </a:t>
            </a:r>
            <a:r>
              <a:rPr lang="en-US" sz="2200" b="1" dirty="0">
                <a:solidFill>
                  <a:schemeClr val="accent3"/>
                </a:solidFill>
              </a:rPr>
              <a:t>gewerkt</a:t>
            </a:r>
            <a:r>
              <a:rPr lang="en-US" sz="2200" dirty="0">
                <a:solidFill>
                  <a:schemeClr val="tx1"/>
                </a:solidFill>
              </a:rPr>
              <a:t>. </a:t>
            </a:r>
            <a:r>
              <a:rPr lang="en-US" sz="2200" i="1" dirty="0">
                <a:solidFill>
                  <a:schemeClr val="tx1"/>
                </a:solidFill>
              </a:rPr>
              <a:t>(werken · P)</a:t>
            </a:r>
            <a:endParaRPr lang="en-US" sz="2200" dirty="0"/>
          </a:p>
          <a:p>
            <a:pPr indent="0" marL="0">
              <a:spcAft>
                <a:spcPts val="1000"/>
              </a:spcAft>
              <a:buNone/>
            </a:pPr>
            <a:r>
              <a:rPr lang="en-US" sz="2200" b="1" dirty="0">
                <a:solidFill>
                  <a:schemeClr val="tx2"/>
                </a:solidFill>
              </a:rPr>
              <a:t>2.  </a:t>
            </a:r>
            <a:r>
              <a:rPr lang="en-US" sz="2200" dirty="0">
                <a:solidFill>
                  <a:schemeClr val="tx1"/>
                </a:solidFill>
              </a:rPr>
              <a:t>Vorige week </a:t>
            </a:r>
            <a:r>
              <a:rPr lang="en-US" sz="2200" b="1" dirty="0">
                <a:solidFill>
                  <a:schemeClr val="accent3"/>
                </a:solidFill>
              </a:rPr>
              <a:t>was</a:t>
            </a:r>
            <a:r>
              <a:rPr lang="en-US" sz="2200" dirty="0">
                <a:solidFill>
                  <a:schemeClr val="tx1"/>
                </a:solidFill>
              </a:rPr>
              <a:t> ik ziek. </a:t>
            </a:r>
            <a:r>
              <a:rPr lang="en-US" sz="2200" i="1" dirty="0">
                <a:solidFill>
                  <a:schemeClr val="tx1"/>
                </a:solidFill>
              </a:rPr>
              <a:t>(zijn · OVT)</a:t>
            </a:r>
            <a:endParaRPr lang="en-US" sz="2200" dirty="0"/>
          </a:p>
          <a:p>
            <a:pPr indent="0" marL="0">
              <a:spcAft>
                <a:spcPts val="1000"/>
              </a:spcAft>
              <a:buNone/>
            </a:pPr>
            <a:r>
              <a:rPr lang="en-US" sz="2200" b="1" dirty="0">
                <a:solidFill>
                  <a:schemeClr val="tx2"/>
                </a:solidFill>
              </a:rPr>
              <a:t>3.  </a:t>
            </a:r>
            <a:r>
              <a:rPr lang="en-US" sz="2200" dirty="0">
                <a:solidFill>
                  <a:schemeClr val="tx1"/>
                </a:solidFill>
              </a:rPr>
              <a:t>Wij </a:t>
            </a:r>
            <a:r>
              <a:rPr lang="en-US" sz="2200" b="1" dirty="0">
                <a:solidFill>
                  <a:schemeClr val="accent3"/>
                </a:solidFill>
              </a:rPr>
              <a:t>zijn</a:t>
            </a:r>
            <a:r>
              <a:rPr lang="en-US" sz="2200" dirty="0">
                <a:solidFill>
                  <a:schemeClr val="tx1"/>
                </a:solidFill>
              </a:rPr>
              <a:t> met de trein naar Gent </a:t>
            </a:r>
            <a:r>
              <a:rPr lang="en-US" sz="2200" b="1" dirty="0">
                <a:solidFill>
                  <a:schemeClr val="accent3"/>
                </a:solidFill>
              </a:rPr>
              <a:t>gegaan</a:t>
            </a:r>
            <a:r>
              <a:rPr lang="en-US" sz="2200" dirty="0">
                <a:solidFill>
                  <a:schemeClr val="tx1"/>
                </a:solidFill>
              </a:rPr>
              <a:t>. </a:t>
            </a:r>
            <a:r>
              <a:rPr lang="en-US" sz="2200" i="1" dirty="0">
                <a:solidFill>
                  <a:schemeClr val="tx1"/>
                </a:solidFill>
              </a:rPr>
              <a:t>(gaan · P)</a:t>
            </a:r>
            <a:endParaRPr lang="en-US" sz="2200" dirty="0"/>
          </a:p>
          <a:p>
            <a:pPr indent="0" marL="0">
              <a:spcAft>
                <a:spcPts val="1000"/>
              </a:spcAft>
              <a:buNone/>
            </a:pPr>
            <a:r>
              <a:rPr lang="en-US" sz="2200" b="1" dirty="0">
                <a:solidFill>
                  <a:schemeClr val="tx2"/>
                </a:solidFill>
              </a:rPr>
              <a:t>4.  </a:t>
            </a:r>
            <a:r>
              <a:rPr lang="en-US" sz="2200" dirty="0">
                <a:solidFill>
                  <a:schemeClr val="tx1"/>
                </a:solidFill>
              </a:rPr>
              <a:t>Vroeger </a:t>
            </a:r>
            <a:r>
              <a:rPr lang="en-US" sz="2200" b="1" dirty="0">
                <a:solidFill>
                  <a:schemeClr val="accent3"/>
                </a:solidFill>
              </a:rPr>
              <a:t>woonde</a:t>
            </a:r>
            <a:r>
              <a:rPr lang="en-US" sz="2200" dirty="0">
                <a:solidFill>
                  <a:schemeClr val="tx1"/>
                </a:solidFill>
              </a:rPr>
              <a:t> ik in Bergen. </a:t>
            </a:r>
            <a:r>
              <a:rPr lang="en-US" sz="2200" i="1" dirty="0">
                <a:solidFill>
                  <a:schemeClr val="tx1"/>
                </a:solidFill>
              </a:rPr>
              <a:t>(wonen · OVT)</a:t>
            </a:r>
            <a:endParaRPr lang="en-US" sz="2200" dirty="0"/>
          </a:p>
          <a:p>
            <a:pPr indent="0" marL="0">
              <a:spcAft>
                <a:spcPts val="1000"/>
              </a:spcAft>
              <a:buNone/>
            </a:pPr>
            <a:r>
              <a:rPr lang="en-US" sz="2200" b="1" dirty="0">
                <a:solidFill>
                  <a:schemeClr val="tx2"/>
                </a:solidFill>
              </a:rPr>
              <a:t>5.  </a:t>
            </a:r>
            <a:r>
              <a:rPr lang="en-US" sz="2200" dirty="0">
                <a:solidFill>
                  <a:schemeClr val="tx1"/>
                </a:solidFill>
              </a:rPr>
              <a:t>Ik </a:t>
            </a:r>
            <a:r>
              <a:rPr lang="en-US" sz="2200" b="1" dirty="0">
                <a:solidFill>
                  <a:schemeClr val="accent3"/>
                </a:solidFill>
              </a:rPr>
              <a:t>heb</a:t>
            </a:r>
            <a:r>
              <a:rPr lang="en-US" sz="2200" dirty="0">
                <a:solidFill>
                  <a:schemeClr val="tx1"/>
                </a:solidFill>
              </a:rPr>
              <a:t> mijn examen </a:t>
            </a:r>
            <a:r>
              <a:rPr lang="en-US" sz="2200" b="1" dirty="0">
                <a:solidFill>
                  <a:schemeClr val="accent3"/>
                </a:solidFill>
              </a:rPr>
              <a:t>gehaald</a:t>
            </a:r>
            <a:r>
              <a:rPr lang="en-US" sz="2200" dirty="0">
                <a:solidFill>
                  <a:schemeClr val="tx1"/>
                </a:solidFill>
              </a:rPr>
              <a:t>! </a:t>
            </a:r>
            <a:r>
              <a:rPr lang="en-US" sz="2200" i="1" dirty="0">
                <a:solidFill>
                  <a:schemeClr val="tx1"/>
                </a:solidFill>
              </a:rPr>
              <a:t>(halen · P)</a:t>
            </a:r>
            <a:endParaRPr lang="en-US" sz="2200" dirty="0"/>
          </a:p>
          <a:p>
            <a:pPr indent="0" marL="0">
              <a:spcAft>
                <a:spcPts val="1000"/>
              </a:spcAft>
              <a:buNone/>
            </a:pPr>
            <a:r>
              <a:rPr lang="en-US" sz="2200" b="1" dirty="0">
                <a:solidFill>
                  <a:schemeClr val="tx2"/>
                </a:solidFill>
              </a:rPr>
              <a:t>6.  </a:t>
            </a:r>
            <a:r>
              <a:rPr lang="en-US" sz="2200" dirty="0">
                <a:solidFill>
                  <a:schemeClr val="tx1"/>
                </a:solidFill>
              </a:rPr>
              <a:t>In het begin </a:t>
            </a:r>
            <a:r>
              <a:rPr lang="en-US" sz="2200" b="1" dirty="0">
                <a:solidFill>
                  <a:schemeClr val="accent3"/>
                </a:solidFill>
              </a:rPr>
              <a:t>had</a:t>
            </a:r>
            <a:r>
              <a:rPr lang="en-US" sz="2200" dirty="0">
                <a:solidFill>
                  <a:schemeClr val="tx1"/>
                </a:solidFill>
              </a:rPr>
              <a:t> ik weinig tijd. </a:t>
            </a:r>
            <a:r>
              <a:rPr lang="en-US" sz="2200" i="1" dirty="0">
                <a:solidFill>
                  <a:schemeClr val="tx1"/>
                </a:solidFill>
              </a:rPr>
              <a:t>(hebben · OVT)</a:t>
            </a:r>
            <a:endParaRPr lang="en-US" sz="2200" dirty="0"/>
          </a:p>
          <a:p>
            <a:pPr indent="0" marL="0">
              <a:spcAft>
                <a:spcPts val="1000"/>
              </a:spcAft>
              <a:buNone/>
            </a:pPr>
            <a:r>
              <a:rPr lang="en-US" sz="2200" b="1" dirty="0">
                <a:solidFill>
                  <a:schemeClr val="tx2"/>
                </a:solidFill>
              </a:rPr>
              <a:t>7.  </a:t>
            </a:r>
            <a:r>
              <a:rPr lang="en-US" sz="2200" dirty="0">
                <a:solidFill>
                  <a:schemeClr val="tx1"/>
                </a:solidFill>
              </a:rPr>
              <a:t>Zij </a:t>
            </a:r>
            <a:r>
              <a:rPr lang="en-US" sz="2200" b="1" dirty="0">
                <a:solidFill>
                  <a:schemeClr val="accent3"/>
                </a:solidFill>
              </a:rPr>
              <a:t>is</a:t>
            </a:r>
            <a:r>
              <a:rPr lang="en-US" sz="2200" dirty="0">
                <a:solidFill>
                  <a:schemeClr val="tx1"/>
                </a:solidFill>
              </a:rPr>
              <a:t> thuis </a:t>
            </a:r>
            <a:r>
              <a:rPr lang="en-US" sz="2200" b="1" dirty="0">
                <a:solidFill>
                  <a:schemeClr val="accent3"/>
                </a:solidFill>
              </a:rPr>
              <a:t>gebleven</a:t>
            </a:r>
            <a:r>
              <a:rPr lang="en-US" sz="2200" dirty="0">
                <a:solidFill>
                  <a:schemeClr val="tx1"/>
                </a:solidFill>
              </a:rPr>
              <a:t>. </a:t>
            </a:r>
            <a:r>
              <a:rPr lang="en-US" sz="2200" i="1" dirty="0">
                <a:solidFill>
                  <a:schemeClr val="tx1"/>
                </a:solidFill>
              </a:rPr>
              <a:t>(blijven · P)</a:t>
            </a:r>
            <a:endParaRPr lang="en-US" sz="2200" dirty="0"/>
          </a:p>
          <a:p>
            <a:pPr indent="0" marL="0">
              <a:spcAft>
                <a:spcPts val="1000"/>
              </a:spcAft>
              <a:buNone/>
            </a:pPr>
            <a:r>
              <a:rPr lang="en-US" sz="2200" b="1" dirty="0">
                <a:solidFill>
                  <a:schemeClr val="tx2"/>
                </a:solidFill>
              </a:rPr>
              <a:t>8.  </a:t>
            </a:r>
            <a:r>
              <a:rPr lang="en-US" sz="2200" dirty="0">
                <a:solidFill>
                  <a:schemeClr val="tx1"/>
                </a:solidFill>
              </a:rPr>
              <a:t>Pieter </a:t>
            </a:r>
            <a:r>
              <a:rPr lang="en-US" sz="2200" b="1" dirty="0">
                <a:solidFill>
                  <a:schemeClr val="accent3"/>
                </a:solidFill>
              </a:rPr>
              <a:t>dronk</a:t>
            </a:r>
            <a:r>
              <a:rPr lang="en-US" sz="2200" dirty="0">
                <a:solidFill>
                  <a:schemeClr val="tx1"/>
                </a:solidFill>
              </a:rPr>
              <a:t> koffie en hij </a:t>
            </a:r>
            <a:r>
              <a:rPr lang="en-US" sz="2200" b="1" dirty="0">
                <a:solidFill>
                  <a:schemeClr val="accent3"/>
                </a:solidFill>
              </a:rPr>
              <a:t>las</a:t>
            </a:r>
            <a:r>
              <a:rPr lang="en-US" sz="2200" dirty="0">
                <a:solidFill>
                  <a:schemeClr val="tx1"/>
                </a:solidFill>
              </a:rPr>
              <a:t> de krant. </a:t>
            </a:r>
            <a:r>
              <a:rPr lang="en-US" sz="2200" i="1" dirty="0">
                <a:solidFill>
                  <a:schemeClr val="tx1"/>
                </a:solidFill>
              </a:rPr>
              <a:t>(drinken, lezen · OVT)</a:t>
            </a:r>
            <a:endParaRPr lang="en-US" sz="22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Déplacement (</a:t>
            </a:r>
            <a:r>
              <a:rPr lang="en-US" sz="1800" i="1" dirty="0">
                <a:solidFill>
                  <a:schemeClr val="tx1"/>
                </a:solidFill>
              </a:rPr>
              <a:t>gaan, komen</a:t>
            </a:r>
            <a:r>
              <a:rPr lang="en-US" sz="1800" dirty="0">
                <a:solidFill>
                  <a:schemeClr val="tx1"/>
                </a:solidFill>
              </a:rPr>
              <a:t>) et </a:t>
            </a:r>
            <a:r>
              <a:rPr lang="en-US" sz="1800" i="1" dirty="0">
                <a:solidFill>
                  <a:schemeClr val="tx1"/>
                </a:solidFill>
              </a:rPr>
              <a:t>blijven, zijn, worden</a:t>
            </a:r>
            <a:r>
              <a:rPr lang="en-US" sz="1800" dirty="0">
                <a:solidFill>
                  <a:schemeClr val="tx1"/>
                </a:solidFill>
              </a:rPr>
              <a:t> → </a:t>
            </a:r>
            <a:r>
              <a:rPr lang="en-US" sz="1800" b="1" dirty="0">
                <a:solidFill>
                  <a:schemeClr val="tx1"/>
                </a:solidFill>
              </a:rPr>
              <a:t>zijn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Le participe va </a:t>
            </a:r>
            <a:r>
              <a:rPr lang="en-US" sz="1800" b="1" dirty="0">
                <a:solidFill>
                  <a:schemeClr val="tx1"/>
                </a:solidFill>
              </a:rPr>
              <a:t>à la fin</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was, had, ging, dronk, las</a:t>
            </a:r>
            <a:r>
              <a:rPr lang="en-US" sz="1800" dirty="0">
                <a:solidFill>
                  <a:schemeClr val="tx1"/>
                </a:solidFill>
              </a:rPr>
              <a:t> : par cœur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⑤ : remettez les mots dans l’ordre</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68–77</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puis à deux · 5 min — Commencez par le mot en </a:t>
            </a:r>
            <a:r>
              <a:rPr lang="en-US" sz="1600" b="1" i="1" dirty="0">
                <a:solidFill>
                  <a:schemeClr val="accent5"/>
                </a:solidFill>
              </a:rPr>
              <a:t>gras</a:t>
            </a:r>
            <a:r>
              <a:rPr lang="en-US" sz="1600" i="1" dirty="0">
                <a:solidFill>
                  <a:schemeClr val="accent5"/>
                </a:solidFill>
              </a:rPr>
              <a:t>.</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1900" b="1" dirty="0">
                <a:solidFill>
                  <a:schemeClr val="tx2"/>
                </a:solidFill>
              </a:rPr>
              <a:t>1.  </a:t>
            </a:r>
            <a:r>
              <a:rPr lang="en-US" sz="1900" b="1" dirty="0">
                <a:solidFill>
                  <a:schemeClr val="tx1"/>
                </a:solidFill>
              </a:rPr>
              <a:t>morgen</a:t>
            </a:r>
            <a:r>
              <a:rPr lang="en-US" sz="1900" dirty="0">
                <a:solidFill>
                  <a:schemeClr val="tx1"/>
                </a:solidFill>
              </a:rPr>
              <a:t> · ik · ga · naar Gent · met de trein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2.  </a:t>
            </a:r>
            <a:r>
              <a:rPr lang="en-US" sz="1900" b="1" dirty="0">
                <a:solidFill>
                  <a:schemeClr val="tx1"/>
                </a:solidFill>
              </a:rPr>
              <a:t>ik</a:t>
            </a:r>
            <a:r>
              <a:rPr lang="en-US" sz="1900" dirty="0">
                <a:solidFill>
                  <a:schemeClr val="tx1"/>
                </a:solidFill>
              </a:rPr>
              <a:t> · thuis · blijf · omdat · ik · ziek · ben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3.  </a:t>
            </a:r>
            <a:r>
              <a:rPr lang="en-US" sz="1900" b="1" dirty="0">
                <a:solidFill>
                  <a:schemeClr val="tx1"/>
                </a:solidFill>
              </a:rPr>
              <a:t>gisteren</a:t>
            </a:r>
            <a:r>
              <a:rPr lang="en-US" sz="1900" dirty="0">
                <a:solidFill>
                  <a:schemeClr val="tx1"/>
                </a:solidFill>
              </a:rPr>
              <a:t> · heb · gestudeerd · ik · veel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4.  </a:t>
            </a:r>
            <a:r>
              <a:rPr lang="en-US" sz="1900" b="1" dirty="0">
                <a:solidFill>
                  <a:schemeClr val="tx1"/>
                </a:solidFill>
              </a:rPr>
              <a:t>vanavond</a:t>
            </a:r>
            <a:r>
              <a:rPr lang="en-US" sz="1900" dirty="0">
                <a:solidFill>
                  <a:schemeClr val="tx1"/>
                </a:solidFill>
              </a:rPr>
              <a:t> · koken · ik · ga · soep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5.  </a:t>
            </a:r>
            <a:r>
              <a:rPr lang="en-US" sz="1900" b="1" dirty="0">
                <a:solidFill>
                  <a:schemeClr val="tx1"/>
                </a:solidFill>
              </a:rPr>
              <a:t>’s morgens</a:t>
            </a:r>
            <a:r>
              <a:rPr lang="en-US" sz="1900" dirty="0">
                <a:solidFill>
                  <a:schemeClr val="tx1"/>
                </a:solidFill>
              </a:rPr>
              <a:t> · koffie · drink · altijd · ik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6.  </a:t>
            </a:r>
            <a:r>
              <a:rPr lang="en-US" sz="1900" b="1" dirty="0">
                <a:solidFill>
                  <a:schemeClr val="tx1"/>
                </a:solidFill>
              </a:rPr>
              <a:t>werk</a:t>
            </a:r>
            <a:r>
              <a:rPr lang="en-US" sz="1900" dirty="0">
                <a:solidFill>
                  <a:schemeClr val="tx1"/>
                </a:solidFill>
              </a:rPr>
              <a:t> · thuis · jij · vandaag → </a:t>
            </a:r>
            <a:r>
              <a:rPr lang="en-US" sz="1900" dirty="0">
                <a:solidFill>
                  <a:schemeClr val="accent5"/>
                </a:solidFill>
              </a:rPr>
              <a:t>…………………………………</a:t>
            </a:r>
            <a:endParaRPr lang="en-US" sz="1900" dirty="0"/>
          </a:p>
          <a:p>
            <a:pPr indent="0" marL="0">
              <a:spcAft>
                <a:spcPts val="1000"/>
              </a:spcAft>
              <a:buNone/>
            </a:pPr>
            <a:r>
              <a:rPr lang="en-US" sz="1900" b="1" dirty="0">
                <a:solidFill>
                  <a:schemeClr val="tx2"/>
                </a:solidFill>
              </a:rPr>
              <a:t>7.  </a:t>
            </a:r>
            <a:r>
              <a:rPr lang="en-US" sz="1900" b="1" dirty="0">
                <a:solidFill>
                  <a:schemeClr val="tx1"/>
                </a:solidFill>
              </a:rPr>
              <a:t>ik</a:t>
            </a:r>
            <a:r>
              <a:rPr lang="en-US" sz="1900" dirty="0">
                <a:solidFill>
                  <a:schemeClr val="tx1"/>
                </a:solidFill>
              </a:rPr>
              <a:t> · het boek · geef · hem → </a:t>
            </a:r>
            <a:r>
              <a:rPr lang="en-US" sz="1900" dirty="0">
                <a:solidFill>
                  <a:schemeClr val="accent5"/>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quiz ⑤ : remettez les mots dans l’ordre</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68–77</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puis à deux · 5 min — Commencez par le mot en </a:t>
            </a:r>
            <a:r>
              <a:rPr lang="en-US" sz="1600" b="1" i="1" dirty="0">
                <a:solidFill>
                  <a:schemeClr val="accent5"/>
                </a:solidFill>
              </a:rPr>
              <a:t>gras</a:t>
            </a:r>
            <a:r>
              <a:rPr lang="en-US" sz="1600" i="1" dirty="0">
                <a:solidFill>
                  <a:schemeClr val="accent5"/>
                </a:solidFill>
              </a:rPr>
              <a:t>.</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1900" b="1" dirty="0">
                <a:solidFill>
                  <a:schemeClr val="tx2"/>
                </a:solidFill>
              </a:rPr>
              <a:t>1.  </a:t>
            </a:r>
            <a:r>
              <a:rPr lang="en-US" sz="1900" b="1" dirty="0">
                <a:solidFill>
                  <a:schemeClr val="tx1"/>
                </a:solidFill>
              </a:rPr>
              <a:t>morgen</a:t>
            </a:r>
            <a:r>
              <a:rPr lang="en-US" sz="1900" dirty="0">
                <a:solidFill>
                  <a:schemeClr val="tx1"/>
                </a:solidFill>
              </a:rPr>
              <a:t> · ik · ga · naar Gent · met de trein → </a:t>
            </a:r>
            <a:r>
              <a:rPr lang="en-US" sz="1900" b="1" dirty="0">
                <a:solidFill>
                  <a:schemeClr val="accent3"/>
                </a:solidFill>
              </a:rPr>
              <a:t>Morgen ga ik met de trein naar Gent.</a:t>
            </a:r>
            <a:endParaRPr lang="en-US" sz="1900" dirty="0"/>
          </a:p>
          <a:p>
            <a:pPr indent="0" marL="0">
              <a:spcAft>
                <a:spcPts val="1000"/>
              </a:spcAft>
              <a:buNone/>
            </a:pPr>
            <a:r>
              <a:rPr lang="en-US" sz="1900" b="1" dirty="0">
                <a:solidFill>
                  <a:schemeClr val="tx2"/>
                </a:solidFill>
              </a:rPr>
              <a:t>2.  </a:t>
            </a:r>
            <a:r>
              <a:rPr lang="en-US" sz="1900" b="1" dirty="0">
                <a:solidFill>
                  <a:schemeClr val="tx1"/>
                </a:solidFill>
              </a:rPr>
              <a:t>ik</a:t>
            </a:r>
            <a:r>
              <a:rPr lang="en-US" sz="1900" dirty="0">
                <a:solidFill>
                  <a:schemeClr val="tx1"/>
                </a:solidFill>
              </a:rPr>
              <a:t> · thuis · blijf · omdat · ik · ziek · ben → </a:t>
            </a:r>
            <a:r>
              <a:rPr lang="en-US" sz="1900" b="1" dirty="0">
                <a:solidFill>
                  <a:schemeClr val="accent3"/>
                </a:solidFill>
              </a:rPr>
              <a:t>Ik blijf thuis, omdat ik ziek ben.</a:t>
            </a:r>
            <a:endParaRPr lang="en-US" sz="1900" dirty="0"/>
          </a:p>
          <a:p>
            <a:pPr indent="0" marL="0">
              <a:spcAft>
                <a:spcPts val="1000"/>
              </a:spcAft>
              <a:buNone/>
            </a:pPr>
            <a:r>
              <a:rPr lang="en-US" sz="1900" b="1" dirty="0">
                <a:solidFill>
                  <a:schemeClr val="tx2"/>
                </a:solidFill>
              </a:rPr>
              <a:t>3.  </a:t>
            </a:r>
            <a:r>
              <a:rPr lang="en-US" sz="1900" b="1" dirty="0">
                <a:solidFill>
                  <a:schemeClr val="tx1"/>
                </a:solidFill>
              </a:rPr>
              <a:t>gisteren</a:t>
            </a:r>
            <a:r>
              <a:rPr lang="en-US" sz="1900" dirty="0">
                <a:solidFill>
                  <a:schemeClr val="tx1"/>
                </a:solidFill>
              </a:rPr>
              <a:t> · heb · gestudeerd · ik · veel → </a:t>
            </a:r>
            <a:r>
              <a:rPr lang="en-US" sz="1900" b="1" dirty="0">
                <a:solidFill>
                  <a:schemeClr val="accent3"/>
                </a:solidFill>
              </a:rPr>
              <a:t>Gisteren heb ik veel gestudeerd.</a:t>
            </a:r>
            <a:endParaRPr lang="en-US" sz="1900" dirty="0"/>
          </a:p>
          <a:p>
            <a:pPr indent="0" marL="0">
              <a:spcAft>
                <a:spcPts val="1000"/>
              </a:spcAft>
              <a:buNone/>
            </a:pPr>
            <a:r>
              <a:rPr lang="en-US" sz="1900" b="1" dirty="0">
                <a:solidFill>
                  <a:schemeClr val="tx2"/>
                </a:solidFill>
              </a:rPr>
              <a:t>4.  </a:t>
            </a:r>
            <a:r>
              <a:rPr lang="en-US" sz="1900" b="1" dirty="0">
                <a:solidFill>
                  <a:schemeClr val="tx1"/>
                </a:solidFill>
              </a:rPr>
              <a:t>vanavond</a:t>
            </a:r>
            <a:r>
              <a:rPr lang="en-US" sz="1900" dirty="0">
                <a:solidFill>
                  <a:schemeClr val="tx1"/>
                </a:solidFill>
              </a:rPr>
              <a:t> · koken · ik · ga · soep → </a:t>
            </a:r>
            <a:r>
              <a:rPr lang="en-US" sz="1900" b="1" dirty="0">
                <a:solidFill>
                  <a:schemeClr val="accent3"/>
                </a:solidFill>
              </a:rPr>
              <a:t>Vanavond ga ik soep koken.</a:t>
            </a:r>
            <a:endParaRPr lang="en-US" sz="1900" dirty="0"/>
          </a:p>
          <a:p>
            <a:pPr indent="0" marL="0">
              <a:spcAft>
                <a:spcPts val="1000"/>
              </a:spcAft>
              <a:buNone/>
            </a:pPr>
            <a:r>
              <a:rPr lang="en-US" sz="1900" b="1" dirty="0">
                <a:solidFill>
                  <a:schemeClr val="tx2"/>
                </a:solidFill>
              </a:rPr>
              <a:t>5.  </a:t>
            </a:r>
            <a:r>
              <a:rPr lang="en-US" sz="1900" b="1" dirty="0">
                <a:solidFill>
                  <a:schemeClr val="tx1"/>
                </a:solidFill>
              </a:rPr>
              <a:t>’s morgens</a:t>
            </a:r>
            <a:r>
              <a:rPr lang="en-US" sz="1900" dirty="0">
                <a:solidFill>
                  <a:schemeClr val="tx1"/>
                </a:solidFill>
              </a:rPr>
              <a:t> · koffie · drink · altijd · ik → </a:t>
            </a:r>
            <a:r>
              <a:rPr lang="en-US" sz="1900" b="1" dirty="0">
                <a:solidFill>
                  <a:schemeClr val="accent3"/>
                </a:solidFill>
              </a:rPr>
              <a:t>’s Morgens drink ik altijd koffie.</a:t>
            </a:r>
            <a:endParaRPr lang="en-US" sz="1900" dirty="0"/>
          </a:p>
          <a:p>
            <a:pPr indent="0" marL="0">
              <a:spcAft>
                <a:spcPts val="1000"/>
              </a:spcAft>
              <a:buNone/>
            </a:pPr>
            <a:r>
              <a:rPr lang="en-US" sz="1900" b="1" dirty="0">
                <a:solidFill>
                  <a:schemeClr val="tx2"/>
                </a:solidFill>
              </a:rPr>
              <a:t>6.  </a:t>
            </a:r>
            <a:r>
              <a:rPr lang="en-US" sz="1900" b="1" dirty="0">
                <a:solidFill>
                  <a:schemeClr val="tx1"/>
                </a:solidFill>
              </a:rPr>
              <a:t>werk</a:t>
            </a:r>
            <a:r>
              <a:rPr lang="en-US" sz="1900" dirty="0">
                <a:solidFill>
                  <a:schemeClr val="tx1"/>
                </a:solidFill>
              </a:rPr>
              <a:t> · thuis · jij · vandaag → </a:t>
            </a:r>
            <a:r>
              <a:rPr lang="en-US" sz="1900" b="1" dirty="0">
                <a:solidFill>
                  <a:schemeClr val="accent3"/>
                </a:solidFill>
              </a:rPr>
              <a:t>Werk jij vandaag thuis?</a:t>
            </a:r>
            <a:endParaRPr lang="en-US" sz="1900" dirty="0"/>
          </a:p>
          <a:p>
            <a:pPr indent="0" marL="0">
              <a:spcAft>
                <a:spcPts val="1000"/>
              </a:spcAft>
              <a:buNone/>
            </a:pPr>
            <a:r>
              <a:rPr lang="en-US" sz="1900" b="1" dirty="0">
                <a:solidFill>
                  <a:schemeClr val="tx2"/>
                </a:solidFill>
              </a:rPr>
              <a:t>7.  </a:t>
            </a:r>
            <a:r>
              <a:rPr lang="en-US" sz="1900" b="1" dirty="0">
                <a:solidFill>
                  <a:schemeClr val="tx1"/>
                </a:solidFill>
              </a:rPr>
              <a:t>ik</a:t>
            </a:r>
            <a:r>
              <a:rPr lang="en-US" sz="1900" dirty="0">
                <a:solidFill>
                  <a:schemeClr val="tx1"/>
                </a:solidFill>
              </a:rPr>
              <a:t> · het boek · geef · hem → </a:t>
            </a:r>
            <a:r>
              <a:rPr lang="en-US" sz="1900" b="1" dirty="0">
                <a:solidFill>
                  <a:schemeClr val="accent3"/>
                </a:solidFill>
              </a:rPr>
              <a:t>Ik geef hem het boek.</a:t>
            </a:r>
            <a:endParaRPr lang="en-US" sz="19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Verbe en </a:t>
            </a:r>
            <a:r>
              <a:rPr lang="en-US" sz="1800" b="1" dirty="0">
                <a:solidFill>
                  <a:schemeClr val="tx1"/>
                </a:solidFill>
              </a:rPr>
              <a:t>2e</a:t>
            </a:r>
            <a:r>
              <a:rPr lang="en-US" sz="1800" dirty="0">
                <a:solidFill>
                  <a:schemeClr val="tx1"/>
                </a:solidFill>
              </a:rPr>
              <a:t> position, sinon </a:t>
            </a:r>
            <a:r>
              <a:rPr lang="en-US" sz="1800" b="1" dirty="0">
                <a:solidFill>
                  <a:schemeClr val="tx1"/>
                </a:solidFill>
              </a:rPr>
              <a:t>inversion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T-M-P</a:t>
            </a:r>
            <a:r>
              <a:rPr lang="en-US" sz="1800" dirty="0">
                <a:solidFill>
                  <a:schemeClr val="tx1"/>
                </a:solidFill>
              </a:rPr>
              <a:t> : </a:t>
            </a:r>
            <a:r>
              <a:rPr lang="en-US" sz="1800" i="1" dirty="0">
                <a:solidFill>
                  <a:schemeClr val="tx1"/>
                </a:solidFill>
              </a:rPr>
              <a:t>morgen · met de trein · naar Gent</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omdat</a:t>
            </a:r>
            <a:r>
              <a:rPr lang="en-US" sz="1800" dirty="0">
                <a:solidFill>
                  <a:schemeClr val="tx1"/>
                </a:solidFill>
              </a:rPr>
              <a:t> → verbe </a:t>
            </a:r>
            <a:r>
              <a:rPr lang="en-US" sz="1800" b="1" dirty="0">
                <a:solidFill>
                  <a:schemeClr val="tx1"/>
                </a:solidFill>
              </a:rPr>
              <a:t>à la fin</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Werk jij…?</a:t>
            </a:r>
            <a:r>
              <a:rPr lang="en-US" sz="1800" dirty="0">
                <a:solidFill>
                  <a:schemeClr val="tx1"/>
                </a:solidFill>
              </a:rPr>
              <a:t> : pas de </a:t>
            </a:r>
            <a:r>
              <a:rPr lang="en-US" sz="1800" b="1" dirty="0">
                <a:solidFill>
                  <a:schemeClr val="tx1"/>
                </a:solidFill>
              </a:rPr>
              <a:t>-t</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six erreurs à éviter le jour de l’examen</a:t>
            </a:r>
            <a:endParaRPr lang="en-US" sz="3200" dirty="0"/>
          </a:p>
        </p:txBody>
      </p:sp>
      <p:sp>
        <p:nvSpPr>
          <p:cNvPr id="3" name="tag"/>
          <p:cNvSpPr/>
          <p:nvPr/>
        </p:nvSpPr>
        <p:spPr>
          <a:xfrm>
            <a:off x="548640" y="237744"/>
            <a:ext cx="107442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PIÈGE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Tout le livret</a:t>
            </a:r>
            <a:endParaRPr lang="en-US" sz="1200" dirty="0"/>
          </a:p>
        </p:txBody>
      </p:sp>
      <p:sp>
        <p:nvSpPr>
          <p:cNvPr id="6" name="Shape 3"/>
          <p:cNvSpPr/>
          <p:nvPr/>
        </p:nvSpPr>
        <p:spPr>
          <a:xfrm>
            <a:off x="548640" y="1508760"/>
            <a:ext cx="11091672" cy="864534"/>
          </a:xfrm>
          <a:prstGeom prst="roundRect">
            <a:avLst>
              <a:gd name="adj" fmla="val 6346"/>
            </a:avLst>
          </a:prstGeom>
          <a:solidFill>
            <a:schemeClr val="bg2"/>
          </a:solidFill>
          <a:ln w="6350">
            <a:solidFill>
              <a:srgbClr val="D5DCE6"/>
            </a:solidFill>
            <a:prstDash val="solid"/>
          </a:ln>
        </p:spPr>
      </p:sp>
      <p:pic>
        <p:nvPicPr>
          <p:cNvPr id="7" name="Image 0" descr="preencoded.png">    </p:cNvPr>
          <p:cNvPicPr>
            <a:picLocks noChangeAspect="1"/>
          </p:cNvPicPr>
          <p:nvPr/>
        </p:nvPicPr>
        <p:blipFill>
          <a:blip r:embed="rId1"/>
          <a:stretch>
            <a:fillRect/>
          </a:stretch>
        </p:blipFill>
        <p:spPr>
          <a:xfrm>
            <a:off x="685800" y="1803867"/>
            <a:ext cx="274320" cy="274320"/>
          </a:xfrm>
          <a:prstGeom prst="rect">
            <a:avLst/>
          </a:prstGeom>
        </p:spPr>
      </p:pic>
      <p:sp>
        <p:nvSpPr>
          <p:cNvPr id="8" name="Text 4"/>
          <p:cNvSpPr txBox="1"/>
          <p:nvPr/>
        </p:nvSpPr>
        <p:spPr>
          <a:xfrm>
            <a:off x="1051560" y="1508760"/>
            <a:ext cx="3291840" cy="864534"/>
          </a:xfrm>
          <a:prstGeom prst="rect">
            <a:avLst/>
          </a:prstGeom>
          <a:noFill/>
          <a:ln/>
        </p:spPr>
        <p:txBody>
          <a:bodyPr wrap="square" lIns="0" tIns="0" rIns="0" bIns="0" rtlCol="0" anchor="ctr"/>
          <a:lstStyle/>
          <a:p>
            <a:pPr indent="0" marL="0">
              <a:buNone/>
            </a:pPr>
            <a:r>
              <a:rPr lang="en-US" sz="2000" strike="sngStrike" dirty="0">
                <a:solidFill>
                  <a:schemeClr val="accent6"/>
                </a:solidFill>
              </a:rPr>
              <a:t>Vandaag ik werk thuis.</a:t>
            </a:r>
            <a:endParaRPr lang="en-US" sz="2000" dirty="0"/>
          </a:p>
        </p:txBody>
      </p:sp>
      <p:pic>
        <p:nvPicPr>
          <p:cNvPr id="9" name="Image 1" descr="preencoded.png">    </p:cNvPr>
          <p:cNvPicPr>
            <a:picLocks noChangeAspect="1"/>
          </p:cNvPicPr>
          <p:nvPr/>
        </p:nvPicPr>
        <p:blipFill>
          <a:blip r:embed="rId2"/>
          <a:stretch>
            <a:fillRect/>
          </a:stretch>
        </p:blipFill>
        <p:spPr>
          <a:xfrm>
            <a:off x="4572000" y="1803867"/>
            <a:ext cx="274320" cy="274320"/>
          </a:xfrm>
          <a:prstGeom prst="rect">
            <a:avLst/>
          </a:prstGeom>
        </p:spPr>
      </p:pic>
      <p:sp>
        <p:nvSpPr>
          <p:cNvPr id="10" name="Text 5"/>
          <p:cNvSpPr txBox="1"/>
          <p:nvPr/>
        </p:nvSpPr>
        <p:spPr>
          <a:xfrm>
            <a:off x="4937760" y="1508760"/>
            <a:ext cx="3291840" cy="864534"/>
          </a:xfrm>
          <a:prstGeom prst="rect">
            <a:avLst/>
          </a:prstGeom>
          <a:noFill/>
          <a:ln/>
        </p:spPr>
        <p:txBody>
          <a:bodyPr wrap="square" lIns="0" tIns="0" rIns="0" bIns="0" rtlCol="0" anchor="ctr"/>
          <a:lstStyle/>
          <a:p>
            <a:pPr indent="0" marL="0">
              <a:buNone/>
            </a:pPr>
            <a:r>
              <a:rPr lang="en-US" sz="2000" dirty="0">
                <a:solidFill>
                  <a:schemeClr val="tx1"/>
                </a:solidFill>
              </a:rPr>
              <a:t>Vandaag werk ik thuis.</a:t>
            </a:r>
            <a:endParaRPr lang="en-US" sz="2000" dirty="0"/>
          </a:p>
        </p:txBody>
      </p:sp>
      <p:sp>
        <p:nvSpPr>
          <p:cNvPr id="11" name="Text 6"/>
          <p:cNvSpPr txBox="1"/>
          <p:nvPr/>
        </p:nvSpPr>
        <p:spPr>
          <a:xfrm>
            <a:off x="8458200" y="1508760"/>
            <a:ext cx="3090672" cy="864534"/>
          </a:xfrm>
          <a:prstGeom prst="rect">
            <a:avLst/>
          </a:prstGeom>
          <a:noFill/>
          <a:ln/>
        </p:spPr>
        <p:txBody>
          <a:bodyPr wrap="square" lIns="0" tIns="0" rIns="0" bIns="0" rtlCol="0" anchor="ctr"/>
          <a:lstStyle/>
          <a:p>
            <a:pPr indent="0" marL="0">
              <a:buNone/>
            </a:pPr>
            <a:r>
              <a:rPr lang="en-US" sz="1800" i="1" dirty="0">
                <a:solidFill>
                  <a:schemeClr val="accent5"/>
                </a:solidFill>
              </a:rPr>
              <a:t>Verbe en 2e position : inversion.</a:t>
            </a:r>
            <a:endParaRPr lang="en-US" sz="1800" dirty="0"/>
          </a:p>
        </p:txBody>
      </p:sp>
      <p:sp>
        <p:nvSpPr>
          <p:cNvPr id="12" name="Shape 7"/>
          <p:cNvSpPr/>
          <p:nvPr/>
        </p:nvSpPr>
        <p:spPr>
          <a:xfrm>
            <a:off x="548640" y="2483022"/>
            <a:ext cx="11091672" cy="546690"/>
          </a:xfrm>
          <a:prstGeom prst="roundRect">
            <a:avLst>
              <a:gd name="adj" fmla="val 10036"/>
            </a:avLst>
          </a:prstGeom>
          <a:solidFill>
            <a:schemeClr val="bg1"/>
          </a:solidFill>
          <a:ln w="6350">
            <a:solidFill>
              <a:srgbClr val="D5DCE6"/>
            </a:solidFill>
            <a:prstDash val="solid"/>
          </a:ln>
        </p:spPr>
      </p:sp>
      <p:pic>
        <p:nvPicPr>
          <p:cNvPr id="13" name="Image 2" descr="preencoded.png">    </p:cNvPr>
          <p:cNvPicPr>
            <a:picLocks noChangeAspect="1"/>
          </p:cNvPicPr>
          <p:nvPr/>
        </p:nvPicPr>
        <p:blipFill>
          <a:blip r:embed="rId3"/>
          <a:stretch>
            <a:fillRect/>
          </a:stretch>
        </p:blipFill>
        <p:spPr>
          <a:xfrm>
            <a:off x="685800" y="2619207"/>
            <a:ext cx="274320" cy="274320"/>
          </a:xfrm>
          <a:prstGeom prst="rect">
            <a:avLst/>
          </a:prstGeom>
        </p:spPr>
      </p:pic>
      <p:sp>
        <p:nvSpPr>
          <p:cNvPr id="14" name="Text 8"/>
          <p:cNvSpPr txBox="1"/>
          <p:nvPr/>
        </p:nvSpPr>
        <p:spPr>
          <a:xfrm>
            <a:off x="1051560" y="2483022"/>
            <a:ext cx="3291840" cy="546690"/>
          </a:xfrm>
          <a:prstGeom prst="rect">
            <a:avLst/>
          </a:prstGeom>
          <a:noFill/>
          <a:ln/>
        </p:spPr>
        <p:txBody>
          <a:bodyPr wrap="square" lIns="0" tIns="0" rIns="0" bIns="0" rtlCol="0" anchor="ctr"/>
          <a:lstStyle/>
          <a:p>
            <a:pPr indent="0" marL="0">
              <a:buNone/>
            </a:pPr>
            <a:r>
              <a:rPr lang="en-US" sz="2000" strike="sngStrike" dirty="0">
                <a:solidFill>
                  <a:schemeClr val="accent6"/>
                </a:solidFill>
              </a:rPr>
              <a:t>Ik heb niet tijd.</a:t>
            </a:r>
            <a:endParaRPr lang="en-US" sz="2000" dirty="0"/>
          </a:p>
        </p:txBody>
      </p:sp>
      <p:pic>
        <p:nvPicPr>
          <p:cNvPr id="15" name="Image 3" descr="preencoded.png">    </p:cNvPr>
          <p:cNvPicPr>
            <a:picLocks noChangeAspect="1"/>
          </p:cNvPicPr>
          <p:nvPr/>
        </p:nvPicPr>
        <p:blipFill>
          <a:blip r:embed="rId4"/>
          <a:stretch>
            <a:fillRect/>
          </a:stretch>
        </p:blipFill>
        <p:spPr>
          <a:xfrm>
            <a:off x="4572000" y="2619207"/>
            <a:ext cx="274320" cy="274320"/>
          </a:xfrm>
          <a:prstGeom prst="rect">
            <a:avLst/>
          </a:prstGeom>
        </p:spPr>
      </p:pic>
      <p:sp>
        <p:nvSpPr>
          <p:cNvPr id="16" name="Text 9"/>
          <p:cNvSpPr txBox="1"/>
          <p:nvPr/>
        </p:nvSpPr>
        <p:spPr>
          <a:xfrm>
            <a:off x="4937760" y="2483022"/>
            <a:ext cx="3291840" cy="546690"/>
          </a:xfrm>
          <a:prstGeom prst="rect">
            <a:avLst/>
          </a:prstGeom>
          <a:noFill/>
          <a:ln/>
        </p:spPr>
        <p:txBody>
          <a:bodyPr wrap="square" lIns="0" tIns="0" rIns="0" bIns="0" rtlCol="0" anchor="ctr"/>
          <a:lstStyle/>
          <a:p>
            <a:pPr indent="0" marL="0">
              <a:buNone/>
            </a:pPr>
            <a:r>
              <a:rPr lang="en-US" sz="2000" dirty="0">
                <a:solidFill>
                  <a:schemeClr val="tx1"/>
                </a:solidFill>
              </a:rPr>
              <a:t>Ik heb geen tijd.</a:t>
            </a:r>
            <a:endParaRPr lang="en-US" sz="2000" dirty="0"/>
          </a:p>
        </p:txBody>
      </p:sp>
      <p:sp>
        <p:nvSpPr>
          <p:cNvPr id="17" name="Text 10"/>
          <p:cNvSpPr txBox="1"/>
          <p:nvPr/>
        </p:nvSpPr>
        <p:spPr>
          <a:xfrm>
            <a:off x="8458200" y="2483022"/>
            <a:ext cx="3090672" cy="546690"/>
          </a:xfrm>
          <a:prstGeom prst="rect">
            <a:avLst/>
          </a:prstGeom>
          <a:noFill/>
          <a:ln/>
        </p:spPr>
        <p:txBody>
          <a:bodyPr wrap="square" lIns="0" tIns="0" rIns="0" bIns="0" rtlCol="0" anchor="ctr"/>
          <a:lstStyle/>
          <a:p>
            <a:pPr indent="0" marL="0">
              <a:buNone/>
            </a:pPr>
            <a:r>
              <a:rPr lang="en-US" sz="1800" i="1" dirty="0">
                <a:solidFill>
                  <a:schemeClr val="accent5"/>
                </a:solidFill>
              </a:rPr>
              <a:t>geen = pas de + nom.</a:t>
            </a:r>
            <a:endParaRPr lang="en-US" sz="1800" dirty="0"/>
          </a:p>
        </p:txBody>
      </p:sp>
      <p:sp>
        <p:nvSpPr>
          <p:cNvPr id="18" name="Shape 11"/>
          <p:cNvSpPr/>
          <p:nvPr/>
        </p:nvSpPr>
        <p:spPr>
          <a:xfrm>
            <a:off x="548640" y="3139440"/>
            <a:ext cx="11091672" cy="546690"/>
          </a:xfrm>
          <a:prstGeom prst="roundRect">
            <a:avLst>
              <a:gd name="adj" fmla="val 10036"/>
            </a:avLst>
          </a:prstGeom>
          <a:solidFill>
            <a:schemeClr val="bg2"/>
          </a:solidFill>
          <a:ln w="6350">
            <a:solidFill>
              <a:srgbClr val="D5DCE6"/>
            </a:solidFill>
            <a:prstDash val="solid"/>
          </a:ln>
        </p:spPr>
      </p:sp>
      <p:pic>
        <p:nvPicPr>
          <p:cNvPr id="19" name="Image 4" descr="preencoded.png">    </p:cNvPr>
          <p:cNvPicPr>
            <a:picLocks noChangeAspect="1"/>
          </p:cNvPicPr>
          <p:nvPr/>
        </p:nvPicPr>
        <p:blipFill>
          <a:blip r:embed="rId5"/>
          <a:stretch>
            <a:fillRect/>
          </a:stretch>
        </p:blipFill>
        <p:spPr>
          <a:xfrm>
            <a:off x="685800" y="3275625"/>
            <a:ext cx="274320" cy="274320"/>
          </a:xfrm>
          <a:prstGeom prst="rect">
            <a:avLst/>
          </a:prstGeom>
        </p:spPr>
      </p:pic>
      <p:sp>
        <p:nvSpPr>
          <p:cNvPr id="20" name="Text 12"/>
          <p:cNvSpPr txBox="1"/>
          <p:nvPr/>
        </p:nvSpPr>
        <p:spPr>
          <a:xfrm>
            <a:off x="1051560" y="3139440"/>
            <a:ext cx="3291840" cy="546690"/>
          </a:xfrm>
          <a:prstGeom prst="rect">
            <a:avLst/>
          </a:prstGeom>
          <a:noFill/>
          <a:ln/>
        </p:spPr>
        <p:txBody>
          <a:bodyPr wrap="square" lIns="0" tIns="0" rIns="0" bIns="0" rtlCol="0" anchor="ctr"/>
          <a:lstStyle/>
          <a:p>
            <a:pPr indent="0" marL="0">
              <a:buNone/>
            </a:pPr>
            <a:r>
              <a:rPr lang="en-US" sz="2000" strike="sngStrike" dirty="0">
                <a:solidFill>
                  <a:schemeClr val="accent6"/>
                </a:solidFill>
              </a:rPr>
              <a:t>…omdat ik ben ziek.</a:t>
            </a:r>
            <a:endParaRPr lang="en-US" sz="2000" dirty="0"/>
          </a:p>
        </p:txBody>
      </p:sp>
      <p:pic>
        <p:nvPicPr>
          <p:cNvPr id="21" name="Image 5" descr="preencoded.png">    </p:cNvPr>
          <p:cNvPicPr>
            <a:picLocks noChangeAspect="1"/>
          </p:cNvPicPr>
          <p:nvPr/>
        </p:nvPicPr>
        <p:blipFill>
          <a:blip r:embed="rId6"/>
          <a:stretch>
            <a:fillRect/>
          </a:stretch>
        </p:blipFill>
        <p:spPr>
          <a:xfrm>
            <a:off x="4572000" y="3275625"/>
            <a:ext cx="274320" cy="274320"/>
          </a:xfrm>
          <a:prstGeom prst="rect">
            <a:avLst/>
          </a:prstGeom>
        </p:spPr>
      </p:pic>
      <p:sp>
        <p:nvSpPr>
          <p:cNvPr id="22" name="Text 13"/>
          <p:cNvSpPr txBox="1"/>
          <p:nvPr/>
        </p:nvSpPr>
        <p:spPr>
          <a:xfrm>
            <a:off x="4937760" y="3139440"/>
            <a:ext cx="3291840" cy="546690"/>
          </a:xfrm>
          <a:prstGeom prst="rect">
            <a:avLst/>
          </a:prstGeom>
          <a:noFill/>
          <a:ln/>
        </p:spPr>
        <p:txBody>
          <a:bodyPr wrap="square" lIns="0" tIns="0" rIns="0" bIns="0" rtlCol="0" anchor="ctr"/>
          <a:lstStyle/>
          <a:p>
            <a:pPr indent="0" marL="0">
              <a:buNone/>
            </a:pPr>
            <a:r>
              <a:rPr lang="en-US" sz="2000" dirty="0">
                <a:solidFill>
                  <a:schemeClr val="tx1"/>
                </a:solidFill>
              </a:rPr>
              <a:t>…omdat ik ziek ben.</a:t>
            </a:r>
            <a:endParaRPr lang="en-US" sz="2000" dirty="0"/>
          </a:p>
        </p:txBody>
      </p:sp>
      <p:sp>
        <p:nvSpPr>
          <p:cNvPr id="23" name="Text 14"/>
          <p:cNvSpPr txBox="1"/>
          <p:nvPr/>
        </p:nvSpPr>
        <p:spPr>
          <a:xfrm>
            <a:off x="8458200" y="3139440"/>
            <a:ext cx="3090672" cy="546690"/>
          </a:xfrm>
          <a:prstGeom prst="rect">
            <a:avLst/>
          </a:prstGeom>
          <a:noFill/>
          <a:ln/>
        </p:spPr>
        <p:txBody>
          <a:bodyPr wrap="square" lIns="0" tIns="0" rIns="0" bIns="0" rtlCol="0" anchor="ctr"/>
          <a:lstStyle/>
          <a:p>
            <a:pPr indent="0" marL="0">
              <a:buNone/>
            </a:pPr>
            <a:r>
              <a:rPr lang="en-US" sz="1800" i="1" dirty="0">
                <a:solidFill>
                  <a:schemeClr val="accent5"/>
                </a:solidFill>
              </a:rPr>
              <a:t>omdat → verbe à la fin.</a:t>
            </a:r>
            <a:endParaRPr lang="en-US" sz="1800" dirty="0"/>
          </a:p>
        </p:txBody>
      </p:sp>
      <p:sp>
        <p:nvSpPr>
          <p:cNvPr id="24" name="Shape 15"/>
          <p:cNvSpPr/>
          <p:nvPr/>
        </p:nvSpPr>
        <p:spPr>
          <a:xfrm>
            <a:off x="548640" y="3795858"/>
            <a:ext cx="11091672" cy="546690"/>
          </a:xfrm>
          <a:prstGeom prst="roundRect">
            <a:avLst>
              <a:gd name="adj" fmla="val 10036"/>
            </a:avLst>
          </a:prstGeom>
          <a:solidFill>
            <a:schemeClr val="bg1"/>
          </a:solidFill>
          <a:ln w="6350">
            <a:solidFill>
              <a:srgbClr val="D5DCE6"/>
            </a:solidFill>
            <a:prstDash val="solid"/>
          </a:ln>
        </p:spPr>
      </p:sp>
      <p:pic>
        <p:nvPicPr>
          <p:cNvPr id="25" name="Image 6" descr="preencoded.png">    </p:cNvPr>
          <p:cNvPicPr>
            <a:picLocks noChangeAspect="1"/>
          </p:cNvPicPr>
          <p:nvPr/>
        </p:nvPicPr>
        <p:blipFill>
          <a:blip r:embed="rId7"/>
          <a:stretch>
            <a:fillRect/>
          </a:stretch>
        </p:blipFill>
        <p:spPr>
          <a:xfrm>
            <a:off x="685800" y="3932044"/>
            <a:ext cx="274320" cy="274320"/>
          </a:xfrm>
          <a:prstGeom prst="rect">
            <a:avLst/>
          </a:prstGeom>
        </p:spPr>
      </p:pic>
      <p:sp>
        <p:nvSpPr>
          <p:cNvPr id="26" name="Text 16"/>
          <p:cNvSpPr txBox="1"/>
          <p:nvPr/>
        </p:nvSpPr>
        <p:spPr>
          <a:xfrm>
            <a:off x="1051560" y="3795858"/>
            <a:ext cx="3291840" cy="546690"/>
          </a:xfrm>
          <a:prstGeom prst="rect">
            <a:avLst/>
          </a:prstGeom>
          <a:noFill/>
          <a:ln/>
        </p:spPr>
        <p:txBody>
          <a:bodyPr wrap="square" lIns="0" tIns="0" rIns="0" bIns="0" rtlCol="0" anchor="ctr"/>
          <a:lstStyle/>
          <a:p>
            <a:pPr indent="0" marL="0">
              <a:buNone/>
            </a:pPr>
            <a:r>
              <a:rPr lang="en-US" sz="2000" strike="sngStrike" dirty="0">
                <a:solidFill>
                  <a:schemeClr val="accent6"/>
                </a:solidFill>
              </a:rPr>
              <a:t>Ik heb naar Gent gegaan.</a:t>
            </a:r>
            <a:endParaRPr lang="en-US" sz="2000" dirty="0"/>
          </a:p>
        </p:txBody>
      </p:sp>
      <p:pic>
        <p:nvPicPr>
          <p:cNvPr id="27" name="Image 7" descr="preencoded.png">    </p:cNvPr>
          <p:cNvPicPr>
            <a:picLocks noChangeAspect="1"/>
          </p:cNvPicPr>
          <p:nvPr/>
        </p:nvPicPr>
        <p:blipFill>
          <a:blip r:embed="rId8"/>
          <a:stretch>
            <a:fillRect/>
          </a:stretch>
        </p:blipFill>
        <p:spPr>
          <a:xfrm>
            <a:off x="4572000" y="3932044"/>
            <a:ext cx="274320" cy="274320"/>
          </a:xfrm>
          <a:prstGeom prst="rect">
            <a:avLst/>
          </a:prstGeom>
        </p:spPr>
      </p:pic>
      <p:sp>
        <p:nvSpPr>
          <p:cNvPr id="28" name="Text 17"/>
          <p:cNvSpPr txBox="1"/>
          <p:nvPr/>
        </p:nvSpPr>
        <p:spPr>
          <a:xfrm>
            <a:off x="4937760" y="3795858"/>
            <a:ext cx="3291840" cy="546690"/>
          </a:xfrm>
          <a:prstGeom prst="rect">
            <a:avLst/>
          </a:prstGeom>
          <a:noFill/>
          <a:ln/>
        </p:spPr>
        <p:txBody>
          <a:bodyPr wrap="square" lIns="0" tIns="0" rIns="0" bIns="0" rtlCol="0" anchor="ctr"/>
          <a:lstStyle/>
          <a:p>
            <a:pPr indent="0" marL="0">
              <a:buNone/>
            </a:pPr>
            <a:r>
              <a:rPr lang="en-US" sz="2000" dirty="0">
                <a:solidFill>
                  <a:schemeClr val="tx1"/>
                </a:solidFill>
              </a:rPr>
              <a:t>Ik ben naar Gent gegaan.</a:t>
            </a:r>
            <a:endParaRPr lang="en-US" sz="2000" dirty="0"/>
          </a:p>
        </p:txBody>
      </p:sp>
      <p:sp>
        <p:nvSpPr>
          <p:cNvPr id="29" name="Text 18"/>
          <p:cNvSpPr txBox="1"/>
          <p:nvPr/>
        </p:nvSpPr>
        <p:spPr>
          <a:xfrm>
            <a:off x="8458200" y="3795858"/>
            <a:ext cx="3090672" cy="546690"/>
          </a:xfrm>
          <a:prstGeom prst="rect">
            <a:avLst/>
          </a:prstGeom>
          <a:noFill/>
          <a:ln/>
        </p:spPr>
        <p:txBody>
          <a:bodyPr wrap="square" lIns="0" tIns="0" rIns="0" bIns="0" rtlCol="0" anchor="ctr"/>
          <a:lstStyle/>
          <a:p>
            <a:pPr indent="0" marL="0">
              <a:buNone/>
            </a:pPr>
            <a:r>
              <a:rPr lang="en-US" sz="1800" i="1" dirty="0">
                <a:solidFill>
                  <a:schemeClr val="accent5"/>
                </a:solidFill>
              </a:rPr>
              <a:t>Déplacement → zijn.</a:t>
            </a:r>
            <a:endParaRPr lang="en-US" sz="1800" dirty="0"/>
          </a:p>
        </p:txBody>
      </p:sp>
      <p:sp>
        <p:nvSpPr>
          <p:cNvPr id="30" name="Shape 19"/>
          <p:cNvSpPr/>
          <p:nvPr/>
        </p:nvSpPr>
        <p:spPr>
          <a:xfrm>
            <a:off x="548640" y="4452277"/>
            <a:ext cx="11091672" cy="864534"/>
          </a:xfrm>
          <a:prstGeom prst="roundRect">
            <a:avLst>
              <a:gd name="adj" fmla="val 6346"/>
            </a:avLst>
          </a:prstGeom>
          <a:solidFill>
            <a:schemeClr val="bg2"/>
          </a:solidFill>
          <a:ln w="6350">
            <a:solidFill>
              <a:srgbClr val="D5DCE6"/>
            </a:solidFill>
            <a:prstDash val="solid"/>
          </a:ln>
        </p:spPr>
      </p:sp>
      <p:pic>
        <p:nvPicPr>
          <p:cNvPr id="31" name="Image 8" descr="preencoded.png">    </p:cNvPr>
          <p:cNvPicPr>
            <a:picLocks noChangeAspect="1"/>
          </p:cNvPicPr>
          <p:nvPr/>
        </p:nvPicPr>
        <p:blipFill>
          <a:blip r:embed="rId9"/>
          <a:stretch>
            <a:fillRect/>
          </a:stretch>
        </p:blipFill>
        <p:spPr>
          <a:xfrm>
            <a:off x="685800" y="4747384"/>
            <a:ext cx="274320" cy="274320"/>
          </a:xfrm>
          <a:prstGeom prst="rect">
            <a:avLst/>
          </a:prstGeom>
        </p:spPr>
      </p:pic>
      <p:sp>
        <p:nvSpPr>
          <p:cNvPr id="32" name="Text 20"/>
          <p:cNvSpPr txBox="1"/>
          <p:nvPr/>
        </p:nvSpPr>
        <p:spPr>
          <a:xfrm>
            <a:off x="1051560" y="4452277"/>
            <a:ext cx="3291840" cy="864534"/>
          </a:xfrm>
          <a:prstGeom prst="rect">
            <a:avLst/>
          </a:prstGeom>
          <a:noFill/>
          <a:ln/>
        </p:spPr>
        <p:txBody>
          <a:bodyPr wrap="square" lIns="0" tIns="0" rIns="0" bIns="0" rtlCol="0" anchor="ctr"/>
          <a:lstStyle/>
          <a:p>
            <a:pPr indent="0" marL="0">
              <a:buNone/>
            </a:pPr>
            <a:r>
              <a:rPr lang="en-US" sz="2000" strike="sngStrike" dirty="0">
                <a:solidFill>
                  <a:schemeClr val="accent6"/>
                </a:solidFill>
              </a:rPr>
              <a:t>een grote huis</a:t>
            </a:r>
            <a:endParaRPr lang="en-US" sz="2000" dirty="0"/>
          </a:p>
        </p:txBody>
      </p:sp>
      <p:pic>
        <p:nvPicPr>
          <p:cNvPr id="33" name="Image 9" descr="preencoded.png">    </p:cNvPr>
          <p:cNvPicPr>
            <a:picLocks noChangeAspect="1"/>
          </p:cNvPicPr>
          <p:nvPr/>
        </p:nvPicPr>
        <p:blipFill>
          <a:blip r:embed="rId10"/>
          <a:stretch>
            <a:fillRect/>
          </a:stretch>
        </p:blipFill>
        <p:spPr>
          <a:xfrm>
            <a:off x="4572000" y="4747384"/>
            <a:ext cx="274320" cy="274320"/>
          </a:xfrm>
          <a:prstGeom prst="rect">
            <a:avLst/>
          </a:prstGeom>
        </p:spPr>
      </p:pic>
      <p:sp>
        <p:nvSpPr>
          <p:cNvPr id="34" name="Text 21"/>
          <p:cNvSpPr txBox="1"/>
          <p:nvPr/>
        </p:nvSpPr>
        <p:spPr>
          <a:xfrm>
            <a:off x="4937760" y="4452277"/>
            <a:ext cx="3291840" cy="864534"/>
          </a:xfrm>
          <a:prstGeom prst="rect">
            <a:avLst/>
          </a:prstGeom>
          <a:noFill/>
          <a:ln/>
        </p:spPr>
        <p:txBody>
          <a:bodyPr wrap="square" lIns="0" tIns="0" rIns="0" bIns="0" rtlCol="0" anchor="ctr"/>
          <a:lstStyle/>
          <a:p>
            <a:pPr indent="0" marL="0">
              <a:buNone/>
            </a:pPr>
            <a:r>
              <a:rPr lang="en-US" sz="2000" dirty="0">
                <a:solidFill>
                  <a:schemeClr val="tx1"/>
                </a:solidFill>
              </a:rPr>
              <a:t>een groot huis</a:t>
            </a:r>
            <a:endParaRPr lang="en-US" sz="2000" dirty="0"/>
          </a:p>
        </p:txBody>
      </p:sp>
      <p:sp>
        <p:nvSpPr>
          <p:cNvPr id="35" name="Text 22"/>
          <p:cNvSpPr txBox="1"/>
          <p:nvPr/>
        </p:nvSpPr>
        <p:spPr>
          <a:xfrm>
            <a:off x="8458200" y="4452277"/>
            <a:ext cx="3090672" cy="864534"/>
          </a:xfrm>
          <a:prstGeom prst="rect">
            <a:avLst/>
          </a:prstGeom>
          <a:noFill/>
          <a:ln/>
        </p:spPr>
        <p:txBody>
          <a:bodyPr wrap="square" lIns="0" tIns="0" rIns="0" bIns="0" rtlCol="0" anchor="ctr"/>
          <a:lstStyle/>
          <a:p>
            <a:pPr indent="0" marL="0">
              <a:buNone/>
            </a:pPr>
            <a:r>
              <a:rPr lang="en-US" sz="1800" i="1" dirty="0">
                <a:solidFill>
                  <a:schemeClr val="accent5"/>
                </a:solidFill>
              </a:rPr>
              <a:t>het + een + singulier : pas de -e.</a:t>
            </a:r>
            <a:endParaRPr lang="en-US" sz="1800" dirty="0"/>
          </a:p>
        </p:txBody>
      </p:sp>
      <p:sp>
        <p:nvSpPr>
          <p:cNvPr id="36" name="Shape 23"/>
          <p:cNvSpPr/>
          <p:nvPr/>
        </p:nvSpPr>
        <p:spPr>
          <a:xfrm>
            <a:off x="548640" y="5426538"/>
            <a:ext cx="11091672" cy="864534"/>
          </a:xfrm>
          <a:prstGeom prst="roundRect">
            <a:avLst>
              <a:gd name="adj" fmla="val 6346"/>
            </a:avLst>
          </a:prstGeom>
          <a:solidFill>
            <a:schemeClr val="bg1"/>
          </a:solidFill>
          <a:ln w="6350">
            <a:solidFill>
              <a:srgbClr val="D5DCE6"/>
            </a:solidFill>
            <a:prstDash val="solid"/>
          </a:ln>
        </p:spPr>
      </p:sp>
      <p:pic>
        <p:nvPicPr>
          <p:cNvPr id="37" name="Image 10" descr="preencoded.png">    </p:cNvPr>
          <p:cNvPicPr>
            <a:picLocks noChangeAspect="1"/>
          </p:cNvPicPr>
          <p:nvPr/>
        </p:nvPicPr>
        <p:blipFill>
          <a:blip r:embed="rId11"/>
          <a:stretch>
            <a:fillRect/>
          </a:stretch>
        </p:blipFill>
        <p:spPr>
          <a:xfrm>
            <a:off x="685800" y="5721645"/>
            <a:ext cx="274320" cy="274320"/>
          </a:xfrm>
          <a:prstGeom prst="rect">
            <a:avLst/>
          </a:prstGeom>
        </p:spPr>
      </p:pic>
      <p:sp>
        <p:nvSpPr>
          <p:cNvPr id="38" name="Text 24"/>
          <p:cNvSpPr txBox="1"/>
          <p:nvPr/>
        </p:nvSpPr>
        <p:spPr>
          <a:xfrm>
            <a:off x="1051560" y="5426538"/>
            <a:ext cx="3291840" cy="864534"/>
          </a:xfrm>
          <a:prstGeom prst="rect">
            <a:avLst/>
          </a:prstGeom>
          <a:noFill/>
          <a:ln/>
        </p:spPr>
        <p:txBody>
          <a:bodyPr wrap="square" lIns="0" tIns="0" rIns="0" bIns="0" rtlCol="0" anchor="ctr"/>
          <a:lstStyle/>
          <a:p>
            <a:pPr indent="0" marL="0">
              <a:buNone/>
            </a:pPr>
            <a:r>
              <a:rPr lang="en-US" sz="2000" strike="sngStrike" dirty="0">
                <a:solidFill>
                  <a:schemeClr val="accent6"/>
                </a:solidFill>
              </a:rPr>
              <a:t>Werkt jij vandaag?</a:t>
            </a:r>
            <a:endParaRPr lang="en-US" sz="2000" dirty="0"/>
          </a:p>
        </p:txBody>
      </p:sp>
      <p:pic>
        <p:nvPicPr>
          <p:cNvPr id="39" name="Image 11" descr="preencoded.png">    </p:cNvPr>
          <p:cNvPicPr>
            <a:picLocks noChangeAspect="1"/>
          </p:cNvPicPr>
          <p:nvPr/>
        </p:nvPicPr>
        <p:blipFill>
          <a:blip r:embed="rId12"/>
          <a:stretch>
            <a:fillRect/>
          </a:stretch>
        </p:blipFill>
        <p:spPr>
          <a:xfrm>
            <a:off x="4572000" y="5721645"/>
            <a:ext cx="274320" cy="274320"/>
          </a:xfrm>
          <a:prstGeom prst="rect">
            <a:avLst/>
          </a:prstGeom>
        </p:spPr>
      </p:pic>
      <p:sp>
        <p:nvSpPr>
          <p:cNvPr id="40" name="Text 25"/>
          <p:cNvSpPr txBox="1"/>
          <p:nvPr/>
        </p:nvSpPr>
        <p:spPr>
          <a:xfrm>
            <a:off x="4937760" y="5426538"/>
            <a:ext cx="3291840" cy="864534"/>
          </a:xfrm>
          <a:prstGeom prst="rect">
            <a:avLst/>
          </a:prstGeom>
          <a:noFill/>
          <a:ln/>
        </p:spPr>
        <p:txBody>
          <a:bodyPr wrap="square" lIns="0" tIns="0" rIns="0" bIns="0" rtlCol="0" anchor="ctr"/>
          <a:lstStyle/>
          <a:p>
            <a:pPr indent="0" marL="0">
              <a:buNone/>
            </a:pPr>
            <a:r>
              <a:rPr lang="en-US" sz="2000" dirty="0">
                <a:solidFill>
                  <a:schemeClr val="tx1"/>
                </a:solidFill>
              </a:rPr>
              <a:t>Werk jij vandaag?</a:t>
            </a:r>
            <a:endParaRPr lang="en-US" sz="2000" dirty="0"/>
          </a:p>
        </p:txBody>
      </p:sp>
      <p:sp>
        <p:nvSpPr>
          <p:cNvPr id="41" name="Text 26"/>
          <p:cNvSpPr txBox="1"/>
          <p:nvPr/>
        </p:nvSpPr>
        <p:spPr>
          <a:xfrm>
            <a:off x="8458200" y="5426538"/>
            <a:ext cx="3090672" cy="864534"/>
          </a:xfrm>
          <a:prstGeom prst="rect">
            <a:avLst/>
          </a:prstGeom>
          <a:noFill/>
          <a:ln/>
        </p:spPr>
        <p:txBody>
          <a:bodyPr wrap="square" lIns="0" tIns="0" rIns="0" bIns="0" rtlCol="0" anchor="ctr"/>
          <a:lstStyle/>
          <a:p>
            <a:pPr indent="0" marL="0">
              <a:buNone/>
            </a:pPr>
            <a:r>
              <a:rPr lang="en-US" sz="1800" i="1" dirty="0">
                <a:solidFill>
                  <a:schemeClr val="accent5"/>
                </a:solidFill>
              </a:rPr>
              <a:t>jij après le verbe : pas de -t.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jeu de rôle : une histoire en trois scènes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93–100b</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Par trois · 25 min — A et B jouent les trois scènes </a:t>
            </a:r>
            <a:r>
              <a:rPr lang="en-US" sz="1800" b="1" dirty="0">
                <a:solidFill>
                  <a:schemeClr val="tx1"/>
                </a:solidFill>
              </a:rPr>
              <a:t>à la suite</a:t>
            </a:r>
            <a:r>
              <a:rPr lang="en-US" sz="1800" dirty="0">
                <a:solidFill>
                  <a:schemeClr val="tx1"/>
                </a:solidFill>
              </a:rPr>
              <a:t>, sans notes ; C observe. Puis on change de rôle.</a:t>
            </a:r>
            <a:endParaRPr lang="en-US" sz="1800" dirty="0"/>
          </a:p>
        </p:txBody>
      </p:sp>
      <p:sp>
        <p:nvSpPr>
          <p:cNvPr id="7" name="Shape 4"/>
          <p:cNvSpPr/>
          <p:nvPr/>
        </p:nvSpPr>
        <p:spPr>
          <a:xfrm>
            <a:off x="548640" y="1993392"/>
            <a:ext cx="3502152" cy="3343656"/>
          </a:xfrm>
          <a:prstGeom prst="roundRect">
            <a:avLst>
              <a:gd name="adj" fmla="val 2735"/>
            </a:avLst>
          </a:prstGeom>
          <a:solidFill>
            <a:schemeClr val="bg2"/>
          </a:solidFill>
          <a:ln w="9525">
            <a:solidFill>
              <a:srgbClr val="D5DCE6"/>
            </a:solidFill>
            <a:prstDash val="solid"/>
          </a:ln>
        </p:spPr>
      </p:sp>
      <p:sp>
        <p:nvSpPr>
          <p:cNvPr id="8" name="Shape 5"/>
          <p:cNvSpPr/>
          <p:nvPr/>
        </p:nvSpPr>
        <p:spPr>
          <a:xfrm>
            <a:off x="1970532" y="2176272"/>
            <a:ext cx="658368" cy="658368"/>
          </a:xfrm>
          <a:prstGeom prst="ellipse">
            <a:avLst/>
          </a:prstGeom>
          <a:solidFill>
            <a:schemeClr val="accent2"/>
          </a:solidFill>
          <a:ln/>
        </p:spPr>
      </p:sp>
      <p:sp>
        <p:nvSpPr>
          <p:cNvPr id="9" name="Text 6"/>
          <p:cNvSpPr txBox="1"/>
          <p:nvPr/>
        </p:nvSpPr>
        <p:spPr>
          <a:xfrm>
            <a:off x="197053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Au secrétariat</a:t>
            </a:r>
            <a:endParaRPr lang="en-US" sz="1700" dirty="0"/>
          </a:p>
        </p:txBody>
      </p:sp>
      <p:sp>
        <p:nvSpPr>
          <p:cNvPr id="11" name="Text 8"/>
          <p:cNvSpPr txBox="1"/>
          <p:nvPr/>
        </p:nvSpPr>
        <p:spPr>
          <a:xfrm>
            <a:off x="68580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Fiches 4 · 5 · </a:t>
            </a:r>
            <a:r>
              <a:rPr lang="en-US" sz="1700" b="1" dirty="0">
                <a:solidFill>
                  <a:schemeClr val="tx1"/>
                </a:solidFill>
              </a:rPr>
              <a:t>u</a:t>
            </a:r>
            <a:endParaRPr lang="en-US" sz="1700" dirty="0"/>
          </a:p>
          <a:p>
            <a:pPr algn="ctr" indent="0" marL="0">
              <a:spcAft>
                <a:spcPts val="600"/>
              </a:spcAft>
              <a:buNone/>
            </a:pPr>
            <a:r>
              <a:rPr lang="en-US" sz="1700" i="1" dirty="0">
                <a:solidFill>
                  <a:schemeClr val="tx1"/>
                </a:solidFill>
              </a:rPr>
              <a:t>Wanneer begint de cursus?</a:t>
            </a:r>
            <a:endParaRPr lang="en-US" sz="1700" dirty="0"/>
          </a:p>
          <a:p>
            <a:pPr algn="ctr" indent="0" marL="0">
              <a:spcAft>
                <a:spcPts val="600"/>
              </a:spcAft>
              <a:buNone/>
            </a:pPr>
            <a:r>
              <a:rPr lang="en-US" sz="1700" i="1" dirty="0">
                <a:solidFill>
                  <a:schemeClr val="tx1"/>
                </a:solidFill>
              </a:rPr>
              <a:t>Wat is uw adres?</a:t>
            </a:r>
            <a:endParaRPr lang="en-US" sz="1700" dirty="0"/>
          </a:p>
        </p:txBody>
      </p:sp>
      <p:pic>
        <p:nvPicPr>
          <p:cNvPr id="12" name="Image 0" descr="preencoded.png">    </p:cNvPr>
          <p:cNvPicPr>
            <a:picLocks noChangeAspect="1"/>
          </p:cNvPicPr>
          <p:nvPr/>
        </p:nvPicPr>
        <p:blipFill>
          <a:blip r:embed="rId1"/>
          <a:stretch>
            <a:fillRect/>
          </a:stretch>
        </p:blipFill>
        <p:spPr>
          <a:xfrm>
            <a:off x="4087368" y="2395728"/>
            <a:ext cx="219456" cy="219456"/>
          </a:xfrm>
          <a:prstGeom prst="rect">
            <a:avLst/>
          </a:prstGeom>
        </p:spPr>
      </p:pic>
      <p:sp>
        <p:nvSpPr>
          <p:cNvPr id="13" name="Shape 9"/>
          <p:cNvSpPr/>
          <p:nvPr/>
        </p:nvSpPr>
        <p:spPr>
          <a:xfrm>
            <a:off x="4343400" y="1993392"/>
            <a:ext cx="3502152" cy="3343656"/>
          </a:xfrm>
          <a:prstGeom prst="roundRect">
            <a:avLst>
              <a:gd name="adj" fmla="val 2735"/>
            </a:avLst>
          </a:prstGeom>
          <a:solidFill>
            <a:schemeClr val="bg2"/>
          </a:solidFill>
          <a:ln w="9525">
            <a:solidFill>
              <a:srgbClr val="D5DCE6"/>
            </a:solidFill>
            <a:prstDash val="solid"/>
          </a:ln>
        </p:spPr>
      </p:sp>
      <p:sp>
        <p:nvSpPr>
          <p:cNvPr id="14" name="Shape 10"/>
          <p:cNvSpPr/>
          <p:nvPr/>
        </p:nvSpPr>
        <p:spPr>
          <a:xfrm>
            <a:off x="5765292" y="2176272"/>
            <a:ext cx="658368" cy="658368"/>
          </a:xfrm>
          <a:prstGeom prst="ellipse">
            <a:avLst/>
          </a:prstGeom>
          <a:solidFill>
            <a:schemeClr val="accent1"/>
          </a:solidFill>
          <a:ln/>
        </p:spPr>
      </p:sp>
      <p:sp>
        <p:nvSpPr>
          <p:cNvPr id="15" name="Text 11"/>
          <p:cNvSpPr txBox="1"/>
          <p:nvPr/>
        </p:nvSpPr>
        <p:spPr>
          <a:xfrm>
            <a:off x="576529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L’entretien</a:t>
            </a:r>
            <a:endParaRPr lang="en-US" sz="1700" dirty="0"/>
          </a:p>
        </p:txBody>
      </p:sp>
      <p:sp>
        <p:nvSpPr>
          <p:cNvPr id="17" name="Text 13"/>
          <p:cNvSpPr txBox="1"/>
          <p:nvPr/>
        </p:nvSpPr>
        <p:spPr>
          <a:xfrm>
            <a:off x="448056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Fiches 2 · 6 · </a:t>
            </a:r>
            <a:r>
              <a:rPr lang="en-US" sz="1700" b="1" dirty="0">
                <a:solidFill>
                  <a:schemeClr val="tx1"/>
                </a:solidFill>
              </a:rPr>
              <a:t>u</a:t>
            </a:r>
            <a:endParaRPr lang="en-US" sz="1700" dirty="0"/>
          </a:p>
          <a:p>
            <a:pPr algn="ctr" indent="0" marL="0">
              <a:spcAft>
                <a:spcPts val="600"/>
              </a:spcAft>
              <a:buNone/>
            </a:pPr>
            <a:r>
              <a:rPr lang="en-US" sz="1700" i="1" dirty="0">
                <a:solidFill>
                  <a:schemeClr val="tx1"/>
                </a:solidFill>
              </a:rPr>
              <a:t>Wat kunt u goed?</a:t>
            </a:r>
            <a:endParaRPr lang="en-US" sz="1700" dirty="0"/>
          </a:p>
          <a:p>
            <a:pPr algn="ctr" indent="0" marL="0">
              <a:spcAft>
                <a:spcPts val="600"/>
              </a:spcAft>
              <a:buNone/>
            </a:pPr>
            <a:r>
              <a:rPr lang="en-US" sz="1700" i="1" dirty="0">
                <a:solidFill>
                  <a:schemeClr val="tx1"/>
                </a:solidFill>
              </a:rPr>
              <a:t>Hebt u ervaring?</a:t>
            </a:r>
            <a:endParaRPr lang="en-US" sz="1700" dirty="0"/>
          </a:p>
        </p:txBody>
      </p:sp>
      <p:pic>
        <p:nvPicPr>
          <p:cNvPr id="18" name="Image 1" descr="preencoded.png">    </p:cNvPr>
          <p:cNvPicPr>
            <a:picLocks noChangeAspect="1"/>
          </p:cNvPicPr>
          <p:nvPr/>
        </p:nvPicPr>
        <p:blipFill>
          <a:blip r:embed="rId2"/>
          <a:stretch>
            <a:fillRect/>
          </a:stretch>
        </p:blipFill>
        <p:spPr>
          <a:xfrm>
            <a:off x="7882128" y="2395728"/>
            <a:ext cx="219456" cy="219456"/>
          </a:xfrm>
          <a:prstGeom prst="rect">
            <a:avLst/>
          </a:prstGeom>
        </p:spPr>
      </p:pic>
      <p:sp>
        <p:nvSpPr>
          <p:cNvPr id="19" name="Shape 14"/>
          <p:cNvSpPr/>
          <p:nvPr/>
        </p:nvSpPr>
        <p:spPr>
          <a:xfrm>
            <a:off x="8138160" y="1993392"/>
            <a:ext cx="3502152" cy="3343656"/>
          </a:xfrm>
          <a:prstGeom prst="roundRect">
            <a:avLst>
              <a:gd name="adj" fmla="val 2735"/>
            </a:avLst>
          </a:prstGeom>
          <a:solidFill>
            <a:schemeClr val="bg2"/>
          </a:solidFill>
          <a:ln w="9525">
            <a:solidFill>
              <a:srgbClr val="D5DCE6"/>
            </a:solidFill>
            <a:prstDash val="solid"/>
          </a:ln>
        </p:spPr>
      </p:sp>
      <p:sp>
        <p:nvSpPr>
          <p:cNvPr id="20" name="Shape 15"/>
          <p:cNvSpPr/>
          <p:nvPr/>
        </p:nvSpPr>
        <p:spPr>
          <a:xfrm>
            <a:off x="9560052" y="2176272"/>
            <a:ext cx="658368" cy="658368"/>
          </a:xfrm>
          <a:prstGeom prst="ellipse">
            <a:avLst/>
          </a:prstGeom>
          <a:solidFill>
            <a:schemeClr val="accent3"/>
          </a:solidFill>
          <a:ln/>
        </p:spPr>
      </p:sp>
      <p:sp>
        <p:nvSpPr>
          <p:cNvPr id="21" name="Text 16"/>
          <p:cNvSpPr txBox="1"/>
          <p:nvPr/>
        </p:nvSpPr>
        <p:spPr>
          <a:xfrm>
            <a:off x="956005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Na het examen</a:t>
            </a:r>
            <a:endParaRPr lang="en-US" sz="1700" dirty="0"/>
          </a:p>
        </p:txBody>
      </p:sp>
      <p:sp>
        <p:nvSpPr>
          <p:cNvPr id="23" name="Text 18"/>
          <p:cNvSpPr txBox="1"/>
          <p:nvPr/>
        </p:nvSpPr>
        <p:spPr>
          <a:xfrm>
            <a:off x="827532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Fiches 8 · 10 · </a:t>
            </a:r>
            <a:r>
              <a:rPr lang="en-US" sz="1700" b="1" dirty="0">
                <a:solidFill>
                  <a:schemeClr val="tx1"/>
                </a:solidFill>
              </a:rPr>
              <a:t>je</a:t>
            </a:r>
            <a:endParaRPr lang="en-US" sz="1700" dirty="0"/>
          </a:p>
          <a:p>
            <a:pPr algn="ctr" indent="0" marL="0">
              <a:spcAft>
                <a:spcPts val="600"/>
              </a:spcAft>
              <a:buNone/>
            </a:pPr>
            <a:r>
              <a:rPr lang="en-US" sz="1700" i="1" dirty="0">
                <a:solidFill>
                  <a:schemeClr val="tx1"/>
                </a:solidFill>
              </a:rPr>
              <a:t>Hoe was het examen?</a:t>
            </a:r>
            <a:endParaRPr lang="en-US" sz="1700" dirty="0"/>
          </a:p>
          <a:p>
            <a:pPr algn="ctr" indent="0" marL="0">
              <a:spcAft>
                <a:spcPts val="600"/>
              </a:spcAft>
              <a:buNone/>
            </a:pPr>
            <a:r>
              <a:rPr lang="en-US" sz="1700" i="1" dirty="0">
                <a:solidFill>
                  <a:schemeClr val="tx1"/>
                </a:solidFill>
              </a:rPr>
              <a:t>Proficiat!</a:t>
            </a:r>
            <a:endParaRPr lang="en-US" sz="1700" dirty="0"/>
          </a:p>
        </p:txBody>
      </p:sp>
      <p:sp>
        <p:nvSpPr>
          <p:cNvPr id="24" name="Shape 19"/>
          <p:cNvSpPr/>
          <p:nvPr/>
        </p:nvSpPr>
        <p:spPr>
          <a:xfrm>
            <a:off x="548640" y="5565648"/>
            <a:ext cx="11091672" cy="725424"/>
          </a:xfrm>
          <a:prstGeom prst="roundRect">
            <a:avLst>
              <a:gd name="adj" fmla="val 10084"/>
            </a:avLst>
          </a:prstGeom>
          <a:solidFill>
            <a:schemeClr val="accent3">
              <a:alpha val="10000"/>
            </a:schemeClr>
          </a:solidFill>
          <a:ln w="9525">
            <a:solidFill>
              <a:schemeClr val="accent3">
                <a:alpha val="70000"/>
              </a:schemeClr>
            </a:solidFill>
            <a:prstDash val="solid"/>
          </a:ln>
        </p:spPr>
      </p:sp>
      <p:pic>
        <p:nvPicPr>
          <p:cNvPr id="25" name="Image 2" descr="preencoded.png">    </p:cNvPr>
          <p:cNvPicPr>
            <a:picLocks noChangeAspect="1"/>
          </p:cNvPicPr>
          <p:nvPr/>
        </p:nvPicPr>
        <p:blipFill>
          <a:blip r:embed="rId3"/>
          <a:stretch>
            <a:fillRect/>
          </a:stretch>
        </p:blipFill>
        <p:spPr>
          <a:xfrm>
            <a:off x="749808" y="5763768"/>
            <a:ext cx="329184" cy="329184"/>
          </a:xfrm>
          <a:prstGeom prst="rect">
            <a:avLst/>
          </a:prstGeom>
        </p:spPr>
      </p:pic>
      <p:sp>
        <p:nvSpPr>
          <p:cNvPr id="26" name="Text 2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3"/>
                </a:solidFill>
              </a:rPr>
              <a:t>Grille de l’observateur — </a:t>
            </a:r>
            <a:r>
              <a:rPr lang="en-US" sz="1700" dirty="0">
                <a:solidFill>
                  <a:schemeClr val="tx1"/>
                </a:solidFill>
              </a:rPr>
              <a:t>verbe en 2e position · </a:t>
            </a:r>
            <a:r>
              <a:rPr lang="en-US" sz="1700" i="1" dirty="0">
                <a:solidFill>
                  <a:schemeClr val="tx1"/>
                </a:solidFill>
              </a:rPr>
              <a:t>u</a:t>
            </a:r>
            <a:r>
              <a:rPr lang="en-US" sz="1700" dirty="0">
                <a:solidFill>
                  <a:schemeClr val="tx1"/>
                </a:solidFill>
              </a:rPr>
              <a:t> ou </a:t>
            </a:r>
            <a:r>
              <a:rPr lang="en-US" sz="1700" i="1" dirty="0">
                <a:solidFill>
                  <a:schemeClr val="tx1"/>
                </a:solidFill>
              </a:rPr>
              <a:t>je</a:t>
            </a:r>
            <a:r>
              <a:rPr lang="en-US" sz="1700" dirty="0">
                <a:solidFill>
                  <a:schemeClr val="tx1"/>
                </a:solidFill>
              </a:rPr>
              <a:t> selon la scène · 1 perfectum + 1 OVT · 1 </a:t>
            </a:r>
            <a:r>
              <a:rPr lang="en-US" sz="1700" i="1" dirty="0">
                <a:solidFill>
                  <a:schemeClr val="tx1"/>
                </a:solidFill>
              </a:rPr>
              <a:t>omdat</a:t>
            </a:r>
            <a:r>
              <a:rPr lang="en-US" sz="1700" dirty="0">
                <a:solidFill>
                  <a:schemeClr val="tx1"/>
                </a:solidFill>
              </a:rPr>
              <a:t> · de / het · chacun pose au moins une </a:t>
            </a:r>
            <a:r>
              <a:rPr lang="en-US" sz="1700" b="1" dirty="0">
                <a:solidFill>
                  <a:schemeClr val="tx1"/>
                </a:solidFill>
              </a:rPr>
              <a:t>question</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Grand jeu de rôle : les rôles A et B</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93–100b</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103120"/>
                <a:gridCol w="4480560"/>
                <a:gridCol w="4507992"/>
              </a:tblGrid>
              <a:tr h="601675">
                <a:tc>
                  <a:txBody>
                    <a:bodyPr/>
                    <a:lstStyle/>
                    <a:p>
                      <a:pPr algn="l" indent="0" marL="0">
                        <a:buNone/>
                      </a:pPr>
                      <a:r>
                        <a:rPr lang="en-US" sz="1800" b="1" dirty="0">
                          <a:solidFill>
                            <a:schemeClr val="bg1"/>
                          </a:solidFill>
                        </a:rPr>
                        <a:t>SCÈNE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 — VOUS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B — VOTRE PARTENAIRE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1432865">
                <a:tc>
                  <a:txBody>
                    <a:bodyPr/>
                    <a:lstStyle/>
                    <a:p>
                      <a:pPr algn="l" indent="0" marL="0">
                        <a:buNone/>
                      </a:pPr>
                      <a:r>
                        <a:rPr lang="en-US" sz="2000" b="1" dirty="0">
                          <a:solidFill>
                            <a:schemeClr val="tx1"/>
                          </a:solidFill>
                        </a:rPr>
                        <a:t>1 · Au secrétariat (u)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Vous voulez suivre le cours de néerlandais : début, prix, local, livres. Donnez nom, adresse, téléphone.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Secrétaire : répondez (</a:t>
                      </a:r>
                      <a:r>
                        <a:rPr lang="en-US" sz="2000" i="1" dirty="0">
                          <a:solidFill>
                            <a:schemeClr val="tx1"/>
                          </a:solidFill>
                        </a:rPr>
                        <a:t>maandag · 120 euro · tweede verdieping</a:t>
                      </a:r>
                      <a:r>
                        <a:rPr lang="en-US" sz="2000" dirty="0">
                          <a:solidFill>
                            <a:schemeClr val="tx1"/>
                          </a:solidFill>
                        </a:rPr>
                        <a:t>) et remplissez le formulaire : </a:t>
                      </a:r>
                      <a:r>
                        <a:rPr lang="en-US" sz="2000" i="1" dirty="0">
                          <a:solidFill>
                            <a:schemeClr val="tx1"/>
                          </a:solidFill>
                        </a:rPr>
                        <a:t>Hoe is uw naam?</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1122883">
                <a:tc>
                  <a:txBody>
                    <a:bodyPr/>
                    <a:lstStyle/>
                    <a:p>
                      <a:pPr algn="l" indent="0" marL="0">
                        <a:buNone/>
                      </a:pPr>
                      <a:r>
                        <a:rPr lang="en-US" sz="2000" b="1" dirty="0">
                          <a:solidFill>
                            <a:schemeClr val="tx1"/>
                          </a:solidFill>
                        </a:rPr>
                        <a:t>2 · L’entretien (u)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Candidat : formation, expérience, langues, disponibilité. Dites </a:t>
                      </a:r>
                      <a:r>
                        <a:rPr lang="en-US" sz="2000" b="1" dirty="0">
                          <a:solidFill>
                            <a:schemeClr val="tx1"/>
                          </a:solidFill>
                        </a:rPr>
                        <a:t>pourquoi</a:t>
                      </a:r>
                      <a:r>
                        <a:rPr lang="en-US" sz="2000" dirty="0">
                          <a:solidFill>
                            <a:schemeClr val="tx1"/>
                          </a:solidFill>
                        </a:rPr>
                        <a:t> avec </a:t>
                      </a:r>
                      <a:r>
                        <a:rPr lang="en-US" sz="2000" i="1" dirty="0">
                          <a:solidFill>
                            <a:schemeClr val="tx1"/>
                          </a:solidFill>
                        </a:rPr>
                        <a:t>omdat</a:t>
                      </a: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Employeur : posez 4 questions (</a:t>
                      </a:r>
                      <a:r>
                        <a:rPr lang="en-US" sz="2000" i="1" dirty="0">
                          <a:solidFill>
                            <a:schemeClr val="tx1"/>
                          </a:solidFill>
                        </a:rPr>
                        <a:t>Wat kunt u goed? Wanneer kunt u beginnen?</a:t>
                      </a:r>
                      <a:r>
                        <a:rPr lang="en-US" sz="2000" dirty="0">
                          <a:solidFill>
                            <a:schemeClr val="tx1"/>
                          </a:solidFill>
                        </a:rPr>
                        <a:t>) et présentez l’équipe.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1122883">
                <a:tc>
                  <a:txBody>
                    <a:bodyPr/>
                    <a:lstStyle/>
                    <a:p>
                      <a:pPr algn="l" indent="0" marL="0">
                        <a:buNone/>
                      </a:pPr>
                      <a:r>
                        <a:rPr lang="en-US" sz="2000" b="1" dirty="0">
                          <a:solidFill>
                            <a:schemeClr val="tx1"/>
                          </a:solidFill>
                        </a:rPr>
                        <a:t>3 · Na het examen (je)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Racontez votre examen : la préparation (perfectum), le stress (OVT), le résultat.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Ami·e : posez les questions et réagissez : </a:t>
                      </a:r>
                      <a:r>
                        <a:rPr lang="en-US" sz="2000" i="1" dirty="0">
                          <a:solidFill>
                            <a:schemeClr val="tx1"/>
                          </a:solidFill>
                        </a:rPr>
                        <a:t>Proficiat! · Jammer!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Après les trois scènes, A et B </a:t>
            </a:r>
            <a:r>
              <a:rPr lang="en-US" sz="1500" b="1" i="1" dirty="0">
                <a:solidFill>
                  <a:schemeClr val="accent5"/>
                </a:solidFill>
              </a:rPr>
              <a:t>inversent</a:t>
            </a:r>
            <a:r>
              <a:rPr lang="en-US" sz="1500" i="1" dirty="0">
                <a:solidFill>
                  <a:schemeClr val="accent5"/>
                </a:solidFill>
              </a:rPr>
              <a:t> les rôles. Préparation : 3 minutes, </a:t>
            </a:r>
            <a:r>
              <a:rPr lang="en-US" sz="1500" b="1" i="1" dirty="0">
                <a:solidFill>
                  <a:schemeClr val="accent5"/>
                </a:solidFill>
              </a:rPr>
              <a:t>sans écrire de phrases complètes</a:t>
            </a:r>
            <a:r>
              <a:rPr lang="en-US" sz="1500" i="1" dirty="0">
                <a:solidFill>
                  <a:schemeClr val="accent5"/>
                </a:solidFill>
              </a:rPr>
              <a:t> (mots-clés seulement).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Auto-évaluation A2 : je peux…</a:t>
            </a:r>
            <a:endParaRPr lang="en-US" sz="3200" dirty="0"/>
          </a:p>
        </p:txBody>
      </p:sp>
      <p:sp>
        <p:nvSpPr>
          <p:cNvPr id="3" name="tag"/>
          <p:cNvSpPr/>
          <p:nvPr/>
        </p:nvSpPr>
        <p:spPr>
          <a:xfrm>
            <a:off x="548640" y="237744"/>
            <a:ext cx="22174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AUTO-ÉVALUATION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Tout le livret</a:t>
            </a:r>
            <a:endParaRPr lang="en-US" sz="1200" dirty="0"/>
          </a:p>
        </p:txBody>
      </p:sp>
      <p:sp>
        <p:nvSpPr>
          <p:cNvPr id="6" name="Text 3"/>
          <p:cNvSpPr txBox="1"/>
          <p:nvPr/>
        </p:nvSpPr>
        <p:spPr>
          <a:xfrm>
            <a:off x="548640" y="1481328"/>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Cochez ce que vous savez faire </a:t>
            </a:r>
            <a:r>
              <a:rPr lang="en-US" sz="1700" b="1" i="1" dirty="0">
                <a:solidFill>
                  <a:schemeClr val="accent5"/>
                </a:solidFill>
              </a:rPr>
              <a:t>sans aide</a:t>
            </a:r>
            <a:r>
              <a:rPr lang="en-US" sz="1700" i="1" dirty="0">
                <a:solidFill>
                  <a:schemeClr val="accent5"/>
                </a:solidFill>
              </a:rPr>
              <a:t>. Une case vide → la fiche à revoir est indiquée.</a:t>
            </a:r>
            <a:endParaRPr lang="en-US" sz="1700" dirty="0"/>
          </a:p>
        </p:txBody>
      </p:sp>
      <p:sp>
        <p:nvSpPr>
          <p:cNvPr id="7" name="Shape 4"/>
          <p:cNvSpPr/>
          <p:nvPr/>
        </p:nvSpPr>
        <p:spPr>
          <a:xfrm>
            <a:off x="548640" y="1941576"/>
            <a:ext cx="5408676" cy="704088"/>
          </a:xfrm>
          <a:prstGeom prst="roundRect">
            <a:avLst>
              <a:gd name="adj" fmla="val 7792"/>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731520" y="2138172"/>
            <a:ext cx="310896" cy="310896"/>
          </a:xfrm>
          <a:prstGeom prst="rect">
            <a:avLst/>
          </a:prstGeom>
        </p:spPr>
      </p:pic>
      <p:sp>
        <p:nvSpPr>
          <p:cNvPr id="9" name="Text 5"/>
          <p:cNvSpPr txBox="1"/>
          <p:nvPr/>
        </p:nvSpPr>
        <p:spPr>
          <a:xfrm>
            <a:off x="1207008" y="1941576"/>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saluer</a:t>
            </a:r>
            <a:r>
              <a:rPr lang="en-US" sz="1900" dirty="0">
                <a:solidFill>
                  <a:schemeClr val="tx1"/>
                </a:solidFill>
              </a:rPr>
              <a:t>, demander des nouvelles et prendre congé (je / u). — Section 1</a:t>
            </a:r>
            <a:endParaRPr lang="en-US" sz="1900" dirty="0"/>
          </a:p>
        </p:txBody>
      </p:sp>
      <p:sp>
        <p:nvSpPr>
          <p:cNvPr id="10" name="Shape 6"/>
          <p:cNvSpPr/>
          <p:nvPr/>
        </p:nvSpPr>
        <p:spPr>
          <a:xfrm>
            <a:off x="548640" y="2718816"/>
            <a:ext cx="5408676" cy="704088"/>
          </a:xfrm>
          <a:prstGeom prst="roundRect">
            <a:avLst>
              <a:gd name="adj" fmla="val 7792"/>
            </a:avLst>
          </a:prstGeom>
          <a:solidFill>
            <a:schemeClr val="bg1"/>
          </a:solidFill>
          <a:ln w="6350">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731520" y="2915412"/>
            <a:ext cx="310896" cy="310896"/>
          </a:xfrm>
          <a:prstGeom prst="rect">
            <a:avLst/>
          </a:prstGeom>
        </p:spPr>
      </p:pic>
      <p:sp>
        <p:nvSpPr>
          <p:cNvPr id="12" name="Text 7"/>
          <p:cNvSpPr txBox="1"/>
          <p:nvPr/>
        </p:nvSpPr>
        <p:spPr>
          <a:xfrm>
            <a:off x="1207008" y="2718816"/>
            <a:ext cx="4631436" cy="704088"/>
          </a:xfrm>
          <a:prstGeom prst="rect">
            <a:avLst/>
          </a:prstGeom>
          <a:noFill/>
          <a:ln/>
        </p:spPr>
        <p:txBody>
          <a:bodyPr wrap="square" lIns="0" tIns="0" rIns="0" bIns="0" rtlCol="0" anchor="ctr"/>
          <a:lstStyle/>
          <a:p>
            <a:pPr indent="0" marL="0">
              <a:buNone/>
            </a:pPr>
            <a:r>
              <a:rPr lang="en-US" sz="1900" dirty="0">
                <a:solidFill>
                  <a:schemeClr val="tx1"/>
                </a:solidFill>
              </a:rPr>
              <a:t>me </a:t>
            </a:r>
            <a:r>
              <a:rPr lang="en-US" sz="1900" b="1" dirty="0">
                <a:solidFill>
                  <a:schemeClr val="tx1"/>
                </a:solidFill>
              </a:rPr>
              <a:t>présenter</a:t>
            </a:r>
            <a:r>
              <a:rPr lang="en-US" sz="1900" dirty="0">
                <a:solidFill>
                  <a:schemeClr val="tx1"/>
                </a:solidFill>
              </a:rPr>
              <a:t> : nom, origine, famille, métier. — S8</a:t>
            </a:r>
            <a:endParaRPr lang="en-US" sz="1900" dirty="0"/>
          </a:p>
        </p:txBody>
      </p:sp>
      <p:sp>
        <p:nvSpPr>
          <p:cNvPr id="13" name="Shape 8"/>
          <p:cNvSpPr/>
          <p:nvPr/>
        </p:nvSpPr>
        <p:spPr>
          <a:xfrm>
            <a:off x="548640" y="3496056"/>
            <a:ext cx="5408676" cy="704088"/>
          </a:xfrm>
          <a:prstGeom prst="roundRect">
            <a:avLst>
              <a:gd name="adj" fmla="val 7792"/>
            </a:avLst>
          </a:prstGeom>
          <a:solidFill>
            <a:schemeClr val="bg2"/>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731520" y="3692652"/>
            <a:ext cx="310896" cy="310896"/>
          </a:xfrm>
          <a:prstGeom prst="rect">
            <a:avLst/>
          </a:prstGeom>
        </p:spPr>
      </p:pic>
      <p:sp>
        <p:nvSpPr>
          <p:cNvPr id="15" name="Text 9"/>
          <p:cNvSpPr txBox="1"/>
          <p:nvPr/>
        </p:nvSpPr>
        <p:spPr>
          <a:xfrm>
            <a:off x="1207008" y="3496056"/>
            <a:ext cx="4631436" cy="704088"/>
          </a:xfrm>
          <a:prstGeom prst="rect">
            <a:avLst/>
          </a:prstGeom>
          <a:noFill/>
          <a:ln/>
        </p:spPr>
        <p:txBody>
          <a:bodyPr wrap="square" lIns="0" tIns="0" rIns="0" bIns="0" rtlCol="0" anchor="ctr"/>
          <a:lstStyle/>
          <a:p>
            <a:pPr indent="0" marL="0">
              <a:buNone/>
            </a:pPr>
            <a:r>
              <a:rPr lang="en-US" sz="1900" dirty="0">
                <a:solidFill>
                  <a:schemeClr val="tx1"/>
                </a:solidFill>
              </a:rPr>
              <a:t>m’</a:t>
            </a:r>
            <a:r>
              <a:rPr lang="en-US" sz="1900" b="1" dirty="0">
                <a:solidFill>
                  <a:schemeClr val="tx1"/>
                </a:solidFill>
              </a:rPr>
              <a:t>inscrire</a:t>
            </a:r>
            <a:r>
              <a:rPr lang="en-US" sz="1900" dirty="0">
                <a:solidFill>
                  <a:schemeClr val="tx1"/>
                </a:solidFill>
              </a:rPr>
              <a:t> à un cours et remplir un </a:t>
            </a:r>
            <a:r>
              <a:rPr lang="en-US" sz="1900" b="1" dirty="0">
                <a:solidFill>
                  <a:schemeClr val="tx1"/>
                </a:solidFill>
              </a:rPr>
              <a:t>formulaire</a:t>
            </a:r>
            <a:r>
              <a:rPr lang="en-US" sz="1900" dirty="0">
                <a:solidFill>
                  <a:schemeClr val="tx1"/>
                </a:solidFill>
              </a:rPr>
              <a:t>. — Fiches 4 · 5</a:t>
            </a:r>
            <a:endParaRPr lang="en-US" sz="1900" dirty="0"/>
          </a:p>
        </p:txBody>
      </p:sp>
      <p:sp>
        <p:nvSpPr>
          <p:cNvPr id="16" name="Shape 10"/>
          <p:cNvSpPr/>
          <p:nvPr/>
        </p:nvSpPr>
        <p:spPr>
          <a:xfrm>
            <a:off x="548640" y="4273296"/>
            <a:ext cx="5408676" cy="704088"/>
          </a:xfrm>
          <a:prstGeom prst="roundRect">
            <a:avLst>
              <a:gd name="adj" fmla="val 7792"/>
            </a:avLst>
          </a:prstGeom>
          <a:solidFill>
            <a:schemeClr val="bg1"/>
          </a:solidFill>
          <a:ln w="6350">
            <a:solidFill>
              <a:srgbClr val="D5DCE6"/>
            </a:solidFill>
            <a:prstDash val="solid"/>
          </a:ln>
        </p:spPr>
      </p:sp>
      <p:pic>
        <p:nvPicPr>
          <p:cNvPr id="17" name="Image 3" descr="preencoded.png">    </p:cNvPr>
          <p:cNvPicPr>
            <a:picLocks noChangeAspect="1"/>
          </p:cNvPicPr>
          <p:nvPr/>
        </p:nvPicPr>
        <p:blipFill>
          <a:blip r:embed="rId4"/>
          <a:stretch>
            <a:fillRect/>
          </a:stretch>
        </p:blipFill>
        <p:spPr>
          <a:xfrm>
            <a:off x="731520" y="4469892"/>
            <a:ext cx="310896" cy="310896"/>
          </a:xfrm>
          <a:prstGeom prst="rect">
            <a:avLst/>
          </a:prstGeom>
        </p:spPr>
      </p:pic>
      <p:sp>
        <p:nvSpPr>
          <p:cNvPr id="18" name="Text 11"/>
          <p:cNvSpPr txBox="1"/>
          <p:nvPr/>
        </p:nvSpPr>
        <p:spPr>
          <a:xfrm>
            <a:off x="1207008" y="4273296"/>
            <a:ext cx="4631436" cy="704088"/>
          </a:xfrm>
          <a:prstGeom prst="rect">
            <a:avLst/>
          </a:prstGeom>
          <a:noFill/>
          <a:ln/>
        </p:spPr>
        <p:txBody>
          <a:bodyPr wrap="square" lIns="0" tIns="0" rIns="0" bIns="0" rtlCol="0" anchor="ctr"/>
          <a:lstStyle/>
          <a:p>
            <a:pPr indent="0" marL="0">
              <a:buNone/>
            </a:pPr>
            <a:r>
              <a:rPr lang="en-US" sz="1900" dirty="0">
                <a:solidFill>
                  <a:schemeClr val="tx1"/>
                </a:solidFill>
              </a:rPr>
              <a:t>parler de mes </a:t>
            </a:r>
            <a:r>
              <a:rPr lang="en-US" sz="1900" b="1" dirty="0">
                <a:solidFill>
                  <a:schemeClr val="tx1"/>
                </a:solidFill>
              </a:rPr>
              <a:t>disponibilités</a:t>
            </a:r>
            <a:r>
              <a:rPr lang="en-US" sz="1900" dirty="0">
                <a:solidFill>
                  <a:schemeClr val="tx1"/>
                </a:solidFill>
              </a:rPr>
              <a:t>, fixer un rendez-vous. — Fiche 3</a:t>
            </a:r>
            <a:endParaRPr lang="en-US" sz="1900" dirty="0"/>
          </a:p>
        </p:txBody>
      </p:sp>
      <p:sp>
        <p:nvSpPr>
          <p:cNvPr id="19" name="Shape 12"/>
          <p:cNvSpPr/>
          <p:nvPr/>
        </p:nvSpPr>
        <p:spPr>
          <a:xfrm>
            <a:off x="548640" y="5050536"/>
            <a:ext cx="5408676" cy="704088"/>
          </a:xfrm>
          <a:prstGeom prst="roundRect">
            <a:avLst>
              <a:gd name="adj" fmla="val 7792"/>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731520" y="5247132"/>
            <a:ext cx="310896" cy="310896"/>
          </a:xfrm>
          <a:prstGeom prst="rect">
            <a:avLst/>
          </a:prstGeom>
        </p:spPr>
      </p:pic>
      <p:sp>
        <p:nvSpPr>
          <p:cNvPr id="21" name="Text 13"/>
          <p:cNvSpPr txBox="1"/>
          <p:nvPr/>
        </p:nvSpPr>
        <p:spPr>
          <a:xfrm>
            <a:off x="1207008" y="5050536"/>
            <a:ext cx="4631436" cy="704088"/>
          </a:xfrm>
          <a:prstGeom prst="rect">
            <a:avLst/>
          </a:prstGeom>
          <a:noFill/>
          <a:ln/>
        </p:spPr>
        <p:txBody>
          <a:bodyPr wrap="square" lIns="0" tIns="0" rIns="0" bIns="0" rtlCol="0" anchor="ctr"/>
          <a:lstStyle/>
          <a:p>
            <a:pPr indent="0" marL="0">
              <a:buNone/>
            </a:pPr>
            <a:r>
              <a:rPr lang="en-US" sz="1900" dirty="0">
                <a:solidFill>
                  <a:schemeClr val="tx1"/>
                </a:solidFill>
              </a:rPr>
              <a:t>parler de mon </a:t>
            </a:r>
            <a:r>
              <a:rPr lang="en-US" sz="1900" b="1" dirty="0">
                <a:solidFill>
                  <a:schemeClr val="tx1"/>
                </a:solidFill>
              </a:rPr>
              <a:t>CV</a:t>
            </a:r>
            <a:r>
              <a:rPr lang="en-US" sz="1900" dirty="0">
                <a:solidFill>
                  <a:schemeClr val="tx1"/>
                </a:solidFill>
              </a:rPr>
              <a:t>, répondre à un </a:t>
            </a:r>
            <a:r>
              <a:rPr lang="en-US" sz="1900" b="1" dirty="0">
                <a:solidFill>
                  <a:schemeClr val="tx1"/>
                </a:solidFill>
              </a:rPr>
              <a:t>entretien</a:t>
            </a:r>
            <a:r>
              <a:rPr lang="en-US" sz="1900" dirty="0">
                <a:solidFill>
                  <a:schemeClr val="tx1"/>
                </a:solidFill>
              </a:rPr>
              <a:t>. — Fiches 2 · 6</a:t>
            </a:r>
            <a:endParaRPr lang="en-US" sz="1900" dirty="0"/>
          </a:p>
        </p:txBody>
      </p:sp>
      <p:sp>
        <p:nvSpPr>
          <p:cNvPr id="22" name="Shape 14"/>
          <p:cNvSpPr/>
          <p:nvPr/>
        </p:nvSpPr>
        <p:spPr>
          <a:xfrm>
            <a:off x="6231636" y="1941576"/>
            <a:ext cx="5408676" cy="704088"/>
          </a:xfrm>
          <a:prstGeom prst="roundRect">
            <a:avLst>
              <a:gd name="adj" fmla="val 7792"/>
            </a:avLst>
          </a:prstGeom>
          <a:solidFill>
            <a:schemeClr val="bg2"/>
          </a:solidFill>
          <a:ln w="6350">
            <a:solidFill>
              <a:srgbClr val="D5DCE6"/>
            </a:solidFill>
            <a:prstDash val="solid"/>
          </a:ln>
        </p:spPr>
      </p:sp>
      <p:pic>
        <p:nvPicPr>
          <p:cNvPr id="23" name="Image 5" descr="preencoded.png">    </p:cNvPr>
          <p:cNvPicPr>
            <a:picLocks noChangeAspect="1"/>
          </p:cNvPicPr>
          <p:nvPr/>
        </p:nvPicPr>
        <p:blipFill>
          <a:blip r:embed="rId6"/>
          <a:stretch>
            <a:fillRect/>
          </a:stretch>
        </p:blipFill>
        <p:spPr>
          <a:xfrm>
            <a:off x="6414516" y="2138172"/>
            <a:ext cx="310896" cy="310896"/>
          </a:xfrm>
          <a:prstGeom prst="rect">
            <a:avLst/>
          </a:prstGeom>
        </p:spPr>
      </p:pic>
      <p:sp>
        <p:nvSpPr>
          <p:cNvPr id="24" name="Text 15"/>
          <p:cNvSpPr txBox="1"/>
          <p:nvPr/>
        </p:nvSpPr>
        <p:spPr>
          <a:xfrm>
            <a:off x="6890004" y="1941576"/>
            <a:ext cx="4631436" cy="704088"/>
          </a:xfrm>
          <a:prstGeom prst="rect">
            <a:avLst/>
          </a:prstGeom>
          <a:noFill/>
          <a:ln/>
        </p:spPr>
        <p:txBody>
          <a:bodyPr wrap="square" lIns="0" tIns="0" rIns="0" bIns="0" rtlCol="0" anchor="ctr"/>
          <a:lstStyle/>
          <a:p>
            <a:pPr indent="0" marL="0">
              <a:buNone/>
            </a:pPr>
            <a:r>
              <a:rPr lang="en-US" sz="1900" dirty="0">
                <a:solidFill>
                  <a:schemeClr val="tx1"/>
                </a:solidFill>
              </a:rPr>
              <a:t>me présenter dans une </a:t>
            </a:r>
            <a:r>
              <a:rPr lang="en-US" sz="1900" b="1" dirty="0">
                <a:solidFill>
                  <a:schemeClr val="tx1"/>
                </a:solidFill>
              </a:rPr>
              <a:t>entreprise</a:t>
            </a:r>
            <a:r>
              <a:rPr lang="en-US" sz="1900" dirty="0">
                <a:solidFill>
                  <a:schemeClr val="tx1"/>
                </a:solidFill>
              </a:rPr>
              <a:t>. — Fiche 7</a:t>
            </a:r>
            <a:endParaRPr lang="en-US" sz="1900" dirty="0"/>
          </a:p>
        </p:txBody>
      </p:sp>
      <p:sp>
        <p:nvSpPr>
          <p:cNvPr id="25" name="Shape 16"/>
          <p:cNvSpPr/>
          <p:nvPr/>
        </p:nvSpPr>
        <p:spPr>
          <a:xfrm>
            <a:off x="6231636" y="2718816"/>
            <a:ext cx="5408676" cy="704088"/>
          </a:xfrm>
          <a:prstGeom prst="roundRect">
            <a:avLst>
              <a:gd name="adj" fmla="val 7792"/>
            </a:avLst>
          </a:prstGeom>
          <a:solidFill>
            <a:schemeClr val="bg1"/>
          </a:solidFill>
          <a:ln w="6350">
            <a:solidFill>
              <a:srgbClr val="D5DCE6"/>
            </a:solidFill>
            <a:prstDash val="solid"/>
          </a:ln>
        </p:spPr>
      </p:sp>
      <p:pic>
        <p:nvPicPr>
          <p:cNvPr id="26" name="Image 6" descr="preencoded.png">    </p:cNvPr>
          <p:cNvPicPr>
            <a:picLocks noChangeAspect="1"/>
          </p:cNvPicPr>
          <p:nvPr/>
        </p:nvPicPr>
        <p:blipFill>
          <a:blip r:embed="rId7"/>
          <a:stretch>
            <a:fillRect/>
          </a:stretch>
        </p:blipFill>
        <p:spPr>
          <a:xfrm>
            <a:off x="6414516" y="2915412"/>
            <a:ext cx="310896" cy="310896"/>
          </a:xfrm>
          <a:prstGeom prst="rect">
            <a:avLst/>
          </a:prstGeom>
        </p:spPr>
      </p:pic>
      <p:sp>
        <p:nvSpPr>
          <p:cNvPr id="27" name="Text 17"/>
          <p:cNvSpPr txBox="1"/>
          <p:nvPr/>
        </p:nvSpPr>
        <p:spPr>
          <a:xfrm>
            <a:off x="6890004" y="2718816"/>
            <a:ext cx="4631436" cy="704088"/>
          </a:xfrm>
          <a:prstGeom prst="rect">
            <a:avLst/>
          </a:prstGeom>
          <a:noFill/>
          <a:ln/>
        </p:spPr>
        <p:txBody>
          <a:bodyPr wrap="square" lIns="0" tIns="0" rIns="0" bIns="0" rtlCol="0" anchor="ctr"/>
          <a:lstStyle/>
          <a:p>
            <a:pPr indent="0" marL="0">
              <a:buNone/>
            </a:pPr>
            <a:r>
              <a:rPr lang="en-US" sz="1900" dirty="0">
                <a:solidFill>
                  <a:schemeClr val="tx1"/>
                </a:solidFill>
              </a:rPr>
              <a:t>dire comment je me </a:t>
            </a:r>
            <a:r>
              <a:rPr lang="en-US" sz="1900" b="1" dirty="0">
                <a:solidFill>
                  <a:schemeClr val="tx1"/>
                </a:solidFill>
              </a:rPr>
              <a:t>sens</a:t>
            </a:r>
            <a:r>
              <a:rPr lang="en-US" sz="1900" dirty="0">
                <a:solidFill>
                  <a:schemeClr val="tx1"/>
                </a:solidFill>
              </a:rPr>
              <a:t> et pourquoi (omdat). — Fiche 8</a:t>
            </a:r>
            <a:endParaRPr lang="en-US" sz="1900" dirty="0"/>
          </a:p>
        </p:txBody>
      </p:sp>
      <p:sp>
        <p:nvSpPr>
          <p:cNvPr id="28" name="Shape 18"/>
          <p:cNvSpPr/>
          <p:nvPr/>
        </p:nvSpPr>
        <p:spPr>
          <a:xfrm>
            <a:off x="6231636" y="3496056"/>
            <a:ext cx="5408676" cy="704088"/>
          </a:xfrm>
          <a:prstGeom prst="roundRect">
            <a:avLst>
              <a:gd name="adj" fmla="val 7792"/>
            </a:avLst>
          </a:prstGeom>
          <a:solidFill>
            <a:schemeClr val="bg2"/>
          </a:solidFill>
          <a:ln w="6350">
            <a:solidFill>
              <a:srgbClr val="D5DCE6"/>
            </a:solidFill>
            <a:prstDash val="solid"/>
          </a:ln>
        </p:spPr>
      </p:sp>
      <p:pic>
        <p:nvPicPr>
          <p:cNvPr id="29" name="Image 7" descr="preencoded.png">    </p:cNvPr>
          <p:cNvPicPr>
            <a:picLocks noChangeAspect="1"/>
          </p:cNvPicPr>
          <p:nvPr/>
        </p:nvPicPr>
        <p:blipFill>
          <a:blip r:embed="rId8"/>
          <a:stretch>
            <a:fillRect/>
          </a:stretch>
        </p:blipFill>
        <p:spPr>
          <a:xfrm>
            <a:off x="6414516" y="3692652"/>
            <a:ext cx="310896" cy="310896"/>
          </a:xfrm>
          <a:prstGeom prst="rect">
            <a:avLst/>
          </a:prstGeom>
        </p:spPr>
      </p:pic>
      <p:sp>
        <p:nvSpPr>
          <p:cNvPr id="30" name="Text 19"/>
          <p:cNvSpPr txBox="1"/>
          <p:nvPr/>
        </p:nvSpPr>
        <p:spPr>
          <a:xfrm>
            <a:off x="6890004" y="3496056"/>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raconter</a:t>
            </a:r>
            <a:r>
              <a:rPr lang="en-US" sz="1900" dirty="0">
                <a:solidFill>
                  <a:schemeClr val="tx1"/>
                </a:solidFill>
              </a:rPr>
              <a:t> au passé : </a:t>
            </a:r>
            <a:r>
              <a:rPr lang="en-US" sz="1900" i="1" dirty="0">
                <a:solidFill>
                  <a:schemeClr val="tx1"/>
                </a:solidFill>
              </a:rPr>
              <a:t>ik heb gewerkt · ik was</a:t>
            </a:r>
            <a:r>
              <a:rPr lang="en-US" sz="1900" dirty="0">
                <a:solidFill>
                  <a:schemeClr val="tx1"/>
                </a:solidFill>
              </a:rPr>
              <a:t>. — Fiche 10</a:t>
            </a:r>
            <a:endParaRPr lang="en-US" sz="1900" dirty="0"/>
          </a:p>
        </p:txBody>
      </p:sp>
      <p:sp>
        <p:nvSpPr>
          <p:cNvPr id="31" name="Shape 20"/>
          <p:cNvSpPr/>
          <p:nvPr/>
        </p:nvSpPr>
        <p:spPr>
          <a:xfrm>
            <a:off x="6231636" y="4273296"/>
            <a:ext cx="5408676" cy="704088"/>
          </a:xfrm>
          <a:prstGeom prst="roundRect">
            <a:avLst>
              <a:gd name="adj" fmla="val 7792"/>
            </a:avLst>
          </a:prstGeom>
          <a:solidFill>
            <a:schemeClr val="bg1"/>
          </a:solidFill>
          <a:ln w="6350">
            <a:solidFill>
              <a:srgbClr val="D5DCE6"/>
            </a:solidFill>
            <a:prstDash val="solid"/>
          </a:ln>
        </p:spPr>
      </p:sp>
      <p:pic>
        <p:nvPicPr>
          <p:cNvPr id="32" name="Image 8" descr="preencoded.png">    </p:cNvPr>
          <p:cNvPicPr>
            <a:picLocks noChangeAspect="1"/>
          </p:cNvPicPr>
          <p:nvPr/>
        </p:nvPicPr>
        <p:blipFill>
          <a:blip r:embed="rId9"/>
          <a:stretch>
            <a:fillRect/>
          </a:stretch>
        </p:blipFill>
        <p:spPr>
          <a:xfrm>
            <a:off x="6414516" y="4469892"/>
            <a:ext cx="310896" cy="310896"/>
          </a:xfrm>
          <a:prstGeom prst="rect">
            <a:avLst/>
          </a:prstGeom>
        </p:spPr>
      </p:pic>
      <p:sp>
        <p:nvSpPr>
          <p:cNvPr id="33" name="Text 21"/>
          <p:cNvSpPr txBox="1"/>
          <p:nvPr/>
        </p:nvSpPr>
        <p:spPr>
          <a:xfrm>
            <a:off x="6890004" y="4273296"/>
            <a:ext cx="4631436" cy="704088"/>
          </a:xfrm>
          <a:prstGeom prst="rect">
            <a:avLst/>
          </a:prstGeom>
          <a:noFill/>
          <a:ln/>
        </p:spPr>
        <p:txBody>
          <a:bodyPr wrap="square" lIns="0" tIns="0" rIns="0" bIns="0" rtlCol="0" anchor="ctr"/>
          <a:lstStyle/>
          <a:p>
            <a:pPr indent="0" marL="0">
              <a:buNone/>
            </a:pPr>
            <a:r>
              <a:rPr lang="en-US" sz="1900" dirty="0">
                <a:solidFill>
                  <a:schemeClr val="tx1"/>
                </a:solidFill>
              </a:rPr>
              <a:t>faire des </a:t>
            </a:r>
            <a:r>
              <a:rPr lang="en-US" sz="1900" b="1" dirty="0">
                <a:solidFill>
                  <a:schemeClr val="tx1"/>
                </a:solidFill>
              </a:rPr>
              <a:t>courses</a:t>
            </a:r>
            <a:r>
              <a:rPr lang="en-US" sz="1900" dirty="0">
                <a:solidFill>
                  <a:schemeClr val="tx1"/>
                </a:solidFill>
              </a:rPr>
              <a:t> et commander au </a:t>
            </a:r>
            <a:r>
              <a:rPr lang="en-US" sz="1900" b="1" dirty="0">
                <a:solidFill>
                  <a:schemeClr val="tx1"/>
                </a:solidFill>
              </a:rPr>
              <a:t>café</a:t>
            </a:r>
            <a:r>
              <a:rPr lang="en-US" sz="1900" dirty="0">
                <a:solidFill>
                  <a:schemeClr val="tx1"/>
                </a:solidFill>
              </a:rPr>
              <a:t>. — S18</a:t>
            </a:r>
            <a:endParaRPr lang="en-US" sz="1900" dirty="0"/>
          </a:p>
        </p:txBody>
      </p:sp>
      <p:sp>
        <p:nvSpPr>
          <p:cNvPr id="34" name="Shape 22"/>
          <p:cNvSpPr/>
          <p:nvPr/>
        </p:nvSpPr>
        <p:spPr>
          <a:xfrm>
            <a:off x="6231636" y="5050536"/>
            <a:ext cx="5408676" cy="704088"/>
          </a:xfrm>
          <a:prstGeom prst="roundRect">
            <a:avLst>
              <a:gd name="adj" fmla="val 7792"/>
            </a:avLst>
          </a:prstGeom>
          <a:solidFill>
            <a:schemeClr val="bg2"/>
          </a:solidFill>
          <a:ln w="6350">
            <a:solidFill>
              <a:srgbClr val="D5DCE6"/>
            </a:solidFill>
            <a:prstDash val="solid"/>
          </a:ln>
        </p:spPr>
      </p:sp>
      <p:pic>
        <p:nvPicPr>
          <p:cNvPr id="35" name="Image 9" descr="preencoded.png">    </p:cNvPr>
          <p:cNvPicPr>
            <a:picLocks noChangeAspect="1"/>
          </p:cNvPicPr>
          <p:nvPr/>
        </p:nvPicPr>
        <p:blipFill>
          <a:blip r:embed="rId10"/>
          <a:stretch>
            <a:fillRect/>
          </a:stretch>
        </p:blipFill>
        <p:spPr>
          <a:xfrm>
            <a:off x="6414516" y="5247132"/>
            <a:ext cx="310896" cy="310896"/>
          </a:xfrm>
          <a:prstGeom prst="rect">
            <a:avLst/>
          </a:prstGeom>
        </p:spPr>
      </p:pic>
      <p:sp>
        <p:nvSpPr>
          <p:cNvPr id="36" name="Text 23"/>
          <p:cNvSpPr txBox="1"/>
          <p:nvPr/>
        </p:nvSpPr>
        <p:spPr>
          <a:xfrm>
            <a:off x="6890004" y="5050536"/>
            <a:ext cx="4631436" cy="704088"/>
          </a:xfrm>
          <a:prstGeom prst="rect">
            <a:avLst/>
          </a:prstGeom>
          <a:noFill/>
          <a:ln/>
        </p:spPr>
        <p:txBody>
          <a:bodyPr wrap="square" lIns="0" tIns="0" rIns="0" bIns="0" rtlCol="0" anchor="ctr"/>
          <a:lstStyle/>
          <a:p>
            <a:pPr indent="0" marL="0">
              <a:buNone/>
            </a:pPr>
            <a:r>
              <a:rPr lang="en-US" sz="1900" dirty="0">
                <a:solidFill>
                  <a:schemeClr val="tx1"/>
                </a:solidFill>
              </a:rPr>
              <a:t>dire où j’ai </a:t>
            </a:r>
            <a:r>
              <a:rPr lang="en-US" sz="1900" b="1" dirty="0">
                <a:solidFill>
                  <a:schemeClr val="tx1"/>
                </a:solidFill>
              </a:rPr>
              <a:t>mal</a:t>
            </a:r>
            <a:r>
              <a:rPr lang="en-US" sz="1900" dirty="0">
                <a:solidFill>
                  <a:schemeClr val="tx1"/>
                </a:solidFill>
              </a:rPr>
              <a:t>, aller chez le médecin. — S17</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Conseils pour l’examen oral</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Préparation de l’évaluation</a:t>
            </a:r>
            <a:endParaRPr lang="en-US" sz="1200" dirty="0"/>
          </a:p>
        </p:txBody>
      </p:sp>
      <p:sp>
        <p:nvSpPr>
          <p:cNvPr id="6" name="Shape 3"/>
          <p:cNvSpPr/>
          <p:nvPr/>
        </p:nvSpPr>
        <p:spPr>
          <a:xfrm>
            <a:off x="548640"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2567178" cy="502920"/>
          </a:xfrm>
          <a:prstGeom prst="roundRect">
            <a:avLst>
              <a:gd name="adj" fmla="val 18182"/>
            </a:avLst>
          </a:prstGeom>
          <a:solidFill>
            <a:schemeClr val="accent2"/>
          </a:solidFill>
          <a:ln/>
        </p:spPr>
      </p:sp>
      <p:sp>
        <p:nvSpPr>
          <p:cNvPr id="8" name="Shape 5"/>
          <p:cNvSpPr/>
          <p:nvPr/>
        </p:nvSpPr>
        <p:spPr>
          <a:xfrm>
            <a:off x="548640" y="1801368"/>
            <a:ext cx="2567178" cy="182880"/>
          </a:xfrm>
          <a:prstGeom prst="rect">
            <a:avLst/>
          </a:prstGeom>
          <a:solidFill>
            <a:schemeClr val="accent2"/>
          </a:solidFill>
          <a:ln w="12700">
            <a:solidFill>
              <a:schemeClr val="accent2"/>
            </a:solidFill>
            <a:prstDash val="solid"/>
          </a:ln>
        </p:spPr>
      </p:sp>
      <p:sp>
        <p:nvSpPr>
          <p:cNvPr id="9" name="Text 6"/>
          <p:cNvSpPr txBox="1"/>
          <p:nvPr/>
        </p:nvSpPr>
        <p:spPr>
          <a:xfrm>
            <a:off x="731520"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AVANT</a:t>
            </a:r>
            <a:endParaRPr lang="en-US" sz="1500" dirty="0"/>
          </a:p>
        </p:txBody>
      </p:sp>
      <p:sp>
        <p:nvSpPr>
          <p:cNvPr id="10" name="Text 7"/>
          <p:cNvSpPr txBox="1"/>
          <p:nvPr/>
        </p:nvSpPr>
        <p:spPr>
          <a:xfrm>
            <a:off x="731520" y="2084832"/>
            <a:ext cx="2201418"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Herhalen!</a:t>
            </a:r>
            <a:endParaRPr lang="en-US" sz="2400" dirty="0"/>
          </a:p>
        </p:txBody>
      </p:sp>
      <p:sp>
        <p:nvSpPr>
          <p:cNvPr id="11" name="Text 8"/>
          <p:cNvSpPr txBox="1"/>
          <p:nvPr/>
        </p:nvSpPr>
        <p:spPr>
          <a:xfrm>
            <a:off x="731520"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Relisez les </a:t>
            </a:r>
            <a:r>
              <a:rPr lang="en-US" sz="1600" b="1" dirty="0">
                <a:solidFill>
                  <a:schemeClr val="tx1"/>
                </a:solidFill>
              </a:rPr>
              <a:t>Jalons</a:t>
            </a:r>
            <a:r>
              <a:rPr lang="en-US" sz="1600" dirty="0">
                <a:solidFill>
                  <a:schemeClr val="tx1"/>
                </a:solidFill>
              </a:rPr>
              <a:t> des 10 fiches à voix haute.</a:t>
            </a:r>
            <a:endParaRPr lang="en-US" sz="1600" dirty="0"/>
          </a:p>
          <a:p>
            <a:pPr marL="177800" indent="-177800">
              <a:spcAft>
                <a:spcPts val="600"/>
              </a:spcAft>
              <a:buSzPct val="100000"/>
              <a:buChar char="•"/>
            </a:pPr>
            <a:r>
              <a:rPr lang="en-US" sz="1600" dirty="0">
                <a:solidFill>
                  <a:schemeClr val="tx1"/>
                </a:solidFill>
              </a:rPr>
              <a:t>Préparez 5 phrases </a:t>
            </a:r>
            <a:r>
              <a:rPr lang="en-US" sz="1600" b="1" dirty="0">
                <a:solidFill>
                  <a:schemeClr val="tx1"/>
                </a:solidFill>
              </a:rPr>
              <a:t>vraies</a:t>
            </a:r>
            <a:r>
              <a:rPr lang="en-US" sz="1600" dirty="0">
                <a:solidFill>
                  <a:schemeClr val="tx1"/>
                </a:solidFill>
              </a:rPr>
              <a:t> sur vous.</a:t>
            </a:r>
            <a:endParaRPr lang="en-US" sz="1600" dirty="0"/>
          </a:p>
        </p:txBody>
      </p:sp>
      <p:sp>
        <p:nvSpPr>
          <p:cNvPr id="12" name="Shape 9"/>
          <p:cNvSpPr/>
          <p:nvPr/>
        </p:nvSpPr>
        <p:spPr>
          <a:xfrm>
            <a:off x="3390138"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3390138" y="1481328"/>
            <a:ext cx="2567178" cy="502920"/>
          </a:xfrm>
          <a:prstGeom prst="roundRect">
            <a:avLst>
              <a:gd name="adj" fmla="val 18182"/>
            </a:avLst>
          </a:prstGeom>
          <a:solidFill>
            <a:schemeClr val="accent3"/>
          </a:solidFill>
          <a:ln/>
        </p:spPr>
      </p:sp>
      <p:sp>
        <p:nvSpPr>
          <p:cNvPr id="14" name="Shape 11"/>
          <p:cNvSpPr/>
          <p:nvPr/>
        </p:nvSpPr>
        <p:spPr>
          <a:xfrm>
            <a:off x="3390138" y="1801368"/>
            <a:ext cx="2567178" cy="182880"/>
          </a:xfrm>
          <a:prstGeom prst="rect">
            <a:avLst/>
          </a:prstGeom>
          <a:solidFill>
            <a:schemeClr val="accent3"/>
          </a:solidFill>
          <a:ln w="12700">
            <a:solidFill>
              <a:schemeClr val="accent3"/>
            </a:solidFill>
            <a:prstDash val="solid"/>
          </a:ln>
        </p:spPr>
      </p:sp>
      <p:sp>
        <p:nvSpPr>
          <p:cNvPr id="15" name="Text 12"/>
          <p:cNvSpPr txBox="1"/>
          <p:nvPr/>
        </p:nvSpPr>
        <p:spPr>
          <a:xfrm>
            <a:off x="3573018"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PENDANT</a:t>
            </a:r>
            <a:endParaRPr lang="en-US" sz="1500" dirty="0"/>
          </a:p>
        </p:txBody>
      </p:sp>
      <p:sp>
        <p:nvSpPr>
          <p:cNvPr id="16" name="Text 13"/>
          <p:cNvSpPr txBox="1"/>
          <p:nvPr/>
        </p:nvSpPr>
        <p:spPr>
          <a:xfrm>
            <a:off x="3573018" y="2084832"/>
            <a:ext cx="2201418"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Rustig!</a:t>
            </a:r>
            <a:endParaRPr lang="en-US" sz="2400" dirty="0"/>
          </a:p>
        </p:txBody>
      </p:sp>
      <p:sp>
        <p:nvSpPr>
          <p:cNvPr id="17" name="Text 14"/>
          <p:cNvSpPr txBox="1"/>
          <p:nvPr/>
        </p:nvSpPr>
        <p:spPr>
          <a:xfrm>
            <a:off x="3573018"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Des phrases </a:t>
            </a:r>
            <a:r>
              <a:rPr lang="en-US" sz="1600" b="1" dirty="0">
                <a:solidFill>
                  <a:schemeClr val="tx1"/>
                </a:solidFill>
              </a:rPr>
              <a:t>simples et complètes</a:t>
            </a:r>
            <a:r>
              <a:rPr lang="en-US" sz="1600" dirty="0">
                <a:solidFill>
                  <a:schemeClr val="tx1"/>
                </a:solidFill>
              </a:rPr>
              <a:t>.</a:t>
            </a:r>
            <a:endParaRPr lang="en-US" sz="1600" dirty="0"/>
          </a:p>
          <a:p>
            <a:pPr marL="177800" indent="-177800">
              <a:spcAft>
                <a:spcPts val="600"/>
              </a:spcAft>
              <a:buSzPct val="100000"/>
              <a:buChar char="•"/>
            </a:pPr>
            <a:r>
              <a:rPr lang="en-US" sz="1600" dirty="0">
                <a:solidFill>
                  <a:schemeClr val="tx1"/>
                </a:solidFill>
              </a:rPr>
              <a:t>Vérifiez la place du </a:t>
            </a:r>
            <a:r>
              <a:rPr lang="en-US" sz="1600" b="1" dirty="0">
                <a:solidFill>
                  <a:schemeClr val="tx1"/>
                </a:solidFill>
              </a:rPr>
              <a:t>verbe</a:t>
            </a:r>
            <a:r>
              <a:rPr lang="en-US" sz="1600" dirty="0">
                <a:solidFill>
                  <a:schemeClr val="tx1"/>
                </a:solidFill>
              </a:rPr>
              <a:t>.</a:t>
            </a:r>
            <a:endParaRPr lang="en-US" sz="1600" dirty="0"/>
          </a:p>
          <a:p>
            <a:pPr marL="177800" indent="-177800">
              <a:spcAft>
                <a:spcPts val="600"/>
              </a:spcAft>
              <a:buSzPct val="100000"/>
              <a:buChar char="•"/>
            </a:pPr>
            <a:r>
              <a:rPr lang="en-US" sz="1600" dirty="0">
                <a:solidFill>
                  <a:schemeClr val="tx1"/>
                </a:solidFill>
              </a:rPr>
              <a:t>Posez aussi une </a:t>
            </a:r>
            <a:r>
              <a:rPr lang="en-US" sz="1600" b="1" dirty="0">
                <a:solidFill>
                  <a:schemeClr val="tx1"/>
                </a:solidFill>
              </a:rPr>
              <a:t>question</a:t>
            </a:r>
            <a:r>
              <a:rPr lang="en-US" sz="1600" dirty="0">
                <a:solidFill>
                  <a:schemeClr val="tx1"/>
                </a:solidFill>
              </a:rPr>
              <a:t> : </a:t>
            </a:r>
            <a:r>
              <a:rPr lang="en-US" sz="1600" i="1" dirty="0">
                <a:solidFill>
                  <a:schemeClr val="tx1"/>
                </a:solidFill>
              </a:rPr>
              <a:t>En u?</a:t>
            </a:r>
            <a:endParaRPr lang="en-US" sz="1600" dirty="0"/>
          </a:p>
        </p:txBody>
      </p:sp>
      <p:sp>
        <p:nvSpPr>
          <p:cNvPr id="18" name="Shape 15"/>
          <p:cNvSpPr/>
          <p:nvPr/>
        </p:nvSpPr>
        <p:spPr>
          <a:xfrm>
            <a:off x="6231636"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6231636" y="1481328"/>
            <a:ext cx="2567178" cy="502920"/>
          </a:xfrm>
          <a:prstGeom prst="roundRect">
            <a:avLst>
              <a:gd name="adj" fmla="val 18182"/>
            </a:avLst>
          </a:prstGeom>
          <a:solidFill>
            <a:schemeClr val="accent1"/>
          </a:solidFill>
          <a:ln/>
        </p:spPr>
      </p:sp>
      <p:sp>
        <p:nvSpPr>
          <p:cNvPr id="20" name="Shape 17"/>
          <p:cNvSpPr/>
          <p:nvPr/>
        </p:nvSpPr>
        <p:spPr>
          <a:xfrm>
            <a:off x="6231636" y="1801368"/>
            <a:ext cx="2567178" cy="182880"/>
          </a:xfrm>
          <a:prstGeom prst="rect">
            <a:avLst/>
          </a:prstGeom>
          <a:solidFill>
            <a:schemeClr val="accent1"/>
          </a:solidFill>
          <a:ln w="12700">
            <a:solidFill>
              <a:schemeClr val="accent1"/>
            </a:solidFill>
            <a:prstDash val="solid"/>
          </a:ln>
        </p:spPr>
      </p:sp>
      <p:sp>
        <p:nvSpPr>
          <p:cNvPr id="21" name="Text 18"/>
          <p:cNvSpPr txBox="1"/>
          <p:nvPr/>
        </p:nvSpPr>
        <p:spPr>
          <a:xfrm>
            <a:off x="6414516"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SI ÇA BLOQUE</a:t>
            </a:r>
            <a:endParaRPr lang="en-US" sz="1500" dirty="0"/>
          </a:p>
        </p:txBody>
      </p:sp>
      <p:sp>
        <p:nvSpPr>
          <p:cNvPr id="22" name="Text 19"/>
          <p:cNvSpPr txBox="1"/>
          <p:nvPr/>
        </p:nvSpPr>
        <p:spPr>
          <a:xfrm>
            <a:off x="6414516" y="2084832"/>
            <a:ext cx="2201418" cy="405384"/>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Pardon?</a:t>
            </a:r>
            <a:endParaRPr lang="en-US" sz="2400" dirty="0"/>
          </a:p>
        </p:txBody>
      </p:sp>
      <p:sp>
        <p:nvSpPr>
          <p:cNvPr id="23" name="Text 20"/>
          <p:cNvSpPr txBox="1"/>
          <p:nvPr/>
        </p:nvSpPr>
        <p:spPr>
          <a:xfrm>
            <a:off x="6414516"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1600" i="1" dirty="0">
                <a:solidFill>
                  <a:schemeClr val="tx1"/>
                </a:solidFill>
              </a:rPr>
              <a:t>Kunt u dat herhalen, alstublieft?</a:t>
            </a:r>
            <a:endParaRPr lang="en-US" sz="1600" dirty="0"/>
          </a:p>
          <a:p>
            <a:pPr marL="177800" indent="-177800">
              <a:spcAft>
                <a:spcPts val="600"/>
              </a:spcAft>
              <a:buSzPct val="100000"/>
              <a:buChar char="•"/>
            </a:pPr>
            <a:r>
              <a:rPr lang="en-US" sz="1600" i="1" dirty="0">
                <a:solidFill>
                  <a:schemeClr val="tx1"/>
                </a:solidFill>
              </a:rPr>
              <a:t>Wat betekent …?</a:t>
            </a:r>
            <a:endParaRPr lang="en-US" sz="1600" dirty="0"/>
          </a:p>
          <a:p>
            <a:pPr marL="177800" indent="-177800">
              <a:spcAft>
                <a:spcPts val="600"/>
              </a:spcAft>
              <a:buSzPct val="100000"/>
              <a:buChar char="•"/>
            </a:pPr>
            <a:r>
              <a:rPr lang="en-US" sz="1600" i="1" dirty="0">
                <a:solidFill>
                  <a:schemeClr val="tx1"/>
                </a:solidFill>
              </a:rPr>
              <a:t>Hoe zeg je … in het Nederlands?</a:t>
            </a:r>
            <a:endParaRPr lang="en-US" sz="1600" dirty="0"/>
          </a:p>
        </p:txBody>
      </p:sp>
      <p:sp>
        <p:nvSpPr>
          <p:cNvPr id="24" name="Shape 21"/>
          <p:cNvSpPr/>
          <p:nvPr/>
        </p:nvSpPr>
        <p:spPr>
          <a:xfrm>
            <a:off x="9073134"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5" name="Shape 22"/>
          <p:cNvSpPr/>
          <p:nvPr/>
        </p:nvSpPr>
        <p:spPr>
          <a:xfrm>
            <a:off x="9073134" y="1481328"/>
            <a:ext cx="2567178" cy="502920"/>
          </a:xfrm>
          <a:prstGeom prst="roundRect">
            <a:avLst>
              <a:gd name="adj" fmla="val 18182"/>
            </a:avLst>
          </a:prstGeom>
          <a:solidFill>
            <a:srgbClr val="6E4A9E"/>
          </a:solidFill>
          <a:ln/>
        </p:spPr>
      </p:sp>
      <p:sp>
        <p:nvSpPr>
          <p:cNvPr id="26" name="Shape 23"/>
          <p:cNvSpPr/>
          <p:nvPr/>
        </p:nvSpPr>
        <p:spPr>
          <a:xfrm>
            <a:off x="9073134" y="1801368"/>
            <a:ext cx="2567178" cy="182880"/>
          </a:xfrm>
          <a:prstGeom prst="rect">
            <a:avLst/>
          </a:prstGeom>
          <a:solidFill>
            <a:srgbClr val="6E4A9E"/>
          </a:solidFill>
          <a:ln w="12700">
            <a:solidFill>
              <a:srgbClr val="6E4A9E"/>
            </a:solidFill>
            <a:prstDash val="solid"/>
          </a:ln>
        </p:spPr>
      </p:sp>
      <p:sp>
        <p:nvSpPr>
          <p:cNvPr id="27" name="Text 24"/>
          <p:cNvSpPr txBox="1"/>
          <p:nvPr/>
        </p:nvSpPr>
        <p:spPr>
          <a:xfrm>
            <a:off x="9256014"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POUR BRILLER</a:t>
            </a:r>
            <a:endParaRPr lang="en-US" sz="1500" dirty="0"/>
          </a:p>
        </p:txBody>
      </p:sp>
      <p:sp>
        <p:nvSpPr>
          <p:cNvPr id="28" name="Text 25"/>
          <p:cNvSpPr txBox="1"/>
          <p:nvPr/>
        </p:nvSpPr>
        <p:spPr>
          <a:xfrm>
            <a:off x="9256014" y="2084832"/>
            <a:ext cx="2201418" cy="405384"/>
          </a:xfrm>
          <a:prstGeom prst="rect">
            <a:avLst/>
          </a:prstGeom>
          <a:noFill/>
          <a:ln/>
        </p:spPr>
        <p:txBody>
          <a:bodyPr wrap="square" lIns="0" tIns="0" rIns="0" bIns="0" rtlCol="0" anchor="t"/>
          <a:lstStyle/>
          <a:p>
            <a:pPr indent="0" marL="0">
              <a:buNone/>
            </a:pPr>
            <a:r>
              <a:rPr lang="en-US" sz="2400" b="1" dirty="0">
                <a:solidFill>
                  <a:srgbClr val="6E4A9E"/>
                </a:solidFill>
                <a:latin typeface="+mj-lt" pitchFamily="34" charset="0"/>
                <a:ea typeface="+mj-lt" pitchFamily="34" charset="-122"/>
                <a:cs typeface="+mj-lt" pitchFamily="34" charset="-120"/>
              </a:rPr>
              <a:t>omdat…</a:t>
            </a:r>
            <a:endParaRPr lang="en-US" sz="2400" dirty="0"/>
          </a:p>
        </p:txBody>
      </p:sp>
      <p:sp>
        <p:nvSpPr>
          <p:cNvPr id="29" name="Text 26"/>
          <p:cNvSpPr txBox="1"/>
          <p:nvPr/>
        </p:nvSpPr>
        <p:spPr>
          <a:xfrm>
            <a:off x="9256014"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Reliez : </a:t>
            </a:r>
            <a:r>
              <a:rPr lang="en-US" sz="1600" i="1" dirty="0">
                <a:solidFill>
                  <a:schemeClr val="tx1"/>
                </a:solidFill>
              </a:rPr>
              <a:t>en, maar, want, omdat</a:t>
            </a:r>
            <a:r>
              <a:rPr lang="en-US" sz="1600" dirty="0">
                <a:solidFill>
                  <a:schemeClr val="tx1"/>
                </a:solidFill>
              </a:rPr>
              <a:t>.</a:t>
            </a:r>
            <a:endParaRPr lang="en-US" sz="1600" dirty="0"/>
          </a:p>
          <a:p>
            <a:pPr marL="177800" indent="-177800">
              <a:spcAft>
                <a:spcPts val="600"/>
              </a:spcAft>
              <a:buSzPct val="100000"/>
              <a:buChar char="•"/>
            </a:pPr>
            <a:r>
              <a:rPr lang="en-US" sz="1600" dirty="0">
                <a:solidFill>
                  <a:schemeClr val="tx1"/>
                </a:solidFill>
              </a:rPr>
              <a:t>Nuancez : </a:t>
            </a:r>
            <a:r>
              <a:rPr lang="en-US" sz="1600" i="1" dirty="0">
                <a:solidFill>
                  <a:schemeClr val="tx1"/>
                </a:solidFill>
              </a:rPr>
              <a:t>een beetje, heel, vaak</a:t>
            </a:r>
            <a:r>
              <a:rPr lang="en-US" sz="1600" dirty="0">
                <a:solidFill>
                  <a:schemeClr val="tx1"/>
                </a:solidFill>
              </a:rPr>
              <a:t>.</a:t>
            </a:r>
            <a:endParaRPr lang="en-US" sz="1600" dirty="0"/>
          </a:p>
          <a:p>
            <a:pPr marL="177800" indent="-177800">
              <a:spcAft>
                <a:spcPts val="600"/>
              </a:spcAft>
              <a:buSzPct val="100000"/>
              <a:buChar char="•"/>
            </a:pPr>
            <a:r>
              <a:rPr lang="en-US" sz="1600" dirty="0">
                <a:solidFill>
                  <a:schemeClr val="tx1"/>
                </a:solidFill>
              </a:rPr>
              <a:t>Ajoutez un </a:t>
            </a:r>
            <a:r>
              <a:rPr lang="en-US" sz="1600" b="1" dirty="0">
                <a:solidFill>
                  <a:schemeClr val="tx1"/>
                </a:solidFill>
              </a:rPr>
              <a:t>passé</a:t>
            </a:r>
            <a:r>
              <a:rPr lang="en-US" sz="1600" dirty="0">
                <a:solidFill>
                  <a:schemeClr val="tx1"/>
                </a:solidFill>
              </a:rPr>
              <a:t> : </a:t>
            </a:r>
            <a:r>
              <a:rPr lang="en-US" sz="1600" i="1" dirty="0">
                <a:solidFill>
                  <a:schemeClr val="tx1"/>
                </a:solidFill>
              </a:rPr>
              <a:t>Gisteren heb ik…</a:t>
            </a:r>
            <a:endParaRPr lang="en-US" sz="1600" dirty="0"/>
          </a:p>
        </p:txBody>
      </p:sp>
      <p:sp>
        <p:nvSpPr>
          <p:cNvPr id="30" name="Shape 27"/>
          <p:cNvSpPr/>
          <p:nvPr/>
        </p:nvSpPr>
        <p:spPr>
          <a:xfrm>
            <a:off x="548640" y="5565648"/>
            <a:ext cx="11091672" cy="725424"/>
          </a:xfrm>
          <a:prstGeom prst="roundRect">
            <a:avLst>
              <a:gd name="adj" fmla="val 10084"/>
            </a:avLst>
          </a:prstGeom>
          <a:solidFill>
            <a:schemeClr val="accent2">
              <a:alpha val="10000"/>
            </a:schemeClr>
          </a:solidFill>
          <a:ln w="9525">
            <a:solidFill>
              <a:schemeClr val="accent2">
                <a:alpha val="70000"/>
              </a:schemeClr>
            </a:solidFill>
            <a:prstDash val="solid"/>
          </a:ln>
        </p:spPr>
      </p:sp>
      <p:pic>
        <p:nvPicPr>
          <p:cNvPr id="31"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32" name="Text 28"/>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2"/>
                </a:solidFill>
              </a:rPr>
              <a:t>Astuce — </a:t>
            </a:r>
            <a:r>
              <a:rPr lang="en-US" sz="1700" dirty="0">
                <a:solidFill>
                  <a:schemeClr val="tx1"/>
                </a:solidFill>
              </a:rPr>
              <a:t>Une erreur n’est pas grave : </a:t>
            </a:r>
            <a:r>
              <a:rPr lang="en-US" sz="1700" b="1" dirty="0">
                <a:solidFill>
                  <a:schemeClr val="tx1"/>
                </a:solidFill>
              </a:rPr>
              <a:t>corrigez-vous</a:t>
            </a:r>
            <a:r>
              <a:rPr lang="en-US" sz="1700" dirty="0">
                <a:solidFill>
                  <a:schemeClr val="tx1"/>
                </a:solidFill>
              </a:rPr>
              <a:t> et continuez. À l’oral, on évalue d’abord la </a:t>
            </a:r>
            <a:r>
              <a:rPr lang="en-US" sz="1700" b="1" dirty="0">
                <a:solidFill>
                  <a:schemeClr val="tx1"/>
                </a:solidFill>
              </a:rPr>
              <a:t>communication</a:t>
            </a:r>
            <a:r>
              <a:rPr lang="en-US" sz="1700" dirty="0">
                <a:solidFill>
                  <a:schemeClr val="tx1"/>
                </a:solidFill>
              </a:rPr>
              <a:t> : se faire comprendre, réagir, poser des questions.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Succes met het examen!</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ET MAINTENANT…</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L’</a:t>
            </a:r>
            <a:r>
              <a:rPr lang="en-US" sz="2400" b="1" i="1" dirty="0">
                <a:solidFill>
                  <a:schemeClr val="bg1"/>
                </a:solidFill>
                <a:latin typeface="+mj-lt" pitchFamily="34" charset="0"/>
                <a:ea typeface="+mj-lt" pitchFamily="34" charset="-122"/>
                <a:cs typeface="+mj-lt" pitchFamily="34" charset="-120"/>
              </a:rPr>
              <a:t>évaluation</a:t>
            </a:r>
            <a:r>
              <a:rPr lang="en-US" sz="2400" i="1" dirty="0">
                <a:solidFill>
                  <a:schemeClr val="bg1"/>
                </a:solidFill>
                <a:latin typeface="+mj-lt" pitchFamily="34" charset="0"/>
                <a:ea typeface="+mj-lt" pitchFamily="34" charset="-122"/>
                <a:cs typeface="+mj-lt" pitchFamily="34" charset="-120"/>
              </a:rPr>
              <a:t> ! Vous avez tout ce qu’il faut. </a:t>
            </a:r>
            <a:r>
              <a:rPr lang="en-US" sz="2400" i="1" dirty="0">
                <a:solidFill>
                  <a:schemeClr val="bg1"/>
                </a:solidFill>
                <a:latin typeface="+mj-lt" pitchFamily="34" charset="0"/>
                <a:ea typeface="+mj-lt" pitchFamily="34" charset="-122"/>
                <a:cs typeface="+mj-lt" pitchFamily="34" charset="-120"/>
              </a:rPr>
              <a:t>Ben je klaar voor het examen? — Ja, ik ben er klaar voor!</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PRÉPARER L’ÉVALUATION</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Refaire le </a:t>
            </a:r>
            <a:r>
              <a:rPr lang="en-US" sz="1700" b="1" dirty="0">
                <a:solidFill>
                  <a:schemeClr val="tx1"/>
                </a:solidFill>
              </a:rPr>
              <a:t>grand quiz</a:t>
            </a:r>
            <a:r>
              <a:rPr lang="en-US" sz="1700" dirty="0">
                <a:solidFill>
                  <a:schemeClr val="tx1"/>
                </a:solidFill>
              </a:rPr>
              <a:t> sans regarder la correction.</a:t>
            </a:r>
            <a:endParaRPr lang="en-US" sz="1700" dirty="0"/>
          </a:p>
          <a:p>
            <a:pPr marL="190500" indent="-190500">
              <a:spcAft>
                <a:spcPts val="800"/>
              </a:spcAft>
              <a:buSzPct val="100000"/>
              <a:buChar char="•"/>
            </a:pPr>
            <a:r>
              <a:rPr lang="en-US" sz="1700" dirty="0">
                <a:solidFill>
                  <a:schemeClr val="tx1"/>
                </a:solidFill>
              </a:rPr>
              <a:t>Revoir les cases </a:t>
            </a:r>
            <a:r>
              <a:rPr lang="en-US" sz="1700" b="1" dirty="0">
                <a:solidFill>
                  <a:schemeClr val="tx1"/>
                </a:solidFill>
              </a:rPr>
              <a:t>vides</a:t>
            </a:r>
            <a:r>
              <a:rPr lang="en-US" sz="1700" dirty="0">
                <a:solidFill>
                  <a:schemeClr val="tx1"/>
                </a:solidFill>
              </a:rPr>
              <a:t> de votre auto-évaluation (fiche indiquée).</a:t>
            </a:r>
            <a:endParaRPr lang="en-US" sz="1700" dirty="0"/>
          </a:p>
          <a:p>
            <a:pPr marL="190500" indent="-190500">
              <a:spcAft>
                <a:spcPts val="800"/>
              </a:spcAft>
              <a:buSzPct val="100000"/>
              <a:buChar char="•"/>
            </a:pPr>
            <a:r>
              <a:rPr lang="en-US" sz="1700" dirty="0">
                <a:solidFill>
                  <a:schemeClr val="tx1"/>
                </a:solidFill>
              </a:rPr>
              <a:t>Relire à voix haute les </a:t>
            </a:r>
            <a:r>
              <a:rPr lang="en-US" sz="1700" b="1" dirty="0">
                <a:solidFill>
                  <a:schemeClr val="tx1"/>
                </a:solidFill>
              </a:rPr>
              <a:t>Jalons 1 et 2</a:t>
            </a:r>
            <a:r>
              <a:rPr lang="en-US" sz="1700" dirty="0">
                <a:solidFill>
                  <a:schemeClr val="tx1"/>
                </a:solidFill>
              </a:rPr>
              <a:t> des 10 fiches (p. 92–100b).</a:t>
            </a:r>
            <a:endParaRPr lang="en-US" sz="1700" dirty="0"/>
          </a:p>
          <a:p>
            <a:pPr marL="190500" indent="-190500">
              <a:spcAft>
                <a:spcPts val="800"/>
              </a:spcAft>
              <a:buSzPct val="100000"/>
              <a:buChar char="•"/>
            </a:pPr>
            <a:r>
              <a:rPr lang="en-US" sz="1700" dirty="0">
                <a:solidFill>
                  <a:schemeClr val="tx1"/>
                </a:solidFill>
              </a:rPr>
              <a:t>Préparer </a:t>
            </a:r>
            <a:r>
              <a:rPr lang="en-US" sz="1700" b="1" dirty="0">
                <a:solidFill>
                  <a:schemeClr val="tx1"/>
                </a:solidFill>
              </a:rPr>
              <a:t>5 phrases vraies</a:t>
            </a:r>
            <a:r>
              <a:rPr lang="en-US" sz="1700" dirty="0">
                <a:solidFill>
                  <a:schemeClr val="tx1"/>
                </a:solidFill>
              </a:rPr>
              <a:t> sur vous : présent, passé, futur, omdat, une question.</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Dites en néerlandais </a:t>
            </a:r>
            <a:r>
              <a:rPr lang="en-US" sz="1600" b="1" dirty="0">
                <a:solidFill>
                  <a:schemeClr val="bg1"/>
                </a:solidFill>
              </a:rPr>
              <a:t>une chose que vous savez bien faire</a:t>
            </a:r>
            <a:r>
              <a:rPr lang="en-US" sz="1600" dirty="0">
                <a:solidFill>
                  <a:schemeClr val="bg1"/>
                </a:solidFill>
              </a:rPr>
              <a:t> et </a:t>
            </a:r>
            <a:r>
              <a:rPr lang="en-US" sz="1600" b="1" dirty="0">
                <a:solidFill>
                  <a:schemeClr val="bg1"/>
                </a:solidFill>
              </a:rPr>
              <a:t>une chose que vous allez encore revoir</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in situatie">
  <a:themeElements>
    <a:clrScheme name="Nederlands in situatie">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in situat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2 (UE2)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19 — Klaar voor het examen?</dc:title>
  <dc:subject>Néerlandais en situation appliqué à l’enseignement supérieur</dc:subject>
  <dc:creator>A. Jouniaux</dc:creator>
  <cp:lastModifiedBy>A. Jouniaux</cp:lastModifiedBy>
  <cp:revision>1</cp:revision>
  <dcterms:created xsi:type="dcterms:W3CDTF">2026-10-03T21:06:40Z</dcterms:created>
  <dcterms:modified xsi:type="dcterms:W3CDTF">2026-10-03T21:06:40Z</dcterms:modified>
</cp:coreProperties>
</file>