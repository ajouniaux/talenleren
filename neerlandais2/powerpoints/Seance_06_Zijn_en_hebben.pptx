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e30436e-c7d5-cd3a-1872-fac4485fa9b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ôture" id="{9cf65b98-af32-f525-57a2-3e13dc1cd667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de la séquence 1.3. Objectifs : conjuguer zijn et hebben, éviter les pièges du français (avoir peur = bang zijn, il fait froid = het is koud), lire les trois portraits (Emma, Pieter, Sarah), distinguer er is / er zijn et het is, puis la négation (fiche A1-06 Niet of geen?) avant la production 1.3.3.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fiche A1-06 (niet/geen) est placée avant 1.3.3 : les étudiants en ont besoin pour écrire leurs dix phrases. Si le temps manque, 1.3.3 se termine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5 (nuanceurs, zich voelen, fiche 8). Interroger un étudiant par phrase, rythme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5 (nuanceurs, zich voelen, fiche 8). Interroger un étudiant par phrase, rythme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Bulles de l’image : « Ik ben moe, maar goed. » / « Zin in een kop koffie? » / « Er is ook iets lekkers bij! » (il y a aussi quelque chose de bon avec). Coquille du livret (p. 35) : « Pieter répond «Ik heb tijd» » — dans le dialogue, Pieter dit « vandaag heb ik tijd » (ligne 4) ; dans les lignes 5–7, il demande « Heb jij ook tijd…? » et Emma répond « ik heb geen tijd ». Le titre parle d’« auxiliaires » : ici zijn et hebben sont des verbes principaux (être, avoir) ; ils deviendront auxiliaires au perfectum (séance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à deux voix, puis on inverse. Faire souligner les formes de zijn (2) et de hebben (3). « Ik ben er klaar voor » : « er » renvoie au cours (« j’y suis prêt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Coquilles du zinnenbouwer 1.3 à signaler : « uit Belgiè » → « uit België » (tréma) ; famille A « Ik ben mijn broer » n’a pas de sens → « Dit is mijn broer » (famille C) ; famille C « Dit is » + « is » donne un doublon ; famille D : compléments au pluriel (studenten, leraren) ; famille E : les paires verbe/sujet sont à corriger (diapositive suivante) ; famille F : er is + singulier, er zijn + pluriel. Sous-titre : « à elle seule », pas « à elle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réciter en chœur, puis en chaîne (un pronom par étudiant). Exemples du livret : Ik ben leraar / Jij bent aardig / Hij is moe / Wij zijn studenten ; Ik heb honger / Jij hebt tijd / Hij heeft een auto / Wij hebben kinderen. Les exemples « U bent klaar », « Jullie… », « Zij zijn moe / Zij hebben tijd » sont ajoutés.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zinnenbouwer 1.3 (famille E) aligne les colonnes sans montrer les paires : lue ligne par ligne, la grille produit « Ben u? » ou « Bent hij? ». Ce tableau rétablit les bonnes combinaisons ; il servira en 1.3.3 et à la séance 7. Avec jullie/we, les compléments passent au pluriel (Zijn jullie studenten?).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Erreurs typiques de francophones. La dernière ligne corrige une combinaison du zinnenbouwer 1.3 (famille A « Ik ben … mijn broer »). Âge : « Ik ben 25 (jaar oud)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1 : le professeur lit les deux textes (deux fois), les étudiants suivent dans le livret, puis lecture à deux voix. Même structure : identité, origine, famille, objet, état du jour. Faire compter les formes de zijn et hebben (en gras). « Het is druk op school » = il y a du monde, c’est animé à l’école (correct).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du livret (texte 3) : « Ze is druk » et « Zij is druk, maar wij zijn ontspannen! » → « Ze heeft het druk » / « Zij heeft het druk… » (« druk zijn » = être agité). Le texte modèle est corrigé à l’écran ; le signaler aux étudiants pour qu’ils corrigent leur livret. « Zij is collega van Pieter » est correct (« een collega » est aussi possible). Le texte emploie « wij » et « denk ik » sans dire qui parle (sans doute Pieter).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classe « Het is koud vandaag » sous « c’est » : en français, c’est un « il fait » impersonnel (météo) ; même structure het is en néerlandais. Faire produire : Er is koffie / Er zijn veel studenten / Het is druk / Het is laat.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attentive, puis écriture. Coquilles : les questions néerlandaises du livret ont une espace avant « ? » (typographie française) ; le tableau regroupe deux questions par case — ici, une ligne par différence.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Accepter la 3e personne (« Zij komt uit België », « Hij heeft een zus ») et les phrases complètes avec la raison (« …want ik heb veel werk »). Faire remarquer l’inversion : Vandaag ben ik / Vandaag heb 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de consigne : « Une seule contredit les textes » (il manque « phrase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déduite des textes du livret : si l’extrait lu est le texte 3 (Sarah), les phrases 1 à 3 s’y trouvent mot pour mot (« ze komt uit Gent », « Nee, ze heeft geen auto », « Er is een vergadering op het werk ») ; la phrase 4 n’apparaît dans aucun texte. La phrase vraie la plus proche est celle de Pieter : « Er zijn veel mensen op school ». Si le professeur lit un autre extrait, adapter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de grammaire A1-06. Geen remplace « een » ou l’absence d’article (∅). Niet : après le verbe et le complément de temps, à la fin ; devant l’adjectif ou la préposition. Exemple ajouté : « Ik zie mijn broer niet » (possessif).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chaque ligne, puis transformer à l’oral des phrases du texte 1 et 2 : Ik ben moe → Ik ben niet moe ; Ik heb een zus → Ik heb geen zus ; Ik kom uit Nederland → Ik kom niet uit Nederland.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orale : faire justifier chaque réponse (« pas de temps » → geen ; « pas malade » → niet).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orale : faire justifier chaque réponse (« pas de temps » → geen ; « pas malade » → niet).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 niet/geen avec les trois portraits. À faire par deux, l’un pose la question, l’autre répond sans regarder le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 niet/geen avec les trois portraits. À faire par deux, l’un pose la question, l’autre répond sans regarder le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libre : pas de correction unique. Passer dans les rangs : conjugaison (ik ben / ik heb), pièges (Ik ben bang, Ik heb het druk), niet/geen. « allebei » = tous les deux. Les phrases avec « wij » se conjuguent au pluriel : wij zijn, wij hebben.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 : « Ik heb een …, ik heb geen …, en vandaag ben ik …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06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1.3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Zijn &amp; hebben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Dire qui l’on est, ce que l’on a — et ce qu’on n’a pas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35–41 · 63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120"/>
            <a:ext cx="5120640" cy="34137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35–41 · 63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Dire </a:t>
            </a:r>
            <a:r>
              <a:rPr lang="en-US" sz="1700" b="1" dirty="0">
                <a:solidFill>
                  <a:schemeClr val="tx1"/>
                </a:solidFill>
              </a:rPr>
              <a:t>qui je suis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ce que j’ai</a:t>
            </a:r>
            <a:r>
              <a:rPr lang="en-US" sz="1700" dirty="0">
                <a:solidFill>
                  <a:schemeClr val="tx1"/>
                </a:solidFill>
              </a:rPr>
              <a:t> (zijn, hebben), décrire une situation (</a:t>
            </a:r>
            <a:r>
              <a:rPr lang="en-US" sz="1700" b="1" dirty="0">
                <a:solidFill>
                  <a:schemeClr val="tx1"/>
                </a:solidFill>
              </a:rPr>
              <a:t>er is / er zijn · het is</a:t>
            </a:r>
            <a:r>
              <a:rPr lang="en-US" sz="1700" dirty="0">
                <a:solidFill>
                  <a:schemeClr val="tx1"/>
                </a:solidFill>
              </a:rPr>
              <a:t>) et dire non (</a:t>
            </a:r>
            <a:r>
              <a:rPr lang="en-US" sz="1700" b="1" dirty="0">
                <a:solidFill>
                  <a:schemeClr val="tx1"/>
                </a:solidFill>
              </a:rPr>
              <a:t>niet / geen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· jij bent · hij is · wij zijn — ik heb · jij hebt · hij heeft · wij hebben</a:t>
            </a:r>
            <a:r>
              <a:rPr lang="en-US" sz="1700" dirty="0">
                <a:solidFill>
                  <a:schemeClr val="tx1"/>
                </a:solidFill>
              </a:rPr>
              <a:t> — </a:t>
            </a:r>
            <a:r>
              <a:rPr lang="en-US" sz="1700" i="1" dirty="0">
                <a:solidFill>
                  <a:schemeClr val="tx1"/>
                </a:solidFill>
              </a:rPr>
              <a:t>Ik heb </a:t>
            </a:r>
            <a:r>
              <a:rPr lang="en-US" sz="1700" b="1" i="1" dirty="0">
                <a:solidFill>
                  <a:schemeClr val="tx1"/>
                </a:solidFill>
              </a:rPr>
              <a:t>geen</a:t>
            </a:r>
            <a:r>
              <a:rPr lang="en-US" sz="1700" i="1" dirty="0">
                <a:solidFill>
                  <a:schemeClr val="tx1"/>
                </a:solidFill>
              </a:rPr>
              <a:t> auto · Ik ben </a:t>
            </a:r>
            <a:r>
              <a:rPr lang="en-US" sz="1700" b="1" i="1" dirty="0">
                <a:solidFill>
                  <a:schemeClr val="tx1"/>
                </a:solidFill>
              </a:rPr>
              <a:t>niet</a:t>
            </a:r>
            <a:r>
              <a:rPr lang="en-US" sz="1700" i="1" dirty="0">
                <a:solidFill>
                  <a:schemeClr val="tx1"/>
                </a:solidFill>
              </a:rPr>
              <a:t> moe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Lire trois portraits et repérer les différences · vérifier une information · écrire dix phrases vraies sur soi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hoe voel je je?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Séquence 1.3 · zinnenbouwer 1.3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Zijn &amp; hebben : conjugaison, pièges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Teksten 1–3 : Emma, Pieter, Sarah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 is / het is · 1.3.1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1.3.2 Waar of niet waar?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Niet of geen ?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1.3.3 Ik ben, ik heb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hoe voel je je?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Oral, toute la classe · 5 min — Traduisez vite : nuanceurs, </a:t>
            </a:r>
            <a:r>
              <a:rPr lang="en-US" sz="1600" i="1" dirty="0">
                <a:solidFill>
                  <a:schemeClr val="accent5"/>
                </a:solidFill>
              </a:rPr>
              <a:t>zich voelen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i="1" dirty="0">
                <a:solidFill>
                  <a:schemeClr val="accent5"/>
                </a:solidFill>
              </a:rPr>
              <a:t>daarom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Je me sens un peu fatigué(e).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Comment te sens-tu ? → </a:t>
            </a:r>
            <a:r>
              <a:rPr lang="en-US" sz="2000" dirty="0">
                <a:solidFill>
                  <a:schemeClr val="accent5"/>
                </a:solidFill>
              </a:rPr>
              <a:t>……………………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Pieter se sent très stressé.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Je suis fatigué(e) parce que je dors trop peu.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Je dors trop peu, c’est pourquoi je suis fatigué(e).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Cette semaine, je suis très occupé(e).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hoe voel je je?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Oral, toute la classe · 5 min — Traduisez vite : nuanceurs, </a:t>
            </a:r>
            <a:r>
              <a:rPr lang="en-US" sz="1600" i="1" dirty="0">
                <a:solidFill>
                  <a:schemeClr val="accent5"/>
                </a:solidFill>
              </a:rPr>
              <a:t>zich voelen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et </a:t>
            </a:r>
            <a:r>
              <a:rPr lang="en-US" sz="1600" i="1" dirty="0">
                <a:solidFill>
                  <a:schemeClr val="accent5"/>
                </a:solidFill>
              </a:rPr>
              <a:t>daarom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Je me sens un peu fatigué(e). → </a:t>
            </a:r>
            <a:r>
              <a:rPr lang="en-US" sz="2000" b="1" dirty="0">
                <a:solidFill>
                  <a:schemeClr val="accent3"/>
                </a:solidFill>
              </a:rPr>
              <a:t>Ik voel me een beetje moe.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Comment te sens-tu ? → </a:t>
            </a:r>
            <a:r>
              <a:rPr lang="en-US" sz="2000" b="1" dirty="0">
                <a:solidFill>
                  <a:schemeClr val="accent3"/>
                </a:solidFill>
              </a:rPr>
              <a:t>Hoe voel je je?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Pieter se sent très stressé. → </a:t>
            </a:r>
            <a:r>
              <a:rPr lang="en-US" sz="2000" b="1" dirty="0">
                <a:solidFill>
                  <a:schemeClr val="accent3"/>
                </a:solidFill>
              </a:rPr>
              <a:t>Pieter voelt zich heel gestrest.</a:t>
            </a:r>
            <a:endParaRPr lang="en-US" sz="20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Je suis fatigué(e) parce que je dors trop peu. → </a:t>
            </a:r>
            <a:r>
              <a:rPr lang="en-US" sz="2000" b="1" dirty="0">
                <a:solidFill>
                  <a:schemeClr val="accent3"/>
                </a:solidFill>
              </a:rPr>
              <a:t>Ik ben moe omdat ik te weinig slaap.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Je dors trop peu, c’est pourquoi je suis fatigué(e). → </a:t>
            </a:r>
            <a:r>
              <a:rPr lang="en-US" sz="2000" b="1" dirty="0">
                <a:solidFill>
                  <a:schemeClr val="accent3"/>
                </a:solidFill>
              </a:rPr>
              <a:t>Ik slaap te weinig, daarom ben ik moe.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Cette semaine, je suis très occupé(e). → </a:t>
            </a:r>
            <a:r>
              <a:rPr lang="en-US" sz="2000" b="1" dirty="0">
                <a:solidFill>
                  <a:schemeClr val="accent3"/>
                </a:solidFill>
              </a:rPr>
              <a:t>Deze week heb ik het heel druk.</a:t>
            </a:r>
            <a:endParaRPr lang="en-US" sz="20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omdat</a:t>
            </a:r>
            <a:r>
              <a:rPr lang="en-US" sz="1800" dirty="0">
                <a:solidFill>
                  <a:schemeClr val="tx1"/>
                </a:solidFill>
              </a:rPr>
              <a:t> → verbe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daarom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inversion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occupé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het druk hebben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1.3 : zijn &amp; hebben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1.3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Zijn</a:t>
            </a:r>
            <a:r>
              <a:rPr lang="en-US" sz="2000" dirty="0">
                <a:solidFill>
                  <a:schemeClr val="tx1"/>
                </a:solidFill>
              </a:rPr>
              <a:t> (être) et </a:t>
            </a:r>
            <a:r>
              <a:rPr lang="en-US" sz="2000" b="1" dirty="0">
                <a:solidFill>
                  <a:schemeClr val="tx1"/>
                </a:solidFill>
              </a:rPr>
              <a:t>hebben</a:t>
            </a:r>
            <a:r>
              <a:rPr lang="en-US" sz="2000" dirty="0">
                <a:solidFill>
                  <a:schemeClr val="tx1"/>
                </a:solidFill>
              </a:rPr>
              <a:t> (avoir) : qui vous êtes, ce que vous avez.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Ces deux verbes construisent </a:t>
            </a:r>
            <a:r>
              <a:rPr lang="en-US" sz="2000" b="1" dirty="0">
                <a:solidFill>
                  <a:schemeClr val="tx1"/>
                </a:solidFill>
              </a:rPr>
              <a:t>la majorité</a:t>
            </a:r>
            <a:r>
              <a:rPr lang="en-US" sz="2000" dirty="0">
                <a:solidFill>
                  <a:schemeClr val="tx1"/>
                </a:solidFill>
              </a:rPr>
              <a:t> de vos phrases.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Bulles : </a:t>
            </a: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ben</a:t>
            </a:r>
            <a:r>
              <a:rPr lang="en-US" sz="2000" i="1" dirty="0">
                <a:solidFill>
                  <a:schemeClr val="tx1"/>
                </a:solidFill>
              </a:rPr>
              <a:t> moe, maar goed.</a:t>
            </a:r>
            <a:r>
              <a:rPr lang="en-US" sz="2000" dirty="0">
                <a:solidFill>
                  <a:schemeClr val="tx1"/>
                </a:solidFill>
              </a:rPr>
              <a:t> · </a:t>
            </a:r>
            <a:r>
              <a:rPr lang="en-US" sz="2000" i="1" dirty="0">
                <a:solidFill>
                  <a:schemeClr val="tx1"/>
                </a:solidFill>
              </a:rPr>
              <a:t>Er </a:t>
            </a:r>
            <a:r>
              <a:rPr lang="en-US" sz="2000" b="1" i="1" dirty="0">
                <a:solidFill>
                  <a:schemeClr val="tx1"/>
                </a:solidFill>
              </a:rPr>
              <a:t>is</a:t>
            </a:r>
            <a:r>
              <a:rPr lang="en-US" sz="2000" i="1" dirty="0">
                <a:solidFill>
                  <a:schemeClr val="tx1"/>
                </a:solidFill>
              </a:rPr>
              <a:t> ook iets lekkers bij!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Qui est fatigué ? Qui propose un café ? Trouvez </a:t>
            </a:r>
            <a:r>
              <a:rPr lang="en-US" sz="1700" b="1" dirty="0">
                <a:solidFill>
                  <a:schemeClr val="tx1"/>
                </a:solidFill>
              </a:rPr>
              <a:t>zijn</a:t>
            </a:r>
            <a:r>
              <a:rPr lang="en-US" sz="1700" dirty="0">
                <a:solidFill>
                  <a:schemeClr val="tx1"/>
                </a:solidFill>
              </a:rPr>
              <a:t> dans les bulles.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Focus : lignes 5–7 du dialogue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DIALOOG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2200" b="1" dirty="0">
                <a:solidFill>
                  <a:srgbClr val="D9700F"/>
                </a:solidFill>
              </a:rPr>
              <a:t>Emma :  </a:t>
            </a:r>
            <a:r>
              <a:rPr lang="en-US" sz="2200" dirty="0">
                <a:solidFill>
                  <a:schemeClr val="tx1"/>
                </a:solidFill>
              </a:rPr>
              <a:t>«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je klaar voor de cursus?» — </a:t>
            </a:r>
            <a:r>
              <a:rPr lang="en-US" sz="2200" i="1" dirty="0">
                <a:solidFill>
                  <a:schemeClr val="tx1"/>
                </a:solidFill>
              </a:rPr>
              <a:t>Tu es prêt pour le cours ?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2200" b="1" dirty="0">
                <a:solidFill>
                  <a:schemeClr val="accent2"/>
                </a:solidFill>
              </a:rPr>
              <a:t>Pieter :  </a:t>
            </a:r>
            <a:r>
              <a:rPr lang="en-US" sz="2200" dirty="0">
                <a:solidFill>
                  <a:schemeClr val="tx1"/>
                </a:solidFill>
              </a:rPr>
              <a:t>«Ja,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mijn boek en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er klaar voor!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jij ook tijd voor een koffie?» — </a:t>
            </a:r>
            <a:r>
              <a:rPr lang="en-US" sz="2200" i="1" dirty="0">
                <a:solidFill>
                  <a:schemeClr val="tx1"/>
                </a:solidFill>
              </a:rPr>
              <a:t>Oui, j’ai mon livre et je suis prêt ! Tu as aussi le temps pour un café ?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2200" b="1" dirty="0">
                <a:solidFill>
                  <a:srgbClr val="D9700F"/>
                </a:solidFill>
              </a:rPr>
              <a:t>Emma :  </a:t>
            </a:r>
            <a:r>
              <a:rPr lang="en-US" sz="2200" dirty="0">
                <a:solidFill>
                  <a:schemeClr val="tx1"/>
                </a:solidFill>
              </a:rPr>
              <a:t>«Nee, sorry,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geen tijd. Mijn les begint zo.» — </a:t>
            </a:r>
            <a:r>
              <a:rPr lang="en-US" sz="2200" i="1" dirty="0">
                <a:solidFill>
                  <a:schemeClr val="tx1"/>
                </a:solidFill>
              </a:rPr>
              <a:t>Non, désolée, je n’ai pas le temps. Mon cours commence tout de suite.</a:t>
            </a:r>
            <a:endParaRPr lang="en-US" sz="2200" dirty="0"/>
          </a:p>
        </p:txBody>
      </p:sp>
      <p:sp>
        <p:nvSpPr>
          <p:cNvPr id="7" name="aside"/>
          <p:cNvSpPr/>
          <p:nvPr/>
        </p:nvSpPr>
        <p:spPr>
          <a:xfrm>
            <a:off x="8183880" y="1508760"/>
            <a:ext cx="3456432" cy="4782312"/>
          </a:xfrm>
          <a:prstGeom prst="roundRect">
            <a:avLst>
              <a:gd name="adj" fmla="val 211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6916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50808" y="166420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À REPÉRER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48472" y="2103120"/>
            <a:ext cx="3127248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ben je · ik ben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hebben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heb · heb jij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Question : </a:t>
            </a:r>
            <a:r>
              <a:rPr lang="en-US" sz="1800" b="1" dirty="0">
                <a:solidFill>
                  <a:schemeClr val="tx1"/>
                </a:solidFill>
              </a:rPr>
              <a:t>verbe en 1er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er klaar voor zijn</a:t>
            </a:r>
            <a:r>
              <a:rPr lang="en-US" sz="1800" dirty="0">
                <a:solidFill>
                  <a:schemeClr val="tx1"/>
                </a:solidFill>
              </a:rPr>
              <a:t> = être prêt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Zinnenbouwer 1.3 — Zijn, hebben &amp; komen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ZINNENBOUWER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36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629139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4497819" y="1481328"/>
            <a:ext cx="7142493" cy="4809744"/>
          </a:xfrm>
          <a:prstGeom prst="roundRect">
            <a:avLst>
              <a:gd name="adj" fmla="val 1521"/>
            </a:avLst>
          </a:prstGeom>
          <a:solidFill>
            <a:schemeClr val="tx2">
              <a:alpha val="10000"/>
            </a:schemeClr>
          </a:solidFill>
          <a:ln w="12700">
            <a:solidFill>
              <a:schemeClr val="tx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699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64747" y="1636776"/>
            <a:ext cx="64109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MODE D’EMPLOI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662411" y="2075688"/>
            <a:ext cx="6813309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Sept familles :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ik ·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jij / u ·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hij / zij · </a:t>
            </a: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pluriel · </a:t>
            </a:r>
            <a:r>
              <a:rPr lang="en-US" sz="1800" b="1" dirty="0">
                <a:solidFill>
                  <a:schemeClr val="tx1"/>
                </a:solidFill>
              </a:rPr>
              <a:t>E</a:t>
            </a:r>
            <a:r>
              <a:rPr lang="en-US" sz="1800" dirty="0">
                <a:solidFill>
                  <a:schemeClr val="tx1"/>
                </a:solidFill>
              </a:rPr>
              <a:t> questions · </a:t>
            </a:r>
            <a:r>
              <a:rPr lang="en-US" sz="1800" b="1" dirty="0">
                <a:solidFill>
                  <a:schemeClr val="tx1"/>
                </a:solidFill>
              </a:rPr>
              <a:t>F</a:t>
            </a:r>
            <a:r>
              <a:rPr lang="en-US" sz="1800" dirty="0">
                <a:solidFill>
                  <a:schemeClr val="tx1"/>
                </a:solidFill>
              </a:rPr>
              <a:t> er is / het is · </a:t>
            </a:r>
            <a:r>
              <a:rPr lang="en-US" sz="1800" b="1" dirty="0">
                <a:solidFill>
                  <a:schemeClr val="tx1"/>
                </a:solidFill>
              </a:rPr>
              <a:t>G</a:t>
            </a:r>
            <a:r>
              <a:rPr lang="en-US" sz="1800" dirty="0">
                <a:solidFill>
                  <a:schemeClr val="tx1"/>
                </a:solidFill>
              </a:rPr>
              <a:t> origine.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bloc par colonne : </a:t>
            </a:r>
            <a:r>
              <a:rPr lang="en-US" sz="1800" b="1" dirty="0">
                <a:solidFill>
                  <a:schemeClr val="tx1"/>
                </a:solidFill>
              </a:rPr>
              <a:t>sujet → verbe → complément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 + état, métier, lieu · </a:t>
            </a:r>
            <a:r>
              <a:rPr lang="en-US" sz="1800" b="1" dirty="0">
                <a:solidFill>
                  <a:schemeClr val="tx1"/>
                </a:solidFill>
              </a:rPr>
              <a:t>hebben</a:t>
            </a:r>
            <a:r>
              <a:rPr lang="en-US" sz="1800" dirty="0">
                <a:solidFill>
                  <a:schemeClr val="tx1"/>
                </a:solidFill>
              </a:rPr>
              <a:t> + objet, temps, faim…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kom uit België.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Hij komt uit Gent.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Zijn &amp; hebben : la conjugaison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37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00200"/>
                <a:gridCol w="3017520"/>
                <a:gridCol w="1783080"/>
                <a:gridCol w="2953512"/>
              </a:tblGrid>
              <a:tr h="5824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PRONOM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ZIJN · être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HEBBEN · avoir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ik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ben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ben leraar.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heb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heb honger.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jij / 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bent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Jij bent aardig.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hebt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Jij hebt tijd.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bent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 bent klaar.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hebt / heeft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 hebt gelijk.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936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hij / zij / het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is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Hij is moe.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heeft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Hij heeft een auto.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wij / we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zijn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Wij zijn studenten.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hebben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Wij hebben kinderen.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zijn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Jullie zijn thuis.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hebben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Jullie hebben honger.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zij / ze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zijn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 zijn moe.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hebben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 hebben tijd.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Au pluriel (wij, jullie, zij), la forme = l’infinitif : </a:t>
            </a:r>
            <a:r>
              <a:rPr lang="en-US" sz="1500" b="1" i="1" dirty="0">
                <a:solidFill>
                  <a:schemeClr val="accent5"/>
                </a:solidFill>
              </a:rPr>
              <a:t>zijn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b="1" i="1" dirty="0">
                <a:solidFill>
                  <a:schemeClr val="accent5"/>
                </a:solidFill>
              </a:rPr>
              <a:t>hebben</a:t>
            </a:r>
            <a:r>
              <a:rPr lang="en-US" sz="1500" i="1" dirty="0">
                <a:solidFill>
                  <a:schemeClr val="accent5"/>
                </a:solidFill>
              </a:rPr>
              <a:t>. Avec </a:t>
            </a:r>
            <a:r>
              <a:rPr lang="en-US" sz="1500" b="1" i="1" dirty="0">
                <a:solidFill>
                  <a:schemeClr val="accent5"/>
                </a:solidFill>
              </a:rPr>
              <a:t>u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i="1" dirty="0">
                <a:solidFill>
                  <a:schemeClr val="accent5"/>
                </a:solidFill>
              </a:rPr>
              <a:t>u hebt</a:t>
            </a:r>
            <a:r>
              <a:rPr lang="en-US" sz="1500" i="1" dirty="0">
                <a:solidFill>
                  <a:schemeClr val="accent5"/>
                </a:solidFill>
              </a:rPr>
              <a:t> ou </a:t>
            </a:r>
            <a:r>
              <a:rPr lang="en-US" sz="1500" i="1" dirty="0">
                <a:solidFill>
                  <a:schemeClr val="accent5"/>
                </a:solidFill>
              </a:rPr>
              <a:t>u heeft</a:t>
            </a:r>
            <a:r>
              <a:rPr lang="en-US" sz="1500" i="1" dirty="0">
                <a:solidFill>
                  <a:schemeClr val="accent5"/>
                </a:solidFill>
              </a:rPr>
              <a:t>, les deux sont corrects.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Famille E corrigée : poser la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ZINNENBOUWER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36–37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 oui / non : le </a:t>
            </a:r>
            <a:r>
              <a:rPr lang="en-US" sz="1600" b="1" i="1" dirty="0">
                <a:solidFill>
                  <a:schemeClr val="accent5"/>
                </a:solidFill>
              </a:rPr>
              <a:t>verbe en premier</a:t>
            </a:r>
            <a:r>
              <a:rPr lang="en-US" sz="1600" i="1" dirty="0">
                <a:solidFill>
                  <a:schemeClr val="accent5"/>
                </a:solidFill>
              </a:rPr>
              <a:t>, puis le sujet. Attention aux bonnes </a:t>
            </a:r>
            <a:r>
              <a:rPr lang="en-US" sz="1600" b="1" i="1" dirty="0">
                <a:solidFill>
                  <a:schemeClr val="accent5"/>
                </a:solidFill>
              </a:rPr>
              <a:t>paires verbe + sujet</a:t>
            </a:r>
            <a:r>
              <a:rPr lang="en-US" sz="1600" i="1" dirty="0">
                <a:solidFill>
                  <a:schemeClr val="accent5"/>
                </a:solidFill>
              </a:rPr>
              <a:t> !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514600"/>
                <a:gridCol w="4645152"/>
              </a:tblGrid>
              <a:tr h="5458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SUJET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ZIJN ?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HEBBEN ?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je / jij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Ben je…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Heb je…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Ben je moe? · Heb jij tijd?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6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Bent u…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Hebt u… ? / Heeft u…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Bent u klaar? · Heeft u tijd?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562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hij / zij / Emma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Is hij…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Heeft zij…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Is Pieter thuis? · Heeft Emma een broer?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wij / we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Zijn we…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Hebben we…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Zijn we klaar? · Hebben we tijd?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Zijn jullie…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Hebben jullie…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Hebben jullie honger?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62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zij / ze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Zijn ze…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Hebben ze…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Zijn ze studenten?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Piège : </a:t>
            </a:r>
            <a:r>
              <a:rPr lang="en-US" sz="1500" i="1" dirty="0">
                <a:solidFill>
                  <a:schemeClr val="accent5"/>
                </a:solidFill>
              </a:rPr>
              <a:t>jij bent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b="1" i="1" dirty="0">
                <a:solidFill>
                  <a:schemeClr val="accent5"/>
                </a:solidFill>
              </a:rPr>
              <a:t>Ben je?</a:t>
            </a:r>
            <a:r>
              <a:rPr lang="en-US" sz="1500" i="1" dirty="0">
                <a:solidFill>
                  <a:schemeClr val="accent5"/>
                </a:solidFill>
              </a:rPr>
              <a:t> (le -t tombe après inversion) ; mais </a:t>
            </a:r>
            <a:r>
              <a:rPr lang="en-US" sz="1500" i="1" dirty="0">
                <a:solidFill>
                  <a:schemeClr val="accent5"/>
                </a:solidFill>
              </a:rPr>
              <a:t>u bent</a:t>
            </a:r>
            <a:r>
              <a:rPr lang="en-US" sz="1500" i="1" dirty="0">
                <a:solidFill>
                  <a:schemeClr val="accent5"/>
                </a:solidFill>
              </a:rPr>
              <a:t> → </a:t>
            </a:r>
            <a:r>
              <a:rPr lang="en-US" sz="1500" b="1" i="1" dirty="0">
                <a:solidFill>
                  <a:schemeClr val="accent5"/>
                </a:solidFill>
              </a:rPr>
              <a:t>Bent u?</a:t>
            </a:r>
            <a:r>
              <a:rPr lang="en-US" sz="1500" i="1" dirty="0">
                <a:solidFill>
                  <a:schemeClr val="accent5"/>
                </a:solidFill>
              </a:rPr>
              <a:t> (le -t reste). ✗ </a:t>
            </a:r>
            <a:r>
              <a:rPr lang="en-US" sz="1500" i="1" dirty="0">
                <a:solidFill>
                  <a:schemeClr val="accent5"/>
                </a:solidFill>
              </a:rPr>
              <a:t>Ben u?</a:t>
            </a:r>
            <a:r>
              <a:rPr lang="en-US" sz="1500" i="1" dirty="0">
                <a:solidFill>
                  <a:schemeClr val="accent5"/>
                </a:solidFill>
              </a:rPr>
              <a:t> ✗ </a:t>
            </a:r>
            <a:r>
              <a:rPr lang="en-US" sz="1500" i="1" dirty="0">
                <a:solidFill>
                  <a:schemeClr val="accent5"/>
                </a:solidFill>
              </a:rPr>
              <a:t>Bent hij?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Piège : avoir ≠ hebben, être ≠ zijn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36–39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Le français et le néerlandais ne choisissent pas toujours le même verbe.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32432"/>
            <a:ext cx="11091672" cy="531916"/>
          </a:xfrm>
          <a:prstGeom prst="roundRect">
            <a:avLst>
              <a:gd name="adj" fmla="val 10314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6123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932432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heb bang.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6123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37760" y="1932432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</a:t>
            </a:r>
            <a:r>
              <a:rPr lang="en-US" sz="2000" b="1" dirty="0">
                <a:solidFill>
                  <a:schemeClr val="tx1"/>
                </a:solidFill>
              </a:rPr>
              <a:t>ben</a:t>
            </a:r>
            <a:r>
              <a:rPr lang="en-US" sz="2000" dirty="0">
                <a:solidFill>
                  <a:schemeClr val="tx1"/>
                </a:solidFill>
              </a:rPr>
              <a:t> bang voor spinnen.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8458200" y="1932432"/>
            <a:ext cx="3090672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avoir peur</a:t>
            </a:r>
            <a:r>
              <a:rPr lang="en-US" sz="1800" i="1" dirty="0">
                <a:solidFill>
                  <a:schemeClr val="accent5"/>
                </a:solidFill>
              </a:rPr>
              <a:t> → </a:t>
            </a:r>
            <a:r>
              <a:rPr lang="en-US" sz="1800" b="1" i="1" dirty="0">
                <a:solidFill>
                  <a:schemeClr val="accent5"/>
                </a:solidFill>
              </a:rPr>
              <a:t>bang zijn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2574076"/>
            <a:ext cx="11091672" cy="531916"/>
          </a:xfrm>
          <a:prstGeom prst="roundRect">
            <a:avLst>
              <a:gd name="adj" fmla="val 10314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02873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2574076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heb 25 jaar.</a:t>
            </a:r>
            <a:endParaRPr lang="en-US" sz="2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02873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37760" y="2574076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</a:t>
            </a:r>
            <a:r>
              <a:rPr lang="en-US" sz="2000" b="1" dirty="0">
                <a:solidFill>
                  <a:schemeClr val="tx1"/>
                </a:solidFill>
              </a:rPr>
              <a:t>ben</a:t>
            </a:r>
            <a:r>
              <a:rPr lang="en-US" sz="2000" dirty="0">
                <a:solidFill>
                  <a:schemeClr val="tx1"/>
                </a:solidFill>
              </a:rPr>
              <a:t> 25 jaar.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8458200" y="2574076"/>
            <a:ext cx="3090672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avoir 25 ans</a:t>
            </a:r>
            <a:r>
              <a:rPr lang="en-US" sz="1800" i="1" dirty="0">
                <a:solidFill>
                  <a:schemeClr val="accent5"/>
                </a:solidFill>
              </a:rPr>
              <a:t> → </a:t>
            </a:r>
            <a:r>
              <a:rPr lang="en-US" sz="1800" b="1" i="1" dirty="0">
                <a:solidFill>
                  <a:schemeClr val="accent5"/>
                </a:solidFill>
              </a:rPr>
              <a:t>zijn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548640" y="3215719"/>
            <a:ext cx="11091672" cy="531916"/>
          </a:xfrm>
          <a:prstGeom prst="roundRect">
            <a:avLst>
              <a:gd name="adj" fmla="val 10314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44517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51560" y="3215719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Het doet koud.</a:t>
            </a:r>
            <a:endParaRPr lang="en-US" sz="2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44517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937760" y="3215719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Het </a:t>
            </a:r>
            <a:r>
              <a:rPr lang="en-US" sz="2000" b="1" dirty="0">
                <a:solidFill>
                  <a:schemeClr val="tx1"/>
                </a:solidFill>
              </a:rPr>
              <a:t>is</a:t>
            </a:r>
            <a:r>
              <a:rPr lang="en-US" sz="2000" dirty="0">
                <a:solidFill>
                  <a:schemeClr val="tx1"/>
                </a:solidFill>
              </a:rPr>
              <a:t> koud.</a:t>
            </a:r>
            <a:endParaRPr lang="en-US" sz="2000" dirty="0"/>
          </a:p>
        </p:txBody>
      </p:sp>
      <p:sp>
        <p:nvSpPr>
          <p:cNvPr id="24" name="Text 15"/>
          <p:cNvSpPr txBox="1"/>
          <p:nvPr/>
        </p:nvSpPr>
        <p:spPr>
          <a:xfrm>
            <a:off x="8458200" y="3215719"/>
            <a:ext cx="3090672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il fait froid</a:t>
            </a:r>
            <a:r>
              <a:rPr lang="en-US" sz="1800" i="1" dirty="0">
                <a:solidFill>
                  <a:schemeClr val="accent5"/>
                </a:solidFill>
              </a:rPr>
              <a:t> → </a:t>
            </a:r>
            <a:r>
              <a:rPr lang="en-US" sz="1800" b="1" i="1" dirty="0">
                <a:solidFill>
                  <a:schemeClr val="accent5"/>
                </a:solidFill>
              </a:rPr>
              <a:t>het is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548640" y="3857363"/>
            <a:ext cx="11091672" cy="531916"/>
          </a:xfrm>
          <a:prstGeom prst="roundRect">
            <a:avLst>
              <a:gd name="adj" fmla="val 10314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86161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51560" y="3857363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Het heeft veel mensen.</a:t>
            </a:r>
            <a:endParaRPr lang="en-US" sz="2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986161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937760" y="3857363"/>
            <a:ext cx="3291840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Er zijn</a:t>
            </a:r>
            <a:r>
              <a:rPr lang="en-US" sz="2000" dirty="0">
                <a:solidFill>
                  <a:schemeClr val="tx1"/>
                </a:solidFill>
              </a:rPr>
              <a:t> veel mensen.</a:t>
            </a:r>
            <a:endParaRPr lang="en-US" sz="2000" dirty="0"/>
          </a:p>
        </p:txBody>
      </p:sp>
      <p:sp>
        <p:nvSpPr>
          <p:cNvPr id="30" name="Text 19"/>
          <p:cNvSpPr txBox="1"/>
          <p:nvPr/>
        </p:nvSpPr>
        <p:spPr>
          <a:xfrm>
            <a:off x="8458200" y="3857363"/>
            <a:ext cx="3090672" cy="5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il y a</a:t>
            </a:r>
            <a:r>
              <a:rPr lang="en-US" sz="1800" i="1" dirty="0">
                <a:solidFill>
                  <a:schemeClr val="accent5"/>
                </a:solidFill>
              </a:rPr>
              <a:t> → </a:t>
            </a:r>
            <a:r>
              <a:rPr lang="en-US" sz="1800" b="1" i="1" dirty="0">
                <a:solidFill>
                  <a:schemeClr val="accent5"/>
                </a:solidFill>
              </a:rPr>
              <a:t>er is / er zijn</a:t>
            </a:r>
            <a:endParaRPr lang="en-US" sz="1800" dirty="0"/>
          </a:p>
        </p:txBody>
      </p:sp>
      <p:sp>
        <p:nvSpPr>
          <p:cNvPr id="31" name="Shape 20"/>
          <p:cNvSpPr/>
          <p:nvPr/>
        </p:nvSpPr>
        <p:spPr>
          <a:xfrm>
            <a:off x="548640" y="4499006"/>
            <a:ext cx="11091672" cy="841169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782431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51560" y="4499006"/>
            <a:ext cx="3291840" cy="84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ben druk.</a:t>
            </a:r>
            <a:endParaRPr lang="en-US" sz="2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782431"/>
            <a:ext cx="274320" cy="27432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4937760" y="4499006"/>
            <a:ext cx="3291840" cy="84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</a:t>
            </a:r>
            <a:r>
              <a:rPr lang="en-US" sz="2000" b="1" dirty="0">
                <a:solidFill>
                  <a:schemeClr val="tx1"/>
                </a:solidFill>
              </a:rPr>
              <a:t>heb het</a:t>
            </a:r>
            <a:r>
              <a:rPr lang="en-US" sz="2000" dirty="0">
                <a:solidFill>
                  <a:schemeClr val="tx1"/>
                </a:solidFill>
              </a:rPr>
              <a:t> druk.</a:t>
            </a:r>
            <a:endParaRPr lang="en-US" sz="2000" dirty="0"/>
          </a:p>
        </p:txBody>
      </p:sp>
      <p:sp>
        <p:nvSpPr>
          <p:cNvPr id="36" name="Text 23"/>
          <p:cNvSpPr txBox="1"/>
          <p:nvPr/>
        </p:nvSpPr>
        <p:spPr>
          <a:xfrm>
            <a:off x="8458200" y="4499006"/>
            <a:ext cx="3090672" cy="84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je suis occupé</a:t>
            </a:r>
            <a:r>
              <a:rPr lang="en-US" sz="1800" i="1" dirty="0">
                <a:solidFill>
                  <a:schemeClr val="accent5"/>
                </a:solidFill>
              </a:rPr>
              <a:t> → </a:t>
            </a:r>
            <a:r>
              <a:rPr lang="en-US" sz="1800" b="1" i="1" dirty="0">
                <a:solidFill>
                  <a:schemeClr val="accent5"/>
                </a:solidFill>
              </a:rPr>
              <a:t>het druk hebben</a:t>
            </a:r>
            <a:endParaRPr lang="en-US" sz="1800" dirty="0"/>
          </a:p>
        </p:txBody>
      </p:sp>
      <p:sp>
        <p:nvSpPr>
          <p:cNvPr id="37" name="Shape 24"/>
          <p:cNvSpPr/>
          <p:nvPr/>
        </p:nvSpPr>
        <p:spPr>
          <a:xfrm>
            <a:off x="548640" y="5449903"/>
            <a:ext cx="11091672" cy="841169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733328"/>
            <a:ext cx="274320" cy="2743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051560" y="5449903"/>
            <a:ext cx="3291840" cy="84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ben mijn broer.</a:t>
            </a:r>
            <a:endParaRPr lang="en-US" sz="2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733328"/>
            <a:ext cx="274320" cy="27432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4937760" y="5449903"/>
            <a:ext cx="3291840" cy="84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Dit </a:t>
            </a:r>
            <a:r>
              <a:rPr lang="en-US" sz="2000" b="1" dirty="0">
                <a:solidFill>
                  <a:schemeClr val="tx1"/>
                </a:solidFill>
              </a:rPr>
              <a:t>is</a:t>
            </a:r>
            <a:r>
              <a:rPr lang="en-US" sz="2000" dirty="0">
                <a:solidFill>
                  <a:schemeClr val="tx1"/>
                </a:solidFill>
              </a:rPr>
              <a:t> mijn broer.</a:t>
            </a:r>
            <a:endParaRPr lang="en-US" sz="2000" dirty="0"/>
          </a:p>
        </p:txBody>
      </p:sp>
      <p:sp>
        <p:nvSpPr>
          <p:cNvPr id="42" name="Text 27"/>
          <p:cNvSpPr txBox="1"/>
          <p:nvPr/>
        </p:nvSpPr>
        <p:spPr>
          <a:xfrm>
            <a:off x="8458200" y="5449903"/>
            <a:ext cx="3090672" cy="84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c’est mon frère</a:t>
            </a:r>
            <a:r>
              <a:rPr lang="en-US" sz="1800" i="1" dirty="0">
                <a:solidFill>
                  <a:schemeClr val="accent5"/>
                </a:solidFill>
              </a:rPr>
              <a:t> → </a:t>
            </a:r>
            <a:r>
              <a:rPr lang="en-US" sz="1800" b="1" i="1" dirty="0">
                <a:solidFill>
                  <a:schemeClr val="accent5"/>
                </a:solidFill>
              </a:rPr>
              <a:t>dit is</a:t>
            </a:r>
            <a:r>
              <a:rPr lang="en-US" sz="1800" i="1" dirty="0">
                <a:solidFill>
                  <a:schemeClr val="accent5"/>
                </a:solidFill>
              </a:rPr>
              <a:t> (famille C)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Teksten 1 en 2 : Emma en Pieter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TEKST 1 · 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766060" y="1609344"/>
            <a:ext cx="8782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Twee portretten : ik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106344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EMMA   </a:t>
            </a:r>
            <a:r>
              <a:rPr lang="en-US" sz="2200" dirty="0">
                <a:solidFill>
                  <a:schemeClr val="tx1"/>
                </a:solidFill>
              </a:rPr>
              <a:t>Hallo!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Emma.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studente en ik kom uit België.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een broer.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ook een boek voor de cursus. Vandaag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ik een beetje moe, want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veel werk. Er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een probleem: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geen tijd! Het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druk op school. Jij </a:t>
            </a:r>
            <a:r>
              <a:rPr lang="en-US" sz="2200" b="1" dirty="0">
                <a:solidFill>
                  <a:schemeClr val="tx1"/>
                </a:solidFill>
              </a:rPr>
              <a:t>hebt</a:t>
            </a:r>
            <a:r>
              <a:rPr lang="en-US" sz="2200" dirty="0">
                <a:solidFill>
                  <a:schemeClr val="tx1"/>
                </a:solidFill>
              </a:rPr>
              <a:t> tijd, maar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geen tijd.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klaar voor de cursus, denk ik.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jij klaar voor de cursus?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PIETER   </a:t>
            </a:r>
            <a:r>
              <a:rPr lang="en-US" sz="2200" dirty="0">
                <a:solidFill>
                  <a:schemeClr val="tx1"/>
                </a:solidFill>
              </a:rPr>
              <a:t>Hoi!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Pieter.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student en ik kom uit Nederland.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een zus.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ook een auto. Vandaag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ik honger, dus ik ga eten. Er </a:t>
            </a:r>
            <a:r>
              <a:rPr lang="en-US" sz="2200" b="1" dirty="0">
                <a:solidFill>
                  <a:schemeClr val="tx1"/>
                </a:solidFill>
              </a:rPr>
              <a:t>zijn</a:t>
            </a:r>
            <a:r>
              <a:rPr lang="en-US" sz="2200" dirty="0">
                <a:solidFill>
                  <a:schemeClr val="tx1"/>
                </a:solidFill>
              </a:rPr>
              <a:t> veel mensen op school. Het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koud vandaag. Emma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moe, maar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blij. Ik </a:t>
            </a:r>
            <a:r>
              <a:rPr lang="en-US" sz="2200" b="1" dirty="0">
                <a:solidFill>
                  <a:schemeClr val="tx1"/>
                </a:solidFill>
              </a:rPr>
              <a:t>ben</a:t>
            </a:r>
            <a:r>
              <a:rPr lang="en-US" sz="2200" dirty="0">
                <a:solidFill>
                  <a:schemeClr val="tx1"/>
                </a:solidFill>
              </a:rPr>
              <a:t> klaar voor de cursus: ik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mijn boek!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jij ook honger?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Tekst 3 : Dit is Sarah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406640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TEKST 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171700" y="1609344"/>
            <a:ext cx="5692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portret : zij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Dit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Sarah. Zij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collega van Pieter en ze komt uit Gent. Ze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kinderen. Vandaag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ze geen tijd, want ze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veel werk. Ze </a:t>
            </a:r>
            <a:r>
              <a:rPr lang="en-US" sz="2200" strike="sngStrike" dirty="0">
                <a:solidFill>
                  <a:schemeClr val="accent6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accent3"/>
                </a:solidFill>
              </a:rPr>
              <a:t>heeft het</a:t>
            </a:r>
            <a:r>
              <a:rPr lang="en-US" sz="2200" dirty="0">
                <a:solidFill>
                  <a:schemeClr val="tx1"/>
                </a:solidFill>
              </a:rPr>
              <a:t> druk. Er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een vergadering op het werk. Het </a:t>
            </a:r>
            <a:r>
              <a:rPr lang="en-US" sz="2200" b="1" dirty="0">
                <a:solidFill>
                  <a:schemeClr val="tx1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laat, denk ik. Sarah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honger, maar ze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geen tijd. Zij </a:t>
            </a:r>
            <a:r>
              <a:rPr lang="en-US" sz="2200" strike="sngStrike" dirty="0">
                <a:solidFill>
                  <a:schemeClr val="accent6"/>
                </a:solidFill>
              </a:rPr>
              <a:t>is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accent3"/>
                </a:solidFill>
              </a:rPr>
              <a:t>heeft het</a:t>
            </a:r>
            <a:r>
              <a:rPr lang="en-US" sz="2200" dirty="0">
                <a:solidFill>
                  <a:schemeClr val="tx1"/>
                </a:solidFill>
              </a:rPr>
              <a:t> druk, maar wij </a:t>
            </a:r>
            <a:r>
              <a:rPr lang="en-US" sz="2200" b="1" dirty="0">
                <a:solidFill>
                  <a:schemeClr val="tx1"/>
                </a:solidFill>
              </a:rPr>
              <a:t>zijn</a:t>
            </a:r>
            <a:r>
              <a:rPr lang="en-US" sz="2200" dirty="0">
                <a:solidFill>
                  <a:schemeClr val="tx1"/>
                </a:solidFill>
              </a:rPr>
              <a:t> ontspannen!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ze een auto? Nee, ze </a:t>
            </a:r>
            <a:r>
              <a:rPr lang="en-US" sz="2200" b="1" dirty="0">
                <a:solidFill>
                  <a:schemeClr val="tx1"/>
                </a:solidFill>
              </a:rPr>
              <a:t>heeft</a:t>
            </a:r>
            <a:r>
              <a:rPr lang="en-US" sz="2200" dirty="0">
                <a:solidFill>
                  <a:schemeClr val="tx1"/>
                </a:solidFill>
              </a:rPr>
              <a:t> geen auto. </a:t>
            </a:r>
            <a:r>
              <a:rPr lang="en-US" sz="2200" b="1" dirty="0">
                <a:solidFill>
                  <a:schemeClr val="tx1"/>
                </a:solidFill>
              </a:rPr>
              <a:t>Heb</a:t>
            </a:r>
            <a:r>
              <a:rPr lang="en-US" sz="2200" dirty="0">
                <a:solidFill>
                  <a:schemeClr val="tx1"/>
                </a:solidFill>
              </a:rPr>
              <a:t> jij kinderen?</a:t>
            </a:r>
            <a:endParaRPr lang="en-US" sz="2200" dirty="0"/>
          </a:p>
        </p:txBody>
      </p:sp>
      <p:sp>
        <p:nvSpPr>
          <p:cNvPr id="10" name="aside"/>
          <p:cNvSpPr/>
          <p:nvPr/>
        </p:nvSpPr>
        <p:spPr>
          <a:xfrm>
            <a:off x="8275320" y="1481328"/>
            <a:ext cx="3364992" cy="4809744"/>
          </a:xfrm>
          <a:prstGeom prst="roundRect">
            <a:avLst>
              <a:gd name="adj" fmla="val 217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42248" y="16367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À REPÉRER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439912" y="2075688"/>
            <a:ext cx="30358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 </a:t>
            </a:r>
            <a:r>
              <a:rPr lang="en-US" sz="1800" b="1" dirty="0">
                <a:solidFill>
                  <a:schemeClr val="tx1"/>
                </a:solidFill>
              </a:rPr>
              <a:t>présente</a:t>
            </a:r>
            <a:r>
              <a:rPr lang="en-US" sz="1800" dirty="0">
                <a:solidFill>
                  <a:schemeClr val="tx1"/>
                </a:solidFill>
              </a:rPr>
              <a:t> quelqu’un : </a:t>
            </a:r>
            <a:r>
              <a:rPr lang="en-US" sz="1800" b="1" dirty="0">
                <a:solidFill>
                  <a:schemeClr val="tx1"/>
                </a:solidFill>
              </a:rPr>
              <a:t>zij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is, heeft, komt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Négation :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tijd ·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auto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Coquille corrigée : </a:t>
            </a:r>
            <a:r>
              <a:rPr lang="en-US" sz="1800" i="1" dirty="0">
                <a:solidFill>
                  <a:schemeClr val="tx1"/>
                </a:solidFill>
              </a:rPr>
              <a:t>Ze </a:t>
            </a:r>
            <a:r>
              <a:rPr lang="en-US" sz="1800" b="1" i="1" dirty="0">
                <a:solidFill>
                  <a:schemeClr val="tx1"/>
                </a:solidFill>
              </a:rPr>
              <a:t>heeft het</a:t>
            </a:r>
            <a:r>
              <a:rPr lang="en-US" sz="1800" i="1" dirty="0">
                <a:solidFill>
                  <a:schemeClr val="tx1"/>
                </a:solidFill>
              </a:rPr>
              <a:t> druk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Ze is druk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Er is / er zijn · het 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24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ER IS / ER ZIJN = il y a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Existence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b="1" dirty="0">
                <a:solidFill>
                  <a:schemeClr val="tx1"/>
                </a:solidFill>
              </a:rPr>
              <a:t>présence</a:t>
            </a:r>
            <a:r>
              <a:rPr lang="en-US" sz="2000" dirty="0">
                <a:solidFill>
                  <a:schemeClr val="tx1"/>
                </a:solidFill>
              </a:rPr>
              <a:t> de quelque chose.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Er is</a:t>
            </a:r>
            <a:r>
              <a:rPr lang="en-US" sz="2000" i="1" dirty="0">
                <a:solidFill>
                  <a:schemeClr val="tx1"/>
                </a:solidFill>
              </a:rPr>
              <a:t> een probleem.</a:t>
            </a:r>
            <a:r>
              <a:rPr lang="en-US" sz="2000" dirty="0">
                <a:solidFill>
                  <a:schemeClr val="tx1"/>
                </a:solidFill>
              </a:rPr>
              <a:t> — Il y a un problème.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Er zijn</a:t>
            </a:r>
            <a:r>
              <a:rPr lang="en-US" sz="2000" i="1" dirty="0">
                <a:solidFill>
                  <a:schemeClr val="tx1"/>
                </a:solidFill>
              </a:rPr>
              <a:t> veel mensen.</a:t>
            </a:r>
            <a:r>
              <a:rPr lang="en-US" sz="2000" dirty="0">
                <a:solidFill>
                  <a:schemeClr val="tx1"/>
                </a:solidFill>
              </a:rPr>
              <a:t> — Il y a beaucoup de gens.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singulier → </a:t>
            </a:r>
            <a:r>
              <a:rPr lang="en-US" sz="2000" b="1" dirty="0">
                <a:solidFill>
                  <a:schemeClr val="tx1"/>
                </a:solidFill>
              </a:rPr>
              <a:t>er is</a:t>
            </a:r>
            <a:r>
              <a:rPr lang="en-US" sz="2000" dirty="0">
                <a:solidFill>
                  <a:schemeClr val="tx1"/>
                </a:solidFill>
              </a:rPr>
              <a:t> · pluriel → </a:t>
            </a:r>
            <a:r>
              <a:rPr lang="en-US" sz="2000" b="1" dirty="0">
                <a:solidFill>
                  <a:schemeClr val="tx1"/>
                </a:solidFill>
              </a:rPr>
              <a:t>er zijn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14516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824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46036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IS = c’est / il fait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43116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Qualité</a:t>
            </a:r>
            <a:r>
              <a:rPr lang="en-US" sz="2000" dirty="0">
                <a:solidFill>
                  <a:schemeClr val="tx1"/>
                </a:solidFill>
              </a:rPr>
              <a:t>, caractéristique, météo, heure.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Het is</a:t>
            </a:r>
            <a:r>
              <a:rPr lang="en-US" sz="2000" i="1" dirty="0">
                <a:solidFill>
                  <a:schemeClr val="tx1"/>
                </a:solidFill>
              </a:rPr>
              <a:t> belangrijk.</a:t>
            </a:r>
            <a:r>
              <a:rPr lang="en-US" sz="2000" dirty="0">
                <a:solidFill>
                  <a:schemeClr val="tx1"/>
                </a:solidFill>
              </a:rPr>
              <a:t> — C’est important.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Het is</a:t>
            </a:r>
            <a:r>
              <a:rPr lang="en-US" sz="2000" i="1" dirty="0">
                <a:solidFill>
                  <a:schemeClr val="tx1"/>
                </a:solidFill>
              </a:rPr>
              <a:t> koud vandaag.</a:t>
            </a:r>
            <a:r>
              <a:rPr lang="en-US" sz="2000" dirty="0">
                <a:solidFill>
                  <a:schemeClr val="tx1"/>
                </a:solidFill>
              </a:rPr>
              <a:t> — Il fait froid aujourd’hui.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Het is</a:t>
            </a:r>
            <a:r>
              <a:rPr lang="en-US" sz="2000" i="1" dirty="0">
                <a:solidFill>
                  <a:schemeClr val="tx1"/>
                </a:solidFill>
              </a:rPr>
              <a:t> laat.</a:t>
            </a:r>
            <a:r>
              <a:rPr lang="en-US" sz="2000" dirty="0">
                <a:solidFill>
                  <a:schemeClr val="tx1"/>
                </a:solidFill>
              </a:rPr>
              <a:t> — Il est tard.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838444" y="31668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838444" y="3166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Il y a</a:t>
            </a:r>
            <a:r>
              <a:rPr lang="en-US" sz="1700" dirty="0">
                <a:solidFill>
                  <a:schemeClr val="tx1"/>
                </a:solidFill>
              </a:rPr>
              <a:t> ≠ </a:t>
            </a:r>
            <a:r>
              <a:rPr lang="en-US" sz="1700" i="1" dirty="0">
                <a:solidFill>
                  <a:schemeClr val="tx1"/>
                </a:solidFill>
              </a:rPr>
              <a:t>het heeft</a:t>
            </a:r>
            <a:r>
              <a:rPr lang="en-US" sz="1700" dirty="0">
                <a:solidFill>
                  <a:schemeClr val="tx1"/>
                </a:solidFill>
              </a:rPr>
              <a:t> : ✗ </a:t>
            </a:r>
            <a:r>
              <a:rPr lang="en-US" sz="1700" i="1" dirty="0">
                <a:solidFill>
                  <a:schemeClr val="tx1"/>
                </a:solidFill>
              </a:rPr>
              <a:t>Het heeft veel mensen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i="1" dirty="0">
                <a:solidFill>
                  <a:schemeClr val="tx1"/>
                </a:solidFill>
              </a:rPr>
              <a:t>Er zijn</a:t>
            </a:r>
            <a:r>
              <a:rPr lang="en-US" sz="1700" i="1" dirty="0">
                <a:solidFill>
                  <a:schemeClr val="tx1"/>
                </a:solidFill>
              </a:rPr>
              <a:t> veel mensen</a:t>
            </a:r>
            <a:r>
              <a:rPr lang="en-US" sz="1700" dirty="0">
                <a:solidFill>
                  <a:schemeClr val="tx1"/>
                </a:solidFill>
              </a:rPr>
              <a:t>. Et </a:t>
            </a:r>
            <a:r>
              <a:rPr lang="en-US" sz="1700" i="1" dirty="0">
                <a:solidFill>
                  <a:schemeClr val="tx1"/>
                </a:solidFill>
              </a:rPr>
              <a:t>il fait froid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b="1" i="1" dirty="0">
                <a:solidFill>
                  <a:schemeClr val="tx1"/>
                </a:solidFill>
              </a:rPr>
              <a:t>Het is</a:t>
            </a:r>
            <a:r>
              <a:rPr lang="en-US" sz="1700" i="1" dirty="0">
                <a:solidFill>
                  <a:schemeClr val="tx1"/>
                </a:solidFill>
              </a:rPr>
              <a:t> koud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Het doet koud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1.3.1 Hoe gaat het vandaag?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10 min — Relisez les textes 1 et 2 côte à côte. Notez les </a:t>
            </a:r>
            <a:r>
              <a:rPr lang="en-US" sz="1600" b="1" i="1" dirty="0">
                <a:solidFill>
                  <a:schemeClr val="accent5"/>
                </a:solidFill>
              </a:rPr>
              <a:t>cinq différences</a:t>
            </a:r>
            <a:r>
              <a:rPr lang="en-US" sz="1600" i="1" dirty="0">
                <a:solidFill>
                  <a:schemeClr val="accent5"/>
                </a:solidFill>
              </a:rPr>
              <a:t>, en néerlandais, avec le bloc complet.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50792"/>
                <a:gridCol w="4023360"/>
              </a:tblGrid>
              <a:tr h="6053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VRAAG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TEKST 1 · EMMA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TEKST 2 · PIETER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Waar komt hij / zij vandaan?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Familie?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Wat heeft hij / zij? (objet)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gaat het vandaag?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Er is … / Er zijn …?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1.3.1 Hoe gaat het vandaag?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10 min — Relisez les textes 1 et 2 côte à côte. Notez les </a:t>
            </a:r>
            <a:r>
              <a:rPr lang="en-US" sz="1600" b="1" i="1" dirty="0">
                <a:solidFill>
                  <a:schemeClr val="accent5"/>
                </a:solidFill>
              </a:rPr>
              <a:t>cinq différences</a:t>
            </a:r>
            <a:r>
              <a:rPr lang="en-US" sz="1600" i="1" dirty="0">
                <a:solidFill>
                  <a:schemeClr val="accent5"/>
                </a:solidFill>
              </a:rPr>
              <a:t>, en néerlandais, avec le bloc complet.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50792"/>
                <a:gridCol w="4023360"/>
              </a:tblGrid>
              <a:tr h="6053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VRAAG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TEKST 1 · EMMA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TEKST 2 · PIETER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Waar komt hij / zij vandaan?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kom uit België.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kom uit Nederland.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Familie?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heb een broer.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heb een zus.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Wat heeft hij / zij? (objet)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heb een boek voor de cursus.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heb een auto.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 gaat het vandaag?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Vandaag ben ik een beetje moe.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Vandaag heb ik honger. Ik ben blij.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15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Er is … / Er zijn …?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Er is een probleem: ik heb geen tijd!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Er zijn veel mensen op school.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1.3.2 Waar of niet waar?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Écoutez l’extrait (texte 3). </a:t>
            </a:r>
            <a:r>
              <a:rPr lang="en-US" sz="1600" b="1" i="1" dirty="0">
                <a:solidFill>
                  <a:schemeClr val="accent5"/>
                </a:solidFill>
              </a:rPr>
              <a:t>Une seule</a:t>
            </a:r>
            <a:r>
              <a:rPr lang="en-US" sz="1600" i="1" dirty="0">
                <a:solidFill>
                  <a:schemeClr val="accent5"/>
                </a:solidFill>
              </a:rPr>
              <a:t> phrase contredit les textes : entourez-la et écrivez la phrase vraie.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Sarah komt uit Gent. → </a:t>
            </a:r>
            <a:r>
              <a:rPr lang="en-US" sz="2400" dirty="0">
                <a:solidFill>
                  <a:schemeClr val="tx1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Sarah heeft geen auto. → </a:t>
            </a:r>
            <a:r>
              <a:rPr lang="en-US" sz="2400" dirty="0">
                <a:solidFill>
                  <a:schemeClr val="tx1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Er is een vergadering op het werk. → </a:t>
            </a:r>
            <a:r>
              <a:rPr lang="en-US" sz="2400" dirty="0">
                <a:solidFill>
                  <a:schemeClr val="tx1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Er zijn veel studenten in de klas. → </a:t>
            </a:r>
            <a:r>
              <a:rPr lang="en-US" sz="2400" dirty="0">
                <a:solidFill>
                  <a:schemeClr val="tx1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De juiste zin :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RAPPEL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waar</a:t>
            </a:r>
            <a:r>
              <a:rPr lang="en-US" sz="1800" dirty="0">
                <a:solidFill>
                  <a:schemeClr val="tx1"/>
                </a:solidFill>
              </a:rPr>
              <a:t> = vrai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niet waar</a:t>
            </a:r>
            <a:r>
              <a:rPr lang="en-US" sz="1800" dirty="0">
                <a:solidFill>
                  <a:schemeClr val="tx1"/>
                </a:solidFill>
              </a:rPr>
              <a:t> = faux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leugen</a:t>
            </a:r>
            <a:r>
              <a:rPr lang="en-US" sz="1800" dirty="0">
                <a:solidFill>
                  <a:schemeClr val="tx1"/>
                </a:solidFill>
              </a:rPr>
              <a:t> = un mensonge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Eén zin is niet waar. Welke?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1.3.2 Waar of niet waar?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Écoutez l’extrait (texte 3). </a:t>
            </a:r>
            <a:r>
              <a:rPr lang="en-US" sz="1600" b="1" i="1" dirty="0">
                <a:solidFill>
                  <a:schemeClr val="accent5"/>
                </a:solidFill>
              </a:rPr>
              <a:t>Une seule</a:t>
            </a:r>
            <a:r>
              <a:rPr lang="en-US" sz="1600" i="1" dirty="0">
                <a:solidFill>
                  <a:schemeClr val="accent5"/>
                </a:solidFill>
              </a:rPr>
              <a:t> phrase contredit les textes : entourez-la et écrivez la phrase vraie.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Sarah komt uit Gent. → </a:t>
            </a:r>
            <a:r>
              <a:rPr lang="en-US" sz="2400" b="1" dirty="0">
                <a:solidFill>
                  <a:schemeClr val="accent3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strike="sngStrike" dirty="0">
                <a:solidFill>
                  <a:schemeClr val="accent6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Sarah heeft geen auto. → </a:t>
            </a:r>
            <a:r>
              <a:rPr lang="en-US" sz="2400" b="1" dirty="0">
                <a:solidFill>
                  <a:schemeClr val="accent3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strike="sngStrike" dirty="0">
                <a:solidFill>
                  <a:schemeClr val="accent6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Er is een vergadering op het werk. → </a:t>
            </a:r>
            <a:r>
              <a:rPr lang="en-US" sz="2400" b="1" dirty="0">
                <a:solidFill>
                  <a:schemeClr val="accent3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strike="sngStrike" dirty="0">
                <a:solidFill>
                  <a:schemeClr val="accent6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Er zijn veel studenten in de klas. → </a:t>
            </a:r>
            <a:r>
              <a:rPr lang="en-US" sz="2400" strike="sngStrike" dirty="0">
                <a:solidFill>
                  <a:schemeClr val="accent6"/>
                </a:solidFill>
              </a:rPr>
              <a:t>waar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leugen</a:t>
            </a:r>
            <a:endParaRPr lang="en-US" sz="2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De juiste zin :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Er zijn veel mensen op school.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(tekst 2)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Phrases 1–3 : mot pour mot dans le </a:t>
            </a:r>
            <a:r>
              <a:rPr lang="en-US" sz="1800" b="1" dirty="0">
                <a:solidFill>
                  <a:schemeClr val="tx1"/>
                </a:solidFill>
              </a:rPr>
              <a:t>texte 3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Phrase 4 : dans </a:t>
            </a:r>
            <a:r>
              <a:rPr lang="en-US" sz="1800" b="1" dirty="0">
                <a:solidFill>
                  <a:schemeClr val="tx1"/>
                </a:solidFill>
              </a:rPr>
              <a:t>aucun</a:t>
            </a:r>
            <a:r>
              <a:rPr lang="en-US" sz="1800" dirty="0">
                <a:solidFill>
                  <a:schemeClr val="tx1"/>
                </a:solidFill>
              </a:rPr>
              <a:t> texte. Le texte 2 dit : </a:t>
            </a:r>
            <a:r>
              <a:rPr lang="en-US" sz="1800" i="1" dirty="0">
                <a:solidFill>
                  <a:schemeClr val="tx1"/>
                </a:solidFill>
              </a:rPr>
              <a:t>Er zijn veel </a:t>
            </a:r>
            <a:r>
              <a:rPr lang="en-US" sz="1800" b="1" i="1" dirty="0">
                <a:solidFill>
                  <a:schemeClr val="tx1"/>
                </a:solidFill>
              </a:rPr>
              <a:t>mensen</a:t>
            </a:r>
            <a:r>
              <a:rPr lang="en-US" sz="1800" i="1" dirty="0">
                <a:solidFill>
                  <a:schemeClr val="tx1"/>
                </a:solidFill>
              </a:rPr>
              <a:t> op </a:t>
            </a:r>
            <a:r>
              <a:rPr lang="en-US" sz="1800" b="1" i="1" dirty="0">
                <a:solidFill>
                  <a:schemeClr val="tx1"/>
                </a:solidFill>
              </a:rPr>
              <a:t>school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Niet of geen ? La négation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408676" cy="3922776"/>
          </a:xfrm>
          <a:prstGeom prst="roundRect">
            <a:avLst>
              <a:gd name="adj" fmla="val 233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5408676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 · GEEN = pas de, aucun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042916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geen + nom (au lieu de een / ∅)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5042916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tx1"/>
                </a:solidFill>
              </a:rPr>
              <a:t>een</a:t>
            </a:r>
            <a:r>
              <a:rPr lang="en-US" sz="1800" i="1" dirty="0">
                <a:solidFill>
                  <a:schemeClr val="tx1"/>
                </a:solidFill>
              </a:rPr>
              <a:t> auto.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auto.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drink melk.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Ik drink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melk.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Wij eten vlees.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Wij eten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vlees.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31636" y="1481328"/>
            <a:ext cx="5408676" cy="3922776"/>
          </a:xfrm>
          <a:prstGeom prst="roundRect">
            <a:avLst>
              <a:gd name="adj" fmla="val 233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31636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1801368"/>
            <a:ext cx="5408676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4516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 · NIET = ne… pas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14516" y="2084832"/>
            <a:ext cx="5042916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tous les autres cas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2627376"/>
            <a:ext cx="5042916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verbe →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werk vandaag </a:t>
            </a:r>
            <a:r>
              <a:rPr lang="en-US" sz="1800" b="1" i="1" dirty="0">
                <a:solidFill>
                  <a:schemeClr val="tx1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adjectif → </a:t>
            </a:r>
            <a:r>
              <a:rPr lang="en-US" sz="1800" b="1" dirty="0">
                <a:solidFill>
                  <a:schemeClr val="tx1"/>
                </a:solidFill>
              </a:rPr>
              <a:t>devant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Het is </a:t>
            </a:r>
            <a:r>
              <a:rPr lang="en-US" sz="1800" b="1" i="1" dirty="0">
                <a:solidFill>
                  <a:schemeClr val="tx1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duur.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préposition → </a:t>
            </a:r>
            <a:r>
              <a:rPr lang="en-US" sz="1800" b="1" dirty="0">
                <a:solidFill>
                  <a:schemeClr val="tx1"/>
                </a:solidFill>
              </a:rPr>
              <a:t>devant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woon </a:t>
            </a:r>
            <a:r>
              <a:rPr lang="en-US" sz="1800" b="1" i="1" dirty="0">
                <a:solidFill>
                  <a:schemeClr val="tx1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 in Gent.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 / het / mijn : </a:t>
            </a:r>
            <a:r>
              <a:rPr lang="en-US" sz="1800" i="1" dirty="0">
                <a:solidFill>
                  <a:schemeClr val="tx1"/>
                </a:solidFill>
              </a:rPr>
              <a:t>Ik zie mijn broer </a:t>
            </a:r>
            <a:r>
              <a:rPr lang="en-US" sz="1800" b="1" i="1" dirty="0">
                <a:solidFill>
                  <a:schemeClr val="tx1"/>
                </a:solidFill>
              </a:rPr>
              <a:t>niet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Peut-on dire « </a:t>
            </a:r>
            <a:r>
              <a:rPr lang="en-US" sz="1700" b="1" dirty="0">
                <a:solidFill>
                  <a:schemeClr val="tx1"/>
                </a:solidFill>
              </a:rPr>
              <a:t>pas de</a:t>
            </a:r>
            <a:r>
              <a:rPr lang="en-US" sz="1700" dirty="0">
                <a:solidFill>
                  <a:schemeClr val="tx1"/>
                </a:solidFill>
              </a:rPr>
              <a:t> » ou « </a:t>
            </a:r>
            <a:r>
              <a:rPr lang="en-US" sz="1700" b="1" dirty="0">
                <a:solidFill>
                  <a:schemeClr val="tx1"/>
                </a:solidFill>
              </a:rPr>
              <a:t>aucun</a:t>
            </a:r>
            <a:r>
              <a:rPr lang="en-US" sz="1700" dirty="0">
                <a:solidFill>
                  <a:schemeClr val="tx1"/>
                </a:solidFill>
              </a:rPr>
              <a:t> » en français ? → </a:t>
            </a:r>
            <a:r>
              <a:rPr lang="en-US" sz="1700" b="1" dirty="0">
                <a:solidFill>
                  <a:schemeClr val="tx1"/>
                </a:solidFill>
              </a:rPr>
              <a:t>geen</a:t>
            </a:r>
            <a:r>
              <a:rPr lang="en-US" sz="1700" dirty="0">
                <a:solidFill>
                  <a:schemeClr val="tx1"/>
                </a:solidFill>
              </a:rPr>
              <a:t>. Sinon → </a:t>
            </a:r>
            <a:r>
              <a:rPr lang="en-US" sz="1700" b="1" dirty="0">
                <a:solidFill>
                  <a:schemeClr val="tx1"/>
                </a:solidFill>
              </a:rPr>
              <a:t>niet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Où se place niet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19072"/>
            <a:ext cx="146304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verbe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103120" y="14813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03120" y="1719072"/>
            <a:ext cx="685800" cy="422148"/>
          </a:xfrm>
          <a:prstGeom prst="roundRect">
            <a:avLst>
              <a:gd name="adj" fmla="val 1299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39696" y="1719072"/>
            <a:ext cx="61264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898648" y="148132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98648" y="1719072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35224" y="1719072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werk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60216" y="1481328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60216" y="1719072"/>
            <a:ext cx="1068832" cy="422148"/>
          </a:xfrm>
          <a:prstGeom prst="roundRect">
            <a:avLst>
              <a:gd name="adj" fmla="val 12996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96792" y="1719072"/>
            <a:ext cx="995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vandaag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938776" y="148132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38776" y="1719072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75352" y="1719072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216865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ne travaille pas aujourd’hui. → </a:t>
            </a:r>
            <a:r>
              <a:rPr lang="en-US" sz="1400" b="1" i="1" dirty="0">
                <a:solidFill>
                  <a:schemeClr val="accent5"/>
                </a:solidFill>
              </a:rPr>
              <a:t>niet</a:t>
            </a:r>
            <a:r>
              <a:rPr lang="en-US" sz="1400" i="1" dirty="0">
                <a:solidFill>
                  <a:schemeClr val="accent5"/>
                </a:solidFill>
              </a:rPr>
              <a:t> à la fin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689860"/>
            <a:ext cx="146304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adjectif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103120" y="24521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103120" y="2689860"/>
            <a:ext cx="685800" cy="422148"/>
          </a:xfrm>
          <a:prstGeom prst="roundRect">
            <a:avLst>
              <a:gd name="adj" fmla="val 1299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139696" y="2689860"/>
            <a:ext cx="61264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Het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2898648" y="24521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898648" y="2689860"/>
            <a:ext cx="68580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35224" y="2689860"/>
            <a:ext cx="61264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694176" y="245211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94176" y="2689860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30752" y="2689860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555744" y="245211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adjectif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55744" y="2689860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92320" y="2689860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duur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2103120" y="313944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 n’est pas cher. → </a:t>
            </a:r>
            <a:r>
              <a:rPr lang="en-US" sz="1400" b="1" i="1" dirty="0">
                <a:solidFill>
                  <a:schemeClr val="accent5"/>
                </a:solidFill>
              </a:rPr>
              <a:t>niet</a:t>
            </a:r>
            <a:r>
              <a:rPr lang="en-US" sz="1400" i="1" dirty="0">
                <a:solidFill>
                  <a:schemeClr val="accent5"/>
                </a:solidFill>
              </a:rPr>
              <a:t> juste devant l’adjectif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3660648"/>
            <a:ext cx="146304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préposition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103120" y="34229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103120" y="3660648"/>
            <a:ext cx="685800" cy="422148"/>
          </a:xfrm>
          <a:prstGeom prst="roundRect">
            <a:avLst>
              <a:gd name="adj" fmla="val 1299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139696" y="3660648"/>
            <a:ext cx="61264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2898648" y="342290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898648" y="3660648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935224" y="3660648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woon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3760216" y="342290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760216" y="3660648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796792" y="3660648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niet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4621784" y="3422904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621784" y="3660648"/>
            <a:ext cx="1068832" cy="422148"/>
          </a:xfrm>
          <a:prstGeom prst="roundRect">
            <a:avLst>
              <a:gd name="adj" fmla="val 12996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58360" y="3660648"/>
            <a:ext cx="995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Gent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2103120" y="411022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n’habite pas à Gand. → </a:t>
            </a:r>
            <a:r>
              <a:rPr lang="en-US" sz="1400" b="1" i="1" dirty="0">
                <a:solidFill>
                  <a:schemeClr val="accent5"/>
                </a:solidFill>
              </a:rPr>
              <a:t>niet</a:t>
            </a:r>
            <a:r>
              <a:rPr lang="en-US" sz="1400" i="1" dirty="0">
                <a:solidFill>
                  <a:schemeClr val="accent5"/>
                </a:solidFill>
              </a:rPr>
              <a:t> devant la préposition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631436"/>
            <a:ext cx="146304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geen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2103120" y="439369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103120" y="4631436"/>
            <a:ext cx="1068832" cy="422148"/>
          </a:xfrm>
          <a:prstGeom prst="roundRect">
            <a:avLst>
              <a:gd name="adj" fmla="val 12996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139696" y="4631436"/>
            <a:ext cx="995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Vandaag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3281680" y="43936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81680" y="4631436"/>
            <a:ext cx="68580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318256" y="4631436"/>
            <a:ext cx="61264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4077208" y="43936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077208" y="4631436"/>
            <a:ext cx="685800" cy="422148"/>
          </a:xfrm>
          <a:prstGeom prst="roundRect">
            <a:avLst>
              <a:gd name="adj" fmla="val 1299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13784" y="4631436"/>
            <a:ext cx="61264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4872736" y="439369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négation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872736" y="4631436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909312" y="4631436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geen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5734304" y="439369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nom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734304" y="4631436"/>
            <a:ext cx="751840" cy="422148"/>
          </a:xfrm>
          <a:prstGeom prst="roundRect">
            <a:avLst>
              <a:gd name="adj" fmla="val 12996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770880" y="4631436"/>
            <a:ext cx="678688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tijd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2103120" y="508101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Aujourd’hui, je n’ai pas le temps. → </a:t>
            </a:r>
            <a:r>
              <a:rPr lang="en-US" sz="1400" b="1" i="1" dirty="0">
                <a:solidFill>
                  <a:schemeClr val="accent5"/>
                </a:solidFill>
              </a:rPr>
              <a:t>geen</a:t>
            </a:r>
            <a:r>
              <a:rPr lang="en-US" sz="1400" i="1" dirty="0">
                <a:solidFill>
                  <a:schemeClr val="accent5"/>
                </a:solidFill>
              </a:rPr>
              <a:t> + nom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7" name="Text 6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a </a:t>
            </a:r>
            <a:r>
              <a:rPr lang="en-US" sz="1700" b="1" dirty="0">
                <a:solidFill>
                  <a:schemeClr val="tx1"/>
                </a:solidFill>
              </a:rPr>
              <a:t>deux</a:t>
            </a:r>
            <a:r>
              <a:rPr lang="en-US" sz="1700" dirty="0">
                <a:solidFill>
                  <a:schemeClr val="tx1"/>
                </a:solidFill>
              </a:rPr>
              <a:t> mots (</a:t>
            </a:r>
            <a:r>
              <a:rPr lang="en-US" sz="1700" i="1" dirty="0">
                <a:solidFill>
                  <a:schemeClr val="tx1"/>
                </a:solidFill>
              </a:rPr>
              <a:t>ne… pas</a:t>
            </a:r>
            <a:r>
              <a:rPr lang="en-US" sz="1700" dirty="0">
                <a:solidFill>
                  <a:schemeClr val="tx1"/>
                </a:solidFill>
              </a:rPr>
              <a:t>), le néerlandais </a:t>
            </a:r>
            <a:r>
              <a:rPr lang="en-US" sz="1700" b="1" dirty="0">
                <a:solidFill>
                  <a:schemeClr val="tx1"/>
                </a:solidFill>
              </a:rPr>
              <a:t>un seul</a:t>
            </a:r>
            <a:r>
              <a:rPr lang="en-US" sz="1700" dirty="0">
                <a:solidFill>
                  <a:schemeClr val="tx1"/>
                </a:solidFill>
              </a:rPr>
              <a:t>. ✗ </a:t>
            </a:r>
            <a:r>
              <a:rPr lang="en-US" sz="1700" i="1" dirty="0">
                <a:solidFill>
                  <a:schemeClr val="tx1"/>
                </a:solidFill>
              </a:rPr>
              <a:t>Ik heb niet een auto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heb </a:t>
            </a:r>
            <a:r>
              <a:rPr lang="en-US" sz="1700" b="1" i="1" dirty="0">
                <a:solidFill>
                  <a:schemeClr val="tx1"/>
                </a:solidFill>
              </a:rPr>
              <a:t>geen</a:t>
            </a:r>
            <a:r>
              <a:rPr lang="en-US" sz="1700" i="1" dirty="0">
                <a:solidFill>
                  <a:schemeClr val="tx1"/>
                </a:solidFill>
              </a:rPr>
              <a:t> auto</a:t>
            </a:r>
            <a:r>
              <a:rPr lang="en-US" sz="1700" dirty="0">
                <a:solidFill>
                  <a:schemeClr val="tx1"/>
                </a:solidFill>
              </a:rPr>
              <a:t>. ✗ </a:t>
            </a:r>
            <a:r>
              <a:rPr lang="en-US" sz="1700" i="1" dirty="0">
                <a:solidFill>
                  <a:schemeClr val="tx1"/>
                </a:solidFill>
              </a:rPr>
              <a:t>Ik heb niet tijd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Ik heb </a:t>
            </a:r>
            <a:r>
              <a:rPr lang="en-US" sz="1700" b="1" i="1" dirty="0">
                <a:solidFill>
                  <a:schemeClr val="tx1"/>
                </a:solidFill>
              </a:rPr>
              <a:t>geen</a:t>
            </a:r>
            <a:r>
              <a:rPr lang="en-US" sz="1700" i="1" dirty="0">
                <a:solidFill>
                  <a:schemeClr val="tx1"/>
                </a:solidFill>
              </a:rPr>
              <a:t> tijd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A1-06 Oefening : niet of geen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niet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geen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heb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tijd.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Wij hebben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fiets.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koop het boek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heb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geld.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Hij slaapt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Zij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ziek.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Hij gaat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naar school.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Zij begrijpt mijn vraag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A1-06 Oefening : niet of geen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niet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geen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heb </a:t>
            </a:r>
            <a:r>
              <a:rPr lang="en-US" sz="2400" b="1" dirty="0">
                <a:solidFill>
                  <a:schemeClr val="accent3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tijd.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Wij hebben </a:t>
            </a:r>
            <a:r>
              <a:rPr lang="en-US" sz="2400" b="1" dirty="0">
                <a:solidFill>
                  <a:schemeClr val="accent3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fiets.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koop het boek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Ik heb </a:t>
            </a:r>
            <a:r>
              <a:rPr lang="en-US" sz="2400" b="1" dirty="0">
                <a:solidFill>
                  <a:schemeClr val="accent3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geld.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Hij slaapt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Zij is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ziek.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Hij gaat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naar school.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Zij begrijpt mijn vraag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tijd, geld</a:t>
            </a:r>
            <a:r>
              <a:rPr lang="en-US" sz="1800" dirty="0">
                <a:solidFill>
                  <a:schemeClr val="tx1"/>
                </a:solidFill>
              </a:rPr>
              <a:t> (∅) et </a:t>
            </a:r>
            <a:r>
              <a:rPr lang="en-US" sz="1800" i="1" dirty="0">
                <a:solidFill>
                  <a:schemeClr val="tx1"/>
                </a:solidFill>
              </a:rPr>
              <a:t>een fiets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geen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het boek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mijn vraag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 à la fin.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ziek</a:t>
            </a:r>
            <a:r>
              <a:rPr lang="en-US" sz="1800" dirty="0">
                <a:solidFill>
                  <a:schemeClr val="tx1"/>
                </a:solidFill>
              </a:rPr>
              <a:t> (adjectif), </a:t>
            </a:r>
            <a:r>
              <a:rPr lang="en-US" sz="1800" i="1" dirty="0">
                <a:solidFill>
                  <a:schemeClr val="tx1"/>
                </a:solidFill>
              </a:rPr>
              <a:t>naar school</a:t>
            </a:r>
            <a:r>
              <a:rPr lang="en-US" sz="1800" dirty="0">
                <a:solidFill>
                  <a:schemeClr val="tx1"/>
                </a:solidFill>
              </a:rPr>
              <a:t> (préposition) → </a:t>
            </a:r>
            <a:r>
              <a:rPr lang="en-US" sz="1800" b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 devant.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Nee! Répondez en phrase complète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Questions sur les textes 1 à 3 : répondez </a:t>
            </a:r>
            <a:r>
              <a:rPr lang="en-US" sz="1600" b="1" i="1" dirty="0">
                <a:solidFill>
                  <a:schemeClr val="accent5"/>
                </a:solidFill>
              </a:rPr>
              <a:t>non</a:t>
            </a:r>
            <a:r>
              <a:rPr lang="en-US" sz="1600" i="1" dirty="0">
                <a:solidFill>
                  <a:schemeClr val="accent5"/>
                </a:solidFill>
              </a:rPr>
              <a:t>, en phrase complète, avec </a:t>
            </a:r>
            <a:r>
              <a:rPr lang="en-US" sz="1600" b="1" i="1" dirty="0">
                <a:solidFill>
                  <a:schemeClr val="accent5"/>
                </a:solidFill>
              </a:rPr>
              <a:t>niet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geen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Heeft Sarah een auto?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Is Pieter moe?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Heeft Emma vandaag tijd?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Komt Pieter uit België?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Is het warm vandaag?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Heeft Pieter een broer?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Is Emma de zus van Pieter?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Is Sarah studente?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Nee! Répondez en phrase complète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Questions sur les textes 1 à 3 : répondez </a:t>
            </a:r>
            <a:r>
              <a:rPr lang="en-US" sz="1600" b="1" i="1" dirty="0">
                <a:solidFill>
                  <a:schemeClr val="accent5"/>
                </a:solidFill>
              </a:rPr>
              <a:t>non</a:t>
            </a:r>
            <a:r>
              <a:rPr lang="en-US" sz="1600" i="1" dirty="0">
                <a:solidFill>
                  <a:schemeClr val="accent5"/>
                </a:solidFill>
              </a:rPr>
              <a:t>, en phrase complète, avec </a:t>
            </a:r>
            <a:r>
              <a:rPr lang="en-US" sz="1600" b="1" i="1" dirty="0">
                <a:solidFill>
                  <a:schemeClr val="accent5"/>
                </a:solidFill>
              </a:rPr>
              <a:t>niet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geen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Heeft Sarah een auto? → </a:t>
            </a:r>
            <a:r>
              <a:rPr lang="en-US" sz="2000" b="1" dirty="0">
                <a:solidFill>
                  <a:schemeClr val="accent3"/>
                </a:solidFill>
              </a:rPr>
              <a:t>Nee, ze heeft geen auto.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Is Pieter moe? → </a:t>
            </a:r>
            <a:r>
              <a:rPr lang="en-US" sz="2000" b="1" dirty="0">
                <a:solidFill>
                  <a:schemeClr val="accent3"/>
                </a:solidFill>
              </a:rPr>
              <a:t>Nee, hij is niet moe. Hij is blij.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Heeft Emma vandaag tijd? → </a:t>
            </a:r>
            <a:r>
              <a:rPr lang="en-US" sz="2000" b="1" dirty="0">
                <a:solidFill>
                  <a:schemeClr val="accent3"/>
                </a:solidFill>
              </a:rPr>
              <a:t>Nee, ze heeft vandaag geen tijd.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Komt Pieter uit België? → </a:t>
            </a:r>
            <a:r>
              <a:rPr lang="en-US" sz="2000" b="1" dirty="0">
                <a:solidFill>
                  <a:schemeClr val="accent3"/>
                </a:solidFill>
              </a:rPr>
              <a:t>Nee, hij komt niet uit België.</a:t>
            </a:r>
            <a:endParaRPr lang="en-US" sz="20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Is het warm vandaag? → </a:t>
            </a:r>
            <a:r>
              <a:rPr lang="en-US" sz="2000" b="1" dirty="0">
                <a:solidFill>
                  <a:schemeClr val="accent3"/>
                </a:solidFill>
              </a:rPr>
              <a:t>Nee, het is niet warm. Het is koud.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Heeft Pieter een broer? → </a:t>
            </a:r>
            <a:r>
              <a:rPr lang="en-US" sz="2000" b="1" dirty="0">
                <a:solidFill>
                  <a:schemeClr val="accent3"/>
                </a:solidFill>
              </a:rPr>
              <a:t>Nee, hij heeft geen broer. Hij heeft een zus.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Is Emma de zus van Pieter? → </a:t>
            </a:r>
            <a:r>
              <a:rPr lang="en-US" sz="2000" b="1" dirty="0">
                <a:solidFill>
                  <a:schemeClr val="accent3"/>
                </a:solidFill>
              </a:rPr>
              <a:t>Nee, ze is niet de zus van Pieter.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Is Sarah studente? → </a:t>
            </a:r>
            <a:r>
              <a:rPr lang="en-US" sz="2000" b="1" dirty="0">
                <a:solidFill>
                  <a:schemeClr val="accent3"/>
                </a:solidFill>
              </a:rPr>
              <a:t>Nee, ze is geen studente. Ze is collega van Pieter.</a:t>
            </a:r>
            <a:endParaRPr lang="en-US" sz="20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Métier sans article → </a:t>
            </a:r>
            <a:r>
              <a:rPr lang="en-US" sz="1800" b="1" dirty="0">
                <a:solidFill>
                  <a:schemeClr val="tx1"/>
                </a:solidFill>
              </a:rPr>
              <a:t>geen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Ze is </a:t>
            </a:r>
            <a:r>
              <a:rPr lang="en-US" sz="1800" b="1" i="1" dirty="0">
                <a:solidFill>
                  <a:schemeClr val="tx1"/>
                </a:solidFill>
              </a:rPr>
              <a:t>geen</a:t>
            </a:r>
            <a:r>
              <a:rPr lang="en-US" sz="1800" i="1" dirty="0">
                <a:solidFill>
                  <a:schemeClr val="tx1"/>
                </a:solidFill>
              </a:rPr>
              <a:t> studente.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Avec </a:t>
            </a:r>
            <a:r>
              <a:rPr lang="en-US" sz="1800" b="1" dirty="0">
                <a:solidFill>
                  <a:schemeClr val="tx1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+ nom → </a:t>
            </a:r>
            <a:r>
              <a:rPr lang="en-US" sz="1800" b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niet de zus van Pieter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Ajoutez la vraie info : </a:t>
            </a:r>
            <a:r>
              <a:rPr lang="en-US" sz="1800" i="1" dirty="0">
                <a:solidFill>
                  <a:schemeClr val="tx1"/>
                </a:solidFill>
              </a:rPr>
              <a:t>Hij heeft een zus.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1.3.3 Ik ben, ik heb — dix phrases vraies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40–41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479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Seul, puis par deux · 20 min — </a:t>
            </a:r>
            <a:r>
              <a:rPr lang="en-US" sz="1600" b="1" i="1" dirty="0">
                <a:solidFill>
                  <a:schemeClr val="accent5"/>
                </a:solidFill>
              </a:rPr>
              <a:t>5 phrases avec zijn</a:t>
            </a:r>
            <a:r>
              <a:rPr lang="en-US" sz="1600" i="1" dirty="0">
                <a:solidFill>
                  <a:schemeClr val="accent5"/>
                </a:solidFill>
              </a:rPr>
              <a:t>, </a:t>
            </a:r>
            <a:r>
              <a:rPr lang="en-US" sz="1600" b="1" i="1" dirty="0">
                <a:solidFill>
                  <a:schemeClr val="accent5"/>
                </a:solidFill>
              </a:rPr>
              <a:t>5 avec hebben</a:t>
            </a:r>
            <a:r>
              <a:rPr lang="en-US" sz="1600" i="1" dirty="0">
                <a:solidFill>
                  <a:schemeClr val="accent5"/>
                </a:solidFill>
              </a:rPr>
              <a:t>, vraies pour vous. Interrogez votre voisin (famille E), cochez ce qui vaut pour lui, puis écrivez 2 phrases avec </a:t>
            </a:r>
            <a:r>
              <a:rPr lang="en-US" sz="1600" b="1" i="1" dirty="0">
                <a:solidFill>
                  <a:schemeClr val="accent5"/>
                </a:solidFill>
              </a:rPr>
              <a:t>wij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414016"/>
            <a:ext cx="747979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Exemples (à adapter : vrais pour vous !)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Ik ben</a:t>
            </a:r>
            <a:r>
              <a:rPr lang="en-US" sz="1900" dirty="0">
                <a:solidFill>
                  <a:schemeClr val="tx1"/>
                </a:solidFill>
              </a:rPr>
              <a:t> studente. · </a:t>
            </a:r>
            <a:r>
              <a:rPr lang="en-US" sz="1900" b="1" dirty="0">
                <a:solidFill>
                  <a:schemeClr val="tx1"/>
                </a:solidFill>
              </a:rPr>
              <a:t>Ik ben</a:t>
            </a:r>
            <a:r>
              <a:rPr lang="en-US" sz="1900" dirty="0">
                <a:solidFill>
                  <a:schemeClr val="tx1"/>
                </a:solidFill>
              </a:rPr>
              <a:t> vandaag een beetje moe. · </a:t>
            </a:r>
            <a:r>
              <a:rPr lang="en-US" sz="1900" b="1" dirty="0">
                <a:solidFill>
                  <a:schemeClr val="tx1"/>
                </a:solidFill>
              </a:rPr>
              <a:t>Ik ben</a:t>
            </a:r>
            <a:r>
              <a:rPr lang="en-US" sz="1900" dirty="0">
                <a:solidFill>
                  <a:schemeClr val="tx1"/>
                </a:solidFill>
              </a:rPr>
              <a:t> bang voor spinnen.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Ik heb</a:t>
            </a:r>
            <a:r>
              <a:rPr lang="en-US" sz="1900" dirty="0">
                <a:solidFill>
                  <a:schemeClr val="tx1"/>
                </a:solidFill>
              </a:rPr>
              <a:t> twee kinderen. · </a:t>
            </a:r>
            <a:r>
              <a:rPr lang="en-US" sz="1900" b="1" dirty="0">
                <a:solidFill>
                  <a:schemeClr val="tx1"/>
                </a:solidFill>
              </a:rPr>
              <a:t>Ik heb</a:t>
            </a:r>
            <a:r>
              <a:rPr lang="en-US" sz="1900" dirty="0">
                <a:solidFill>
                  <a:schemeClr val="tx1"/>
                </a:solidFill>
              </a:rPr>
              <a:t> geen auto. · </a:t>
            </a:r>
            <a:r>
              <a:rPr lang="en-US" sz="1900" b="1" dirty="0">
                <a:solidFill>
                  <a:schemeClr val="tx1"/>
                </a:solidFill>
              </a:rPr>
              <a:t>Ik heb</a:t>
            </a:r>
            <a:r>
              <a:rPr lang="en-US" sz="1900" dirty="0">
                <a:solidFill>
                  <a:schemeClr val="tx1"/>
                </a:solidFill>
              </a:rPr>
              <a:t> vandaag veel werk.</a:t>
            </a:r>
            <a:endParaRPr lang="en-US" sz="19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Interroger le voisin (famille E)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Ben jij</a:t>
            </a:r>
            <a:r>
              <a:rPr lang="en-US" sz="1900" i="1" dirty="0">
                <a:solidFill>
                  <a:schemeClr val="tx1"/>
                </a:solidFill>
              </a:rPr>
              <a:t> ook bang voor spinnen?</a:t>
            </a:r>
            <a:r>
              <a:rPr lang="en-US" sz="1900" dirty="0">
                <a:solidFill>
                  <a:schemeClr val="tx1"/>
                </a:solidFill>
              </a:rPr>
              <a:t> — </a:t>
            </a:r>
            <a:r>
              <a:rPr lang="en-US" sz="1900" i="1" dirty="0">
                <a:solidFill>
                  <a:schemeClr val="tx1"/>
                </a:solidFill>
              </a:rPr>
              <a:t>Ja! / Nee, ik ben niet bang.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Heb jij</a:t>
            </a:r>
            <a:r>
              <a:rPr lang="en-US" sz="1900" i="1" dirty="0">
                <a:solidFill>
                  <a:schemeClr val="tx1"/>
                </a:solidFill>
              </a:rPr>
              <a:t> ook kinderen?</a:t>
            </a:r>
            <a:r>
              <a:rPr lang="en-US" sz="1900" dirty="0">
                <a:solidFill>
                  <a:schemeClr val="tx1"/>
                </a:solidFill>
              </a:rPr>
              <a:t> — </a:t>
            </a:r>
            <a:r>
              <a:rPr lang="en-US" sz="1900" i="1" dirty="0">
                <a:solidFill>
                  <a:schemeClr val="tx1"/>
                </a:solidFill>
              </a:rPr>
              <a:t>Ja. / Nee, ik heb geen kinderen.</a:t>
            </a:r>
            <a:endParaRPr lang="en-US" sz="19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Samen (wij)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Wij zijn</a:t>
            </a:r>
            <a:r>
              <a:rPr lang="en-US" sz="1900" i="1" dirty="0">
                <a:solidFill>
                  <a:schemeClr val="tx1"/>
                </a:solidFill>
              </a:rPr>
              <a:t> allebei moe. · </a:t>
            </a:r>
            <a:r>
              <a:rPr lang="en-US" sz="1900" b="1" i="1" dirty="0">
                <a:solidFill>
                  <a:schemeClr val="tx1"/>
                </a:solidFill>
              </a:rPr>
              <a:t>Wij hebben</a:t>
            </a:r>
            <a:r>
              <a:rPr lang="en-US" sz="1900" i="1" dirty="0">
                <a:solidFill>
                  <a:schemeClr val="tx1"/>
                </a:solidFill>
              </a:rPr>
              <a:t> geen auto.</a:t>
            </a:r>
            <a:endParaRPr lang="en-US" sz="1900" dirty="0"/>
          </a:p>
        </p:txBody>
      </p:sp>
      <p:sp>
        <p:nvSpPr>
          <p:cNvPr id="8" name="aside"/>
          <p:cNvSpPr/>
          <p:nvPr/>
        </p:nvSpPr>
        <p:spPr>
          <a:xfrm>
            <a:off x="8348472" y="1481328"/>
            <a:ext cx="3291840" cy="4809744"/>
          </a:xfrm>
          <a:prstGeom prst="roundRect">
            <a:avLst>
              <a:gd name="adj" fmla="val 2222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35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36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513064" y="2075688"/>
            <a:ext cx="296265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10 phrases</a:t>
            </a:r>
            <a:r>
              <a:rPr lang="en-US" sz="1800" dirty="0">
                <a:solidFill>
                  <a:schemeClr val="tx1"/>
                </a:solidFill>
              </a:rPr>
              <a:t> : 5 × </a:t>
            </a:r>
            <a:r>
              <a:rPr lang="en-US" sz="1800" i="1" dirty="0">
                <a:solidFill>
                  <a:schemeClr val="tx1"/>
                </a:solidFill>
              </a:rPr>
              <a:t>ik ben</a:t>
            </a:r>
            <a:r>
              <a:rPr lang="en-US" sz="1800" dirty="0">
                <a:solidFill>
                  <a:schemeClr val="tx1"/>
                </a:solidFill>
              </a:rPr>
              <a:t>, 5 × </a:t>
            </a:r>
            <a:r>
              <a:rPr lang="en-US" sz="1800" i="1" dirty="0">
                <a:solidFill>
                  <a:schemeClr val="tx1"/>
                </a:solidFill>
              </a:rPr>
              <a:t>ik heb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Compléments du </a:t>
            </a:r>
            <a:r>
              <a:rPr lang="en-US" sz="1800" b="1" dirty="0">
                <a:solidFill>
                  <a:schemeClr val="tx1"/>
                </a:solidFill>
              </a:rPr>
              <a:t>zinnenbouwer 1.3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geen</a:t>
            </a:r>
            <a:r>
              <a:rPr lang="en-US" sz="1800" dirty="0">
                <a:solidFill>
                  <a:schemeClr val="tx1"/>
                </a:solidFill>
              </a:rPr>
              <a:t> + nom · </a:t>
            </a:r>
            <a:r>
              <a:rPr lang="en-US" sz="1800" b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 + adjectif.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 phrases</a:t>
            </a:r>
            <a:r>
              <a:rPr lang="en-US" sz="1800" dirty="0">
                <a:solidFill>
                  <a:schemeClr val="tx1"/>
                </a:solidFill>
              </a:rPr>
              <a:t> avec </a:t>
            </a:r>
            <a:r>
              <a:rPr lang="en-US" sz="1800" i="1" dirty="0">
                <a:solidFill>
                  <a:schemeClr val="tx1"/>
                </a:solidFill>
              </a:rPr>
              <a:t>wij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Couche 2 · seul, puis par deux · 20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7 : répondre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 phrase complète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poser des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(wie, wat, waar…) et vous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présenter en 90 secondes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puis 60, puis 45 !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</a:t>
            </a:r>
            <a:r>
              <a:rPr lang="en-US" sz="1700" b="1" dirty="0">
                <a:solidFill>
                  <a:schemeClr val="tx1"/>
                </a:solidFill>
              </a:rPr>
              <a:t>zijn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hebben</a:t>
            </a:r>
            <a:r>
              <a:rPr lang="en-US" sz="1700" dirty="0">
                <a:solidFill>
                  <a:schemeClr val="tx1"/>
                </a:solidFill>
              </a:rPr>
              <a:t> par cœur (p. 37).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les </a:t>
            </a:r>
            <a:r>
              <a:rPr lang="en-US" sz="1700" b="1" dirty="0">
                <a:solidFill>
                  <a:schemeClr val="tx1"/>
                </a:solidFill>
              </a:rPr>
              <a:t>trois textes</a:t>
            </a:r>
            <a:r>
              <a:rPr lang="en-US" sz="1700" dirty="0">
                <a:solidFill>
                  <a:schemeClr val="tx1"/>
                </a:solidFill>
              </a:rPr>
              <a:t> (p. 38) à voix haute.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Terminer </a:t>
            </a:r>
            <a:r>
              <a:rPr lang="en-US" sz="1700" b="1" dirty="0">
                <a:solidFill>
                  <a:schemeClr val="tx1"/>
                </a:solidFill>
              </a:rPr>
              <a:t>1.3.3</a:t>
            </a:r>
            <a:r>
              <a:rPr lang="en-US" sz="1700" dirty="0">
                <a:solidFill>
                  <a:schemeClr val="tx1"/>
                </a:solidFill>
              </a:rPr>
              <a:t> : 10 phrases + 2 avec </a:t>
            </a:r>
            <a:r>
              <a:rPr lang="en-US" sz="1700" i="1" dirty="0">
                <a:solidFill>
                  <a:schemeClr val="tx1"/>
                </a:solidFill>
              </a:rPr>
              <a:t>wij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négatives vraies : 3 avec </a:t>
            </a:r>
            <a:r>
              <a:rPr lang="en-US" sz="1700" b="1" dirty="0">
                <a:solidFill>
                  <a:schemeClr val="tx1"/>
                </a:solidFill>
              </a:rPr>
              <a:t>geen</a:t>
            </a:r>
            <a:r>
              <a:rPr lang="en-US" sz="1700" dirty="0">
                <a:solidFill>
                  <a:schemeClr val="tx1"/>
                </a:solidFill>
              </a:rPr>
              <a:t>, 2 avec </a:t>
            </a:r>
            <a:r>
              <a:rPr lang="en-US" sz="1700" b="1" dirty="0">
                <a:solidFill>
                  <a:schemeClr val="tx1"/>
                </a:solidFill>
              </a:rPr>
              <a:t>niet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Dites une chose que vous </a:t>
            </a:r>
            <a:r>
              <a:rPr lang="en-US" sz="1600" b="1" dirty="0">
                <a:solidFill>
                  <a:schemeClr val="bg1"/>
                </a:solidFill>
              </a:rPr>
              <a:t>avez</a:t>
            </a:r>
            <a:r>
              <a:rPr lang="en-US" sz="1600" dirty="0">
                <a:solidFill>
                  <a:schemeClr val="bg1"/>
                </a:solidFill>
              </a:rPr>
              <a:t>, une chose que vous </a:t>
            </a:r>
            <a:r>
              <a:rPr lang="en-US" sz="1600" b="1" dirty="0">
                <a:solidFill>
                  <a:schemeClr val="bg1"/>
                </a:solidFill>
              </a:rPr>
              <a:t>n’avez pas</a:t>
            </a:r>
            <a:r>
              <a:rPr lang="en-US" sz="1600" dirty="0">
                <a:solidFill>
                  <a:schemeClr val="bg1"/>
                </a:solidFill>
              </a:rPr>
              <a:t> et comment vous </a:t>
            </a:r>
            <a:r>
              <a:rPr lang="en-US" sz="1600" b="1" dirty="0">
                <a:solidFill>
                  <a:schemeClr val="bg1"/>
                </a:solidFill>
              </a:rPr>
              <a:t>êtes</a:t>
            </a:r>
            <a:r>
              <a:rPr lang="en-US" sz="1600" dirty="0">
                <a:solidFill>
                  <a:schemeClr val="bg1"/>
                </a:solidFill>
              </a:rPr>
              <a:t> aujourd’hui.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06 — Zijn &amp; hebben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2026-10-03T21:06:37Z</dcterms:created>
  <dcterms:modified xsi:type="dcterms:W3CDTF">2026-10-03T21:06:37Z</dcterms:modified>
</cp:coreProperties>
</file>